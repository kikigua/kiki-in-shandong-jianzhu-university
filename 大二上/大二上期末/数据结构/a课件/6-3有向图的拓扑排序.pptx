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s/comment1.xml" ContentType="application/vnd.openxmlformats-officedocument.presentationml.comment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Author id="0" name="李盛恩" initials="李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B8BBBD">
              <a:alpha val="30000"/>
            </a:srgbClr>
          </a:solidFill>
        </a:fill>
      </a:tcStyle>
    </a:band2H>
    <a:firstCo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285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8575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85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 b="def" i="def"/>
      <a:tcStyle>
        <a:tcBdr/>
        <a:fill>
          <a:solidFill>
            <a:srgbClr val="E6EAF4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E7CB"/>
          </a:solidFill>
        </a:fill>
      </a:tcStyle>
    </a:wholeTbl>
    <a:band2H>
      <a:tcTxStyle b="def" i="def"/>
      <a:tcStyle>
        <a:tcBdr/>
        <a:fill>
          <a:solidFill>
            <a:srgbClr val="F8F4E7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 b="def" i="def"/>
      <a:tcStyle>
        <a:tcBdr/>
        <a:fill>
          <a:solidFill>
            <a:srgbClr val="EBE8E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comments" Target="comments/comment1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0-05-14T16:32:41.958" idx="1">
    <p:pos x="3144" y="4568"/>
    <p:text>有回路则不能排序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9" name="Shape 7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400">
        <a:latin typeface="+mn-lt"/>
        <a:ea typeface="+mn-ea"/>
        <a:cs typeface="+mn-cs"/>
        <a:sym typeface="Lucida Grande"/>
      </a:defRPr>
    </a:lvl1pPr>
    <a:lvl2pPr indent="228600" defTabSz="457200" latinLnBrk="0">
      <a:defRPr sz="1400">
        <a:latin typeface="+mn-lt"/>
        <a:ea typeface="+mn-ea"/>
        <a:cs typeface="+mn-cs"/>
        <a:sym typeface="Lucida Grande"/>
      </a:defRPr>
    </a:lvl2pPr>
    <a:lvl3pPr indent="457200" defTabSz="457200" latinLnBrk="0">
      <a:defRPr sz="1400">
        <a:latin typeface="+mn-lt"/>
        <a:ea typeface="+mn-ea"/>
        <a:cs typeface="+mn-cs"/>
        <a:sym typeface="Lucida Grande"/>
      </a:defRPr>
    </a:lvl3pPr>
    <a:lvl4pPr indent="685800" defTabSz="457200" latinLnBrk="0">
      <a:defRPr sz="1400">
        <a:latin typeface="+mn-lt"/>
        <a:ea typeface="+mn-ea"/>
        <a:cs typeface="+mn-cs"/>
        <a:sym typeface="Lucida Grande"/>
      </a:defRPr>
    </a:lvl4pPr>
    <a:lvl5pPr indent="914400" defTabSz="457200" latinLnBrk="0">
      <a:defRPr sz="1400">
        <a:latin typeface="+mn-lt"/>
        <a:ea typeface="+mn-ea"/>
        <a:cs typeface="+mn-cs"/>
        <a:sym typeface="Lucida Grande"/>
      </a:defRPr>
    </a:lvl5pPr>
    <a:lvl6pPr indent="1143000" defTabSz="457200" latinLnBrk="0">
      <a:defRPr sz="1400">
        <a:latin typeface="+mn-lt"/>
        <a:ea typeface="+mn-ea"/>
        <a:cs typeface="+mn-cs"/>
        <a:sym typeface="Lucida Grande"/>
      </a:defRPr>
    </a:lvl6pPr>
    <a:lvl7pPr indent="1371600" defTabSz="457200" latinLnBrk="0">
      <a:defRPr sz="1400">
        <a:latin typeface="+mn-lt"/>
        <a:ea typeface="+mn-ea"/>
        <a:cs typeface="+mn-cs"/>
        <a:sym typeface="Lucida Grande"/>
      </a:defRPr>
    </a:lvl7pPr>
    <a:lvl8pPr indent="1600200" defTabSz="457200" latinLnBrk="0">
      <a:defRPr sz="1400">
        <a:latin typeface="+mn-lt"/>
        <a:ea typeface="+mn-ea"/>
        <a:cs typeface="+mn-cs"/>
        <a:sym typeface="Lucida Grande"/>
      </a:defRPr>
    </a:lvl8pPr>
    <a:lvl9pPr indent="1828800" defTabSz="457200" latinLnBrk="0">
      <a:defRPr sz="1400">
        <a:latin typeface="+mn-lt"/>
        <a:ea typeface="+mn-ea"/>
        <a:cs typeface="+mn-cs"/>
        <a:sym typeface="Lucida Grand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"/>
          <p:cNvSpPr/>
          <p:nvPr/>
        </p:nvSpPr>
        <p:spPr>
          <a:xfrm>
            <a:off x="1143000" y="3206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25" name="Group 7"/>
          <p:cNvGrpSpPr/>
          <p:nvPr/>
        </p:nvGrpSpPr>
        <p:grpSpPr>
          <a:xfrm>
            <a:off x="165099" y="320603"/>
            <a:ext cx="1435101" cy="1041403"/>
            <a:chOff x="0" y="0"/>
            <a:chExt cx="1435099" cy="1041401"/>
          </a:xfrm>
        </p:grpSpPr>
        <p:sp>
          <p:nvSpPr>
            <p:cNvPr id="21" name="Shape 3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" name="Shape 4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" name="Shape 5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" name="Shape 6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26" name="Shape 8"/>
          <p:cNvSpPr/>
          <p:nvPr/>
        </p:nvSpPr>
        <p:spPr>
          <a:xfrm>
            <a:off x="1087402" y="26528"/>
            <a:ext cx="45157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" name="Shape 9"/>
          <p:cNvSpPr/>
          <p:nvPr/>
        </p:nvSpPr>
        <p:spPr>
          <a:xfrm>
            <a:off x="629919" y="10882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28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206304"/>
            <a:ext cx="800102" cy="762002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标题文本"/>
          <p:cNvSpPr txBox="1"/>
          <p:nvPr>
            <p:ph type="title"/>
          </p:nvPr>
        </p:nvSpPr>
        <p:spPr>
          <a:xfrm>
            <a:off x="1611487" y="125587"/>
            <a:ext cx="9448802" cy="952502"/>
          </a:xfrm>
          <a:prstGeom prst="rect">
            <a:avLst/>
          </a:prstGeom>
        </p:spPr>
        <p:txBody>
          <a:bodyPr/>
          <a:lstStyle>
            <a:lvl1pPr marL="0" marR="57798" indent="57798"/>
          </a:lstStyle>
          <a:p>
            <a:pPr/>
            <a:r>
              <a:t>标题文本</a:t>
            </a:r>
          </a:p>
        </p:txBody>
      </p:sp>
      <p:sp>
        <p:nvSpPr>
          <p:cNvPr id="30" name="幻灯片编号"/>
          <p:cNvSpPr txBox="1"/>
          <p:nvPr>
            <p:ph type="sldNum" sz="quarter" idx="2"/>
          </p:nvPr>
        </p:nvSpPr>
        <p:spPr>
          <a:xfrm>
            <a:off x="6259830" y="9080500"/>
            <a:ext cx="469901" cy="492894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28"/>
          <p:cNvSpPr/>
          <p:nvPr/>
        </p:nvSpPr>
        <p:spPr>
          <a:xfrm>
            <a:off x="1143000" y="3206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42" name="Group 33"/>
          <p:cNvGrpSpPr/>
          <p:nvPr/>
        </p:nvGrpSpPr>
        <p:grpSpPr>
          <a:xfrm>
            <a:off x="165099" y="320603"/>
            <a:ext cx="1435101" cy="1041403"/>
            <a:chOff x="0" y="0"/>
            <a:chExt cx="1435099" cy="1041401"/>
          </a:xfrm>
        </p:grpSpPr>
        <p:sp>
          <p:nvSpPr>
            <p:cNvPr id="38" name="Shape 29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" name="Shape 30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" name="Shape 31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1" name="Shape 32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43" name="Shape 34"/>
          <p:cNvSpPr/>
          <p:nvPr/>
        </p:nvSpPr>
        <p:spPr>
          <a:xfrm>
            <a:off x="1087402" y="26528"/>
            <a:ext cx="45157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4" name="Shape 35"/>
          <p:cNvSpPr/>
          <p:nvPr/>
        </p:nvSpPr>
        <p:spPr>
          <a:xfrm>
            <a:off x="629919" y="10882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45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206304"/>
            <a:ext cx="800102" cy="762002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标题文本"/>
          <p:cNvSpPr txBox="1"/>
          <p:nvPr>
            <p:ph type="title"/>
          </p:nvPr>
        </p:nvSpPr>
        <p:spPr>
          <a:xfrm>
            <a:off x="1611487" y="125587"/>
            <a:ext cx="9448802" cy="952502"/>
          </a:xfrm>
          <a:prstGeom prst="rect">
            <a:avLst/>
          </a:prstGeom>
        </p:spPr>
        <p:txBody>
          <a:bodyPr/>
          <a:lstStyle>
            <a:lvl1pPr marL="0" marR="57798" indent="57798"/>
          </a:lstStyle>
          <a:p>
            <a:pPr/>
            <a:r>
              <a:t>标题文本</a:t>
            </a:r>
          </a:p>
        </p:txBody>
      </p:sp>
      <p:sp>
        <p:nvSpPr>
          <p:cNvPr id="47" name="幻灯片编号"/>
          <p:cNvSpPr txBox="1"/>
          <p:nvPr>
            <p:ph type="sldNum" sz="quarter" idx="2"/>
          </p:nvPr>
        </p:nvSpPr>
        <p:spPr>
          <a:xfrm>
            <a:off x="6259830" y="9080500"/>
            <a:ext cx="469901" cy="492894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"/>
          <p:cNvSpPr/>
          <p:nvPr/>
        </p:nvSpPr>
        <p:spPr>
          <a:xfrm>
            <a:off x="1143000" y="3206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67" name="Group 7"/>
          <p:cNvGrpSpPr/>
          <p:nvPr/>
        </p:nvGrpSpPr>
        <p:grpSpPr>
          <a:xfrm>
            <a:off x="165099" y="320603"/>
            <a:ext cx="1435101" cy="1041403"/>
            <a:chOff x="0" y="0"/>
            <a:chExt cx="1435099" cy="1041401"/>
          </a:xfrm>
        </p:grpSpPr>
        <p:sp>
          <p:nvSpPr>
            <p:cNvPr id="63" name="Shape 3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4" name="Shape 4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" name="Shape 5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" name="Shape 6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68" name="Shape 8"/>
          <p:cNvSpPr/>
          <p:nvPr/>
        </p:nvSpPr>
        <p:spPr>
          <a:xfrm>
            <a:off x="1087402" y="26528"/>
            <a:ext cx="45157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9" name="Shape 9"/>
          <p:cNvSpPr/>
          <p:nvPr/>
        </p:nvSpPr>
        <p:spPr>
          <a:xfrm>
            <a:off x="629919" y="10882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70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206304"/>
            <a:ext cx="800102" cy="762002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标题文本"/>
          <p:cNvSpPr txBox="1"/>
          <p:nvPr>
            <p:ph type="title"/>
          </p:nvPr>
        </p:nvSpPr>
        <p:spPr>
          <a:xfrm>
            <a:off x="1611487" y="125587"/>
            <a:ext cx="9448802" cy="952502"/>
          </a:xfrm>
          <a:prstGeom prst="rect">
            <a:avLst/>
          </a:prstGeom>
        </p:spPr>
        <p:txBody>
          <a:bodyPr/>
          <a:lstStyle>
            <a:lvl1pPr marL="0" marR="57798" indent="57798"/>
          </a:lstStyle>
          <a:p>
            <a:pPr/>
            <a:r>
              <a:t>标题文本</a:t>
            </a:r>
          </a:p>
        </p:txBody>
      </p:sp>
      <p:sp>
        <p:nvSpPr>
          <p:cNvPr id="72" name="幻灯片编号"/>
          <p:cNvSpPr txBox="1"/>
          <p:nvPr>
            <p:ph type="sldNum" sz="quarter" idx="2"/>
          </p:nvPr>
        </p:nvSpPr>
        <p:spPr>
          <a:xfrm>
            <a:off x="6259830" y="9080500"/>
            <a:ext cx="469901" cy="492894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1143000" y="320604"/>
            <a:ext cx="467360" cy="675077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>
            <a:miter lim="400000"/>
          </a:ln>
        </p:spPr>
        <p:txBody>
          <a:bodyPr lIns="50800" tIns="50800" rIns="50800" bIns="50800" anchor="ctr"/>
          <a:lstStyle/>
          <a:p>
            <a:pPr marL="57799" marR="57799" indent="0" defTabSz="1295400"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7" name="成组"/>
          <p:cNvGrpSpPr/>
          <p:nvPr/>
        </p:nvGrpSpPr>
        <p:grpSpPr>
          <a:xfrm>
            <a:off x="165099" y="320604"/>
            <a:ext cx="1435100" cy="1041401"/>
            <a:chOff x="0" y="0"/>
            <a:chExt cx="1435098" cy="1041400"/>
          </a:xfrm>
        </p:grpSpPr>
        <p:sp>
          <p:nvSpPr>
            <p:cNvPr id="3" name="正方形"/>
            <p:cNvSpPr/>
            <p:nvPr/>
          </p:nvSpPr>
          <p:spPr>
            <a:xfrm>
              <a:off x="364273" y="0"/>
              <a:ext cx="545670" cy="548564"/>
            </a:xfrm>
            <a:prstGeom prst="rect">
              <a:avLst/>
            </a:prstGeom>
            <a:solidFill>
              <a:srgbClr val="F81F08"/>
            </a:solidFill>
            <a:ln w="9525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57799" marR="57799" indent="0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" name="矩形"/>
            <p:cNvSpPr/>
            <p:nvPr/>
          </p:nvSpPr>
          <p:spPr>
            <a:xfrm>
              <a:off x="518483" y="492836"/>
              <a:ext cx="525899" cy="548565"/>
            </a:xfrm>
            <a:prstGeom prst="rect">
              <a:avLst/>
            </a:prstGeom>
            <a:solidFill>
              <a:srgbClr val="3333CC"/>
            </a:solidFill>
            <a:ln w="9525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57799" marR="57799" indent="0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" name="矩形"/>
            <p:cNvSpPr/>
            <p:nvPr/>
          </p:nvSpPr>
          <p:spPr>
            <a:xfrm>
              <a:off x="979138" y="492836"/>
              <a:ext cx="455961" cy="548565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9525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57799" marR="57799" indent="0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" name="矩形"/>
            <p:cNvSpPr/>
            <p:nvPr/>
          </p:nvSpPr>
          <p:spPr>
            <a:xfrm>
              <a:off x="0" y="403625"/>
              <a:ext cx="697903" cy="488021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9525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57799" marR="57799" indent="0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8" name="矩形"/>
          <p:cNvSpPr/>
          <p:nvPr/>
        </p:nvSpPr>
        <p:spPr>
          <a:xfrm>
            <a:off x="1087402" y="26528"/>
            <a:ext cx="45156" cy="1496908"/>
          </a:xfrm>
          <a:prstGeom prst="rect">
            <a:avLst/>
          </a:prstGeom>
          <a:solidFill>
            <a:srgbClr val="1C1C1C"/>
          </a:solidFill>
          <a:ln>
            <a:miter lim="400000"/>
          </a:ln>
        </p:spPr>
        <p:txBody>
          <a:bodyPr lIns="50800" tIns="50800" rIns="50800" bIns="50800" anchor="ctr"/>
          <a:lstStyle/>
          <a:p>
            <a:pPr marL="57799" marR="57799" indent="0" defTabSz="1295400"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9" name="矩形"/>
          <p:cNvSpPr/>
          <p:nvPr/>
        </p:nvSpPr>
        <p:spPr>
          <a:xfrm>
            <a:off x="629920" y="1088248"/>
            <a:ext cx="11699805" cy="45157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>
            <a:miter lim="400000"/>
          </a:ln>
        </p:spPr>
        <p:txBody>
          <a:bodyPr lIns="50800" tIns="50800" rIns="50800" bIns="50800" anchor="ctr"/>
          <a:lstStyle/>
          <a:p>
            <a:pPr marL="57799" marR="57799" indent="0" defTabSz="1295400"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10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206304"/>
            <a:ext cx="800101" cy="762001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标题文本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idx="1"/>
          </p:nvPr>
        </p:nvSpPr>
        <p:spPr>
          <a:xfrm>
            <a:off x="1682044" y="2869635"/>
            <a:ext cx="11049001" cy="688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2pPr marL="783590" indent="-285750">
              <a:spcBef>
                <a:spcPts val="900"/>
              </a:spcBef>
              <a:buClr>
                <a:srgbClr val="FF0000"/>
              </a:buClr>
              <a:defRPr sz="3400"/>
            </a:lvl2pPr>
            <a:lvl3pPr marL="1183639" indent="-228600">
              <a:spcBef>
                <a:spcPts val="800"/>
              </a:spcBef>
              <a:defRPr sz="2800"/>
            </a:lvl3pPr>
            <a:lvl4pPr marL="1640839" indent="-228600">
              <a:spcBef>
                <a:spcPts val="600"/>
              </a:spcBef>
              <a:buClr>
                <a:srgbClr val="F81F08"/>
              </a:buClr>
              <a:defRPr sz="2200"/>
            </a:lvl4pPr>
            <a:lvl5pPr marL="2098039" indent="-228600">
              <a:spcBef>
                <a:spcPts val="600"/>
              </a:spcBef>
              <a:buClr>
                <a:srgbClr val="FFFFFF"/>
              </a:buClr>
              <a:defRPr sz="22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xfrm>
            <a:off x="6259830" y="9080500"/>
            <a:ext cx="469901" cy="49289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indent="0" algn="ctr" defTabSz="825500">
              <a:defRPr b="1"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</p:sldLayoutIdLst>
  <p:transition xmlns:p14="http://schemas.microsoft.com/office/powerpoint/2010/main" spd="med" advClick="1"/>
  <p:txStyles>
    <p:titleStyle>
      <a:lvl1pPr marL="57799" marR="57799" indent="0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1pPr>
      <a:lvl2pPr marL="57799" marR="57799" indent="228600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2pPr>
      <a:lvl3pPr marL="57799" marR="57799" indent="457200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3pPr>
      <a:lvl4pPr marL="57799" marR="57799" indent="685800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4pPr>
      <a:lvl5pPr marL="57799" marR="57799" indent="914400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5pPr>
      <a:lvl6pPr marL="57799" marR="57799" indent="1143000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6pPr>
      <a:lvl7pPr marL="57799" marR="57799" indent="1371600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7pPr>
      <a:lvl8pPr marL="57799" marR="57799" indent="1600200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8pPr>
      <a:lvl9pPr marL="57799" marR="57799" indent="1828800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9pPr>
    </p:titleStyle>
    <p:bodyStyle>
      <a:lvl1pPr marL="383539" marR="57799" indent="-342899" algn="l" defTabSz="129540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60000"/>
        <a:buFontTx/>
        <a:buChar char="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1pPr>
      <a:lvl2pPr marL="817207" marR="57799" indent="-319367" algn="l" defTabSz="129540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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2pPr>
      <a:lvl3pPr marL="1265282" marR="57799" indent="-310242" algn="l" defTabSz="129540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3pPr>
      <a:lvl4pPr marL="1807094" marR="57799" indent="-394854" algn="l" defTabSz="129540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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4pPr>
      <a:lvl5pPr marL="2264294" marR="57799" indent="-394854" algn="l" defTabSz="129540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5pPr>
      <a:lvl6pPr marL="2264294" marR="57799" indent="-394854" algn="l" defTabSz="129540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6pPr>
      <a:lvl7pPr marL="2264294" marR="57799" indent="-394854" algn="l" defTabSz="129540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7pPr>
      <a:lvl8pPr marL="2264294" marR="57799" indent="-394854" algn="l" defTabSz="129540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8pPr>
      <a:lvl9pPr marL="2264294" marR="57799" indent="-394854" algn="l" defTabSz="129540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92"/>
          <p:cNvSpPr txBox="1"/>
          <p:nvPr/>
        </p:nvSpPr>
        <p:spPr>
          <a:xfrm>
            <a:off x="1051558" y="2552981"/>
            <a:ext cx="1129030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用顶点表示活动，弧表示活动之间的先后次序的有向图。</a:t>
            </a:r>
          </a:p>
        </p:txBody>
      </p:sp>
      <p:sp>
        <p:nvSpPr>
          <p:cNvPr id="82" name="Shape 93"/>
          <p:cNvSpPr txBox="1"/>
          <p:nvPr/>
        </p:nvSpPr>
        <p:spPr>
          <a:xfrm>
            <a:off x="1051559" y="1532465"/>
            <a:ext cx="105791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AOV网（Activity On Vertex NetWork）</a:t>
            </a:r>
          </a:p>
        </p:txBody>
      </p:sp>
      <p:sp>
        <p:nvSpPr>
          <p:cNvPr id="83" name="Shape 94"/>
          <p:cNvSpPr txBox="1"/>
          <p:nvPr/>
        </p:nvSpPr>
        <p:spPr>
          <a:xfrm>
            <a:off x="1031522" y="5809825"/>
            <a:ext cx="566663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如果排工？</a:t>
            </a:r>
          </a:p>
        </p:txBody>
      </p:sp>
      <p:sp>
        <p:nvSpPr>
          <p:cNvPr id="84" name="Shape 95"/>
          <p:cNvSpPr txBox="1"/>
          <p:nvPr/>
        </p:nvSpPr>
        <p:spPr>
          <a:xfrm>
            <a:off x="2397759" y="181892"/>
            <a:ext cx="7886702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拓扑排序</a:t>
            </a:r>
          </a:p>
        </p:txBody>
      </p:sp>
      <p:grpSp>
        <p:nvGrpSpPr>
          <p:cNvPr id="101" name="Group 112"/>
          <p:cNvGrpSpPr/>
          <p:nvPr/>
        </p:nvGrpSpPr>
        <p:grpSpPr>
          <a:xfrm>
            <a:off x="3792784" y="3431821"/>
            <a:ext cx="5229016" cy="3204354"/>
            <a:chOff x="0" y="23267"/>
            <a:chExt cx="5229015" cy="3204353"/>
          </a:xfrm>
        </p:grpSpPr>
        <p:sp>
          <p:nvSpPr>
            <p:cNvPr id="85" name="Shape 109"/>
            <p:cNvSpPr/>
            <p:nvPr/>
          </p:nvSpPr>
          <p:spPr>
            <a:xfrm>
              <a:off x="535516" y="1433059"/>
              <a:ext cx="1250952" cy="527102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88" name="Group 98"/>
            <p:cNvGrpSpPr/>
            <p:nvPr/>
          </p:nvGrpSpPr>
          <p:grpSpPr>
            <a:xfrm>
              <a:off x="1791546" y="23267"/>
              <a:ext cx="1595122" cy="1596815"/>
              <a:chOff x="0" y="23267"/>
              <a:chExt cx="1595121" cy="1596814"/>
            </a:xfrm>
          </p:grpSpPr>
          <p:sp>
            <p:nvSpPr>
              <p:cNvPr id="86" name="Shape 96"/>
              <p:cNvSpPr/>
              <p:nvPr/>
            </p:nvSpPr>
            <p:spPr>
              <a:xfrm>
                <a:off x="0" y="23267"/>
                <a:ext cx="647702" cy="647703"/>
              </a:xfrm>
              <a:prstGeom prst="ellips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7" name="Shape 97"/>
              <p:cNvSpPr/>
              <p:nvPr/>
            </p:nvSpPr>
            <p:spPr>
              <a:xfrm>
                <a:off x="325121" y="35008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91" name="Group 101"/>
            <p:cNvGrpSpPr/>
            <p:nvPr/>
          </p:nvGrpSpPr>
          <p:grpSpPr>
            <a:xfrm>
              <a:off x="3633894" y="872191"/>
              <a:ext cx="1595122" cy="1596816"/>
              <a:chOff x="0" y="23267"/>
              <a:chExt cx="1595121" cy="1596814"/>
            </a:xfrm>
          </p:grpSpPr>
          <p:sp>
            <p:nvSpPr>
              <p:cNvPr id="89" name="Shape 99"/>
              <p:cNvSpPr/>
              <p:nvPr/>
            </p:nvSpPr>
            <p:spPr>
              <a:xfrm>
                <a:off x="0" y="23267"/>
                <a:ext cx="647702" cy="647705"/>
              </a:xfrm>
              <a:prstGeom prst="ellips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0" name="Shape 100"/>
              <p:cNvSpPr/>
              <p:nvPr/>
            </p:nvSpPr>
            <p:spPr>
              <a:xfrm>
                <a:off x="325121" y="35008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94" name="Group 104"/>
            <p:cNvGrpSpPr/>
            <p:nvPr/>
          </p:nvGrpSpPr>
          <p:grpSpPr>
            <a:xfrm>
              <a:off x="-1" y="846791"/>
              <a:ext cx="1595122" cy="1596816"/>
              <a:chOff x="0" y="23267"/>
              <a:chExt cx="1595120" cy="1596814"/>
            </a:xfrm>
          </p:grpSpPr>
          <p:sp>
            <p:nvSpPr>
              <p:cNvPr id="92" name="Shape 102"/>
              <p:cNvSpPr/>
              <p:nvPr/>
            </p:nvSpPr>
            <p:spPr>
              <a:xfrm>
                <a:off x="-1" y="23267"/>
                <a:ext cx="647701" cy="647705"/>
              </a:xfrm>
              <a:prstGeom prst="ellips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3" name="Shape 103"/>
              <p:cNvSpPr/>
              <p:nvPr/>
            </p:nvSpPr>
            <p:spPr>
              <a:xfrm>
                <a:off x="325120" y="35008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97" name="Group 107"/>
            <p:cNvGrpSpPr/>
            <p:nvPr/>
          </p:nvGrpSpPr>
          <p:grpSpPr>
            <a:xfrm>
              <a:off x="1791546" y="1630805"/>
              <a:ext cx="1595122" cy="1596816"/>
              <a:chOff x="0" y="23267"/>
              <a:chExt cx="1595121" cy="1596814"/>
            </a:xfrm>
          </p:grpSpPr>
          <p:sp>
            <p:nvSpPr>
              <p:cNvPr id="95" name="Shape 105"/>
              <p:cNvSpPr/>
              <p:nvPr/>
            </p:nvSpPr>
            <p:spPr>
              <a:xfrm>
                <a:off x="0" y="23267"/>
                <a:ext cx="647702" cy="647705"/>
              </a:xfrm>
              <a:prstGeom prst="ellips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6" name="Shape 106"/>
              <p:cNvSpPr/>
              <p:nvPr/>
            </p:nvSpPr>
            <p:spPr>
              <a:xfrm>
                <a:off x="325121" y="35008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98" name="Shape 108"/>
            <p:cNvSpPr/>
            <p:nvPr/>
          </p:nvSpPr>
          <p:spPr>
            <a:xfrm flipV="1">
              <a:off x="599440" y="330325"/>
              <a:ext cx="1193802" cy="647702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" name="Shape 110"/>
            <p:cNvSpPr/>
            <p:nvPr/>
          </p:nvSpPr>
          <p:spPr>
            <a:xfrm>
              <a:off x="2441788" y="438698"/>
              <a:ext cx="1295401" cy="546102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" name="Shape 111"/>
            <p:cNvSpPr/>
            <p:nvPr/>
          </p:nvSpPr>
          <p:spPr>
            <a:xfrm flipV="1">
              <a:off x="2441788" y="1414059"/>
              <a:ext cx="1295401" cy="546102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14"/>
          <p:cNvSpPr txBox="1"/>
          <p:nvPr/>
        </p:nvSpPr>
        <p:spPr>
          <a:xfrm>
            <a:off x="1047750" y="1545448"/>
            <a:ext cx="11328400" cy="1275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20000"/>
              </a:lnSpc>
            </a:pPr>
            <a:r>
              <a:t>按照</a:t>
            </a:r>
            <a:r>
              <a:rPr>
                <a:solidFill>
                  <a:schemeClr val="accent1"/>
                </a:solidFill>
              </a:rPr>
              <a:t>有向图给出的顶点之间的先后次序</a:t>
            </a:r>
            <a:r>
              <a:t>，将图中顶点排成一个</a:t>
            </a:r>
          </a:p>
          <a:p>
            <a:pPr>
              <a:lnSpc>
                <a:spcPct val="120000"/>
              </a:lnSpc>
            </a:pPr>
            <a:r>
              <a:t>线性序列，</a:t>
            </a:r>
            <a:r>
              <a:rPr>
                <a:uFill>
                  <a:solidFill>
                    <a:srgbClr val="000000"/>
                  </a:solidFill>
                </a:uFill>
              </a:rPr>
              <a:t>这个过程叫做拓扑排序。</a:t>
            </a:r>
          </a:p>
        </p:txBody>
      </p:sp>
      <p:sp>
        <p:nvSpPr>
          <p:cNvPr id="104" name="Shape 116"/>
          <p:cNvSpPr txBox="1"/>
          <p:nvPr/>
        </p:nvSpPr>
        <p:spPr>
          <a:xfrm>
            <a:off x="2334259" y="181892"/>
            <a:ext cx="7886702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拓扑排序</a:t>
            </a:r>
          </a:p>
        </p:txBody>
      </p:sp>
      <p:sp>
        <p:nvSpPr>
          <p:cNvPr id="105" name="Shape 135"/>
          <p:cNvSpPr txBox="1"/>
          <p:nvPr/>
        </p:nvSpPr>
        <p:spPr>
          <a:xfrm>
            <a:off x="889000" y="6648898"/>
            <a:ext cx="473928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/>
            </a:lvl1pPr>
          </a:lstStyle>
          <a:p>
            <a:pPr/>
            <a:r>
              <a:t>A B C D    或    A C B D</a:t>
            </a:r>
          </a:p>
        </p:txBody>
      </p:sp>
      <p:grpSp>
        <p:nvGrpSpPr>
          <p:cNvPr id="122" name="Group 112"/>
          <p:cNvGrpSpPr/>
          <p:nvPr/>
        </p:nvGrpSpPr>
        <p:grpSpPr>
          <a:xfrm>
            <a:off x="922301" y="3683502"/>
            <a:ext cx="5229017" cy="3204354"/>
            <a:chOff x="0" y="23267"/>
            <a:chExt cx="5229015" cy="3204353"/>
          </a:xfrm>
        </p:grpSpPr>
        <p:sp>
          <p:nvSpPr>
            <p:cNvPr id="106" name="Shape 109"/>
            <p:cNvSpPr/>
            <p:nvPr/>
          </p:nvSpPr>
          <p:spPr>
            <a:xfrm>
              <a:off x="535516" y="1433059"/>
              <a:ext cx="1250952" cy="527102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09" name="Group 98"/>
            <p:cNvGrpSpPr/>
            <p:nvPr/>
          </p:nvGrpSpPr>
          <p:grpSpPr>
            <a:xfrm>
              <a:off x="1791546" y="23267"/>
              <a:ext cx="1595122" cy="1596815"/>
              <a:chOff x="0" y="23267"/>
              <a:chExt cx="1595121" cy="1596814"/>
            </a:xfrm>
          </p:grpSpPr>
          <p:sp>
            <p:nvSpPr>
              <p:cNvPr id="107" name="Shape 96"/>
              <p:cNvSpPr/>
              <p:nvPr/>
            </p:nvSpPr>
            <p:spPr>
              <a:xfrm>
                <a:off x="0" y="23267"/>
                <a:ext cx="647702" cy="647703"/>
              </a:xfrm>
              <a:prstGeom prst="ellips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8" name="Shape 97"/>
              <p:cNvSpPr/>
              <p:nvPr/>
            </p:nvSpPr>
            <p:spPr>
              <a:xfrm>
                <a:off x="325121" y="35008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12" name="Group 101"/>
            <p:cNvGrpSpPr/>
            <p:nvPr/>
          </p:nvGrpSpPr>
          <p:grpSpPr>
            <a:xfrm>
              <a:off x="3633894" y="872191"/>
              <a:ext cx="1595122" cy="1596816"/>
              <a:chOff x="0" y="23267"/>
              <a:chExt cx="1595121" cy="1596814"/>
            </a:xfrm>
          </p:grpSpPr>
          <p:sp>
            <p:nvSpPr>
              <p:cNvPr id="110" name="Shape 99"/>
              <p:cNvSpPr/>
              <p:nvPr/>
            </p:nvSpPr>
            <p:spPr>
              <a:xfrm>
                <a:off x="0" y="23267"/>
                <a:ext cx="647702" cy="647705"/>
              </a:xfrm>
              <a:prstGeom prst="ellips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1" name="Shape 100"/>
              <p:cNvSpPr/>
              <p:nvPr/>
            </p:nvSpPr>
            <p:spPr>
              <a:xfrm>
                <a:off x="325121" y="35008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15" name="Group 104"/>
            <p:cNvGrpSpPr/>
            <p:nvPr/>
          </p:nvGrpSpPr>
          <p:grpSpPr>
            <a:xfrm>
              <a:off x="-1" y="846791"/>
              <a:ext cx="1595122" cy="1596816"/>
              <a:chOff x="0" y="23267"/>
              <a:chExt cx="1595120" cy="1596814"/>
            </a:xfrm>
          </p:grpSpPr>
          <p:sp>
            <p:nvSpPr>
              <p:cNvPr id="113" name="Shape 102"/>
              <p:cNvSpPr/>
              <p:nvPr/>
            </p:nvSpPr>
            <p:spPr>
              <a:xfrm>
                <a:off x="-1" y="23267"/>
                <a:ext cx="647701" cy="647705"/>
              </a:xfrm>
              <a:prstGeom prst="ellips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4" name="Shape 103"/>
              <p:cNvSpPr/>
              <p:nvPr/>
            </p:nvSpPr>
            <p:spPr>
              <a:xfrm>
                <a:off x="325120" y="35008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18" name="Group 107"/>
            <p:cNvGrpSpPr/>
            <p:nvPr/>
          </p:nvGrpSpPr>
          <p:grpSpPr>
            <a:xfrm>
              <a:off x="1791546" y="1630805"/>
              <a:ext cx="1595122" cy="1596816"/>
              <a:chOff x="0" y="23267"/>
              <a:chExt cx="1595121" cy="1596814"/>
            </a:xfrm>
          </p:grpSpPr>
          <p:sp>
            <p:nvSpPr>
              <p:cNvPr id="116" name="Shape 105"/>
              <p:cNvSpPr/>
              <p:nvPr/>
            </p:nvSpPr>
            <p:spPr>
              <a:xfrm>
                <a:off x="0" y="23267"/>
                <a:ext cx="647702" cy="647705"/>
              </a:xfrm>
              <a:prstGeom prst="ellips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7" name="Shape 106"/>
              <p:cNvSpPr/>
              <p:nvPr/>
            </p:nvSpPr>
            <p:spPr>
              <a:xfrm>
                <a:off x="325121" y="35008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119" name="Shape 108"/>
            <p:cNvSpPr/>
            <p:nvPr/>
          </p:nvSpPr>
          <p:spPr>
            <a:xfrm flipV="1">
              <a:off x="599440" y="330325"/>
              <a:ext cx="1193802" cy="647702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0" name="Shape 110"/>
            <p:cNvSpPr/>
            <p:nvPr/>
          </p:nvSpPr>
          <p:spPr>
            <a:xfrm>
              <a:off x="2441787" y="438698"/>
              <a:ext cx="1295403" cy="546102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1" name="Shape 111"/>
            <p:cNvSpPr/>
            <p:nvPr/>
          </p:nvSpPr>
          <p:spPr>
            <a:xfrm flipV="1">
              <a:off x="2441788" y="1414059"/>
              <a:ext cx="1295401" cy="546102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140" name="Group 155"/>
          <p:cNvGrpSpPr/>
          <p:nvPr/>
        </p:nvGrpSpPr>
        <p:grpSpPr>
          <a:xfrm>
            <a:off x="7264117" y="3660235"/>
            <a:ext cx="4368801" cy="2164931"/>
            <a:chOff x="0" y="0"/>
            <a:chExt cx="4368800" cy="2164929"/>
          </a:xfrm>
        </p:grpSpPr>
        <p:grpSp>
          <p:nvGrpSpPr>
            <p:cNvPr id="125" name="Group 140"/>
            <p:cNvGrpSpPr/>
            <p:nvPr/>
          </p:nvGrpSpPr>
          <p:grpSpPr>
            <a:xfrm>
              <a:off x="1803400" y="-1"/>
              <a:ext cx="647700" cy="647701"/>
              <a:chOff x="0" y="0"/>
              <a:chExt cx="647700" cy="647700"/>
            </a:xfrm>
          </p:grpSpPr>
          <p:sp>
            <p:nvSpPr>
              <p:cNvPr id="123" name="Shape 138"/>
              <p:cNvSpPr/>
              <p:nvPr/>
            </p:nvSpPr>
            <p:spPr>
              <a:xfrm>
                <a:off x="0" y="-1"/>
                <a:ext cx="647700" cy="647701"/>
              </a:xfrm>
              <a:prstGeom prst="ellipse">
                <a:avLst/>
              </a:prstGeom>
              <a:solidFill>
                <a:srgbClr val="CCFFCC">
                  <a:alpha val="50195"/>
                </a:srgbClr>
              </a:solidFill>
              <a:ln w="12700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4" name="Shape 139"/>
              <p:cNvSpPr txBox="1"/>
              <p:nvPr/>
            </p:nvSpPr>
            <p:spPr>
              <a:xfrm>
                <a:off x="150893" y="122185"/>
                <a:ext cx="349017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2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28" name="Group 143"/>
            <p:cNvGrpSpPr/>
            <p:nvPr/>
          </p:nvGrpSpPr>
          <p:grpSpPr>
            <a:xfrm>
              <a:off x="3721100" y="812800"/>
              <a:ext cx="647700" cy="647701"/>
              <a:chOff x="0" y="0"/>
              <a:chExt cx="647700" cy="647700"/>
            </a:xfrm>
          </p:grpSpPr>
          <p:sp>
            <p:nvSpPr>
              <p:cNvPr id="126" name="Shape 141"/>
              <p:cNvSpPr/>
              <p:nvPr/>
            </p:nvSpPr>
            <p:spPr>
              <a:xfrm>
                <a:off x="0" y="-1"/>
                <a:ext cx="647700" cy="647701"/>
              </a:xfrm>
              <a:prstGeom prst="ellipse">
                <a:avLst/>
              </a:prstGeom>
              <a:solidFill>
                <a:srgbClr val="CCFFCC">
                  <a:alpha val="50195"/>
                </a:srgbClr>
              </a:solidFill>
              <a:ln w="12700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7" name="Shape 142"/>
              <p:cNvSpPr txBox="1"/>
              <p:nvPr/>
            </p:nvSpPr>
            <p:spPr>
              <a:xfrm>
                <a:off x="139381" y="122185"/>
                <a:ext cx="365833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2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31" name="Group 146"/>
            <p:cNvGrpSpPr/>
            <p:nvPr/>
          </p:nvGrpSpPr>
          <p:grpSpPr>
            <a:xfrm>
              <a:off x="-1" y="686364"/>
              <a:ext cx="647701" cy="647703"/>
              <a:chOff x="0" y="0"/>
              <a:chExt cx="647700" cy="647701"/>
            </a:xfrm>
          </p:grpSpPr>
          <p:sp>
            <p:nvSpPr>
              <p:cNvPr id="129" name="Shape 144"/>
              <p:cNvSpPr/>
              <p:nvPr/>
            </p:nvSpPr>
            <p:spPr>
              <a:xfrm>
                <a:off x="0" y="-1"/>
                <a:ext cx="647700" cy="647703"/>
              </a:xfrm>
              <a:prstGeom prst="ellipse">
                <a:avLst/>
              </a:prstGeom>
              <a:solidFill>
                <a:srgbClr val="CCFFCC">
                  <a:alpha val="50195"/>
                </a:srgbClr>
              </a:solidFill>
              <a:ln w="12700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0" name="Shape 145"/>
              <p:cNvSpPr txBox="1"/>
              <p:nvPr/>
            </p:nvSpPr>
            <p:spPr>
              <a:xfrm>
                <a:off x="139663" y="122184"/>
                <a:ext cx="365833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2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34" name="Group 149"/>
            <p:cNvGrpSpPr/>
            <p:nvPr/>
          </p:nvGrpSpPr>
          <p:grpSpPr>
            <a:xfrm>
              <a:off x="1841500" y="1517227"/>
              <a:ext cx="647700" cy="647703"/>
              <a:chOff x="0" y="0"/>
              <a:chExt cx="647700" cy="647701"/>
            </a:xfrm>
          </p:grpSpPr>
          <p:sp>
            <p:nvSpPr>
              <p:cNvPr id="132" name="Shape 147"/>
              <p:cNvSpPr/>
              <p:nvPr/>
            </p:nvSpPr>
            <p:spPr>
              <a:xfrm>
                <a:off x="0" y="-1"/>
                <a:ext cx="647700" cy="647703"/>
              </a:xfrm>
              <a:prstGeom prst="ellipse">
                <a:avLst/>
              </a:prstGeom>
              <a:solidFill>
                <a:srgbClr val="CCFFCC">
                  <a:alpha val="50195"/>
                </a:srgbClr>
              </a:solidFill>
              <a:ln w="12700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3" name="Shape 148"/>
              <p:cNvSpPr txBox="1"/>
              <p:nvPr/>
            </p:nvSpPr>
            <p:spPr>
              <a:xfrm>
                <a:off x="148918" y="122185"/>
                <a:ext cx="349016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2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135" name="Shape 150"/>
            <p:cNvSpPr/>
            <p:nvPr/>
          </p:nvSpPr>
          <p:spPr>
            <a:xfrm flipV="1">
              <a:off x="647699" y="433493"/>
              <a:ext cx="1193802" cy="431802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" name="Shape 151"/>
            <p:cNvSpPr/>
            <p:nvPr/>
          </p:nvSpPr>
          <p:spPr>
            <a:xfrm>
              <a:off x="571499" y="1264356"/>
              <a:ext cx="1295402" cy="546101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" name="Shape 152"/>
            <p:cNvSpPr/>
            <p:nvPr/>
          </p:nvSpPr>
          <p:spPr>
            <a:xfrm flipV="1">
              <a:off x="2489199" y="1300480"/>
              <a:ext cx="1295402" cy="546102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8" name="Shape 153"/>
            <p:cNvSpPr/>
            <p:nvPr/>
          </p:nvSpPr>
          <p:spPr>
            <a:xfrm flipH="1" flipV="1">
              <a:off x="2438399" y="325120"/>
              <a:ext cx="1295402" cy="647701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" name="Shape 154"/>
            <p:cNvSpPr/>
            <p:nvPr/>
          </p:nvSpPr>
          <p:spPr>
            <a:xfrm>
              <a:off x="2159000" y="650239"/>
              <a:ext cx="2258" cy="863602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141" name="Shape 157"/>
          <p:cNvSpPr txBox="1"/>
          <p:nvPr/>
        </p:nvSpPr>
        <p:spPr>
          <a:xfrm>
            <a:off x="8367722" y="6648898"/>
            <a:ext cx="216159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 sz="2500"/>
            </a:lvl1pPr>
          </a:lstStyle>
          <a:p>
            <a:pPr/>
            <a:r>
              <a:t>回路 {B, C, D}</a:t>
            </a:r>
          </a:p>
        </p:txBody>
      </p:sp>
      <p:sp>
        <p:nvSpPr>
          <p:cNvPr id="142" name="Shape 158"/>
          <p:cNvSpPr/>
          <p:nvPr/>
        </p:nvSpPr>
        <p:spPr>
          <a:xfrm flipV="1">
            <a:off x="9751906" y="4960715"/>
            <a:ext cx="1295402" cy="546103"/>
          </a:xfrm>
          <a:prstGeom prst="line">
            <a:avLst/>
          </a:prstGeom>
          <a:ln w="38100" cap="sq">
            <a:solidFill>
              <a:srgbClr val="FF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3" name="Shape 159"/>
          <p:cNvSpPr/>
          <p:nvPr/>
        </p:nvSpPr>
        <p:spPr>
          <a:xfrm flipH="1" flipV="1">
            <a:off x="9679657" y="3985355"/>
            <a:ext cx="1295402" cy="647702"/>
          </a:xfrm>
          <a:prstGeom prst="line">
            <a:avLst/>
          </a:prstGeom>
          <a:ln w="38100" cap="sq">
            <a:solidFill>
              <a:srgbClr val="FF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4" name="Shape 160"/>
          <p:cNvSpPr/>
          <p:nvPr/>
        </p:nvSpPr>
        <p:spPr>
          <a:xfrm>
            <a:off x="9426786" y="4310475"/>
            <a:ext cx="2259" cy="863602"/>
          </a:xfrm>
          <a:prstGeom prst="line">
            <a:avLst/>
          </a:prstGeom>
          <a:ln w="38100" cap="sq">
            <a:solidFill>
              <a:srgbClr val="FF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1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Class="entr" nodeType="after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Class="entr" nodeType="afterEffect" presetSubtype="4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2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2" grpId="3"/>
      <p:bldP build="whole" bldLvl="1" animBg="1" rev="0" advAuto="0" spid="144" grpId="2"/>
      <p:bldP build="whole" bldLvl="1" animBg="1" rev="0" advAuto="0" spid="141" grpId="1"/>
      <p:bldP build="whole" bldLvl="1" animBg="1" rev="0" advAuto="0" spid="143" grpId="4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63"/>
          <p:cNvSpPr txBox="1"/>
          <p:nvPr/>
        </p:nvSpPr>
        <p:spPr>
          <a:xfrm>
            <a:off x="392710" y="1539521"/>
            <a:ext cx="12352737" cy="2603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20000"/>
              </a:lnSpc>
            </a:pPr>
            <a:r>
              <a:t>1、从有向图中选取一个没有前驱的顶点，并输出;</a:t>
            </a:r>
          </a:p>
          <a:p>
            <a:pPr>
              <a:lnSpc>
                <a:spcPct val="120000"/>
              </a:lnSpc>
            </a:pPr>
            <a:r>
              <a:t>2、从有向图中</a:t>
            </a:r>
            <a:r>
              <a:rPr>
                <a:solidFill>
                  <a:schemeClr val="accent1"/>
                </a:solidFill>
              </a:rPr>
              <a:t>“删去”</a:t>
            </a:r>
            <a:r>
              <a:t>此顶点以及所有以它为尾的弧;</a:t>
            </a:r>
          </a:p>
          <a:p>
            <a:pPr>
              <a:lnSpc>
                <a:spcPct val="120000"/>
              </a:lnSpc>
            </a:pPr>
            <a:r>
              <a:t>3、重复上述两步，直至图空，</a:t>
            </a:r>
          </a:p>
          <a:p>
            <a:pPr>
              <a:lnSpc>
                <a:spcPct val="120000"/>
              </a:lnSpc>
            </a:pPr>
            <a:r>
              <a:t>      或者图不空但找不到无前驱的顶点为止。</a:t>
            </a:r>
          </a:p>
        </p:txBody>
      </p:sp>
      <p:sp>
        <p:nvSpPr>
          <p:cNvPr id="147" name="Shape 164"/>
          <p:cNvSpPr txBox="1"/>
          <p:nvPr/>
        </p:nvSpPr>
        <p:spPr>
          <a:xfrm>
            <a:off x="2424711" y="181892"/>
            <a:ext cx="78867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拓扑排序：方法一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roup 168"/>
          <p:cNvGrpSpPr/>
          <p:nvPr/>
        </p:nvGrpSpPr>
        <p:grpSpPr>
          <a:xfrm>
            <a:off x="2273300" y="2163233"/>
            <a:ext cx="647700" cy="700162"/>
            <a:chOff x="0" y="0"/>
            <a:chExt cx="647700" cy="700161"/>
          </a:xfrm>
        </p:grpSpPr>
        <p:sp>
          <p:nvSpPr>
            <p:cNvPr id="149" name="Shape 166"/>
            <p:cNvSpPr/>
            <p:nvPr/>
          </p:nvSpPr>
          <p:spPr>
            <a:xfrm>
              <a:off x="0" y="23267"/>
              <a:ext cx="647700" cy="647703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0" name="Shape 167"/>
            <p:cNvSpPr txBox="1"/>
            <p:nvPr/>
          </p:nvSpPr>
          <p:spPr>
            <a:xfrm>
              <a:off x="124016" y="0"/>
              <a:ext cx="393740" cy="700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154" name="Group 171"/>
          <p:cNvGrpSpPr/>
          <p:nvPr/>
        </p:nvGrpSpPr>
        <p:grpSpPr>
          <a:xfrm>
            <a:off x="4432300" y="1253348"/>
            <a:ext cx="647700" cy="700162"/>
            <a:chOff x="0" y="0"/>
            <a:chExt cx="647700" cy="700161"/>
          </a:xfrm>
        </p:grpSpPr>
        <p:sp>
          <p:nvSpPr>
            <p:cNvPr id="152" name="Shape 169"/>
            <p:cNvSpPr/>
            <p:nvPr/>
          </p:nvSpPr>
          <p:spPr>
            <a:xfrm>
              <a:off x="0" y="23267"/>
              <a:ext cx="647700" cy="647703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3" name="Shape 170"/>
            <p:cNvSpPr txBox="1"/>
            <p:nvPr/>
          </p:nvSpPr>
          <p:spPr>
            <a:xfrm>
              <a:off x="132483" y="0"/>
              <a:ext cx="393740" cy="700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157" name="Group 174"/>
          <p:cNvGrpSpPr/>
          <p:nvPr/>
        </p:nvGrpSpPr>
        <p:grpSpPr>
          <a:xfrm>
            <a:off x="4432299" y="2924793"/>
            <a:ext cx="1586655" cy="1507915"/>
            <a:chOff x="0" y="112167"/>
            <a:chExt cx="1586653" cy="1507914"/>
          </a:xfrm>
        </p:grpSpPr>
        <p:sp>
          <p:nvSpPr>
            <p:cNvPr id="155" name="Shape 172"/>
            <p:cNvSpPr/>
            <p:nvPr/>
          </p:nvSpPr>
          <p:spPr>
            <a:xfrm>
              <a:off x="0" y="112167"/>
              <a:ext cx="647700" cy="647703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6" name="Shape 173"/>
            <p:cNvSpPr/>
            <p:nvPr/>
          </p:nvSpPr>
          <p:spPr>
            <a:xfrm>
              <a:off x="316653" y="35008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160" name="Group 177"/>
          <p:cNvGrpSpPr/>
          <p:nvPr/>
        </p:nvGrpSpPr>
        <p:grpSpPr>
          <a:xfrm>
            <a:off x="2201333" y="3865596"/>
            <a:ext cx="647703" cy="700163"/>
            <a:chOff x="0" y="0"/>
            <a:chExt cx="647701" cy="700161"/>
          </a:xfrm>
        </p:grpSpPr>
        <p:sp>
          <p:nvSpPr>
            <p:cNvPr id="158" name="Shape 175"/>
            <p:cNvSpPr/>
            <p:nvPr/>
          </p:nvSpPr>
          <p:spPr>
            <a:xfrm>
              <a:off x="0" y="23267"/>
              <a:ext cx="647702" cy="647703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9" name="Shape 176"/>
            <p:cNvSpPr txBox="1"/>
            <p:nvPr/>
          </p:nvSpPr>
          <p:spPr>
            <a:xfrm>
              <a:off x="112561" y="0"/>
              <a:ext cx="425117" cy="700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163" name="Group 180"/>
          <p:cNvGrpSpPr/>
          <p:nvPr/>
        </p:nvGrpSpPr>
        <p:grpSpPr>
          <a:xfrm>
            <a:off x="6534008" y="2194841"/>
            <a:ext cx="647703" cy="700163"/>
            <a:chOff x="0" y="0"/>
            <a:chExt cx="647701" cy="700161"/>
          </a:xfrm>
        </p:grpSpPr>
        <p:sp>
          <p:nvSpPr>
            <p:cNvPr id="161" name="Shape 178"/>
            <p:cNvSpPr/>
            <p:nvPr/>
          </p:nvSpPr>
          <p:spPr>
            <a:xfrm>
              <a:off x="0" y="23267"/>
              <a:ext cx="647702" cy="647703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2" name="Shape 179"/>
            <p:cNvSpPr txBox="1"/>
            <p:nvPr/>
          </p:nvSpPr>
          <p:spPr>
            <a:xfrm>
              <a:off x="112562" y="0"/>
              <a:ext cx="425117" cy="700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166" name="Group 183"/>
          <p:cNvGrpSpPr/>
          <p:nvPr/>
        </p:nvGrpSpPr>
        <p:grpSpPr>
          <a:xfrm>
            <a:off x="4249137" y="4730325"/>
            <a:ext cx="647703" cy="700163"/>
            <a:chOff x="0" y="0"/>
            <a:chExt cx="647701" cy="700161"/>
          </a:xfrm>
        </p:grpSpPr>
        <p:sp>
          <p:nvSpPr>
            <p:cNvPr id="164" name="Shape 181"/>
            <p:cNvSpPr/>
            <p:nvPr/>
          </p:nvSpPr>
          <p:spPr>
            <a:xfrm>
              <a:off x="0" y="23267"/>
              <a:ext cx="647702" cy="647703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5" name="Shape 182"/>
            <p:cNvSpPr txBox="1"/>
            <p:nvPr/>
          </p:nvSpPr>
          <p:spPr>
            <a:xfrm>
              <a:off x="112561" y="0"/>
              <a:ext cx="425117" cy="700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169" name="Group 186"/>
          <p:cNvGrpSpPr/>
          <p:nvPr/>
        </p:nvGrpSpPr>
        <p:grpSpPr>
          <a:xfrm>
            <a:off x="6604000" y="3802379"/>
            <a:ext cx="647700" cy="700163"/>
            <a:chOff x="0" y="0"/>
            <a:chExt cx="647700" cy="700161"/>
          </a:xfrm>
        </p:grpSpPr>
        <p:sp>
          <p:nvSpPr>
            <p:cNvPr id="167" name="Shape 184"/>
            <p:cNvSpPr/>
            <p:nvPr/>
          </p:nvSpPr>
          <p:spPr>
            <a:xfrm>
              <a:off x="0" y="23267"/>
              <a:ext cx="647700" cy="647703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8" name="Shape 185"/>
            <p:cNvSpPr txBox="1"/>
            <p:nvPr/>
          </p:nvSpPr>
          <p:spPr>
            <a:xfrm>
              <a:off x="159218" y="0"/>
              <a:ext cx="331802" cy="700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172" name="Group 189"/>
          <p:cNvGrpSpPr/>
          <p:nvPr/>
        </p:nvGrpSpPr>
        <p:grpSpPr>
          <a:xfrm>
            <a:off x="8703733" y="2808957"/>
            <a:ext cx="647703" cy="700162"/>
            <a:chOff x="0" y="0"/>
            <a:chExt cx="647701" cy="700161"/>
          </a:xfrm>
        </p:grpSpPr>
        <p:sp>
          <p:nvSpPr>
            <p:cNvPr id="170" name="Shape 187"/>
            <p:cNvSpPr/>
            <p:nvPr/>
          </p:nvSpPr>
          <p:spPr>
            <a:xfrm>
              <a:off x="0" y="23267"/>
              <a:ext cx="647702" cy="647703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1" name="Shape 188"/>
            <p:cNvSpPr txBox="1"/>
            <p:nvPr/>
          </p:nvSpPr>
          <p:spPr>
            <a:xfrm>
              <a:off x="128250" y="0"/>
              <a:ext cx="393739" cy="700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sp>
        <p:nvSpPr>
          <p:cNvPr id="173" name="Shape 190"/>
          <p:cNvSpPr/>
          <p:nvPr/>
        </p:nvSpPr>
        <p:spPr>
          <a:xfrm flipV="1">
            <a:off x="2815447" y="1601736"/>
            <a:ext cx="1621087" cy="688623"/>
          </a:xfrm>
          <a:prstGeom prst="line">
            <a:avLst/>
          </a:prstGeom>
          <a:ln w="25400" cap="sq">
            <a:solidFill>
              <a:srgbClr val="8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4" name="Shape 191"/>
          <p:cNvSpPr/>
          <p:nvPr/>
        </p:nvSpPr>
        <p:spPr>
          <a:xfrm>
            <a:off x="2917049" y="2607293"/>
            <a:ext cx="1536701" cy="602829"/>
          </a:xfrm>
          <a:prstGeom prst="line">
            <a:avLst/>
          </a:prstGeom>
          <a:ln w="25400" cap="sq">
            <a:solidFill>
              <a:srgbClr val="8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5" name="Shape 192"/>
          <p:cNvSpPr/>
          <p:nvPr/>
        </p:nvSpPr>
        <p:spPr>
          <a:xfrm flipV="1">
            <a:off x="5052906" y="2696193"/>
            <a:ext cx="1536701" cy="609603"/>
          </a:xfrm>
          <a:prstGeom prst="line">
            <a:avLst/>
          </a:prstGeom>
          <a:ln w="25400" cap="sq">
            <a:solidFill>
              <a:srgbClr val="800000"/>
            </a:solidFill>
            <a:head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6" name="Shape 193"/>
          <p:cNvSpPr/>
          <p:nvPr/>
        </p:nvSpPr>
        <p:spPr>
          <a:xfrm>
            <a:off x="5092699" y="1601735"/>
            <a:ext cx="1511301" cy="790225"/>
          </a:xfrm>
          <a:prstGeom prst="line">
            <a:avLst/>
          </a:prstGeom>
          <a:ln w="25400" cap="sq">
            <a:solidFill>
              <a:srgbClr val="8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7" name="Shape 194"/>
          <p:cNvSpPr/>
          <p:nvPr/>
        </p:nvSpPr>
        <p:spPr>
          <a:xfrm>
            <a:off x="7186507" y="2455175"/>
            <a:ext cx="1729459" cy="431803"/>
          </a:xfrm>
          <a:prstGeom prst="line">
            <a:avLst/>
          </a:prstGeom>
          <a:ln w="25400" cap="sq">
            <a:solidFill>
              <a:srgbClr val="8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8" name="Shape 195"/>
          <p:cNvSpPr/>
          <p:nvPr/>
        </p:nvSpPr>
        <p:spPr>
          <a:xfrm flipV="1">
            <a:off x="7233920" y="3416989"/>
            <a:ext cx="1623343" cy="769904"/>
          </a:xfrm>
          <a:prstGeom prst="line">
            <a:avLst/>
          </a:prstGeom>
          <a:ln w="25400" cap="sq">
            <a:solidFill>
              <a:srgbClr val="8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9" name="Shape 196"/>
          <p:cNvSpPr/>
          <p:nvPr/>
        </p:nvSpPr>
        <p:spPr>
          <a:xfrm>
            <a:off x="5067300" y="3416988"/>
            <a:ext cx="1536700" cy="715719"/>
          </a:xfrm>
          <a:prstGeom prst="line">
            <a:avLst/>
          </a:prstGeom>
          <a:ln w="25400" cap="sq">
            <a:solidFill>
              <a:srgbClr val="8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80" name="Shape 197"/>
          <p:cNvSpPr/>
          <p:nvPr/>
        </p:nvSpPr>
        <p:spPr>
          <a:xfrm>
            <a:off x="2815448" y="4401379"/>
            <a:ext cx="1433690" cy="715719"/>
          </a:xfrm>
          <a:prstGeom prst="line">
            <a:avLst/>
          </a:prstGeom>
          <a:ln w="25400" cap="sq">
            <a:solidFill>
              <a:srgbClr val="8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81" name="Shape 198"/>
          <p:cNvSpPr/>
          <p:nvPr/>
        </p:nvSpPr>
        <p:spPr>
          <a:xfrm flipV="1">
            <a:off x="2831252" y="3318493"/>
            <a:ext cx="1621086" cy="763131"/>
          </a:xfrm>
          <a:prstGeom prst="line">
            <a:avLst/>
          </a:prstGeom>
          <a:ln w="25400" cap="sq">
            <a:solidFill>
              <a:srgbClr val="8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82" name="Shape 199"/>
          <p:cNvSpPr/>
          <p:nvPr/>
        </p:nvSpPr>
        <p:spPr>
          <a:xfrm flipV="1">
            <a:off x="4863253" y="4245593"/>
            <a:ext cx="1740749" cy="970847"/>
          </a:xfrm>
          <a:prstGeom prst="line">
            <a:avLst/>
          </a:prstGeom>
          <a:ln w="25400" cap="sq">
            <a:solidFill>
              <a:srgbClr val="8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83" name="Shape 200"/>
          <p:cNvSpPr txBox="1"/>
          <p:nvPr/>
        </p:nvSpPr>
        <p:spPr>
          <a:xfrm>
            <a:off x="4845191" y="5680693"/>
            <a:ext cx="527700" cy="88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defRPr sz="560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84" name="Shape 201"/>
          <p:cNvSpPr txBox="1"/>
          <p:nvPr/>
        </p:nvSpPr>
        <p:spPr>
          <a:xfrm>
            <a:off x="5508978" y="5680693"/>
            <a:ext cx="527700" cy="88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defRPr sz="560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h</a:t>
            </a:r>
          </a:p>
        </p:txBody>
      </p:sp>
      <p:sp>
        <p:nvSpPr>
          <p:cNvPr id="185" name="Shape 202"/>
          <p:cNvSpPr txBox="1"/>
          <p:nvPr/>
        </p:nvSpPr>
        <p:spPr>
          <a:xfrm>
            <a:off x="6223000" y="5680693"/>
            <a:ext cx="487764" cy="88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defRPr sz="560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86" name="Shape 203"/>
          <p:cNvSpPr txBox="1"/>
          <p:nvPr/>
        </p:nvSpPr>
        <p:spPr>
          <a:xfrm>
            <a:off x="6942666" y="5680693"/>
            <a:ext cx="487764" cy="88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defRPr sz="560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87" name="Shape 204"/>
          <p:cNvSpPr txBox="1"/>
          <p:nvPr/>
        </p:nvSpPr>
        <p:spPr>
          <a:xfrm>
            <a:off x="7505700" y="5680693"/>
            <a:ext cx="527699" cy="88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defRPr sz="560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188" name="Shape 205"/>
          <p:cNvSpPr txBox="1"/>
          <p:nvPr/>
        </p:nvSpPr>
        <p:spPr>
          <a:xfrm>
            <a:off x="8170898" y="5680693"/>
            <a:ext cx="527700" cy="88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defRPr sz="560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g</a:t>
            </a:r>
          </a:p>
        </p:txBody>
      </p:sp>
      <p:sp>
        <p:nvSpPr>
          <p:cNvPr id="189" name="Shape 206"/>
          <p:cNvSpPr txBox="1"/>
          <p:nvPr/>
        </p:nvSpPr>
        <p:spPr>
          <a:xfrm>
            <a:off x="8886613" y="5680693"/>
            <a:ext cx="408935" cy="88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defRPr sz="560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190" name="Shape 207"/>
          <p:cNvSpPr txBox="1"/>
          <p:nvPr/>
        </p:nvSpPr>
        <p:spPr>
          <a:xfrm>
            <a:off x="9502985" y="5680693"/>
            <a:ext cx="487765" cy="88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defRPr sz="560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91" name="Shape 208"/>
          <p:cNvSpPr txBox="1"/>
          <p:nvPr/>
        </p:nvSpPr>
        <p:spPr>
          <a:xfrm>
            <a:off x="1995875" y="5871193"/>
            <a:ext cx="296610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R="57798" defTabSz="1295400">
              <a:defRPr sz="440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pPr>
            <a:r>
              <a:t>拓扑序列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：</a:t>
            </a:r>
          </a:p>
        </p:txBody>
      </p:sp>
      <p:sp>
        <p:nvSpPr>
          <p:cNvPr id="192" name="Shape 209"/>
          <p:cNvSpPr txBox="1"/>
          <p:nvPr/>
        </p:nvSpPr>
        <p:spPr>
          <a:xfrm>
            <a:off x="2424711" y="189687"/>
            <a:ext cx="78867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拓扑排序：方法一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xit" nodeType="clickEffect" presetSubtype="2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11" dur="500" fill="hold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Class="exit" nodeType="afterEffect" presetSubtype="2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15" dur="500" fill="hold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Class="exit" nodeType="afterEffect" presetSubtype="2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19" dur="500" fill="hold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4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2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xit" nodeType="clickEffect" presetSubtype="2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29" dur="500" fill="hold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Class="exit" nodeType="afterEffect" presetSubtype="2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33" dur="500" fill="hold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4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39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exit" nodeType="clickEffect" presetSubtype="2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43" dur="500" fill="hold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Class="exit" nodeType="afterEffect" presetSubtype="2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47" dur="500" fill="hold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Class="exit" nodeType="afterEffect" presetSubtype="2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51" dur="500" fill="hold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Class="entr" nodeType="clickEffect" presetSubtype="4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5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Class="exit" nodeType="clickEffect" presetSubtype="2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61" dur="500" fill="hold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Class="exit" nodeType="afterEffect" presetSubtype="2" presetID="2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65" dur="500" fill="hold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Subtype="4" presetID="2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7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Class="exit" nodeType="clickEffect" presetSubtype="4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down)" transition="out">
                                      <p:cBhvr>
                                        <p:cTn id="75" dur="500" fill="hold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Class="exit" nodeType="afterEffect" presetSubtype="4" presetID="2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down)" transition="out">
                                      <p:cBhvr>
                                        <p:cTn id="79" dur="500" fill="hold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Class="exit" nodeType="afterEffect" presetSubtype="4" presetID="2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down)" transition="out">
                                      <p:cBhvr>
                                        <p:cTn id="83" dur="500" fill="hold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Class="entr" nodeType="clickEffect" presetSubtype="4" presetID="2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89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Class="exit" nodeType="clickEffect" presetSubtype="2" presetID="22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93" dur="500" fill="hold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Class="exit" nodeType="afterEffect" presetSubtype="2" presetID="22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97" dur="500" fill="hold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Class="entr" nodeType="clickEffect" presetSubtype="4" presetID="22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0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Class="exit" nodeType="clickEffect" presetSubtype="1" presetID="22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up)" transition="out">
                                      <p:cBhvr>
                                        <p:cTn id="107" dur="500" fill="hold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Class="exit" nodeType="afterEffect" presetSubtype="1" presetID="22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up)" transition="out">
                                      <p:cBhvr>
                                        <p:cTn id="111" dur="500" fill="hold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Class="entr" nodeType="clickEffect" presetSubtype="4" presetID="22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6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17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Class="exit" nodeType="clickEffect" presetSubtype="2" presetID="22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121" dur="500" fill="hold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6" grpId="6"/>
      <p:bldP build="whole" bldLvl="1" animBg="1" rev="0" advAuto="0" spid="187" grpId="15"/>
      <p:bldP build="whole" bldLvl="1" animBg="1" rev="0" advAuto="0" spid="174" grpId="11"/>
      <p:bldP build="whole" bldLvl="1" animBg="1" rev="0" advAuto="0" spid="173" grpId="10"/>
      <p:bldP build="whole" bldLvl="1" animBg="1" rev="0" advAuto="0" spid="189" grpId="22"/>
      <p:bldP build="whole" bldLvl="1" animBg="1" rev="0" advAuto="0" spid="154" grpId="13"/>
      <p:bldP build="whole" bldLvl="1" animBg="1" rev="0" advAuto="0" spid="184" grpId="5"/>
      <p:bldP build="whole" bldLvl="1" animBg="1" rev="0" advAuto="0" spid="163" grpId="16"/>
      <p:bldP build="whole" bldLvl="1" animBg="1" rev="0" advAuto="0" spid="182" grpId="7"/>
      <p:bldP build="whole" bldLvl="1" animBg="1" rev="0" advAuto="0" spid="160" grpId="3"/>
      <p:bldP build="whole" bldLvl="1" animBg="1" rev="0" advAuto="0" spid="175" grpId="17"/>
      <p:bldP build="whole" bldLvl="1" animBg="1" rev="0" advAuto="0" spid="181" grpId="2"/>
      <p:bldP build="whole" bldLvl="1" animBg="1" rev="0" advAuto="0" spid="151" grpId="9"/>
      <p:bldP build="whole" bldLvl="1" animBg="1" rev="0" advAuto="0" spid="179" grpId="21"/>
      <p:bldP build="whole" bldLvl="1" animBg="1" rev="0" advAuto="0" spid="169" grpId="23"/>
      <p:bldP build="whole" bldLvl="1" animBg="1" rev="0" advAuto="0" spid="157" grpId="20"/>
      <p:bldP build="whole" bldLvl="1" animBg="1" rev="0" advAuto="0" spid="190" grpId="25"/>
      <p:bldP build="whole" bldLvl="1" animBg="1" rev="0" advAuto="0" spid="176" grpId="14"/>
      <p:bldP build="whole" bldLvl="1" animBg="1" rev="0" advAuto="0" spid="183" grpId="1"/>
      <p:bldP build="whole" bldLvl="1" animBg="1" rev="0" advAuto="0" spid="180" grpId="4"/>
      <p:bldP build="whole" bldLvl="1" animBg="1" rev="0" advAuto="0" spid="188" grpId="19"/>
      <p:bldP build="whole" bldLvl="1" animBg="1" rev="0" advAuto="0" spid="186" grpId="12"/>
      <p:bldP build="whole" bldLvl="1" animBg="1" rev="0" advAuto="0" spid="185" grpId="8"/>
      <p:bldP build="whole" bldLvl="1" animBg="1" rev="0" advAuto="0" spid="172" grpId="26"/>
      <p:bldP build="whole" bldLvl="1" animBg="1" rev="0" advAuto="0" spid="178" grpId="24"/>
      <p:bldP build="whole" bldLvl="1" animBg="1" rev="0" advAuto="0" spid="177" grpId="18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211"/>
          <p:cNvSpPr txBox="1"/>
          <p:nvPr/>
        </p:nvSpPr>
        <p:spPr>
          <a:xfrm>
            <a:off x="295485" y="1674989"/>
            <a:ext cx="11290303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在算法中需要用定量的描述替代定性的概念</a:t>
            </a:r>
          </a:p>
        </p:txBody>
      </p:sp>
      <p:sp>
        <p:nvSpPr>
          <p:cNvPr id="195" name="Shape 212"/>
          <p:cNvSpPr txBox="1"/>
          <p:nvPr/>
        </p:nvSpPr>
        <p:spPr>
          <a:xfrm>
            <a:off x="1180817" y="2813754"/>
            <a:ext cx="3635128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没有前驱的顶点          </a:t>
            </a:r>
          </a:p>
        </p:txBody>
      </p:sp>
      <p:sp>
        <p:nvSpPr>
          <p:cNvPr id="196" name="Shape 213"/>
          <p:cNvSpPr txBox="1"/>
          <p:nvPr/>
        </p:nvSpPr>
        <p:spPr>
          <a:xfrm>
            <a:off x="914116" y="4101253"/>
            <a:ext cx="5668469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删除顶点及以它为尾的弧</a:t>
            </a:r>
          </a:p>
        </p:txBody>
      </p:sp>
      <p:sp>
        <p:nvSpPr>
          <p:cNvPr id="197" name="Shape 214"/>
          <p:cNvSpPr/>
          <p:nvPr/>
        </p:nvSpPr>
        <p:spPr>
          <a:xfrm>
            <a:off x="4954692" y="2989296"/>
            <a:ext cx="819575" cy="410919"/>
          </a:xfrm>
          <a:prstGeom prst="leftRightArrow">
            <a:avLst>
              <a:gd name="adj1" fmla="val 50000"/>
              <a:gd name="adj2" fmla="val 28048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98" name="Shape 215"/>
          <p:cNvSpPr/>
          <p:nvPr/>
        </p:nvSpPr>
        <p:spPr>
          <a:xfrm>
            <a:off x="6624601" y="4299091"/>
            <a:ext cx="819575" cy="410917"/>
          </a:xfrm>
          <a:prstGeom prst="leftRightArrow">
            <a:avLst>
              <a:gd name="adj1" fmla="val 50000"/>
              <a:gd name="adj2" fmla="val 28048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99" name="Shape 216"/>
          <p:cNvSpPr txBox="1"/>
          <p:nvPr/>
        </p:nvSpPr>
        <p:spPr>
          <a:xfrm>
            <a:off x="2342867" y="111054"/>
            <a:ext cx="7886702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拓扑排序：方法一</a:t>
            </a:r>
          </a:p>
        </p:txBody>
      </p:sp>
      <p:sp>
        <p:nvSpPr>
          <p:cNvPr id="200" name="Shape 212"/>
          <p:cNvSpPr txBox="1"/>
          <p:nvPr/>
        </p:nvSpPr>
        <p:spPr>
          <a:xfrm>
            <a:off x="6505222" y="2813754"/>
            <a:ext cx="3806926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入度为零的顶点</a:t>
            </a:r>
          </a:p>
        </p:txBody>
      </p:sp>
      <p:sp>
        <p:nvSpPr>
          <p:cNvPr id="201" name="Shape 213"/>
          <p:cNvSpPr txBox="1"/>
          <p:nvPr/>
        </p:nvSpPr>
        <p:spPr>
          <a:xfrm>
            <a:off x="7810216" y="4117199"/>
            <a:ext cx="4394153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弧头顶点的入度减1</a:t>
            </a:r>
          </a:p>
        </p:txBody>
      </p:sp>
      <p:sp>
        <p:nvSpPr>
          <p:cNvPr id="202" name="Shape 225"/>
          <p:cNvSpPr txBox="1"/>
          <p:nvPr/>
        </p:nvSpPr>
        <p:spPr>
          <a:xfrm>
            <a:off x="520699" y="5816600"/>
            <a:ext cx="10284227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sz="3600">
                <a:uFill>
                  <a:solidFill>
                    <a:srgbClr val="000000"/>
                  </a:solidFill>
                </a:uFill>
              </a:defRPr>
            </a:pPr>
            <a:r>
              <a:t>采用邻接矩阵是：O(n</a:t>
            </a:r>
            <a:r>
              <a:rPr baseline="31999"/>
              <a:t>2</a:t>
            </a:r>
            <a:r>
              <a:t>)，采用邻接表是：O(n+e)。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3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5" dur="3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0" dur="3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"/>
                            </p:stCondLst>
                            <p:childTnLst>
                              <p:par>
                                <p:cTn id="22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8" dur="3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5" grpId="1"/>
      <p:bldP build="whole" bldLvl="1" animBg="1" rev="0" advAuto="0" spid="200" grpId="3"/>
      <p:bldP build="whole" bldLvl="1" animBg="1" rev="0" advAuto="0" spid="196" grpId="4"/>
      <p:bldP build="whole" bldLvl="1" animBg="1" rev="0" advAuto="0" spid="197" grpId="2"/>
      <p:bldP build="whole" bldLvl="1" animBg="1" rev="0" advAuto="0" spid="198" grpId="5"/>
      <p:bldP build="whole" bldLvl="1" animBg="1" rev="0" advAuto="0" spid="201" grpId="6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27"/>
          <p:cNvSpPr txBox="1"/>
          <p:nvPr/>
        </p:nvSpPr>
        <p:spPr>
          <a:xfrm>
            <a:off x="1252500" y="1255323"/>
            <a:ext cx="11493503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lnSpc>
                <a:spcPct val="120000"/>
              </a:lnSpc>
              <a:defRPr sz="380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SimSun"/>
                <a:ea typeface="SimSun"/>
                <a:cs typeface="SimSun"/>
                <a:sym typeface="SimSun"/>
              </a:defRPr>
            </a:pPr>
            <a:r>
              <a:t>对</a:t>
            </a:r>
            <a:r>
              <a:rPr>
                <a:solidFill>
                  <a:schemeClr val="accent5"/>
                </a:solidFill>
              </a:rPr>
              <a:t>有向无环图</a:t>
            </a:r>
            <a:r>
              <a:t>利用</a:t>
            </a:r>
            <a:r>
              <a:rPr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</a:rPr>
              <a:t>深度优先搜索</a:t>
            </a:r>
            <a:r>
              <a:t>进行拓扑排序。</a:t>
            </a:r>
          </a:p>
        </p:txBody>
      </p:sp>
      <p:grpSp>
        <p:nvGrpSpPr>
          <p:cNvPr id="239" name="Group 262"/>
          <p:cNvGrpSpPr/>
          <p:nvPr/>
        </p:nvGrpSpPr>
        <p:grpSpPr>
          <a:xfrm>
            <a:off x="2670104" y="1923782"/>
            <a:ext cx="7150101" cy="4177142"/>
            <a:chOff x="0" y="0"/>
            <a:chExt cx="7150100" cy="4177140"/>
          </a:xfrm>
        </p:grpSpPr>
        <p:grpSp>
          <p:nvGrpSpPr>
            <p:cNvPr id="207" name="Group 230"/>
            <p:cNvGrpSpPr/>
            <p:nvPr/>
          </p:nvGrpSpPr>
          <p:grpSpPr>
            <a:xfrm>
              <a:off x="67733" y="909884"/>
              <a:ext cx="647703" cy="700163"/>
              <a:chOff x="0" y="0"/>
              <a:chExt cx="647701" cy="700161"/>
            </a:xfrm>
          </p:grpSpPr>
          <p:sp>
            <p:nvSpPr>
              <p:cNvPr id="205" name="Shape 228"/>
              <p:cNvSpPr/>
              <p:nvPr/>
            </p:nvSpPr>
            <p:spPr>
              <a:xfrm>
                <a:off x="0" y="23267"/>
                <a:ext cx="647702" cy="6477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6" name="Shape 229"/>
              <p:cNvSpPr txBox="1"/>
              <p:nvPr/>
            </p:nvSpPr>
            <p:spPr>
              <a:xfrm>
                <a:off x="128250" y="0"/>
                <a:ext cx="393739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4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10" name="Group 233"/>
            <p:cNvGrpSpPr/>
            <p:nvPr/>
          </p:nvGrpSpPr>
          <p:grpSpPr>
            <a:xfrm>
              <a:off x="2235200" y="0"/>
              <a:ext cx="647701" cy="700162"/>
              <a:chOff x="0" y="0"/>
              <a:chExt cx="647700" cy="700161"/>
            </a:xfrm>
          </p:grpSpPr>
          <p:sp>
            <p:nvSpPr>
              <p:cNvPr id="208" name="Shape 231"/>
              <p:cNvSpPr/>
              <p:nvPr/>
            </p:nvSpPr>
            <p:spPr>
              <a:xfrm>
                <a:off x="0" y="23267"/>
                <a:ext cx="647700" cy="647703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9" name="Shape 232"/>
              <p:cNvSpPr txBox="1"/>
              <p:nvPr/>
            </p:nvSpPr>
            <p:spPr>
              <a:xfrm>
                <a:off x="128249" y="-1"/>
                <a:ext cx="393740" cy="7001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4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13" name="Group 236"/>
            <p:cNvGrpSpPr/>
            <p:nvPr/>
          </p:nvGrpSpPr>
          <p:grpSpPr>
            <a:xfrm>
              <a:off x="2235200" y="1671444"/>
              <a:ext cx="1582421" cy="1495216"/>
              <a:chOff x="0" y="124867"/>
              <a:chExt cx="1582420" cy="1495214"/>
            </a:xfrm>
          </p:grpSpPr>
          <p:sp>
            <p:nvSpPr>
              <p:cNvPr id="211" name="Shape 234"/>
              <p:cNvSpPr/>
              <p:nvPr/>
            </p:nvSpPr>
            <p:spPr>
              <a:xfrm>
                <a:off x="0" y="124867"/>
                <a:ext cx="647700" cy="6477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2" name="Shape 235"/>
              <p:cNvSpPr/>
              <p:nvPr/>
            </p:nvSpPr>
            <p:spPr>
              <a:xfrm>
                <a:off x="312420" y="35008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4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216" name="Group 239"/>
            <p:cNvGrpSpPr/>
            <p:nvPr/>
          </p:nvGrpSpPr>
          <p:grpSpPr>
            <a:xfrm>
              <a:off x="0" y="2612249"/>
              <a:ext cx="647701" cy="700163"/>
              <a:chOff x="0" y="0"/>
              <a:chExt cx="647700" cy="700161"/>
            </a:xfrm>
          </p:grpSpPr>
          <p:sp>
            <p:nvSpPr>
              <p:cNvPr id="214" name="Shape 237"/>
              <p:cNvSpPr/>
              <p:nvPr/>
            </p:nvSpPr>
            <p:spPr>
              <a:xfrm>
                <a:off x="-1" y="23267"/>
                <a:ext cx="647701" cy="6477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5" name="Shape 238"/>
              <p:cNvSpPr txBox="1"/>
              <p:nvPr/>
            </p:nvSpPr>
            <p:spPr>
              <a:xfrm>
                <a:off x="112561" y="0"/>
                <a:ext cx="425117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4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19" name="Group 242"/>
            <p:cNvGrpSpPr/>
            <p:nvPr/>
          </p:nvGrpSpPr>
          <p:grpSpPr>
            <a:xfrm>
              <a:off x="4332675" y="939235"/>
              <a:ext cx="647703" cy="700163"/>
              <a:chOff x="0" y="0"/>
              <a:chExt cx="647701" cy="700161"/>
            </a:xfrm>
          </p:grpSpPr>
          <p:sp>
            <p:nvSpPr>
              <p:cNvPr id="217" name="Shape 240"/>
              <p:cNvSpPr/>
              <p:nvPr/>
            </p:nvSpPr>
            <p:spPr>
              <a:xfrm>
                <a:off x="0" y="19880"/>
                <a:ext cx="647702" cy="6477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8" name="Shape 241"/>
              <p:cNvSpPr txBox="1"/>
              <p:nvPr/>
            </p:nvSpPr>
            <p:spPr>
              <a:xfrm>
                <a:off x="112561" y="0"/>
                <a:ext cx="425117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4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222" name="Group 245"/>
            <p:cNvGrpSpPr/>
            <p:nvPr/>
          </p:nvGrpSpPr>
          <p:grpSpPr>
            <a:xfrm>
              <a:off x="2047804" y="3476978"/>
              <a:ext cx="647703" cy="700163"/>
              <a:chOff x="0" y="0"/>
              <a:chExt cx="647701" cy="700161"/>
            </a:xfrm>
          </p:grpSpPr>
          <p:sp>
            <p:nvSpPr>
              <p:cNvPr id="220" name="Shape 243"/>
              <p:cNvSpPr/>
              <p:nvPr/>
            </p:nvSpPr>
            <p:spPr>
              <a:xfrm>
                <a:off x="0" y="23267"/>
                <a:ext cx="647702" cy="6477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1" name="Shape 244"/>
              <p:cNvSpPr txBox="1"/>
              <p:nvPr/>
            </p:nvSpPr>
            <p:spPr>
              <a:xfrm>
                <a:off x="112561" y="0"/>
                <a:ext cx="425117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4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225" name="Group 248"/>
            <p:cNvGrpSpPr/>
            <p:nvPr/>
          </p:nvGrpSpPr>
          <p:grpSpPr>
            <a:xfrm>
              <a:off x="4402666" y="2552136"/>
              <a:ext cx="647703" cy="700163"/>
              <a:chOff x="0" y="0"/>
              <a:chExt cx="647701" cy="700161"/>
            </a:xfrm>
          </p:grpSpPr>
          <p:sp>
            <p:nvSpPr>
              <p:cNvPr id="223" name="Shape 246"/>
              <p:cNvSpPr/>
              <p:nvPr/>
            </p:nvSpPr>
            <p:spPr>
              <a:xfrm>
                <a:off x="0" y="19880"/>
                <a:ext cx="647702" cy="6477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8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4" name="Shape 247"/>
              <p:cNvSpPr txBox="1"/>
              <p:nvPr/>
            </p:nvSpPr>
            <p:spPr>
              <a:xfrm>
                <a:off x="159219" y="0"/>
                <a:ext cx="331802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4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228" name="Group 251"/>
            <p:cNvGrpSpPr/>
            <p:nvPr/>
          </p:nvGrpSpPr>
          <p:grpSpPr>
            <a:xfrm>
              <a:off x="6502400" y="1561535"/>
              <a:ext cx="647701" cy="700163"/>
              <a:chOff x="0" y="0"/>
              <a:chExt cx="647700" cy="700161"/>
            </a:xfrm>
          </p:grpSpPr>
          <p:sp>
            <p:nvSpPr>
              <p:cNvPr id="226" name="Shape 249"/>
              <p:cNvSpPr/>
              <p:nvPr/>
            </p:nvSpPr>
            <p:spPr>
              <a:xfrm>
                <a:off x="0" y="19880"/>
                <a:ext cx="647700" cy="647705"/>
              </a:xfrm>
              <a:prstGeom prst="ellipse">
                <a:avLst/>
              </a:prstGeom>
              <a:solidFill>
                <a:srgbClr val="FFFF99"/>
              </a:solidFill>
              <a:ln w="25400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7" name="Shape 250"/>
              <p:cNvSpPr txBox="1"/>
              <p:nvPr/>
            </p:nvSpPr>
            <p:spPr>
              <a:xfrm>
                <a:off x="128250" y="0"/>
                <a:ext cx="393739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defRPr sz="4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sp>
          <p:nvSpPr>
            <p:cNvPr id="229" name="Shape 252"/>
            <p:cNvSpPr/>
            <p:nvPr/>
          </p:nvSpPr>
          <p:spPr>
            <a:xfrm flipV="1">
              <a:off x="614115" y="348387"/>
              <a:ext cx="1621087" cy="688624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0" name="Shape 253"/>
            <p:cNvSpPr/>
            <p:nvPr/>
          </p:nvSpPr>
          <p:spPr>
            <a:xfrm>
              <a:off x="715715" y="1355356"/>
              <a:ext cx="1536702" cy="602829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1" name="Shape 254"/>
            <p:cNvSpPr/>
            <p:nvPr/>
          </p:nvSpPr>
          <p:spPr>
            <a:xfrm flipV="1">
              <a:off x="2851573" y="1445668"/>
              <a:ext cx="1536702" cy="609602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2" name="Shape 255"/>
            <p:cNvSpPr/>
            <p:nvPr/>
          </p:nvSpPr>
          <p:spPr>
            <a:xfrm>
              <a:off x="2885440" y="348387"/>
              <a:ext cx="1511302" cy="790224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3" name="Shape 256"/>
            <p:cNvSpPr/>
            <p:nvPr/>
          </p:nvSpPr>
          <p:spPr>
            <a:xfrm>
              <a:off x="4985173" y="1201827"/>
              <a:ext cx="1729460" cy="431802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4" name="Shape 257"/>
            <p:cNvSpPr/>
            <p:nvPr/>
          </p:nvSpPr>
          <p:spPr>
            <a:xfrm flipV="1">
              <a:off x="5032586" y="2163641"/>
              <a:ext cx="1623344" cy="769905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5" name="Shape 258"/>
            <p:cNvSpPr/>
            <p:nvPr/>
          </p:nvSpPr>
          <p:spPr>
            <a:xfrm>
              <a:off x="2867378" y="2163641"/>
              <a:ext cx="1536702" cy="715717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6" name="Shape 259"/>
            <p:cNvSpPr/>
            <p:nvPr/>
          </p:nvSpPr>
          <p:spPr>
            <a:xfrm>
              <a:off x="614115" y="3148033"/>
              <a:ext cx="1433691" cy="715717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7" name="Shape 260"/>
            <p:cNvSpPr/>
            <p:nvPr/>
          </p:nvSpPr>
          <p:spPr>
            <a:xfrm flipV="1">
              <a:off x="629920" y="2059784"/>
              <a:ext cx="1621085" cy="763131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8" name="Shape 261"/>
            <p:cNvSpPr/>
            <p:nvPr/>
          </p:nvSpPr>
          <p:spPr>
            <a:xfrm flipV="1">
              <a:off x="2661920" y="2992246"/>
              <a:ext cx="1740748" cy="970847"/>
            </a:xfrm>
            <a:prstGeom prst="line">
              <a:avLst/>
            </a:prstGeom>
            <a:noFill/>
            <a:ln w="25400" cap="sq">
              <a:solidFill>
                <a:srgbClr val="8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240" name="Shape 263"/>
          <p:cNvSpPr txBox="1"/>
          <p:nvPr/>
        </p:nvSpPr>
        <p:spPr>
          <a:xfrm>
            <a:off x="6972300" y="7429500"/>
            <a:ext cx="527699" cy="884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 sz="5600"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241" name="Shape 264"/>
          <p:cNvSpPr txBox="1"/>
          <p:nvPr/>
        </p:nvSpPr>
        <p:spPr>
          <a:xfrm>
            <a:off x="7641166" y="7402407"/>
            <a:ext cx="527700" cy="884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 sz="5600"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h</a:t>
            </a:r>
          </a:p>
        </p:txBody>
      </p:sp>
      <p:sp>
        <p:nvSpPr>
          <p:cNvPr id="242" name="Shape 265"/>
          <p:cNvSpPr txBox="1"/>
          <p:nvPr/>
        </p:nvSpPr>
        <p:spPr>
          <a:xfrm>
            <a:off x="8356882" y="7402407"/>
            <a:ext cx="487764" cy="884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 sz="5600"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43" name="Shape 266"/>
          <p:cNvSpPr txBox="1"/>
          <p:nvPr/>
        </p:nvSpPr>
        <p:spPr>
          <a:xfrm>
            <a:off x="9074856" y="7402407"/>
            <a:ext cx="487764" cy="884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 sz="5600"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244" name="Shape 267"/>
          <p:cNvSpPr txBox="1"/>
          <p:nvPr/>
        </p:nvSpPr>
        <p:spPr>
          <a:xfrm>
            <a:off x="9639300" y="7402407"/>
            <a:ext cx="527699" cy="884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 sz="5600"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245" name="Shape 268"/>
          <p:cNvSpPr txBox="1"/>
          <p:nvPr/>
        </p:nvSpPr>
        <p:spPr>
          <a:xfrm>
            <a:off x="10303085" y="7402407"/>
            <a:ext cx="527700" cy="884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 sz="5600"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g</a:t>
            </a:r>
          </a:p>
        </p:txBody>
      </p:sp>
      <p:sp>
        <p:nvSpPr>
          <p:cNvPr id="246" name="Shape 269"/>
          <p:cNvSpPr txBox="1"/>
          <p:nvPr/>
        </p:nvSpPr>
        <p:spPr>
          <a:xfrm>
            <a:off x="11018801" y="7402407"/>
            <a:ext cx="408935" cy="884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 sz="5600"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247" name="Shape 270"/>
          <p:cNvSpPr txBox="1"/>
          <p:nvPr/>
        </p:nvSpPr>
        <p:spPr>
          <a:xfrm>
            <a:off x="11635175" y="7402407"/>
            <a:ext cx="487764" cy="884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 sz="5600"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248" name="Shape 271"/>
          <p:cNvSpPr txBox="1"/>
          <p:nvPr/>
        </p:nvSpPr>
        <p:spPr>
          <a:xfrm>
            <a:off x="682695" y="7455747"/>
            <a:ext cx="68580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defRPr sz="4400"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 此图的一个拓扑序列为：</a:t>
            </a:r>
          </a:p>
        </p:txBody>
      </p:sp>
      <p:grpSp>
        <p:nvGrpSpPr>
          <p:cNvPr id="251" name="Group 274"/>
          <p:cNvGrpSpPr/>
          <p:nvPr/>
        </p:nvGrpSpPr>
        <p:grpSpPr>
          <a:xfrm>
            <a:off x="2743199" y="2856935"/>
            <a:ext cx="1583833" cy="1533315"/>
            <a:chOff x="0" y="86767"/>
            <a:chExt cx="1583831" cy="1533314"/>
          </a:xfrm>
        </p:grpSpPr>
        <p:sp>
          <p:nvSpPr>
            <p:cNvPr id="249" name="Shape 272"/>
            <p:cNvSpPr/>
            <p:nvPr/>
          </p:nvSpPr>
          <p:spPr>
            <a:xfrm>
              <a:off x="0" y="86767"/>
              <a:ext cx="647700" cy="647703"/>
            </a:xfrm>
            <a:prstGeom prst="ellipse">
              <a:avLst/>
            </a:prstGeom>
            <a:solidFill>
              <a:srgbClr val="333399"/>
            </a:solidFill>
            <a:ln w="25400" cap="sq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0" name="Shape 273"/>
            <p:cNvSpPr/>
            <p:nvPr/>
          </p:nvSpPr>
          <p:spPr>
            <a:xfrm>
              <a:off x="313831" y="35008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254" name="Group 277"/>
          <p:cNvGrpSpPr/>
          <p:nvPr/>
        </p:nvGrpSpPr>
        <p:grpSpPr>
          <a:xfrm>
            <a:off x="4914900" y="1947050"/>
            <a:ext cx="1566898" cy="1533315"/>
            <a:chOff x="0" y="86767"/>
            <a:chExt cx="1566897" cy="1533314"/>
          </a:xfrm>
        </p:grpSpPr>
        <p:sp>
          <p:nvSpPr>
            <p:cNvPr id="252" name="Shape 275"/>
            <p:cNvSpPr/>
            <p:nvPr/>
          </p:nvSpPr>
          <p:spPr>
            <a:xfrm>
              <a:off x="0" y="86767"/>
              <a:ext cx="647700" cy="647703"/>
            </a:xfrm>
            <a:prstGeom prst="ellipse">
              <a:avLst/>
            </a:prstGeom>
            <a:solidFill>
              <a:srgbClr val="333399"/>
            </a:solidFill>
            <a:ln w="254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3" name="Shape 276"/>
            <p:cNvSpPr/>
            <p:nvPr/>
          </p:nvSpPr>
          <p:spPr>
            <a:xfrm>
              <a:off x="296897" y="35008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257" name="Group 280"/>
          <p:cNvGrpSpPr/>
          <p:nvPr/>
        </p:nvGrpSpPr>
        <p:grpSpPr>
          <a:xfrm>
            <a:off x="4902200" y="3599284"/>
            <a:ext cx="1566898" cy="1495216"/>
            <a:chOff x="0" y="124867"/>
            <a:chExt cx="1566897" cy="1495214"/>
          </a:xfrm>
        </p:grpSpPr>
        <p:sp>
          <p:nvSpPr>
            <p:cNvPr id="255" name="Shape 278"/>
            <p:cNvSpPr/>
            <p:nvPr/>
          </p:nvSpPr>
          <p:spPr>
            <a:xfrm>
              <a:off x="0" y="124867"/>
              <a:ext cx="647700" cy="647703"/>
            </a:xfrm>
            <a:prstGeom prst="ellipse">
              <a:avLst/>
            </a:prstGeom>
            <a:solidFill>
              <a:srgbClr val="333399"/>
            </a:solidFill>
            <a:ln w="254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6" name="Shape 279"/>
            <p:cNvSpPr/>
            <p:nvPr/>
          </p:nvSpPr>
          <p:spPr>
            <a:xfrm>
              <a:off x="296897" y="35008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260" name="Group 283"/>
          <p:cNvGrpSpPr/>
          <p:nvPr/>
        </p:nvGrpSpPr>
        <p:grpSpPr>
          <a:xfrm>
            <a:off x="2676876" y="4510632"/>
            <a:ext cx="647703" cy="700162"/>
            <a:chOff x="0" y="-25400"/>
            <a:chExt cx="647701" cy="700161"/>
          </a:xfrm>
        </p:grpSpPr>
        <p:sp>
          <p:nvSpPr>
            <p:cNvPr id="258" name="Shape 281"/>
            <p:cNvSpPr/>
            <p:nvPr/>
          </p:nvSpPr>
          <p:spPr>
            <a:xfrm>
              <a:off x="0" y="23267"/>
              <a:ext cx="647702" cy="647703"/>
            </a:xfrm>
            <a:prstGeom prst="ellipse">
              <a:avLst/>
            </a:prstGeom>
            <a:solidFill>
              <a:srgbClr val="333399"/>
            </a:solidFill>
            <a:ln w="254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9" name="Shape 282"/>
            <p:cNvSpPr txBox="1"/>
            <p:nvPr/>
          </p:nvSpPr>
          <p:spPr>
            <a:xfrm>
              <a:off x="74461" y="-25400"/>
              <a:ext cx="425117" cy="700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263" name="Group 286"/>
          <p:cNvGrpSpPr/>
          <p:nvPr/>
        </p:nvGrpSpPr>
        <p:grpSpPr>
          <a:xfrm>
            <a:off x="7009552" y="2882899"/>
            <a:ext cx="1557021" cy="1549402"/>
            <a:chOff x="0" y="70680"/>
            <a:chExt cx="1557019" cy="1549401"/>
          </a:xfrm>
        </p:grpSpPr>
        <p:sp>
          <p:nvSpPr>
            <p:cNvPr id="261" name="Shape 284"/>
            <p:cNvSpPr/>
            <p:nvPr/>
          </p:nvSpPr>
          <p:spPr>
            <a:xfrm>
              <a:off x="0" y="70680"/>
              <a:ext cx="647702" cy="647703"/>
            </a:xfrm>
            <a:prstGeom prst="ellipse">
              <a:avLst/>
            </a:prstGeom>
            <a:solidFill>
              <a:srgbClr val="333399"/>
            </a:solidFill>
            <a:ln w="254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2" name="Shape 285"/>
            <p:cNvSpPr/>
            <p:nvPr/>
          </p:nvSpPr>
          <p:spPr>
            <a:xfrm>
              <a:off x="287019" y="35008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266" name="Group 289"/>
          <p:cNvGrpSpPr/>
          <p:nvPr/>
        </p:nvGrpSpPr>
        <p:grpSpPr>
          <a:xfrm>
            <a:off x="4724682" y="5375361"/>
            <a:ext cx="647703" cy="700162"/>
            <a:chOff x="0" y="-25400"/>
            <a:chExt cx="647701" cy="700161"/>
          </a:xfrm>
        </p:grpSpPr>
        <p:sp>
          <p:nvSpPr>
            <p:cNvPr id="264" name="Shape 287"/>
            <p:cNvSpPr/>
            <p:nvPr/>
          </p:nvSpPr>
          <p:spPr>
            <a:xfrm>
              <a:off x="0" y="23267"/>
              <a:ext cx="647702" cy="647703"/>
            </a:xfrm>
            <a:prstGeom prst="ellipse">
              <a:avLst/>
            </a:prstGeom>
            <a:solidFill>
              <a:srgbClr val="333399"/>
            </a:solidFill>
            <a:ln w="254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5" name="Shape 288"/>
            <p:cNvSpPr txBox="1"/>
            <p:nvPr/>
          </p:nvSpPr>
          <p:spPr>
            <a:xfrm>
              <a:off x="99861" y="-25400"/>
              <a:ext cx="425117" cy="700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269" name="Group 292"/>
          <p:cNvGrpSpPr/>
          <p:nvPr/>
        </p:nvGrpSpPr>
        <p:grpSpPr>
          <a:xfrm>
            <a:off x="7073900" y="4475919"/>
            <a:ext cx="647700" cy="700162"/>
            <a:chOff x="0" y="0"/>
            <a:chExt cx="647700" cy="700161"/>
          </a:xfrm>
        </p:grpSpPr>
        <p:sp>
          <p:nvSpPr>
            <p:cNvPr id="267" name="Shape 290"/>
            <p:cNvSpPr/>
            <p:nvPr/>
          </p:nvSpPr>
          <p:spPr>
            <a:xfrm>
              <a:off x="0" y="19880"/>
              <a:ext cx="647700" cy="647703"/>
            </a:xfrm>
            <a:prstGeom prst="ellipse">
              <a:avLst/>
            </a:prstGeom>
            <a:solidFill>
              <a:srgbClr val="333399"/>
            </a:solidFill>
            <a:ln w="254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8" name="Shape 291"/>
            <p:cNvSpPr txBox="1"/>
            <p:nvPr/>
          </p:nvSpPr>
          <p:spPr>
            <a:xfrm>
              <a:off x="126763" y="0"/>
              <a:ext cx="331802" cy="700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272" name="Group 295"/>
          <p:cNvGrpSpPr/>
          <p:nvPr/>
        </p:nvGrpSpPr>
        <p:grpSpPr>
          <a:xfrm>
            <a:off x="9179276" y="3505199"/>
            <a:ext cx="1595121" cy="1549402"/>
            <a:chOff x="0" y="70680"/>
            <a:chExt cx="1595119" cy="1549401"/>
          </a:xfrm>
        </p:grpSpPr>
        <p:sp>
          <p:nvSpPr>
            <p:cNvPr id="270" name="Shape 293"/>
            <p:cNvSpPr/>
            <p:nvPr/>
          </p:nvSpPr>
          <p:spPr>
            <a:xfrm>
              <a:off x="0" y="70680"/>
              <a:ext cx="647702" cy="647703"/>
            </a:xfrm>
            <a:prstGeom prst="ellipse">
              <a:avLst/>
            </a:prstGeom>
            <a:solidFill>
              <a:srgbClr val="333399"/>
            </a:solidFill>
            <a:ln w="25400" cap="sq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1" name="Shape 294"/>
            <p:cNvSpPr/>
            <p:nvPr/>
          </p:nvSpPr>
          <p:spPr>
            <a:xfrm>
              <a:off x="325119" y="35008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sp>
        <p:nvSpPr>
          <p:cNvPr id="273" name="Shape 296"/>
          <p:cNvSpPr/>
          <p:nvPr/>
        </p:nvSpPr>
        <p:spPr>
          <a:xfrm flipV="1">
            <a:off x="3290992" y="2272171"/>
            <a:ext cx="1621087" cy="688624"/>
          </a:xfrm>
          <a:prstGeom prst="line">
            <a:avLst/>
          </a:prstGeom>
          <a:ln w="25400" cap="sq">
            <a:solidFill>
              <a:srgbClr val="FF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4" name="Shape 297"/>
          <p:cNvSpPr/>
          <p:nvPr/>
        </p:nvSpPr>
        <p:spPr>
          <a:xfrm flipV="1">
            <a:off x="5528450" y="3369450"/>
            <a:ext cx="1536703" cy="609602"/>
          </a:xfrm>
          <a:prstGeom prst="line">
            <a:avLst/>
          </a:prstGeom>
          <a:ln w="25400" cap="sq">
            <a:solidFill>
              <a:srgbClr val="FF0000"/>
            </a:solidFill>
            <a:head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5" name="Shape 298"/>
          <p:cNvSpPr/>
          <p:nvPr/>
        </p:nvSpPr>
        <p:spPr>
          <a:xfrm>
            <a:off x="5562599" y="2272171"/>
            <a:ext cx="1511301" cy="790224"/>
          </a:xfrm>
          <a:prstGeom prst="line">
            <a:avLst/>
          </a:prstGeom>
          <a:ln w="25400" cap="sq">
            <a:solidFill>
              <a:srgbClr val="FF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6" name="Shape 299"/>
          <p:cNvSpPr/>
          <p:nvPr/>
        </p:nvSpPr>
        <p:spPr>
          <a:xfrm>
            <a:off x="7662050" y="3125610"/>
            <a:ext cx="1729460" cy="431803"/>
          </a:xfrm>
          <a:prstGeom prst="line">
            <a:avLst/>
          </a:prstGeom>
          <a:ln w="25400" cap="sq">
            <a:solidFill>
              <a:srgbClr val="FF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7" name="Shape 300"/>
          <p:cNvSpPr/>
          <p:nvPr/>
        </p:nvSpPr>
        <p:spPr>
          <a:xfrm>
            <a:off x="5549900" y="4087423"/>
            <a:ext cx="1536701" cy="715719"/>
          </a:xfrm>
          <a:prstGeom prst="line">
            <a:avLst/>
          </a:prstGeom>
          <a:ln w="25400" cap="sq">
            <a:solidFill>
              <a:srgbClr val="FF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8" name="Shape 301"/>
          <p:cNvSpPr/>
          <p:nvPr/>
        </p:nvSpPr>
        <p:spPr>
          <a:xfrm>
            <a:off x="3290993" y="5071814"/>
            <a:ext cx="1433690" cy="715718"/>
          </a:xfrm>
          <a:prstGeom prst="line">
            <a:avLst/>
          </a:prstGeom>
          <a:ln w="25400" cap="sq">
            <a:solidFill>
              <a:srgbClr val="FF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9" name="Shape 302"/>
          <p:cNvSpPr txBox="1"/>
          <p:nvPr/>
        </p:nvSpPr>
        <p:spPr>
          <a:xfrm>
            <a:off x="2030588" y="6326292"/>
            <a:ext cx="510880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 sz="4400"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退出DFS函数顺序：</a:t>
            </a:r>
          </a:p>
        </p:txBody>
      </p:sp>
      <p:sp>
        <p:nvSpPr>
          <p:cNvPr id="280" name="Shape 303"/>
          <p:cNvSpPr txBox="1"/>
          <p:nvPr/>
        </p:nvSpPr>
        <p:spPr>
          <a:xfrm>
            <a:off x="7048500" y="6154701"/>
            <a:ext cx="487764" cy="88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 sz="5600"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281" name="Shape 304"/>
          <p:cNvSpPr/>
          <p:nvPr/>
        </p:nvSpPr>
        <p:spPr>
          <a:xfrm>
            <a:off x="7645400" y="2529558"/>
            <a:ext cx="1955237" cy="9369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581"/>
                </a:moveTo>
                <a:lnTo>
                  <a:pt x="9299" y="0"/>
                </a:lnTo>
                <a:lnTo>
                  <a:pt x="14825" y="0"/>
                </a:lnTo>
                <a:lnTo>
                  <a:pt x="21600" y="21600"/>
                </a:lnTo>
              </a:path>
            </a:pathLst>
          </a:custGeom>
          <a:ln w="31750">
            <a:solidFill>
              <a:srgbClr val="3333CC"/>
            </a:solidFill>
            <a:prstDash val="sysDot"/>
            <a:headEnd type="triangle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82" name="Shape 305"/>
          <p:cNvSpPr txBox="1"/>
          <p:nvPr/>
        </p:nvSpPr>
        <p:spPr>
          <a:xfrm>
            <a:off x="7679549" y="6190825"/>
            <a:ext cx="408935" cy="88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 sz="5600"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283" name="Shape 306"/>
          <p:cNvSpPr/>
          <p:nvPr/>
        </p:nvSpPr>
        <p:spPr>
          <a:xfrm>
            <a:off x="5318478" y="4155158"/>
            <a:ext cx="1740748" cy="7157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12187" y="21600"/>
                </a:lnTo>
                <a:lnTo>
                  <a:pt x="7872" y="16558"/>
                </a:lnTo>
                <a:lnTo>
                  <a:pt x="0" y="0"/>
                </a:lnTo>
              </a:path>
            </a:pathLst>
          </a:custGeom>
          <a:ln w="31750">
            <a:solidFill>
              <a:srgbClr val="3333CC"/>
            </a:solidFill>
            <a:prstDash val="sysDot"/>
            <a:tailEnd type="triangle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84" name="Shape 307"/>
          <p:cNvSpPr txBox="1"/>
          <p:nvPr/>
        </p:nvSpPr>
        <p:spPr>
          <a:xfrm>
            <a:off x="8280400" y="6190825"/>
            <a:ext cx="527699" cy="88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 sz="5600"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g</a:t>
            </a:r>
          </a:p>
        </p:txBody>
      </p:sp>
      <p:sp>
        <p:nvSpPr>
          <p:cNvPr id="285" name="Shape 308"/>
          <p:cNvSpPr/>
          <p:nvPr/>
        </p:nvSpPr>
        <p:spPr>
          <a:xfrm flipV="1">
            <a:off x="5537482" y="3175280"/>
            <a:ext cx="1433691" cy="512518"/>
          </a:xfrm>
          <a:prstGeom prst="line">
            <a:avLst/>
          </a:prstGeom>
          <a:ln w="31750">
            <a:solidFill>
              <a:srgbClr val="3333CC"/>
            </a:solidFill>
            <a:prstDash val="sysDot"/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86" name="Shape 309"/>
          <p:cNvSpPr txBox="1"/>
          <p:nvPr/>
        </p:nvSpPr>
        <p:spPr>
          <a:xfrm>
            <a:off x="8995833" y="6165991"/>
            <a:ext cx="527700" cy="884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 sz="5600"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287" name="Shape 310"/>
          <p:cNvSpPr txBox="1"/>
          <p:nvPr/>
        </p:nvSpPr>
        <p:spPr>
          <a:xfrm>
            <a:off x="9743158" y="6175021"/>
            <a:ext cx="487764" cy="88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 sz="5600"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288" name="Shape 311"/>
          <p:cNvSpPr/>
          <p:nvPr/>
        </p:nvSpPr>
        <p:spPr>
          <a:xfrm>
            <a:off x="5539740" y="2050907"/>
            <a:ext cx="1636891" cy="8195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16029" y="11008"/>
                </a:lnTo>
                <a:lnTo>
                  <a:pt x="11053" y="6605"/>
                </a:lnTo>
                <a:lnTo>
                  <a:pt x="0" y="0"/>
                </a:lnTo>
              </a:path>
            </a:pathLst>
          </a:custGeom>
          <a:ln w="31750">
            <a:solidFill>
              <a:srgbClr val="3333CC"/>
            </a:solidFill>
            <a:prstDash val="sysDot"/>
            <a:tailEnd type="triangle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89" name="Shape 312"/>
          <p:cNvSpPr/>
          <p:nvPr/>
        </p:nvSpPr>
        <p:spPr>
          <a:xfrm>
            <a:off x="3110370" y="2010267"/>
            <a:ext cx="1841502" cy="8195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10668" y="4165"/>
                </a:lnTo>
                <a:lnTo>
                  <a:pt x="4632" y="10116"/>
                </a:lnTo>
                <a:lnTo>
                  <a:pt x="0" y="21600"/>
                </a:lnTo>
              </a:path>
            </a:pathLst>
          </a:custGeom>
          <a:ln w="31750">
            <a:solidFill>
              <a:srgbClr val="3333CC"/>
            </a:solidFill>
            <a:prstDash val="sysDot"/>
            <a:tailEnd type="triangle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90" name="Shape 313"/>
          <p:cNvSpPr txBox="1"/>
          <p:nvPr/>
        </p:nvSpPr>
        <p:spPr>
          <a:xfrm>
            <a:off x="10429522" y="6175021"/>
            <a:ext cx="487764" cy="88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 sz="5600"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91" name="Shape 314"/>
          <p:cNvSpPr/>
          <p:nvPr/>
        </p:nvSpPr>
        <p:spPr>
          <a:xfrm>
            <a:off x="3078762" y="5219700"/>
            <a:ext cx="1639149" cy="8195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14579" y="17554"/>
                </a:lnTo>
                <a:lnTo>
                  <a:pt x="8390" y="11603"/>
                </a:lnTo>
                <a:lnTo>
                  <a:pt x="0" y="0"/>
                </a:lnTo>
              </a:path>
            </a:pathLst>
          </a:custGeom>
          <a:ln w="31750">
            <a:solidFill>
              <a:srgbClr val="3333CC"/>
            </a:solidFill>
            <a:prstDash val="sysDot"/>
            <a:tailEnd type="triangle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92" name="Shape 315"/>
          <p:cNvSpPr txBox="1"/>
          <p:nvPr/>
        </p:nvSpPr>
        <p:spPr>
          <a:xfrm>
            <a:off x="11075247" y="6181795"/>
            <a:ext cx="527700" cy="88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 sz="5600"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h</a:t>
            </a:r>
          </a:p>
        </p:txBody>
      </p:sp>
      <p:sp>
        <p:nvSpPr>
          <p:cNvPr id="293" name="Shape 316"/>
          <p:cNvSpPr txBox="1"/>
          <p:nvPr/>
        </p:nvSpPr>
        <p:spPr>
          <a:xfrm>
            <a:off x="11705166" y="6181795"/>
            <a:ext cx="527700" cy="88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 sz="5600">
                <a:uFill>
                  <a:solidFill>
                    <a:srgbClr val="CC0000"/>
                  </a:solidFill>
                </a:uFill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294" name="Shape 317"/>
          <p:cNvSpPr txBox="1"/>
          <p:nvPr/>
        </p:nvSpPr>
        <p:spPr>
          <a:xfrm>
            <a:off x="2356612" y="147731"/>
            <a:ext cx="78867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拓扑排序：方法二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7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Class="entr" nodeType="after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Class="entr" nodeType="after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5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0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Class="entr" nodeType="after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4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4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39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entr" nodeType="clickEffect" presetSubtype="2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44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2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49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Class="entr" nodeType="afterEffect" presetSubtype="2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53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Class="entr" nodeType="clickEffect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8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Class="entr" nodeType="afterEffect" presetSubtype="8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2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Subtype="4" presetID="2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67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Class="entr" nodeType="clickEffect" presetSubtype="4" presetID="2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72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Class="entr" nodeType="clickEffect" presetSubtype="4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77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Class="entr" nodeType="clickEffect" presetSubtype="4" presetID="2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82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ntr" nodeType="clickEffect" presetSubtype="4" presetID="2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87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Class="entr" nodeType="clickEffect" presetSubtype="4" presetID="2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92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Class="entr" nodeType="clickEffect" presetSubtype="4" presetID="22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97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Class="entr" nodeType="clickEffect" presetSubtype="2" presetID="22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102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Class="entr" nodeType="clickEffect" presetSubtype="4" presetID="22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07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Class="entr" nodeType="clickEffect" presetSubtype="4" presetID="22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12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Class="entr" nodeType="clickEffect" presetSubtype="8" presetID="22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6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7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Class="entr" nodeType="afterEffect" presetSubtype="8" presetID="22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1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Class="entr" nodeType="clickEffect" presetSubtype="4" presetID="22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5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26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Class="entr" nodeType="clickEffect" presetSubtype="4" presetID="22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31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Class="entr" nodeType="clickEffect" presetSubtype="4" presetID="22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36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Class="entr" nodeType="clickEffect" presetSubtype="0" presetID="1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Class="entr" nodeType="afterEffect" presetSubtype="0" presetID="1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3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Class="entr" nodeType="afterEffect" presetSubtype="0" presetID="1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6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Class="entr" nodeType="afterEffect" presetSubtype="0" presetID="1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9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Class="entr" nodeType="afterEffect" presetSubtype="0" presetID="1" grpId="3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2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Class="entr" nodeType="afterEffect" presetSubtype="0" presetID="1" grpId="3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5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Class="entr" nodeType="afterEffect" presetSubtype="0" presetID="1" grpId="3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8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Class="entr" nodeType="afterEffect" presetSubtype="0" presetID="1" grpId="3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1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Class="entr" nodeType="afterEffect" presetSubtype="0" presetID="1" grpId="3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4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84" grpId="16"/>
      <p:bldP build="whole" bldLvl="1" animBg="1" rev="0" advAuto="0" spid="286" grpId="18"/>
      <p:bldP build="whole" bldLvl="1" animBg="1" rev="0" advAuto="0" spid="251" grpId="1"/>
      <p:bldP build="whole" bldLvl="1" animBg="1" rev="0" advAuto="0" spid="242" grpId="30"/>
      <p:bldP build="whole" bldLvl="1" animBg="1" rev="0" advAuto="0" spid="274" grpId="10"/>
      <p:bldP build="whole" bldLvl="1" animBg="1" rev="0" advAuto="0" spid="241" grpId="29"/>
      <p:bldP build="whole" bldLvl="1" animBg="1" rev="0" advAuto="0" spid="247" grpId="35"/>
      <p:bldP build="whole" bldLvl="1" animBg="1" rev="0" advAuto="0" spid="240" grpId="36"/>
      <p:bldP build="whole" bldLvl="1" animBg="1" rev="0" advAuto="0" spid="291" grpId="27"/>
      <p:bldP build="whole" bldLvl="1" animBg="1" rev="0" advAuto="0" spid="245" grpId="33"/>
      <p:bldP build="whole" bldLvl="1" animBg="1" rev="0" advAuto="0" spid="266" grpId="25"/>
      <p:bldP build="whole" bldLvl="1" animBg="1" rev="0" advAuto="0" spid="281" grpId="9"/>
      <p:bldP build="whole" bldLvl="1" animBg="1" rev="0" advAuto="0" spid="254" grpId="3"/>
      <p:bldP build="whole" bldLvl="1" animBg="1" rev="0" advAuto="0" spid="269" grpId="13"/>
      <p:bldP build="whole" bldLvl="1" animBg="1" rev="0" advAuto="0" spid="293" grpId="28"/>
      <p:bldP build="whole" bldLvl="1" animBg="1" rev="0" advAuto="0" spid="287" grpId="20"/>
      <p:bldP build="whole" bldLvl="1" animBg="1" rev="0" advAuto="0" spid="272" grpId="7"/>
      <p:bldP build="whole" bldLvl="1" animBg="1" rev="0" advAuto="0" spid="248" grpId="37"/>
      <p:bldP build="whole" bldLvl="1" animBg="1" rev="0" advAuto="0" spid="289" grpId="21"/>
      <p:bldP build="whole" bldLvl="1" animBg="1" rev="0" advAuto="0" spid="244" grpId="32"/>
      <p:bldP build="whole" bldLvl="1" animBg="1" rev="0" advAuto="0" spid="285" grpId="17"/>
      <p:bldP build="whole" bldLvl="1" animBg="1" rev="0" advAuto="0" spid="257" grpId="11"/>
      <p:bldP build="whole" bldLvl="1" animBg="1" rev="0" advAuto="0" spid="276" grpId="6"/>
      <p:bldP build="whole" bldLvl="1" animBg="1" rev="0" advAuto="0" spid="277" grpId="12"/>
      <p:bldP build="whole" bldLvl="1" animBg="1" rev="0" advAuto="0" spid="283" grpId="15"/>
      <p:bldP build="whole" bldLvl="1" animBg="1" rev="0" advAuto="0" spid="282" grpId="14"/>
      <p:bldP build="whole" bldLvl="1" animBg="1" rev="0" advAuto="0" spid="288" grpId="19"/>
      <p:bldP build="whole" bldLvl="1" animBg="1" rev="0" advAuto="0" spid="275" grpId="4"/>
      <p:bldP build="whole" bldLvl="1" animBg="1" rev="0" advAuto="0" spid="278" grpId="24"/>
      <p:bldP build="whole" bldLvl="1" animBg="1" rev="0" advAuto="0" spid="290" grpId="22"/>
      <p:bldP build="whole" bldLvl="1" animBg="1" rev="0" advAuto="0" spid="280" grpId="8"/>
      <p:bldP build="whole" bldLvl="1" animBg="1" rev="0" advAuto="0" spid="273" grpId="2"/>
      <p:bldP build="whole" bldLvl="1" animBg="1" rev="0" advAuto="0" spid="263" grpId="5"/>
      <p:bldP build="whole" bldLvl="1" animBg="1" rev="0" advAuto="0" spid="292" grpId="26"/>
      <p:bldP build="whole" bldLvl="1" animBg="1" rev="0" advAuto="0" spid="246" grpId="34"/>
      <p:bldP build="whole" bldLvl="1" animBg="1" rev="0" advAuto="0" spid="260" grpId="23"/>
      <p:bldP build="whole" bldLvl="1" animBg="1" rev="0" advAuto="0" spid="243" grpId="3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319"/>
          <p:cNvSpPr txBox="1"/>
          <p:nvPr/>
        </p:nvSpPr>
        <p:spPr>
          <a:xfrm>
            <a:off x="1850531" y="127846"/>
            <a:ext cx="8521702" cy="9525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algn="ctr" defTabSz="1295400">
              <a:defRPr sz="4800">
                <a:uFill>
                  <a:solidFill>
                    <a:srgbClr val="000000"/>
                  </a:solidFill>
                </a:uFill>
              </a:defRPr>
            </a:pPr>
            <a:r>
              <a:t> 拓扑排序---</a:t>
            </a:r>
            <a:r>
              <a:rPr>
                <a:latin typeface="Arial Black"/>
                <a:ea typeface="Arial Black"/>
                <a:cs typeface="Arial Black"/>
                <a:sym typeface="Arial Black"/>
              </a:rPr>
              <a:t>练习</a:t>
            </a:r>
          </a:p>
        </p:txBody>
      </p:sp>
      <p:grpSp>
        <p:nvGrpSpPr>
          <p:cNvPr id="299" name="Group 322"/>
          <p:cNvGrpSpPr/>
          <p:nvPr/>
        </p:nvGrpSpPr>
        <p:grpSpPr>
          <a:xfrm>
            <a:off x="3495885" y="3581399"/>
            <a:ext cx="1569722" cy="1536702"/>
            <a:chOff x="0" y="83380"/>
            <a:chExt cx="1569720" cy="1536701"/>
          </a:xfrm>
        </p:grpSpPr>
        <p:sp>
          <p:nvSpPr>
            <p:cNvPr id="297" name="Shape 320"/>
            <p:cNvSpPr/>
            <p:nvPr/>
          </p:nvSpPr>
          <p:spPr>
            <a:xfrm>
              <a:off x="0" y="83380"/>
              <a:ext cx="647702" cy="647703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8" name="Shape 321"/>
            <p:cNvSpPr/>
            <p:nvPr/>
          </p:nvSpPr>
          <p:spPr>
            <a:xfrm>
              <a:off x="299720" y="35008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302" name="Group 325"/>
          <p:cNvGrpSpPr/>
          <p:nvPr/>
        </p:nvGrpSpPr>
        <p:grpSpPr>
          <a:xfrm>
            <a:off x="5663353" y="2666152"/>
            <a:ext cx="1582421" cy="1533315"/>
            <a:chOff x="0" y="86767"/>
            <a:chExt cx="1582420" cy="1533314"/>
          </a:xfrm>
        </p:grpSpPr>
        <p:sp>
          <p:nvSpPr>
            <p:cNvPr id="300" name="Shape 323"/>
            <p:cNvSpPr/>
            <p:nvPr/>
          </p:nvSpPr>
          <p:spPr>
            <a:xfrm>
              <a:off x="0" y="86767"/>
              <a:ext cx="647702" cy="647703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1" name="Shape 324"/>
            <p:cNvSpPr/>
            <p:nvPr/>
          </p:nvSpPr>
          <p:spPr>
            <a:xfrm>
              <a:off x="312420" y="35008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305" name="Group 328"/>
          <p:cNvGrpSpPr/>
          <p:nvPr/>
        </p:nvGrpSpPr>
        <p:grpSpPr>
          <a:xfrm>
            <a:off x="5663353" y="4314329"/>
            <a:ext cx="1569721" cy="1507916"/>
            <a:chOff x="0" y="112167"/>
            <a:chExt cx="1569720" cy="1507914"/>
          </a:xfrm>
        </p:grpSpPr>
        <p:sp>
          <p:nvSpPr>
            <p:cNvPr id="303" name="Shape 326"/>
            <p:cNvSpPr/>
            <p:nvPr/>
          </p:nvSpPr>
          <p:spPr>
            <a:xfrm>
              <a:off x="0" y="112167"/>
              <a:ext cx="647702" cy="647703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4" name="Shape 327"/>
            <p:cNvSpPr/>
            <p:nvPr/>
          </p:nvSpPr>
          <p:spPr>
            <a:xfrm>
              <a:off x="299720" y="35008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308" name="Group 331"/>
          <p:cNvGrpSpPr/>
          <p:nvPr/>
        </p:nvGrpSpPr>
        <p:grpSpPr>
          <a:xfrm>
            <a:off x="3428153" y="5242433"/>
            <a:ext cx="647703" cy="700163"/>
            <a:chOff x="0" y="-12700"/>
            <a:chExt cx="647701" cy="700161"/>
          </a:xfrm>
        </p:grpSpPr>
        <p:sp>
          <p:nvSpPr>
            <p:cNvPr id="306" name="Shape 329"/>
            <p:cNvSpPr/>
            <p:nvPr/>
          </p:nvSpPr>
          <p:spPr>
            <a:xfrm>
              <a:off x="0" y="23267"/>
              <a:ext cx="647702" cy="647703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7" name="Shape 330"/>
            <p:cNvSpPr txBox="1"/>
            <p:nvPr/>
          </p:nvSpPr>
          <p:spPr>
            <a:xfrm>
              <a:off x="99861" y="-12700"/>
              <a:ext cx="425117" cy="700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311" name="Group 334"/>
          <p:cNvGrpSpPr/>
          <p:nvPr/>
        </p:nvGrpSpPr>
        <p:grpSpPr>
          <a:xfrm>
            <a:off x="7759700" y="3546278"/>
            <a:ext cx="647700" cy="709070"/>
            <a:chOff x="0" y="-38100"/>
            <a:chExt cx="647700" cy="709069"/>
          </a:xfrm>
        </p:grpSpPr>
        <p:sp>
          <p:nvSpPr>
            <p:cNvPr id="309" name="Shape 332"/>
            <p:cNvSpPr/>
            <p:nvPr/>
          </p:nvSpPr>
          <p:spPr>
            <a:xfrm>
              <a:off x="0" y="23267"/>
              <a:ext cx="647700" cy="647703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0" name="Shape 333"/>
            <p:cNvSpPr txBox="1"/>
            <p:nvPr/>
          </p:nvSpPr>
          <p:spPr>
            <a:xfrm>
              <a:off x="88290" y="-38100"/>
              <a:ext cx="425117" cy="700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314" name="Group 337"/>
          <p:cNvGrpSpPr/>
          <p:nvPr/>
        </p:nvGrpSpPr>
        <p:grpSpPr>
          <a:xfrm>
            <a:off x="5475958" y="6094462"/>
            <a:ext cx="647702" cy="700163"/>
            <a:chOff x="0" y="-25400"/>
            <a:chExt cx="647701" cy="700161"/>
          </a:xfrm>
        </p:grpSpPr>
        <p:sp>
          <p:nvSpPr>
            <p:cNvPr id="312" name="Shape 335"/>
            <p:cNvSpPr/>
            <p:nvPr/>
          </p:nvSpPr>
          <p:spPr>
            <a:xfrm>
              <a:off x="0" y="23267"/>
              <a:ext cx="647702" cy="647703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3" name="Shape 336"/>
            <p:cNvSpPr txBox="1"/>
            <p:nvPr/>
          </p:nvSpPr>
          <p:spPr>
            <a:xfrm>
              <a:off x="112561" y="-25400"/>
              <a:ext cx="425117" cy="700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317" name="Group 340"/>
          <p:cNvGrpSpPr/>
          <p:nvPr/>
        </p:nvGrpSpPr>
        <p:grpSpPr>
          <a:xfrm>
            <a:off x="7830819" y="5191916"/>
            <a:ext cx="647703" cy="700162"/>
            <a:chOff x="0" y="0"/>
            <a:chExt cx="647701" cy="700161"/>
          </a:xfrm>
        </p:grpSpPr>
        <p:sp>
          <p:nvSpPr>
            <p:cNvPr id="315" name="Shape 338"/>
            <p:cNvSpPr/>
            <p:nvPr/>
          </p:nvSpPr>
          <p:spPr>
            <a:xfrm>
              <a:off x="0" y="23267"/>
              <a:ext cx="647702" cy="647703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6" name="Shape 339"/>
            <p:cNvSpPr txBox="1"/>
            <p:nvPr/>
          </p:nvSpPr>
          <p:spPr>
            <a:xfrm>
              <a:off x="121118" y="0"/>
              <a:ext cx="331802" cy="700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320" name="Group 343"/>
          <p:cNvGrpSpPr/>
          <p:nvPr/>
        </p:nvGrpSpPr>
        <p:grpSpPr>
          <a:xfrm>
            <a:off x="9930552" y="4221761"/>
            <a:ext cx="1569721" cy="1546015"/>
            <a:chOff x="0" y="74067"/>
            <a:chExt cx="1569719" cy="1546014"/>
          </a:xfrm>
        </p:grpSpPr>
        <p:sp>
          <p:nvSpPr>
            <p:cNvPr id="318" name="Shape 341"/>
            <p:cNvSpPr/>
            <p:nvPr/>
          </p:nvSpPr>
          <p:spPr>
            <a:xfrm>
              <a:off x="0" y="74067"/>
              <a:ext cx="647702" cy="647703"/>
            </a:xfrm>
            <a:prstGeom prst="ellipse">
              <a:avLst/>
            </a:prstGeom>
            <a:solidFill>
              <a:srgbClr val="FFFF99"/>
            </a:solidFill>
            <a:ln w="25400" cap="sq">
              <a:solidFill>
                <a:srgbClr val="9933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9" name="Shape 342"/>
            <p:cNvSpPr/>
            <p:nvPr/>
          </p:nvSpPr>
          <p:spPr>
            <a:xfrm>
              <a:off x="299719" y="35008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defRPr sz="44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sp>
        <p:nvSpPr>
          <p:cNvPr id="321" name="Shape 344"/>
          <p:cNvSpPr/>
          <p:nvPr/>
        </p:nvSpPr>
        <p:spPr>
          <a:xfrm flipV="1">
            <a:off x="4042269" y="2991272"/>
            <a:ext cx="1621086" cy="688624"/>
          </a:xfrm>
          <a:prstGeom prst="line">
            <a:avLst/>
          </a:prstGeom>
          <a:ln w="25400" cap="sq">
            <a:solidFill>
              <a:srgbClr val="8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22" name="Shape 345"/>
          <p:cNvSpPr/>
          <p:nvPr/>
        </p:nvSpPr>
        <p:spPr>
          <a:xfrm>
            <a:off x="4143869" y="3998242"/>
            <a:ext cx="1536702" cy="602829"/>
          </a:xfrm>
          <a:prstGeom prst="line">
            <a:avLst/>
          </a:prstGeom>
          <a:ln w="25400" cap="sq">
            <a:solidFill>
              <a:srgbClr val="8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23" name="Shape 346"/>
          <p:cNvSpPr/>
          <p:nvPr/>
        </p:nvSpPr>
        <p:spPr>
          <a:xfrm>
            <a:off x="6313591" y="2991273"/>
            <a:ext cx="1511303" cy="790223"/>
          </a:xfrm>
          <a:prstGeom prst="line">
            <a:avLst/>
          </a:prstGeom>
          <a:ln w="25400" cap="sq">
            <a:solidFill>
              <a:srgbClr val="8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24" name="Shape 347"/>
          <p:cNvSpPr/>
          <p:nvPr/>
        </p:nvSpPr>
        <p:spPr>
          <a:xfrm>
            <a:off x="8395264" y="3946312"/>
            <a:ext cx="1536702" cy="512518"/>
          </a:xfrm>
          <a:prstGeom prst="line">
            <a:avLst/>
          </a:prstGeom>
          <a:ln w="25400" cap="sq">
            <a:solidFill>
              <a:srgbClr val="8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25" name="Shape 348"/>
          <p:cNvSpPr/>
          <p:nvPr/>
        </p:nvSpPr>
        <p:spPr>
          <a:xfrm>
            <a:off x="6295530" y="4806525"/>
            <a:ext cx="1536703" cy="715718"/>
          </a:xfrm>
          <a:prstGeom prst="line">
            <a:avLst/>
          </a:prstGeom>
          <a:ln w="25400" cap="sq">
            <a:solidFill>
              <a:srgbClr val="8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26" name="Shape 349"/>
          <p:cNvSpPr/>
          <p:nvPr/>
        </p:nvSpPr>
        <p:spPr>
          <a:xfrm>
            <a:off x="4042269" y="5790916"/>
            <a:ext cx="1433691" cy="715719"/>
          </a:xfrm>
          <a:prstGeom prst="line">
            <a:avLst/>
          </a:prstGeom>
          <a:ln w="25400" cap="sq">
            <a:solidFill>
              <a:srgbClr val="8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27" name="Shape 350"/>
          <p:cNvSpPr/>
          <p:nvPr/>
        </p:nvSpPr>
        <p:spPr>
          <a:xfrm flipV="1">
            <a:off x="4064000" y="4702669"/>
            <a:ext cx="1621085" cy="763131"/>
          </a:xfrm>
          <a:prstGeom prst="line">
            <a:avLst/>
          </a:prstGeom>
          <a:ln w="25400" cap="sq">
            <a:solidFill>
              <a:srgbClr val="8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28" name="Shape 351"/>
          <p:cNvSpPr/>
          <p:nvPr/>
        </p:nvSpPr>
        <p:spPr>
          <a:xfrm flipV="1">
            <a:off x="6090073" y="5638799"/>
            <a:ext cx="1740749" cy="970846"/>
          </a:xfrm>
          <a:prstGeom prst="line">
            <a:avLst/>
          </a:prstGeom>
          <a:ln w="25400" cap="sq">
            <a:solidFill>
              <a:srgbClr val="8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29" name="Shape 352"/>
          <p:cNvSpPr/>
          <p:nvPr/>
        </p:nvSpPr>
        <p:spPr>
          <a:xfrm flipV="1">
            <a:off x="6295530" y="3998242"/>
            <a:ext cx="1485620" cy="562189"/>
          </a:xfrm>
          <a:prstGeom prst="line">
            <a:avLst/>
          </a:prstGeom>
          <a:ln w="25400" cap="sq">
            <a:solidFill>
              <a:srgbClr val="8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30" name="Shape 353"/>
          <p:cNvSpPr txBox="1"/>
          <p:nvPr/>
        </p:nvSpPr>
        <p:spPr>
          <a:xfrm>
            <a:off x="2080259" y="1693050"/>
            <a:ext cx="8001002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3800">
                <a:uFill>
                  <a:solidFill>
                    <a:srgbClr val="00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lvl1pPr>
          </a:lstStyle>
          <a:p>
            <a:pPr/>
            <a:r>
              <a:t>写出下图的所有的拓扑序列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19"/>
          <p:cNvSpPr txBox="1"/>
          <p:nvPr/>
        </p:nvSpPr>
        <p:spPr>
          <a:xfrm>
            <a:off x="1850531" y="127846"/>
            <a:ext cx="8521702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 作业</a:t>
            </a:r>
          </a:p>
        </p:txBody>
      </p:sp>
      <p:sp>
        <p:nvSpPr>
          <p:cNvPr id="333" name="Shape 353"/>
          <p:cNvSpPr txBox="1"/>
          <p:nvPr/>
        </p:nvSpPr>
        <p:spPr>
          <a:xfrm>
            <a:off x="581304" y="1665797"/>
            <a:ext cx="6508329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indent="0">
              <a:defRPr sz="2400"/>
            </a:lvl1pPr>
          </a:lstStyle>
          <a:p>
            <a:pPr/>
            <a:r>
              <a:t>给GraphAlgorithms&lt;T&gt;增加拓扑排序的方法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pull dir="r"/>
      </p:transition>
    </mc:Choice>
    <mc:Fallback>
      <p:transition spd="fast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成组"/>
          <p:cNvGrpSpPr/>
          <p:nvPr/>
        </p:nvGrpSpPr>
        <p:grpSpPr>
          <a:xfrm>
            <a:off x="1242984" y="1790953"/>
            <a:ext cx="3181172" cy="2458949"/>
            <a:chOff x="0" y="0"/>
            <a:chExt cx="3181171" cy="2458947"/>
          </a:xfrm>
        </p:grpSpPr>
        <p:sp>
          <p:nvSpPr>
            <p:cNvPr id="335" name="线条"/>
            <p:cNvSpPr/>
            <p:nvPr/>
          </p:nvSpPr>
          <p:spPr>
            <a:xfrm flipH="1">
              <a:off x="1703713" y="466473"/>
              <a:ext cx="634822" cy="63482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6" name="线条"/>
            <p:cNvSpPr/>
            <p:nvPr/>
          </p:nvSpPr>
          <p:spPr>
            <a:xfrm>
              <a:off x="1646263" y="1283703"/>
              <a:ext cx="1" cy="67825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7" name="线条"/>
            <p:cNvSpPr/>
            <p:nvPr/>
          </p:nvSpPr>
          <p:spPr>
            <a:xfrm>
              <a:off x="947861" y="564520"/>
              <a:ext cx="483860" cy="48385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8" name="线条"/>
            <p:cNvSpPr/>
            <p:nvPr/>
          </p:nvSpPr>
          <p:spPr>
            <a:xfrm>
              <a:off x="2519960" y="424027"/>
              <a:ext cx="309759" cy="67490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9" name="线条"/>
            <p:cNvSpPr/>
            <p:nvPr/>
          </p:nvSpPr>
          <p:spPr>
            <a:xfrm flipV="1">
              <a:off x="1074861" y="312413"/>
              <a:ext cx="1131084" cy="12431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0" name="线条"/>
            <p:cNvSpPr/>
            <p:nvPr/>
          </p:nvSpPr>
          <p:spPr>
            <a:xfrm flipV="1">
              <a:off x="321026" y="736224"/>
              <a:ext cx="461340" cy="67282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43" name="成组"/>
            <p:cNvGrpSpPr/>
            <p:nvPr/>
          </p:nvGrpSpPr>
          <p:grpSpPr>
            <a:xfrm>
              <a:off x="658999" y="281805"/>
              <a:ext cx="487964" cy="487965"/>
              <a:chOff x="0" y="0"/>
              <a:chExt cx="487963" cy="487963"/>
            </a:xfrm>
          </p:grpSpPr>
          <p:sp>
            <p:nvSpPr>
              <p:cNvPr id="341" name="圆形"/>
              <p:cNvSpPr/>
              <p:nvPr/>
            </p:nvSpPr>
            <p:spPr>
              <a:xfrm>
                <a:off x="0" y="0"/>
                <a:ext cx="487964" cy="4879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2" name="1"/>
              <p:cNvSpPr txBox="1"/>
              <p:nvPr/>
            </p:nvSpPr>
            <p:spPr>
              <a:xfrm>
                <a:off x="81732" y="5252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>
                  <a:defRPr sz="2000"/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346" name="成组"/>
            <p:cNvGrpSpPr/>
            <p:nvPr/>
          </p:nvGrpSpPr>
          <p:grpSpPr>
            <a:xfrm>
              <a:off x="2189566" y="0"/>
              <a:ext cx="487964" cy="487964"/>
              <a:chOff x="0" y="0"/>
              <a:chExt cx="487963" cy="487963"/>
            </a:xfrm>
          </p:grpSpPr>
          <p:sp>
            <p:nvSpPr>
              <p:cNvPr id="344" name="圆形"/>
              <p:cNvSpPr/>
              <p:nvPr/>
            </p:nvSpPr>
            <p:spPr>
              <a:xfrm>
                <a:off x="0" y="0"/>
                <a:ext cx="487964" cy="4879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5" name="2"/>
              <p:cNvSpPr txBox="1"/>
              <p:nvPr/>
            </p:nvSpPr>
            <p:spPr>
              <a:xfrm>
                <a:off x="81732" y="5252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>
                  <a:defRPr sz="2000"/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349" name="成组"/>
            <p:cNvGrpSpPr/>
            <p:nvPr/>
          </p:nvGrpSpPr>
          <p:grpSpPr>
            <a:xfrm>
              <a:off x="0" y="1285283"/>
              <a:ext cx="487964" cy="487964"/>
              <a:chOff x="0" y="0"/>
              <a:chExt cx="487963" cy="487963"/>
            </a:xfrm>
          </p:grpSpPr>
          <p:sp>
            <p:nvSpPr>
              <p:cNvPr id="347" name="圆形"/>
              <p:cNvSpPr/>
              <p:nvPr/>
            </p:nvSpPr>
            <p:spPr>
              <a:xfrm>
                <a:off x="0" y="0"/>
                <a:ext cx="487964" cy="4879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8" name="3"/>
              <p:cNvSpPr txBox="1"/>
              <p:nvPr/>
            </p:nvSpPr>
            <p:spPr>
              <a:xfrm>
                <a:off x="81732" y="5252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>
                  <a:defRPr sz="2000"/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352" name="成组"/>
            <p:cNvGrpSpPr/>
            <p:nvPr/>
          </p:nvGrpSpPr>
          <p:grpSpPr>
            <a:xfrm>
              <a:off x="1394298" y="961669"/>
              <a:ext cx="487964" cy="487965"/>
              <a:chOff x="0" y="0"/>
              <a:chExt cx="487963" cy="487963"/>
            </a:xfrm>
          </p:grpSpPr>
          <p:sp>
            <p:nvSpPr>
              <p:cNvPr id="350" name="圆形"/>
              <p:cNvSpPr/>
              <p:nvPr/>
            </p:nvSpPr>
            <p:spPr>
              <a:xfrm>
                <a:off x="0" y="0"/>
                <a:ext cx="487964" cy="4879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51" name="4"/>
              <p:cNvSpPr txBox="1"/>
              <p:nvPr/>
            </p:nvSpPr>
            <p:spPr>
              <a:xfrm>
                <a:off x="81732" y="5252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>
                  <a:defRPr sz="2000"/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355" name="成组"/>
            <p:cNvGrpSpPr/>
            <p:nvPr/>
          </p:nvGrpSpPr>
          <p:grpSpPr>
            <a:xfrm>
              <a:off x="1394298" y="1970984"/>
              <a:ext cx="487964" cy="487964"/>
              <a:chOff x="0" y="0"/>
              <a:chExt cx="487963" cy="487963"/>
            </a:xfrm>
          </p:grpSpPr>
          <p:sp>
            <p:nvSpPr>
              <p:cNvPr id="353" name="圆形"/>
              <p:cNvSpPr/>
              <p:nvPr/>
            </p:nvSpPr>
            <p:spPr>
              <a:xfrm>
                <a:off x="0" y="0"/>
                <a:ext cx="487964" cy="4879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54" name="6"/>
              <p:cNvSpPr txBox="1"/>
              <p:nvPr/>
            </p:nvSpPr>
            <p:spPr>
              <a:xfrm>
                <a:off x="81732" y="5252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>
                  <a:defRPr sz="2000"/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358" name="成组"/>
            <p:cNvGrpSpPr/>
            <p:nvPr/>
          </p:nvGrpSpPr>
          <p:grpSpPr>
            <a:xfrm>
              <a:off x="2693207" y="1090523"/>
              <a:ext cx="487965" cy="487964"/>
              <a:chOff x="0" y="0"/>
              <a:chExt cx="487963" cy="487963"/>
            </a:xfrm>
          </p:grpSpPr>
          <p:sp>
            <p:nvSpPr>
              <p:cNvPr id="356" name="圆形"/>
              <p:cNvSpPr/>
              <p:nvPr/>
            </p:nvSpPr>
            <p:spPr>
              <a:xfrm>
                <a:off x="0" y="0"/>
                <a:ext cx="487964" cy="4879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57" name="5"/>
              <p:cNvSpPr txBox="1"/>
              <p:nvPr/>
            </p:nvSpPr>
            <p:spPr>
              <a:xfrm>
                <a:off x="81732" y="5252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>
                  <a:defRPr sz="2000"/>
                </a:lvl1pPr>
              </a:lstStyle>
              <a:p>
                <a:pPr/>
                <a:r>
                  <a:t>5</a:t>
                </a:r>
              </a:p>
            </p:txBody>
          </p:sp>
        </p:grpSp>
        <p:sp>
          <p:nvSpPr>
            <p:cNvPr id="359" name="线条"/>
            <p:cNvSpPr/>
            <p:nvPr/>
          </p:nvSpPr>
          <p:spPr>
            <a:xfrm>
              <a:off x="433472" y="1661807"/>
              <a:ext cx="969378" cy="47187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0" name="线条"/>
            <p:cNvSpPr/>
            <p:nvPr/>
          </p:nvSpPr>
          <p:spPr>
            <a:xfrm flipV="1">
              <a:off x="1882848" y="1479203"/>
              <a:ext cx="864285" cy="66902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383" name="成组"/>
          <p:cNvGrpSpPr/>
          <p:nvPr/>
        </p:nvGrpSpPr>
        <p:grpSpPr>
          <a:xfrm>
            <a:off x="6235840" y="1790953"/>
            <a:ext cx="2977697" cy="2399042"/>
            <a:chOff x="0" y="0"/>
            <a:chExt cx="2977695" cy="2399041"/>
          </a:xfrm>
        </p:grpSpPr>
        <p:sp>
          <p:nvSpPr>
            <p:cNvPr id="362" name="线条"/>
            <p:cNvSpPr/>
            <p:nvPr/>
          </p:nvSpPr>
          <p:spPr>
            <a:xfrm>
              <a:off x="1340692" y="381608"/>
              <a:ext cx="1144445" cy="47967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3" name="线条"/>
            <p:cNvSpPr/>
            <p:nvPr/>
          </p:nvSpPr>
          <p:spPr>
            <a:xfrm>
              <a:off x="317101" y="1274145"/>
              <a:ext cx="457502" cy="64937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4" name="线条"/>
            <p:cNvSpPr/>
            <p:nvPr/>
          </p:nvSpPr>
          <p:spPr>
            <a:xfrm flipV="1">
              <a:off x="962067" y="1941999"/>
              <a:ext cx="1207478" cy="18137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5" name="线条"/>
            <p:cNvSpPr/>
            <p:nvPr/>
          </p:nvSpPr>
          <p:spPr>
            <a:xfrm>
              <a:off x="438663" y="1075974"/>
              <a:ext cx="1725688" cy="74379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6" name="线条"/>
            <p:cNvSpPr/>
            <p:nvPr/>
          </p:nvSpPr>
          <p:spPr>
            <a:xfrm flipV="1">
              <a:off x="380600" y="421146"/>
              <a:ext cx="625187" cy="45888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69" name="成组"/>
            <p:cNvGrpSpPr/>
            <p:nvPr/>
          </p:nvGrpSpPr>
          <p:grpSpPr>
            <a:xfrm>
              <a:off x="0" y="815623"/>
              <a:ext cx="487964" cy="487964"/>
              <a:chOff x="0" y="0"/>
              <a:chExt cx="487963" cy="487963"/>
            </a:xfrm>
          </p:grpSpPr>
          <p:sp>
            <p:nvSpPr>
              <p:cNvPr id="367" name="圆形"/>
              <p:cNvSpPr/>
              <p:nvPr/>
            </p:nvSpPr>
            <p:spPr>
              <a:xfrm>
                <a:off x="0" y="0"/>
                <a:ext cx="487964" cy="4879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68" name="a"/>
              <p:cNvSpPr txBox="1"/>
              <p:nvPr/>
            </p:nvSpPr>
            <p:spPr>
              <a:xfrm>
                <a:off x="88863" y="52526"/>
                <a:ext cx="284837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>
                  <a:defRPr sz="2000"/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372" name="成组"/>
            <p:cNvGrpSpPr/>
            <p:nvPr/>
          </p:nvGrpSpPr>
          <p:grpSpPr>
            <a:xfrm>
              <a:off x="598655" y="1911078"/>
              <a:ext cx="487964" cy="487964"/>
              <a:chOff x="0" y="0"/>
              <a:chExt cx="487963" cy="487963"/>
            </a:xfrm>
          </p:grpSpPr>
          <p:sp>
            <p:nvSpPr>
              <p:cNvPr id="370" name="圆形"/>
              <p:cNvSpPr/>
              <p:nvPr/>
            </p:nvSpPr>
            <p:spPr>
              <a:xfrm>
                <a:off x="0" y="0"/>
                <a:ext cx="487964" cy="4879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71" name="b"/>
              <p:cNvSpPr txBox="1"/>
              <p:nvPr/>
            </p:nvSpPr>
            <p:spPr>
              <a:xfrm>
                <a:off x="81732" y="5252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>
                  <a:defRPr sz="2000"/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375" name="成组"/>
            <p:cNvGrpSpPr/>
            <p:nvPr/>
          </p:nvGrpSpPr>
          <p:grpSpPr>
            <a:xfrm>
              <a:off x="2158329" y="1624341"/>
              <a:ext cx="487964" cy="487964"/>
              <a:chOff x="0" y="0"/>
              <a:chExt cx="487963" cy="487963"/>
            </a:xfrm>
          </p:grpSpPr>
          <p:sp>
            <p:nvSpPr>
              <p:cNvPr id="373" name="圆形"/>
              <p:cNvSpPr/>
              <p:nvPr/>
            </p:nvSpPr>
            <p:spPr>
              <a:xfrm>
                <a:off x="0" y="0"/>
                <a:ext cx="487964" cy="4879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74" name="c"/>
              <p:cNvSpPr txBox="1"/>
              <p:nvPr/>
            </p:nvSpPr>
            <p:spPr>
              <a:xfrm>
                <a:off x="88863" y="52526"/>
                <a:ext cx="284837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>
                  <a:defRPr sz="2000"/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378" name="成组"/>
            <p:cNvGrpSpPr/>
            <p:nvPr/>
          </p:nvGrpSpPr>
          <p:grpSpPr>
            <a:xfrm>
              <a:off x="2489732" y="649731"/>
              <a:ext cx="487964" cy="487964"/>
              <a:chOff x="0" y="0"/>
              <a:chExt cx="487963" cy="487963"/>
            </a:xfrm>
          </p:grpSpPr>
          <p:sp>
            <p:nvSpPr>
              <p:cNvPr id="376" name="圆形"/>
              <p:cNvSpPr/>
              <p:nvPr/>
            </p:nvSpPr>
            <p:spPr>
              <a:xfrm>
                <a:off x="0" y="0"/>
                <a:ext cx="487964" cy="4879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77" name="d"/>
              <p:cNvSpPr txBox="1"/>
              <p:nvPr/>
            </p:nvSpPr>
            <p:spPr>
              <a:xfrm>
                <a:off x="81732" y="5252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>
                  <a:defRPr sz="2000"/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381" name="成组"/>
            <p:cNvGrpSpPr/>
            <p:nvPr/>
          </p:nvGrpSpPr>
          <p:grpSpPr>
            <a:xfrm>
              <a:off x="940628" y="0"/>
              <a:ext cx="487964" cy="487964"/>
              <a:chOff x="0" y="0"/>
              <a:chExt cx="487963" cy="487963"/>
            </a:xfrm>
          </p:grpSpPr>
          <p:sp>
            <p:nvSpPr>
              <p:cNvPr id="379" name="圆形"/>
              <p:cNvSpPr/>
              <p:nvPr/>
            </p:nvSpPr>
            <p:spPr>
              <a:xfrm>
                <a:off x="0" y="0"/>
                <a:ext cx="487964" cy="4879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solidFill>
                      <a:schemeClr val="accent1">
                        <a:satOff val="-36923"/>
                        <a:lumOff val="15441"/>
                      </a:schemeClr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80" name="e"/>
              <p:cNvSpPr txBox="1"/>
              <p:nvPr/>
            </p:nvSpPr>
            <p:spPr>
              <a:xfrm>
                <a:off x="88863" y="52526"/>
                <a:ext cx="284837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>
                  <a:defRPr sz="2000"/>
                </a:lvl1pPr>
              </a:lstStyle>
              <a:p>
                <a:pPr/>
                <a:r>
                  <a:t>e</a:t>
                </a:r>
              </a:p>
            </p:txBody>
          </p:sp>
        </p:grpSp>
        <p:sp>
          <p:nvSpPr>
            <p:cNvPr id="382" name="线条"/>
            <p:cNvSpPr/>
            <p:nvPr/>
          </p:nvSpPr>
          <p:spPr>
            <a:xfrm flipV="1">
              <a:off x="2461672" y="1133715"/>
              <a:ext cx="245348" cy="50297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pull dir="r"/>
      </p:transition>
    </mc:Choice>
    <mc:Fallback>
      <p:transition spd="fast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800" u="none" kumimoji="0" normalizeH="0">
            <a:ln>
              <a:noFill/>
            </a:ln>
            <a:solidFill>
              <a:schemeClr val="accent1">
                <a:satOff val="-36923"/>
                <a:lumOff val="15441"/>
              </a:schemeClr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800" u="none" kumimoji="0" normalizeH="0">
            <a:ln>
              <a:noFill/>
            </a:ln>
            <a:solidFill>
              <a:schemeClr val="accent1">
                <a:satOff val="-36923"/>
                <a:lumOff val="15441"/>
              </a:schemeClr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