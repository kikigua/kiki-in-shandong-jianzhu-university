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盛恩" initials="李" lastIdx="12" clrIdx="0"/>
  <p:cmAuthor id="1" name="作者" initials="作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ahoma"/>
          <a:ea typeface="Tahoma"/>
          <a:cs typeface="Tahom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B8BBBD">
              <a:alpha val="30000"/>
            </a:srgbClr>
          </a:solidFill>
        </a:fill>
      </a:tcStyle>
    </a:band2H>
    <a:firstCol>
      <a:tcTxStyle b="off" i="off">
        <a:font>
          <a:latin typeface="Tahoma"/>
          <a:ea typeface="Tahoma"/>
          <a:cs typeface="Tahoma"/>
        </a:font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>
          <a:latin typeface="Tahoma"/>
          <a:ea typeface="Tahoma"/>
          <a:cs typeface="Tahom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>
          <a:latin typeface="Tahoma"/>
          <a:ea typeface="Tahoma"/>
          <a:cs typeface="Tahom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/>
      <a:tcStyle>
        <a:tcBdr/>
        <a:fill>
          <a:solidFill>
            <a:srgbClr val="F8F4E7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/>
      <a:tcStyle>
        <a:tcBdr/>
        <a:fill>
          <a:solidFill>
            <a:srgbClr val="EBE8EF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439" autoAdjust="0"/>
    <p:restoredTop sz="94660"/>
  </p:normalViewPr>
  <p:slideViewPr>
    <p:cSldViewPr snapToGrid="0">
      <p:cViewPr varScale="1">
        <p:scale>
          <a:sx n="94" d="100"/>
          <a:sy n="94" d="100"/>
        </p:scale>
        <p:origin x="80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10-01T08:44:28.782" idx="1">
    <p:pos x="2323" y="2612"/>
    <p:text>2个类:ClinkedList和Node合作。
Node是嵌套类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3-09T19:41:16.818" idx="2">
    <p:pos x="1880" y="3038"/>
    <p:text>需要赋予的初值和default值一致，所以，可以不要构造函数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1-27T22:27:03.431" idx="3">
    <p:pos x="2790" y="2892"/>
    <p:text>箭头：next是引用变量，其值是某个结点对象的OID，根据OID可以找到这个结点对象，所以，借用了箭头符号的指向意思。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9-12T08:47:09.926" idx="4">
    <p:pos x="1013" y="2915"/>
    <p:text>empty()的其他表达方法？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9-08T09:27:09.885" idx="5">
    <p:pos x="3640" y="2908"/>
    <p:text>不能改变head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3-03T20:43:54.335" idx="6">
    <p:pos x="3093" y="3101"/>
    <p:text>如果是空表，get(0)会怎么样？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9-30T09:24:45.967" idx="7">
    <p:pos x="243" y="3400"/>
    <p:text>在p引用的结点后插入一个结点；
如果p引用的结点的索引号为i-1，则新插入的结点的索引号为i，插入前索引号为i、i+1、…的结点的索引号各增加1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9-30T09:46:03.039" idx="8">
    <p:pos x="2008" y="3451"/>
    <p:text>图中的i代表index;
加入的x的索引号，所以要先找到索引号为index-1的结点，x加入后，
加入前索引号为index、index+1…的索引号增加1
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9-08T09:27:30.353" idx="9">
    <p:pos x="1231" y="3344"/>
    <p:text>可以而且也需要改变head
       // Clearing all of the links between nodes is "unnecessary", but:
        // - helps a generational GC if the discarded nodes inhabit
        //   more than one generation
        // - is sure to free memory even if there is a reachable Iterator
</p:text>
    <p:extLst>
      <p:ext uri="{C676402C-5697-4E1C-873F-D02D1690AC5C}">
        <p15:threadingInfo xmlns:p15="http://schemas.microsoft.com/office/powerpoint/2012/main" timeZoneBias="-480"/>
      </p:ext>
    </p:extLst>
  </p:cm>
  <p:cm authorId="0" dt="2022-09-30T09:24:45.967" idx="10">
    <p:pos x="99" y="2737"/>
    <p:text>删除p引用的结点的后继结点；
如果p引用的结点的索引号为i-1，则删除结点的索引号为i，删除前索引号为i+1、i+2、…的结点的索引号各减少1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9-06T09:59:50.727" idx="11">
    <p:pos x="72" y="3517"/>
    <p:text>cache: 高速存储，存储单位为line，每个line由多个地址连续的存储单元组成
由于数组元素一般是连续存放的，cache的存在，使得读取listElement[i]后，它临近的数组元素在cache，提高了读写速度
读取速度快，但是，链式就可能使预读取技术(cache)失败
CArrayList的add和remove读写内存的次数多，由于cache的存在，读写速度比分析的能快一些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1-28T11:05:42.713" idx="12">
    <p:pos x="3821" y="3168"/>
    <p:text>不用特殊处理索引号0
因为head不会=null，所以，也不需要特殊处理空表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4-03-18T17:05:07.443" idx="1">
    <p:pos x="3416" y="1085"/>
    <p:text>first指向最左边(第1个)的数据元素
last指向最右边(最后1个)的数据元素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4" name="Shape 4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+mn-lt"/>
        <a:ea typeface="+mn-ea"/>
        <a:cs typeface="+mn-cs"/>
        <a:sym typeface="Lucida Grande"/>
      </a:defRPr>
    </a:lvl1pPr>
    <a:lvl2pPr indent="228600" defTabSz="457200" latinLnBrk="0">
      <a:defRPr sz="2200">
        <a:latin typeface="+mn-lt"/>
        <a:ea typeface="+mn-ea"/>
        <a:cs typeface="+mn-cs"/>
        <a:sym typeface="Lucida Grande"/>
      </a:defRPr>
    </a:lvl2pPr>
    <a:lvl3pPr indent="457200" defTabSz="457200" latinLnBrk="0">
      <a:defRPr sz="2200">
        <a:latin typeface="+mn-lt"/>
        <a:ea typeface="+mn-ea"/>
        <a:cs typeface="+mn-cs"/>
        <a:sym typeface="Lucida Grande"/>
      </a:defRPr>
    </a:lvl3pPr>
    <a:lvl4pPr indent="685800" defTabSz="457200" latinLnBrk="0">
      <a:defRPr sz="2200">
        <a:latin typeface="+mn-lt"/>
        <a:ea typeface="+mn-ea"/>
        <a:cs typeface="+mn-cs"/>
        <a:sym typeface="Lucida Grande"/>
      </a:defRPr>
    </a:lvl4pPr>
    <a:lvl5pPr indent="914400" defTabSz="457200" latinLnBrk="0">
      <a:defRPr sz="2200">
        <a:latin typeface="+mn-lt"/>
        <a:ea typeface="+mn-ea"/>
        <a:cs typeface="+mn-cs"/>
        <a:sym typeface="Lucida Grande"/>
      </a:defRPr>
    </a:lvl5pPr>
    <a:lvl6pPr indent="1143000" defTabSz="457200" latinLnBrk="0">
      <a:defRPr sz="2200">
        <a:latin typeface="+mn-lt"/>
        <a:ea typeface="+mn-ea"/>
        <a:cs typeface="+mn-cs"/>
        <a:sym typeface="Lucida Grande"/>
      </a:defRPr>
    </a:lvl6pPr>
    <a:lvl7pPr indent="1371600" defTabSz="457200" latinLnBrk="0">
      <a:defRPr sz="2200">
        <a:latin typeface="+mn-lt"/>
        <a:ea typeface="+mn-ea"/>
        <a:cs typeface="+mn-cs"/>
        <a:sym typeface="Lucida Grande"/>
      </a:defRPr>
    </a:lvl7pPr>
    <a:lvl8pPr indent="1600200" defTabSz="457200" latinLnBrk="0">
      <a:defRPr sz="2200">
        <a:latin typeface="+mn-lt"/>
        <a:ea typeface="+mn-ea"/>
        <a:cs typeface="+mn-cs"/>
        <a:sym typeface="Lucida Grande"/>
      </a:defRPr>
    </a:lvl8pPr>
    <a:lvl9pPr indent="1828800" defTabSz="457200" latinLnBrk="0">
      <a:defRPr sz="2200">
        <a:latin typeface="+mn-lt"/>
        <a:ea typeface="+mn-ea"/>
        <a:cs typeface="+mn-cs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"/>
          <p:cNvSpPr/>
          <p:nvPr/>
        </p:nvSpPr>
        <p:spPr>
          <a:xfrm>
            <a:off x="415925" y="19050"/>
            <a:ext cx="439738" cy="474663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spcBef>
                <a:spcPts val="1300"/>
              </a:spcBef>
              <a:defRPr sz="2200" b="1"/>
            </a:pPr>
            <a:endParaRPr/>
          </a:p>
        </p:txBody>
      </p:sp>
      <p:sp>
        <p:nvSpPr>
          <p:cNvPr id="28" name="矩形"/>
          <p:cNvSpPr/>
          <p:nvPr/>
        </p:nvSpPr>
        <p:spPr>
          <a:xfrm>
            <a:off x="803275" y="19050"/>
            <a:ext cx="328613" cy="474663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spcBef>
                <a:spcPts val="1300"/>
              </a:spcBef>
              <a:defRPr sz="2200" b="1"/>
            </a:pPr>
            <a:endParaRPr/>
          </a:p>
        </p:txBody>
      </p:sp>
      <p:sp>
        <p:nvSpPr>
          <p:cNvPr id="29" name="矩形"/>
          <p:cNvSpPr/>
          <p:nvPr/>
        </p:nvSpPr>
        <p:spPr>
          <a:xfrm>
            <a:off x="539750" y="266700"/>
            <a:ext cx="423863" cy="474663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spcBef>
                <a:spcPts val="1300"/>
              </a:spcBef>
              <a:defRPr sz="2200" b="1"/>
            </a:pPr>
            <a:endParaRPr/>
          </a:p>
        </p:txBody>
      </p:sp>
      <p:sp>
        <p:nvSpPr>
          <p:cNvPr id="30" name="矩形"/>
          <p:cNvSpPr/>
          <p:nvPr/>
        </p:nvSpPr>
        <p:spPr>
          <a:xfrm>
            <a:off x="909637" y="266700"/>
            <a:ext cx="366713" cy="474663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spcBef>
                <a:spcPts val="1300"/>
              </a:spcBef>
              <a:defRPr sz="2200" b="1"/>
            </a:pPr>
            <a:endParaRPr/>
          </a:p>
        </p:txBody>
      </p:sp>
      <p:sp>
        <p:nvSpPr>
          <p:cNvPr id="31" name="矩形"/>
          <p:cNvSpPr/>
          <p:nvPr/>
        </p:nvSpPr>
        <p:spPr>
          <a:xfrm>
            <a:off x="133349" y="314325"/>
            <a:ext cx="560389" cy="422275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spcBef>
                <a:spcPts val="1300"/>
              </a:spcBef>
              <a:defRPr sz="2200" b="1"/>
            </a:pPr>
            <a:endParaRPr/>
          </a:p>
        </p:txBody>
      </p:sp>
      <p:sp>
        <p:nvSpPr>
          <p:cNvPr id="32" name="矩形"/>
          <p:cNvSpPr/>
          <p:nvPr/>
        </p:nvSpPr>
        <p:spPr>
          <a:xfrm>
            <a:off x="795337" y="17462"/>
            <a:ext cx="31751" cy="752476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spcBef>
                <a:spcPts val="1300"/>
              </a:spcBef>
              <a:defRPr sz="2200" b="1"/>
            </a:pPr>
            <a:endParaRPr/>
          </a:p>
        </p:txBody>
      </p:sp>
      <p:sp>
        <p:nvSpPr>
          <p:cNvPr id="33" name="矩形"/>
          <p:cNvSpPr/>
          <p:nvPr/>
        </p:nvSpPr>
        <p:spPr>
          <a:xfrm>
            <a:off x="441325" y="719137"/>
            <a:ext cx="8228013" cy="31751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spcBef>
                <a:spcPts val="1300"/>
              </a:spcBef>
              <a:defRPr sz="2200" b="1"/>
            </a:pPr>
            <a:endParaRPr/>
          </a:p>
        </p:txBody>
      </p:sp>
      <p:pic>
        <p:nvPicPr>
          <p:cNvPr id="34" name="image1.png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087" y="19050"/>
            <a:ext cx="755651" cy="704850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标题文本"/>
          <p:cNvSpPr txBox="1">
            <a:spLocks noGrp="1"/>
          </p:cNvSpPr>
          <p:nvPr>
            <p:ph type="title"/>
          </p:nvPr>
        </p:nvSpPr>
        <p:spPr>
          <a:xfrm>
            <a:off x="1377950" y="28575"/>
            <a:ext cx="6607175" cy="704850"/>
          </a:xfrm>
          <a:prstGeom prst="rect">
            <a:avLst/>
          </a:prstGeom>
        </p:spPr>
        <p:txBody>
          <a:bodyPr lIns="35717" tIns="35717" rIns="35717" bIns="35717"/>
          <a:lstStyle>
            <a:lvl1pPr marR="0" indent="57150" defTabSz="909637">
              <a:defRPr>
                <a:uFillTx/>
              </a:defRPr>
            </a:lvl1pPr>
          </a:lstStyle>
          <a:p>
            <a:r>
              <a:t>标题文本</a:t>
            </a:r>
          </a:p>
        </p:txBody>
      </p:sp>
      <p:sp>
        <p:nvSpPr>
          <p:cNvPr id="36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5103812" y="2438400"/>
            <a:ext cx="3581401" cy="4419600"/>
          </a:xfrm>
          <a:prstGeom prst="rect">
            <a:avLst/>
          </a:prstGeom>
        </p:spPr>
        <p:txBody>
          <a:bodyPr lIns="35717" tIns="35717" rIns="35717" bIns="35717">
            <a:normAutofit/>
          </a:bodyPr>
          <a:lstStyle>
            <a:lvl1pPr marL="273050" marR="0" indent="-233362" defTabSz="909637">
              <a:defRPr>
                <a:uFillTx/>
              </a:defRPr>
            </a:lvl1pPr>
            <a:lvl2pPr marL="872595" marR="0" indent="-375708" defTabSz="909637">
              <a:defRPr>
                <a:uFillTx/>
              </a:defRPr>
            </a:lvl2pPr>
            <a:lvl3pPr marL="1290108" marR="0" indent="-336020" defTabSz="909637">
              <a:defRPr>
                <a:uFillTx/>
              </a:defRPr>
            </a:lvl3pPr>
            <a:lvl4pPr marL="1818745" marR="0" indent="-407458" defTabSz="909637">
              <a:defRPr>
                <a:uFillTx/>
              </a:defRPr>
            </a:lvl4pPr>
            <a:lvl5pPr marL="2275945" marR="0" indent="-407458" defTabSz="909637">
              <a:defRPr>
                <a:uFillTx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275138" y="6383337"/>
            <a:ext cx="592137" cy="646757"/>
          </a:xfrm>
          <a:prstGeom prst="rect">
            <a:avLst/>
          </a:prstGeom>
        </p:spPr>
        <p:txBody>
          <a:bodyPr lIns="35717" tIns="35717" rIns="35717" bIns="35717"/>
          <a:lstStyle>
            <a:lvl1pPr defTabSz="579437">
              <a:defRPr sz="4000">
                <a:uFillTx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417512" y="20041"/>
            <a:ext cx="438152" cy="474665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3" name="矩形"/>
          <p:cNvSpPr/>
          <p:nvPr/>
        </p:nvSpPr>
        <p:spPr>
          <a:xfrm>
            <a:off x="803671" y="20041"/>
            <a:ext cx="328614" cy="474665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4" name="矩形"/>
          <p:cNvSpPr/>
          <p:nvPr/>
        </p:nvSpPr>
        <p:spPr>
          <a:xfrm>
            <a:off x="541337" y="267890"/>
            <a:ext cx="422277" cy="474664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5" name="矩形"/>
          <p:cNvSpPr/>
          <p:nvPr/>
        </p:nvSpPr>
        <p:spPr>
          <a:xfrm>
            <a:off x="911224" y="267890"/>
            <a:ext cx="366119" cy="474664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" name="矩形"/>
          <p:cNvSpPr/>
          <p:nvPr/>
        </p:nvSpPr>
        <p:spPr>
          <a:xfrm>
            <a:off x="133944" y="315713"/>
            <a:ext cx="560390" cy="422277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" name="矩形"/>
          <p:cNvSpPr/>
          <p:nvPr/>
        </p:nvSpPr>
        <p:spPr>
          <a:xfrm>
            <a:off x="795519" y="18652"/>
            <a:ext cx="32379" cy="752279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8" name="矩形"/>
          <p:cNvSpPr/>
          <p:nvPr/>
        </p:nvSpPr>
        <p:spPr>
          <a:xfrm>
            <a:off x="442912" y="720525"/>
            <a:ext cx="8226427" cy="31752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pic>
        <p:nvPicPr>
          <p:cNvPr id="9" name="image1.png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087" y="20041"/>
            <a:ext cx="755652" cy="704852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>
            <a:spLocks noGrp="1"/>
          </p:cNvSpPr>
          <p:nvPr>
            <p:ph type="title"/>
          </p:nvPr>
        </p:nvSpPr>
        <p:spPr>
          <a:xfrm>
            <a:off x="1378528" y="28673"/>
            <a:ext cx="6607971" cy="7054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8" tIns="35718" rIns="35718" bIns="35718" anchor="b">
            <a:normAutofit/>
          </a:bodyPr>
          <a:lstStyle/>
          <a:p>
            <a:r>
              <a:t>标题文本</a:t>
            </a:r>
          </a:p>
        </p:txBody>
      </p:sp>
      <p:sp>
        <p:nvSpPr>
          <p:cNvPr id="11" name="正文级别 1…"/>
          <p:cNvSpPr txBox="1">
            <a:spLocks noGrp="1"/>
          </p:cNvSpPr>
          <p:nvPr>
            <p:ph type="body" idx="1"/>
          </p:nvPr>
        </p:nvSpPr>
        <p:spPr>
          <a:xfrm>
            <a:off x="5103812" y="2438400"/>
            <a:ext cx="3581401" cy="441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8" tIns="35718" rIns="35718" bIns="35718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390528" y="6384726"/>
            <a:ext cx="363539" cy="389770"/>
          </a:xfrm>
          <a:prstGeom prst="rect">
            <a:avLst/>
          </a:prstGeom>
          <a:ln w="12700">
            <a:miter lim="400000"/>
          </a:ln>
        </p:spPr>
        <p:txBody>
          <a:bodyPr wrap="none" lIns="35718" tIns="35718" rIns="35718" bIns="35718">
            <a:spAutoFit/>
          </a:bodyPr>
          <a:lstStyle>
            <a:lvl1pPr algn="ctr" defTabSz="580429">
              <a:defRPr sz="22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1pPr>
      <a:lvl2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2pPr>
      <a:lvl3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3pPr>
      <a:lvl4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4pPr>
      <a:lvl5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5pPr>
      <a:lvl6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6pPr>
      <a:lvl7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7pPr>
      <a:lvl8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8pPr>
      <a:lvl9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9pPr>
    </p:titleStyle>
    <p:bodyStyle>
      <a:lvl1pPr marL="274435" marR="40639" indent="-233795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60000"/>
        <a:buFontTx/>
        <a:buChar char="■"/>
        <a:tabLst/>
        <a:defRPr sz="3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1pPr>
      <a:lvl2pPr marL="723432" marR="40639" indent="-225592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sz="3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2pPr>
      <a:lvl3pPr marL="1156744" marR="40639" indent="-201705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sz="3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3pPr>
      <a:lvl4pPr marL="1657167" marR="40639" indent="-244928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sz="3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4pPr>
      <a:lvl5pPr marL="2114367" marR="40639" indent="-244928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sz="3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5pPr>
      <a:lvl6pPr marL="2114368" marR="40639" indent="-244928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sz="3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6pPr>
      <a:lvl7pPr marL="2114368" marR="40639" indent="-244928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sz="3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7pPr>
      <a:lvl8pPr marL="2114368" marR="40639" indent="-244928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sz="3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8pPr>
      <a:lvl9pPr marL="2114368" marR="40639" indent="-244928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sz="30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2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主要内容"/>
          <p:cNvSpPr txBox="1"/>
          <p:nvPr/>
        </p:nvSpPr>
        <p:spPr>
          <a:xfrm>
            <a:off x="874712" y="-57150"/>
            <a:ext cx="7048501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40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主要内容</a:t>
            </a:r>
          </a:p>
        </p:txBody>
      </p:sp>
      <p:sp>
        <p:nvSpPr>
          <p:cNvPr id="47" name="使用java的引用变量表示数据的先后关系…"/>
          <p:cNvSpPr txBox="1"/>
          <p:nvPr/>
        </p:nvSpPr>
        <p:spPr>
          <a:xfrm>
            <a:off x="669626" y="1005926"/>
            <a:ext cx="6926419" cy="3696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250657" indent="-250657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使用java的</a:t>
            </a:r>
            <a:r>
              <a:rPr>
                <a:solidFill>
                  <a:schemeClr val="accent1"/>
                </a:solidFill>
              </a:rPr>
              <a:t>引用变量</a:t>
            </a:r>
            <a:r>
              <a:t>表示数据的</a:t>
            </a:r>
            <a:r>
              <a:rPr>
                <a:solidFill>
                  <a:schemeClr val="accent1"/>
                </a:solidFill>
              </a:rPr>
              <a:t>先后关系</a:t>
            </a:r>
          </a:p>
          <a:p>
            <a:pPr marL="250657" indent="-250657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结点类</a:t>
            </a:r>
          </a:p>
          <a:p>
            <a:pPr marL="250657" indent="-250657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单(向)链表：用引用变量表示</a:t>
            </a:r>
            <a:r>
              <a:rPr>
                <a:solidFill>
                  <a:schemeClr val="accent1"/>
                </a:solidFill>
              </a:rPr>
              <a:t>后继</a:t>
            </a:r>
            <a:r>
              <a:t>关系的线性表</a:t>
            </a:r>
          </a:p>
          <a:p>
            <a:pPr marL="250657" indent="-250657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性能分析</a:t>
            </a:r>
          </a:p>
          <a:p>
            <a:pPr marL="250657" indent="-250657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带头结点的单(向)链表</a:t>
            </a:r>
          </a:p>
          <a:p>
            <a:pPr marL="250657" indent="-250657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循环单(向)链表</a:t>
            </a:r>
          </a:p>
          <a:p>
            <a:pPr marL="250657" indent="-250657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双向链表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表"/>
          <p:cNvSpPr txBox="1"/>
          <p:nvPr/>
        </p:nvSpPr>
        <p:spPr>
          <a:xfrm>
            <a:off x="874712" y="-57150"/>
            <a:ext cx="7048501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40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表</a:t>
            </a:r>
          </a:p>
        </p:txBody>
      </p:sp>
      <p:grpSp>
        <p:nvGrpSpPr>
          <p:cNvPr id="57" name="成组"/>
          <p:cNvGrpSpPr/>
          <p:nvPr/>
        </p:nvGrpSpPr>
        <p:grpSpPr>
          <a:xfrm>
            <a:off x="1430635" y="876497"/>
            <a:ext cx="5936655" cy="887414"/>
            <a:chOff x="0" y="0"/>
            <a:chExt cx="5936654" cy="887413"/>
          </a:xfrm>
        </p:grpSpPr>
        <p:sp>
          <p:nvSpPr>
            <p:cNvPr id="50" name="a0"/>
            <p:cNvSpPr/>
            <p:nvPr/>
          </p:nvSpPr>
          <p:spPr>
            <a:xfrm>
              <a:off x="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20000"/>
                </a:lnSpc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0</a:t>
              </a:r>
            </a:p>
          </p:txBody>
        </p:sp>
        <p:sp>
          <p:nvSpPr>
            <p:cNvPr id="51" name="a1"/>
            <p:cNvSpPr/>
            <p:nvPr/>
          </p:nvSpPr>
          <p:spPr>
            <a:xfrm>
              <a:off x="16383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20000"/>
                </a:lnSpc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1</a:t>
              </a:r>
            </a:p>
          </p:txBody>
        </p:sp>
        <p:sp>
          <p:nvSpPr>
            <p:cNvPr id="52" name="a2"/>
            <p:cNvSpPr/>
            <p:nvPr/>
          </p:nvSpPr>
          <p:spPr>
            <a:xfrm>
              <a:off x="33020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20000"/>
                </a:lnSpc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2</a:t>
              </a:r>
            </a:p>
          </p:txBody>
        </p:sp>
        <p:sp>
          <p:nvSpPr>
            <p:cNvPr id="53" name="a3"/>
            <p:cNvSpPr/>
            <p:nvPr/>
          </p:nvSpPr>
          <p:spPr>
            <a:xfrm>
              <a:off x="4953000" y="0"/>
              <a:ext cx="983655" cy="88741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20000"/>
                </a:lnSpc>
                <a:defRPr>
                  <a:latin typeface="Tahoma"/>
                  <a:ea typeface="Tahoma"/>
                  <a:cs typeface="Tahoma"/>
                  <a:sym typeface="Tahoma"/>
                </a:defRPr>
              </a:pPr>
              <a:r>
                <a:t>a</a:t>
              </a:r>
              <a:r>
                <a:rPr baseline="-5999"/>
                <a:t>3</a:t>
              </a:r>
            </a:p>
          </p:txBody>
        </p:sp>
        <p:sp>
          <p:nvSpPr>
            <p:cNvPr id="54" name="线条"/>
            <p:cNvSpPr/>
            <p:nvPr/>
          </p:nvSpPr>
          <p:spPr>
            <a:xfrm>
              <a:off x="9744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20000"/>
                </a:lnSpc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55" name="线条"/>
            <p:cNvSpPr/>
            <p:nvPr/>
          </p:nvSpPr>
          <p:spPr>
            <a:xfrm>
              <a:off x="26127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20000"/>
                </a:lnSpc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56" name="线条"/>
            <p:cNvSpPr/>
            <p:nvPr/>
          </p:nvSpPr>
          <p:spPr>
            <a:xfrm>
              <a:off x="4289127" y="469900"/>
              <a:ext cx="698005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20000"/>
                </a:lnSpc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58" name="前驱：a0是a1的前驱，a1是a2的前驱，a2是a3的前驱…"/>
          <p:cNvSpPr txBox="1"/>
          <p:nvPr/>
        </p:nvSpPr>
        <p:spPr>
          <a:xfrm>
            <a:off x="743063" y="1986837"/>
            <a:ext cx="7311799" cy="2128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rPr>
                <a:solidFill>
                  <a:schemeClr val="accent5"/>
                </a:solidFill>
              </a:rPr>
              <a:t>前驱</a:t>
            </a:r>
            <a:r>
              <a:t>：a</a:t>
            </a:r>
            <a:r>
              <a:rPr baseline="-5999"/>
              <a:t>0</a:t>
            </a:r>
            <a:r>
              <a:t>是a</a:t>
            </a:r>
            <a:r>
              <a:rPr baseline="-5999"/>
              <a:t>1</a:t>
            </a:r>
            <a:r>
              <a:t>的前驱，a</a:t>
            </a:r>
            <a:r>
              <a:rPr baseline="-5999"/>
              <a:t>1</a:t>
            </a:r>
            <a:r>
              <a:t>是a</a:t>
            </a:r>
            <a:r>
              <a:rPr baseline="-5999"/>
              <a:t>2</a:t>
            </a:r>
            <a:r>
              <a:t>的前驱，a</a:t>
            </a:r>
            <a:r>
              <a:rPr baseline="-5999"/>
              <a:t>2</a:t>
            </a:r>
            <a:r>
              <a:t>是a</a:t>
            </a:r>
            <a:r>
              <a:rPr baseline="-5999"/>
              <a:t>3</a:t>
            </a:r>
            <a:r>
              <a:t>的前驱</a:t>
            </a:r>
          </a:p>
          <a:p>
            <a:pPr>
              <a:lnSpc>
                <a:spcPct val="120000"/>
              </a:lnSpc>
            </a:pPr>
            <a:r>
              <a:rPr>
                <a:solidFill>
                  <a:schemeClr val="accent5">
                    <a:lumOff val="-8078"/>
                  </a:schemeClr>
                </a:solidFill>
              </a:rPr>
              <a:t>后继</a:t>
            </a:r>
            <a:r>
              <a:t>：a</a:t>
            </a:r>
            <a:r>
              <a:rPr baseline="-5999"/>
              <a:t>1</a:t>
            </a:r>
            <a:r>
              <a:t>是a</a:t>
            </a:r>
            <a:r>
              <a:rPr baseline="-5999"/>
              <a:t>0</a:t>
            </a:r>
            <a:r>
              <a:t>的后继，a</a:t>
            </a:r>
            <a:r>
              <a:rPr baseline="-5999"/>
              <a:t>2</a:t>
            </a:r>
            <a:r>
              <a:t>是a</a:t>
            </a:r>
            <a:r>
              <a:rPr baseline="-5999"/>
              <a:t>1</a:t>
            </a:r>
            <a:r>
              <a:t>的后继，a</a:t>
            </a:r>
            <a:r>
              <a:rPr baseline="-5999"/>
              <a:t>3</a:t>
            </a:r>
            <a:r>
              <a:t>是a</a:t>
            </a:r>
            <a:r>
              <a:rPr baseline="-5999"/>
              <a:t>2</a:t>
            </a:r>
            <a:r>
              <a:t>的后继</a:t>
            </a:r>
          </a:p>
          <a:p>
            <a:pPr>
              <a:lnSpc>
                <a:spcPct val="120000"/>
              </a:lnSpc>
            </a:pPr>
            <a:r>
              <a:rPr>
                <a:solidFill>
                  <a:schemeClr val="accent5">
                    <a:lumOff val="-8078"/>
                  </a:schemeClr>
                </a:solidFill>
              </a:rPr>
              <a:t>头：</a:t>
            </a:r>
            <a:r>
              <a:t>a</a:t>
            </a:r>
            <a:r>
              <a:rPr baseline="-5999"/>
              <a:t>0</a:t>
            </a:r>
            <a:r>
              <a:t>无前驱</a:t>
            </a:r>
          </a:p>
          <a:p>
            <a:pPr>
              <a:lnSpc>
                <a:spcPct val="120000"/>
              </a:lnSpc>
            </a:pPr>
            <a:r>
              <a:rPr>
                <a:solidFill>
                  <a:schemeClr val="accent5">
                    <a:lumOff val="-8078"/>
                  </a:schemeClr>
                </a:solidFill>
              </a:rPr>
              <a:t>尾：</a:t>
            </a:r>
            <a:r>
              <a:t> a</a:t>
            </a:r>
            <a:r>
              <a:rPr baseline="-5999"/>
              <a:t>3</a:t>
            </a:r>
            <a:r>
              <a:t>无后继。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复习-如何表达数据之间的关系"/>
          <p:cNvSpPr txBox="1"/>
          <p:nvPr/>
        </p:nvSpPr>
        <p:spPr>
          <a:xfrm>
            <a:off x="874712" y="6350"/>
            <a:ext cx="7048501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5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复习-如何表达数据之间的关系</a:t>
            </a:r>
          </a:p>
        </p:txBody>
      </p:sp>
      <p:sp>
        <p:nvSpPr>
          <p:cNvPr id="61" name="为了表示数据元素之间的关系，最直接的方法就是…"/>
          <p:cNvSpPr txBox="1"/>
          <p:nvPr/>
        </p:nvSpPr>
        <p:spPr>
          <a:xfrm>
            <a:off x="480660" y="835523"/>
            <a:ext cx="7099301" cy="1569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为了表示数据元素之间的关系，最直接的方法就是</a:t>
            </a:r>
          </a:p>
          <a:p>
            <a:pPr>
              <a:lnSpc>
                <a:spcPct val="120000"/>
              </a:lnSpc>
            </a:pPr>
            <a:r>
              <a:rPr>
                <a:solidFill>
                  <a:schemeClr val="accent1">
                    <a:lumOff val="-7647"/>
                  </a:schemeClr>
                </a:solidFill>
              </a:rPr>
              <a:t>修改</a:t>
            </a:r>
            <a:r>
              <a:t>数据元素的</a:t>
            </a:r>
            <a:r>
              <a:rPr>
                <a:solidFill>
                  <a:schemeClr val="accent1">
                    <a:lumOff val="-7647"/>
                  </a:schemeClr>
                </a:solidFill>
              </a:rPr>
              <a:t>定义</a:t>
            </a:r>
            <a:r>
              <a:t>，</a:t>
            </a:r>
            <a:r>
              <a:rPr>
                <a:solidFill>
                  <a:schemeClr val="accent1">
                    <a:lumOff val="-7647"/>
                  </a:schemeClr>
                </a:solidFill>
              </a:rPr>
              <a:t>增加</a:t>
            </a:r>
            <a:r>
              <a:t>一个</a:t>
            </a:r>
            <a:r>
              <a:rPr>
                <a:solidFill>
                  <a:schemeClr val="accent1">
                    <a:lumOff val="-7647"/>
                  </a:schemeClr>
                </a:solidFill>
              </a:rPr>
              <a:t>引用变量</a:t>
            </a:r>
            <a:r>
              <a:t>，</a:t>
            </a:r>
          </a:p>
          <a:p>
            <a:pPr>
              <a:lnSpc>
                <a:spcPct val="120000"/>
              </a:lnSpc>
            </a:pPr>
            <a:r>
              <a:t>用对象之间的</a:t>
            </a:r>
            <a:r>
              <a:rPr>
                <a:solidFill>
                  <a:schemeClr val="accent1">
                    <a:lumOff val="-7647"/>
                  </a:schemeClr>
                </a:solidFill>
              </a:rPr>
              <a:t>引用关系</a:t>
            </a:r>
            <a:r>
              <a:t>表达数据元素之间的关系。</a:t>
            </a:r>
          </a:p>
        </p:txBody>
      </p:sp>
      <p:sp>
        <p:nvSpPr>
          <p:cNvPr id="62" name="public class Student {…"/>
          <p:cNvSpPr txBox="1"/>
          <p:nvPr/>
        </p:nvSpPr>
        <p:spPr>
          <a:xfrm>
            <a:off x="4862889" y="2593661"/>
            <a:ext cx="3467647" cy="2459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000"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Student {</a:t>
            </a:r>
          </a:p>
          <a:p>
            <a:pPr>
              <a:lnSpc>
                <a:spcPct val="120000"/>
              </a:lnSpc>
              <a:defRPr sz="2000">
                <a:solidFill>
                  <a:srgbClr val="931A68"/>
                </a:solidFill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char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name</a:t>
            </a:r>
            <a:r>
              <a:rPr>
                <a:solidFill>
                  <a:srgbClr val="000000"/>
                </a:solidFill>
              </a:rPr>
              <a:t>[];</a:t>
            </a:r>
          </a:p>
          <a:p>
            <a:pPr>
              <a:lnSpc>
                <a:spcPct val="120000"/>
              </a:lnSpc>
              <a:defRPr sz="2000">
                <a:solidFill>
                  <a:srgbClr val="931A68"/>
                </a:solidFill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age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20000"/>
              </a:lnSpc>
              <a:defRPr sz="2000">
                <a:solidFill>
                  <a:srgbClr val="0326CC"/>
                </a:solidFill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float</a:t>
            </a:r>
            <a:r>
              <a:rPr>
                <a:solidFill>
                  <a:srgbClr val="000000"/>
                </a:solidFill>
              </a:rPr>
              <a:t> </a:t>
            </a:r>
            <a:r>
              <a:t>height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20000"/>
              </a:lnSpc>
              <a:defRPr sz="2000"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 u="sng"/>
              <a:t>Student </a:t>
            </a:r>
            <a:r>
              <a:rPr u="sng"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lnSpc>
                <a:spcPct val="120000"/>
              </a:lnSpc>
              <a:defRPr sz="2000"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  <p:sp>
        <p:nvSpPr>
          <p:cNvPr id="63" name="public class Student {…"/>
          <p:cNvSpPr txBox="1"/>
          <p:nvPr/>
        </p:nvSpPr>
        <p:spPr>
          <a:xfrm>
            <a:off x="903411" y="2593661"/>
            <a:ext cx="3467647" cy="2052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000"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Student {</a:t>
            </a:r>
          </a:p>
          <a:p>
            <a:pPr>
              <a:lnSpc>
                <a:spcPct val="120000"/>
              </a:lnSpc>
              <a:defRPr sz="2000">
                <a:solidFill>
                  <a:srgbClr val="931A68"/>
                </a:solidFill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char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name</a:t>
            </a:r>
            <a:r>
              <a:rPr>
                <a:solidFill>
                  <a:srgbClr val="000000"/>
                </a:solidFill>
              </a:rPr>
              <a:t>[];</a:t>
            </a:r>
          </a:p>
          <a:p>
            <a:pPr>
              <a:lnSpc>
                <a:spcPct val="120000"/>
              </a:lnSpc>
              <a:defRPr sz="2000">
                <a:solidFill>
                  <a:srgbClr val="931A68"/>
                </a:solidFill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age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20000"/>
              </a:lnSpc>
              <a:defRPr sz="2000">
                <a:solidFill>
                  <a:srgbClr val="0326CC"/>
                </a:solidFill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float</a:t>
            </a:r>
            <a:r>
              <a:rPr>
                <a:solidFill>
                  <a:srgbClr val="000000"/>
                </a:solidFill>
              </a:rPr>
              <a:t> </a:t>
            </a:r>
            <a:r>
              <a:t>height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20000"/>
              </a:lnSpc>
              <a:defRPr sz="2000"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复习-如何表达数据之间的关系"/>
          <p:cNvSpPr txBox="1"/>
          <p:nvPr/>
        </p:nvSpPr>
        <p:spPr>
          <a:xfrm>
            <a:off x="874712" y="6350"/>
            <a:ext cx="7048501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5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复习-如何表达数据之间的关系</a:t>
            </a:r>
          </a:p>
        </p:txBody>
      </p:sp>
      <p:grpSp>
        <p:nvGrpSpPr>
          <p:cNvPr id="92" name="成组"/>
          <p:cNvGrpSpPr/>
          <p:nvPr/>
        </p:nvGrpSpPr>
        <p:grpSpPr>
          <a:xfrm>
            <a:off x="918904" y="1220350"/>
            <a:ext cx="7377335" cy="2052229"/>
            <a:chOff x="0" y="0"/>
            <a:chExt cx="7377333" cy="2052228"/>
          </a:xfrm>
        </p:grpSpPr>
        <p:grpSp>
          <p:nvGrpSpPr>
            <p:cNvPr id="70" name="成组"/>
            <p:cNvGrpSpPr/>
            <p:nvPr/>
          </p:nvGrpSpPr>
          <p:grpSpPr>
            <a:xfrm>
              <a:off x="2253100" y="0"/>
              <a:ext cx="999530" cy="1536898"/>
              <a:chOff x="0" y="0"/>
              <a:chExt cx="999529" cy="1536897"/>
            </a:xfrm>
          </p:grpSpPr>
          <p:sp>
            <p:nvSpPr>
              <p:cNvPr id="66" name="云飞扬"/>
              <p:cNvSpPr/>
              <p:nvPr/>
            </p:nvSpPr>
            <p:spPr>
              <a:xfrm>
                <a:off x="0" y="0"/>
                <a:ext cx="999530" cy="389207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7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云飞扬</a:t>
                </a:r>
              </a:p>
            </p:txBody>
          </p:sp>
          <p:sp>
            <p:nvSpPr>
              <p:cNvPr id="67" name="17"/>
              <p:cNvSpPr/>
              <p:nvPr/>
            </p:nvSpPr>
            <p:spPr>
              <a:xfrm>
                <a:off x="0" y="382563"/>
                <a:ext cx="999530" cy="389208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17</a:t>
                </a:r>
              </a:p>
            </p:txBody>
          </p:sp>
          <p:sp>
            <p:nvSpPr>
              <p:cNvPr id="68" name="181"/>
              <p:cNvSpPr/>
              <p:nvPr/>
            </p:nvSpPr>
            <p:spPr>
              <a:xfrm>
                <a:off x="0" y="765127"/>
                <a:ext cx="999530" cy="389207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181</a:t>
                </a:r>
              </a:p>
            </p:txBody>
          </p:sp>
          <p:sp>
            <p:nvSpPr>
              <p:cNvPr id="69" name="矩形"/>
              <p:cNvSpPr/>
              <p:nvPr/>
            </p:nvSpPr>
            <p:spPr>
              <a:xfrm>
                <a:off x="0" y="1147691"/>
                <a:ext cx="999530" cy="389207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75" name="成组"/>
            <p:cNvGrpSpPr/>
            <p:nvPr/>
          </p:nvGrpSpPr>
          <p:grpSpPr>
            <a:xfrm>
              <a:off x="4230844" y="0"/>
              <a:ext cx="999531" cy="1536898"/>
              <a:chOff x="0" y="0"/>
              <a:chExt cx="999529" cy="1536897"/>
            </a:xfrm>
          </p:grpSpPr>
          <p:sp>
            <p:nvSpPr>
              <p:cNvPr id="71" name="浪淘沙"/>
              <p:cNvSpPr/>
              <p:nvPr/>
            </p:nvSpPr>
            <p:spPr>
              <a:xfrm>
                <a:off x="0" y="0"/>
                <a:ext cx="999530" cy="389207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7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浪淘沙</a:t>
                </a:r>
              </a:p>
            </p:txBody>
          </p:sp>
          <p:sp>
            <p:nvSpPr>
              <p:cNvPr id="72" name="18"/>
              <p:cNvSpPr/>
              <p:nvPr/>
            </p:nvSpPr>
            <p:spPr>
              <a:xfrm>
                <a:off x="0" y="382563"/>
                <a:ext cx="999530" cy="389208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18</a:t>
                </a:r>
              </a:p>
            </p:txBody>
          </p:sp>
          <p:sp>
            <p:nvSpPr>
              <p:cNvPr id="73" name="170"/>
              <p:cNvSpPr/>
              <p:nvPr/>
            </p:nvSpPr>
            <p:spPr>
              <a:xfrm>
                <a:off x="0" y="765127"/>
                <a:ext cx="999530" cy="389207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170</a:t>
                </a:r>
              </a:p>
            </p:txBody>
          </p:sp>
          <p:sp>
            <p:nvSpPr>
              <p:cNvPr id="74" name="矩形"/>
              <p:cNvSpPr/>
              <p:nvPr/>
            </p:nvSpPr>
            <p:spPr>
              <a:xfrm>
                <a:off x="0" y="1147691"/>
                <a:ext cx="999530" cy="389207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83" name="成组"/>
            <p:cNvGrpSpPr/>
            <p:nvPr/>
          </p:nvGrpSpPr>
          <p:grpSpPr>
            <a:xfrm>
              <a:off x="6123914" y="0"/>
              <a:ext cx="999531" cy="1536898"/>
              <a:chOff x="0" y="0"/>
              <a:chExt cx="999529" cy="1536897"/>
            </a:xfrm>
          </p:grpSpPr>
          <p:sp>
            <p:nvSpPr>
              <p:cNvPr id="76" name="万山红"/>
              <p:cNvSpPr/>
              <p:nvPr/>
            </p:nvSpPr>
            <p:spPr>
              <a:xfrm>
                <a:off x="0" y="0"/>
                <a:ext cx="999530" cy="389207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7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万山红</a:t>
                </a:r>
              </a:p>
            </p:txBody>
          </p:sp>
          <p:sp>
            <p:nvSpPr>
              <p:cNvPr id="77" name="17"/>
              <p:cNvSpPr/>
              <p:nvPr/>
            </p:nvSpPr>
            <p:spPr>
              <a:xfrm>
                <a:off x="0" y="382563"/>
                <a:ext cx="999530" cy="389208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17</a:t>
                </a:r>
              </a:p>
            </p:txBody>
          </p:sp>
          <p:sp>
            <p:nvSpPr>
              <p:cNvPr id="78" name="165"/>
              <p:cNvSpPr/>
              <p:nvPr/>
            </p:nvSpPr>
            <p:spPr>
              <a:xfrm>
                <a:off x="0" y="765127"/>
                <a:ext cx="999530" cy="389207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165</a:t>
                </a:r>
              </a:p>
            </p:txBody>
          </p:sp>
          <p:sp>
            <p:nvSpPr>
              <p:cNvPr id="79" name="矩形"/>
              <p:cNvSpPr/>
              <p:nvPr/>
            </p:nvSpPr>
            <p:spPr>
              <a:xfrm>
                <a:off x="0" y="1147691"/>
                <a:ext cx="999530" cy="389207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grpSp>
            <p:nvGrpSpPr>
              <p:cNvPr id="82" name="成组"/>
              <p:cNvGrpSpPr/>
              <p:nvPr/>
            </p:nvGrpSpPr>
            <p:grpSpPr>
              <a:xfrm>
                <a:off x="0" y="1147691"/>
                <a:ext cx="152401" cy="228601"/>
                <a:chOff x="0" y="0"/>
                <a:chExt cx="152399" cy="228600"/>
              </a:xfrm>
            </p:grpSpPr>
            <p:sp>
              <p:nvSpPr>
                <p:cNvPr id="80" name="线条"/>
                <p:cNvSpPr/>
                <p:nvPr/>
              </p:nvSpPr>
              <p:spPr>
                <a:xfrm flipH="1">
                  <a:off x="0" y="-1"/>
                  <a:ext cx="76201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  <p:sp>
              <p:nvSpPr>
                <p:cNvPr id="81" name="线条"/>
                <p:cNvSpPr/>
                <p:nvPr/>
              </p:nvSpPr>
              <p:spPr>
                <a:xfrm>
                  <a:off x="76200" y="-1"/>
                  <a:ext cx="76201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</p:grpSp>
        </p:grpSp>
        <p:sp>
          <p:nvSpPr>
            <p:cNvPr id="84" name="矩形"/>
            <p:cNvSpPr/>
            <p:nvPr/>
          </p:nvSpPr>
          <p:spPr>
            <a:xfrm>
              <a:off x="0" y="94859"/>
              <a:ext cx="999530" cy="389208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3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85" name="students"/>
            <p:cNvSpPr/>
            <p:nvPr/>
          </p:nvSpPr>
          <p:spPr>
            <a:xfrm>
              <a:off x="0" y="510191"/>
              <a:ext cx="999530" cy="38920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defTabSz="914400">
                <a:spcBef>
                  <a:spcPts val="13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students</a:t>
              </a:r>
            </a:p>
          </p:txBody>
        </p:sp>
        <p:sp>
          <p:nvSpPr>
            <p:cNvPr id="86" name="s1"/>
            <p:cNvSpPr/>
            <p:nvPr/>
          </p:nvSpPr>
          <p:spPr>
            <a:xfrm>
              <a:off x="2416581" y="1574907"/>
              <a:ext cx="999531" cy="38920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3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pPr>
              <a:r>
                <a:t>s</a:t>
              </a:r>
              <a:r>
                <a:rPr baseline="-5999"/>
                <a:t>1</a:t>
              </a:r>
            </a:p>
          </p:txBody>
        </p:sp>
        <p:sp>
          <p:nvSpPr>
            <p:cNvPr id="87" name="s2"/>
            <p:cNvSpPr/>
            <p:nvPr/>
          </p:nvSpPr>
          <p:spPr>
            <a:xfrm>
              <a:off x="4590581" y="1663022"/>
              <a:ext cx="999530" cy="38920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3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pPr>
              <a:r>
                <a:t>s</a:t>
              </a:r>
              <a:r>
                <a:rPr baseline="-5999"/>
                <a:t>2</a:t>
              </a:r>
            </a:p>
          </p:txBody>
        </p:sp>
        <p:sp>
          <p:nvSpPr>
            <p:cNvPr id="88" name="s3"/>
            <p:cNvSpPr/>
            <p:nvPr/>
          </p:nvSpPr>
          <p:spPr>
            <a:xfrm>
              <a:off x="6377804" y="1663022"/>
              <a:ext cx="999530" cy="38920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3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pPr>
              <a:r>
                <a:t>s</a:t>
              </a:r>
              <a:r>
                <a:rPr baseline="-5999"/>
                <a:t>3</a:t>
              </a:r>
            </a:p>
          </p:txBody>
        </p:sp>
        <p:sp>
          <p:nvSpPr>
            <p:cNvPr id="89" name="线条"/>
            <p:cNvSpPr/>
            <p:nvPr/>
          </p:nvSpPr>
          <p:spPr>
            <a:xfrm>
              <a:off x="3123828" y="1369221"/>
              <a:ext cx="1088232" cy="1"/>
            </a:xfrm>
            <a:prstGeom prst="line">
              <a:avLst/>
            </a:prstGeom>
            <a:noFill/>
            <a:ln w="25400" cap="flat">
              <a:solidFill>
                <a:srgbClr val="1781FB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R="40639" indent="57798" algn="ctr" defTabSz="910828">
                <a:defRPr sz="40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0" name="线条"/>
            <p:cNvSpPr/>
            <p:nvPr/>
          </p:nvSpPr>
          <p:spPr>
            <a:xfrm>
              <a:off x="5012637" y="1369221"/>
              <a:ext cx="1088232" cy="1"/>
            </a:xfrm>
            <a:prstGeom prst="line">
              <a:avLst/>
            </a:prstGeom>
            <a:noFill/>
            <a:ln w="25400" cap="flat">
              <a:solidFill>
                <a:srgbClr val="1781FB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R="40639" indent="57798" algn="ctr" defTabSz="910828">
                <a:defRPr sz="40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1" name="线条"/>
            <p:cNvSpPr/>
            <p:nvPr/>
          </p:nvSpPr>
          <p:spPr>
            <a:xfrm>
              <a:off x="855559" y="289462"/>
              <a:ext cx="1397316" cy="1"/>
            </a:xfrm>
            <a:prstGeom prst="line">
              <a:avLst/>
            </a:prstGeom>
            <a:noFill/>
            <a:ln w="25400" cap="flat">
              <a:solidFill>
                <a:srgbClr val="1781FB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R="40639" indent="57798" algn="ctr" defTabSz="910828">
                <a:defRPr sz="40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93" name="用箭头表示对象之间的引用关系"/>
          <p:cNvSpPr txBox="1"/>
          <p:nvPr/>
        </p:nvSpPr>
        <p:spPr>
          <a:xfrm>
            <a:off x="778201" y="3378200"/>
            <a:ext cx="45593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t>用箭头表示对象之间的引用关系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lass Node{…"/>
          <p:cNvSpPr txBox="1"/>
          <p:nvPr/>
        </p:nvSpPr>
        <p:spPr>
          <a:xfrm>
            <a:off x="3585783" y="863797"/>
            <a:ext cx="2171961" cy="150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100"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class</a:t>
            </a:r>
            <a:r>
              <a:t> Node{</a:t>
            </a:r>
          </a:p>
          <a:p>
            <a:pPr>
              <a:defRPr sz="2100"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t>	Student </a:t>
            </a:r>
            <a:r>
              <a:rPr>
                <a:solidFill>
                  <a:srgbClr val="0326CC"/>
                </a:solidFill>
              </a:rPr>
              <a:t>s</a:t>
            </a:r>
            <a:r>
              <a:t>;</a:t>
            </a:r>
          </a:p>
          <a:p>
            <a:pPr>
              <a:defRPr sz="2100"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t>	Node 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2100"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  <p:sp>
        <p:nvSpPr>
          <p:cNvPr id="96" name="引入新的类Node:"/>
          <p:cNvSpPr txBox="1"/>
          <p:nvPr/>
        </p:nvSpPr>
        <p:spPr>
          <a:xfrm>
            <a:off x="180669" y="924218"/>
            <a:ext cx="299104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40640" marR="40640" defTabSz="914400">
              <a:spcBef>
                <a:spcPts val="13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引入新的类Node:</a:t>
            </a:r>
          </a:p>
        </p:txBody>
      </p:sp>
      <p:sp>
        <p:nvSpPr>
          <p:cNvPr id="97" name="由于引入变量next的存在，Node的对象之间存在引用关系"/>
          <p:cNvSpPr txBox="1"/>
          <p:nvPr/>
        </p:nvSpPr>
        <p:spPr>
          <a:xfrm>
            <a:off x="990" y="2613609"/>
            <a:ext cx="9005006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40640" marR="40640" defTabSz="914400">
              <a:spcBef>
                <a:spcPts val="13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由于引入变量next的存在，Node的对象之间存在引用关系</a:t>
            </a:r>
          </a:p>
        </p:txBody>
      </p:sp>
      <p:sp>
        <p:nvSpPr>
          <p:cNvPr id="98" name="复习-如何表达数据之间的关系"/>
          <p:cNvSpPr txBox="1"/>
          <p:nvPr/>
        </p:nvSpPr>
        <p:spPr>
          <a:xfrm>
            <a:off x="874712" y="6350"/>
            <a:ext cx="7048501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5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复习-如何表达数据之间的关系</a:t>
            </a:r>
          </a:p>
        </p:txBody>
      </p:sp>
      <p:grpSp>
        <p:nvGrpSpPr>
          <p:cNvPr id="115" name="成组"/>
          <p:cNvGrpSpPr/>
          <p:nvPr/>
        </p:nvGrpSpPr>
        <p:grpSpPr>
          <a:xfrm>
            <a:off x="871159" y="3772567"/>
            <a:ext cx="7247460" cy="922340"/>
            <a:chOff x="0" y="0"/>
            <a:chExt cx="7247458" cy="922338"/>
          </a:xfrm>
        </p:grpSpPr>
        <p:sp>
          <p:nvSpPr>
            <p:cNvPr id="99" name="矩形"/>
            <p:cNvSpPr/>
            <p:nvPr/>
          </p:nvSpPr>
          <p:spPr>
            <a:xfrm>
              <a:off x="0" y="12618"/>
              <a:ext cx="999530" cy="465139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3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02" name="成组"/>
            <p:cNvGrpSpPr/>
            <p:nvPr/>
          </p:nvGrpSpPr>
          <p:grpSpPr>
            <a:xfrm>
              <a:off x="2456358" y="0"/>
              <a:ext cx="999531" cy="922339"/>
              <a:chOff x="0" y="0"/>
              <a:chExt cx="999529" cy="922338"/>
            </a:xfrm>
          </p:grpSpPr>
          <p:sp>
            <p:nvSpPr>
              <p:cNvPr id="100" name="矩形"/>
              <p:cNvSpPr/>
              <p:nvPr/>
            </p:nvSpPr>
            <p:spPr>
              <a:xfrm>
                <a:off x="0" y="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01" name="矩形"/>
              <p:cNvSpPr/>
              <p:nvPr/>
            </p:nvSpPr>
            <p:spPr>
              <a:xfrm>
                <a:off x="0" y="45720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105" name="成组"/>
            <p:cNvGrpSpPr/>
            <p:nvPr/>
          </p:nvGrpSpPr>
          <p:grpSpPr>
            <a:xfrm>
              <a:off x="4364844" y="0"/>
              <a:ext cx="999530" cy="922339"/>
              <a:chOff x="0" y="0"/>
              <a:chExt cx="999529" cy="922338"/>
            </a:xfrm>
          </p:grpSpPr>
          <p:sp>
            <p:nvSpPr>
              <p:cNvPr id="103" name="矩形"/>
              <p:cNvSpPr/>
              <p:nvPr/>
            </p:nvSpPr>
            <p:spPr>
              <a:xfrm>
                <a:off x="0" y="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04" name="矩形"/>
              <p:cNvSpPr/>
              <p:nvPr/>
            </p:nvSpPr>
            <p:spPr>
              <a:xfrm>
                <a:off x="0" y="45720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111" name="成组"/>
            <p:cNvGrpSpPr/>
            <p:nvPr/>
          </p:nvGrpSpPr>
          <p:grpSpPr>
            <a:xfrm>
              <a:off x="6247929" y="0"/>
              <a:ext cx="999530" cy="922339"/>
              <a:chOff x="0" y="0"/>
              <a:chExt cx="999529" cy="922338"/>
            </a:xfrm>
          </p:grpSpPr>
          <p:sp>
            <p:nvSpPr>
              <p:cNvPr id="106" name="矩形"/>
              <p:cNvSpPr/>
              <p:nvPr/>
            </p:nvSpPr>
            <p:spPr>
              <a:xfrm>
                <a:off x="0" y="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07" name="矩形"/>
              <p:cNvSpPr/>
              <p:nvPr/>
            </p:nvSpPr>
            <p:spPr>
              <a:xfrm>
                <a:off x="0" y="45720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grpSp>
            <p:nvGrpSpPr>
              <p:cNvPr id="110" name="成组"/>
              <p:cNvGrpSpPr/>
              <p:nvPr/>
            </p:nvGrpSpPr>
            <p:grpSpPr>
              <a:xfrm>
                <a:off x="0" y="457199"/>
                <a:ext cx="152401" cy="228602"/>
                <a:chOff x="0" y="0"/>
                <a:chExt cx="152399" cy="228600"/>
              </a:xfrm>
            </p:grpSpPr>
            <p:sp>
              <p:nvSpPr>
                <p:cNvPr id="108" name="线条"/>
                <p:cNvSpPr/>
                <p:nvPr/>
              </p:nvSpPr>
              <p:spPr>
                <a:xfrm flipH="1">
                  <a:off x="0" y="-1"/>
                  <a:ext cx="76201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  <p:sp>
              <p:nvSpPr>
                <p:cNvPr id="109" name="线条"/>
                <p:cNvSpPr/>
                <p:nvPr/>
              </p:nvSpPr>
              <p:spPr>
                <a:xfrm>
                  <a:off x="76200" y="-1"/>
                  <a:ext cx="76201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</p:grpSp>
        </p:grpSp>
        <p:sp>
          <p:nvSpPr>
            <p:cNvPr id="112" name="线条"/>
            <p:cNvSpPr/>
            <p:nvPr/>
          </p:nvSpPr>
          <p:spPr>
            <a:xfrm>
              <a:off x="2979553" y="685749"/>
              <a:ext cx="1360259" cy="1"/>
            </a:xfrm>
            <a:prstGeom prst="line">
              <a:avLst/>
            </a:prstGeom>
            <a:noFill/>
            <a:ln w="25400" cap="flat">
              <a:solidFill>
                <a:srgbClr val="1781FB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R="40639" indent="57798" algn="ctr" defTabSz="910828">
                <a:defRPr sz="40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3" name="线条"/>
            <p:cNvSpPr/>
            <p:nvPr/>
          </p:nvSpPr>
          <p:spPr>
            <a:xfrm>
              <a:off x="4907954" y="660349"/>
              <a:ext cx="1360259" cy="1"/>
            </a:xfrm>
            <a:prstGeom prst="line">
              <a:avLst/>
            </a:prstGeom>
            <a:noFill/>
            <a:ln w="25400" cap="flat">
              <a:solidFill>
                <a:srgbClr val="1781FB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R="40639" indent="57798" algn="ctr" defTabSz="910828">
                <a:defRPr sz="40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4" name="线条"/>
            <p:cNvSpPr/>
            <p:nvPr/>
          </p:nvSpPr>
          <p:spPr>
            <a:xfrm>
              <a:off x="586378" y="241249"/>
              <a:ext cx="1825033" cy="1"/>
            </a:xfrm>
            <a:prstGeom prst="line">
              <a:avLst/>
            </a:prstGeom>
            <a:noFill/>
            <a:ln w="25400" cap="flat">
              <a:solidFill>
                <a:srgbClr val="1781FB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R="40639" indent="57798" algn="ctr" defTabSz="910828">
                <a:defRPr sz="40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成组"/>
          <p:cNvGrpSpPr/>
          <p:nvPr/>
        </p:nvGrpSpPr>
        <p:grpSpPr>
          <a:xfrm>
            <a:off x="870720" y="2105221"/>
            <a:ext cx="7247460" cy="3081110"/>
            <a:chOff x="0" y="0"/>
            <a:chExt cx="7247458" cy="3081109"/>
          </a:xfrm>
        </p:grpSpPr>
        <p:grpSp>
          <p:nvGrpSpPr>
            <p:cNvPr id="120" name="成组"/>
            <p:cNvGrpSpPr/>
            <p:nvPr/>
          </p:nvGrpSpPr>
          <p:grpSpPr>
            <a:xfrm>
              <a:off x="2463115" y="0"/>
              <a:ext cx="999530" cy="1379539"/>
              <a:chOff x="0" y="0"/>
              <a:chExt cx="999529" cy="1379538"/>
            </a:xfrm>
          </p:grpSpPr>
          <p:sp>
            <p:nvSpPr>
              <p:cNvPr id="117" name="云飞扬"/>
              <p:cNvSpPr/>
              <p:nvPr/>
            </p:nvSpPr>
            <p:spPr>
              <a:xfrm>
                <a:off x="0" y="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云飞扬</a:t>
                </a:r>
              </a:p>
            </p:txBody>
          </p:sp>
          <p:sp>
            <p:nvSpPr>
              <p:cNvPr id="118" name="17"/>
              <p:cNvSpPr/>
              <p:nvPr/>
            </p:nvSpPr>
            <p:spPr>
              <a:xfrm>
                <a:off x="0" y="45720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17</a:t>
                </a:r>
              </a:p>
            </p:txBody>
          </p:sp>
          <p:sp>
            <p:nvSpPr>
              <p:cNvPr id="119" name="181"/>
              <p:cNvSpPr/>
              <p:nvPr/>
            </p:nvSpPr>
            <p:spPr>
              <a:xfrm>
                <a:off x="0" y="91440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181</a:t>
                </a:r>
              </a:p>
            </p:txBody>
          </p:sp>
        </p:grpSp>
        <p:sp>
          <p:nvSpPr>
            <p:cNvPr id="121" name="矩形"/>
            <p:cNvSpPr/>
            <p:nvPr/>
          </p:nvSpPr>
          <p:spPr>
            <a:xfrm>
              <a:off x="0" y="2171388"/>
              <a:ext cx="999530" cy="46514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defTabSz="914400">
                <a:spcBef>
                  <a:spcPts val="13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24" name="成组"/>
            <p:cNvGrpSpPr/>
            <p:nvPr/>
          </p:nvGrpSpPr>
          <p:grpSpPr>
            <a:xfrm>
              <a:off x="2456358" y="2158770"/>
              <a:ext cx="999531" cy="922340"/>
              <a:chOff x="0" y="0"/>
              <a:chExt cx="999529" cy="922338"/>
            </a:xfrm>
          </p:grpSpPr>
          <p:sp>
            <p:nvSpPr>
              <p:cNvPr id="122" name="矩形"/>
              <p:cNvSpPr/>
              <p:nvPr/>
            </p:nvSpPr>
            <p:spPr>
              <a:xfrm>
                <a:off x="0" y="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3" name="矩形"/>
              <p:cNvSpPr/>
              <p:nvPr/>
            </p:nvSpPr>
            <p:spPr>
              <a:xfrm>
                <a:off x="0" y="45720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127" name="成组"/>
            <p:cNvGrpSpPr/>
            <p:nvPr/>
          </p:nvGrpSpPr>
          <p:grpSpPr>
            <a:xfrm>
              <a:off x="4364844" y="2158770"/>
              <a:ext cx="999530" cy="922340"/>
              <a:chOff x="0" y="0"/>
              <a:chExt cx="999529" cy="922338"/>
            </a:xfrm>
          </p:grpSpPr>
          <p:sp>
            <p:nvSpPr>
              <p:cNvPr id="125" name="矩形"/>
              <p:cNvSpPr/>
              <p:nvPr/>
            </p:nvSpPr>
            <p:spPr>
              <a:xfrm>
                <a:off x="0" y="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6" name="矩形"/>
              <p:cNvSpPr/>
              <p:nvPr/>
            </p:nvSpPr>
            <p:spPr>
              <a:xfrm>
                <a:off x="0" y="45720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133" name="成组"/>
            <p:cNvGrpSpPr/>
            <p:nvPr/>
          </p:nvGrpSpPr>
          <p:grpSpPr>
            <a:xfrm>
              <a:off x="6247929" y="2158770"/>
              <a:ext cx="999530" cy="922340"/>
              <a:chOff x="0" y="0"/>
              <a:chExt cx="999529" cy="922338"/>
            </a:xfrm>
          </p:grpSpPr>
          <p:sp>
            <p:nvSpPr>
              <p:cNvPr id="128" name="矩形"/>
              <p:cNvSpPr/>
              <p:nvPr/>
            </p:nvSpPr>
            <p:spPr>
              <a:xfrm>
                <a:off x="0" y="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9" name="矩形"/>
              <p:cNvSpPr/>
              <p:nvPr/>
            </p:nvSpPr>
            <p:spPr>
              <a:xfrm>
                <a:off x="0" y="45720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grpSp>
            <p:nvGrpSpPr>
              <p:cNvPr id="132" name="成组"/>
              <p:cNvGrpSpPr/>
              <p:nvPr/>
            </p:nvGrpSpPr>
            <p:grpSpPr>
              <a:xfrm>
                <a:off x="0" y="457199"/>
                <a:ext cx="152401" cy="228602"/>
                <a:chOff x="0" y="0"/>
                <a:chExt cx="152399" cy="228600"/>
              </a:xfrm>
            </p:grpSpPr>
            <p:sp>
              <p:nvSpPr>
                <p:cNvPr id="130" name="线条"/>
                <p:cNvSpPr/>
                <p:nvPr/>
              </p:nvSpPr>
              <p:spPr>
                <a:xfrm flipH="1">
                  <a:off x="0" y="-1"/>
                  <a:ext cx="76201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  <p:sp>
              <p:nvSpPr>
                <p:cNvPr id="131" name="线条"/>
                <p:cNvSpPr/>
                <p:nvPr/>
              </p:nvSpPr>
              <p:spPr>
                <a:xfrm>
                  <a:off x="76200" y="-1"/>
                  <a:ext cx="76201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</p:grpSp>
        </p:grpSp>
        <p:sp>
          <p:nvSpPr>
            <p:cNvPr id="134" name="线条"/>
            <p:cNvSpPr/>
            <p:nvPr/>
          </p:nvSpPr>
          <p:spPr>
            <a:xfrm>
              <a:off x="2979554" y="2844519"/>
              <a:ext cx="1360258" cy="1"/>
            </a:xfrm>
            <a:prstGeom prst="line">
              <a:avLst/>
            </a:prstGeom>
            <a:noFill/>
            <a:ln w="25400" cap="flat">
              <a:solidFill>
                <a:srgbClr val="1781FB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R="40639" indent="57798" algn="ctr" defTabSz="910828">
                <a:defRPr sz="40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5" name="线条"/>
            <p:cNvSpPr/>
            <p:nvPr/>
          </p:nvSpPr>
          <p:spPr>
            <a:xfrm>
              <a:off x="4907954" y="2819119"/>
              <a:ext cx="1360259" cy="1"/>
            </a:xfrm>
            <a:prstGeom prst="line">
              <a:avLst/>
            </a:prstGeom>
            <a:noFill/>
            <a:ln w="25400" cap="flat">
              <a:solidFill>
                <a:srgbClr val="1781FB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R="40639" indent="57798" algn="ctr" defTabSz="910828">
                <a:defRPr sz="40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6" name="线条"/>
            <p:cNvSpPr/>
            <p:nvPr/>
          </p:nvSpPr>
          <p:spPr>
            <a:xfrm>
              <a:off x="586378" y="2400019"/>
              <a:ext cx="1825033" cy="1"/>
            </a:xfrm>
            <a:prstGeom prst="line">
              <a:avLst/>
            </a:prstGeom>
            <a:noFill/>
            <a:ln w="25400" cap="flat">
              <a:solidFill>
                <a:srgbClr val="1781FB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R="40639" indent="57798" algn="ctr" defTabSz="910828">
                <a:defRPr sz="40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7" name="线条"/>
            <p:cNvSpPr/>
            <p:nvPr/>
          </p:nvSpPr>
          <p:spPr>
            <a:xfrm flipV="1">
              <a:off x="2934484" y="1402204"/>
              <a:ext cx="1" cy="1022043"/>
            </a:xfrm>
            <a:prstGeom prst="line">
              <a:avLst/>
            </a:prstGeom>
            <a:noFill/>
            <a:ln w="25400" cap="flat">
              <a:solidFill>
                <a:srgbClr val="E44545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R="40639" indent="57798" algn="ctr" defTabSz="910828">
                <a:defRPr sz="40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8" name="线条"/>
            <p:cNvSpPr/>
            <p:nvPr/>
          </p:nvSpPr>
          <p:spPr>
            <a:xfrm flipV="1">
              <a:off x="4833191" y="1402204"/>
              <a:ext cx="1" cy="1022043"/>
            </a:xfrm>
            <a:prstGeom prst="line">
              <a:avLst/>
            </a:prstGeom>
            <a:noFill/>
            <a:ln w="25400" cap="flat">
              <a:solidFill>
                <a:srgbClr val="E44545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R="40639" indent="57798" algn="ctr" defTabSz="910828">
                <a:defRPr sz="40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9" name="线条"/>
            <p:cNvSpPr/>
            <p:nvPr/>
          </p:nvSpPr>
          <p:spPr>
            <a:xfrm flipV="1">
              <a:off x="6727236" y="1402204"/>
              <a:ext cx="1" cy="1022043"/>
            </a:xfrm>
            <a:prstGeom prst="line">
              <a:avLst/>
            </a:prstGeom>
            <a:noFill/>
            <a:ln w="25400" cap="flat">
              <a:solidFill>
                <a:srgbClr val="E44545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R="40639" indent="57798" algn="ctr" defTabSz="910828">
                <a:defRPr sz="40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43" name="成组"/>
            <p:cNvGrpSpPr/>
            <p:nvPr/>
          </p:nvGrpSpPr>
          <p:grpSpPr>
            <a:xfrm>
              <a:off x="4346200" y="0"/>
              <a:ext cx="999531" cy="1379539"/>
              <a:chOff x="0" y="0"/>
              <a:chExt cx="999529" cy="1379538"/>
            </a:xfrm>
          </p:grpSpPr>
          <p:sp>
            <p:nvSpPr>
              <p:cNvPr id="140" name="浪淘沙"/>
              <p:cNvSpPr/>
              <p:nvPr/>
            </p:nvSpPr>
            <p:spPr>
              <a:xfrm>
                <a:off x="0" y="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浪淘沙</a:t>
                </a:r>
              </a:p>
            </p:txBody>
          </p:sp>
          <p:sp>
            <p:nvSpPr>
              <p:cNvPr id="141" name="18"/>
              <p:cNvSpPr/>
              <p:nvPr/>
            </p:nvSpPr>
            <p:spPr>
              <a:xfrm>
                <a:off x="0" y="45720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18</a:t>
                </a:r>
              </a:p>
            </p:txBody>
          </p:sp>
          <p:sp>
            <p:nvSpPr>
              <p:cNvPr id="142" name="170"/>
              <p:cNvSpPr/>
              <p:nvPr/>
            </p:nvSpPr>
            <p:spPr>
              <a:xfrm>
                <a:off x="0" y="91440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170</a:t>
                </a:r>
              </a:p>
            </p:txBody>
          </p:sp>
        </p:grpSp>
        <p:grpSp>
          <p:nvGrpSpPr>
            <p:cNvPr id="147" name="成组"/>
            <p:cNvGrpSpPr/>
            <p:nvPr/>
          </p:nvGrpSpPr>
          <p:grpSpPr>
            <a:xfrm>
              <a:off x="6229286" y="0"/>
              <a:ext cx="999530" cy="1379539"/>
              <a:chOff x="0" y="0"/>
              <a:chExt cx="999529" cy="1379538"/>
            </a:xfrm>
          </p:grpSpPr>
          <p:sp>
            <p:nvSpPr>
              <p:cNvPr id="144" name="万山红"/>
              <p:cNvSpPr/>
              <p:nvPr/>
            </p:nvSpPr>
            <p:spPr>
              <a:xfrm>
                <a:off x="0" y="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万山红</a:t>
                </a:r>
              </a:p>
            </p:txBody>
          </p:sp>
          <p:sp>
            <p:nvSpPr>
              <p:cNvPr id="145" name="17"/>
              <p:cNvSpPr/>
              <p:nvPr/>
            </p:nvSpPr>
            <p:spPr>
              <a:xfrm>
                <a:off x="0" y="45720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17</a:t>
                </a:r>
              </a:p>
            </p:txBody>
          </p:sp>
          <p:sp>
            <p:nvSpPr>
              <p:cNvPr id="146" name="165"/>
              <p:cNvSpPr/>
              <p:nvPr/>
            </p:nvSpPr>
            <p:spPr>
              <a:xfrm>
                <a:off x="0" y="914400"/>
                <a:ext cx="999530" cy="4651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defTabSz="914400">
                  <a:spcBef>
                    <a:spcPts val="1300"/>
                  </a:spcBef>
                  <a:defRPr sz="19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165</a:t>
                </a:r>
              </a:p>
            </p:txBody>
          </p:sp>
        </p:grpSp>
      </p:grpSp>
      <p:sp>
        <p:nvSpPr>
          <p:cNvPr id="149" name="复习-如何表达数据之间的关系"/>
          <p:cNvSpPr txBox="1"/>
          <p:nvPr/>
        </p:nvSpPr>
        <p:spPr>
          <a:xfrm>
            <a:off x="874712" y="6350"/>
            <a:ext cx="7048501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5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复习-如何表达数据之间的关系</a:t>
            </a:r>
          </a:p>
        </p:txBody>
      </p:sp>
      <p:sp>
        <p:nvSpPr>
          <p:cNvPr id="150" name="1、箭头表示对象之间的引用关系…"/>
          <p:cNvSpPr txBox="1"/>
          <p:nvPr/>
        </p:nvSpPr>
        <p:spPr>
          <a:xfrm>
            <a:off x="408435" y="768962"/>
            <a:ext cx="6447186" cy="95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200"/>
            </a:pPr>
            <a:r>
              <a:t>1、箭头表示对象之间的引用关系</a:t>
            </a:r>
          </a:p>
          <a:p>
            <a:pPr>
              <a:lnSpc>
                <a:spcPct val="120000"/>
              </a:lnSpc>
              <a:defRPr sz="2200"/>
            </a:pPr>
            <a:r>
              <a:t>2、Node类结点之间的引用形成了数据之间先后关系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lass Node&lt;T&gt;{…"/>
          <p:cNvSpPr txBox="1"/>
          <p:nvPr/>
        </p:nvSpPr>
        <p:spPr>
          <a:xfrm>
            <a:off x="2939541" y="978097"/>
            <a:ext cx="2751176" cy="1602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class</a:t>
            </a:r>
            <a:r>
              <a:t> Node&lt;T&gt;{</a:t>
            </a:r>
          </a:p>
          <a:p>
            <a:pPr>
              <a:defRPr sz="2200"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t>	T 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;</a:t>
            </a:r>
          </a:p>
          <a:p>
            <a:pPr>
              <a:defRPr sz="2200"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t>	Node&lt;T&gt; 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2200">
                <a:uFill>
                  <a:solidFill>
                    <a:srgbClr val="000000"/>
                  </a:solidFill>
                </a:uFill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  <p:sp>
        <p:nvSpPr>
          <p:cNvPr id="153" name="使用泛型："/>
          <p:cNvSpPr txBox="1"/>
          <p:nvPr/>
        </p:nvSpPr>
        <p:spPr>
          <a:xfrm>
            <a:off x="437058" y="978097"/>
            <a:ext cx="17018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使用泛型：</a:t>
            </a:r>
          </a:p>
        </p:txBody>
      </p:sp>
      <p:sp>
        <p:nvSpPr>
          <p:cNvPr id="154" name="1、表达任何数据类型T的对象之间的先后关系，达到复用的目的…"/>
          <p:cNvSpPr txBox="1"/>
          <p:nvPr/>
        </p:nvSpPr>
        <p:spPr>
          <a:xfrm>
            <a:off x="12566" y="2779775"/>
            <a:ext cx="9039493" cy="1596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1、表达任何数据类型T的对象之间的先后关系，达到</a:t>
            </a:r>
            <a:r>
              <a:rPr>
                <a:solidFill>
                  <a:schemeClr val="accent1">
                    <a:lumOff val="-7647"/>
                  </a:schemeClr>
                </a:solidFill>
              </a:rPr>
              <a:t>复用</a:t>
            </a:r>
            <a:r>
              <a:t>的目的</a:t>
            </a:r>
          </a:p>
          <a:p>
            <a:pPr>
              <a:lnSpc>
                <a:spcPct val="120000"/>
              </a:lnSpc>
            </a:pPr>
            <a:r>
              <a:t>2、T的对象“被装入”了Node对象</a:t>
            </a:r>
          </a:p>
          <a:p>
            <a:pPr marR="40640" indent="40640" defTabSz="914400">
              <a:lnSpc>
                <a:spcPct val="120000"/>
              </a:lnSpc>
              <a:defRPr>
                <a:uFill>
                  <a:solidFill>
                    <a:srgbClr val="000000"/>
                  </a:solidFill>
                </a:uFill>
              </a:defRPr>
            </a:pPr>
            <a:r>
              <a:t>3、Node对象之间的</a:t>
            </a:r>
            <a:r>
              <a:rPr>
                <a:solidFill>
                  <a:schemeClr val="accent5"/>
                </a:solidFill>
              </a:rPr>
              <a:t>引用关系</a:t>
            </a:r>
            <a:r>
              <a:t>，表达了数据元素之间的</a:t>
            </a:r>
            <a:r>
              <a:rPr>
                <a:solidFill>
                  <a:schemeClr val="accent5"/>
                </a:solidFill>
              </a:rPr>
              <a:t>先后关系</a:t>
            </a:r>
          </a:p>
        </p:txBody>
      </p:sp>
      <p:sp>
        <p:nvSpPr>
          <p:cNvPr id="155" name="复习-如何表达数据之间的关系"/>
          <p:cNvSpPr txBox="1"/>
          <p:nvPr/>
        </p:nvSpPr>
        <p:spPr>
          <a:xfrm>
            <a:off x="874712" y="6350"/>
            <a:ext cx="7048501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5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复习-如何表达数据之间的关系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矩形"/>
          <p:cNvSpPr/>
          <p:nvPr/>
        </p:nvSpPr>
        <p:spPr>
          <a:xfrm>
            <a:off x="6167492" y="1752939"/>
            <a:ext cx="1517106" cy="10553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custDash>
              <a:ds d="200000" sp="200000"/>
            </a:custDash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>
            <a:off x="4576762" y="1752939"/>
            <a:ext cx="1517105" cy="10553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custDash>
              <a:ds d="200000" sp="200000"/>
            </a:custDash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59" name="矩形"/>
          <p:cNvSpPr/>
          <p:nvPr/>
        </p:nvSpPr>
        <p:spPr>
          <a:xfrm>
            <a:off x="2889915" y="1750910"/>
            <a:ext cx="1517105" cy="105534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custDash>
              <a:ds d="200000" sp="200000"/>
            </a:custDash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60" name="CLinkedList"/>
          <p:cNvSpPr txBox="1"/>
          <p:nvPr/>
        </p:nvSpPr>
        <p:spPr>
          <a:xfrm>
            <a:off x="499623" y="1062121"/>
            <a:ext cx="1499978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CLinkedList</a:t>
            </a:r>
          </a:p>
        </p:txBody>
      </p:sp>
      <p:sp>
        <p:nvSpPr>
          <p:cNvPr id="161" name="矩形"/>
          <p:cNvSpPr/>
          <p:nvPr/>
        </p:nvSpPr>
        <p:spPr>
          <a:xfrm>
            <a:off x="826710" y="1739624"/>
            <a:ext cx="1932485" cy="16108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custDash>
              <a:ds d="200000" sp="200000"/>
            </a:custDash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62" name="成组"/>
          <p:cNvSpPr/>
          <p:nvPr/>
        </p:nvSpPr>
        <p:spPr>
          <a:xfrm>
            <a:off x="2987794" y="2026960"/>
            <a:ext cx="1008064" cy="4683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63" name="矩形"/>
          <p:cNvSpPr/>
          <p:nvPr/>
        </p:nvSpPr>
        <p:spPr>
          <a:xfrm>
            <a:off x="3995856" y="2026961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64" name="椭圆形"/>
          <p:cNvSpPr/>
          <p:nvPr/>
        </p:nvSpPr>
        <p:spPr>
          <a:xfrm>
            <a:off x="4140319" y="2242861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65" name="成组"/>
          <p:cNvSpPr/>
          <p:nvPr/>
        </p:nvSpPr>
        <p:spPr>
          <a:xfrm>
            <a:off x="4643556" y="2028548"/>
            <a:ext cx="1008064" cy="4683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66" name="矩形"/>
          <p:cNvSpPr/>
          <p:nvPr/>
        </p:nvSpPr>
        <p:spPr>
          <a:xfrm>
            <a:off x="5651619" y="2028549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67" name="成组"/>
          <p:cNvSpPr/>
          <p:nvPr/>
        </p:nvSpPr>
        <p:spPr>
          <a:xfrm>
            <a:off x="6264394" y="2028548"/>
            <a:ext cx="1008064" cy="4683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68" name="矩形"/>
          <p:cNvSpPr/>
          <p:nvPr/>
        </p:nvSpPr>
        <p:spPr>
          <a:xfrm>
            <a:off x="7272456" y="2028549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69" name="椭圆形"/>
          <p:cNvSpPr/>
          <p:nvPr/>
        </p:nvSpPr>
        <p:spPr>
          <a:xfrm>
            <a:off x="5832594" y="2209524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172" name="成组"/>
          <p:cNvGrpSpPr/>
          <p:nvPr/>
        </p:nvGrpSpPr>
        <p:grpSpPr>
          <a:xfrm>
            <a:off x="1037044" y="2063474"/>
            <a:ext cx="1618964" cy="431801"/>
            <a:chOff x="0" y="0"/>
            <a:chExt cx="1618963" cy="431800"/>
          </a:xfrm>
        </p:grpSpPr>
        <p:sp>
          <p:nvSpPr>
            <p:cNvPr id="170" name="矩形"/>
            <p:cNvSpPr/>
            <p:nvPr/>
          </p:nvSpPr>
          <p:spPr>
            <a:xfrm>
              <a:off x="-1" y="0"/>
              <a:ext cx="1618965" cy="4318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71" name="head"/>
            <p:cNvSpPr txBox="1"/>
            <p:nvPr/>
          </p:nvSpPr>
          <p:spPr>
            <a:xfrm>
              <a:off x="-1" y="124"/>
              <a:ext cx="1618965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</a:t>
              </a:r>
            </a:p>
          </p:txBody>
        </p:sp>
      </p:grpSp>
      <p:grpSp>
        <p:nvGrpSpPr>
          <p:cNvPr id="175" name="成组"/>
          <p:cNvGrpSpPr/>
          <p:nvPr/>
        </p:nvGrpSpPr>
        <p:grpSpPr>
          <a:xfrm>
            <a:off x="7345481" y="2123799"/>
            <a:ext cx="152401" cy="228601"/>
            <a:chOff x="0" y="0"/>
            <a:chExt cx="152399" cy="228600"/>
          </a:xfrm>
        </p:grpSpPr>
        <p:sp>
          <p:nvSpPr>
            <p:cNvPr id="173" name="线条"/>
            <p:cNvSpPr/>
            <p:nvPr/>
          </p:nvSpPr>
          <p:spPr>
            <a:xfrm flipH="1">
              <a:off x="0" y="-1"/>
              <a:ext cx="76201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74" name="线条"/>
            <p:cNvSpPr/>
            <p:nvPr/>
          </p:nvSpPr>
          <p:spPr>
            <a:xfrm>
              <a:off x="76200" y="-1"/>
              <a:ext cx="76201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176" name="椭圆形"/>
          <p:cNvSpPr/>
          <p:nvPr/>
        </p:nvSpPr>
        <p:spPr>
          <a:xfrm>
            <a:off x="2367081" y="2242861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77" name="线条"/>
          <p:cNvSpPr/>
          <p:nvPr/>
        </p:nvSpPr>
        <p:spPr>
          <a:xfrm>
            <a:off x="2403594" y="2279374"/>
            <a:ext cx="539751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78" name="线条"/>
          <p:cNvSpPr/>
          <p:nvPr/>
        </p:nvSpPr>
        <p:spPr>
          <a:xfrm>
            <a:off x="4175244" y="2280961"/>
            <a:ext cx="468314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79" name="线条"/>
          <p:cNvSpPr/>
          <p:nvPr/>
        </p:nvSpPr>
        <p:spPr>
          <a:xfrm>
            <a:off x="5869106" y="2244449"/>
            <a:ext cx="395289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80" name="Node"/>
          <p:cNvSpPr txBox="1"/>
          <p:nvPr/>
        </p:nvSpPr>
        <p:spPr>
          <a:xfrm>
            <a:off x="4403116" y="1062121"/>
            <a:ext cx="75400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Node</a:t>
            </a:r>
          </a:p>
        </p:txBody>
      </p:sp>
      <p:grpSp>
        <p:nvGrpSpPr>
          <p:cNvPr id="183" name="成组"/>
          <p:cNvGrpSpPr/>
          <p:nvPr/>
        </p:nvGrpSpPr>
        <p:grpSpPr>
          <a:xfrm>
            <a:off x="1037044" y="2584174"/>
            <a:ext cx="1618964" cy="431801"/>
            <a:chOff x="0" y="0"/>
            <a:chExt cx="1618963" cy="431800"/>
          </a:xfrm>
        </p:grpSpPr>
        <p:sp>
          <p:nvSpPr>
            <p:cNvPr id="181" name="矩形"/>
            <p:cNvSpPr/>
            <p:nvPr/>
          </p:nvSpPr>
          <p:spPr>
            <a:xfrm>
              <a:off x="-1" y="0"/>
              <a:ext cx="1618965" cy="4318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82" name="size=3"/>
            <p:cNvSpPr txBox="1"/>
            <p:nvPr/>
          </p:nvSpPr>
          <p:spPr>
            <a:xfrm>
              <a:off x="-1" y="124"/>
              <a:ext cx="1618965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size=3</a:t>
              </a:r>
            </a:p>
          </p:txBody>
        </p:sp>
      </p:grpSp>
      <p:grpSp>
        <p:nvGrpSpPr>
          <p:cNvPr id="191" name="成组"/>
          <p:cNvGrpSpPr/>
          <p:nvPr/>
        </p:nvGrpSpPr>
        <p:grpSpPr>
          <a:xfrm>
            <a:off x="814010" y="4204092"/>
            <a:ext cx="1932485" cy="1610837"/>
            <a:chOff x="0" y="0"/>
            <a:chExt cx="1932483" cy="1610836"/>
          </a:xfrm>
        </p:grpSpPr>
        <p:sp>
          <p:nvSpPr>
            <p:cNvPr id="184" name="矩形"/>
            <p:cNvSpPr/>
            <p:nvPr/>
          </p:nvSpPr>
          <p:spPr>
            <a:xfrm>
              <a:off x="0" y="0"/>
              <a:ext cx="1932484" cy="1610837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custDash>
                <a:ds d="200000" sp="200000"/>
              </a:custDash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87" name="成组"/>
            <p:cNvGrpSpPr/>
            <p:nvPr/>
          </p:nvGrpSpPr>
          <p:grpSpPr>
            <a:xfrm>
              <a:off x="210333" y="323850"/>
              <a:ext cx="1618964" cy="431800"/>
              <a:chOff x="0" y="0"/>
              <a:chExt cx="1618963" cy="431800"/>
            </a:xfrm>
          </p:grpSpPr>
          <p:sp>
            <p:nvSpPr>
              <p:cNvPr id="185" name="矩形"/>
              <p:cNvSpPr/>
              <p:nvPr/>
            </p:nvSpPr>
            <p:spPr>
              <a:xfrm>
                <a:off x="-1" y="0"/>
                <a:ext cx="1618965" cy="4318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86" name="head=null"/>
              <p:cNvSpPr txBox="1"/>
              <p:nvPr/>
            </p:nvSpPr>
            <p:spPr>
              <a:xfrm>
                <a:off x="-1" y="124"/>
                <a:ext cx="1618965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head=null</a:t>
                </a:r>
              </a:p>
            </p:txBody>
          </p:sp>
        </p:grpSp>
        <p:grpSp>
          <p:nvGrpSpPr>
            <p:cNvPr id="190" name="成组"/>
            <p:cNvGrpSpPr/>
            <p:nvPr/>
          </p:nvGrpSpPr>
          <p:grpSpPr>
            <a:xfrm>
              <a:off x="210333" y="844550"/>
              <a:ext cx="1618964" cy="431800"/>
              <a:chOff x="0" y="0"/>
              <a:chExt cx="1618963" cy="431800"/>
            </a:xfrm>
          </p:grpSpPr>
          <p:sp>
            <p:nvSpPr>
              <p:cNvPr id="188" name="矩形"/>
              <p:cNvSpPr/>
              <p:nvPr/>
            </p:nvSpPr>
            <p:spPr>
              <a:xfrm>
                <a:off x="-1" y="0"/>
                <a:ext cx="1618965" cy="4318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89" name="size=0"/>
              <p:cNvSpPr txBox="1"/>
              <p:nvPr/>
            </p:nvSpPr>
            <p:spPr>
              <a:xfrm>
                <a:off x="-1" y="124"/>
                <a:ext cx="1618965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size=0</a:t>
                </a:r>
              </a:p>
            </p:txBody>
          </p:sp>
        </p:grpSp>
      </p:grpSp>
      <p:sp>
        <p:nvSpPr>
          <p:cNvPr id="192" name="空表："/>
          <p:cNvSpPr txBox="1"/>
          <p:nvPr/>
        </p:nvSpPr>
        <p:spPr>
          <a:xfrm>
            <a:off x="772116" y="3653081"/>
            <a:ext cx="10668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空表：</a:t>
            </a:r>
          </a:p>
        </p:txBody>
      </p:sp>
      <p:sp>
        <p:nvSpPr>
          <p:cNvPr id="193" name="Singly Linked List 单(向)链表"/>
          <p:cNvSpPr txBox="1"/>
          <p:nvPr/>
        </p:nvSpPr>
        <p:spPr>
          <a:xfrm>
            <a:off x="874712" y="6350"/>
            <a:ext cx="7048501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40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Singly Linked List 单(向)链表</a:t>
            </a:r>
          </a:p>
        </p:txBody>
      </p:sp>
      <p:grpSp>
        <p:nvGrpSpPr>
          <p:cNvPr id="196" name="成组"/>
          <p:cNvGrpSpPr/>
          <p:nvPr/>
        </p:nvGrpSpPr>
        <p:grpSpPr>
          <a:xfrm>
            <a:off x="3325455" y="2267315"/>
            <a:ext cx="408941" cy="1119584"/>
            <a:chOff x="0" y="0"/>
            <a:chExt cx="408940" cy="1119582"/>
          </a:xfrm>
        </p:grpSpPr>
        <p:sp>
          <p:nvSpPr>
            <p:cNvPr id="194" name="a0"/>
            <p:cNvSpPr txBox="1"/>
            <p:nvPr/>
          </p:nvSpPr>
          <p:spPr>
            <a:xfrm>
              <a:off x="0" y="630118"/>
              <a:ext cx="408941" cy="489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0</a:t>
              </a:r>
            </a:p>
          </p:txBody>
        </p:sp>
        <p:sp>
          <p:nvSpPr>
            <p:cNvPr id="195" name="线条"/>
            <p:cNvSpPr/>
            <p:nvPr/>
          </p:nvSpPr>
          <p:spPr>
            <a:xfrm flipH="1">
              <a:off x="191770" y="0"/>
              <a:ext cx="1" cy="7522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199" name="成组"/>
          <p:cNvGrpSpPr/>
          <p:nvPr/>
        </p:nvGrpSpPr>
        <p:grpSpPr>
          <a:xfrm>
            <a:off x="4951849" y="2267315"/>
            <a:ext cx="408941" cy="1119584"/>
            <a:chOff x="0" y="0"/>
            <a:chExt cx="408940" cy="1119582"/>
          </a:xfrm>
        </p:grpSpPr>
        <p:sp>
          <p:nvSpPr>
            <p:cNvPr id="197" name="a1"/>
            <p:cNvSpPr txBox="1"/>
            <p:nvPr/>
          </p:nvSpPr>
          <p:spPr>
            <a:xfrm>
              <a:off x="0" y="630118"/>
              <a:ext cx="408941" cy="489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1</a:t>
              </a:r>
            </a:p>
          </p:txBody>
        </p:sp>
        <p:sp>
          <p:nvSpPr>
            <p:cNvPr id="198" name="线条"/>
            <p:cNvSpPr/>
            <p:nvPr/>
          </p:nvSpPr>
          <p:spPr>
            <a:xfrm flipH="1">
              <a:off x="191770" y="0"/>
              <a:ext cx="1" cy="7522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202" name="成组"/>
          <p:cNvGrpSpPr/>
          <p:nvPr/>
        </p:nvGrpSpPr>
        <p:grpSpPr>
          <a:xfrm>
            <a:off x="6552652" y="2267315"/>
            <a:ext cx="408941" cy="1119584"/>
            <a:chOff x="0" y="0"/>
            <a:chExt cx="408940" cy="1119582"/>
          </a:xfrm>
        </p:grpSpPr>
        <p:sp>
          <p:nvSpPr>
            <p:cNvPr id="200" name="a2"/>
            <p:cNvSpPr txBox="1"/>
            <p:nvPr/>
          </p:nvSpPr>
          <p:spPr>
            <a:xfrm>
              <a:off x="0" y="630118"/>
              <a:ext cx="408941" cy="489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2</a:t>
              </a:r>
            </a:p>
          </p:txBody>
        </p:sp>
        <p:sp>
          <p:nvSpPr>
            <p:cNvPr id="201" name="线条"/>
            <p:cNvSpPr/>
            <p:nvPr/>
          </p:nvSpPr>
          <p:spPr>
            <a:xfrm flipH="1">
              <a:off x="191770" y="0"/>
              <a:ext cx="1" cy="7522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矩形"/>
          <p:cNvSpPr/>
          <p:nvPr/>
        </p:nvSpPr>
        <p:spPr>
          <a:xfrm>
            <a:off x="6167492" y="1752939"/>
            <a:ext cx="1517106" cy="10553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custDash>
              <a:ds d="200000" sp="200000"/>
            </a:custDash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205" name="矩形"/>
          <p:cNvSpPr/>
          <p:nvPr/>
        </p:nvSpPr>
        <p:spPr>
          <a:xfrm>
            <a:off x="4576762" y="1752939"/>
            <a:ext cx="1517105" cy="10553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custDash>
              <a:ds d="200000" sp="200000"/>
            </a:custDash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206" name="矩形"/>
          <p:cNvSpPr/>
          <p:nvPr/>
        </p:nvSpPr>
        <p:spPr>
          <a:xfrm>
            <a:off x="2889915" y="1750910"/>
            <a:ext cx="1517105" cy="105534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custDash>
              <a:ds d="200000" sp="200000"/>
            </a:custDash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207" name="CLinkedList"/>
          <p:cNvSpPr txBox="1"/>
          <p:nvPr/>
        </p:nvSpPr>
        <p:spPr>
          <a:xfrm>
            <a:off x="499623" y="1062121"/>
            <a:ext cx="1499978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CLinkedList</a:t>
            </a:r>
          </a:p>
        </p:txBody>
      </p:sp>
      <p:sp>
        <p:nvSpPr>
          <p:cNvPr id="208" name="矩形"/>
          <p:cNvSpPr/>
          <p:nvPr/>
        </p:nvSpPr>
        <p:spPr>
          <a:xfrm>
            <a:off x="826710" y="1739624"/>
            <a:ext cx="1932485" cy="16108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custDash>
              <a:ds d="200000" sp="200000"/>
            </a:custDash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209" name="成组"/>
          <p:cNvSpPr/>
          <p:nvPr/>
        </p:nvSpPr>
        <p:spPr>
          <a:xfrm>
            <a:off x="2987794" y="2026960"/>
            <a:ext cx="1008064" cy="4683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210" name="矩形"/>
          <p:cNvSpPr/>
          <p:nvPr/>
        </p:nvSpPr>
        <p:spPr>
          <a:xfrm>
            <a:off x="3995856" y="2026961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211" name="椭圆形"/>
          <p:cNvSpPr/>
          <p:nvPr/>
        </p:nvSpPr>
        <p:spPr>
          <a:xfrm>
            <a:off x="4140319" y="2242861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212" name="成组"/>
          <p:cNvSpPr/>
          <p:nvPr/>
        </p:nvSpPr>
        <p:spPr>
          <a:xfrm>
            <a:off x="4643556" y="2028548"/>
            <a:ext cx="1008064" cy="4683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213" name="矩形"/>
          <p:cNvSpPr/>
          <p:nvPr/>
        </p:nvSpPr>
        <p:spPr>
          <a:xfrm>
            <a:off x="5651619" y="2028549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214" name="成组"/>
          <p:cNvSpPr/>
          <p:nvPr/>
        </p:nvSpPr>
        <p:spPr>
          <a:xfrm>
            <a:off x="6264394" y="2028548"/>
            <a:ext cx="1008064" cy="4683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215" name="矩形"/>
          <p:cNvSpPr/>
          <p:nvPr/>
        </p:nvSpPr>
        <p:spPr>
          <a:xfrm>
            <a:off x="7272456" y="2028549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216" name="椭圆形"/>
          <p:cNvSpPr/>
          <p:nvPr/>
        </p:nvSpPr>
        <p:spPr>
          <a:xfrm>
            <a:off x="5832594" y="2209524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219" name="成组"/>
          <p:cNvGrpSpPr/>
          <p:nvPr/>
        </p:nvGrpSpPr>
        <p:grpSpPr>
          <a:xfrm>
            <a:off x="1037044" y="2063474"/>
            <a:ext cx="1618964" cy="431801"/>
            <a:chOff x="0" y="0"/>
            <a:chExt cx="1618963" cy="431800"/>
          </a:xfrm>
        </p:grpSpPr>
        <p:sp>
          <p:nvSpPr>
            <p:cNvPr id="217" name="矩形"/>
            <p:cNvSpPr/>
            <p:nvPr/>
          </p:nvSpPr>
          <p:spPr>
            <a:xfrm>
              <a:off x="-1" y="0"/>
              <a:ext cx="1618965" cy="4318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18" name="head"/>
            <p:cNvSpPr txBox="1"/>
            <p:nvPr/>
          </p:nvSpPr>
          <p:spPr>
            <a:xfrm>
              <a:off x="-1" y="124"/>
              <a:ext cx="1618965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</a:t>
              </a:r>
            </a:p>
          </p:txBody>
        </p:sp>
      </p:grpSp>
      <p:grpSp>
        <p:nvGrpSpPr>
          <p:cNvPr id="222" name="成组"/>
          <p:cNvGrpSpPr/>
          <p:nvPr/>
        </p:nvGrpSpPr>
        <p:grpSpPr>
          <a:xfrm>
            <a:off x="7345481" y="2123799"/>
            <a:ext cx="152401" cy="228601"/>
            <a:chOff x="0" y="0"/>
            <a:chExt cx="152399" cy="228600"/>
          </a:xfrm>
        </p:grpSpPr>
        <p:sp>
          <p:nvSpPr>
            <p:cNvPr id="220" name="线条"/>
            <p:cNvSpPr/>
            <p:nvPr/>
          </p:nvSpPr>
          <p:spPr>
            <a:xfrm flipH="1">
              <a:off x="0" y="-1"/>
              <a:ext cx="76201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21" name="线条"/>
            <p:cNvSpPr/>
            <p:nvPr/>
          </p:nvSpPr>
          <p:spPr>
            <a:xfrm>
              <a:off x="76200" y="-1"/>
              <a:ext cx="76201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223" name="椭圆形"/>
          <p:cNvSpPr/>
          <p:nvPr/>
        </p:nvSpPr>
        <p:spPr>
          <a:xfrm>
            <a:off x="2367081" y="2242861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224" name="线条"/>
          <p:cNvSpPr/>
          <p:nvPr/>
        </p:nvSpPr>
        <p:spPr>
          <a:xfrm>
            <a:off x="2403594" y="2279374"/>
            <a:ext cx="539751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225" name="线条"/>
          <p:cNvSpPr/>
          <p:nvPr/>
        </p:nvSpPr>
        <p:spPr>
          <a:xfrm>
            <a:off x="4175244" y="2280961"/>
            <a:ext cx="468314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226" name="线条"/>
          <p:cNvSpPr/>
          <p:nvPr/>
        </p:nvSpPr>
        <p:spPr>
          <a:xfrm>
            <a:off x="5869106" y="2244449"/>
            <a:ext cx="395289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227" name="Node"/>
          <p:cNvSpPr txBox="1"/>
          <p:nvPr/>
        </p:nvSpPr>
        <p:spPr>
          <a:xfrm>
            <a:off x="4403116" y="1062121"/>
            <a:ext cx="75400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Node</a:t>
            </a:r>
          </a:p>
        </p:txBody>
      </p:sp>
      <p:grpSp>
        <p:nvGrpSpPr>
          <p:cNvPr id="230" name="成组"/>
          <p:cNvGrpSpPr/>
          <p:nvPr/>
        </p:nvGrpSpPr>
        <p:grpSpPr>
          <a:xfrm>
            <a:off x="1037044" y="2584174"/>
            <a:ext cx="1618964" cy="431801"/>
            <a:chOff x="0" y="0"/>
            <a:chExt cx="1618963" cy="431800"/>
          </a:xfrm>
        </p:grpSpPr>
        <p:sp>
          <p:nvSpPr>
            <p:cNvPr id="228" name="矩形"/>
            <p:cNvSpPr/>
            <p:nvPr/>
          </p:nvSpPr>
          <p:spPr>
            <a:xfrm>
              <a:off x="-1" y="0"/>
              <a:ext cx="1618965" cy="4318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29" name="size=3"/>
            <p:cNvSpPr txBox="1"/>
            <p:nvPr/>
          </p:nvSpPr>
          <p:spPr>
            <a:xfrm>
              <a:off x="-1" y="124"/>
              <a:ext cx="1618965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size=3</a:t>
              </a:r>
            </a:p>
          </p:txBody>
        </p:sp>
      </p:grpSp>
      <p:grpSp>
        <p:nvGrpSpPr>
          <p:cNvPr id="238" name="成组"/>
          <p:cNvGrpSpPr/>
          <p:nvPr/>
        </p:nvGrpSpPr>
        <p:grpSpPr>
          <a:xfrm>
            <a:off x="814010" y="4204092"/>
            <a:ext cx="1932485" cy="1610837"/>
            <a:chOff x="0" y="0"/>
            <a:chExt cx="1932483" cy="1610836"/>
          </a:xfrm>
        </p:grpSpPr>
        <p:sp>
          <p:nvSpPr>
            <p:cNvPr id="231" name="矩形"/>
            <p:cNvSpPr/>
            <p:nvPr/>
          </p:nvSpPr>
          <p:spPr>
            <a:xfrm>
              <a:off x="0" y="0"/>
              <a:ext cx="1932484" cy="1610837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custDash>
                <a:ds d="200000" sp="200000"/>
              </a:custDash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234" name="成组"/>
            <p:cNvGrpSpPr/>
            <p:nvPr/>
          </p:nvGrpSpPr>
          <p:grpSpPr>
            <a:xfrm>
              <a:off x="210333" y="323850"/>
              <a:ext cx="1618964" cy="431800"/>
              <a:chOff x="0" y="0"/>
              <a:chExt cx="1618963" cy="431800"/>
            </a:xfrm>
          </p:grpSpPr>
          <p:sp>
            <p:nvSpPr>
              <p:cNvPr id="232" name="矩形"/>
              <p:cNvSpPr/>
              <p:nvPr/>
            </p:nvSpPr>
            <p:spPr>
              <a:xfrm>
                <a:off x="-1" y="0"/>
                <a:ext cx="1618965" cy="4318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233" name="head=null"/>
              <p:cNvSpPr txBox="1"/>
              <p:nvPr/>
            </p:nvSpPr>
            <p:spPr>
              <a:xfrm>
                <a:off x="-1" y="124"/>
                <a:ext cx="1618965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head=null</a:t>
                </a:r>
              </a:p>
            </p:txBody>
          </p:sp>
        </p:grpSp>
        <p:grpSp>
          <p:nvGrpSpPr>
            <p:cNvPr id="237" name="成组"/>
            <p:cNvGrpSpPr/>
            <p:nvPr/>
          </p:nvGrpSpPr>
          <p:grpSpPr>
            <a:xfrm>
              <a:off x="210333" y="844550"/>
              <a:ext cx="1618964" cy="431800"/>
              <a:chOff x="0" y="0"/>
              <a:chExt cx="1618963" cy="431800"/>
            </a:xfrm>
          </p:grpSpPr>
          <p:sp>
            <p:nvSpPr>
              <p:cNvPr id="235" name="矩形"/>
              <p:cNvSpPr/>
              <p:nvPr/>
            </p:nvSpPr>
            <p:spPr>
              <a:xfrm>
                <a:off x="-1" y="0"/>
                <a:ext cx="1618965" cy="4318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236" name="size=0"/>
              <p:cNvSpPr txBox="1"/>
              <p:nvPr/>
            </p:nvSpPr>
            <p:spPr>
              <a:xfrm>
                <a:off x="-1" y="124"/>
                <a:ext cx="1618965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size=0</a:t>
                </a:r>
              </a:p>
            </p:txBody>
          </p:sp>
        </p:grpSp>
      </p:grpSp>
      <p:sp>
        <p:nvSpPr>
          <p:cNvPr id="239" name="空表："/>
          <p:cNvSpPr txBox="1"/>
          <p:nvPr/>
        </p:nvSpPr>
        <p:spPr>
          <a:xfrm>
            <a:off x="772116" y="3653081"/>
            <a:ext cx="10668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空表：</a:t>
            </a:r>
          </a:p>
        </p:txBody>
      </p:sp>
      <p:sp>
        <p:nvSpPr>
          <p:cNvPr id="240" name="Singly Linked List 单(向)链表"/>
          <p:cNvSpPr txBox="1"/>
          <p:nvPr/>
        </p:nvSpPr>
        <p:spPr>
          <a:xfrm>
            <a:off x="874712" y="6350"/>
            <a:ext cx="7048501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40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Singly Linked List 单(向)链表</a:t>
            </a:r>
          </a:p>
        </p:txBody>
      </p:sp>
      <p:sp>
        <p:nvSpPr>
          <p:cNvPr id="241" name="a0"/>
          <p:cNvSpPr txBox="1"/>
          <p:nvPr/>
        </p:nvSpPr>
        <p:spPr>
          <a:xfrm>
            <a:off x="3271737" y="1991422"/>
            <a:ext cx="408941" cy="489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40640" indent="40640" algn="ctr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r>
              <a:t>a</a:t>
            </a:r>
            <a:r>
              <a:rPr baseline="-25000"/>
              <a:t>0</a:t>
            </a:r>
          </a:p>
        </p:txBody>
      </p:sp>
      <p:sp>
        <p:nvSpPr>
          <p:cNvPr id="242" name="a1"/>
          <p:cNvSpPr txBox="1"/>
          <p:nvPr/>
        </p:nvSpPr>
        <p:spPr>
          <a:xfrm>
            <a:off x="5031985" y="2016822"/>
            <a:ext cx="408941" cy="489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40640" indent="40640" algn="ctr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r>
              <a:t>a</a:t>
            </a:r>
            <a:r>
              <a:rPr baseline="-25000"/>
              <a:t>1</a:t>
            </a:r>
          </a:p>
        </p:txBody>
      </p:sp>
      <p:sp>
        <p:nvSpPr>
          <p:cNvPr id="243" name="a2"/>
          <p:cNvSpPr txBox="1"/>
          <p:nvPr/>
        </p:nvSpPr>
        <p:spPr>
          <a:xfrm>
            <a:off x="6614497" y="2004311"/>
            <a:ext cx="408941" cy="489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40640" indent="40640" algn="ctr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r>
              <a:t>a</a:t>
            </a:r>
            <a:r>
              <a:rPr baseline="-25000"/>
              <a:t>2</a:t>
            </a:r>
          </a:p>
        </p:txBody>
      </p:sp>
      <p:sp>
        <p:nvSpPr>
          <p:cNvPr id="244" name="简单的画法！"/>
          <p:cNvSpPr txBox="1"/>
          <p:nvPr/>
        </p:nvSpPr>
        <p:spPr>
          <a:xfrm>
            <a:off x="3942971" y="3017068"/>
            <a:ext cx="20193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t>简单的画法！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ublic class CLinkedList&lt;T&gt; implements…"/>
          <p:cNvSpPr txBox="1"/>
          <p:nvPr/>
        </p:nvSpPr>
        <p:spPr>
          <a:xfrm>
            <a:off x="61934" y="752147"/>
            <a:ext cx="8352862" cy="4407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CLinkedList&lt;T&gt; </a:t>
            </a:r>
            <a:r>
              <a:rPr>
                <a:solidFill>
                  <a:srgbClr val="931A68"/>
                </a:solidFill>
              </a:rPr>
              <a:t>implements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             </a:t>
            </a:r>
            <a:r>
              <a:t>Ilist&lt;T&gt; , Iterable&lt;T&gt;, Cloneable{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Node&lt;T&gt;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size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/*	</a:t>
            </a:r>
            <a:endParaRPr>
              <a:solidFill>
                <a:srgbClr val="000000"/>
              </a:solidFill>
            </a:endParaRPr>
          </a:p>
          <a:p>
            <a:pPr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CLinkedList(){</a:t>
            </a:r>
            <a:endParaRPr>
              <a:solidFill>
                <a:srgbClr val="000000"/>
              </a:solidFill>
            </a:endParaRPr>
          </a:p>
          <a:p>
            <a:pPr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head = null;</a:t>
            </a:r>
            <a:endParaRPr>
              <a:solidFill>
                <a:srgbClr val="000000"/>
              </a:solidFill>
            </a:endParaRPr>
          </a:p>
          <a:p>
            <a:pPr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size = 0;</a:t>
            </a:r>
            <a:endParaRPr>
              <a:solidFill>
                <a:srgbClr val="000000"/>
              </a:solidFill>
            </a:endParaRPr>
          </a:p>
          <a:p>
            <a:pPr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  <a:endParaRPr>
              <a:solidFill>
                <a:srgbClr val="000000"/>
              </a:solidFill>
            </a:endParaRPr>
          </a:p>
          <a:p>
            <a:pPr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*/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7" name="矩形"/>
          <p:cNvSpPr/>
          <p:nvPr/>
        </p:nvSpPr>
        <p:spPr>
          <a:xfrm>
            <a:off x="5322216" y="2489200"/>
            <a:ext cx="1932485" cy="16108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custDash>
              <a:ds d="200000" sp="200000"/>
            </a:custDash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250" name="成组"/>
          <p:cNvGrpSpPr/>
          <p:nvPr/>
        </p:nvGrpSpPr>
        <p:grpSpPr>
          <a:xfrm>
            <a:off x="5481749" y="2813050"/>
            <a:ext cx="1618964" cy="431800"/>
            <a:chOff x="0" y="0"/>
            <a:chExt cx="1618963" cy="431800"/>
          </a:xfrm>
        </p:grpSpPr>
        <p:sp>
          <p:nvSpPr>
            <p:cNvPr id="248" name="矩形"/>
            <p:cNvSpPr/>
            <p:nvPr/>
          </p:nvSpPr>
          <p:spPr>
            <a:xfrm>
              <a:off x="-1" y="0"/>
              <a:ext cx="1618965" cy="4318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49" name="head=null"/>
            <p:cNvSpPr txBox="1"/>
            <p:nvPr/>
          </p:nvSpPr>
          <p:spPr>
            <a:xfrm>
              <a:off x="-1" y="124"/>
              <a:ext cx="1618965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head=null</a:t>
              </a:r>
            </a:p>
          </p:txBody>
        </p:sp>
      </p:grpSp>
      <p:grpSp>
        <p:nvGrpSpPr>
          <p:cNvPr id="253" name="成组"/>
          <p:cNvGrpSpPr/>
          <p:nvPr/>
        </p:nvGrpSpPr>
        <p:grpSpPr>
          <a:xfrm>
            <a:off x="5481749" y="3333750"/>
            <a:ext cx="1618964" cy="431800"/>
            <a:chOff x="0" y="0"/>
            <a:chExt cx="1618963" cy="431800"/>
          </a:xfrm>
        </p:grpSpPr>
        <p:sp>
          <p:nvSpPr>
            <p:cNvPr id="251" name="矩形"/>
            <p:cNvSpPr/>
            <p:nvPr/>
          </p:nvSpPr>
          <p:spPr>
            <a:xfrm>
              <a:off x="-1" y="0"/>
              <a:ext cx="1618965" cy="4318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52" name="size=0"/>
            <p:cNvSpPr txBox="1"/>
            <p:nvPr/>
          </p:nvSpPr>
          <p:spPr>
            <a:xfrm>
              <a:off x="-1" y="124"/>
              <a:ext cx="1618965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size=0</a:t>
              </a:r>
            </a:p>
          </p:txBody>
        </p:sp>
      </p:grpSp>
      <p:sp>
        <p:nvSpPr>
          <p:cNvPr id="254" name="Singly Linked List(单(向)链表)"/>
          <p:cNvSpPr txBox="1"/>
          <p:nvPr/>
        </p:nvSpPr>
        <p:spPr>
          <a:xfrm>
            <a:off x="874712" y="6350"/>
            <a:ext cx="7048501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40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Singly Linked List(单(向)链表)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rivate static class Node&lt;T&gt;{//嵌套类…"/>
          <p:cNvSpPr txBox="1"/>
          <p:nvPr/>
        </p:nvSpPr>
        <p:spPr>
          <a:xfrm>
            <a:off x="141521" y="955843"/>
            <a:ext cx="6881746" cy="3788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Node&lt;T&gt;{//嵌套类</a:t>
            </a:r>
          </a:p>
          <a:p>
            <a:pPr lvl="1" indent="228600">
              <a:lnSpc>
                <a:spcPct val="12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   T 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   </a:t>
            </a:r>
            <a:r>
              <a:t>Node&lt;T&gt; 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   </a:t>
            </a:r>
            <a:r>
              <a:t>Node(T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, Node&lt;T&gt; </a:t>
            </a:r>
            <a:r>
              <a:rPr>
                <a:solidFill>
                  <a:srgbClr val="7E504F"/>
                </a:solidFill>
              </a:rPr>
              <a:t>next</a:t>
            </a:r>
            <a:r>
              <a:t>){</a:t>
            </a:r>
          </a:p>
          <a:p>
            <a:pPr lvl="2" indent="457200">
              <a:lnSpc>
                <a:spcPct val="12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 lvl="2" indent="457200">
              <a:lnSpc>
                <a:spcPct val="12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 lvl="2" indent="457200"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260" name="成组"/>
          <p:cNvGrpSpPr/>
          <p:nvPr/>
        </p:nvGrpSpPr>
        <p:grpSpPr>
          <a:xfrm>
            <a:off x="6554672" y="1734741"/>
            <a:ext cx="1655003" cy="468316"/>
            <a:chOff x="0" y="0"/>
            <a:chExt cx="1655001" cy="468314"/>
          </a:xfrm>
        </p:grpSpPr>
        <p:sp>
          <p:nvSpPr>
            <p:cNvPr id="257" name="成组"/>
            <p:cNvSpPr/>
            <p:nvPr/>
          </p:nvSpPr>
          <p:spPr>
            <a:xfrm>
              <a:off x="0" y="0"/>
              <a:ext cx="1008063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58" name="矩形"/>
            <p:cNvSpPr/>
            <p:nvPr/>
          </p:nvSpPr>
          <p:spPr>
            <a:xfrm>
              <a:off x="1008061" y="1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59" name="线条"/>
            <p:cNvSpPr/>
            <p:nvPr/>
          </p:nvSpPr>
          <p:spPr>
            <a:xfrm>
              <a:off x="1186688" y="232977"/>
              <a:ext cx="468314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261" name="Singly Linked List(单(向)链表)"/>
          <p:cNvSpPr txBox="1"/>
          <p:nvPr/>
        </p:nvSpPr>
        <p:spPr>
          <a:xfrm>
            <a:off x="874712" y="6350"/>
            <a:ext cx="7048501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40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Singly Linked List(单(向)链表)</a:t>
            </a:r>
          </a:p>
        </p:txBody>
      </p:sp>
      <p:grpSp>
        <p:nvGrpSpPr>
          <p:cNvPr id="264" name="成组"/>
          <p:cNvGrpSpPr/>
          <p:nvPr/>
        </p:nvGrpSpPr>
        <p:grpSpPr>
          <a:xfrm>
            <a:off x="6872070" y="1967346"/>
            <a:ext cx="307341" cy="971345"/>
            <a:chOff x="0" y="0"/>
            <a:chExt cx="307340" cy="971343"/>
          </a:xfrm>
        </p:grpSpPr>
        <p:sp>
          <p:nvSpPr>
            <p:cNvPr id="262" name="a"/>
            <p:cNvSpPr txBox="1"/>
            <p:nvPr/>
          </p:nvSpPr>
          <p:spPr>
            <a:xfrm>
              <a:off x="0" y="539791"/>
              <a:ext cx="30734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263" name="线条"/>
            <p:cNvSpPr/>
            <p:nvPr/>
          </p:nvSpPr>
          <p:spPr>
            <a:xfrm flipH="1">
              <a:off x="179070" y="0"/>
              <a:ext cx="1" cy="70485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单(向)链表Singly Linked List"/>
          <p:cNvSpPr txBox="1"/>
          <p:nvPr/>
        </p:nvSpPr>
        <p:spPr>
          <a:xfrm>
            <a:off x="811212" y="-31750"/>
            <a:ext cx="6908801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单(向)链表Singly Linked List</a:t>
            </a:r>
          </a:p>
        </p:txBody>
      </p:sp>
      <p:sp>
        <p:nvSpPr>
          <p:cNvPr id="267" name="public int size() {…"/>
          <p:cNvSpPr txBox="1"/>
          <p:nvPr/>
        </p:nvSpPr>
        <p:spPr>
          <a:xfrm>
            <a:off x="1433094" y="940204"/>
            <a:ext cx="4778425" cy="3276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size() {</a:t>
            </a:r>
          </a:p>
          <a:p>
            <a:pPr>
              <a:lnSpc>
                <a:spcPct val="12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size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endParaRPr/>
          </a:p>
          <a:p>
            <a:pPr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empty() {</a:t>
            </a:r>
          </a:p>
          <a:p>
            <a:pPr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== 0;</a:t>
            </a:r>
          </a:p>
          <a:p>
            <a:pPr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基本操作：找下一个结点"/>
          <p:cNvSpPr txBox="1"/>
          <p:nvPr/>
        </p:nvSpPr>
        <p:spPr>
          <a:xfrm>
            <a:off x="658812" y="-51594"/>
            <a:ext cx="79375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基本操作：找下一个结点</a:t>
            </a:r>
          </a:p>
        </p:txBody>
      </p:sp>
      <p:sp>
        <p:nvSpPr>
          <p:cNvPr id="270" name="p = p.next;"/>
          <p:cNvSpPr txBox="1"/>
          <p:nvPr/>
        </p:nvSpPr>
        <p:spPr>
          <a:xfrm>
            <a:off x="1198923" y="4511709"/>
            <a:ext cx="187477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600">
                <a:latin typeface="Tahoma"/>
                <a:ea typeface="Tahoma"/>
                <a:cs typeface="Tahoma"/>
                <a:sym typeface="Tahoma"/>
              </a:defRPr>
            </a:pPr>
            <a:r>
              <a:rPr>
                <a:solidFill>
                  <a:schemeClr val="accent1">
                    <a:lumOff val="-7647"/>
                  </a:schemeClr>
                </a:solidFill>
              </a:rPr>
              <a:t>p = p.next</a:t>
            </a:r>
            <a:r>
              <a:t>; </a:t>
            </a:r>
          </a:p>
        </p:txBody>
      </p:sp>
      <p:sp>
        <p:nvSpPr>
          <p:cNvPr id="271" name="Node&lt;T&gt; p = head;"/>
          <p:cNvSpPr txBox="1"/>
          <p:nvPr/>
        </p:nvSpPr>
        <p:spPr>
          <a:xfrm>
            <a:off x="1172596" y="3727450"/>
            <a:ext cx="310641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Node&lt;T&gt; p = head;</a:t>
            </a:r>
          </a:p>
        </p:txBody>
      </p:sp>
      <p:sp>
        <p:nvSpPr>
          <p:cNvPr id="272" name="p"/>
          <p:cNvSpPr txBox="1"/>
          <p:nvPr/>
        </p:nvSpPr>
        <p:spPr>
          <a:xfrm>
            <a:off x="3435831" y="1502191"/>
            <a:ext cx="29681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</a:t>
            </a:r>
          </a:p>
        </p:txBody>
      </p:sp>
      <p:sp>
        <p:nvSpPr>
          <p:cNvPr id="273" name="线条"/>
          <p:cNvSpPr/>
          <p:nvPr/>
        </p:nvSpPr>
        <p:spPr>
          <a:xfrm>
            <a:off x="3584238" y="1950793"/>
            <a:ext cx="1" cy="253267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>
              <a:defRPr sz="1200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grpSp>
        <p:nvGrpSpPr>
          <p:cNvPr id="289" name="成组"/>
          <p:cNvGrpSpPr/>
          <p:nvPr/>
        </p:nvGrpSpPr>
        <p:grpSpPr>
          <a:xfrm>
            <a:off x="1560709" y="2189498"/>
            <a:ext cx="6133707" cy="499271"/>
            <a:chOff x="0" y="10575"/>
            <a:chExt cx="6133705" cy="499269"/>
          </a:xfrm>
        </p:grpSpPr>
        <p:sp>
          <p:nvSpPr>
            <p:cNvPr id="274" name="成组"/>
            <p:cNvSpPr/>
            <p:nvPr/>
          </p:nvSpPr>
          <p:spPr>
            <a:xfrm>
              <a:off x="1488679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75" name="矩形"/>
            <p:cNvSpPr/>
            <p:nvPr/>
          </p:nvSpPr>
          <p:spPr>
            <a:xfrm>
              <a:off x="2496742" y="10575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76" name="椭圆形"/>
            <p:cNvSpPr/>
            <p:nvPr/>
          </p:nvSpPr>
          <p:spPr>
            <a:xfrm>
              <a:off x="2641205" y="226475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77" name="成组"/>
            <p:cNvSpPr/>
            <p:nvPr/>
          </p:nvSpPr>
          <p:spPr>
            <a:xfrm>
              <a:off x="3144442" y="12163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78" name="矩形"/>
            <p:cNvSpPr/>
            <p:nvPr/>
          </p:nvSpPr>
          <p:spPr>
            <a:xfrm>
              <a:off x="4152505" y="12163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79" name="成组"/>
            <p:cNvSpPr/>
            <p:nvPr/>
          </p:nvSpPr>
          <p:spPr>
            <a:xfrm>
              <a:off x="4765279" y="12163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80" name="矩形"/>
            <p:cNvSpPr/>
            <p:nvPr/>
          </p:nvSpPr>
          <p:spPr>
            <a:xfrm>
              <a:off x="5773342" y="12163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81" name="椭圆形"/>
            <p:cNvSpPr/>
            <p:nvPr/>
          </p:nvSpPr>
          <p:spPr>
            <a:xfrm>
              <a:off x="4333480" y="193138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284" name="成组"/>
            <p:cNvGrpSpPr/>
            <p:nvPr/>
          </p:nvGrpSpPr>
          <p:grpSpPr>
            <a:xfrm>
              <a:off x="5846367" y="107413"/>
              <a:ext cx="152401" cy="228601"/>
              <a:chOff x="0" y="0"/>
              <a:chExt cx="152399" cy="228600"/>
            </a:xfrm>
          </p:grpSpPr>
          <p:sp>
            <p:nvSpPr>
              <p:cNvPr id="282" name="线条"/>
              <p:cNvSpPr/>
              <p:nvPr/>
            </p:nvSpPr>
            <p:spPr>
              <a:xfrm flipH="1">
                <a:off x="-1" y="-1"/>
                <a:ext cx="76202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283" name="线条"/>
              <p:cNvSpPr/>
              <p:nvPr/>
            </p:nvSpPr>
            <p:spPr>
              <a:xfrm>
                <a:off x="76200" y="-1"/>
                <a:ext cx="76200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sp>
          <p:nvSpPr>
            <p:cNvPr id="285" name="线条"/>
            <p:cNvSpPr/>
            <p:nvPr/>
          </p:nvSpPr>
          <p:spPr>
            <a:xfrm>
              <a:off x="2676130" y="264575"/>
              <a:ext cx="468314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86" name="线条"/>
            <p:cNvSpPr/>
            <p:nvPr/>
          </p:nvSpPr>
          <p:spPr>
            <a:xfrm>
              <a:off x="4369992" y="228063"/>
              <a:ext cx="395290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287" name="head"/>
            <p:cNvSpPr txBox="1"/>
            <p:nvPr/>
          </p:nvSpPr>
          <p:spPr>
            <a:xfrm>
              <a:off x="0" y="14544"/>
              <a:ext cx="828068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head</a:t>
              </a:r>
            </a:p>
          </p:txBody>
        </p:sp>
        <p:sp>
          <p:nvSpPr>
            <p:cNvPr id="288" name="线条"/>
            <p:cNvSpPr/>
            <p:nvPr/>
          </p:nvSpPr>
          <p:spPr>
            <a:xfrm>
              <a:off x="921258" y="262602"/>
              <a:ext cx="567422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292" name="成组"/>
          <p:cNvGrpSpPr/>
          <p:nvPr/>
        </p:nvGrpSpPr>
        <p:grpSpPr>
          <a:xfrm>
            <a:off x="3387050" y="2436763"/>
            <a:ext cx="408941" cy="739852"/>
            <a:chOff x="0" y="0"/>
            <a:chExt cx="408940" cy="739851"/>
          </a:xfrm>
        </p:grpSpPr>
        <p:sp>
          <p:nvSpPr>
            <p:cNvPr id="290" name="a0"/>
            <p:cNvSpPr txBox="1"/>
            <p:nvPr/>
          </p:nvSpPr>
          <p:spPr>
            <a:xfrm>
              <a:off x="0" y="250387"/>
              <a:ext cx="408941" cy="489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0</a:t>
              </a:r>
            </a:p>
          </p:txBody>
        </p:sp>
        <p:sp>
          <p:nvSpPr>
            <p:cNvPr id="291" name="线条"/>
            <p:cNvSpPr/>
            <p:nvPr/>
          </p:nvSpPr>
          <p:spPr>
            <a:xfrm flipH="1">
              <a:off x="184487" y="0"/>
              <a:ext cx="1" cy="400564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295" name="成组"/>
          <p:cNvGrpSpPr/>
          <p:nvPr/>
        </p:nvGrpSpPr>
        <p:grpSpPr>
          <a:xfrm>
            <a:off x="5049630" y="2436763"/>
            <a:ext cx="408941" cy="739852"/>
            <a:chOff x="0" y="0"/>
            <a:chExt cx="408940" cy="739851"/>
          </a:xfrm>
        </p:grpSpPr>
        <p:sp>
          <p:nvSpPr>
            <p:cNvPr id="293" name="a1"/>
            <p:cNvSpPr txBox="1"/>
            <p:nvPr/>
          </p:nvSpPr>
          <p:spPr>
            <a:xfrm>
              <a:off x="0" y="250387"/>
              <a:ext cx="408941" cy="489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1</a:t>
              </a:r>
            </a:p>
          </p:txBody>
        </p:sp>
        <p:sp>
          <p:nvSpPr>
            <p:cNvPr id="294" name="线条"/>
            <p:cNvSpPr/>
            <p:nvPr/>
          </p:nvSpPr>
          <p:spPr>
            <a:xfrm flipH="1">
              <a:off x="184487" y="0"/>
              <a:ext cx="1" cy="400564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298" name="成组"/>
          <p:cNvGrpSpPr/>
          <p:nvPr/>
        </p:nvGrpSpPr>
        <p:grpSpPr>
          <a:xfrm>
            <a:off x="6682508" y="2436763"/>
            <a:ext cx="408941" cy="739852"/>
            <a:chOff x="0" y="0"/>
            <a:chExt cx="408940" cy="739851"/>
          </a:xfrm>
        </p:grpSpPr>
        <p:sp>
          <p:nvSpPr>
            <p:cNvPr id="296" name="a2"/>
            <p:cNvSpPr txBox="1"/>
            <p:nvPr/>
          </p:nvSpPr>
          <p:spPr>
            <a:xfrm>
              <a:off x="0" y="250387"/>
              <a:ext cx="408941" cy="489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2</a:t>
              </a:r>
            </a:p>
          </p:txBody>
        </p:sp>
        <p:sp>
          <p:nvSpPr>
            <p:cNvPr id="297" name="线条"/>
            <p:cNvSpPr/>
            <p:nvPr/>
          </p:nvSpPr>
          <p:spPr>
            <a:xfrm flipH="1">
              <a:off x="184487" y="0"/>
              <a:ext cx="1" cy="400564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301" name="成组"/>
          <p:cNvGrpSpPr/>
          <p:nvPr/>
        </p:nvGrpSpPr>
        <p:grpSpPr>
          <a:xfrm>
            <a:off x="3689482" y="1765300"/>
            <a:ext cx="1581018" cy="400660"/>
            <a:chOff x="0" y="0"/>
            <a:chExt cx="1581017" cy="400659"/>
          </a:xfrm>
        </p:grpSpPr>
        <p:sp>
          <p:nvSpPr>
            <p:cNvPr id="299" name="线条"/>
            <p:cNvSpPr/>
            <p:nvPr/>
          </p:nvSpPr>
          <p:spPr>
            <a:xfrm>
              <a:off x="0" y="10048"/>
              <a:ext cx="1581018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00" name="线条"/>
            <p:cNvSpPr/>
            <p:nvPr/>
          </p:nvSpPr>
          <p:spPr>
            <a:xfrm>
              <a:off x="1577318" y="0"/>
              <a:ext cx="1" cy="40066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304" name="成组"/>
          <p:cNvGrpSpPr/>
          <p:nvPr/>
        </p:nvGrpSpPr>
        <p:grpSpPr>
          <a:xfrm>
            <a:off x="3689482" y="1765300"/>
            <a:ext cx="3155818" cy="400660"/>
            <a:chOff x="0" y="0"/>
            <a:chExt cx="3155817" cy="400659"/>
          </a:xfrm>
        </p:grpSpPr>
        <p:sp>
          <p:nvSpPr>
            <p:cNvPr id="302" name="线条"/>
            <p:cNvSpPr/>
            <p:nvPr/>
          </p:nvSpPr>
          <p:spPr>
            <a:xfrm>
              <a:off x="3147034" y="0"/>
              <a:ext cx="1" cy="40066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303" name="线条"/>
            <p:cNvSpPr/>
            <p:nvPr/>
          </p:nvSpPr>
          <p:spPr>
            <a:xfrm>
              <a:off x="0" y="10048"/>
              <a:ext cx="3155818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305" name="p = p.next;"/>
          <p:cNvSpPr txBox="1"/>
          <p:nvPr/>
        </p:nvSpPr>
        <p:spPr>
          <a:xfrm>
            <a:off x="1186223" y="5121309"/>
            <a:ext cx="187477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600">
                <a:latin typeface="Tahoma"/>
                <a:ea typeface="Tahoma"/>
                <a:cs typeface="Tahoma"/>
                <a:sym typeface="Tahoma"/>
              </a:defRPr>
            </a:pPr>
            <a:r>
              <a:rPr>
                <a:solidFill>
                  <a:schemeClr val="accent1">
                    <a:lumOff val="-7647"/>
                  </a:schemeClr>
                </a:solidFill>
              </a:rPr>
              <a:t>p = p.next</a:t>
            </a:r>
            <a:r>
              <a:t>; </a:t>
            </a:r>
          </a:p>
        </p:txBody>
      </p:sp>
      <p:sp>
        <p:nvSpPr>
          <p:cNvPr id="306" name="不断改变引用变量p的值，使它引用下一个结点"/>
          <p:cNvSpPr txBox="1"/>
          <p:nvPr/>
        </p:nvSpPr>
        <p:spPr>
          <a:xfrm>
            <a:off x="122237" y="857481"/>
            <a:ext cx="662305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不断改变引用变量p的值，使它引用下一个结点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4" animBg="1" advAuto="0"/>
      <p:bldP spid="271" grpId="1" animBg="1" advAuto="0"/>
      <p:bldP spid="272" grpId="2" animBg="1" advAuto="0"/>
      <p:bldP spid="273" grpId="3" animBg="1" advAuto="0"/>
      <p:bldP spid="273" grpId="5" animBg="1" advAuto="0"/>
      <p:bldP spid="301" grpId="6" animBg="1" advAuto="0"/>
      <p:bldP spid="301" grpId="8" animBg="1" advAuto="0"/>
      <p:bldP spid="304" grpId="9" animBg="1" advAuto="0"/>
      <p:bldP spid="305" grpId="7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基本操作：找下一个结点"/>
          <p:cNvSpPr txBox="1"/>
          <p:nvPr/>
        </p:nvSpPr>
        <p:spPr>
          <a:xfrm>
            <a:off x="658812" y="-51594"/>
            <a:ext cx="79375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基本操作：找下一个结点</a:t>
            </a:r>
          </a:p>
        </p:txBody>
      </p:sp>
      <p:sp>
        <p:nvSpPr>
          <p:cNvPr id="309" name="p = p.next;"/>
          <p:cNvSpPr txBox="1"/>
          <p:nvPr/>
        </p:nvSpPr>
        <p:spPr>
          <a:xfrm>
            <a:off x="1198923" y="4448209"/>
            <a:ext cx="187477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600">
                <a:latin typeface="Tahoma"/>
                <a:ea typeface="Tahoma"/>
                <a:cs typeface="Tahoma"/>
                <a:sym typeface="Tahoma"/>
              </a:defRPr>
            </a:pPr>
            <a:r>
              <a:rPr>
                <a:solidFill>
                  <a:schemeClr val="accent1">
                    <a:lumOff val="-7647"/>
                  </a:schemeClr>
                </a:solidFill>
              </a:rPr>
              <a:t>p = p.next</a:t>
            </a:r>
            <a:r>
              <a:t>; </a:t>
            </a:r>
          </a:p>
        </p:txBody>
      </p:sp>
      <p:sp>
        <p:nvSpPr>
          <p:cNvPr id="310" name="Node&lt;T&gt; p = head;"/>
          <p:cNvSpPr txBox="1"/>
          <p:nvPr/>
        </p:nvSpPr>
        <p:spPr>
          <a:xfrm>
            <a:off x="1172596" y="3841750"/>
            <a:ext cx="310641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Node&lt;T&gt; p = head;</a:t>
            </a:r>
          </a:p>
        </p:txBody>
      </p:sp>
      <p:grpSp>
        <p:nvGrpSpPr>
          <p:cNvPr id="313" name="成组"/>
          <p:cNvGrpSpPr/>
          <p:nvPr/>
        </p:nvGrpSpPr>
        <p:grpSpPr>
          <a:xfrm>
            <a:off x="3448531" y="1518117"/>
            <a:ext cx="296814" cy="765370"/>
            <a:chOff x="0" y="0"/>
            <a:chExt cx="296812" cy="765368"/>
          </a:xfrm>
        </p:grpSpPr>
        <p:sp>
          <p:nvSpPr>
            <p:cNvPr id="311" name="p"/>
            <p:cNvSpPr txBox="1"/>
            <p:nvPr/>
          </p:nvSpPr>
          <p:spPr>
            <a:xfrm>
              <a:off x="0" y="0"/>
              <a:ext cx="296813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p</a:t>
              </a:r>
            </a:p>
          </p:txBody>
        </p:sp>
        <p:sp>
          <p:nvSpPr>
            <p:cNvPr id="312" name="线条"/>
            <p:cNvSpPr/>
            <p:nvPr/>
          </p:nvSpPr>
          <p:spPr>
            <a:xfrm flipH="1">
              <a:off x="135706" y="447329"/>
              <a:ext cx="1" cy="31804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329" name="成组"/>
          <p:cNvGrpSpPr/>
          <p:nvPr/>
        </p:nvGrpSpPr>
        <p:grpSpPr>
          <a:xfrm>
            <a:off x="1560709" y="2303798"/>
            <a:ext cx="6133707" cy="499271"/>
            <a:chOff x="0" y="10575"/>
            <a:chExt cx="6133705" cy="499269"/>
          </a:xfrm>
        </p:grpSpPr>
        <p:sp>
          <p:nvSpPr>
            <p:cNvPr id="314" name="成组"/>
            <p:cNvSpPr/>
            <p:nvPr/>
          </p:nvSpPr>
          <p:spPr>
            <a:xfrm>
              <a:off x="1488679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315" name="矩形"/>
            <p:cNvSpPr/>
            <p:nvPr/>
          </p:nvSpPr>
          <p:spPr>
            <a:xfrm>
              <a:off x="2496742" y="10575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316" name="椭圆形"/>
            <p:cNvSpPr/>
            <p:nvPr/>
          </p:nvSpPr>
          <p:spPr>
            <a:xfrm>
              <a:off x="2641205" y="226475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317" name="成组"/>
            <p:cNvSpPr/>
            <p:nvPr/>
          </p:nvSpPr>
          <p:spPr>
            <a:xfrm>
              <a:off x="3144442" y="12163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318" name="矩形"/>
            <p:cNvSpPr/>
            <p:nvPr/>
          </p:nvSpPr>
          <p:spPr>
            <a:xfrm>
              <a:off x="4152505" y="12163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319" name="成组"/>
            <p:cNvSpPr/>
            <p:nvPr/>
          </p:nvSpPr>
          <p:spPr>
            <a:xfrm>
              <a:off x="4765279" y="12163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320" name="矩形"/>
            <p:cNvSpPr/>
            <p:nvPr/>
          </p:nvSpPr>
          <p:spPr>
            <a:xfrm>
              <a:off x="5773342" y="12163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321" name="椭圆形"/>
            <p:cNvSpPr/>
            <p:nvPr/>
          </p:nvSpPr>
          <p:spPr>
            <a:xfrm>
              <a:off x="4333480" y="193138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324" name="成组"/>
            <p:cNvGrpSpPr/>
            <p:nvPr/>
          </p:nvGrpSpPr>
          <p:grpSpPr>
            <a:xfrm>
              <a:off x="5846367" y="107413"/>
              <a:ext cx="152401" cy="228601"/>
              <a:chOff x="0" y="0"/>
              <a:chExt cx="152399" cy="228600"/>
            </a:xfrm>
          </p:grpSpPr>
          <p:sp>
            <p:nvSpPr>
              <p:cNvPr id="322" name="线条"/>
              <p:cNvSpPr/>
              <p:nvPr/>
            </p:nvSpPr>
            <p:spPr>
              <a:xfrm flipH="1">
                <a:off x="-1" y="-1"/>
                <a:ext cx="76202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23" name="线条"/>
              <p:cNvSpPr/>
              <p:nvPr/>
            </p:nvSpPr>
            <p:spPr>
              <a:xfrm>
                <a:off x="76200" y="-1"/>
                <a:ext cx="76200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sp>
          <p:nvSpPr>
            <p:cNvPr id="325" name="线条"/>
            <p:cNvSpPr/>
            <p:nvPr/>
          </p:nvSpPr>
          <p:spPr>
            <a:xfrm>
              <a:off x="2676130" y="264575"/>
              <a:ext cx="468314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326" name="线条"/>
            <p:cNvSpPr/>
            <p:nvPr/>
          </p:nvSpPr>
          <p:spPr>
            <a:xfrm>
              <a:off x="4369992" y="228063"/>
              <a:ext cx="395290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327" name="head"/>
            <p:cNvSpPr txBox="1"/>
            <p:nvPr/>
          </p:nvSpPr>
          <p:spPr>
            <a:xfrm>
              <a:off x="0" y="14544"/>
              <a:ext cx="828068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head</a:t>
              </a:r>
            </a:p>
          </p:txBody>
        </p:sp>
        <p:sp>
          <p:nvSpPr>
            <p:cNvPr id="328" name="线条"/>
            <p:cNvSpPr/>
            <p:nvPr/>
          </p:nvSpPr>
          <p:spPr>
            <a:xfrm>
              <a:off x="921258" y="262602"/>
              <a:ext cx="567422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332" name="成组"/>
          <p:cNvGrpSpPr/>
          <p:nvPr/>
        </p:nvGrpSpPr>
        <p:grpSpPr>
          <a:xfrm>
            <a:off x="3387050" y="2551063"/>
            <a:ext cx="408941" cy="739852"/>
            <a:chOff x="0" y="0"/>
            <a:chExt cx="408940" cy="739851"/>
          </a:xfrm>
        </p:grpSpPr>
        <p:sp>
          <p:nvSpPr>
            <p:cNvPr id="330" name="a0"/>
            <p:cNvSpPr txBox="1"/>
            <p:nvPr/>
          </p:nvSpPr>
          <p:spPr>
            <a:xfrm>
              <a:off x="0" y="250387"/>
              <a:ext cx="408941" cy="489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0</a:t>
              </a:r>
            </a:p>
          </p:txBody>
        </p:sp>
        <p:sp>
          <p:nvSpPr>
            <p:cNvPr id="331" name="线条"/>
            <p:cNvSpPr/>
            <p:nvPr/>
          </p:nvSpPr>
          <p:spPr>
            <a:xfrm flipH="1">
              <a:off x="184487" y="0"/>
              <a:ext cx="1" cy="400564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335" name="成组"/>
          <p:cNvGrpSpPr/>
          <p:nvPr/>
        </p:nvGrpSpPr>
        <p:grpSpPr>
          <a:xfrm>
            <a:off x="5049630" y="2551063"/>
            <a:ext cx="408941" cy="739852"/>
            <a:chOff x="0" y="0"/>
            <a:chExt cx="408940" cy="739851"/>
          </a:xfrm>
        </p:grpSpPr>
        <p:sp>
          <p:nvSpPr>
            <p:cNvPr id="333" name="a1"/>
            <p:cNvSpPr txBox="1"/>
            <p:nvPr/>
          </p:nvSpPr>
          <p:spPr>
            <a:xfrm>
              <a:off x="0" y="250387"/>
              <a:ext cx="408941" cy="489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1</a:t>
              </a:r>
            </a:p>
          </p:txBody>
        </p:sp>
        <p:sp>
          <p:nvSpPr>
            <p:cNvPr id="334" name="线条"/>
            <p:cNvSpPr/>
            <p:nvPr/>
          </p:nvSpPr>
          <p:spPr>
            <a:xfrm flipH="1">
              <a:off x="184487" y="0"/>
              <a:ext cx="1" cy="400564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338" name="成组"/>
          <p:cNvGrpSpPr/>
          <p:nvPr/>
        </p:nvGrpSpPr>
        <p:grpSpPr>
          <a:xfrm>
            <a:off x="6682508" y="2551063"/>
            <a:ext cx="408941" cy="739852"/>
            <a:chOff x="0" y="0"/>
            <a:chExt cx="408940" cy="739851"/>
          </a:xfrm>
        </p:grpSpPr>
        <p:sp>
          <p:nvSpPr>
            <p:cNvPr id="336" name="a2"/>
            <p:cNvSpPr txBox="1"/>
            <p:nvPr/>
          </p:nvSpPr>
          <p:spPr>
            <a:xfrm>
              <a:off x="0" y="250387"/>
              <a:ext cx="408941" cy="489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2</a:t>
              </a:r>
            </a:p>
          </p:txBody>
        </p:sp>
        <p:sp>
          <p:nvSpPr>
            <p:cNvPr id="337" name="线条"/>
            <p:cNvSpPr/>
            <p:nvPr/>
          </p:nvSpPr>
          <p:spPr>
            <a:xfrm flipH="1">
              <a:off x="184487" y="0"/>
              <a:ext cx="1" cy="400564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339" name="p = p.next;"/>
          <p:cNvSpPr txBox="1"/>
          <p:nvPr/>
        </p:nvSpPr>
        <p:spPr>
          <a:xfrm>
            <a:off x="1186223" y="5057809"/>
            <a:ext cx="187477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600">
                <a:latin typeface="Tahoma"/>
                <a:ea typeface="Tahoma"/>
                <a:cs typeface="Tahoma"/>
                <a:sym typeface="Tahoma"/>
              </a:defRPr>
            </a:pPr>
            <a:r>
              <a:rPr>
                <a:solidFill>
                  <a:schemeClr val="accent1">
                    <a:lumOff val="-7647"/>
                  </a:schemeClr>
                </a:solidFill>
              </a:rPr>
              <a:t>p = p.next</a:t>
            </a:r>
            <a:r>
              <a:t>; </a:t>
            </a:r>
          </a:p>
        </p:txBody>
      </p:sp>
      <p:grpSp>
        <p:nvGrpSpPr>
          <p:cNvPr id="342" name="成组"/>
          <p:cNvGrpSpPr/>
          <p:nvPr/>
        </p:nvGrpSpPr>
        <p:grpSpPr>
          <a:xfrm>
            <a:off x="5105694" y="1518117"/>
            <a:ext cx="296814" cy="765370"/>
            <a:chOff x="0" y="0"/>
            <a:chExt cx="296812" cy="765368"/>
          </a:xfrm>
        </p:grpSpPr>
        <p:sp>
          <p:nvSpPr>
            <p:cNvPr id="340" name="p"/>
            <p:cNvSpPr txBox="1"/>
            <p:nvPr/>
          </p:nvSpPr>
          <p:spPr>
            <a:xfrm>
              <a:off x="0" y="0"/>
              <a:ext cx="296813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p</a:t>
              </a:r>
            </a:p>
          </p:txBody>
        </p:sp>
        <p:sp>
          <p:nvSpPr>
            <p:cNvPr id="341" name="线条"/>
            <p:cNvSpPr/>
            <p:nvPr/>
          </p:nvSpPr>
          <p:spPr>
            <a:xfrm flipH="1">
              <a:off x="135706" y="447329"/>
              <a:ext cx="1" cy="31804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345" name="成组"/>
          <p:cNvGrpSpPr/>
          <p:nvPr/>
        </p:nvGrpSpPr>
        <p:grpSpPr>
          <a:xfrm>
            <a:off x="6738571" y="1518117"/>
            <a:ext cx="296814" cy="765370"/>
            <a:chOff x="0" y="0"/>
            <a:chExt cx="296812" cy="765368"/>
          </a:xfrm>
        </p:grpSpPr>
        <p:sp>
          <p:nvSpPr>
            <p:cNvPr id="343" name="p"/>
            <p:cNvSpPr txBox="1"/>
            <p:nvPr/>
          </p:nvSpPr>
          <p:spPr>
            <a:xfrm>
              <a:off x="0" y="0"/>
              <a:ext cx="296813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p</a:t>
              </a:r>
            </a:p>
          </p:txBody>
        </p:sp>
        <p:sp>
          <p:nvSpPr>
            <p:cNvPr id="344" name="线条"/>
            <p:cNvSpPr/>
            <p:nvPr/>
          </p:nvSpPr>
          <p:spPr>
            <a:xfrm flipH="1">
              <a:off x="135706" y="447329"/>
              <a:ext cx="1" cy="31804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346" name="形象的表示：p跑向的下一个结点"/>
          <p:cNvSpPr txBox="1"/>
          <p:nvPr/>
        </p:nvSpPr>
        <p:spPr>
          <a:xfrm>
            <a:off x="151875" y="863797"/>
            <a:ext cx="471805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形象的表示：p跑向的下一个结点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" grpId="3" animBg="1" advAuto="0"/>
      <p:bldP spid="310" grpId="1" animBg="1" advAuto="0"/>
      <p:bldP spid="313" grpId="2" animBg="1" advAuto="0"/>
      <p:bldP spid="313" grpId="4" animBg="1" advAuto="0"/>
      <p:bldP spid="339" grpId="6" animBg="1" advAuto="0"/>
      <p:bldP spid="342" grpId="5" animBg="1" advAuto="0"/>
      <p:bldP spid="342" grpId="7" animBg="1" advAuto="0"/>
      <p:bldP spid="345" grpId="8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遍历链表"/>
          <p:cNvSpPr txBox="1"/>
          <p:nvPr/>
        </p:nvSpPr>
        <p:spPr>
          <a:xfrm>
            <a:off x="658812" y="-51594"/>
            <a:ext cx="79375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遍历链表</a:t>
            </a:r>
          </a:p>
        </p:txBody>
      </p:sp>
      <p:sp>
        <p:nvSpPr>
          <p:cNvPr id="349" name="for(Node&lt;T&gt; p = head; p != null; p = p.next){…"/>
          <p:cNvSpPr txBox="1"/>
          <p:nvPr/>
        </p:nvSpPr>
        <p:spPr>
          <a:xfrm>
            <a:off x="894050" y="3543197"/>
            <a:ext cx="7040601" cy="128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600">
                <a:latin typeface="Tahoma"/>
                <a:ea typeface="Tahoma"/>
                <a:cs typeface="Tahoma"/>
                <a:sym typeface="Tahoma"/>
              </a:defRPr>
            </a:pPr>
            <a:r>
              <a:t>for(Node&lt;T&gt; p = </a:t>
            </a:r>
            <a:r>
              <a:rPr>
                <a:solidFill>
                  <a:schemeClr val="accent5"/>
                </a:solidFill>
              </a:rPr>
              <a:t>head</a:t>
            </a:r>
            <a:r>
              <a:t>; p != </a:t>
            </a:r>
            <a:r>
              <a:rPr>
                <a:solidFill>
                  <a:schemeClr val="accent5"/>
                </a:solidFill>
              </a:rPr>
              <a:t>null</a:t>
            </a:r>
            <a:r>
              <a:t>; p = p.</a:t>
            </a:r>
            <a:r>
              <a:rPr>
                <a:solidFill>
                  <a:schemeClr val="accent5"/>
                </a:solidFill>
              </a:rPr>
              <a:t>next</a:t>
            </a:r>
            <a:r>
              <a:t>){</a:t>
            </a:r>
          </a:p>
          <a:p>
            <a:pPr>
              <a:defRPr sz="2600">
                <a:latin typeface="Tahoma"/>
                <a:ea typeface="Tahoma"/>
                <a:cs typeface="Tahoma"/>
                <a:sym typeface="Tahoma"/>
              </a:defRPr>
            </a:pPr>
            <a:r>
              <a:t>…</a:t>
            </a:r>
          </a:p>
          <a:p>
            <a:pPr>
              <a:defRPr sz="2600">
                <a:latin typeface="Tahoma"/>
                <a:ea typeface="Tahoma"/>
                <a:cs typeface="Tahoma"/>
                <a:sym typeface="Tahoma"/>
              </a:defRPr>
            </a:pPr>
            <a:r>
              <a:t>}</a:t>
            </a:r>
          </a:p>
        </p:txBody>
      </p:sp>
      <p:sp>
        <p:nvSpPr>
          <p:cNvPr id="350" name="从哪开始？ 何时结束？"/>
          <p:cNvSpPr txBox="1"/>
          <p:nvPr/>
        </p:nvSpPr>
        <p:spPr>
          <a:xfrm>
            <a:off x="192882" y="933735"/>
            <a:ext cx="35194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从哪开始？ 何时结束？</a:t>
            </a:r>
          </a:p>
        </p:txBody>
      </p:sp>
      <p:grpSp>
        <p:nvGrpSpPr>
          <p:cNvPr id="377" name="成组"/>
          <p:cNvGrpSpPr/>
          <p:nvPr/>
        </p:nvGrpSpPr>
        <p:grpSpPr>
          <a:xfrm>
            <a:off x="1243996" y="1525578"/>
            <a:ext cx="6133707" cy="1674424"/>
            <a:chOff x="0" y="0"/>
            <a:chExt cx="6133705" cy="1674423"/>
          </a:xfrm>
        </p:grpSpPr>
        <p:sp>
          <p:nvSpPr>
            <p:cNvPr id="351" name="p"/>
            <p:cNvSpPr txBox="1"/>
            <p:nvPr/>
          </p:nvSpPr>
          <p:spPr>
            <a:xfrm>
              <a:off x="1875122" y="0"/>
              <a:ext cx="296814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p</a:t>
              </a:r>
            </a:p>
          </p:txBody>
        </p:sp>
        <p:sp>
          <p:nvSpPr>
            <p:cNvPr id="352" name="线条"/>
            <p:cNvSpPr/>
            <p:nvPr/>
          </p:nvSpPr>
          <p:spPr>
            <a:xfrm>
              <a:off x="2023528" y="448602"/>
              <a:ext cx="1" cy="25326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grpSp>
          <p:nvGrpSpPr>
            <p:cNvPr id="368" name="成组"/>
            <p:cNvGrpSpPr/>
            <p:nvPr/>
          </p:nvGrpSpPr>
          <p:grpSpPr>
            <a:xfrm>
              <a:off x="0" y="687306"/>
              <a:ext cx="6133706" cy="499271"/>
              <a:chOff x="0" y="10575"/>
              <a:chExt cx="6133705" cy="499269"/>
            </a:xfrm>
          </p:grpSpPr>
          <p:sp>
            <p:nvSpPr>
              <p:cNvPr id="353" name="成组"/>
              <p:cNvSpPr/>
              <p:nvPr/>
            </p:nvSpPr>
            <p:spPr>
              <a:xfrm>
                <a:off x="1488679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54" name="矩形"/>
              <p:cNvSpPr/>
              <p:nvPr/>
            </p:nvSpPr>
            <p:spPr>
              <a:xfrm>
                <a:off x="2496742" y="10575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55" name="椭圆形"/>
              <p:cNvSpPr/>
              <p:nvPr/>
            </p:nvSpPr>
            <p:spPr>
              <a:xfrm>
                <a:off x="2641205" y="226475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56" name="成组"/>
              <p:cNvSpPr/>
              <p:nvPr/>
            </p:nvSpPr>
            <p:spPr>
              <a:xfrm>
                <a:off x="3144442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57" name="矩形"/>
              <p:cNvSpPr/>
              <p:nvPr/>
            </p:nvSpPr>
            <p:spPr>
              <a:xfrm>
                <a:off x="4152505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58" name="成组"/>
              <p:cNvSpPr/>
              <p:nvPr/>
            </p:nvSpPr>
            <p:spPr>
              <a:xfrm>
                <a:off x="4765279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59" name="矩形"/>
              <p:cNvSpPr/>
              <p:nvPr/>
            </p:nvSpPr>
            <p:spPr>
              <a:xfrm>
                <a:off x="5773342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60" name="椭圆形"/>
              <p:cNvSpPr/>
              <p:nvPr/>
            </p:nvSpPr>
            <p:spPr>
              <a:xfrm>
                <a:off x="4333480" y="193138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grpSp>
            <p:nvGrpSpPr>
              <p:cNvPr id="363" name="成组"/>
              <p:cNvGrpSpPr/>
              <p:nvPr/>
            </p:nvGrpSpPr>
            <p:grpSpPr>
              <a:xfrm>
                <a:off x="5846367" y="107413"/>
                <a:ext cx="152401" cy="228601"/>
                <a:chOff x="0" y="0"/>
                <a:chExt cx="152399" cy="228600"/>
              </a:xfrm>
            </p:grpSpPr>
            <p:sp>
              <p:nvSpPr>
                <p:cNvPr id="361" name="线条"/>
                <p:cNvSpPr/>
                <p:nvPr/>
              </p:nvSpPr>
              <p:spPr>
                <a:xfrm flipH="1">
                  <a:off x="-1" y="0"/>
                  <a:ext cx="76202" cy="228601"/>
                </a:xfrm>
                <a:prstGeom prst="line">
                  <a:avLst/>
                </a:prstGeom>
                <a:noFill/>
                <a:ln w="25400" cap="flat">
                  <a:solidFill>
                    <a:schemeClr val="accent5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  <p:sp>
              <p:nvSpPr>
                <p:cNvPr id="362" name="线条"/>
                <p:cNvSpPr/>
                <p:nvPr/>
              </p:nvSpPr>
              <p:spPr>
                <a:xfrm>
                  <a:off x="76200" y="-1"/>
                  <a:ext cx="76200" cy="228602"/>
                </a:xfrm>
                <a:prstGeom prst="line">
                  <a:avLst/>
                </a:prstGeom>
                <a:noFill/>
                <a:ln w="25400" cap="flat">
                  <a:solidFill>
                    <a:schemeClr val="accent5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</p:grpSp>
          <p:sp>
            <p:nvSpPr>
              <p:cNvPr id="364" name="线条"/>
              <p:cNvSpPr/>
              <p:nvPr/>
            </p:nvSpPr>
            <p:spPr>
              <a:xfrm>
                <a:off x="2676130" y="264575"/>
                <a:ext cx="468314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65" name="线条"/>
              <p:cNvSpPr/>
              <p:nvPr/>
            </p:nvSpPr>
            <p:spPr>
              <a:xfrm>
                <a:off x="4369992" y="228063"/>
                <a:ext cx="395290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66" name="head"/>
              <p:cNvSpPr txBox="1"/>
              <p:nvPr/>
            </p:nvSpPr>
            <p:spPr>
              <a:xfrm>
                <a:off x="0" y="14544"/>
                <a:ext cx="828068" cy="495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r>
                  <a:t>head</a:t>
                </a:r>
              </a:p>
            </p:txBody>
          </p:sp>
          <p:sp>
            <p:nvSpPr>
              <p:cNvPr id="367" name="线条"/>
              <p:cNvSpPr/>
              <p:nvPr/>
            </p:nvSpPr>
            <p:spPr>
              <a:xfrm>
                <a:off x="921258" y="262602"/>
                <a:ext cx="567422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sp>
          <p:nvSpPr>
            <p:cNvPr id="369" name="a0"/>
            <p:cNvSpPr txBox="1"/>
            <p:nvPr/>
          </p:nvSpPr>
          <p:spPr>
            <a:xfrm>
              <a:off x="1826340" y="1184959"/>
              <a:ext cx="408941" cy="489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0</a:t>
              </a:r>
            </a:p>
          </p:txBody>
        </p:sp>
        <p:sp>
          <p:nvSpPr>
            <p:cNvPr id="370" name="线条"/>
            <p:cNvSpPr/>
            <p:nvPr/>
          </p:nvSpPr>
          <p:spPr>
            <a:xfrm>
              <a:off x="2010828" y="934572"/>
              <a:ext cx="1" cy="400565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grpSp>
          <p:nvGrpSpPr>
            <p:cNvPr id="373" name="成组"/>
            <p:cNvGrpSpPr/>
            <p:nvPr/>
          </p:nvGrpSpPr>
          <p:grpSpPr>
            <a:xfrm>
              <a:off x="3488921" y="934572"/>
              <a:ext cx="408941" cy="739852"/>
              <a:chOff x="0" y="0"/>
              <a:chExt cx="408940" cy="739851"/>
            </a:xfrm>
          </p:grpSpPr>
          <p:sp>
            <p:nvSpPr>
              <p:cNvPr id="371" name="a1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1</a:t>
                </a:r>
              </a:p>
            </p:txBody>
          </p:sp>
          <p:sp>
            <p:nvSpPr>
              <p:cNvPr id="372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376" name="成组"/>
            <p:cNvGrpSpPr/>
            <p:nvPr/>
          </p:nvGrpSpPr>
          <p:grpSpPr>
            <a:xfrm>
              <a:off x="5121798" y="934572"/>
              <a:ext cx="408942" cy="739852"/>
              <a:chOff x="0" y="0"/>
              <a:chExt cx="408940" cy="739851"/>
            </a:xfrm>
          </p:grpSpPr>
          <p:sp>
            <p:nvSpPr>
              <p:cNvPr id="374" name="a2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2</a:t>
                </a:r>
              </a:p>
            </p:txBody>
          </p:sp>
          <p:sp>
            <p:nvSpPr>
              <p:cNvPr id="375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</p:grp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迭代器"/>
          <p:cNvSpPr txBox="1"/>
          <p:nvPr/>
        </p:nvSpPr>
        <p:spPr>
          <a:xfrm>
            <a:off x="1090612" y="-35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迭代器</a:t>
            </a:r>
          </a:p>
        </p:txBody>
      </p:sp>
      <p:sp>
        <p:nvSpPr>
          <p:cNvPr id="380" name="private class Itr implements Iterator&lt;T&gt;{…"/>
          <p:cNvSpPr txBox="1"/>
          <p:nvPr/>
        </p:nvSpPr>
        <p:spPr>
          <a:xfrm>
            <a:off x="882633" y="1819148"/>
            <a:ext cx="6340706" cy="4553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Itr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Iterator&lt;T&gt;{</a:t>
            </a: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Node&lt;T&gt; </a:t>
            </a:r>
            <a:r>
              <a:rPr>
                <a:solidFill>
                  <a:srgbClr val="0326CC"/>
                </a:solidFill>
              </a:rPr>
              <a:t>currentNode</a:t>
            </a:r>
            <a:r>
              <a:t>;</a:t>
            </a: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Itr(){</a:t>
            </a:r>
          </a:p>
          <a:p>
            <a:pPr>
              <a:defRPr sz="17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currentNode</a:t>
            </a:r>
            <a:r>
              <a:rPr>
                <a:solidFill>
                  <a:srgbClr val="000000"/>
                </a:solidFill>
              </a:rPr>
              <a:t> = 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hasNext() {</a:t>
            </a:r>
          </a:p>
          <a:p>
            <a:pPr>
              <a:defRPr sz="17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currentNode</a:t>
            </a:r>
            <a:r>
              <a:rPr>
                <a:solidFill>
                  <a:srgbClr val="000000"/>
                </a:solidFill>
              </a:rPr>
              <a:t> !=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next() {</a:t>
            </a:r>
          </a:p>
          <a:p>
            <a:pPr>
              <a:defRPr sz="17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T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t>currentNode</a:t>
            </a:r>
            <a:r>
              <a:rPr>
                <a:solidFill>
                  <a:srgbClr val="000000"/>
                </a:solidFill>
              </a:rPr>
              <a:t>.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7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currentNode</a:t>
            </a:r>
            <a:r>
              <a:rPr>
                <a:solidFill>
                  <a:srgbClr val="000000"/>
                </a:solidFill>
              </a:rPr>
              <a:t> = </a:t>
            </a:r>
            <a:r>
              <a:t>currentNode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7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}		</a:t>
            </a: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406" name="成组"/>
          <p:cNvGrpSpPr/>
          <p:nvPr/>
        </p:nvGrpSpPr>
        <p:grpSpPr>
          <a:xfrm>
            <a:off x="872052" y="853115"/>
            <a:ext cx="6596270" cy="2012387"/>
            <a:chOff x="0" y="0"/>
            <a:chExt cx="6596269" cy="2012385"/>
          </a:xfrm>
        </p:grpSpPr>
        <p:grpSp>
          <p:nvGrpSpPr>
            <p:cNvPr id="396" name="成组"/>
            <p:cNvGrpSpPr/>
            <p:nvPr/>
          </p:nvGrpSpPr>
          <p:grpSpPr>
            <a:xfrm>
              <a:off x="0" y="-1"/>
              <a:ext cx="6133706" cy="1521621"/>
              <a:chOff x="0" y="0"/>
              <a:chExt cx="6133705" cy="1521619"/>
            </a:xfrm>
          </p:grpSpPr>
          <p:sp>
            <p:nvSpPr>
              <p:cNvPr id="381" name="成组"/>
              <p:cNvSpPr/>
              <p:nvPr/>
            </p:nvSpPr>
            <p:spPr>
              <a:xfrm>
                <a:off x="1488679" y="0"/>
                <a:ext cx="1008064" cy="46831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82" name="矩形"/>
              <p:cNvSpPr/>
              <p:nvPr/>
            </p:nvSpPr>
            <p:spPr>
              <a:xfrm>
                <a:off x="2496742" y="0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83" name="椭圆形"/>
              <p:cNvSpPr/>
              <p:nvPr/>
            </p:nvSpPr>
            <p:spPr>
              <a:xfrm>
                <a:off x="2641205" y="21590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84" name="成组"/>
              <p:cNvSpPr/>
              <p:nvPr/>
            </p:nvSpPr>
            <p:spPr>
              <a:xfrm>
                <a:off x="3144442" y="1588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85" name="矩形"/>
              <p:cNvSpPr/>
              <p:nvPr/>
            </p:nvSpPr>
            <p:spPr>
              <a:xfrm>
                <a:off x="4152505" y="1588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86" name="成组"/>
              <p:cNvSpPr/>
              <p:nvPr/>
            </p:nvSpPr>
            <p:spPr>
              <a:xfrm>
                <a:off x="4765279" y="1588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87" name="矩形"/>
              <p:cNvSpPr/>
              <p:nvPr/>
            </p:nvSpPr>
            <p:spPr>
              <a:xfrm>
                <a:off x="5773342" y="1588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88" name="椭圆形"/>
              <p:cNvSpPr/>
              <p:nvPr/>
            </p:nvSpPr>
            <p:spPr>
              <a:xfrm>
                <a:off x="4333480" y="182563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grpSp>
            <p:nvGrpSpPr>
              <p:cNvPr id="391" name="成组"/>
              <p:cNvGrpSpPr/>
              <p:nvPr/>
            </p:nvGrpSpPr>
            <p:grpSpPr>
              <a:xfrm>
                <a:off x="5846367" y="96838"/>
                <a:ext cx="152401" cy="228601"/>
                <a:chOff x="0" y="0"/>
                <a:chExt cx="152399" cy="228600"/>
              </a:xfrm>
            </p:grpSpPr>
            <p:sp>
              <p:nvSpPr>
                <p:cNvPr id="389" name="线条"/>
                <p:cNvSpPr/>
                <p:nvPr/>
              </p:nvSpPr>
              <p:spPr>
                <a:xfrm flipH="1">
                  <a:off x="-1" y="-1"/>
                  <a:ext cx="76202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  <p:sp>
              <p:nvSpPr>
                <p:cNvPr id="390" name="线条"/>
                <p:cNvSpPr/>
                <p:nvPr/>
              </p:nvSpPr>
              <p:spPr>
                <a:xfrm>
                  <a:off x="76200" y="-1"/>
                  <a:ext cx="76200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</p:grpSp>
          <p:sp>
            <p:nvSpPr>
              <p:cNvPr id="392" name="线条"/>
              <p:cNvSpPr/>
              <p:nvPr/>
            </p:nvSpPr>
            <p:spPr>
              <a:xfrm>
                <a:off x="2676130" y="254000"/>
                <a:ext cx="468314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93" name="线条"/>
              <p:cNvSpPr/>
              <p:nvPr/>
            </p:nvSpPr>
            <p:spPr>
              <a:xfrm>
                <a:off x="4369992" y="217488"/>
                <a:ext cx="395290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394" name="head"/>
              <p:cNvSpPr/>
              <p:nvPr/>
            </p:nvSpPr>
            <p:spPr>
              <a:xfrm>
                <a:off x="0" y="251619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r>
                  <a:t>head</a:t>
                </a:r>
              </a:p>
            </p:txBody>
          </p:sp>
          <p:sp>
            <p:nvSpPr>
              <p:cNvPr id="395" name="线条"/>
              <p:cNvSpPr/>
              <p:nvPr/>
            </p:nvSpPr>
            <p:spPr>
              <a:xfrm>
                <a:off x="866154" y="264969"/>
                <a:ext cx="584439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399" name="成组"/>
            <p:cNvGrpSpPr/>
            <p:nvPr/>
          </p:nvGrpSpPr>
          <p:grpSpPr>
            <a:xfrm>
              <a:off x="2010828" y="247265"/>
              <a:ext cx="1289984" cy="1765121"/>
              <a:chOff x="184487" y="0"/>
              <a:chExt cx="1289982" cy="1765120"/>
            </a:xfrm>
          </p:grpSpPr>
          <p:sp>
            <p:nvSpPr>
              <p:cNvPr id="397" name="a0"/>
              <p:cNvSpPr/>
              <p:nvPr/>
            </p:nvSpPr>
            <p:spPr>
              <a:xfrm>
                <a:off x="204470" y="495120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0</a:t>
                </a:r>
              </a:p>
            </p:txBody>
          </p:sp>
          <p:sp>
            <p:nvSpPr>
              <p:cNvPr id="398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402" name="成组"/>
            <p:cNvGrpSpPr/>
            <p:nvPr/>
          </p:nvGrpSpPr>
          <p:grpSpPr>
            <a:xfrm>
              <a:off x="3673408" y="247265"/>
              <a:ext cx="1289984" cy="1765121"/>
              <a:chOff x="184487" y="0"/>
              <a:chExt cx="1289982" cy="1765120"/>
            </a:xfrm>
          </p:grpSpPr>
          <p:sp>
            <p:nvSpPr>
              <p:cNvPr id="400" name="a1"/>
              <p:cNvSpPr/>
              <p:nvPr/>
            </p:nvSpPr>
            <p:spPr>
              <a:xfrm>
                <a:off x="204470" y="495120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1</a:t>
                </a:r>
              </a:p>
            </p:txBody>
          </p:sp>
          <p:sp>
            <p:nvSpPr>
              <p:cNvPr id="401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405" name="成组"/>
            <p:cNvGrpSpPr/>
            <p:nvPr/>
          </p:nvGrpSpPr>
          <p:grpSpPr>
            <a:xfrm>
              <a:off x="5306286" y="247265"/>
              <a:ext cx="1289984" cy="1765121"/>
              <a:chOff x="184487" y="0"/>
              <a:chExt cx="1289982" cy="1765120"/>
            </a:xfrm>
          </p:grpSpPr>
          <p:sp>
            <p:nvSpPr>
              <p:cNvPr id="403" name="a2"/>
              <p:cNvSpPr/>
              <p:nvPr/>
            </p:nvSpPr>
            <p:spPr>
              <a:xfrm>
                <a:off x="204470" y="495120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2</a:t>
                </a:r>
              </a:p>
            </p:txBody>
          </p:sp>
          <p:sp>
            <p:nvSpPr>
              <p:cNvPr id="404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</p:grp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找到满足某个条件的结点"/>
          <p:cNvSpPr txBox="1"/>
          <p:nvPr/>
        </p:nvSpPr>
        <p:spPr>
          <a:xfrm>
            <a:off x="1090612" y="47277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找到满足某个条件的结点</a:t>
            </a:r>
          </a:p>
        </p:txBody>
      </p:sp>
      <p:sp>
        <p:nvSpPr>
          <p:cNvPr id="409" name="for (Node&lt;T&gt; p = head; p != null; p = p.next) {…"/>
          <p:cNvSpPr txBox="1"/>
          <p:nvPr/>
        </p:nvSpPr>
        <p:spPr>
          <a:xfrm>
            <a:off x="538878" y="2766100"/>
            <a:ext cx="7834469" cy="1072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) {</a:t>
            </a:r>
          </a:p>
          <a:p>
            <a:pPr lvl="6" indent="137160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…)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</p:txBody>
      </p:sp>
      <p:grpSp>
        <p:nvGrpSpPr>
          <p:cNvPr id="437" name="成组"/>
          <p:cNvGrpSpPr/>
          <p:nvPr/>
        </p:nvGrpSpPr>
        <p:grpSpPr>
          <a:xfrm>
            <a:off x="1560709" y="900123"/>
            <a:ext cx="6133707" cy="1674425"/>
            <a:chOff x="0" y="0"/>
            <a:chExt cx="6133705" cy="1674423"/>
          </a:xfrm>
        </p:grpSpPr>
        <p:sp>
          <p:nvSpPr>
            <p:cNvPr id="410" name="p"/>
            <p:cNvSpPr txBox="1"/>
            <p:nvPr/>
          </p:nvSpPr>
          <p:spPr>
            <a:xfrm>
              <a:off x="1875122" y="0"/>
              <a:ext cx="296814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p</a:t>
              </a:r>
            </a:p>
          </p:txBody>
        </p:sp>
        <p:sp>
          <p:nvSpPr>
            <p:cNvPr id="411" name="线条"/>
            <p:cNvSpPr/>
            <p:nvPr/>
          </p:nvSpPr>
          <p:spPr>
            <a:xfrm>
              <a:off x="2023528" y="448602"/>
              <a:ext cx="1" cy="25326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grpSp>
          <p:nvGrpSpPr>
            <p:cNvPr id="427" name="成组"/>
            <p:cNvGrpSpPr/>
            <p:nvPr/>
          </p:nvGrpSpPr>
          <p:grpSpPr>
            <a:xfrm>
              <a:off x="0" y="687306"/>
              <a:ext cx="6133706" cy="499271"/>
              <a:chOff x="0" y="10575"/>
              <a:chExt cx="6133705" cy="499269"/>
            </a:xfrm>
          </p:grpSpPr>
          <p:sp>
            <p:nvSpPr>
              <p:cNvPr id="412" name="成组"/>
              <p:cNvSpPr/>
              <p:nvPr/>
            </p:nvSpPr>
            <p:spPr>
              <a:xfrm>
                <a:off x="1488679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13" name="矩形"/>
              <p:cNvSpPr/>
              <p:nvPr/>
            </p:nvSpPr>
            <p:spPr>
              <a:xfrm>
                <a:off x="2496742" y="10575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14" name="椭圆形"/>
              <p:cNvSpPr/>
              <p:nvPr/>
            </p:nvSpPr>
            <p:spPr>
              <a:xfrm>
                <a:off x="2641205" y="226475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15" name="成组"/>
              <p:cNvSpPr/>
              <p:nvPr/>
            </p:nvSpPr>
            <p:spPr>
              <a:xfrm>
                <a:off x="3144442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16" name="矩形"/>
              <p:cNvSpPr/>
              <p:nvPr/>
            </p:nvSpPr>
            <p:spPr>
              <a:xfrm>
                <a:off x="4152505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17" name="成组"/>
              <p:cNvSpPr/>
              <p:nvPr/>
            </p:nvSpPr>
            <p:spPr>
              <a:xfrm>
                <a:off x="4765279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18" name="矩形"/>
              <p:cNvSpPr/>
              <p:nvPr/>
            </p:nvSpPr>
            <p:spPr>
              <a:xfrm>
                <a:off x="5773342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19" name="椭圆形"/>
              <p:cNvSpPr/>
              <p:nvPr/>
            </p:nvSpPr>
            <p:spPr>
              <a:xfrm>
                <a:off x="4333480" y="193138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grpSp>
            <p:nvGrpSpPr>
              <p:cNvPr id="422" name="成组"/>
              <p:cNvGrpSpPr/>
              <p:nvPr/>
            </p:nvGrpSpPr>
            <p:grpSpPr>
              <a:xfrm>
                <a:off x="5846367" y="107413"/>
                <a:ext cx="152401" cy="228601"/>
                <a:chOff x="0" y="0"/>
                <a:chExt cx="152399" cy="228600"/>
              </a:xfrm>
            </p:grpSpPr>
            <p:sp>
              <p:nvSpPr>
                <p:cNvPr id="420" name="线条"/>
                <p:cNvSpPr/>
                <p:nvPr/>
              </p:nvSpPr>
              <p:spPr>
                <a:xfrm flipH="1">
                  <a:off x="-1" y="-1"/>
                  <a:ext cx="76202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  <p:sp>
              <p:nvSpPr>
                <p:cNvPr id="421" name="线条"/>
                <p:cNvSpPr/>
                <p:nvPr/>
              </p:nvSpPr>
              <p:spPr>
                <a:xfrm>
                  <a:off x="76200" y="-1"/>
                  <a:ext cx="76200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</p:grpSp>
          <p:sp>
            <p:nvSpPr>
              <p:cNvPr id="423" name="线条"/>
              <p:cNvSpPr/>
              <p:nvPr/>
            </p:nvSpPr>
            <p:spPr>
              <a:xfrm>
                <a:off x="2676130" y="264575"/>
                <a:ext cx="468314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24" name="线条"/>
              <p:cNvSpPr/>
              <p:nvPr/>
            </p:nvSpPr>
            <p:spPr>
              <a:xfrm>
                <a:off x="4369992" y="228063"/>
                <a:ext cx="395290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25" name="head"/>
              <p:cNvSpPr txBox="1"/>
              <p:nvPr/>
            </p:nvSpPr>
            <p:spPr>
              <a:xfrm>
                <a:off x="0" y="14544"/>
                <a:ext cx="828068" cy="495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r>
                  <a:t>head</a:t>
                </a:r>
              </a:p>
            </p:txBody>
          </p:sp>
          <p:sp>
            <p:nvSpPr>
              <p:cNvPr id="426" name="线条"/>
              <p:cNvSpPr/>
              <p:nvPr/>
            </p:nvSpPr>
            <p:spPr>
              <a:xfrm>
                <a:off x="921258" y="262602"/>
                <a:ext cx="567422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430" name="成组"/>
            <p:cNvGrpSpPr/>
            <p:nvPr/>
          </p:nvGrpSpPr>
          <p:grpSpPr>
            <a:xfrm>
              <a:off x="1826341" y="934572"/>
              <a:ext cx="408941" cy="739852"/>
              <a:chOff x="0" y="0"/>
              <a:chExt cx="408940" cy="739851"/>
            </a:xfrm>
          </p:grpSpPr>
          <p:sp>
            <p:nvSpPr>
              <p:cNvPr id="428" name="a0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0</a:t>
                </a:r>
              </a:p>
            </p:txBody>
          </p:sp>
          <p:sp>
            <p:nvSpPr>
              <p:cNvPr id="429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433" name="成组"/>
            <p:cNvGrpSpPr/>
            <p:nvPr/>
          </p:nvGrpSpPr>
          <p:grpSpPr>
            <a:xfrm>
              <a:off x="3488921" y="934572"/>
              <a:ext cx="408941" cy="739852"/>
              <a:chOff x="0" y="0"/>
              <a:chExt cx="408940" cy="739851"/>
            </a:xfrm>
          </p:grpSpPr>
          <p:sp>
            <p:nvSpPr>
              <p:cNvPr id="431" name="a1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1</a:t>
                </a:r>
              </a:p>
            </p:txBody>
          </p:sp>
          <p:sp>
            <p:nvSpPr>
              <p:cNvPr id="432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436" name="成组"/>
            <p:cNvGrpSpPr/>
            <p:nvPr/>
          </p:nvGrpSpPr>
          <p:grpSpPr>
            <a:xfrm>
              <a:off x="5121798" y="934572"/>
              <a:ext cx="408942" cy="739852"/>
              <a:chOff x="0" y="0"/>
              <a:chExt cx="408940" cy="739851"/>
            </a:xfrm>
          </p:grpSpPr>
          <p:sp>
            <p:nvSpPr>
              <p:cNvPr id="434" name="a2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2</a:t>
                </a:r>
              </a:p>
            </p:txBody>
          </p:sp>
          <p:sp>
            <p:nvSpPr>
              <p:cNvPr id="435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</p:grpSp>
      <p:sp>
        <p:nvSpPr>
          <p:cNvPr id="438" name="本质上是顺序查找"/>
          <p:cNvSpPr txBox="1"/>
          <p:nvPr/>
        </p:nvSpPr>
        <p:spPr>
          <a:xfrm>
            <a:off x="1345334" y="4173668"/>
            <a:ext cx="26543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本质上是顺序查找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int indexOf(T x)"/>
          <p:cNvSpPr txBox="1"/>
          <p:nvPr/>
        </p:nvSpPr>
        <p:spPr>
          <a:xfrm>
            <a:off x="1090612" y="47277"/>
            <a:ext cx="6731001" cy="62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int indexOf(T x)</a:t>
            </a:r>
          </a:p>
        </p:txBody>
      </p:sp>
      <p:sp>
        <p:nvSpPr>
          <p:cNvPr id="441" name="public int indexOf(T x) {…"/>
          <p:cNvSpPr txBox="1"/>
          <p:nvPr/>
        </p:nvSpPr>
        <p:spPr>
          <a:xfrm>
            <a:off x="43178" y="2504129"/>
            <a:ext cx="8992898" cy="3074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indexOf(T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 {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= 0;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, index++ {</a:t>
            </a:r>
          </a:p>
          <a:p>
            <a:pPr lvl="6" indent="137160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.equals(</a:t>
            </a:r>
            <a:r>
              <a:rPr>
                <a:solidFill>
                  <a:srgbClr val="7E504F"/>
                </a:solidFill>
              </a:rPr>
              <a:t>x</a:t>
            </a:r>
            <a:r>
              <a:t>))</a:t>
            </a:r>
            <a:r>
              <a:rPr>
                <a:solidFill>
                  <a:schemeClr val="accent5"/>
                </a:solidFill>
              </a:rPr>
              <a:t>//这种表达方式数据不能有null</a:t>
            </a:r>
          </a:p>
          <a:p>
            <a:pPr>
              <a:defRPr sz="19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19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-1;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469" name="成组"/>
          <p:cNvGrpSpPr/>
          <p:nvPr/>
        </p:nvGrpSpPr>
        <p:grpSpPr>
          <a:xfrm>
            <a:off x="1560709" y="841791"/>
            <a:ext cx="6133707" cy="1674424"/>
            <a:chOff x="0" y="0"/>
            <a:chExt cx="6133705" cy="1674423"/>
          </a:xfrm>
        </p:grpSpPr>
        <p:sp>
          <p:nvSpPr>
            <p:cNvPr id="442" name="p"/>
            <p:cNvSpPr txBox="1"/>
            <p:nvPr/>
          </p:nvSpPr>
          <p:spPr>
            <a:xfrm>
              <a:off x="1875122" y="0"/>
              <a:ext cx="296814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p</a:t>
              </a:r>
            </a:p>
          </p:txBody>
        </p:sp>
        <p:sp>
          <p:nvSpPr>
            <p:cNvPr id="443" name="线条"/>
            <p:cNvSpPr/>
            <p:nvPr/>
          </p:nvSpPr>
          <p:spPr>
            <a:xfrm>
              <a:off x="2023528" y="448602"/>
              <a:ext cx="1" cy="25326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grpSp>
          <p:nvGrpSpPr>
            <p:cNvPr id="459" name="成组"/>
            <p:cNvGrpSpPr/>
            <p:nvPr/>
          </p:nvGrpSpPr>
          <p:grpSpPr>
            <a:xfrm>
              <a:off x="0" y="687306"/>
              <a:ext cx="6133706" cy="499271"/>
              <a:chOff x="0" y="10575"/>
              <a:chExt cx="6133705" cy="499269"/>
            </a:xfrm>
          </p:grpSpPr>
          <p:sp>
            <p:nvSpPr>
              <p:cNvPr id="444" name="成组"/>
              <p:cNvSpPr/>
              <p:nvPr/>
            </p:nvSpPr>
            <p:spPr>
              <a:xfrm>
                <a:off x="1488679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45" name="矩形"/>
              <p:cNvSpPr/>
              <p:nvPr/>
            </p:nvSpPr>
            <p:spPr>
              <a:xfrm>
                <a:off x="2496742" y="10575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46" name="椭圆形"/>
              <p:cNvSpPr/>
              <p:nvPr/>
            </p:nvSpPr>
            <p:spPr>
              <a:xfrm>
                <a:off x="2641205" y="226475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47" name="成组"/>
              <p:cNvSpPr/>
              <p:nvPr/>
            </p:nvSpPr>
            <p:spPr>
              <a:xfrm>
                <a:off x="3144442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48" name="矩形"/>
              <p:cNvSpPr/>
              <p:nvPr/>
            </p:nvSpPr>
            <p:spPr>
              <a:xfrm>
                <a:off x="4152505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49" name="成组"/>
              <p:cNvSpPr/>
              <p:nvPr/>
            </p:nvSpPr>
            <p:spPr>
              <a:xfrm>
                <a:off x="4765279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50" name="矩形"/>
              <p:cNvSpPr/>
              <p:nvPr/>
            </p:nvSpPr>
            <p:spPr>
              <a:xfrm>
                <a:off x="5773342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51" name="椭圆形"/>
              <p:cNvSpPr/>
              <p:nvPr/>
            </p:nvSpPr>
            <p:spPr>
              <a:xfrm>
                <a:off x="4333480" y="193138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grpSp>
            <p:nvGrpSpPr>
              <p:cNvPr id="454" name="成组"/>
              <p:cNvGrpSpPr/>
              <p:nvPr/>
            </p:nvGrpSpPr>
            <p:grpSpPr>
              <a:xfrm>
                <a:off x="5846367" y="107413"/>
                <a:ext cx="152401" cy="228601"/>
                <a:chOff x="0" y="0"/>
                <a:chExt cx="152399" cy="228600"/>
              </a:xfrm>
            </p:grpSpPr>
            <p:sp>
              <p:nvSpPr>
                <p:cNvPr id="452" name="线条"/>
                <p:cNvSpPr/>
                <p:nvPr/>
              </p:nvSpPr>
              <p:spPr>
                <a:xfrm flipH="1">
                  <a:off x="-1" y="-1"/>
                  <a:ext cx="76202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  <p:sp>
              <p:nvSpPr>
                <p:cNvPr id="453" name="线条"/>
                <p:cNvSpPr/>
                <p:nvPr/>
              </p:nvSpPr>
              <p:spPr>
                <a:xfrm>
                  <a:off x="76200" y="-1"/>
                  <a:ext cx="76200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</p:grpSp>
          <p:sp>
            <p:nvSpPr>
              <p:cNvPr id="455" name="线条"/>
              <p:cNvSpPr/>
              <p:nvPr/>
            </p:nvSpPr>
            <p:spPr>
              <a:xfrm>
                <a:off x="2676130" y="264575"/>
                <a:ext cx="468314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56" name="线条"/>
              <p:cNvSpPr/>
              <p:nvPr/>
            </p:nvSpPr>
            <p:spPr>
              <a:xfrm>
                <a:off x="4369992" y="228063"/>
                <a:ext cx="395290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57" name="head"/>
              <p:cNvSpPr txBox="1"/>
              <p:nvPr/>
            </p:nvSpPr>
            <p:spPr>
              <a:xfrm>
                <a:off x="0" y="14544"/>
                <a:ext cx="828068" cy="495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r>
                  <a:t>head</a:t>
                </a:r>
              </a:p>
            </p:txBody>
          </p:sp>
          <p:sp>
            <p:nvSpPr>
              <p:cNvPr id="458" name="线条"/>
              <p:cNvSpPr/>
              <p:nvPr/>
            </p:nvSpPr>
            <p:spPr>
              <a:xfrm>
                <a:off x="921258" y="262602"/>
                <a:ext cx="567422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462" name="成组"/>
            <p:cNvGrpSpPr/>
            <p:nvPr/>
          </p:nvGrpSpPr>
          <p:grpSpPr>
            <a:xfrm>
              <a:off x="1826341" y="934572"/>
              <a:ext cx="408941" cy="739852"/>
              <a:chOff x="0" y="0"/>
              <a:chExt cx="408940" cy="739851"/>
            </a:xfrm>
          </p:grpSpPr>
          <p:sp>
            <p:nvSpPr>
              <p:cNvPr id="460" name="a0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0</a:t>
                </a:r>
              </a:p>
            </p:txBody>
          </p:sp>
          <p:sp>
            <p:nvSpPr>
              <p:cNvPr id="461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465" name="成组"/>
            <p:cNvGrpSpPr/>
            <p:nvPr/>
          </p:nvGrpSpPr>
          <p:grpSpPr>
            <a:xfrm>
              <a:off x="3488921" y="934572"/>
              <a:ext cx="408941" cy="739852"/>
              <a:chOff x="0" y="0"/>
              <a:chExt cx="408940" cy="739851"/>
            </a:xfrm>
          </p:grpSpPr>
          <p:sp>
            <p:nvSpPr>
              <p:cNvPr id="463" name="a1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1</a:t>
                </a:r>
              </a:p>
            </p:txBody>
          </p:sp>
          <p:sp>
            <p:nvSpPr>
              <p:cNvPr id="464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468" name="成组"/>
            <p:cNvGrpSpPr/>
            <p:nvPr/>
          </p:nvGrpSpPr>
          <p:grpSpPr>
            <a:xfrm>
              <a:off x="5121798" y="934572"/>
              <a:ext cx="408942" cy="739852"/>
              <a:chOff x="0" y="0"/>
              <a:chExt cx="408940" cy="739851"/>
            </a:xfrm>
          </p:grpSpPr>
          <p:sp>
            <p:nvSpPr>
              <p:cNvPr id="466" name="a2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2</a:t>
                </a:r>
              </a:p>
            </p:txBody>
          </p:sp>
          <p:sp>
            <p:nvSpPr>
              <p:cNvPr id="467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</p:grp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int indexOf(T x)"/>
          <p:cNvSpPr txBox="1"/>
          <p:nvPr/>
        </p:nvSpPr>
        <p:spPr>
          <a:xfrm>
            <a:off x="1090612" y="47277"/>
            <a:ext cx="6731001" cy="62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int indexOf(T x)</a:t>
            </a:r>
          </a:p>
        </p:txBody>
      </p:sp>
      <p:sp>
        <p:nvSpPr>
          <p:cNvPr id="472" name="public int indexOf(T x) {…"/>
          <p:cNvSpPr txBox="1"/>
          <p:nvPr/>
        </p:nvSpPr>
        <p:spPr>
          <a:xfrm>
            <a:off x="105033" y="2382583"/>
            <a:ext cx="8902184" cy="3543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indexOf(T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= 0;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) {</a:t>
            </a:r>
          </a:p>
          <a:p>
            <a:pPr lvl="6" indent="137160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x</a:t>
            </a:r>
            <a:r>
              <a:t>.equals(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))</a:t>
            </a:r>
            <a:r>
              <a:rPr>
                <a:solidFill>
                  <a:schemeClr val="accent5"/>
                </a:solidFill>
              </a:rPr>
              <a:t>//这种表达方式x不能为null</a:t>
            </a:r>
            <a:r>
              <a:t>			</a:t>
            </a: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++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-1;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500" name="成组"/>
          <p:cNvGrpSpPr/>
          <p:nvPr/>
        </p:nvGrpSpPr>
        <p:grpSpPr>
          <a:xfrm>
            <a:off x="1560709" y="829091"/>
            <a:ext cx="6133707" cy="1674424"/>
            <a:chOff x="0" y="0"/>
            <a:chExt cx="6133705" cy="1674423"/>
          </a:xfrm>
        </p:grpSpPr>
        <p:sp>
          <p:nvSpPr>
            <p:cNvPr id="473" name="p"/>
            <p:cNvSpPr txBox="1"/>
            <p:nvPr/>
          </p:nvSpPr>
          <p:spPr>
            <a:xfrm>
              <a:off x="1875122" y="0"/>
              <a:ext cx="296814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p</a:t>
              </a:r>
            </a:p>
          </p:txBody>
        </p:sp>
        <p:sp>
          <p:nvSpPr>
            <p:cNvPr id="474" name="线条"/>
            <p:cNvSpPr/>
            <p:nvPr/>
          </p:nvSpPr>
          <p:spPr>
            <a:xfrm>
              <a:off x="2023528" y="448602"/>
              <a:ext cx="1" cy="25326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grpSp>
          <p:nvGrpSpPr>
            <p:cNvPr id="490" name="成组"/>
            <p:cNvGrpSpPr/>
            <p:nvPr/>
          </p:nvGrpSpPr>
          <p:grpSpPr>
            <a:xfrm>
              <a:off x="0" y="687306"/>
              <a:ext cx="6133706" cy="499271"/>
              <a:chOff x="0" y="10575"/>
              <a:chExt cx="6133705" cy="499269"/>
            </a:xfrm>
          </p:grpSpPr>
          <p:sp>
            <p:nvSpPr>
              <p:cNvPr id="475" name="成组"/>
              <p:cNvSpPr/>
              <p:nvPr/>
            </p:nvSpPr>
            <p:spPr>
              <a:xfrm>
                <a:off x="1488679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76" name="矩形"/>
              <p:cNvSpPr/>
              <p:nvPr/>
            </p:nvSpPr>
            <p:spPr>
              <a:xfrm>
                <a:off x="2496742" y="10575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77" name="椭圆形"/>
              <p:cNvSpPr/>
              <p:nvPr/>
            </p:nvSpPr>
            <p:spPr>
              <a:xfrm>
                <a:off x="2641205" y="226475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78" name="成组"/>
              <p:cNvSpPr/>
              <p:nvPr/>
            </p:nvSpPr>
            <p:spPr>
              <a:xfrm>
                <a:off x="3144442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79" name="矩形"/>
              <p:cNvSpPr/>
              <p:nvPr/>
            </p:nvSpPr>
            <p:spPr>
              <a:xfrm>
                <a:off x="4152505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80" name="成组"/>
              <p:cNvSpPr/>
              <p:nvPr/>
            </p:nvSpPr>
            <p:spPr>
              <a:xfrm>
                <a:off x="4765279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81" name="矩形"/>
              <p:cNvSpPr/>
              <p:nvPr/>
            </p:nvSpPr>
            <p:spPr>
              <a:xfrm>
                <a:off x="5773342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82" name="椭圆形"/>
              <p:cNvSpPr/>
              <p:nvPr/>
            </p:nvSpPr>
            <p:spPr>
              <a:xfrm>
                <a:off x="4333480" y="193138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grpSp>
            <p:nvGrpSpPr>
              <p:cNvPr id="485" name="成组"/>
              <p:cNvGrpSpPr/>
              <p:nvPr/>
            </p:nvGrpSpPr>
            <p:grpSpPr>
              <a:xfrm>
                <a:off x="5846367" y="107413"/>
                <a:ext cx="152401" cy="228601"/>
                <a:chOff x="0" y="0"/>
                <a:chExt cx="152399" cy="228600"/>
              </a:xfrm>
            </p:grpSpPr>
            <p:sp>
              <p:nvSpPr>
                <p:cNvPr id="483" name="线条"/>
                <p:cNvSpPr/>
                <p:nvPr/>
              </p:nvSpPr>
              <p:spPr>
                <a:xfrm flipH="1">
                  <a:off x="-1" y="-1"/>
                  <a:ext cx="76202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  <p:sp>
              <p:nvSpPr>
                <p:cNvPr id="484" name="线条"/>
                <p:cNvSpPr/>
                <p:nvPr/>
              </p:nvSpPr>
              <p:spPr>
                <a:xfrm>
                  <a:off x="76200" y="-1"/>
                  <a:ext cx="76200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</p:grpSp>
          <p:sp>
            <p:nvSpPr>
              <p:cNvPr id="486" name="线条"/>
              <p:cNvSpPr/>
              <p:nvPr/>
            </p:nvSpPr>
            <p:spPr>
              <a:xfrm>
                <a:off x="2676130" y="264575"/>
                <a:ext cx="468314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87" name="线条"/>
              <p:cNvSpPr/>
              <p:nvPr/>
            </p:nvSpPr>
            <p:spPr>
              <a:xfrm>
                <a:off x="4369992" y="228063"/>
                <a:ext cx="395290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488" name="head"/>
              <p:cNvSpPr txBox="1"/>
              <p:nvPr/>
            </p:nvSpPr>
            <p:spPr>
              <a:xfrm>
                <a:off x="0" y="14544"/>
                <a:ext cx="828068" cy="495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r>
                  <a:t>head</a:t>
                </a:r>
              </a:p>
            </p:txBody>
          </p:sp>
          <p:sp>
            <p:nvSpPr>
              <p:cNvPr id="489" name="线条"/>
              <p:cNvSpPr/>
              <p:nvPr/>
            </p:nvSpPr>
            <p:spPr>
              <a:xfrm>
                <a:off x="921258" y="262602"/>
                <a:ext cx="567422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493" name="成组"/>
            <p:cNvGrpSpPr/>
            <p:nvPr/>
          </p:nvGrpSpPr>
          <p:grpSpPr>
            <a:xfrm>
              <a:off x="1826341" y="934572"/>
              <a:ext cx="408941" cy="739852"/>
              <a:chOff x="0" y="0"/>
              <a:chExt cx="408940" cy="739851"/>
            </a:xfrm>
          </p:grpSpPr>
          <p:sp>
            <p:nvSpPr>
              <p:cNvPr id="491" name="a0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0</a:t>
                </a:r>
              </a:p>
            </p:txBody>
          </p:sp>
          <p:sp>
            <p:nvSpPr>
              <p:cNvPr id="492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496" name="成组"/>
            <p:cNvGrpSpPr/>
            <p:nvPr/>
          </p:nvGrpSpPr>
          <p:grpSpPr>
            <a:xfrm>
              <a:off x="3488921" y="934572"/>
              <a:ext cx="408941" cy="739852"/>
              <a:chOff x="0" y="0"/>
              <a:chExt cx="408940" cy="739851"/>
            </a:xfrm>
          </p:grpSpPr>
          <p:sp>
            <p:nvSpPr>
              <p:cNvPr id="494" name="a1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1</a:t>
                </a:r>
              </a:p>
            </p:txBody>
          </p:sp>
          <p:sp>
            <p:nvSpPr>
              <p:cNvPr id="495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499" name="成组"/>
            <p:cNvGrpSpPr/>
            <p:nvPr/>
          </p:nvGrpSpPr>
          <p:grpSpPr>
            <a:xfrm>
              <a:off x="5121798" y="934572"/>
              <a:ext cx="408942" cy="739852"/>
              <a:chOff x="0" y="0"/>
              <a:chExt cx="408940" cy="739851"/>
            </a:xfrm>
          </p:grpSpPr>
          <p:sp>
            <p:nvSpPr>
              <p:cNvPr id="497" name="a2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2</a:t>
                </a:r>
              </a:p>
            </p:txBody>
          </p:sp>
          <p:sp>
            <p:nvSpPr>
              <p:cNvPr id="498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</p:grp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int indexOf(T x)"/>
          <p:cNvSpPr txBox="1"/>
          <p:nvPr/>
        </p:nvSpPr>
        <p:spPr>
          <a:xfrm>
            <a:off x="1090612" y="47277"/>
            <a:ext cx="6731001" cy="62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int indexOf(T x)</a:t>
            </a:r>
          </a:p>
        </p:txBody>
      </p:sp>
      <p:sp>
        <p:nvSpPr>
          <p:cNvPr id="503" name="public int indexOf1(T x) {…"/>
          <p:cNvSpPr txBox="1"/>
          <p:nvPr/>
        </p:nvSpPr>
        <p:spPr>
          <a:xfrm>
            <a:off x="326431" y="1322940"/>
            <a:ext cx="7217074" cy="4885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indexOf1(T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 {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x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 {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= 0;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) {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defRPr sz="16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	++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} 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{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= 0;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) {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x</a:t>
            </a:r>
            <a:r>
              <a:t>.equals(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))</a:t>
            </a:r>
          </a:p>
          <a:p>
            <a:pPr>
              <a:defRPr sz="16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	++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16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-1;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504" name="x可以是null，数据中也可以有null"/>
          <p:cNvSpPr txBox="1"/>
          <p:nvPr/>
        </p:nvSpPr>
        <p:spPr>
          <a:xfrm>
            <a:off x="593328" y="797787"/>
            <a:ext cx="4753397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x可以是null，数据中也可以有null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index= 0:  p所指的就是，找下一个结点0次"/>
          <p:cNvSpPr txBox="1"/>
          <p:nvPr/>
        </p:nvSpPr>
        <p:spPr>
          <a:xfrm>
            <a:off x="963930" y="2588432"/>
            <a:ext cx="5736888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index= 0:  p所指的就是，找下一个结点0次</a:t>
            </a:r>
          </a:p>
        </p:txBody>
      </p:sp>
      <p:sp>
        <p:nvSpPr>
          <p:cNvPr id="507" name="index = 1:  找下一个结点1次"/>
          <p:cNvSpPr txBox="1"/>
          <p:nvPr/>
        </p:nvSpPr>
        <p:spPr>
          <a:xfrm>
            <a:off x="963930" y="3045632"/>
            <a:ext cx="3831888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index = 1:  找下一个结点1次</a:t>
            </a:r>
          </a:p>
        </p:txBody>
      </p:sp>
      <p:sp>
        <p:nvSpPr>
          <p:cNvPr id="508" name="index = 2:  找下一个结点2次"/>
          <p:cNvSpPr txBox="1"/>
          <p:nvPr/>
        </p:nvSpPr>
        <p:spPr>
          <a:xfrm>
            <a:off x="963930" y="3540932"/>
            <a:ext cx="3831888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index = 2:  找下一个结点2次</a:t>
            </a:r>
          </a:p>
        </p:txBody>
      </p:sp>
      <p:sp>
        <p:nvSpPr>
          <p:cNvPr id="509" name="需要执行index次找下一个结点的操作：p=p.next。"/>
          <p:cNvSpPr txBox="1"/>
          <p:nvPr/>
        </p:nvSpPr>
        <p:spPr>
          <a:xfrm>
            <a:off x="963930" y="3998132"/>
            <a:ext cx="678657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需要执行index次找下一个结点的操作：p=p.next。</a:t>
            </a:r>
          </a:p>
        </p:txBody>
      </p:sp>
      <p:sp>
        <p:nvSpPr>
          <p:cNvPr id="510" name="p = head"/>
          <p:cNvSpPr txBox="1"/>
          <p:nvPr/>
        </p:nvSpPr>
        <p:spPr>
          <a:xfrm>
            <a:off x="887730" y="2174821"/>
            <a:ext cx="1283207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p = head</a:t>
            </a:r>
          </a:p>
        </p:txBody>
      </p:sp>
      <p:grpSp>
        <p:nvGrpSpPr>
          <p:cNvPr id="538" name="成组"/>
          <p:cNvGrpSpPr/>
          <p:nvPr/>
        </p:nvGrpSpPr>
        <p:grpSpPr>
          <a:xfrm>
            <a:off x="1389259" y="601856"/>
            <a:ext cx="6133707" cy="1674425"/>
            <a:chOff x="0" y="0"/>
            <a:chExt cx="6133705" cy="1674423"/>
          </a:xfrm>
        </p:grpSpPr>
        <p:sp>
          <p:nvSpPr>
            <p:cNvPr id="511" name="p"/>
            <p:cNvSpPr txBox="1"/>
            <p:nvPr/>
          </p:nvSpPr>
          <p:spPr>
            <a:xfrm>
              <a:off x="1875122" y="0"/>
              <a:ext cx="296814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p</a:t>
              </a:r>
            </a:p>
          </p:txBody>
        </p:sp>
        <p:sp>
          <p:nvSpPr>
            <p:cNvPr id="512" name="线条"/>
            <p:cNvSpPr/>
            <p:nvPr/>
          </p:nvSpPr>
          <p:spPr>
            <a:xfrm>
              <a:off x="2023528" y="448602"/>
              <a:ext cx="1" cy="25326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grpSp>
          <p:nvGrpSpPr>
            <p:cNvPr id="528" name="成组"/>
            <p:cNvGrpSpPr/>
            <p:nvPr/>
          </p:nvGrpSpPr>
          <p:grpSpPr>
            <a:xfrm>
              <a:off x="0" y="687306"/>
              <a:ext cx="6133706" cy="499271"/>
              <a:chOff x="0" y="10575"/>
              <a:chExt cx="6133705" cy="499269"/>
            </a:xfrm>
          </p:grpSpPr>
          <p:sp>
            <p:nvSpPr>
              <p:cNvPr id="513" name="成组"/>
              <p:cNvSpPr/>
              <p:nvPr/>
            </p:nvSpPr>
            <p:spPr>
              <a:xfrm>
                <a:off x="1488679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14" name="矩形"/>
              <p:cNvSpPr/>
              <p:nvPr/>
            </p:nvSpPr>
            <p:spPr>
              <a:xfrm>
                <a:off x="2496742" y="10575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15" name="椭圆形"/>
              <p:cNvSpPr/>
              <p:nvPr/>
            </p:nvSpPr>
            <p:spPr>
              <a:xfrm>
                <a:off x="2641205" y="226475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16" name="成组"/>
              <p:cNvSpPr/>
              <p:nvPr/>
            </p:nvSpPr>
            <p:spPr>
              <a:xfrm>
                <a:off x="3144442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17" name="矩形"/>
              <p:cNvSpPr/>
              <p:nvPr/>
            </p:nvSpPr>
            <p:spPr>
              <a:xfrm>
                <a:off x="4152505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18" name="成组"/>
              <p:cNvSpPr/>
              <p:nvPr/>
            </p:nvSpPr>
            <p:spPr>
              <a:xfrm>
                <a:off x="4765279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19" name="矩形"/>
              <p:cNvSpPr/>
              <p:nvPr/>
            </p:nvSpPr>
            <p:spPr>
              <a:xfrm>
                <a:off x="5773342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20" name="椭圆形"/>
              <p:cNvSpPr/>
              <p:nvPr/>
            </p:nvSpPr>
            <p:spPr>
              <a:xfrm>
                <a:off x="4333480" y="193138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grpSp>
            <p:nvGrpSpPr>
              <p:cNvPr id="523" name="成组"/>
              <p:cNvGrpSpPr/>
              <p:nvPr/>
            </p:nvGrpSpPr>
            <p:grpSpPr>
              <a:xfrm>
                <a:off x="5846367" y="107413"/>
                <a:ext cx="152401" cy="228601"/>
                <a:chOff x="0" y="0"/>
                <a:chExt cx="152399" cy="228600"/>
              </a:xfrm>
            </p:grpSpPr>
            <p:sp>
              <p:nvSpPr>
                <p:cNvPr id="521" name="线条"/>
                <p:cNvSpPr/>
                <p:nvPr/>
              </p:nvSpPr>
              <p:spPr>
                <a:xfrm flipH="1">
                  <a:off x="-1" y="-1"/>
                  <a:ext cx="76202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  <p:sp>
              <p:nvSpPr>
                <p:cNvPr id="522" name="线条"/>
                <p:cNvSpPr/>
                <p:nvPr/>
              </p:nvSpPr>
              <p:spPr>
                <a:xfrm>
                  <a:off x="76200" y="-1"/>
                  <a:ext cx="76200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</p:grpSp>
          <p:sp>
            <p:nvSpPr>
              <p:cNvPr id="524" name="线条"/>
              <p:cNvSpPr/>
              <p:nvPr/>
            </p:nvSpPr>
            <p:spPr>
              <a:xfrm>
                <a:off x="2676130" y="264575"/>
                <a:ext cx="468314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25" name="线条"/>
              <p:cNvSpPr/>
              <p:nvPr/>
            </p:nvSpPr>
            <p:spPr>
              <a:xfrm>
                <a:off x="4369992" y="228063"/>
                <a:ext cx="395290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26" name="head"/>
              <p:cNvSpPr txBox="1"/>
              <p:nvPr/>
            </p:nvSpPr>
            <p:spPr>
              <a:xfrm>
                <a:off x="0" y="14544"/>
                <a:ext cx="828068" cy="495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r>
                  <a:t>head</a:t>
                </a:r>
              </a:p>
            </p:txBody>
          </p:sp>
          <p:sp>
            <p:nvSpPr>
              <p:cNvPr id="527" name="线条"/>
              <p:cNvSpPr/>
              <p:nvPr/>
            </p:nvSpPr>
            <p:spPr>
              <a:xfrm>
                <a:off x="921258" y="262602"/>
                <a:ext cx="567422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531" name="成组"/>
            <p:cNvGrpSpPr/>
            <p:nvPr/>
          </p:nvGrpSpPr>
          <p:grpSpPr>
            <a:xfrm>
              <a:off x="1826341" y="934572"/>
              <a:ext cx="408941" cy="739852"/>
              <a:chOff x="0" y="0"/>
              <a:chExt cx="408940" cy="739851"/>
            </a:xfrm>
          </p:grpSpPr>
          <p:sp>
            <p:nvSpPr>
              <p:cNvPr id="529" name="a0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0</a:t>
                </a:r>
              </a:p>
            </p:txBody>
          </p:sp>
          <p:sp>
            <p:nvSpPr>
              <p:cNvPr id="530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534" name="成组"/>
            <p:cNvGrpSpPr/>
            <p:nvPr/>
          </p:nvGrpSpPr>
          <p:grpSpPr>
            <a:xfrm>
              <a:off x="3488921" y="934572"/>
              <a:ext cx="408941" cy="739852"/>
              <a:chOff x="0" y="0"/>
              <a:chExt cx="408940" cy="739851"/>
            </a:xfrm>
          </p:grpSpPr>
          <p:sp>
            <p:nvSpPr>
              <p:cNvPr id="532" name="a1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1</a:t>
                </a:r>
              </a:p>
            </p:txBody>
          </p:sp>
          <p:sp>
            <p:nvSpPr>
              <p:cNvPr id="533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537" name="成组"/>
            <p:cNvGrpSpPr/>
            <p:nvPr/>
          </p:nvGrpSpPr>
          <p:grpSpPr>
            <a:xfrm>
              <a:off x="5121798" y="934572"/>
              <a:ext cx="408942" cy="739852"/>
              <a:chOff x="0" y="0"/>
              <a:chExt cx="408940" cy="739851"/>
            </a:xfrm>
          </p:grpSpPr>
          <p:sp>
            <p:nvSpPr>
              <p:cNvPr id="535" name="a2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2</a:t>
                </a:r>
              </a:p>
            </p:txBody>
          </p:sp>
          <p:sp>
            <p:nvSpPr>
              <p:cNvPr id="536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</p:grpSp>
      <p:sp>
        <p:nvSpPr>
          <p:cNvPr id="539" name="找到索引号为index的结点"/>
          <p:cNvSpPr txBox="1"/>
          <p:nvPr/>
        </p:nvSpPr>
        <p:spPr>
          <a:xfrm>
            <a:off x="1090612" y="47277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找到索引号为index的结点</a:t>
            </a:r>
          </a:p>
        </p:txBody>
      </p:sp>
      <p:sp>
        <p:nvSpPr>
          <p:cNvPr id="540" name="Node&lt;T&gt; p = head;…"/>
          <p:cNvSpPr txBox="1"/>
          <p:nvPr/>
        </p:nvSpPr>
        <p:spPr>
          <a:xfrm>
            <a:off x="364793" y="4601382"/>
            <a:ext cx="6935162" cy="1751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chemeClr val="accent5"/>
                </a:solidFill>
              </a:rPr>
              <a:t>index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>
              <a:defRPr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;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T get(int index)"/>
          <p:cNvSpPr txBox="1"/>
          <p:nvPr/>
        </p:nvSpPr>
        <p:spPr>
          <a:xfrm>
            <a:off x="1090612" y="47277"/>
            <a:ext cx="6731001" cy="62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T get(int index)</a:t>
            </a:r>
          </a:p>
        </p:txBody>
      </p:sp>
      <p:sp>
        <p:nvSpPr>
          <p:cNvPr id="543" name="public T get(int index) {…"/>
          <p:cNvSpPr txBox="1"/>
          <p:nvPr/>
        </p:nvSpPr>
        <p:spPr>
          <a:xfrm>
            <a:off x="1083623" y="856049"/>
            <a:ext cx="6935162" cy="391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get(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 {</a:t>
            </a:r>
          </a:p>
          <a:p>
            <a:pPr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);</a:t>
            </a:r>
          </a:p>
          <a:p>
            <a:pPr>
              <a:defRPr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找到结点index</a:t>
            </a:r>
          </a:p>
          <a:p>
            <a:pPr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>
              <a:defRPr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>
                <a:latin typeface="Monaco"/>
                <a:ea typeface="Monaco"/>
                <a:cs typeface="Monaco"/>
                <a:sym typeface="Monaco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找到索引号为index的结点的前驱结点"/>
          <p:cNvSpPr txBox="1"/>
          <p:nvPr/>
        </p:nvSpPr>
        <p:spPr>
          <a:xfrm>
            <a:off x="1241623" y="77291"/>
            <a:ext cx="6731001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584200">
              <a:defRPr sz="31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找到索引号为index的结点的前驱结点</a:t>
            </a:r>
          </a:p>
        </p:txBody>
      </p:sp>
      <p:sp>
        <p:nvSpPr>
          <p:cNvPr id="546" name="Node&lt;T&gt; p = head;…"/>
          <p:cNvSpPr txBox="1"/>
          <p:nvPr/>
        </p:nvSpPr>
        <p:spPr>
          <a:xfrm>
            <a:off x="455037" y="2997422"/>
            <a:ext cx="7697286" cy="1332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chemeClr val="accent5"/>
                </a:solidFill>
              </a:rPr>
              <a:t>index - 1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>
              <a:defRPr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;</a:t>
            </a:r>
          </a:p>
        </p:txBody>
      </p:sp>
      <p:grpSp>
        <p:nvGrpSpPr>
          <p:cNvPr id="574" name="成组"/>
          <p:cNvGrpSpPr/>
          <p:nvPr/>
        </p:nvGrpSpPr>
        <p:grpSpPr>
          <a:xfrm>
            <a:off x="2500509" y="1248191"/>
            <a:ext cx="6133707" cy="1674424"/>
            <a:chOff x="0" y="0"/>
            <a:chExt cx="6133705" cy="1674423"/>
          </a:xfrm>
        </p:grpSpPr>
        <p:sp>
          <p:nvSpPr>
            <p:cNvPr id="547" name="p"/>
            <p:cNvSpPr txBox="1"/>
            <p:nvPr/>
          </p:nvSpPr>
          <p:spPr>
            <a:xfrm>
              <a:off x="1875122" y="0"/>
              <a:ext cx="296814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p</a:t>
              </a:r>
            </a:p>
          </p:txBody>
        </p:sp>
        <p:sp>
          <p:nvSpPr>
            <p:cNvPr id="548" name="线条"/>
            <p:cNvSpPr/>
            <p:nvPr/>
          </p:nvSpPr>
          <p:spPr>
            <a:xfrm>
              <a:off x="2023528" y="448602"/>
              <a:ext cx="1" cy="25326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grpSp>
          <p:nvGrpSpPr>
            <p:cNvPr id="564" name="成组"/>
            <p:cNvGrpSpPr/>
            <p:nvPr/>
          </p:nvGrpSpPr>
          <p:grpSpPr>
            <a:xfrm>
              <a:off x="0" y="687306"/>
              <a:ext cx="6133706" cy="499271"/>
              <a:chOff x="0" y="10575"/>
              <a:chExt cx="6133705" cy="499269"/>
            </a:xfrm>
          </p:grpSpPr>
          <p:sp>
            <p:nvSpPr>
              <p:cNvPr id="549" name="成组"/>
              <p:cNvSpPr/>
              <p:nvPr/>
            </p:nvSpPr>
            <p:spPr>
              <a:xfrm>
                <a:off x="1488679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50" name="矩形"/>
              <p:cNvSpPr/>
              <p:nvPr/>
            </p:nvSpPr>
            <p:spPr>
              <a:xfrm>
                <a:off x="2496742" y="10575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51" name="椭圆形"/>
              <p:cNvSpPr/>
              <p:nvPr/>
            </p:nvSpPr>
            <p:spPr>
              <a:xfrm>
                <a:off x="2641205" y="226475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52" name="成组"/>
              <p:cNvSpPr/>
              <p:nvPr/>
            </p:nvSpPr>
            <p:spPr>
              <a:xfrm>
                <a:off x="3144442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53" name="矩形"/>
              <p:cNvSpPr/>
              <p:nvPr/>
            </p:nvSpPr>
            <p:spPr>
              <a:xfrm>
                <a:off x="4152505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54" name="成组"/>
              <p:cNvSpPr/>
              <p:nvPr/>
            </p:nvSpPr>
            <p:spPr>
              <a:xfrm>
                <a:off x="4765279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55" name="矩形"/>
              <p:cNvSpPr/>
              <p:nvPr/>
            </p:nvSpPr>
            <p:spPr>
              <a:xfrm>
                <a:off x="5773342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56" name="椭圆形"/>
              <p:cNvSpPr/>
              <p:nvPr/>
            </p:nvSpPr>
            <p:spPr>
              <a:xfrm>
                <a:off x="4333480" y="193138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grpSp>
            <p:nvGrpSpPr>
              <p:cNvPr id="559" name="成组"/>
              <p:cNvGrpSpPr/>
              <p:nvPr/>
            </p:nvGrpSpPr>
            <p:grpSpPr>
              <a:xfrm>
                <a:off x="5846367" y="107413"/>
                <a:ext cx="152401" cy="228601"/>
                <a:chOff x="0" y="0"/>
                <a:chExt cx="152399" cy="228600"/>
              </a:xfrm>
            </p:grpSpPr>
            <p:sp>
              <p:nvSpPr>
                <p:cNvPr id="557" name="线条"/>
                <p:cNvSpPr/>
                <p:nvPr/>
              </p:nvSpPr>
              <p:spPr>
                <a:xfrm flipH="1">
                  <a:off x="-1" y="-1"/>
                  <a:ext cx="76202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  <p:sp>
              <p:nvSpPr>
                <p:cNvPr id="558" name="线条"/>
                <p:cNvSpPr/>
                <p:nvPr/>
              </p:nvSpPr>
              <p:spPr>
                <a:xfrm>
                  <a:off x="76200" y="-1"/>
                  <a:ext cx="76200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</p:grpSp>
          <p:sp>
            <p:nvSpPr>
              <p:cNvPr id="560" name="线条"/>
              <p:cNvSpPr/>
              <p:nvPr/>
            </p:nvSpPr>
            <p:spPr>
              <a:xfrm>
                <a:off x="2676130" y="264575"/>
                <a:ext cx="468314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61" name="线条"/>
              <p:cNvSpPr/>
              <p:nvPr/>
            </p:nvSpPr>
            <p:spPr>
              <a:xfrm>
                <a:off x="4369992" y="228063"/>
                <a:ext cx="395290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562" name="head"/>
              <p:cNvSpPr txBox="1"/>
              <p:nvPr/>
            </p:nvSpPr>
            <p:spPr>
              <a:xfrm>
                <a:off x="0" y="14544"/>
                <a:ext cx="828068" cy="495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r>
                  <a:t>head</a:t>
                </a:r>
              </a:p>
            </p:txBody>
          </p:sp>
          <p:sp>
            <p:nvSpPr>
              <p:cNvPr id="563" name="线条"/>
              <p:cNvSpPr/>
              <p:nvPr/>
            </p:nvSpPr>
            <p:spPr>
              <a:xfrm>
                <a:off x="921258" y="262602"/>
                <a:ext cx="567422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567" name="成组"/>
            <p:cNvGrpSpPr/>
            <p:nvPr/>
          </p:nvGrpSpPr>
          <p:grpSpPr>
            <a:xfrm>
              <a:off x="1826341" y="934572"/>
              <a:ext cx="408941" cy="739852"/>
              <a:chOff x="0" y="0"/>
              <a:chExt cx="408940" cy="739851"/>
            </a:xfrm>
          </p:grpSpPr>
          <p:sp>
            <p:nvSpPr>
              <p:cNvPr id="565" name="a0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0</a:t>
                </a:r>
              </a:p>
            </p:txBody>
          </p:sp>
          <p:sp>
            <p:nvSpPr>
              <p:cNvPr id="566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570" name="成组"/>
            <p:cNvGrpSpPr/>
            <p:nvPr/>
          </p:nvGrpSpPr>
          <p:grpSpPr>
            <a:xfrm>
              <a:off x="3488921" y="934572"/>
              <a:ext cx="408941" cy="739852"/>
              <a:chOff x="0" y="0"/>
              <a:chExt cx="408940" cy="739851"/>
            </a:xfrm>
          </p:grpSpPr>
          <p:sp>
            <p:nvSpPr>
              <p:cNvPr id="568" name="a1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1</a:t>
                </a:r>
              </a:p>
            </p:txBody>
          </p:sp>
          <p:sp>
            <p:nvSpPr>
              <p:cNvPr id="569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573" name="成组"/>
            <p:cNvGrpSpPr/>
            <p:nvPr/>
          </p:nvGrpSpPr>
          <p:grpSpPr>
            <a:xfrm>
              <a:off x="5121798" y="934572"/>
              <a:ext cx="408942" cy="739852"/>
              <a:chOff x="0" y="0"/>
              <a:chExt cx="408940" cy="739851"/>
            </a:xfrm>
          </p:grpSpPr>
          <p:sp>
            <p:nvSpPr>
              <p:cNvPr id="571" name="a2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2</a:t>
                </a:r>
              </a:p>
            </p:txBody>
          </p:sp>
          <p:sp>
            <p:nvSpPr>
              <p:cNvPr id="572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</p:grpSp>
      <p:sp>
        <p:nvSpPr>
          <p:cNvPr id="575" name="注意:结点a0没有前驱结点，但上述代码使得p = head…"/>
          <p:cNvSpPr txBox="1"/>
          <p:nvPr/>
        </p:nvSpPr>
        <p:spPr>
          <a:xfrm>
            <a:off x="270713" y="4596207"/>
            <a:ext cx="7260169" cy="1065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rPr>
                <a:solidFill>
                  <a:schemeClr val="accent5"/>
                </a:solidFill>
              </a:rPr>
              <a:t>注意</a:t>
            </a:r>
            <a:r>
              <a:t>:结点a</a:t>
            </a:r>
            <a:r>
              <a:rPr baseline="-5999"/>
              <a:t>0</a:t>
            </a:r>
            <a:r>
              <a:t>没有前驱结点，但上述代码使得p = head</a:t>
            </a:r>
          </a:p>
          <a:p>
            <a:pPr>
              <a:lnSpc>
                <a:spcPct val="120000"/>
              </a:lnSpc>
            </a:pPr>
            <a:r>
              <a:t>         对于其他的结点，p引用了其前驱结点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一个结点后插入一个新结点作为后继结点"/>
          <p:cNvSpPr txBox="1"/>
          <p:nvPr/>
        </p:nvSpPr>
        <p:spPr>
          <a:xfrm>
            <a:off x="1141412" y="98077"/>
            <a:ext cx="67310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28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一个结点后插入一个新结点作为后继结点</a:t>
            </a:r>
          </a:p>
        </p:txBody>
      </p:sp>
      <p:grpSp>
        <p:nvGrpSpPr>
          <p:cNvPr id="580" name="成组"/>
          <p:cNvGrpSpPr/>
          <p:nvPr/>
        </p:nvGrpSpPr>
        <p:grpSpPr>
          <a:xfrm>
            <a:off x="958550" y="1678824"/>
            <a:ext cx="1008064" cy="489465"/>
            <a:chOff x="0" y="1"/>
            <a:chExt cx="1008062" cy="489463"/>
          </a:xfrm>
        </p:grpSpPr>
        <p:sp>
          <p:nvSpPr>
            <p:cNvPr id="578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579" name="ai-1"/>
            <p:cNvSpPr txBox="1"/>
            <p:nvPr/>
          </p:nvSpPr>
          <p:spPr>
            <a:xfrm>
              <a:off x="237499" y="1"/>
              <a:ext cx="533064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i-1</a:t>
              </a:r>
            </a:p>
          </p:txBody>
        </p:sp>
      </p:grpSp>
      <p:sp>
        <p:nvSpPr>
          <p:cNvPr id="581" name="矩形"/>
          <p:cNvSpPr/>
          <p:nvPr/>
        </p:nvSpPr>
        <p:spPr>
          <a:xfrm>
            <a:off x="1966613" y="1689399"/>
            <a:ext cx="360364" cy="468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582" name="椭圆形"/>
          <p:cNvSpPr/>
          <p:nvPr/>
        </p:nvSpPr>
        <p:spPr>
          <a:xfrm>
            <a:off x="2111075" y="1905299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585" name="成组"/>
          <p:cNvGrpSpPr/>
          <p:nvPr/>
        </p:nvGrpSpPr>
        <p:grpSpPr>
          <a:xfrm>
            <a:off x="2614312" y="1690986"/>
            <a:ext cx="1774033" cy="1504159"/>
            <a:chOff x="0" y="10574"/>
            <a:chExt cx="1774031" cy="1504157"/>
          </a:xfrm>
        </p:grpSpPr>
        <p:sp>
          <p:nvSpPr>
            <p:cNvPr id="583" name="矩形"/>
            <p:cNvSpPr/>
            <p:nvPr/>
          </p:nvSpPr>
          <p:spPr>
            <a:xfrm>
              <a:off x="0" y="10574"/>
              <a:ext cx="1008065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584" name="ai"/>
            <p:cNvSpPr/>
            <p:nvPr/>
          </p:nvSpPr>
          <p:spPr>
            <a:xfrm>
              <a:off x="504031" y="24473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i</a:t>
              </a:r>
            </a:p>
          </p:txBody>
        </p:sp>
      </p:grpSp>
      <p:sp>
        <p:nvSpPr>
          <p:cNvPr id="586" name="矩形"/>
          <p:cNvSpPr/>
          <p:nvPr/>
        </p:nvSpPr>
        <p:spPr>
          <a:xfrm>
            <a:off x="3622375" y="1690987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589" name="成组"/>
          <p:cNvGrpSpPr/>
          <p:nvPr/>
        </p:nvGrpSpPr>
        <p:grpSpPr>
          <a:xfrm>
            <a:off x="4235150" y="1680412"/>
            <a:ext cx="1008064" cy="489465"/>
            <a:chOff x="0" y="1"/>
            <a:chExt cx="1008062" cy="489463"/>
          </a:xfrm>
        </p:grpSpPr>
        <p:sp>
          <p:nvSpPr>
            <p:cNvPr id="587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588" name="ai+1"/>
            <p:cNvSpPr txBox="1"/>
            <p:nvPr/>
          </p:nvSpPr>
          <p:spPr>
            <a:xfrm>
              <a:off x="213439" y="1"/>
              <a:ext cx="581185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i+1</a:t>
              </a:r>
            </a:p>
          </p:txBody>
        </p:sp>
      </p:grpSp>
      <p:sp>
        <p:nvSpPr>
          <p:cNvPr id="590" name="矩形"/>
          <p:cNvSpPr/>
          <p:nvPr/>
        </p:nvSpPr>
        <p:spPr>
          <a:xfrm>
            <a:off x="5243213" y="1690987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591" name="椭圆形"/>
          <p:cNvSpPr/>
          <p:nvPr/>
        </p:nvSpPr>
        <p:spPr>
          <a:xfrm>
            <a:off x="3803350" y="1871962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594" name="成组"/>
          <p:cNvGrpSpPr/>
          <p:nvPr/>
        </p:nvGrpSpPr>
        <p:grpSpPr>
          <a:xfrm>
            <a:off x="5316238" y="1786237"/>
            <a:ext cx="152401" cy="228601"/>
            <a:chOff x="0" y="0"/>
            <a:chExt cx="152399" cy="228600"/>
          </a:xfrm>
        </p:grpSpPr>
        <p:sp>
          <p:nvSpPr>
            <p:cNvPr id="592" name="线条"/>
            <p:cNvSpPr/>
            <p:nvPr/>
          </p:nvSpPr>
          <p:spPr>
            <a:xfrm flipH="1">
              <a:off x="-1" y="-1"/>
              <a:ext cx="76202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593" name="线条"/>
            <p:cNvSpPr/>
            <p:nvPr/>
          </p:nvSpPr>
          <p:spPr>
            <a:xfrm>
              <a:off x="76200" y="-1"/>
              <a:ext cx="76200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595" name="线条"/>
          <p:cNvSpPr/>
          <p:nvPr/>
        </p:nvSpPr>
        <p:spPr>
          <a:xfrm>
            <a:off x="2146000" y="1943398"/>
            <a:ext cx="468314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596" name="线条"/>
          <p:cNvSpPr/>
          <p:nvPr/>
        </p:nvSpPr>
        <p:spPr>
          <a:xfrm>
            <a:off x="3839863" y="1906887"/>
            <a:ext cx="395289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599" name="成组"/>
          <p:cNvGrpSpPr/>
          <p:nvPr/>
        </p:nvGrpSpPr>
        <p:grpSpPr>
          <a:xfrm>
            <a:off x="2055513" y="2332874"/>
            <a:ext cx="1008064" cy="468317"/>
            <a:chOff x="0" y="0"/>
            <a:chExt cx="1008062" cy="468315"/>
          </a:xfrm>
        </p:grpSpPr>
        <p:sp>
          <p:nvSpPr>
            <p:cNvPr id="597" name="矩形"/>
            <p:cNvSpPr/>
            <p:nvPr/>
          </p:nvSpPr>
          <p:spPr>
            <a:xfrm>
              <a:off x="0" y="0"/>
              <a:ext cx="1008064" cy="468317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598" name="e"/>
            <p:cNvSpPr txBox="1"/>
            <p:nvPr/>
          </p:nvSpPr>
          <p:spPr>
            <a:xfrm>
              <a:off x="358918" y="18381"/>
              <a:ext cx="290226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e</a:t>
              </a:r>
            </a:p>
          </p:txBody>
        </p:sp>
      </p:grpSp>
      <p:sp>
        <p:nvSpPr>
          <p:cNvPr id="600" name="矩形"/>
          <p:cNvSpPr/>
          <p:nvPr/>
        </p:nvSpPr>
        <p:spPr>
          <a:xfrm>
            <a:off x="3063575" y="2332874"/>
            <a:ext cx="360364" cy="46831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01" name="p"/>
          <p:cNvSpPr txBox="1"/>
          <p:nvPr/>
        </p:nvSpPr>
        <p:spPr>
          <a:xfrm>
            <a:off x="1193817" y="687562"/>
            <a:ext cx="324456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</a:t>
            </a:r>
          </a:p>
        </p:txBody>
      </p:sp>
      <p:sp>
        <p:nvSpPr>
          <p:cNvPr id="602" name="线条"/>
          <p:cNvSpPr/>
          <p:nvPr/>
        </p:nvSpPr>
        <p:spPr>
          <a:xfrm flipH="1">
            <a:off x="1358600" y="1125594"/>
            <a:ext cx="2" cy="546751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03" name="q"/>
          <p:cNvSpPr txBox="1"/>
          <p:nvPr/>
        </p:nvSpPr>
        <p:spPr>
          <a:xfrm>
            <a:off x="2384616" y="3062297"/>
            <a:ext cx="324456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q</a:t>
            </a:r>
          </a:p>
        </p:txBody>
      </p:sp>
      <p:sp>
        <p:nvSpPr>
          <p:cNvPr id="604" name="线条"/>
          <p:cNvSpPr/>
          <p:nvPr/>
        </p:nvSpPr>
        <p:spPr>
          <a:xfrm flipV="1">
            <a:off x="2559544" y="2773255"/>
            <a:ext cx="2" cy="42227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607" name="成组"/>
          <p:cNvGrpSpPr/>
          <p:nvPr/>
        </p:nvGrpSpPr>
        <p:grpSpPr>
          <a:xfrm>
            <a:off x="355493" y="4139716"/>
            <a:ext cx="1008064" cy="489465"/>
            <a:chOff x="0" y="1"/>
            <a:chExt cx="1008062" cy="489463"/>
          </a:xfrm>
        </p:grpSpPr>
        <p:sp>
          <p:nvSpPr>
            <p:cNvPr id="605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606" name="ai-1"/>
            <p:cNvSpPr txBox="1"/>
            <p:nvPr/>
          </p:nvSpPr>
          <p:spPr>
            <a:xfrm>
              <a:off x="237499" y="1"/>
              <a:ext cx="533064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i-1</a:t>
              </a:r>
            </a:p>
          </p:txBody>
        </p:sp>
      </p:grpSp>
      <p:sp>
        <p:nvSpPr>
          <p:cNvPr id="608" name="矩形"/>
          <p:cNvSpPr/>
          <p:nvPr/>
        </p:nvSpPr>
        <p:spPr>
          <a:xfrm>
            <a:off x="1363556" y="4150291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09" name="椭圆形"/>
          <p:cNvSpPr/>
          <p:nvPr/>
        </p:nvSpPr>
        <p:spPr>
          <a:xfrm>
            <a:off x="1508018" y="4366191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612" name="成组"/>
          <p:cNvGrpSpPr/>
          <p:nvPr/>
        </p:nvGrpSpPr>
        <p:grpSpPr>
          <a:xfrm>
            <a:off x="3649555" y="4151878"/>
            <a:ext cx="1774033" cy="1504159"/>
            <a:chOff x="0" y="10574"/>
            <a:chExt cx="1774031" cy="1504157"/>
          </a:xfrm>
        </p:grpSpPr>
        <p:sp>
          <p:nvSpPr>
            <p:cNvPr id="610" name="矩形"/>
            <p:cNvSpPr/>
            <p:nvPr/>
          </p:nvSpPr>
          <p:spPr>
            <a:xfrm>
              <a:off x="0" y="10574"/>
              <a:ext cx="1008065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611" name="ai+1"/>
            <p:cNvSpPr/>
            <p:nvPr/>
          </p:nvSpPr>
          <p:spPr>
            <a:xfrm>
              <a:off x="504031" y="24473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>
                  <a:solidFill>
                    <a:schemeClr val="accent5"/>
                  </a:solidFill>
                </a:rPr>
                <a:t>i+1</a:t>
              </a:r>
            </a:p>
          </p:txBody>
        </p:sp>
      </p:grpSp>
      <p:sp>
        <p:nvSpPr>
          <p:cNvPr id="613" name="矩形"/>
          <p:cNvSpPr/>
          <p:nvPr/>
        </p:nvSpPr>
        <p:spPr>
          <a:xfrm>
            <a:off x="4657618" y="4151879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616" name="成组"/>
          <p:cNvGrpSpPr/>
          <p:nvPr/>
        </p:nvGrpSpPr>
        <p:grpSpPr>
          <a:xfrm>
            <a:off x="5270393" y="4141304"/>
            <a:ext cx="1008064" cy="489465"/>
            <a:chOff x="0" y="1"/>
            <a:chExt cx="1008062" cy="489463"/>
          </a:xfrm>
        </p:grpSpPr>
        <p:sp>
          <p:nvSpPr>
            <p:cNvPr id="614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615" name="ai+2"/>
            <p:cNvSpPr txBox="1"/>
            <p:nvPr/>
          </p:nvSpPr>
          <p:spPr>
            <a:xfrm>
              <a:off x="213439" y="1"/>
              <a:ext cx="581185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>
                  <a:solidFill>
                    <a:schemeClr val="accent5"/>
                  </a:solidFill>
                </a:rPr>
                <a:t>i+2</a:t>
              </a:r>
            </a:p>
          </p:txBody>
        </p:sp>
      </p:grpSp>
      <p:sp>
        <p:nvSpPr>
          <p:cNvPr id="617" name="矩形"/>
          <p:cNvSpPr/>
          <p:nvPr/>
        </p:nvSpPr>
        <p:spPr>
          <a:xfrm>
            <a:off x="6278456" y="4151879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18" name="椭圆形"/>
          <p:cNvSpPr/>
          <p:nvPr/>
        </p:nvSpPr>
        <p:spPr>
          <a:xfrm>
            <a:off x="4838593" y="4332854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621" name="成组"/>
          <p:cNvGrpSpPr/>
          <p:nvPr/>
        </p:nvGrpSpPr>
        <p:grpSpPr>
          <a:xfrm>
            <a:off x="6351481" y="4247129"/>
            <a:ext cx="152401" cy="228601"/>
            <a:chOff x="0" y="0"/>
            <a:chExt cx="152399" cy="228600"/>
          </a:xfrm>
        </p:grpSpPr>
        <p:sp>
          <p:nvSpPr>
            <p:cNvPr id="619" name="线条"/>
            <p:cNvSpPr/>
            <p:nvPr/>
          </p:nvSpPr>
          <p:spPr>
            <a:xfrm flipH="1">
              <a:off x="-1" y="-1"/>
              <a:ext cx="76202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620" name="线条"/>
            <p:cNvSpPr/>
            <p:nvPr/>
          </p:nvSpPr>
          <p:spPr>
            <a:xfrm>
              <a:off x="76200" y="-1"/>
              <a:ext cx="76200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622" name="线条"/>
          <p:cNvSpPr/>
          <p:nvPr/>
        </p:nvSpPr>
        <p:spPr>
          <a:xfrm>
            <a:off x="1542943" y="4404291"/>
            <a:ext cx="468314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23" name="线条"/>
          <p:cNvSpPr/>
          <p:nvPr/>
        </p:nvSpPr>
        <p:spPr>
          <a:xfrm>
            <a:off x="4875106" y="4367779"/>
            <a:ext cx="395289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24" name="线条"/>
          <p:cNvSpPr/>
          <p:nvPr/>
        </p:nvSpPr>
        <p:spPr>
          <a:xfrm flipH="1">
            <a:off x="755543" y="3586486"/>
            <a:ext cx="2" cy="546751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627" name="成组"/>
          <p:cNvGrpSpPr/>
          <p:nvPr/>
        </p:nvGrpSpPr>
        <p:grpSpPr>
          <a:xfrm>
            <a:off x="2017413" y="4148974"/>
            <a:ext cx="1008064" cy="468317"/>
            <a:chOff x="0" y="0"/>
            <a:chExt cx="1008062" cy="468315"/>
          </a:xfrm>
        </p:grpSpPr>
        <p:sp>
          <p:nvSpPr>
            <p:cNvPr id="625" name="矩形"/>
            <p:cNvSpPr/>
            <p:nvPr/>
          </p:nvSpPr>
          <p:spPr>
            <a:xfrm>
              <a:off x="0" y="0"/>
              <a:ext cx="1008064" cy="468317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626" name="e"/>
            <p:cNvSpPr txBox="1"/>
            <p:nvPr/>
          </p:nvSpPr>
          <p:spPr>
            <a:xfrm>
              <a:off x="358918" y="18381"/>
              <a:ext cx="290226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e</a:t>
              </a:r>
            </a:p>
          </p:txBody>
        </p:sp>
      </p:grpSp>
      <p:sp>
        <p:nvSpPr>
          <p:cNvPr id="628" name="矩形"/>
          <p:cNvSpPr/>
          <p:nvPr/>
        </p:nvSpPr>
        <p:spPr>
          <a:xfrm>
            <a:off x="3025475" y="4148974"/>
            <a:ext cx="360364" cy="46831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29" name="椭圆形"/>
          <p:cNvSpPr/>
          <p:nvPr/>
        </p:nvSpPr>
        <p:spPr>
          <a:xfrm>
            <a:off x="3130250" y="4329949"/>
            <a:ext cx="36515" cy="71441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30" name="线条"/>
          <p:cNvSpPr/>
          <p:nvPr/>
        </p:nvSpPr>
        <p:spPr>
          <a:xfrm flipV="1">
            <a:off x="2521444" y="4665555"/>
            <a:ext cx="2" cy="42227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31" name="线条"/>
          <p:cNvSpPr/>
          <p:nvPr/>
        </p:nvSpPr>
        <p:spPr>
          <a:xfrm>
            <a:off x="3168543" y="4366191"/>
            <a:ext cx="468314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32" name="q"/>
          <p:cNvSpPr txBox="1"/>
          <p:nvPr/>
        </p:nvSpPr>
        <p:spPr>
          <a:xfrm>
            <a:off x="2359216" y="4878397"/>
            <a:ext cx="324456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q</a:t>
            </a:r>
          </a:p>
        </p:txBody>
      </p:sp>
      <p:sp>
        <p:nvSpPr>
          <p:cNvPr id="633" name="p"/>
          <p:cNvSpPr txBox="1"/>
          <p:nvPr/>
        </p:nvSpPr>
        <p:spPr>
          <a:xfrm>
            <a:off x="609617" y="3164062"/>
            <a:ext cx="324456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7" name="成组"/>
          <p:cNvGrpSpPr/>
          <p:nvPr/>
        </p:nvGrpSpPr>
        <p:grpSpPr>
          <a:xfrm>
            <a:off x="2709861" y="1807112"/>
            <a:ext cx="1008064" cy="489464"/>
            <a:chOff x="0" y="1"/>
            <a:chExt cx="1008062" cy="489463"/>
          </a:xfrm>
        </p:grpSpPr>
        <p:sp>
          <p:nvSpPr>
            <p:cNvPr id="635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636" name="ai-1"/>
            <p:cNvSpPr txBox="1"/>
            <p:nvPr/>
          </p:nvSpPr>
          <p:spPr>
            <a:xfrm>
              <a:off x="237499" y="1"/>
              <a:ext cx="533064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i-1</a:t>
              </a:r>
            </a:p>
          </p:txBody>
        </p:sp>
      </p:grpSp>
      <p:sp>
        <p:nvSpPr>
          <p:cNvPr id="638" name="矩形"/>
          <p:cNvSpPr/>
          <p:nvPr/>
        </p:nvSpPr>
        <p:spPr>
          <a:xfrm>
            <a:off x="3717925" y="1817686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39" name="椭圆形"/>
          <p:cNvSpPr/>
          <p:nvPr/>
        </p:nvSpPr>
        <p:spPr>
          <a:xfrm>
            <a:off x="3862387" y="2033586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642" name="成组"/>
          <p:cNvGrpSpPr/>
          <p:nvPr/>
        </p:nvGrpSpPr>
        <p:grpSpPr>
          <a:xfrm>
            <a:off x="4365624" y="1819274"/>
            <a:ext cx="1774033" cy="1504159"/>
            <a:chOff x="0" y="10574"/>
            <a:chExt cx="1774031" cy="1504157"/>
          </a:xfrm>
        </p:grpSpPr>
        <p:sp>
          <p:nvSpPr>
            <p:cNvPr id="640" name="矩形"/>
            <p:cNvSpPr/>
            <p:nvPr/>
          </p:nvSpPr>
          <p:spPr>
            <a:xfrm>
              <a:off x="0" y="10574"/>
              <a:ext cx="1008065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641" name="ai"/>
            <p:cNvSpPr/>
            <p:nvPr/>
          </p:nvSpPr>
          <p:spPr>
            <a:xfrm>
              <a:off x="504031" y="24473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i</a:t>
              </a:r>
            </a:p>
          </p:txBody>
        </p:sp>
      </p:grpSp>
      <p:sp>
        <p:nvSpPr>
          <p:cNvPr id="643" name="矩形"/>
          <p:cNvSpPr/>
          <p:nvPr/>
        </p:nvSpPr>
        <p:spPr>
          <a:xfrm>
            <a:off x="5373687" y="1819275"/>
            <a:ext cx="360364" cy="468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646" name="成组"/>
          <p:cNvGrpSpPr/>
          <p:nvPr/>
        </p:nvGrpSpPr>
        <p:grpSpPr>
          <a:xfrm>
            <a:off x="5986462" y="1808700"/>
            <a:ext cx="1008064" cy="489465"/>
            <a:chOff x="0" y="1"/>
            <a:chExt cx="1008062" cy="489463"/>
          </a:xfrm>
        </p:grpSpPr>
        <p:sp>
          <p:nvSpPr>
            <p:cNvPr id="644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645" name="ai+1"/>
            <p:cNvSpPr txBox="1"/>
            <p:nvPr/>
          </p:nvSpPr>
          <p:spPr>
            <a:xfrm>
              <a:off x="213439" y="1"/>
              <a:ext cx="581185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i+1</a:t>
              </a:r>
            </a:p>
          </p:txBody>
        </p:sp>
      </p:grpSp>
      <p:sp>
        <p:nvSpPr>
          <p:cNvPr id="647" name="矩形"/>
          <p:cNvSpPr/>
          <p:nvPr/>
        </p:nvSpPr>
        <p:spPr>
          <a:xfrm>
            <a:off x="6994525" y="1819275"/>
            <a:ext cx="360364" cy="468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48" name="椭圆形"/>
          <p:cNvSpPr/>
          <p:nvPr/>
        </p:nvSpPr>
        <p:spPr>
          <a:xfrm>
            <a:off x="5554662" y="2000250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651" name="成组"/>
          <p:cNvGrpSpPr/>
          <p:nvPr/>
        </p:nvGrpSpPr>
        <p:grpSpPr>
          <a:xfrm>
            <a:off x="7067549" y="1914524"/>
            <a:ext cx="152401" cy="228602"/>
            <a:chOff x="0" y="0"/>
            <a:chExt cx="152399" cy="228600"/>
          </a:xfrm>
        </p:grpSpPr>
        <p:sp>
          <p:nvSpPr>
            <p:cNvPr id="649" name="线条"/>
            <p:cNvSpPr/>
            <p:nvPr/>
          </p:nvSpPr>
          <p:spPr>
            <a:xfrm flipH="1">
              <a:off x="-1" y="-1"/>
              <a:ext cx="76202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650" name="线条"/>
            <p:cNvSpPr/>
            <p:nvPr/>
          </p:nvSpPr>
          <p:spPr>
            <a:xfrm>
              <a:off x="76200" y="-1"/>
              <a:ext cx="76200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652" name="线条"/>
          <p:cNvSpPr/>
          <p:nvPr/>
        </p:nvSpPr>
        <p:spPr>
          <a:xfrm>
            <a:off x="3897312" y="2071686"/>
            <a:ext cx="468314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53" name="线条"/>
          <p:cNvSpPr/>
          <p:nvPr/>
        </p:nvSpPr>
        <p:spPr>
          <a:xfrm>
            <a:off x="5591175" y="2035174"/>
            <a:ext cx="395289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656" name="成组"/>
          <p:cNvGrpSpPr/>
          <p:nvPr/>
        </p:nvGrpSpPr>
        <p:grpSpPr>
          <a:xfrm>
            <a:off x="4149725" y="2854862"/>
            <a:ext cx="1008064" cy="468317"/>
            <a:chOff x="0" y="0"/>
            <a:chExt cx="1008062" cy="468315"/>
          </a:xfrm>
        </p:grpSpPr>
        <p:sp>
          <p:nvSpPr>
            <p:cNvPr id="654" name="矩形"/>
            <p:cNvSpPr/>
            <p:nvPr/>
          </p:nvSpPr>
          <p:spPr>
            <a:xfrm>
              <a:off x="0" y="0"/>
              <a:ext cx="1008064" cy="468317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655" name="e"/>
            <p:cNvSpPr txBox="1"/>
            <p:nvPr/>
          </p:nvSpPr>
          <p:spPr>
            <a:xfrm>
              <a:off x="358918" y="18381"/>
              <a:ext cx="290226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e</a:t>
              </a:r>
            </a:p>
          </p:txBody>
        </p:sp>
      </p:grpSp>
      <p:sp>
        <p:nvSpPr>
          <p:cNvPr id="657" name="矩形"/>
          <p:cNvSpPr/>
          <p:nvPr/>
        </p:nvSpPr>
        <p:spPr>
          <a:xfrm>
            <a:off x="5157787" y="2854862"/>
            <a:ext cx="360364" cy="46831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58" name="p"/>
          <p:cNvSpPr txBox="1"/>
          <p:nvPr/>
        </p:nvSpPr>
        <p:spPr>
          <a:xfrm>
            <a:off x="2945128" y="815850"/>
            <a:ext cx="324457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</a:t>
            </a:r>
          </a:p>
        </p:txBody>
      </p:sp>
      <p:sp>
        <p:nvSpPr>
          <p:cNvPr id="659" name="线条"/>
          <p:cNvSpPr/>
          <p:nvPr/>
        </p:nvSpPr>
        <p:spPr>
          <a:xfrm flipH="1">
            <a:off x="3109911" y="1253881"/>
            <a:ext cx="2" cy="546751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660" name="q"/>
          <p:cNvSpPr txBox="1"/>
          <p:nvPr/>
        </p:nvSpPr>
        <p:spPr>
          <a:xfrm>
            <a:off x="4491528" y="3584285"/>
            <a:ext cx="324456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q</a:t>
            </a:r>
          </a:p>
        </p:txBody>
      </p:sp>
      <p:sp>
        <p:nvSpPr>
          <p:cNvPr id="661" name="线条"/>
          <p:cNvSpPr/>
          <p:nvPr/>
        </p:nvSpPr>
        <p:spPr>
          <a:xfrm flipV="1">
            <a:off x="4653755" y="3295242"/>
            <a:ext cx="2" cy="42227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664" name="成组"/>
          <p:cNvGrpSpPr/>
          <p:nvPr/>
        </p:nvGrpSpPr>
        <p:grpSpPr>
          <a:xfrm>
            <a:off x="5262562" y="2258483"/>
            <a:ext cx="36515" cy="848795"/>
            <a:chOff x="0" y="0"/>
            <a:chExt cx="36514" cy="848793"/>
          </a:xfrm>
        </p:grpSpPr>
        <p:sp>
          <p:nvSpPr>
            <p:cNvPr id="662" name="椭圆形"/>
            <p:cNvSpPr/>
            <p:nvPr/>
          </p:nvSpPr>
          <p:spPr>
            <a:xfrm>
              <a:off x="0" y="777353"/>
              <a:ext cx="36515" cy="71441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663" name="线条"/>
            <p:cNvSpPr/>
            <p:nvPr/>
          </p:nvSpPr>
          <p:spPr>
            <a:xfrm flipV="1">
              <a:off x="12376" y="-1"/>
              <a:ext cx="3135" cy="780153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665" name="q.next = p.next"/>
          <p:cNvSpPr txBox="1"/>
          <p:nvPr/>
        </p:nvSpPr>
        <p:spPr>
          <a:xfrm>
            <a:off x="5962110" y="2899437"/>
            <a:ext cx="1985973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q.next = p.next</a:t>
            </a:r>
          </a:p>
        </p:txBody>
      </p:sp>
      <p:grpSp>
        <p:nvGrpSpPr>
          <p:cNvPr id="668" name="成组"/>
          <p:cNvGrpSpPr/>
          <p:nvPr/>
        </p:nvGrpSpPr>
        <p:grpSpPr>
          <a:xfrm>
            <a:off x="3882832" y="2090084"/>
            <a:ext cx="212921" cy="925232"/>
            <a:chOff x="0" y="0"/>
            <a:chExt cx="212920" cy="925231"/>
          </a:xfrm>
        </p:grpSpPr>
        <p:sp>
          <p:nvSpPr>
            <p:cNvPr id="666" name="线条"/>
            <p:cNvSpPr/>
            <p:nvPr/>
          </p:nvSpPr>
          <p:spPr>
            <a:xfrm flipV="1">
              <a:off x="-1" y="-1"/>
              <a:ext cx="2" cy="92523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667" name="线条"/>
            <p:cNvSpPr/>
            <p:nvPr/>
          </p:nvSpPr>
          <p:spPr>
            <a:xfrm flipV="1">
              <a:off x="14479" y="904092"/>
              <a:ext cx="198441" cy="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669" name="p.next = q"/>
          <p:cNvSpPr txBox="1"/>
          <p:nvPr/>
        </p:nvSpPr>
        <p:spPr>
          <a:xfrm>
            <a:off x="1390110" y="2991014"/>
            <a:ext cx="1385005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p.next = q</a:t>
            </a:r>
          </a:p>
        </p:txBody>
      </p:sp>
      <p:sp>
        <p:nvSpPr>
          <p:cNvPr id="670" name="或者：p.next = new Node&lt;T&gt;(e, p.next)"/>
          <p:cNvSpPr txBox="1"/>
          <p:nvPr/>
        </p:nvSpPr>
        <p:spPr>
          <a:xfrm>
            <a:off x="2108431" y="4358510"/>
            <a:ext cx="529998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solidFill>
                  <a:schemeClr val="accent5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rPr>
                <a:solidFill>
                  <a:schemeClr val="accent1"/>
                </a:solidFill>
              </a:rPr>
              <a:t>或者：p.next = new Node&lt;T&gt;(e, p.next)</a:t>
            </a:r>
            <a:r>
              <a:t> </a:t>
            </a:r>
          </a:p>
        </p:txBody>
      </p:sp>
      <p:sp>
        <p:nvSpPr>
          <p:cNvPr id="671" name="一个结点后插入一个新结点作为后继结点"/>
          <p:cNvSpPr txBox="1"/>
          <p:nvPr/>
        </p:nvSpPr>
        <p:spPr>
          <a:xfrm>
            <a:off x="1141412" y="98077"/>
            <a:ext cx="67310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28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一个结点后插入一个新结点作为后继结点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2" grpId="4" animBg="1" advAuto="0"/>
      <p:bldP spid="664" grpId="2" animBg="1" advAuto="0"/>
      <p:bldP spid="665" grpId="1" animBg="1" advAuto="0"/>
      <p:bldP spid="668" grpId="5" animBg="1" advAuto="0"/>
      <p:bldP spid="669" grpId="3" animBg="1" advAuto="0"/>
      <p:bldP spid="670" grpId="6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void add(int index, T x)"/>
          <p:cNvSpPr txBox="1"/>
          <p:nvPr/>
        </p:nvSpPr>
        <p:spPr>
          <a:xfrm>
            <a:off x="1090612" y="47277"/>
            <a:ext cx="6731001" cy="62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pPr>
            <a:r>
              <a:t>void add(int </a:t>
            </a:r>
            <a:r>
              <a:rPr>
                <a:solidFill>
                  <a:schemeClr val="accent5"/>
                </a:solidFill>
              </a:rPr>
              <a:t>i</a:t>
            </a:r>
            <a:r>
              <a:t>ndex, T x)</a:t>
            </a:r>
          </a:p>
        </p:txBody>
      </p:sp>
      <p:sp>
        <p:nvSpPr>
          <p:cNvPr id="674" name="public void add(int index, T x) {…"/>
          <p:cNvSpPr txBox="1"/>
          <p:nvPr/>
        </p:nvSpPr>
        <p:spPr>
          <a:xfrm>
            <a:off x="1093389" y="2006103"/>
            <a:ext cx="6820769" cy="422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add(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, 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rangeCheckForAdd(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);</a:t>
            </a:r>
          </a:p>
          <a:p>
            <a:pPr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 == 0) {</a:t>
            </a:r>
            <a:r>
              <a:t>// 空表，及插入索引号0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Node&lt;T&gt;(</a:t>
            </a:r>
            <a:r>
              <a:rPr>
                <a:solidFill>
                  <a:srgbClr val="7E504F"/>
                </a:solidFill>
              </a:rPr>
              <a:t>x</a:t>
            </a:r>
            <a:r>
              <a:t>,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 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- 1;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Node&lt;T&gt;(</a:t>
            </a:r>
            <a:r>
              <a:rPr>
                <a:solidFill>
                  <a:srgbClr val="7E504F"/>
                </a:solidFill>
              </a:rPr>
              <a:t>x</a:t>
            </a:r>
            <a:r>
              <a:t>,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++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697" name="成组"/>
          <p:cNvGrpSpPr/>
          <p:nvPr/>
        </p:nvGrpSpPr>
        <p:grpSpPr>
          <a:xfrm>
            <a:off x="1491651" y="631360"/>
            <a:ext cx="4900613" cy="2211661"/>
            <a:chOff x="0" y="0"/>
            <a:chExt cx="4900612" cy="2211659"/>
          </a:xfrm>
        </p:grpSpPr>
        <p:grpSp>
          <p:nvGrpSpPr>
            <p:cNvPr id="677" name="成组"/>
            <p:cNvGrpSpPr/>
            <p:nvPr/>
          </p:nvGrpSpPr>
          <p:grpSpPr>
            <a:xfrm>
              <a:off x="0" y="695339"/>
              <a:ext cx="1008063" cy="489465"/>
              <a:chOff x="0" y="1"/>
              <a:chExt cx="1008062" cy="489463"/>
            </a:xfrm>
          </p:grpSpPr>
          <p:sp>
            <p:nvSpPr>
              <p:cNvPr id="675" name="矩形"/>
              <p:cNvSpPr/>
              <p:nvPr/>
            </p:nvSpPr>
            <p:spPr>
              <a:xfrm>
                <a:off x="0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676" name="ai-1"/>
              <p:cNvSpPr txBox="1"/>
              <p:nvPr/>
            </p:nvSpPr>
            <p:spPr>
              <a:xfrm>
                <a:off x="237499" y="1"/>
                <a:ext cx="533064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i-1</a:t>
                </a:r>
              </a:p>
            </p:txBody>
          </p:sp>
        </p:grpSp>
        <p:sp>
          <p:nvSpPr>
            <p:cNvPr id="678" name="矩形"/>
            <p:cNvSpPr/>
            <p:nvPr/>
          </p:nvSpPr>
          <p:spPr>
            <a:xfrm>
              <a:off x="1008063" y="705914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679" name="椭圆形"/>
            <p:cNvSpPr/>
            <p:nvPr/>
          </p:nvSpPr>
          <p:spPr>
            <a:xfrm>
              <a:off x="1152525" y="921814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682" name="成组"/>
            <p:cNvGrpSpPr/>
            <p:nvPr/>
          </p:nvGrpSpPr>
          <p:grpSpPr>
            <a:xfrm>
              <a:off x="1655762" y="707501"/>
              <a:ext cx="1774033" cy="1504159"/>
              <a:chOff x="0" y="10574"/>
              <a:chExt cx="1774031" cy="1504157"/>
            </a:xfrm>
          </p:grpSpPr>
          <p:sp>
            <p:nvSpPr>
              <p:cNvPr id="680" name="矩形"/>
              <p:cNvSpPr/>
              <p:nvPr/>
            </p:nvSpPr>
            <p:spPr>
              <a:xfrm>
                <a:off x="0" y="10574"/>
                <a:ext cx="1008065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681" name="ai"/>
              <p:cNvSpPr/>
              <p:nvPr/>
            </p:nvSpPr>
            <p:spPr>
              <a:xfrm>
                <a:off x="504031" y="24473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i</a:t>
                </a:r>
              </a:p>
            </p:txBody>
          </p:sp>
        </p:grpSp>
        <p:sp>
          <p:nvSpPr>
            <p:cNvPr id="683" name="矩形"/>
            <p:cNvSpPr/>
            <p:nvPr/>
          </p:nvSpPr>
          <p:spPr>
            <a:xfrm>
              <a:off x="2663824" y="707502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686" name="成组"/>
            <p:cNvGrpSpPr/>
            <p:nvPr/>
          </p:nvGrpSpPr>
          <p:grpSpPr>
            <a:xfrm>
              <a:off x="3276600" y="696927"/>
              <a:ext cx="1008064" cy="489465"/>
              <a:chOff x="0" y="1"/>
              <a:chExt cx="1008062" cy="489463"/>
            </a:xfrm>
          </p:grpSpPr>
          <p:sp>
            <p:nvSpPr>
              <p:cNvPr id="684" name="矩形"/>
              <p:cNvSpPr/>
              <p:nvPr/>
            </p:nvSpPr>
            <p:spPr>
              <a:xfrm>
                <a:off x="0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685" name="ai+1"/>
              <p:cNvSpPr txBox="1"/>
              <p:nvPr/>
            </p:nvSpPr>
            <p:spPr>
              <a:xfrm>
                <a:off x="213439" y="1"/>
                <a:ext cx="581185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i+1</a:t>
                </a:r>
              </a:p>
            </p:txBody>
          </p:sp>
        </p:grpSp>
        <p:sp>
          <p:nvSpPr>
            <p:cNvPr id="687" name="矩形"/>
            <p:cNvSpPr/>
            <p:nvPr/>
          </p:nvSpPr>
          <p:spPr>
            <a:xfrm>
              <a:off x="4284662" y="707502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688" name="线条"/>
            <p:cNvSpPr/>
            <p:nvPr/>
          </p:nvSpPr>
          <p:spPr>
            <a:xfrm>
              <a:off x="1187450" y="959914"/>
              <a:ext cx="468314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691" name="成组"/>
            <p:cNvGrpSpPr/>
            <p:nvPr/>
          </p:nvGrpSpPr>
          <p:grpSpPr>
            <a:xfrm>
              <a:off x="2844799" y="888477"/>
              <a:ext cx="431802" cy="71439"/>
              <a:chOff x="0" y="0"/>
              <a:chExt cx="431800" cy="71438"/>
            </a:xfrm>
          </p:grpSpPr>
          <p:sp>
            <p:nvSpPr>
              <p:cNvPr id="689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690" name="线条"/>
              <p:cNvSpPr/>
              <p:nvPr/>
            </p:nvSpPr>
            <p:spPr>
              <a:xfrm>
                <a:off x="36512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694" name="成组"/>
            <p:cNvGrpSpPr/>
            <p:nvPr/>
          </p:nvGrpSpPr>
          <p:grpSpPr>
            <a:xfrm>
              <a:off x="4468811" y="905940"/>
              <a:ext cx="431802" cy="71439"/>
              <a:chOff x="0" y="0"/>
              <a:chExt cx="431800" cy="71438"/>
            </a:xfrm>
          </p:grpSpPr>
          <p:sp>
            <p:nvSpPr>
              <p:cNvPr id="692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693" name="线条"/>
              <p:cNvSpPr/>
              <p:nvPr/>
            </p:nvSpPr>
            <p:spPr>
              <a:xfrm>
                <a:off x="36512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sp>
          <p:nvSpPr>
            <p:cNvPr id="695" name="p"/>
            <p:cNvSpPr txBox="1"/>
            <p:nvPr/>
          </p:nvSpPr>
          <p:spPr>
            <a:xfrm>
              <a:off x="232571" y="0"/>
              <a:ext cx="324456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 b="1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p</a:t>
              </a:r>
            </a:p>
          </p:txBody>
        </p:sp>
        <p:sp>
          <p:nvSpPr>
            <p:cNvPr id="696" name="线条"/>
            <p:cNvSpPr/>
            <p:nvPr/>
          </p:nvSpPr>
          <p:spPr>
            <a:xfrm flipH="1">
              <a:off x="397354" y="406665"/>
              <a:ext cx="1" cy="298717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删除一个结点的后继结点"/>
          <p:cNvSpPr txBox="1"/>
          <p:nvPr/>
        </p:nvSpPr>
        <p:spPr>
          <a:xfrm>
            <a:off x="1141412" y="9177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删除一个结点的后继结点</a:t>
            </a:r>
          </a:p>
        </p:txBody>
      </p:sp>
      <p:grpSp>
        <p:nvGrpSpPr>
          <p:cNvPr id="702" name="成组"/>
          <p:cNvGrpSpPr/>
          <p:nvPr/>
        </p:nvGrpSpPr>
        <p:grpSpPr>
          <a:xfrm>
            <a:off x="826277" y="1613445"/>
            <a:ext cx="1008064" cy="489465"/>
            <a:chOff x="0" y="1"/>
            <a:chExt cx="1008062" cy="489463"/>
          </a:xfrm>
        </p:grpSpPr>
        <p:sp>
          <p:nvSpPr>
            <p:cNvPr id="700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701" name="ai-1"/>
            <p:cNvSpPr txBox="1"/>
            <p:nvPr/>
          </p:nvSpPr>
          <p:spPr>
            <a:xfrm>
              <a:off x="237499" y="1"/>
              <a:ext cx="533064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i-1</a:t>
              </a:r>
            </a:p>
          </p:txBody>
        </p:sp>
      </p:grpSp>
      <p:sp>
        <p:nvSpPr>
          <p:cNvPr id="703" name="矩形"/>
          <p:cNvSpPr/>
          <p:nvPr/>
        </p:nvSpPr>
        <p:spPr>
          <a:xfrm>
            <a:off x="1834340" y="1624020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04" name="椭圆形"/>
          <p:cNvSpPr/>
          <p:nvPr/>
        </p:nvSpPr>
        <p:spPr>
          <a:xfrm>
            <a:off x="1978802" y="1839920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707" name="成组"/>
          <p:cNvGrpSpPr/>
          <p:nvPr/>
        </p:nvGrpSpPr>
        <p:grpSpPr>
          <a:xfrm>
            <a:off x="4120339" y="1625607"/>
            <a:ext cx="1774033" cy="1504159"/>
            <a:chOff x="0" y="10574"/>
            <a:chExt cx="1774031" cy="1504157"/>
          </a:xfrm>
        </p:grpSpPr>
        <p:sp>
          <p:nvSpPr>
            <p:cNvPr id="705" name="矩形"/>
            <p:cNvSpPr/>
            <p:nvPr/>
          </p:nvSpPr>
          <p:spPr>
            <a:xfrm>
              <a:off x="0" y="10574"/>
              <a:ext cx="1008065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706" name="ai+1"/>
            <p:cNvSpPr/>
            <p:nvPr/>
          </p:nvSpPr>
          <p:spPr>
            <a:xfrm>
              <a:off x="504031" y="24473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i+1</a:t>
              </a:r>
            </a:p>
          </p:txBody>
        </p:sp>
      </p:grpSp>
      <p:sp>
        <p:nvSpPr>
          <p:cNvPr id="708" name="矩形"/>
          <p:cNvSpPr/>
          <p:nvPr/>
        </p:nvSpPr>
        <p:spPr>
          <a:xfrm>
            <a:off x="5128402" y="1625608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09" name="矩形"/>
          <p:cNvSpPr/>
          <p:nvPr/>
        </p:nvSpPr>
        <p:spPr>
          <a:xfrm>
            <a:off x="5741177" y="1625607"/>
            <a:ext cx="1008064" cy="4683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10" name="ai+2"/>
          <p:cNvSpPr txBox="1"/>
          <p:nvPr/>
        </p:nvSpPr>
        <p:spPr>
          <a:xfrm>
            <a:off x="5954617" y="1615033"/>
            <a:ext cx="581185" cy="489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40640" indent="40640" algn="ctr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r>
              <a:t>a</a:t>
            </a:r>
            <a:r>
              <a:rPr baseline="-25000"/>
              <a:t>i+2</a:t>
            </a:r>
          </a:p>
        </p:txBody>
      </p:sp>
      <p:sp>
        <p:nvSpPr>
          <p:cNvPr id="711" name="矩形"/>
          <p:cNvSpPr/>
          <p:nvPr/>
        </p:nvSpPr>
        <p:spPr>
          <a:xfrm>
            <a:off x="6749240" y="1625608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12" name="椭圆形"/>
          <p:cNvSpPr/>
          <p:nvPr/>
        </p:nvSpPr>
        <p:spPr>
          <a:xfrm>
            <a:off x="5309377" y="1806583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715" name="成组"/>
          <p:cNvGrpSpPr/>
          <p:nvPr/>
        </p:nvGrpSpPr>
        <p:grpSpPr>
          <a:xfrm>
            <a:off x="6822265" y="1720858"/>
            <a:ext cx="152401" cy="228601"/>
            <a:chOff x="0" y="0"/>
            <a:chExt cx="152399" cy="228600"/>
          </a:xfrm>
        </p:grpSpPr>
        <p:sp>
          <p:nvSpPr>
            <p:cNvPr id="713" name="线条"/>
            <p:cNvSpPr/>
            <p:nvPr/>
          </p:nvSpPr>
          <p:spPr>
            <a:xfrm flipH="1">
              <a:off x="-1" y="-1"/>
              <a:ext cx="76202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714" name="线条"/>
            <p:cNvSpPr/>
            <p:nvPr/>
          </p:nvSpPr>
          <p:spPr>
            <a:xfrm>
              <a:off x="76200" y="-1"/>
              <a:ext cx="76200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716" name="线条"/>
          <p:cNvSpPr/>
          <p:nvPr/>
        </p:nvSpPr>
        <p:spPr>
          <a:xfrm>
            <a:off x="2013728" y="1878020"/>
            <a:ext cx="468313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17" name="线条"/>
          <p:cNvSpPr/>
          <p:nvPr/>
        </p:nvSpPr>
        <p:spPr>
          <a:xfrm>
            <a:off x="5345890" y="1841508"/>
            <a:ext cx="395289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18" name="矩形"/>
          <p:cNvSpPr/>
          <p:nvPr/>
        </p:nvSpPr>
        <p:spPr>
          <a:xfrm>
            <a:off x="2488197" y="1622703"/>
            <a:ext cx="1008064" cy="46831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19" name="ai"/>
          <p:cNvSpPr txBox="1"/>
          <p:nvPr/>
        </p:nvSpPr>
        <p:spPr>
          <a:xfrm>
            <a:off x="2810331" y="1641084"/>
            <a:ext cx="363796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40640" indent="40640" algn="ctr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r>
              <a:t>a</a:t>
            </a:r>
            <a:r>
              <a:rPr baseline="-5999"/>
              <a:t>i</a:t>
            </a:r>
          </a:p>
        </p:txBody>
      </p:sp>
      <p:sp>
        <p:nvSpPr>
          <p:cNvPr id="720" name="矩形"/>
          <p:cNvSpPr/>
          <p:nvPr/>
        </p:nvSpPr>
        <p:spPr>
          <a:xfrm>
            <a:off x="3496259" y="1622703"/>
            <a:ext cx="360364" cy="46831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723" name="成组"/>
          <p:cNvGrpSpPr/>
          <p:nvPr/>
        </p:nvGrpSpPr>
        <p:grpSpPr>
          <a:xfrm>
            <a:off x="3613734" y="1841778"/>
            <a:ext cx="506608" cy="71441"/>
            <a:chOff x="0" y="0"/>
            <a:chExt cx="506606" cy="71440"/>
          </a:xfrm>
        </p:grpSpPr>
        <p:sp>
          <p:nvSpPr>
            <p:cNvPr id="721" name="椭圆形"/>
            <p:cNvSpPr/>
            <p:nvPr/>
          </p:nvSpPr>
          <p:spPr>
            <a:xfrm>
              <a:off x="0" y="0"/>
              <a:ext cx="36515" cy="71441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722" name="线条"/>
            <p:cNvSpPr/>
            <p:nvPr/>
          </p:nvSpPr>
          <p:spPr>
            <a:xfrm>
              <a:off x="29483" y="37830"/>
              <a:ext cx="477124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724" name="q.next = p.next;"/>
          <p:cNvSpPr txBox="1"/>
          <p:nvPr/>
        </p:nvSpPr>
        <p:spPr>
          <a:xfrm>
            <a:off x="2315391" y="3920001"/>
            <a:ext cx="2135858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q.next = p.next;</a:t>
            </a:r>
          </a:p>
        </p:txBody>
      </p:sp>
      <p:grpSp>
        <p:nvGrpSpPr>
          <p:cNvPr id="727" name="成组"/>
          <p:cNvGrpSpPr/>
          <p:nvPr/>
        </p:nvGrpSpPr>
        <p:grpSpPr>
          <a:xfrm>
            <a:off x="881950" y="2119643"/>
            <a:ext cx="324456" cy="771396"/>
            <a:chOff x="0" y="0"/>
            <a:chExt cx="324455" cy="771394"/>
          </a:xfrm>
        </p:grpSpPr>
        <p:sp>
          <p:nvSpPr>
            <p:cNvPr id="725" name="线条"/>
            <p:cNvSpPr/>
            <p:nvPr/>
          </p:nvSpPr>
          <p:spPr>
            <a:xfrm flipV="1">
              <a:off x="187627" y="0"/>
              <a:ext cx="2" cy="42227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726" name="q"/>
            <p:cNvSpPr txBox="1"/>
            <p:nvPr/>
          </p:nvSpPr>
          <p:spPr>
            <a:xfrm>
              <a:off x="0" y="339842"/>
              <a:ext cx="324456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q</a:t>
              </a:r>
            </a:p>
          </p:txBody>
        </p:sp>
      </p:grpSp>
      <p:sp>
        <p:nvSpPr>
          <p:cNvPr id="728" name="线条"/>
          <p:cNvSpPr/>
          <p:nvPr/>
        </p:nvSpPr>
        <p:spPr>
          <a:xfrm>
            <a:off x="4305800" y="1107971"/>
            <a:ext cx="1" cy="52743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29" name="线条"/>
          <p:cNvSpPr/>
          <p:nvPr/>
        </p:nvSpPr>
        <p:spPr>
          <a:xfrm>
            <a:off x="1976641" y="1131579"/>
            <a:ext cx="2314266" cy="1"/>
          </a:xfrm>
          <a:prstGeom prst="line">
            <a:avLst/>
          </a:prstGeom>
          <a:ln w="508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1200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730" name="线条"/>
          <p:cNvSpPr/>
          <p:nvPr/>
        </p:nvSpPr>
        <p:spPr>
          <a:xfrm flipV="1">
            <a:off x="1998906" y="1112426"/>
            <a:ext cx="1" cy="755754"/>
          </a:xfrm>
          <a:prstGeom prst="line">
            <a:avLst/>
          </a:prstGeom>
          <a:ln w="508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1200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731" name="p"/>
          <p:cNvSpPr txBox="1"/>
          <p:nvPr/>
        </p:nvSpPr>
        <p:spPr>
          <a:xfrm>
            <a:off x="1168081" y="2451596"/>
            <a:ext cx="324457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</a:t>
            </a:r>
          </a:p>
        </p:txBody>
      </p:sp>
      <p:sp>
        <p:nvSpPr>
          <p:cNvPr id="732" name="线条"/>
          <p:cNvSpPr/>
          <p:nvPr/>
        </p:nvSpPr>
        <p:spPr>
          <a:xfrm flipV="1">
            <a:off x="1338742" y="2132343"/>
            <a:ext cx="2" cy="42227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33" name="q = p;"/>
          <p:cNvSpPr txBox="1"/>
          <p:nvPr/>
        </p:nvSpPr>
        <p:spPr>
          <a:xfrm>
            <a:off x="2315391" y="2929310"/>
            <a:ext cx="89984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q = p;</a:t>
            </a:r>
          </a:p>
        </p:txBody>
      </p:sp>
      <p:sp>
        <p:nvSpPr>
          <p:cNvPr id="734" name="p = p.next;"/>
          <p:cNvSpPr txBox="1"/>
          <p:nvPr/>
        </p:nvSpPr>
        <p:spPr>
          <a:xfrm>
            <a:off x="2315391" y="3413592"/>
            <a:ext cx="151662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 = p.next;</a:t>
            </a:r>
          </a:p>
        </p:txBody>
      </p:sp>
      <p:grpSp>
        <p:nvGrpSpPr>
          <p:cNvPr id="737" name="成组"/>
          <p:cNvGrpSpPr/>
          <p:nvPr/>
        </p:nvGrpSpPr>
        <p:grpSpPr>
          <a:xfrm>
            <a:off x="1419644" y="2106591"/>
            <a:ext cx="1714187" cy="593909"/>
            <a:chOff x="0" y="0"/>
            <a:chExt cx="1714186" cy="593908"/>
          </a:xfrm>
        </p:grpSpPr>
        <p:sp>
          <p:nvSpPr>
            <p:cNvPr id="735" name="线条"/>
            <p:cNvSpPr/>
            <p:nvPr/>
          </p:nvSpPr>
          <p:spPr>
            <a:xfrm>
              <a:off x="0" y="574740"/>
              <a:ext cx="1714187" cy="1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736" name="线条"/>
            <p:cNvSpPr/>
            <p:nvPr/>
          </p:nvSpPr>
          <p:spPr>
            <a:xfrm flipV="1">
              <a:off x="1702526" y="0"/>
              <a:ext cx="1" cy="593909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738" name="帮助GC：…"/>
          <p:cNvSpPr txBox="1"/>
          <p:nvPr/>
        </p:nvSpPr>
        <p:spPr>
          <a:xfrm>
            <a:off x="5043886" y="2740352"/>
            <a:ext cx="211867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</a:lstStyle>
          <a:p>
            <a:r>
              <a:t>帮助GC：</a:t>
            </a:r>
          </a:p>
          <a:p>
            <a:pPr lvl="1"/>
            <a:r>
              <a:t>    p.data = null;</a:t>
            </a:r>
          </a:p>
        </p:txBody>
      </p:sp>
      <p:grpSp>
        <p:nvGrpSpPr>
          <p:cNvPr id="741" name="成组"/>
          <p:cNvGrpSpPr/>
          <p:nvPr/>
        </p:nvGrpSpPr>
        <p:grpSpPr>
          <a:xfrm>
            <a:off x="2916652" y="1768330"/>
            <a:ext cx="152401" cy="228601"/>
            <a:chOff x="0" y="0"/>
            <a:chExt cx="152399" cy="228600"/>
          </a:xfrm>
        </p:grpSpPr>
        <p:sp>
          <p:nvSpPr>
            <p:cNvPr id="739" name="线条"/>
            <p:cNvSpPr/>
            <p:nvPr/>
          </p:nvSpPr>
          <p:spPr>
            <a:xfrm flipH="1">
              <a:off x="-1" y="0"/>
              <a:ext cx="76202" cy="228601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740" name="线条"/>
            <p:cNvSpPr/>
            <p:nvPr/>
          </p:nvSpPr>
          <p:spPr>
            <a:xfrm>
              <a:off x="76200" y="-1"/>
              <a:ext cx="76200" cy="228602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744" name="成组"/>
          <p:cNvGrpSpPr/>
          <p:nvPr/>
        </p:nvGrpSpPr>
        <p:grpSpPr>
          <a:xfrm>
            <a:off x="3575634" y="1757143"/>
            <a:ext cx="152401" cy="228601"/>
            <a:chOff x="0" y="0"/>
            <a:chExt cx="152399" cy="228600"/>
          </a:xfrm>
        </p:grpSpPr>
        <p:sp>
          <p:nvSpPr>
            <p:cNvPr id="742" name="线条"/>
            <p:cNvSpPr/>
            <p:nvPr/>
          </p:nvSpPr>
          <p:spPr>
            <a:xfrm flipH="1">
              <a:off x="-1" y="0"/>
              <a:ext cx="76202" cy="228601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743" name="线条"/>
            <p:cNvSpPr/>
            <p:nvPr/>
          </p:nvSpPr>
          <p:spPr>
            <a:xfrm>
              <a:off x="76200" y="-1"/>
              <a:ext cx="76200" cy="228602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745" name="p.next = null;"/>
          <p:cNvSpPr txBox="1"/>
          <p:nvPr/>
        </p:nvSpPr>
        <p:spPr>
          <a:xfrm>
            <a:off x="5138160" y="3651788"/>
            <a:ext cx="2057128" cy="44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>
                <a:solidFill>
                  <a:schemeClr val="accent1"/>
                </a:solidFill>
              </a:defRPr>
            </a:pPr>
            <a:r>
              <a:t>   p.next = null;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1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" grpId="7" animBg="1" advAuto="0"/>
      <p:bldP spid="719" grpId="12" animBg="1" advAuto="0"/>
      <p:bldP spid="723" grpId="15" animBg="1" advAuto="0"/>
      <p:bldP spid="724" grpId="6" animBg="1" advAuto="0"/>
      <p:bldP spid="727" grpId="2" animBg="1" advAuto="0"/>
      <p:bldP spid="728" grpId="10" animBg="1" advAuto="0"/>
      <p:bldP spid="729" grpId="9" animBg="1" advAuto="0"/>
      <p:bldP spid="730" grpId="8" animBg="1" advAuto="0"/>
      <p:bldP spid="732" grpId="4" animBg="1" advAuto="0"/>
      <p:bldP spid="733" grpId="1" animBg="1" advAuto="0"/>
      <p:bldP spid="734" grpId="3" animBg="1" advAuto="0"/>
      <p:bldP spid="737" grpId="5" animBg="1" advAuto="0"/>
      <p:bldP spid="738" grpId="11" animBg="1" advAuto="0"/>
      <p:bldP spid="741" grpId="13" animBg="1" advAuto="0"/>
      <p:bldP spid="744" grpId="16" animBg="1" advAuto="0"/>
      <p:bldP spid="745" grpId="14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T remove(int index)"/>
          <p:cNvSpPr txBox="1"/>
          <p:nvPr/>
        </p:nvSpPr>
        <p:spPr>
          <a:xfrm>
            <a:off x="1090612" y="47277"/>
            <a:ext cx="6731001" cy="62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pPr>
            <a:r>
              <a:t>T remove(int </a:t>
            </a:r>
            <a:r>
              <a:rPr>
                <a:solidFill>
                  <a:schemeClr val="accent5"/>
                </a:solidFill>
              </a:rPr>
              <a:t>i</a:t>
            </a:r>
            <a:r>
              <a:t>ndex)</a:t>
            </a:r>
          </a:p>
        </p:txBody>
      </p:sp>
      <p:sp>
        <p:nvSpPr>
          <p:cNvPr id="748" name="public T remove(int index) {…"/>
          <p:cNvSpPr txBox="1"/>
          <p:nvPr/>
        </p:nvSpPr>
        <p:spPr>
          <a:xfrm>
            <a:off x="-354336" y="901897"/>
            <a:ext cx="7745314" cy="5566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remove(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 {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== 0) {</a:t>
            </a:r>
            <a:r>
              <a:rPr>
                <a:solidFill>
                  <a:srgbClr val="4E9072"/>
                </a:solidFill>
              </a:rPr>
              <a:t>// 肯定不为空</a:t>
            </a:r>
          </a:p>
          <a:p>
            <a:pPr>
              <a:defRPr sz="16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 = 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6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} </a:t>
            </a:r>
            <a:r>
              <a:rPr>
                <a:solidFill>
                  <a:srgbClr val="931A68"/>
                </a:solidFill>
              </a:rPr>
              <a:t>else</a:t>
            </a:r>
            <a:r>
              <a:rPr>
                <a:solidFill>
                  <a:srgbClr val="000000"/>
                </a:solidFill>
              </a:rPr>
              <a:t> {</a:t>
            </a:r>
            <a:r>
              <a:t>// 至少有2个结点</a:t>
            </a:r>
            <a:endParaRPr>
              <a:solidFill>
                <a:srgbClr val="000000"/>
              </a:solidFill>
            </a:endParaRPr>
          </a:p>
          <a:p>
            <a:pPr>
              <a:defRPr sz="16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- 1;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  <a:r>
              <a:rPr>
                <a:solidFill>
                  <a:schemeClr val="accent5"/>
                </a:solidFill>
              </a:rPr>
              <a:t>// 找到index的前驱</a:t>
            </a:r>
            <a:endParaRPr>
              <a:solidFill>
                <a:srgbClr val="000000"/>
              </a:solidFill>
            </a:endParaRP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	Node&lt;T&gt; 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;</a:t>
            </a:r>
          </a:p>
          <a:p>
            <a:pPr>
              <a:defRPr sz="16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6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16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p指向待删除结点</a:t>
            </a:r>
            <a:endParaRPr>
              <a:solidFill>
                <a:srgbClr val="000000"/>
              </a:solidFill>
            </a:endParaRPr>
          </a:p>
          <a:p>
            <a:pPr>
              <a:defRPr sz="16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T </a:t>
            </a:r>
            <a:r>
              <a:t>value</a:t>
            </a:r>
            <a:r>
              <a:rPr>
                <a:solidFill>
                  <a:srgbClr val="000000"/>
                </a:solidFill>
              </a:rPr>
              <a:t> = </a:t>
            </a:r>
            <a: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6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帮助GC</a:t>
            </a:r>
            <a:endParaRPr>
              <a:solidFill>
                <a:srgbClr val="000000"/>
              </a:solidFill>
            </a:endParaRPr>
          </a:p>
          <a:p>
            <a:pPr>
              <a:defRPr sz="16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--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;</a:t>
            </a:r>
          </a:p>
          <a:p>
            <a:pPr>
              <a:defRPr sz="16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771" name="成组"/>
          <p:cNvGrpSpPr/>
          <p:nvPr/>
        </p:nvGrpSpPr>
        <p:grpSpPr>
          <a:xfrm>
            <a:off x="4168201" y="593260"/>
            <a:ext cx="4900613" cy="2211661"/>
            <a:chOff x="0" y="0"/>
            <a:chExt cx="4900612" cy="2211659"/>
          </a:xfrm>
        </p:grpSpPr>
        <p:grpSp>
          <p:nvGrpSpPr>
            <p:cNvPr id="751" name="成组"/>
            <p:cNvGrpSpPr/>
            <p:nvPr/>
          </p:nvGrpSpPr>
          <p:grpSpPr>
            <a:xfrm>
              <a:off x="0" y="695339"/>
              <a:ext cx="1008063" cy="489465"/>
              <a:chOff x="0" y="1"/>
              <a:chExt cx="1008062" cy="489463"/>
            </a:xfrm>
          </p:grpSpPr>
          <p:sp>
            <p:nvSpPr>
              <p:cNvPr id="749" name="矩形"/>
              <p:cNvSpPr/>
              <p:nvPr/>
            </p:nvSpPr>
            <p:spPr>
              <a:xfrm>
                <a:off x="0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750" name="ai-1"/>
              <p:cNvSpPr txBox="1"/>
              <p:nvPr/>
            </p:nvSpPr>
            <p:spPr>
              <a:xfrm>
                <a:off x="237499" y="1"/>
                <a:ext cx="533064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i-1</a:t>
                </a:r>
              </a:p>
            </p:txBody>
          </p:sp>
        </p:grpSp>
        <p:sp>
          <p:nvSpPr>
            <p:cNvPr id="752" name="矩形"/>
            <p:cNvSpPr/>
            <p:nvPr/>
          </p:nvSpPr>
          <p:spPr>
            <a:xfrm>
              <a:off x="1008063" y="705914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753" name="椭圆形"/>
            <p:cNvSpPr/>
            <p:nvPr/>
          </p:nvSpPr>
          <p:spPr>
            <a:xfrm>
              <a:off x="1152525" y="921814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756" name="成组"/>
            <p:cNvGrpSpPr/>
            <p:nvPr/>
          </p:nvGrpSpPr>
          <p:grpSpPr>
            <a:xfrm>
              <a:off x="1655762" y="707501"/>
              <a:ext cx="1774033" cy="1504159"/>
              <a:chOff x="0" y="10574"/>
              <a:chExt cx="1774031" cy="1504157"/>
            </a:xfrm>
          </p:grpSpPr>
          <p:sp>
            <p:nvSpPr>
              <p:cNvPr id="754" name="矩形"/>
              <p:cNvSpPr/>
              <p:nvPr/>
            </p:nvSpPr>
            <p:spPr>
              <a:xfrm>
                <a:off x="0" y="10574"/>
                <a:ext cx="1008065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755" name="ai"/>
              <p:cNvSpPr/>
              <p:nvPr/>
            </p:nvSpPr>
            <p:spPr>
              <a:xfrm>
                <a:off x="504031" y="24473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i</a:t>
                </a:r>
              </a:p>
            </p:txBody>
          </p:sp>
        </p:grpSp>
        <p:sp>
          <p:nvSpPr>
            <p:cNvPr id="757" name="矩形"/>
            <p:cNvSpPr/>
            <p:nvPr/>
          </p:nvSpPr>
          <p:spPr>
            <a:xfrm>
              <a:off x="2663824" y="707502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760" name="成组"/>
            <p:cNvGrpSpPr/>
            <p:nvPr/>
          </p:nvGrpSpPr>
          <p:grpSpPr>
            <a:xfrm>
              <a:off x="3276600" y="696927"/>
              <a:ext cx="1008064" cy="489465"/>
              <a:chOff x="0" y="1"/>
              <a:chExt cx="1008062" cy="489463"/>
            </a:xfrm>
          </p:grpSpPr>
          <p:sp>
            <p:nvSpPr>
              <p:cNvPr id="758" name="矩形"/>
              <p:cNvSpPr/>
              <p:nvPr/>
            </p:nvSpPr>
            <p:spPr>
              <a:xfrm>
                <a:off x="0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759" name="ai+1"/>
              <p:cNvSpPr txBox="1"/>
              <p:nvPr/>
            </p:nvSpPr>
            <p:spPr>
              <a:xfrm>
                <a:off x="213439" y="1"/>
                <a:ext cx="581185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i+1</a:t>
                </a:r>
              </a:p>
            </p:txBody>
          </p:sp>
        </p:grpSp>
        <p:sp>
          <p:nvSpPr>
            <p:cNvPr id="761" name="矩形"/>
            <p:cNvSpPr/>
            <p:nvPr/>
          </p:nvSpPr>
          <p:spPr>
            <a:xfrm>
              <a:off x="4284662" y="707502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762" name="线条"/>
            <p:cNvSpPr/>
            <p:nvPr/>
          </p:nvSpPr>
          <p:spPr>
            <a:xfrm>
              <a:off x="1187450" y="959914"/>
              <a:ext cx="468314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765" name="成组"/>
            <p:cNvGrpSpPr/>
            <p:nvPr/>
          </p:nvGrpSpPr>
          <p:grpSpPr>
            <a:xfrm>
              <a:off x="2844799" y="888477"/>
              <a:ext cx="431802" cy="71439"/>
              <a:chOff x="0" y="0"/>
              <a:chExt cx="431800" cy="71438"/>
            </a:xfrm>
          </p:grpSpPr>
          <p:sp>
            <p:nvSpPr>
              <p:cNvPr id="763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764" name="线条"/>
              <p:cNvSpPr/>
              <p:nvPr/>
            </p:nvSpPr>
            <p:spPr>
              <a:xfrm>
                <a:off x="36512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768" name="成组"/>
            <p:cNvGrpSpPr/>
            <p:nvPr/>
          </p:nvGrpSpPr>
          <p:grpSpPr>
            <a:xfrm>
              <a:off x="4468811" y="905940"/>
              <a:ext cx="431802" cy="71439"/>
              <a:chOff x="0" y="0"/>
              <a:chExt cx="431800" cy="71438"/>
            </a:xfrm>
          </p:grpSpPr>
          <p:sp>
            <p:nvSpPr>
              <p:cNvPr id="766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767" name="线条"/>
              <p:cNvSpPr/>
              <p:nvPr/>
            </p:nvSpPr>
            <p:spPr>
              <a:xfrm>
                <a:off x="36512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sp>
          <p:nvSpPr>
            <p:cNvPr id="769" name="p"/>
            <p:cNvSpPr txBox="1"/>
            <p:nvPr/>
          </p:nvSpPr>
          <p:spPr>
            <a:xfrm>
              <a:off x="232571" y="0"/>
              <a:ext cx="324456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 b="1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p</a:t>
              </a:r>
            </a:p>
          </p:txBody>
        </p:sp>
        <p:sp>
          <p:nvSpPr>
            <p:cNvPr id="770" name="线条"/>
            <p:cNvSpPr/>
            <p:nvPr/>
          </p:nvSpPr>
          <p:spPr>
            <a:xfrm flipH="1">
              <a:off x="397354" y="406665"/>
              <a:ext cx="1" cy="298717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void clear()"/>
          <p:cNvSpPr txBox="1"/>
          <p:nvPr/>
        </p:nvSpPr>
        <p:spPr>
          <a:xfrm>
            <a:off x="1090612" y="47277"/>
            <a:ext cx="6731001" cy="62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void clear()</a:t>
            </a:r>
          </a:p>
        </p:txBody>
      </p:sp>
      <p:sp>
        <p:nvSpPr>
          <p:cNvPr id="774" name="成组"/>
          <p:cNvSpPr/>
          <p:nvPr/>
        </p:nvSpPr>
        <p:spPr>
          <a:xfrm>
            <a:off x="2477716" y="5448874"/>
            <a:ext cx="1008066" cy="4683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75" name="矩形"/>
          <p:cNvSpPr/>
          <p:nvPr/>
        </p:nvSpPr>
        <p:spPr>
          <a:xfrm>
            <a:off x="3485779" y="5448875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76" name="成组"/>
          <p:cNvSpPr/>
          <p:nvPr/>
        </p:nvSpPr>
        <p:spPr>
          <a:xfrm>
            <a:off x="4133479" y="5450462"/>
            <a:ext cx="1008064" cy="46831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77" name="矩形"/>
          <p:cNvSpPr/>
          <p:nvPr/>
        </p:nvSpPr>
        <p:spPr>
          <a:xfrm>
            <a:off x="5141541" y="5450463"/>
            <a:ext cx="360365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78" name="成组"/>
          <p:cNvSpPr/>
          <p:nvPr/>
        </p:nvSpPr>
        <p:spPr>
          <a:xfrm>
            <a:off x="5754317" y="5450462"/>
            <a:ext cx="1008066" cy="46831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79" name="矩形"/>
          <p:cNvSpPr/>
          <p:nvPr/>
        </p:nvSpPr>
        <p:spPr>
          <a:xfrm>
            <a:off x="6762380" y="5450463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80" name="head ="/>
          <p:cNvSpPr txBox="1"/>
          <p:nvPr/>
        </p:nvSpPr>
        <p:spPr>
          <a:xfrm>
            <a:off x="553693" y="5462373"/>
            <a:ext cx="978407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head =</a:t>
            </a:r>
          </a:p>
        </p:txBody>
      </p:sp>
      <p:grpSp>
        <p:nvGrpSpPr>
          <p:cNvPr id="783" name="成组"/>
          <p:cNvGrpSpPr/>
          <p:nvPr/>
        </p:nvGrpSpPr>
        <p:grpSpPr>
          <a:xfrm>
            <a:off x="1557147" y="5569525"/>
            <a:ext cx="152401" cy="228601"/>
            <a:chOff x="0" y="0"/>
            <a:chExt cx="152399" cy="228600"/>
          </a:xfrm>
        </p:grpSpPr>
        <p:sp>
          <p:nvSpPr>
            <p:cNvPr id="781" name="线条"/>
            <p:cNvSpPr/>
            <p:nvPr/>
          </p:nvSpPr>
          <p:spPr>
            <a:xfrm flipH="1">
              <a:off x="0" y="-1"/>
              <a:ext cx="76201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782" name="线条"/>
            <p:cNvSpPr/>
            <p:nvPr/>
          </p:nvSpPr>
          <p:spPr>
            <a:xfrm>
              <a:off x="76200" y="-1"/>
              <a:ext cx="76201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784" name="public void clear() {…"/>
          <p:cNvSpPr txBox="1"/>
          <p:nvPr/>
        </p:nvSpPr>
        <p:spPr>
          <a:xfrm>
            <a:off x="475915" y="810487"/>
            <a:ext cx="7277746" cy="3645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clear() {</a:t>
            </a:r>
          </a:p>
          <a:p>
            <a:pPr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0326CC"/>
                </a:solidFill>
              </a:rPr>
              <a:t>head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不断的删除第1个结点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Node&lt;T&gt; 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  <a:r>
              <a:rPr>
                <a:solidFill>
                  <a:srgbClr val="4E9072"/>
                </a:solidFill>
              </a:rPr>
              <a:t>// q待删除结点</a:t>
            </a:r>
          </a:p>
          <a:p>
            <a:pPr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0326CC"/>
                </a:solidFill>
              </a:rPr>
              <a:t>head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下一个结点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帮助GC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= 0;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785" name="q"/>
          <p:cNvSpPr txBox="1"/>
          <p:nvPr/>
        </p:nvSpPr>
        <p:spPr>
          <a:xfrm>
            <a:off x="4464531" y="3521491"/>
            <a:ext cx="29681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q</a:t>
            </a:r>
          </a:p>
        </p:txBody>
      </p:sp>
      <p:sp>
        <p:nvSpPr>
          <p:cNvPr id="786" name="线条"/>
          <p:cNvSpPr/>
          <p:nvPr/>
        </p:nvSpPr>
        <p:spPr>
          <a:xfrm>
            <a:off x="4612938" y="3970093"/>
            <a:ext cx="1" cy="253267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>
              <a:defRPr sz="1200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787" name="成组"/>
          <p:cNvSpPr/>
          <p:nvPr/>
        </p:nvSpPr>
        <p:spPr>
          <a:xfrm>
            <a:off x="4078089" y="4208798"/>
            <a:ext cx="1008064" cy="4683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88" name="矩形"/>
          <p:cNvSpPr/>
          <p:nvPr/>
        </p:nvSpPr>
        <p:spPr>
          <a:xfrm>
            <a:off x="5086152" y="4208798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89" name="椭圆形"/>
          <p:cNvSpPr/>
          <p:nvPr/>
        </p:nvSpPr>
        <p:spPr>
          <a:xfrm>
            <a:off x="5230614" y="4424698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90" name="成组"/>
          <p:cNvSpPr/>
          <p:nvPr/>
        </p:nvSpPr>
        <p:spPr>
          <a:xfrm>
            <a:off x="5733852" y="4210386"/>
            <a:ext cx="1008064" cy="4683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91" name="矩形"/>
          <p:cNvSpPr/>
          <p:nvPr/>
        </p:nvSpPr>
        <p:spPr>
          <a:xfrm>
            <a:off x="6741914" y="4210387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92" name="成组"/>
          <p:cNvSpPr/>
          <p:nvPr/>
        </p:nvSpPr>
        <p:spPr>
          <a:xfrm>
            <a:off x="7354689" y="4210386"/>
            <a:ext cx="1008064" cy="4683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93" name="矩形"/>
          <p:cNvSpPr/>
          <p:nvPr/>
        </p:nvSpPr>
        <p:spPr>
          <a:xfrm>
            <a:off x="8362752" y="4210387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94" name="椭圆形"/>
          <p:cNvSpPr/>
          <p:nvPr/>
        </p:nvSpPr>
        <p:spPr>
          <a:xfrm>
            <a:off x="6922889" y="4391362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797" name="成组"/>
          <p:cNvGrpSpPr/>
          <p:nvPr/>
        </p:nvGrpSpPr>
        <p:grpSpPr>
          <a:xfrm>
            <a:off x="8435777" y="4305637"/>
            <a:ext cx="152401" cy="228601"/>
            <a:chOff x="0" y="0"/>
            <a:chExt cx="152399" cy="228600"/>
          </a:xfrm>
        </p:grpSpPr>
        <p:sp>
          <p:nvSpPr>
            <p:cNvPr id="795" name="线条"/>
            <p:cNvSpPr/>
            <p:nvPr/>
          </p:nvSpPr>
          <p:spPr>
            <a:xfrm flipH="1">
              <a:off x="-1" y="-1"/>
              <a:ext cx="76202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796" name="线条"/>
            <p:cNvSpPr/>
            <p:nvPr/>
          </p:nvSpPr>
          <p:spPr>
            <a:xfrm>
              <a:off x="76200" y="-1"/>
              <a:ext cx="76200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798" name="线条"/>
          <p:cNvSpPr/>
          <p:nvPr/>
        </p:nvSpPr>
        <p:spPr>
          <a:xfrm>
            <a:off x="5265539" y="4462799"/>
            <a:ext cx="468314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799" name="线条"/>
          <p:cNvSpPr/>
          <p:nvPr/>
        </p:nvSpPr>
        <p:spPr>
          <a:xfrm>
            <a:off x="6959402" y="4426286"/>
            <a:ext cx="395289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800" name="head"/>
          <p:cNvSpPr txBox="1"/>
          <p:nvPr/>
        </p:nvSpPr>
        <p:spPr>
          <a:xfrm>
            <a:off x="2589409" y="4212768"/>
            <a:ext cx="828068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head</a:t>
            </a:r>
          </a:p>
        </p:txBody>
      </p:sp>
      <p:sp>
        <p:nvSpPr>
          <p:cNvPr id="801" name="线条"/>
          <p:cNvSpPr/>
          <p:nvPr/>
        </p:nvSpPr>
        <p:spPr>
          <a:xfrm>
            <a:off x="3510668" y="4460825"/>
            <a:ext cx="567422" cy="1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802" name="a0"/>
          <p:cNvSpPr txBox="1"/>
          <p:nvPr/>
        </p:nvSpPr>
        <p:spPr>
          <a:xfrm>
            <a:off x="4415750" y="4706450"/>
            <a:ext cx="408941" cy="489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40640" indent="40640" algn="ctr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r>
              <a:t>a</a:t>
            </a:r>
            <a:r>
              <a:rPr baseline="-25000"/>
              <a:t>0</a:t>
            </a:r>
          </a:p>
        </p:txBody>
      </p:sp>
      <p:sp>
        <p:nvSpPr>
          <p:cNvPr id="803" name="线条"/>
          <p:cNvSpPr/>
          <p:nvPr/>
        </p:nvSpPr>
        <p:spPr>
          <a:xfrm>
            <a:off x="4600238" y="4456063"/>
            <a:ext cx="1" cy="40056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>
              <a:defRPr sz="1200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804" name="a1"/>
          <p:cNvSpPr txBox="1"/>
          <p:nvPr/>
        </p:nvSpPr>
        <p:spPr>
          <a:xfrm>
            <a:off x="6078330" y="4706450"/>
            <a:ext cx="408941" cy="489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40640" indent="40640" algn="ctr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r>
              <a:t>a</a:t>
            </a:r>
            <a:r>
              <a:rPr baseline="-25000"/>
              <a:t>1</a:t>
            </a:r>
          </a:p>
        </p:txBody>
      </p:sp>
      <p:sp>
        <p:nvSpPr>
          <p:cNvPr id="805" name="线条"/>
          <p:cNvSpPr/>
          <p:nvPr/>
        </p:nvSpPr>
        <p:spPr>
          <a:xfrm>
            <a:off x="6262818" y="4456063"/>
            <a:ext cx="1" cy="40056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>
              <a:defRPr sz="1200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806" name="a2"/>
          <p:cNvSpPr txBox="1"/>
          <p:nvPr/>
        </p:nvSpPr>
        <p:spPr>
          <a:xfrm>
            <a:off x="7711208" y="4706450"/>
            <a:ext cx="408941" cy="489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40640" indent="40640" algn="ctr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r>
              <a:t>a</a:t>
            </a:r>
            <a:r>
              <a:rPr baseline="-25000"/>
              <a:t>2</a:t>
            </a:r>
          </a:p>
        </p:txBody>
      </p:sp>
      <p:sp>
        <p:nvSpPr>
          <p:cNvPr id="807" name="线条"/>
          <p:cNvSpPr/>
          <p:nvPr/>
        </p:nvSpPr>
        <p:spPr>
          <a:xfrm>
            <a:off x="7895695" y="4456063"/>
            <a:ext cx="1" cy="40056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>
              <a:defRPr sz="1200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808" name="a0"/>
          <p:cNvSpPr txBox="1"/>
          <p:nvPr/>
        </p:nvSpPr>
        <p:spPr>
          <a:xfrm>
            <a:off x="2798972" y="6092069"/>
            <a:ext cx="408941" cy="489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40640" indent="40640" algn="ctr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r>
              <a:t>a</a:t>
            </a:r>
            <a:r>
              <a:rPr baseline="-25000"/>
              <a:t>0</a:t>
            </a:r>
          </a:p>
        </p:txBody>
      </p:sp>
      <p:sp>
        <p:nvSpPr>
          <p:cNvPr id="809" name="a1"/>
          <p:cNvSpPr txBox="1"/>
          <p:nvPr/>
        </p:nvSpPr>
        <p:spPr>
          <a:xfrm>
            <a:off x="4458440" y="6092069"/>
            <a:ext cx="408941" cy="489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40640" indent="40640" algn="ctr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r>
              <a:t>a</a:t>
            </a:r>
            <a:r>
              <a:rPr baseline="-25000"/>
              <a:t>1</a:t>
            </a:r>
          </a:p>
        </p:txBody>
      </p:sp>
      <p:sp>
        <p:nvSpPr>
          <p:cNvPr id="810" name="a2"/>
          <p:cNvSpPr txBox="1"/>
          <p:nvPr/>
        </p:nvSpPr>
        <p:spPr>
          <a:xfrm>
            <a:off x="6078330" y="6092069"/>
            <a:ext cx="408941" cy="489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40640" indent="40640" algn="ctr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r>
              <a:t>a</a:t>
            </a:r>
            <a:r>
              <a:rPr baseline="-25000"/>
              <a:t>2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找前驱结点"/>
          <p:cNvSpPr txBox="1"/>
          <p:nvPr/>
        </p:nvSpPr>
        <p:spPr>
          <a:xfrm>
            <a:off x="1141412" y="-162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找前驱结点</a:t>
            </a:r>
          </a:p>
        </p:txBody>
      </p:sp>
      <p:sp>
        <p:nvSpPr>
          <p:cNvPr id="813" name="根据某种条件找前驱"/>
          <p:cNvSpPr txBox="1"/>
          <p:nvPr/>
        </p:nvSpPr>
        <p:spPr>
          <a:xfrm>
            <a:off x="58737" y="817782"/>
            <a:ext cx="29718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根据某种条件找前驱</a:t>
            </a:r>
          </a:p>
        </p:txBody>
      </p:sp>
      <p:sp>
        <p:nvSpPr>
          <p:cNvPr id="814" name="Node&lt;T&gt; pre = null;…"/>
          <p:cNvSpPr txBox="1"/>
          <p:nvPr/>
        </p:nvSpPr>
        <p:spPr>
          <a:xfrm>
            <a:off x="816651" y="2543620"/>
            <a:ext cx="7036824" cy="1715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Node&lt;T&gt; pre = </a:t>
            </a:r>
            <a:r>
              <a:rPr>
                <a:solidFill>
                  <a:schemeClr val="accent5"/>
                </a:solidFill>
              </a:rPr>
              <a:t>null</a:t>
            </a:r>
            <a:r>
              <a:t>;</a:t>
            </a:r>
          </a:p>
          <a:p>
            <a:pPr>
              <a:lnSpc>
                <a:spcPct val="120000"/>
              </a:lnSpc>
            </a:pPr>
            <a:r>
              <a:t>for(Node&lt;T&gt; p = head; p != null; </a:t>
            </a:r>
            <a:r>
              <a:rPr>
                <a:solidFill>
                  <a:schemeClr val="accent5"/>
                </a:solidFill>
              </a:rPr>
              <a:t>pre = p</a:t>
            </a:r>
            <a:r>
              <a:t>, p = p.next){</a:t>
            </a:r>
          </a:p>
          <a:p>
            <a:pPr>
              <a:lnSpc>
                <a:spcPct val="120000"/>
              </a:lnSpc>
            </a:pPr>
            <a:r>
              <a:t>…. if(p.data….)</a:t>
            </a:r>
          </a:p>
          <a:p>
            <a:pPr>
              <a:lnSpc>
                <a:spcPct val="120000"/>
              </a:lnSpc>
            </a:pPr>
            <a:r>
              <a:t>}</a:t>
            </a:r>
          </a:p>
        </p:txBody>
      </p:sp>
      <p:sp>
        <p:nvSpPr>
          <p:cNvPr id="815" name="如果pre=null，则满足条件的结点是第1个结点，没有前驱结点…"/>
          <p:cNvSpPr txBox="1"/>
          <p:nvPr/>
        </p:nvSpPr>
        <p:spPr>
          <a:xfrm>
            <a:off x="191409" y="4637167"/>
            <a:ext cx="8729432" cy="1065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如果pre=null，则满足条件的结点是第1个结点，没有前驱结点</a:t>
            </a:r>
          </a:p>
          <a:p>
            <a:pPr>
              <a:lnSpc>
                <a:spcPct val="120000"/>
              </a:lnSpc>
            </a:pPr>
            <a:r>
              <a:t>如果是空表，则pre=null</a:t>
            </a:r>
          </a:p>
        </p:txBody>
      </p:sp>
      <p:grpSp>
        <p:nvGrpSpPr>
          <p:cNvPr id="845" name="成组"/>
          <p:cNvGrpSpPr/>
          <p:nvPr/>
        </p:nvGrpSpPr>
        <p:grpSpPr>
          <a:xfrm>
            <a:off x="2500509" y="803691"/>
            <a:ext cx="6133707" cy="1674424"/>
            <a:chOff x="0" y="0"/>
            <a:chExt cx="6133705" cy="1674423"/>
          </a:xfrm>
        </p:grpSpPr>
        <p:sp>
          <p:nvSpPr>
            <p:cNvPr id="816" name="pre"/>
            <p:cNvSpPr txBox="1"/>
            <p:nvPr/>
          </p:nvSpPr>
          <p:spPr>
            <a:xfrm>
              <a:off x="1760822" y="0"/>
              <a:ext cx="587996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pre</a:t>
              </a:r>
            </a:p>
          </p:txBody>
        </p:sp>
        <p:sp>
          <p:nvSpPr>
            <p:cNvPr id="817" name="线条"/>
            <p:cNvSpPr/>
            <p:nvPr/>
          </p:nvSpPr>
          <p:spPr>
            <a:xfrm>
              <a:off x="2023528" y="448602"/>
              <a:ext cx="1" cy="25326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grpSp>
          <p:nvGrpSpPr>
            <p:cNvPr id="833" name="成组"/>
            <p:cNvGrpSpPr/>
            <p:nvPr/>
          </p:nvGrpSpPr>
          <p:grpSpPr>
            <a:xfrm>
              <a:off x="0" y="687306"/>
              <a:ext cx="6133706" cy="499271"/>
              <a:chOff x="0" y="10575"/>
              <a:chExt cx="6133705" cy="499269"/>
            </a:xfrm>
          </p:grpSpPr>
          <p:sp>
            <p:nvSpPr>
              <p:cNvPr id="818" name="成组"/>
              <p:cNvSpPr/>
              <p:nvPr/>
            </p:nvSpPr>
            <p:spPr>
              <a:xfrm>
                <a:off x="1488679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819" name="矩形"/>
              <p:cNvSpPr/>
              <p:nvPr/>
            </p:nvSpPr>
            <p:spPr>
              <a:xfrm>
                <a:off x="2496742" y="10575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820" name="椭圆形"/>
              <p:cNvSpPr/>
              <p:nvPr/>
            </p:nvSpPr>
            <p:spPr>
              <a:xfrm>
                <a:off x="2641205" y="226475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821" name="成组"/>
              <p:cNvSpPr/>
              <p:nvPr/>
            </p:nvSpPr>
            <p:spPr>
              <a:xfrm>
                <a:off x="3144442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822" name="矩形"/>
              <p:cNvSpPr/>
              <p:nvPr/>
            </p:nvSpPr>
            <p:spPr>
              <a:xfrm>
                <a:off x="4152505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823" name="成组"/>
              <p:cNvSpPr/>
              <p:nvPr/>
            </p:nvSpPr>
            <p:spPr>
              <a:xfrm>
                <a:off x="4765279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824" name="矩形"/>
              <p:cNvSpPr/>
              <p:nvPr/>
            </p:nvSpPr>
            <p:spPr>
              <a:xfrm>
                <a:off x="5773342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825" name="椭圆形"/>
              <p:cNvSpPr/>
              <p:nvPr/>
            </p:nvSpPr>
            <p:spPr>
              <a:xfrm>
                <a:off x="4333480" y="193138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grpSp>
            <p:nvGrpSpPr>
              <p:cNvPr id="828" name="成组"/>
              <p:cNvGrpSpPr/>
              <p:nvPr/>
            </p:nvGrpSpPr>
            <p:grpSpPr>
              <a:xfrm>
                <a:off x="5846367" y="107413"/>
                <a:ext cx="152401" cy="228601"/>
                <a:chOff x="0" y="0"/>
                <a:chExt cx="152399" cy="228600"/>
              </a:xfrm>
            </p:grpSpPr>
            <p:sp>
              <p:nvSpPr>
                <p:cNvPr id="826" name="线条"/>
                <p:cNvSpPr/>
                <p:nvPr/>
              </p:nvSpPr>
              <p:spPr>
                <a:xfrm flipH="1">
                  <a:off x="-1" y="-1"/>
                  <a:ext cx="76202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  <p:sp>
              <p:nvSpPr>
                <p:cNvPr id="827" name="线条"/>
                <p:cNvSpPr/>
                <p:nvPr/>
              </p:nvSpPr>
              <p:spPr>
                <a:xfrm>
                  <a:off x="76200" y="-1"/>
                  <a:ext cx="76200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</p:grpSp>
          <p:sp>
            <p:nvSpPr>
              <p:cNvPr id="829" name="线条"/>
              <p:cNvSpPr/>
              <p:nvPr/>
            </p:nvSpPr>
            <p:spPr>
              <a:xfrm>
                <a:off x="2676130" y="264575"/>
                <a:ext cx="468314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830" name="线条"/>
              <p:cNvSpPr/>
              <p:nvPr/>
            </p:nvSpPr>
            <p:spPr>
              <a:xfrm>
                <a:off x="4369992" y="228063"/>
                <a:ext cx="395290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831" name="head"/>
              <p:cNvSpPr txBox="1"/>
              <p:nvPr/>
            </p:nvSpPr>
            <p:spPr>
              <a:xfrm>
                <a:off x="0" y="14544"/>
                <a:ext cx="828068" cy="495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r>
                  <a:t>head</a:t>
                </a:r>
              </a:p>
            </p:txBody>
          </p:sp>
          <p:sp>
            <p:nvSpPr>
              <p:cNvPr id="832" name="线条"/>
              <p:cNvSpPr/>
              <p:nvPr/>
            </p:nvSpPr>
            <p:spPr>
              <a:xfrm>
                <a:off x="921258" y="262602"/>
                <a:ext cx="567422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836" name="成组"/>
            <p:cNvGrpSpPr/>
            <p:nvPr/>
          </p:nvGrpSpPr>
          <p:grpSpPr>
            <a:xfrm>
              <a:off x="1826341" y="934572"/>
              <a:ext cx="408941" cy="739852"/>
              <a:chOff x="0" y="0"/>
              <a:chExt cx="408940" cy="739851"/>
            </a:xfrm>
          </p:grpSpPr>
          <p:sp>
            <p:nvSpPr>
              <p:cNvPr id="834" name="a0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0</a:t>
                </a:r>
              </a:p>
            </p:txBody>
          </p:sp>
          <p:sp>
            <p:nvSpPr>
              <p:cNvPr id="835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839" name="成组"/>
            <p:cNvGrpSpPr/>
            <p:nvPr/>
          </p:nvGrpSpPr>
          <p:grpSpPr>
            <a:xfrm>
              <a:off x="3488921" y="934572"/>
              <a:ext cx="408941" cy="739852"/>
              <a:chOff x="0" y="0"/>
              <a:chExt cx="408940" cy="739851"/>
            </a:xfrm>
          </p:grpSpPr>
          <p:sp>
            <p:nvSpPr>
              <p:cNvPr id="837" name="a1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1</a:t>
                </a:r>
              </a:p>
            </p:txBody>
          </p:sp>
          <p:sp>
            <p:nvSpPr>
              <p:cNvPr id="838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842" name="成组"/>
            <p:cNvGrpSpPr/>
            <p:nvPr/>
          </p:nvGrpSpPr>
          <p:grpSpPr>
            <a:xfrm>
              <a:off x="5121798" y="934572"/>
              <a:ext cx="408942" cy="739852"/>
              <a:chOff x="0" y="0"/>
              <a:chExt cx="408940" cy="739851"/>
            </a:xfrm>
          </p:grpSpPr>
          <p:sp>
            <p:nvSpPr>
              <p:cNvPr id="840" name="a2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2</a:t>
                </a:r>
              </a:p>
            </p:txBody>
          </p:sp>
          <p:sp>
            <p:nvSpPr>
              <p:cNvPr id="841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sp>
          <p:nvSpPr>
            <p:cNvPr id="843" name="p"/>
            <p:cNvSpPr txBox="1"/>
            <p:nvPr/>
          </p:nvSpPr>
          <p:spPr>
            <a:xfrm>
              <a:off x="3513421" y="0"/>
              <a:ext cx="296814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p</a:t>
              </a:r>
            </a:p>
          </p:txBody>
        </p:sp>
        <p:sp>
          <p:nvSpPr>
            <p:cNvPr id="844" name="线条"/>
            <p:cNvSpPr/>
            <p:nvPr/>
          </p:nvSpPr>
          <p:spPr>
            <a:xfrm>
              <a:off x="3661829" y="448602"/>
              <a:ext cx="1" cy="25326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找前驱和后继结点"/>
          <p:cNvSpPr txBox="1"/>
          <p:nvPr/>
        </p:nvSpPr>
        <p:spPr>
          <a:xfrm>
            <a:off x="1141412" y="-162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找前驱和后继结点</a:t>
            </a:r>
          </a:p>
        </p:txBody>
      </p:sp>
      <p:sp>
        <p:nvSpPr>
          <p:cNvPr id="848" name="Node&lt;T&gt; p = null;// c的前驱结点…"/>
          <p:cNvSpPr txBox="1"/>
          <p:nvPr/>
        </p:nvSpPr>
        <p:spPr>
          <a:xfrm>
            <a:off x="388812" y="2635372"/>
            <a:ext cx="4981278" cy="2633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c的前驱结点</a:t>
            </a:r>
            <a:endParaRPr>
              <a:solidFill>
                <a:srgbClr val="000000"/>
              </a:solidFill>
            </a:endParaRPr>
          </a:p>
          <a:p>
            <a:pPr>
              <a:defRPr sz="16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Node&lt;T&gt; </a:t>
            </a:r>
            <a:r>
              <a:rPr>
                <a:solidFill>
                  <a:srgbClr val="7E504F"/>
                </a:solidFill>
              </a:rPr>
              <a:t>c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6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Node&lt;T&gt; 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q的后继结点</a:t>
            </a:r>
            <a:endParaRPr>
              <a:solidFill>
                <a:srgbClr val="000000"/>
              </a:solidFill>
            </a:endParaRPr>
          </a:p>
          <a:p>
            <a:pPr>
              <a:defRPr sz="16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while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c</a:t>
            </a:r>
            <a:r>
              <a:rPr>
                <a:solidFill>
                  <a:srgbClr val="000000"/>
                </a:solidFill>
              </a:rPr>
              <a:t> !=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) {</a:t>
            </a:r>
          </a:p>
          <a:p>
            <a:pPr>
              <a:defRPr sz="16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cur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记住c的后继结点</a:t>
            </a:r>
            <a:endParaRPr>
              <a:solidFill>
                <a:srgbClr val="000000"/>
              </a:solidFill>
            </a:endParaRPr>
          </a:p>
          <a:p>
            <a:pPr>
              <a:defRPr sz="16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…</a:t>
            </a:r>
            <a:r>
              <a:rPr>
                <a:solidFill>
                  <a:srgbClr val="7E504F"/>
                </a:solidFill>
              </a:rPr>
              <a:t>处理c引用的结点</a:t>
            </a:r>
            <a:endParaRPr>
              <a:solidFill>
                <a:srgbClr val="000000"/>
              </a:solidFill>
            </a:endParaRPr>
          </a:p>
          <a:p>
            <a:pPr>
              <a:defRPr sz="16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c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准备处理下一个结点</a:t>
            </a:r>
            <a:endParaRPr>
              <a:solidFill>
                <a:srgbClr val="000000"/>
              </a:solidFill>
            </a:endParaRPr>
          </a:p>
          <a:p>
            <a:pPr>
              <a:defRPr sz="16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c</a:t>
            </a:r>
            <a:r>
              <a:rPr>
                <a:solidFill>
                  <a:srgbClr val="000000"/>
                </a:solidFill>
              </a:rPr>
              <a:t> = q;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</p:txBody>
      </p:sp>
      <p:grpSp>
        <p:nvGrpSpPr>
          <p:cNvPr id="886" name="成组"/>
          <p:cNvGrpSpPr/>
          <p:nvPr/>
        </p:nvGrpSpPr>
        <p:grpSpPr>
          <a:xfrm>
            <a:off x="728859" y="849208"/>
            <a:ext cx="7733907" cy="1707886"/>
            <a:chOff x="0" y="0"/>
            <a:chExt cx="7733905" cy="1707885"/>
          </a:xfrm>
        </p:grpSpPr>
        <p:sp>
          <p:nvSpPr>
            <p:cNvPr id="849" name="p"/>
            <p:cNvSpPr txBox="1"/>
            <p:nvPr/>
          </p:nvSpPr>
          <p:spPr>
            <a:xfrm>
              <a:off x="1849722" y="33462"/>
              <a:ext cx="296814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p</a:t>
              </a:r>
            </a:p>
          </p:txBody>
        </p:sp>
        <p:sp>
          <p:nvSpPr>
            <p:cNvPr id="850" name="线条"/>
            <p:cNvSpPr/>
            <p:nvPr/>
          </p:nvSpPr>
          <p:spPr>
            <a:xfrm>
              <a:off x="2023529" y="482064"/>
              <a:ext cx="1" cy="25326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51" name="成组"/>
            <p:cNvSpPr/>
            <p:nvPr/>
          </p:nvSpPr>
          <p:spPr>
            <a:xfrm>
              <a:off x="1488679" y="720768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852" name="矩形"/>
            <p:cNvSpPr/>
            <p:nvPr/>
          </p:nvSpPr>
          <p:spPr>
            <a:xfrm>
              <a:off x="2496742" y="720769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853" name="椭圆形"/>
            <p:cNvSpPr/>
            <p:nvPr/>
          </p:nvSpPr>
          <p:spPr>
            <a:xfrm>
              <a:off x="2641205" y="936669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854" name="成组"/>
            <p:cNvSpPr/>
            <p:nvPr/>
          </p:nvSpPr>
          <p:spPr>
            <a:xfrm>
              <a:off x="3144442" y="722357"/>
              <a:ext cx="1008064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855" name="矩形"/>
            <p:cNvSpPr/>
            <p:nvPr/>
          </p:nvSpPr>
          <p:spPr>
            <a:xfrm>
              <a:off x="4152505" y="722357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856" name="成组"/>
            <p:cNvSpPr/>
            <p:nvPr/>
          </p:nvSpPr>
          <p:spPr>
            <a:xfrm>
              <a:off x="6365480" y="722357"/>
              <a:ext cx="1008064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857" name="矩形"/>
            <p:cNvSpPr/>
            <p:nvPr/>
          </p:nvSpPr>
          <p:spPr>
            <a:xfrm>
              <a:off x="7373542" y="722357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858" name="椭圆形"/>
            <p:cNvSpPr/>
            <p:nvPr/>
          </p:nvSpPr>
          <p:spPr>
            <a:xfrm>
              <a:off x="4333480" y="903332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861" name="成组"/>
            <p:cNvGrpSpPr/>
            <p:nvPr/>
          </p:nvGrpSpPr>
          <p:grpSpPr>
            <a:xfrm>
              <a:off x="7446567" y="817607"/>
              <a:ext cx="152401" cy="228601"/>
              <a:chOff x="0" y="0"/>
              <a:chExt cx="152399" cy="228600"/>
            </a:xfrm>
          </p:grpSpPr>
          <p:sp>
            <p:nvSpPr>
              <p:cNvPr id="859" name="线条"/>
              <p:cNvSpPr/>
              <p:nvPr/>
            </p:nvSpPr>
            <p:spPr>
              <a:xfrm flipH="1">
                <a:off x="-1" y="-1"/>
                <a:ext cx="76202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860" name="线条"/>
              <p:cNvSpPr/>
              <p:nvPr/>
            </p:nvSpPr>
            <p:spPr>
              <a:xfrm>
                <a:off x="76200" y="-1"/>
                <a:ext cx="76200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sp>
          <p:nvSpPr>
            <p:cNvPr id="862" name="线条"/>
            <p:cNvSpPr/>
            <p:nvPr/>
          </p:nvSpPr>
          <p:spPr>
            <a:xfrm>
              <a:off x="2676130" y="974769"/>
              <a:ext cx="468314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863" name="head"/>
            <p:cNvSpPr txBox="1"/>
            <p:nvPr/>
          </p:nvSpPr>
          <p:spPr>
            <a:xfrm>
              <a:off x="0" y="724738"/>
              <a:ext cx="828068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head</a:t>
              </a:r>
            </a:p>
          </p:txBody>
        </p:sp>
        <p:sp>
          <p:nvSpPr>
            <p:cNvPr id="864" name="线条"/>
            <p:cNvSpPr/>
            <p:nvPr/>
          </p:nvSpPr>
          <p:spPr>
            <a:xfrm>
              <a:off x="921258" y="972796"/>
              <a:ext cx="567422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867" name="成组"/>
            <p:cNvGrpSpPr/>
            <p:nvPr/>
          </p:nvGrpSpPr>
          <p:grpSpPr>
            <a:xfrm>
              <a:off x="1826341" y="968034"/>
              <a:ext cx="408941" cy="739852"/>
              <a:chOff x="0" y="0"/>
              <a:chExt cx="408940" cy="739851"/>
            </a:xfrm>
          </p:grpSpPr>
          <p:sp>
            <p:nvSpPr>
              <p:cNvPr id="865" name="a0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0</a:t>
                </a:r>
              </a:p>
            </p:txBody>
          </p:sp>
          <p:sp>
            <p:nvSpPr>
              <p:cNvPr id="866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870" name="成组"/>
            <p:cNvGrpSpPr/>
            <p:nvPr/>
          </p:nvGrpSpPr>
          <p:grpSpPr>
            <a:xfrm>
              <a:off x="3488921" y="968034"/>
              <a:ext cx="408941" cy="739852"/>
              <a:chOff x="0" y="0"/>
              <a:chExt cx="408940" cy="739851"/>
            </a:xfrm>
          </p:grpSpPr>
          <p:sp>
            <p:nvSpPr>
              <p:cNvPr id="868" name="a1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1</a:t>
                </a:r>
              </a:p>
            </p:txBody>
          </p:sp>
          <p:sp>
            <p:nvSpPr>
              <p:cNvPr id="869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sp>
          <p:nvSpPr>
            <p:cNvPr id="871" name="a3"/>
            <p:cNvSpPr txBox="1"/>
            <p:nvPr/>
          </p:nvSpPr>
          <p:spPr>
            <a:xfrm>
              <a:off x="6721998" y="1218421"/>
              <a:ext cx="408941" cy="489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3</a:t>
              </a:r>
            </a:p>
          </p:txBody>
        </p:sp>
        <p:sp>
          <p:nvSpPr>
            <p:cNvPr id="872" name="线条"/>
            <p:cNvSpPr/>
            <p:nvPr/>
          </p:nvSpPr>
          <p:spPr>
            <a:xfrm>
              <a:off x="6906486" y="968034"/>
              <a:ext cx="1" cy="400565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73" name="c"/>
            <p:cNvSpPr txBox="1"/>
            <p:nvPr/>
          </p:nvSpPr>
          <p:spPr>
            <a:xfrm>
              <a:off x="3513421" y="33462"/>
              <a:ext cx="266664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solidFill>
                    <a:schemeClr val="accent5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c</a:t>
              </a:r>
            </a:p>
          </p:txBody>
        </p:sp>
        <p:sp>
          <p:nvSpPr>
            <p:cNvPr id="874" name="线条"/>
            <p:cNvSpPr/>
            <p:nvPr/>
          </p:nvSpPr>
          <p:spPr>
            <a:xfrm>
              <a:off x="3661829" y="482064"/>
              <a:ext cx="1" cy="25326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75" name="q"/>
            <p:cNvSpPr txBox="1"/>
            <p:nvPr/>
          </p:nvSpPr>
          <p:spPr>
            <a:xfrm>
              <a:off x="5146971" y="0"/>
              <a:ext cx="296814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q</a:t>
              </a:r>
            </a:p>
          </p:txBody>
        </p:sp>
        <p:sp>
          <p:nvSpPr>
            <p:cNvPr id="876" name="线条"/>
            <p:cNvSpPr/>
            <p:nvPr/>
          </p:nvSpPr>
          <p:spPr>
            <a:xfrm>
              <a:off x="5295378" y="448602"/>
              <a:ext cx="1" cy="25326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grpSp>
          <p:nvGrpSpPr>
            <p:cNvPr id="883" name="成组"/>
            <p:cNvGrpSpPr/>
            <p:nvPr/>
          </p:nvGrpSpPr>
          <p:grpSpPr>
            <a:xfrm>
              <a:off x="4744642" y="722356"/>
              <a:ext cx="1368427" cy="985530"/>
              <a:chOff x="0" y="0"/>
              <a:chExt cx="1368425" cy="985528"/>
            </a:xfrm>
          </p:grpSpPr>
          <p:sp>
            <p:nvSpPr>
              <p:cNvPr id="877" name="成组"/>
              <p:cNvSpPr/>
              <p:nvPr/>
            </p:nvSpPr>
            <p:spPr>
              <a:xfrm>
                <a:off x="0" y="0"/>
                <a:ext cx="1008063" cy="46831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878" name="矩形"/>
              <p:cNvSpPr/>
              <p:nvPr/>
            </p:nvSpPr>
            <p:spPr>
              <a:xfrm>
                <a:off x="1008062" y="0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879" name="椭圆形"/>
              <p:cNvSpPr/>
              <p:nvPr/>
            </p:nvSpPr>
            <p:spPr>
              <a:xfrm>
                <a:off x="1189037" y="180975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grpSp>
            <p:nvGrpSpPr>
              <p:cNvPr id="882" name="成组"/>
              <p:cNvGrpSpPr/>
              <p:nvPr/>
            </p:nvGrpSpPr>
            <p:grpSpPr>
              <a:xfrm>
                <a:off x="344478" y="245677"/>
                <a:ext cx="408941" cy="739852"/>
                <a:chOff x="0" y="0"/>
                <a:chExt cx="408940" cy="739851"/>
              </a:xfrm>
            </p:grpSpPr>
            <p:sp>
              <p:nvSpPr>
                <p:cNvPr id="880" name="a2"/>
                <p:cNvSpPr txBox="1"/>
                <p:nvPr/>
              </p:nvSpPr>
              <p:spPr>
                <a:xfrm>
                  <a:off x="0" y="250387"/>
                  <a:ext cx="408941" cy="48946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/>
                <a:p>
                  <a:pPr marR="40640" indent="40640" algn="ctr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r>
                    <a:t>a</a:t>
                  </a:r>
                  <a:r>
                    <a:rPr baseline="-25000"/>
                    <a:t>2</a:t>
                  </a:r>
                </a:p>
              </p:txBody>
            </p:sp>
            <p:sp>
              <p:nvSpPr>
                <p:cNvPr id="881" name="线条"/>
                <p:cNvSpPr/>
                <p:nvPr/>
              </p:nvSpPr>
              <p:spPr>
                <a:xfrm flipH="1">
                  <a:off x="184487" y="0"/>
                  <a:ext cx="1" cy="400564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triangle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 sz="12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</p:grpSp>
        </p:grpSp>
        <p:sp>
          <p:nvSpPr>
            <p:cNvPr id="884" name="线条"/>
            <p:cNvSpPr/>
            <p:nvPr/>
          </p:nvSpPr>
          <p:spPr>
            <a:xfrm>
              <a:off x="5970193" y="938257"/>
              <a:ext cx="395289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885" name="线条"/>
            <p:cNvSpPr/>
            <p:nvPr/>
          </p:nvSpPr>
          <p:spPr>
            <a:xfrm>
              <a:off x="4365268" y="941121"/>
              <a:ext cx="395289" cy="158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887" name="注意：表头(a0)和表尾(a3)结点的特殊性"/>
          <p:cNvSpPr txBox="1"/>
          <p:nvPr/>
        </p:nvSpPr>
        <p:spPr>
          <a:xfrm>
            <a:off x="437058" y="5397715"/>
            <a:ext cx="547573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注意：表头(a</a:t>
            </a:r>
            <a:r>
              <a:rPr baseline="-5999"/>
              <a:t>0</a:t>
            </a:r>
            <a:r>
              <a:t>)和表尾(a</a:t>
            </a:r>
            <a:r>
              <a:rPr baseline="-5999"/>
              <a:t>3</a:t>
            </a:r>
            <a:r>
              <a:t>)结点的特殊性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Object clone()"/>
          <p:cNvSpPr txBox="1"/>
          <p:nvPr/>
        </p:nvSpPr>
        <p:spPr>
          <a:xfrm>
            <a:off x="1090612" y="-3523"/>
            <a:ext cx="6731001" cy="62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Object clone()</a:t>
            </a:r>
          </a:p>
        </p:txBody>
      </p:sp>
      <p:grpSp>
        <p:nvGrpSpPr>
          <p:cNvPr id="926" name="成组"/>
          <p:cNvGrpSpPr/>
          <p:nvPr/>
        </p:nvGrpSpPr>
        <p:grpSpPr>
          <a:xfrm>
            <a:off x="348330" y="784719"/>
            <a:ext cx="6806109" cy="3571101"/>
            <a:chOff x="0" y="0"/>
            <a:chExt cx="6806108" cy="3571100"/>
          </a:xfrm>
        </p:grpSpPr>
        <p:sp>
          <p:nvSpPr>
            <p:cNvPr id="890" name="矩形"/>
            <p:cNvSpPr/>
            <p:nvPr/>
          </p:nvSpPr>
          <p:spPr>
            <a:xfrm>
              <a:off x="0" y="0"/>
              <a:ext cx="1932484" cy="1610837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custDash>
                <a:ds d="200000" sp="200000"/>
              </a:custDash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893" name="成组"/>
            <p:cNvGrpSpPr/>
            <p:nvPr/>
          </p:nvGrpSpPr>
          <p:grpSpPr>
            <a:xfrm>
              <a:off x="2161084" y="276761"/>
              <a:ext cx="1008063" cy="489464"/>
              <a:chOff x="0" y="0"/>
              <a:chExt cx="1008062" cy="489463"/>
            </a:xfrm>
          </p:grpSpPr>
          <p:sp>
            <p:nvSpPr>
              <p:cNvPr id="891" name="矩形"/>
              <p:cNvSpPr/>
              <p:nvPr/>
            </p:nvSpPr>
            <p:spPr>
              <a:xfrm>
                <a:off x="0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892" name="a0"/>
              <p:cNvSpPr txBox="1"/>
              <p:nvPr/>
            </p:nvSpPr>
            <p:spPr>
              <a:xfrm>
                <a:off x="299561" y="0"/>
                <a:ext cx="408941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0</a:t>
                </a:r>
              </a:p>
            </p:txBody>
          </p:sp>
        </p:grpSp>
        <p:sp>
          <p:nvSpPr>
            <p:cNvPr id="894" name="矩形"/>
            <p:cNvSpPr/>
            <p:nvPr/>
          </p:nvSpPr>
          <p:spPr>
            <a:xfrm>
              <a:off x="3169146" y="287336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895" name="椭圆形"/>
            <p:cNvSpPr/>
            <p:nvPr/>
          </p:nvSpPr>
          <p:spPr>
            <a:xfrm>
              <a:off x="3313608" y="503236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898" name="成组"/>
            <p:cNvGrpSpPr/>
            <p:nvPr/>
          </p:nvGrpSpPr>
          <p:grpSpPr>
            <a:xfrm>
              <a:off x="3816846" y="278349"/>
              <a:ext cx="1008064" cy="489465"/>
              <a:chOff x="0" y="0"/>
              <a:chExt cx="1008062" cy="489463"/>
            </a:xfrm>
          </p:grpSpPr>
          <p:sp>
            <p:nvSpPr>
              <p:cNvPr id="896" name="矩形"/>
              <p:cNvSpPr/>
              <p:nvPr/>
            </p:nvSpPr>
            <p:spPr>
              <a:xfrm>
                <a:off x="0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897" name="a1"/>
              <p:cNvSpPr txBox="1"/>
              <p:nvPr/>
            </p:nvSpPr>
            <p:spPr>
              <a:xfrm>
                <a:off x="299561" y="0"/>
                <a:ext cx="408941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1</a:t>
                </a:r>
              </a:p>
            </p:txBody>
          </p:sp>
        </p:grpSp>
        <p:sp>
          <p:nvSpPr>
            <p:cNvPr id="899" name="矩形"/>
            <p:cNvSpPr/>
            <p:nvPr/>
          </p:nvSpPr>
          <p:spPr>
            <a:xfrm>
              <a:off x="4824908" y="288925"/>
              <a:ext cx="360364" cy="468313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902" name="成组"/>
            <p:cNvGrpSpPr/>
            <p:nvPr/>
          </p:nvGrpSpPr>
          <p:grpSpPr>
            <a:xfrm>
              <a:off x="5437684" y="278349"/>
              <a:ext cx="1008063" cy="489465"/>
              <a:chOff x="0" y="0"/>
              <a:chExt cx="1008062" cy="489463"/>
            </a:xfrm>
          </p:grpSpPr>
          <p:sp>
            <p:nvSpPr>
              <p:cNvPr id="900" name="矩形"/>
              <p:cNvSpPr/>
              <p:nvPr/>
            </p:nvSpPr>
            <p:spPr>
              <a:xfrm>
                <a:off x="0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901" name="a2"/>
              <p:cNvSpPr txBox="1"/>
              <p:nvPr/>
            </p:nvSpPr>
            <p:spPr>
              <a:xfrm>
                <a:off x="299561" y="0"/>
                <a:ext cx="408941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2</a:t>
                </a:r>
              </a:p>
            </p:txBody>
          </p:sp>
        </p:grpSp>
        <p:sp>
          <p:nvSpPr>
            <p:cNvPr id="903" name="矩形"/>
            <p:cNvSpPr/>
            <p:nvPr/>
          </p:nvSpPr>
          <p:spPr>
            <a:xfrm>
              <a:off x="6445745" y="288925"/>
              <a:ext cx="360364" cy="468313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04" name="椭圆形"/>
            <p:cNvSpPr/>
            <p:nvPr/>
          </p:nvSpPr>
          <p:spPr>
            <a:xfrm>
              <a:off x="5005883" y="469900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907" name="成组"/>
            <p:cNvGrpSpPr/>
            <p:nvPr/>
          </p:nvGrpSpPr>
          <p:grpSpPr>
            <a:xfrm>
              <a:off x="210334" y="323850"/>
              <a:ext cx="1618964" cy="431800"/>
              <a:chOff x="0" y="0"/>
              <a:chExt cx="1618963" cy="431800"/>
            </a:xfrm>
          </p:grpSpPr>
          <p:sp>
            <p:nvSpPr>
              <p:cNvPr id="905" name="矩形"/>
              <p:cNvSpPr/>
              <p:nvPr/>
            </p:nvSpPr>
            <p:spPr>
              <a:xfrm>
                <a:off x="-1" y="0"/>
                <a:ext cx="1618965" cy="4318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906" name="head"/>
              <p:cNvSpPr txBox="1"/>
              <p:nvPr/>
            </p:nvSpPr>
            <p:spPr>
              <a:xfrm>
                <a:off x="-1" y="124"/>
                <a:ext cx="1618965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head</a:t>
                </a:r>
              </a:p>
            </p:txBody>
          </p:sp>
        </p:grpSp>
        <p:grpSp>
          <p:nvGrpSpPr>
            <p:cNvPr id="910" name="成组"/>
            <p:cNvGrpSpPr/>
            <p:nvPr/>
          </p:nvGrpSpPr>
          <p:grpSpPr>
            <a:xfrm>
              <a:off x="6518770" y="384174"/>
              <a:ext cx="152401" cy="228602"/>
              <a:chOff x="0" y="0"/>
              <a:chExt cx="152399" cy="228600"/>
            </a:xfrm>
          </p:grpSpPr>
          <p:sp>
            <p:nvSpPr>
              <p:cNvPr id="908" name="线条"/>
              <p:cNvSpPr/>
              <p:nvPr/>
            </p:nvSpPr>
            <p:spPr>
              <a:xfrm flipH="1">
                <a:off x="0" y="-1"/>
                <a:ext cx="76201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909" name="线条"/>
              <p:cNvSpPr/>
              <p:nvPr/>
            </p:nvSpPr>
            <p:spPr>
              <a:xfrm>
                <a:off x="76200" y="-1"/>
                <a:ext cx="76201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sp>
          <p:nvSpPr>
            <p:cNvPr id="911" name="线条"/>
            <p:cNvSpPr/>
            <p:nvPr/>
          </p:nvSpPr>
          <p:spPr>
            <a:xfrm>
              <a:off x="1576883" y="539749"/>
              <a:ext cx="539751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12" name="线条"/>
            <p:cNvSpPr/>
            <p:nvPr/>
          </p:nvSpPr>
          <p:spPr>
            <a:xfrm>
              <a:off x="3348534" y="541336"/>
              <a:ext cx="468314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13" name="线条"/>
            <p:cNvSpPr/>
            <p:nvPr/>
          </p:nvSpPr>
          <p:spPr>
            <a:xfrm>
              <a:off x="5042396" y="504824"/>
              <a:ext cx="395289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916" name="成组"/>
            <p:cNvGrpSpPr/>
            <p:nvPr/>
          </p:nvGrpSpPr>
          <p:grpSpPr>
            <a:xfrm>
              <a:off x="210334" y="844550"/>
              <a:ext cx="1618964" cy="431800"/>
              <a:chOff x="0" y="0"/>
              <a:chExt cx="1618963" cy="431800"/>
            </a:xfrm>
          </p:grpSpPr>
          <p:sp>
            <p:nvSpPr>
              <p:cNvPr id="914" name="矩形"/>
              <p:cNvSpPr/>
              <p:nvPr/>
            </p:nvSpPr>
            <p:spPr>
              <a:xfrm>
                <a:off x="-1" y="0"/>
                <a:ext cx="1618965" cy="4318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915" name="size"/>
              <p:cNvSpPr txBox="1"/>
              <p:nvPr/>
            </p:nvSpPr>
            <p:spPr>
              <a:xfrm>
                <a:off x="-1" y="124"/>
                <a:ext cx="1618965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size</a:t>
                </a:r>
              </a:p>
            </p:txBody>
          </p:sp>
        </p:grpSp>
        <p:sp>
          <p:nvSpPr>
            <p:cNvPr id="917" name="矩形"/>
            <p:cNvSpPr/>
            <p:nvPr/>
          </p:nvSpPr>
          <p:spPr>
            <a:xfrm>
              <a:off x="31906" y="1960263"/>
              <a:ext cx="1932485" cy="1610838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chemeClr val="accent5"/>
              </a:solidFill>
              <a:custDash>
                <a:ds d="200000" sp="200000"/>
              </a:custDash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920" name="成组"/>
            <p:cNvGrpSpPr/>
            <p:nvPr/>
          </p:nvGrpSpPr>
          <p:grpSpPr>
            <a:xfrm>
              <a:off x="242240" y="2284113"/>
              <a:ext cx="1618964" cy="431801"/>
              <a:chOff x="0" y="0"/>
              <a:chExt cx="1618963" cy="431800"/>
            </a:xfrm>
          </p:grpSpPr>
          <p:sp>
            <p:nvSpPr>
              <p:cNvPr id="918" name="矩形"/>
              <p:cNvSpPr/>
              <p:nvPr/>
            </p:nvSpPr>
            <p:spPr>
              <a:xfrm>
                <a:off x="-1" y="0"/>
                <a:ext cx="1618965" cy="4318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919" name="head"/>
              <p:cNvSpPr txBox="1"/>
              <p:nvPr/>
            </p:nvSpPr>
            <p:spPr>
              <a:xfrm>
                <a:off x="-1" y="124"/>
                <a:ext cx="1618965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head</a:t>
                </a:r>
              </a:p>
            </p:txBody>
          </p:sp>
        </p:grpSp>
        <p:sp>
          <p:nvSpPr>
            <p:cNvPr id="921" name="线条"/>
            <p:cNvSpPr/>
            <p:nvPr/>
          </p:nvSpPr>
          <p:spPr>
            <a:xfrm flipV="1">
              <a:off x="2500015" y="749053"/>
              <a:ext cx="1" cy="179655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924" name="成组"/>
            <p:cNvGrpSpPr/>
            <p:nvPr/>
          </p:nvGrpSpPr>
          <p:grpSpPr>
            <a:xfrm>
              <a:off x="242240" y="2804813"/>
              <a:ext cx="1618964" cy="431801"/>
              <a:chOff x="0" y="0"/>
              <a:chExt cx="1618963" cy="431800"/>
            </a:xfrm>
          </p:grpSpPr>
          <p:sp>
            <p:nvSpPr>
              <p:cNvPr id="922" name="矩形"/>
              <p:cNvSpPr/>
              <p:nvPr/>
            </p:nvSpPr>
            <p:spPr>
              <a:xfrm>
                <a:off x="-1" y="0"/>
                <a:ext cx="1618965" cy="4318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923" name="size"/>
              <p:cNvSpPr txBox="1"/>
              <p:nvPr/>
            </p:nvSpPr>
            <p:spPr>
              <a:xfrm>
                <a:off x="-1" y="124"/>
                <a:ext cx="1618965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size</a:t>
                </a:r>
              </a:p>
            </p:txBody>
          </p:sp>
        </p:grpSp>
        <p:sp>
          <p:nvSpPr>
            <p:cNvPr id="925" name="线条"/>
            <p:cNvSpPr/>
            <p:nvPr/>
          </p:nvSpPr>
          <p:spPr>
            <a:xfrm>
              <a:off x="1738887" y="2508194"/>
              <a:ext cx="754001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927" name="@SuppressWarnings(&quot;unchecked&quot;)…"/>
          <p:cNvSpPr txBox="1"/>
          <p:nvPr/>
        </p:nvSpPr>
        <p:spPr>
          <a:xfrm>
            <a:off x="3149901" y="1812280"/>
            <a:ext cx="5715913" cy="2451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120000"/>
              </a:lnSpc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CLinkedList&lt;T&gt; superClone() {</a:t>
            </a:r>
          </a:p>
          <a:p>
            <a:pPr>
              <a:lnSpc>
                <a:spcPct val="120000"/>
              </a:lnSpc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try</a:t>
            </a:r>
            <a:r>
              <a:t> {</a:t>
            </a:r>
          </a:p>
          <a:p>
            <a:pPr>
              <a:lnSpc>
                <a:spcPct val="120000"/>
              </a:lnSpc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CLinkedList&lt;T&gt;)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.clone();</a:t>
            </a:r>
          </a:p>
          <a:p>
            <a:pPr>
              <a:lnSpc>
                <a:spcPct val="120000"/>
              </a:lnSpc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     } </a:t>
            </a:r>
            <a:r>
              <a:rPr>
                <a:solidFill>
                  <a:srgbClr val="931A68"/>
                </a:solidFill>
              </a:rPr>
              <a:t>catch</a:t>
            </a:r>
            <a:r>
              <a:t> (CloneNotSupportedException </a:t>
            </a:r>
            <a:r>
              <a:rPr>
                <a:solidFill>
                  <a:srgbClr val="7E504F"/>
                </a:solidFill>
              </a:rPr>
              <a:t>e</a:t>
            </a:r>
            <a:r>
              <a:t>) {</a:t>
            </a:r>
          </a:p>
          <a:p>
            <a:pPr>
              <a:lnSpc>
                <a:spcPct val="120000"/>
              </a:lnSpc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InternalError(</a:t>
            </a:r>
            <a:r>
              <a:rPr>
                <a:solidFill>
                  <a:srgbClr val="7E504F"/>
                </a:solidFill>
              </a:rPr>
              <a:t>e</a:t>
            </a:r>
            <a:r>
              <a:t>);</a:t>
            </a:r>
          </a:p>
          <a:p>
            <a:pPr>
              <a:lnSpc>
                <a:spcPct val="120000"/>
              </a:lnSpc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  <a:p>
            <a:pPr>
              <a:lnSpc>
                <a:spcPct val="120000"/>
              </a:lnSpc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public Object clone() {…"/>
          <p:cNvSpPr txBox="1"/>
          <p:nvPr/>
        </p:nvSpPr>
        <p:spPr>
          <a:xfrm>
            <a:off x="113695" y="780174"/>
            <a:ext cx="8360334" cy="2542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Object clone() {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CLinkedList&lt;T&gt; </a:t>
            </a:r>
            <a:r>
              <a:rPr>
                <a:solidFill>
                  <a:srgbClr val="7E504F"/>
                </a:solidFill>
              </a:rPr>
              <a:t>v</a:t>
            </a:r>
            <a:r>
              <a:t> = superClone();</a:t>
            </a:r>
          </a:p>
          <a:p>
            <a:pPr>
              <a:defRPr sz="1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head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</a:t>
            </a:r>
            <a:r>
              <a:t>// 空表</a:t>
            </a:r>
            <a:endParaRPr>
              <a:solidFill>
                <a:srgbClr val="000000"/>
              </a:solidFill>
            </a:endParaRPr>
          </a:p>
          <a:p>
            <a:pPr>
              <a:defRPr sz="1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4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复制this的链表，赋予v</a:t>
            </a:r>
            <a:endParaRPr>
              <a:solidFill>
                <a:srgbClr val="000000"/>
              </a:solidFill>
            </a:endParaRP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v</a:t>
            </a:r>
            <a:r>
              <a:t>.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Node&lt;&gt;(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,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);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, 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7E504F"/>
                </a:solidFill>
              </a:rPr>
              <a:t>v</a:t>
            </a:r>
            <a:r>
              <a:t>.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, 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7E504F"/>
                </a:solidFill>
              </a:rPr>
              <a:t>q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)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Node&lt;&gt;(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,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);			</a:t>
            </a:r>
          </a:p>
          <a:p>
            <a:pPr>
              <a:defRPr sz="1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930" name="Object clone()"/>
          <p:cNvSpPr txBox="1"/>
          <p:nvPr/>
        </p:nvSpPr>
        <p:spPr>
          <a:xfrm>
            <a:off x="1090612" y="47277"/>
            <a:ext cx="6731001" cy="62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Object clone()</a:t>
            </a:r>
          </a:p>
        </p:txBody>
      </p:sp>
      <p:grpSp>
        <p:nvGrpSpPr>
          <p:cNvPr id="958" name="成组"/>
          <p:cNvGrpSpPr/>
          <p:nvPr/>
        </p:nvGrpSpPr>
        <p:grpSpPr>
          <a:xfrm>
            <a:off x="1207155" y="3400133"/>
            <a:ext cx="6133707" cy="1674425"/>
            <a:chOff x="0" y="0"/>
            <a:chExt cx="6133705" cy="1674423"/>
          </a:xfrm>
        </p:grpSpPr>
        <p:sp>
          <p:nvSpPr>
            <p:cNvPr id="931" name="p"/>
            <p:cNvSpPr txBox="1"/>
            <p:nvPr/>
          </p:nvSpPr>
          <p:spPr>
            <a:xfrm>
              <a:off x="3526121" y="0"/>
              <a:ext cx="296814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p</a:t>
              </a:r>
            </a:p>
          </p:txBody>
        </p:sp>
        <p:sp>
          <p:nvSpPr>
            <p:cNvPr id="932" name="线条"/>
            <p:cNvSpPr/>
            <p:nvPr/>
          </p:nvSpPr>
          <p:spPr>
            <a:xfrm>
              <a:off x="3674529" y="448602"/>
              <a:ext cx="1" cy="25326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33" name="成组"/>
            <p:cNvSpPr/>
            <p:nvPr/>
          </p:nvSpPr>
          <p:spPr>
            <a:xfrm>
              <a:off x="1488679" y="687307"/>
              <a:ext cx="1008064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34" name="矩形"/>
            <p:cNvSpPr/>
            <p:nvPr/>
          </p:nvSpPr>
          <p:spPr>
            <a:xfrm>
              <a:off x="2496742" y="687307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35" name="椭圆形"/>
            <p:cNvSpPr/>
            <p:nvPr/>
          </p:nvSpPr>
          <p:spPr>
            <a:xfrm>
              <a:off x="2641205" y="903207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36" name="成组"/>
            <p:cNvSpPr/>
            <p:nvPr/>
          </p:nvSpPr>
          <p:spPr>
            <a:xfrm>
              <a:off x="3144442" y="688894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37" name="矩形"/>
            <p:cNvSpPr/>
            <p:nvPr/>
          </p:nvSpPr>
          <p:spPr>
            <a:xfrm>
              <a:off x="4152505" y="688895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38" name="成组"/>
            <p:cNvSpPr/>
            <p:nvPr/>
          </p:nvSpPr>
          <p:spPr>
            <a:xfrm>
              <a:off x="4765279" y="688894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39" name="矩形"/>
            <p:cNvSpPr/>
            <p:nvPr/>
          </p:nvSpPr>
          <p:spPr>
            <a:xfrm>
              <a:off x="5773342" y="688895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942" name="成组"/>
            <p:cNvGrpSpPr/>
            <p:nvPr/>
          </p:nvGrpSpPr>
          <p:grpSpPr>
            <a:xfrm>
              <a:off x="5846367" y="784145"/>
              <a:ext cx="152401" cy="228601"/>
              <a:chOff x="0" y="0"/>
              <a:chExt cx="152399" cy="228600"/>
            </a:xfrm>
          </p:grpSpPr>
          <p:sp>
            <p:nvSpPr>
              <p:cNvPr id="940" name="线条"/>
              <p:cNvSpPr/>
              <p:nvPr/>
            </p:nvSpPr>
            <p:spPr>
              <a:xfrm flipH="1">
                <a:off x="-1" y="-1"/>
                <a:ext cx="76202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941" name="线条"/>
              <p:cNvSpPr/>
              <p:nvPr/>
            </p:nvSpPr>
            <p:spPr>
              <a:xfrm>
                <a:off x="76200" y="-1"/>
                <a:ext cx="76200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sp>
          <p:nvSpPr>
            <p:cNvPr id="943" name="线条"/>
            <p:cNvSpPr/>
            <p:nvPr/>
          </p:nvSpPr>
          <p:spPr>
            <a:xfrm>
              <a:off x="2676130" y="941307"/>
              <a:ext cx="468314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946" name="成组"/>
            <p:cNvGrpSpPr/>
            <p:nvPr/>
          </p:nvGrpSpPr>
          <p:grpSpPr>
            <a:xfrm>
              <a:off x="4333480" y="869870"/>
              <a:ext cx="431802" cy="71439"/>
              <a:chOff x="0" y="0"/>
              <a:chExt cx="431800" cy="71438"/>
            </a:xfrm>
          </p:grpSpPr>
          <p:sp>
            <p:nvSpPr>
              <p:cNvPr id="944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945" name="线条"/>
              <p:cNvSpPr/>
              <p:nvPr/>
            </p:nvSpPr>
            <p:spPr>
              <a:xfrm>
                <a:off x="36512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sp>
          <p:nvSpPr>
            <p:cNvPr id="947" name="head"/>
            <p:cNvSpPr txBox="1"/>
            <p:nvPr/>
          </p:nvSpPr>
          <p:spPr>
            <a:xfrm>
              <a:off x="0" y="691276"/>
              <a:ext cx="828068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head</a:t>
              </a:r>
            </a:p>
          </p:txBody>
        </p:sp>
        <p:sp>
          <p:nvSpPr>
            <p:cNvPr id="948" name="线条"/>
            <p:cNvSpPr/>
            <p:nvPr/>
          </p:nvSpPr>
          <p:spPr>
            <a:xfrm>
              <a:off x="866154" y="952276"/>
              <a:ext cx="584439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grpSp>
          <p:nvGrpSpPr>
            <p:cNvPr id="951" name="成组"/>
            <p:cNvGrpSpPr/>
            <p:nvPr/>
          </p:nvGrpSpPr>
          <p:grpSpPr>
            <a:xfrm>
              <a:off x="1826341" y="934572"/>
              <a:ext cx="408941" cy="739852"/>
              <a:chOff x="0" y="0"/>
              <a:chExt cx="408940" cy="739851"/>
            </a:xfrm>
          </p:grpSpPr>
          <p:sp>
            <p:nvSpPr>
              <p:cNvPr id="949" name="a0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0</a:t>
                </a:r>
              </a:p>
            </p:txBody>
          </p:sp>
          <p:sp>
            <p:nvSpPr>
              <p:cNvPr id="950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954" name="成组"/>
            <p:cNvGrpSpPr/>
            <p:nvPr/>
          </p:nvGrpSpPr>
          <p:grpSpPr>
            <a:xfrm>
              <a:off x="3488921" y="934572"/>
              <a:ext cx="408941" cy="739852"/>
              <a:chOff x="0" y="0"/>
              <a:chExt cx="408940" cy="739851"/>
            </a:xfrm>
          </p:grpSpPr>
          <p:sp>
            <p:nvSpPr>
              <p:cNvPr id="952" name="a1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1</a:t>
                </a:r>
              </a:p>
            </p:txBody>
          </p:sp>
          <p:sp>
            <p:nvSpPr>
              <p:cNvPr id="953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957" name="成组"/>
            <p:cNvGrpSpPr/>
            <p:nvPr/>
          </p:nvGrpSpPr>
          <p:grpSpPr>
            <a:xfrm>
              <a:off x="5121798" y="934572"/>
              <a:ext cx="408942" cy="739852"/>
              <a:chOff x="0" y="0"/>
              <a:chExt cx="408940" cy="739851"/>
            </a:xfrm>
          </p:grpSpPr>
          <p:sp>
            <p:nvSpPr>
              <p:cNvPr id="955" name="a2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2</a:t>
                </a:r>
              </a:p>
            </p:txBody>
          </p:sp>
          <p:sp>
            <p:nvSpPr>
              <p:cNvPr id="956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</p:grpSp>
      <p:grpSp>
        <p:nvGrpSpPr>
          <p:cNvPr id="968" name="成组"/>
          <p:cNvGrpSpPr/>
          <p:nvPr/>
        </p:nvGrpSpPr>
        <p:grpSpPr>
          <a:xfrm>
            <a:off x="1149785" y="4995522"/>
            <a:ext cx="2857108" cy="1687124"/>
            <a:chOff x="0" y="0"/>
            <a:chExt cx="2857105" cy="1687123"/>
          </a:xfrm>
        </p:grpSpPr>
        <p:sp>
          <p:nvSpPr>
            <p:cNvPr id="959" name="q"/>
            <p:cNvSpPr txBox="1"/>
            <p:nvPr/>
          </p:nvSpPr>
          <p:spPr>
            <a:xfrm>
              <a:off x="1875122" y="0"/>
              <a:ext cx="296814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q</a:t>
              </a:r>
            </a:p>
          </p:txBody>
        </p:sp>
        <p:sp>
          <p:nvSpPr>
            <p:cNvPr id="960" name="线条"/>
            <p:cNvSpPr/>
            <p:nvPr/>
          </p:nvSpPr>
          <p:spPr>
            <a:xfrm>
              <a:off x="2023528" y="461301"/>
              <a:ext cx="1" cy="25326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61" name="成组"/>
            <p:cNvSpPr/>
            <p:nvPr/>
          </p:nvSpPr>
          <p:spPr>
            <a:xfrm>
              <a:off x="1488679" y="700006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62" name="矩形"/>
            <p:cNvSpPr/>
            <p:nvPr/>
          </p:nvSpPr>
          <p:spPr>
            <a:xfrm>
              <a:off x="2496742" y="700007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63" name="v.head"/>
            <p:cNvSpPr txBox="1"/>
            <p:nvPr/>
          </p:nvSpPr>
          <p:spPr>
            <a:xfrm>
              <a:off x="0" y="703976"/>
              <a:ext cx="1065077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v.head</a:t>
              </a:r>
            </a:p>
          </p:txBody>
        </p:sp>
        <p:sp>
          <p:nvSpPr>
            <p:cNvPr id="964" name="线条"/>
            <p:cNvSpPr/>
            <p:nvPr/>
          </p:nvSpPr>
          <p:spPr>
            <a:xfrm>
              <a:off x="990780" y="964976"/>
              <a:ext cx="459813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grpSp>
          <p:nvGrpSpPr>
            <p:cNvPr id="967" name="成组"/>
            <p:cNvGrpSpPr/>
            <p:nvPr/>
          </p:nvGrpSpPr>
          <p:grpSpPr>
            <a:xfrm>
              <a:off x="1826341" y="947272"/>
              <a:ext cx="408941" cy="739852"/>
              <a:chOff x="0" y="0"/>
              <a:chExt cx="408940" cy="739851"/>
            </a:xfrm>
          </p:grpSpPr>
          <p:sp>
            <p:nvSpPr>
              <p:cNvPr id="965" name="a0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0</a:t>
                </a:r>
              </a:p>
            </p:txBody>
          </p:sp>
          <p:sp>
            <p:nvSpPr>
              <p:cNvPr id="966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</p:grpSp>
      <p:grpSp>
        <p:nvGrpSpPr>
          <p:cNvPr id="974" name="成组"/>
          <p:cNvGrpSpPr/>
          <p:nvPr/>
        </p:nvGrpSpPr>
        <p:grpSpPr>
          <a:xfrm>
            <a:off x="4294228" y="5697116"/>
            <a:ext cx="1368427" cy="985530"/>
            <a:chOff x="0" y="0"/>
            <a:chExt cx="1368425" cy="985528"/>
          </a:xfrm>
        </p:grpSpPr>
        <p:sp>
          <p:nvSpPr>
            <p:cNvPr id="969" name="成组"/>
            <p:cNvSpPr/>
            <p:nvPr/>
          </p:nvSpPr>
          <p:spPr>
            <a:xfrm>
              <a:off x="0" y="0"/>
              <a:ext cx="1008063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70" name="矩形"/>
            <p:cNvSpPr/>
            <p:nvPr/>
          </p:nvSpPr>
          <p:spPr>
            <a:xfrm>
              <a:off x="1008062" y="0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973" name="成组"/>
            <p:cNvGrpSpPr/>
            <p:nvPr/>
          </p:nvGrpSpPr>
          <p:grpSpPr>
            <a:xfrm>
              <a:off x="344478" y="245677"/>
              <a:ext cx="408941" cy="739852"/>
              <a:chOff x="0" y="0"/>
              <a:chExt cx="408940" cy="739851"/>
            </a:xfrm>
          </p:grpSpPr>
          <p:sp>
            <p:nvSpPr>
              <p:cNvPr id="971" name="a1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1</a:t>
                </a:r>
              </a:p>
            </p:txBody>
          </p:sp>
          <p:sp>
            <p:nvSpPr>
              <p:cNvPr id="972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</p:grpSp>
      <p:grpSp>
        <p:nvGrpSpPr>
          <p:cNvPr id="983" name="成组"/>
          <p:cNvGrpSpPr/>
          <p:nvPr/>
        </p:nvGrpSpPr>
        <p:grpSpPr>
          <a:xfrm>
            <a:off x="5915065" y="5697116"/>
            <a:ext cx="1368427" cy="985530"/>
            <a:chOff x="0" y="0"/>
            <a:chExt cx="1368425" cy="985528"/>
          </a:xfrm>
        </p:grpSpPr>
        <p:sp>
          <p:nvSpPr>
            <p:cNvPr id="975" name="成组"/>
            <p:cNvSpPr/>
            <p:nvPr/>
          </p:nvSpPr>
          <p:spPr>
            <a:xfrm>
              <a:off x="0" y="0"/>
              <a:ext cx="1008063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76" name="矩形"/>
            <p:cNvSpPr/>
            <p:nvPr/>
          </p:nvSpPr>
          <p:spPr>
            <a:xfrm>
              <a:off x="1008062" y="0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979" name="成组"/>
            <p:cNvGrpSpPr/>
            <p:nvPr/>
          </p:nvGrpSpPr>
          <p:grpSpPr>
            <a:xfrm>
              <a:off x="1119187" y="120650"/>
              <a:ext cx="152401" cy="228601"/>
              <a:chOff x="0" y="0"/>
              <a:chExt cx="152399" cy="228600"/>
            </a:xfrm>
          </p:grpSpPr>
          <p:sp>
            <p:nvSpPr>
              <p:cNvPr id="977" name="线条"/>
              <p:cNvSpPr/>
              <p:nvPr/>
            </p:nvSpPr>
            <p:spPr>
              <a:xfrm flipH="1">
                <a:off x="-1" y="-1"/>
                <a:ext cx="76202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978" name="线条"/>
              <p:cNvSpPr/>
              <p:nvPr/>
            </p:nvSpPr>
            <p:spPr>
              <a:xfrm>
                <a:off x="76200" y="-1"/>
                <a:ext cx="76200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982" name="成组"/>
            <p:cNvGrpSpPr/>
            <p:nvPr/>
          </p:nvGrpSpPr>
          <p:grpSpPr>
            <a:xfrm>
              <a:off x="356519" y="245677"/>
              <a:ext cx="408941" cy="739852"/>
              <a:chOff x="0" y="0"/>
              <a:chExt cx="408940" cy="739851"/>
            </a:xfrm>
          </p:grpSpPr>
          <p:sp>
            <p:nvSpPr>
              <p:cNvPr id="980" name="a2"/>
              <p:cNvSpPr txBox="1"/>
              <p:nvPr/>
            </p:nvSpPr>
            <p:spPr>
              <a:xfrm>
                <a:off x="0" y="250387"/>
                <a:ext cx="408941" cy="4894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2</a:t>
                </a:r>
              </a:p>
            </p:txBody>
          </p:sp>
          <p:sp>
            <p:nvSpPr>
              <p:cNvPr id="981" name="线条"/>
              <p:cNvSpPr/>
              <p:nvPr/>
            </p:nvSpPr>
            <p:spPr>
              <a:xfrm flipH="1">
                <a:off x="184487" y="0"/>
                <a:ext cx="1" cy="4005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</p:grpSp>
      <p:sp>
        <p:nvSpPr>
          <p:cNvPr id="984" name="画图，理解代码"/>
          <p:cNvSpPr txBox="1"/>
          <p:nvPr/>
        </p:nvSpPr>
        <p:spPr>
          <a:xfrm>
            <a:off x="1098638" y="3213100"/>
            <a:ext cx="23368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t>画图，理解代码</a:t>
            </a:r>
          </a:p>
        </p:txBody>
      </p:sp>
      <p:grpSp>
        <p:nvGrpSpPr>
          <p:cNvPr id="987" name="成组"/>
          <p:cNvGrpSpPr/>
          <p:nvPr/>
        </p:nvGrpSpPr>
        <p:grpSpPr>
          <a:xfrm>
            <a:off x="3853356" y="5899379"/>
            <a:ext cx="431802" cy="71439"/>
            <a:chOff x="0" y="0"/>
            <a:chExt cx="431800" cy="71438"/>
          </a:xfrm>
        </p:grpSpPr>
        <p:sp>
          <p:nvSpPr>
            <p:cNvPr id="985" name="椭圆形"/>
            <p:cNvSpPr/>
            <p:nvPr/>
          </p:nvSpPr>
          <p:spPr>
            <a:xfrm>
              <a:off x="0" y="0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86" name="线条"/>
            <p:cNvSpPr/>
            <p:nvPr/>
          </p:nvSpPr>
          <p:spPr>
            <a:xfrm>
              <a:off x="36512" y="34924"/>
              <a:ext cx="395289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990" name="成组"/>
          <p:cNvGrpSpPr/>
          <p:nvPr/>
        </p:nvGrpSpPr>
        <p:grpSpPr>
          <a:xfrm>
            <a:off x="5462848" y="5899379"/>
            <a:ext cx="431802" cy="71439"/>
            <a:chOff x="0" y="0"/>
            <a:chExt cx="431800" cy="71438"/>
          </a:xfrm>
        </p:grpSpPr>
        <p:sp>
          <p:nvSpPr>
            <p:cNvPr id="988" name="椭圆形"/>
            <p:cNvSpPr/>
            <p:nvPr/>
          </p:nvSpPr>
          <p:spPr>
            <a:xfrm>
              <a:off x="0" y="0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89" name="线条"/>
            <p:cNvSpPr/>
            <p:nvPr/>
          </p:nvSpPr>
          <p:spPr>
            <a:xfrm>
              <a:off x="36512" y="34924"/>
              <a:ext cx="395289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993" name="成组"/>
          <p:cNvGrpSpPr/>
          <p:nvPr/>
        </p:nvGrpSpPr>
        <p:grpSpPr>
          <a:xfrm>
            <a:off x="5388616" y="5813683"/>
            <a:ext cx="152401" cy="228601"/>
            <a:chOff x="0" y="0"/>
            <a:chExt cx="152399" cy="228600"/>
          </a:xfrm>
        </p:grpSpPr>
        <p:sp>
          <p:nvSpPr>
            <p:cNvPr id="991" name="线条"/>
            <p:cNvSpPr/>
            <p:nvPr/>
          </p:nvSpPr>
          <p:spPr>
            <a:xfrm flipH="1">
              <a:off x="-1" y="-1"/>
              <a:ext cx="76202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92" name="线条"/>
            <p:cNvSpPr/>
            <p:nvPr/>
          </p:nvSpPr>
          <p:spPr>
            <a:xfrm>
              <a:off x="76200" y="-1"/>
              <a:ext cx="76200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996" name="成组"/>
          <p:cNvGrpSpPr/>
          <p:nvPr/>
        </p:nvGrpSpPr>
        <p:grpSpPr>
          <a:xfrm>
            <a:off x="3771281" y="5820798"/>
            <a:ext cx="152401" cy="228601"/>
            <a:chOff x="0" y="0"/>
            <a:chExt cx="152399" cy="228600"/>
          </a:xfrm>
        </p:grpSpPr>
        <p:sp>
          <p:nvSpPr>
            <p:cNvPr id="994" name="线条"/>
            <p:cNvSpPr/>
            <p:nvPr/>
          </p:nvSpPr>
          <p:spPr>
            <a:xfrm flipH="1">
              <a:off x="-1" y="-1"/>
              <a:ext cx="76202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995" name="线条"/>
            <p:cNvSpPr/>
            <p:nvPr/>
          </p:nvSpPr>
          <p:spPr>
            <a:xfrm>
              <a:off x="76200" y="-1"/>
              <a:ext cx="76200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8" grpId="2" animBg="1" advAuto="0"/>
      <p:bldP spid="968" grpId="3" animBg="1" advAuto="0"/>
      <p:bldP spid="974" grpId="5" animBg="1" advAuto="0"/>
      <p:bldP spid="983" grpId="9" animBg="1" advAuto="0"/>
      <p:bldP spid="984" grpId="1" animBg="1" advAuto="0"/>
      <p:bldP spid="987" grpId="8" animBg="1" advAuto="0"/>
      <p:bldP spid="990" grpId="11" animBg="1" advAuto="0"/>
      <p:bldP spid="993" grpId="6" animBg="1" advAuto="0"/>
      <p:bldP spid="993" grpId="10" animBg="1" advAuto="0"/>
      <p:bldP spid="996" grpId="4" animBg="1" advAuto="0"/>
      <p:bldP spid="996" grpId="7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equals"/>
          <p:cNvSpPr txBox="1"/>
          <p:nvPr/>
        </p:nvSpPr>
        <p:spPr>
          <a:xfrm>
            <a:off x="1090612" y="-3523"/>
            <a:ext cx="6731001" cy="62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equals</a:t>
            </a:r>
          </a:p>
        </p:txBody>
      </p:sp>
      <p:sp>
        <p:nvSpPr>
          <p:cNvPr id="999" name="public boolean equals(Object obj) {…"/>
          <p:cNvSpPr txBox="1"/>
          <p:nvPr/>
        </p:nvSpPr>
        <p:spPr>
          <a:xfrm>
            <a:off x="185458" y="1537697"/>
            <a:ext cx="8718458" cy="3758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equals(Object </a:t>
            </a:r>
            <a:r>
              <a:rPr>
                <a:solidFill>
                  <a:srgbClr val="7E504F"/>
                </a:solidFill>
              </a:rPr>
              <a:t>obj</a:t>
            </a:r>
            <a:r>
              <a:t>) {</a:t>
            </a:r>
          </a:p>
          <a:p>
            <a:pPr>
              <a:defRPr sz="1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7E504F"/>
                </a:solidFill>
              </a:rPr>
              <a:t>obj</a:t>
            </a:r>
            <a:r>
              <a:rPr>
                <a:solidFill>
                  <a:srgbClr val="000000"/>
                </a:solidFill>
              </a:rPr>
              <a:t>)</a:t>
            </a:r>
          </a:p>
          <a:p>
            <a:pPr>
              <a:defRPr sz="1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obj</a:t>
            </a:r>
            <a:r>
              <a:t> </a:t>
            </a:r>
            <a:r>
              <a:rPr>
                <a:solidFill>
                  <a:srgbClr val="931A68"/>
                </a:solidFill>
              </a:rPr>
              <a:t>instanceof</a:t>
            </a:r>
            <a:r>
              <a:t> CLinkedList&lt;?&gt;) {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	CLinkedList&lt;?&gt; </a:t>
            </a:r>
            <a:r>
              <a:rPr>
                <a:solidFill>
                  <a:srgbClr val="7E504F"/>
                </a:solidFill>
              </a:rPr>
              <a:t>rhd</a:t>
            </a:r>
            <a:r>
              <a:t> = (CLinkedList&lt;?&gt;) </a:t>
            </a:r>
            <a:r>
              <a:rPr>
                <a:solidFill>
                  <a:srgbClr val="7E504F"/>
                </a:solidFill>
              </a:rPr>
              <a:t>obj</a:t>
            </a:r>
            <a:r>
              <a:t>;</a:t>
            </a:r>
          </a:p>
          <a:p>
            <a:pPr>
              <a:defRPr sz="1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size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7E504F"/>
                </a:solidFill>
              </a:rPr>
              <a:t>rhd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size</a:t>
            </a:r>
            <a:r>
              <a:rPr>
                <a:solidFill>
                  <a:srgbClr val="000000"/>
                </a:solidFill>
              </a:rPr>
              <a:t>)</a:t>
            </a:r>
          </a:p>
          <a:p>
            <a:pPr>
              <a:defRPr sz="1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(Node&lt;?&gt;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, 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7E504F"/>
                </a:solidFill>
              </a:rPr>
              <a:t>rhd</a:t>
            </a:r>
            <a:r>
              <a:t>.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, 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7E504F"/>
                </a:solidFill>
              </a:rPr>
              <a:t>q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) {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(!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.equals(</a:t>
            </a:r>
            <a:r>
              <a:rPr>
                <a:solidFill>
                  <a:srgbClr val="7E504F"/>
                </a:solidFill>
              </a:rPr>
              <a:t>q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))</a:t>
            </a:r>
          </a:p>
          <a:p>
            <a:pPr>
              <a:defRPr sz="1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1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1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1000" name="比较2个链表；画图，理解代码"/>
          <p:cNvSpPr txBox="1"/>
          <p:nvPr/>
        </p:nvSpPr>
        <p:spPr>
          <a:xfrm>
            <a:off x="641438" y="848587"/>
            <a:ext cx="440055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t>比较2个链表；画图，理解代码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算法复杂性分析"/>
          <p:cNvSpPr txBox="1"/>
          <p:nvPr/>
        </p:nvSpPr>
        <p:spPr>
          <a:xfrm>
            <a:off x="1141412" y="-289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算法复杂性分析</a:t>
            </a:r>
          </a:p>
        </p:txBody>
      </p:sp>
      <p:sp>
        <p:nvSpPr>
          <p:cNvPr id="1003" name="问题规模：表中的数据个数n。"/>
          <p:cNvSpPr txBox="1"/>
          <p:nvPr/>
        </p:nvSpPr>
        <p:spPr>
          <a:xfrm>
            <a:off x="268294" y="978097"/>
            <a:ext cx="373011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1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问题规模：表中的数据个数n。</a:t>
            </a:r>
          </a:p>
        </p:txBody>
      </p:sp>
      <p:sp>
        <p:nvSpPr>
          <p:cNvPr id="1004" name="empty: O(1)"/>
          <p:cNvSpPr txBox="1"/>
          <p:nvPr/>
        </p:nvSpPr>
        <p:spPr>
          <a:xfrm>
            <a:off x="268294" y="1718883"/>
            <a:ext cx="156161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1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empty: O(1)</a:t>
            </a:r>
          </a:p>
        </p:txBody>
      </p:sp>
      <p:sp>
        <p:nvSpPr>
          <p:cNvPr id="1005" name="size: O(1)"/>
          <p:cNvSpPr txBox="1"/>
          <p:nvPr/>
        </p:nvSpPr>
        <p:spPr>
          <a:xfrm>
            <a:off x="268294" y="2262633"/>
            <a:ext cx="126796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1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size: O(1)</a:t>
            </a:r>
          </a:p>
        </p:txBody>
      </p:sp>
      <p:sp>
        <p:nvSpPr>
          <p:cNvPr id="1006" name="indexOf: 主要操作是找下一个结点和比较。…"/>
          <p:cNvSpPr txBox="1"/>
          <p:nvPr/>
        </p:nvSpPr>
        <p:spPr>
          <a:xfrm>
            <a:off x="268294" y="2720701"/>
            <a:ext cx="5195535" cy="3121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indexOf: 主要操作是找下一个结点和比较。</a:t>
            </a:r>
          </a:p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查找成功：最少0次，最多n-1次。</a:t>
            </a:r>
          </a:p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       平均：O(n)                 (等概率）</a:t>
            </a:r>
          </a:p>
          <a:p>
            <a:pPr lvl="3"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       位置           0   1   2  3        n-1</a:t>
            </a:r>
          </a:p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       移动次数     0   1   2  3        n-1 </a:t>
            </a:r>
          </a:p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       比较次数     1   2   3  4         n</a:t>
            </a:r>
          </a:p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查找不成功：移动n次，比较n次。O(n)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算法复杂性分析"/>
          <p:cNvSpPr txBox="1"/>
          <p:nvPr/>
        </p:nvSpPr>
        <p:spPr>
          <a:xfrm>
            <a:off x="1141412" y="-35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算法复杂性分析</a:t>
            </a:r>
          </a:p>
        </p:txBody>
      </p:sp>
      <p:sp>
        <p:nvSpPr>
          <p:cNvPr id="1009" name="add: 主要操作是找下一个结点，最少0次，最多n-1次。…"/>
          <p:cNvSpPr txBox="1"/>
          <p:nvPr/>
        </p:nvSpPr>
        <p:spPr>
          <a:xfrm>
            <a:off x="341149" y="2691443"/>
            <a:ext cx="6597533" cy="1795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add: 主要操作是找下一个结点，最少0次，最多n-1次。</a:t>
            </a:r>
          </a:p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       平均： (n(n-1))/(2(n+1))     O(n)</a:t>
            </a:r>
          </a:p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       位置    0   1   2  3         n-1   </a:t>
            </a:r>
            <a:r>
              <a:rPr>
                <a:solidFill>
                  <a:schemeClr val="accent5"/>
                </a:solidFill>
              </a:rPr>
              <a:t>n</a:t>
            </a:r>
          </a:p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       次数    0   0   1  2         n-2  n-1</a:t>
            </a:r>
          </a:p>
        </p:txBody>
      </p:sp>
      <p:sp>
        <p:nvSpPr>
          <p:cNvPr id="1010" name="remove: 主要操作是找下一个结点，最少0次，最多n-1次。…"/>
          <p:cNvSpPr txBox="1"/>
          <p:nvPr/>
        </p:nvSpPr>
        <p:spPr>
          <a:xfrm>
            <a:off x="341149" y="4617555"/>
            <a:ext cx="7036260" cy="1795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remove: 主要操作是找下一个结点，最少0次，最多n-1次。</a:t>
            </a:r>
          </a:p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       平均 O(n)</a:t>
            </a:r>
          </a:p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       位置    0   1   2  3         n-1 </a:t>
            </a:r>
          </a:p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       次数    0   0   1  2         n-2</a:t>
            </a:r>
          </a:p>
        </p:txBody>
      </p:sp>
      <p:sp>
        <p:nvSpPr>
          <p:cNvPr id="1011" name="get: 主要操作是找下一个结点，最少0次，最多n-1次。…"/>
          <p:cNvSpPr txBox="1"/>
          <p:nvPr/>
        </p:nvSpPr>
        <p:spPr>
          <a:xfrm>
            <a:off x="341149" y="782496"/>
            <a:ext cx="6539713" cy="1795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get: 主要操作是找下一个结点，最少0次，最多n-1次。</a:t>
            </a:r>
          </a:p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       平均： (n-1)/2  O(n)</a:t>
            </a:r>
          </a:p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       位置    0   1   2  3         n-1</a:t>
            </a:r>
          </a:p>
          <a:p>
            <a:pPr>
              <a:lnSpc>
                <a:spcPct val="120000"/>
              </a:lnSpc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       次数    0   1   2  3         n-1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9" name="成组"/>
          <p:cNvGrpSpPr/>
          <p:nvPr/>
        </p:nvGrpSpPr>
        <p:grpSpPr>
          <a:xfrm>
            <a:off x="819150" y="819149"/>
            <a:ext cx="7383463" cy="2632076"/>
            <a:chOff x="25400" y="25400"/>
            <a:chExt cx="7383462" cy="2632074"/>
          </a:xfrm>
        </p:grpSpPr>
        <p:graphicFrame>
          <p:nvGraphicFramePr>
            <p:cNvPr id="1013" name="表格"/>
            <p:cNvGraphicFramePr/>
            <p:nvPr/>
          </p:nvGraphicFramePr>
          <p:xfrm>
            <a:off x="41275" y="749300"/>
            <a:ext cx="7367588" cy="787400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05251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787400">
                  <a:tc>
                    <a:txBody>
                      <a:bodyPr/>
                      <a:lstStyle/>
                      <a:p>
                        <a:pPr algn="ctr" defTabSz="91440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8575">
                        <a:solidFill>
                          <a:srgbClr val="000000"/>
                        </a:solidFill>
                        <a:miter lim="400000"/>
                      </a:lnL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......</a:t>
                        </a:r>
                      </a:p>
                    </a:txBody>
                    <a:tcPr marL="50800" marR="50800" marT="50800" marB="50800" anchor="ctr" horzOverflow="overflow"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sym typeface="Tahoma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8575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1014" name="表格"/>
            <p:cNvGraphicFramePr/>
            <p:nvPr/>
          </p:nvGraphicFramePr>
          <p:xfrm>
            <a:off x="25400" y="25400"/>
            <a:ext cx="7367588" cy="787400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05251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1052512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787400">
                  <a:tc>
                    <a:txBody>
                      <a:bodyPr/>
                      <a:lstStyle/>
                      <a:p>
                        <a:pPr algn="ctr" defTabSz="91440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0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4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ym typeface="Tahoma"/>
                          </a:rPr>
                          <a:t>......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1500">
                            <a:sym typeface="Tahoma"/>
                          </a:rPr>
                          <a:t>length - 1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pSp>
          <p:nvGrpSpPr>
            <p:cNvPr id="1017" name="成组"/>
            <p:cNvGrpSpPr/>
            <p:nvPr/>
          </p:nvGrpSpPr>
          <p:grpSpPr>
            <a:xfrm>
              <a:off x="161925" y="1068387"/>
              <a:ext cx="730250" cy="1589088"/>
              <a:chOff x="0" y="0"/>
              <a:chExt cx="730250" cy="1589087"/>
            </a:xfrm>
          </p:grpSpPr>
          <p:sp>
            <p:nvSpPr>
              <p:cNvPr id="1015" name="椭圆形"/>
              <p:cNvSpPr/>
              <p:nvPr/>
            </p:nvSpPr>
            <p:spPr>
              <a:xfrm>
                <a:off x="0" y="861984"/>
                <a:ext cx="730250" cy="727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16" name="线条"/>
              <p:cNvSpPr/>
              <p:nvPr/>
            </p:nvSpPr>
            <p:spPr>
              <a:xfrm flipH="1">
                <a:off x="365124" y="0"/>
                <a:ext cx="1" cy="81622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20000"/>
                  </a:lnSpc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1020" name="成组"/>
            <p:cNvGrpSpPr/>
            <p:nvPr/>
          </p:nvGrpSpPr>
          <p:grpSpPr>
            <a:xfrm>
              <a:off x="1252537" y="1068387"/>
              <a:ext cx="730251" cy="1589088"/>
              <a:chOff x="0" y="0"/>
              <a:chExt cx="730250" cy="1589087"/>
            </a:xfrm>
          </p:grpSpPr>
          <p:sp>
            <p:nvSpPr>
              <p:cNvPr id="1018" name="椭圆形"/>
              <p:cNvSpPr/>
              <p:nvPr/>
            </p:nvSpPr>
            <p:spPr>
              <a:xfrm>
                <a:off x="0" y="861984"/>
                <a:ext cx="730250" cy="727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19" name="线条"/>
              <p:cNvSpPr/>
              <p:nvPr/>
            </p:nvSpPr>
            <p:spPr>
              <a:xfrm flipH="1">
                <a:off x="365124" y="0"/>
                <a:ext cx="1" cy="81622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20000"/>
                  </a:lnSpc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1023" name="成组"/>
            <p:cNvGrpSpPr/>
            <p:nvPr/>
          </p:nvGrpSpPr>
          <p:grpSpPr>
            <a:xfrm>
              <a:off x="2322512" y="1068387"/>
              <a:ext cx="730251" cy="1589088"/>
              <a:chOff x="0" y="0"/>
              <a:chExt cx="730250" cy="1589087"/>
            </a:xfrm>
          </p:grpSpPr>
          <p:sp>
            <p:nvSpPr>
              <p:cNvPr id="1021" name="椭圆形"/>
              <p:cNvSpPr/>
              <p:nvPr/>
            </p:nvSpPr>
            <p:spPr>
              <a:xfrm>
                <a:off x="0" y="861984"/>
                <a:ext cx="730250" cy="727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22" name="线条"/>
              <p:cNvSpPr/>
              <p:nvPr/>
            </p:nvSpPr>
            <p:spPr>
              <a:xfrm flipH="1">
                <a:off x="365124" y="0"/>
                <a:ext cx="1" cy="81622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20000"/>
                  </a:lnSpc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1026" name="成组"/>
            <p:cNvGrpSpPr/>
            <p:nvPr/>
          </p:nvGrpSpPr>
          <p:grpSpPr>
            <a:xfrm>
              <a:off x="3343275" y="1068387"/>
              <a:ext cx="730250" cy="1589088"/>
              <a:chOff x="0" y="0"/>
              <a:chExt cx="730250" cy="1589087"/>
            </a:xfrm>
          </p:grpSpPr>
          <p:sp>
            <p:nvSpPr>
              <p:cNvPr id="1024" name="椭圆形"/>
              <p:cNvSpPr/>
              <p:nvPr/>
            </p:nvSpPr>
            <p:spPr>
              <a:xfrm>
                <a:off x="0" y="861984"/>
                <a:ext cx="730250" cy="727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25" name="线条"/>
              <p:cNvSpPr/>
              <p:nvPr/>
            </p:nvSpPr>
            <p:spPr>
              <a:xfrm flipH="1">
                <a:off x="365124" y="0"/>
                <a:ext cx="1" cy="81622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20000"/>
                  </a:lnSpc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sp>
          <p:nvSpPr>
            <p:cNvPr id="1027" name="椭圆形"/>
            <p:cNvSpPr/>
            <p:nvPr/>
          </p:nvSpPr>
          <p:spPr>
            <a:xfrm>
              <a:off x="3343275" y="1930371"/>
              <a:ext cx="730250" cy="72710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28" name="线条"/>
            <p:cNvSpPr/>
            <p:nvPr/>
          </p:nvSpPr>
          <p:spPr>
            <a:xfrm flipH="1">
              <a:off x="3708398" y="1068387"/>
              <a:ext cx="2" cy="81622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20000"/>
                </a:lnSpc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1059" name="成组"/>
          <p:cNvGrpSpPr/>
          <p:nvPr/>
        </p:nvGrpSpPr>
        <p:grpSpPr>
          <a:xfrm>
            <a:off x="1217297" y="3851565"/>
            <a:ext cx="6740526" cy="1876179"/>
            <a:chOff x="0" y="0"/>
            <a:chExt cx="6740525" cy="1876177"/>
          </a:xfrm>
        </p:grpSpPr>
        <p:sp>
          <p:nvSpPr>
            <p:cNvPr id="1030" name="成组"/>
            <p:cNvSpPr/>
            <p:nvPr/>
          </p:nvSpPr>
          <p:spPr>
            <a:xfrm>
              <a:off x="406400" y="0"/>
              <a:ext cx="1008063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031" name="矩形"/>
            <p:cNvSpPr/>
            <p:nvPr/>
          </p:nvSpPr>
          <p:spPr>
            <a:xfrm>
              <a:off x="1414462" y="0"/>
              <a:ext cx="360364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032" name="椭圆形"/>
            <p:cNvSpPr/>
            <p:nvPr/>
          </p:nvSpPr>
          <p:spPr>
            <a:xfrm>
              <a:off x="1558925" y="215900"/>
              <a:ext cx="36515" cy="71441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033" name="成组"/>
            <p:cNvSpPr/>
            <p:nvPr/>
          </p:nvSpPr>
          <p:spPr>
            <a:xfrm>
              <a:off x="2062162" y="1587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034" name="矩形"/>
            <p:cNvSpPr/>
            <p:nvPr/>
          </p:nvSpPr>
          <p:spPr>
            <a:xfrm>
              <a:off x="3070225" y="1588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035" name="成组"/>
            <p:cNvSpPr/>
            <p:nvPr/>
          </p:nvSpPr>
          <p:spPr>
            <a:xfrm>
              <a:off x="3683000" y="1587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036" name="矩形"/>
            <p:cNvSpPr/>
            <p:nvPr/>
          </p:nvSpPr>
          <p:spPr>
            <a:xfrm>
              <a:off x="4691061" y="1588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037" name="椭圆形"/>
            <p:cNvSpPr/>
            <p:nvPr/>
          </p:nvSpPr>
          <p:spPr>
            <a:xfrm>
              <a:off x="3251200" y="182563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038" name="线条"/>
            <p:cNvSpPr/>
            <p:nvPr/>
          </p:nvSpPr>
          <p:spPr>
            <a:xfrm>
              <a:off x="1593850" y="254000"/>
              <a:ext cx="468314" cy="1590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039" name="线条"/>
            <p:cNvSpPr/>
            <p:nvPr/>
          </p:nvSpPr>
          <p:spPr>
            <a:xfrm>
              <a:off x="3287712" y="217488"/>
              <a:ext cx="395289" cy="1589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042" name="成组"/>
            <p:cNvGrpSpPr/>
            <p:nvPr/>
          </p:nvGrpSpPr>
          <p:grpSpPr>
            <a:xfrm>
              <a:off x="527049" y="287090"/>
              <a:ext cx="730251" cy="1589088"/>
              <a:chOff x="0" y="0"/>
              <a:chExt cx="730250" cy="1589087"/>
            </a:xfrm>
          </p:grpSpPr>
          <p:sp>
            <p:nvSpPr>
              <p:cNvPr id="1040" name="椭圆形"/>
              <p:cNvSpPr/>
              <p:nvPr/>
            </p:nvSpPr>
            <p:spPr>
              <a:xfrm>
                <a:off x="0" y="861984"/>
                <a:ext cx="730250" cy="727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41" name="线条"/>
              <p:cNvSpPr/>
              <p:nvPr/>
            </p:nvSpPr>
            <p:spPr>
              <a:xfrm flipH="1">
                <a:off x="365124" y="0"/>
                <a:ext cx="1" cy="81622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20000"/>
                  </a:lnSpc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1045" name="成组"/>
            <p:cNvGrpSpPr/>
            <p:nvPr/>
          </p:nvGrpSpPr>
          <p:grpSpPr>
            <a:xfrm>
              <a:off x="2239168" y="222023"/>
              <a:ext cx="730251" cy="1589089"/>
              <a:chOff x="0" y="0"/>
              <a:chExt cx="730250" cy="1589087"/>
            </a:xfrm>
          </p:grpSpPr>
          <p:sp>
            <p:nvSpPr>
              <p:cNvPr id="1043" name="椭圆形"/>
              <p:cNvSpPr/>
              <p:nvPr/>
            </p:nvSpPr>
            <p:spPr>
              <a:xfrm>
                <a:off x="0" y="861984"/>
                <a:ext cx="730250" cy="727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44" name="线条"/>
              <p:cNvSpPr/>
              <p:nvPr/>
            </p:nvSpPr>
            <p:spPr>
              <a:xfrm flipH="1">
                <a:off x="365124" y="0"/>
                <a:ext cx="1" cy="81622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20000"/>
                  </a:lnSpc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grpSp>
          <p:nvGrpSpPr>
            <p:cNvPr id="1048" name="成组"/>
            <p:cNvGrpSpPr/>
            <p:nvPr/>
          </p:nvGrpSpPr>
          <p:grpSpPr>
            <a:xfrm>
              <a:off x="3816285" y="274390"/>
              <a:ext cx="730251" cy="1589088"/>
              <a:chOff x="0" y="0"/>
              <a:chExt cx="730250" cy="1589087"/>
            </a:xfrm>
          </p:grpSpPr>
          <p:sp>
            <p:nvSpPr>
              <p:cNvPr id="1046" name="椭圆形"/>
              <p:cNvSpPr/>
              <p:nvPr/>
            </p:nvSpPr>
            <p:spPr>
              <a:xfrm>
                <a:off x="0" y="861984"/>
                <a:ext cx="730250" cy="727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47" name="线条"/>
              <p:cNvSpPr/>
              <p:nvPr/>
            </p:nvSpPr>
            <p:spPr>
              <a:xfrm flipH="1">
                <a:off x="365124" y="0"/>
                <a:ext cx="1" cy="81622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20000"/>
                  </a:lnSpc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sp>
          <p:nvSpPr>
            <p:cNvPr id="1049" name="成组"/>
            <p:cNvSpPr/>
            <p:nvPr/>
          </p:nvSpPr>
          <p:spPr>
            <a:xfrm>
              <a:off x="5372099" y="1587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050" name="矩形"/>
            <p:cNvSpPr/>
            <p:nvPr/>
          </p:nvSpPr>
          <p:spPr>
            <a:xfrm>
              <a:off x="6380162" y="1588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053" name="成组"/>
            <p:cNvGrpSpPr/>
            <p:nvPr/>
          </p:nvGrpSpPr>
          <p:grpSpPr>
            <a:xfrm>
              <a:off x="6453188" y="96838"/>
              <a:ext cx="152401" cy="228602"/>
              <a:chOff x="0" y="0"/>
              <a:chExt cx="152400" cy="228601"/>
            </a:xfrm>
          </p:grpSpPr>
          <p:sp>
            <p:nvSpPr>
              <p:cNvPr id="1051" name="线条"/>
              <p:cNvSpPr/>
              <p:nvPr/>
            </p:nvSpPr>
            <p:spPr>
              <a:xfrm flipH="1">
                <a:off x="0" y="0"/>
                <a:ext cx="76201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052" name="线条"/>
              <p:cNvSpPr/>
              <p:nvPr/>
            </p:nvSpPr>
            <p:spPr>
              <a:xfrm>
                <a:off x="76200" y="0"/>
                <a:ext cx="76201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sp>
          <p:nvSpPr>
            <p:cNvPr id="1054" name="线条"/>
            <p:cNvSpPr/>
            <p:nvPr/>
          </p:nvSpPr>
          <p:spPr>
            <a:xfrm>
              <a:off x="4976812" y="217488"/>
              <a:ext cx="395289" cy="1589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057" name="成组"/>
            <p:cNvGrpSpPr/>
            <p:nvPr/>
          </p:nvGrpSpPr>
          <p:grpSpPr>
            <a:xfrm>
              <a:off x="5505385" y="274390"/>
              <a:ext cx="730251" cy="1589088"/>
              <a:chOff x="0" y="0"/>
              <a:chExt cx="730250" cy="1589087"/>
            </a:xfrm>
          </p:grpSpPr>
          <p:sp>
            <p:nvSpPr>
              <p:cNvPr id="1055" name="椭圆形"/>
              <p:cNvSpPr/>
              <p:nvPr/>
            </p:nvSpPr>
            <p:spPr>
              <a:xfrm>
                <a:off x="0" y="861984"/>
                <a:ext cx="730250" cy="727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56" name="线条"/>
              <p:cNvSpPr/>
              <p:nvPr/>
            </p:nvSpPr>
            <p:spPr>
              <a:xfrm flipH="1">
                <a:off x="365124" y="0"/>
                <a:ext cx="1" cy="81622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20000"/>
                  </a:lnSpc>
                  <a:defRPr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</p:grpSp>
        <p:sp>
          <p:nvSpPr>
            <p:cNvPr id="1058" name="线条"/>
            <p:cNvSpPr/>
            <p:nvPr/>
          </p:nvSpPr>
          <p:spPr>
            <a:xfrm>
              <a:off x="0" y="250515"/>
              <a:ext cx="395289" cy="1589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1060" name="head"/>
          <p:cNvSpPr txBox="1"/>
          <p:nvPr/>
        </p:nvSpPr>
        <p:spPr>
          <a:xfrm>
            <a:off x="527843" y="3870736"/>
            <a:ext cx="713645" cy="44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head</a:t>
            </a:r>
          </a:p>
        </p:txBody>
      </p:sp>
      <p:sp>
        <p:nvSpPr>
          <p:cNvPr id="1061" name="顺序存储和链式存储的区别"/>
          <p:cNvSpPr txBox="1"/>
          <p:nvPr/>
        </p:nvSpPr>
        <p:spPr>
          <a:xfrm>
            <a:off x="849312" y="-25400"/>
            <a:ext cx="7188201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顺序存储和链式存储的区别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顺序存储和链式存储的区别"/>
          <p:cNvSpPr txBox="1"/>
          <p:nvPr/>
        </p:nvSpPr>
        <p:spPr>
          <a:xfrm>
            <a:off x="849312" y="-25400"/>
            <a:ext cx="7188201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顺序存储和链式存储的区别</a:t>
            </a:r>
          </a:p>
        </p:txBody>
      </p:sp>
      <p:sp>
        <p:nvSpPr>
          <p:cNvPr id="1064" name="一、顺序存储"/>
          <p:cNvSpPr txBox="1"/>
          <p:nvPr/>
        </p:nvSpPr>
        <p:spPr>
          <a:xfrm>
            <a:off x="385762" y="738980"/>
            <a:ext cx="415290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R="40640" indent="40640" defTabSz="914400">
              <a:spcBef>
                <a:spcPts val="13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一、顺序存储</a:t>
            </a:r>
          </a:p>
        </p:txBody>
      </p:sp>
      <p:sp>
        <p:nvSpPr>
          <p:cNvPr id="1065" name="get : O(1)  随机存取"/>
          <p:cNvSpPr txBox="1"/>
          <p:nvPr/>
        </p:nvSpPr>
        <p:spPr>
          <a:xfrm>
            <a:off x="1093786" y="1173956"/>
            <a:ext cx="613410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R="40640" indent="40640" defTabSz="914400">
              <a:spcBef>
                <a:spcPts val="13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get : O(1)  </a:t>
            </a:r>
            <a:r>
              <a:rPr>
                <a:solidFill>
                  <a:schemeClr val="accent1"/>
                </a:solidFill>
              </a:rPr>
              <a:t>随机存取</a:t>
            </a:r>
          </a:p>
        </p:txBody>
      </p:sp>
      <p:sp>
        <p:nvSpPr>
          <p:cNvPr id="1066" name="二、链式存储"/>
          <p:cNvSpPr txBox="1"/>
          <p:nvPr/>
        </p:nvSpPr>
        <p:spPr>
          <a:xfrm>
            <a:off x="385762" y="1605756"/>
            <a:ext cx="68199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R="40640" indent="40640" defTabSz="914400">
              <a:spcBef>
                <a:spcPts val="13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二、链式存储</a:t>
            </a:r>
          </a:p>
        </p:txBody>
      </p:sp>
      <p:sp>
        <p:nvSpPr>
          <p:cNvPr id="1067" name="get: O(n)   顺序存取"/>
          <p:cNvSpPr txBox="1"/>
          <p:nvPr/>
        </p:nvSpPr>
        <p:spPr>
          <a:xfrm>
            <a:off x="1119187" y="2051842"/>
            <a:ext cx="67437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R="40640" indent="40640" defTabSz="914400">
              <a:spcBef>
                <a:spcPts val="13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get: O(n)   </a:t>
            </a:r>
            <a:r>
              <a:rPr>
                <a:solidFill>
                  <a:schemeClr val="accent1"/>
                </a:solidFill>
              </a:rPr>
              <a:t>顺序存取</a:t>
            </a:r>
          </a:p>
        </p:txBody>
      </p:sp>
      <p:sp>
        <p:nvSpPr>
          <p:cNvPr id="1068" name="三、顺序、链式存储…"/>
          <p:cNvSpPr txBox="1"/>
          <p:nvPr/>
        </p:nvSpPr>
        <p:spPr>
          <a:xfrm>
            <a:off x="385762" y="2536926"/>
            <a:ext cx="8650752" cy="3178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40640">
              <a:lnSpc>
                <a:spcPct val="120000"/>
              </a:lnSpc>
            </a:pPr>
            <a:r>
              <a:t>三、顺序、链式存储</a:t>
            </a:r>
          </a:p>
          <a:p>
            <a:pPr indent="40640">
              <a:lnSpc>
                <a:spcPct val="120000"/>
              </a:lnSpc>
            </a:pPr>
            <a:r>
              <a:t>add和remove的时间复杂度都是O(n)，但：       </a:t>
            </a:r>
          </a:p>
          <a:p>
            <a:pPr marL="250657" indent="-250657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顺序的add、remove的主要操作复制数据</a:t>
            </a:r>
          </a:p>
          <a:p>
            <a:pPr indent="40640">
              <a:lnSpc>
                <a:spcPct val="120000"/>
              </a:lnSpc>
            </a:pPr>
            <a:r>
              <a:t>       listElem[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= listElem[</a:t>
            </a:r>
            <a:r>
              <a:rPr>
                <a:solidFill>
                  <a:srgbClr val="7E504F"/>
                </a:solidFill>
              </a:rPr>
              <a:t>i</a:t>
            </a:r>
            <a:r>
              <a:t> + 1]，即读、写内存中的OID,</a:t>
            </a:r>
          </a:p>
          <a:p>
            <a:pPr marL="250657" indent="-250657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链式的add、remove的主要操作p=p.next，</a:t>
            </a:r>
          </a:p>
          <a:p>
            <a:pPr indent="40640">
              <a:lnSpc>
                <a:spcPct val="120000"/>
              </a:lnSpc>
            </a:pPr>
            <a:r>
              <a:t>       即读内存的OID, 写p，</a:t>
            </a:r>
            <a:r>
              <a:rPr>
                <a:solidFill>
                  <a:schemeClr val="accent1"/>
                </a:solidFill>
              </a:rPr>
              <a:t>但p可以优化为寄存器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三、如果要逐一读取表中的所有数据"/>
          <p:cNvSpPr txBox="1"/>
          <p:nvPr/>
        </p:nvSpPr>
        <p:spPr>
          <a:xfrm>
            <a:off x="93661" y="916780"/>
            <a:ext cx="595280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R="40640" indent="40640" defTabSz="914400">
              <a:spcBef>
                <a:spcPts val="13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三、如果要逐一读取表中的所有数据</a:t>
            </a:r>
          </a:p>
        </p:txBody>
      </p:sp>
      <p:sp>
        <p:nvSpPr>
          <p:cNvPr id="1071" name="顺序存储： for + get"/>
          <p:cNvSpPr txBox="1"/>
          <p:nvPr/>
        </p:nvSpPr>
        <p:spPr>
          <a:xfrm>
            <a:off x="560386" y="1529556"/>
            <a:ext cx="613410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R="40640" indent="40640" defTabSz="914400">
              <a:spcBef>
                <a:spcPts val="13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顺序存储： for + get </a:t>
            </a:r>
          </a:p>
        </p:txBody>
      </p:sp>
      <p:sp>
        <p:nvSpPr>
          <p:cNvPr id="1072" name="链式存储:   使用迭代器"/>
          <p:cNvSpPr txBox="1"/>
          <p:nvPr/>
        </p:nvSpPr>
        <p:spPr>
          <a:xfrm>
            <a:off x="560386" y="2177256"/>
            <a:ext cx="8052845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R="40640" indent="40640" defTabSz="914400">
              <a:spcBef>
                <a:spcPts val="13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链式存储:   使用迭代器</a:t>
            </a:r>
          </a:p>
        </p:txBody>
      </p:sp>
      <p:sp>
        <p:nvSpPr>
          <p:cNvPr id="1073" name="四、顺序存储适合能预知数据量的场合(扩展空间的代价大)"/>
          <p:cNvSpPr txBox="1"/>
          <p:nvPr/>
        </p:nvSpPr>
        <p:spPr>
          <a:xfrm>
            <a:off x="93662" y="2824956"/>
            <a:ext cx="898629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R="40640" indent="40640" defTabSz="914400">
              <a:spcBef>
                <a:spcPts val="1300"/>
              </a:spcBef>
              <a:defRPr sz="27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四、顺序存储适合能预知数据量的场合(扩展空间的代价大)</a:t>
            </a:r>
          </a:p>
        </p:txBody>
      </p:sp>
      <p:sp>
        <p:nvSpPr>
          <p:cNvPr id="1074" name="链式存储不需要连续的空间，因此，不需要扩充空间；…"/>
          <p:cNvSpPr txBox="1"/>
          <p:nvPr/>
        </p:nvSpPr>
        <p:spPr>
          <a:xfrm>
            <a:off x="54519" y="3437732"/>
            <a:ext cx="8777787" cy="3017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R="40640" indent="40640" defTabSz="914400">
              <a:spcBef>
                <a:spcPts val="13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链式存储不需要</a:t>
            </a:r>
            <a:r>
              <a:rPr>
                <a:solidFill>
                  <a:schemeClr val="accent5"/>
                </a:solidFill>
              </a:rPr>
              <a:t>连续</a:t>
            </a:r>
            <a:r>
              <a:t>的空间，因此，不需要扩充空间；</a:t>
            </a:r>
          </a:p>
          <a:p>
            <a:pPr marR="40640" indent="40640" defTabSz="914400">
              <a:spcBef>
                <a:spcPts val="13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但是，需要</a:t>
            </a:r>
            <a:r>
              <a:rPr>
                <a:solidFill>
                  <a:schemeClr val="accent5"/>
                </a:solidFill>
              </a:rPr>
              <a:t>更多</a:t>
            </a:r>
            <a:r>
              <a:t>的存储空间(Node对象)，并且，只能</a:t>
            </a:r>
            <a:r>
              <a:rPr>
                <a:solidFill>
                  <a:schemeClr val="accent5"/>
                </a:solidFill>
              </a:rPr>
              <a:t>顺序存取</a:t>
            </a:r>
            <a:r>
              <a:t>(get:O(n));</a:t>
            </a:r>
          </a:p>
          <a:p>
            <a:pPr marR="40640" indent="40640" defTabSz="914400">
              <a:spcBef>
                <a:spcPts val="13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add、remove代价比较低，适合</a:t>
            </a:r>
            <a:r>
              <a:rPr>
                <a:solidFill>
                  <a:schemeClr val="accent5"/>
                </a:solidFill>
              </a:rPr>
              <a:t>动态数据集</a:t>
            </a:r>
            <a:r>
              <a:t>(变化较大的数据集</a:t>
            </a:r>
          </a:p>
        </p:txBody>
      </p:sp>
      <p:sp>
        <p:nvSpPr>
          <p:cNvPr id="1075" name="顺序存储和链式存储的区别"/>
          <p:cNvSpPr txBox="1"/>
          <p:nvPr/>
        </p:nvSpPr>
        <p:spPr>
          <a:xfrm>
            <a:off x="849312" y="-25400"/>
            <a:ext cx="7188201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顺序存储和链式存储的区别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带头结点的单(向)链表"/>
          <p:cNvSpPr txBox="1"/>
          <p:nvPr/>
        </p:nvSpPr>
        <p:spPr>
          <a:xfrm>
            <a:off x="1141412" y="-162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带头结点的单(向)链表</a:t>
            </a:r>
          </a:p>
        </p:txBody>
      </p:sp>
      <p:sp>
        <p:nvSpPr>
          <p:cNvPr id="1078" name="add和remove需要对索引号0做特殊处理，原因是索引号为0的结点没有前驱结点，…"/>
          <p:cNvSpPr txBox="1"/>
          <p:nvPr/>
        </p:nvSpPr>
        <p:spPr>
          <a:xfrm>
            <a:off x="224051" y="816807"/>
            <a:ext cx="8800511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1900">
                <a:latin typeface="Tahoma"/>
                <a:ea typeface="Tahoma"/>
                <a:cs typeface="Tahoma"/>
                <a:sym typeface="Tahoma"/>
              </a:defRPr>
            </a:pPr>
            <a:r>
              <a:t>add和remove需要对索引号0做特殊处理，原因是</a:t>
            </a:r>
            <a:r>
              <a:rPr>
                <a:solidFill>
                  <a:schemeClr val="accent5"/>
                </a:solidFill>
              </a:rPr>
              <a:t>索引号为0的结点</a:t>
            </a:r>
            <a:r>
              <a:rPr>
                <a:solidFill>
                  <a:schemeClr val="accent1"/>
                </a:solidFill>
              </a:rPr>
              <a:t>没有前驱结点</a:t>
            </a:r>
            <a:r>
              <a:t>，</a:t>
            </a:r>
          </a:p>
          <a:p>
            <a:pPr>
              <a:lnSpc>
                <a:spcPct val="120000"/>
              </a:lnSpc>
              <a:defRPr sz="1900">
                <a:latin typeface="Tahoma"/>
                <a:ea typeface="Tahoma"/>
                <a:cs typeface="Tahoma"/>
                <a:sym typeface="Tahoma"/>
              </a:defRPr>
            </a:pPr>
            <a:r>
              <a:t>增加1个冗余结点“</a:t>
            </a:r>
            <a:r>
              <a:rPr>
                <a:solidFill>
                  <a:schemeClr val="accent5"/>
                </a:solidFill>
              </a:rPr>
              <a:t>头结点</a:t>
            </a:r>
            <a:r>
              <a:t>”，</a:t>
            </a:r>
            <a:r>
              <a:rPr>
                <a:solidFill>
                  <a:schemeClr val="accent1"/>
                </a:solidFill>
              </a:rPr>
              <a:t>使索引号为0的结点也有前驱结点</a:t>
            </a:r>
            <a:r>
              <a:t>。</a:t>
            </a:r>
          </a:p>
        </p:txBody>
      </p:sp>
      <p:sp>
        <p:nvSpPr>
          <p:cNvPr id="1079" name="矩形"/>
          <p:cNvSpPr/>
          <p:nvPr/>
        </p:nvSpPr>
        <p:spPr>
          <a:xfrm>
            <a:off x="3242618" y="3512163"/>
            <a:ext cx="360365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80" name="成组"/>
          <p:cNvSpPr/>
          <p:nvPr/>
        </p:nvSpPr>
        <p:spPr>
          <a:xfrm>
            <a:off x="3826818" y="2224699"/>
            <a:ext cx="1008066" cy="4683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81" name="矩形"/>
          <p:cNvSpPr/>
          <p:nvPr/>
        </p:nvSpPr>
        <p:spPr>
          <a:xfrm>
            <a:off x="4834881" y="2224700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82" name="椭圆形"/>
          <p:cNvSpPr/>
          <p:nvPr/>
        </p:nvSpPr>
        <p:spPr>
          <a:xfrm>
            <a:off x="4979343" y="2440600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83" name="成组"/>
          <p:cNvSpPr/>
          <p:nvPr/>
        </p:nvSpPr>
        <p:spPr>
          <a:xfrm>
            <a:off x="5482581" y="2226287"/>
            <a:ext cx="1008064" cy="4683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84" name="矩形"/>
          <p:cNvSpPr/>
          <p:nvPr/>
        </p:nvSpPr>
        <p:spPr>
          <a:xfrm>
            <a:off x="6490644" y="2226288"/>
            <a:ext cx="360365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85" name="成组"/>
          <p:cNvSpPr/>
          <p:nvPr/>
        </p:nvSpPr>
        <p:spPr>
          <a:xfrm>
            <a:off x="7103419" y="2226287"/>
            <a:ext cx="1008066" cy="46831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86" name="矩形"/>
          <p:cNvSpPr/>
          <p:nvPr/>
        </p:nvSpPr>
        <p:spPr>
          <a:xfrm>
            <a:off x="8111482" y="2226288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87" name="椭圆形"/>
          <p:cNvSpPr/>
          <p:nvPr/>
        </p:nvSpPr>
        <p:spPr>
          <a:xfrm>
            <a:off x="6671619" y="2407263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1090" name="成组"/>
          <p:cNvGrpSpPr/>
          <p:nvPr/>
        </p:nvGrpSpPr>
        <p:grpSpPr>
          <a:xfrm>
            <a:off x="8184507" y="2321538"/>
            <a:ext cx="152401" cy="228601"/>
            <a:chOff x="0" y="0"/>
            <a:chExt cx="152399" cy="228600"/>
          </a:xfrm>
        </p:grpSpPr>
        <p:sp>
          <p:nvSpPr>
            <p:cNvPr id="1088" name="线条"/>
            <p:cNvSpPr/>
            <p:nvPr/>
          </p:nvSpPr>
          <p:spPr>
            <a:xfrm flipH="1">
              <a:off x="0" y="-1"/>
              <a:ext cx="76201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089" name="线条"/>
            <p:cNvSpPr/>
            <p:nvPr/>
          </p:nvSpPr>
          <p:spPr>
            <a:xfrm>
              <a:off x="76200" y="-1"/>
              <a:ext cx="76201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1091" name="椭圆形"/>
          <p:cNvSpPr/>
          <p:nvPr/>
        </p:nvSpPr>
        <p:spPr>
          <a:xfrm>
            <a:off x="1593206" y="2440600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92" name="线条"/>
          <p:cNvSpPr/>
          <p:nvPr/>
        </p:nvSpPr>
        <p:spPr>
          <a:xfrm>
            <a:off x="1629719" y="2477113"/>
            <a:ext cx="539752" cy="1589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93" name="线条"/>
          <p:cNvSpPr/>
          <p:nvPr/>
        </p:nvSpPr>
        <p:spPr>
          <a:xfrm>
            <a:off x="5014268" y="2478700"/>
            <a:ext cx="468315" cy="1589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94" name="线条"/>
          <p:cNvSpPr/>
          <p:nvPr/>
        </p:nvSpPr>
        <p:spPr>
          <a:xfrm>
            <a:off x="6708132" y="2442188"/>
            <a:ext cx="395289" cy="1589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95" name="矩形"/>
          <p:cNvSpPr/>
          <p:nvPr/>
        </p:nvSpPr>
        <p:spPr>
          <a:xfrm>
            <a:off x="2171057" y="2224700"/>
            <a:ext cx="10080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86133E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96" name="矩形"/>
          <p:cNvSpPr/>
          <p:nvPr/>
        </p:nvSpPr>
        <p:spPr>
          <a:xfrm>
            <a:off x="3179118" y="2224700"/>
            <a:ext cx="360365" cy="468314"/>
          </a:xfrm>
          <a:prstGeom prst="rect">
            <a:avLst/>
          </a:prstGeom>
          <a:solidFill>
            <a:srgbClr val="FFFFFF"/>
          </a:solidFill>
          <a:ln>
            <a:solidFill>
              <a:srgbClr val="86133E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97" name="椭圆形"/>
          <p:cNvSpPr/>
          <p:nvPr/>
        </p:nvSpPr>
        <p:spPr>
          <a:xfrm>
            <a:off x="3323582" y="2440600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86133E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98" name="线条"/>
          <p:cNvSpPr/>
          <p:nvPr/>
        </p:nvSpPr>
        <p:spPr>
          <a:xfrm>
            <a:off x="3358507" y="2478700"/>
            <a:ext cx="468314" cy="1589"/>
          </a:xfrm>
          <a:prstGeom prst="line">
            <a:avLst/>
          </a:prstGeom>
          <a:ln>
            <a:solidFill>
              <a:srgbClr val="86133E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099" name="头结点"/>
          <p:cNvSpPr txBox="1"/>
          <p:nvPr/>
        </p:nvSpPr>
        <p:spPr>
          <a:xfrm>
            <a:off x="2213919" y="2915263"/>
            <a:ext cx="115570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头结点</a:t>
            </a:r>
          </a:p>
        </p:txBody>
      </p:sp>
      <p:sp>
        <p:nvSpPr>
          <p:cNvPr id="1100" name="线条"/>
          <p:cNvSpPr/>
          <p:nvPr/>
        </p:nvSpPr>
        <p:spPr>
          <a:xfrm>
            <a:off x="2772719" y="2673963"/>
            <a:ext cx="8286" cy="373510"/>
          </a:xfrm>
          <a:prstGeom prst="line">
            <a:avLst/>
          </a:prstGeom>
          <a:ln w="25400">
            <a:solidFill>
              <a:srgbClr val="000000"/>
            </a:solidFill>
            <a:headEnd type="stealth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101" name="椭圆形"/>
          <p:cNvSpPr/>
          <p:nvPr/>
        </p:nvSpPr>
        <p:spPr>
          <a:xfrm>
            <a:off x="1655119" y="3728063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102" name="线条"/>
          <p:cNvSpPr/>
          <p:nvPr/>
        </p:nvSpPr>
        <p:spPr>
          <a:xfrm>
            <a:off x="1693219" y="3766163"/>
            <a:ext cx="539752" cy="1589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103" name="矩形"/>
          <p:cNvSpPr/>
          <p:nvPr/>
        </p:nvSpPr>
        <p:spPr>
          <a:xfrm>
            <a:off x="2239319" y="3512163"/>
            <a:ext cx="10080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1106" name="成组"/>
          <p:cNvGrpSpPr/>
          <p:nvPr/>
        </p:nvGrpSpPr>
        <p:grpSpPr>
          <a:xfrm>
            <a:off x="3356919" y="3664563"/>
            <a:ext cx="152401" cy="228601"/>
            <a:chOff x="0" y="0"/>
            <a:chExt cx="152399" cy="228600"/>
          </a:xfrm>
        </p:grpSpPr>
        <p:sp>
          <p:nvSpPr>
            <p:cNvPr id="1104" name="线条"/>
            <p:cNvSpPr/>
            <p:nvPr/>
          </p:nvSpPr>
          <p:spPr>
            <a:xfrm flipH="1">
              <a:off x="0" y="-1"/>
              <a:ext cx="76201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05" name="线条"/>
            <p:cNvSpPr/>
            <p:nvPr/>
          </p:nvSpPr>
          <p:spPr>
            <a:xfrm>
              <a:off x="76200" y="-1"/>
              <a:ext cx="76201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1107" name="head"/>
          <p:cNvSpPr txBox="1"/>
          <p:nvPr/>
        </p:nvSpPr>
        <p:spPr>
          <a:xfrm>
            <a:off x="865531" y="2262804"/>
            <a:ext cx="730311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head</a:t>
            </a:r>
          </a:p>
        </p:txBody>
      </p:sp>
      <p:sp>
        <p:nvSpPr>
          <p:cNvPr id="1108" name="head"/>
          <p:cNvSpPr txBox="1"/>
          <p:nvPr/>
        </p:nvSpPr>
        <p:spPr>
          <a:xfrm>
            <a:off x="972436" y="3548006"/>
            <a:ext cx="730311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40640" indent="40640" defTabSz="914400">
              <a:spcBef>
                <a:spcPts val="13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head</a:t>
            </a:r>
          </a:p>
        </p:txBody>
      </p:sp>
      <p:grpSp>
        <p:nvGrpSpPr>
          <p:cNvPr id="1111" name="成组"/>
          <p:cNvGrpSpPr/>
          <p:nvPr/>
        </p:nvGrpSpPr>
        <p:grpSpPr>
          <a:xfrm>
            <a:off x="4164480" y="2435134"/>
            <a:ext cx="408941" cy="876850"/>
            <a:chOff x="0" y="0"/>
            <a:chExt cx="408940" cy="876848"/>
          </a:xfrm>
        </p:grpSpPr>
        <p:sp>
          <p:nvSpPr>
            <p:cNvPr id="1109" name="a0"/>
            <p:cNvSpPr txBox="1"/>
            <p:nvPr/>
          </p:nvSpPr>
          <p:spPr>
            <a:xfrm>
              <a:off x="0" y="387384"/>
              <a:ext cx="408941" cy="489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0</a:t>
              </a:r>
            </a:p>
          </p:txBody>
        </p:sp>
        <p:sp>
          <p:nvSpPr>
            <p:cNvPr id="1110" name="线条"/>
            <p:cNvSpPr/>
            <p:nvPr/>
          </p:nvSpPr>
          <p:spPr>
            <a:xfrm flipH="1">
              <a:off x="170339" y="0"/>
              <a:ext cx="1" cy="52070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1114" name="成组"/>
          <p:cNvGrpSpPr/>
          <p:nvPr/>
        </p:nvGrpSpPr>
        <p:grpSpPr>
          <a:xfrm>
            <a:off x="5845643" y="2435134"/>
            <a:ext cx="408941" cy="876850"/>
            <a:chOff x="0" y="0"/>
            <a:chExt cx="408940" cy="876848"/>
          </a:xfrm>
        </p:grpSpPr>
        <p:sp>
          <p:nvSpPr>
            <p:cNvPr id="1112" name="a1"/>
            <p:cNvSpPr txBox="1"/>
            <p:nvPr/>
          </p:nvSpPr>
          <p:spPr>
            <a:xfrm>
              <a:off x="0" y="387384"/>
              <a:ext cx="408941" cy="489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1</a:t>
              </a:r>
            </a:p>
          </p:txBody>
        </p:sp>
        <p:sp>
          <p:nvSpPr>
            <p:cNvPr id="1113" name="线条"/>
            <p:cNvSpPr/>
            <p:nvPr/>
          </p:nvSpPr>
          <p:spPr>
            <a:xfrm flipH="1">
              <a:off x="170339" y="0"/>
              <a:ext cx="1" cy="52070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1117" name="成组"/>
          <p:cNvGrpSpPr/>
          <p:nvPr/>
        </p:nvGrpSpPr>
        <p:grpSpPr>
          <a:xfrm>
            <a:off x="7409808" y="2435134"/>
            <a:ext cx="408941" cy="876850"/>
            <a:chOff x="0" y="0"/>
            <a:chExt cx="408940" cy="876848"/>
          </a:xfrm>
        </p:grpSpPr>
        <p:sp>
          <p:nvSpPr>
            <p:cNvPr id="1115" name="a2"/>
            <p:cNvSpPr txBox="1"/>
            <p:nvPr/>
          </p:nvSpPr>
          <p:spPr>
            <a:xfrm>
              <a:off x="0" y="387384"/>
              <a:ext cx="408941" cy="489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2</a:t>
              </a:r>
            </a:p>
          </p:txBody>
        </p:sp>
        <p:sp>
          <p:nvSpPr>
            <p:cNvPr id="1116" name="线条"/>
            <p:cNvSpPr/>
            <p:nvPr/>
          </p:nvSpPr>
          <p:spPr>
            <a:xfrm flipH="1">
              <a:off x="170339" y="0"/>
              <a:ext cx="1" cy="52070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1118" name="注意：…"/>
          <p:cNvSpPr txBox="1"/>
          <p:nvPr/>
        </p:nvSpPr>
        <p:spPr>
          <a:xfrm>
            <a:off x="47471" y="4214608"/>
            <a:ext cx="9017309" cy="1280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100"/>
            </a:pPr>
            <a:r>
              <a:t>注意：</a:t>
            </a:r>
          </a:p>
          <a:p>
            <a:pPr marL="591552" lvl="1" indent="-210552">
              <a:lnSpc>
                <a:spcPct val="120000"/>
              </a:lnSpc>
              <a:buSzPct val="60000"/>
              <a:buBlip>
                <a:blip r:embed="rId2"/>
              </a:buBlip>
              <a:defRPr sz="2100"/>
            </a:pPr>
            <a:r>
              <a:rPr>
                <a:solidFill>
                  <a:schemeClr val="accent1"/>
                </a:solidFill>
              </a:rPr>
              <a:t>头结点不存储数据</a:t>
            </a:r>
            <a:r>
              <a:t>，但也可以根据需要，存储特殊的数据</a:t>
            </a:r>
          </a:p>
          <a:p>
            <a:pPr marL="591552" lvl="1" indent="-210552">
              <a:lnSpc>
                <a:spcPct val="120000"/>
              </a:lnSpc>
              <a:buSzPct val="60000"/>
              <a:buBlip>
                <a:blip r:embed="rId2"/>
              </a:buBlip>
              <a:defRPr sz="2100"/>
            </a:pPr>
            <a:r>
              <a:t>加入头结点的</a:t>
            </a:r>
            <a:r>
              <a:rPr>
                <a:solidFill>
                  <a:schemeClr val="accent1"/>
                </a:solidFill>
              </a:rPr>
              <a:t>目的</a:t>
            </a:r>
            <a:r>
              <a:t>是为了解决add和remove方法需要</a:t>
            </a:r>
            <a:r>
              <a:rPr>
                <a:solidFill>
                  <a:schemeClr val="accent1"/>
                </a:solidFill>
              </a:rPr>
              <a:t>判断index为0</a:t>
            </a:r>
            <a:r>
              <a:t>的情形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带头结点的单(向)链表"/>
          <p:cNvSpPr txBox="1"/>
          <p:nvPr/>
        </p:nvSpPr>
        <p:spPr>
          <a:xfrm>
            <a:off x="1141412" y="-162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带头结点的单(向)链表</a:t>
            </a:r>
          </a:p>
        </p:txBody>
      </p:sp>
      <p:grpSp>
        <p:nvGrpSpPr>
          <p:cNvPr id="1129" name="成组"/>
          <p:cNvGrpSpPr/>
          <p:nvPr/>
        </p:nvGrpSpPr>
        <p:grpSpPr>
          <a:xfrm>
            <a:off x="1335086" y="835373"/>
            <a:ext cx="2630548" cy="468314"/>
            <a:chOff x="0" y="0"/>
            <a:chExt cx="2630545" cy="468312"/>
          </a:xfrm>
        </p:grpSpPr>
        <p:sp>
          <p:nvSpPr>
            <p:cNvPr id="1121" name="矩形"/>
            <p:cNvSpPr/>
            <p:nvPr/>
          </p:nvSpPr>
          <p:spPr>
            <a:xfrm>
              <a:off x="2270181" y="0"/>
              <a:ext cx="360365" cy="468313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22" name="椭圆形"/>
            <p:cNvSpPr/>
            <p:nvPr/>
          </p:nvSpPr>
          <p:spPr>
            <a:xfrm>
              <a:off x="682683" y="215900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23" name="线条"/>
            <p:cNvSpPr/>
            <p:nvPr/>
          </p:nvSpPr>
          <p:spPr>
            <a:xfrm>
              <a:off x="720783" y="254000"/>
              <a:ext cx="539752" cy="15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24" name="矩形"/>
            <p:cNvSpPr/>
            <p:nvPr/>
          </p:nvSpPr>
          <p:spPr>
            <a:xfrm>
              <a:off x="1266883" y="0"/>
              <a:ext cx="1008064" cy="468313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127" name="成组"/>
            <p:cNvGrpSpPr/>
            <p:nvPr/>
          </p:nvGrpSpPr>
          <p:grpSpPr>
            <a:xfrm>
              <a:off x="2384482" y="152399"/>
              <a:ext cx="152401" cy="228602"/>
              <a:chOff x="0" y="0"/>
              <a:chExt cx="152399" cy="228600"/>
            </a:xfrm>
          </p:grpSpPr>
          <p:sp>
            <p:nvSpPr>
              <p:cNvPr id="1125" name="线条"/>
              <p:cNvSpPr/>
              <p:nvPr/>
            </p:nvSpPr>
            <p:spPr>
              <a:xfrm flipH="1">
                <a:off x="0" y="-1"/>
                <a:ext cx="76201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126" name="线条"/>
              <p:cNvSpPr/>
              <p:nvPr/>
            </p:nvSpPr>
            <p:spPr>
              <a:xfrm>
                <a:off x="76200" y="-1"/>
                <a:ext cx="76201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sp>
          <p:nvSpPr>
            <p:cNvPr id="1128" name="head"/>
            <p:cNvSpPr txBox="1"/>
            <p:nvPr/>
          </p:nvSpPr>
          <p:spPr>
            <a:xfrm>
              <a:off x="0" y="35843"/>
              <a:ext cx="73031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</a:t>
              </a:r>
            </a:p>
          </p:txBody>
        </p:sp>
      </p:grpSp>
      <p:sp>
        <p:nvSpPr>
          <p:cNvPr id="1130" name="public class LinkedListWithHeadNode&lt;T&gt; implements Ilist&lt;T&gt; {…"/>
          <p:cNvSpPr txBox="1"/>
          <p:nvPr/>
        </p:nvSpPr>
        <p:spPr>
          <a:xfrm>
            <a:off x="346460" y="1441196"/>
            <a:ext cx="8345241" cy="4865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LinkedListWithHeadNode&lt;T&gt;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Ilist&lt;T&gt; {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Node&lt;T&gt;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>
              <a:defRPr sz="18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size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LinkedListWithHeadNode(){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Node&lt;&gt;(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,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);</a:t>
            </a:r>
            <a:r>
              <a:rPr>
                <a:solidFill>
                  <a:srgbClr val="4E9072"/>
                </a:solidFill>
              </a:rPr>
              <a:t>// 头结点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endParaRPr/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Node&lt;T&gt;{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T 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;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Node(T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, Node&lt;T&gt; </a:t>
            </a:r>
            <a:r>
              <a:rPr>
                <a:solidFill>
                  <a:srgbClr val="7E504F"/>
                </a:solidFill>
              </a:rPr>
              <a:t>next</a:t>
            </a:r>
            <a:r>
              <a:t>){</a:t>
            </a:r>
          </a:p>
          <a:p>
            <a:pPr>
              <a:defRPr sz="18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8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带头结点的单(向)链表add"/>
          <p:cNvSpPr txBox="1"/>
          <p:nvPr/>
        </p:nvSpPr>
        <p:spPr>
          <a:xfrm>
            <a:off x="1141412" y="-35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带头结点的单(向)链表add</a:t>
            </a:r>
          </a:p>
        </p:txBody>
      </p:sp>
      <p:sp>
        <p:nvSpPr>
          <p:cNvPr id="1133" name="public void add(int index, T x) {// 对比CLinkedList…"/>
          <p:cNvSpPr txBox="1"/>
          <p:nvPr/>
        </p:nvSpPr>
        <p:spPr>
          <a:xfrm>
            <a:off x="193380" y="978097"/>
            <a:ext cx="8627065" cy="334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1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rPr>
                <a:solidFill>
                  <a:srgbClr val="000000"/>
                </a:solidFill>
              </a:rPr>
              <a:t> add(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, T 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对比CLinkedList</a:t>
            </a:r>
            <a:endParaRPr>
              <a:solidFill>
                <a:srgbClr val="000000"/>
              </a:solidFill>
            </a:endParaRP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rangeCheckForAdd(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);</a:t>
            </a:r>
          </a:p>
          <a:p>
            <a:pPr>
              <a:defRPr sz="21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找到index的前驱</a:t>
            </a:r>
            <a:endParaRPr>
              <a:solidFill>
                <a:srgbClr val="000000"/>
              </a:solidFill>
            </a:endParaRP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>
              <a:defRPr sz="21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Node&lt;&gt;(</a:t>
            </a:r>
            <a:r>
              <a:rPr>
                <a:solidFill>
                  <a:srgbClr val="7E504F"/>
                </a:solidFill>
              </a:rPr>
              <a:t>x</a:t>
            </a:r>
            <a:r>
              <a:t>,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);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++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带头结点的单(向)链表remove"/>
          <p:cNvSpPr txBox="1"/>
          <p:nvPr/>
        </p:nvSpPr>
        <p:spPr>
          <a:xfrm>
            <a:off x="1141412" y="-35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带头结点的单(向)链表remove</a:t>
            </a:r>
          </a:p>
        </p:txBody>
      </p:sp>
      <p:sp>
        <p:nvSpPr>
          <p:cNvPr id="1136" name="public T remove(int index) {// 对比CLinkedList…"/>
          <p:cNvSpPr txBox="1"/>
          <p:nvPr/>
        </p:nvSpPr>
        <p:spPr>
          <a:xfrm>
            <a:off x="599710" y="800893"/>
            <a:ext cx="7518755" cy="4834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T remove(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对比CLinkedList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);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找到index的前驱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循环结束后，p引用待删除结点的前驱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Node&lt;T&gt; 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q引用待删除结点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将待删除结点从链表中移除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T </a:t>
            </a:r>
            <a:r>
              <a:t>value</a:t>
            </a:r>
            <a:r>
              <a:rPr>
                <a:solidFill>
                  <a:srgbClr val="000000"/>
                </a:solidFill>
              </a:rPr>
              <a:t> = </a:t>
            </a:r>
            <a: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帮助GC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--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;</a:t>
            </a:r>
          </a:p>
          <a:p>
            <a:pPr>
              <a:defRPr sz="19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带头结点的单(向)链表get"/>
          <p:cNvSpPr txBox="1"/>
          <p:nvPr/>
        </p:nvSpPr>
        <p:spPr>
          <a:xfrm>
            <a:off x="1141412" y="9177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带头结点的单(向)链表get</a:t>
            </a:r>
          </a:p>
        </p:txBody>
      </p:sp>
      <p:sp>
        <p:nvSpPr>
          <p:cNvPr id="1139" name="public T get(int index) {…"/>
          <p:cNvSpPr txBox="1"/>
          <p:nvPr/>
        </p:nvSpPr>
        <p:spPr>
          <a:xfrm>
            <a:off x="617542" y="898817"/>
            <a:ext cx="7572426" cy="3694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get(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 {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rangCheck(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);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  <a:r>
              <a:rPr>
                <a:solidFill>
                  <a:schemeClr val="accent5"/>
                </a:solidFill>
              </a:rPr>
              <a:t>//注意：开始的位置</a:t>
            </a:r>
          </a:p>
          <a:p>
            <a:pPr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index次</a:t>
            </a:r>
            <a:endParaRPr>
              <a:solidFill>
                <a:srgbClr val="000000"/>
              </a:solidFill>
            </a:endParaRP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带头结点的单(向)链表clear"/>
          <p:cNvSpPr txBox="1"/>
          <p:nvPr/>
        </p:nvSpPr>
        <p:spPr>
          <a:xfrm>
            <a:off x="1141412" y="-35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带头结点的单(向)链表clear</a:t>
            </a:r>
          </a:p>
        </p:txBody>
      </p:sp>
      <p:grpSp>
        <p:nvGrpSpPr>
          <p:cNvPr id="1156" name="成组"/>
          <p:cNvGrpSpPr/>
          <p:nvPr/>
        </p:nvGrpSpPr>
        <p:grpSpPr>
          <a:xfrm>
            <a:off x="386866" y="852140"/>
            <a:ext cx="7606314" cy="469904"/>
            <a:chOff x="0" y="0"/>
            <a:chExt cx="7606312" cy="469902"/>
          </a:xfrm>
        </p:grpSpPr>
        <p:sp>
          <p:nvSpPr>
            <p:cNvPr id="1142" name="成组"/>
            <p:cNvSpPr/>
            <p:nvPr/>
          </p:nvSpPr>
          <p:spPr>
            <a:xfrm>
              <a:off x="2961286" y="0"/>
              <a:ext cx="1008066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43" name="矩形"/>
            <p:cNvSpPr/>
            <p:nvPr/>
          </p:nvSpPr>
          <p:spPr>
            <a:xfrm>
              <a:off x="3969349" y="1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44" name="成组"/>
            <p:cNvSpPr/>
            <p:nvPr/>
          </p:nvSpPr>
          <p:spPr>
            <a:xfrm>
              <a:off x="4617049" y="1587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45" name="矩形"/>
            <p:cNvSpPr/>
            <p:nvPr/>
          </p:nvSpPr>
          <p:spPr>
            <a:xfrm>
              <a:off x="5625112" y="1588"/>
              <a:ext cx="360365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46" name="成组"/>
            <p:cNvSpPr/>
            <p:nvPr/>
          </p:nvSpPr>
          <p:spPr>
            <a:xfrm>
              <a:off x="6237887" y="1587"/>
              <a:ext cx="1008066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47" name="矩形"/>
            <p:cNvSpPr/>
            <p:nvPr/>
          </p:nvSpPr>
          <p:spPr>
            <a:xfrm>
              <a:off x="7245949" y="1588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48" name="椭圆形"/>
            <p:cNvSpPr/>
            <p:nvPr/>
          </p:nvSpPr>
          <p:spPr>
            <a:xfrm>
              <a:off x="727675" y="215901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49" name="线条"/>
            <p:cNvSpPr/>
            <p:nvPr/>
          </p:nvSpPr>
          <p:spPr>
            <a:xfrm>
              <a:off x="764188" y="252414"/>
              <a:ext cx="539752" cy="15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50" name="矩形"/>
            <p:cNvSpPr/>
            <p:nvPr/>
          </p:nvSpPr>
          <p:spPr>
            <a:xfrm>
              <a:off x="1305525" y="1"/>
              <a:ext cx="10080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86133E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51" name="矩形"/>
            <p:cNvSpPr/>
            <p:nvPr/>
          </p:nvSpPr>
          <p:spPr>
            <a:xfrm>
              <a:off x="2313586" y="1"/>
              <a:ext cx="360365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86133E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52" name="head"/>
            <p:cNvSpPr txBox="1"/>
            <p:nvPr/>
          </p:nvSpPr>
          <p:spPr>
            <a:xfrm>
              <a:off x="0" y="38105"/>
              <a:ext cx="73031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</a:t>
              </a:r>
            </a:p>
          </p:txBody>
        </p:sp>
        <p:grpSp>
          <p:nvGrpSpPr>
            <p:cNvPr id="1155" name="成组"/>
            <p:cNvGrpSpPr/>
            <p:nvPr/>
          </p:nvGrpSpPr>
          <p:grpSpPr>
            <a:xfrm>
              <a:off x="2417568" y="114301"/>
              <a:ext cx="152401" cy="228601"/>
              <a:chOff x="0" y="0"/>
              <a:chExt cx="152399" cy="228600"/>
            </a:xfrm>
          </p:grpSpPr>
          <p:sp>
            <p:nvSpPr>
              <p:cNvPr id="1153" name="线条"/>
              <p:cNvSpPr/>
              <p:nvPr/>
            </p:nvSpPr>
            <p:spPr>
              <a:xfrm flipH="1">
                <a:off x="0" y="-1"/>
                <a:ext cx="76201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154" name="线条"/>
              <p:cNvSpPr/>
              <p:nvPr/>
            </p:nvSpPr>
            <p:spPr>
              <a:xfrm>
                <a:off x="76200" y="-1"/>
                <a:ext cx="76201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</p:grpSp>
      <p:sp>
        <p:nvSpPr>
          <p:cNvPr id="1157" name="public void clear() {…"/>
          <p:cNvSpPr txBox="1"/>
          <p:nvPr/>
        </p:nvSpPr>
        <p:spPr>
          <a:xfrm>
            <a:off x="144787" y="1606488"/>
            <a:ext cx="8039672" cy="3645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clear() {</a:t>
            </a:r>
          </a:p>
          <a:p>
            <a:pPr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不断删除head引用结点的后继结点，直到剩下头结点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while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0326CC"/>
                </a:solidFill>
              </a:rPr>
              <a:t>head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 !=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Node&lt;T&gt; 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  <a:r>
              <a:rPr>
                <a:solidFill>
                  <a:srgbClr val="4E9072"/>
                </a:solidFill>
              </a:rPr>
              <a:t>// q引用待删除结点</a:t>
            </a:r>
          </a:p>
          <a:p>
            <a:pPr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0326CC"/>
                </a:solidFill>
              </a:rPr>
              <a:t>head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将q引用的结点从链表中移除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帮助GC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= 0;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带头结点的单(向)循环链表"/>
          <p:cNvSpPr txBox="1"/>
          <p:nvPr/>
        </p:nvSpPr>
        <p:spPr>
          <a:xfrm>
            <a:off x="1047749" y="0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带头结点的单(向)循环链表</a:t>
            </a:r>
          </a:p>
        </p:txBody>
      </p:sp>
      <p:grpSp>
        <p:nvGrpSpPr>
          <p:cNvPr id="1196" name="成组"/>
          <p:cNvGrpSpPr/>
          <p:nvPr/>
        </p:nvGrpSpPr>
        <p:grpSpPr>
          <a:xfrm>
            <a:off x="1369465" y="986198"/>
            <a:ext cx="7511646" cy="1728789"/>
            <a:chOff x="0" y="0"/>
            <a:chExt cx="7511645" cy="1728788"/>
          </a:xfrm>
        </p:grpSpPr>
        <p:sp>
          <p:nvSpPr>
            <p:cNvPr id="1160" name="矩形"/>
            <p:cNvSpPr/>
            <p:nvPr/>
          </p:nvSpPr>
          <p:spPr>
            <a:xfrm>
              <a:off x="1210857" y="1260474"/>
              <a:ext cx="1008064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61" name="矩形"/>
            <p:cNvSpPr/>
            <p:nvPr/>
          </p:nvSpPr>
          <p:spPr>
            <a:xfrm>
              <a:off x="2218919" y="1260474"/>
              <a:ext cx="360365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62" name="线条"/>
            <p:cNvSpPr/>
            <p:nvPr/>
          </p:nvSpPr>
          <p:spPr>
            <a:xfrm>
              <a:off x="669519" y="1511299"/>
              <a:ext cx="539752" cy="159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63" name="线条"/>
            <p:cNvSpPr/>
            <p:nvPr/>
          </p:nvSpPr>
          <p:spPr>
            <a:xfrm flipV="1">
              <a:off x="2398307" y="1079500"/>
              <a:ext cx="1589" cy="3952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64" name="线条"/>
            <p:cNvSpPr/>
            <p:nvPr/>
          </p:nvSpPr>
          <p:spPr>
            <a:xfrm flipH="1">
              <a:off x="1029882" y="1079500"/>
              <a:ext cx="1368427" cy="15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65" name="线条"/>
            <p:cNvSpPr/>
            <p:nvPr/>
          </p:nvSpPr>
          <p:spPr>
            <a:xfrm>
              <a:off x="1029882" y="1079500"/>
              <a:ext cx="1589" cy="32385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66" name="线条"/>
            <p:cNvSpPr/>
            <p:nvPr/>
          </p:nvSpPr>
          <p:spPr>
            <a:xfrm>
              <a:off x="1029882" y="1403349"/>
              <a:ext cx="180977" cy="159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67" name="椭圆形"/>
            <p:cNvSpPr/>
            <p:nvPr/>
          </p:nvSpPr>
          <p:spPr>
            <a:xfrm>
              <a:off x="2361794" y="1476374"/>
              <a:ext cx="36515" cy="71441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170" name="成组"/>
            <p:cNvGrpSpPr/>
            <p:nvPr/>
          </p:nvGrpSpPr>
          <p:grpSpPr>
            <a:xfrm>
              <a:off x="2866619" y="224374"/>
              <a:ext cx="1008064" cy="489465"/>
              <a:chOff x="0" y="0"/>
              <a:chExt cx="1008062" cy="489463"/>
            </a:xfrm>
          </p:grpSpPr>
          <p:sp>
            <p:nvSpPr>
              <p:cNvPr id="1168" name="矩形"/>
              <p:cNvSpPr/>
              <p:nvPr/>
            </p:nvSpPr>
            <p:spPr>
              <a:xfrm>
                <a:off x="0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169" name="a0"/>
              <p:cNvSpPr txBox="1"/>
              <p:nvPr/>
            </p:nvSpPr>
            <p:spPr>
              <a:xfrm>
                <a:off x="299561" y="0"/>
                <a:ext cx="408941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0</a:t>
                </a:r>
              </a:p>
            </p:txBody>
          </p:sp>
        </p:grpSp>
        <p:sp>
          <p:nvSpPr>
            <p:cNvPr id="1171" name="矩形"/>
            <p:cNvSpPr/>
            <p:nvPr/>
          </p:nvSpPr>
          <p:spPr>
            <a:xfrm>
              <a:off x="3874682" y="234950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72" name="椭圆形"/>
            <p:cNvSpPr/>
            <p:nvPr/>
          </p:nvSpPr>
          <p:spPr>
            <a:xfrm>
              <a:off x="4019143" y="450850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175" name="成组"/>
            <p:cNvGrpSpPr/>
            <p:nvPr/>
          </p:nvGrpSpPr>
          <p:grpSpPr>
            <a:xfrm>
              <a:off x="4522382" y="225961"/>
              <a:ext cx="1008064" cy="489465"/>
              <a:chOff x="0" y="0"/>
              <a:chExt cx="1008062" cy="489463"/>
            </a:xfrm>
          </p:grpSpPr>
          <p:sp>
            <p:nvSpPr>
              <p:cNvPr id="1173" name="矩形"/>
              <p:cNvSpPr/>
              <p:nvPr/>
            </p:nvSpPr>
            <p:spPr>
              <a:xfrm>
                <a:off x="0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174" name="a1"/>
              <p:cNvSpPr txBox="1"/>
              <p:nvPr/>
            </p:nvSpPr>
            <p:spPr>
              <a:xfrm>
                <a:off x="299561" y="0"/>
                <a:ext cx="408941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1</a:t>
                </a:r>
              </a:p>
            </p:txBody>
          </p:sp>
        </p:grpSp>
        <p:sp>
          <p:nvSpPr>
            <p:cNvPr id="1176" name="矩形"/>
            <p:cNvSpPr/>
            <p:nvPr/>
          </p:nvSpPr>
          <p:spPr>
            <a:xfrm>
              <a:off x="5530443" y="236537"/>
              <a:ext cx="360364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179" name="成组"/>
            <p:cNvGrpSpPr/>
            <p:nvPr/>
          </p:nvGrpSpPr>
          <p:grpSpPr>
            <a:xfrm>
              <a:off x="6143218" y="225961"/>
              <a:ext cx="1008064" cy="489465"/>
              <a:chOff x="0" y="0"/>
              <a:chExt cx="1008062" cy="489463"/>
            </a:xfrm>
          </p:grpSpPr>
          <p:sp>
            <p:nvSpPr>
              <p:cNvPr id="1177" name="矩形"/>
              <p:cNvSpPr/>
              <p:nvPr/>
            </p:nvSpPr>
            <p:spPr>
              <a:xfrm>
                <a:off x="0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178" name="a2"/>
              <p:cNvSpPr txBox="1"/>
              <p:nvPr/>
            </p:nvSpPr>
            <p:spPr>
              <a:xfrm>
                <a:off x="299561" y="0"/>
                <a:ext cx="408941" cy="4894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R="40640" indent="40640" algn="ctr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25000"/>
                  <a:t>2</a:t>
                </a:r>
              </a:p>
            </p:txBody>
          </p:sp>
        </p:grpSp>
        <p:sp>
          <p:nvSpPr>
            <p:cNvPr id="1180" name="矩形"/>
            <p:cNvSpPr/>
            <p:nvPr/>
          </p:nvSpPr>
          <p:spPr>
            <a:xfrm>
              <a:off x="7151282" y="236537"/>
              <a:ext cx="360364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81" name="椭圆形"/>
            <p:cNvSpPr/>
            <p:nvPr/>
          </p:nvSpPr>
          <p:spPr>
            <a:xfrm>
              <a:off x="5711418" y="417512"/>
              <a:ext cx="36515" cy="71441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82" name="线条"/>
            <p:cNvSpPr/>
            <p:nvPr/>
          </p:nvSpPr>
          <p:spPr>
            <a:xfrm>
              <a:off x="669519" y="487362"/>
              <a:ext cx="539752" cy="159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83" name="线条"/>
            <p:cNvSpPr/>
            <p:nvPr/>
          </p:nvSpPr>
          <p:spPr>
            <a:xfrm>
              <a:off x="4054069" y="488950"/>
              <a:ext cx="468314" cy="15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84" name="线条"/>
            <p:cNvSpPr/>
            <p:nvPr/>
          </p:nvSpPr>
          <p:spPr>
            <a:xfrm>
              <a:off x="5747932" y="452437"/>
              <a:ext cx="395289" cy="159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85" name="矩形"/>
            <p:cNvSpPr/>
            <p:nvPr/>
          </p:nvSpPr>
          <p:spPr>
            <a:xfrm>
              <a:off x="1210857" y="234950"/>
              <a:ext cx="10080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86" name="矩形"/>
            <p:cNvSpPr/>
            <p:nvPr/>
          </p:nvSpPr>
          <p:spPr>
            <a:xfrm>
              <a:off x="2218919" y="234950"/>
              <a:ext cx="360365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87" name="椭圆形"/>
            <p:cNvSpPr/>
            <p:nvPr/>
          </p:nvSpPr>
          <p:spPr>
            <a:xfrm>
              <a:off x="2363382" y="450850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88" name="线条"/>
            <p:cNvSpPr/>
            <p:nvPr/>
          </p:nvSpPr>
          <p:spPr>
            <a:xfrm>
              <a:off x="2398307" y="488950"/>
              <a:ext cx="468314" cy="15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89" name="线条"/>
            <p:cNvSpPr/>
            <p:nvPr/>
          </p:nvSpPr>
          <p:spPr>
            <a:xfrm flipV="1">
              <a:off x="7330668" y="0"/>
              <a:ext cx="1589" cy="46672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90" name="线条"/>
            <p:cNvSpPr/>
            <p:nvPr/>
          </p:nvSpPr>
          <p:spPr>
            <a:xfrm>
              <a:off x="994957" y="0"/>
              <a:ext cx="6335714" cy="159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91" name="线条"/>
            <p:cNvSpPr/>
            <p:nvPr/>
          </p:nvSpPr>
          <p:spPr>
            <a:xfrm>
              <a:off x="994957" y="0"/>
              <a:ext cx="1589" cy="32385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92" name="线条"/>
            <p:cNvSpPr/>
            <p:nvPr/>
          </p:nvSpPr>
          <p:spPr>
            <a:xfrm>
              <a:off x="994957" y="323850"/>
              <a:ext cx="215902" cy="15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93" name="椭圆形"/>
            <p:cNvSpPr/>
            <p:nvPr/>
          </p:nvSpPr>
          <p:spPr>
            <a:xfrm>
              <a:off x="7330668" y="466725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194" name="head"/>
            <p:cNvSpPr txBox="1"/>
            <p:nvPr/>
          </p:nvSpPr>
          <p:spPr>
            <a:xfrm>
              <a:off x="0" y="266559"/>
              <a:ext cx="73031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</a:t>
              </a:r>
            </a:p>
          </p:txBody>
        </p:sp>
        <p:sp>
          <p:nvSpPr>
            <p:cNvPr id="1195" name="head"/>
            <p:cNvSpPr txBox="1"/>
            <p:nvPr/>
          </p:nvSpPr>
          <p:spPr>
            <a:xfrm>
              <a:off x="0" y="1288365"/>
              <a:ext cx="73031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</a:t>
              </a:r>
            </a:p>
          </p:txBody>
        </p:sp>
      </p:grpSp>
      <p:sp>
        <p:nvSpPr>
          <p:cNvPr id="1197" name="形式一："/>
          <p:cNvSpPr txBox="1"/>
          <p:nvPr/>
        </p:nvSpPr>
        <p:spPr>
          <a:xfrm>
            <a:off x="233858" y="927297"/>
            <a:ext cx="13843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形式一：</a:t>
            </a:r>
          </a:p>
        </p:txBody>
      </p:sp>
      <p:sp>
        <p:nvSpPr>
          <p:cNvPr id="1198" name="如何实现遍历？"/>
          <p:cNvSpPr txBox="1"/>
          <p:nvPr/>
        </p:nvSpPr>
        <p:spPr>
          <a:xfrm>
            <a:off x="236537" y="3162300"/>
            <a:ext cx="23368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如何实现遍历？</a:t>
            </a:r>
          </a:p>
        </p:txBody>
      </p:sp>
      <p:sp>
        <p:nvSpPr>
          <p:cNvPr id="1199" name="开始结点：p = head.next"/>
          <p:cNvSpPr txBox="1"/>
          <p:nvPr/>
        </p:nvSpPr>
        <p:spPr>
          <a:xfrm>
            <a:off x="1204927" y="3811682"/>
            <a:ext cx="342371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开始结点：p = head.next</a:t>
            </a:r>
          </a:p>
        </p:txBody>
      </p:sp>
      <p:sp>
        <p:nvSpPr>
          <p:cNvPr id="1200" name="结束条件：p != head"/>
          <p:cNvSpPr txBox="1"/>
          <p:nvPr/>
        </p:nvSpPr>
        <p:spPr>
          <a:xfrm>
            <a:off x="1204927" y="4333576"/>
            <a:ext cx="290343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结束条件：p != head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9" grpId="1" animBg="1" advAuto="0"/>
      <p:bldP spid="1200" grpId="2" animBg="1" advAuto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2" name="成组"/>
          <p:cNvGrpSpPr/>
          <p:nvPr/>
        </p:nvGrpSpPr>
        <p:grpSpPr>
          <a:xfrm>
            <a:off x="2390789" y="1147762"/>
            <a:ext cx="2641409" cy="649289"/>
            <a:chOff x="0" y="0"/>
            <a:chExt cx="2641407" cy="649288"/>
          </a:xfrm>
        </p:grpSpPr>
        <p:sp>
          <p:nvSpPr>
            <p:cNvPr id="1202" name="线条"/>
            <p:cNvSpPr/>
            <p:nvPr/>
          </p:nvSpPr>
          <p:spPr>
            <a:xfrm flipH="1">
              <a:off x="1092007" y="0"/>
              <a:ext cx="1368427" cy="158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203" name="矩形"/>
            <p:cNvSpPr/>
            <p:nvPr/>
          </p:nvSpPr>
          <p:spPr>
            <a:xfrm>
              <a:off x="1272981" y="180974"/>
              <a:ext cx="1008064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204" name="矩形"/>
            <p:cNvSpPr/>
            <p:nvPr/>
          </p:nvSpPr>
          <p:spPr>
            <a:xfrm>
              <a:off x="2281043" y="180974"/>
              <a:ext cx="360365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205" name="椭圆形"/>
            <p:cNvSpPr/>
            <p:nvPr/>
          </p:nvSpPr>
          <p:spPr>
            <a:xfrm>
              <a:off x="695131" y="395287"/>
              <a:ext cx="36515" cy="71439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206" name="线条"/>
            <p:cNvSpPr/>
            <p:nvPr/>
          </p:nvSpPr>
          <p:spPr>
            <a:xfrm>
              <a:off x="731644" y="431799"/>
              <a:ext cx="539752" cy="159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207" name="线条"/>
            <p:cNvSpPr/>
            <p:nvPr/>
          </p:nvSpPr>
          <p:spPr>
            <a:xfrm flipV="1">
              <a:off x="2460432" y="0"/>
              <a:ext cx="1589" cy="3952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208" name="线条"/>
            <p:cNvSpPr/>
            <p:nvPr/>
          </p:nvSpPr>
          <p:spPr>
            <a:xfrm>
              <a:off x="1092007" y="0"/>
              <a:ext cx="1589" cy="32385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209" name="线条"/>
            <p:cNvSpPr/>
            <p:nvPr/>
          </p:nvSpPr>
          <p:spPr>
            <a:xfrm>
              <a:off x="1092006" y="323849"/>
              <a:ext cx="180977" cy="159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210" name="椭圆形"/>
            <p:cNvSpPr/>
            <p:nvPr/>
          </p:nvSpPr>
          <p:spPr>
            <a:xfrm>
              <a:off x="2423919" y="396874"/>
              <a:ext cx="36515" cy="71441"/>
            </a:xfrm>
            <a:prstGeom prst="ellipse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211" name="head"/>
            <p:cNvSpPr txBox="1"/>
            <p:nvPr/>
          </p:nvSpPr>
          <p:spPr>
            <a:xfrm>
              <a:off x="0" y="208864"/>
              <a:ext cx="73031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</a:t>
              </a:r>
            </a:p>
          </p:txBody>
        </p:sp>
      </p:grpSp>
      <p:sp>
        <p:nvSpPr>
          <p:cNvPr id="1213" name="public class CircularLinkedListWithHeadNode&lt;T&gt; implements Ilist&lt;T&gt; , Cloneable{…"/>
          <p:cNvSpPr txBox="1"/>
          <p:nvPr/>
        </p:nvSpPr>
        <p:spPr>
          <a:xfrm>
            <a:off x="152033" y="1919905"/>
            <a:ext cx="8808184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CircularLinkedListWithHeadNode&lt;T&gt;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Ilist&lt;T&gt; , Cloneable{</a:t>
            </a:r>
          </a:p>
          <a:p>
            <a:pPr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Node&lt;T&gt;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>
              <a:defRPr sz="1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size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CircularLinkedListWithHeadNode(){</a:t>
            </a:r>
          </a:p>
          <a:p>
            <a:pPr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Node&lt;&gt;(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,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);</a:t>
            </a:r>
          </a:p>
          <a:p>
            <a:pPr>
              <a:defRPr sz="1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//循环</a:t>
            </a:r>
            <a:endParaRPr>
              <a:solidFill>
                <a:srgbClr val="000000"/>
              </a:solidFill>
            </a:endParaRPr>
          </a:p>
          <a:p>
            <a:pPr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1214" name="空表："/>
          <p:cNvSpPr txBox="1"/>
          <p:nvPr/>
        </p:nvSpPr>
        <p:spPr>
          <a:xfrm>
            <a:off x="977752" y="1332706"/>
            <a:ext cx="10668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空表：</a:t>
            </a:r>
          </a:p>
        </p:txBody>
      </p:sp>
      <p:sp>
        <p:nvSpPr>
          <p:cNvPr id="1215" name="带头结点的单(向)循环链表"/>
          <p:cNvSpPr txBox="1"/>
          <p:nvPr/>
        </p:nvSpPr>
        <p:spPr>
          <a:xfrm>
            <a:off x="1047749" y="0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带头结点的单(向)循环链表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7" name="成组"/>
          <p:cNvGrpSpPr/>
          <p:nvPr/>
        </p:nvGrpSpPr>
        <p:grpSpPr>
          <a:xfrm>
            <a:off x="260184" y="978097"/>
            <a:ext cx="8149774" cy="2576473"/>
            <a:chOff x="0" y="0"/>
            <a:chExt cx="8149772" cy="2576471"/>
          </a:xfrm>
        </p:grpSpPr>
        <p:sp>
          <p:nvSpPr>
            <p:cNvPr id="1217" name="线条"/>
            <p:cNvSpPr/>
            <p:nvPr/>
          </p:nvSpPr>
          <p:spPr>
            <a:xfrm>
              <a:off x="1633085" y="47606"/>
              <a:ext cx="6335714" cy="159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245" name="成组"/>
            <p:cNvGrpSpPr/>
            <p:nvPr/>
          </p:nvGrpSpPr>
          <p:grpSpPr>
            <a:xfrm>
              <a:off x="1633085" y="47607"/>
              <a:ext cx="6516688" cy="1531456"/>
              <a:chOff x="0" y="0"/>
              <a:chExt cx="6516687" cy="1531454"/>
            </a:xfrm>
          </p:grpSpPr>
          <p:sp>
            <p:nvSpPr>
              <p:cNvPr id="1218" name="线条"/>
              <p:cNvSpPr/>
              <p:nvPr/>
            </p:nvSpPr>
            <p:spPr>
              <a:xfrm flipV="1">
                <a:off x="5809959" y="753601"/>
                <a:ext cx="1" cy="39702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grpSp>
            <p:nvGrpSpPr>
              <p:cNvPr id="1221" name="成组"/>
              <p:cNvGrpSpPr/>
              <p:nvPr/>
            </p:nvGrpSpPr>
            <p:grpSpPr>
              <a:xfrm>
                <a:off x="1871662" y="224373"/>
                <a:ext cx="1008064" cy="489465"/>
                <a:chOff x="0" y="0"/>
                <a:chExt cx="1008062" cy="489463"/>
              </a:xfrm>
            </p:grpSpPr>
            <p:sp>
              <p:nvSpPr>
                <p:cNvPr id="1219" name="矩形"/>
                <p:cNvSpPr/>
                <p:nvPr/>
              </p:nvSpPr>
              <p:spPr>
                <a:xfrm>
                  <a:off x="0" y="10575"/>
                  <a:ext cx="1008064" cy="46831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  <p:sp>
              <p:nvSpPr>
                <p:cNvPr id="1220" name="a0"/>
                <p:cNvSpPr txBox="1"/>
                <p:nvPr/>
              </p:nvSpPr>
              <p:spPr>
                <a:xfrm>
                  <a:off x="299561" y="0"/>
                  <a:ext cx="408941" cy="4894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/>
                <a:p>
                  <a:pPr marR="40640" indent="40640" algn="ctr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r>
                    <a:t>a</a:t>
                  </a:r>
                  <a:r>
                    <a:rPr baseline="-25000"/>
                    <a:t>0</a:t>
                  </a:r>
                </a:p>
              </p:txBody>
            </p:sp>
          </p:grpSp>
          <p:sp>
            <p:nvSpPr>
              <p:cNvPr id="1222" name="矩形"/>
              <p:cNvSpPr/>
              <p:nvPr/>
            </p:nvSpPr>
            <p:spPr>
              <a:xfrm>
                <a:off x="2879725" y="234949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23" name="椭圆形"/>
              <p:cNvSpPr/>
              <p:nvPr/>
            </p:nvSpPr>
            <p:spPr>
              <a:xfrm>
                <a:off x="3024187" y="450849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grpSp>
            <p:nvGrpSpPr>
              <p:cNvPr id="1226" name="成组"/>
              <p:cNvGrpSpPr/>
              <p:nvPr/>
            </p:nvGrpSpPr>
            <p:grpSpPr>
              <a:xfrm>
                <a:off x="3527425" y="225961"/>
                <a:ext cx="1008064" cy="489465"/>
                <a:chOff x="0" y="0"/>
                <a:chExt cx="1008062" cy="489463"/>
              </a:xfrm>
            </p:grpSpPr>
            <p:sp>
              <p:nvSpPr>
                <p:cNvPr id="1224" name="矩形"/>
                <p:cNvSpPr/>
                <p:nvPr/>
              </p:nvSpPr>
              <p:spPr>
                <a:xfrm>
                  <a:off x="0" y="10575"/>
                  <a:ext cx="1008064" cy="46831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  <p:sp>
              <p:nvSpPr>
                <p:cNvPr id="1225" name="a1"/>
                <p:cNvSpPr txBox="1"/>
                <p:nvPr/>
              </p:nvSpPr>
              <p:spPr>
                <a:xfrm>
                  <a:off x="299561" y="0"/>
                  <a:ext cx="408941" cy="4894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/>
                <a:p>
                  <a:pPr marR="40640" indent="40640" algn="ctr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r>
                    <a:t>a</a:t>
                  </a:r>
                  <a:r>
                    <a:rPr baseline="-25000"/>
                    <a:t>1</a:t>
                  </a:r>
                </a:p>
              </p:txBody>
            </p:sp>
          </p:grpSp>
          <p:sp>
            <p:nvSpPr>
              <p:cNvPr id="1227" name="矩形"/>
              <p:cNvSpPr/>
              <p:nvPr/>
            </p:nvSpPr>
            <p:spPr>
              <a:xfrm>
                <a:off x="4535487" y="236536"/>
                <a:ext cx="360364" cy="46831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grpSp>
            <p:nvGrpSpPr>
              <p:cNvPr id="1230" name="成组"/>
              <p:cNvGrpSpPr/>
              <p:nvPr/>
            </p:nvGrpSpPr>
            <p:grpSpPr>
              <a:xfrm>
                <a:off x="5148262" y="225961"/>
                <a:ext cx="1008064" cy="489465"/>
                <a:chOff x="0" y="0"/>
                <a:chExt cx="1008062" cy="489463"/>
              </a:xfrm>
            </p:grpSpPr>
            <p:sp>
              <p:nvSpPr>
                <p:cNvPr id="1228" name="矩形"/>
                <p:cNvSpPr/>
                <p:nvPr/>
              </p:nvSpPr>
              <p:spPr>
                <a:xfrm>
                  <a:off x="0" y="10575"/>
                  <a:ext cx="1008064" cy="46831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endParaRPr/>
                </a:p>
              </p:txBody>
            </p:sp>
            <p:sp>
              <p:nvSpPr>
                <p:cNvPr id="1229" name="a2"/>
                <p:cNvSpPr txBox="1"/>
                <p:nvPr/>
              </p:nvSpPr>
              <p:spPr>
                <a:xfrm>
                  <a:off x="299561" y="0"/>
                  <a:ext cx="408941" cy="4894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/>
                <a:p>
                  <a:pPr marR="40640" indent="40640" algn="ctr" defTabSz="914400">
                    <a:spcBef>
                      <a:spcPts val="1300"/>
                    </a:spcBef>
                    <a:defRPr sz="2400" b="1">
                      <a:uFill>
                        <a:solidFill>
                          <a:srgbClr val="000000"/>
                        </a:solidFill>
                      </a:uFill>
                    </a:defRPr>
                  </a:pPr>
                  <a:r>
                    <a:t>a</a:t>
                  </a:r>
                  <a:r>
                    <a:rPr baseline="-25000"/>
                    <a:t>2</a:t>
                  </a:r>
                </a:p>
              </p:txBody>
            </p:sp>
          </p:grpSp>
          <p:sp>
            <p:nvSpPr>
              <p:cNvPr id="1231" name="矩形"/>
              <p:cNvSpPr/>
              <p:nvPr/>
            </p:nvSpPr>
            <p:spPr>
              <a:xfrm>
                <a:off x="6156324" y="236536"/>
                <a:ext cx="360364" cy="46831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32" name="椭圆形"/>
              <p:cNvSpPr/>
              <p:nvPr/>
            </p:nvSpPr>
            <p:spPr>
              <a:xfrm>
                <a:off x="4716462" y="417511"/>
                <a:ext cx="36515" cy="71441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33" name="线条"/>
              <p:cNvSpPr/>
              <p:nvPr/>
            </p:nvSpPr>
            <p:spPr>
              <a:xfrm>
                <a:off x="542457" y="667028"/>
                <a:ext cx="539752" cy="159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34" name="线条"/>
              <p:cNvSpPr/>
              <p:nvPr/>
            </p:nvSpPr>
            <p:spPr>
              <a:xfrm>
                <a:off x="3059112" y="488949"/>
                <a:ext cx="468314" cy="158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35" name="线条"/>
              <p:cNvSpPr/>
              <p:nvPr/>
            </p:nvSpPr>
            <p:spPr>
              <a:xfrm>
                <a:off x="4752974" y="452436"/>
                <a:ext cx="395289" cy="159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36" name="矩形"/>
              <p:cNvSpPr/>
              <p:nvPr/>
            </p:nvSpPr>
            <p:spPr>
              <a:xfrm>
                <a:off x="215899" y="234949"/>
                <a:ext cx="10080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37" name="矩形"/>
              <p:cNvSpPr/>
              <p:nvPr/>
            </p:nvSpPr>
            <p:spPr>
              <a:xfrm>
                <a:off x="1223962" y="234949"/>
                <a:ext cx="360365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38" name="椭圆形"/>
              <p:cNvSpPr/>
              <p:nvPr/>
            </p:nvSpPr>
            <p:spPr>
              <a:xfrm>
                <a:off x="1368425" y="450849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39" name="线条"/>
              <p:cNvSpPr/>
              <p:nvPr/>
            </p:nvSpPr>
            <p:spPr>
              <a:xfrm>
                <a:off x="1403350" y="488949"/>
                <a:ext cx="468314" cy="158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40" name="线条"/>
              <p:cNvSpPr/>
              <p:nvPr/>
            </p:nvSpPr>
            <p:spPr>
              <a:xfrm flipV="1">
                <a:off x="6335712" y="-1"/>
                <a:ext cx="1589" cy="46672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41" name="线条"/>
              <p:cNvSpPr/>
              <p:nvPr/>
            </p:nvSpPr>
            <p:spPr>
              <a:xfrm>
                <a:off x="0" y="0"/>
                <a:ext cx="1589" cy="32385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42" name="线条"/>
              <p:cNvSpPr/>
              <p:nvPr/>
            </p:nvSpPr>
            <p:spPr>
              <a:xfrm>
                <a:off x="0" y="323849"/>
                <a:ext cx="215901" cy="158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43" name="椭圆形"/>
              <p:cNvSpPr/>
              <p:nvPr/>
            </p:nvSpPr>
            <p:spPr>
              <a:xfrm>
                <a:off x="6335712" y="466724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44" name="tail"/>
              <p:cNvSpPr txBox="1"/>
              <p:nvPr/>
            </p:nvSpPr>
            <p:spPr>
              <a:xfrm>
                <a:off x="5526026" y="1099902"/>
                <a:ext cx="544276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tail</a:t>
                </a:r>
              </a:p>
            </p:txBody>
          </p:sp>
        </p:grpSp>
        <p:grpSp>
          <p:nvGrpSpPr>
            <p:cNvPr id="1255" name="成组"/>
            <p:cNvGrpSpPr/>
            <p:nvPr/>
          </p:nvGrpSpPr>
          <p:grpSpPr>
            <a:xfrm>
              <a:off x="1668010" y="1127107"/>
              <a:ext cx="1615957" cy="1449365"/>
              <a:chOff x="0" y="0"/>
              <a:chExt cx="1615956" cy="1449364"/>
            </a:xfrm>
          </p:grpSpPr>
          <p:sp>
            <p:nvSpPr>
              <p:cNvPr id="1246" name="矩形"/>
              <p:cNvSpPr/>
              <p:nvPr/>
            </p:nvSpPr>
            <p:spPr>
              <a:xfrm>
                <a:off x="180975" y="180974"/>
                <a:ext cx="1008063" cy="46831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47" name="矩形"/>
              <p:cNvSpPr/>
              <p:nvPr/>
            </p:nvSpPr>
            <p:spPr>
              <a:xfrm>
                <a:off x="1189037" y="180974"/>
                <a:ext cx="360365" cy="46831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48" name="线条"/>
              <p:cNvSpPr/>
              <p:nvPr/>
            </p:nvSpPr>
            <p:spPr>
              <a:xfrm flipV="1">
                <a:off x="1368425" y="0"/>
                <a:ext cx="1589" cy="39528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49" name="线条"/>
              <p:cNvSpPr/>
              <p:nvPr/>
            </p:nvSpPr>
            <p:spPr>
              <a:xfrm flipH="1">
                <a:off x="0" y="0"/>
                <a:ext cx="1368427" cy="158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50" name="线条"/>
              <p:cNvSpPr/>
              <p:nvPr/>
            </p:nvSpPr>
            <p:spPr>
              <a:xfrm>
                <a:off x="0" y="0"/>
                <a:ext cx="1589" cy="32385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51" name="线条"/>
              <p:cNvSpPr/>
              <p:nvPr/>
            </p:nvSpPr>
            <p:spPr>
              <a:xfrm>
                <a:off x="0" y="323849"/>
                <a:ext cx="180977" cy="159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52" name="椭圆形"/>
              <p:cNvSpPr/>
              <p:nvPr/>
            </p:nvSpPr>
            <p:spPr>
              <a:xfrm>
                <a:off x="1331912" y="396874"/>
                <a:ext cx="36515" cy="71441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53" name="线条"/>
              <p:cNvSpPr/>
              <p:nvPr/>
            </p:nvSpPr>
            <p:spPr>
              <a:xfrm flipV="1">
                <a:off x="1355615" y="671512"/>
                <a:ext cx="1" cy="39702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54" name="tail"/>
              <p:cNvSpPr txBox="1"/>
              <p:nvPr/>
            </p:nvSpPr>
            <p:spPr>
              <a:xfrm>
                <a:off x="1071681" y="1017812"/>
                <a:ext cx="544276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40640" indent="40640" defTabSz="914400">
                  <a:spcBef>
                    <a:spcPts val="13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tail</a:t>
                </a:r>
              </a:p>
            </p:txBody>
          </p:sp>
        </p:grpSp>
        <p:sp>
          <p:nvSpPr>
            <p:cNvPr id="1256" name="形式二："/>
            <p:cNvSpPr txBox="1"/>
            <p:nvPr/>
          </p:nvSpPr>
          <p:spPr>
            <a:xfrm>
              <a:off x="0" y="0"/>
              <a:ext cx="1384300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形式二：</a:t>
              </a:r>
            </a:p>
          </p:txBody>
        </p:sp>
      </p:grpSp>
      <p:sp>
        <p:nvSpPr>
          <p:cNvPr id="1258" name="带头结点的单(向)循环链表"/>
          <p:cNvSpPr txBox="1"/>
          <p:nvPr/>
        </p:nvSpPr>
        <p:spPr>
          <a:xfrm>
            <a:off x="1047749" y="0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带头结点的单(向)循环链表</a:t>
            </a:r>
          </a:p>
        </p:txBody>
      </p:sp>
      <p:sp>
        <p:nvSpPr>
          <p:cNvPr id="1259" name="如何实现遍历？"/>
          <p:cNvSpPr txBox="1"/>
          <p:nvPr/>
        </p:nvSpPr>
        <p:spPr>
          <a:xfrm>
            <a:off x="131232" y="3583520"/>
            <a:ext cx="23368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如何实现遍历？</a:t>
            </a:r>
          </a:p>
        </p:txBody>
      </p:sp>
      <p:sp>
        <p:nvSpPr>
          <p:cNvPr id="1260" name="开始结点：p = tail.next.next"/>
          <p:cNvSpPr txBox="1"/>
          <p:nvPr/>
        </p:nvSpPr>
        <p:spPr>
          <a:xfrm>
            <a:off x="1099622" y="4232902"/>
            <a:ext cx="385593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开始结点：p = tail.next.next</a:t>
            </a:r>
          </a:p>
        </p:txBody>
      </p:sp>
      <p:sp>
        <p:nvSpPr>
          <p:cNvPr id="1261" name="结束条件：p != tail.next"/>
          <p:cNvSpPr txBox="1"/>
          <p:nvPr/>
        </p:nvSpPr>
        <p:spPr>
          <a:xfrm>
            <a:off x="1099622" y="4754797"/>
            <a:ext cx="3335655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结束条件：p != tail.next</a:t>
            </a:r>
          </a:p>
        </p:txBody>
      </p:sp>
      <p:sp>
        <p:nvSpPr>
          <p:cNvPr id="1262" name="或者：…"/>
          <p:cNvSpPr txBox="1"/>
          <p:nvPr/>
        </p:nvSpPr>
        <p:spPr>
          <a:xfrm>
            <a:off x="5250402" y="3782446"/>
            <a:ext cx="3605405" cy="1586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或者：</a:t>
            </a:r>
          </a:p>
          <a:p>
            <a:r>
              <a:t>       Node&lt;T&gt; h = tail.next;</a:t>
            </a:r>
          </a:p>
          <a:p>
            <a:r>
              <a:t>       p = h.next;</a:t>
            </a:r>
          </a:p>
          <a:p>
            <a:r>
              <a:t>       p != h;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0" grpId="1" animBg="1" advAuto="0"/>
      <p:bldP spid="1261" grpId="2" animBg="1" advAuto="0"/>
      <p:bldP spid="1262" grpId="3" animBg="1" advAuto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双向链表"/>
          <p:cNvSpPr txBox="1"/>
          <p:nvPr/>
        </p:nvSpPr>
        <p:spPr>
          <a:xfrm>
            <a:off x="755649" y="197"/>
            <a:ext cx="7688461" cy="731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7" tIns="35717" rIns="35717" bIns="35717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双向链表</a:t>
            </a:r>
          </a:p>
        </p:txBody>
      </p:sp>
      <p:sp>
        <p:nvSpPr>
          <p:cNvPr id="1265" name="一、作用：方便定位一个结点的前驱结点和后继结点"/>
          <p:cNvSpPr txBox="1"/>
          <p:nvPr/>
        </p:nvSpPr>
        <p:spPr>
          <a:xfrm>
            <a:off x="651867" y="964803"/>
            <a:ext cx="8339840" cy="541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7" tIns="35717" rIns="35717" bIns="35717">
            <a:spAutoFit/>
          </a:bodyPr>
          <a:lstStyle>
            <a:lvl1pPr marR="40640" indent="40640" defTabSz="910828">
              <a:spcBef>
                <a:spcPts val="1300"/>
              </a:spcBef>
              <a:defRPr sz="2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一、作用：方便定位一个结点的前驱结点和后继结点</a:t>
            </a:r>
          </a:p>
        </p:txBody>
      </p:sp>
      <p:sp>
        <p:nvSpPr>
          <p:cNvPr id="1266" name="二、结点的形式"/>
          <p:cNvSpPr txBox="1"/>
          <p:nvPr/>
        </p:nvSpPr>
        <p:spPr>
          <a:xfrm>
            <a:off x="642936" y="1695610"/>
            <a:ext cx="3723682" cy="541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7" tIns="35717" rIns="35717" bIns="35717">
            <a:spAutoFit/>
          </a:bodyPr>
          <a:lstStyle>
            <a:lvl1pPr marR="40640" indent="40640" defTabSz="910828">
              <a:spcBef>
                <a:spcPts val="1300"/>
              </a:spcBef>
              <a:defRPr sz="2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二、结点的形式</a:t>
            </a:r>
          </a:p>
        </p:txBody>
      </p:sp>
      <p:grpSp>
        <p:nvGrpSpPr>
          <p:cNvPr id="1274" name="成组"/>
          <p:cNvGrpSpPr/>
          <p:nvPr/>
        </p:nvGrpSpPr>
        <p:grpSpPr>
          <a:xfrm>
            <a:off x="2187573" y="2441591"/>
            <a:ext cx="3040659" cy="622559"/>
            <a:chOff x="0" y="0"/>
            <a:chExt cx="3040658" cy="622558"/>
          </a:xfrm>
        </p:grpSpPr>
        <p:grpSp>
          <p:nvGrpSpPr>
            <p:cNvPr id="1271" name="成组"/>
            <p:cNvGrpSpPr/>
            <p:nvPr/>
          </p:nvGrpSpPr>
          <p:grpSpPr>
            <a:xfrm>
              <a:off x="911224" y="0"/>
              <a:ext cx="1223371" cy="622559"/>
              <a:chOff x="0" y="0"/>
              <a:chExt cx="1223369" cy="622558"/>
            </a:xfrm>
          </p:grpSpPr>
          <p:sp>
            <p:nvSpPr>
              <p:cNvPr id="1267" name="矩形"/>
              <p:cNvSpPr/>
              <p:nvPr/>
            </p:nvSpPr>
            <p:spPr>
              <a:xfrm>
                <a:off x="0" y="6223"/>
                <a:ext cx="1223370" cy="607225"/>
              </a:xfrm>
              <a:prstGeom prst="rect">
                <a:avLst/>
              </a:prstGeom>
              <a:solidFill>
                <a:srgbClr val="CCFFCC">
                  <a:alpha val="50195"/>
                </a:srgbClr>
              </a:solidFill>
              <a:ln w="25400" cap="flat">
                <a:solidFill>
                  <a:srgbClr val="3333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0828">
                  <a:spcBef>
                    <a:spcPts val="1300"/>
                  </a:spcBef>
                  <a:defRPr sz="22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68" name="ai"/>
              <p:cNvSpPr txBox="1"/>
              <p:nvPr/>
            </p:nvSpPr>
            <p:spPr>
              <a:xfrm>
                <a:off x="399273" y="0"/>
                <a:ext cx="420655" cy="6225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35717" tIns="35717" rIns="35717" bIns="35717" numCol="1" anchor="ctr">
                <a:spAutoFit/>
              </a:bodyPr>
              <a:lstStyle/>
              <a:p>
                <a:pPr marR="40640" indent="40640" algn="ctr" defTabSz="910828">
                  <a:defRPr sz="3400" b="1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a</a:t>
                </a:r>
                <a:r>
                  <a:rPr baseline="-26116"/>
                  <a:t>i</a:t>
                </a:r>
              </a:p>
            </p:txBody>
          </p:sp>
          <p:sp>
            <p:nvSpPr>
              <p:cNvPr id="1269" name="线条"/>
              <p:cNvSpPr/>
              <p:nvPr/>
            </p:nvSpPr>
            <p:spPr>
              <a:xfrm>
                <a:off x="304800" y="6223"/>
                <a:ext cx="1589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270" name="线条"/>
              <p:cNvSpPr/>
              <p:nvPr/>
            </p:nvSpPr>
            <p:spPr>
              <a:xfrm>
                <a:off x="914400" y="6223"/>
                <a:ext cx="1590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sp>
          <p:nvSpPr>
            <p:cNvPr id="1272" name="线条"/>
            <p:cNvSpPr/>
            <p:nvPr/>
          </p:nvSpPr>
          <p:spPr>
            <a:xfrm>
              <a:off x="1978025" y="311024"/>
              <a:ext cx="1062634" cy="1589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273" name="线条"/>
            <p:cNvSpPr/>
            <p:nvPr/>
          </p:nvSpPr>
          <p:spPr>
            <a:xfrm flipH="1">
              <a:off x="0" y="328486"/>
              <a:ext cx="1022351" cy="1589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1275" name="线条"/>
          <p:cNvSpPr/>
          <p:nvPr/>
        </p:nvSpPr>
        <p:spPr>
          <a:xfrm>
            <a:off x="6506520" y="4832380"/>
            <a:ext cx="1001714" cy="1590"/>
          </a:xfrm>
          <a:prstGeom prst="line">
            <a:avLst/>
          </a:prstGeom>
          <a:ln w="38100">
            <a:solidFill>
              <a:srgbClr val="333399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276" name="线条"/>
          <p:cNvSpPr/>
          <p:nvPr/>
        </p:nvSpPr>
        <p:spPr>
          <a:xfrm flipH="1">
            <a:off x="6030865" y="4170393"/>
            <a:ext cx="1665290" cy="1589"/>
          </a:xfrm>
          <a:prstGeom prst="line">
            <a:avLst/>
          </a:prstGeom>
          <a:ln w="38100">
            <a:solidFill>
              <a:srgbClr val="993300"/>
            </a:solidFill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277" name="线条"/>
          <p:cNvSpPr/>
          <p:nvPr/>
        </p:nvSpPr>
        <p:spPr>
          <a:xfrm flipV="1">
            <a:off x="7690597" y="4171980"/>
            <a:ext cx="1589" cy="660799"/>
          </a:xfrm>
          <a:prstGeom prst="line">
            <a:avLst/>
          </a:prstGeom>
          <a:ln w="38100">
            <a:solidFill>
              <a:srgbClr val="993300"/>
            </a:solidFill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278" name="线条"/>
          <p:cNvSpPr/>
          <p:nvPr/>
        </p:nvSpPr>
        <p:spPr>
          <a:xfrm>
            <a:off x="6030865" y="4171980"/>
            <a:ext cx="1590" cy="395290"/>
          </a:xfrm>
          <a:prstGeom prst="line">
            <a:avLst/>
          </a:prstGeom>
          <a:ln w="38100">
            <a:solidFill>
              <a:srgbClr val="9933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279" name="线条"/>
          <p:cNvSpPr/>
          <p:nvPr/>
        </p:nvSpPr>
        <p:spPr>
          <a:xfrm flipV="1">
            <a:off x="5452222" y="4171980"/>
            <a:ext cx="1589" cy="660799"/>
          </a:xfrm>
          <a:prstGeom prst="line">
            <a:avLst/>
          </a:prstGeom>
          <a:ln w="38100">
            <a:solidFill>
              <a:srgbClr val="993300"/>
            </a:solidFill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280" name="线条"/>
          <p:cNvSpPr/>
          <p:nvPr/>
        </p:nvSpPr>
        <p:spPr>
          <a:xfrm flipH="1">
            <a:off x="3785347" y="4159280"/>
            <a:ext cx="1679577" cy="1590"/>
          </a:xfrm>
          <a:prstGeom prst="line">
            <a:avLst/>
          </a:prstGeom>
          <a:ln w="38100">
            <a:solidFill>
              <a:srgbClr val="993300"/>
            </a:solidFill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281" name="线条"/>
          <p:cNvSpPr/>
          <p:nvPr/>
        </p:nvSpPr>
        <p:spPr>
          <a:xfrm>
            <a:off x="3798047" y="4171980"/>
            <a:ext cx="1589" cy="395290"/>
          </a:xfrm>
          <a:prstGeom prst="line">
            <a:avLst/>
          </a:prstGeom>
          <a:ln w="38100">
            <a:solidFill>
              <a:srgbClr val="9933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282" name="线条"/>
          <p:cNvSpPr/>
          <p:nvPr/>
        </p:nvSpPr>
        <p:spPr>
          <a:xfrm flipV="1">
            <a:off x="8087473" y="5099279"/>
            <a:ext cx="1589" cy="252414"/>
          </a:xfrm>
          <a:prstGeom prst="line">
            <a:avLst/>
          </a:prstGeom>
          <a:ln w="38100">
            <a:solidFill>
              <a:srgbClr val="9933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283" name="线条"/>
          <p:cNvSpPr/>
          <p:nvPr/>
        </p:nvSpPr>
        <p:spPr>
          <a:xfrm>
            <a:off x="4394947" y="4832380"/>
            <a:ext cx="936627" cy="1590"/>
          </a:xfrm>
          <a:prstGeom prst="line">
            <a:avLst/>
          </a:prstGeom>
          <a:ln w="38100">
            <a:solidFill>
              <a:srgbClr val="333399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284" name="矩形"/>
          <p:cNvSpPr/>
          <p:nvPr/>
        </p:nvSpPr>
        <p:spPr>
          <a:xfrm>
            <a:off x="449811" y="4277748"/>
            <a:ext cx="1759150" cy="1634134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  <a:custDash>
              <a:ds d="200000" sp="200000"/>
            </a:custDash>
          </a:ln>
        </p:spPr>
        <p:txBody>
          <a:bodyPr lIns="50800" tIns="50800" rIns="50800" bIns="50800" anchor="ctr"/>
          <a:lstStyle/>
          <a:p>
            <a:pPr marR="40640" indent="40640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285" name="first"/>
          <p:cNvSpPr txBox="1"/>
          <p:nvPr/>
        </p:nvSpPr>
        <p:spPr>
          <a:xfrm>
            <a:off x="760796" y="4667876"/>
            <a:ext cx="621231" cy="389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7" tIns="35717" rIns="35717" bIns="35717">
            <a:spAutoFit/>
          </a:bodyPr>
          <a:lstStyle>
            <a:lvl1pPr marR="40640" indent="40640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first</a:t>
            </a:r>
          </a:p>
        </p:txBody>
      </p:sp>
      <p:sp>
        <p:nvSpPr>
          <p:cNvPr id="1286" name="last"/>
          <p:cNvSpPr txBox="1"/>
          <p:nvPr/>
        </p:nvSpPr>
        <p:spPr>
          <a:xfrm>
            <a:off x="774913" y="5225956"/>
            <a:ext cx="543877" cy="389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7" tIns="35717" rIns="35717" bIns="35717">
            <a:spAutoFit/>
          </a:bodyPr>
          <a:lstStyle>
            <a:lvl1pPr marR="40640" indent="40640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last</a:t>
            </a:r>
          </a:p>
        </p:txBody>
      </p:sp>
      <p:sp>
        <p:nvSpPr>
          <p:cNvPr id="1287" name="线条"/>
          <p:cNvSpPr/>
          <p:nvPr/>
        </p:nvSpPr>
        <p:spPr>
          <a:xfrm>
            <a:off x="2073823" y="5367170"/>
            <a:ext cx="6013650" cy="138"/>
          </a:xfrm>
          <a:prstGeom prst="line">
            <a:avLst/>
          </a:prstGeom>
          <a:ln w="38100">
            <a:solidFill>
              <a:srgbClr val="993300"/>
            </a:solidFill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288" name="线条"/>
          <p:cNvSpPr/>
          <p:nvPr/>
        </p:nvSpPr>
        <p:spPr>
          <a:xfrm flipV="1">
            <a:off x="2075410" y="4833909"/>
            <a:ext cx="1127326" cy="7304"/>
          </a:xfrm>
          <a:prstGeom prst="line">
            <a:avLst/>
          </a:prstGeom>
          <a:ln w="38100">
            <a:solidFill>
              <a:srgbClr val="333399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1293" name="成组"/>
          <p:cNvGrpSpPr/>
          <p:nvPr/>
        </p:nvGrpSpPr>
        <p:grpSpPr>
          <a:xfrm>
            <a:off x="7498806" y="4522512"/>
            <a:ext cx="1223371" cy="622559"/>
            <a:chOff x="0" y="5"/>
            <a:chExt cx="1223369" cy="622558"/>
          </a:xfrm>
        </p:grpSpPr>
        <p:sp>
          <p:nvSpPr>
            <p:cNvPr id="1289" name="矩形"/>
            <p:cNvSpPr/>
            <p:nvPr/>
          </p:nvSpPr>
          <p:spPr>
            <a:xfrm>
              <a:off x="0" y="6223"/>
              <a:ext cx="1223370" cy="607225"/>
            </a:xfrm>
            <a:prstGeom prst="rect">
              <a:avLst/>
            </a:prstGeom>
            <a:solidFill>
              <a:srgbClr val="CCFFCC">
                <a:alpha val="50195"/>
              </a:srgbClr>
            </a:solidFill>
            <a:ln w="25400" cap="flat">
              <a:solidFill>
                <a:srgbClr val="3333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290" name="a2"/>
            <p:cNvSpPr txBox="1"/>
            <p:nvPr/>
          </p:nvSpPr>
          <p:spPr>
            <a:xfrm>
              <a:off x="367297" y="5"/>
              <a:ext cx="484611" cy="6225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7" tIns="35717" rIns="35717" bIns="35717" numCol="1" anchor="ctr">
              <a:spAutoFit/>
            </a:bodyPr>
            <a:lstStyle/>
            <a:p>
              <a:pPr marR="40640" indent="40640" algn="ctr" defTabSz="910828">
                <a:defRPr sz="3400" b="1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a</a:t>
              </a:r>
              <a:r>
                <a:rPr baseline="-26116"/>
                <a:t>2</a:t>
              </a:r>
            </a:p>
          </p:txBody>
        </p:sp>
        <p:sp>
          <p:nvSpPr>
            <p:cNvPr id="1291" name="线条"/>
            <p:cNvSpPr/>
            <p:nvPr/>
          </p:nvSpPr>
          <p:spPr>
            <a:xfrm>
              <a:off x="304800" y="6223"/>
              <a:ext cx="1589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292" name="线条"/>
            <p:cNvSpPr/>
            <p:nvPr/>
          </p:nvSpPr>
          <p:spPr>
            <a:xfrm>
              <a:off x="914400" y="6223"/>
              <a:ext cx="1590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1298" name="成组"/>
          <p:cNvGrpSpPr/>
          <p:nvPr/>
        </p:nvGrpSpPr>
        <p:grpSpPr>
          <a:xfrm>
            <a:off x="5284907" y="4534563"/>
            <a:ext cx="1223371" cy="622559"/>
            <a:chOff x="0" y="5"/>
            <a:chExt cx="1223369" cy="622558"/>
          </a:xfrm>
        </p:grpSpPr>
        <p:sp>
          <p:nvSpPr>
            <p:cNvPr id="1294" name="矩形"/>
            <p:cNvSpPr/>
            <p:nvPr/>
          </p:nvSpPr>
          <p:spPr>
            <a:xfrm>
              <a:off x="0" y="6223"/>
              <a:ext cx="1223370" cy="607225"/>
            </a:xfrm>
            <a:prstGeom prst="rect">
              <a:avLst/>
            </a:prstGeom>
            <a:solidFill>
              <a:srgbClr val="CCFFCC">
                <a:alpha val="50195"/>
              </a:srgbClr>
            </a:solidFill>
            <a:ln w="25400" cap="flat">
              <a:solidFill>
                <a:srgbClr val="3333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295" name="a1"/>
            <p:cNvSpPr txBox="1"/>
            <p:nvPr/>
          </p:nvSpPr>
          <p:spPr>
            <a:xfrm>
              <a:off x="367297" y="5"/>
              <a:ext cx="484611" cy="6225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7" tIns="35717" rIns="35717" bIns="35717" numCol="1" anchor="ctr">
              <a:spAutoFit/>
            </a:bodyPr>
            <a:lstStyle/>
            <a:p>
              <a:pPr marR="40640" indent="40640" algn="ctr" defTabSz="910828">
                <a:defRPr sz="3400" b="1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a</a:t>
              </a:r>
              <a:r>
                <a:rPr baseline="-26116"/>
                <a:t>1</a:t>
              </a:r>
            </a:p>
          </p:txBody>
        </p:sp>
        <p:sp>
          <p:nvSpPr>
            <p:cNvPr id="1296" name="线条"/>
            <p:cNvSpPr/>
            <p:nvPr/>
          </p:nvSpPr>
          <p:spPr>
            <a:xfrm>
              <a:off x="304800" y="6223"/>
              <a:ext cx="1589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297" name="线条"/>
            <p:cNvSpPr/>
            <p:nvPr/>
          </p:nvSpPr>
          <p:spPr>
            <a:xfrm>
              <a:off x="914400" y="6223"/>
              <a:ext cx="1590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1303" name="成组"/>
          <p:cNvGrpSpPr/>
          <p:nvPr/>
        </p:nvGrpSpPr>
        <p:grpSpPr>
          <a:xfrm>
            <a:off x="3173774" y="4545972"/>
            <a:ext cx="1223371" cy="622559"/>
            <a:chOff x="0" y="5"/>
            <a:chExt cx="1223369" cy="622558"/>
          </a:xfrm>
        </p:grpSpPr>
        <p:sp>
          <p:nvSpPr>
            <p:cNvPr id="1299" name="矩形"/>
            <p:cNvSpPr/>
            <p:nvPr/>
          </p:nvSpPr>
          <p:spPr>
            <a:xfrm>
              <a:off x="0" y="6223"/>
              <a:ext cx="1223370" cy="607225"/>
            </a:xfrm>
            <a:prstGeom prst="rect">
              <a:avLst/>
            </a:prstGeom>
            <a:solidFill>
              <a:srgbClr val="CCFFCC">
                <a:alpha val="50195"/>
              </a:srgbClr>
            </a:solidFill>
            <a:ln w="25400" cap="flat">
              <a:solidFill>
                <a:srgbClr val="3333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00" name="a0"/>
            <p:cNvSpPr txBox="1"/>
            <p:nvPr/>
          </p:nvSpPr>
          <p:spPr>
            <a:xfrm>
              <a:off x="367297" y="5"/>
              <a:ext cx="484611" cy="6225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7" tIns="35717" rIns="35717" bIns="35717" numCol="1" anchor="ctr">
              <a:spAutoFit/>
            </a:bodyPr>
            <a:lstStyle/>
            <a:p>
              <a:pPr marR="40640" indent="40640" algn="ctr" defTabSz="910828">
                <a:defRPr sz="3400" b="1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a</a:t>
              </a:r>
              <a:r>
                <a:rPr baseline="-26116"/>
                <a:t>0</a:t>
              </a:r>
            </a:p>
          </p:txBody>
        </p:sp>
        <p:sp>
          <p:nvSpPr>
            <p:cNvPr id="1301" name="线条"/>
            <p:cNvSpPr/>
            <p:nvPr/>
          </p:nvSpPr>
          <p:spPr>
            <a:xfrm>
              <a:off x="304800" y="6223"/>
              <a:ext cx="1589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02" name="线条"/>
            <p:cNvSpPr/>
            <p:nvPr/>
          </p:nvSpPr>
          <p:spPr>
            <a:xfrm>
              <a:off x="914400" y="6223"/>
              <a:ext cx="1590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1306" name="成组"/>
          <p:cNvGrpSpPr/>
          <p:nvPr/>
        </p:nvGrpSpPr>
        <p:grpSpPr>
          <a:xfrm>
            <a:off x="8497359" y="4686475"/>
            <a:ext cx="156569" cy="232175"/>
            <a:chOff x="0" y="0"/>
            <a:chExt cx="156567" cy="232174"/>
          </a:xfrm>
        </p:grpSpPr>
        <p:sp>
          <p:nvSpPr>
            <p:cNvPr id="1304" name="线条"/>
            <p:cNvSpPr/>
            <p:nvPr/>
          </p:nvSpPr>
          <p:spPr>
            <a:xfrm flipH="1">
              <a:off x="-1" y="-1"/>
              <a:ext cx="80369" cy="23217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05" name="线条"/>
            <p:cNvSpPr/>
            <p:nvPr/>
          </p:nvSpPr>
          <p:spPr>
            <a:xfrm>
              <a:off x="76198" y="-1"/>
              <a:ext cx="80370" cy="23217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1309" name="成组"/>
          <p:cNvGrpSpPr/>
          <p:nvPr/>
        </p:nvGrpSpPr>
        <p:grpSpPr>
          <a:xfrm>
            <a:off x="3265480" y="4717691"/>
            <a:ext cx="156569" cy="232175"/>
            <a:chOff x="0" y="0"/>
            <a:chExt cx="156567" cy="232174"/>
          </a:xfrm>
        </p:grpSpPr>
        <p:sp>
          <p:nvSpPr>
            <p:cNvPr id="1307" name="线条"/>
            <p:cNvSpPr/>
            <p:nvPr/>
          </p:nvSpPr>
          <p:spPr>
            <a:xfrm flipH="1">
              <a:off x="-1" y="-1"/>
              <a:ext cx="80369" cy="23217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08" name="线条"/>
            <p:cNvSpPr/>
            <p:nvPr/>
          </p:nvSpPr>
          <p:spPr>
            <a:xfrm>
              <a:off x="76198" y="-1"/>
              <a:ext cx="80370" cy="23217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1310" name="三、链表的形式"/>
          <p:cNvSpPr txBox="1"/>
          <p:nvPr/>
        </p:nvSpPr>
        <p:spPr>
          <a:xfrm>
            <a:off x="616610" y="3268537"/>
            <a:ext cx="3723681" cy="541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7" tIns="35717" rIns="35717" bIns="35717">
            <a:spAutoFit/>
          </a:bodyPr>
          <a:lstStyle>
            <a:lvl1pPr marR="40640" indent="40640" defTabSz="910828">
              <a:spcBef>
                <a:spcPts val="1300"/>
              </a:spcBef>
              <a:defRPr sz="2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三、链表的形式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双向链表"/>
          <p:cNvSpPr txBox="1"/>
          <p:nvPr/>
        </p:nvSpPr>
        <p:spPr>
          <a:xfrm>
            <a:off x="755649" y="197"/>
            <a:ext cx="7688461" cy="731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7" tIns="35717" rIns="35717" bIns="35717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双向链表</a:t>
            </a:r>
          </a:p>
        </p:txBody>
      </p:sp>
      <p:grpSp>
        <p:nvGrpSpPr>
          <p:cNvPr id="1330" name="成组"/>
          <p:cNvGrpSpPr/>
          <p:nvPr/>
        </p:nvGrpSpPr>
        <p:grpSpPr>
          <a:xfrm>
            <a:off x="3498702" y="978097"/>
            <a:ext cx="4653561" cy="2218209"/>
            <a:chOff x="0" y="0"/>
            <a:chExt cx="4653560" cy="2218208"/>
          </a:xfrm>
        </p:grpSpPr>
        <p:sp>
          <p:nvSpPr>
            <p:cNvPr id="1313" name="线条"/>
            <p:cNvSpPr/>
            <p:nvPr/>
          </p:nvSpPr>
          <p:spPr>
            <a:xfrm flipV="1">
              <a:off x="3383803" y="877165"/>
              <a:ext cx="1589" cy="252414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14" name="矩形"/>
            <p:cNvSpPr/>
            <p:nvPr/>
          </p:nvSpPr>
          <p:spPr>
            <a:xfrm>
              <a:off x="0" y="0"/>
              <a:ext cx="1759150" cy="1634134"/>
            </a:xfrm>
            <a:prstGeom prst="rect">
              <a:avLst/>
            </a:prstGeom>
            <a:solidFill>
              <a:srgbClr val="FFFFFF"/>
            </a:solidFill>
            <a:ln w="3175" cap="flat">
              <a:solidFill>
                <a:srgbClr val="000000"/>
              </a:solidFill>
              <a:custDash>
                <a:ds d="200000" sp="200000"/>
              </a:custDash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15" name="first"/>
            <p:cNvSpPr/>
            <p:nvPr/>
          </p:nvSpPr>
          <p:spPr>
            <a:xfrm>
              <a:off x="310984" y="39012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7" tIns="35717" rIns="35717" bIns="35717" numCol="1" anchor="t">
              <a:spAutoFit/>
            </a:bodyPr>
            <a:lstStyle>
              <a:lvl1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first</a:t>
              </a:r>
            </a:p>
          </p:txBody>
        </p:sp>
        <p:sp>
          <p:nvSpPr>
            <p:cNvPr id="1316" name="last"/>
            <p:cNvSpPr/>
            <p:nvPr/>
          </p:nvSpPr>
          <p:spPr>
            <a:xfrm>
              <a:off x="325101" y="9482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7" tIns="35717" rIns="35717" bIns="35717" numCol="1" anchor="t">
              <a:spAutoFit/>
            </a:bodyPr>
            <a:lstStyle>
              <a:lvl1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last</a:t>
              </a:r>
            </a:p>
          </p:txBody>
        </p:sp>
        <p:sp>
          <p:nvSpPr>
            <p:cNvPr id="1317" name="线条"/>
            <p:cNvSpPr/>
            <p:nvPr/>
          </p:nvSpPr>
          <p:spPr>
            <a:xfrm>
              <a:off x="1624011" y="1127521"/>
              <a:ext cx="1762325" cy="1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18" name="线条"/>
            <p:cNvSpPr/>
            <p:nvPr/>
          </p:nvSpPr>
          <p:spPr>
            <a:xfrm flipV="1">
              <a:off x="1625599" y="556160"/>
              <a:ext cx="1127326" cy="7304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323" name="成组"/>
            <p:cNvGrpSpPr/>
            <p:nvPr/>
          </p:nvGrpSpPr>
          <p:grpSpPr>
            <a:xfrm>
              <a:off x="2773958" y="279949"/>
              <a:ext cx="1879603" cy="1575057"/>
              <a:chOff x="0" y="6223"/>
              <a:chExt cx="1879602" cy="1575056"/>
            </a:xfrm>
          </p:grpSpPr>
          <p:sp>
            <p:nvSpPr>
              <p:cNvPr id="1319" name="矩形"/>
              <p:cNvSpPr/>
              <p:nvPr/>
            </p:nvSpPr>
            <p:spPr>
              <a:xfrm>
                <a:off x="0" y="6223"/>
                <a:ext cx="1223370" cy="607225"/>
              </a:xfrm>
              <a:prstGeom prst="rect">
                <a:avLst/>
              </a:prstGeom>
              <a:solidFill>
                <a:srgbClr val="CCFFCC">
                  <a:alpha val="50195"/>
                </a:srgbClr>
              </a:solidFill>
              <a:ln w="25400" cap="flat">
                <a:solidFill>
                  <a:srgbClr val="3333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0828">
                  <a:spcBef>
                    <a:spcPts val="1300"/>
                  </a:spcBef>
                  <a:defRPr sz="22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320" name="a0"/>
              <p:cNvSpPr/>
              <p:nvPr/>
            </p:nvSpPr>
            <p:spPr>
              <a:xfrm>
                <a:off x="609602" y="31127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35717" tIns="35717" rIns="35717" bIns="35717" numCol="1" anchor="ctr">
                <a:spAutoFit/>
              </a:bodyPr>
              <a:lstStyle/>
              <a:p>
                <a:pPr marR="40640" indent="40640" algn="ctr" defTabSz="910828">
                  <a:defRPr sz="3400" b="1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a</a:t>
                </a:r>
                <a:r>
                  <a:rPr baseline="-26116"/>
                  <a:t>0</a:t>
                </a:r>
              </a:p>
            </p:txBody>
          </p:sp>
          <p:sp>
            <p:nvSpPr>
              <p:cNvPr id="1321" name="线条"/>
              <p:cNvSpPr/>
              <p:nvPr/>
            </p:nvSpPr>
            <p:spPr>
              <a:xfrm>
                <a:off x="304800" y="6223"/>
                <a:ext cx="1589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322" name="线条"/>
              <p:cNvSpPr/>
              <p:nvPr/>
            </p:nvSpPr>
            <p:spPr>
              <a:xfrm>
                <a:off x="914400" y="6223"/>
                <a:ext cx="1590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1326" name="成组"/>
            <p:cNvGrpSpPr/>
            <p:nvPr/>
          </p:nvGrpSpPr>
          <p:grpSpPr>
            <a:xfrm>
              <a:off x="3772511" y="437695"/>
              <a:ext cx="156569" cy="232175"/>
              <a:chOff x="0" y="0"/>
              <a:chExt cx="156567" cy="232174"/>
            </a:xfrm>
          </p:grpSpPr>
          <p:sp>
            <p:nvSpPr>
              <p:cNvPr id="1324" name="线条"/>
              <p:cNvSpPr/>
              <p:nvPr/>
            </p:nvSpPr>
            <p:spPr>
              <a:xfrm flipH="1">
                <a:off x="-1" y="-1"/>
                <a:ext cx="80369" cy="23217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325" name="线条"/>
              <p:cNvSpPr/>
              <p:nvPr/>
            </p:nvSpPr>
            <p:spPr>
              <a:xfrm>
                <a:off x="76198" y="-1"/>
                <a:ext cx="80370" cy="23217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1329" name="成组"/>
            <p:cNvGrpSpPr/>
            <p:nvPr/>
          </p:nvGrpSpPr>
          <p:grpSpPr>
            <a:xfrm>
              <a:off x="2845410" y="437695"/>
              <a:ext cx="156569" cy="232175"/>
              <a:chOff x="0" y="0"/>
              <a:chExt cx="156567" cy="232174"/>
            </a:xfrm>
          </p:grpSpPr>
          <p:sp>
            <p:nvSpPr>
              <p:cNvPr id="1327" name="线条"/>
              <p:cNvSpPr/>
              <p:nvPr/>
            </p:nvSpPr>
            <p:spPr>
              <a:xfrm flipH="1">
                <a:off x="-1" y="-1"/>
                <a:ext cx="80369" cy="23217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328" name="线条"/>
              <p:cNvSpPr/>
              <p:nvPr/>
            </p:nvSpPr>
            <p:spPr>
              <a:xfrm>
                <a:off x="76198" y="-1"/>
                <a:ext cx="80370" cy="23217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</p:grpSp>
      <p:sp>
        <p:nvSpPr>
          <p:cNvPr id="1331" name="只有1个结点："/>
          <p:cNvSpPr txBox="1"/>
          <p:nvPr/>
        </p:nvSpPr>
        <p:spPr>
          <a:xfrm>
            <a:off x="514571" y="978097"/>
            <a:ext cx="217805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只有1个结点：</a:t>
            </a:r>
          </a:p>
        </p:txBody>
      </p:sp>
      <p:sp>
        <p:nvSpPr>
          <p:cNvPr id="1332" name="空表："/>
          <p:cNvSpPr txBox="1"/>
          <p:nvPr/>
        </p:nvSpPr>
        <p:spPr>
          <a:xfrm>
            <a:off x="514571" y="3023910"/>
            <a:ext cx="10668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空表：</a:t>
            </a:r>
          </a:p>
        </p:txBody>
      </p:sp>
      <p:sp>
        <p:nvSpPr>
          <p:cNvPr id="1333" name="矩形"/>
          <p:cNvSpPr/>
          <p:nvPr/>
        </p:nvSpPr>
        <p:spPr>
          <a:xfrm>
            <a:off x="3492544" y="2862134"/>
            <a:ext cx="1759150" cy="1634134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  <a:custDash>
              <a:ds d="200000" sp="200000"/>
            </a:custDash>
          </a:ln>
        </p:spPr>
        <p:txBody>
          <a:bodyPr lIns="50800" tIns="50800" rIns="50800" bIns="50800" anchor="ctr"/>
          <a:lstStyle/>
          <a:p>
            <a:pPr marR="40640" indent="40640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34" name="first = null"/>
          <p:cNvSpPr txBox="1"/>
          <p:nvPr/>
        </p:nvSpPr>
        <p:spPr>
          <a:xfrm>
            <a:off x="3803529" y="3252261"/>
            <a:ext cx="1386170" cy="389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7" tIns="35717" rIns="35717" bIns="35717">
            <a:spAutoFit/>
          </a:bodyPr>
          <a:lstStyle>
            <a:lvl1pPr marR="40640" indent="40640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first = null</a:t>
            </a:r>
          </a:p>
        </p:txBody>
      </p:sp>
      <p:sp>
        <p:nvSpPr>
          <p:cNvPr id="1335" name="last = null"/>
          <p:cNvSpPr txBox="1"/>
          <p:nvPr/>
        </p:nvSpPr>
        <p:spPr>
          <a:xfrm>
            <a:off x="3817646" y="3810342"/>
            <a:ext cx="1308817" cy="389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7" tIns="35717" rIns="35717" bIns="35717">
            <a:spAutoFit/>
          </a:bodyPr>
          <a:lstStyle>
            <a:lvl1pPr marR="40640" indent="40640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last = null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课堂练习：给出Node&lt;T&gt;的定义"/>
          <p:cNvSpPr txBox="1"/>
          <p:nvPr/>
        </p:nvSpPr>
        <p:spPr>
          <a:xfrm>
            <a:off x="755649" y="25597"/>
            <a:ext cx="7688461" cy="681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7" tIns="35717" rIns="35717" bIns="35717">
            <a:spAutoFit/>
          </a:bodyPr>
          <a:lstStyle>
            <a:lvl1pPr indent="40640" algn="ctr" defTabSz="584200">
              <a:defRPr sz="34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课堂练习：给出Node&lt;T&gt;的定义</a:t>
            </a:r>
          </a:p>
        </p:txBody>
      </p:sp>
      <p:sp>
        <p:nvSpPr>
          <p:cNvPr id="1338" name="private static class Node&lt;T&gt; {…"/>
          <p:cNvSpPr txBox="1"/>
          <p:nvPr/>
        </p:nvSpPr>
        <p:spPr>
          <a:xfrm>
            <a:off x="459717" y="1040739"/>
            <a:ext cx="8192816" cy="3852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T 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Node&lt;T&gt; 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Node&lt;T&gt; </a:t>
            </a:r>
            <a:r>
              <a:rPr>
                <a:solidFill>
                  <a:srgbClr val="0326CC"/>
                </a:solidFill>
              </a:rPr>
              <a:t>prev</a:t>
            </a:r>
            <a: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endParaRPr/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Node(Node&lt;T&gt; </a:t>
            </a:r>
            <a:r>
              <a:rPr>
                <a:solidFill>
                  <a:srgbClr val="7E504F"/>
                </a:solidFill>
              </a:rPr>
              <a:t>prev</a:t>
            </a:r>
            <a:r>
              <a:t>, T </a:t>
            </a:r>
            <a:r>
              <a:rPr>
                <a:solidFill>
                  <a:srgbClr val="7E504F"/>
                </a:solidFill>
              </a:rPr>
              <a:t>element</a:t>
            </a:r>
            <a:r>
              <a:t>, Node&lt;T&gt; </a:t>
            </a:r>
            <a:r>
              <a:rPr>
                <a:solidFill>
                  <a:srgbClr val="7E504F"/>
                </a:solidFill>
              </a:rPr>
              <a:t>next</a:t>
            </a:r>
            <a:r>
              <a:t>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 = </a:t>
            </a:r>
            <a:r>
              <a:rPr>
                <a:solidFill>
                  <a:srgbClr val="7E504F"/>
                </a:solidFill>
              </a:rPr>
              <a:t>element</a:t>
            </a:r>
            <a: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next</a:t>
            </a:r>
            <a: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.</a:t>
            </a:r>
            <a:r>
              <a:rPr>
                <a:solidFill>
                  <a:srgbClr val="0326CC"/>
                </a:solidFill>
              </a:rPr>
              <a:t>prev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prev</a:t>
            </a:r>
            <a: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8" grpId="1" animBg="1" advAuto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课堂练习：给出DoublelyLinkedList的定义"/>
          <p:cNvSpPr txBox="1"/>
          <p:nvPr/>
        </p:nvSpPr>
        <p:spPr>
          <a:xfrm>
            <a:off x="711894" y="144265"/>
            <a:ext cx="7688462" cy="57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7" tIns="35717" rIns="35717" bIns="35717">
            <a:spAutoFit/>
          </a:bodyPr>
          <a:lstStyle>
            <a:lvl1pPr indent="40640" algn="ctr" defTabSz="584200">
              <a:defRPr sz="28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课堂练习：给出DoublelyLinkedList的定义</a:t>
            </a:r>
          </a:p>
        </p:txBody>
      </p:sp>
      <p:sp>
        <p:nvSpPr>
          <p:cNvPr id="1341" name="public class DoublelyLinkedList&lt;T&gt; implements Ilist&lt;T&gt;, Iterable&lt;T&gt;{…"/>
          <p:cNvSpPr txBox="1"/>
          <p:nvPr/>
        </p:nvSpPr>
        <p:spPr>
          <a:xfrm>
            <a:off x="396774" y="952697"/>
            <a:ext cx="8406211" cy="5151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DoublelyLinkedList&lt;T&gt;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Ilist&lt;T&gt;, Iterable&lt;T&gt;{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Node&lt;T&gt; </a:t>
            </a:r>
            <a:r>
              <a:rPr>
                <a:solidFill>
                  <a:srgbClr val="0326CC"/>
                </a:solidFill>
              </a:rPr>
              <a:t>first</a:t>
            </a:r>
            <a:r>
              <a:t>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Node&lt;T&gt; </a:t>
            </a:r>
            <a:r>
              <a:rPr>
                <a:solidFill>
                  <a:srgbClr val="0326CC"/>
                </a:solidFill>
              </a:rPr>
              <a:t>last</a:t>
            </a:r>
            <a:r>
              <a:t>;</a:t>
            </a:r>
          </a:p>
          <a:p>
            <a:pPr>
              <a:defRPr sz="16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size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 {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T 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0326CC"/>
                </a:solidFill>
              </a:rPr>
              <a:t>prev</a:t>
            </a:r>
            <a:r>
              <a:t>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endParaRPr/>
          </a:p>
          <a:p>
            <a:pPr>
              <a:defRPr sz="1600" u="sng">
                <a:latin typeface="Monaco"/>
                <a:ea typeface="Monaco"/>
                <a:cs typeface="Monaco"/>
                <a:sym typeface="Monaco"/>
              </a:defRPr>
            </a:pPr>
            <a:r>
              <a:rPr u="none"/>
              <a:t>		Node(Node&lt;T&gt; </a:t>
            </a:r>
            <a:r>
              <a:rPr u="none">
                <a:solidFill>
                  <a:srgbClr val="7E504F"/>
                </a:solidFill>
              </a:rPr>
              <a:t>prev</a:t>
            </a:r>
            <a:r>
              <a:rPr u="none"/>
              <a:t>, T </a:t>
            </a:r>
            <a:r>
              <a:rPr u="none">
                <a:solidFill>
                  <a:srgbClr val="7E504F"/>
                </a:solidFill>
              </a:rPr>
              <a:t>element</a:t>
            </a:r>
            <a:r>
              <a:rPr u="none"/>
              <a:t>, Node&lt;T&gt; </a:t>
            </a:r>
            <a:r>
              <a:rPr u="none">
                <a:solidFill>
                  <a:srgbClr val="7E504F"/>
                </a:solidFill>
              </a:rPr>
              <a:t>next</a:t>
            </a:r>
            <a:r>
              <a:rPr u="none"/>
              <a:t>) {</a:t>
            </a:r>
          </a:p>
          <a:p>
            <a:pPr>
              <a:defRPr sz="16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t>element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6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6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prev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prev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…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" grpId="1" animBg="1" advAuto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add(int index T x)"/>
          <p:cNvSpPr txBox="1"/>
          <p:nvPr/>
        </p:nvSpPr>
        <p:spPr>
          <a:xfrm>
            <a:off x="755648" y="151803"/>
            <a:ext cx="7929565" cy="597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7" tIns="35717" rIns="35717" bIns="35717">
            <a:spAutoFit/>
          </a:bodyPr>
          <a:lstStyle/>
          <a:p>
            <a: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pPr>
            <a:r>
              <a:t>add(int </a:t>
            </a:r>
            <a:r>
              <a:rPr>
                <a:solidFill>
                  <a:schemeClr val="accent5"/>
                </a:solidFill>
              </a:rPr>
              <a:t>i</a:t>
            </a:r>
            <a:r>
              <a:t>ndex T x)</a:t>
            </a:r>
          </a:p>
        </p:txBody>
      </p:sp>
      <p:sp>
        <p:nvSpPr>
          <p:cNvPr id="1344" name="线条"/>
          <p:cNvSpPr/>
          <p:nvPr/>
        </p:nvSpPr>
        <p:spPr>
          <a:xfrm>
            <a:off x="2014536" y="2381249"/>
            <a:ext cx="687588" cy="1589"/>
          </a:xfrm>
          <a:prstGeom prst="line">
            <a:avLst/>
          </a:prstGeom>
          <a:ln w="38100">
            <a:solidFill>
              <a:srgbClr val="333399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45" name="线条"/>
          <p:cNvSpPr/>
          <p:nvPr/>
        </p:nvSpPr>
        <p:spPr>
          <a:xfrm>
            <a:off x="3767137" y="2381249"/>
            <a:ext cx="2205634" cy="1590"/>
          </a:xfrm>
          <a:prstGeom prst="line">
            <a:avLst/>
          </a:prstGeom>
          <a:ln w="38100">
            <a:solidFill>
              <a:srgbClr val="333399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46" name="线条"/>
          <p:cNvSpPr/>
          <p:nvPr/>
        </p:nvSpPr>
        <p:spPr>
          <a:xfrm>
            <a:off x="7043736" y="2381250"/>
            <a:ext cx="767955" cy="1588"/>
          </a:xfrm>
          <a:prstGeom prst="line">
            <a:avLst/>
          </a:prstGeom>
          <a:ln w="12700">
            <a:solidFill>
              <a:srgbClr val="333399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1350" name="成组"/>
          <p:cNvGrpSpPr/>
          <p:nvPr/>
        </p:nvGrpSpPr>
        <p:grpSpPr>
          <a:xfrm>
            <a:off x="3309936" y="1771650"/>
            <a:ext cx="2821785" cy="607221"/>
            <a:chOff x="0" y="0"/>
            <a:chExt cx="2821784" cy="607220"/>
          </a:xfrm>
        </p:grpSpPr>
        <p:sp>
          <p:nvSpPr>
            <p:cNvPr id="1347" name="线条"/>
            <p:cNvSpPr/>
            <p:nvPr/>
          </p:nvSpPr>
          <p:spPr>
            <a:xfrm flipV="1">
              <a:off x="2819401" y="-1"/>
              <a:ext cx="1590" cy="607222"/>
            </a:xfrm>
            <a:prstGeom prst="line">
              <a:avLst/>
            </a:prstGeom>
            <a:noFill/>
            <a:ln w="38100" cap="flat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48" name="线条"/>
            <p:cNvSpPr/>
            <p:nvPr/>
          </p:nvSpPr>
          <p:spPr>
            <a:xfrm flipH="1">
              <a:off x="-1" y="0"/>
              <a:ext cx="2821786" cy="1588"/>
            </a:xfrm>
            <a:prstGeom prst="line">
              <a:avLst/>
            </a:prstGeom>
            <a:noFill/>
            <a:ln w="38100" cap="flat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49" name="线条"/>
            <p:cNvSpPr/>
            <p:nvPr/>
          </p:nvSpPr>
          <p:spPr>
            <a:xfrm>
              <a:off x="0" y="0"/>
              <a:ext cx="1589" cy="312540"/>
            </a:xfrm>
            <a:prstGeom prst="line">
              <a:avLst/>
            </a:prstGeom>
            <a:noFill/>
            <a:ln w="38100" cap="flat">
              <a:solidFill>
                <a:srgbClr val="99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1351" name="s.next = p.next;           s.prev = p;…"/>
          <p:cNvSpPr txBox="1"/>
          <p:nvPr/>
        </p:nvSpPr>
        <p:spPr>
          <a:xfrm>
            <a:off x="958850" y="4638675"/>
            <a:ext cx="6635272" cy="1064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7" tIns="35717" rIns="35717" bIns="35717">
            <a:spAutoFit/>
          </a:bodyPr>
          <a:lstStyle/>
          <a:p>
            <a:pPr marR="40640" indent="40640" defTabSz="910828">
              <a:lnSpc>
                <a:spcPct val="150000"/>
              </a:lnSpc>
              <a:defRPr sz="2800" b="1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pPr>
            <a:r>
              <a:t>s.next = p.next;           s.prev = p;</a:t>
            </a:r>
            <a:r>
              <a:rPr sz="2600" b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endParaRPr sz="2600" b="0"/>
          </a:p>
          <a:p>
            <a:pPr marR="40640" indent="40640" defTabSz="910828">
              <a:lnSpc>
                <a:spcPct val="150000"/>
              </a:lnSpc>
              <a:defRPr sz="2800" b="1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pPr>
            <a:r>
              <a:t>p.next = s;                    </a:t>
            </a:r>
            <a:r>
              <a:rPr b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t>s.next.prev=s;</a:t>
            </a:r>
            <a:r>
              <a:rPr sz="2600" b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</a:p>
        </p:txBody>
      </p:sp>
      <p:grpSp>
        <p:nvGrpSpPr>
          <p:cNvPr id="1354" name="成组"/>
          <p:cNvGrpSpPr/>
          <p:nvPr/>
        </p:nvGrpSpPr>
        <p:grpSpPr>
          <a:xfrm>
            <a:off x="2852736" y="857249"/>
            <a:ext cx="455417" cy="1223370"/>
            <a:chOff x="0" y="0"/>
            <a:chExt cx="455415" cy="1223368"/>
          </a:xfrm>
        </p:grpSpPr>
        <p:sp>
          <p:nvSpPr>
            <p:cNvPr id="1352" name="形状"/>
            <p:cNvSpPr/>
            <p:nvPr/>
          </p:nvSpPr>
          <p:spPr>
            <a:xfrm>
              <a:off x="0" y="-1"/>
              <a:ext cx="455416" cy="12233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9360"/>
                  </a:lnTo>
                  <a:lnTo>
                    <a:pt x="12420" y="9360"/>
                  </a:lnTo>
                  <a:lnTo>
                    <a:pt x="12420" y="17663"/>
                  </a:lnTo>
                  <a:lnTo>
                    <a:pt x="16200" y="17663"/>
                  </a:lnTo>
                  <a:lnTo>
                    <a:pt x="10800" y="21600"/>
                  </a:lnTo>
                  <a:lnTo>
                    <a:pt x="5400" y="17663"/>
                  </a:lnTo>
                  <a:lnTo>
                    <a:pt x="9180" y="17663"/>
                  </a:lnTo>
                  <a:lnTo>
                    <a:pt x="9180" y="9360"/>
                  </a:lnTo>
                  <a:lnTo>
                    <a:pt x="0" y="9360"/>
                  </a:lnTo>
                  <a:close/>
                </a:path>
              </a:pathLst>
            </a:custGeom>
            <a:solidFill>
              <a:srgbClr val="CCFFFF"/>
            </a:solidFill>
            <a:ln w="12700" cap="flat">
              <a:solidFill>
                <a:srgbClr val="003366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53" name="p"/>
            <p:cNvSpPr txBox="1"/>
            <p:nvPr/>
          </p:nvSpPr>
          <p:spPr>
            <a:xfrm>
              <a:off x="51297" y="16057"/>
              <a:ext cx="354605" cy="4999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7858" tIns="17858" rIns="17858" bIns="17858" numCol="1" anchor="ctr">
              <a:spAutoFit/>
            </a:bodyPr>
            <a:lstStyle>
              <a:lvl1pPr marR="66039" indent="66039" algn="ctr" defTabSz="910828">
                <a:defRPr sz="3400" b="1">
                  <a:solidFill>
                    <a:srgbClr val="000099"/>
                  </a:solidFill>
                  <a:uFill>
                    <a:solidFill>
                      <a:srgbClr val="000099"/>
                    </a:solidFill>
                  </a:uFill>
                </a:defRPr>
              </a:lvl1pPr>
            </a:lstStyle>
            <a:p>
              <a:r>
                <a:t>p</a:t>
              </a:r>
            </a:p>
          </p:txBody>
        </p:sp>
      </p:grpSp>
      <p:grpSp>
        <p:nvGrpSpPr>
          <p:cNvPr id="1357" name="成组"/>
          <p:cNvGrpSpPr/>
          <p:nvPr/>
        </p:nvGrpSpPr>
        <p:grpSpPr>
          <a:xfrm>
            <a:off x="4757737" y="3752850"/>
            <a:ext cx="455417" cy="906716"/>
            <a:chOff x="0" y="0"/>
            <a:chExt cx="455415" cy="906715"/>
          </a:xfrm>
        </p:grpSpPr>
        <p:sp>
          <p:nvSpPr>
            <p:cNvPr id="1355" name="形状"/>
            <p:cNvSpPr/>
            <p:nvPr/>
          </p:nvSpPr>
          <p:spPr>
            <a:xfrm>
              <a:off x="0" y="0"/>
              <a:ext cx="455416" cy="8304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109"/>
                  </a:moveTo>
                  <a:lnTo>
                    <a:pt x="9000" y="12109"/>
                  </a:lnTo>
                  <a:lnTo>
                    <a:pt x="9000" y="5073"/>
                  </a:lnTo>
                  <a:lnTo>
                    <a:pt x="5400" y="5073"/>
                  </a:lnTo>
                  <a:lnTo>
                    <a:pt x="10800" y="0"/>
                  </a:lnTo>
                  <a:lnTo>
                    <a:pt x="16200" y="5073"/>
                  </a:lnTo>
                  <a:lnTo>
                    <a:pt x="12600" y="5073"/>
                  </a:lnTo>
                  <a:lnTo>
                    <a:pt x="12600" y="12109"/>
                  </a:lnTo>
                  <a:lnTo>
                    <a:pt x="21600" y="12109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99">
                <a:alpha val="50195"/>
              </a:srgbClr>
            </a:solidFill>
            <a:ln w="12700" cap="flat">
              <a:solidFill>
                <a:srgbClr val="9933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56" name="s"/>
            <p:cNvSpPr txBox="1"/>
            <p:nvPr/>
          </p:nvSpPr>
          <p:spPr>
            <a:xfrm>
              <a:off x="87350" y="406740"/>
              <a:ext cx="282498" cy="499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7858" tIns="17858" rIns="17858" bIns="17858" numCol="1" anchor="ctr">
              <a:spAutoFit/>
            </a:bodyPr>
            <a:lstStyle>
              <a:lvl1pPr marR="66039" indent="66039" algn="ctr" defTabSz="910828">
                <a:defRPr sz="3400" b="1">
                  <a:solidFill>
                    <a:srgbClr val="FF0000"/>
                  </a:solidFill>
                  <a:uFill>
                    <a:solidFill>
                      <a:srgbClr val="FF0000"/>
                    </a:solidFill>
                  </a:uFill>
                </a:defRPr>
              </a:lvl1pPr>
            </a:lstStyle>
            <a:p>
              <a:r>
                <a:t>s</a:t>
              </a:r>
            </a:p>
          </p:txBody>
        </p:sp>
      </p:grpSp>
      <p:sp>
        <p:nvSpPr>
          <p:cNvPr id="1358" name="线条"/>
          <p:cNvSpPr/>
          <p:nvPr/>
        </p:nvSpPr>
        <p:spPr>
          <a:xfrm>
            <a:off x="981075" y="5254624"/>
            <a:ext cx="3169936" cy="1"/>
          </a:xfrm>
          <a:prstGeom prst="line">
            <a:avLst/>
          </a:prstGeom>
          <a:ln w="25400">
            <a:solidFill>
              <a:srgbClr val="6600CC"/>
            </a:solidFill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59" name="线条"/>
          <p:cNvSpPr/>
          <p:nvPr/>
        </p:nvSpPr>
        <p:spPr>
          <a:xfrm rot="10800000" flipH="1">
            <a:off x="5595937" y="2686050"/>
            <a:ext cx="991197" cy="7679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38100">
            <a:solidFill>
              <a:srgbClr val="333399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marR="40640" indent="40640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60" name="线条"/>
          <p:cNvSpPr/>
          <p:nvPr/>
        </p:nvSpPr>
        <p:spPr>
          <a:xfrm>
            <a:off x="4322762" y="5218112"/>
            <a:ext cx="2321467" cy="1"/>
          </a:xfrm>
          <a:prstGeom prst="line">
            <a:avLst/>
          </a:prstGeom>
          <a:ln w="25400">
            <a:solidFill>
              <a:srgbClr val="6600CC"/>
            </a:solidFill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61" name="线条"/>
          <p:cNvSpPr/>
          <p:nvPr/>
        </p:nvSpPr>
        <p:spPr>
          <a:xfrm>
            <a:off x="3921125" y="2382836"/>
            <a:ext cx="455415" cy="10626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200" y="0"/>
                </a:lnTo>
                <a:lnTo>
                  <a:pt x="10200" y="21600"/>
                </a:lnTo>
                <a:lnTo>
                  <a:pt x="21600" y="21600"/>
                </a:lnTo>
              </a:path>
            </a:pathLst>
          </a:custGeom>
          <a:ln w="38100">
            <a:solidFill>
              <a:srgbClr val="333399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marR="40640" indent="40640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62" name="线条"/>
          <p:cNvSpPr/>
          <p:nvPr/>
        </p:nvSpPr>
        <p:spPr>
          <a:xfrm>
            <a:off x="1017587" y="6010274"/>
            <a:ext cx="3169936" cy="1"/>
          </a:xfrm>
          <a:prstGeom prst="line">
            <a:avLst/>
          </a:prstGeom>
          <a:ln w="25400">
            <a:solidFill>
              <a:srgbClr val="6600CC"/>
            </a:solidFill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63" name="线条"/>
          <p:cNvSpPr/>
          <p:nvPr/>
        </p:nvSpPr>
        <p:spPr>
          <a:xfrm flipH="1">
            <a:off x="4986337" y="2381250"/>
            <a:ext cx="991198" cy="7679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38100">
            <a:solidFill>
              <a:srgbClr val="99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marR="40640" indent="40640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64" name="线条"/>
          <p:cNvSpPr/>
          <p:nvPr/>
        </p:nvSpPr>
        <p:spPr>
          <a:xfrm>
            <a:off x="4332286" y="5989638"/>
            <a:ext cx="2327819" cy="1"/>
          </a:xfrm>
          <a:prstGeom prst="line">
            <a:avLst/>
          </a:prstGeom>
          <a:ln w="25400">
            <a:solidFill>
              <a:srgbClr val="6600CC"/>
            </a:solidFill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65" name="线条"/>
          <p:cNvSpPr/>
          <p:nvPr/>
        </p:nvSpPr>
        <p:spPr>
          <a:xfrm rot="10800000">
            <a:off x="3309936" y="2686050"/>
            <a:ext cx="1062635" cy="933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38100">
            <a:solidFill>
              <a:srgbClr val="99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marR="40640" indent="40640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66" name="线条"/>
          <p:cNvSpPr/>
          <p:nvPr/>
        </p:nvSpPr>
        <p:spPr>
          <a:xfrm flipV="1">
            <a:off x="2852737" y="1771649"/>
            <a:ext cx="1590" cy="607221"/>
          </a:xfrm>
          <a:prstGeom prst="line">
            <a:avLst/>
          </a:prstGeom>
          <a:ln w="38100">
            <a:solidFill>
              <a:srgbClr val="990000"/>
            </a:solidFill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67" name="线条"/>
          <p:cNvSpPr/>
          <p:nvPr/>
        </p:nvSpPr>
        <p:spPr>
          <a:xfrm flipH="1">
            <a:off x="1938337" y="1771649"/>
            <a:ext cx="910831" cy="1589"/>
          </a:xfrm>
          <a:prstGeom prst="line">
            <a:avLst/>
          </a:prstGeom>
          <a:ln w="38100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1372" name="成组"/>
          <p:cNvGrpSpPr/>
          <p:nvPr/>
        </p:nvGrpSpPr>
        <p:grpSpPr>
          <a:xfrm>
            <a:off x="5974141" y="2067680"/>
            <a:ext cx="1223371" cy="622559"/>
            <a:chOff x="0" y="0"/>
            <a:chExt cx="1223369" cy="622558"/>
          </a:xfrm>
        </p:grpSpPr>
        <p:sp>
          <p:nvSpPr>
            <p:cNvPr id="1368" name="矩形"/>
            <p:cNvSpPr/>
            <p:nvPr/>
          </p:nvSpPr>
          <p:spPr>
            <a:xfrm>
              <a:off x="0" y="6223"/>
              <a:ext cx="1223370" cy="607225"/>
            </a:xfrm>
            <a:prstGeom prst="rect">
              <a:avLst/>
            </a:prstGeom>
            <a:solidFill>
              <a:srgbClr val="CCFFCC">
                <a:alpha val="50195"/>
              </a:srgbClr>
            </a:solidFill>
            <a:ln w="25400" cap="flat">
              <a:solidFill>
                <a:srgbClr val="3333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69" name="ai"/>
            <p:cNvSpPr txBox="1"/>
            <p:nvPr/>
          </p:nvSpPr>
          <p:spPr>
            <a:xfrm>
              <a:off x="399273" y="0"/>
              <a:ext cx="420655" cy="6225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7" tIns="35717" rIns="35717" bIns="35717" numCol="1" anchor="ctr">
              <a:spAutoFit/>
            </a:bodyPr>
            <a:lstStyle/>
            <a:p>
              <a:pPr marR="40640" indent="40640" algn="ctr" defTabSz="910828">
                <a:defRPr sz="3400" b="1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a</a:t>
              </a:r>
              <a:r>
                <a:rPr baseline="-26116"/>
                <a:t>i</a:t>
              </a:r>
            </a:p>
          </p:txBody>
        </p:sp>
        <p:sp>
          <p:nvSpPr>
            <p:cNvPr id="1370" name="线条"/>
            <p:cNvSpPr/>
            <p:nvPr/>
          </p:nvSpPr>
          <p:spPr>
            <a:xfrm>
              <a:off x="304800" y="6223"/>
              <a:ext cx="1589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71" name="线条"/>
            <p:cNvSpPr/>
            <p:nvPr/>
          </p:nvSpPr>
          <p:spPr>
            <a:xfrm>
              <a:off x="914400" y="6223"/>
              <a:ext cx="1590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1377" name="成组"/>
          <p:cNvGrpSpPr/>
          <p:nvPr/>
        </p:nvGrpSpPr>
        <p:grpSpPr>
          <a:xfrm>
            <a:off x="2688185" y="2086895"/>
            <a:ext cx="1223371" cy="622560"/>
            <a:chOff x="0" y="5"/>
            <a:chExt cx="1223369" cy="622558"/>
          </a:xfrm>
        </p:grpSpPr>
        <p:sp>
          <p:nvSpPr>
            <p:cNvPr id="1373" name="矩形"/>
            <p:cNvSpPr/>
            <p:nvPr/>
          </p:nvSpPr>
          <p:spPr>
            <a:xfrm>
              <a:off x="0" y="6223"/>
              <a:ext cx="1223370" cy="607225"/>
            </a:xfrm>
            <a:prstGeom prst="rect">
              <a:avLst/>
            </a:prstGeom>
            <a:solidFill>
              <a:srgbClr val="CCFFCC">
                <a:alpha val="50195"/>
              </a:srgbClr>
            </a:solidFill>
            <a:ln w="25400" cap="flat">
              <a:solidFill>
                <a:srgbClr val="3333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74" name="ai-1"/>
            <p:cNvSpPr txBox="1"/>
            <p:nvPr/>
          </p:nvSpPr>
          <p:spPr>
            <a:xfrm>
              <a:off x="279377" y="5"/>
              <a:ext cx="660451" cy="6225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7" tIns="35717" rIns="35717" bIns="35717" numCol="1" anchor="ctr">
              <a:spAutoFit/>
            </a:bodyPr>
            <a:lstStyle/>
            <a:p>
              <a:pPr marR="40640" indent="40640" algn="ctr" defTabSz="910828">
                <a:defRPr sz="3400" b="1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a</a:t>
              </a:r>
              <a:r>
                <a:rPr baseline="-26116"/>
                <a:t>i-1</a:t>
              </a:r>
            </a:p>
          </p:txBody>
        </p:sp>
        <p:sp>
          <p:nvSpPr>
            <p:cNvPr id="1375" name="线条"/>
            <p:cNvSpPr/>
            <p:nvPr/>
          </p:nvSpPr>
          <p:spPr>
            <a:xfrm>
              <a:off x="304800" y="6223"/>
              <a:ext cx="1589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76" name="线条"/>
            <p:cNvSpPr/>
            <p:nvPr/>
          </p:nvSpPr>
          <p:spPr>
            <a:xfrm>
              <a:off x="914400" y="6223"/>
              <a:ext cx="1590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1382" name="成组"/>
          <p:cNvGrpSpPr/>
          <p:nvPr/>
        </p:nvGrpSpPr>
        <p:grpSpPr>
          <a:xfrm>
            <a:off x="4369780" y="3149343"/>
            <a:ext cx="1879604" cy="1575063"/>
            <a:chOff x="0" y="0"/>
            <a:chExt cx="1879602" cy="1575061"/>
          </a:xfrm>
        </p:grpSpPr>
        <p:sp>
          <p:nvSpPr>
            <p:cNvPr id="1378" name="矩形"/>
            <p:cNvSpPr/>
            <p:nvPr/>
          </p:nvSpPr>
          <p:spPr>
            <a:xfrm>
              <a:off x="0" y="0"/>
              <a:ext cx="1223370" cy="607225"/>
            </a:xfrm>
            <a:prstGeom prst="rect">
              <a:avLst/>
            </a:prstGeom>
            <a:solidFill>
              <a:srgbClr val="CCFFCC">
                <a:alpha val="50195"/>
              </a:srgbClr>
            </a:solidFill>
            <a:ln w="25400" cap="flat">
              <a:solidFill>
                <a:srgbClr val="3333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79" name="e"/>
            <p:cNvSpPr/>
            <p:nvPr/>
          </p:nvSpPr>
          <p:spPr>
            <a:xfrm>
              <a:off x="609602" y="30506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7" tIns="35717" rIns="35717" bIns="35717" numCol="1" anchor="ctr">
              <a:spAutoFit/>
            </a:bodyPr>
            <a:lstStyle>
              <a:lvl1pPr marR="40640" indent="40640" algn="ctr" defTabSz="910828">
                <a:defRPr sz="3400" b="1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e</a:t>
              </a:r>
            </a:p>
          </p:txBody>
        </p:sp>
        <p:sp>
          <p:nvSpPr>
            <p:cNvPr id="1380" name="线条"/>
            <p:cNvSpPr/>
            <p:nvPr/>
          </p:nvSpPr>
          <p:spPr>
            <a:xfrm>
              <a:off x="304800" y="0"/>
              <a:ext cx="1589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81" name="线条"/>
            <p:cNvSpPr/>
            <p:nvPr/>
          </p:nvSpPr>
          <p:spPr>
            <a:xfrm>
              <a:off x="914400" y="0"/>
              <a:ext cx="1590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ntr" presetSubtype="1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9" presetClass="entr" presetSubtype="1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9" presetClass="entr" presetSubtype="1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8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left)">
                                      <p:cBhvr>
                                        <p:cTn id="49" dur="1000" fill="hold"/>
                                        <p:tgtEl>
                                          <p:spTgt spid="1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9" presetClass="entr" presetSubtype="10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xit" presetSubtype="8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left)">
                                      <p:cBhvr>
                                        <p:cTn id="68" dur="1000" fill="hold"/>
                                        <p:tgtEl>
                                          <p:spTgt spid="1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5" grpId="9" animBg="1" advAuto="0"/>
      <p:bldP spid="1350" grpId="13" animBg="1" advAuto="0"/>
      <p:bldP spid="1351" grpId="3" animBg="1" advAuto="0"/>
      <p:bldP spid="1354" grpId="2" animBg="1" advAuto="0"/>
      <p:bldP spid="1357" grpId="1" animBg="1" advAuto="0"/>
      <p:bldP spid="1358" grpId="4" animBg="1" advAuto="0"/>
      <p:bldP spid="1359" grpId="5" animBg="1" advAuto="0"/>
      <p:bldP spid="1360" grpId="6" animBg="1" advAuto="0"/>
      <p:bldP spid="1361" grpId="10" animBg="1" advAuto="0"/>
      <p:bldP spid="1362" grpId="8" animBg="1" advAuto="0"/>
      <p:bldP spid="1363" grpId="12" animBg="1" advAuto="0"/>
      <p:bldP spid="1364" grpId="11" animBg="1" advAuto="0"/>
      <p:bldP spid="1365" grpId="7" animBg="1" advAuto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remove(int index)"/>
          <p:cNvSpPr txBox="1"/>
          <p:nvPr/>
        </p:nvSpPr>
        <p:spPr>
          <a:xfrm>
            <a:off x="755648" y="126403"/>
            <a:ext cx="7929565" cy="597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7" tIns="35717" rIns="35717" bIns="35717">
            <a:spAutoFit/>
          </a:bodyPr>
          <a:lstStyle/>
          <a:p>
            <a: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pPr>
            <a:r>
              <a:t>remove(int </a:t>
            </a:r>
            <a:r>
              <a:rPr>
                <a:solidFill>
                  <a:schemeClr val="accent5"/>
                </a:solidFill>
              </a:rPr>
              <a:t>i</a:t>
            </a:r>
            <a:r>
              <a:t>ndex)</a:t>
            </a:r>
          </a:p>
        </p:txBody>
      </p:sp>
      <p:sp>
        <p:nvSpPr>
          <p:cNvPr id="1385" name="线条"/>
          <p:cNvSpPr/>
          <p:nvPr/>
        </p:nvSpPr>
        <p:spPr>
          <a:xfrm>
            <a:off x="1093786" y="2366963"/>
            <a:ext cx="910830" cy="1588"/>
          </a:xfrm>
          <a:prstGeom prst="line">
            <a:avLst/>
          </a:prstGeom>
          <a:ln w="38100">
            <a:solidFill>
              <a:srgbClr val="333399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86" name="线条"/>
          <p:cNvSpPr/>
          <p:nvPr/>
        </p:nvSpPr>
        <p:spPr>
          <a:xfrm>
            <a:off x="3074986" y="2366961"/>
            <a:ext cx="1143002" cy="1590"/>
          </a:xfrm>
          <a:prstGeom prst="line">
            <a:avLst/>
          </a:prstGeom>
          <a:ln w="38100">
            <a:solidFill>
              <a:srgbClr val="333399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87" name="线条"/>
          <p:cNvSpPr/>
          <p:nvPr/>
        </p:nvSpPr>
        <p:spPr>
          <a:xfrm>
            <a:off x="5360986" y="2366961"/>
            <a:ext cx="1062635" cy="1591"/>
          </a:xfrm>
          <a:prstGeom prst="line">
            <a:avLst/>
          </a:prstGeom>
          <a:ln w="38100">
            <a:solidFill>
              <a:srgbClr val="333399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88" name="线条"/>
          <p:cNvSpPr/>
          <p:nvPr/>
        </p:nvSpPr>
        <p:spPr>
          <a:xfrm>
            <a:off x="7570786" y="2366962"/>
            <a:ext cx="767955" cy="1589"/>
          </a:xfrm>
          <a:prstGeom prst="line">
            <a:avLst/>
          </a:prstGeom>
          <a:ln w="38100">
            <a:solidFill>
              <a:srgbClr val="333399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389" name="p.next = q.next;…"/>
          <p:cNvSpPr txBox="1"/>
          <p:nvPr/>
        </p:nvSpPr>
        <p:spPr>
          <a:xfrm>
            <a:off x="657599" y="4697590"/>
            <a:ext cx="2361527" cy="1002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7" tIns="35717" rIns="35717" bIns="35717">
            <a:spAutoFit/>
          </a:bodyPr>
          <a:lstStyle/>
          <a:p>
            <a:pPr marR="40640" indent="40640" defTabSz="910828">
              <a:lnSpc>
                <a:spcPct val="150000"/>
              </a:lnSpc>
              <a:defRPr sz="2600" b="1">
                <a:solidFill>
                  <a:srgbClr val="660033"/>
                </a:solidFill>
                <a:uFill>
                  <a:solidFill>
                    <a:srgbClr val="660033"/>
                  </a:solidFill>
                </a:uFill>
              </a:defRPr>
            </a:pPr>
            <a:r>
              <a:t>p.next = q.next;</a:t>
            </a:r>
          </a:p>
          <a:p>
            <a:pPr marR="40640" indent="40640" defTabSz="910828">
              <a:lnSpc>
                <a:spcPct val="150000"/>
              </a:lnSpc>
              <a:defRPr sz="2600" b="1">
                <a:solidFill>
                  <a:srgbClr val="660033"/>
                </a:solidFill>
                <a:uFill>
                  <a:solidFill>
                    <a:srgbClr val="660033"/>
                  </a:solidFill>
                </a:uFill>
              </a:defRPr>
            </a:pPr>
            <a:r>
              <a:t>q.next.prev = p;</a:t>
            </a:r>
          </a:p>
        </p:txBody>
      </p:sp>
      <p:sp>
        <p:nvSpPr>
          <p:cNvPr id="1390" name="线条"/>
          <p:cNvSpPr/>
          <p:nvPr/>
        </p:nvSpPr>
        <p:spPr>
          <a:xfrm>
            <a:off x="380993" y="5286552"/>
            <a:ext cx="2907627" cy="1"/>
          </a:xfrm>
          <a:prstGeom prst="line">
            <a:avLst/>
          </a:prstGeom>
          <a:ln w="25400">
            <a:solidFill>
              <a:srgbClr val="6600CC"/>
            </a:solidFill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1394" name="成组"/>
          <p:cNvGrpSpPr/>
          <p:nvPr/>
        </p:nvGrpSpPr>
        <p:grpSpPr>
          <a:xfrm>
            <a:off x="4903787" y="1604961"/>
            <a:ext cx="1754191" cy="767957"/>
            <a:chOff x="0" y="0"/>
            <a:chExt cx="1754190" cy="767955"/>
          </a:xfrm>
        </p:grpSpPr>
        <p:sp>
          <p:nvSpPr>
            <p:cNvPr id="1391" name="线条"/>
            <p:cNvSpPr/>
            <p:nvPr/>
          </p:nvSpPr>
          <p:spPr>
            <a:xfrm flipV="1">
              <a:off x="1752602" y="-1"/>
              <a:ext cx="1588" cy="767957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92" name="线条"/>
            <p:cNvSpPr/>
            <p:nvPr/>
          </p:nvSpPr>
          <p:spPr>
            <a:xfrm flipH="1">
              <a:off x="0" y="-1"/>
              <a:ext cx="1750221" cy="1590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93" name="线条"/>
            <p:cNvSpPr/>
            <p:nvPr/>
          </p:nvSpPr>
          <p:spPr>
            <a:xfrm>
              <a:off x="-1" y="-1"/>
              <a:ext cx="1590" cy="455416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1397" name="成组"/>
          <p:cNvGrpSpPr/>
          <p:nvPr/>
        </p:nvGrpSpPr>
        <p:grpSpPr>
          <a:xfrm>
            <a:off x="2465386" y="2671761"/>
            <a:ext cx="375050" cy="1294809"/>
            <a:chOff x="0" y="0"/>
            <a:chExt cx="375048" cy="1294807"/>
          </a:xfrm>
        </p:grpSpPr>
        <p:sp>
          <p:nvSpPr>
            <p:cNvPr id="1395" name="形状"/>
            <p:cNvSpPr/>
            <p:nvPr/>
          </p:nvSpPr>
          <p:spPr>
            <a:xfrm>
              <a:off x="0" y="0"/>
              <a:ext cx="375049" cy="12948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553"/>
                  </a:moveTo>
                  <a:lnTo>
                    <a:pt x="9180" y="13553"/>
                  </a:lnTo>
                  <a:lnTo>
                    <a:pt x="9180" y="3918"/>
                  </a:lnTo>
                  <a:lnTo>
                    <a:pt x="6480" y="3918"/>
                  </a:lnTo>
                  <a:lnTo>
                    <a:pt x="10800" y="0"/>
                  </a:lnTo>
                  <a:lnTo>
                    <a:pt x="15120" y="3918"/>
                  </a:lnTo>
                  <a:lnTo>
                    <a:pt x="12420" y="3918"/>
                  </a:lnTo>
                  <a:lnTo>
                    <a:pt x="12420" y="13553"/>
                  </a:lnTo>
                  <a:lnTo>
                    <a:pt x="21600" y="13553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CFFFF"/>
            </a:solidFill>
            <a:ln w="3175" cap="flat">
              <a:solidFill>
                <a:srgbClr val="003366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396" name="p"/>
            <p:cNvSpPr txBox="1"/>
            <p:nvPr/>
          </p:nvSpPr>
          <p:spPr>
            <a:xfrm>
              <a:off x="44029" y="864484"/>
              <a:ext cx="292939" cy="3848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8929" tIns="8929" rIns="8929" bIns="8929" numCol="1" anchor="ctr">
              <a:spAutoFit/>
            </a:bodyPr>
            <a:lstStyle>
              <a:lvl1pPr marR="78738" indent="78738" algn="ctr" defTabSz="910828">
                <a:defRPr sz="2600" b="1">
                  <a:solidFill>
                    <a:srgbClr val="000099"/>
                  </a:solidFill>
                  <a:uFill>
                    <a:solidFill>
                      <a:srgbClr val="000099"/>
                    </a:solidFill>
                  </a:uFill>
                </a:defRPr>
              </a:lvl1pPr>
            </a:lstStyle>
            <a:p>
              <a:r>
                <a:t>p</a:t>
              </a:r>
            </a:p>
          </p:txBody>
        </p:sp>
      </p:grpSp>
      <p:sp>
        <p:nvSpPr>
          <p:cNvPr id="1398" name="线条"/>
          <p:cNvSpPr/>
          <p:nvPr/>
        </p:nvSpPr>
        <p:spPr>
          <a:xfrm flipV="1">
            <a:off x="4446587" y="1604962"/>
            <a:ext cx="1590" cy="767955"/>
          </a:xfrm>
          <a:prstGeom prst="line">
            <a:avLst/>
          </a:prstGeom>
          <a:ln w="38100">
            <a:solidFill>
              <a:srgbClr val="993300"/>
            </a:solidFill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1401" name="成组"/>
          <p:cNvGrpSpPr/>
          <p:nvPr/>
        </p:nvGrpSpPr>
        <p:grpSpPr>
          <a:xfrm>
            <a:off x="2693986" y="1604961"/>
            <a:ext cx="1750222" cy="455417"/>
            <a:chOff x="0" y="0"/>
            <a:chExt cx="1750220" cy="455415"/>
          </a:xfrm>
        </p:grpSpPr>
        <p:sp>
          <p:nvSpPr>
            <p:cNvPr id="1399" name="线条"/>
            <p:cNvSpPr/>
            <p:nvPr/>
          </p:nvSpPr>
          <p:spPr>
            <a:xfrm flipH="1">
              <a:off x="0" y="-1"/>
              <a:ext cx="1750221" cy="1590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00" name="线条"/>
            <p:cNvSpPr/>
            <p:nvPr/>
          </p:nvSpPr>
          <p:spPr>
            <a:xfrm>
              <a:off x="0" y="0"/>
              <a:ext cx="1522" cy="455415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1402" name="线条"/>
          <p:cNvSpPr/>
          <p:nvPr/>
        </p:nvSpPr>
        <p:spPr>
          <a:xfrm>
            <a:off x="3227386" y="2366961"/>
            <a:ext cx="3884416" cy="5357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18" y="0"/>
                </a:lnTo>
                <a:lnTo>
                  <a:pt x="918" y="21600"/>
                </a:lnTo>
                <a:lnTo>
                  <a:pt x="21600" y="21600"/>
                </a:lnTo>
                <a:lnTo>
                  <a:pt x="21600" y="12343"/>
                </a:lnTo>
              </a:path>
            </a:pathLst>
          </a:custGeom>
          <a:ln w="38100">
            <a:solidFill>
              <a:srgbClr val="00808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marR="40640" indent="40640" defTabSz="910828">
              <a:spcBef>
                <a:spcPts val="1300"/>
              </a:spcBef>
              <a:defRPr sz="22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403" name="线条"/>
          <p:cNvSpPr/>
          <p:nvPr/>
        </p:nvSpPr>
        <p:spPr>
          <a:xfrm>
            <a:off x="380999" y="5997752"/>
            <a:ext cx="2908302" cy="1589"/>
          </a:xfrm>
          <a:prstGeom prst="line">
            <a:avLst/>
          </a:prstGeom>
          <a:ln w="25400">
            <a:solidFill>
              <a:srgbClr val="6600CC"/>
            </a:solidFill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grpSp>
        <p:nvGrpSpPr>
          <p:cNvPr id="1407" name="成组"/>
          <p:cNvGrpSpPr/>
          <p:nvPr/>
        </p:nvGrpSpPr>
        <p:grpSpPr>
          <a:xfrm>
            <a:off x="2619373" y="1376361"/>
            <a:ext cx="4000506" cy="991199"/>
            <a:chOff x="0" y="0"/>
            <a:chExt cx="4000504" cy="991197"/>
          </a:xfrm>
        </p:grpSpPr>
        <p:sp>
          <p:nvSpPr>
            <p:cNvPr id="1404" name="线条"/>
            <p:cNvSpPr/>
            <p:nvPr/>
          </p:nvSpPr>
          <p:spPr>
            <a:xfrm flipH="1" flipV="1">
              <a:off x="3998936" y="0"/>
              <a:ext cx="1569" cy="991198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05" name="线条"/>
            <p:cNvSpPr/>
            <p:nvPr/>
          </p:nvSpPr>
          <p:spPr>
            <a:xfrm flipH="1">
              <a:off x="0" y="-1"/>
              <a:ext cx="3986400" cy="1590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06" name="线条"/>
            <p:cNvSpPr/>
            <p:nvPr/>
          </p:nvSpPr>
          <p:spPr>
            <a:xfrm>
              <a:off x="-1" y="-1"/>
              <a:ext cx="1569" cy="687587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1410" name="成组"/>
          <p:cNvGrpSpPr/>
          <p:nvPr/>
        </p:nvGrpSpPr>
        <p:grpSpPr>
          <a:xfrm>
            <a:off x="4586287" y="2671761"/>
            <a:ext cx="375050" cy="1294809"/>
            <a:chOff x="0" y="0"/>
            <a:chExt cx="375048" cy="1294807"/>
          </a:xfrm>
        </p:grpSpPr>
        <p:sp>
          <p:nvSpPr>
            <p:cNvPr id="1408" name="形状"/>
            <p:cNvSpPr/>
            <p:nvPr/>
          </p:nvSpPr>
          <p:spPr>
            <a:xfrm>
              <a:off x="0" y="0"/>
              <a:ext cx="375049" cy="12948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553"/>
                  </a:moveTo>
                  <a:lnTo>
                    <a:pt x="9180" y="13553"/>
                  </a:lnTo>
                  <a:lnTo>
                    <a:pt x="9180" y="3918"/>
                  </a:lnTo>
                  <a:lnTo>
                    <a:pt x="6480" y="3918"/>
                  </a:lnTo>
                  <a:lnTo>
                    <a:pt x="10800" y="0"/>
                  </a:lnTo>
                  <a:lnTo>
                    <a:pt x="15120" y="3918"/>
                  </a:lnTo>
                  <a:lnTo>
                    <a:pt x="12420" y="3918"/>
                  </a:lnTo>
                  <a:lnTo>
                    <a:pt x="12420" y="13553"/>
                  </a:lnTo>
                  <a:lnTo>
                    <a:pt x="21600" y="13553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CFFFF"/>
            </a:solidFill>
            <a:ln w="3175" cap="flat">
              <a:solidFill>
                <a:srgbClr val="003366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09" name="q"/>
            <p:cNvSpPr txBox="1"/>
            <p:nvPr/>
          </p:nvSpPr>
          <p:spPr>
            <a:xfrm>
              <a:off x="44028" y="864484"/>
              <a:ext cx="292939" cy="3848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8929" tIns="8929" rIns="8929" bIns="8929" numCol="1" anchor="ctr">
              <a:spAutoFit/>
            </a:bodyPr>
            <a:lstStyle>
              <a:lvl1pPr marR="78738" indent="78738" algn="ctr" defTabSz="910828">
                <a:defRPr sz="2600" b="1">
                  <a:solidFill>
                    <a:srgbClr val="000099"/>
                  </a:solidFill>
                  <a:uFill>
                    <a:solidFill>
                      <a:srgbClr val="000099"/>
                    </a:solidFill>
                  </a:uFill>
                </a:defRPr>
              </a:lvl1pPr>
            </a:lstStyle>
            <a:p>
              <a:r>
                <a:t>q</a:t>
              </a:r>
            </a:p>
          </p:txBody>
        </p:sp>
      </p:grpSp>
      <p:sp>
        <p:nvSpPr>
          <p:cNvPr id="1411" name="q=p.next;"/>
          <p:cNvSpPr txBox="1"/>
          <p:nvPr/>
        </p:nvSpPr>
        <p:spPr>
          <a:xfrm>
            <a:off x="656408" y="4241977"/>
            <a:ext cx="4009431" cy="438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7" tIns="35717" rIns="35717" bIns="35717">
            <a:spAutoFit/>
          </a:bodyPr>
          <a:lstStyle>
            <a:lvl1pPr marR="40640" indent="40640" defTabSz="910828">
              <a:spcBef>
                <a:spcPts val="1300"/>
              </a:spcBef>
              <a:defRPr sz="2600" b="1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r>
              <a:t>q=p.next;</a:t>
            </a:r>
          </a:p>
        </p:txBody>
      </p:sp>
      <p:grpSp>
        <p:nvGrpSpPr>
          <p:cNvPr id="1416" name="成组"/>
          <p:cNvGrpSpPr/>
          <p:nvPr/>
        </p:nvGrpSpPr>
        <p:grpSpPr>
          <a:xfrm>
            <a:off x="6418641" y="2080386"/>
            <a:ext cx="1223371" cy="622559"/>
            <a:chOff x="0" y="5"/>
            <a:chExt cx="1223369" cy="622558"/>
          </a:xfrm>
        </p:grpSpPr>
        <p:sp>
          <p:nvSpPr>
            <p:cNvPr id="1412" name="矩形"/>
            <p:cNvSpPr/>
            <p:nvPr/>
          </p:nvSpPr>
          <p:spPr>
            <a:xfrm>
              <a:off x="0" y="6223"/>
              <a:ext cx="1223370" cy="607225"/>
            </a:xfrm>
            <a:prstGeom prst="rect">
              <a:avLst/>
            </a:prstGeom>
            <a:solidFill>
              <a:srgbClr val="CCFFCC">
                <a:alpha val="50195"/>
              </a:srgbClr>
            </a:solidFill>
            <a:ln w="25400" cap="flat">
              <a:solidFill>
                <a:srgbClr val="3333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13" name="ai+1"/>
            <p:cNvSpPr txBox="1"/>
            <p:nvPr/>
          </p:nvSpPr>
          <p:spPr>
            <a:xfrm>
              <a:off x="245291" y="5"/>
              <a:ext cx="728622" cy="6225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7" tIns="35717" rIns="35717" bIns="35717" numCol="1" anchor="ctr">
              <a:spAutoFit/>
            </a:bodyPr>
            <a:lstStyle/>
            <a:p>
              <a:pPr marR="40640" indent="40640" algn="ctr" defTabSz="910828">
                <a:defRPr sz="3400" b="1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a</a:t>
              </a:r>
              <a:r>
                <a:rPr baseline="-26116"/>
                <a:t>i+1</a:t>
              </a:r>
            </a:p>
          </p:txBody>
        </p:sp>
        <p:sp>
          <p:nvSpPr>
            <p:cNvPr id="1414" name="线条"/>
            <p:cNvSpPr/>
            <p:nvPr/>
          </p:nvSpPr>
          <p:spPr>
            <a:xfrm>
              <a:off x="304800" y="6223"/>
              <a:ext cx="1589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15" name="线条"/>
            <p:cNvSpPr/>
            <p:nvPr/>
          </p:nvSpPr>
          <p:spPr>
            <a:xfrm>
              <a:off x="914400" y="6223"/>
              <a:ext cx="1590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1421" name="成组"/>
          <p:cNvGrpSpPr/>
          <p:nvPr/>
        </p:nvGrpSpPr>
        <p:grpSpPr>
          <a:xfrm>
            <a:off x="4244181" y="2065060"/>
            <a:ext cx="1223371" cy="622559"/>
            <a:chOff x="0" y="0"/>
            <a:chExt cx="1223369" cy="622558"/>
          </a:xfrm>
        </p:grpSpPr>
        <p:sp>
          <p:nvSpPr>
            <p:cNvPr id="1417" name="矩形"/>
            <p:cNvSpPr/>
            <p:nvPr/>
          </p:nvSpPr>
          <p:spPr>
            <a:xfrm>
              <a:off x="0" y="6223"/>
              <a:ext cx="1223370" cy="607225"/>
            </a:xfrm>
            <a:prstGeom prst="rect">
              <a:avLst/>
            </a:prstGeom>
            <a:solidFill>
              <a:srgbClr val="CCFFCC">
                <a:alpha val="50195"/>
              </a:srgbClr>
            </a:solidFill>
            <a:ln w="25400" cap="flat">
              <a:solidFill>
                <a:srgbClr val="3333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18" name="ai"/>
            <p:cNvSpPr txBox="1"/>
            <p:nvPr/>
          </p:nvSpPr>
          <p:spPr>
            <a:xfrm>
              <a:off x="399273" y="0"/>
              <a:ext cx="420655" cy="6225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7" tIns="35717" rIns="35717" bIns="35717" numCol="1" anchor="ctr">
              <a:spAutoFit/>
            </a:bodyPr>
            <a:lstStyle/>
            <a:p>
              <a:pPr marR="40640" indent="40640" algn="ctr" defTabSz="910828">
                <a:defRPr sz="3400" b="1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a</a:t>
              </a:r>
              <a:r>
                <a:rPr baseline="-26116"/>
                <a:t>i</a:t>
              </a:r>
            </a:p>
          </p:txBody>
        </p:sp>
        <p:sp>
          <p:nvSpPr>
            <p:cNvPr id="1419" name="线条"/>
            <p:cNvSpPr/>
            <p:nvPr/>
          </p:nvSpPr>
          <p:spPr>
            <a:xfrm>
              <a:off x="304800" y="6223"/>
              <a:ext cx="1589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20" name="线条"/>
            <p:cNvSpPr/>
            <p:nvPr/>
          </p:nvSpPr>
          <p:spPr>
            <a:xfrm>
              <a:off x="914400" y="6223"/>
              <a:ext cx="1590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grpSp>
        <p:nvGrpSpPr>
          <p:cNvPr id="1426" name="成组"/>
          <p:cNvGrpSpPr/>
          <p:nvPr/>
        </p:nvGrpSpPr>
        <p:grpSpPr>
          <a:xfrm>
            <a:off x="2017016" y="2042110"/>
            <a:ext cx="1223371" cy="622559"/>
            <a:chOff x="0" y="5"/>
            <a:chExt cx="1223369" cy="622558"/>
          </a:xfrm>
        </p:grpSpPr>
        <p:sp>
          <p:nvSpPr>
            <p:cNvPr id="1422" name="矩形"/>
            <p:cNvSpPr/>
            <p:nvPr/>
          </p:nvSpPr>
          <p:spPr>
            <a:xfrm>
              <a:off x="0" y="6223"/>
              <a:ext cx="1223370" cy="607225"/>
            </a:xfrm>
            <a:prstGeom prst="rect">
              <a:avLst/>
            </a:prstGeom>
            <a:solidFill>
              <a:srgbClr val="CCFFCC">
                <a:alpha val="50195"/>
              </a:srgbClr>
            </a:solidFill>
            <a:ln w="25400" cap="flat">
              <a:solidFill>
                <a:srgbClr val="3333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23" name="ai-1"/>
            <p:cNvSpPr txBox="1"/>
            <p:nvPr/>
          </p:nvSpPr>
          <p:spPr>
            <a:xfrm>
              <a:off x="279377" y="5"/>
              <a:ext cx="660451" cy="6225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7" tIns="35717" rIns="35717" bIns="35717" numCol="1" anchor="ctr">
              <a:spAutoFit/>
            </a:bodyPr>
            <a:lstStyle/>
            <a:p>
              <a:pPr marR="40640" indent="40640" algn="ctr" defTabSz="910828">
                <a:defRPr sz="3400" b="1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a</a:t>
              </a:r>
              <a:r>
                <a:rPr baseline="-26116"/>
                <a:t>i-1</a:t>
              </a:r>
            </a:p>
          </p:txBody>
        </p:sp>
        <p:sp>
          <p:nvSpPr>
            <p:cNvPr id="1424" name="线条"/>
            <p:cNvSpPr/>
            <p:nvPr/>
          </p:nvSpPr>
          <p:spPr>
            <a:xfrm>
              <a:off x="304800" y="6223"/>
              <a:ext cx="1589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25" name="线条"/>
            <p:cNvSpPr/>
            <p:nvPr/>
          </p:nvSpPr>
          <p:spPr>
            <a:xfrm>
              <a:off x="914400" y="6223"/>
              <a:ext cx="1590" cy="607223"/>
            </a:xfrm>
            <a:prstGeom prst="line">
              <a:avLst/>
            </a:prstGeom>
            <a:noFill/>
            <a:ln w="254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</p:grpSp>
      <p:sp>
        <p:nvSpPr>
          <p:cNvPr id="1427" name="如何帮助GC?"/>
          <p:cNvSpPr txBox="1"/>
          <p:nvPr/>
        </p:nvSpPr>
        <p:spPr>
          <a:xfrm>
            <a:off x="4987139" y="4331626"/>
            <a:ext cx="196628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如何帮助GC?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9" presetClass="entr" presetSubtype="1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left)">
                                      <p:cBhvr>
                                        <p:cTn id="31" dur="1000" fill="hold"/>
                                        <p:tgtEl>
                                          <p:spTgt spid="1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9" presetClass="entr" presetSubtype="1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wipe(left)">
                                      <p:cBhvr>
                                        <p:cTn id="46" dur="1000" fill="hold"/>
                                        <p:tgtEl>
                                          <p:spTgt spid="1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6" grpId="6" animBg="1" advAuto="0"/>
      <p:bldP spid="1389" grpId="4" animBg="1" advAuto="0"/>
      <p:bldP spid="1390" grpId="5" animBg="1" advAuto="0"/>
      <p:bldP spid="1394" grpId="9" animBg="1" advAuto="0"/>
      <p:bldP spid="1397" grpId="1" animBg="1" advAuto="0"/>
      <p:bldP spid="1402" grpId="7" animBg="1" advAuto="0"/>
      <p:bldP spid="1403" grpId="8" animBg="1" advAuto="0"/>
      <p:bldP spid="1407" grpId="10" animBg="1" advAuto="0"/>
      <p:bldP spid="1410" grpId="3" animBg="1" advAuto="0"/>
      <p:bldP spid="1411" grpId="2" animBg="1" advAuto="0"/>
      <p:bldP spid="1427" grpId="11" animBg="1" advAuto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带头结点双向循环链表"/>
          <p:cNvSpPr txBox="1"/>
          <p:nvPr/>
        </p:nvSpPr>
        <p:spPr>
          <a:xfrm>
            <a:off x="755648" y="-1589"/>
            <a:ext cx="7929565" cy="731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7" tIns="35717" rIns="35717" bIns="35717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带头结点双向循环链表</a:t>
            </a:r>
          </a:p>
        </p:txBody>
      </p:sp>
      <p:grpSp>
        <p:nvGrpSpPr>
          <p:cNvPr id="1442" name="成组"/>
          <p:cNvGrpSpPr/>
          <p:nvPr/>
        </p:nvGrpSpPr>
        <p:grpSpPr>
          <a:xfrm>
            <a:off x="3057191" y="905582"/>
            <a:ext cx="2309301" cy="853259"/>
            <a:chOff x="0" y="0"/>
            <a:chExt cx="2309299" cy="853257"/>
          </a:xfrm>
        </p:grpSpPr>
        <p:sp>
          <p:nvSpPr>
            <p:cNvPr id="1430" name="线条"/>
            <p:cNvSpPr/>
            <p:nvPr/>
          </p:nvSpPr>
          <p:spPr>
            <a:xfrm flipH="1">
              <a:off x="1768257" y="0"/>
              <a:ext cx="360365" cy="1590"/>
            </a:xfrm>
            <a:prstGeom prst="line">
              <a:avLst/>
            </a:prstGeom>
            <a:noFill/>
            <a:ln w="38100" cap="flat">
              <a:solidFill>
                <a:srgbClr val="3333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31" name="线条"/>
            <p:cNvSpPr/>
            <p:nvPr/>
          </p:nvSpPr>
          <p:spPr>
            <a:xfrm flipH="1">
              <a:off x="1263233" y="0"/>
              <a:ext cx="360365" cy="1590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32" name="线条"/>
            <p:cNvSpPr/>
            <p:nvPr/>
          </p:nvSpPr>
          <p:spPr>
            <a:xfrm flipV="1">
              <a:off x="2128620" y="0"/>
              <a:ext cx="1590" cy="437557"/>
            </a:xfrm>
            <a:prstGeom prst="line">
              <a:avLst/>
            </a:prstGeom>
            <a:noFill/>
            <a:ln w="38100" cap="flat">
              <a:solidFill>
                <a:srgbClr val="3333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33" name="线条"/>
            <p:cNvSpPr/>
            <p:nvPr/>
          </p:nvSpPr>
          <p:spPr>
            <a:xfrm>
              <a:off x="1768258" y="0"/>
              <a:ext cx="1590" cy="214314"/>
            </a:xfrm>
            <a:prstGeom prst="line">
              <a:avLst/>
            </a:prstGeom>
            <a:noFill/>
            <a:ln w="38100" cap="flat">
              <a:solidFill>
                <a:srgbClr val="3333CC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34" name="线条"/>
            <p:cNvSpPr/>
            <p:nvPr/>
          </p:nvSpPr>
          <p:spPr>
            <a:xfrm flipV="1">
              <a:off x="1265020" y="0"/>
              <a:ext cx="1589" cy="437557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35" name="线条"/>
            <p:cNvSpPr/>
            <p:nvPr/>
          </p:nvSpPr>
          <p:spPr>
            <a:xfrm>
              <a:off x="1623795" y="0"/>
              <a:ext cx="1589" cy="214314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36" name="head"/>
            <p:cNvSpPr txBox="1"/>
            <p:nvPr/>
          </p:nvSpPr>
          <p:spPr>
            <a:xfrm>
              <a:off x="0" y="329361"/>
              <a:ext cx="873138" cy="3897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7" tIns="35717" rIns="35717" bIns="35717" numCol="1" anchor="t">
              <a:spAutoFit/>
            </a:bodyPr>
            <a:lstStyle>
              <a:lvl1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</a:t>
              </a:r>
            </a:p>
          </p:txBody>
        </p:sp>
        <p:sp>
          <p:nvSpPr>
            <p:cNvPr id="1437" name="线条"/>
            <p:cNvSpPr/>
            <p:nvPr/>
          </p:nvSpPr>
          <p:spPr>
            <a:xfrm>
              <a:off x="670467" y="537679"/>
              <a:ext cx="422277" cy="1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441" name="成组"/>
            <p:cNvGrpSpPr/>
            <p:nvPr/>
          </p:nvGrpSpPr>
          <p:grpSpPr>
            <a:xfrm>
              <a:off x="1085929" y="246033"/>
              <a:ext cx="1223371" cy="607225"/>
              <a:chOff x="0" y="0"/>
              <a:chExt cx="1223369" cy="607224"/>
            </a:xfrm>
          </p:grpSpPr>
          <p:sp>
            <p:nvSpPr>
              <p:cNvPr id="1438" name="矩形"/>
              <p:cNvSpPr/>
              <p:nvPr/>
            </p:nvSpPr>
            <p:spPr>
              <a:xfrm>
                <a:off x="0" y="0"/>
                <a:ext cx="1223370" cy="607225"/>
              </a:xfrm>
              <a:prstGeom prst="rect">
                <a:avLst/>
              </a:prstGeom>
              <a:solidFill>
                <a:srgbClr val="CCFFCC">
                  <a:alpha val="50195"/>
                </a:srgbClr>
              </a:solidFill>
              <a:ln w="25400" cap="flat">
                <a:solidFill>
                  <a:srgbClr val="3333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0828">
                  <a:spcBef>
                    <a:spcPts val="1300"/>
                  </a:spcBef>
                  <a:defRPr sz="22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439" name="线条"/>
              <p:cNvSpPr/>
              <p:nvPr/>
            </p:nvSpPr>
            <p:spPr>
              <a:xfrm>
                <a:off x="304800" y="0"/>
                <a:ext cx="1589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440" name="线条"/>
              <p:cNvSpPr/>
              <p:nvPr/>
            </p:nvSpPr>
            <p:spPr>
              <a:xfrm>
                <a:off x="914400" y="0"/>
                <a:ext cx="1590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</p:grpSp>
      <p:grpSp>
        <p:nvGrpSpPr>
          <p:cNvPr id="1482" name="成组"/>
          <p:cNvGrpSpPr/>
          <p:nvPr/>
        </p:nvGrpSpPr>
        <p:grpSpPr>
          <a:xfrm>
            <a:off x="119766" y="2829697"/>
            <a:ext cx="8317874" cy="1778597"/>
            <a:chOff x="0" y="0"/>
            <a:chExt cx="8317872" cy="1778596"/>
          </a:xfrm>
        </p:grpSpPr>
        <p:sp>
          <p:nvSpPr>
            <p:cNvPr id="1443" name="线条"/>
            <p:cNvSpPr/>
            <p:nvPr/>
          </p:nvSpPr>
          <p:spPr>
            <a:xfrm>
              <a:off x="6114052" y="850901"/>
              <a:ext cx="995364" cy="1589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44" name="线条"/>
            <p:cNvSpPr/>
            <p:nvPr/>
          </p:nvSpPr>
          <p:spPr>
            <a:xfrm flipH="1">
              <a:off x="5676696" y="1498600"/>
              <a:ext cx="1631952" cy="1590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45" name="线条"/>
            <p:cNvSpPr/>
            <p:nvPr/>
          </p:nvSpPr>
          <p:spPr>
            <a:xfrm flipV="1">
              <a:off x="7311027" y="952501"/>
              <a:ext cx="1589" cy="560389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46" name="线条"/>
            <p:cNvSpPr/>
            <p:nvPr/>
          </p:nvSpPr>
          <p:spPr>
            <a:xfrm flipV="1">
              <a:off x="8158752" y="0"/>
              <a:ext cx="1589" cy="849314"/>
            </a:xfrm>
            <a:prstGeom prst="line">
              <a:avLst/>
            </a:prstGeom>
            <a:noFill/>
            <a:ln w="38100" cap="flat">
              <a:solidFill>
                <a:srgbClr val="3333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47" name="线条"/>
            <p:cNvSpPr/>
            <p:nvPr/>
          </p:nvSpPr>
          <p:spPr>
            <a:xfrm flipH="1">
              <a:off x="1711915" y="0"/>
              <a:ext cx="6469267" cy="1589"/>
            </a:xfrm>
            <a:prstGeom prst="line">
              <a:avLst/>
            </a:prstGeom>
            <a:noFill/>
            <a:ln w="38100" cap="flat">
              <a:solidFill>
                <a:srgbClr val="3333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48" name="线条"/>
            <p:cNvSpPr/>
            <p:nvPr/>
          </p:nvSpPr>
          <p:spPr>
            <a:xfrm>
              <a:off x="1724614" y="0"/>
              <a:ext cx="1590" cy="576264"/>
            </a:xfrm>
            <a:prstGeom prst="line">
              <a:avLst/>
            </a:prstGeom>
            <a:noFill/>
            <a:ln w="38100" cap="flat">
              <a:solidFill>
                <a:srgbClr val="3333CC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49" name="线条"/>
            <p:cNvSpPr/>
            <p:nvPr/>
          </p:nvSpPr>
          <p:spPr>
            <a:xfrm flipV="1">
              <a:off x="5671140" y="1106488"/>
              <a:ext cx="1589" cy="412157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50" name="线条"/>
            <p:cNvSpPr/>
            <p:nvPr/>
          </p:nvSpPr>
          <p:spPr>
            <a:xfrm flipH="1">
              <a:off x="3578814" y="1493639"/>
              <a:ext cx="1504953" cy="1590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51" name="线条"/>
            <p:cNvSpPr/>
            <p:nvPr/>
          </p:nvSpPr>
          <p:spPr>
            <a:xfrm flipV="1">
              <a:off x="5083765" y="956469"/>
              <a:ext cx="1589" cy="560389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52" name="线条"/>
            <p:cNvSpPr/>
            <p:nvPr/>
          </p:nvSpPr>
          <p:spPr>
            <a:xfrm flipV="1">
              <a:off x="3587149" y="1128713"/>
              <a:ext cx="1589" cy="374057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53" name="线条"/>
            <p:cNvSpPr/>
            <p:nvPr/>
          </p:nvSpPr>
          <p:spPr>
            <a:xfrm flipV="1">
              <a:off x="3099390" y="943769"/>
              <a:ext cx="1589" cy="560389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54" name="线条"/>
            <p:cNvSpPr/>
            <p:nvPr/>
          </p:nvSpPr>
          <p:spPr>
            <a:xfrm flipV="1">
              <a:off x="1603964" y="1154113"/>
              <a:ext cx="1590" cy="348657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55" name="线条"/>
            <p:cNvSpPr/>
            <p:nvPr/>
          </p:nvSpPr>
          <p:spPr>
            <a:xfrm flipV="1">
              <a:off x="1207089" y="900113"/>
              <a:ext cx="1590" cy="866181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56" name="线条"/>
            <p:cNvSpPr/>
            <p:nvPr/>
          </p:nvSpPr>
          <p:spPr>
            <a:xfrm>
              <a:off x="1207089" y="1763713"/>
              <a:ext cx="6624640" cy="1589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57" name="线条"/>
            <p:cNvSpPr/>
            <p:nvPr/>
          </p:nvSpPr>
          <p:spPr>
            <a:xfrm flipV="1">
              <a:off x="7831727" y="1118196"/>
              <a:ext cx="1589" cy="660401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58" name="线条"/>
            <p:cNvSpPr/>
            <p:nvPr/>
          </p:nvSpPr>
          <p:spPr>
            <a:xfrm flipH="1">
              <a:off x="1603964" y="1476374"/>
              <a:ext cx="1474790" cy="1591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59" name="线条"/>
            <p:cNvSpPr/>
            <p:nvPr/>
          </p:nvSpPr>
          <p:spPr>
            <a:xfrm>
              <a:off x="2088152" y="850901"/>
              <a:ext cx="733427" cy="1589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60" name="线条"/>
            <p:cNvSpPr/>
            <p:nvPr/>
          </p:nvSpPr>
          <p:spPr>
            <a:xfrm>
              <a:off x="3931239" y="850901"/>
              <a:ext cx="996754" cy="1589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61" name="head"/>
            <p:cNvSpPr txBox="1"/>
            <p:nvPr/>
          </p:nvSpPr>
          <p:spPr>
            <a:xfrm>
              <a:off x="0" y="644714"/>
              <a:ext cx="758816" cy="3897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7" tIns="35717" rIns="35717" bIns="35717" numCol="1" anchor="t">
              <a:spAutoFit/>
            </a:bodyPr>
            <a:lstStyle>
              <a:lvl1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</a:t>
              </a:r>
            </a:p>
          </p:txBody>
        </p:sp>
        <p:sp>
          <p:nvSpPr>
            <p:cNvPr id="1462" name="线条"/>
            <p:cNvSpPr/>
            <p:nvPr/>
          </p:nvSpPr>
          <p:spPr>
            <a:xfrm>
              <a:off x="679583" y="857251"/>
              <a:ext cx="366119" cy="1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466" name="成组"/>
            <p:cNvGrpSpPr/>
            <p:nvPr/>
          </p:nvGrpSpPr>
          <p:grpSpPr>
            <a:xfrm>
              <a:off x="1057170" y="572038"/>
              <a:ext cx="1223371" cy="607225"/>
              <a:chOff x="0" y="0"/>
              <a:chExt cx="1223369" cy="607224"/>
            </a:xfrm>
          </p:grpSpPr>
          <p:sp>
            <p:nvSpPr>
              <p:cNvPr id="1463" name="矩形"/>
              <p:cNvSpPr/>
              <p:nvPr/>
            </p:nvSpPr>
            <p:spPr>
              <a:xfrm>
                <a:off x="0" y="0"/>
                <a:ext cx="1223370" cy="607225"/>
              </a:xfrm>
              <a:prstGeom prst="rect">
                <a:avLst/>
              </a:prstGeom>
              <a:solidFill>
                <a:srgbClr val="CCFFCC">
                  <a:alpha val="50195"/>
                </a:srgbClr>
              </a:solidFill>
              <a:ln w="25400" cap="flat">
                <a:solidFill>
                  <a:srgbClr val="3333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0828">
                  <a:spcBef>
                    <a:spcPts val="1300"/>
                  </a:spcBef>
                  <a:defRPr sz="22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464" name="线条"/>
              <p:cNvSpPr/>
              <p:nvPr/>
            </p:nvSpPr>
            <p:spPr>
              <a:xfrm>
                <a:off x="304800" y="0"/>
                <a:ext cx="1589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465" name="线条"/>
              <p:cNvSpPr/>
              <p:nvPr/>
            </p:nvSpPr>
            <p:spPr>
              <a:xfrm>
                <a:off x="914400" y="0"/>
                <a:ext cx="1590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1471" name="成组"/>
            <p:cNvGrpSpPr/>
            <p:nvPr/>
          </p:nvGrpSpPr>
          <p:grpSpPr>
            <a:xfrm>
              <a:off x="2796193" y="525210"/>
              <a:ext cx="1223371" cy="622559"/>
              <a:chOff x="0" y="5"/>
              <a:chExt cx="1223369" cy="622558"/>
            </a:xfrm>
          </p:grpSpPr>
          <p:sp>
            <p:nvSpPr>
              <p:cNvPr id="1467" name="矩形"/>
              <p:cNvSpPr/>
              <p:nvPr/>
            </p:nvSpPr>
            <p:spPr>
              <a:xfrm>
                <a:off x="0" y="6223"/>
                <a:ext cx="1223370" cy="607225"/>
              </a:xfrm>
              <a:prstGeom prst="rect">
                <a:avLst/>
              </a:prstGeom>
              <a:solidFill>
                <a:srgbClr val="CCFFCC">
                  <a:alpha val="50195"/>
                </a:srgbClr>
              </a:solidFill>
              <a:ln w="25400" cap="flat">
                <a:solidFill>
                  <a:srgbClr val="3333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0828">
                  <a:spcBef>
                    <a:spcPts val="1300"/>
                  </a:spcBef>
                  <a:defRPr sz="22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468" name="a0"/>
              <p:cNvSpPr txBox="1"/>
              <p:nvPr/>
            </p:nvSpPr>
            <p:spPr>
              <a:xfrm>
                <a:off x="367297" y="5"/>
                <a:ext cx="484611" cy="6225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35717" tIns="35717" rIns="35717" bIns="35717" numCol="1" anchor="ctr">
                <a:spAutoFit/>
              </a:bodyPr>
              <a:lstStyle/>
              <a:p>
                <a:pPr marR="40640" indent="40640" algn="ctr" defTabSz="910828">
                  <a:defRPr sz="3400" b="1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a</a:t>
                </a:r>
                <a:r>
                  <a:rPr baseline="-26116"/>
                  <a:t>0</a:t>
                </a:r>
              </a:p>
            </p:txBody>
          </p:sp>
          <p:sp>
            <p:nvSpPr>
              <p:cNvPr id="1469" name="线条"/>
              <p:cNvSpPr/>
              <p:nvPr/>
            </p:nvSpPr>
            <p:spPr>
              <a:xfrm>
                <a:off x="304800" y="6223"/>
                <a:ext cx="1589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470" name="线条"/>
              <p:cNvSpPr/>
              <p:nvPr/>
            </p:nvSpPr>
            <p:spPr>
              <a:xfrm>
                <a:off x="914400" y="6223"/>
                <a:ext cx="1590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1476" name="成组"/>
            <p:cNvGrpSpPr/>
            <p:nvPr/>
          </p:nvGrpSpPr>
          <p:grpSpPr>
            <a:xfrm>
              <a:off x="4910443" y="522949"/>
              <a:ext cx="1223371" cy="622559"/>
              <a:chOff x="0" y="5"/>
              <a:chExt cx="1223369" cy="622558"/>
            </a:xfrm>
          </p:grpSpPr>
          <p:sp>
            <p:nvSpPr>
              <p:cNvPr id="1472" name="矩形"/>
              <p:cNvSpPr/>
              <p:nvPr/>
            </p:nvSpPr>
            <p:spPr>
              <a:xfrm>
                <a:off x="0" y="6223"/>
                <a:ext cx="1223370" cy="607225"/>
              </a:xfrm>
              <a:prstGeom prst="rect">
                <a:avLst/>
              </a:prstGeom>
              <a:solidFill>
                <a:srgbClr val="CCFFCC">
                  <a:alpha val="50195"/>
                </a:srgbClr>
              </a:solidFill>
              <a:ln w="25400" cap="flat">
                <a:solidFill>
                  <a:srgbClr val="3333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0828">
                  <a:spcBef>
                    <a:spcPts val="1300"/>
                  </a:spcBef>
                  <a:defRPr sz="22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473" name="a1"/>
              <p:cNvSpPr txBox="1"/>
              <p:nvPr/>
            </p:nvSpPr>
            <p:spPr>
              <a:xfrm>
                <a:off x="367297" y="5"/>
                <a:ext cx="484611" cy="6225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35717" tIns="35717" rIns="35717" bIns="35717" numCol="1" anchor="ctr">
                <a:spAutoFit/>
              </a:bodyPr>
              <a:lstStyle/>
              <a:p>
                <a:pPr marR="40640" indent="40640" algn="ctr" defTabSz="910828">
                  <a:defRPr sz="3400" b="1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a</a:t>
                </a:r>
                <a:r>
                  <a:rPr baseline="-26116"/>
                  <a:t>1</a:t>
                </a:r>
              </a:p>
            </p:txBody>
          </p:sp>
          <p:sp>
            <p:nvSpPr>
              <p:cNvPr id="1474" name="线条"/>
              <p:cNvSpPr/>
              <p:nvPr/>
            </p:nvSpPr>
            <p:spPr>
              <a:xfrm>
                <a:off x="304800" y="6223"/>
                <a:ext cx="1589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475" name="线条"/>
              <p:cNvSpPr/>
              <p:nvPr/>
            </p:nvSpPr>
            <p:spPr>
              <a:xfrm>
                <a:off x="914400" y="6223"/>
                <a:ext cx="1590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1481" name="成组"/>
            <p:cNvGrpSpPr/>
            <p:nvPr/>
          </p:nvGrpSpPr>
          <p:grpSpPr>
            <a:xfrm>
              <a:off x="7094502" y="526693"/>
              <a:ext cx="1223371" cy="622560"/>
              <a:chOff x="0" y="5"/>
              <a:chExt cx="1223369" cy="622558"/>
            </a:xfrm>
          </p:grpSpPr>
          <p:sp>
            <p:nvSpPr>
              <p:cNvPr id="1477" name="矩形"/>
              <p:cNvSpPr/>
              <p:nvPr/>
            </p:nvSpPr>
            <p:spPr>
              <a:xfrm>
                <a:off x="0" y="6223"/>
                <a:ext cx="1223370" cy="607225"/>
              </a:xfrm>
              <a:prstGeom prst="rect">
                <a:avLst/>
              </a:prstGeom>
              <a:solidFill>
                <a:srgbClr val="CCFFCC">
                  <a:alpha val="50195"/>
                </a:srgbClr>
              </a:solidFill>
              <a:ln w="25400" cap="flat">
                <a:solidFill>
                  <a:srgbClr val="3333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0828">
                  <a:spcBef>
                    <a:spcPts val="1300"/>
                  </a:spcBef>
                  <a:defRPr sz="22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478" name="a2"/>
              <p:cNvSpPr txBox="1"/>
              <p:nvPr/>
            </p:nvSpPr>
            <p:spPr>
              <a:xfrm>
                <a:off x="367297" y="5"/>
                <a:ext cx="484611" cy="6225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35717" tIns="35717" rIns="35717" bIns="35717" numCol="1" anchor="ctr">
                <a:spAutoFit/>
              </a:bodyPr>
              <a:lstStyle/>
              <a:p>
                <a:pPr marR="40640" indent="40640" algn="ctr" defTabSz="910828">
                  <a:defRPr sz="3400" b="1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a</a:t>
                </a:r>
                <a:r>
                  <a:rPr baseline="-26116"/>
                  <a:t>2</a:t>
                </a:r>
              </a:p>
            </p:txBody>
          </p:sp>
          <p:sp>
            <p:nvSpPr>
              <p:cNvPr id="1479" name="线条"/>
              <p:cNvSpPr/>
              <p:nvPr/>
            </p:nvSpPr>
            <p:spPr>
              <a:xfrm>
                <a:off x="304800" y="6223"/>
                <a:ext cx="1589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480" name="线条"/>
              <p:cNvSpPr/>
              <p:nvPr/>
            </p:nvSpPr>
            <p:spPr>
              <a:xfrm>
                <a:off x="914400" y="6223"/>
                <a:ext cx="1590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给出类CircularDoublelyLinkedListWithHeadNode的定义"/>
          <p:cNvSpPr txBox="1"/>
          <p:nvPr/>
        </p:nvSpPr>
        <p:spPr>
          <a:xfrm>
            <a:off x="1146450" y="291704"/>
            <a:ext cx="6651472" cy="42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7" tIns="35717" rIns="35717" bIns="35717">
            <a:spAutoFit/>
          </a:bodyPr>
          <a:lstStyle>
            <a:lvl1pPr indent="40640" algn="ctr" defTabSz="584200">
              <a:defRPr sz="20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给出类CircularDoublelyLinkedListWithHeadNode的定义</a:t>
            </a:r>
          </a:p>
        </p:txBody>
      </p:sp>
      <p:grpSp>
        <p:nvGrpSpPr>
          <p:cNvPr id="1524" name="成组"/>
          <p:cNvGrpSpPr/>
          <p:nvPr/>
        </p:nvGrpSpPr>
        <p:grpSpPr>
          <a:xfrm>
            <a:off x="137317" y="881551"/>
            <a:ext cx="8317874" cy="1778597"/>
            <a:chOff x="0" y="0"/>
            <a:chExt cx="8317872" cy="1778596"/>
          </a:xfrm>
        </p:grpSpPr>
        <p:sp>
          <p:nvSpPr>
            <p:cNvPr id="1485" name="线条"/>
            <p:cNvSpPr/>
            <p:nvPr/>
          </p:nvSpPr>
          <p:spPr>
            <a:xfrm>
              <a:off x="6114052" y="850901"/>
              <a:ext cx="995364" cy="1589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86" name="线条"/>
            <p:cNvSpPr/>
            <p:nvPr/>
          </p:nvSpPr>
          <p:spPr>
            <a:xfrm flipH="1">
              <a:off x="5676696" y="1498600"/>
              <a:ext cx="1631952" cy="1590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87" name="线条"/>
            <p:cNvSpPr/>
            <p:nvPr/>
          </p:nvSpPr>
          <p:spPr>
            <a:xfrm flipV="1">
              <a:off x="7311027" y="952501"/>
              <a:ext cx="1589" cy="560389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88" name="线条"/>
            <p:cNvSpPr/>
            <p:nvPr/>
          </p:nvSpPr>
          <p:spPr>
            <a:xfrm flipV="1">
              <a:off x="8158752" y="0"/>
              <a:ext cx="1589" cy="849314"/>
            </a:xfrm>
            <a:prstGeom prst="line">
              <a:avLst/>
            </a:prstGeom>
            <a:noFill/>
            <a:ln w="38100" cap="flat">
              <a:solidFill>
                <a:srgbClr val="3333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89" name="线条"/>
            <p:cNvSpPr/>
            <p:nvPr/>
          </p:nvSpPr>
          <p:spPr>
            <a:xfrm flipH="1">
              <a:off x="1711915" y="0"/>
              <a:ext cx="6469267" cy="1589"/>
            </a:xfrm>
            <a:prstGeom prst="line">
              <a:avLst/>
            </a:prstGeom>
            <a:noFill/>
            <a:ln w="38100" cap="flat">
              <a:solidFill>
                <a:srgbClr val="3333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90" name="线条"/>
            <p:cNvSpPr/>
            <p:nvPr/>
          </p:nvSpPr>
          <p:spPr>
            <a:xfrm>
              <a:off x="1724614" y="0"/>
              <a:ext cx="1590" cy="576264"/>
            </a:xfrm>
            <a:prstGeom prst="line">
              <a:avLst/>
            </a:prstGeom>
            <a:noFill/>
            <a:ln w="38100" cap="flat">
              <a:solidFill>
                <a:srgbClr val="3333CC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91" name="线条"/>
            <p:cNvSpPr/>
            <p:nvPr/>
          </p:nvSpPr>
          <p:spPr>
            <a:xfrm flipV="1">
              <a:off x="5671140" y="1106488"/>
              <a:ext cx="1589" cy="412157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92" name="线条"/>
            <p:cNvSpPr/>
            <p:nvPr/>
          </p:nvSpPr>
          <p:spPr>
            <a:xfrm flipH="1">
              <a:off x="3578814" y="1493639"/>
              <a:ext cx="1504953" cy="1590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93" name="线条"/>
            <p:cNvSpPr/>
            <p:nvPr/>
          </p:nvSpPr>
          <p:spPr>
            <a:xfrm flipV="1">
              <a:off x="5083765" y="956469"/>
              <a:ext cx="1589" cy="560389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94" name="线条"/>
            <p:cNvSpPr/>
            <p:nvPr/>
          </p:nvSpPr>
          <p:spPr>
            <a:xfrm flipV="1">
              <a:off x="3587149" y="1128713"/>
              <a:ext cx="1589" cy="374057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95" name="线条"/>
            <p:cNvSpPr/>
            <p:nvPr/>
          </p:nvSpPr>
          <p:spPr>
            <a:xfrm flipV="1">
              <a:off x="3099390" y="943769"/>
              <a:ext cx="1589" cy="560389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96" name="线条"/>
            <p:cNvSpPr/>
            <p:nvPr/>
          </p:nvSpPr>
          <p:spPr>
            <a:xfrm flipV="1">
              <a:off x="1603964" y="1154113"/>
              <a:ext cx="1590" cy="348657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97" name="线条"/>
            <p:cNvSpPr/>
            <p:nvPr/>
          </p:nvSpPr>
          <p:spPr>
            <a:xfrm flipV="1">
              <a:off x="1207089" y="900113"/>
              <a:ext cx="1590" cy="866181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98" name="线条"/>
            <p:cNvSpPr/>
            <p:nvPr/>
          </p:nvSpPr>
          <p:spPr>
            <a:xfrm>
              <a:off x="1207089" y="1763713"/>
              <a:ext cx="6624640" cy="1589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499" name="线条"/>
            <p:cNvSpPr/>
            <p:nvPr/>
          </p:nvSpPr>
          <p:spPr>
            <a:xfrm flipV="1">
              <a:off x="7831727" y="1118196"/>
              <a:ext cx="1589" cy="660401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500" name="线条"/>
            <p:cNvSpPr/>
            <p:nvPr/>
          </p:nvSpPr>
          <p:spPr>
            <a:xfrm flipH="1">
              <a:off x="1603964" y="1476374"/>
              <a:ext cx="1474790" cy="1591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501" name="线条"/>
            <p:cNvSpPr/>
            <p:nvPr/>
          </p:nvSpPr>
          <p:spPr>
            <a:xfrm>
              <a:off x="2088152" y="850901"/>
              <a:ext cx="733427" cy="1589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502" name="线条"/>
            <p:cNvSpPr/>
            <p:nvPr/>
          </p:nvSpPr>
          <p:spPr>
            <a:xfrm>
              <a:off x="3931239" y="850901"/>
              <a:ext cx="996754" cy="1589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503" name="head"/>
            <p:cNvSpPr txBox="1"/>
            <p:nvPr/>
          </p:nvSpPr>
          <p:spPr>
            <a:xfrm>
              <a:off x="0" y="644714"/>
              <a:ext cx="758816" cy="3897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7" tIns="35717" rIns="35717" bIns="35717" numCol="1" anchor="t">
              <a:spAutoFit/>
            </a:bodyPr>
            <a:lstStyle>
              <a:lvl1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</a:t>
              </a:r>
            </a:p>
          </p:txBody>
        </p:sp>
        <p:sp>
          <p:nvSpPr>
            <p:cNvPr id="1504" name="线条"/>
            <p:cNvSpPr/>
            <p:nvPr/>
          </p:nvSpPr>
          <p:spPr>
            <a:xfrm>
              <a:off x="679583" y="857251"/>
              <a:ext cx="366119" cy="1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508" name="成组"/>
            <p:cNvGrpSpPr/>
            <p:nvPr/>
          </p:nvGrpSpPr>
          <p:grpSpPr>
            <a:xfrm>
              <a:off x="1057170" y="572038"/>
              <a:ext cx="1223371" cy="607225"/>
              <a:chOff x="0" y="0"/>
              <a:chExt cx="1223369" cy="607224"/>
            </a:xfrm>
          </p:grpSpPr>
          <p:sp>
            <p:nvSpPr>
              <p:cNvPr id="1505" name="矩形"/>
              <p:cNvSpPr/>
              <p:nvPr/>
            </p:nvSpPr>
            <p:spPr>
              <a:xfrm>
                <a:off x="0" y="0"/>
                <a:ext cx="1223370" cy="607225"/>
              </a:xfrm>
              <a:prstGeom prst="rect">
                <a:avLst/>
              </a:prstGeom>
              <a:solidFill>
                <a:srgbClr val="CCFFCC">
                  <a:alpha val="50195"/>
                </a:srgbClr>
              </a:solidFill>
              <a:ln w="25400" cap="flat">
                <a:solidFill>
                  <a:srgbClr val="3333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0828">
                  <a:spcBef>
                    <a:spcPts val="1300"/>
                  </a:spcBef>
                  <a:defRPr sz="22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506" name="线条"/>
              <p:cNvSpPr/>
              <p:nvPr/>
            </p:nvSpPr>
            <p:spPr>
              <a:xfrm>
                <a:off x="304800" y="0"/>
                <a:ext cx="1589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507" name="线条"/>
              <p:cNvSpPr/>
              <p:nvPr/>
            </p:nvSpPr>
            <p:spPr>
              <a:xfrm>
                <a:off x="914400" y="0"/>
                <a:ext cx="1590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1513" name="成组"/>
            <p:cNvGrpSpPr/>
            <p:nvPr/>
          </p:nvGrpSpPr>
          <p:grpSpPr>
            <a:xfrm>
              <a:off x="2796193" y="525210"/>
              <a:ext cx="1223371" cy="622559"/>
              <a:chOff x="0" y="5"/>
              <a:chExt cx="1223369" cy="622558"/>
            </a:xfrm>
          </p:grpSpPr>
          <p:sp>
            <p:nvSpPr>
              <p:cNvPr id="1509" name="矩形"/>
              <p:cNvSpPr/>
              <p:nvPr/>
            </p:nvSpPr>
            <p:spPr>
              <a:xfrm>
                <a:off x="0" y="6223"/>
                <a:ext cx="1223370" cy="607225"/>
              </a:xfrm>
              <a:prstGeom prst="rect">
                <a:avLst/>
              </a:prstGeom>
              <a:solidFill>
                <a:srgbClr val="CCFFCC">
                  <a:alpha val="50195"/>
                </a:srgbClr>
              </a:solidFill>
              <a:ln w="25400" cap="flat">
                <a:solidFill>
                  <a:srgbClr val="3333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0828">
                  <a:spcBef>
                    <a:spcPts val="1300"/>
                  </a:spcBef>
                  <a:defRPr sz="22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510" name="a0"/>
              <p:cNvSpPr txBox="1"/>
              <p:nvPr/>
            </p:nvSpPr>
            <p:spPr>
              <a:xfrm>
                <a:off x="367297" y="5"/>
                <a:ext cx="484611" cy="6225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35717" tIns="35717" rIns="35717" bIns="35717" numCol="1" anchor="ctr">
                <a:spAutoFit/>
              </a:bodyPr>
              <a:lstStyle/>
              <a:p>
                <a:pPr marR="40640" indent="40640" algn="ctr" defTabSz="910828">
                  <a:defRPr sz="3400" b="1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a</a:t>
                </a:r>
                <a:r>
                  <a:rPr baseline="-26116"/>
                  <a:t>0</a:t>
                </a:r>
              </a:p>
            </p:txBody>
          </p:sp>
          <p:sp>
            <p:nvSpPr>
              <p:cNvPr id="1511" name="线条"/>
              <p:cNvSpPr/>
              <p:nvPr/>
            </p:nvSpPr>
            <p:spPr>
              <a:xfrm>
                <a:off x="304800" y="6223"/>
                <a:ext cx="1589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512" name="线条"/>
              <p:cNvSpPr/>
              <p:nvPr/>
            </p:nvSpPr>
            <p:spPr>
              <a:xfrm>
                <a:off x="914400" y="6223"/>
                <a:ext cx="1590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1518" name="成组"/>
            <p:cNvGrpSpPr/>
            <p:nvPr/>
          </p:nvGrpSpPr>
          <p:grpSpPr>
            <a:xfrm>
              <a:off x="4910443" y="522949"/>
              <a:ext cx="1223371" cy="622559"/>
              <a:chOff x="0" y="5"/>
              <a:chExt cx="1223369" cy="622558"/>
            </a:xfrm>
          </p:grpSpPr>
          <p:sp>
            <p:nvSpPr>
              <p:cNvPr id="1514" name="矩形"/>
              <p:cNvSpPr/>
              <p:nvPr/>
            </p:nvSpPr>
            <p:spPr>
              <a:xfrm>
                <a:off x="0" y="6223"/>
                <a:ext cx="1223370" cy="607225"/>
              </a:xfrm>
              <a:prstGeom prst="rect">
                <a:avLst/>
              </a:prstGeom>
              <a:solidFill>
                <a:srgbClr val="CCFFCC">
                  <a:alpha val="50195"/>
                </a:srgbClr>
              </a:solidFill>
              <a:ln w="25400" cap="flat">
                <a:solidFill>
                  <a:srgbClr val="3333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0828">
                  <a:spcBef>
                    <a:spcPts val="1300"/>
                  </a:spcBef>
                  <a:defRPr sz="22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515" name="a1"/>
              <p:cNvSpPr txBox="1"/>
              <p:nvPr/>
            </p:nvSpPr>
            <p:spPr>
              <a:xfrm>
                <a:off x="367297" y="5"/>
                <a:ext cx="484611" cy="6225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35717" tIns="35717" rIns="35717" bIns="35717" numCol="1" anchor="ctr">
                <a:spAutoFit/>
              </a:bodyPr>
              <a:lstStyle/>
              <a:p>
                <a:pPr marR="40640" indent="40640" algn="ctr" defTabSz="910828">
                  <a:defRPr sz="3400" b="1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a</a:t>
                </a:r>
                <a:r>
                  <a:rPr baseline="-26116"/>
                  <a:t>1</a:t>
                </a:r>
              </a:p>
            </p:txBody>
          </p:sp>
          <p:sp>
            <p:nvSpPr>
              <p:cNvPr id="1516" name="线条"/>
              <p:cNvSpPr/>
              <p:nvPr/>
            </p:nvSpPr>
            <p:spPr>
              <a:xfrm>
                <a:off x="304800" y="6223"/>
                <a:ext cx="1589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517" name="线条"/>
              <p:cNvSpPr/>
              <p:nvPr/>
            </p:nvSpPr>
            <p:spPr>
              <a:xfrm>
                <a:off x="914400" y="6223"/>
                <a:ext cx="1590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  <p:grpSp>
          <p:nvGrpSpPr>
            <p:cNvPr id="1523" name="成组"/>
            <p:cNvGrpSpPr/>
            <p:nvPr/>
          </p:nvGrpSpPr>
          <p:grpSpPr>
            <a:xfrm>
              <a:off x="7094502" y="526693"/>
              <a:ext cx="1223371" cy="622560"/>
              <a:chOff x="0" y="5"/>
              <a:chExt cx="1223369" cy="622558"/>
            </a:xfrm>
          </p:grpSpPr>
          <p:sp>
            <p:nvSpPr>
              <p:cNvPr id="1519" name="矩形"/>
              <p:cNvSpPr/>
              <p:nvPr/>
            </p:nvSpPr>
            <p:spPr>
              <a:xfrm>
                <a:off x="0" y="6223"/>
                <a:ext cx="1223370" cy="607225"/>
              </a:xfrm>
              <a:prstGeom prst="rect">
                <a:avLst/>
              </a:prstGeom>
              <a:solidFill>
                <a:srgbClr val="CCFFCC">
                  <a:alpha val="50195"/>
                </a:srgbClr>
              </a:solidFill>
              <a:ln w="25400" cap="flat">
                <a:solidFill>
                  <a:srgbClr val="3333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0828">
                  <a:spcBef>
                    <a:spcPts val="1300"/>
                  </a:spcBef>
                  <a:defRPr sz="22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520" name="a2"/>
              <p:cNvSpPr txBox="1"/>
              <p:nvPr/>
            </p:nvSpPr>
            <p:spPr>
              <a:xfrm>
                <a:off x="367297" y="5"/>
                <a:ext cx="484611" cy="6225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35717" tIns="35717" rIns="35717" bIns="35717" numCol="1" anchor="ctr">
                <a:spAutoFit/>
              </a:bodyPr>
              <a:lstStyle/>
              <a:p>
                <a:pPr marR="40640" indent="40640" algn="ctr" defTabSz="910828">
                  <a:defRPr sz="3400" b="1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a</a:t>
                </a:r>
                <a:r>
                  <a:rPr baseline="-26116"/>
                  <a:t>2</a:t>
                </a:r>
              </a:p>
            </p:txBody>
          </p:sp>
          <p:sp>
            <p:nvSpPr>
              <p:cNvPr id="1521" name="线条"/>
              <p:cNvSpPr/>
              <p:nvPr/>
            </p:nvSpPr>
            <p:spPr>
              <a:xfrm>
                <a:off x="304800" y="6223"/>
                <a:ext cx="1589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522" name="线条"/>
              <p:cNvSpPr/>
              <p:nvPr/>
            </p:nvSpPr>
            <p:spPr>
              <a:xfrm>
                <a:off x="914400" y="6223"/>
                <a:ext cx="1590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</p:grpSp>
      <p:sp>
        <p:nvSpPr>
          <p:cNvPr id="1525" name="public class CircularDoublelyLinkedListWithHeadNode&lt;T&gt; {…"/>
          <p:cNvSpPr txBox="1"/>
          <p:nvPr/>
        </p:nvSpPr>
        <p:spPr>
          <a:xfrm>
            <a:off x="1527323" y="2770768"/>
            <a:ext cx="6089354" cy="3761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CircularDoublelyLinkedListWithHeadNode&lt;T&gt; {</a:t>
            </a:r>
          </a:p>
          <a:p>
            <a:pPr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Node&lt;T&gt;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  <a:r>
              <a:rPr>
                <a:solidFill>
                  <a:srgbClr val="4E9072"/>
                </a:solidFill>
              </a:rPr>
              <a:t>// 引用头结点</a:t>
            </a:r>
          </a:p>
          <a:p>
            <a:pPr>
              <a:defRPr sz="14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 u="sng">
                <a:solidFill>
                  <a:srgbClr val="0326CC"/>
                </a:solidFill>
              </a:rPr>
              <a:t>size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链表中结点的个数</a:t>
            </a:r>
            <a:endParaRPr>
              <a:solidFill>
                <a:srgbClr val="000000"/>
              </a:solidFill>
            </a:endParaRPr>
          </a:p>
          <a:p>
            <a:pPr>
              <a:defRPr sz="1400">
                <a:latin typeface="Monaco"/>
                <a:ea typeface="Monaco"/>
                <a:cs typeface="Monaco"/>
                <a:sym typeface="Monaco"/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 {</a:t>
            </a:r>
          </a:p>
          <a:p>
            <a:pPr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T </a:t>
            </a:r>
            <a:r>
              <a:rPr u="sng">
                <a:solidFill>
                  <a:srgbClr val="0326CC"/>
                </a:solidFill>
              </a:rPr>
              <a:t>data</a:t>
            </a:r>
            <a:r>
              <a:t>;</a:t>
            </a:r>
          </a:p>
          <a:p>
            <a:pPr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 u="sng"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 u="sng">
                <a:solidFill>
                  <a:srgbClr val="0326CC"/>
                </a:solidFill>
              </a:rPr>
              <a:t>prev</a:t>
            </a:r>
            <a:r>
              <a:t>;</a:t>
            </a:r>
          </a:p>
          <a:p>
            <a:pPr>
              <a:defRPr sz="1400">
                <a:latin typeface="Monaco"/>
                <a:ea typeface="Monaco"/>
                <a:cs typeface="Monaco"/>
                <a:sym typeface="Monaco"/>
              </a:defRPr>
            </a:pPr>
            <a:endParaRPr/>
          </a:p>
          <a:p>
            <a:pPr>
              <a:defRPr sz="14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Node(Node&lt;T&gt; </a:t>
            </a:r>
            <a:r>
              <a:rPr>
                <a:solidFill>
                  <a:srgbClr val="7E504F"/>
                </a:solidFill>
              </a:rPr>
              <a:t>prev</a:t>
            </a:r>
            <a:r>
              <a:rPr>
                <a:solidFill>
                  <a:srgbClr val="000000"/>
                </a:solidFill>
              </a:rPr>
              <a:t>, T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, Node&lt;T&gt; </a:t>
            </a:r>
            <a:r>
              <a:rPr>
                <a:solidFill>
                  <a:srgbClr val="7E504F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) {</a:t>
            </a:r>
          </a:p>
          <a:p>
            <a:pPr>
              <a:defRPr sz="1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prev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prev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课堂练习：给出构造器的代码"/>
          <p:cNvSpPr txBox="1"/>
          <p:nvPr/>
        </p:nvSpPr>
        <p:spPr>
          <a:xfrm>
            <a:off x="755648" y="-1589"/>
            <a:ext cx="7929565" cy="63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7" tIns="35717" rIns="35717" bIns="35717">
            <a:spAutoFit/>
          </a:bodyPr>
          <a:lstStyle>
            <a:lvl1pPr indent="40640" algn="ctr" defTabSz="584200">
              <a:defRPr sz="31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课堂练习：给出构造器的代码</a:t>
            </a:r>
          </a:p>
        </p:txBody>
      </p:sp>
      <p:grpSp>
        <p:nvGrpSpPr>
          <p:cNvPr id="1540" name="成组"/>
          <p:cNvGrpSpPr/>
          <p:nvPr/>
        </p:nvGrpSpPr>
        <p:grpSpPr>
          <a:xfrm>
            <a:off x="2530665" y="844154"/>
            <a:ext cx="2309301" cy="853259"/>
            <a:chOff x="0" y="0"/>
            <a:chExt cx="2309299" cy="853257"/>
          </a:xfrm>
        </p:grpSpPr>
        <p:sp>
          <p:nvSpPr>
            <p:cNvPr id="1528" name="线条"/>
            <p:cNvSpPr/>
            <p:nvPr/>
          </p:nvSpPr>
          <p:spPr>
            <a:xfrm flipH="1">
              <a:off x="1768257" y="0"/>
              <a:ext cx="360365" cy="1590"/>
            </a:xfrm>
            <a:prstGeom prst="line">
              <a:avLst/>
            </a:prstGeom>
            <a:noFill/>
            <a:ln w="38100" cap="flat">
              <a:solidFill>
                <a:srgbClr val="3333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529" name="线条"/>
            <p:cNvSpPr/>
            <p:nvPr/>
          </p:nvSpPr>
          <p:spPr>
            <a:xfrm flipH="1">
              <a:off x="1263233" y="0"/>
              <a:ext cx="360365" cy="1590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530" name="线条"/>
            <p:cNvSpPr/>
            <p:nvPr/>
          </p:nvSpPr>
          <p:spPr>
            <a:xfrm flipV="1">
              <a:off x="2128620" y="0"/>
              <a:ext cx="1590" cy="437557"/>
            </a:xfrm>
            <a:prstGeom prst="line">
              <a:avLst/>
            </a:prstGeom>
            <a:noFill/>
            <a:ln w="38100" cap="flat">
              <a:solidFill>
                <a:srgbClr val="3333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531" name="线条"/>
            <p:cNvSpPr/>
            <p:nvPr/>
          </p:nvSpPr>
          <p:spPr>
            <a:xfrm>
              <a:off x="1768258" y="0"/>
              <a:ext cx="1590" cy="214314"/>
            </a:xfrm>
            <a:prstGeom prst="line">
              <a:avLst/>
            </a:prstGeom>
            <a:noFill/>
            <a:ln w="38100" cap="flat">
              <a:solidFill>
                <a:srgbClr val="3333CC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532" name="线条"/>
            <p:cNvSpPr/>
            <p:nvPr/>
          </p:nvSpPr>
          <p:spPr>
            <a:xfrm flipV="1">
              <a:off x="1265020" y="0"/>
              <a:ext cx="1589" cy="437557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533" name="线条"/>
            <p:cNvSpPr/>
            <p:nvPr/>
          </p:nvSpPr>
          <p:spPr>
            <a:xfrm>
              <a:off x="1623795" y="0"/>
              <a:ext cx="1589" cy="214314"/>
            </a:xfrm>
            <a:prstGeom prst="line">
              <a:avLst/>
            </a:prstGeom>
            <a:noFill/>
            <a:ln w="381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sp>
          <p:nvSpPr>
            <p:cNvPr id="1534" name="head"/>
            <p:cNvSpPr txBox="1"/>
            <p:nvPr/>
          </p:nvSpPr>
          <p:spPr>
            <a:xfrm>
              <a:off x="0" y="329361"/>
              <a:ext cx="873138" cy="3897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7" tIns="35717" rIns="35717" bIns="35717" numCol="1" anchor="t">
              <a:spAutoFit/>
            </a:bodyPr>
            <a:lstStyle>
              <a:lvl1pPr marR="40640" indent="40640" defTabSz="910828">
                <a:spcBef>
                  <a:spcPts val="1300"/>
                </a:spcBef>
                <a:defRPr sz="2200"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</a:t>
              </a:r>
            </a:p>
          </p:txBody>
        </p:sp>
        <p:sp>
          <p:nvSpPr>
            <p:cNvPr id="1535" name="线条"/>
            <p:cNvSpPr/>
            <p:nvPr/>
          </p:nvSpPr>
          <p:spPr>
            <a:xfrm>
              <a:off x="670467" y="537679"/>
              <a:ext cx="422277" cy="1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  <a:endParaRPr/>
            </a:p>
          </p:txBody>
        </p:sp>
        <p:grpSp>
          <p:nvGrpSpPr>
            <p:cNvPr id="1539" name="成组"/>
            <p:cNvGrpSpPr/>
            <p:nvPr/>
          </p:nvGrpSpPr>
          <p:grpSpPr>
            <a:xfrm>
              <a:off x="1085929" y="246033"/>
              <a:ext cx="1223371" cy="607225"/>
              <a:chOff x="0" y="0"/>
              <a:chExt cx="1223369" cy="607224"/>
            </a:xfrm>
          </p:grpSpPr>
          <p:sp>
            <p:nvSpPr>
              <p:cNvPr id="1536" name="矩形"/>
              <p:cNvSpPr/>
              <p:nvPr/>
            </p:nvSpPr>
            <p:spPr>
              <a:xfrm>
                <a:off x="0" y="0"/>
                <a:ext cx="1223370" cy="607225"/>
              </a:xfrm>
              <a:prstGeom prst="rect">
                <a:avLst/>
              </a:prstGeom>
              <a:solidFill>
                <a:srgbClr val="CCFFCC">
                  <a:alpha val="50195"/>
                </a:srgbClr>
              </a:solidFill>
              <a:ln w="25400" cap="flat">
                <a:solidFill>
                  <a:srgbClr val="3333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0828">
                  <a:spcBef>
                    <a:spcPts val="1300"/>
                  </a:spcBef>
                  <a:defRPr sz="22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537" name="线条"/>
              <p:cNvSpPr/>
              <p:nvPr/>
            </p:nvSpPr>
            <p:spPr>
              <a:xfrm>
                <a:off x="304800" y="0"/>
                <a:ext cx="1589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  <p:sp>
            <p:nvSpPr>
              <p:cNvPr id="1538" name="线条"/>
              <p:cNvSpPr/>
              <p:nvPr/>
            </p:nvSpPr>
            <p:spPr>
              <a:xfrm>
                <a:off x="914400" y="0"/>
                <a:ext cx="1590" cy="607223"/>
              </a:xfrm>
              <a:prstGeom prst="line">
                <a:avLst/>
              </a:prstGeom>
              <a:noFill/>
              <a:ln w="25400" cap="flat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  <a:endParaRPr/>
              </a:p>
            </p:txBody>
          </p:sp>
        </p:grpSp>
      </p:grpSp>
      <p:sp>
        <p:nvSpPr>
          <p:cNvPr id="1541" name="public CircularDoublelyLinkedListWithHeadNode() {…"/>
          <p:cNvSpPr txBox="1"/>
          <p:nvPr/>
        </p:nvSpPr>
        <p:spPr>
          <a:xfrm>
            <a:off x="410684" y="2599892"/>
            <a:ext cx="8040316" cy="145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CircularDoublelyLinkedListWithHeadNode()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Node&lt;T&gt;(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,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,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);</a:t>
            </a: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.</a:t>
            </a:r>
            <a:r>
              <a:t>prev</a:t>
            </a:r>
            <a:r>
              <a:rPr>
                <a:solidFill>
                  <a:srgbClr val="000000"/>
                </a:solidFill>
              </a:rPr>
              <a:t> = 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1" grpId="1" animBg="1" advAuto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小 结"/>
          <p:cNvSpPr txBox="1"/>
          <p:nvPr/>
        </p:nvSpPr>
        <p:spPr>
          <a:xfrm>
            <a:off x="1241425" y="-19745"/>
            <a:ext cx="6911975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sz="37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小 结</a:t>
            </a:r>
          </a:p>
        </p:txBody>
      </p:sp>
      <p:sp>
        <p:nvSpPr>
          <p:cNvPr id="1544" name="线条"/>
          <p:cNvSpPr/>
          <p:nvPr/>
        </p:nvSpPr>
        <p:spPr>
          <a:xfrm>
            <a:off x="89833" y="1023946"/>
            <a:ext cx="347063" cy="42433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ln w="38100">
            <a:solidFill>
              <a:srgbClr val="FF33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  <a:endParaRPr/>
          </a:p>
        </p:txBody>
      </p:sp>
      <p:sp>
        <p:nvSpPr>
          <p:cNvPr id="1545" name="1、Node类的对象之间有先后关系，将其它类的对象“装入”…"/>
          <p:cNvSpPr txBox="1"/>
          <p:nvPr/>
        </p:nvSpPr>
        <p:spPr>
          <a:xfrm>
            <a:off x="443875" y="954512"/>
            <a:ext cx="8507074" cy="1173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R="40640" indent="40640" defTabSz="914400">
              <a:lnSpc>
                <a:spcPct val="120000"/>
              </a:lnSpc>
              <a:spcBef>
                <a:spcPts val="1300"/>
              </a:spcBef>
              <a:defRPr sz="2300">
                <a:uFill>
                  <a:solidFill>
                    <a:srgbClr val="000000"/>
                  </a:solidFill>
                </a:uFill>
              </a:defRPr>
            </a:pPr>
            <a:r>
              <a:t>1、Node类的对象之间有先后关系，将其它类的对象“装入”</a:t>
            </a:r>
          </a:p>
          <a:p>
            <a:pPr marR="40640" indent="40640" defTabSz="914400">
              <a:lnSpc>
                <a:spcPct val="120000"/>
              </a:lnSpc>
              <a:spcBef>
                <a:spcPts val="1300"/>
              </a:spcBef>
              <a:defRPr sz="2300">
                <a:uFill>
                  <a:solidFill>
                    <a:srgbClr val="000000"/>
                  </a:solidFill>
                </a:uFill>
              </a:defRPr>
            </a:pPr>
            <a:r>
              <a:t>      Node对象，就设置了其它类对象之间的先后关系</a:t>
            </a:r>
          </a:p>
        </p:txBody>
      </p:sp>
      <p:sp>
        <p:nvSpPr>
          <p:cNvPr id="1546" name="3、java.util.LinkedList：不带头结点的双向链表"/>
          <p:cNvSpPr txBox="1"/>
          <p:nvPr/>
        </p:nvSpPr>
        <p:spPr>
          <a:xfrm>
            <a:off x="450881" y="4861415"/>
            <a:ext cx="7842357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R="40640" indent="40640" defTabSz="914400">
              <a:spcBef>
                <a:spcPts val="1300"/>
              </a:spcBef>
              <a:defRPr sz="23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3、java.util.LinkedList：不带头结点的双向链表 </a:t>
            </a:r>
          </a:p>
        </p:txBody>
      </p:sp>
      <p:sp>
        <p:nvSpPr>
          <p:cNvPr id="1547" name="2、最基本的操作：…"/>
          <p:cNvSpPr txBox="1"/>
          <p:nvPr/>
        </p:nvSpPr>
        <p:spPr>
          <a:xfrm>
            <a:off x="468432" y="2186077"/>
            <a:ext cx="8017557" cy="2503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R="40640" indent="40640" defTabSz="914400">
              <a:lnSpc>
                <a:spcPct val="120000"/>
              </a:lnSpc>
              <a:spcBef>
                <a:spcPts val="1300"/>
              </a:spcBef>
              <a:defRPr sz="2300">
                <a:uFill>
                  <a:solidFill>
                    <a:srgbClr val="000000"/>
                  </a:solidFill>
                </a:uFill>
              </a:defRPr>
            </a:pPr>
            <a:r>
              <a:t>2、最基本的操作：</a:t>
            </a:r>
          </a:p>
          <a:p>
            <a:pPr marL="611605" marR="40640" lvl="1" indent="-230605" defTabSz="914400">
              <a:lnSpc>
                <a:spcPct val="120000"/>
              </a:lnSpc>
              <a:spcBef>
                <a:spcPts val="1300"/>
              </a:spcBef>
              <a:buSzPct val="60000"/>
              <a:buBlip>
                <a:blip r:embed="rId2"/>
              </a:buBlip>
              <a:defRPr sz="2300">
                <a:uFill>
                  <a:solidFill>
                    <a:srgbClr val="000000"/>
                  </a:solidFill>
                </a:uFill>
              </a:defRPr>
            </a:pPr>
            <a:r>
              <a:t>“找下一个数据结点” p = p.next</a:t>
            </a:r>
          </a:p>
          <a:p>
            <a:pPr marL="611605" marR="40640" lvl="1" indent="-230605" defTabSz="914400">
              <a:lnSpc>
                <a:spcPct val="120000"/>
              </a:lnSpc>
              <a:spcBef>
                <a:spcPts val="1300"/>
              </a:spcBef>
              <a:buSzPct val="60000"/>
              <a:buBlip>
                <a:blip r:embed="rId2"/>
              </a:buBlip>
              <a:defRPr sz="2300">
                <a:uFill>
                  <a:solidFill>
                    <a:srgbClr val="000000"/>
                  </a:solidFill>
                </a:uFill>
              </a:defRPr>
            </a:pPr>
            <a:r>
              <a:t>删除p的后继结点</a:t>
            </a:r>
          </a:p>
          <a:p>
            <a:pPr marL="611605" marR="40640" lvl="1" indent="-230605" defTabSz="914400">
              <a:lnSpc>
                <a:spcPct val="120000"/>
              </a:lnSpc>
              <a:spcBef>
                <a:spcPts val="1300"/>
              </a:spcBef>
              <a:buSzPct val="60000"/>
              <a:buBlip>
                <a:blip r:embed="rId2"/>
              </a:buBlip>
              <a:defRPr sz="2300">
                <a:uFill>
                  <a:solidFill>
                    <a:srgbClr val="000000"/>
                  </a:solidFill>
                </a:uFill>
              </a:defRPr>
            </a:pPr>
            <a:r>
              <a:t>加入结点作为p的后继结点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wipe dir="r"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5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5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3768</Words>
  <Application>Microsoft Office PowerPoint</Application>
  <PresentationFormat>全屏显示(4:3)</PresentationFormat>
  <Paragraphs>734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4" baseType="lpstr">
      <vt:lpstr>Lucida Grande</vt:lpstr>
      <vt:lpstr>Monaco</vt:lpstr>
      <vt:lpstr>Arial Black</vt:lpstr>
      <vt:lpstr>Tahoma</vt:lpstr>
      <vt:lpstr>Times New Roman</vt:lpstr>
      <vt:lpstr>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陈 宇</cp:lastModifiedBy>
  <cp:revision>1</cp:revision>
  <dcterms:modified xsi:type="dcterms:W3CDTF">2023-02-06T14:21:49Z</dcterms:modified>
</cp:coreProperties>
</file>