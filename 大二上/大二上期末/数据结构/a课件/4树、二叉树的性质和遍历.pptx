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s/comment1.xml" ContentType="application/vnd.openxmlformats-officedocument.presentationml.comments+xml"/>
  <Override PartName="/ppt/slides/slide7.xml" ContentType="application/vnd.openxmlformats-officedocument.presentationml.slide+xml"/>
  <Override PartName="/ppt/comments/comment2.xml" ContentType="application/vnd.openxmlformats-officedocument.presentationml.comments+xml"/>
  <Override PartName="/ppt/slides/slide8.xml" ContentType="application/vnd.openxmlformats-officedocument.presentationml.slide+xml"/>
  <Override PartName="/ppt/comments/comment3.xml" ContentType="application/vnd.openxmlformats-officedocument.presentationml.comment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s/comment4.xml" ContentType="application/vnd.openxmlformats-officedocument.presentationml.comment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s/comment5.xml" ContentType="application/vnd.openxmlformats-officedocument.presentationml.comment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s/comment6.xml" ContentType="application/vnd.openxmlformats-officedocument.presentationml.comments+xml"/>
  <Override PartName="/ppt/slides/slide20.xml" ContentType="application/vnd.openxmlformats-officedocument.presentationml.slide+xml"/>
  <Override PartName="/ppt/comments/comment7.xml" ContentType="application/vnd.openxmlformats-officedocument.presentationml.comment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s/comment8.xml" ContentType="application/vnd.openxmlformats-officedocument.presentationml.comment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s/comment9.xml" ContentType="application/vnd.openxmlformats-officedocument.presentationml.comment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comments/comment10.xml" ContentType="application/vnd.openxmlformats-officedocument.presentationml.comments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5"/>
    <p:sldId id="263" r:id="rId17"/>
    <p:sldId id="264" r:id="rId19"/>
    <p:sldId id="265" r:id="rId20"/>
    <p:sldId id="266" r:id="rId21"/>
    <p:sldId id="267" r:id="rId23"/>
    <p:sldId id="268" r:id="rId24"/>
    <p:sldId id="269" r:id="rId26"/>
    <p:sldId id="270" r:id="rId27"/>
    <p:sldId id="271" r:id="rId28"/>
    <p:sldId id="272" r:id="rId29"/>
    <p:sldId id="273" r:id="rId30"/>
    <p:sldId id="274" r:id="rId31"/>
    <p:sldId id="275" r:id="rId33"/>
    <p:sldId id="276" r:id="rId35"/>
    <p:sldId id="277" r:id="rId36"/>
    <p:sldId id="278" r:id="rId37"/>
    <p:sldId id="279" r:id="rId38"/>
    <p:sldId id="280" r:id="rId40"/>
    <p:sldId id="281" r:id="rId41"/>
    <p:sldId id="282" r:id="rId42"/>
    <p:sldId id="283" r:id="rId43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35" r:id="rId97"/>
    <p:sldId id="336" r:id="rId98"/>
    <p:sldId id="337" r:id="rId99"/>
    <p:sldId id="338" r:id="rId100"/>
    <p:sldId id="339" r:id="rId101"/>
    <p:sldId id="340" r:id="rId102"/>
    <p:sldId id="341" r:id="rId10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s" Target="comments/comment1.xml"/><Relationship Id="rId15" Type="http://schemas.openxmlformats.org/officeDocument/2006/relationships/slide" Target="slides/slide7.xml"/><Relationship Id="rId16" Type="http://schemas.openxmlformats.org/officeDocument/2006/relationships/comments" Target="comments/comment2.xml"/><Relationship Id="rId17" Type="http://schemas.openxmlformats.org/officeDocument/2006/relationships/slide" Target="slides/slide8.xml"/><Relationship Id="rId18" Type="http://schemas.openxmlformats.org/officeDocument/2006/relationships/comments" Target="comments/comment3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comments" Target="comments/comment4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comments" Target="comments/comment5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comments" Target="comments/comment6.xml"/><Relationship Id="rId33" Type="http://schemas.openxmlformats.org/officeDocument/2006/relationships/slide" Target="slides/slide20.xml"/><Relationship Id="rId34" Type="http://schemas.openxmlformats.org/officeDocument/2006/relationships/comments" Target="comments/comment7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comments" Target="comments/comment8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comments" Target="comments/comment9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36.xml"/><Relationship Id="rId53" Type="http://schemas.openxmlformats.org/officeDocument/2006/relationships/slide" Target="slides/slide37.xml"/><Relationship Id="rId54" Type="http://schemas.openxmlformats.org/officeDocument/2006/relationships/slide" Target="slides/slide38.xml"/><Relationship Id="rId55" Type="http://schemas.openxmlformats.org/officeDocument/2006/relationships/slide" Target="slides/slide39.xml"/><Relationship Id="rId56" Type="http://schemas.openxmlformats.org/officeDocument/2006/relationships/slide" Target="slides/slide40.xml"/><Relationship Id="rId57" Type="http://schemas.openxmlformats.org/officeDocument/2006/relationships/slide" Target="slides/slide41.xml"/><Relationship Id="rId58" Type="http://schemas.openxmlformats.org/officeDocument/2006/relationships/slide" Target="slides/slide42.xml"/><Relationship Id="rId59" Type="http://schemas.openxmlformats.org/officeDocument/2006/relationships/slide" Target="slides/slide43.xml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Relationship Id="rId63" Type="http://schemas.openxmlformats.org/officeDocument/2006/relationships/slide" Target="slides/slide47.xml"/><Relationship Id="rId64" Type="http://schemas.openxmlformats.org/officeDocument/2006/relationships/slide" Target="slides/slide48.xml"/><Relationship Id="rId65" Type="http://schemas.openxmlformats.org/officeDocument/2006/relationships/slide" Target="slides/slide49.xml"/><Relationship Id="rId66" Type="http://schemas.openxmlformats.org/officeDocument/2006/relationships/slide" Target="slides/slide50.xml"/><Relationship Id="rId67" Type="http://schemas.openxmlformats.org/officeDocument/2006/relationships/slide" Target="slides/slide51.xml"/><Relationship Id="rId68" Type="http://schemas.openxmlformats.org/officeDocument/2006/relationships/slide" Target="slides/slide52.xml"/><Relationship Id="rId69" Type="http://schemas.openxmlformats.org/officeDocument/2006/relationships/slide" Target="slides/slide53.xml"/><Relationship Id="rId70" Type="http://schemas.openxmlformats.org/officeDocument/2006/relationships/slide" Target="slides/slide54.xml"/><Relationship Id="rId71" Type="http://schemas.openxmlformats.org/officeDocument/2006/relationships/slide" Target="slides/slide55.xml"/><Relationship Id="rId72" Type="http://schemas.openxmlformats.org/officeDocument/2006/relationships/slide" Target="slides/slide56.xml"/><Relationship Id="rId73" Type="http://schemas.openxmlformats.org/officeDocument/2006/relationships/slide" Target="slides/slide57.xml"/><Relationship Id="rId74" Type="http://schemas.openxmlformats.org/officeDocument/2006/relationships/comments" Target="comments/comment10.xml"/><Relationship Id="rId75" Type="http://schemas.openxmlformats.org/officeDocument/2006/relationships/slide" Target="slides/slide58.xml"/><Relationship Id="rId76" Type="http://schemas.openxmlformats.org/officeDocument/2006/relationships/slide" Target="slides/slide59.xml"/><Relationship Id="rId77" Type="http://schemas.openxmlformats.org/officeDocument/2006/relationships/slide" Target="slides/slide60.xml"/><Relationship Id="rId78" Type="http://schemas.openxmlformats.org/officeDocument/2006/relationships/slide" Target="slides/slide61.xml"/><Relationship Id="rId79" Type="http://schemas.openxmlformats.org/officeDocument/2006/relationships/slide" Target="slides/slide62.xml"/><Relationship Id="rId80" Type="http://schemas.openxmlformats.org/officeDocument/2006/relationships/slide" Target="slides/slide63.xml"/><Relationship Id="rId81" Type="http://schemas.openxmlformats.org/officeDocument/2006/relationships/slide" Target="slides/slide64.xml"/><Relationship Id="rId82" Type="http://schemas.openxmlformats.org/officeDocument/2006/relationships/slide" Target="slides/slide65.xml"/><Relationship Id="rId83" Type="http://schemas.openxmlformats.org/officeDocument/2006/relationships/slide" Target="slides/slide66.xml"/><Relationship Id="rId84" Type="http://schemas.openxmlformats.org/officeDocument/2006/relationships/slide" Target="slides/slide67.xml"/><Relationship Id="rId85" Type="http://schemas.openxmlformats.org/officeDocument/2006/relationships/slide" Target="slides/slide68.xml"/><Relationship Id="rId86" Type="http://schemas.openxmlformats.org/officeDocument/2006/relationships/slide" Target="slides/slide69.xml"/><Relationship Id="rId87" Type="http://schemas.openxmlformats.org/officeDocument/2006/relationships/slide" Target="slides/slide70.xml"/><Relationship Id="rId88" Type="http://schemas.openxmlformats.org/officeDocument/2006/relationships/slide" Target="slides/slide71.xml"/><Relationship Id="rId89" Type="http://schemas.openxmlformats.org/officeDocument/2006/relationships/slide" Target="slides/slide72.xml"/><Relationship Id="rId90" Type="http://schemas.openxmlformats.org/officeDocument/2006/relationships/slide" Target="slides/slide73.xml"/><Relationship Id="rId91" Type="http://schemas.openxmlformats.org/officeDocument/2006/relationships/slide" Target="slides/slide74.xml"/><Relationship Id="rId92" Type="http://schemas.openxmlformats.org/officeDocument/2006/relationships/slide" Target="slides/slide75.xml"/><Relationship Id="rId93" Type="http://schemas.openxmlformats.org/officeDocument/2006/relationships/slide" Target="slides/slide76.xml"/><Relationship Id="rId94" Type="http://schemas.openxmlformats.org/officeDocument/2006/relationships/slide" Target="slides/slide77.xml"/><Relationship Id="rId95" Type="http://schemas.openxmlformats.org/officeDocument/2006/relationships/slide" Target="slides/slide78.xml"/><Relationship Id="rId96" Type="http://schemas.openxmlformats.org/officeDocument/2006/relationships/slide" Target="slides/slide79.xml"/><Relationship Id="rId97" Type="http://schemas.openxmlformats.org/officeDocument/2006/relationships/slide" Target="slides/slide80.xml"/><Relationship Id="rId98" Type="http://schemas.openxmlformats.org/officeDocument/2006/relationships/slide" Target="slides/slide81.xml"/><Relationship Id="rId99" Type="http://schemas.openxmlformats.org/officeDocument/2006/relationships/slide" Target="slides/slide82.xml"/><Relationship Id="rId100" Type="http://schemas.openxmlformats.org/officeDocument/2006/relationships/slide" Target="slides/slide83.xml"/><Relationship Id="rId101" Type="http://schemas.openxmlformats.org/officeDocument/2006/relationships/slide" Target="slides/slide84.xml"/><Relationship Id="rId102" Type="http://schemas.openxmlformats.org/officeDocument/2006/relationships/slide" Target="slides/slide85.xml"/><Relationship Id="rId103" Type="http://schemas.openxmlformats.org/officeDocument/2006/relationships/slide" Target="slides/slide86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0-04T08:04:45.474" idx="1">
    <p:pos x="381" y="4367"/>
    <p:text>深度也叫高度，前者树根在上，后者树根在下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0-03T15:37:47.059" idx="2">
    <p:pos x="560" y="4816"/>
    <p:text>除非特别指明，数据结构讨论的树是有序树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0-04T08:07:09.609" idx="3">
    <p:pos x="297" y="4451"/>
    <p:text>数据结构中，树和森林区别不大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4-03T15:25:12.872" idx="4">
    <p:pos x="2800" y="3256"/>
    <p:text>习惯上，子树为空，就不画出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18-05-07T21:22:27.467" idx="5">
    <p:pos x="5271" y="4952"/>
    <p:text>二叉树有什么规律？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9T12:00:12.676" idx="6">
    <p:pos x="5033" y="784"/>
    <p:text>如果完全二叉树的每层都是满的,则有的书叫满二叉树
完全二叉树：
1、1个结点为叶子结点，则它后面的所有结点都是叶子结点
2、1个结点右孩子结点为空，则它后面的所有结点都是叶子结点
最后1层的上面是满二叉树，且最后1层的结点没有空隙
度为1的结点有0或1个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9T15:08:59.136" idx="7">
    <p:pos x="5632" y="3400"/>
    <p:text>只要遇到1个外部结点， 它后面的结点都是外部结点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1-30T08:12:32.690" idx="8">
    <p:pos x="2008" y="4592"/>
    <p:text>其它教课书上从1开始编号，没有本质的区别，得到的公式略有变化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18-05-07T21:43:49.549" idx="9">
    <p:pos x="6133" y="1104"/>
    <p:text>后面的二叉堆就是完全二叉树，用的是顺序存储。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03T14:31:21.009" idx="10">
    <p:pos x="5340" y="4468"/>
    <p:text>尝试Debug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" name="Shape 6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Shape 1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6" name="Shape 1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∧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Shape 14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5" name="Shape 14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∧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Shape 26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5" name="Shape 26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分别得到左右子树的中序和后序遍历结果，然后，递归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Shape 26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0" name="Shape 26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分别得到左右子树的中序和后序遍历结果，然后，递归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Shape 26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6" name="Shape 26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分别得到左右子树的中序和后序遍历结果，然后，递归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Shape 26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62" name="Shape 26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分别得到左右子树的中序和后序遍历结果，然后，递归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"/>
          <p:cNvSpPr/>
          <p:nvPr/>
        </p:nvSpPr>
        <p:spPr>
          <a:xfrm>
            <a:off x="593795" y="28503"/>
            <a:ext cx="623149" cy="675080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" name="矩形"/>
          <p:cNvSpPr/>
          <p:nvPr/>
        </p:nvSpPr>
        <p:spPr>
          <a:xfrm>
            <a:off x="1143000" y="28503"/>
            <a:ext cx="467360" cy="675080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" name="矩形"/>
          <p:cNvSpPr/>
          <p:nvPr/>
        </p:nvSpPr>
        <p:spPr>
          <a:xfrm>
            <a:off x="1295964" y="381000"/>
            <a:ext cx="520703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3" name="矩形"/>
          <p:cNvSpPr/>
          <p:nvPr/>
        </p:nvSpPr>
        <p:spPr>
          <a:xfrm>
            <a:off x="190498" y="449015"/>
            <a:ext cx="796999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4" name="矩形"/>
          <p:cNvSpPr/>
          <p:nvPr/>
        </p:nvSpPr>
        <p:spPr>
          <a:xfrm>
            <a:off x="1131404" y="26527"/>
            <a:ext cx="46051" cy="1069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5" name="矩形"/>
          <p:cNvSpPr/>
          <p:nvPr/>
        </p:nvSpPr>
        <p:spPr>
          <a:xfrm>
            <a:off x="629919" y="1024748"/>
            <a:ext cx="11699807" cy="4515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26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6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标题文本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 lIns="50800" tIns="50800" rIns="50800" bIns="50800"/>
          <a:lstStyle>
            <a:lvl1pPr marR="57797" indent="57797" defTabSz="1295400">
              <a:defRPr b="0"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8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b="1" sz="3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/>
          <p:cNvSpPr/>
          <p:nvPr/>
        </p:nvSpPr>
        <p:spPr>
          <a:xfrm>
            <a:off x="1143000" y="320603"/>
            <a:ext cx="467360" cy="675080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40" name="Group 7"/>
          <p:cNvGrpSpPr/>
          <p:nvPr/>
        </p:nvGrpSpPr>
        <p:grpSpPr>
          <a:xfrm>
            <a:off x="165097" y="320601"/>
            <a:ext cx="1435104" cy="1041406"/>
            <a:chOff x="-1" y="-1"/>
            <a:chExt cx="1435102" cy="1041405"/>
          </a:xfrm>
        </p:grpSpPr>
        <p:sp>
          <p:nvSpPr>
            <p:cNvPr id="36" name="Shape 3"/>
            <p:cNvSpPr/>
            <p:nvPr/>
          </p:nvSpPr>
          <p:spPr>
            <a:xfrm>
              <a:off x="364273" y="-2"/>
              <a:ext cx="545672" cy="548567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" name="Shape 4"/>
            <p:cNvSpPr/>
            <p:nvPr/>
          </p:nvSpPr>
          <p:spPr>
            <a:xfrm>
              <a:off x="518483" y="492836"/>
              <a:ext cx="525901" cy="548568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" name="Shape 5"/>
            <p:cNvSpPr/>
            <p:nvPr/>
          </p:nvSpPr>
          <p:spPr>
            <a:xfrm>
              <a:off x="979139" y="492836"/>
              <a:ext cx="455963" cy="548568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" name="Shape 6"/>
            <p:cNvSpPr/>
            <p:nvPr/>
          </p:nvSpPr>
          <p:spPr>
            <a:xfrm>
              <a:off x="-2" y="403625"/>
              <a:ext cx="697906" cy="488023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1" name="Shape 8"/>
          <p:cNvSpPr/>
          <p:nvPr/>
        </p:nvSpPr>
        <p:spPr>
          <a:xfrm>
            <a:off x="1087402" y="26528"/>
            <a:ext cx="45158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2" name="Shape 9"/>
          <p:cNvSpPr/>
          <p:nvPr/>
        </p:nvSpPr>
        <p:spPr>
          <a:xfrm>
            <a:off x="629919" y="1088248"/>
            <a:ext cx="11699807" cy="4515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43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3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标题文本"/>
          <p:cNvSpPr txBox="1"/>
          <p:nvPr>
            <p:ph type="title"/>
          </p:nvPr>
        </p:nvSpPr>
        <p:spPr>
          <a:xfrm>
            <a:off x="1611487" y="125587"/>
            <a:ext cx="9448803" cy="952503"/>
          </a:xfrm>
          <a:prstGeom prst="rect">
            <a:avLst/>
          </a:prstGeom>
        </p:spPr>
        <p:txBody>
          <a:bodyPr lIns="50800" tIns="50800" rIns="50800" bIns="50800" anchor="ctr"/>
          <a:lstStyle>
            <a:lvl1pPr marR="57797" indent="57797" defTabSz="1295400">
              <a:defRPr b="0"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b="1" sz="3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139981"/>
            <a:ext cx="623149" cy="675077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37919" y="139981"/>
            <a:ext cx="467362" cy="675077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1" y="740551"/>
            <a:ext cx="600570" cy="675077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740551"/>
            <a:ext cx="523806" cy="675077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80621" y="636693"/>
            <a:ext cx="796998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074702" y="-27094"/>
            <a:ext cx="63219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345635"/>
            <a:ext cx="11699807" cy="6321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95099" y="119662"/>
            <a:ext cx="1290128" cy="120339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275644" y="31607"/>
            <a:ext cx="11083433" cy="134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182502" y="9085298"/>
            <a:ext cx="639797" cy="682796"/>
          </a:xfrm>
          <a:prstGeom prst="rect">
            <a:avLst/>
          </a:prstGeom>
          <a:ln w="12700">
            <a:miter lim="400000"/>
          </a:ln>
        </p:spPr>
        <p:txBody>
          <a:bodyPr wrap="none" lIns="72248" tIns="72248" rIns="72248" bIns="72248">
            <a:spAutoFit/>
          </a:bodyPr>
          <a:lstStyle>
            <a:lvl1pPr algn="ctr" defTabSz="830861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  <p:transition xmlns:p14="http://schemas.microsoft.com/office/powerpoint/2010/main" spd="med" advClick="1"/>
  <p:txStyles>
    <p:titleStyle>
      <a:lvl1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1pPr>
      <a:lvl2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2pPr>
      <a:lvl3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3pPr>
      <a:lvl4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4pPr>
      <a:lvl5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5pPr>
      <a:lvl6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6pPr>
      <a:lvl7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7pPr>
      <a:lvl8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8pPr>
      <a:lvl9pPr marL="0" marR="57798" indent="57798" algn="ct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600" u="none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512126" marR="57798" indent="-471487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946875" marR="57798" indent="-449035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374138" marR="57798" indent="-419100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915158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372358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0" algn="ctr" defTabSz="83086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6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8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9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0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0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树和二叉树</a:t>
            </a:r>
          </a:p>
        </p:txBody>
      </p:sp>
      <p:sp>
        <p:nvSpPr>
          <p:cNvPr id="63" name="树的概念和常用术语…"/>
          <p:cNvSpPr txBox="1"/>
          <p:nvPr/>
        </p:nvSpPr>
        <p:spPr>
          <a:xfrm>
            <a:off x="692037" y="1256451"/>
            <a:ext cx="4456364" cy="4371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树的概念和常用术语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递归、二叉树及其特性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完全二叉树及其特性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二叉树的存储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二叉树的基本操作：遍历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遍历的执行过程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900"/>
            </a:pPr>
            <a:r>
              <a:t>二叉树的其它操作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20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树(Tree)</a:t>
            </a:r>
          </a:p>
        </p:txBody>
      </p:sp>
      <p:sp>
        <p:nvSpPr>
          <p:cNvPr id="66" name="离散数学有多种等价的定义，其中之一：…"/>
          <p:cNvSpPr txBox="1"/>
          <p:nvPr/>
        </p:nvSpPr>
        <p:spPr>
          <a:xfrm>
            <a:off x="306188" y="1178600"/>
            <a:ext cx="11777188" cy="2350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700"/>
            </a:pPr>
            <a:r>
              <a:t>离散数学有多种等价的定义，其中之一：</a:t>
            </a:r>
          </a:p>
          <a:p>
            <a:pPr indent="57797">
              <a:lnSpc>
                <a:spcPct val="120000"/>
              </a:lnSpc>
              <a:defRPr sz="2700"/>
            </a:pPr>
            <a:r>
              <a:t>       </a:t>
            </a:r>
            <a:r>
              <a:rPr>
                <a:solidFill>
                  <a:schemeClr val="accent1"/>
                </a:solidFill>
              </a:rPr>
              <a:t>n个结点n - 1条边的连通图</a:t>
            </a:r>
            <a:r>
              <a:t>。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700"/>
            </a:pPr>
            <a:r>
              <a:t>数据结构的定义同上，但选定一个结点作为“</a:t>
            </a:r>
            <a:r>
              <a:rPr>
                <a:solidFill>
                  <a:schemeClr val="accent1"/>
                </a:solidFill>
              </a:rPr>
              <a:t>根(root)</a:t>
            </a:r>
            <a:r>
              <a:t>”，因此又叫做</a:t>
            </a:r>
            <a:r>
              <a:rPr>
                <a:solidFill>
                  <a:schemeClr val="accent1"/>
                </a:solidFill>
              </a:rPr>
              <a:t>有根树</a:t>
            </a:r>
            <a:r>
              <a:t>。</a:t>
            </a:r>
          </a:p>
          <a:p>
            <a:pPr marL="290762" indent="-290762">
              <a:lnSpc>
                <a:spcPct val="120000"/>
              </a:lnSpc>
              <a:buSzPct val="60000"/>
              <a:buBlip>
                <a:blip r:embed="rId2"/>
              </a:buBlip>
              <a:defRPr sz="2700"/>
            </a:pPr>
            <a:r>
              <a:t>树用于表示有</a:t>
            </a:r>
            <a:r>
              <a:rPr>
                <a:solidFill>
                  <a:schemeClr val="accent1"/>
                </a:solidFill>
              </a:rPr>
              <a:t>层次</a:t>
            </a:r>
            <a:r>
              <a:t>的数据</a:t>
            </a:r>
            <a:r>
              <a:rPr>
                <a:solidFill>
                  <a:schemeClr val="accent1"/>
                </a:solidFill>
              </a:rPr>
              <a:t>，层次</a:t>
            </a:r>
            <a:r>
              <a:t>由数据之间的</a:t>
            </a:r>
            <a:r>
              <a:rPr>
                <a:solidFill>
                  <a:schemeClr val="accent1"/>
                </a:solidFill>
              </a:rPr>
              <a:t>父子</a:t>
            </a:r>
            <a:r>
              <a:t>关系(</a:t>
            </a:r>
            <a:r>
              <a:rPr>
                <a:solidFill>
                  <a:schemeClr val="accent1"/>
                </a:solidFill>
              </a:rPr>
              <a:t>一父多子</a:t>
            </a:r>
            <a:r>
              <a:t>)描述</a:t>
            </a:r>
          </a:p>
        </p:txBody>
      </p:sp>
      <p:grpSp>
        <p:nvGrpSpPr>
          <p:cNvPr id="92" name="成组"/>
          <p:cNvGrpSpPr/>
          <p:nvPr/>
        </p:nvGrpSpPr>
        <p:grpSpPr>
          <a:xfrm>
            <a:off x="6952708" y="3615047"/>
            <a:ext cx="4975585" cy="2348942"/>
            <a:chOff x="0" y="0"/>
            <a:chExt cx="4975583" cy="2348940"/>
          </a:xfrm>
        </p:grpSpPr>
        <p:sp>
          <p:nvSpPr>
            <p:cNvPr id="67" name="Shape 167"/>
            <p:cNvSpPr/>
            <p:nvPr/>
          </p:nvSpPr>
          <p:spPr>
            <a:xfrm>
              <a:off x="4054406" y="1391356"/>
              <a:ext cx="553158" cy="5486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" name="Shape 168"/>
            <p:cNvSpPr/>
            <p:nvPr/>
          </p:nvSpPr>
          <p:spPr>
            <a:xfrm flipH="1">
              <a:off x="3040663" y="1391355"/>
              <a:ext cx="553158" cy="4699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" name="Shape 169"/>
            <p:cNvSpPr/>
            <p:nvPr/>
          </p:nvSpPr>
          <p:spPr>
            <a:xfrm>
              <a:off x="2394938" y="452120"/>
              <a:ext cx="1291451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0" name="Shape 170"/>
            <p:cNvSpPr/>
            <p:nvPr/>
          </p:nvSpPr>
          <p:spPr>
            <a:xfrm flipH="1">
              <a:off x="868680" y="427284"/>
              <a:ext cx="1106314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1" name="Shape 171"/>
            <p:cNvSpPr/>
            <p:nvPr/>
          </p:nvSpPr>
          <p:spPr>
            <a:xfrm>
              <a:off x="2212058" y="251742"/>
              <a:ext cx="2260" cy="17994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2" name="Shape 172"/>
            <p:cNvSpPr/>
            <p:nvPr/>
          </p:nvSpPr>
          <p:spPr>
            <a:xfrm>
              <a:off x="914400" y="1391356"/>
              <a:ext cx="277709" cy="5486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" name="Shape 174"/>
            <p:cNvSpPr/>
            <p:nvPr/>
          </p:nvSpPr>
          <p:spPr>
            <a:xfrm flipH="1">
              <a:off x="169898" y="1391356"/>
              <a:ext cx="469902" cy="4699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4" name="Shape 175"/>
            <p:cNvSpPr/>
            <p:nvPr/>
          </p:nvSpPr>
          <p:spPr>
            <a:xfrm>
              <a:off x="1841500" y="6152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" name="Shape 176"/>
            <p:cNvSpPr/>
            <p:nvPr/>
          </p:nvSpPr>
          <p:spPr>
            <a:xfrm>
              <a:off x="460022" y="92173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6" name="Shape 177"/>
            <p:cNvSpPr/>
            <p:nvPr/>
          </p:nvSpPr>
          <p:spPr>
            <a:xfrm>
              <a:off x="1841500" y="92173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" name="Shape 178"/>
            <p:cNvSpPr/>
            <p:nvPr/>
          </p:nvSpPr>
          <p:spPr>
            <a:xfrm>
              <a:off x="3501251" y="92173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" name="Shape 179"/>
            <p:cNvSpPr/>
            <p:nvPr/>
          </p:nvSpPr>
          <p:spPr>
            <a:xfrm>
              <a:off x="0" y="1781952"/>
              <a:ext cx="645727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" name="Shape 180"/>
            <p:cNvSpPr/>
            <p:nvPr/>
          </p:nvSpPr>
          <p:spPr>
            <a:xfrm>
              <a:off x="828040" y="1781952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" name="Shape 181"/>
            <p:cNvSpPr/>
            <p:nvPr/>
          </p:nvSpPr>
          <p:spPr>
            <a:xfrm>
              <a:off x="1882422" y="1800296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" name="Shape 182"/>
            <p:cNvSpPr/>
            <p:nvPr/>
          </p:nvSpPr>
          <p:spPr>
            <a:xfrm>
              <a:off x="2667000" y="1781952"/>
              <a:ext cx="64346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" name="Shape 183"/>
            <p:cNvSpPr/>
            <p:nvPr/>
          </p:nvSpPr>
          <p:spPr>
            <a:xfrm>
              <a:off x="4329855" y="1781952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" name="Shape 186"/>
            <p:cNvSpPr txBox="1"/>
            <p:nvPr/>
          </p:nvSpPr>
          <p:spPr>
            <a:xfrm>
              <a:off x="1919263" y="0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4" name="Shape 187"/>
            <p:cNvSpPr txBox="1"/>
            <p:nvPr/>
          </p:nvSpPr>
          <p:spPr>
            <a:xfrm>
              <a:off x="1906563" y="9005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5" name="Shape 188"/>
            <p:cNvSpPr txBox="1"/>
            <p:nvPr/>
          </p:nvSpPr>
          <p:spPr>
            <a:xfrm>
              <a:off x="1911960" y="1769816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6" name="Shape 189"/>
            <p:cNvSpPr txBox="1"/>
            <p:nvPr/>
          </p:nvSpPr>
          <p:spPr>
            <a:xfrm>
              <a:off x="537503" y="8878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7" name="Shape 190"/>
            <p:cNvSpPr txBox="1"/>
            <p:nvPr/>
          </p:nvSpPr>
          <p:spPr>
            <a:xfrm>
              <a:off x="3578731" y="878275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8" name="Shape 191"/>
            <p:cNvSpPr txBox="1"/>
            <p:nvPr/>
          </p:nvSpPr>
          <p:spPr>
            <a:xfrm>
              <a:off x="87481" y="1774332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89" name="Shape 192"/>
            <p:cNvSpPr txBox="1"/>
            <p:nvPr/>
          </p:nvSpPr>
          <p:spPr>
            <a:xfrm>
              <a:off x="921254" y="1774332"/>
              <a:ext cx="43585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90" name="Shape 195"/>
            <p:cNvSpPr txBox="1"/>
            <p:nvPr/>
          </p:nvSpPr>
          <p:spPr>
            <a:xfrm>
              <a:off x="2726137" y="1761632"/>
              <a:ext cx="50796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91" name="Shape 196"/>
            <p:cNvSpPr txBox="1"/>
            <p:nvPr/>
          </p:nvSpPr>
          <p:spPr>
            <a:xfrm>
              <a:off x="4436898" y="1763889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19" name="成组"/>
          <p:cNvGrpSpPr/>
          <p:nvPr/>
        </p:nvGrpSpPr>
        <p:grpSpPr>
          <a:xfrm>
            <a:off x="226084" y="3560661"/>
            <a:ext cx="6641065" cy="2931325"/>
            <a:chOff x="0" y="0"/>
            <a:chExt cx="6641064" cy="2931324"/>
          </a:xfrm>
        </p:grpSpPr>
        <p:sp>
          <p:nvSpPr>
            <p:cNvPr id="93" name="Shape 171"/>
            <p:cNvSpPr/>
            <p:nvPr/>
          </p:nvSpPr>
          <p:spPr>
            <a:xfrm>
              <a:off x="2814025" y="1834670"/>
              <a:ext cx="593837" cy="59383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4" name="Shape 167"/>
            <p:cNvSpPr/>
            <p:nvPr/>
          </p:nvSpPr>
          <p:spPr>
            <a:xfrm>
              <a:off x="5237108" y="947141"/>
              <a:ext cx="1035937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5" name="Shape 168"/>
            <p:cNvSpPr/>
            <p:nvPr/>
          </p:nvSpPr>
          <p:spPr>
            <a:xfrm flipH="1">
              <a:off x="4223544" y="1113523"/>
              <a:ext cx="553158" cy="4699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6" name="Shape 169"/>
            <p:cNvSpPr/>
            <p:nvPr/>
          </p:nvSpPr>
          <p:spPr>
            <a:xfrm>
              <a:off x="2917613" y="951088"/>
              <a:ext cx="1855015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7" name="Shape 170"/>
            <p:cNvSpPr/>
            <p:nvPr/>
          </p:nvSpPr>
          <p:spPr>
            <a:xfrm flipH="1">
              <a:off x="1391356" y="1015152"/>
              <a:ext cx="1106314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8" name="Shape 171"/>
            <p:cNvSpPr/>
            <p:nvPr/>
          </p:nvSpPr>
          <p:spPr>
            <a:xfrm>
              <a:off x="2734734" y="839610"/>
              <a:ext cx="2" cy="7844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" name="Shape 172"/>
            <p:cNvSpPr/>
            <p:nvPr/>
          </p:nvSpPr>
          <p:spPr>
            <a:xfrm flipH="1" flipV="1">
              <a:off x="364067" y="165665"/>
              <a:ext cx="753720" cy="14102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" name="Shape 174"/>
            <p:cNvSpPr/>
            <p:nvPr/>
          </p:nvSpPr>
          <p:spPr>
            <a:xfrm flipH="1">
              <a:off x="692573" y="1979225"/>
              <a:ext cx="469902" cy="4699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1" name="Shape 175"/>
            <p:cNvSpPr/>
            <p:nvPr/>
          </p:nvSpPr>
          <p:spPr>
            <a:xfrm>
              <a:off x="2364176" y="649392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" name="Shape 176"/>
            <p:cNvSpPr/>
            <p:nvPr/>
          </p:nvSpPr>
          <p:spPr>
            <a:xfrm>
              <a:off x="982697" y="1509606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" name="Shape 177"/>
            <p:cNvSpPr/>
            <p:nvPr/>
          </p:nvSpPr>
          <p:spPr>
            <a:xfrm>
              <a:off x="2364176" y="1509606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" name="Shape 178"/>
            <p:cNvSpPr/>
            <p:nvPr/>
          </p:nvSpPr>
          <p:spPr>
            <a:xfrm>
              <a:off x="4680715" y="71217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" name="Shape 179"/>
            <p:cNvSpPr/>
            <p:nvPr/>
          </p:nvSpPr>
          <p:spPr>
            <a:xfrm>
              <a:off x="522675" y="2369821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" name="Shape 180"/>
            <p:cNvSpPr/>
            <p:nvPr/>
          </p:nvSpPr>
          <p:spPr>
            <a:xfrm>
              <a:off x="0" y="7620"/>
              <a:ext cx="645727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" name="Shape 181"/>
            <p:cNvSpPr/>
            <p:nvPr/>
          </p:nvSpPr>
          <p:spPr>
            <a:xfrm>
              <a:off x="3278669" y="2382680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" name="Shape 182"/>
            <p:cNvSpPr/>
            <p:nvPr/>
          </p:nvSpPr>
          <p:spPr>
            <a:xfrm>
              <a:off x="3849881" y="1504121"/>
              <a:ext cx="643471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" name="Shape 183"/>
            <p:cNvSpPr/>
            <p:nvPr/>
          </p:nvSpPr>
          <p:spPr>
            <a:xfrm>
              <a:off x="5995336" y="64939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" name="Shape 186"/>
            <p:cNvSpPr txBox="1"/>
            <p:nvPr/>
          </p:nvSpPr>
          <p:spPr>
            <a:xfrm>
              <a:off x="2441938" y="587867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1" name="Shape 187"/>
            <p:cNvSpPr txBox="1"/>
            <p:nvPr/>
          </p:nvSpPr>
          <p:spPr>
            <a:xfrm>
              <a:off x="2429238" y="1488440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2" name="Shape 188"/>
            <p:cNvSpPr txBox="1"/>
            <p:nvPr/>
          </p:nvSpPr>
          <p:spPr>
            <a:xfrm>
              <a:off x="3308207" y="2352200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3" name="Shape 189"/>
            <p:cNvSpPr txBox="1"/>
            <p:nvPr/>
          </p:nvSpPr>
          <p:spPr>
            <a:xfrm>
              <a:off x="1060178" y="1475739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4" name="Shape 190"/>
            <p:cNvSpPr txBox="1"/>
            <p:nvPr/>
          </p:nvSpPr>
          <p:spPr>
            <a:xfrm>
              <a:off x="4761612" y="663943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5" name="Shape 191"/>
            <p:cNvSpPr txBox="1"/>
            <p:nvPr/>
          </p:nvSpPr>
          <p:spPr>
            <a:xfrm>
              <a:off x="610156" y="236220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6" name="Shape 192"/>
            <p:cNvSpPr txBox="1"/>
            <p:nvPr/>
          </p:nvSpPr>
          <p:spPr>
            <a:xfrm>
              <a:off x="93214" y="0"/>
              <a:ext cx="435859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7" name="Shape 195"/>
            <p:cNvSpPr txBox="1"/>
            <p:nvPr/>
          </p:nvSpPr>
          <p:spPr>
            <a:xfrm>
              <a:off x="3909018" y="1483800"/>
              <a:ext cx="507967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18" name="Shape 196"/>
            <p:cNvSpPr txBox="1"/>
            <p:nvPr/>
          </p:nvSpPr>
          <p:spPr>
            <a:xfrm>
              <a:off x="6102379" y="631333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sp>
        <p:nvSpPr>
          <p:cNvPr id="120" name="0层"/>
          <p:cNvSpPr txBox="1"/>
          <p:nvPr/>
        </p:nvSpPr>
        <p:spPr>
          <a:xfrm>
            <a:off x="12016065" y="3661897"/>
            <a:ext cx="72454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0层</a:t>
            </a:r>
          </a:p>
        </p:txBody>
      </p:sp>
      <p:sp>
        <p:nvSpPr>
          <p:cNvPr id="121" name="1层"/>
          <p:cNvSpPr txBox="1"/>
          <p:nvPr/>
        </p:nvSpPr>
        <p:spPr>
          <a:xfrm>
            <a:off x="12013851" y="4380576"/>
            <a:ext cx="72454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1层</a:t>
            </a:r>
          </a:p>
        </p:txBody>
      </p:sp>
      <p:sp>
        <p:nvSpPr>
          <p:cNvPr id="122" name="2层"/>
          <p:cNvSpPr txBox="1"/>
          <p:nvPr/>
        </p:nvSpPr>
        <p:spPr>
          <a:xfrm>
            <a:off x="12028765" y="5282275"/>
            <a:ext cx="72454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2层</a:t>
            </a:r>
          </a:p>
        </p:txBody>
      </p:sp>
      <p:sp>
        <p:nvSpPr>
          <p:cNvPr id="123" name="树是结点的有限集合，其中，有一个特殊的结点叫做根，其他的结点…"/>
          <p:cNvSpPr txBox="1"/>
          <p:nvPr/>
        </p:nvSpPr>
        <p:spPr>
          <a:xfrm>
            <a:off x="432979" y="6663052"/>
            <a:ext cx="11472807" cy="1887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7">
              <a:lnSpc>
                <a:spcPct val="120000"/>
              </a:lnSpc>
              <a:defRPr sz="2900"/>
            </a:pPr>
            <a:r>
              <a:t>树是</a:t>
            </a:r>
            <a:r>
              <a:rPr>
                <a:solidFill>
                  <a:schemeClr val="accent1"/>
                </a:solidFill>
              </a:rPr>
              <a:t>结点</a:t>
            </a:r>
            <a:r>
              <a:t>的</a:t>
            </a:r>
            <a:r>
              <a:rPr>
                <a:solidFill>
                  <a:schemeClr val="accent1"/>
                </a:solidFill>
              </a:rPr>
              <a:t>有限集合</a:t>
            </a:r>
            <a:r>
              <a:t>，其中，有一个特殊的结点叫做</a:t>
            </a:r>
            <a:r>
              <a:rPr>
                <a:solidFill>
                  <a:schemeClr val="accent1"/>
                </a:solidFill>
              </a:rPr>
              <a:t>根</a:t>
            </a:r>
            <a:r>
              <a:t>，其他的结点</a:t>
            </a:r>
          </a:p>
          <a:p>
            <a:pPr indent="57797">
              <a:lnSpc>
                <a:spcPct val="120000"/>
              </a:lnSpc>
              <a:defRPr sz="2900"/>
            </a:pPr>
            <a:r>
              <a:t>划分为</a:t>
            </a:r>
            <a:r>
              <a:rPr i="1"/>
              <a:t>m</a:t>
            </a:r>
            <a:r>
              <a:t>个</a:t>
            </a:r>
            <a:r>
              <a:rPr>
                <a:solidFill>
                  <a:schemeClr val="accent1"/>
                </a:solidFill>
              </a:rPr>
              <a:t>不相交</a:t>
            </a:r>
            <a:r>
              <a:t>的子集T</a:t>
            </a:r>
            <a:r>
              <a:rPr baseline="-5999"/>
              <a:t>1</a:t>
            </a:r>
            <a:r>
              <a:t>、T</a:t>
            </a:r>
            <a:r>
              <a:rPr baseline="-5999"/>
              <a:t>2</a:t>
            </a:r>
            <a:r>
              <a:t>、T</a:t>
            </a:r>
            <a:r>
              <a:rPr baseline="-5999" i="1"/>
              <a:t>m</a:t>
            </a:r>
            <a:r>
              <a:t>，</a:t>
            </a:r>
            <a:r>
              <a:rPr>
                <a:solidFill>
                  <a:schemeClr val="accent1"/>
                </a:solidFill>
              </a:rPr>
              <a:t>每个子集是一棵树</a:t>
            </a:r>
            <a:r>
              <a:t>，T</a:t>
            </a:r>
            <a:r>
              <a:rPr baseline="-5999"/>
              <a:t>1</a:t>
            </a:r>
            <a:r>
              <a:t>、T</a:t>
            </a:r>
            <a:r>
              <a:rPr baseline="-5999"/>
              <a:t>2</a:t>
            </a:r>
            <a:r>
              <a:t>、T</a:t>
            </a:r>
            <a:r>
              <a:rPr baseline="-5999" i="1"/>
              <a:t>m</a:t>
            </a:r>
          </a:p>
          <a:p>
            <a:pPr indent="57797">
              <a:lnSpc>
                <a:spcPct val="120000"/>
              </a:lnSpc>
              <a:defRPr sz="2900"/>
            </a:pPr>
            <a:r>
              <a:t>叫做根的</a:t>
            </a:r>
            <a:r>
              <a:rPr>
                <a:solidFill>
                  <a:schemeClr val="accent1"/>
                </a:solidFill>
              </a:rPr>
              <a:t>子树</a:t>
            </a:r>
          </a:p>
        </p:txBody>
      </p:sp>
      <p:sp>
        <p:nvSpPr>
          <p:cNvPr id="124" name="树中任何一个结点是整棵树的某棵子树的根结点"/>
          <p:cNvSpPr txBox="1"/>
          <p:nvPr/>
        </p:nvSpPr>
        <p:spPr>
          <a:xfrm>
            <a:off x="485237" y="8548078"/>
            <a:ext cx="8115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树中任何一个结点是整棵树的某棵子树的根结点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3" grpId="1"/>
      <p:bldP build="whole" bldLvl="1" animBg="1" rev="0" advAuto="0" spid="124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3933" y="1257863"/>
            <a:ext cx="8911450" cy="6145675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树-目录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树-目录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293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基本术语</a:t>
            </a:r>
          </a:p>
        </p:txBody>
      </p:sp>
      <p:grpSp>
        <p:nvGrpSpPr>
          <p:cNvPr id="149" name="Group 313"/>
          <p:cNvGrpSpPr/>
          <p:nvPr/>
        </p:nvGrpSpPr>
        <p:grpSpPr>
          <a:xfrm>
            <a:off x="8993408" y="1546127"/>
            <a:ext cx="3167671" cy="2958173"/>
            <a:chOff x="0" y="0"/>
            <a:chExt cx="3167669" cy="2958172"/>
          </a:xfrm>
        </p:grpSpPr>
        <p:grpSp>
          <p:nvGrpSpPr>
            <p:cNvPr id="132" name="Group 296"/>
            <p:cNvGrpSpPr/>
            <p:nvPr/>
          </p:nvGrpSpPr>
          <p:grpSpPr>
            <a:xfrm>
              <a:off x="1267063" y="0"/>
              <a:ext cx="633537" cy="624935"/>
              <a:chOff x="-1" y="0"/>
              <a:chExt cx="633535" cy="624933"/>
            </a:xfrm>
          </p:grpSpPr>
          <p:sp>
            <p:nvSpPr>
              <p:cNvPr id="130" name="Shape 294"/>
              <p:cNvSpPr/>
              <p:nvPr/>
            </p:nvSpPr>
            <p:spPr>
              <a:xfrm>
                <a:off x="-2" y="2732"/>
                <a:ext cx="633537" cy="6222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" name="Shape 295"/>
              <p:cNvSpPr txBox="1"/>
              <p:nvPr/>
            </p:nvSpPr>
            <p:spPr>
              <a:xfrm>
                <a:off x="66549" y="0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35" name="Group 299"/>
            <p:cNvGrpSpPr/>
            <p:nvPr/>
          </p:nvGrpSpPr>
          <p:grpSpPr>
            <a:xfrm>
              <a:off x="-1" y="1166617"/>
              <a:ext cx="633536" cy="624934"/>
              <a:chOff x="-1" y="0"/>
              <a:chExt cx="633535" cy="624932"/>
            </a:xfrm>
          </p:grpSpPr>
          <p:sp>
            <p:nvSpPr>
              <p:cNvPr id="133" name="Shape 297"/>
              <p:cNvSpPr/>
              <p:nvPr/>
            </p:nvSpPr>
            <p:spPr>
              <a:xfrm>
                <a:off x="-2" y="2733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4" name="Shape 298"/>
              <p:cNvSpPr txBox="1"/>
              <p:nvPr/>
            </p:nvSpPr>
            <p:spPr>
              <a:xfrm>
                <a:off x="23051" y="0"/>
                <a:ext cx="50796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38" name="Group 302"/>
            <p:cNvGrpSpPr/>
            <p:nvPr/>
          </p:nvGrpSpPr>
          <p:grpSpPr>
            <a:xfrm>
              <a:off x="1267063" y="1169350"/>
              <a:ext cx="633537" cy="622201"/>
              <a:chOff x="-1" y="0"/>
              <a:chExt cx="633535" cy="622200"/>
            </a:xfrm>
          </p:grpSpPr>
          <p:sp>
            <p:nvSpPr>
              <p:cNvPr id="136" name="Shape 300"/>
              <p:cNvSpPr/>
              <p:nvPr/>
            </p:nvSpPr>
            <p:spPr>
              <a:xfrm>
                <a:off x="-2" y="-1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" name="Shape 301"/>
              <p:cNvSpPr txBox="1"/>
              <p:nvPr/>
            </p:nvSpPr>
            <p:spPr>
              <a:xfrm>
                <a:off x="124016" y="9966"/>
                <a:ext cx="340138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41" name="Group 305"/>
            <p:cNvGrpSpPr/>
            <p:nvPr/>
          </p:nvGrpSpPr>
          <p:grpSpPr>
            <a:xfrm>
              <a:off x="2534130" y="1169350"/>
              <a:ext cx="633539" cy="622201"/>
              <a:chOff x="0" y="0"/>
              <a:chExt cx="633538" cy="622200"/>
            </a:xfrm>
          </p:grpSpPr>
          <p:sp>
            <p:nvSpPr>
              <p:cNvPr id="139" name="Shape 303"/>
              <p:cNvSpPr/>
              <p:nvPr/>
            </p:nvSpPr>
            <p:spPr>
              <a:xfrm>
                <a:off x="0" y="-1"/>
                <a:ext cx="633539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0" name="Shape 304"/>
              <p:cNvSpPr txBox="1"/>
              <p:nvPr/>
            </p:nvSpPr>
            <p:spPr>
              <a:xfrm>
                <a:off x="87979" y="9966"/>
                <a:ext cx="387999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44" name="Group 308"/>
            <p:cNvGrpSpPr/>
            <p:nvPr/>
          </p:nvGrpSpPr>
          <p:grpSpPr>
            <a:xfrm>
              <a:off x="2534130" y="2320537"/>
              <a:ext cx="633539" cy="637636"/>
              <a:chOff x="0" y="0"/>
              <a:chExt cx="633538" cy="637635"/>
            </a:xfrm>
          </p:grpSpPr>
          <p:sp>
            <p:nvSpPr>
              <p:cNvPr id="142" name="Shape 306"/>
              <p:cNvSpPr/>
              <p:nvPr/>
            </p:nvSpPr>
            <p:spPr>
              <a:xfrm>
                <a:off x="0" y="15433"/>
                <a:ext cx="633539" cy="6222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" name="Shape 307"/>
              <p:cNvSpPr txBox="1"/>
              <p:nvPr/>
            </p:nvSpPr>
            <p:spPr>
              <a:xfrm>
                <a:off x="7175" y="0"/>
                <a:ext cx="579652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45" name="Shape 309"/>
            <p:cNvSpPr/>
            <p:nvPr/>
          </p:nvSpPr>
          <p:spPr>
            <a:xfrm>
              <a:off x="1583830" y="624928"/>
              <a:ext cx="1653" cy="5444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46" name="Shape 310"/>
            <p:cNvSpPr/>
            <p:nvPr/>
          </p:nvSpPr>
          <p:spPr>
            <a:xfrm>
              <a:off x="2850894" y="1791548"/>
              <a:ext cx="1654" cy="5444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47" name="Shape 311"/>
            <p:cNvSpPr/>
            <p:nvPr/>
          </p:nvSpPr>
          <p:spPr>
            <a:xfrm flipH="1">
              <a:off x="316765" y="313831"/>
              <a:ext cx="950302" cy="85552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48" name="Shape 312"/>
            <p:cNvSpPr/>
            <p:nvPr/>
          </p:nvSpPr>
          <p:spPr>
            <a:xfrm>
              <a:off x="1900596" y="313831"/>
              <a:ext cx="950301" cy="85552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150" name="Shape 335"/>
          <p:cNvSpPr txBox="1"/>
          <p:nvPr/>
        </p:nvSpPr>
        <p:spPr>
          <a:xfrm>
            <a:off x="424968" y="1521388"/>
            <a:ext cx="8329956" cy="1947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结点的度(degree):子树的个数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终端/叶子结点(terminal node/leaf): 度为零的结点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分支结点(branch node): 度大于零的结点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392"/>
          <p:cNvGrpSpPr/>
          <p:nvPr/>
        </p:nvGrpSpPr>
        <p:grpSpPr>
          <a:xfrm>
            <a:off x="5768055" y="2652081"/>
            <a:ext cx="5159032" cy="3555437"/>
            <a:chOff x="0" y="0"/>
            <a:chExt cx="5159030" cy="3555435"/>
          </a:xfrm>
        </p:grpSpPr>
        <p:grpSp>
          <p:nvGrpSpPr>
            <p:cNvPr id="154" name="Group 343"/>
            <p:cNvGrpSpPr/>
            <p:nvPr/>
          </p:nvGrpSpPr>
          <p:grpSpPr>
            <a:xfrm>
              <a:off x="2134767" y="0"/>
              <a:ext cx="622647" cy="565857"/>
              <a:chOff x="0" y="0"/>
              <a:chExt cx="622646" cy="565856"/>
            </a:xfrm>
          </p:grpSpPr>
          <p:sp>
            <p:nvSpPr>
              <p:cNvPr id="152" name="Shape 341"/>
              <p:cNvSpPr/>
              <p:nvPr/>
            </p:nvSpPr>
            <p:spPr>
              <a:xfrm>
                <a:off x="-1" y="1174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" name="Shape 342"/>
              <p:cNvSpPr txBox="1"/>
              <p:nvPr/>
            </p:nvSpPr>
            <p:spPr>
              <a:xfrm>
                <a:off x="37079" y="-1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57" name="Group 346"/>
            <p:cNvGrpSpPr/>
            <p:nvPr/>
          </p:nvGrpSpPr>
          <p:grpSpPr>
            <a:xfrm>
              <a:off x="711589" y="975358"/>
              <a:ext cx="533697" cy="565858"/>
              <a:chOff x="0" y="0"/>
              <a:chExt cx="533696" cy="565856"/>
            </a:xfrm>
          </p:grpSpPr>
          <p:sp>
            <p:nvSpPr>
              <p:cNvPr id="155" name="Shape 344"/>
              <p:cNvSpPr/>
              <p:nvPr/>
            </p:nvSpPr>
            <p:spPr>
              <a:xfrm>
                <a:off x="-1" y="117404"/>
                <a:ext cx="53369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" name="Shape 345"/>
              <p:cNvSpPr txBox="1"/>
              <p:nvPr/>
            </p:nvSpPr>
            <p:spPr>
              <a:xfrm>
                <a:off x="6556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0" name="Group 349"/>
            <p:cNvGrpSpPr/>
            <p:nvPr/>
          </p:nvGrpSpPr>
          <p:grpSpPr>
            <a:xfrm>
              <a:off x="2134767" y="1013458"/>
              <a:ext cx="622647" cy="565858"/>
              <a:chOff x="0" y="0"/>
              <a:chExt cx="622646" cy="565856"/>
            </a:xfrm>
          </p:grpSpPr>
          <p:sp>
            <p:nvSpPr>
              <p:cNvPr id="158" name="Shape 347"/>
              <p:cNvSpPr/>
              <p:nvPr/>
            </p:nvSpPr>
            <p:spPr>
              <a:xfrm>
                <a:off x="-1" y="793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9" name="Shape 348"/>
              <p:cNvSpPr txBox="1"/>
              <p:nvPr/>
            </p:nvSpPr>
            <p:spPr>
              <a:xfrm>
                <a:off x="37079" y="-1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63" name="Group 352"/>
            <p:cNvGrpSpPr/>
            <p:nvPr/>
          </p:nvGrpSpPr>
          <p:grpSpPr>
            <a:xfrm>
              <a:off x="3735844" y="1013458"/>
              <a:ext cx="622647" cy="565858"/>
              <a:chOff x="0" y="0"/>
              <a:chExt cx="622646" cy="565856"/>
            </a:xfrm>
          </p:grpSpPr>
          <p:sp>
            <p:nvSpPr>
              <p:cNvPr id="161" name="Shape 350"/>
              <p:cNvSpPr/>
              <p:nvPr/>
            </p:nvSpPr>
            <p:spPr>
              <a:xfrm>
                <a:off x="-1" y="793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" name="Shape 351"/>
              <p:cNvSpPr txBox="1"/>
              <p:nvPr/>
            </p:nvSpPr>
            <p:spPr>
              <a:xfrm>
                <a:off x="62477" y="-1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66" name="Group 355"/>
            <p:cNvGrpSpPr/>
            <p:nvPr/>
          </p:nvGrpSpPr>
          <p:grpSpPr>
            <a:xfrm>
              <a:off x="-1" y="1938018"/>
              <a:ext cx="533697" cy="565858"/>
              <a:chOff x="0" y="0"/>
              <a:chExt cx="533696" cy="565856"/>
            </a:xfrm>
          </p:grpSpPr>
          <p:sp>
            <p:nvSpPr>
              <p:cNvPr id="164" name="Shape 353"/>
              <p:cNvSpPr/>
              <p:nvPr/>
            </p:nvSpPr>
            <p:spPr>
              <a:xfrm>
                <a:off x="-1" y="92004"/>
                <a:ext cx="53369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5" name="Shape 354"/>
              <p:cNvSpPr txBox="1"/>
              <p:nvPr/>
            </p:nvSpPr>
            <p:spPr>
              <a:xfrm>
                <a:off x="6556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9" name="Group 358"/>
            <p:cNvGrpSpPr/>
            <p:nvPr/>
          </p:nvGrpSpPr>
          <p:grpSpPr>
            <a:xfrm>
              <a:off x="1245280" y="1988819"/>
              <a:ext cx="622649" cy="565858"/>
              <a:chOff x="0" y="0"/>
              <a:chExt cx="622647" cy="565856"/>
            </a:xfrm>
          </p:grpSpPr>
          <p:sp>
            <p:nvSpPr>
              <p:cNvPr id="167" name="Shape 356"/>
              <p:cNvSpPr/>
              <p:nvPr/>
            </p:nvSpPr>
            <p:spPr>
              <a:xfrm>
                <a:off x="-1" y="79304"/>
                <a:ext cx="622649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" name="Shape 357"/>
              <p:cNvSpPr txBox="1"/>
              <p:nvPr/>
            </p:nvSpPr>
            <p:spPr>
              <a:xfrm>
                <a:off x="65230" y="-1"/>
                <a:ext cx="435859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72" name="Group 361"/>
            <p:cNvGrpSpPr/>
            <p:nvPr/>
          </p:nvGrpSpPr>
          <p:grpSpPr>
            <a:xfrm>
              <a:off x="2134767" y="1988819"/>
              <a:ext cx="622647" cy="565858"/>
              <a:chOff x="0" y="0"/>
              <a:chExt cx="622646" cy="565856"/>
            </a:xfrm>
          </p:grpSpPr>
          <p:sp>
            <p:nvSpPr>
              <p:cNvPr id="170" name="Shape 359"/>
              <p:cNvSpPr/>
              <p:nvPr/>
            </p:nvSpPr>
            <p:spPr>
              <a:xfrm>
                <a:off x="-1" y="793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1" name="Shape 360"/>
              <p:cNvSpPr txBox="1"/>
              <p:nvPr/>
            </p:nvSpPr>
            <p:spPr>
              <a:xfrm>
                <a:off x="23003" y="-1"/>
                <a:ext cx="50796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75" name="Group 364"/>
            <p:cNvGrpSpPr/>
            <p:nvPr/>
          </p:nvGrpSpPr>
          <p:grpSpPr>
            <a:xfrm>
              <a:off x="2935305" y="1976119"/>
              <a:ext cx="622649" cy="565858"/>
              <a:chOff x="0" y="0"/>
              <a:chExt cx="622647" cy="565856"/>
            </a:xfrm>
          </p:grpSpPr>
          <p:sp>
            <p:nvSpPr>
              <p:cNvPr id="173" name="Shape 362"/>
              <p:cNvSpPr/>
              <p:nvPr/>
            </p:nvSpPr>
            <p:spPr>
              <a:xfrm>
                <a:off x="-1" y="92004"/>
                <a:ext cx="622649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4" name="Shape 363"/>
              <p:cNvSpPr txBox="1"/>
              <p:nvPr/>
            </p:nvSpPr>
            <p:spPr>
              <a:xfrm>
                <a:off x="23001" y="-1"/>
                <a:ext cx="50796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78" name="Group 367"/>
            <p:cNvGrpSpPr/>
            <p:nvPr/>
          </p:nvGrpSpPr>
          <p:grpSpPr>
            <a:xfrm>
              <a:off x="3735844" y="1988819"/>
              <a:ext cx="622647" cy="565858"/>
              <a:chOff x="0" y="0"/>
              <a:chExt cx="622646" cy="565856"/>
            </a:xfrm>
          </p:grpSpPr>
          <p:sp>
            <p:nvSpPr>
              <p:cNvPr id="176" name="Shape 365"/>
              <p:cNvSpPr/>
              <p:nvPr/>
            </p:nvSpPr>
            <p:spPr>
              <a:xfrm>
                <a:off x="-1" y="793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" name="Shape 366"/>
              <p:cNvSpPr txBox="1"/>
              <p:nvPr/>
            </p:nvSpPr>
            <p:spPr>
              <a:xfrm>
                <a:off x="121285" y="-1"/>
                <a:ext cx="340138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81" name="Group 370"/>
            <p:cNvGrpSpPr/>
            <p:nvPr/>
          </p:nvGrpSpPr>
          <p:grpSpPr>
            <a:xfrm>
              <a:off x="4536383" y="1988819"/>
              <a:ext cx="533697" cy="565858"/>
              <a:chOff x="0" y="0"/>
              <a:chExt cx="533696" cy="565856"/>
            </a:xfrm>
          </p:grpSpPr>
          <p:sp>
            <p:nvSpPr>
              <p:cNvPr id="179" name="Shape 368"/>
              <p:cNvSpPr/>
              <p:nvPr/>
            </p:nvSpPr>
            <p:spPr>
              <a:xfrm>
                <a:off x="-1" y="79304"/>
                <a:ext cx="53369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" name="Shape 369"/>
              <p:cNvSpPr txBox="1"/>
              <p:nvPr/>
            </p:nvSpPr>
            <p:spPr>
              <a:xfrm>
                <a:off x="48783" y="-1"/>
                <a:ext cx="387999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84" name="Group 373"/>
            <p:cNvGrpSpPr/>
            <p:nvPr/>
          </p:nvGrpSpPr>
          <p:grpSpPr>
            <a:xfrm>
              <a:off x="4517405" y="2951478"/>
              <a:ext cx="641625" cy="565858"/>
              <a:chOff x="0" y="0"/>
              <a:chExt cx="641624" cy="565856"/>
            </a:xfrm>
          </p:grpSpPr>
          <p:sp>
            <p:nvSpPr>
              <p:cNvPr id="182" name="Shape 371"/>
              <p:cNvSpPr/>
              <p:nvPr/>
            </p:nvSpPr>
            <p:spPr>
              <a:xfrm>
                <a:off x="18978" y="920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" name="Shape 372"/>
              <p:cNvSpPr txBox="1"/>
              <p:nvPr/>
            </p:nvSpPr>
            <p:spPr>
              <a:xfrm>
                <a:off x="-1" y="-1"/>
                <a:ext cx="579653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grpSp>
          <p:nvGrpSpPr>
            <p:cNvPr id="187" name="Group 376"/>
            <p:cNvGrpSpPr/>
            <p:nvPr/>
          </p:nvGrpSpPr>
          <p:grpSpPr>
            <a:xfrm>
              <a:off x="622639" y="2926078"/>
              <a:ext cx="622647" cy="565858"/>
              <a:chOff x="0" y="0"/>
              <a:chExt cx="622646" cy="565856"/>
            </a:xfrm>
          </p:grpSpPr>
          <p:sp>
            <p:nvSpPr>
              <p:cNvPr id="185" name="Shape 374"/>
              <p:cNvSpPr/>
              <p:nvPr/>
            </p:nvSpPr>
            <p:spPr>
              <a:xfrm>
                <a:off x="-1" y="117404"/>
                <a:ext cx="622647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" name="Shape 375"/>
              <p:cNvSpPr txBox="1"/>
              <p:nvPr/>
            </p:nvSpPr>
            <p:spPr>
              <a:xfrm>
                <a:off x="23003" y="-1"/>
                <a:ext cx="50796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190" name="Group 379"/>
            <p:cNvGrpSpPr/>
            <p:nvPr/>
          </p:nvGrpSpPr>
          <p:grpSpPr>
            <a:xfrm>
              <a:off x="1855172" y="2989578"/>
              <a:ext cx="622649" cy="565858"/>
              <a:chOff x="0" y="0"/>
              <a:chExt cx="622647" cy="565856"/>
            </a:xfrm>
          </p:grpSpPr>
          <p:sp>
            <p:nvSpPr>
              <p:cNvPr id="188" name="Shape 377"/>
              <p:cNvSpPr/>
              <p:nvPr/>
            </p:nvSpPr>
            <p:spPr>
              <a:xfrm>
                <a:off x="-1" y="79304"/>
                <a:ext cx="622649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" name="Shape 378"/>
              <p:cNvSpPr txBox="1"/>
              <p:nvPr/>
            </p:nvSpPr>
            <p:spPr>
              <a:xfrm>
                <a:off x="51030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L</a:t>
                </a:r>
              </a:p>
            </p:txBody>
          </p:sp>
        </p:grpSp>
        <p:sp>
          <p:nvSpPr>
            <p:cNvPr id="191" name="Shape 380"/>
            <p:cNvSpPr/>
            <p:nvPr/>
          </p:nvSpPr>
          <p:spPr>
            <a:xfrm flipH="1">
              <a:off x="978434" y="334151"/>
              <a:ext cx="1156336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2" name="Shape 381"/>
            <p:cNvSpPr/>
            <p:nvPr/>
          </p:nvSpPr>
          <p:spPr>
            <a:xfrm>
              <a:off x="2401614" y="550897"/>
              <a:ext cx="2261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3" name="Shape 382"/>
            <p:cNvSpPr/>
            <p:nvPr/>
          </p:nvSpPr>
          <p:spPr>
            <a:xfrm>
              <a:off x="2757410" y="334151"/>
              <a:ext cx="1245284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" name="Shape 383"/>
            <p:cNvSpPr/>
            <p:nvPr/>
          </p:nvSpPr>
          <p:spPr>
            <a:xfrm flipH="1">
              <a:off x="331018" y="1309511"/>
              <a:ext cx="380574" cy="70848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5" name="Shape 384"/>
            <p:cNvSpPr/>
            <p:nvPr/>
          </p:nvSpPr>
          <p:spPr>
            <a:xfrm>
              <a:off x="1245281" y="1309511"/>
              <a:ext cx="266849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6" name="Shape 385"/>
            <p:cNvSpPr/>
            <p:nvPr/>
          </p:nvSpPr>
          <p:spPr>
            <a:xfrm flipH="1">
              <a:off x="889486" y="2284871"/>
              <a:ext cx="355798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7" name="Shape 386"/>
            <p:cNvSpPr/>
            <p:nvPr/>
          </p:nvSpPr>
          <p:spPr>
            <a:xfrm>
              <a:off x="1867921" y="2284871"/>
              <a:ext cx="340517" cy="7769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8" name="Shape 387"/>
            <p:cNvSpPr/>
            <p:nvPr/>
          </p:nvSpPr>
          <p:spPr>
            <a:xfrm>
              <a:off x="2401614" y="1526258"/>
              <a:ext cx="2261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9" name="Shape 388"/>
            <p:cNvSpPr/>
            <p:nvPr/>
          </p:nvSpPr>
          <p:spPr>
            <a:xfrm flipH="1">
              <a:off x="3202152" y="1369198"/>
              <a:ext cx="574836" cy="69554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0" name="Shape 389"/>
            <p:cNvSpPr/>
            <p:nvPr/>
          </p:nvSpPr>
          <p:spPr>
            <a:xfrm flipH="1">
              <a:off x="4091638" y="1526258"/>
              <a:ext cx="2261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1" name="Shape 390"/>
            <p:cNvSpPr/>
            <p:nvPr/>
          </p:nvSpPr>
          <p:spPr>
            <a:xfrm>
              <a:off x="4324524" y="1421735"/>
              <a:ext cx="478709" cy="649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2" name="Shape 391"/>
            <p:cNvSpPr/>
            <p:nvPr/>
          </p:nvSpPr>
          <p:spPr>
            <a:xfrm>
              <a:off x="4803230" y="2501617"/>
              <a:ext cx="2261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204" name="Shape 393"/>
          <p:cNvSpPr txBox="1"/>
          <p:nvPr/>
        </p:nvSpPr>
        <p:spPr>
          <a:xfrm>
            <a:off x="653592" y="1092804"/>
            <a:ext cx="10948990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路径(path)：由从根到该结点所经边和结点构成：A-C-G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路径长度(path length)：边的条数</a:t>
            </a:r>
          </a:p>
        </p:txBody>
      </p:sp>
      <p:sp>
        <p:nvSpPr>
          <p:cNvPr id="205" name="Shape 395"/>
          <p:cNvSpPr txBox="1"/>
          <p:nvPr/>
        </p:nvSpPr>
        <p:spPr>
          <a:xfrm>
            <a:off x="691693" y="2639099"/>
            <a:ext cx="1939090" cy="3835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双亲结点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孩子结点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兄弟结点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堂兄弟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祖先结点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子孙结点</a:t>
            </a:r>
          </a:p>
        </p:txBody>
      </p:sp>
      <p:sp>
        <p:nvSpPr>
          <p:cNvPr id="206" name="Shape 396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基本术语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450"/>
          <p:cNvSpPr txBox="1"/>
          <p:nvPr/>
        </p:nvSpPr>
        <p:spPr>
          <a:xfrm>
            <a:off x="138569" y="1305276"/>
            <a:ext cx="11988055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3"/>
              </a:buBlip>
            </a:pPr>
            <a:r>
              <a:t>结点的层次(level): 根结点0层、其孩子结点1层...(根到结点路径的长度)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3"/>
              </a:buBlip>
            </a:pPr>
            <a:r>
              <a:t>树的深度(depth): 最大层次 + 1，或最长路径长度 + 1</a:t>
            </a:r>
          </a:p>
        </p:txBody>
      </p:sp>
      <p:sp>
        <p:nvSpPr>
          <p:cNvPr id="209" name="Shape 457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基本术语</a:t>
            </a:r>
          </a:p>
        </p:txBody>
      </p:sp>
      <p:grpSp>
        <p:nvGrpSpPr>
          <p:cNvPr id="266" name="成组"/>
          <p:cNvGrpSpPr/>
          <p:nvPr/>
        </p:nvGrpSpPr>
        <p:grpSpPr>
          <a:xfrm>
            <a:off x="2987253" y="3107405"/>
            <a:ext cx="6398550" cy="3538789"/>
            <a:chOff x="-2" y="0"/>
            <a:chExt cx="6398548" cy="3538787"/>
          </a:xfrm>
        </p:grpSpPr>
        <p:grpSp>
          <p:nvGrpSpPr>
            <p:cNvPr id="261" name="Group 449"/>
            <p:cNvGrpSpPr/>
            <p:nvPr/>
          </p:nvGrpSpPr>
          <p:grpSpPr>
            <a:xfrm>
              <a:off x="-3" y="-1"/>
              <a:ext cx="5156775" cy="3491941"/>
              <a:chOff x="-1" y="0"/>
              <a:chExt cx="5156773" cy="3491939"/>
            </a:xfrm>
          </p:grpSpPr>
          <p:grpSp>
            <p:nvGrpSpPr>
              <p:cNvPr id="212" name="Group 400"/>
              <p:cNvGrpSpPr/>
              <p:nvPr/>
            </p:nvGrpSpPr>
            <p:grpSpPr>
              <a:xfrm>
                <a:off x="2132510" y="-1"/>
                <a:ext cx="622647" cy="565858"/>
                <a:chOff x="-1" y="0"/>
                <a:chExt cx="622646" cy="565856"/>
              </a:xfrm>
            </p:grpSpPr>
            <p:sp>
              <p:nvSpPr>
                <p:cNvPr id="210" name="Shape 398"/>
                <p:cNvSpPr/>
                <p:nvPr/>
              </p:nvSpPr>
              <p:spPr>
                <a:xfrm>
                  <a:off x="-2" y="1174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1" name="Shape 399"/>
                <p:cNvSpPr txBox="1"/>
                <p:nvPr/>
              </p:nvSpPr>
              <p:spPr>
                <a:xfrm>
                  <a:off x="37079" y="-1"/>
                  <a:ext cx="483931" cy="56585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215" name="Group 403"/>
              <p:cNvGrpSpPr/>
              <p:nvPr/>
            </p:nvGrpSpPr>
            <p:grpSpPr>
              <a:xfrm>
                <a:off x="709331" y="1000760"/>
                <a:ext cx="533697" cy="565858"/>
                <a:chOff x="0" y="0"/>
                <a:chExt cx="533696" cy="565856"/>
              </a:xfrm>
            </p:grpSpPr>
            <p:sp>
              <p:nvSpPr>
                <p:cNvPr id="213" name="Shape 401"/>
                <p:cNvSpPr/>
                <p:nvPr/>
              </p:nvSpPr>
              <p:spPr>
                <a:xfrm>
                  <a:off x="-1" y="92004"/>
                  <a:ext cx="53369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4" name="Shape 402"/>
                <p:cNvSpPr txBox="1"/>
                <p:nvPr/>
              </p:nvSpPr>
              <p:spPr>
                <a:xfrm>
                  <a:off x="6556" y="0"/>
                  <a:ext cx="46010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218" name="Group 406"/>
              <p:cNvGrpSpPr/>
              <p:nvPr/>
            </p:nvGrpSpPr>
            <p:grpSpPr>
              <a:xfrm>
                <a:off x="2132510" y="1013460"/>
                <a:ext cx="622647" cy="565858"/>
                <a:chOff x="-1" y="0"/>
                <a:chExt cx="622646" cy="565856"/>
              </a:xfrm>
            </p:grpSpPr>
            <p:sp>
              <p:nvSpPr>
                <p:cNvPr id="216" name="Shape 404"/>
                <p:cNvSpPr/>
                <p:nvPr/>
              </p:nvSpPr>
              <p:spPr>
                <a:xfrm>
                  <a:off x="-2" y="793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7" name="Shape 405"/>
                <p:cNvSpPr txBox="1"/>
                <p:nvPr/>
              </p:nvSpPr>
              <p:spPr>
                <a:xfrm>
                  <a:off x="37079" y="0"/>
                  <a:ext cx="483931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221" name="Group 409"/>
              <p:cNvGrpSpPr/>
              <p:nvPr/>
            </p:nvGrpSpPr>
            <p:grpSpPr>
              <a:xfrm>
                <a:off x="3733587" y="1026160"/>
                <a:ext cx="622647" cy="565858"/>
                <a:chOff x="-1" y="0"/>
                <a:chExt cx="622646" cy="565856"/>
              </a:xfrm>
            </p:grpSpPr>
            <p:sp>
              <p:nvSpPr>
                <p:cNvPr id="219" name="Shape 407"/>
                <p:cNvSpPr/>
                <p:nvPr/>
              </p:nvSpPr>
              <p:spPr>
                <a:xfrm>
                  <a:off x="-2" y="666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0" name="Shape 408"/>
                <p:cNvSpPr txBox="1"/>
                <p:nvPr/>
              </p:nvSpPr>
              <p:spPr>
                <a:xfrm>
                  <a:off x="62478" y="0"/>
                  <a:ext cx="483931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grpSp>
            <p:nvGrpSpPr>
              <p:cNvPr id="224" name="Group 412"/>
              <p:cNvGrpSpPr/>
              <p:nvPr/>
            </p:nvGrpSpPr>
            <p:grpSpPr>
              <a:xfrm>
                <a:off x="-2" y="1976120"/>
                <a:ext cx="533697" cy="565858"/>
                <a:chOff x="0" y="0"/>
                <a:chExt cx="533696" cy="565856"/>
              </a:xfrm>
            </p:grpSpPr>
            <p:sp>
              <p:nvSpPr>
                <p:cNvPr id="222" name="Shape 410"/>
                <p:cNvSpPr/>
                <p:nvPr/>
              </p:nvSpPr>
              <p:spPr>
                <a:xfrm>
                  <a:off x="-1" y="92004"/>
                  <a:ext cx="53369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3" name="Shape 411"/>
                <p:cNvSpPr txBox="1"/>
                <p:nvPr/>
              </p:nvSpPr>
              <p:spPr>
                <a:xfrm>
                  <a:off x="29699" y="0"/>
                  <a:ext cx="46010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227" name="Group 415"/>
              <p:cNvGrpSpPr/>
              <p:nvPr/>
            </p:nvGrpSpPr>
            <p:grpSpPr>
              <a:xfrm>
                <a:off x="1243022" y="1988820"/>
                <a:ext cx="622649" cy="565858"/>
                <a:chOff x="0" y="0"/>
                <a:chExt cx="622647" cy="565856"/>
              </a:xfrm>
            </p:grpSpPr>
            <p:sp>
              <p:nvSpPr>
                <p:cNvPr id="225" name="Shape 413"/>
                <p:cNvSpPr/>
                <p:nvPr/>
              </p:nvSpPr>
              <p:spPr>
                <a:xfrm>
                  <a:off x="-1" y="79304"/>
                  <a:ext cx="622649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6" name="Shape 414"/>
                <p:cNvSpPr txBox="1"/>
                <p:nvPr/>
              </p:nvSpPr>
              <p:spPr>
                <a:xfrm>
                  <a:off x="90630" y="0"/>
                  <a:ext cx="435859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F</a:t>
                  </a:r>
                </a:p>
              </p:txBody>
            </p:sp>
          </p:grpSp>
          <p:grpSp>
            <p:nvGrpSpPr>
              <p:cNvPr id="230" name="Group 418"/>
              <p:cNvGrpSpPr/>
              <p:nvPr/>
            </p:nvGrpSpPr>
            <p:grpSpPr>
              <a:xfrm>
                <a:off x="2132510" y="1988820"/>
                <a:ext cx="622647" cy="565858"/>
                <a:chOff x="-1" y="0"/>
                <a:chExt cx="622646" cy="565856"/>
              </a:xfrm>
            </p:grpSpPr>
            <p:sp>
              <p:nvSpPr>
                <p:cNvPr id="228" name="Shape 416"/>
                <p:cNvSpPr/>
                <p:nvPr/>
              </p:nvSpPr>
              <p:spPr>
                <a:xfrm>
                  <a:off x="-2" y="793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9" name="Shape 417"/>
                <p:cNvSpPr txBox="1"/>
                <p:nvPr/>
              </p:nvSpPr>
              <p:spPr>
                <a:xfrm>
                  <a:off x="23003" y="0"/>
                  <a:ext cx="50796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G</a:t>
                  </a:r>
                </a:p>
              </p:txBody>
            </p:sp>
          </p:grpSp>
          <p:grpSp>
            <p:nvGrpSpPr>
              <p:cNvPr id="233" name="Group 421"/>
              <p:cNvGrpSpPr/>
              <p:nvPr/>
            </p:nvGrpSpPr>
            <p:grpSpPr>
              <a:xfrm>
                <a:off x="2933049" y="1950720"/>
                <a:ext cx="622647" cy="565858"/>
                <a:chOff x="-1" y="0"/>
                <a:chExt cx="622646" cy="565856"/>
              </a:xfrm>
            </p:grpSpPr>
            <p:sp>
              <p:nvSpPr>
                <p:cNvPr id="231" name="Shape 419"/>
                <p:cNvSpPr/>
                <p:nvPr/>
              </p:nvSpPr>
              <p:spPr>
                <a:xfrm>
                  <a:off x="-2" y="1174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2" name="Shape 420"/>
                <p:cNvSpPr txBox="1"/>
                <p:nvPr/>
              </p:nvSpPr>
              <p:spPr>
                <a:xfrm>
                  <a:off x="23003" y="0"/>
                  <a:ext cx="50796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H</a:t>
                  </a:r>
                </a:p>
              </p:txBody>
            </p:sp>
          </p:grpSp>
          <p:grpSp>
            <p:nvGrpSpPr>
              <p:cNvPr id="236" name="Group 424"/>
              <p:cNvGrpSpPr/>
              <p:nvPr/>
            </p:nvGrpSpPr>
            <p:grpSpPr>
              <a:xfrm>
                <a:off x="3733587" y="1950720"/>
                <a:ext cx="622647" cy="565858"/>
                <a:chOff x="-1" y="0"/>
                <a:chExt cx="622646" cy="565856"/>
              </a:xfrm>
            </p:grpSpPr>
            <p:sp>
              <p:nvSpPr>
                <p:cNvPr id="234" name="Shape 422"/>
                <p:cNvSpPr/>
                <p:nvPr/>
              </p:nvSpPr>
              <p:spPr>
                <a:xfrm>
                  <a:off x="-2" y="1174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5" name="Shape 423"/>
                <p:cNvSpPr txBox="1"/>
                <p:nvPr/>
              </p:nvSpPr>
              <p:spPr>
                <a:xfrm>
                  <a:off x="121286" y="0"/>
                  <a:ext cx="340138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I</a:t>
                  </a:r>
                </a:p>
              </p:txBody>
            </p:sp>
          </p:grpSp>
          <p:grpSp>
            <p:nvGrpSpPr>
              <p:cNvPr id="239" name="Group 427"/>
              <p:cNvGrpSpPr/>
              <p:nvPr/>
            </p:nvGrpSpPr>
            <p:grpSpPr>
              <a:xfrm>
                <a:off x="4534127" y="1950720"/>
                <a:ext cx="533697" cy="565858"/>
                <a:chOff x="0" y="0"/>
                <a:chExt cx="533696" cy="565856"/>
              </a:xfrm>
            </p:grpSpPr>
            <p:sp>
              <p:nvSpPr>
                <p:cNvPr id="237" name="Shape 425"/>
                <p:cNvSpPr/>
                <p:nvPr/>
              </p:nvSpPr>
              <p:spPr>
                <a:xfrm>
                  <a:off x="-1" y="117404"/>
                  <a:ext cx="53369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8" name="Shape 426"/>
                <p:cNvSpPr txBox="1"/>
                <p:nvPr/>
              </p:nvSpPr>
              <p:spPr>
                <a:xfrm>
                  <a:off x="48783" y="0"/>
                  <a:ext cx="387999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J</a:t>
                  </a:r>
                </a:p>
              </p:txBody>
            </p:sp>
          </p:grpSp>
          <p:grpSp>
            <p:nvGrpSpPr>
              <p:cNvPr id="242" name="Group 430"/>
              <p:cNvGrpSpPr/>
              <p:nvPr/>
            </p:nvGrpSpPr>
            <p:grpSpPr>
              <a:xfrm>
                <a:off x="4515148" y="2926082"/>
                <a:ext cx="641625" cy="565858"/>
                <a:chOff x="-1" y="0"/>
                <a:chExt cx="641624" cy="565856"/>
              </a:xfrm>
            </p:grpSpPr>
            <p:sp>
              <p:nvSpPr>
                <p:cNvPr id="240" name="Shape 428"/>
                <p:cNvSpPr/>
                <p:nvPr/>
              </p:nvSpPr>
              <p:spPr>
                <a:xfrm>
                  <a:off x="18977" y="1174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1" name="Shape 429"/>
                <p:cNvSpPr txBox="1"/>
                <p:nvPr/>
              </p:nvSpPr>
              <p:spPr>
                <a:xfrm>
                  <a:off x="-2" y="0"/>
                  <a:ext cx="579653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grpSp>
            <p:nvGrpSpPr>
              <p:cNvPr id="245" name="Group 433"/>
              <p:cNvGrpSpPr/>
              <p:nvPr/>
            </p:nvGrpSpPr>
            <p:grpSpPr>
              <a:xfrm>
                <a:off x="620382" y="2926082"/>
                <a:ext cx="622647" cy="565858"/>
                <a:chOff x="-1" y="0"/>
                <a:chExt cx="622646" cy="565856"/>
              </a:xfrm>
            </p:grpSpPr>
            <p:sp>
              <p:nvSpPr>
                <p:cNvPr id="243" name="Shape 431"/>
                <p:cNvSpPr/>
                <p:nvPr/>
              </p:nvSpPr>
              <p:spPr>
                <a:xfrm>
                  <a:off x="-2" y="117404"/>
                  <a:ext cx="622647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4" name="Shape 432"/>
                <p:cNvSpPr txBox="1"/>
                <p:nvPr/>
              </p:nvSpPr>
              <p:spPr>
                <a:xfrm>
                  <a:off x="23003" y="0"/>
                  <a:ext cx="50796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K</a:t>
                  </a:r>
                </a:p>
              </p:txBody>
            </p:sp>
          </p:grpSp>
          <p:grpSp>
            <p:nvGrpSpPr>
              <p:cNvPr id="248" name="Group 436"/>
              <p:cNvGrpSpPr/>
              <p:nvPr/>
            </p:nvGrpSpPr>
            <p:grpSpPr>
              <a:xfrm>
                <a:off x="1776715" y="2926082"/>
                <a:ext cx="622649" cy="565858"/>
                <a:chOff x="0" y="0"/>
                <a:chExt cx="622647" cy="565856"/>
              </a:xfrm>
            </p:grpSpPr>
            <p:sp>
              <p:nvSpPr>
                <p:cNvPr id="246" name="Shape 434"/>
                <p:cNvSpPr/>
                <p:nvPr/>
              </p:nvSpPr>
              <p:spPr>
                <a:xfrm>
                  <a:off x="-1" y="117404"/>
                  <a:ext cx="622649" cy="43180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7" name="Shape 435"/>
                <p:cNvSpPr txBox="1"/>
                <p:nvPr/>
              </p:nvSpPr>
              <p:spPr>
                <a:xfrm>
                  <a:off x="51031" y="0"/>
                  <a:ext cx="460106" cy="56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L</a:t>
                  </a:r>
                </a:p>
              </p:txBody>
            </p:sp>
          </p:grpSp>
          <p:sp>
            <p:nvSpPr>
              <p:cNvPr id="249" name="Shape 437"/>
              <p:cNvSpPr/>
              <p:nvPr/>
            </p:nvSpPr>
            <p:spPr>
              <a:xfrm flipH="1">
                <a:off x="976177" y="334151"/>
                <a:ext cx="1156336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0" name="Shape 438"/>
              <p:cNvSpPr/>
              <p:nvPr/>
            </p:nvSpPr>
            <p:spPr>
              <a:xfrm>
                <a:off x="2399357" y="550897"/>
                <a:ext cx="2261" cy="5461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1" name="Shape 439"/>
              <p:cNvSpPr/>
              <p:nvPr/>
            </p:nvSpPr>
            <p:spPr>
              <a:xfrm>
                <a:off x="2755152" y="334150"/>
                <a:ext cx="1245286" cy="7620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2" name="Shape 440"/>
              <p:cNvSpPr/>
              <p:nvPr/>
            </p:nvSpPr>
            <p:spPr>
              <a:xfrm flipH="1">
                <a:off x="264588" y="1309512"/>
                <a:ext cx="444746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3" name="Shape 441"/>
              <p:cNvSpPr/>
              <p:nvPr/>
            </p:nvSpPr>
            <p:spPr>
              <a:xfrm>
                <a:off x="1243023" y="1309512"/>
                <a:ext cx="266849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4" name="Shape 442"/>
              <p:cNvSpPr/>
              <p:nvPr/>
            </p:nvSpPr>
            <p:spPr>
              <a:xfrm flipH="1">
                <a:off x="887228" y="2284872"/>
                <a:ext cx="355798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5" name="Shape 443"/>
              <p:cNvSpPr/>
              <p:nvPr/>
            </p:nvSpPr>
            <p:spPr>
              <a:xfrm>
                <a:off x="1865665" y="2284872"/>
                <a:ext cx="177900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6" name="Shape 444"/>
              <p:cNvSpPr/>
              <p:nvPr/>
            </p:nvSpPr>
            <p:spPr>
              <a:xfrm>
                <a:off x="2399357" y="1526258"/>
                <a:ext cx="2261" cy="5461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7" name="Shape 445"/>
              <p:cNvSpPr/>
              <p:nvPr/>
            </p:nvSpPr>
            <p:spPr>
              <a:xfrm flipH="1">
                <a:off x="3199895" y="1293674"/>
                <a:ext cx="548395" cy="77106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8" name="Shape 446"/>
              <p:cNvSpPr/>
              <p:nvPr/>
            </p:nvSpPr>
            <p:spPr>
              <a:xfrm flipH="1">
                <a:off x="4089382" y="1526258"/>
                <a:ext cx="2261" cy="5461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59" name="Shape 447"/>
              <p:cNvSpPr/>
              <p:nvPr/>
            </p:nvSpPr>
            <p:spPr>
              <a:xfrm>
                <a:off x="4356230" y="1309512"/>
                <a:ext cx="444747" cy="7620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60" name="Shape 448"/>
              <p:cNvSpPr/>
              <p:nvPr/>
            </p:nvSpPr>
            <p:spPr>
              <a:xfrm>
                <a:off x="4800973" y="2501619"/>
                <a:ext cx="2261" cy="5461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sp>
          <p:nvSpPr>
            <p:cNvPr id="262" name="Shape 453"/>
            <p:cNvSpPr txBox="1"/>
            <p:nvPr/>
          </p:nvSpPr>
          <p:spPr>
            <a:xfrm>
              <a:off x="5573044" y="105550"/>
              <a:ext cx="8255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63" name="Shape 454"/>
            <p:cNvSpPr txBox="1"/>
            <p:nvPr/>
          </p:nvSpPr>
          <p:spPr>
            <a:xfrm>
              <a:off x="5573044" y="990600"/>
              <a:ext cx="8255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64" name="Shape 455"/>
            <p:cNvSpPr txBox="1"/>
            <p:nvPr/>
          </p:nvSpPr>
          <p:spPr>
            <a:xfrm>
              <a:off x="5573044" y="2049499"/>
              <a:ext cx="8255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65" name="Shape 456"/>
            <p:cNvSpPr txBox="1"/>
            <p:nvPr/>
          </p:nvSpPr>
          <p:spPr>
            <a:xfrm>
              <a:off x="5573044" y="2972930"/>
              <a:ext cx="8255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463"/>
          <p:cNvSpPr txBox="1"/>
          <p:nvPr/>
        </p:nvSpPr>
        <p:spPr>
          <a:xfrm>
            <a:off x="153461" y="1185175"/>
            <a:ext cx="758950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indent="57797"/>
          </a:lstStyle>
          <a:p>
            <a:pPr/>
            <a:r>
              <a:t>有序树(ordered tree)：子树之间存在次序关系</a:t>
            </a:r>
          </a:p>
        </p:txBody>
      </p:sp>
      <p:sp>
        <p:nvSpPr>
          <p:cNvPr id="269" name="Shape 465"/>
          <p:cNvSpPr txBox="1"/>
          <p:nvPr/>
        </p:nvSpPr>
        <p:spPr>
          <a:xfrm>
            <a:off x="264456" y="4170514"/>
            <a:ext cx="856265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indent="57797"/>
          </a:lstStyle>
          <a:p>
            <a:pPr/>
            <a:r>
              <a:t>无序???树(oriented tree)：子树之间不存在次序关系</a:t>
            </a:r>
          </a:p>
        </p:txBody>
      </p:sp>
      <p:sp>
        <p:nvSpPr>
          <p:cNvPr id="270" name="Shape 469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基本术语</a:t>
            </a:r>
          </a:p>
        </p:txBody>
      </p:sp>
      <p:grpSp>
        <p:nvGrpSpPr>
          <p:cNvPr id="286" name="成组"/>
          <p:cNvGrpSpPr/>
          <p:nvPr/>
        </p:nvGrpSpPr>
        <p:grpSpPr>
          <a:xfrm>
            <a:off x="1793337" y="1961267"/>
            <a:ext cx="3167671" cy="1791553"/>
            <a:chOff x="0" y="-1"/>
            <a:chExt cx="3167669" cy="1791552"/>
          </a:xfrm>
        </p:grpSpPr>
        <p:grpSp>
          <p:nvGrpSpPr>
            <p:cNvPr id="273" name="Group 317"/>
            <p:cNvGrpSpPr/>
            <p:nvPr/>
          </p:nvGrpSpPr>
          <p:grpSpPr>
            <a:xfrm>
              <a:off x="1267063" y="-2"/>
              <a:ext cx="633537" cy="624937"/>
              <a:chOff x="-1" y="0"/>
              <a:chExt cx="633535" cy="624936"/>
            </a:xfrm>
          </p:grpSpPr>
          <p:sp>
            <p:nvSpPr>
              <p:cNvPr id="271" name="Shape 315"/>
              <p:cNvSpPr/>
              <p:nvPr/>
            </p:nvSpPr>
            <p:spPr>
              <a:xfrm>
                <a:off x="-2" y="2732"/>
                <a:ext cx="633537" cy="6222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2" name="Shape 316"/>
              <p:cNvSpPr txBox="1"/>
              <p:nvPr/>
            </p:nvSpPr>
            <p:spPr>
              <a:xfrm>
                <a:off x="66549" y="-1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</a:t>
                </a:r>
              </a:p>
            </p:txBody>
          </p:sp>
        </p:grpSp>
        <p:grpSp>
          <p:nvGrpSpPr>
            <p:cNvPr id="276" name="Group 320"/>
            <p:cNvGrpSpPr/>
            <p:nvPr/>
          </p:nvGrpSpPr>
          <p:grpSpPr>
            <a:xfrm>
              <a:off x="-1" y="1166618"/>
              <a:ext cx="633536" cy="624934"/>
              <a:chOff x="-1" y="0"/>
              <a:chExt cx="633535" cy="624933"/>
            </a:xfrm>
          </p:grpSpPr>
          <p:sp>
            <p:nvSpPr>
              <p:cNvPr id="274" name="Shape 318"/>
              <p:cNvSpPr/>
              <p:nvPr/>
            </p:nvSpPr>
            <p:spPr>
              <a:xfrm>
                <a:off x="-2" y="2733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5" name="Shape 319"/>
              <p:cNvSpPr txBox="1"/>
              <p:nvPr/>
            </p:nvSpPr>
            <p:spPr>
              <a:xfrm>
                <a:off x="35751" y="0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79" name="Group 323"/>
            <p:cNvGrpSpPr/>
            <p:nvPr/>
          </p:nvGrpSpPr>
          <p:grpSpPr>
            <a:xfrm>
              <a:off x="1254363" y="1169351"/>
              <a:ext cx="633537" cy="622201"/>
              <a:chOff x="-1" y="0"/>
              <a:chExt cx="633535" cy="622200"/>
            </a:xfrm>
          </p:grpSpPr>
          <p:sp>
            <p:nvSpPr>
              <p:cNvPr id="277" name="Shape 321"/>
              <p:cNvSpPr/>
              <p:nvPr/>
            </p:nvSpPr>
            <p:spPr>
              <a:xfrm>
                <a:off x="-2" y="-1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" name="Shape 322"/>
              <p:cNvSpPr txBox="1"/>
              <p:nvPr/>
            </p:nvSpPr>
            <p:spPr>
              <a:xfrm>
                <a:off x="73216" y="9966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82" name="Group 326"/>
            <p:cNvGrpSpPr/>
            <p:nvPr/>
          </p:nvGrpSpPr>
          <p:grpSpPr>
            <a:xfrm>
              <a:off x="2534130" y="1169351"/>
              <a:ext cx="633539" cy="622201"/>
              <a:chOff x="0" y="0"/>
              <a:chExt cx="633538" cy="622200"/>
            </a:xfrm>
          </p:grpSpPr>
          <p:sp>
            <p:nvSpPr>
              <p:cNvPr id="280" name="Shape 324"/>
              <p:cNvSpPr/>
              <p:nvPr/>
            </p:nvSpPr>
            <p:spPr>
              <a:xfrm>
                <a:off x="0" y="-1"/>
                <a:ext cx="633539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" name="Shape 325"/>
              <p:cNvSpPr txBox="1"/>
              <p:nvPr/>
            </p:nvSpPr>
            <p:spPr>
              <a:xfrm>
                <a:off x="49879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83" name="Shape 330"/>
            <p:cNvSpPr/>
            <p:nvPr/>
          </p:nvSpPr>
          <p:spPr>
            <a:xfrm>
              <a:off x="1583830" y="624928"/>
              <a:ext cx="1653" cy="5444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84" name="Shape 332"/>
            <p:cNvSpPr/>
            <p:nvPr/>
          </p:nvSpPr>
          <p:spPr>
            <a:xfrm flipH="1">
              <a:off x="316765" y="313831"/>
              <a:ext cx="950302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85" name="Shape 333"/>
            <p:cNvSpPr/>
            <p:nvPr/>
          </p:nvSpPr>
          <p:spPr>
            <a:xfrm>
              <a:off x="1900596" y="313831"/>
              <a:ext cx="950301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302" name="成组"/>
          <p:cNvGrpSpPr/>
          <p:nvPr/>
        </p:nvGrpSpPr>
        <p:grpSpPr>
          <a:xfrm>
            <a:off x="6479637" y="1961267"/>
            <a:ext cx="3167671" cy="1791553"/>
            <a:chOff x="0" y="-1"/>
            <a:chExt cx="3167669" cy="1791552"/>
          </a:xfrm>
        </p:grpSpPr>
        <p:grpSp>
          <p:nvGrpSpPr>
            <p:cNvPr id="289" name="Group 317"/>
            <p:cNvGrpSpPr/>
            <p:nvPr/>
          </p:nvGrpSpPr>
          <p:grpSpPr>
            <a:xfrm>
              <a:off x="1267063" y="-2"/>
              <a:ext cx="633537" cy="624937"/>
              <a:chOff x="-1" y="0"/>
              <a:chExt cx="633535" cy="624936"/>
            </a:xfrm>
          </p:grpSpPr>
          <p:sp>
            <p:nvSpPr>
              <p:cNvPr id="287" name="Shape 315"/>
              <p:cNvSpPr/>
              <p:nvPr/>
            </p:nvSpPr>
            <p:spPr>
              <a:xfrm>
                <a:off x="-2" y="2732"/>
                <a:ext cx="633537" cy="6222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" name="Shape 316"/>
              <p:cNvSpPr txBox="1"/>
              <p:nvPr/>
            </p:nvSpPr>
            <p:spPr>
              <a:xfrm>
                <a:off x="66549" y="-1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</a:t>
                </a:r>
              </a:p>
            </p:txBody>
          </p:sp>
        </p:grpSp>
        <p:grpSp>
          <p:nvGrpSpPr>
            <p:cNvPr id="292" name="Group 320"/>
            <p:cNvGrpSpPr/>
            <p:nvPr/>
          </p:nvGrpSpPr>
          <p:grpSpPr>
            <a:xfrm>
              <a:off x="-1" y="1166618"/>
              <a:ext cx="633536" cy="624934"/>
              <a:chOff x="-1" y="0"/>
              <a:chExt cx="633535" cy="624933"/>
            </a:xfrm>
          </p:grpSpPr>
          <p:sp>
            <p:nvSpPr>
              <p:cNvPr id="290" name="Shape 318"/>
              <p:cNvSpPr/>
              <p:nvPr/>
            </p:nvSpPr>
            <p:spPr>
              <a:xfrm>
                <a:off x="-2" y="2733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1" name="Shape 319"/>
              <p:cNvSpPr txBox="1"/>
              <p:nvPr/>
            </p:nvSpPr>
            <p:spPr>
              <a:xfrm>
                <a:off x="35751" y="0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95" name="Group 323"/>
            <p:cNvGrpSpPr/>
            <p:nvPr/>
          </p:nvGrpSpPr>
          <p:grpSpPr>
            <a:xfrm>
              <a:off x="1254363" y="1169351"/>
              <a:ext cx="633537" cy="622201"/>
              <a:chOff x="-1" y="0"/>
              <a:chExt cx="633535" cy="622200"/>
            </a:xfrm>
          </p:grpSpPr>
          <p:sp>
            <p:nvSpPr>
              <p:cNvPr id="293" name="Shape 321"/>
              <p:cNvSpPr/>
              <p:nvPr/>
            </p:nvSpPr>
            <p:spPr>
              <a:xfrm>
                <a:off x="-2" y="-1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4" name="Shape 322"/>
              <p:cNvSpPr txBox="1"/>
              <p:nvPr/>
            </p:nvSpPr>
            <p:spPr>
              <a:xfrm>
                <a:off x="73216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98" name="Group 326"/>
            <p:cNvGrpSpPr/>
            <p:nvPr/>
          </p:nvGrpSpPr>
          <p:grpSpPr>
            <a:xfrm>
              <a:off x="2534130" y="1169351"/>
              <a:ext cx="633539" cy="622201"/>
              <a:chOff x="0" y="0"/>
              <a:chExt cx="633538" cy="622200"/>
            </a:xfrm>
          </p:grpSpPr>
          <p:sp>
            <p:nvSpPr>
              <p:cNvPr id="296" name="Shape 324"/>
              <p:cNvSpPr/>
              <p:nvPr/>
            </p:nvSpPr>
            <p:spPr>
              <a:xfrm>
                <a:off x="0" y="-1"/>
                <a:ext cx="633539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7" name="Shape 325"/>
              <p:cNvSpPr txBox="1"/>
              <p:nvPr/>
            </p:nvSpPr>
            <p:spPr>
              <a:xfrm>
                <a:off x="49879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99" name="Shape 330"/>
            <p:cNvSpPr/>
            <p:nvPr/>
          </p:nvSpPr>
          <p:spPr>
            <a:xfrm>
              <a:off x="1583830" y="624928"/>
              <a:ext cx="1653" cy="5444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00" name="Shape 332"/>
            <p:cNvSpPr/>
            <p:nvPr/>
          </p:nvSpPr>
          <p:spPr>
            <a:xfrm flipH="1">
              <a:off x="316765" y="313831"/>
              <a:ext cx="950302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01" name="Shape 333"/>
            <p:cNvSpPr/>
            <p:nvPr/>
          </p:nvSpPr>
          <p:spPr>
            <a:xfrm>
              <a:off x="1900596" y="313831"/>
              <a:ext cx="950301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303" name="≠"/>
          <p:cNvSpPr txBox="1"/>
          <p:nvPr/>
        </p:nvSpPr>
        <p:spPr>
          <a:xfrm>
            <a:off x="5418373" y="2561683"/>
            <a:ext cx="416053" cy="590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3500"/>
            </a:lvl1pPr>
          </a:lstStyle>
          <a:p>
            <a:pPr/>
            <a:r>
              <a:t>≠</a:t>
            </a:r>
          </a:p>
        </p:txBody>
      </p:sp>
      <p:grpSp>
        <p:nvGrpSpPr>
          <p:cNvPr id="319" name="成组"/>
          <p:cNvGrpSpPr/>
          <p:nvPr/>
        </p:nvGrpSpPr>
        <p:grpSpPr>
          <a:xfrm>
            <a:off x="1793337" y="5441066"/>
            <a:ext cx="3167671" cy="1791554"/>
            <a:chOff x="0" y="-1"/>
            <a:chExt cx="3167669" cy="1791552"/>
          </a:xfrm>
        </p:grpSpPr>
        <p:grpSp>
          <p:nvGrpSpPr>
            <p:cNvPr id="306" name="Group 317"/>
            <p:cNvGrpSpPr/>
            <p:nvPr/>
          </p:nvGrpSpPr>
          <p:grpSpPr>
            <a:xfrm>
              <a:off x="1267063" y="-2"/>
              <a:ext cx="633537" cy="624937"/>
              <a:chOff x="-1" y="0"/>
              <a:chExt cx="633535" cy="624936"/>
            </a:xfrm>
          </p:grpSpPr>
          <p:sp>
            <p:nvSpPr>
              <p:cNvPr id="304" name="Shape 315"/>
              <p:cNvSpPr/>
              <p:nvPr/>
            </p:nvSpPr>
            <p:spPr>
              <a:xfrm>
                <a:off x="-2" y="2732"/>
                <a:ext cx="633537" cy="6222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5" name="Shape 316"/>
              <p:cNvSpPr txBox="1"/>
              <p:nvPr/>
            </p:nvSpPr>
            <p:spPr>
              <a:xfrm>
                <a:off x="66549" y="-1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</a:t>
                </a:r>
              </a:p>
            </p:txBody>
          </p:sp>
        </p:grpSp>
        <p:grpSp>
          <p:nvGrpSpPr>
            <p:cNvPr id="309" name="Group 320"/>
            <p:cNvGrpSpPr/>
            <p:nvPr/>
          </p:nvGrpSpPr>
          <p:grpSpPr>
            <a:xfrm>
              <a:off x="-1" y="1166618"/>
              <a:ext cx="633536" cy="624934"/>
              <a:chOff x="-1" y="0"/>
              <a:chExt cx="633535" cy="624933"/>
            </a:xfrm>
          </p:grpSpPr>
          <p:sp>
            <p:nvSpPr>
              <p:cNvPr id="307" name="Shape 318"/>
              <p:cNvSpPr/>
              <p:nvPr/>
            </p:nvSpPr>
            <p:spPr>
              <a:xfrm>
                <a:off x="-2" y="2733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8" name="Shape 319"/>
              <p:cNvSpPr txBox="1"/>
              <p:nvPr/>
            </p:nvSpPr>
            <p:spPr>
              <a:xfrm>
                <a:off x="35751" y="0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12" name="Group 323"/>
            <p:cNvGrpSpPr/>
            <p:nvPr/>
          </p:nvGrpSpPr>
          <p:grpSpPr>
            <a:xfrm>
              <a:off x="1254363" y="1169351"/>
              <a:ext cx="633537" cy="622201"/>
              <a:chOff x="-1" y="0"/>
              <a:chExt cx="633535" cy="622200"/>
            </a:xfrm>
          </p:grpSpPr>
          <p:sp>
            <p:nvSpPr>
              <p:cNvPr id="310" name="Shape 321"/>
              <p:cNvSpPr/>
              <p:nvPr/>
            </p:nvSpPr>
            <p:spPr>
              <a:xfrm>
                <a:off x="-2" y="-1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1" name="Shape 322"/>
              <p:cNvSpPr txBox="1"/>
              <p:nvPr/>
            </p:nvSpPr>
            <p:spPr>
              <a:xfrm>
                <a:off x="73216" y="9966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15" name="Group 326"/>
            <p:cNvGrpSpPr/>
            <p:nvPr/>
          </p:nvGrpSpPr>
          <p:grpSpPr>
            <a:xfrm>
              <a:off x="2534130" y="1169351"/>
              <a:ext cx="633539" cy="622201"/>
              <a:chOff x="0" y="0"/>
              <a:chExt cx="633538" cy="622200"/>
            </a:xfrm>
          </p:grpSpPr>
          <p:sp>
            <p:nvSpPr>
              <p:cNvPr id="313" name="Shape 324"/>
              <p:cNvSpPr/>
              <p:nvPr/>
            </p:nvSpPr>
            <p:spPr>
              <a:xfrm>
                <a:off x="0" y="-1"/>
                <a:ext cx="633539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4" name="Shape 325"/>
              <p:cNvSpPr txBox="1"/>
              <p:nvPr/>
            </p:nvSpPr>
            <p:spPr>
              <a:xfrm>
                <a:off x="49879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316" name="Shape 330"/>
            <p:cNvSpPr/>
            <p:nvPr/>
          </p:nvSpPr>
          <p:spPr>
            <a:xfrm>
              <a:off x="1583830" y="624928"/>
              <a:ext cx="1653" cy="5444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17" name="Shape 332"/>
            <p:cNvSpPr/>
            <p:nvPr/>
          </p:nvSpPr>
          <p:spPr>
            <a:xfrm flipH="1">
              <a:off x="316765" y="313831"/>
              <a:ext cx="950302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18" name="Shape 333"/>
            <p:cNvSpPr/>
            <p:nvPr/>
          </p:nvSpPr>
          <p:spPr>
            <a:xfrm>
              <a:off x="1900596" y="313831"/>
              <a:ext cx="950301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335" name="成组"/>
          <p:cNvGrpSpPr/>
          <p:nvPr/>
        </p:nvGrpSpPr>
        <p:grpSpPr>
          <a:xfrm>
            <a:off x="6479637" y="5441066"/>
            <a:ext cx="3167671" cy="1791554"/>
            <a:chOff x="0" y="-1"/>
            <a:chExt cx="3167669" cy="1791552"/>
          </a:xfrm>
        </p:grpSpPr>
        <p:grpSp>
          <p:nvGrpSpPr>
            <p:cNvPr id="322" name="Group 317"/>
            <p:cNvGrpSpPr/>
            <p:nvPr/>
          </p:nvGrpSpPr>
          <p:grpSpPr>
            <a:xfrm>
              <a:off x="1267063" y="-2"/>
              <a:ext cx="633537" cy="624937"/>
              <a:chOff x="-1" y="0"/>
              <a:chExt cx="633535" cy="624936"/>
            </a:xfrm>
          </p:grpSpPr>
          <p:sp>
            <p:nvSpPr>
              <p:cNvPr id="320" name="Shape 315"/>
              <p:cNvSpPr/>
              <p:nvPr/>
            </p:nvSpPr>
            <p:spPr>
              <a:xfrm>
                <a:off x="-2" y="2732"/>
                <a:ext cx="633537" cy="6222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" name="Shape 316"/>
              <p:cNvSpPr txBox="1"/>
              <p:nvPr/>
            </p:nvSpPr>
            <p:spPr>
              <a:xfrm>
                <a:off x="66549" y="-1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</a:t>
                </a:r>
              </a:p>
            </p:txBody>
          </p:sp>
        </p:grpSp>
        <p:grpSp>
          <p:nvGrpSpPr>
            <p:cNvPr id="325" name="Group 320"/>
            <p:cNvGrpSpPr/>
            <p:nvPr/>
          </p:nvGrpSpPr>
          <p:grpSpPr>
            <a:xfrm>
              <a:off x="-1" y="1166618"/>
              <a:ext cx="633536" cy="624934"/>
              <a:chOff x="-1" y="0"/>
              <a:chExt cx="633535" cy="624933"/>
            </a:xfrm>
          </p:grpSpPr>
          <p:sp>
            <p:nvSpPr>
              <p:cNvPr id="323" name="Shape 318"/>
              <p:cNvSpPr/>
              <p:nvPr/>
            </p:nvSpPr>
            <p:spPr>
              <a:xfrm>
                <a:off x="-2" y="2733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4" name="Shape 319"/>
              <p:cNvSpPr txBox="1"/>
              <p:nvPr/>
            </p:nvSpPr>
            <p:spPr>
              <a:xfrm>
                <a:off x="35751" y="0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28" name="Group 323"/>
            <p:cNvGrpSpPr/>
            <p:nvPr/>
          </p:nvGrpSpPr>
          <p:grpSpPr>
            <a:xfrm>
              <a:off x="1254363" y="1169351"/>
              <a:ext cx="633537" cy="622201"/>
              <a:chOff x="-1" y="0"/>
              <a:chExt cx="633535" cy="622200"/>
            </a:xfrm>
          </p:grpSpPr>
          <p:sp>
            <p:nvSpPr>
              <p:cNvPr id="326" name="Shape 321"/>
              <p:cNvSpPr/>
              <p:nvPr/>
            </p:nvSpPr>
            <p:spPr>
              <a:xfrm>
                <a:off x="-2" y="-1"/>
                <a:ext cx="633537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" name="Shape 322"/>
              <p:cNvSpPr txBox="1"/>
              <p:nvPr/>
            </p:nvSpPr>
            <p:spPr>
              <a:xfrm>
                <a:off x="73216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31" name="Group 326"/>
            <p:cNvGrpSpPr/>
            <p:nvPr/>
          </p:nvGrpSpPr>
          <p:grpSpPr>
            <a:xfrm>
              <a:off x="2534130" y="1169351"/>
              <a:ext cx="633539" cy="622201"/>
              <a:chOff x="0" y="0"/>
              <a:chExt cx="633538" cy="622200"/>
            </a:xfrm>
          </p:grpSpPr>
          <p:sp>
            <p:nvSpPr>
              <p:cNvPr id="329" name="Shape 324"/>
              <p:cNvSpPr/>
              <p:nvPr/>
            </p:nvSpPr>
            <p:spPr>
              <a:xfrm>
                <a:off x="0" y="-1"/>
                <a:ext cx="633539" cy="6222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0" name="Shape 325"/>
              <p:cNvSpPr txBox="1"/>
              <p:nvPr/>
            </p:nvSpPr>
            <p:spPr>
              <a:xfrm>
                <a:off x="49879" y="9966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332" name="Shape 330"/>
            <p:cNvSpPr/>
            <p:nvPr/>
          </p:nvSpPr>
          <p:spPr>
            <a:xfrm>
              <a:off x="1583830" y="624928"/>
              <a:ext cx="1653" cy="5444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33" name="Shape 332"/>
            <p:cNvSpPr/>
            <p:nvPr/>
          </p:nvSpPr>
          <p:spPr>
            <a:xfrm flipH="1">
              <a:off x="316765" y="313831"/>
              <a:ext cx="950302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34" name="Shape 333"/>
            <p:cNvSpPr/>
            <p:nvPr/>
          </p:nvSpPr>
          <p:spPr>
            <a:xfrm>
              <a:off x="1900596" y="313831"/>
              <a:ext cx="950301" cy="85552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336" name="="/>
          <p:cNvSpPr txBox="1"/>
          <p:nvPr/>
        </p:nvSpPr>
        <p:spPr>
          <a:xfrm>
            <a:off x="5418373" y="6041483"/>
            <a:ext cx="422781" cy="590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3500"/>
            </a:lvl1pPr>
          </a:lstStyle>
          <a:p>
            <a:pPr/>
            <a:r>
              <a:t>=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roup 473"/>
          <p:cNvGrpSpPr/>
          <p:nvPr/>
        </p:nvGrpSpPr>
        <p:grpSpPr>
          <a:xfrm>
            <a:off x="6044452" y="2667205"/>
            <a:ext cx="762007" cy="609324"/>
            <a:chOff x="0" y="-1"/>
            <a:chExt cx="762006" cy="609322"/>
          </a:xfrm>
        </p:grpSpPr>
        <p:sp>
          <p:nvSpPr>
            <p:cNvPr id="338" name="Shape 471"/>
            <p:cNvSpPr/>
            <p:nvPr/>
          </p:nvSpPr>
          <p:spPr>
            <a:xfrm>
              <a:off x="-1" y="63217"/>
              <a:ext cx="762007" cy="54610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9" name="Shape 472"/>
            <p:cNvSpPr txBox="1"/>
            <p:nvPr/>
          </p:nvSpPr>
          <p:spPr>
            <a:xfrm>
              <a:off x="105065" y="-2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43" name="Group 476"/>
          <p:cNvGrpSpPr/>
          <p:nvPr/>
        </p:nvGrpSpPr>
        <p:grpSpPr>
          <a:xfrm>
            <a:off x="6909191" y="2170494"/>
            <a:ext cx="1645920" cy="790229"/>
            <a:chOff x="0" y="-1"/>
            <a:chExt cx="1645919" cy="790227"/>
          </a:xfrm>
        </p:grpSpPr>
        <p:sp>
          <p:nvSpPr>
            <p:cNvPr id="341" name="Shape 474"/>
            <p:cNvSpPr/>
            <p:nvPr/>
          </p:nvSpPr>
          <p:spPr>
            <a:xfrm>
              <a:off x="-1" y="18062"/>
              <a:ext cx="1627853" cy="772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13" y="0"/>
                  </a:moveTo>
                  <a:cubicBezTo>
                    <a:pt x="10954" y="0"/>
                    <a:pt x="10096" y="1131"/>
                    <a:pt x="10096" y="2526"/>
                  </a:cubicBezTo>
                  <a:lnTo>
                    <a:pt x="10096" y="8842"/>
                  </a:lnTo>
                  <a:lnTo>
                    <a:pt x="0" y="21600"/>
                  </a:lnTo>
                  <a:lnTo>
                    <a:pt x="10096" y="12632"/>
                  </a:lnTo>
                  <a:cubicBezTo>
                    <a:pt x="10096" y="14027"/>
                    <a:pt x="10954" y="15158"/>
                    <a:pt x="12013" y="15158"/>
                  </a:cubicBezTo>
                  <a:lnTo>
                    <a:pt x="19683" y="15158"/>
                  </a:lnTo>
                  <a:cubicBezTo>
                    <a:pt x="20742" y="15158"/>
                    <a:pt x="21600" y="14027"/>
                    <a:pt x="21600" y="12632"/>
                  </a:cubicBezTo>
                  <a:lnTo>
                    <a:pt x="21600" y="2526"/>
                  </a:lnTo>
                  <a:cubicBezTo>
                    <a:pt x="21600" y="1131"/>
                    <a:pt x="20742" y="0"/>
                    <a:pt x="19683" y="0"/>
                  </a:cubicBezTo>
                  <a:lnTo>
                    <a:pt x="1201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2" name="Shape 475"/>
            <p:cNvSpPr txBox="1"/>
            <p:nvPr/>
          </p:nvSpPr>
          <p:spPr>
            <a:xfrm>
              <a:off x="714375" y="-2"/>
              <a:ext cx="931544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root</a:t>
              </a:r>
            </a:p>
          </p:txBody>
        </p:sp>
      </p:grpSp>
      <p:sp>
        <p:nvSpPr>
          <p:cNvPr id="344" name="Shape 477"/>
          <p:cNvSpPr/>
          <p:nvPr/>
        </p:nvSpPr>
        <p:spPr>
          <a:xfrm>
            <a:off x="3170596" y="3766351"/>
            <a:ext cx="6723451" cy="282922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64" name="Group 497"/>
          <p:cNvGrpSpPr/>
          <p:nvPr/>
        </p:nvGrpSpPr>
        <p:grpSpPr>
          <a:xfrm>
            <a:off x="3443492" y="3913501"/>
            <a:ext cx="2929474" cy="2516578"/>
            <a:chOff x="0" y="0"/>
            <a:chExt cx="2929473" cy="2516576"/>
          </a:xfrm>
        </p:grpSpPr>
        <p:grpSp>
          <p:nvGrpSpPr>
            <p:cNvPr id="347" name="Group 480"/>
            <p:cNvGrpSpPr/>
            <p:nvPr/>
          </p:nvGrpSpPr>
          <p:grpSpPr>
            <a:xfrm>
              <a:off x="866986" y="0"/>
              <a:ext cx="647705" cy="565857"/>
              <a:chOff x="0" y="0"/>
              <a:chExt cx="647704" cy="565856"/>
            </a:xfrm>
          </p:grpSpPr>
          <p:sp>
            <p:nvSpPr>
              <p:cNvPr id="345" name="Shape 478"/>
              <p:cNvSpPr/>
              <p:nvPr/>
            </p:nvSpPr>
            <p:spPr>
              <a:xfrm>
                <a:off x="-1" y="117404"/>
                <a:ext cx="647706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6" name="Shape 479"/>
              <p:cNvSpPr txBox="1"/>
              <p:nvPr/>
            </p:nvSpPr>
            <p:spPr>
              <a:xfrm>
                <a:off x="64830" y="0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50" name="Group 483"/>
            <p:cNvGrpSpPr/>
            <p:nvPr/>
          </p:nvGrpSpPr>
          <p:grpSpPr>
            <a:xfrm>
              <a:off x="-1" y="1000758"/>
              <a:ext cx="647703" cy="565858"/>
              <a:chOff x="0" y="-1"/>
              <a:chExt cx="647701" cy="565856"/>
            </a:xfrm>
          </p:grpSpPr>
          <p:sp>
            <p:nvSpPr>
              <p:cNvPr id="348" name="Shape 481"/>
              <p:cNvSpPr/>
              <p:nvPr/>
            </p:nvSpPr>
            <p:spPr>
              <a:xfrm>
                <a:off x="-1" y="92004"/>
                <a:ext cx="647703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9" name="Shape 482"/>
              <p:cNvSpPr txBox="1"/>
              <p:nvPr/>
            </p:nvSpPr>
            <p:spPr>
              <a:xfrm>
                <a:off x="64830" y="-2"/>
                <a:ext cx="46010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353" name="Group 486"/>
            <p:cNvGrpSpPr/>
            <p:nvPr/>
          </p:nvGrpSpPr>
          <p:grpSpPr>
            <a:xfrm>
              <a:off x="1517226" y="1026158"/>
              <a:ext cx="762007" cy="565858"/>
              <a:chOff x="0" y="-1"/>
              <a:chExt cx="762005" cy="565856"/>
            </a:xfrm>
          </p:grpSpPr>
          <p:sp>
            <p:nvSpPr>
              <p:cNvPr id="351" name="Shape 484"/>
              <p:cNvSpPr/>
              <p:nvPr/>
            </p:nvSpPr>
            <p:spPr>
              <a:xfrm>
                <a:off x="-1" y="66604"/>
                <a:ext cx="762006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2" name="Shape 485"/>
              <p:cNvSpPr txBox="1"/>
              <p:nvPr/>
            </p:nvSpPr>
            <p:spPr>
              <a:xfrm>
                <a:off x="133217" y="-2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56" name="Group 489"/>
            <p:cNvGrpSpPr/>
            <p:nvPr/>
          </p:nvGrpSpPr>
          <p:grpSpPr>
            <a:xfrm>
              <a:off x="758612" y="1950719"/>
              <a:ext cx="762007" cy="565858"/>
              <a:chOff x="0" y="-1"/>
              <a:chExt cx="762005" cy="565856"/>
            </a:xfrm>
          </p:grpSpPr>
          <p:sp>
            <p:nvSpPr>
              <p:cNvPr id="354" name="Shape 487"/>
              <p:cNvSpPr/>
              <p:nvPr/>
            </p:nvSpPr>
            <p:spPr>
              <a:xfrm>
                <a:off x="-1" y="117404"/>
                <a:ext cx="762006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5" name="Shape 488"/>
              <p:cNvSpPr txBox="1"/>
              <p:nvPr/>
            </p:nvSpPr>
            <p:spPr>
              <a:xfrm>
                <a:off x="90989" y="-2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359" name="Group 492"/>
            <p:cNvGrpSpPr/>
            <p:nvPr/>
          </p:nvGrpSpPr>
          <p:grpSpPr>
            <a:xfrm>
              <a:off x="2167466" y="1950719"/>
              <a:ext cx="762007" cy="565858"/>
              <a:chOff x="0" y="-1"/>
              <a:chExt cx="762005" cy="565856"/>
            </a:xfrm>
          </p:grpSpPr>
          <p:sp>
            <p:nvSpPr>
              <p:cNvPr id="357" name="Shape 490"/>
              <p:cNvSpPr/>
              <p:nvPr/>
            </p:nvSpPr>
            <p:spPr>
              <a:xfrm>
                <a:off x="-1" y="117404"/>
                <a:ext cx="762006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8" name="Shape 491"/>
              <p:cNvSpPr txBox="1"/>
              <p:nvPr/>
            </p:nvSpPr>
            <p:spPr>
              <a:xfrm>
                <a:off x="119017" y="-2"/>
                <a:ext cx="46010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L</a:t>
                </a:r>
              </a:p>
            </p:txBody>
          </p:sp>
        </p:grpSp>
        <p:sp>
          <p:nvSpPr>
            <p:cNvPr id="360" name="Shape 493"/>
            <p:cNvSpPr/>
            <p:nvPr/>
          </p:nvSpPr>
          <p:spPr>
            <a:xfrm flipH="1">
              <a:off x="325120" y="334150"/>
              <a:ext cx="546103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61" name="Shape 494"/>
            <p:cNvSpPr/>
            <p:nvPr/>
          </p:nvSpPr>
          <p:spPr>
            <a:xfrm>
              <a:off x="1517226" y="334150"/>
              <a:ext cx="330204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62" name="Shape 495"/>
            <p:cNvSpPr/>
            <p:nvPr/>
          </p:nvSpPr>
          <p:spPr>
            <a:xfrm flipH="1">
              <a:off x="1083733" y="1309511"/>
              <a:ext cx="431804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63" name="Shape 496"/>
            <p:cNvSpPr/>
            <p:nvPr/>
          </p:nvSpPr>
          <p:spPr>
            <a:xfrm>
              <a:off x="2275841" y="1309511"/>
              <a:ext cx="215903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372" name="Group 505"/>
          <p:cNvGrpSpPr/>
          <p:nvPr/>
        </p:nvGrpSpPr>
        <p:grpSpPr>
          <a:xfrm>
            <a:off x="6044451" y="3913499"/>
            <a:ext cx="762009" cy="1579320"/>
            <a:chOff x="-1" y="-2"/>
            <a:chExt cx="762007" cy="1579318"/>
          </a:xfrm>
        </p:grpSpPr>
        <p:grpSp>
          <p:nvGrpSpPr>
            <p:cNvPr id="367" name="Group 500"/>
            <p:cNvGrpSpPr/>
            <p:nvPr/>
          </p:nvGrpSpPr>
          <p:grpSpPr>
            <a:xfrm>
              <a:off x="-2" y="-3"/>
              <a:ext cx="762009" cy="565858"/>
              <a:chOff x="0" y="0"/>
              <a:chExt cx="762007" cy="565856"/>
            </a:xfrm>
          </p:grpSpPr>
          <p:sp>
            <p:nvSpPr>
              <p:cNvPr id="365" name="Shape 498"/>
              <p:cNvSpPr/>
              <p:nvPr/>
            </p:nvSpPr>
            <p:spPr>
              <a:xfrm>
                <a:off x="-1" y="117404"/>
                <a:ext cx="762009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6" name="Shape 499"/>
              <p:cNvSpPr txBox="1"/>
              <p:nvPr/>
            </p:nvSpPr>
            <p:spPr>
              <a:xfrm>
                <a:off x="105065" y="-1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70" name="Group 503"/>
            <p:cNvGrpSpPr/>
            <p:nvPr/>
          </p:nvGrpSpPr>
          <p:grpSpPr>
            <a:xfrm>
              <a:off x="-2" y="1013459"/>
              <a:ext cx="762009" cy="565858"/>
              <a:chOff x="0" y="0"/>
              <a:chExt cx="762007" cy="565856"/>
            </a:xfrm>
          </p:grpSpPr>
          <p:sp>
            <p:nvSpPr>
              <p:cNvPr id="368" name="Shape 501"/>
              <p:cNvSpPr/>
              <p:nvPr/>
            </p:nvSpPr>
            <p:spPr>
              <a:xfrm>
                <a:off x="-1" y="79304"/>
                <a:ext cx="762009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9" name="Shape 502"/>
              <p:cNvSpPr txBox="1"/>
              <p:nvPr/>
            </p:nvSpPr>
            <p:spPr>
              <a:xfrm>
                <a:off x="90989" y="0"/>
                <a:ext cx="507967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371" name="Shape 504"/>
            <p:cNvSpPr/>
            <p:nvPr/>
          </p:nvSpPr>
          <p:spPr>
            <a:xfrm>
              <a:off x="325120" y="550897"/>
              <a:ext cx="2260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392" name="Group 525"/>
          <p:cNvGrpSpPr/>
          <p:nvPr/>
        </p:nvGrpSpPr>
        <p:grpSpPr>
          <a:xfrm>
            <a:off x="7019809" y="3951601"/>
            <a:ext cx="2712728" cy="2478478"/>
            <a:chOff x="-2" y="0"/>
            <a:chExt cx="2712726" cy="2478476"/>
          </a:xfrm>
        </p:grpSpPr>
        <p:grpSp>
          <p:nvGrpSpPr>
            <p:cNvPr id="375" name="Group 508"/>
            <p:cNvGrpSpPr/>
            <p:nvPr/>
          </p:nvGrpSpPr>
          <p:grpSpPr>
            <a:xfrm>
              <a:off x="975358" y="0"/>
              <a:ext cx="762005" cy="565857"/>
              <a:chOff x="0" y="0"/>
              <a:chExt cx="762004" cy="565856"/>
            </a:xfrm>
          </p:grpSpPr>
          <p:sp>
            <p:nvSpPr>
              <p:cNvPr id="373" name="Shape 506"/>
              <p:cNvSpPr/>
              <p:nvPr/>
            </p:nvSpPr>
            <p:spPr>
              <a:xfrm>
                <a:off x="-1" y="79304"/>
                <a:ext cx="762005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4" name="Shape 507"/>
              <p:cNvSpPr txBox="1"/>
              <p:nvPr/>
            </p:nvSpPr>
            <p:spPr>
              <a:xfrm>
                <a:off x="130465" y="0"/>
                <a:ext cx="483931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78" name="Group 511"/>
            <p:cNvGrpSpPr/>
            <p:nvPr/>
          </p:nvGrpSpPr>
          <p:grpSpPr>
            <a:xfrm>
              <a:off x="-3" y="962658"/>
              <a:ext cx="762003" cy="565858"/>
              <a:chOff x="-1" y="-1"/>
              <a:chExt cx="762002" cy="565856"/>
            </a:xfrm>
          </p:grpSpPr>
          <p:sp>
            <p:nvSpPr>
              <p:cNvPr id="376" name="Shape 509"/>
              <p:cNvSpPr/>
              <p:nvPr/>
            </p:nvSpPr>
            <p:spPr>
              <a:xfrm>
                <a:off x="-2" y="92004"/>
                <a:ext cx="762004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7" name="Shape 510"/>
              <p:cNvSpPr txBox="1"/>
              <p:nvPr/>
            </p:nvSpPr>
            <p:spPr>
              <a:xfrm>
                <a:off x="90989" y="-2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381" name="Group 514"/>
            <p:cNvGrpSpPr/>
            <p:nvPr/>
          </p:nvGrpSpPr>
          <p:grpSpPr>
            <a:xfrm>
              <a:off x="975358" y="962658"/>
              <a:ext cx="762005" cy="565858"/>
              <a:chOff x="0" y="-1"/>
              <a:chExt cx="762004" cy="565856"/>
            </a:xfrm>
          </p:grpSpPr>
          <p:sp>
            <p:nvSpPr>
              <p:cNvPr id="379" name="Shape 512"/>
              <p:cNvSpPr/>
              <p:nvPr/>
            </p:nvSpPr>
            <p:spPr>
              <a:xfrm>
                <a:off x="-1" y="92004"/>
                <a:ext cx="762005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0" name="Shape 513"/>
              <p:cNvSpPr txBox="1"/>
              <p:nvPr/>
            </p:nvSpPr>
            <p:spPr>
              <a:xfrm>
                <a:off x="189273" y="-2"/>
                <a:ext cx="340138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384" name="Group 517"/>
            <p:cNvGrpSpPr/>
            <p:nvPr/>
          </p:nvGrpSpPr>
          <p:grpSpPr>
            <a:xfrm>
              <a:off x="1950721" y="975358"/>
              <a:ext cx="647705" cy="565858"/>
              <a:chOff x="0" y="-1"/>
              <a:chExt cx="647704" cy="565856"/>
            </a:xfrm>
          </p:grpSpPr>
          <p:sp>
            <p:nvSpPr>
              <p:cNvPr id="382" name="Shape 515"/>
              <p:cNvSpPr/>
              <p:nvPr/>
            </p:nvSpPr>
            <p:spPr>
              <a:xfrm>
                <a:off x="0" y="79304"/>
                <a:ext cx="647705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3" name="Shape 516"/>
              <p:cNvSpPr txBox="1"/>
              <p:nvPr/>
            </p:nvSpPr>
            <p:spPr>
              <a:xfrm>
                <a:off x="107058" y="-2"/>
                <a:ext cx="38799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387" name="Group 520"/>
            <p:cNvGrpSpPr/>
            <p:nvPr/>
          </p:nvGrpSpPr>
          <p:grpSpPr>
            <a:xfrm>
              <a:off x="1950720" y="1912619"/>
              <a:ext cx="762005" cy="565858"/>
              <a:chOff x="0" y="-1"/>
              <a:chExt cx="762004" cy="565856"/>
            </a:xfrm>
          </p:grpSpPr>
          <p:sp>
            <p:nvSpPr>
              <p:cNvPr id="385" name="Shape 518"/>
              <p:cNvSpPr/>
              <p:nvPr/>
            </p:nvSpPr>
            <p:spPr>
              <a:xfrm>
                <a:off x="-1" y="117404"/>
                <a:ext cx="762005" cy="4318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6" name="Shape 519"/>
              <p:cNvSpPr txBox="1"/>
              <p:nvPr/>
            </p:nvSpPr>
            <p:spPr>
              <a:xfrm>
                <a:off x="49009" y="-2"/>
                <a:ext cx="57965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388" name="Shape 521"/>
            <p:cNvSpPr/>
            <p:nvPr/>
          </p:nvSpPr>
          <p:spPr>
            <a:xfrm flipH="1">
              <a:off x="325119" y="279759"/>
              <a:ext cx="665453" cy="77152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89" name="Shape 522"/>
            <p:cNvSpPr/>
            <p:nvPr/>
          </p:nvSpPr>
          <p:spPr>
            <a:xfrm flipH="1">
              <a:off x="1408853" y="512797"/>
              <a:ext cx="2262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90" name="Shape 523"/>
            <p:cNvSpPr/>
            <p:nvPr/>
          </p:nvSpPr>
          <p:spPr>
            <a:xfrm>
              <a:off x="1733975" y="296050"/>
              <a:ext cx="546103" cy="7620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391" name="Shape 524"/>
            <p:cNvSpPr/>
            <p:nvPr/>
          </p:nvSpPr>
          <p:spPr>
            <a:xfrm>
              <a:off x="2275841" y="1488157"/>
              <a:ext cx="2261" cy="5461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395" name="Group 528"/>
          <p:cNvGrpSpPr/>
          <p:nvPr/>
        </p:nvGrpSpPr>
        <p:grpSpPr>
          <a:xfrm>
            <a:off x="2793252" y="2667206"/>
            <a:ext cx="1219195" cy="1323063"/>
            <a:chOff x="0" y="0"/>
            <a:chExt cx="1219193" cy="1323061"/>
          </a:xfrm>
        </p:grpSpPr>
        <p:sp>
          <p:nvSpPr>
            <p:cNvPr id="393" name="Shape 526"/>
            <p:cNvSpPr/>
            <p:nvPr/>
          </p:nvSpPr>
          <p:spPr>
            <a:xfrm>
              <a:off x="0" y="63217"/>
              <a:ext cx="1219194" cy="1259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240" y="0"/>
                  </a:moveTo>
                  <a:cubicBezTo>
                    <a:pt x="1003" y="0"/>
                    <a:pt x="0" y="693"/>
                    <a:pt x="0" y="1548"/>
                  </a:cubicBezTo>
                  <a:lnTo>
                    <a:pt x="0" y="7742"/>
                  </a:lnTo>
                  <a:cubicBezTo>
                    <a:pt x="0" y="8597"/>
                    <a:pt x="1003" y="9290"/>
                    <a:pt x="2240" y="9290"/>
                  </a:cubicBezTo>
                  <a:lnTo>
                    <a:pt x="7840" y="9290"/>
                  </a:lnTo>
                  <a:lnTo>
                    <a:pt x="21600" y="21600"/>
                  </a:lnTo>
                  <a:lnTo>
                    <a:pt x="11200" y="9290"/>
                  </a:lnTo>
                  <a:cubicBezTo>
                    <a:pt x="12437" y="9290"/>
                    <a:pt x="13440" y="8597"/>
                    <a:pt x="13440" y="7742"/>
                  </a:cubicBezTo>
                  <a:lnTo>
                    <a:pt x="13440" y="1548"/>
                  </a:lnTo>
                  <a:cubicBezTo>
                    <a:pt x="13440" y="693"/>
                    <a:pt x="12437" y="0"/>
                    <a:pt x="11200" y="0"/>
                  </a:cubicBezTo>
                  <a:lnTo>
                    <a:pt x="78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4" name="Shape 527"/>
            <p:cNvSpPr txBox="1"/>
            <p:nvPr/>
          </p:nvSpPr>
          <p:spPr>
            <a:xfrm>
              <a:off x="126075" y="0"/>
              <a:ext cx="435859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396" name="Shape 529"/>
          <p:cNvSpPr/>
          <p:nvPr/>
        </p:nvSpPr>
        <p:spPr>
          <a:xfrm flipH="1">
            <a:off x="4635599" y="3055544"/>
            <a:ext cx="1409703" cy="9779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397" name="Shape 530"/>
          <p:cNvSpPr/>
          <p:nvPr/>
        </p:nvSpPr>
        <p:spPr>
          <a:xfrm>
            <a:off x="6369573" y="3272293"/>
            <a:ext cx="2260" cy="76200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398" name="Shape 531"/>
          <p:cNvSpPr/>
          <p:nvPr/>
        </p:nvSpPr>
        <p:spPr>
          <a:xfrm>
            <a:off x="6803066" y="3163918"/>
            <a:ext cx="1625602" cy="863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399" name="Shape 533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基本术语</a:t>
            </a:r>
          </a:p>
        </p:txBody>
      </p:sp>
      <p:sp>
        <p:nvSpPr>
          <p:cNvPr id="400" name="Shape 467"/>
          <p:cNvSpPr txBox="1"/>
          <p:nvPr/>
        </p:nvSpPr>
        <p:spPr>
          <a:xfrm>
            <a:off x="471969" y="1476780"/>
            <a:ext cx="973696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57797"/>
          </a:lstStyle>
          <a:p>
            <a:pPr/>
            <a:r>
              <a:t>森林：是 m（m≥0）棵互不相交的树的集合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10" presetID="1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Class="entr" nodeType="after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0" grpId="6"/>
      <p:bldP build="whole" bldLvl="1" animBg="1" rev="0" advAuto="0" spid="343" grpId="10"/>
      <p:bldP build="whole" bldLvl="1" animBg="1" rev="0" advAuto="0" spid="372" grpId="2"/>
      <p:bldP build="whole" bldLvl="1" animBg="1" rev="0" advAuto="0" spid="398" grpId="9"/>
      <p:bldP build="whole" bldLvl="1" animBg="1" rev="0" advAuto="0" spid="364" grpId="1"/>
      <p:bldP build="whole" bldLvl="1" animBg="1" rev="0" advAuto="0" spid="396" grpId="7"/>
      <p:bldP build="whole" bldLvl="1" animBg="1" rev="0" advAuto="0" spid="397" grpId="8"/>
      <p:bldP build="whole" bldLvl="1" animBg="1" rev="0" advAuto="0" spid="395" grpId="5"/>
      <p:bldP build="whole" bldLvl="1" animBg="1" rev="0" advAuto="0" spid="344" grpId="4"/>
      <p:bldP build="whole" bldLvl="1" animBg="1" rev="0" advAuto="0" spid="392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535"/>
          <p:cNvSpPr/>
          <p:nvPr/>
        </p:nvSpPr>
        <p:spPr>
          <a:xfrm>
            <a:off x="6478693" y="1499163"/>
            <a:ext cx="2259" cy="634887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403" name="Shape 536"/>
          <p:cNvSpPr txBox="1"/>
          <p:nvPr/>
        </p:nvSpPr>
        <p:spPr>
          <a:xfrm>
            <a:off x="2649502" y="1521176"/>
            <a:ext cx="328930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线性结构</a:t>
            </a:r>
          </a:p>
        </p:txBody>
      </p:sp>
      <p:sp>
        <p:nvSpPr>
          <p:cNvPr id="404" name="Shape 537"/>
          <p:cNvSpPr txBox="1"/>
          <p:nvPr/>
        </p:nvSpPr>
        <p:spPr>
          <a:xfrm>
            <a:off x="8384258" y="1521176"/>
            <a:ext cx="342900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树型结构</a:t>
            </a:r>
          </a:p>
        </p:txBody>
      </p:sp>
      <p:sp>
        <p:nvSpPr>
          <p:cNvPr id="405" name="Shape 538"/>
          <p:cNvSpPr txBox="1"/>
          <p:nvPr/>
        </p:nvSpPr>
        <p:spPr>
          <a:xfrm>
            <a:off x="6977098" y="2543948"/>
            <a:ext cx="4838703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根结点无前驱</a:t>
            </a:r>
          </a:p>
        </p:txBody>
      </p:sp>
      <p:sp>
        <p:nvSpPr>
          <p:cNvPr id="406" name="Shape 539"/>
          <p:cNvSpPr txBox="1"/>
          <p:nvPr/>
        </p:nvSpPr>
        <p:spPr>
          <a:xfrm>
            <a:off x="915527" y="2543948"/>
            <a:ext cx="546100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第一个数据元素无前驱</a:t>
            </a:r>
          </a:p>
        </p:txBody>
      </p:sp>
      <p:sp>
        <p:nvSpPr>
          <p:cNvPr id="407" name="Shape 540"/>
          <p:cNvSpPr txBox="1"/>
          <p:nvPr/>
        </p:nvSpPr>
        <p:spPr>
          <a:xfrm>
            <a:off x="915527" y="3670582"/>
            <a:ext cx="548640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最后一个数据元素无后继</a:t>
            </a:r>
          </a:p>
        </p:txBody>
      </p:sp>
      <p:sp>
        <p:nvSpPr>
          <p:cNvPr id="408" name="Shape 541"/>
          <p:cNvSpPr txBox="1"/>
          <p:nvPr/>
        </p:nvSpPr>
        <p:spPr>
          <a:xfrm>
            <a:off x="6977098" y="3661550"/>
            <a:ext cx="4787903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叶子结点无后继</a:t>
            </a:r>
          </a:p>
        </p:txBody>
      </p:sp>
      <p:sp>
        <p:nvSpPr>
          <p:cNvPr id="409" name="Shape 542"/>
          <p:cNvSpPr txBox="1"/>
          <p:nvPr/>
        </p:nvSpPr>
        <p:spPr>
          <a:xfrm>
            <a:off x="6977098" y="4797211"/>
            <a:ext cx="569734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lnSpc>
                <a:spcPct val="130000"/>
              </a:lnSpc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其它结点一个前驱、多个后继</a:t>
            </a:r>
          </a:p>
        </p:txBody>
      </p:sp>
      <p:sp>
        <p:nvSpPr>
          <p:cNvPr id="410" name="Shape 543"/>
          <p:cNvSpPr txBox="1"/>
          <p:nvPr/>
        </p:nvSpPr>
        <p:spPr>
          <a:xfrm>
            <a:off x="915527" y="4749800"/>
            <a:ext cx="5461005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lnSpc>
                <a:spcPct val="130000"/>
              </a:lnSpc>
              <a:spcBef>
                <a:spcPts val="1900"/>
              </a:spcBef>
              <a:defRPr b="1"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其它数据元素一个前驱、一个后继</a:t>
            </a:r>
          </a:p>
        </p:txBody>
      </p:sp>
      <p:sp>
        <p:nvSpPr>
          <p:cNvPr id="411" name="Shape 544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spcBef>
                <a:spcPts val="1500"/>
              </a:spcBef>
              <a:defRPr sz="3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树型结构和线性结构特点的对比</a:t>
            </a:r>
          </a:p>
        </p:txBody>
      </p:sp>
      <p:sp>
        <p:nvSpPr>
          <p:cNvPr id="412" name="一对一"/>
          <p:cNvSpPr txBox="1"/>
          <p:nvPr/>
        </p:nvSpPr>
        <p:spPr>
          <a:xfrm>
            <a:off x="2278976" y="6634916"/>
            <a:ext cx="154369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一对一</a:t>
            </a:r>
          </a:p>
        </p:txBody>
      </p:sp>
      <p:sp>
        <p:nvSpPr>
          <p:cNvPr id="413" name="一对多"/>
          <p:cNvSpPr txBox="1"/>
          <p:nvPr/>
        </p:nvSpPr>
        <p:spPr>
          <a:xfrm>
            <a:off x="8407979" y="6575918"/>
            <a:ext cx="154369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一对多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2" grpId="7"/>
      <p:bldP build="whole" bldLvl="1" animBg="1" rev="0" advAuto="0" spid="409" grpId="6"/>
      <p:bldP build="whole" bldLvl="1" animBg="1" rev="0" advAuto="0" spid="407" grpId="3"/>
      <p:bldP build="whole" bldLvl="1" animBg="1" rev="0" advAuto="0" spid="413" grpId="8"/>
      <p:bldP build="whole" bldLvl="1" animBg="1" rev="0" advAuto="0" spid="410" grpId="5"/>
      <p:bldP build="whole" bldLvl="1" animBg="1" rev="0" advAuto="0" spid="405" grpId="2"/>
      <p:bldP build="whole" bldLvl="1" animBg="1" rev="0" advAuto="0" spid="408" grpId="4"/>
      <p:bldP build="whole" bldLvl="1" animBg="1" rev="0" advAuto="0" spid="40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546"/>
          <p:cNvSpPr txBox="1"/>
          <p:nvPr/>
        </p:nvSpPr>
        <p:spPr>
          <a:xfrm>
            <a:off x="339370" y="1342008"/>
            <a:ext cx="12462921" cy="182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  <a:defRPr sz="2800"/>
            </a:pPr>
            <a:r>
              <a:t>递归定义：</a:t>
            </a:r>
          </a:p>
          <a:p>
            <a:pPr indent="57797">
              <a:lnSpc>
                <a:spcPct val="120000"/>
              </a:lnSpc>
              <a:defRPr sz="2800"/>
            </a:pPr>
            <a:r>
              <a:t>基础：空树是二叉树</a:t>
            </a:r>
          </a:p>
          <a:p>
            <a:pPr indent="57797">
              <a:lnSpc>
                <a:spcPct val="120000"/>
              </a:lnSpc>
              <a:defRPr sz="2800"/>
            </a:pPr>
            <a:r>
              <a:t>归纳：二叉树由根结点、左子树、右子树构成；</a:t>
            </a:r>
            <a:r>
              <a:rPr>
                <a:solidFill>
                  <a:schemeClr val="accent1"/>
                </a:solidFill>
              </a:rPr>
              <a:t>并且左、右子树也是二叉树</a:t>
            </a:r>
            <a:r>
              <a:t>。</a:t>
            </a:r>
          </a:p>
        </p:txBody>
      </p:sp>
      <p:sp>
        <p:nvSpPr>
          <p:cNvPr id="416" name="Shape 60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二叉树(binary tree)</a:t>
            </a:r>
          </a:p>
        </p:txBody>
      </p:sp>
      <p:grpSp>
        <p:nvGrpSpPr>
          <p:cNvPr id="423" name="成组"/>
          <p:cNvGrpSpPr/>
          <p:nvPr/>
        </p:nvGrpSpPr>
        <p:grpSpPr>
          <a:xfrm>
            <a:off x="4962822" y="4195176"/>
            <a:ext cx="3393507" cy="3082140"/>
            <a:chOff x="11" y="0"/>
            <a:chExt cx="3393506" cy="3082139"/>
          </a:xfrm>
        </p:grpSpPr>
        <p:sp>
          <p:nvSpPr>
            <p:cNvPr id="417" name="圆形"/>
            <p:cNvSpPr/>
            <p:nvPr/>
          </p:nvSpPr>
          <p:spPr>
            <a:xfrm>
              <a:off x="1036363" y="0"/>
              <a:ext cx="1270003" cy="12700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418" name="Shape 619"/>
            <p:cNvSpPr/>
            <p:nvPr/>
          </p:nvSpPr>
          <p:spPr>
            <a:xfrm>
              <a:off x="11" y="1009274"/>
              <a:ext cx="1130052" cy="2053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4" h="20837" fill="norm" stroke="1" extrusionOk="0">
                  <a:moveTo>
                    <a:pt x="15866" y="8313"/>
                  </a:moveTo>
                  <a:cubicBezTo>
                    <a:pt x="19622" y="11080"/>
                    <a:pt x="19766" y="15678"/>
                    <a:pt x="16190" y="18583"/>
                  </a:cubicBezTo>
                  <a:cubicBezTo>
                    <a:pt x="12613" y="21488"/>
                    <a:pt x="6669" y="21600"/>
                    <a:pt x="2914" y="18833"/>
                  </a:cubicBezTo>
                  <a:cubicBezTo>
                    <a:pt x="-841" y="16066"/>
                    <a:pt x="-986" y="11469"/>
                    <a:pt x="2591" y="8564"/>
                  </a:cubicBezTo>
                  <a:cubicBezTo>
                    <a:pt x="5231" y="6420"/>
                    <a:pt x="9288" y="5730"/>
                    <a:pt x="12847" y="6820"/>
                  </a:cubicBezTo>
                  <a:lnTo>
                    <a:pt x="2061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9" name="Shape 620"/>
            <p:cNvSpPr/>
            <p:nvPr/>
          </p:nvSpPr>
          <p:spPr>
            <a:xfrm>
              <a:off x="2174231" y="1009274"/>
              <a:ext cx="1219287" cy="2072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5" h="20610" fill="norm" stroke="1" extrusionOk="0">
                  <a:moveTo>
                    <a:pt x="8595" y="7346"/>
                  </a:moveTo>
                  <a:cubicBezTo>
                    <a:pt x="12630" y="5609"/>
                    <a:pt x="17545" y="7004"/>
                    <a:pt x="19573" y="10460"/>
                  </a:cubicBezTo>
                  <a:cubicBezTo>
                    <a:pt x="21600" y="13917"/>
                    <a:pt x="19972" y="18127"/>
                    <a:pt x="15937" y="19863"/>
                  </a:cubicBezTo>
                  <a:cubicBezTo>
                    <a:pt x="11901" y="21600"/>
                    <a:pt x="6986" y="20206"/>
                    <a:pt x="4959" y="16749"/>
                  </a:cubicBezTo>
                  <a:cubicBezTo>
                    <a:pt x="3462" y="14198"/>
                    <a:pt x="3924" y="11124"/>
                    <a:pt x="6125" y="897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0" name="Shape 622"/>
            <p:cNvSpPr txBox="1"/>
            <p:nvPr/>
          </p:nvSpPr>
          <p:spPr>
            <a:xfrm>
              <a:off x="1384291" y="364771"/>
              <a:ext cx="623150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21" name="Shape 623"/>
            <p:cNvSpPr txBox="1"/>
            <p:nvPr/>
          </p:nvSpPr>
          <p:spPr>
            <a:xfrm>
              <a:off x="2521929" y="1894047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22" name="Shape 624"/>
            <p:cNvSpPr txBox="1"/>
            <p:nvPr/>
          </p:nvSpPr>
          <p:spPr>
            <a:xfrm>
              <a:off x="264107" y="2065920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</p:grpSp>
      <p:sp>
        <p:nvSpPr>
          <p:cNvPr id="424" name="圆形"/>
          <p:cNvSpPr/>
          <p:nvPr/>
        </p:nvSpPr>
        <p:spPr>
          <a:xfrm>
            <a:off x="2108200" y="4978400"/>
            <a:ext cx="1270000" cy="127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roup 609"/>
          <p:cNvGrpSpPr/>
          <p:nvPr/>
        </p:nvGrpSpPr>
        <p:grpSpPr>
          <a:xfrm>
            <a:off x="5107091" y="2585153"/>
            <a:ext cx="1451191" cy="1079507"/>
            <a:chOff x="-1" y="-1"/>
            <a:chExt cx="1451190" cy="1079506"/>
          </a:xfrm>
        </p:grpSpPr>
        <p:sp>
          <p:nvSpPr>
            <p:cNvPr id="426" name="Shape 607"/>
            <p:cNvSpPr/>
            <p:nvPr/>
          </p:nvSpPr>
          <p:spPr>
            <a:xfrm>
              <a:off x="-2" y="-2"/>
              <a:ext cx="1409707" cy="107950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7" name="Shape 608"/>
            <p:cNvSpPr txBox="1"/>
            <p:nvPr/>
          </p:nvSpPr>
          <p:spPr>
            <a:xfrm>
              <a:off x="460587" y="194821"/>
              <a:ext cx="9906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</p:grpSp>
      <p:grpSp>
        <p:nvGrpSpPr>
          <p:cNvPr id="433" name="Group 614"/>
          <p:cNvGrpSpPr/>
          <p:nvPr/>
        </p:nvGrpSpPr>
        <p:grpSpPr>
          <a:xfrm>
            <a:off x="934717" y="5897316"/>
            <a:ext cx="2724836" cy="3052753"/>
            <a:chOff x="0" y="0"/>
            <a:chExt cx="2724835" cy="3052752"/>
          </a:xfrm>
        </p:grpSpPr>
        <p:sp>
          <p:nvSpPr>
            <p:cNvPr id="429" name="Shape 610"/>
            <p:cNvSpPr/>
            <p:nvPr/>
          </p:nvSpPr>
          <p:spPr>
            <a:xfrm>
              <a:off x="1365956" y="820436"/>
              <a:ext cx="1358879" cy="2232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5" h="20610" fill="norm" stroke="1" extrusionOk="0">
                  <a:moveTo>
                    <a:pt x="8595" y="7346"/>
                  </a:moveTo>
                  <a:cubicBezTo>
                    <a:pt x="12630" y="5609"/>
                    <a:pt x="17545" y="7004"/>
                    <a:pt x="19573" y="10460"/>
                  </a:cubicBezTo>
                  <a:cubicBezTo>
                    <a:pt x="21600" y="13917"/>
                    <a:pt x="19972" y="18127"/>
                    <a:pt x="15937" y="19863"/>
                  </a:cubicBezTo>
                  <a:cubicBezTo>
                    <a:pt x="11901" y="21600"/>
                    <a:pt x="6986" y="20206"/>
                    <a:pt x="4959" y="16749"/>
                  </a:cubicBezTo>
                  <a:cubicBezTo>
                    <a:pt x="3462" y="14198"/>
                    <a:pt x="3924" y="11124"/>
                    <a:pt x="6125" y="897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0" name="Shape 611"/>
            <p:cNvSpPr/>
            <p:nvPr/>
          </p:nvSpPr>
          <p:spPr>
            <a:xfrm>
              <a:off x="-1" y="-1"/>
              <a:ext cx="1409704" cy="107950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1" name="Shape 612"/>
            <p:cNvSpPr txBox="1"/>
            <p:nvPr/>
          </p:nvSpPr>
          <p:spPr>
            <a:xfrm>
              <a:off x="424462" y="194821"/>
              <a:ext cx="990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32" name="Shape 613"/>
            <p:cNvSpPr txBox="1"/>
            <p:nvPr/>
          </p:nvSpPr>
          <p:spPr>
            <a:xfrm>
              <a:off x="1817513" y="1928142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</p:grpSp>
      <p:sp>
        <p:nvSpPr>
          <p:cNvPr id="434" name="Shape 615"/>
          <p:cNvSpPr txBox="1"/>
          <p:nvPr/>
        </p:nvSpPr>
        <p:spPr>
          <a:xfrm>
            <a:off x="1460500" y="1574800"/>
            <a:ext cx="1683398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1）空树</a:t>
            </a:r>
          </a:p>
        </p:txBody>
      </p:sp>
      <p:sp>
        <p:nvSpPr>
          <p:cNvPr id="435" name="Shape 616"/>
          <p:cNvSpPr txBox="1"/>
          <p:nvPr/>
        </p:nvSpPr>
        <p:spPr>
          <a:xfrm>
            <a:off x="5054600" y="1549400"/>
            <a:ext cx="3086748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2） 只含根结点</a:t>
            </a:r>
          </a:p>
        </p:txBody>
      </p:sp>
      <p:sp>
        <p:nvSpPr>
          <p:cNvPr id="436" name="Shape 617"/>
          <p:cNvSpPr txBox="1"/>
          <p:nvPr/>
        </p:nvSpPr>
        <p:spPr>
          <a:xfrm>
            <a:off x="1104900" y="5041900"/>
            <a:ext cx="2978798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4）左子树为空</a:t>
            </a:r>
          </a:p>
        </p:txBody>
      </p:sp>
      <p:grpSp>
        <p:nvGrpSpPr>
          <p:cNvPr id="443" name="成组"/>
          <p:cNvGrpSpPr/>
          <p:nvPr/>
        </p:nvGrpSpPr>
        <p:grpSpPr>
          <a:xfrm>
            <a:off x="7209105" y="6101079"/>
            <a:ext cx="3393507" cy="2948315"/>
            <a:chOff x="11" y="0"/>
            <a:chExt cx="3393506" cy="2948314"/>
          </a:xfrm>
        </p:grpSpPr>
        <p:sp>
          <p:nvSpPr>
            <p:cNvPr id="437" name="Shape 619"/>
            <p:cNvSpPr/>
            <p:nvPr/>
          </p:nvSpPr>
          <p:spPr>
            <a:xfrm>
              <a:off x="11" y="876921"/>
              <a:ext cx="1130052" cy="2053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4" h="20837" fill="norm" stroke="1" extrusionOk="0">
                  <a:moveTo>
                    <a:pt x="15866" y="8313"/>
                  </a:moveTo>
                  <a:cubicBezTo>
                    <a:pt x="19622" y="11080"/>
                    <a:pt x="19766" y="15678"/>
                    <a:pt x="16190" y="18583"/>
                  </a:cubicBezTo>
                  <a:cubicBezTo>
                    <a:pt x="12613" y="21488"/>
                    <a:pt x="6669" y="21600"/>
                    <a:pt x="2914" y="18833"/>
                  </a:cubicBezTo>
                  <a:cubicBezTo>
                    <a:pt x="-841" y="16066"/>
                    <a:pt x="-986" y="11469"/>
                    <a:pt x="2591" y="8564"/>
                  </a:cubicBezTo>
                  <a:cubicBezTo>
                    <a:pt x="5231" y="6420"/>
                    <a:pt x="9288" y="5730"/>
                    <a:pt x="12847" y="6820"/>
                  </a:cubicBezTo>
                  <a:lnTo>
                    <a:pt x="2061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8" name="Shape 620"/>
            <p:cNvSpPr/>
            <p:nvPr/>
          </p:nvSpPr>
          <p:spPr>
            <a:xfrm>
              <a:off x="2174231" y="875447"/>
              <a:ext cx="1219287" cy="20728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5" h="20610" fill="norm" stroke="1" extrusionOk="0">
                  <a:moveTo>
                    <a:pt x="8595" y="7346"/>
                  </a:moveTo>
                  <a:cubicBezTo>
                    <a:pt x="12630" y="5609"/>
                    <a:pt x="17545" y="7004"/>
                    <a:pt x="19573" y="10460"/>
                  </a:cubicBezTo>
                  <a:cubicBezTo>
                    <a:pt x="21600" y="13917"/>
                    <a:pt x="19972" y="18127"/>
                    <a:pt x="15937" y="19863"/>
                  </a:cubicBezTo>
                  <a:cubicBezTo>
                    <a:pt x="11901" y="21600"/>
                    <a:pt x="6986" y="20206"/>
                    <a:pt x="4959" y="16749"/>
                  </a:cubicBezTo>
                  <a:cubicBezTo>
                    <a:pt x="3462" y="14198"/>
                    <a:pt x="3924" y="11124"/>
                    <a:pt x="6125" y="897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9" name="Shape 621"/>
            <p:cNvSpPr/>
            <p:nvPr/>
          </p:nvSpPr>
          <p:spPr>
            <a:xfrm>
              <a:off x="993977" y="-1"/>
              <a:ext cx="1409705" cy="10795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0" name="Shape 622"/>
            <p:cNvSpPr txBox="1"/>
            <p:nvPr/>
          </p:nvSpPr>
          <p:spPr>
            <a:xfrm>
              <a:off x="1346190" y="230945"/>
              <a:ext cx="990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41" name="Shape 623"/>
            <p:cNvSpPr txBox="1"/>
            <p:nvPr/>
          </p:nvSpPr>
          <p:spPr>
            <a:xfrm>
              <a:off x="2521929" y="1760220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42" name="Shape 624"/>
            <p:cNvSpPr txBox="1"/>
            <p:nvPr/>
          </p:nvSpPr>
          <p:spPr>
            <a:xfrm>
              <a:off x="264107" y="1932094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</p:grpSp>
      <p:sp>
        <p:nvSpPr>
          <p:cNvPr id="444" name="Shape 626"/>
          <p:cNvSpPr txBox="1"/>
          <p:nvPr/>
        </p:nvSpPr>
        <p:spPr>
          <a:xfrm>
            <a:off x="8648700" y="1511300"/>
            <a:ext cx="3086748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3） 右子树为空</a:t>
            </a:r>
          </a:p>
        </p:txBody>
      </p:sp>
      <p:grpSp>
        <p:nvGrpSpPr>
          <p:cNvPr id="449" name="Group 631"/>
          <p:cNvGrpSpPr/>
          <p:nvPr/>
        </p:nvGrpSpPr>
        <p:grpSpPr>
          <a:xfrm>
            <a:off x="7746460" y="2300674"/>
            <a:ext cx="2728224" cy="2641639"/>
            <a:chOff x="13" y="-1"/>
            <a:chExt cx="2728222" cy="2641638"/>
          </a:xfrm>
        </p:grpSpPr>
        <p:sp>
          <p:nvSpPr>
            <p:cNvPr id="445" name="Shape 627"/>
            <p:cNvSpPr/>
            <p:nvPr/>
          </p:nvSpPr>
          <p:spPr>
            <a:xfrm>
              <a:off x="13" y="588490"/>
              <a:ext cx="1367959" cy="2053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4" h="20837" fill="norm" stroke="1" extrusionOk="0">
                  <a:moveTo>
                    <a:pt x="15866" y="8313"/>
                  </a:moveTo>
                  <a:cubicBezTo>
                    <a:pt x="19622" y="11080"/>
                    <a:pt x="19766" y="15678"/>
                    <a:pt x="16190" y="18583"/>
                  </a:cubicBezTo>
                  <a:cubicBezTo>
                    <a:pt x="12613" y="21488"/>
                    <a:pt x="6669" y="21600"/>
                    <a:pt x="2914" y="18833"/>
                  </a:cubicBezTo>
                  <a:cubicBezTo>
                    <a:pt x="-841" y="16066"/>
                    <a:pt x="-986" y="11469"/>
                    <a:pt x="2591" y="8564"/>
                  </a:cubicBezTo>
                  <a:cubicBezTo>
                    <a:pt x="5231" y="6420"/>
                    <a:pt x="9288" y="5730"/>
                    <a:pt x="12847" y="6820"/>
                  </a:cubicBezTo>
                  <a:lnTo>
                    <a:pt x="2061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6" name="Shape 628"/>
            <p:cNvSpPr/>
            <p:nvPr/>
          </p:nvSpPr>
          <p:spPr>
            <a:xfrm>
              <a:off x="1318529" y="-2"/>
              <a:ext cx="1409707" cy="10795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7" name="Shape 629"/>
            <p:cNvSpPr txBox="1"/>
            <p:nvPr/>
          </p:nvSpPr>
          <p:spPr>
            <a:xfrm>
              <a:off x="1652683" y="194820"/>
              <a:ext cx="9906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448" name="Shape 630"/>
            <p:cNvSpPr txBox="1"/>
            <p:nvPr/>
          </p:nvSpPr>
          <p:spPr>
            <a:xfrm>
              <a:off x="432352" y="1623624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</p:grpSp>
      <p:sp>
        <p:nvSpPr>
          <p:cNvPr id="450" name="Shape 632"/>
          <p:cNvSpPr txBox="1"/>
          <p:nvPr/>
        </p:nvSpPr>
        <p:spPr>
          <a:xfrm>
            <a:off x="7962900" y="5219700"/>
            <a:ext cx="4274198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5）左右子树都不为空</a:t>
            </a:r>
          </a:p>
        </p:txBody>
      </p:sp>
      <p:sp>
        <p:nvSpPr>
          <p:cNvPr id="451" name="Shape 61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二叉树</a:t>
            </a:r>
          </a:p>
        </p:txBody>
      </p:sp>
      <p:sp>
        <p:nvSpPr>
          <p:cNvPr id="452" name="圆形"/>
          <p:cNvSpPr/>
          <p:nvPr/>
        </p:nvSpPr>
        <p:spPr>
          <a:xfrm>
            <a:off x="1524000" y="2614648"/>
            <a:ext cx="1270000" cy="127000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从最基本的元素开始，重复使用简单的规则，就能构造出复杂的东西。…"/>
          <p:cNvSpPr txBox="1"/>
          <p:nvPr/>
        </p:nvSpPr>
        <p:spPr>
          <a:xfrm>
            <a:off x="390594" y="1171702"/>
            <a:ext cx="12178457" cy="170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4464" indent="-124464">
              <a:buSzPct val="60000"/>
              <a:buBlip>
                <a:blip r:embed="rId2"/>
              </a:buBlip>
            </a:pPr>
            <a:r>
              <a:t>从最基本的元素开始，重复使用简单的规则，就能构造出复杂的东西。</a:t>
            </a:r>
          </a:p>
          <a:p>
            <a:pPr marL="124464" indent="-124464">
              <a:buSzPct val="60000"/>
              <a:buBlip>
                <a:blip r:embed="rId2"/>
              </a:buBlip>
            </a:pPr>
            <a:r>
              <a:t>复杂的东西有简单的构造原理。</a:t>
            </a:r>
          </a:p>
          <a:p>
            <a:pPr/>
            <a:r>
              <a:t>  例如：算术表达式等</a:t>
            </a:r>
          </a:p>
        </p:txBody>
      </p:sp>
      <p:sp>
        <p:nvSpPr>
          <p:cNvPr id="455" name="Shape 60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递归(recursion)</a:t>
            </a:r>
          </a:p>
        </p:txBody>
      </p:sp>
      <p:sp>
        <p:nvSpPr>
          <p:cNvPr id="456" name="Shape 31"/>
          <p:cNvSpPr txBox="1"/>
          <p:nvPr/>
        </p:nvSpPr>
        <p:spPr>
          <a:xfrm>
            <a:off x="1402370" y="2948770"/>
            <a:ext cx="462522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(a + b) / (c - d) + e + g * h / a</a:t>
            </a:r>
          </a:p>
        </p:txBody>
      </p:sp>
      <p:grpSp>
        <p:nvGrpSpPr>
          <p:cNvPr id="459" name="Shape 32"/>
          <p:cNvGrpSpPr/>
          <p:nvPr/>
        </p:nvGrpSpPr>
        <p:grpSpPr>
          <a:xfrm>
            <a:off x="9273518" y="5574571"/>
            <a:ext cx="645127" cy="665557"/>
            <a:chOff x="-1" y="-1"/>
            <a:chExt cx="645126" cy="665556"/>
          </a:xfrm>
        </p:grpSpPr>
        <p:sp>
          <p:nvSpPr>
            <p:cNvPr id="457" name="椭圆形"/>
            <p:cNvSpPr/>
            <p:nvPr/>
          </p:nvSpPr>
          <p:spPr>
            <a:xfrm>
              <a:off x="-2" y="-2"/>
              <a:ext cx="645128" cy="66555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algn="ctr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8" name="a"/>
            <p:cNvSpPr txBox="1"/>
            <p:nvPr/>
          </p:nvSpPr>
          <p:spPr>
            <a:xfrm>
              <a:off x="94475" y="74168"/>
              <a:ext cx="45617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57797" indent="57797" algn="ctr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462" name="Shape 33"/>
          <p:cNvGrpSpPr/>
          <p:nvPr/>
        </p:nvGrpSpPr>
        <p:grpSpPr>
          <a:xfrm>
            <a:off x="6104867" y="5574571"/>
            <a:ext cx="645127" cy="665557"/>
            <a:chOff x="-1" y="-1"/>
            <a:chExt cx="645126" cy="665556"/>
          </a:xfrm>
        </p:grpSpPr>
        <p:sp>
          <p:nvSpPr>
            <p:cNvPr id="460" name="椭圆形"/>
            <p:cNvSpPr/>
            <p:nvPr/>
          </p:nvSpPr>
          <p:spPr>
            <a:xfrm>
              <a:off x="-2" y="-2"/>
              <a:ext cx="645128" cy="66555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algn="ctr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1" name="e"/>
            <p:cNvSpPr txBox="1"/>
            <p:nvPr/>
          </p:nvSpPr>
          <p:spPr>
            <a:xfrm>
              <a:off x="94475" y="74168"/>
              <a:ext cx="45617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57797" indent="57797" algn="ctr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474" name="Group 39"/>
          <p:cNvGrpSpPr/>
          <p:nvPr/>
        </p:nvGrpSpPr>
        <p:grpSpPr>
          <a:xfrm>
            <a:off x="1945618" y="6692171"/>
            <a:ext cx="1813528" cy="1770458"/>
            <a:chOff x="-1" y="0"/>
            <a:chExt cx="1813526" cy="1770456"/>
          </a:xfrm>
        </p:grpSpPr>
        <p:grpSp>
          <p:nvGrpSpPr>
            <p:cNvPr id="465" name="Shape 34"/>
            <p:cNvGrpSpPr/>
            <p:nvPr/>
          </p:nvGrpSpPr>
          <p:grpSpPr>
            <a:xfrm>
              <a:off x="-2" y="1104899"/>
              <a:ext cx="645127" cy="665557"/>
              <a:chOff x="-1" y="0"/>
              <a:chExt cx="645126" cy="665555"/>
            </a:xfrm>
          </p:grpSpPr>
          <p:sp>
            <p:nvSpPr>
              <p:cNvPr id="463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4" name="a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68" name="Shape 35"/>
            <p:cNvGrpSpPr/>
            <p:nvPr/>
          </p:nvGrpSpPr>
          <p:grpSpPr>
            <a:xfrm>
              <a:off x="1168399" y="1104899"/>
              <a:ext cx="645127" cy="665557"/>
              <a:chOff x="-1" y="0"/>
              <a:chExt cx="645126" cy="665555"/>
            </a:xfrm>
          </p:grpSpPr>
          <p:sp>
            <p:nvSpPr>
              <p:cNvPr id="466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7" name="b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71" name="Shape 36"/>
            <p:cNvGrpSpPr/>
            <p:nvPr/>
          </p:nvGrpSpPr>
          <p:grpSpPr>
            <a:xfrm>
              <a:off x="609599" y="-1"/>
              <a:ext cx="645127" cy="665556"/>
              <a:chOff x="-1" y="0"/>
              <a:chExt cx="645126" cy="665555"/>
            </a:xfrm>
          </p:grpSpPr>
          <p:sp>
            <p:nvSpPr>
              <p:cNvPr id="469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0" name="+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+</a:t>
                </a:r>
              </a:p>
            </p:txBody>
          </p:sp>
        </p:grpSp>
        <p:sp>
          <p:nvSpPr>
            <p:cNvPr id="472" name="Shape 37"/>
            <p:cNvSpPr/>
            <p:nvPr/>
          </p:nvSpPr>
          <p:spPr>
            <a:xfrm flipV="1">
              <a:off x="429511" y="618145"/>
              <a:ext cx="368739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473" name="Shape 38"/>
            <p:cNvSpPr/>
            <p:nvPr/>
          </p:nvSpPr>
          <p:spPr>
            <a:xfrm flipH="1" flipV="1">
              <a:off x="1116528" y="618145"/>
              <a:ext cx="302580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486" name="Group 45"/>
          <p:cNvGrpSpPr/>
          <p:nvPr/>
        </p:nvGrpSpPr>
        <p:grpSpPr>
          <a:xfrm>
            <a:off x="4130018" y="6692171"/>
            <a:ext cx="1813528" cy="1770458"/>
            <a:chOff x="-1" y="0"/>
            <a:chExt cx="1813526" cy="1770456"/>
          </a:xfrm>
        </p:grpSpPr>
        <p:grpSp>
          <p:nvGrpSpPr>
            <p:cNvPr id="477" name="Shape 40"/>
            <p:cNvGrpSpPr/>
            <p:nvPr/>
          </p:nvGrpSpPr>
          <p:grpSpPr>
            <a:xfrm>
              <a:off x="-2" y="1104899"/>
              <a:ext cx="645127" cy="665557"/>
              <a:chOff x="-1" y="0"/>
              <a:chExt cx="645126" cy="665555"/>
            </a:xfrm>
          </p:grpSpPr>
          <p:sp>
            <p:nvSpPr>
              <p:cNvPr id="475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6" name="c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80" name="Shape 41"/>
            <p:cNvGrpSpPr/>
            <p:nvPr/>
          </p:nvGrpSpPr>
          <p:grpSpPr>
            <a:xfrm>
              <a:off x="1168399" y="1104899"/>
              <a:ext cx="645127" cy="665557"/>
              <a:chOff x="-1" y="0"/>
              <a:chExt cx="645126" cy="665555"/>
            </a:xfrm>
          </p:grpSpPr>
          <p:sp>
            <p:nvSpPr>
              <p:cNvPr id="478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9" name="d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483" name="Shape 42"/>
            <p:cNvGrpSpPr/>
            <p:nvPr/>
          </p:nvGrpSpPr>
          <p:grpSpPr>
            <a:xfrm>
              <a:off x="609599" y="-1"/>
              <a:ext cx="645127" cy="665556"/>
              <a:chOff x="-1" y="0"/>
              <a:chExt cx="645126" cy="665555"/>
            </a:xfrm>
          </p:grpSpPr>
          <p:sp>
            <p:nvSpPr>
              <p:cNvPr id="481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2" name="-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-</a:t>
                </a:r>
              </a:p>
            </p:txBody>
          </p:sp>
        </p:grpSp>
        <p:sp>
          <p:nvSpPr>
            <p:cNvPr id="484" name="Shape 43"/>
            <p:cNvSpPr/>
            <p:nvPr/>
          </p:nvSpPr>
          <p:spPr>
            <a:xfrm flipV="1">
              <a:off x="437245" y="618145"/>
              <a:ext cx="368739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485" name="Shape 44"/>
            <p:cNvSpPr/>
            <p:nvPr/>
          </p:nvSpPr>
          <p:spPr>
            <a:xfrm flipH="1" flipV="1">
              <a:off x="1124262" y="618145"/>
              <a:ext cx="302580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498" name="Group 51"/>
          <p:cNvGrpSpPr/>
          <p:nvPr/>
        </p:nvGrpSpPr>
        <p:grpSpPr>
          <a:xfrm>
            <a:off x="7279618" y="5574571"/>
            <a:ext cx="1813528" cy="1783158"/>
            <a:chOff x="-1" y="0"/>
            <a:chExt cx="1813526" cy="1783156"/>
          </a:xfrm>
        </p:grpSpPr>
        <p:grpSp>
          <p:nvGrpSpPr>
            <p:cNvPr id="489" name="Shape 46"/>
            <p:cNvGrpSpPr/>
            <p:nvPr/>
          </p:nvGrpSpPr>
          <p:grpSpPr>
            <a:xfrm>
              <a:off x="-2" y="1117599"/>
              <a:ext cx="645127" cy="665557"/>
              <a:chOff x="-1" y="0"/>
              <a:chExt cx="645126" cy="665555"/>
            </a:xfrm>
          </p:grpSpPr>
          <p:sp>
            <p:nvSpPr>
              <p:cNvPr id="487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8" name="g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492" name="Shape 47"/>
            <p:cNvGrpSpPr/>
            <p:nvPr/>
          </p:nvGrpSpPr>
          <p:grpSpPr>
            <a:xfrm>
              <a:off x="1168399" y="1117599"/>
              <a:ext cx="645127" cy="665557"/>
              <a:chOff x="-1" y="0"/>
              <a:chExt cx="645126" cy="665555"/>
            </a:xfrm>
          </p:grpSpPr>
          <p:sp>
            <p:nvSpPr>
              <p:cNvPr id="490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1" name="h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495" name="Shape 48"/>
            <p:cNvGrpSpPr/>
            <p:nvPr/>
          </p:nvGrpSpPr>
          <p:grpSpPr>
            <a:xfrm>
              <a:off x="609599" y="-1"/>
              <a:ext cx="645127" cy="665556"/>
              <a:chOff x="-1" y="0"/>
              <a:chExt cx="645126" cy="665555"/>
            </a:xfrm>
          </p:grpSpPr>
          <p:sp>
            <p:nvSpPr>
              <p:cNvPr id="493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4" name="*"/>
              <p:cNvSpPr txBox="1"/>
              <p:nvPr/>
            </p:nvSpPr>
            <p:spPr>
              <a:xfrm>
                <a:off x="94475" y="74168"/>
                <a:ext cx="45617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*</a:t>
                </a:r>
              </a:p>
            </p:txBody>
          </p:sp>
        </p:grpSp>
        <p:sp>
          <p:nvSpPr>
            <p:cNvPr id="496" name="Shape 49"/>
            <p:cNvSpPr/>
            <p:nvPr/>
          </p:nvSpPr>
          <p:spPr>
            <a:xfrm flipV="1">
              <a:off x="437245" y="630845"/>
              <a:ext cx="368739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497" name="Shape 50"/>
            <p:cNvSpPr/>
            <p:nvPr/>
          </p:nvSpPr>
          <p:spPr>
            <a:xfrm flipH="1" flipV="1">
              <a:off x="1124261" y="630845"/>
              <a:ext cx="302581" cy="5121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504" name="Group 55"/>
          <p:cNvGrpSpPr/>
          <p:nvPr/>
        </p:nvGrpSpPr>
        <p:grpSpPr>
          <a:xfrm>
            <a:off x="3028886" y="5574570"/>
            <a:ext cx="1809342" cy="1208617"/>
            <a:chOff x="0" y="-1"/>
            <a:chExt cx="1809341" cy="1208615"/>
          </a:xfrm>
        </p:grpSpPr>
        <p:sp>
          <p:nvSpPr>
            <p:cNvPr id="499" name="Shape 53"/>
            <p:cNvSpPr/>
            <p:nvPr/>
          </p:nvSpPr>
          <p:spPr>
            <a:xfrm flipV="1">
              <a:off x="0" y="473474"/>
              <a:ext cx="687226" cy="68722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502" name="Shape 52"/>
            <p:cNvGrpSpPr/>
            <p:nvPr/>
          </p:nvGrpSpPr>
          <p:grpSpPr>
            <a:xfrm>
              <a:off x="631232" y="-2"/>
              <a:ext cx="645127" cy="665556"/>
              <a:chOff x="-1" y="0"/>
              <a:chExt cx="645126" cy="665555"/>
            </a:xfrm>
          </p:grpSpPr>
          <p:sp>
            <p:nvSpPr>
              <p:cNvPr id="500" name="椭圆形"/>
              <p:cNvSpPr/>
              <p:nvPr/>
            </p:nvSpPr>
            <p:spPr>
              <a:xfrm>
                <a:off x="-2" y="-1"/>
                <a:ext cx="645127" cy="6655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1" name="/"/>
              <p:cNvSpPr txBox="1"/>
              <p:nvPr/>
            </p:nvSpPr>
            <p:spPr>
              <a:xfrm>
                <a:off x="94475" y="74168"/>
                <a:ext cx="45617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/</a:t>
                </a:r>
              </a:p>
            </p:txBody>
          </p:sp>
        </p:grpSp>
        <p:sp>
          <p:nvSpPr>
            <p:cNvPr id="503" name="Shape 54"/>
            <p:cNvSpPr/>
            <p:nvPr/>
          </p:nvSpPr>
          <p:spPr>
            <a:xfrm flipH="1" flipV="1">
              <a:off x="1165052" y="564324"/>
              <a:ext cx="644290" cy="6442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510" name="Group 59"/>
          <p:cNvGrpSpPr/>
          <p:nvPr/>
        </p:nvGrpSpPr>
        <p:grpSpPr>
          <a:xfrm>
            <a:off x="8402662" y="4507772"/>
            <a:ext cx="989600" cy="1130305"/>
            <a:chOff x="0" y="0"/>
            <a:chExt cx="989598" cy="1130303"/>
          </a:xfrm>
        </p:grpSpPr>
        <p:grpSp>
          <p:nvGrpSpPr>
            <p:cNvPr id="507" name="Shape 56"/>
            <p:cNvGrpSpPr/>
            <p:nvPr/>
          </p:nvGrpSpPr>
          <p:grpSpPr>
            <a:xfrm>
              <a:off x="172353" y="0"/>
              <a:ext cx="645127" cy="665555"/>
              <a:chOff x="-1" y="0"/>
              <a:chExt cx="645126" cy="665553"/>
            </a:xfrm>
          </p:grpSpPr>
          <p:sp>
            <p:nvSpPr>
              <p:cNvPr id="505" name="椭圆形"/>
              <p:cNvSpPr/>
              <p:nvPr/>
            </p:nvSpPr>
            <p:spPr>
              <a:xfrm>
                <a:off x="-2" y="0"/>
                <a:ext cx="645127" cy="6655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6" name="/"/>
              <p:cNvSpPr txBox="1"/>
              <p:nvPr/>
            </p:nvSpPr>
            <p:spPr>
              <a:xfrm>
                <a:off x="94475" y="74168"/>
                <a:ext cx="45617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/</a:t>
                </a:r>
              </a:p>
            </p:txBody>
          </p:sp>
        </p:grpSp>
        <p:sp>
          <p:nvSpPr>
            <p:cNvPr id="508" name="Shape 57"/>
            <p:cNvSpPr/>
            <p:nvPr/>
          </p:nvSpPr>
          <p:spPr>
            <a:xfrm flipV="1">
              <a:off x="-1" y="618147"/>
              <a:ext cx="368739" cy="5121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09" name="Shape 58"/>
            <p:cNvSpPr/>
            <p:nvPr/>
          </p:nvSpPr>
          <p:spPr>
            <a:xfrm flipH="1" flipV="1">
              <a:off x="687017" y="618147"/>
              <a:ext cx="302581" cy="5121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516" name="Group 63"/>
          <p:cNvGrpSpPr/>
          <p:nvPr/>
        </p:nvGrpSpPr>
        <p:grpSpPr>
          <a:xfrm>
            <a:off x="4159987" y="4507772"/>
            <a:ext cx="2058185" cy="1200040"/>
            <a:chOff x="0" y="0"/>
            <a:chExt cx="2058184" cy="1200038"/>
          </a:xfrm>
        </p:grpSpPr>
        <p:grpSp>
          <p:nvGrpSpPr>
            <p:cNvPr id="513" name="Shape 60"/>
            <p:cNvGrpSpPr/>
            <p:nvPr/>
          </p:nvGrpSpPr>
          <p:grpSpPr>
            <a:xfrm>
              <a:off x="782830" y="0"/>
              <a:ext cx="645127" cy="665554"/>
              <a:chOff x="0" y="0"/>
              <a:chExt cx="645126" cy="665553"/>
            </a:xfrm>
          </p:grpSpPr>
          <p:sp>
            <p:nvSpPr>
              <p:cNvPr id="511" name="椭圆形"/>
              <p:cNvSpPr/>
              <p:nvPr/>
            </p:nvSpPr>
            <p:spPr>
              <a:xfrm>
                <a:off x="0" y="0"/>
                <a:ext cx="645127" cy="66555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2" name="+"/>
              <p:cNvSpPr/>
              <p:nvPr/>
            </p:nvSpPr>
            <p:spPr>
              <a:xfrm>
                <a:off x="94477" y="40676"/>
                <a:ext cx="45617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+</a:t>
                </a:r>
              </a:p>
            </p:txBody>
          </p:sp>
        </p:grpSp>
        <p:sp>
          <p:nvSpPr>
            <p:cNvPr id="514" name="Shape 61"/>
            <p:cNvSpPr/>
            <p:nvPr/>
          </p:nvSpPr>
          <p:spPr>
            <a:xfrm flipV="1">
              <a:off x="-1" y="422036"/>
              <a:ext cx="816641" cy="68524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15" name="Shape 62"/>
            <p:cNvSpPr/>
            <p:nvPr/>
          </p:nvSpPr>
          <p:spPr>
            <a:xfrm flipH="1" flipV="1">
              <a:off x="1362018" y="503871"/>
              <a:ext cx="696167" cy="69616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522" name="Group 67"/>
          <p:cNvGrpSpPr/>
          <p:nvPr/>
        </p:nvGrpSpPr>
        <p:grpSpPr>
          <a:xfrm>
            <a:off x="5498218" y="3463795"/>
            <a:ext cx="3133272" cy="1177521"/>
            <a:chOff x="-1" y="-1"/>
            <a:chExt cx="3133270" cy="1177520"/>
          </a:xfrm>
        </p:grpSpPr>
        <p:grpSp>
          <p:nvGrpSpPr>
            <p:cNvPr id="519" name="Shape 64"/>
            <p:cNvGrpSpPr/>
            <p:nvPr/>
          </p:nvGrpSpPr>
          <p:grpSpPr>
            <a:xfrm>
              <a:off x="1362297" y="-2"/>
              <a:ext cx="645127" cy="665557"/>
              <a:chOff x="-1" y="-1"/>
              <a:chExt cx="645126" cy="665556"/>
            </a:xfrm>
          </p:grpSpPr>
          <p:sp>
            <p:nvSpPr>
              <p:cNvPr id="517" name="椭圆形"/>
              <p:cNvSpPr/>
              <p:nvPr/>
            </p:nvSpPr>
            <p:spPr>
              <a:xfrm>
                <a:off x="-2" y="-2"/>
                <a:ext cx="645127" cy="665558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8" name="+"/>
              <p:cNvSpPr txBox="1"/>
              <p:nvPr/>
            </p:nvSpPr>
            <p:spPr>
              <a:xfrm>
                <a:off x="94475" y="74168"/>
                <a:ext cx="45617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+</a:t>
                </a:r>
              </a:p>
            </p:txBody>
          </p:sp>
        </p:grpSp>
        <p:sp>
          <p:nvSpPr>
            <p:cNvPr id="520" name="Shape 65"/>
            <p:cNvSpPr/>
            <p:nvPr/>
          </p:nvSpPr>
          <p:spPr>
            <a:xfrm flipV="1">
              <a:off x="-2" y="504374"/>
              <a:ext cx="1431111" cy="62835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1" name="Shape 66"/>
            <p:cNvSpPr/>
            <p:nvPr/>
          </p:nvSpPr>
          <p:spPr>
            <a:xfrm>
              <a:off x="1970088" y="504210"/>
              <a:ext cx="1163182" cy="6733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4" grpId="3"/>
      <p:bldP build="whole" bldLvl="1" animBg="1" rev="0" advAuto="0" spid="462" grpId="8"/>
      <p:bldP build="whole" bldLvl="1" animBg="1" rev="0" advAuto="0" spid="486" grpId="2"/>
      <p:bldP build="whole" bldLvl="1" animBg="1" rev="0" advAuto="0" spid="474" grpId="1"/>
      <p:bldP build="whole" bldLvl="1" animBg="1" rev="0" advAuto="0" spid="516" grpId="7"/>
      <p:bldP build="whole" bldLvl="1" animBg="1" rev="0" advAuto="0" spid="459" grpId="6"/>
      <p:bldP build="whole" bldLvl="1" animBg="1" rev="0" advAuto="0" spid="498" grpId="4"/>
      <p:bldP build="whole" bldLvl="1" animBg="1" rev="0" advAuto="0" spid="522" grpId="9"/>
      <p:bldP build="whole" bldLvl="1" animBg="1" rev="0" advAuto="0" spid="510" grpId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成组"/>
          <p:cNvGrpSpPr/>
          <p:nvPr/>
        </p:nvGrpSpPr>
        <p:grpSpPr>
          <a:xfrm>
            <a:off x="545252" y="2031434"/>
            <a:ext cx="6330815" cy="3691190"/>
            <a:chOff x="0" y="0"/>
            <a:chExt cx="6330814" cy="3691188"/>
          </a:xfrm>
        </p:grpSpPr>
        <p:sp>
          <p:nvSpPr>
            <p:cNvPr id="524" name="Shape 638"/>
            <p:cNvSpPr/>
            <p:nvPr/>
          </p:nvSpPr>
          <p:spPr>
            <a:xfrm>
              <a:off x="3416017" y="477519"/>
              <a:ext cx="1291452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5" name="Shape 639"/>
            <p:cNvSpPr/>
            <p:nvPr/>
          </p:nvSpPr>
          <p:spPr>
            <a:xfrm flipH="1">
              <a:off x="1889759" y="452683"/>
              <a:ext cx="1106314" cy="6276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6" name="Shape 640"/>
            <p:cNvSpPr/>
            <p:nvPr/>
          </p:nvSpPr>
          <p:spPr>
            <a:xfrm>
              <a:off x="1993617" y="1416755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7" name="Shape 641"/>
            <p:cNvSpPr/>
            <p:nvPr/>
          </p:nvSpPr>
          <p:spPr>
            <a:xfrm>
              <a:off x="869244" y="2439529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8" name="Shape 642"/>
            <p:cNvSpPr/>
            <p:nvPr/>
          </p:nvSpPr>
          <p:spPr>
            <a:xfrm>
              <a:off x="2862579" y="81844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9" name="Shape 643"/>
            <p:cNvSpPr/>
            <p:nvPr/>
          </p:nvSpPr>
          <p:spPr>
            <a:xfrm>
              <a:off x="1481102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0" name="Shape 644"/>
            <p:cNvSpPr/>
            <p:nvPr/>
          </p:nvSpPr>
          <p:spPr>
            <a:xfrm>
              <a:off x="4284979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1" name="Shape 645"/>
            <p:cNvSpPr/>
            <p:nvPr/>
          </p:nvSpPr>
          <p:spPr>
            <a:xfrm>
              <a:off x="501224" y="1927013"/>
              <a:ext cx="645730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2" name="Shape 646"/>
            <p:cNvSpPr/>
            <p:nvPr/>
          </p:nvSpPr>
          <p:spPr>
            <a:xfrm>
              <a:off x="219907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3" name="Shape 647"/>
            <p:cNvSpPr/>
            <p:nvPr/>
          </p:nvSpPr>
          <p:spPr>
            <a:xfrm>
              <a:off x="3705013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4" name="Shape 648"/>
            <p:cNvSpPr/>
            <p:nvPr/>
          </p:nvSpPr>
          <p:spPr>
            <a:xfrm>
              <a:off x="5231270" y="1927013"/>
              <a:ext cx="645730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5" name="Shape 649"/>
            <p:cNvSpPr/>
            <p:nvPr/>
          </p:nvSpPr>
          <p:spPr>
            <a:xfrm>
              <a:off x="-1" y="3117145"/>
              <a:ext cx="64346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6" name="Shape 650"/>
            <p:cNvSpPr/>
            <p:nvPr/>
          </p:nvSpPr>
          <p:spPr>
            <a:xfrm>
              <a:off x="1790417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7" name="Shape 651"/>
            <p:cNvSpPr/>
            <p:nvPr/>
          </p:nvSpPr>
          <p:spPr>
            <a:xfrm>
              <a:off x="2608579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8" name="Shape 652"/>
            <p:cNvSpPr/>
            <p:nvPr/>
          </p:nvSpPr>
          <p:spPr>
            <a:xfrm>
              <a:off x="3325706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9" name="Shape 653"/>
            <p:cNvSpPr txBox="1"/>
            <p:nvPr/>
          </p:nvSpPr>
          <p:spPr>
            <a:xfrm>
              <a:off x="2940342" y="-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540" name="Shape 654"/>
            <p:cNvSpPr txBox="1"/>
            <p:nvPr/>
          </p:nvSpPr>
          <p:spPr>
            <a:xfrm>
              <a:off x="4329158" y="9386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541" name="Shape 655"/>
            <p:cNvSpPr txBox="1"/>
            <p:nvPr/>
          </p:nvSpPr>
          <p:spPr>
            <a:xfrm>
              <a:off x="5286209" y="1893146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42" name="Shape 656"/>
            <p:cNvSpPr txBox="1"/>
            <p:nvPr/>
          </p:nvSpPr>
          <p:spPr>
            <a:xfrm>
              <a:off x="1558581" y="9132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543" name="Shape 657"/>
            <p:cNvSpPr txBox="1"/>
            <p:nvPr/>
          </p:nvSpPr>
          <p:spPr>
            <a:xfrm>
              <a:off x="578707" y="1905846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44" name="Shape 658"/>
            <p:cNvSpPr txBox="1"/>
            <p:nvPr/>
          </p:nvSpPr>
          <p:spPr>
            <a:xfrm>
              <a:off x="2287121" y="1905846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45" name="Shape 659"/>
            <p:cNvSpPr txBox="1"/>
            <p:nvPr/>
          </p:nvSpPr>
          <p:spPr>
            <a:xfrm>
              <a:off x="3798227" y="1905846"/>
              <a:ext cx="435860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46" name="Shape 660"/>
            <p:cNvSpPr txBox="1"/>
            <p:nvPr/>
          </p:nvSpPr>
          <p:spPr>
            <a:xfrm>
              <a:off x="2669691" y="3101058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  <p:sp>
          <p:nvSpPr>
            <p:cNvPr id="547" name="Shape 661"/>
            <p:cNvSpPr txBox="1"/>
            <p:nvPr/>
          </p:nvSpPr>
          <p:spPr>
            <a:xfrm>
              <a:off x="3407632" y="3050258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  <p:sp>
          <p:nvSpPr>
            <p:cNvPr id="548" name="Shape 662"/>
            <p:cNvSpPr txBox="1"/>
            <p:nvPr/>
          </p:nvSpPr>
          <p:spPr>
            <a:xfrm>
              <a:off x="40790" y="3101058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549" name="Shape 663"/>
            <p:cNvSpPr txBox="1"/>
            <p:nvPr/>
          </p:nvSpPr>
          <p:spPr>
            <a:xfrm>
              <a:off x="1859360" y="3075658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550" name="Shape 664"/>
            <p:cNvSpPr/>
            <p:nvPr/>
          </p:nvSpPr>
          <p:spPr>
            <a:xfrm>
              <a:off x="869244" y="3142545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1" name="Shape 665"/>
            <p:cNvSpPr txBox="1"/>
            <p:nvPr/>
          </p:nvSpPr>
          <p:spPr>
            <a:xfrm>
              <a:off x="1005180" y="3113758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552" name="Shape 666"/>
            <p:cNvSpPr/>
            <p:nvPr/>
          </p:nvSpPr>
          <p:spPr>
            <a:xfrm flipH="1">
              <a:off x="1072444" y="1416755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3" name="Shape 667"/>
            <p:cNvSpPr/>
            <p:nvPr/>
          </p:nvSpPr>
          <p:spPr>
            <a:xfrm flipH="1">
              <a:off x="4119879" y="1416755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4" name="Shape 668"/>
            <p:cNvSpPr/>
            <p:nvPr/>
          </p:nvSpPr>
          <p:spPr>
            <a:xfrm>
              <a:off x="4863253" y="1416755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5" name="Shape 669"/>
            <p:cNvSpPr/>
            <p:nvPr/>
          </p:nvSpPr>
          <p:spPr>
            <a:xfrm>
              <a:off x="4183662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6" name="Shape 670"/>
            <p:cNvSpPr txBox="1"/>
            <p:nvPr/>
          </p:nvSpPr>
          <p:spPr>
            <a:xfrm>
              <a:off x="4196707" y="3075658"/>
              <a:ext cx="57965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557" name="Shape 671"/>
            <p:cNvSpPr/>
            <p:nvPr/>
          </p:nvSpPr>
          <p:spPr>
            <a:xfrm>
              <a:off x="4869179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8" name="Shape 672"/>
            <p:cNvSpPr txBox="1"/>
            <p:nvPr/>
          </p:nvSpPr>
          <p:spPr>
            <a:xfrm>
              <a:off x="4920414" y="3050258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N</a:t>
              </a:r>
            </a:p>
          </p:txBody>
        </p:sp>
        <p:sp>
          <p:nvSpPr>
            <p:cNvPr id="559" name="Shape 673"/>
            <p:cNvSpPr/>
            <p:nvPr/>
          </p:nvSpPr>
          <p:spPr>
            <a:xfrm>
              <a:off x="5685085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0" name="Shape 674"/>
            <p:cNvSpPr txBox="1"/>
            <p:nvPr/>
          </p:nvSpPr>
          <p:spPr>
            <a:xfrm>
              <a:off x="5761754" y="3088358"/>
              <a:ext cx="50796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O</a:t>
              </a:r>
            </a:p>
          </p:txBody>
        </p:sp>
        <p:sp>
          <p:nvSpPr>
            <p:cNvPr id="561" name="Shape 675"/>
            <p:cNvSpPr/>
            <p:nvPr/>
          </p:nvSpPr>
          <p:spPr>
            <a:xfrm>
              <a:off x="2608579" y="2439529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2" name="Shape 676"/>
            <p:cNvSpPr/>
            <p:nvPr/>
          </p:nvSpPr>
          <p:spPr>
            <a:xfrm>
              <a:off x="4145279" y="2439529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3" name="Shape 677"/>
            <p:cNvSpPr/>
            <p:nvPr/>
          </p:nvSpPr>
          <p:spPr>
            <a:xfrm>
              <a:off x="5681980" y="2439529"/>
              <a:ext cx="304804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4" name="Shape 678"/>
            <p:cNvSpPr/>
            <p:nvPr/>
          </p:nvSpPr>
          <p:spPr>
            <a:xfrm flipH="1">
              <a:off x="356728" y="2439529"/>
              <a:ext cx="408660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5" name="Shape 679"/>
            <p:cNvSpPr/>
            <p:nvPr/>
          </p:nvSpPr>
          <p:spPr>
            <a:xfrm flipH="1">
              <a:off x="2097475" y="2439529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6" name="Shape 680"/>
            <p:cNvSpPr/>
            <p:nvPr/>
          </p:nvSpPr>
          <p:spPr>
            <a:xfrm flipH="1">
              <a:off x="3535679" y="2439529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7" name="Shape 681"/>
            <p:cNvSpPr/>
            <p:nvPr/>
          </p:nvSpPr>
          <p:spPr>
            <a:xfrm flipH="1">
              <a:off x="5170311" y="2439529"/>
              <a:ext cx="408660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631" name="成组"/>
          <p:cNvGrpSpPr/>
          <p:nvPr/>
        </p:nvGrpSpPr>
        <p:grpSpPr>
          <a:xfrm>
            <a:off x="8209560" y="2128801"/>
            <a:ext cx="4525722" cy="5379161"/>
            <a:chOff x="-1" y="0"/>
            <a:chExt cx="4525720" cy="5379160"/>
          </a:xfrm>
        </p:grpSpPr>
        <p:sp>
          <p:nvSpPr>
            <p:cNvPr id="569" name="Shape 1883"/>
            <p:cNvSpPr/>
            <p:nvPr/>
          </p:nvSpPr>
          <p:spPr>
            <a:xfrm flipH="1">
              <a:off x="627661" y="535093"/>
              <a:ext cx="512518" cy="38608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0" name="Shape 1884"/>
            <p:cNvSpPr/>
            <p:nvPr/>
          </p:nvSpPr>
          <p:spPr>
            <a:xfrm>
              <a:off x="659270" y="1740745"/>
              <a:ext cx="381002" cy="510261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1" name="Shape 1885"/>
            <p:cNvSpPr/>
            <p:nvPr/>
          </p:nvSpPr>
          <p:spPr>
            <a:xfrm flipH="1">
              <a:off x="483163" y="2844799"/>
              <a:ext cx="431803" cy="652500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2" name="Shape 1886"/>
            <p:cNvSpPr/>
            <p:nvPr/>
          </p:nvSpPr>
          <p:spPr>
            <a:xfrm>
              <a:off x="1858150" y="501226"/>
              <a:ext cx="715719" cy="419950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3" name="Shape 1887"/>
            <p:cNvSpPr/>
            <p:nvPr/>
          </p:nvSpPr>
          <p:spPr>
            <a:xfrm>
              <a:off x="3148470" y="1492391"/>
              <a:ext cx="347700" cy="555416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4" name="Shape 1888"/>
            <p:cNvSpPr/>
            <p:nvPr/>
          </p:nvSpPr>
          <p:spPr>
            <a:xfrm flipH="1">
              <a:off x="3300871" y="2804160"/>
              <a:ext cx="399629" cy="62314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5" name="Shape 1889"/>
            <p:cNvSpPr/>
            <p:nvPr/>
          </p:nvSpPr>
          <p:spPr>
            <a:xfrm flipH="1">
              <a:off x="2580639" y="3860800"/>
              <a:ext cx="286740" cy="64346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6" name="Shape 1890"/>
            <p:cNvSpPr/>
            <p:nvPr/>
          </p:nvSpPr>
          <p:spPr>
            <a:xfrm>
              <a:off x="3625991" y="3860800"/>
              <a:ext cx="334153" cy="747327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579" name="Group 1894"/>
            <p:cNvGrpSpPr/>
            <p:nvPr/>
          </p:nvGrpSpPr>
          <p:grpSpPr>
            <a:xfrm>
              <a:off x="1133402" y="-1"/>
              <a:ext cx="762007" cy="863601"/>
              <a:chOff x="-1" y="0"/>
              <a:chExt cx="762006" cy="863600"/>
            </a:xfrm>
          </p:grpSpPr>
          <p:sp>
            <p:nvSpPr>
              <p:cNvPr id="577" name="Shape 1892"/>
              <p:cNvSpPr/>
              <p:nvPr/>
            </p:nvSpPr>
            <p:spPr>
              <a:xfrm>
                <a:off x="-2" y="-1"/>
                <a:ext cx="762007" cy="863601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8" name="Shape 1893"/>
              <p:cNvSpPr txBox="1"/>
              <p:nvPr/>
            </p:nvSpPr>
            <p:spPr>
              <a:xfrm>
                <a:off x="77160" y="32536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82" name="Group 1897"/>
            <p:cNvGrpSpPr/>
            <p:nvPr/>
          </p:nvGrpSpPr>
          <p:grpSpPr>
            <a:xfrm>
              <a:off x="100469" y="901700"/>
              <a:ext cx="762003" cy="863603"/>
              <a:chOff x="0" y="0"/>
              <a:chExt cx="762002" cy="863602"/>
            </a:xfrm>
          </p:grpSpPr>
          <p:sp>
            <p:nvSpPr>
              <p:cNvPr id="580" name="Shape 1895"/>
              <p:cNvSpPr/>
              <p:nvPr/>
            </p:nvSpPr>
            <p:spPr>
              <a:xfrm>
                <a:off x="-1" y="-1"/>
                <a:ext cx="762004" cy="86360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1" name="Shape 1896"/>
              <p:cNvSpPr txBox="1"/>
              <p:nvPr/>
            </p:nvSpPr>
            <p:spPr>
              <a:xfrm>
                <a:off x="89033" y="32536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85" name="Group 1900"/>
            <p:cNvGrpSpPr/>
            <p:nvPr/>
          </p:nvGrpSpPr>
          <p:grpSpPr>
            <a:xfrm>
              <a:off x="557670" y="2088443"/>
              <a:ext cx="762003" cy="863605"/>
              <a:chOff x="0" y="0"/>
              <a:chExt cx="762002" cy="863603"/>
            </a:xfrm>
          </p:grpSpPr>
          <p:sp>
            <p:nvSpPr>
              <p:cNvPr id="583" name="Shape 1898"/>
              <p:cNvSpPr/>
              <p:nvPr/>
            </p:nvSpPr>
            <p:spPr>
              <a:xfrm>
                <a:off x="-1" y="-1"/>
                <a:ext cx="762004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4" name="Shape 1899"/>
              <p:cNvSpPr txBox="1"/>
              <p:nvPr/>
            </p:nvSpPr>
            <p:spPr>
              <a:xfrm>
                <a:off x="77159" y="37900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588" name="Group 1903"/>
            <p:cNvGrpSpPr/>
            <p:nvPr/>
          </p:nvGrpSpPr>
          <p:grpSpPr>
            <a:xfrm>
              <a:off x="9028" y="3456659"/>
              <a:ext cx="762007" cy="863605"/>
              <a:chOff x="-1" y="0"/>
              <a:chExt cx="762006" cy="863603"/>
            </a:xfrm>
          </p:grpSpPr>
          <p:sp>
            <p:nvSpPr>
              <p:cNvPr id="586" name="Shape 1901"/>
              <p:cNvSpPr/>
              <p:nvPr/>
            </p:nvSpPr>
            <p:spPr>
              <a:xfrm>
                <a:off x="-2" y="0"/>
                <a:ext cx="762007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7" name="Shape 1902"/>
              <p:cNvSpPr txBox="1"/>
              <p:nvPr/>
            </p:nvSpPr>
            <p:spPr>
              <a:xfrm>
                <a:off x="77160" y="37899"/>
                <a:ext cx="604293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591" name="Group 1906"/>
            <p:cNvGrpSpPr/>
            <p:nvPr/>
          </p:nvGrpSpPr>
          <p:grpSpPr>
            <a:xfrm>
              <a:off x="2472264" y="839893"/>
              <a:ext cx="762007" cy="863605"/>
              <a:chOff x="-1" y="0"/>
              <a:chExt cx="762006" cy="863603"/>
            </a:xfrm>
          </p:grpSpPr>
          <p:sp>
            <p:nvSpPr>
              <p:cNvPr id="589" name="Shape 1904"/>
              <p:cNvSpPr/>
              <p:nvPr/>
            </p:nvSpPr>
            <p:spPr>
              <a:xfrm>
                <a:off x="-2" y="0"/>
                <a:ext cx="762007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0" name="Shape 1905"/>
              <p:cNvSpPr txBox="1"/>
              <p:nvPr/>
            </p:nvSpPr>
            <p:spPr>
              <a:xfrm>
                <a:off x="94678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594" name="Group 1909"/>
            <p:cNvGrpSpPr/>
            <p:nvPr/>
          </p:nvGrpSpPr>
          <p:grpSpPr>
            <a:xfrm>
              <a:off x="3373119" y="1968500"/>
              <a:ext cx="762007" cy="863601"/>
              <a:chOff x="-1" y="0"/>
              <a:chExt cx="762006" cy="863600"/>
            </a:xfrm>
          </p:grpSpPr>
          <p:sp>
            <p:nvSpPr>
              <p:cNvPr id="592" name="Shape 1907"/>
              <p:cNvSpPr/>
              <p:nvPr/>
            </p:nvSpPr>
            <p:spPr>
              <a:xfrm>
                <a:off x="-2" y="-1"/>
                <a:ext cx="762007" cy="863601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3" name="Shape 1908"/>
              <p:cNvSpPr txBox="1"/>
              <p:nvPr/>
            </p:nvSpPr>
            <p:spPr>
              <a:xfrm>
                <a:off x="112506" y="32536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597" name="Group 1912"/>
            <p:cNvGrpSpPr/>
            <p:nvPr/>
          </p:nvGrpSpPr>
          <p:grpSpPr>
            <a:xfrm>
              <a:off x="2867375" y="3427306"/>
              <a:ext cx="762007" cy="863605"/>
              <a:chOff x="-1" y="0"/>
              <a:chExt cx="762006" cy="863603"/>
            </a:xfrm>
          </p:grpSpPr>
          <p:sp>
            <p:nvSpPr>
              <p:cNvPr id="595" name="Shape 1910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6" name="Shape 1911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00" name="Group 1915"/>
            <p:cNvGrpSpPr/>
            <p:nvPr/>
          </p:nvGrpSpPr>
          <p:grpSpPr>
            <a:xfrm>
              <a:off x="2246770" y="4504267"/>
              <a:ext cx="762003" cy="863605"/>
              <a:chOff x="0" y="0"/>
              <a:chExt cx="762002" cy="863603"/>
            </a:xfrm>
          </p:grpSpPr>
          <p:sp>
            <p:nvSpPr>
              <p:cNvPr id="598" name="Shape 1913"/>
              <p:cNvSpPr/>
              <p:nvPr/>
            </p:nvSpPr>
            <p:spPr>
              <a:xfrm>
                <a:off x="-1" y="-1"/>
                <a:ext cx="762004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9" name="Shape 1914"/>
              <p:cNvSpPr txBox="1"/>
              <p:nvPr/>
            </p:nvSpPr>
            <p:spPr>
              <a:xfrm>
                <a:off x="5694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03" name="Group 1918"/>
            <p:cNvGrpSpPr/>
            <p:nvPr/>
          </p:nvGrpSpPr>
          <p:grpSpPr>
            <a:xfrm>
              <a:off x="3758070" y="4504267"/>
              <a:ext cx="762004" cy="863605"/>
              <a:chOff x="0" y="0"/>
              <a:chExt cx="762002" cy="863603"/>
            </a:xfrm>
          </p:grpSpPr>
          <p:sp>
            <p:nvSpPr>
              <p:cNvPr id="601" name="Shape 1916"/>
              <p:cNvSpPr/>
              <p:nvPr/>
            </p:nvSpPr>
            <p:spPr>
              <a:xfrm>
                <a:off x="-1" y="-1"/>
                <a:ext cx="762004" cy="86360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2" name="Shape 1917"/>
              <p:cNvSpPr txBox="1"/>
              <p:nvPr/>
            </p:nvSpPr>
            <p:spPr>
              <a:xfrm>
                <a:off x="62873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606" name="Group 1921"/>
            <p:cNvGrpSpPr/>
            <p:nvPr/>
          </p:nvGrpSpPr>
          <p:grpSpPr>
            <a:xfrm>
              <a:off x="1129170" y="-1"/>
              <a:ext cx="762003" cy="863601"/>
              <a:chOff x="0" y="0"/>
              <a:chExt cx="762002" cy="863600"/>
            </a:xfrm>
          </p:grpSpPr>
          <p:sp>
            <p:nvSpPr>
              <p:cNvPr id="604" name="Shape 1919"/>
              <p:cNvSpPr/>
              <p:nvPr/>
            </p:nvSpPr>
            <p:spPr>
              <a:xfrm>
                <a:off x="-1" y="-1"/>
                <a:ext cx="762004" cy="863601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5" name="Shape 1920"/>
              <p:cNvSpPr txBox="1"/>
              <p:nvPr/>
            </p:nvSpPr>
            <p:spPr>
              <a:xfrm>
                <a:off x="72361" y="32536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09" name="Group 1924"/>
            <p:cNvGrpSpPr/>
            <p:nvPr/>
          </p:nvGrpSpPr>
          <p:grpSpPr>
            <a:xfrm>
              <a:off x="117401" y="901700"/>
              <a:ext cx="762007" cy="863603"/>
              <a:chOff x="-1" y="0"/>
              <a:chExt cx="762006" cy="863602"/>
            </a:xfrm>
          </p:grpSpPr>
          <p:sp>
            <p:nvSpPr>
              <p:cNvPr id="607" name="Shape 1922"/>
              <p:cNvSpPr/>
              <p:nvPr/>
            </p:nvSpPr>
            <p:spPr>
              <a:xfrm>
                <a:off x="-2" y="-1"/>
                <a:ext cx="762007" cy="863604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8" name="Shape 1923"/>
              <p:cNvSpPr txBox="1"/>
              <p:nvPr/>
            </p:nvSpPr>
            <p:spPr>
              <a:xfrm>
                <a:off x="94678" y="32536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12" name="Group 1927"/>
            <p:cNvGrpSpPr/>
            <p:nvPr/>
          </p:nvGrpSpPr>
          <p:grpSpPr>
            <a:xfrm>
              <a:off x="553153" y="2088443"/>
              <a:ext cx="762007" cy="863605"/>
              <a:chOff x="-1" y="0"/>
              <a:chExt cx="762006" cy="863603"/>
            </a:xfrm>
          </p:grpSpPr>
          <p:sp>
            <p:nvSpPr>
              <p:cNvPr id="610" name="Shape 1925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1" name="Shape 1926"/>
              <p:cNvSpPr txBox="1"/>
              <p:nvPr/>
            </p:nvSpPr>
            <p:spPr>
              <a:xfrm>
                <a:off x="77160" y="37900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615" name="Group 1930"/>
            <p:cNvGrpSpPr/>
            <p:nvPr/>
          </p:nvGrpSpPr>
          <p:grpSpPr>
            <a:xfrm>
              <a:off x="-2" y="3461173"/>
              <a:ext cx="762007" cy="863605"/>
              <a:chOff x="-1" y="0"/>
              <a:chExt cx="762006" cy="863603"/>
            </a:xfrm>
          </p:grpSpPr>
          <p:sp>
            <p:nvSpPr>
              <p:cNvPr id="613" name="Shape 1928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4" name="Shape 1929"/>
              <p:cNvSpPr txBox="1"/>
              <p:nvPr/>
            </p:nvSpPr>
            <p:spPr>
              <a:xfrm>
                <a:off x="7716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618" name="Group 1933"/>
            <p:cNvGrpSpPr/>
            <p:nvPr/>
          </p:nvGrpSpPr>
          <p:grpSpPr>
            <a:xfrm>
              <a:off x="2474523" y="830862"/>
              <a:ext cx="762007" cy="863605"/>
              <a:chOff x="-1" y="0"/>
              <a:chExt cx="762006" cy="863603"/>
            </a:xfrm>
          </p:grpSpPr>
          <p:sp>
            <p:nvSpPr>
              <p:cNvPr id="616" name="Shape 1931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7" name="Shape 1932"/>
              <p:cNvSpPr txBox="1"/>
              <p:nvPr/>
            </p:nvSpPr>
            <p:spPr>
              <a:xfrm>
                <a:off x="94677" y="37899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21" name="Group 1936"/>
            <p:cNvGrpSpPr/>
            <p:nvPr/>
          </p:nvGrpSpPr>
          <p:grpSpPr>
            <a:xfrm>
              <a:off x="3375375" y="1977813"/>
              <a:ext cx="762007" cy="863605"/>
              <a:chOff x="-1" y="0"/>
              <a:chExt cx="762006" cy="863603"/>
            </a:xfrm>
          </p:grpSpPr>
          <p:sp>
            <p:nvSpPr>
              <p:cNvPr id="619" name="Shape 1934"/>
              <p:cNvSpPr/>
              <p:nvPr/>
            </p:nvSpPr>
            <p:spPr>
              <a:xfrm>
                <a:off x="-2" y="0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0" name="Shape 1935"/>
              <p:cNvSpPr txBox="1"/>
              <p:nvPr/>
            </p:nvSpPr>
            <p:spPr>
              <a:xfrm>
                <a:off x="112507" y="37900"/>
                <a:ext cx="53360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624" name="Group 1939"/>
            <p:cNvGrpSpPr/>
            <p:nvPr/>
          </p:nvGrpSpPr>
          <p:grpSpPr>
            <a:xfrm>
              <a:off x="2869633" y="3438596"/>
              <a:ext cx="762007" cy="863605"/>
              <a:chOff x="-1" y="0"/>
              <a:chExt cx="762006" cy="863603"/>
            </a:xfrm>
          </p:grpSpPr>
          <p:sp>
            <p:nvSpPr>
              <p:cNvPr id="622" name="Shape 1937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3" name="Shape 1938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27" name="Group 1942"/>
            <p:cNvGrpSpPr/>
            <p:nvPr/>
          </p:nvGrpSpPr>
          <p:grpSpPr>
            <a:xfrm>
              <a:off x="2246486" y="4495801"/>
              <a:ext cx="762007" cy="863601"/>
              <a:chOff x="-1" y="0"/>
              <a:chExt cx="762006" cy="863600"/>
            </a:xfrm>
          </p:grpSpPr>
          <p:sp>
            <p:nvSpPr>
              <p:cNvPr id="625" name="Shape 1940"/>
              <p:cNvSpPr/>
              <p:nvPr/>
            </p:nvSpPr>
            <p:spPr>
              <a:xfrm>
                <a:off x="-2" y="-1"/>
                <a:ext cx="762007" cy="863601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6" name="Shape 1941"/>
              <p:cNvSpPr txBox="1"/>
              <p:nvPr/>
            </p:nvSpPr>
            <p:spPr>
              <a:xfrm>
                <a:off x="59486" y="32536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30" name="Group 1945"/>
            <p:cNvGrpSpPr/>
            <p:nvPr/>
          </p:nvGrpSpPr>
          <p:grpSpPr>
            <a:xfrm>
              <a:off x="3763713" y="4515556"/>
              <a:ext cx="762007" cy="863605"/>
              <a:chOff x="-1" y="0"/>
              <a:chExt cx="762006" cy="863603"/>
            </a:xfrm>
          </p:grpSpPr>
          <p:sp>
            <p:nvSpPr>
              <p:cNvPr id="628" name="Shape 1943"/>
              <p:cNvSpPr/>
              <p:nvPr/>
            </p:nvSpPr>
            <p:spPr>
              <a:xfrm>
                <a:off x="-2" y="-1"/>
                <a:ext cx="762007" cy="863605"/>
              </a:xfrm>
              <a:prstGeom prst="ellipse">
                <a:avLst/>
              </a:prstGeom>
              <a:solidFill>
                <a:srgbClr val="FFFFFF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9" name="Shape 1944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632" name="二叉树形态各异，但是，结构一样。"/>
          <p:cNvSpPr txBox="1"/>
          <p:nvPr/>
        </p:nvSpPr>
        <p:spPr>
          <a:xfrm>
            <a:off x="319274" y="1210310"/>
            <a:ext cx="70808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defTabSz="1295400">
              <a:spcBef>
                <a:spcPts val="1900"/>
              </a:spcBef>
              <a:defRPr sz="34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二叉树形态各异，但是，结构一样。</a:t>
            </a:r>
          </a:p>
        </p:txBody>
      </p:sp>
      <p:sp>
        <p:nvSpPr>
          <p:cNvPr id="633" name="Shape 69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690"/>
          <p:cNvSpPr txBox="1"/>
          <p:nvPr>
            <p:ph type="title"/>
          </p:nvPr>
        </p:nvSpPr>
        <p:spPr>
          <a:xfrm>
            <a:off x="1782773" y="40779"/>
            <a:ext cx="9398004" cy="1003304"/>
          </a:xfrm>
          <a:prstGeom prst="rect">
            <a:avLst/>
          </a:prstGeom>
        </p:spPr>
        <p:txBody>
          <a:bodyPr/>
          <a:lstStyle>
            <a:lvl1pPr marR="57220" indent="57220" defTabSz="1282446">
              <a:defRPr sz="3900"/>
            </a:lvl1pPr>
          </a:lstStyle>
          <a:p>
            <a:pPr/>
            <a:r>
              <a:t>扩展的二叉树(extended binary tree)</a:t>
            </a:r>
          </a:p>
        </p:txBody>
      </p:sp>
      <p:grpSp>
        <p:nvGrpSpPr>
          <p:cNvPr id="668" name="成组"/>
          <p:cNvGrpSpPr/>
          <p:nvPr/>
        </p:nvGrpSpPr>
        <p:grpSpPr>
          <a:xfrm>
            <a:off x="6182289" y="2155072"/>
            <a:ext cx="6097110" cy="4576467"/>
            <a:chOff x="0" y="0"/>
            <a:chExt cx="6097109" cy="4576465"/>
          </a:xfrm>
        </p:grpSpPr>
        <p:sp>
          <p:nvSpPr>
            <p:cNvPr id="636" name="Shape 2215"/>
            <p:cNvSpPr/>
            <p:nvPr/>
          </p:nvSpPr>
          <p:spPr>
            <a:xfrm flipV="1">
              <a:off x="2041269" y="291112"/>
              <a:ext cx="1406198" cy="1266821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37" name="Shape 2216"/>
            <p:cNvSpPr/>
            <p:nvPr/>
          </p:nvSpPr>
          <p:spPr>
            <a:xfrm flipV="1">
              <a:off x="1256473" y="1743474"/>
              <a:ext cx="826886" cy="1014098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38" name="Shape 2217"/>
            <p:cNvSpPr/>
            <p:nvPr/>
          </p:nvSpPr>
          <p:spPr>
            <a:xfrm>
              <a:off x="2266556" y="1596318"/>
              <a:ext cx="1193289" cy="1042890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39" name="Shape 2218"/>
            <p:cNvSpPr/>
            <p:nvPr/>
          </p:nvSpPr>
          <p:spPr>
            <a:xfrm>
              <a:off x="3613337" y="291112"/>
              <a:ext cx="1453236" cy="1135661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0" name="Shape 2219"/>
            <p:cNvSpPr/>
            <p:nvPr/>
          </p:nvSpPr>
          <p:spPr>
            <a:xfrm>
              <a:off x="3254360" y="0"/>
              <a:ext cx="722909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1" name="Shape 2220"/>
            <p:cNvSpPr txBox="1"/>
            <p:nvPr/>
          </p:nvSpPr>
          <p:spPr>
            <a:xfrm>
              <a:off x="3452417" y="201539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642" name="Shape 2221"/>
            <p:cNvSpPr/>
            <p:nvPr/>
          </p:nvSpPr>
          <p:spPr>
            <a:xfrm>
              <a:off x="1929862" y="1161250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3" name="Shape 2222"/>
            <p:cNvSpPr txBox="1"/>
            <p:nvPr/>
          </p:nvSpPr>
          <p:spPr>
            <a:xfrm>
              <a:off x="2140296" y="1362788"/>
              <a:ext cx="300708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644" name="Shape 2223"/>
            <p:cNvSpPr/>
            <p:nvPr/>
          </p:nvSpPr>
          <p:spPr>
            <a:xfrm>
              <a:off x="4685314" y="1020493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5" name="Shape 2224"/>
            <p:cNvSpPr txBox="1"/>
            <p:nvPr/>
          </p:nvSpPr>
          <p:spPr>
            <a:xfrm>
              <a:off x="4895747" y="1222031"/>
              <a:ext cx="300708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646" name="Shape 2225"/>
            <p:cNvSpPr/>
            <p:nvPr/>
          </p:nvSpPr>
          <p:spPr>
            <a:xfrm>
              <a:off x="714295" y="2546433"/>
              <a:ext cx="722907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7" name="Shape 2226"/>
            <p:cNvSpPr txBox="1"/>
            <p:nvPr/>
          </p:nvSpPr>
          <p:spPr>
            <a:xfrm>
              <a:off x="924730" y="2747972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648" name="Shape 2227"/>
            <p:cNvSpPr/>
            <p:nvPr/>
          </p:nvSpPr>
          <p:spPr>
            <a:xfrm>
              <a:off x="3113245" y="2517642"/>
              <a:ext cx="725383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9" name="Shape 2228"/>
            <p:cNvSpPr txBox="1"/>
            <p:nvPr/>
          </p:nvSpPr>
          <p:spPr>
            <a:xfrm>
              <a:off x="3313778" y="2719181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652" name="成组"/>
            <p:cNvGrpSpPr/>
            <p:nvPr/>
          </p:nvGrpSpPr>
          <p:grpSpPr>
            <a:xfrm>
              <a:off x="-1" y="3391496"/>
              <a:ext cx="875166" cy="1168820"/>
              <a:chOff x="0" y="0"/>
              <a:chExt cx="875165" cy="1168818"/>
            </a:xfrm>
          </p:grpSpPr>
          <p:sp>
            <p:nvSpPr>
              <p:cNvPr id="650" name="矩形"/>
              <p:cNvSpPr/>
              <p:nvPr/>
            </p:nvSpPr>
            <p:spPr>
              <a:xfrm>
                <a:off x="-1" y="593646"/>
                <a:ext cx="597751" cy="57517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51" name="线条"/>
              <p:cNvSpPr/>
              <p:nvPr/>
            </p:nvSpPr>
            <p:spPr>
              <a:xfrm flipV="1">
                <a:off x="269976" y="-1"/>
                <a:ext cx="605190" cy="60519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grpSp>
          <p:nvGrpSpPr>
            <p:cNvPr id="655" name="成组"/>
            <p:cNvGrpSpPr/>
            <p:nvPr/>
          </p:nvGrpSpPr>
          <p:grpSpPr>
            <a:xfrm>
              <a:off x="1293853" y="3391497"/>
              <a:ext cx="861940" cy="1184969"/>
              <a:chOff x="0" y="0"/>
              <a:chExt cx="861939" cy="1184968"/>
            </a:xfrm>
          </p:grpSpPr>
          <p:sp>
            <p:nvSpPr>
              <p:cNvPr id="653" name="矩形"/>
              <p:cNvSpPr/>
              <p:nvPr/>
            </p:nvSpPr>
            <p:spPr>
              <a:xfrm>
                <a:off x="264188" y="609796"/>
                <a:ext cx="597751" cy="575172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54" name="线条"/>
              <p:cNvSpPr/>
              <p:nvPr/>
            </p:nvSpPr>
            <p:spPr>
              <a:xfrm flipH="1" flipV="1">
                <a:off x="-1" y="-1"/>
                <a:ext cx="605191" cy="60519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grpSp>
          <p:nvGrpSpPr>
            <p:cNvPr id="658" name="成组"/>
            <p:cNvGrpSpPr/>
            <p:nvPr/>
          </p:nvGrpSpPr>
          <p:grpSpPr>
            <a:xfrm>
              <a:off x="2393454" y="3390979"/>
              <a:ext cx="875166" cy="1168818"/>
              <a:chOff x="0" y="0"/>
              <a:chExt cx="875165" cy="1168816"/>
            </a:xfrm>
          </p:grpSpPr>
          <p:sp>
            <p:nvSpPr>
              <p:cNvPr id="656" name="矩形"/>
              <p:cNvSpPr/>
              <p:nvPr/>
            </p:nvSpPr>
            <p:spPr>
              <a:xfrm>
                <a:off x="-1" y="593645"/>
                <a:ext cx="597751" cy="575172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57" name="线条"/>
              <p:cNvSpPr/>
              <p:nvPr/>
            </p:nvSpPr>
            <p:spPr>
              <a:xfrm flipV="1">
                <a:off x="269976" y="-1"/>
                <a:ext cx="605190" cy="60519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grpSp>
          <p:nvGrpSpPr>
            <p:cNvPr id="661" name="成组"/>
            <p:cNvGrpSpPr/>
            <p:nvPr/>
          </p:nvGrpSpPr>
          <p:grpSpPr>
            <a:xfrm>
              <a:off x="3674608" y="3390979"/>
              <a:ext cx="861940" cy="1184969"/>
              <a:chOff x="0" y="0"/>
              <a:chExt cx="861939" cy="1184968"/>
            </a:xfrm>
          </p:grpSpPr>
          <p:sp>
            <p:nvSpPr>
              <p:cNvPr id="659" name="矩形"/>
              <p:cNvSpPr/>
              <p:nvPr/>
            </p:nvSpPr>
            <p:spPr>
              <a:xfrm>
                <a:off x="264188" y="609796"/>
                <a:ext cx="597751" cy="575172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60" name="线条"/>
              <p:cNvSpPr/>
              <p:nvPr/>
            </p:nvSpPr>
            <p:spPr>
              <a:xfrm flipH="1" flipV="1">
                <a:off x="-1" y="-1"/>
                <a:ext cx="605191" cy="60519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grpSp>
          <p:nvGrpSpPr>
            <p:cNvPr id="664" name="成组"/>
            <p:cNvGrpSpPr/>
            <p:nvPr/>
          </p:nvGrpSpPr>
          <p:grpSpPr>
            <a:xfrm>
              <a:off x="3979415" y="1898962"/>
              <a:ext cx="875167" cy="1168819"/>
              <a:chOff x="0" y="0"/>
              <a:chExt cx="875165" cy="1168816"/>
            </a:xfrm>
          </p:grpSpPr>
          <p:sp>
            <p:nvSpPr>
              <p:cNvPr id="662" name="矩形"/>
              <p:cNvSpPr/>
              <p:nvPr/>
            </p:nvSpPr>
            <p:spPr>
              <a:xfrm>
                <a:off x="-1" y="593645"/>
                <a:ext cx="597751" cy="575172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63" name="线条"/>
              <p:cNvSpPr/>
              <p:nvPr/>
            </p:nvSpPr>
            <p:spPr>
              <a:xfrm flipV="1">
                <a:off x="269976" y="-1"/>
                <a:ext cx="605190" cy="60519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grpSp>
          <p:nvGrpSpPr>
            <p:cNvPr id="667" name="成组"/>
            <p:cNvGrpSpPr/>
            <p:nvPr/>
          </p:nvGrpSpPr>
          <p:grpSpPr>
            <a:xfrm>
              <a:off x="5235169" y="1898963"/>
              <a:ext cx="861940" cy="1184969"/>
              <a:chOff x="0" y="0"/>
              <a:chExt cx="861939" cy="1184968"/>
            </a:xfrm>
          </p:grpSpPr>
          <p:sp>
            <p:nvSpPr>
              <p:cNvPr id="665" name="矩形"/>
              <p:cNvSpPr/>
              <p:nvPr/>
            </p:nvSpPr>
            <p:spPr>
              <a:xfrm>
                <a:off x="264188" y="609796"/>
                <a:ext cx="597751" cy="575172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34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666" name="线条"/>
              <p:cNvSpPr/>
              <p:nvPr/>
            </p:nvSpPr>
            <p:spPr>
              <a:xfrm flipH="1" flipV="1">
                <a:off x="-1" y="-1"/>
                <a:ext cx="605191" cy="60519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</p:grpSp>
      <p:grpSp>
        <p:nvGrpSpPr>
          <p:cNvPr id="683" name="Group 2229"/>
          <p:cNvGrpSpPr/>
          <p:nvPr/>
        </p:nvGrpSpPr>
        <p:grpSpPr>
          <a:xfrm>
            <a:off x="654253" y="2155072"/>
            <a:ext cx="4693925" cy="3483757"/>
            <a:chOff x="0" y="0"/>
            <a:chExt cx="4693924" cy="3483755"/>
          </a:xfrm>
        </p:grpSpPr>
        <p:sp>
          <p:nvSpPr>
            <p:cNvPr id="669" name="Shape 2215"/>
            <p:cNvSpPr/>
            <p:nvPr/>
          </p:nvSpPr>
          <p:spPr>
            <a:xfrm flipV="1">
              <a:off x="1326973" y="291112"/>
              <a:ext cx="1406198" cy="1266821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0" name="Shape 2216"/>
            <p:cNvSpPr/>
            <p:nvPr/>
          </p:nvSpPr>
          <p:spPr>
            <a:xfrm flipV="1">
              <a:off x="542177" y="1743474"/>
              <a:ext cx="826886" cy="1014098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1" name="Shape 2217"/>
            <p:cNvSpPr/>
            <p:nvPr/>
          </p:nvSpPr>
          <p:spPr>
            <a:xfrm>
              <a:off x="1552260" y="1596319"/>
              <a:ext cx="1193289" cy="1042889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2" name="Shape 2218"/>
            <p:cNvSpPr/>
            <p:nvPr/>
          </p:nvSpPr>
          <p:spPr>
            <a:xfrm>
              <a:off x="2899042" y="291112"/>
              <a:ext cx="1453236" cy="1135660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3" name="Shape 2219"/>
            <p:cNvSpPr/>
            <p:nvPr/>
          </p:nvSpPr>
          <p:spPr>
            <a:xfrm>
              <a:off x="2540064" y="-1"/>
              <a:ext cx="722909" cy="934124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4" name="Shape 2220"/>
            <p:cNvSpPr txBox="1"/>
            <p:nvPr/>
          </p:nvSpPr>
          <p:spPr>
            <a:xfrm>
              <a:off x="2738122" y="201539"/>
              <a:ext cx="324533" cy="464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675" name="Shape 2221"/>
            <p:cNvSpPr/>
            <p:nvPr/>
          </p:nvSpPr>
          <p:spPr>
            <a:xfrm>
              <a:off x="1215566" y="1161250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6" name="Shape 2222"/>
            <p:cNvSpPr txBox="1"/>
            <p:nvPr/>
          </p:nvSpPr>
          <p:spPr>
            <a:xfrm>
              <a:off x="1426000" y="1362789"/>
              <a:ext cx="300708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677" name="Shape 2223"/>
            <p:cNvSpPr/>
            <p:nvPr/>
          </p:nvSpPr>
          <p:spPr>
            <a:xfrm>
              <a:off x="3971018" y="1020493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8" name="Shape 2224"/>
            <p:cNvSpPr txBox="1"/>
            <p:nvPr/>
          </p:nvSpPr>
          <p:spPr>
            <a:xfrm>
              <a:off x="4181452" y="1222032"/>
              <a:ext cx="300709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679" name="Shape 2225"/>
            <p:cNvSpPr/>
            <p:nvPr/>
          </p:nvSpPr>
          <p:spPr>
            <a:xfrm>
              <a:off x="-1" y="2546433"/>
              <a:ext cx="722907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0" name="Shape 2226"/>
            <p:cNvSpPr txBox="1"/>
            <p:nvPr/>
          </p:nvSpPr>
          <p:spPr>
            <a:xfrm>
              <a:off x="210434" y="2747972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681" name="Shape 2227"/>
            <p:cNvSpPr/>
            <p:nvPr/>
          </p:nvSpPr>
          <p:spPr>
            <a:xfrm>
              <a:off x="2398950" y="2517642"/>
              <a:ext cx="725383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2" name="Shape 2228"/>
            <p:cNvSpPr txBox="1"/>
            <p:nvPr/>
          </p:nvSpPr>
          <p:spPr>
            <a:xfrm>
              <a:off x="2599483" y="2719181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684" name="二叉树不给出空树，扩展的二叉树用方框表示空树，方框叫做外部结点"/>
          <p:cNvSpPr txBox="1"/>
          <p:nvPr/>
        </p:nvSpPr>
        <p:spPr>
          <a:xfrm>
            <a:off x="146812" y="1175171"/>
            <a:ext cx="827469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7">
              <a:defRPr sz="2900"/>
            </a:pPr>
            <a:r>
              <a:t>扩展的二叉树用方框表示空树，方框叫做</a:t>
            </a:r>
            <a:r>
              <a:rPr>
                <a:solidFill>
                  <a:schemeClr val="accent1"/>
                </a:solidFill>
              </a:rPr>
              <a:t>外部结点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34"/>
          <p:cNvSpPr txBox="1"/>
          <p:nvPr/>
        </p:nvSpPr>
        <p:spPr>
          <a:xfrm>
            <a:off x="739821" y="1759935"/>
            <a:ext cx="102743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 性质 1 ：二叉树的第 i 层上至多有2</a:t>
            </a:r>
            <a:r>
              <a:rPr baseline="31998"/>
              <a:t>i</a:t>
            </a:r>
            <a:r>
              <a:t>个结点。(i≥0)</a:t>
            </a:r>
          </a:p>
        </p:txBody>
      </p:sp>
      <p:sp>
        <p:nvSpPr>
          <p:cNvPr id="687" name="Shape 635"/>
          <p:cNvSpPr txBox="1"/>
          <p:nvPr/>
        </p:nvSpPr>
        <p:spPr>
          <a:xfrm>
            <a:off x="349225" y="1067364"/>
            <a:ext cx="95377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二叉树具有以下五条重要性质：</a:t>
            </a:r>
          </a:p>
        </p:txBody>
      </p:sp>
      <p:sp>
        <p:nvSpPr>
          <p:cNvPr id="688" name="Shape 636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二叉树的特性</a:t>
            </a:r>
          </a:p>
        </p:txBody>
      </p:sp>
      <p:grpSp>
        <p:nvGrpSpPr>
          <p:cNvPr id="691" name="Group 689"/>
          <p:cNvGrpSpPr/>
          <p:nvPr/>
        </p:nvGrpSpPr>
        <p:grpSpPr>
          <a:xfrm>
            <a:off x="9588498" y="2158432"/>
            <a:ext cx="1833336" cy="1244605"/>
            <a:chOff x="0" y="-1"/>
            <a:chExt cx="1833335" cy="1244603"/>
          </a:xfrm>
        </p:grpSpPr>
        <p:sp>
          <p:nvSpPr>
            <p:cNvPr id="689" name="Shape 687"/>
            <p:cNvSpPr/>
            <p:nvPr/>
          </p:nvSpPr>
          <p:spPr>
            <a:xfrm>
              <a:off x="-1" y="-2"/>
              <a:ext cx="1833336" cy="1244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709" y="0"/>
                  </a:moveTo>
                  <a:lnTo>
                    <a:pt x="4709" y="14204"/>
                  </a:lnTo>
                  <a:lnTo>
                    <a:pt x="7524" y="14204"/>
                  </a:lnTo>
                  <a:lnTo>
                    <a:pt x="0" y="21600"/>
                  </a:lnTo>
                  <a:lnTo>
                    <a:pt x="11747" y="14204"/>
                  </a:lnTo>
                  <a:lnTo>
                    <a:pt x="21600" y="14204"/>
                  </a:lnTo>
                  <a:lnTo>
                    <a:pt x="21600" y="0"/>
                  </a:lnTo>
                  <a:lnTo>
                    <a:pt x="752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0" name="Shape 688"/>
            <p:cNvSpPr txBox="1"/>
            <p:nvPr/>
          </p:nvSpPr>
          <p:spPr>
            <a:xfrm>
              <a:off x="405553" y="-1"/>
              <a:ext cx="1422404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层号</a:t>
              </a:r>
            </a:p>
          </p:txBody>
        </p:sp>
      </p:grpSp>
      <p:grpSp>
        <p:nvGrpSpPr>
          <p:cNvPr id="740" name="成组"/>
          <p:cNvGrpSpPr/>
          <p:nvPr/>
        </p:nvGrpSpPr>
        <p:grpSpPr>
          <a:xfrm>
            <a:off x="2650911" y="3217895"/>
            <a:ext cx="7296579" cy="3708124"/>
            <a:chOff x="0" y="0"/>
            <a:chExt cx="7296577" cy="3708122"/>
          </a:xfrm>
        </p:grpSpPr>
        <p:sp>
          <p:nvSpPr>
            <p:cNvPr id="692" name="Shape 638"/>
            <p:cNvSpPr/>
            <p:nvPr/>
          </p:nvSpPr>
          <p:spPr>
            <a:xfrm>
              <a:off x="3416017" y="494453"/>
              <a:ext cx="1291452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3" name="Shape 639"/>
            <p:cNvSpPr/>
            <p:nvPr/>
          </p:nvSpPr>
          <p:spPr>
            <a:xfrm flipH="1">
              <a:off x="1889759" y="469617"/>
              <a:ext cx="1106314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4" name="Shape 640"/>
            <p:cNvSpPr/>
            <p:nvPr/>
          </p:nvSpPr>
          <p:spPr>
            <a:xfrm>
              <a:off x="1993617" y="1433688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5" name="Shape 641"/>
            <p:cNvSpPr/>
            <p:nvPr/>
          </p:nvSpPr>
          <p:spPr>
            <a:xfrm>
              <a:off x="869243" y="2456463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6" name="Shape 642"/>
            <p:cNvSpPr/>
            <p:nvPr/>
          </p:nvSpPr>
          <p:spPr>
            <a:xfrm>
              <a:off x="2862579" y="98776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7" name="Shape 643"/>
            <p:cNvSpPr/>
            <p:nvPr/>
          </p:nvSpPr>
          <p:spPr>
            <a:xfrm>
              <a:off x="1481102" y="964071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8" name="Shape 644"/>
            <p:cNvSpPr/>
            <p:nvPr/>
          </p:nvSpPr>
          <p:spPr>
            <a:xfrm>
              <a:off x="4284979" y="964071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9" name="Shape 645"/>
            <p:cNvSpPr/>
            <p:nvPr/>
          </p:nvSpPr>
          <p:spPr>
            <a:xfrm>
              <a:off x="501225" y="194394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0" name="Shape 646"/>
            <p:cNvSpPr/>
            <p:nvPr/>
          </p:nvSpPr>
          <p:spPr>
            <a:xfrm>
              <a:off x="2199075" y="194394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1" name="Shape 647"/>
            <p:cNvSpPr/>
            <p:nvPr/>
          </p:nvSpPr>
          <p:spPr>
            <a:xfrm>
              <a:off x="3705013" y="1943947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2" name="Shape 648"/>
            <p:cNvSpPr/>
            <p:nvPr/>
          </p:nvSpPr>
          <p:spPr>
            <a:xfrm>
              <a:off x="5231270" y="1943947"/>
              <a:ext cx="645730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3" name="Shape 649"/>
            <p:cNvSpPr/>
            <p:nvPr/>
          </p:nvSpPr>
          <p:spPr>
            <a:xfrm>
              <a:off x="-1" y="3134078"/>
              <a:ext cx="64346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4" name="Shape 650"/>
            <p:cNvSpPr/>
            <p:nvPr/>
          </p:nvSpPr>
          <p:spPr>
            <a:xfrm>
              <a:off x="1790417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5" name="Shape 651"/>
            <p:cNvSpPr/>
            <p:nvPr/>
          </p:nvSpPr>
          <p:spPr>
            <a:xfrm>
              <a:off x="2608579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6" name="Shape 652"/>
            <p:cNvSpPr/>
            <p:nvPr/>
          </p:nvSpPr>
          <p:spPr>
            <a:xfrm>
              <a:off x="3325706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7" name="Shape 653"/>
            <p:cNvSpPr txBox="1"/>
            <p:nvPr/>
          </p:nvSpPr>
          <p:spPr>
            <a:xfrm>
              <a:off x="2940342" y="16932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708" name="Shape 654"/>
            <p:cNvSpPr txBox="1"/>
            <p:nvPr/>
          </p:nvSpPr>
          <p:spPr>
            <a:xfrm>
              <a:off x="4329158" y="955604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709" name="Shape 655"/>
            <p:cNvSpPr txBox="1"/>
            <p:nvPr/>
          </p:nvSpPr>
          <p:spPr>
            <a:xfrm>
              <a:off x="5286209" y="1910079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710" name="Shape 656"/>
            <p:cNvSpPr txBox="1"/>
            <p:nvPr/>
          </p:nvSpPr>
          <p:spPr>
            <a:xfrm>
              <a:off x="1558581" y="930204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711" name="Shape 657"/>
            <p:cNvSpPr txBox="1"/>
            <p:nvPr/>
          </p:nvSpPr>
          <p:spPr>
            <a:xfrm>
              <a:off x="578706" y="1922779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712" name="Shape 658"/>
            <p:cNvSpPr txBox="1"/>
            <p:nvPr/>
          </p:nvSpPr>
          <p:spPr>
            <a:xfrm>
              <a:off x="2287121" y="1922779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713" name="Shape 659"/>
            <p:cNvSpPr txBox="1"/>
            <p:nvPr/>
          </p:nvSpPr>
          <p:spPr>
            <a:xfrm>
              <a:off x="3798227" y="1922779"/>
              <a:ext cx="435860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714" name="Shape 660"/>
            <p:cNvSpPr txBox="1"/>
            <p:nvPr/>
          </p:nvSpPr>
          <p:spPr>
            <a:xfrm>
              <a:off x="2669691" y="3117992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  <p:sp>
          <p:nvSpPr>
            <p:cNvPr id="715" name="Shape 661"/>
            <p:cNvSpPr txBox="1"/>
            <p:nvPr/>
          </p:nvSpPr>
          <p:spPr>
            <a:xfrm>
              <a:off x="3407632" y="3067192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  <p:sp>
          <p:nvSpPr>
            <p:cNvPr id="716" name="Shape 662"/>
            <p:cNvSpPr txBox="1"/>
            <p:nvPr/>
          </p:nvSpPr>
          <p:spPr>
            <a:xfrm>
              <a:off x="40789" y="3117992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717" name="Shape 663"/>
            <p:cNvSpPr txBox="1"/>
            <p:nvPr/>
          </p:nvSpPr>
          <p:spPr>
            <a:xfrm>
              <a:off x="1859360" y="3092592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718" name="Shape 664"/>
            <p:cNvSpPr/>
            <p:nvPr/>
          </p:nvSpPr>
          <p:spPr>
            <a:xfrm>
              <a:off x="869243" y="315947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9" name="Shape 665"/>
            <p:cNvSpPr txBox="1"/>
            <p:nvPr/>
          </p:nvSpPr>
          <p:spPr>
            <a:xfrm>
              <a:off x="1005180" y="3130692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720" name="Shape 666"/>
            <p:cNvSpPr/>
            <p:nvPr/>
          </p:nvSpPr>
          <p:spPr>
            <a:xfrm flipH="1">
              <a:off x="1072444" y="1433688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21" name="Shape 667"/>
            <p:cNvSpPr/>
            <p:nvPr/>
          </p:nvSpPr>
          <p:spPr>
            <a:xfrm flipH="1">
              <a:off x="4145279" y="1433688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22" name="Shape 668"/>
            <p:cNvSpPr/>
            <p:nvPr/>
          </p:nvSpPr>
          <p:spPr>
            <a:xfrm>
              <a:off x="4863254" y="1433688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23" name="Shape 669"/>
            <p:cNvSpPr/>
            <p:nvPr/>
          </p:nvSpPr>
          <p:spPr>
            <a:xfrm>
              <a:off x="4183662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4" name="Shape 670"/>
            <p:cNvSpPr txBox="1"/>
            <p:nvPr/>
          </p:nvSpPr>
          <p:spPr>
            <a:xfrm>
              <a:off x="4196707" y="3092592"/>
              <a:ext cx="57965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725" name="Shape 671"/>
            <p:cNvSpPr/>
            <p:nvPr/>
          </p:nvSpPr>
          <p:spPr>
            <a:xfrm>
              <a:off x="4869179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6" name="Shape 672"/>
            <p:cNvSpPr txBox="1"/>
            <p:nvPr/>
          </p:nvSpPr>
          <p:spPr>
            <a:xfrm>
              <a:off x="4920414" y="3067192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N</a:t>
              </a:r>
            </a:p>
          </p:txBody>
        </p:sp>
        <p:sp>
          <p:nvSpPr>
            <p:cNvPr id="727" name="Shape 673"/>
            <p:cNvSpPr/>
            <p:nvPr/>
          </p:nvSpPr>
          <p:spPr>
            <a:xfrm>
              <a:off x="5685085" y="313605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8" name="Shape 674"/>
            <p:cNvSpPr txBox="1"/>
            <p:nvPr/>
          </p:nvSpPr>
          <p:spPr>
            <a:xfrm>
              <a:off x="5761754" y="3105292"/>
              <a:ext cx="50796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O</a:t>
              </a:r>
            </a:p>
          </p:txBody>
        </p:sp>
        <p:sp>
          <p:nvSpPr>
            <p:cNvPr id="729" name="Shape 675"/>
            <p:cNvSpPr/>
            <p:nvPr/>
          </p:nvSpPr>
          <p:spPr>
            <a:xfrm>
              <a:off x="2608579" y="2456463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0" name="Shape 676"/>
            <p:cNvSpPr/>
            <p:nvPr/>
          </p:nvSpPr>
          <p:spPr>
            <a:xfrm>
              <a:off x="4145279" y="2456463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1" name="Shape 677"/>
            <p:cNvSpPr/>
            <p:nvPr/>
          </p:nvSpPr>
          <p:spPr>
            <a:xfrm>
              <a:off x="5681980" y="2456463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2" name="Shape 678"/>
            <p:cNvSpPr/>
            <p:nvPr/>
          </p:nvSpPr>
          <p:spPr>
            <a:xfrm flipH="1">
              <a:off x="356727" y="2456463"/>
              <a:ext cx="408662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3" name="Shape 679"/>
            <p:cNvSpPr/>
            <p:nvPr/>
          </p:nvSpPr>
          <p:spPr>
            <a:xfrm flipH="1">
              <a:off x="2097475" y="2456463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4" name="Shape 680"/>
            <p:cNvSpPr/>
            <p:nvPr/>
          </p:nvSpPr>
          <p:spPr>
            <a:xfrm flipH="1">
              <a:off x="3535679" y="2456463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5" name="Shape 681"/>
            <p:cNvSpPr/>
            <p:nvPr/>
          </p:nvSpPr>
          <p:spPr>
            <a:xfrm flipH="1">
              <a:off x="5170311" y="2456463"/>
              <a:ext cx="408660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36" name="Shape 682"/>
            <p:cNvSpPr txBox="1"/>
            <p:nvPr/>
          </p:nvSpPr>
          <p:spPr>
            <a:xfrm>
              <a:off x="6559975" y="-1"/>
              <a:ext cx="7366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37" name="Shape 683"/>
            <p:cNvSpPr txBox="1"/>
            <p:nvPr/>
          </p:nvSpPr>
          <p:spPr>
            <a:xfrm>
              <a:off x="6559975" y="1013742"/>
              <a:ext cx="7366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38" name="Shape 684"/>
            <p:cNvSpPr txBox="1"/>
            <p:nvPr/>
          </p:nvSpPr>
          <p:spPr>
            <a:xfrm>
              <a:off x="6559975" y="1934916"/>
              <a:ext cx="736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39" name="Shape 685"/>
            <p:cNvSpPr txBox="1"/>
            <p:nvPr/>
          </p:nvSpPr>
          <p:spPr>
            <a:xfrm>
              <a:off x="6559975" y="3061547"/>
              <a:ext cx="7366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692"/>
          <p:cNvSpPr txBox="1"/>
          <p:nvPr/>
        </p:nvSpPr>
        <p:spPr>
          <a:xfrm>
            <a:off x="3427588" y="2140935"/>
            <a:ext cx="6718303" cy="1184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i = 0 时，只有一个根结点，满足                   </a:t>
            </a:r>
            <a:endParaRPr b="1">
              <a:uFill>
                <a:solidFill>
                  <a:srgbClr val="000000"/>
                </a:solidFill>
              </a:uFill>
            </a:endParaRPr>
          </a:p>
          <a:p>
            <a:pPr/>
            <a:r>
              <a:t>                 2</a:t>
            </a:r>
            <a:r>
              <a:rPr baseline="31998"/>
              <a:t>i</a:t>
            </a:r>
            <a:r>
              <a:t> = 2</a:t>
            </a:r>
            <a:r>
              <a:rPr baseline="31998"/>
              <a:t>0 </a:t>
            </a:r>
            <a:r>
              <a:t>= 1；</a:t>
            </a:r>
          </a:p>
        </p:txBody>
      </p:sp>
      <p:sp>
        <p:nvSpPr>
          <p:cNvPr id="743" name="Shape 693"/>
          <p:cNvSpPr txBox="1"/>
          <p:nvPr/>
        </p:nvSpPr>
        <p:spPr>
          <a:xfrm>
            <a:off x="3429565" y="4127782"/>
            <a:ext cx="530703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假设第i-1层上至多有2</a:t>
            </a:r>
            <a:r>
              <a:rPr baseline="31998"/>
              <a:t>i-1</a:t>
            </a:r>
            <a:r>
              <a:t>个结点;</a:t>
            </a:r>
          </a:p>
        </p:txBody>
      </p:sp>
      <p:sp>
        <p:nvSpPr>
          <p:cNvPr id="744" name="Shape 694"/>
          <p:cNvSpPr txBox="1"/>
          <p:nvPr/>
        </p:nvSpPr>
        <p:spPr>
          <a:xfrm>
            <a:off x="3431821" y="5231834"/>
            <a:ext cx="9029703" cy="118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二叉树上每个结点至多有两棵子树，则第 i 层的结点数 = 2</a:t>
            </a:r>
            <a:r>
              <a:rPr baseline="31998"/>
              <a:t>i-1</a:t>
            </a:r>
            <a:r>
              <a:t> × 2 = 2</a:t>
            </a:r>
            <a:r>
              <a:rPr baseline="31998"/>
              <a:t>i</a:t>
            </a:r>
            <a:r>
              <a:t> 。</a:t>
            </a:r>
          </a:p>
        </p:txBody>
      </p:sp>
      <p:sp>
        <p:nvSpPr>
          <p:cNvPr id="745" name="Shape 695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二叉树的特性</a:t>
            </a:r>
          </a:p>
        </p:txBody>
      </p:sp>
      <p:sp>
        <p:nvSpPr>
          <p:cNvPr id="746" name="Shape 696"/>
          <p:cNvSpPr txBox="1"/>
          <p:nvPr/>
        </p:nvSpPr>
        <p:spPr>
          <a:xfrm>
            <a:off x="673100" y="1155700"/>
            <a:ext cx="24003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用归纳法证明</a:t>
            </a:r>
          </a:p>
        </p:txBody>
      </p:sp>
      <p:sp>
        <p:nvSpPr>
          <p:cNvPr id="747" name="Shape 697"/>
          <p:cNvSpPr txBox="1"/>
          <p:nvPr/>
        </p:nvSpPr>
        <p:spPr>
          <a:xfrm>
            <a:off x="889000" y="2209800"/>
            <a:ext cx="20193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归纳基础：</a:t>
            </a:r>
          </a:p>
        </p:txBody>
      </p:sp>
      <p:sp>
        <p:nvSpPr>
          <p:cNvPr id="748" name="Shape 698"/>
          <p:cNvSpPr txBox="1"/>
          <p:nvPr/>
        </p:nvSpPr>
        <p:spPr>
          <a:xfrm>
            <a:off x="889000" y="4140200"/>
            <a:ext cx="20193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归纳假设：</a:t>
            </a:r>
          </a:p>
        </p:txBody>
      </p:sp>
      <p:sp>
        <p:nvSpPr>
          <p:cNvPr id="749" name="Shape 699"/>
          <p:cNvSpPr txBox="1"/>
          <p:nvPr/>
        </p:nvSpPr>
        <p:spPr>
          <a:xfrm>
            <a:off x="889000" y="5168900"/>
            <a:ext cx="12573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归纳：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01"/>
          <p:cNvSpPr txBox="1"/>
          <p:nvPr/>
        </p:nvSpPr>
        <p:spPr>
          <a:xfrm>
            <a:off x="621012" y="1209153"/>
            <a:ext cx="113919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性质 2 ：深度为 k 的二叉树上至多含 2</a:t>
            </a:r>
            <a:r>
              <a:rPr baseline="31998"/>
              <a:t>k </a:t>
            </a:r>
            <a:r>
              <a:t>- 1 个结点（k≥0）</a:t>
            </a:r>
          </a:p>
        </p:txBody>
      </p:sp>
      <p:sp>
        <p:nvSpPr>
          <p:cNvPr id="752" name="Shape 70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二叉树的特性</a:t>
            </a:r>
          </a:p>
        </p:txBody>
      </p:sp>
      <p:sp>
        <p:nvSpPr>
          <p:cNvPr id="753" name="Shape 704"/>
          <p:cNvSpPr txBox="1"/>
          <p:nvPr/>
        </p:nvSpPr>
        <p:spPr>
          <a:xfrm>
            <a:off x="688645" y="3276995"/>
            <a:ext cx="1257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证明：</a:t>
            </a:r>
          </a:p>
        </p:txBody>
      </p:sp>
      <p:sp>
        <p:nvSpPr>
          <p:cNvPr id="754" name="Shape 705"/>
          <p:cNvSpPr txBox="1"/>
          <p:nvPr/>
        </p:nvSpPr>
        <p:spPr>
          <a:xfrm>
            <a:off x="3019802" y="6586898"/>
            <a:ext cx="8483601" cy="548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≤ 2</a:t>
            </a:r>
            <a:r>
              <a:rPr baseline="31998"/>
              <a:t>0</a:t>
            </a:r>
            <a:r>
              <a:t>+2</a:t>
            </a:r>
            <a:r>
              <a:rPr baseline="31998"/>
              <a:t>1</a:t>
            </a:r>
            <a:r>
              <a:t>+ ⋅ ⋅ ⋅ ⋅ ⋅ ⋅ +2</a:t>
            </a:r>
            <a:r>
              <a:rPr baseline="31998"/>
              <a:t>k-1</a:t>
            </a:r>
            <a:r>
              <a:t>= 2</a:t>
            </a:r>
            <a:r>
              <a:rPr baseline="31998"/>
              <a:t>k </a:t>
            </a:r>
            <a:r>
              <a:t>- 1 </a:t>
            </a:r>
          </a:p>
        </p:txBody>
      </p:sp>
      <p:sp>
        <p:nvSpPr>
          <p:cNvPr id="755" name="Shape 706"/>
          <p:cNvSpPr txBox="1"/>
          <p:nvPr/>
        </p:nvSpPr>
        <p:spPr>
          <a:xfrm>
            <a:off x="3014156" y="3405689"/>
            <a:ext cx="179450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第0层: ≤2</a:t>
            </a:r>
            <a:r>
              <a:rPr baseline="31998"/>
              <a:t>0</a:t>
            </a:r>
          </a:p>
        </p:txBody>
      </p:sp>
      <p:sp>
        <p:nvSpPr>
          <p:cNvPr id="756" name="Shape 707"/>
          <p:cNvSpPr txBox="1"/>
          <p:nvPr/>
        </p:nvSpPr>
        <p:spPr>
          <a:xfrm>
            <a:off x="3014156" y="4101084"/>
            <a:ext cx="179450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第1层: ≤2</a:t>
            </a:r>
            <a:r>
              <a:rPr baseline="31998"/>
              <a:t>1</a:t>
            </a:r>
          </a:p>
        </p:txBody>
      </p:sp>
      <p:sp>
        <p:nvSpPr>
          <p:cNvPr id="757" name="Shape 708"/>
          <p:cNvSpPr txBox="1"/>
          <p:nvPr/>
        </p:nvSpPr>
        <p:spPr>
          <a:xfrm>
            <a:off x="3014156" y="4846152"/>
            <a:ext cx="876301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……</a:t>
            </a:r>
          </a:p>
        </p:txBody>
      </p:sp>
      <p:sp>
        <p:nvSpPr>
          <p:cNvPr id="758" name="Shape 709"/>
          <p:cNvSpPr txBox="1"/>
          <p:nvPr/>
        </p:nvSpPr>
        <p:spPr>
          <a:xfrm>
            <a:off x="3014156" y="5740232"/>
            <a:ext cx="232346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第k-1层: ≤2</a:t>
            </a:r>
            <a:r>
              <a:rPr baseline="31998"/>
              <a:t>k-1</a:t>
            </a:r>
          </a:p>
        </p:txBody>
      </p:sp>
      <p:sp>
        <p:nvSpPr>
          <p:cNvPr id="759" name="深度为k，即有k-1层"/>
          <p:cNvSpPr txBox="1"/>
          <p:nvPr/>
        </p:nvSpPr>
        <p:spPr>
          <a:xfrm>
            <a:off x="646266" y="2066064"/>
            <a:ext cx="347967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深度为k，即有k-1层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55" grpId="1"/>
      <p:bldP build="whole" bldLvl="1" animBg="1" rev="0" advAuto="0" spid="757" grpId="3"/>
      <p:bldP build="whole" bldLvl="1" animBg="1" rev="0" advAuto="0" spid="758" grpId="4"/>
      <p:bldP build="whole" bldLvl="1" animBg="1" rev="0" advAuto="0" spid="756" grpId="2"/>
      <p:bldP build="whole" bldLvl="1" animBg="1" rev="0" advAuto="0" spid="754" grpId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hape 712"/>
          <p:cNvSpPr txBox="1"/>
          <p:nvPr/>
        </p:nvSpPr>
        <p:spPr>
          <a:xfrm>
            <a:off x="457434" y="1203282"/>
            <a:ext cx="11938004" cy="1184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性质 3 ：任何一棵二叉树，若它含有n</a:t>
            </a:r>
            <a:r>
              <a:rPr baseline="-5997"/>
              <a:t>0</a:t>
            </a:r>
            <a:r>
              <a:t>个叶子结点、n</a:t>
            </a:r>
            <a:r>
              <a:rPr baseline="-5997"/>
              <a:t>2</a:t>
            </a:r>
            <a:r>
              <a:t> 个度为 2 的</a:t>
            </a:r>
          </a:p>
          <a:p>
            <a:pPr/>
            <a:r>
              <a:t>               结点，则必存在关系式：n</a:t>
            </a:r>
            <a:r>
              <a:rPr baseline="-5997"/>
              <a:t>0 </a:t>
            </a:r>
            <a:r>
              <a:t>= n</a:t>
            </a:r>
            <a:r>
              <a:rPr baseline="-5997"/>
              <a:t>2</a:t>
            </a:r>
            <a:r>
              <a:t> + 1</a:t>
            </a:r>
          </a:p>
        </p:txBody>
      </p:sp>
      <p:sp>
        <p:nvSpPr>
          <p:cNvPr id="762" name="Shape 713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二叉树的特性</a:t>
            </a:r>
          </a:p>
        </p:txBody>
      </p:sp>
      <p:grpSp>
        <p:nvGrpSpPr>
          <p:cNvPr id="792" name="成组"/>
          <p:cNvGrpSpPr/>
          <p:nvPr/>
        </p:nvGrpSpPr>
        <p:grpSpPr>
          <a:xfrm>
            <a:off x="7013176" y="5121494"/>
            <a:ext cx="5877001" cy="3691190"/>
            <a:chOff x="0" y="0"/>
            <a:chExt cx="5876999" cy="3691188"/>
          </a:xfrm>
        </p:grpSpPr>
        <p:sp>
          <p:nvSpPr>
            <p:cNvPr id="763" name="Shape 638"/>
            <p:cNvSpPr/>
            <p:nvPr/>
          </p:nvSpPr>
          <p:spPr>
            <a:xfrm>
              <a:off x="3416017" y="477519"/>
              <a:ext cx="1291452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64" name="Shape 639"/>
            <p:cNvSpPr/>
            <p:nvPr/>
          </p:nvSpPr>
          <p:spPr>
            <a:xfrm flipH="1">
              <a:off x="1889759" y="452684"/>
              <a:ext cx="1106314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65" name="Shape 640"/>
            <p:cNvSpPr/>
            <p:nvPr/>
          </p:nvSpPr>
          <p:spPr>
            <a:xfrm>
              <a:off x="1993617" y="1416755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66" name="Shape 641"/>
            <p:cNvSpPr/>
            <p:nvPr/>
          </p:nvSpPr>
          <p:spPr>
            <a:xfrm>
              <a:off x="869243" y="2439529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67" name="Shape 642"/>
            <p:cNvSpPr/>
            <p:nvPr/>
          </p:nvSpPr>
          <p:spPr>
            <a:xfrm>
              <a:off x="2862579" y="81844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68" name="Shape 643"/>
            <p:cNvSpPr/>
            <p:nvPr/>
          </p:nvSpPr>
          <p:spPr>
            <a:xfrm>
              <a:off x="1481102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69" name="Shape 644"/>
            <p:cNvSpPr/>
            <p:nvPr/>
          </p:nvSpPr>
          <p:spPr>
            <a:xfrm>
              <a:off x="4284980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0" name="Shape 645"/>
            <p:cNvSpPr/>
            <p:nvPr/>
          </p:nvSpPr>
          <p:spPr>
            <a:xfrm>
              <a:off x="50122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1" name="Shape 646"/>
            <p:cNvSpPr/>
            <p:nvPr/>
          </p:nvSpPr>
          <p:spPr>
            <a:xfrm>
              <a:off x="219907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2" name="Shape 647"/>
            <p:cNvSpPr/>
            <p:nvPr/>
          </p:nvSpPr>
          <p:spPr>
            <a:xfrm>
              <a:off x="3705014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3" name="Shape 648"/>
            <p:cNvSpPr/>
            <p:nvPr/>
          </p:nvSpPr>
          <p:spPr>
            <a:xfrm>
              <a:off x="5231271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4" name="Shape 649"/>
            <p:cNvSpPr/>
            <p:nvPr/>
          </p:nvSpPr>
          <p:spPr>
            <a:xfrm>
              <a:off x="0" y="3117145"/>
              <a:ext cx="64346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5" name="Shape 650"/>
            <p:cNvSpPr/>
            <p:nvPr/>
          </p:nvSpPr>
          <p:spPr>
            <a:xfrm>
              <a:off x="1790417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6" name="Shape 653"/>
            <p:cNvSpPr txBox="1"/>
            <p:nvPr/>
          </p:nvSpPr>
          <p:spPr>
            <a:xfrm>
              <a:off x="2940343" y="-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777" name="Shape 654"/>
            <p:cNvSpPr txBox="1"/>
            <p:nvPr/>
          </p:nvSpPr>
          <p:spPr>
            <a:xfrm>
              <a:off x="4329159" y="9386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778" name="Shape 655"/>
            <p:cNvSpPr txBox="1"/>
            <p:nvPr/>
          </p:nvSpPr>
          <p:spPr>
            <a:xfrm>
              <a:off x="5286210" y="1893146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779" name="Shape 656"/>
            <p:cNvSpPr txBox="1"/>
            <p:nvPr/>
          </p:nvSpPr>
          <p:spPr>
            <a:xfrm>
              <a:off x="1558581" y="9132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780" name="Shape 657"/>
            <p:cNvSpPr txBox="1"/>
            <p:nvPr/>
          </p:nvSpPr>
          <p:spPr>
            <a:xfrm>
              <a:off x="578706" y="1905846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781" name="Shape 658"/>
            <p:cNvSpPr txBox="1"/>
            <p:nvPr/>
          </p:nvSpPr>
          <p:spPr>
            <a:xfrm>
              <a:off x="2287121" y="1905846"/>
              <a:ext cx="46010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782" name="Shape 659"/>
            <p:cNvSpPr txBox="1"/>
            <p:nvPr/>
          </p:nvSpPr>
          <p:spPr>
            <a:xfrm>
              <a:off x="3798228" y="1905846"/>
              <a:ext cx="43585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783" name="Shape 662"/>
            <p:cNvSpPr txBox="1"/>
            <p:nvPr/>
          </p:nvSpPr>
          <p:spPr>
            <a:xfrm>
              <a:off x="40790" y="3101058"/>
              <a:ext cx="50796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784" name="Shape 663"/>
            <p:cNvSpPr txBox="1"/>
            <p:nvPr/>
          </p:nvSpPr>
          <p:spPr>
            <a:xfrm>
              <a:off x="1859360" y="3075658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785" name="Shape 664"/>
            <p:cNvSpPr/>
            <p:nvPr/>
          </p:nvSpPr>
          <p:spPr>
            <a:xfrm>
              <a:off x="869243" y="3142545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6" name="Shape 665"/>
            <p:cNvSpPr txBox="1"/>
            <p:nvPr/>
          </p:nvSpPr>
          <p:spPr>
            <a:xfrm>
              <a:off x="1005180" y="3113758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787" name="Shape 666"/>
            <p:cNvSpPr/>
            <p:nvPr/>
          </p:nvSpPr>
          <p:spPr>
            <a:xfrm flipH="1">
              <a:off x="1072444" y="1416755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88" name="Shape 667"/>
            <p:cNvSpPr/>
            <p:nvPr/>
          </p:nvSpPr>
          <p:spPr>
            <a:xfrm flipH="1">
              <a:off x="4145280" y="1416755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89" name="Shape 668"/>
            <p:cNvSpPr/>
            <p:nvPr/>
          </p:nvSpPr>
          <p:spPr>
            <a:xfrm>
              <a:off x="4863254" y="1416755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90" name="Shape 678"/>
            <p:cNvSpPr/>
            <p:nvPr/>
          </p:nvSpPr>
          <p:spPr>
            <a:xfrm flipH="1">
              <a:off x="356727" y="2439529"/>
              <a:ext cx="408662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91" name="Shape 679"/>
            <p:cNvSpPr/>
            <p:nvPr/>
          </p:nvSpPr>
          <p:spPr>
            <a:xfrm flipH="1">
              <a:off x="2097475" y="2439529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793" name="Shape 759"/>
          <p:cNvSpPr txBox="1"/>
          <p:nvPr/>
        </p:nvSpPr>
        <p:spPr>
          <a:xfrm>
            <a:off x="398520" y="3400461"/>
            <a:ext cx="112903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设二叉树上边数为b ，由树的性质：b = n - 1</a:t>
            </a:r>
          </a:p>
        </p:txBody>
      </p:sp>
      <p:sp>
        <p:nvSpPr>
          <p:cNvPr id="794" name="Shape 760"/>
          <p:cNvSpPr txBox="1"/>
          <p:nvPr/>
        </p:nvSpPr>
        <p:spPr>
          <a:xfrm>
            <a:off x="345200" y="4416836"/>
            <a:ext cx="1221075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又因为度为1的点引出一条边度为2的点引出2条边，所以：b = n</a:t>
            </a:r>
            <a:r>
              <a:rPr baseline="-5997"/>
              <a:t>1</a:t>
            </a:r>
            <a:r>
              <a:t> + 2n</a:t>
            </a:r>
            <a:r>
              <a:rPr baseline="-5997"/>
              <a:t>2</a:t>
            </a:r>
          </a:p>
        </p:txBody>
      </p:sp>
      <p:sp>
        <p:nvSpPr>
          <p:cNvPr id="795" name="Shape 801"/>
          <p:cNvSpPr txBox="1"/>
          <p:nvPr/>
        </p:nvSpPr>
        <p:spPr>
          <a:xfrm>
            <a:off x="400777" y="5433211"/>
            <a:ext cx="64643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所以：n = n</a:t>
            </a:r>
            <a:r>
              <a:rPr baseline="-5997"/>
              <a:t>1</a:t>
            </a:r>
            <a:r>
              <a:t> + 2n</a:t>
            </a:r>
            <a:r>
              <a:rPr baseline="-5997"/>
              <a:t>2</a:t>
            </a:r>
            <a:r>
              <a:t>  + 1  公式(2)</a:t>
            </a:r>
          </a:p>
        </p:txBody>
      </p:sp>
      <p:sp>
        <p:nvSpPr>
          <p:cNvPr id="796" name="Shape 715"/>
          <p:cNvSpPr txBox="1"/>
          <p:nvPr/>
        </p:nvSpPr>
        <p:spPr>
          <a:xfrm>
            <a:off x="430334" y="2494716"/>
            <a:ext cx="1257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证明：</a:t>
            </a:r>
          </a:p>
        </p:txBody>
      </p:sp>
      <p:sp>
        <p:nvSpPr>
          <p:cNvPr id="797" name="Shape 716"/>
          <p:cNvSpPr txBox="1"/>
          <p:nvPr/>
        </p:nvSpPr>
        <p:spPr>
          <a:xfrm>
            <a:off x="1660616" y="2512216"/>
            <a:ext cx="100584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设 二叉树上结点总数 n = n</a:t>
            </a:r>
            <a:r>
              <a:rPr baseline="-5997"/>
              <a:t>0</a:t>
            </a:r>
            <a:r>
              <a:t> + n</a:t>
            </a:r>
            <a:r>
              <a:rPr baseline="-5997"/>
              <a:t>1</a:t>
            </a:r>
            <a:r>
              <a:t> + n</a:t>
            </a:r>
            <a:r>
              <a:rPr baseline="-5997"/>
              <a:t>2</a:t>
            </a:r>
            <a:r>
              <a:t>      公式(1)</a:t>
            </a:r>
          </a:p>
        </p:txBody>
      </p:sp>
      <p:sp>
        <p:nvSpPr>
          <p:cNvPr id="798" name="Shape 804"/>
          <p:cNvSpPr txBox="1"/>
          <p:nvPr/>
        </p:nvSpPr>
        <p:spPr>
          <a:xfrm>
            <a:off x="296920" y="6321456"/>
            <a:ext cx="11493504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由式1和2得到：n</a:t>
            </a:r>
            <a:r>
              <a:rPr baseline="-5997"/>
              <a:t>0</a:t>
            </a:r>
            <a:r>
              <a:t>+ n</a:t>
            </a:r>
            <a:r>
              <a:rPr baseline="-5997"/>
              <a:t>1</a:t>
            </a:r>
            <a:r>
              <a:t> + n</a:t>
            </a:r>
            <a:r>
              <a:rPr baseline="-5997"/>
              <a:t>2 </a:t>
            </a:r>
            <a:r>
              <a:t>= n</a:t>
            </a:r>
            <a:r>
              <a:rPr baseline="-5997"/>
              <a:t>1</a:t>
            </a:r>
            <a:r>
              <a:t> + 2n</a:t>
            </a:r>
            <a:r>
              <a:rPr baseline="-5997"/>
              <a:t>2 </a:t>
            </a:r>
            <a:r>
              <a:t>+ 1</a:t>
            </a:r>
            <a:endParaRPr b="1">
              <a:uFill>
                <a:solidFill>
                  <a:srgbClr val="000000"/>
                </a:solidFill>
              </a:uFill>
            </a:endParaRPr>
          </a:p>
          <a:p>
            <a:pPr/>
            <a:r>
              <a:t>整理后  n</a:t>
            </a:r>
            <a:r>
              <a:rPr baseline="-5997"/>
              <a:t>0 </a:t>
            </a:r>
            <a:r>
              <a:t>= n</a:t>
            </a:r>
            <a:r>
              <a:rPr baseline="-5997"/>
              <a:t>2</a:t>
            </a:r>
            <a:r>
              <a:t> + 1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798" grpId="4"/>
      <p:bldP build="whole" bldLvl="1" animBg="1" rev="0" advAuto="0" spid="794" grpId="2"/>
      <p:bldP build="p" bldLvl="5" animBg="1" rev="0" advAuto="0" spid="793" grpId="1"/>
      <p:bldP build="whole" bldLvl="1" animBg="1" rev="0" advAuto="0" spid="795" grpId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71"/>
          <p:cNvSpPr txBox="1"/>
          <p:nvPr/>
        </p:nvSpPr>
        <p:spPr>
          <a:xfrm>
            <a:off x="212688" y="1156264"/>
            <a:ext cx="12534269" cy="307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2700"/>
            </a:pPr>
            <a:r>
              <a:t>给定n个(n≥0)结点，如何能得到深度最小的二叉树？</a:t>
            </a:r>
          </a:p>
          <a:p>
            <a:pPr lvl="1" marL="909051" indent="-401051">
              <a:buSzPct val="100000"/>
              <a:buAutoNum type="arabicPeriod" startAt="1"/>
              <a:defRPr sz="2700"/>
            </a:pPr>
            <a:r>
              <a:t>先把第0层填满</a:t>
            </a:r>
          </a:p>
          <a:p>
            <a:pPr lvl="1" marL="909051" indent="-401051">
              <a:buSzPct val="100000"/>
              <a:buAutoNum type="arabicPeriod" startAt="1"/>
              <a:defRPr sz="2700"/>
            </a:pPr>
            <a:r>
              <a:t>如果还有余下的结点，则把第1层填满</a:t>
            </a:r>
          </a:p>
          <a:p>
            <a:pPr lvl="1" marL="909051" indent="-401051">
              <a:buSzPct val="100000"/>
              <a:buAutoNum type="arabicPeriod" startAt="1"/>
              <a:defRPr sz="2700"/>
            </a:pPr>
            <a:r>
              <a:t>如果还有余下的结点，则把第2层填满</a:t>
            </a:r>
          </a:p>
          <a:p>
            <a:pPr lvl="1" marL="909051" indent="-401051">
              <a:buSzPct val="100000"/>
              <a:buAutoNum type="arabicPeriod" startAt="1"/>
              <a:defRPr sz="2700"/>
            </a:pPr>
            <a:r>
              <a:t>...，依次类推。</a:t>
            </a:r>
          </a:p>
          <a:p>
            <a:pPr lvl="1" marL="909051" indent="-401051">
              <a:buSzPct val="100000"/>
              <a:buAutoNum type="arabicPeriod" startAt="1"/>
              <a:defRPr sz="2700"/>
            </a:pPr>
            <a:r>
              <a:t>填最后一层，按照从左往右的次序填，并且中间没有空隙</a:t>
            </a:r>
          </a:p>
        </p:txBody>
      </p:sp>
      <p:sp>
        <p:nvSpPr>
          <p:cNvPr id="801" name="Shape 95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完全二叉树(complete binary tree)</a:t>
            </a:r>
          </a:p>
        </p:txBody>
      </p:sp>
      <p:grpSp>
        <p:nvGrpSpPr>
          <p:cNvPr id="831" name="成组"/>
          <p:cNvGrpSpPr/>
          <p:nvPr/>
        </p:nvGrpSpPr>
        <p:grpSpPr>
          <a:xfrm>
            <a:off x="432160" y="4245581"/>
            <a:ext cx="5877000" cy="3691190"/>
            <a:chOff x="0" y="0"/>
            <a:chExt cx="5876999" cy="3691189"/>
          </a:xfrm>
        </p:grpSpPr>
        <p:sp>
          <p:nvSpPr>
            <p:cNvPr id="802" name="Shape 667"/>
            <p:cNvSpPr/>
            <p:nvPr/>
          </p:nvSpPr>
          <p:spPr>
            <a:xfrm flipH="1">
              <a:off x="4145279" y="1416755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3" name="Shape 678"/>
            <p:cNvSpPr/>
            <p:nvPr/>
          </p:nvSpPr>
          <p:spPr>
            <a:xfrm flipH="1">
              <a:off x="356727" y="2439530"/>
              <a:ext cx="408662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4" name="Shape 679"/>
            <p:cNvSpPr/>
            <p:nvPr/>
          </p:nvSpPr>
          <p:spPr>
            <a:xfrm flipH="1">
              <a:off x="2097475" y="2439530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5" name="Shape 638"/>
            <p:cNvSpPr/>
            <p:nvPr/>
          </p:nvSpPr>
          <p:spPr>
            <a:xfrm>
              <a:off x="3416017" y="477520"/>
              <a:ext cx="1291452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6" name="Shape 639"/>
            <p:cNvSpPr/>
            <p:nvPr/>
          </p:nvSpPr>
          <p:spPr>
            <a:xfrm flipH="1">
              <a:off x="1889759" y="452684"/>
              <a:ext cx="1106314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7" name="Shape 640"/>
            <p:cNvSpPr/>
            <p:nvPr/>
          </p:nvSpPr>
          <p:spPr>
            <a:xfrm>
              <a:off x="1993617" y="1416755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8" name="Shape 641"/>
            <p:cNvSpPr/>
            <p:nvPr/>
          </p:nvSpPr>
          <p:spPr>
            <a:xfrm>
              <a:off x="869243" y="2439530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09" name="Shape 642"/>
            <p:cNvSpPr/>
            <p:nvPr/>
          </p:nvSpPr>
          <p:spPr>
            <a:xfrm>
              <a:off x="2862579" y="8184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0" name="Shape 643"/>
            <p:cNvSpPr/>
            <p:nvPr/>
          </p:nvSpPr>
          <p:spPr>
            <a:xfrm>
              <a:off x="1481102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1" name="Shape 644"/>
            <p:cNvSpPr/>
            <p:nvPr/>
          </p:nvSpPr>
          <p:spPr>
            <a:xfrm>
              <a:off x="4284979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2" name="Shape 645"/>
            <p:cNvSpPr/>
            <p:nvPr/>
          </p:nvSpPr>
          <p:spPr>
            <a:xfrm>
              <a:off x="50122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3" name="Shape 646"/>
            <p:cNvSpPr/>
            <p:nvPr/>
          </p:nvSpPr>
          <p:spPr>
            <a:xfrm>
              <a:off x="219907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4" name="Shape 647"/>
            <p:cNvSpPr/>
            <p:nvPr/>
          </p:nvSpPr>
          <p:spPr>
            <a:xfrm>
              <a:off x="3705013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5" name="Shape 648"/>
            <p:cNvSpPr/>
            <p:nvPr/>
          </p:nvSpPr>
          <p:spPr>
            <a:xfrm>
              <a:off x="5231270" y="1927013"/>
              <a:ext cx="645730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6" name="Shape 649"/>
            <p:cNvSpPr/>
            <p:nvPr/>
          </p:nvSpPr>
          <p:spPr>
            <a:xfrm>
              <a:off x="-1" y="3117145"/>
              <a:ext cx="64346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7" name="Shape 650"/>
            <p:cNvSpPr/>
            <p:nvPr/>
          </p:nvSpPr>
          <p:spPr>
            <a:xfrm>
              <a:off x="1790417" y="3119121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8" name="Shape 653"/>
            <p:cNvSpPr txBox="1"/>
            <p:nvPr/>
          </p:nvSpPr>
          <p:spPr>
            <a:xfrm>
              <a:off x="2940342" y="0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19" name="Shape 654"/>
            <p:cNvSpPr txBox="1"/>
            <p:nvPr/>
          </p:nvSpPr>
          <p:spPr>
            <a:xfrm>
              <a:off x="4329159" y="9386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20" name="Shape 655"/>
            <p:cNvSpPr txBox="1"/>
            <p:nvPr/>
          </p:nvSpPr>
          <p:spPr>
            <a:xfrm>
              <a:off x="5286209" y="1893147"/>
              <a:ext cx="507967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21" name="Shape 656"/>
            <p:cNvSpPr txBox="1"/>
            <p:nvPr/>
          </p:nvSpPr>
          <p:spPr>
            <a:xfrm>
              <a:off x="1558581" y="9132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22" name="Shape 657"/>
            <p:cNvSpPr txBox="1"/>
            <p:nvPr/>
          </p:nvSpPr>
          <p:spPr>
            <a:xfrm>
              <a:off x="578706" y="1905847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23" name="Shape 658"/>
            <p:cNvSpPr txBox="1"/>
            <p:nvPr/>
          </p:nvSpPr>
          <p:spPr>
            <a:xfrm>
              <a:off x="2287121" y="1905847"/>
              <a:ext cx="460106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824" name="Shape 659"/>
            <p:cNvSpPr txBox="1"/>
            <p:nvPr/>
          </p:nvSpPr>
          <p:spPr>
            <a:xfrm>
              <a:off x="3798227" y="1905847"/>
              <a:ext cx="435860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825" name="Shape 662"/>
            <p:cNvSpPr txBox="1"/>
            <p:nvPr/>
          </p:nvSpPr>
          <p:spPr>
            <a:xfrm>
              <a:off x="40789" y="3101059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26" name="Shape 663"/>
            <p:cNvSpPr txBox="1"/>
            <p:nvPr/>
          </p:nvSpPr>
          <p:spPr>
            <a:xfrm>
              <a:off x="1859360" y="3075659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827" name="Shape 664"/>
            <p:cNvSpPr/>
            <p:nvPr/>
          </p:nvSpPr>
          <p:spPr>
            <a:xfrm>
              <a:off x="869243" y="3142545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8" name="Shape 665"/>
            <p:cNvSpPr txBox="1"/>
            <p:nvPr/>
          </p:nvSpPr>
          <p:spPr>
            <a:xfrm>
              <a:off x="1005180" y="3113759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829" name="Shape 666"/>
            <p:cNvSpPr/>
            <p:nvPr/>
          </p:nvSpPr>
          <p:spPr>
            <a:xfrm flipH="1">
              <a:off x="1072444" y="1416755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0" name="Shape 668"/>
            <p:cNvSpPr/>
            <p:nvPr/>
          </p:nvSpPr>
          <p:spPr>
            <a:xfrm>
              <a:off x="4863254" y="1416755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861" name="成组"/>
          <p:cNvGrpSpPr/>
          <p:nvPr/>
        </p:nvGrpSpPr>
        <p:grpSpPr>
          <a:xfrm>
            <a:off x="6768345" y="4245581"/>
            <a:ext cx="5877001" cy="3691190"/>
            <a:chOff x="0" y="0"/>
            <a:chExt cx="5876999" cy="3691189"/>
          </a:xfrm>
        </p:grpSpPr>
        <p:sp>
          <p:nvSpPr>
            <p:cNvPr id="832" name="Shape 667"/>
            <p:cNvSpPr/>
            <p:nvPr/>
          </p:nvSpPr>
          <p:spPr>
            <a:xfrm flipH="1">
              <a:off x="4145280" y="1416755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3" name="Shape 678"/>
            <p:cNvSpPr/>
            <p:nvPr/>
          </p:nvSpPr>
          <p:spPr>
            <a:xfrm flipH="1">
              <a:off x="356728" y="2439530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4" name="Shape 638"/>
            <p:cNvSpPr/>
            <p:nvPr/>
          </p:nvSpPr>
          <p:spPr>
            <a:xfrm>
              <a:off x="3416017" y="477520"/>
              <a:ext cx="1291452" cy="6276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5" name="Shape 639"/>
            <p:cNvSpPr/>
            <p:nvPr/>
          </p:nvSpPr>
          <p:spPr>
            <a:xfrm flipH="1">
              <a:off x="1889759" y="452684"/>
              <a:ext cx="1106314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6" name="Shape 640"/>
            <p:cNvSpPr/>
            <p:nvPr/>
          </p:nvSpPr>
          <p:spPr>
            <a:xfrm>
              <a:off x="1993617" y="1416755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7" name="Shape 641"/>
            <p:cNvSpPr/>
            <p:nvPr/>
          </p:nvSpPr>
          <p:spPr>
            <a:xfrm>
              <a:off x="869243" y="2439530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38" name="Shape 642"/>
            <p:cNvSpPr/>
            <p:nvPr/>
          </p:nvSpPr>
          <p:spPr>
            <a:xfrm>
              <a:off x="2862579" y="8184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9" name="Shape 643"/>
            <p:cNvSpPr/>
            <p:nvPr/>
          </p:nvSpPr>
          <p:spPr>
            <a:xfrm>
              <a:off x="1481102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0" name="Shape 644"/>
            <p:cNvSpPr/>
            <p:nvPr/>
          </p:nvSpPr>
          <p:spPr>
            <a:xfrm>
              <a:off x="4284980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1" name="Shape 645"/>
            <p:cNvSpPr/>
            <p:nvPr/>
          </p:nvSpPr>
          <p:spPr>
            <a:xfrm>
              <a:off x="50122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2" name="Shape 646"/>
            <p:cNvSpPr/>
            <p:nvPr/>
          </p:nvSpPr>
          <p:spPr>
            <a:xfrm>
              <a:off x="219907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Shape 647"/>
            <p:cNvSpPr/>
            <p:nvPr/>
          </p:nvSpPr>
          <p:spPr>
            <a:xfrm>
              <a:off x="3705014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648"/>
            <p:cNvSpPr/>
            <p:nvPr/>
          </p:nvSpPr>
          <p:spPr>
            <a:xfrm>
              <a:off x="5231271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5" name="Shape 649"/>
            <p:cNvSpPr/>
            <p:nvPr/>
          </p:nvSpPr>
          <p:spPr>
            <a:xfrm>
              <a:off x="0" y="3117145"/>
              <a:ext cx="64346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6" name="Shape 650"/>
            <p:cNvSpPr/>
            <p:nvPr/>
          </p:nvSpPr>
          <p:spPr>
            <a:xfrm>
              <a:off x="2793717" y="3119121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7" name="Shape 653"/>
            <p:cNvSpPr txBox="1"/>
            <p:nvPr/>
          </p:nvSpPr>
          <p:spPr>
            <a:xfrm>
              <a:off x="2940343" y="0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48" name="Shape 654"/>
            <p:cNvSpPr txBox="1"/>
            <p:nvPr/>
          </p:nvSpPr>
          <p:spPr>
            <a:xfrm>
              <a:off x="4329159" y="9386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49" name="Shape 655"/>
            <p:cNvSpPr txBox="1"/>
            <p:nvPr/>
          </p:nvSpPr>
          <p:spPr>
            <a:xfrm>
              <a:off x="5286210" y="1893147"/>
              <a:ext cx="507967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50" name="Shape 656"/>
            <p:cNvSpPr txBox="1"/>
            <p:nvPr/>
          </p:nvSpPr>
          <p:spPr>
            <a:xfrm>
              <a:off x="1558581" y="9132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51" name="Shape 657"/>
            <p:cNvSpPr txBox="1"/>
            <p:nvPr/>
          </p:nvSpPr>
          <p:spPr>
            <a:xfrm>
              <a:off x="578706" y="1905847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52" name="Shape 658"/>
            <p:cNvSpPr txBox="1"/>
            <p:nvPr/>
          </p:nvSpPr>
          <p:spPr>
            <a:xfrm>
              <a:off x="2287121" y="1905847"/>
              <a:ext cx="460107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853" name="Shape 659"/>
            <p:cNvSpPr txBox="1"/>
            <p:nvPr/>
          </p:nvSpPr>
          <p:spPr>
            <a:xfrm>
              <a:off x="3798228" y="1905847"/>
              <a:ext cx="435859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854" name="Shape 662"/>
            <p:cNvSpPr txBox="1"/>
            <p:nvPr/>
          </p:nvSpPr>
          <p:spPr>
            <a:xfrm>
              <a:off x="40790" y="3101059"/>
              <a:ext cx="50796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55" name="Shape 663"/>
            <p:cNvSpPr txBox="1"/>
            <p:nvPr/>
          </p:nvSpPr>
          <p:spPr>
            <a:xfrm>
              <a:off x="2862660" y="3075659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856" name="Shape 664"/>
            <p:cNvSpPr/>
            <p:nvPr/>
          </p:nvSpPr>
          <p:spPr>
            <a:xfrm>
              <a:off x="869243" y="3142545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7" name="Shape 665"/>
            <p:cNvSpPr txBox="1"/>
            <p:nvPr/>
          </p:nvSpPr>
          <p:spPr>
            <a:xfrm>
              <a:off x="1005180" y="3113759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858" name="Shape 666"/>
            <p:cNvSpPr/>
            <p:nvPr/>
          </p:nvSpPr>
          <p:spPr>
            <a:xfrm flipH="1">
              <a:off x="1072444" y="1416755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59" name="Shape 668"/>
            <p:cNvSpPr/>
            <p:nvPr/>
          </p:nvSpPr>
          <p:spPr>
            <a:xfrm>
              <a:off x="4863254" y="1416755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860" name="Shape 679"/>
            <p:cNvSpPr/>
            <p:nvPr/>
          </p:nvSpPr>
          <p:spPr>
            <a:xfrm>
              <a:off x="2685344" y="2439530"/>
              <a:ext cx="427895" cy="6698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862" name="完全二叉树"/>
          <p:cNvSpPr txBox="1"/>
          <p:nvPr/>
        </p:nvSpPr>
        <p:spPr>
          <a:xfrm>
            <a:off x="2108503" y="8022770"/>
            <a:ext cx="201359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完全二叉树</a:t>
            </a:r>
          </a:p>
        </p:txBody>
      </p:sp>
      <p:sp>
        <p:nvSpPr>
          <p:cNvPr id="863" name="非完全二叉树"/>
          <p:cNvSpPr txBox="1"/>
          <p:nvPr/>
        </p:nvSpPr>
        <p:spPr>
          <a:xfrm>
            <a:off x="8870519" y="8022770"/>
            <a:ext cx="238189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非完全二叉树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扩展的完全二叉树(complete binary tree)</a:t>
            </a:r>
          </a:p>
        </p:txBody>
      </p:sp>
      <p:sp>
        <p:nvSpPr>
          <p:cNvPr id="866" name="Shape 638"/>
          <p:cNvSpPr/>
          <p:nvPr/>
        </p:nvSpPr>
        <p:spPr>
          <a:xfrm>
            <a:off x="6869563" y="1843421"/>
            <a:ext cx="1291676" cy="62720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867" name="Shape 639"/>
          <p:cNvSpPr/>
          <p:nvPr/>
        </p:nvSpPr>
        <p:spPr>
          <a:xfrm flipH="1">
            <a:off x="5012679" y="1818355"/>
            <a:ext cx="1208452" cy="59206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868" name="Shape 644"/>
          <p:cNvSpPr/>
          <p:nvPr/>
        </p:nvSpPr>
        <p:spPr>
          <a:xfrm>
            <a:off x="7941837" y="2312809"/>
            <a:ext cx="645729" cy="548645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871" name="成组"/>
          <p:cNvGrpSpPr/>
          <p:nvPr/>
        </p:nvGrpSpPr>
        <p:grpSpPr>
          <a:xfrm>
            <a:off x="6227336" y="1391070"/>
            <a:ext cx="645729" cy="630490"/>
            <a:chOff x="0" y="0"/>
            <a:chExt cx="645728" cy="630488"/>
          </a:xfrm>
        </p:grpSpPr>
        <p:sp>
          <p:nvSpPr>
            <p:cNvPr id="869" name="Shape 642"/>
            <p:cNvSpPr/>
            <p:nvPr/>
          </p:nvSpPr>
          <p:spPr>
            <a:xfrm>
              <a:off x="0" y="81844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0" name="Shape 653"/>
            <p:cNvSpPr txBox="1"/>
            <p:nvPr/>
          </p:nvSpPr>
          <p:spPr>
            <a:xfrm>
              <a:off x="77763" y="0"/>
              <a:ext cx="483931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872" name="Shape 654"/>
          <p:cNvSpPr txBox="1"/>
          <p:nvPr/>
        </p:nvSpPr>
        <p:spPr>
          <a:xfrm>
            <a:off x="7986015" y="2304342"/>
            <a:ext cx="483931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grpSp>
        <p:nvGrpSpPr>
          <p:cNvPr id="875" name="成组"/>
          <p:cNvGrpSpPr/>
          <p:nvPr/>
        </p:nvGrpSpPr>
        <p:grpSpPr>
          <a:xfrm>
            <a:off x="8697628" y="3398517"/>
            <a:ext cx="645729" cy="582513"/>
            <a:chOff x="0" y="0"/>
            <a:chExt cx="645728" cy="582512"/>
          </a:xfrm>
        </p:grpSpPr>
        <p:sp>
          <p:nvSpPr>
            <p:cNvPr id="873" name="Shape 648"/>
            <p:cNvSpPr/>
            <p:nvPr/>
          </p:nvSpPr>
          <p:spPr>
            <a:xfrm>
              <a:off x="0" y="33866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4" name="Shape 655"/>
            <p:cNvSpPr txBox="1"/>
            <p:nvPr/>
          </p:nvSpPr>
          <p:spPr>
            <a:xfrm>
              <a:off x="54938" y="-1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878" name="成组"/>
          <p:cNvGrpSpPr/>
          <p:nvPr/>
        </p:nvGrpSpPr>
        <p:grpSpPr>
          <a:xfrm>
            <a:off x="4406492" y="2293494"/>
            <a:ext cx="645729" cy="582513"/>
            <a:chOff x="0" y="0"/>
            <a:chExt cx="645728" cy="582512"/>
          </a:xfrm>
        </p:grpSpPr>
        <p:sp>
          <p:nvSpPr>
            <p:cNvPr id="876" name="Shape 643"/>
            <p:cNvSpPr/>
            <p:nvPr/>
          </p:nvSpPr>
          <p:spPr>
            <a:xfrm>
              <a:off x="0" y="33866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7" name="Shape 656"/>
            <p:cNvSpPr txBox="1"/>
            <p:nvPr/>
          </p:nvSpPr>
          <p:spPr>
            <a:xfrm>
              <a:off x="77479" y="-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881" name="成组"/>
          <p:cNvGrpSpPr/>
          <p:nvPr/>
        </p:nvGrpSpPr>
        <p:grpSpPr>
          <a:xfrm>
            <a:off x="3319884" y="3398517"/>
            <a:ext cx="645729" cy="569813"/>
            <a:chOff x="0" y="0"/>
            <a:chExt cx="645728" cy="569812"/>
          </a:xfrm>
        </p:grpSpPr>
        <p:sp>
          <p:nvSpPr>
            <p:cNvPr id="879" name="Shape 645"/>
            <p:cNvSpPr/>
            <p:nvPr/>
          </p:nvSpPr>
          <p:spPr>
            <a:xfrm>
              <a:off x="0" y="21166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0" name="Shape 657"/>
            <p:cNvSpPr txBox="1"/>
            <p:nvPr/>
          </p:nvSpPr>
          <p:spPr>
            <a:xfrm>
              <a:off x="77480" y="-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884" name="成组"/>
          <p:cNvGrpSpPr/>
          <p:nvPr/>
        </p:nvGrpSpPr>
        <p:grpSpPr>
          <a:xfrm>
            <a:off x="5500333" y="3398517"/>
            <a:ext cx="645729" cy="569813"/>
            <a:chOff x="0" y="0"/>
            <a:chExt cx="645728" cy="569812"/>
          </a:xfrm>
        </p:grpSpPr>
        <p:sp>
          <p:nvSpPr>
            <p:cNvPr id="882" name="Shape 646"/>
            <p:cNvSpPr/>
            <p:nvPr/>
          </p:nvSpPr>
          <p:spPr>
            <a:xfrm>
              <a:off x="0" y="21166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3" name="Shape 658"/>
            <p:cNvSpPr txBox="1"/>
            <p:nvPr/>
          </p:nvSpPr>
          <p:spPr>
            <a:xfrm>
              <a:off x="88046" y="-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887" name="成组"/>
          <p:cNvGrpSpPr/>
          <p:nvPr/>
        </p:nvGrpSpPr>
        <p:grpSpPr>
          <a:xfrm>
            <a:off x="7247571" y="3398517"/>
            <a:ext cx="645729" cy="569813"/>
            <a:chOff x="0" y="0"/>
            <a:chExt cx="645728" cy="569812"/>
          </a:xfrm>
        </p:grpSpPr>
        <p:sp>
          <p:nvSpPr>
            <p:cNvPr id="885" name="Shape 647"/>
            <p:cNvSpPr/>
            <p:nvPr/>
          </p:nvSpPr>
          <p:spPr>
            <a:xfrm>
              <a:off x="0" y="21166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6" name="Shape 659"/>
            <p:cNvSpPr txBox="1"/>
            <p:nvPr/>
          </p:nvSpPr>
          <p:spPr>
            <a:xfrm>
              <a:off x="93214" y="-1"/>
              <a:ext cx="43585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890" name="成组"/>
          <p:cNvGrpSpPr/>
          <p:nvPr/>
        </p:nvGrpSpPr>
        <p:grpSpPr>
          <a:xfrm>
            <a:off x="2767857" y="4530230"/>
            <a:ext cx="643471" cy="565858"/>
            <a:chOff x="0" y="0"/>
            <a:chExt cx="643470" cy="565856"/>
          </a:xfrm>
        </p:grpSpPr>
        <p:sp>
          <p:nvSpPr>
            <p:cNvPr id="888" name="Shape 649"/>
            <p:cNvSpPr/>
            <p:nvPr/>
          </p:nvSpPr>
          <p:spPr>
            <a:xfrm>
              <a:off x="0" y="16085"/>
              <a:ext cx="643471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9" name="Shape 662"/>
            <p:cNvSpPr txBox="1"/>
            <p:nvPr/>
          </p:nvSpPr>
          <p:spPr>
            <a:xfrm>
              <a:off x="40790" y="-1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893" name="成组"/>
          <p:cNvGrpSpPr/>
          <p:nvPr/>
        </p:nvGrpSpPr>
        <p:grpSpPr>
          <a:xfrm>
            <a:off x="4999903" y="4504830"/>
            <a:ext cx="645729" cy="592107"/>
            <a:chOff x="0" y="0"/>
            <a:chExt cx="645728" cy="592106"/>
          </a:xfrm>
        </p:grpSpPr>
        <p:sp>
          <p:nvSpPr>
            <p:cNvPr id="891" name="Shape 650"/>
            <p:cNvSpPr/>
            <p:nvPr/>
          </p:nvSpPr>
          <p:spPr>
            <a:xfrm>
              <a:off x="0" y="43462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2" name="Shape 663"/>
            <p:cNvSpPr txBox="1"/>
            <p:nvPr/>
          </p:nvSpPr>
          <p:spPr>
            <a:xfrm>
              <a:off x="68943" y="0"/>
              <a:ext cx="387999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896" name="成组"/>
          <p:cNvGrpSpPr/>
          <p:nvPr/>
        </p:nvGrpSpPr>
        <p:grpSpPr>
          <a:xfrm>
            <a:off x="3865701" y="4530230"/>
            <a:ext cx="645729" cy="577432"/>
            <a:chOff x="0" y="0"/>
            <a:chExt cx="645728" cy="577431"/>
          </a:xfrm>
        </p:grpSpPr>
        <p:sp>
          <p:nvSpPr>
            <p:cNvPr id="894" name="Shape 664"/>
            <p:cNvSpPr/>
            <p:nvPr/>
          </p:nvSpPr>
          <p:spPr>
            <a:xfrm>
              <a:off x="0" y="28785"/>
              <a:ext cx="645729" cy="54864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5" name="Shape 665"/>
            <p:cNvSpPr txBox="1"/>
            <p:nvPr/>
          </p:nvSpPr>
          <p:spPr>
            <a:xfrm>
              <a:off x="135936" y="-1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sp>
        <p:nvSpPr>
          <p:cNvPr id="897" name="Shape 668"/>
          <p:cNvSpPr/>
          <p:nvPr/>
        </p:nvSpPr>
        <p:spPr>
          <a:xfrm flipH="1" flipV="1">
            <a:off x="8505912" y="2809264"/>
            <a:ext cx="510999" cy="60898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898" name="Shape 668"/>
          <p:cNvSpPr/>
          <p:nvPr/>
        </p:nvSpPr>
        <p:spPr>
          <a:xfrm flipV="1">
            <a:off x="7555853" y="2809265"/>
            <a:ext cx="510999" cy="60898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899" name="Shape 668"/>
          <p:cNvSpPr/>
          <p:nvPr/>
        </p:nvSpPr>
        <p:spPr>
          <a:xfrm flipH="1" flipV="1">
            <a:off x="5034835" y="2706232"/>
            <a:ext cx="791481" cy="71444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0" name="Shape 668"/>
          <p:cNvSpPr/>
          <p:nvPr/>
        </p:nvSpPr>
        <p:spPr>
          <a:xfrm flipH="1" flipV="1">
            <a:off x="3705586" y="3952792"/>
            <a:ext cx="510999" cy="60898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1" name="Shape 668"/>
          <p:cNvSpPr/>
          <p:nvPr/>
        </p:nvSpPr>
        <p:spPr>
          <a:xfrm flipV="1">
            <a:off x="3073026" y="3952792"/>
            <a:ext cx="510999" cy="60898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2" name="Shape 668"/>
          <p:cNvSpPr/>
          <p:nvPr/>
        </p:nvSpPr>
        <p:spPr>
          <a:xfrm flipV="1">
            <a:off x="5259805" y="3965492"/>
            <a:ext cx="510999" cy="60898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3" name="Shape 668"/>
          <p:cNvSpPr/>
          <p:nvPr/>
        </p:nvSpPr>
        <p:spPr>
          <a:xfrm flipV="1">
            <a:off x="3654421" y="2705537"/>
            <a:ext cx="791128" cy="7148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4" name="线条"/>
          <p:cNvSpPr/>
          <p:nvPr/>
        </p:nvSpPr>
        <p:spPr>
          <a:xfrm flipV="1">
            <a:off x="3935365" y="5087987"/>
            <a:ext cx="221516" cy="82670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5" name="矩形"/>
          <p:cNvSpPr/>
          <p:nvPr/>
        </p:nvSpPr>
        <p:spPr>
          <a:xfrm>
            <a:off x="3710795" y="58466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06" name="线条"/>
          <p:cNvSpPr/>
          <p:nvPr/>
        </p:nvSpPr>
        <p:spPr>
          <a:xfrm flipH="1" flipV="1">
            <a:off x="4248042" y="5087987"/>
            <a:ext cx="221516" cy="82670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7" name="矩形"/>
          <p:cNvSpPr/>
          <p:nvPr/>
        </p:nvSpPr>
        <p:spPr>
          <a:xfrm>
            <a:off x="4218795" y="58466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08" name="线条"/>
          <p:cNvSpPr/>
          <p:nvPr/>
        </p:nvSpPr>
        <p:spPr>
          <a:xfrm flipV="1">
            <a:off x="2788382" y="5062587"/>
            <a:ext cx="221516" cy="82670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09" name="矩形"/>
          <p:cNvSpPr/>
          <p:nvPr/>
        </p:nvSpPr>
        <p:spPr>
          <a:xfrm>
            <a:off x="2563811" y="5821240"/>
            <a:ext cx="441961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10" name="线条"/>
          <p:cNvSpPr/>
          <p:nvPr/>
        </p:nvSpPr>
        <p:spPr>
          <a:xfrm flipH="1" flipV="1">
            <a:off x="3101059" y="5062587"/>
            <a:ext cx="221516" cy="82670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11" name="矩形"/>
          <p:cNvSpPr/>
          <p:nvPr/>
        </p:nvSpPr>
        <p:spPr>
          <a:xfrm>
            <a:off x="3071811" y="5821240"/>
            <a:ext cx="441961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12" name="线条"/>
          <p:cNvSpPr/>
          <p:nvPr/>
        </p:nvSpPr>
        <p:spPr>
          <a:xfrm flipV="1">
            <a:off x="8759705" y="3983087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13" name="矩形"/>
          <p:cNvSpPr/>
          <p:nvPr/>
        </p:nvSpPr>
        <p:spPr>
          <a:xfrm>
            <a:off x="8535135" y="47417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14" name="线条"/>
          <p:cNvSpPr/>
          <p:nvPr/>
        </p:nvSpPr>
        <p:spPr>
          <a:xfrm flipH="1" flipV="1">
            <a:off x="9072382" y="3983087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15" name="矩形"/>
          <p:cNvSpPr/>
          <p:nvPr/>
        </p:nvSpPr>
        <p:spPr>
          <a:xfrm>
            <a:off x="9043135" y="47417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16" name="线条"/>
          <p:cNvSpPr/>
          <p:nvPr/>
        </p:nvSpPr>
        <p:spPr>
          <a:xfrm flipV="1">
            <a:off x="7295221" y="3957687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17" name="矩形"/>
          <p:cNvSpPr/>
          <p:nvPr/>
        </p:nvSpPr>
        <p:spPr>
          <a:xfrm>
            <a:off x="7070651" y="47163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18" name="线条"/>
          <p:cNvSpPr/>
          <p:nvPr/>
        </p:nvSpPr>
        <p:spPr>
          <a:xfrm flipH="1" flipV="1">
            <a:off x="7607899" y="3957687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19" name="矩形"/>
          <p:cNvSpPr/>
          <p:nvPr/>
        </p:nvSpPr>
        <p:spPr>
          <a:xfrm>
            <a:off x="7578651" y="4716340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20" name="线条"/>
          <p:cNvSpPr/>
          <p:nvPr/>
        </p:nvSpPr>
        <p:spPr>
          <a:xfrm flipH="1" flipV="1">
            <a:off x="5872946" y="3949026"/>
            <a:ext cx="644282" cy="767824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21" name="矩形"/>
          <p:cNvSpPr/>
          <p:nvPr/>
        </p:nvSpPr>
        <p:spPr>
          <a:xfrm>
            <a:off x="6268711" y="4686251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22" name="线条"/>
          <p:cNvSpPr/>
          <p:nvPr/>
        </p:nvSpPr>
        <p:spPr>
          <a:xfrm flipV="1">
            <a:off x="5043648" y="5106342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23" name="矩形"/>
          <p:cNvSpPr/>
          <p:nvPr/>
        </p:nvSpPr>
        <p:spPr>
          <a:xfrm>
            <a:off x="4819077" y="5864995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  <p:sp>
        <p:nvSpPr>
          <p:cNvPr id="924" name="线条"/>
          <p:cNvSpPr/>
          <p:nvPr/>
        </p:nvSpPr>
        <p:spPr>
          <a:xfrm flipH="1" flipV="1">
            <a:off x="5356325" y="5106342"/>
            <a:ext cx="221516" cy="82670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25" name="矩形"/>
          <p:cNvSpPr/>
          <p:nvPr/>
        </p:nvSpPr>
        <p:spPr>
          <a:xfrm>
            <a:off x="5327077" y="5864995"/>
            <a:ext cx="441962" cy="39821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sz="3400">
                <a:uFill>
                  <a:solidFill>
                    <a:srgbClr val="000000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取整函数的定义"/>
          <p:cNvSpPr txBox="1"/>
          <p:nvPr/>
        </p:nvSpPr>
        <p:spPr>
          <a:xfrm>
            <a:off x="1372727" y="63216"/>
            <a:ext cx="10295470" cy="113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 marR="57798" indent="57798" algn="ctr" defTabSz="1300480">
              <a:defRPr b="1" sz="5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取整函数的定义</a:t>
            </a:r>
          </a:p>
        </p:txBody>
      </p:sp>
      <p:sp>
        <p:nvSpPr>
          <p:cNvPr id="928" name="Shape 956"/>
          <p:cNvSpPr txBox="1"/>
          <p:nvPr/>
        </p:nvSpPr>
        <p:spPr>
          <a:xfrm>
            <a:off x="378133" y="2417442"/>
            <a:ext cx="10138610" cy="1562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/>
          <a:p>
            <a:pPr marR="57797" indent="57797" defTabSz="1295400">
              <a:spcBef>
                <a:spcPts val="19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⎣x⎦ = m  if m </a:t>
            </a:r>
            <a:r>
              <a:rPr baseline="30526"/>
              <a:t>≤</a:t>
            </a:r>
            <a:r>
              <a:t> x &lt; m + 1        Math.floor(x)</a:t>
            </a:r>
          </a:p>
          <a:p>
            <a:pPr marR="57797" indent="57797" defTabSz="1295400">
              <a:spcBef>
                <a:spcPts val="19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⎡x⎤ = m  if m - 1&lt; x </a:t>
            </a:r>
            <a:r>
              <a:rPr baseline="30526"/>
              <a:t>≤ </a:t>
            </a:r>
            <a:r>
              <a:t>m           Math.ceil(x)</a:t>
            </a:r>
          </a:p>
        </p:txBody>
      </p:sp>
      <p:sp>
        <p:nvSpPr>
          <p:cNvPr id="929" name="Shape 956"/>
          <p:cNvSpPr txBox="1"/>
          <p:nvPr/>
        </p:nvSpPr>
        <p:spPr>
          <a:xfrm>
            <a:off x="360070" y="1485959"/>
            <a:ext cx="10609923" cy="89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 marR="82203" indent="57797" defTabSz="1842346">
              <a:spcBef>
                <a:spcPts val="2700"/>
              </a:spcBef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设x是任意的实数，m是一个整数：</a:t>
            </a:r>
          </a:p>
        </p:txBody>
      </p:sp>
      <p:sp>
        <p:nvSpPr>
          <p:cNvPr id="930" name="⎣2.1⎦  = 2     ⎣-2.1⎦ = -3"/>
          <p:cNvSpPr txBox="1"/>
          <p:nvPr/>
        </p:nvSpPr>
        <p:spPr>
          <a:xfrm>
            <a:off x="500177" y="4163557"/>
            <a:ext cx="4717219" cy="722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R="82203" indent="57797" defTabSz="1842346">
              <a:spcBef>
                <a:spcPts val="2700"/>
              </a:spcBef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⎣2.1⎦  = 2     ⎣-2.1⎦ = -3</a:t>
            </a:r>
          </a:p>
        </p:txBody>
      </p:sp>
      <p:sp>
        <p:nvSpPr>
          <p:cNvPr id="931" name="⎡2.1⎤  = 3     ⎡-2.1⎤  = -2"/>
          <p:cNvSpPr txBox="1"/>
          <p:nvPr/>
        </p:nvSpPr>
        <p:spPr>
          <a:xfrm>
            <a:off x="483530" y="5083321"/>
            <a:ext cx="4837869" cy="722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R="82203" indent="57797" defTabSz="1842346">
              <a:spcBef>
                <a:spcPts val="2700"/>
              </a:spcBef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⎡2.1⎤  = 3     ⎡-2.1⎤  = -2</a:t>
            </a:r>
          </a:p>
        </p:txBody>
      </p:sp>
      <p:grpSp>
        <p:nvGrpSpPr>
          <p:cNvPr id="949" name="成组"/>
          <p:cNvGrpSpPr/>
          <p:nvPr/>
        </p:nvGrpSpPr>
        <p:grpSpPr>
          <a:xfrm>
            <a:off x="11159049" y="1937515"/>
            <a:ext cx="1041354" cy="5878571"/>
            <a:chOff x="0" y="0"/>
            <a:chExt cx="1041353" cy="5878570"/>
          </a:xfrm>
        </p:grpSpPr>
        <p:sp>
          <p:nvSpPr>
            <p:cNvPr id="932" name="线条"/>
            <p:cNvSpPr/>
            <p:nvPr/>
          </p:nvSpPr>
          <p:spPr>
            <a:xfrm flipV="1">
              <a:off x="1032951" y="-1"/>
              <a:ext cx="2" cy="587857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3" name="线条"/>
            <p:cNvSpPr/>
            <p:nvPr/>
          </p:nvSpPr>
          <p:spPr>
            <a:xfrm>
              <a:off x="802930" y="3019818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4" name="线条"/>
            <p:cNvSpPr/>
            <p:nvPr/>
          </p:nvSpPr>
          <p:spPr>
            <a:xfrm>
              <a:off x="802930" y="2459889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5" name="线条"/>
            <p:cNvSpPr/>
            <p:nvPr/>
          </p:nvSpPr>
          <p:spPr>
            <a:xfrm>
              <a:off x="802930" y="1863836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6" name="线条"/>
            <p:cNvSpPr/>
            <p:nvPr/>
          </p:nvSpPr>
          <p:spPr>
            <a:xfrm>
              <a:off x="802930" y="3688121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7" name="线条"/>
            <p:cNvSpPr/>
            <p:nvPr/>
          </p:nvSpPr>
          <p:spPr>
            <a:xfrm>
              <a:off x="802930" y="4320299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8" name="线条"/>
            <p:cNvSpPr/>
            <p:nvPr/>
          </p:nvSpPr>
          <p:spPr>
            <a:xfrm>
              <a:off x="802930" y="4916351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39" name="线条"/>
            <p:cNvSpPr/>
            <p:nvPr/>
          </p:nvSpPr>
          <p:spPr>
            <a:xfrm>
              <a:off x="802930" y="1213596"/>
              <a:ext cx="238424" cy="2"/>
            </a:xfrm>
            <a:prstGeom prst="line">
              <a:avLst/>
            </a:prstGeom>
            <a:noFill/>
            <a:ln w="50800" cap="flat">
              <a:solidFill>
                <a:srgbClr val="0365C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40" name="0"/>
            <p:cNvSpPr txBox="1"/>
            <p:nvPr/>
          </p:nvSpPr>
          <p:spPr>
            <a:xfrm>
              <a:off x="144497" y="2715441"/>
              <a:ext cx="430896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41" name="1"/>
            <p:cNvSpPr txBox="1"/>
            <p:nvPr/>
          </p:nvSpPr>
          <p:spPr>
            <a:xfrm>
              <a:off x="144497" y="2173574"/>
              <a:ext cx="430896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42" name="2"/>
            <p:cNvSpPr txBox="1"/>
            <p:nvPr/>
          </p:nvSpPr>
          <p:spPr>
            <a:xfrm>
              <a:off x="144497" y="1559459"/>
              <a:ext cx="430896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43" name="3"/>
            <p:cNvSpPr txBox="1"/>
            <p:nvPr/>
          </p:nvSpPr>
          <p:spPr>
            <a:xfrm>
              <a:off x="144497" y="927653"/>
              <a:ext cx="430896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44" name="-1"/>
            <p:cNvSpPr txBox="1"/>
            <p:nvPr/>
          </p:nvSpPr>
          <p:spPr>
            <a:xfrm>
              <a:off x="-1" y="3383743"/>
              <a:ext cx="574689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945" name="-2"/>
            <p:cNvSpPr txBox="1"/>
            <p:nvPr/>
          </p:nvSpPr>
          <p:spPr>
            <a:xfrm>
              <a:off x="-1" y="3871423"/>
              <a:ext cx="574689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-2</a:t>
              </a:r>
            </a:p>
          </p:txBody>
        </p:sp>
        <p:sp>
          <p:nvSpPr>
            <p:cNvPr id="946" name="-3"/>
            <p:cNvSpPr txBox="1"/>
            <p:nvPr/>
          </p:nvSpPr>
          <p:spPr>
            <a:xfrm>
              <a:off x="-1" y="4682512"/>
              <a:ext cx="574689" cy="608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-3</a:t>
              </a:r>
            </a:p>
          </p:txBody>
        </p:sp>
        <p:sp>
          <p:nvSpPr>
            <p:cNvPr id="947" name="圆形"/>
            <p:cNvSpPr/>
            <p:nvPr/>
          </p:nvSpPr>
          <p:spPr>
            <a:xfrm>
              <a:off x="978764" y="1674927"/>
              <a:ext cx="49673" cy="49675"/>
            </a:xfrm>
            <a:prstGeom prst="ellipse">
              <a:avLst/>
            </a:prstGeom>
            <a:solidFill>
              <a:srgbClr val="C82506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8" name="圆形"/>
            <p:cNvSpPr/>
            <p:nvPr/>
          </p:nvSpPr>
          <p:spPr>
            <a:xfrm>
              <a:off x="978764" y="4456510"/>
              <a:ext cx="49673" cy="49673"/>
            </a:xfrm>
            <a:prstGeom prst="ellipse">
              <a:avLst/>
            </a:prstGeom>
            <a:solidFill>
              <a:srgbClr val="C82506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取整函数的定义"/>
          <p:cNvSpPr txBox="1"/>
          <p:nvPr/>
        </p:nvSpPr>
        <p:spPr>
          <a:xfrm>
            <a:off x="1372727" y="63216"/>
            <a:ext cx="10295470" cy="113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 marR="57798" indent="57798" algn="ctr" defTabSz="1300480">
              <a:defRPr b="1" sz="5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取整函数的性质</a:t>
            </a:r>
          </a:p>
        </p:txBody>
      </p:sp>
      <p:sp>
        <p:nvSpPr>
          <p:cNvPr id="952" name="Shape 956"/>
          <p:cNvSpPr txBox="1"/>
          <p:nvPr/>
        </p:nvSpPr>
        <p:spPr>
          <a:xfrm>
            <a:off x="1812994" y="1421458"/>
            <a:ext cx="6988418" cy="2509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/>
          <a:p>
            <a:pPr indent="57797">
              <a:lnSpc>
                <a:spcPct val="150000"/>
              </a:lnSpc>
              <a:defRPr sz="3400"/>
            </a:pPr>
            <a:r>
              <a:t>⎣x⎦ = ⎡x⎤               x是整数</a:t>
            </a:r>
          </a:p>
          <a:p>
            <a:pPr>
              <a:lnSpc>
                <a:spcPct val="150000"/>
              </a:lnSpc>
              <a:defRPr sz="3400"/>
            </a:pPr>
            <a:r>
              <a:t> ⎡x⎤ = ⎣x⎦ + 1      x不是整数</a:t>
            </a:r>
          </a:p>
          <a:p>
            <a:pPr>
              <a:lnSpc>
                <a:spcPct val="150000"/>
              </a:lnSpc>
              <a:defRPr sz="3400"/>
            </a:pPr>
            <a:r>
              <a:t> ⎣-x⎦ = - ⎡x⎤</a:t>
            </a:r>
          </a:p>
        </p:txBody>
      </p:sp>
      <p:sp>
        <p:nvSpPr>
          <p:cNvPr id="953" name="线条"/>
          <p:cNvSpPr/>
          <p:nvPr/>
        </p:nvSpPr>
        <p:spPr>
          <a:xfrm>
            <a:off x="763726" y="4948735"/>
            <a:ext cx="10818077" cy="1"/>
          </a:xfrm>
          <a:prstGeom prst="line">
            <a:avLst/>
          </a:prstGeom>
          <a:ln w="508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54" name="线条"/>
          <p:cNvSpPr/>
          <p:nvPr/>
        </p:nvSpPr>
        <p:spPr>
          <a:xfrm flipV="1">
            <a:off x="4816902" y="4699210"/>
            <a:ext cx="2" cy="238423"/>
          </a:xfrm>
          <a:prstGeom prst="line">
            <a:avLst/>
          </a:prstGeom>
          <a:ln w="50800">
            <a:solidFill>
              <a:srgbClr val="0365C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55" name="x"/>
          <p:cNvSpPr txBox="1"/>
          <p:nvPr/>
        </p:nvSpPr>
        <p:spPr>
          <a:xfrm>
            <a:off x="5963977" y="4242601"/>
            <a:ext cx="430896" cy="60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R="57798" indent="57798" defTabSz="1300480">
              <a:spcBef>
                <a:spcPts val="22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56" name="⎡x⎤"/>
          <p:cNvSpPr txBox="1"/>
          <p:nvPr/>
        </p:nvSpPr>
        <p:spPr>
          <a:xfrm>
            <a:off x="7048750" y="4181054"/>
            <a:ext cx="762336" cy="644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R="57798" indent="57798" defTabSz="1300480">
              <a:spcBef>
                <a:spcPts val="22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⎡x⎤</a:t>
            </a:r>
          </a:p>
        </p:txBody>
      </p:sp>
      <p:sp>
        <p:nvSpPr>
          <p:cNvPr id="957" name="⎣x⎦"/>
          <p:cNvSpPr txBox="1"/>
          <p:nvPr/>
        </p:nvSpPr>
        <p:spPr>
          <a:xfrm>
            <a:off x="4485316" y="4181054"/>
            <a:ext cx="704538" cy="644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>
              <a:defRPr sz="3400"/>
            </a:lvl1pPr>
          </a:lstStyle>
          <a:p>
            <a:pPr/>
            <a:r>
              <a:t>⎣x⎦</a:t>
            </a:r>
          </a:p>
        </p:txBody>
      </p:sp>
      <p:sp>
        <p:nvSpPr>
          <p:cNvPr id="958" name="x + 1"/>
          <p:cNvSpPr txBox="1"/>
          <p:nvPr/>
        </p:nvSpPr>
        <p:spPr>
          <a:xfrm>
            <a:off x="9468098" y="4242601"/>
            <a:ext cx="1290128" cy="60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ctr">
            <a:spAutoFit/>
          </a:bodyPr>
          <a:lstStyle>
            <a:lvl1pPr marR="57798" indent="57798" defTabSz="1300480">
              <a:spcBef>
                <a:spcPts val="22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x + 1</a:t>
            </a:r>
          </a:p>
        </p:txBody>
      </p:sp>
      <p:sp>
        <p:nvSpPr>
          <p:cNvPr id="959" name="x - 1"/>
          <p:cNvSpPr txBox="1"/>
          <p:nvPr/>
        </p:nvSpPr>
        <p:spPr>
          <a:xfrm>
            <a:off x="1670055" y="4242601"/>
            <a:ext cx="1290128" cy="60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ctr">
            <a:spAutoFit/>
          </a:bodyPr>
          <a:lstStyle>
            <a:lvl1pPr marR="57798" indent="57798" defTabSz="1300480">
              <a:spcBef>
                <a:spcPts val="22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x - 1</a:t>
            </a:r>
          </a:p>
        </p:txBody>
      </p:sp>
      <p:sp>
        <p:nvSpPr>
          <p:cNvPr id="960" name="线条"/>
          <p:cNvSpPr/>
          <p:nvPr/>
        </p:nvSpPr>
        <p:spPr>
          <a:xfrm flipV="1">
            <a:off x="7445119" y="4699210"/>
            <a:ext cx="2" cy="238423"/>
          </a:xfrm>
          <a:prstGeom prst="line">
            <a:avLst/>
          </a:prstGeom>
          <a:ln w="50800">
            <a:solidFill>
              <a:srgbClr val="0365C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61" name="线条"/>
          <p:cNvSpPr/>
          <p:nvPr/>
        </p:nvSpPr>
        <p:spPr>
          <a:xfrm flipV="1">
            <a:off x="10073338" y="4699210"/>
            <a:ext cx="2" cy="238423"/>
          </a:xfrm>
          <a:prstGeom prst="line">
            <a:avLst/>
          </a:prstGeom>
          <a:ln w="50800">
            <a:solidFill>
              <a:srgbClr val="0365C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62" name="线条"/>
          <p:cNvSpPr/>
          <p:nvPr/>
        </p:nvSpPr>
        <p:spPr>
          <a:xfrm flipV="1">
            <a:off x="2188681" y="4699210"/>
            <a:ext cx="2" cy="238423"/>
          </a:xfrm>
          <a:prstGeom prst="line">
            <a:avLst/>
          </a:prstGeom>
          <a:ln w="50800">
            <a:solidFill>
              <a:srgbClr val="0365C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963" name="Shape 956"/>
          <p:cNvSpPr txBox="1"/>
          <p:nvPr/>
        </p:nvSpPr>
        <p:spPr>
          <a:xfrm>
            <a:off x="1641600" y="5271935"/>
            <a:ext cx="8504702" cy="3318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/>
          <a:p>
            <a:pPr indent="57797">
              <a:lnSpc>
                <a:spcPct val="150000"/>
              </a:lnSpc>
              <a:defRPr sz="3400"/>
            </a:pPr>
            <a:r>
              <a:t>n是整数：</a:t>
            </a:r>
          </a:p>
          <a:p>
            <a:pPr indent="57797">
              <a:lnSpc>
                <a:spcPct val="150000"/>
              </a:lnSpc>
              <a:defRPr sz="3400"/>
            </a:pPr>
            <a:r>
              <a:t>                ⎣ </a:t>
            </a:r>
            <a14:m>
              <m:oMath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⎦  +  ⎡ </a:t>
            </a:r>
            <a14:m>
              <m:oMath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⎤  =  n</a:t>
            </a:r>
          </a:p>
          <a:p>
            <a:pPr>
              <a:lnSpc>
                <a:spcPct val="150000"/>
              </a:lnSpc>
              <a:defRPr sz="3400"/>
            </a:pPr>
            <a:r>
              <a:t>                 ⎣ </a:t>
            </a:r>
            <a14:m>
              <m:oMath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⎦  =  ⎡ </a:t>
            </a:r>
            <a14:m>
              <m:oMath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Shape 962"/>
          <p:cNvSpPr txBox="1"/>
          <p:nvPr/>
        </p:nvSpPr>
        <p:spPr>
          <a:xfrm>
            <a:off x="290550" y="2069249"/>
            <a:ext cx="8805169" cy="26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</a:pPr>
            <a:r>
              <a:t>证明：假设完全二叉树的深度为k。</a:t>
            </a:r>
          </a:p>
          <a:p>
            <a:pPr indent="57797">
              <a:lnSpc>
                <a:spcPct val="120000"/>
              </a:lnSpc>
            </a:pPr>
            <a:r>
              <a:t>由定义： 0--&gt;k - 2 层构成的树一定是满二叉树</a:t>
            </a:r>
          </a:p>
          <a:p>
            <a:pPr indent="57797">
              <a:lnSpc>
                <a:spcPct val="120000"/>
              </a:lnSpc>
            </a:pPr>
            <a:r>
              <a:t>由性质2：0--&gt;k - 2层结点数为： 2</a:t>
            </a:r>
            <a:r>
              <a:rPr baseline="31997"/>
              <a:t>k-1</a:t>
            </a:r>
            <a:r>
              <a:t> - 1  </a:t>
            </a:r>
          </a:p>
          <a:p>
            <a:pPr indent="57797">
              <a:lnSpc>
                <a:spcPct val="120000"/>
              </a:lnSpc>
            </a:pPr>
            <a:r>
              <a:t>由性质2，0至k - 1层结点数最多为： 2</a:t>
            </a:r>
            <a:r>
              <a:rPr baseline="31997"/>
              <a:t>k</a:t>
            </a:r>
            <a:r>
              <a:t> - 1  </a:t>
            </a:r>
          </a:p>
        </p:txBody>
      </p:sp>
      <p:sp>
        <p:nvSpPr>
          <p:cNvPr id="966" name="Shape 965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完全二叉树的特性</a:t>
            </a:r>
          </a:p>
        </p:txBody>
      </p:sp>
      <p:sp>
        <p:nvSpPr>
          <p:cNvPr id="967" name="Shape 954"/>
          <p:cNvSpPr txBox="1"/>
          <p:nvPr/>
        </p:nvSpPr>
        <p:spPr>
          <a:xfrm>
            <a:off x="434280" y="1177445"/>
            <a:ext cx="1213624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性质 4 ：具有 n 个结点的完全二叉树的深度为 ⎡ log</a:t>
            </a:r>
            <a:r>
              <a:rPr baseline="-5998"/>
              <a:t>2</a:t>
            </a:r>
            <a:r>
              <a:t>(n+1)</a:t>
            </a:r>
            <a:r>
              <a:rPr baseline="35332"/>
              <a:t> </a:t>
            </a:r>
            <a:r>
              <a:t>⎤</a:t>
            </a:r>
          </a:p>
        </p:txBody>
      </p:sp>
      <p:sp>
        <p:nvSpPr>
          <p:cNvPr id="968" name="Shape 967"/>
          <p:cNvSpPr txBox="1"/>
          <p:nvPr/>
        </p:nvSpPr>
        <p:spPr>
          <a:xfrm>
            <a:off x="290550" y="5160876"/>
            <a:ext cx="6335783" cy="2530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</a:pPr>
            <a:r>
              <a:t>             所以：2</a:t>
            </a:r>
            <a:r>
              <a:rPr baseline="31997"/>
              <a:t>k-1</a:t>
            </a:r>
            <a:r>
              <a:t> - 1 &lt; n ≤ 2</a:t>
            </a:r>
            <a:r>
              <a:rPr baseline="31997"/>
              <a:t>k</a:t>
            </a:r>
            <a:r>
              <a:t> - 1             </a:t>
            </a:r>
          </a:p>
          <a:p>
            <a:pPr indent="57797">
              <a:lnSpc>
                <a:spcPct val="120000"/>
              </a:lnSpc>
            </a:pPr>
            <a:r>
              <a:t>                         2</a:t>
            </a:r>
            <a:r>
              <a:rPr baseline="31997"/>
              <a:t>k-1</a:t>
            </a:r>
            <a:r>
              <a:t> &lt; n ＋ 1 ≤  2</a:t>
            </a:r>
            <a:r>
              <a:rPr baseline="31997"/>
              <a:t>k</a:t>
            </a:r>
            <a:r>
              <a:t> </a:t>
            </a:r>
          </a:p>
          <a:p>
            <a:pPr indent="57797">
              <a:lnSpc>
                <a:spcPct val="120000"/>
              </a:lnSpc>
            </a:pPr>
            <a:r>
              <a:t>             于是：k-1 &lt; log</a:t>
            </a:r>
            <a:r>
              <a:rPr baseline="-5998"/>
              <a:t>2</a:t>
            </a:r>
            <a:r>
              <a:t>(n+1) ≤ k</a:t>
            </a:r>
          </a:p>
          <a:p>
            <a:pPr indent="57797">
              <a:lnSpc>
                <a:spcPct val="120000"/>
              </a:lnSpc>
            </a:pPr>
            <a:r>
              <a:t>                         k = ⎡ log</a:t>
            </a:r>
            <a:r>
              <a:rPr baseline="-5998"/>
              <a:t>2</a:t>
            </a:r>
            <a:r>
              <a:t>(n+1)</a:t>
            </a:r>
            <a:r>
              <a:rPr baseline="35332"/>
              <a:t> </a:t>
            </a:r>
            <a:r>
              <a:t>⎤ </a:t>
            </a:r>
          </a:p>
        </p:txBody>
      </p:sp>
      <p:sp>
        <p:nvSpPr>
          <p:cNvPr id="969" name="Shape 967"/>
          <p:cNvSpPr txBox="1"/>
          <p:nvPr/>
        </p:nvSpPr>
        <p:spPr>
          <a:xfrm>
            <a:off x="5988867" y="5431369"/>
            <a:ext cx="6335784" cy="292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</a:pPr>
            <a:r>
              <a:t>             所以：2</a:t>
            </a:r>
            <a:r>
              <a:rPr baseline="31997"/>
              <a:t>k-1</a:t>
            </a:r>
            <a:r>
              <a:t> - 1 &lt; n ≤ 2</a:t>
            </a:r>
            <a:r>
              <a:rPr baseline="31997"/>
              <a:t>k</a:t>
            </a:r>
            <a:r>
              <a:t> - 1             </a:t>
            </a:r>
          </a:p>
          <a:p>
            <a:pPr indent="57797">
              <a:lnSpc>
                <a:spcPct val="120000"/>
              </a:lnSpc>
            </a:pPr>
            <a:r>
              <a:t>                         2</a:t>
            </a:r>
            <a:r>
              <a:rPr baseline="31997"/>
              <a:t>k-1</a:t>
            </a:r>
            <a:r>
              <a:t> ≤ n &lt; 2</a:t>
            </a:r>
            <a:r>
              <a:rPr baseline="31997"/>
              <a:t>k</a:t>
            </a:r>
            <a:r>
              <a:t> </a:t>
            </a:r>
          </a:p>
          <a:p>
            <a:pPr indent="57797">
              <a:lnSpc>
                <a:spcPct val="120000"/>
              </a:lnSpc>
            </a:pPr>
            <a:r>
              <a:t>             于是：k-1 ≤ log</a:t>
            </a:r>
            <a:r>
              <a:rPr baseline="-5998"/>
              <a:t>2</a:t>
            </a:r>
            <a:r>
              <a:t>(n) &lt; k</a:t>
            </a:r>
          </a:p>
          <a:p>
            <a:pPr indent="57797">
              <a:lnSpc>
                <a:spcPct val="120000"/>
              </a:lnSpc>
            </a:pPr>
            <a:r>
              <a:t>                         k - 1 = ⎣ log</a:t>
            </a:r>
            <a:r>
              <a:rPr baseline="-5998"/>
              <a:t>2</a:t>
            </a:r>
            <a:r>
              <a:t>(n) ⎦ </a:t>
            </a:r>
          </a:p>
          <a:p>
            <a:pPr indent="57797">
              <a:lnSpc>
                <a:spcPct val="120000"/>
              </a:lnSpc>
            </a:pPr>
            <a:r>
              <a:t>                         k = ⎣ log</a:t>
            </a:r>
            <a:r>
              <a:rPr baseline="-5998"/>
              <a:t>2</a:t>
            </a:r>
            <a:r>
              <a:t>(n) ⎦ + 1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69" grpId="3"/>
      <p:bldP build="whole" bldLvl="1" animBg="1" rev="0" advAuto="0" spid="965" grpId="1"/>
      <p:bldP build="p" bldLvl="5" animBg="1" rev="0" advAuto="0" spid="968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Shape 871"/>
          <p:cNvSpPr txBox="1"/>
          <p:nvPr/>
        </p:nvSpPr>
        <p:spPr>
          <a:xfrm>
            <a:off x="212688" y="1156264"/>
            <a:ext cx="1253426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按照从上往下，从左往右，从0开始连续对完全二叉树的结点编号：</a:t>
            </a:r>
          </a:p>
        </p:txBody>
      </p:sp>
      <p:grpSp>
        <p:nvGrpSpPr>
          <p:cNvPr id="1001" name="成组"/>
          <p:cNvGrpSpPr/>
          <p:nvPr/>
        </p:nvGrpSpPr>
        <p:grpSpPr>
          <a:xfrm>
            <a:off x="6902749" y="2176900"/>
            <a:ext cx="5561479" cy="3330229"/>
            <a:chOff x="0" y="0"/>
            <a:chExt cx="5561478" cy="3330228"/>
          </a:xfrm>
        </p:grpSpPr>
        <p:sp>
          <p:nvSpPr>
            <p:cNvPr id="972" name="Shape 912"/>
            <p:cNvSpPr/>
            <p:nvPr/>
          </p:nvSpPr>
          <p:spPr>
            <a:xfrm>
              <a:off x="2680548" y="0"/>
              <a:ext cx="584203" cy="47639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3" name="Shape 913"/>
            <p:cNvSpPr txBox="1"/>
            <p:nvPr/>
          </p:nvSpPr>
          <p:spPr>
            <a:xfrm>
              <a:off x="2771518" y="23988"/>
              <a:ext cx="324499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74" name="Shape 915"/>
            <p:cNvSpPr/>
            <p:nvPr/>
          </p:nvSpPr>
          <p:spPr>
            <a:xfrm>
              <a:off x="1145258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5" name="Shape 916"/>
            <p:cNvSpPr txBox="1"/>
            <p:nvPr/>
          </p:nvSpPr>
          <p:spPr>
            <a:xfrm>
              <a:off x="1235101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76" name="Shape 918"/>
            <p:cNvSpPr/>
            <p:nvPr/>
          </p:nvSpPr>
          <p:spPr>
            <a:xfrm>
              <a:off x="4218094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7" name="Shape 919"/>
            <p:cNvSpPr txBox="1"/>
            <p:nvPr/>
          </p:nvSpPr>
          <p:spPr>
            <a:xfrm>
              <a:off x="4320637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78" name="Shape 921"/>
            <p:cNvSpPr/>
            <p:nvPr/>
          </p:nvSpPr>
          <p:spPr>
            <a:xfrm>
              <a:off x="377613" y="1903307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9" name="Shape 922"/>
            <p:cNvSpPr txBox="1"/>
            <p:nvPr/>
          </p:nvSpPr>
          <p:spPr>
            <a:xfrm>
              <a:off x="467455" y="1889195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80" name="Shape 924"/>
            <p:cNvSpPr/>
            <p:nvPr/>
          </p:nvSpPr>
          <p:spPr>
            <a:xfrm>
              <a:off x="1912902" y="1903307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1" name="Shape 925"/>
            <p:cNvSpPr txBox="1"/>
            <p:nvPr/>
          </p:nvSpPr>
          <p:spPr>
            <a:xfrm>
              <a:off x="2002744" y="1889195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82" name="Shape 927"/>
            <p:cNvSpPr/>
            <p:nvPr/>
          </p:nvSpPr>
          <p:spPr>
            <a:xfrm>
              <a:off x="3450449" y="1903307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3" name="Shape 928"/>
            <p:cNvSpPr txBox="1"/>
            <p:nvPr/>
          </p:nvSpPr>
          <p:spPr>
            <a:xfrm>
              <a:off x="3540292" y="1889195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84" name="Shape 930"/>
            <p:cNvSpPr/>
            <p:nvPr/>
          </p:nvSpPr>
          <p:spPr>
            <a:xfrm>
              <a:off x="4985740" y="1903307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5" name="Shape 931"/>
            <p:cNvSpPr txBox="1"/>
            <p:nvPr/>
          </p:nvSpPr>
          <p:spPr>
            <a:xfrm>
              <a:off x="5075581" y="1889195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86" name="Shape 933"/>
            <p:cNvSpPr/>
            <p:nvPr/>
          </p:nvSpPr>
          <p:spPr>
            <a:xfrm>
              <a:off x="0" y="2853832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7" name="Shape 934"/>
            <p:cNvSpPr txBox="1"/>
            <p:nvPr/>
          </p:nvSpPr>
          <p:spPr>
            <a:xfrm>
              <a:off x="83634" y="2839721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988" name="Shape 936"/>
            <p:cNvSpPr/>
            <p:nvPr/>
          </p:nvSpPr>
          <p:spPr>
            <a:xfrm>
              <a:off x="761434" y="2853832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9" name="Shape 937"/>
            <p:cNvSpPr txBox="1"/>
            <p:nvPr/>
          </p:nvSpPr>
          <p:spPr>
            <a:xfrm>
              <a:off x="851278" y="2839721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990" name="Shape 939"/>
            <p:cNvSpPr/>
            <p:nvPr/>
          </p:nvSpPr>
          <p:spPr>
            <a:xfrm>
              <a:off x="1523999" y="2853832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1" name="Shape 940"/>
            <p:cNvSpPr txBox="1"/>
            <p:nvPr/>
          </p:nvSpPr>
          <p:spPr>
            <a:xfrm>
              <a:off x="1626825" y="2839721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992" name="Shape 942"/>
            <p:cNvSpPr/>
            <p:nvPr/>
          </p:nvSpPr>
          <p:spPr>
            <a:xfrm flipH="1">
              <a:off x="1434253" y="284480"/>
              <a:ext cx="1244603" cy="66604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3" name="Shape 943"/>
            <p:cNvSpPr/>
            <p:nvPr/>
          </p:nvSpPr>
          <p:spPr>
            <a:xfrm>
              <a:off x="3258538" y="284480"/>
              <a:ext cx="1244604" cy="66604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4" name="Shape 944"/>
            <p:cNvSpPr/>
            <p:nvPr/>
          </p:nvSpPr>
          <p:spPr>
            <a:xfrm flipH="1">
              <a:off x="666607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5" name="Shape 945"/>
            <p:cNvSpPr/>
            <p:nvPr/>
          </p:nvSpPr>
          <p:spPr>
            <a:xfrm>
              <a:off x="1720991" y="1142435"/>
              <a:ext cx="48090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6" name="Shape 946"/>
            <p:cNvSpPr/>
            <p:nvPr/>
          </p:nvSpPr>
          <p:spPr>
            <a:xfrm flipH="1">
              <a:off x="3737187" y="1142435"/>
              <a:ext cx="480910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7" name="Shape 947"/>
            <p:cNvSpPr/>
            <p:nvPr/>
          </p:nvSpPr>
          <p:spPr>
            <a:xfrm>
              <a:off x="4793828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8" name="Shape 948"/>
            <p:cNvSpPr/>
            <p:nvPr/>
          </p:nvSpPr>
          <p:spPr>
            <a:xfrm flipH="1">
              <a:off x="279400" y="2092961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999" name="Shape 949"/>
            <p:cNvSpPr/>
            <p:nvPr/>
          </p:nvSpPr>
          <p:spPr>
            <a:xfrm>
              <a:off x="953347" y="2092961"/>
              <a:ext cx="97087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0" name="Shape 950"/>
            <p:cNvSpPr/>
            <p:nvPr/>
          </p:nvSpPr>
          <p:spPr>
            <a:xfrm flipH="1">
              <a:off x="1816100" y="2092961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1002" name="Shape 952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</a:t>
            </a:r>
          </a:p>
        </p:txBody>
      </p:sp>
      <p:grpSp>
        <p:nvGrpSpPr>
          <p:cNvPr id="1032" name="成组"/>
          <p:cNvGrpSpPr/>
          <p:nvPr/>
        </p:nvGrpSpPr>
        <p:grpSpPr>
          <a:xfrm>
            <a:off x="621819" y="2162788"/>
            <a:ext cx="5877000" cy="3691190"/>
            <a:chOff x="0" y="0"/>
            <a:chExt cx="5876999" cy="3691188"/>
          </a:xfrm>
        </p:grpSpPr>
        <p:sp>
          <p:nvSpPr>
            <p:cNvPr id="1003" name="Shape 638"/>
            <p:cNvSpPr/>
            <p:nvPr/>
          </p:nvSpPr>
          <p:spPr>
            <a:xfrm>
              <a:off x="3416017" y="477519"/>
              <a:ext cx="1291452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4" name="Shape 639"/>
            <p:cNvSpPr/>
            <p:nvPr/>
          </p:nvSpPr>
          <p:spPr>
            <a:xfrm flipH="1">
              <a:off x="1889759" y="452684"/>
              <a:ext cx="1106314" cy="6276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5" name="Shape 640"/>
            <p:cNvSpPr/>
            <p:nvPr/>
          </p:nvSpPr>
          <p:spPr>
            <a:xfrm>
              <a:off x="1993617" y="1416755"/>
              <a:ext cx="566706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6" name="Shape 641"/>
            <p:cNvSpPr/>
            <p:nvPr/>
          </p:nvSpPr>
          <p:spPr>
            <a:xfrm>
              <a:off x="869243" y="2439529"/>
              <a:ext cx="304803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07" name="Shape 642"/>
            <p:cNvSpPr/>
            <p:nvPr/>
          </p:nvSpPr>
          <p:spPr>
            <a:xfrm>
              <a:off x="2862579" y="81844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8" name="Shape 643"/>
            <p:cNvSpPr/>
            <p:nvPr/>
          </p:nvSpPr>
          <p:spPr>
            <a:xfrm>
              <a:off x="1481102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9" name="Shape 644"/>
            <p:cNvSpPr/>
            <p:nvPr/>
          </p:nvSpPr>
          <p:spPr>
            <a:xfrm>
              <a:off x="4284979" y="947138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0" name="Shape 645"/>
            <p:cNvSpPr/>
            <p:nvPr/>
          </p:nvSpPr>
          <p:spPr>
            <a:xfrm>
              <a:off x="50122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1" name="Shape 646"/>
            <p:cNvSpPr/>
            <p:nvPr/>
          </p:nvSpPr>
          <p:spPr>
            <a:xfrm>
              <a:off x="2199075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2" name="Shape 647"/>
            <p:cNvSpPr/>
            <p:nvPr/>
          </p:nvSpPr>
          <p:spPr>
            <a:xfrm>
              <a:off x="3705013" y="1927013"/>
              <a:ext cx="645729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3" name="Shape 648"/>
            <p:cNvSpPr/>
            <p:nvPr/>
          </p:nvSpPr>
          <p:spPr>
            <a:xfrm>
              <a:off x="5231270" y="1927013"/>
              <a:ext cx="645730" cy="54864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4" name="Shape 649"/>
            <p:cNvSpPr/>
            <p:nvPr/>
          </p:nvSpPr>
          <p:spPr>
            <a:xfrm>
              <a:off x="-1" y="3117145"/>
              <a:ext cx="64346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5" name="Shape 650"/>
            <p:cNvSpPr/>
            <p:nvPr/>
          </p:nvSpPr>
          <p:spPr>
            <a:xfrm>
              <a:off x="1790417" y="3119121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6" name="Shape 653"/>
            <p:cNvSpPr txBox="1"/>
            <p:nvPr/>
          </p:nvSpPr>
          <p:spPr>
            <a:xfrm>
              <a:off x="2940342" y="-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17" name="Shape 654"/>
            <p:cNvSpPr txBox="1"/>
            <p:nvPr/>
          </p:nvSpPr>
          <p:spPr>
            <a:xfrm>
              <a:off x="4329159" y="938671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18" name="Shape 655"/>
            <p:cNvSpPr txBox="1"/>
            <p:nvPr/>
          </p:nvSpPr>
          <p:spPr>
            <a:xfrm>
              <a:off x="5286209" y="1893146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019" name="Shape 656"/>
            <p:cNvSpPr txBox="1"/>
            <p:nvPr/>
          </p:nvSpPr>
          <p:spPr>
            <a:xfrm>
              <a:off x="1558581" y="913271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20" name="Shape 657"/>
            <p:cNvSpPr txBox="1"/>
            <p:nvPr/>
          </p:nvSpPr>
          <p:spPr>
            <a:xfrm>
              <a:off x="578706" y="1905846"/>
              <a:ext cx="483931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21" name="Shape 658"/>
            <p:cNvSpPr txBox="1"/>
            <p:nvPr/>
          </p:nvSpPr>
          <p:spPr>
            <a:xfrm>
              <a:off x="2287121" y="1905846"/>
              <a:ext cx="460106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22" name="Shape 659"/>
            <p:cNvSpPr txBox="1"/>
            <p:nvPr/>
          </p:nvSpPr>
          <p:spPr>
            <a:xfrm>
              <a:off x="3798227" y="1905846"/>
              <a:ext cx="435860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023" name="Shape 662"/>
            <p:cNvSpPr txBox="1"/>
            <p:nvPr/>
          </p:nvSpPr>
          <p:spPr>
            <a:xfrm>
              <a:off x="40789" y="3101058"/>
              <a:ext cx="507967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024" name="Shape 663"/>
            <p:cNvSpPr txBox="1"/>
            <p:nvPr/>
          </p:nvSpPr>
          <p:spPr>
            <a:xfrm>
              <a:off x="1859360" y="3075658"/>
              <a:ext cx="387999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1025" name="Shape 664"/>
            <p:cNvSpPr/>
            <p:nvPr/>
          </p:nvSpPr>
          <p:spPr>
            <a:xfrm>
              <a:off x="869243" y="3142545"/>
              <a:ext cx="645729" cy="54864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6" name="Shape 665"/>
            <p:cNvSpPr txBox="1"/>
            <p:nvPr/>
          </p:nvSpPr>
          <p:spPr>
            <a:xfrm>
              <a:off x="1005180" y="3113758"/>
              <a:ext cx="340138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1027" name="Shape 666"/>
            <p:cNvSpPr/>
            <p:nvPr/>
          </p:nvSpPr>
          <p:spPr>
            <a:xfrm flipH="1">
              <a:off x="1072444" y="1416755"/>
              <a:ext cx="512519" cy="609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28" name="Shape 667"/>
            <p:cNvSpPr/>
            <p:nvPr/>
          </p:nvSpPr>
          <p:spPr>
            <a:xfrm flipH="1">
              <a:off x="4145279" y="1416755"/>
              <a:ext cx="3048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29" name="Shape 668"/>
            <p:cNvSpPr/>
            <p:nvPr/>
          </p:nvSpPr>
          <p:spPr>
            <a:xfrm>
              <a:off x="4863254" y="1416755"/>
              <a:ext cx="609603" cy="510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30" name="Shape 678"/>
            <p:cNvSpPr/>
            <p:nvPr/>
          </p:nvSpPr>
          <p:spPr>
            <a:xfrm flipH="1">
              <a:off x="356727" y="2439529"/>
              <a:ext cx="408662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31" name="Shape 679"/>
            <p:cNvSpPr/>
            <p:nvPr/>
          </p:nvSpPr>
          <p:spPr>
            <a:xfrm flipH="1">
              <a:off x="2097475" y="2439529"/>
              <a:ext cx="408661" cy="7179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Shape 1016"/>
          <p:cNvSpPr txBox="1"/>
          <p:nvPr/>
        </p:nvSpPr>
        <p:spPr>
          <a:xfrm>
            <a:off x="704849" y="1951714"/>
            <a:ext cx="11909452" cy="1516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501315" indent="-501315">
              <a:buSzPct val="100000"/>
              <a:buAutoNum type="arabicParenBoth" startAt="1"/>
            </a:pPr>
            <a:r>
              <a:t>若 i=0，则该结点是二叉树的根，无双亲。 否则，编号为 ⎣ </a:t>
            </a:r>
            <a14:m>
              <m:oMath>
                <m:f>
                  <m:fPr>
                    <m:ctrlP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⎦ </a:t>
            </a:r>
          </a:p>
          <a:p>
            <a:pPr/>
            <a:r>
              <a:t>     的结点为其双亲结点。</a:t>
            </a:r>
          </a:p>
        </p:txBody>
      </p:sp>
      <p:sp>
        <p:nvSpPr>
          <p:cNvPr id="1035" name="Shape 972"/>
          <p:cNvSpPr txBox="1"/>
          <p:nvPr/>
        </p:nvSpPr>
        <p:spPr>
          <a:xfrm>
            <a:off x="71928" y="1206574"/>
            <a:ext cx="828046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性质 5 ：结点的编号之间具有关系：</a:t>
            </a:r>
          </a:p>
        </p:txBody>
      </p:sp>
      <p:sp>
        <p:nvSpPr>
          <p:cNvPr id="1036" name="Shape 1057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完全二叉树的特性</a:t>
            </a:r>
          </a:p>
        </p:txBody>
      </p:sp>
      <p:grpSp>
        <p:nvGrpSpPr>
          <p:cNvPr id="1066" name="成组"/>
          <p:cNvGrpSpPr/>
          <p:nvPr/>
        </p:nvGrpSpPr>
        <p:grpSpPr>
          <a:xfrm>
            <a:off x="3260302" y="3875687"/>
            <a:ext cx="5561479" cy="3330231"/>
            <a:chOff x="0" y="0"/>
            <a:chExt cx="5561478" cy="3330229"/>
          </a:xfrm>
        </p:grpSpPr>
        <p:sp>
          <p:nvSpPr>
            <p:cNvPr id="1037" name="Shape 912"/>
            <p:cNvSpPr/>
            <p:nvPr/>
          </p:nvSpPr>
          <p:spPr>
            <a:xfrm>
              <a:off x="2680548" y="0"/>
              <a:ext cx="584203" cy="47639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8" name="Shape 913"/>
            <p:cNvSpPr txBox="1"/>
            <p:nvPr/>
          </p:nvSpPr>
          <p:spPr>
            <a:xfrm>
              <a:off x="2771518" y="23987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39" name="Shape 915"/>
            <p:cNvSpPr/>
            <p:nvPr/>
          </p:nvSpPr>
          <p:spPr>
            <a:xfrm>
              <a:off x="1145258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0" name="Shape 916"/>
            <p:cNvSpPr txBox="1"/>
            <p:nvPr/>
          </p:nvSpPr>
          <p:spPr>
            <a:xfrm>
              <a:off x="1235101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41" name="Shape 918"/>
            <p:cNvSpPr/>
            <p:nvPr/>
          </p:nvSpPr>
          <p:spPr>
            <a:xfrm>
              <a:off x="4218094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2" name="Shape 919"/>
            <p:cNvSpPr txBox="1"/>
            <p:nvPr/>
          </p:nvSpPr>
          <p:spPr>
            <a:xfrm>
              <a:off x="4320637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43" name="Shape 921"/>
            <p:cNvSpPr/>
            <p:nvPr/>
          </p:nvSpPr>
          <p:spPr>
            <a:xfrm>
              <a:off x="377613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4" name="Shape 922"/>
            <p:cNvSpPr txBox="1"/>
            <p:nvPr/>
          </p:nvSpPr>
          <p:spPr>
            <a:xfrm>
              <a:off x="467455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45" name="Shape 924"/>
            <p:cNvSpPr/>
            <p:nvPr/>
          </p:nvSpPr>
          <p:spPr>
            <a:xfrm>
              <a:off x="1912902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6" name="Shape 925"/>
            <p:cNvSpPr txBox="1"/>
            <p:nvPr/>
          </p:nvSpPr>
          <p:spPr>
            <a:xfrm>
              <a:off x="2002744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47" name="Shape 927"/>
            <p:cNvSpPr/>
            <p:nvPr/>
          </p:nvSpPr>
          <p:spPr>
            <a:xfrm>
              <a:off x="3450449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8" name="Shape 928"/>
            <p:cNvSpPr txBox="1"/>
            <p:nvPr/>
          </p:nvSpPr>
          <p:spPr>
            <a:xfrm>
              <a:off x="3540292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49" name="Shape 930"/>
            <p:cNvSpPr/>
            <p:nvPr/>
          </p:nvSpPr>
          <p:spPr>
            <a:xfrm>
              <a:off x="4985740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0" name="Shape 931"/>
            <p:cNvSpPr txBox="1"/>
            <p:nvPr/>
          </p:nvSpPr>
          <p:spPr>
            <a:xfrm>
              <a:off x="5075581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051" name="Shape 933"/>
            <p:cNvSpPr/>
            <p:nvPr/>
          </p:nvSpPr>
          <p:spPr>
            <a:xfrm>
              <a:off x="0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2" name="Shape 934"/>
            <p:cNvSpPr txBox="1"/>
            <p:nvPr/>
          </p:nvSpPr>
          <p:spPr>
            <a:xfrm>
              <a:off x="83634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053" name="Shape 936"/>
            <p:cNvSpPr/>
            <p:nvPr/>
          </p:nvSpPr>
          <p:spPr>
            <a:xfrm>
              <a:off x="761434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4" name="Shape 937"/>
            <p:cNvSpPr txBox="1"/>
            <p:nvPr/>
          </p:nvSpPr>
          <p:spPr>
            <a:xfrm>
              <a:off x="851278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055" name="Shape 939"/>
            <p:cNvSpPr/>
            <p:nvPr/>
          </p:nvSpPr>
          <p:spPr>
            <a:xfrm>
              <a:off x="1523999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6" name="Shape 940"/>
            <p:cNvSpPr txBox="1"/>
            <p:nvPr/>
          </p:nvSpPr>
          <p:spPr>
            <a:xfrm>
              <a:off x="1626825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057" name="Shape 942"/>
            <p:cNvSpPr/>
            <p:nvPr/>
          </p:nvSpPr>
          <p:spPr>
            <a:xfrm flipH="1">
              <a:off x="1434253" y="284480"/>
              <a:ext cx="1244603" cy="66604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58" name="Shape 943"/>
            <p:cNvSpPr/>
            <p:nvPr/>
          </p:nvSpPr>
          <p:spPr>
            <a:xfrm>
              <a:off x="3258538" y="284480"/>
              <a:ext cx="1244604" cy="66604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59" name="Shape 944"/>
            <p:cNvSpPr/>
            <p:nvPr/>
          </p:nvSpPr>
          <p:spPr>
            <a:xfrm flipH="1">
              <a:off x="666607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0" name="Shape 945"/>
            <p:cNvSpPr/>
            <p:nvPr/>
          </p:nvSpPr>
          <p:spPr>
            <a:xfrm>
              <a:off x="1720991" y="1142435"/>
              <a:ext cx="48090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1" name="Shape 946"/>
            <p:cNvSpPr/>
            <p:nvPr/>
          </p:nvSpPr>
          <p:spPr>
            <a:xfrm flipH="1">
              <a:off x="3737187" y="1142435"/>
              <a:ext cx="480910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2" name="Shape 947"/>
            <p:cNvSpPr/>
            <p:nvPr/>
          </p:nvSpPr>
          <p:spPr>
            <a:xfrm>
              <a:off x="4793828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3" name="Shape 948"/>
            <p:cNvSpPr/>
            <p:nvPr/>
          </p:nvSpPr>
          <p:spPr>
            <a:xfrm flipH="1">
              <a:off x="279400" y="2092962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4" name="Shape 949"/>
            <p:cNvSpPr/>
            <p:nvPr/>
          </p:nvSpPr>
          <p:spPr>
            <a:xfrm>
              <a:off x="953347" y="2092962"/>
              <a:ext cx="97087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65" name="Shape 950"/>
            <p:cNvSpPr/>
            <p:nvPr/>
          </p:nvSpPr>
          <p:spPr>
            <a:xfrm flipH="1">
              <a:off x="1816100" y="2092962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Shape 1059"/>
          <p:cNvSpPr txBox="1"/>
          <p:nvPr/>
        </p:nvSpPr>
        <p:spPr>
          <a:xfrm>
            <a:off x="703578" y="1155625"/>
            <a:ext cx="11684005" cy="26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</a:pPr>
            <a:r>
              <a:t>(2) 若 2i + 1 &gt; n，则该结点无左孩子,  否则，编号为 2i + 1 的结点为</a:t>
            </a:r>
          </a:p>
          <a:p>
            <a:pPr indent="57797">
              <a:lnSpc>
                <a:spcPct val="120000"/>
              </a:lnSpc>
            </a:pPr>
            <a:r>
              <a:t>     其左孩子结点。</a:t>
            </a:r>
          </a:p>
          <a:p>
            <a:pPr indent="57797">
              <a:lnSpc>
                <a:spcPct val="120000"/>
              </a:lnSpc>
            </a:pPr>
            <a:r>
              <a:t>     若 2i+2 &gt; n，则该结点无右孩子结点，否则，编号为2i+2 的结点为</a:t>
            </a:r>
          </a:p>
          <a:p>
            <a:pPr indent="57797">
              <a:lnSpc>
                <a:spcPct val="120000"/>
              </a:lnSpc>
            </a:pPr>
            <a:r>
              <a:t>     其右孩子结点。</a:t>
            </a:r>
          </a:p>
        </p:txBody>
      </p:sp>
      <p:sp>
        <p:nvSpPr>
          <p:cNvPr id="1069" name="Shape 110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完全二叉树的特性</a:t>
            </a:r>
          </a:p>
        </p:txBody>
      </p:sp>
      <p:grpSp>
        <p:nvGrpSpPr>
          <p:cNvPr id="1099" name="成组"/>
          <p:cNvGrpSpPr/>
          <p:nvPr/>
        </p:nvGrpSpPr>
        <p:grpSpPr>
          <a:xfrm>
            <a:off x="3764841" y="4415585"/>
            <a:ext cx="5561480" cy="3330230"/>
            <a:chOff x="0" y="0"/>
            <a:chExt cx="5561478" cy="3330229"/>
          </a:xfrm>
        </p:grpSpPr>
        <p:sp>
          <p:nvSpPr>
            <p:cNvPr id="1070" name="Shape 912"/>
            <p:cNvSpPr/>
            <p:nvPr/>
          </p:nvSpPr>
          <p:spPr>
            <a:xfrm>
              <a:off x="2680548" y="0"/>
              <a:ext cx="584203" cy="47639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1" name="Shape 913"/>
            <p:cNvSpPr txBox="1"/>
            <p:nvPr/>
          </p:nvSpPr>
          <p:spPr>
            <a:xfrm>
              <a:off x="2771518" y="23987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72" name="Shape 915"/>
            <p:cNvSpPr/>
            <p:nvPr/>
          </p:nvSpPr>
          <p:spPr>
            <a:xfrm>
              <a:off x="1145258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3" name="Shape 916"/>
            <p:cNvSpPr txBox="1"/>
            <p:nvPr/>
          </p:nvSpPr>
          <p:spPr>
            <a:xfrm>
              <a:off x="1235101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74" name="Shape 918"/>
            <p:cNvSpPr/>
            <p:nvPr/>
          </p:nvSpPr>
          <p:spPr>
            <a:xfrm>
              <a:off x="4218094" y="950524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5" name="Shape 919"/>
            <p:cNvSpPr txBox="1"/>
            <p:nvPr/>
          </p:nvSpPr>
          <p:spPr>
            <a:xfrm>
              <a:off x="4320637" y="987213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76" name="Shape 921"/>
            <p:cNvSpPr/>
            <p:nvPr/>
          </p:nvSpPr>
          <p:spPr>
            <a:xfrm>
              <a:off x="377613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7" name="Shape 922"/>
            <p:cNvSpPr txBox="1"/>
            <p:nvPr/>
          </p:nvSpPr>
          <p:spPr>
            <a:xfrm>
              <a:off x="467455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78" name="Shape 924"/>
            <p:cNvSpPr/>
            <p:nvPr/>
          </p:nvSpPr>
          <p:spPr>
            <a:xfrm>
              <a:off x="1912902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9" name="Shape 925"/>
            <p:cNvSpPr txBox="1"/>
            <p:nvPr/>
          </p:nvSpPr>
          <p:spPr>
            <a:xfrm>
              <a:off x="2002744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80" name="Shape 927"/>
            <p:cNvSpPr/>
            <p:nvPr/>
          </p:nvSpPr>
          <p:spPr>
            <a:xfrm>
              <a:off x="3450449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1" name="Shape 928"/>
            <p:cNvSpPr txBox="1"/>
            <p:nvPr/>
          </p:nvSpPr>
          <p:spPr>
            <a:xfrm>
              <a:off x="3540292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82" name="Shape 930"/>
            <p:cNvSpPr/>
            <p:nvPr/>
          </p:nvSpPr>
          <p:spPr>
            <a:xfrm>
              <a:off x="4985740" y="1903308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3" name="Shape 931"/>
            <p:cNvSpPr txBox="1"/>
            <p:nvPr/>
          </p:nvSpPr>
          <p:spPr>
            <a:xfrm>
              <a:off x="5075581" y="1889196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084" name="Shape 933"/>
            <p:cNvSpPr/>
            <p:nvPr/>
          </p:nvSpPr>
          <p:spPr>
            <a:xfrm>
              <a:off x="0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5" name="Shape 934"/>
            <p:cNvSpPr txBox="1"/>
            <p:nvPr/>
          </p:nvSpPr>
          <p:spPr>
            <a:xfrm>
              <a:off x="83634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086" name="Shape 936"/>
            <p:cNvSpPr/>
            <p:nvPr/>
          </p:nvSpPr>
          <p:spPr>
            <a:xfrm>
              <a:off x="761434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7" name="Shape 937"/>
            <p:cNvSpPr txBox="1"/>
            <p:nvPr/>
          </p:nvSpPr>
          <p:spPr>
            <a:xfrm>
              <a:off x="851278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088" name="Shape 939"/>
            <p:cNvSpPr/>
            <p:nvPr/>
          </p:nvSpPr>
          <p:spPr>
            <a:xfrm>
              <a:off x="1523999" y="2853833"/>
              <a:ext cx="575739" cy="47639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9" name="Shape 940"/>
            <p:cNvSpPr txBox="1"/>
            <p:nvPr/>
          </p:nvSpPr>
          <p:spPr>
            <a:xfrm>
              <a:off x="1626825" y="2839722"/>
              <a:ext cx="324499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090" name="Shape 942"/>
            <p:cNvSpPr/>
            <p:nvPr/>
          </p:nvSpPr>
          <p:spPr>
            <a:xfrm flipH="1">
              <a:off x="1434253" y="284480"/>
              <a:ext cx="1244603" cy="66604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1" name="Shape 943"/>
            <p:cNvSpPr/>
            <p:nvPr/>
          </p:nvSpPr>
          <p:spPr>
            <a:xfrm>
              <a:off x="3258538" y="284480"/>
              <a:ext cx="1244604" cy="66604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2" name="Shape 944"/>
            <p:cNvSpPr/>
            <p:nvPr/>
          </p:nvSpPr>
          <p:spPr>
            <a:xfrm flipH="1">
              <a:off x="666607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3" name="Shape 945"/>
            <p:cNvSpPr/>
            <p:nvPr/>
          </p:nvSpPr>
          <p:spPr>
            <a:xfrm>
              <a:off x="1720991" y="1142435"/>
              <a:ext cx="48090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4" name="Shape 946"/>
            <p:cNvSpPr/>
            <p:nvPr/>
          </p:nvSpPr>
          <p:spPr>
            <a:xfrm flipH="1">
              <a:off x="3737187" y="1142435"/>
              <a:ext cx="480910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5" name="Shape 947"/>
            <p:cNvSpPr/>
            <p:nvPr/>
          </p:nvSpPr>
          <p:spPr>
            <a:xfrm>
              <a:off x="4793828" y="1142435"/>
              <a:ext cx="478652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6" name="Shape 948"/>
            <p:cNvSpPr/>
            <p:nvPr/>
          </p:nvSpPr>
          <p:spPr>
            <a:xfrm flipH="1">
              <a:off x="279400" y="2092962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7" name="Shape 949"/>
            <p:cNvSpPr/>
            <p:nvPr/>
          </p:nvSpPr>
          <p:spPr>
            <a:xfrm>
              <a:off x="953347" y="2092962"/>
              <a:ext cx="97087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098" name="Shape 950"/>
            <p:cNvSpPr/>
            <p:nvPr/>
          </p:nvSpPr>
          <p:spPr>
            <a:xfrm flipH="1">
              <a:off x="1816100" y="2092962"/>
              <a:ext cx="94829" cy="7608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Shape 1233"/>
          <p:cNvSpPr txBox="1"/>
          <p:nvPr/>
        </p:nvSpPr>
        <p:spPr>
          <a:xfrm>
            <a:off x="229486" y="1205902"/>
            <a:ext cx="107696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1.具有1025个结点的二叉树的深度为____</a:t>
            </a:r>
          </a:p>
        </p:txBody>
      </p:sp>
      <p:sp>
        <p:nvSpPr>
          <p:cNvPr id="1102" name="Shape 1234"/>
          <p:cNvSpPr txBox="1"/>
          <p:nvPr/>
        </p:nvSpPr>
        <p:spPr>
          <a:xfrm>
            <a:off x="834670" y="2030245"/>
            <a:ext cx="987138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A.11    B.10     C.11至1025之间     D.10至1024之间</a:t>
            </a:r>
          </a:p>
        </p:txBody>
      </p:sp>
      <p:sp>
        <p:nvSpPr>
          <p:cNvPr id="1103" name="Shape 123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394" indent="47394" defTabSz="1062227">
              <a:defRPr sz="3900"/>
            </a:lvl1pPr>
          </a:lstStyle>
          <a:p>
            <a:pPr/>
            <a:r>
              <a:t>课堂练习</a:t>
            </a:r>
          </a:p>
        </p:txBody>
      </p:sp>
      <p:sp>
        <p:nvSpPr>
          <p:cNvPr id="1104" name="Shape 2320"/>
          <p:cNvSpPr txBox="1"/>
          <p:nvPr/>
        </p:nvSpPr>
        <p:spPr>
          <a:xfrm>
            <a:off x="229486" y="2854588"/>
            <a:ext cx="10769604" cy="1451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50000"/>
              </a:lnSpc>
            </a:pPr>
            <a:r>
              <a:t>2、有n个结点的满二叉树的叶子结点有多少？</a:t>
            </a:r>
            <a:endParaRPr b="1"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50000"/>
              </a:lnSpc>
            </a:pPr>
            <a:r>
              <a:t>3、完全二叉树的度为1的结点有多少？</a:t>
            </a:r>
          </a:p>
        </p:txBody>
      </p:sp>
      <p:sp>
        <p:nvSpPr>
          <p:cNvPr id="1105" name="Shape 2320"/>
          <p:cNvSpPr txBox="1"/>
          <p:nvPr/>
        </p:nvSpPr>
        <p:spPr>
          <a:xfrm>
            <a:off x="229486" y="6443086"/>
            <a:ext cx="1250067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5、有n个结点的二叉树最大深度是多少？最少深度是多少？ </a:t>
            </a:r>
          </a:p>
        </p:txBody>
      </p:sp>
      <p:sp>
        <p:nvSpPr>
          <p:cNvPr id="1106" name="Shape 1235"/>
          <p:cNvSpPr txBox="1"/>
          <p:nvPr/>
        </p:nvSpPr>
        <p:spPr>
          <a:xfrm>
            <a:off x="229486" y="4610052"/>
            <a:ext cx="1158643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4、一棵完全二叉树上有1001个结点，其中叶子结点的个数是____</a:t>
            </a:r>
          </a:p>
        </p:txBody>
      </p:sp>
      <p:sp>
        <p:nvSpPr>
          <p:cNvPr id="1107" name="Shape 1236"/>
          <p:cNvSpPr txBox="1"/>
          <p:nvPr/>
        </p:nvSpPr>
        <p:spPr>
          <a:xfrm>
            <a:off x="991845" y="5573839"/>
            <a:ext cx="893906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A.250   B.500    C.254    D.505   E.以上答案都不对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Shape 1353"/>
          <p:cNvSpPr/>
          <p:nvPr/>
        </p:nvSpPr>
        <p:spPr>
          <a:xfrm>
            <a:off x="6800426" y="1856699"/>
            <a:ext cx="1291452" cy="540269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10" name="Shape 1354"/>
          <p:cNvSpPr/>
          <p:nvPr/>
        </p:nvSpPr>
        <p:spPr>
          <a:xfrm flipH="1">
            <a:off x="5270500" y="1835321"/>
            <a:ext cx="1106314" cy="540270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11" name="Shape 1355"/>
          <p:cNvSpPr/>
          <p:nvPr/>
        </p:nvSpPr>
        <p:spPr>
          <a:xfrm>
            <a:off x="5378025" y="2665155"/>
            <a:ext cx="566706" cy="439212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12" name="Shape 1356"/>
          <p:cNvSpPr/>
          <p:nvPr/>
        </p:nvSpPr>
        <p:spPr>
          <a:xfrm>
            <a:off x="4253652" y="3545518"/>
            <a:ext cx="304803" cy="618006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13" name="Shape 1357"/>
          <p:cNvSpPr/>
          <p:nvPr/>
        </p:nvSpPr>
        <p:spPr>
          <a:xfrm>
            <a:off x="6247271" y="1520490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4" name="Shape 1358"/>
          <p:cNvSpPr/>
          <p:nvPr/>
        </p:nvSpPr>
        <p:spPr>
          <a:xfrm>
            <a:off x="4865510" y="2260927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5" name="Shape 1359"/>
          <p:cNvSpPr/>
          <p:nvPr/>
        </p:nvSpPr>
        <p:spPr>
          <a:xfrm>
            <a:off x="7674186" y="2260927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6" name="Shape 1360"/>
          <p:cNvSpPr/>
          <p:nvPr/>
        </p:nvSpPr>
        <p:spPr>
          <a:xfrm>
            <a:off x="3885634" y="3104365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7" name="Shape 1361"/>
          <p:cNvSpPr/>
          <p:nvPr/>
        </p:nvSpPr>
        <p:spPr>
          <a:xfrm>
            <a:off x="5583483" y="3104365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8" name="Shape 1362"/>
          <p:cNvSpPr/>
          <p:nvPr/>
        </p:nvSpPr>
        <p:spPr>
          <a:xfrm>
            <a:off x="7089423" y="3104365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9" name="Shape 1363"/>
          <p:cNvSpPr/>
          <p:nvPr/>
        </p:nvSpPr>
        <p:spPr>
          <a:xfrm>
            <a:off x="8610601" y="3104365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0" name="Shape 1364"/>
          <p:cNvSpPr/>
          <p:nvPr/>
        </p:nvSpPr>
        <p:spPr>
          <a:xfrm>
            <a:off x="3384407" y="4132427"/>
            <a:ext cx="643471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1" name="Shape 1365"/>
          <p:cNvSpPr/>
          <p:nvPr/>
        </p:nvSpPr>
        <p:spPr>
          <a:xfrm>
            <a:off x="5174825" y="4130483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2" name="Shape 1366"/>
          <p:cNvSpPr txBox="1"/>
          <p:nvPr/>
        </p:nvSpPr>
        <p:spPr>
          <a:xfrm>
            <a:off x="6357238" y="1430893"/>
            <a:ext cx="520618" cy="6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23" name="Shape 1367"/>
          <p:cNvSpPr txBox="1"/>
          <p:nvPr/>
        </p:nvSpPr>
        <p:spPr>
          <a:xfrm>
            <a:off x="7784153" y="2174245"/>
            <a:ext cx="520617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24" name="Shape 1368"/>
          <p:cNvSpPr txBox="1"/>
          <p:nvPr/>
        </p:nvSpPr>
        <p:spPr>
          <a:xfrm>
            <a:off x="8678349" y="3016710"/>
            <a:ext cx="547480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1125" name="Shape 1369"/>
          <p:cNvSpPr txBox="1"/>
          <p:nvPr/>
        </p:nvSpPr>
        <p:spPr>
          <a:xfrm>
            <a:off x="4975477" y="2174245"/>
            <a:ext cx="520617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26" name="Shape 1370"/>
          <p:cNvSpPr txBox="1"/>
          <p:nvPr/>
        </p:nvSpPr>
        <p:spPr>
          <a:xfrm>
            <a:off x="3995601" y="3016710"/>
            <a:ext cx="520617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127" name="Shape 1371"/>
          <p:cNvSpPr txBox="1"/>
          <p:nvPr/>
        </p:nvSpPr>
        <p:spPr>
          <a:xfrm>
            <a:off x="5708747" y="3016710"/>
            <a:ext cx="493989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128" name="Shape 1372"/>
          <p:cNvSpPr txBox="1"/>
          <p:nvPr/>
        </p:nvSpPr>
        <p:spPr>
          <a:xfrm>
            <a:off x="7213834" y="3016710"/>
            <a:ext cx="466891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129" name="Shape 1373"/>
          <p:cNvSpPr txBox="1"/>
          <p:nvPr/>
        </p:nvSpPr>
        <p:spPr>
          <a:xfrm>
            <a:off x="3483085" y="4056433"/>
            <a:ext cx="520617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130" name="Shape 1374"/>
          <p:cNvSpPr txBox="1"/>
          <p:nvPr/>
        </p:nvSpPr>
        <p:spPr>
          <a:xfrm>
            <a:off x="5312434" y="4056433"/>
            <a:ext cx="440498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</a:t>
            </a:r>
          </a:p>
        </p:txBody>
      </p:sp>
      <p:sp>
        <p:nvSpPr>
          <p:cNvPr id="1131" name="Shape 1375"/>
          <p:cNvSpPr/>
          <p:nvPr/>
        </p:nvSpPr>
        <p:spPr>
          <a:xfrm>
            <a:off x="4253652" y="4147974"/>
            <a:ext cx="645729" cy="472251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76393B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32" name="Shape 1376"/>
          <p:cNvSpPr txBox="1"/>
          <p:nvPr/>
        </p:nvSpPr>
        <p:spPr>
          <a:xfrm>
            <a:off x="4455032" y="4056433"/>
            <a:ext cx="306181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algn="ctr" defTabSz="1295400">
              <a:defRPr b="1" sz="3800">
                <a:solidFill>
                  <a:srgbClr val="FFFFCC"/>
                </a:solidFill>
                <a:uFill>
                  <a:solidFill>
                    <a:srgbClr val="FFFFCC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1133" name="Shape 1377"/>
          <p:cNvSpPr/>
          <p:nvPr/>
        </p:nvSpPr>
        <p:spPr>
          <a:xfrm flipH="1">
            <a:off x="4456852" y="2665155"/>
            <a:ext cx="512519" cy="528609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34" name="Shape 1378"/>
          <p:cNvSpPr/>
          <p:nvPr/>
        </p:nvSpPr>
        <p:spPr>
          <a:xfrm flipH="1">
            <a:off x="7529689" y="2665155"/>
            <a:ext cx="304803" cy="439212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35" name="Shape 1379"/>
          <p:cNvSpPr/>
          <p:nvPr/>
        </p:nvSpPr>
        <p:spPr>
          <a:xfrm>
            <a:off x="8247662" y="2665155"/>
            <a:ext cx="609603" cy="439212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36" name="Shape 1380"/>
          <p:cNvSpPr/>
          <p:nvPr/>
        </p:nvSpPr>
        <p:spPr>
          <a:xfrm flipH="1">
            <a:off x="3741137" y="3545518"/>
            <a:ext cx="408660" cy="618006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37" name="Shape 1381"/>
          <p:cNvSpPr/>
          <p:nvPr/>
        </p:nvSpPr>
        <p:spPr>
          <a:xfrm flipH="1">
            <a:off x="5481883" y="3545518"/>
            <a:ext cx="408661" cy="618006"/>
          </a:xfrm>
          <a:prstGeom prst="line">
            <a:avLst/>
          </a:prstGeom>
          <a:ln w="38100">
            <a:solidFill>
              <a:srgbClr val="0099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38" name="Shape 1382"/>
          <p:cNvSpPr txBox="1"/>
          <p:nvPr/>
        </p:nvSpPr>
        <p:spPr>
          <a:xfrm>
            <a:off x="6438145" y="1881703"/>
            <a:ext cx="41910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39" name="Shape 1383"/>
          <p:cNvSpPr txBox="1"/>
          <p:nvPr/>
        </p:nvSpPr>
        <p:spPr>
          <a:xfrm>
            <a:off x="4916028" y="2694509"/>
            <a:ext cx="7366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40" name="Shape 1384"/>
          <p:cNvSpPr txBox="1"/>
          <p:nvPr/>
        </p:nvSpPr>
        <p:spPr>
          <a:xfrm>
            <a:off x="7895944" y="2694509"/>
            <a:ext cx="7366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41" name="Shape 1385"/>
          <p:cNvSpPr txBox="1"/>
          <p:nvPr/>
        </p:nvSpPr>
        <p:spPr>
          <a:xfrm>
            <a:off x="3986951" y="3529341"/>
            <a:ext cx="7366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42" name="Shape 1386"/>
          <p:cNvSpPr txBox="1"/>
          <p:nvPr/>
        </p:nvSpPr>
        <p:spPr>
          <a:xfrm>
            <a:off x="5856251" y="3529341"/>
            <a:ext cx="5207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43" name="Shape 1387"/>
          <p:cNvSpPr txBox="1"/>
          <p:nvPr/>
        </p:nvSpPr>
        <p:spPr>
          <a:xfrm>
            <a:off x="7267300" y="3529341"/>
            <a:ext cx="5207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44" name="Shape 1388"/>
          <p:cNvSpPr txBox="1"/>
          <p:nvPr/>
        </p:nvSpPr>
        <p:spPr>
          <a:xfrm>
            <a:off x="8691739" y="3529341"/>
            <a:ext cx="5207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45" name="Shape 1389"/>
          <p:cNvSpPr txBox="1"/>
          <p:nvPr/>
        </p:nvSpPr>
        <p:spPr>
          <a:xfrm>
            <a:off x="3434077" y="4684353"/>
            <a:ext cx="5207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46" name="Shape 1390"/>
          <p:cNvSpPr txBox="1"/>
          <p:nvPr/>
        </p:nvSpPr>
        <p:spPr>
          <a:xfrm>
            <a:off x="4355252" y="4684353"/>
            <a:ext cx="5207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47" name="Shape 1391"/>
          <p:cNvSpPr txBox="1"/>
          <p:nvPr/>
        </p:nvSpPr>
        <p:spPr>
          <a:xfrm>
            <a:off x="5174825" y="4684353"/>
            <a:ext cx="7366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48" name="Shape 1394"/>
          <p:cNvSpPr txBox="1"/>
          <p:nvPr/>
        </p:nvSpPr>
        <p:spPr>
          <a:xfrm>
            <a:off x="2223910" y="6261100"/>
            <a:ext cx="8763001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57797" defTabSz="1295400">
              <a:defRPr b="1" sz="3400">
                <a:uFill>
                  <a:solidFill>
                    <a:srgbClr val="000000"/>
                  </a:solidFill>
                </a:uFill>
              </a:defRPr>
            </a:pPr>
            <a:r>
              <a:t> </a:t>
            </a:r>
            <a:r>
              <a:rPr b="0" sz="3800"/>
              <a:t>0    1    2     3     4    5     6    7     8    9     </a:t>
            </a:r>
          </a:p>
        </p:txBody>
      </p:sp>
      <p:grpSp>
        <p:nvGrpSpPr>
          <p:cNvPr id="1159" name="Group 1405"/>
          <p:cNvGrpSpPr/>
          <p:nvPr/>
        </p:nvGrpSpPr>
        <p:grpSpPr>
          <a:xfrm>
            <a:off x="2374898" y="5397781"/>
            <a:ext cx="7483409" cy="639900"/>
            <a:chOff x="-1" y="-1"/>
            <a:chExt cx="7483407" cy="639898"/>
          </a:xfrm>
        </p:grpSpPr>
        <p:sp>
          <p:nvSpPr>
            <p:cNvPr id="1149" name="Shape 1395"/>
            <p:cNvSpPr txBox="1"/>
            <p:nvPr/>
          </p:nvSpPr>
          <p:spPr>
            <a:xfrm>
              <a:off x="-2" y="-2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50" name="Shape 1396"/>
            <p:cNvSpPr txBox="1"/>
            <p:nvPr/>
          </p:nvSpPr>
          <p:spPr>
            <a:xfrm>
              <a:off x="613832" y="-2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51" name="Shape 1397"/>
            <p:cNvSpPr txBox="1"/>
            <p:nvPr/>
          </p:nvSpPr>
          <p:spPr>
            <a:xfrm>
              <a:off x="1327291" y="-2"/>
              <a:ext cx="7366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52" name="Shape 1398"/>
            <p:cNvSpPr txBox="1"/>
            <p:nvPr/>
          </p:nvSpPr>
          <p:spPr>
            <a:xfrm>
              <a:off x="2966437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53" name="Shape 1399"/>
            <p:cNvSpPr txBox="1"/>
            <p:nvPr/>
          </p:nvSpPr>
          <p:spPr>
            <a:xfrm>
              <a:off x="3786010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54" name="Shape 1400"/>
            <p:cNvSpPr txBox="1"/>
            <p:nvPr/>
          </p:nvSpPr>
          <p:spPr>
            <a:xfrm>
              <a:off x="2146864" y="-2"/>
              <a:ext cx="7366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55" name="Shape 1401"/>
            <p:cNvSpPr txBox="1"/>
            <p:nvPr/>
          </p:nvSpPr>
          <p:spPr>
            <a:xfrm>
              <a:off x="4605583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56" name="Shape 1402"/>
            <p:cNvSpPr txBox="1"/>
            <p:nvPr/>
          </p:nvSpPr>
          <p:spPr>
            <a:xfrm>
              <a:off x="5427416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157" name="Shape 1403"/>
            <p:cNvSpPr txBox="1"/>
            <p:nvPr/>
          </p:nvSpPr>
          <p:spPr>
            <a:xfrm>
              <a:off x="6143131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1158" name="Shape 1404"/>
            <p:cNvSpPr txBox="1"/>
            <p:nvPr/>
          </p:nvSpPr>
          <p:spPr>
            <a:xfrm>
              <a:off x="6962704" y="-2"/>
              <a:ext cx="520703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sp>
        <p:nvSpPr>
          <p:cNvPr id="1160" name="Shape 1406"/>
          <p:cNvSpPr/>
          <p:nvPr/>
        </p:nvSpPr>
        <p:spPr>
          <a:xfrm>
            <a:off x="2997200" y="5282634"/>
            <a:ext cx="2259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1" name="Shape 1407"/>
          <p:cNvSpPr/>
          <p:nvPr/>
        </p:nvSpPr>
        <p:spPr>
          <a:xfrm>
            <a:off x="3759200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2" name="Shape 1408"/>
          <p:cNvSpPr/>
          <p:nvPr/>
        </p:nvSpPr>
        <p:spPr>
          <a:xfrm>
            <a:off x="4522329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3" name="Shape 1409"/>
          <p:cNvSpPr/>
          <p:nvPr/>
        </p:nvSpPr>
        <p:spPr>
          <a:xfrm>
            <a:off x="5283200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4" name="Shape 1410"/>
          <p:cNvSpPr/>
          <p:nvPr/>
        </p:nvSpPr>
        <p:spPr>
          <a:xfrm>
            <a:off x="6046329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5" name="Shape 1411"/>
          <p:cNvSpPr/>
          <p:nvPr/>
        </p:nvSpPr>
        <p:spPr>
          <a:xfrm>
            <a:off x="6904284" y="5282634"/>
            <a:ext cx="2261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6" name="Shape 1412"/>
          <p:cNvSpPr/>
          <p:nvPr/>
        </p:nvSpPr>
        <p:spPr>
          <a:xfrm>
            <a:off x="7762240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7" name="Shape 1413"/>
          <p:cNvSpPr/>
          <p:nvPr/>
        </p:nvSpPr>
        <p:spPr>
          <a:xfrm>
            <a:off x="8523112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8" name="Shape 1414"/>
          <p:cNvSpPr/>
          <p:nvPr/>
        </p:nvSpPr>
        <p:spPr>
          <a:xfrm>
            <a:off x="9286240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69" name="Shape 1415"/>
          <p:cNvSpPr/>
          <p:nvPr/>
        </p:nvSpPr>
        <p:spPr>
          <a:xfrm>
            <a:off x="9956801" y="5282634"/>
            <a:ext cx="2259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70" name="Shape 1417"/>
          <p:cNvSpPr/>
          <p:nvPr/>
        </p:nvSpPr>
        <p:spPr>
          <a:xfrm>
            <a:off x="2324099" y="5282634"/>
            <a:ext cx="2260" cy="918921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71" name="Shape 1418"/>
          <p:cNvSpPr/>
          <p:nvPr/>
        </p:nvSpPr>
        <p:spPr>
          <a:xfrm>
            <a:off x="2339056" y="5296179"/>
            <a:ext cx="7617745" cy="226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72" name="Shape 1419"/>
          <p:cNvSpPr/>
          <p:nvPr/>
        </p:nvSpPr>
        <p:spPr>
          <a:xfrm>
            <a:off x="2339056" y="6217355"/>
            <a:ext cx="7617745" cy="226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173" name="完全二叉树的顺序存储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完全二叉树的顺序存储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59" grpId="2"/>
      <p:bldP build="whole" bldLvl="1" animBg="1" rev="0" advAuto="0" spid="1148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二叉树的链式存储：二叉链表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二叉树的链式存储：二叉链表</a:t>
            </a:r>
          </a:p>
        </p:txBody>
      </p:sp>
      <p:grpSp>
        <p:nvGrpSpPr>
          <p:cNvPr id="1220" name="Group 1671"/>
          <p:cNvGrpSpPr/>
          <p:nvPr/>
        </p:nvGrpSpPr>
        <p:grpSpPr>
          <a:xfrm>
            <a:off x="2708485" y="3036427"/>
            <a:ext cx="8225092" cy="4686925"/>
            <a:chOff x="0" y="0"/>
            <a:chExt cx="8225090" cy="4686923"/>
          </a:xfrm>
        </p:grpSpPr>
        <p:grpSp>
          <p:nvGrpSpPr>
            <p:cNvPr id="1178" name="Group 1629"/>
            <p:cNvGrpSpPr/>
            <p:nvPr/>
          </p:nvGrpSpPr>
          <p:grpSpPr>
            <a:xfrm>
              <a:off x="2632567" y="914057"/>
              <a:ext cx="1989109" cy="811226"/>
              <a:chOff x="0" y="0"/>
              <a:chExt cx="1989108" cy="811224"/>
            </a:xfrm>
          </p:grpSpPr>
          <p:sp>
            <p:nvSpPr>
              <p:cNvPr id="1176" name="Shape 1627"/>
              <p:cNvSpPr/>
              <p:nvPr/>
            </p:nvSpPr>
            <p:spPr>
              <a:xfrm>
                <a:off x="-1" y="106457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7" name="Shape 1628"/>
              <p:cNvSpPr txBox="1"/>
              <p:nvPr/>
            </p:nvSpPr>
            <p:spPr>
              <a:xfrm>
                <a:off x="679213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179" name="Shape 1630"/>
            <p:cNvSpPr/>
            <p:nvPr/>
          </p:nvSpPr>
          <p:spPr>
            <a:xfrm>
              <a:off x="3129280" y="1020515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80" name="Shape 1631"/>
            <p:cNvSpPr/>
            <p:nvPr/>
          </p:nvSpPr>
          <p:spPr>
            <a:xfrm>
              <a:off x="4124960" y="1020515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183" name="Group 1634"/>
            <p:cNvGrpSpPr/>
            <p:nvPr/>
          </p:nvGrpSpPr>
          <p:grpSpPr>
            <a:xfrm>
              <a:off x="5186116" y="3875698"/>
              <a:ext cx="1989108" cy="811226"/>
              <a:chOff x="0" y="0"/>
              <a:chExt cx="1989107" cy="811224"/>
            </a:xfrm>
          </p:grpSpPr>
          <p:sp>
            <p:nvSpPr>
              <p:cNvPr id="1181" name="Shape 1632"/>
              <p:cNvSpPr/>
              <p:nvPr/>
            </p:nvSpPr>
            <p:spPr>
              <a:xfrm>
                <a:off x="-1" y="102506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2" name="Shape 1633"/>
              <p:cNvSpPr txBox="1"/>
              <p:nvPr/>
            </p:nvSpPr>
            <p:spPr>
              <a:xfrm>
                <a:off x="714561" y="-1"/>
                <a:ext cx="559983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184" name="Shape 1635"/>
            <p:cNvSpPr/>
            <p:nvPr/>
          </p:nvSpPr>
          <p:spPr>
            <a:xfrm>
              <a:off x="5671537" y="3957885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85" name="Shape 1636"/>
            <p:cNvSpPr/>
            <p:nvPr/>
          </p:nvSpPr>
          <p:spPr>
            <a:xfrm>
              <a:off x="6678507" y="3978205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86" name="Shape 1637"/>
            <p:cNvSpPr txBox="1"/>
            <p:nvPr/>
          </p:nvSpPr>
          <p:spPr>
            <a:xfrm>
              <a:off x="5100320" y="4050455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187" name="Shape 1638"/>
            <p:cNvSpPr txBox="1"/>
            <p:nvPr/>
          </p:nvSpPr>
          <p:spPr>
            <a:xfrm>
              <a:off x="6558844" y="4018846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190" name="Group 1641"/>
            <p:cNvGrpSpPr/>
            <p:nvPr/>
          </p:nvGrpSpPr>
          <p:grpSpPr>
            <a:xfrm>
              <a:off x="6235982" y="2882558"/>
              <a:ext cx="1989108" cy="811226"/>
              <a:chOff x="0" y="0"/>
              <a:chExt cx="1989107" cy="811224"/>
            </a:xfrm>
          </p:grpSpPr>
          <p:sp>
            <p:nvSpPr>
              <p:cNvPr id="1188" name="Shape 1639"/>
              <p:cNvSpPr/>
              <p:nvPr/>
            </p:nvSpPr>
            <p:spPr>
              <a:xfrm>
                <a:off x="-1" y="106739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9" name="Shape 1640"/>
              <p:cNvSpPr txBox="1"/>
              <p:nvPr/>
            </p:nvSpPr>
            <p:spPr>
              <a:xfrm>
                <a:off x="696731" y="-1"/>
                <a:ext cx="595639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1191" name="Shape 1642"/>
            <p:cNvSpPr/>
            <p:nvPr/>
          </p:nvSpPr>
          <p:spPr>
            <a:xfrm>
              <a:off x="6732694" y="2989298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92" name="Shape 1643"/>
            <p:cNvSpPr/>
            <p:nvPr/>
          </p:nvSpPr>
          <p:spPr>
            <a:xfrm>
              <a:off x="7730914" y="2989298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93" name="Shape 1644"/>
            <p:cNvSpPr txBox="1"/>
            <p:nvPr/>
          </p:nvSpPr>
          <p:spPr>
            <a:xfrm>
              <a:off x="7629032" y="3029938"/>
              <a:ext cx="4284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196" name="Group 1647"/>
            <p:cNvGrpSpPr/>
            <p:nvPr/>
          </p:nvGrpSpPr>
          <p:grpSpPr>
            <a:xfrm>
              <a:off x="4314613" y="1981422"/>
              <a:ext cx="1981204" cy="811226"/>
              <a:chOff x="0" y="0"/>
              <a:chExt cx="1981203" cy="811224"/>
            </a:xfrm>
          </p:grpSpPr>
          <p:sp>
            <p:nvSpPr>
              <p:cNvPr id="1194" name="Shape 1645"/>
              <p:cNvSpPr/>
              <p:nvPr/>
            </p:nvSpPr>
            <p:spPr>
              <a:xfrm>
                <a:off x="-1" y="100248"/>
                <a:ext cx="1981205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95" name="Shape 1646"/>
              <p:cNvSpPr txBox="1"/>
              <p:nvPr/>
            </p:nvSpPr>
            <p:spPr>
              <a:xfrm>
                <a:off x="678085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197" name="Shape 1648"/>
            <p:cNvSpPr/>
            <p:nvPr/>
          </p:nvSpPr>
          <p:spPr>
            <a:xfrm>
              <a:off x="4811324" y="2081670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98" name="Shape 1649"/>
            <p:cNvSpPr/>
            <p:nvPr/>
          </p:nvSpPr>
          <p:spPr>
            <a:xfrm>
              <a:off x="5804746" y="2081670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199" name="Shape 1650"/>
            <p:cNvSpPr txBox="1"/>
            <p:nvPr/>
          </p:nvSpPr>
          <p:spPr>
            <a:xfrm>
              <a:off x="4215271" y="2124568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02" name="Group 1653"/>
            <p:cNvGrpSpPr/>
            <p:nvPr/>
          </p:nvGrpSpPr>
          <p:grpSpPr>
            <a:xfrm>
              <a:off x="1871697" y="2881147"/>
              <a:ext cx="1981204" cy="811226"/>
              <a:chOff x="0" y="0"/>
              <a:chExt cx="1981203" cy="811224"/>
            </a:xfrm>
          </p:grpSpPr>
          <p:sp>
            <p:nvSpPr>
              <p:cNvPr id="1200" name="Shape 1651"/>
              <p:cNvSpPr/>
              <p:nvPr/>
            </p:nvSpPr>
            <p:spPr>
              <a:xfrm>
                <a:off x="-1" y="103635"/>
                <a:ext cx="1981205" cy="607347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1" name="Shape 1652"/>
              <p:cNvSpPr txBox="1"/>
              <p:nvPr/>
            </p:nvSpPr>
            <p:spPr>
              <a:xfrm>
                <a:off x="678084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203" name="Shape 1654"/>
            <p:cNvSpPr/>
            <p:nvPr/>
          </p:nvSpPr>
          <p:spPr>
            <a:xfrm>
              <a:off x="2368408" y="2984782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04" name="Shape 1655"/>
            <p:cNvSpPr/>
            <p:nvPr/>
          </p:nvSpPr>
          <p:spPr>
            <a:xfrm>
              <a:off x="3361831" y="2984782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05" name="Shape 1656"/>
            <p:cNvSpPr txBox="1"/>
            <p:nvPr/>
          </p:nvSpPr>
          <p:spPr>
            <a:xfrm>
              <a:off x="1754293" y="3021471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206" name="Shape 1657"/>
            <p:cNvSpPr txBox="1"/>
            <p:nvPr/>
          </p:nvSpPr>
          <p:spPr>
            <a:xfrm>
              <a:off x="3226364" y="3025423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09" name="Group 1660"/>
            <p:cNvGrpSpPr/>
            <p:nvPr/>
          </p:nvGrpSpPr>
          <p:grpSpPr>
            <a:xfrm>
              <a:off x="914399" y="1962231"/>
              <a:ext cx="1981203" cy="811226"/>
              <a:chOff x="0" y="0"/>
              <a:chExt cx="1981201" cy="811224"/>
            </a:xfrm>
          </p:grpSpPr>
          <p:sp>
            <p:nvSpPr>
              <p:cNvPr id="1207" name="Shape 1658"/>
              <p:cNvSpPr/>
              <p:nvPr/>
            </p:nvSpPr>
            <p:spPr>
              <a:xfrm>
                <a:off x="-1" y="106739"/>
                <a:ext cx="1981202" cy="607347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8" name="Shape 1659"/>
              <p:cNvSpPr txBox="1"/>
              <p:nvPr/>
            </p:nvSpPr>
            <p:spPr>
              <a:xfrm>
                <a:off x="695602" y="-1"/>
                <a:ext cx="595639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1210" name="Shape 1661"/>
            <p:cNvSpPr/>
            <p:nvPr/>
          </p:nvSpPr>
          <p:spPr>
            <a:xfrm>
              <a:off x="1411111" y="2068970"/>
              <a:ext cx="2260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1" name="Shape 1662"/>
            <p:cNvSpPr/>
            <p:nvPr/>
          </p:nvSpPr>
          <p:spPr>
            <a:xfrm>
              <a:off x="2404533" y="2068970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2" name="Shape 1663"/>
            <p:cNvSpPr txBox="1"/>
            <p:nvPr/>
          </p:nvSpPr>
          <p:spPr>
            <a:xfrm>
              <a:off x="815057" y="2122310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213" name="Shape 1664"/>
            <p:cNvSpPr/>
            <p:nvPr/>
          </p:nvSpPr>
          <p:spPr>
            <a:xfrm flipH="1">
              <a:off x="1842346" y="1314026"/>
              <a:ext cx="1058901" cy="733781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4" name="Shape 1665"/>
            <p:cNvSpPr/>
            <p:nvPr/>
          </p:nvSpPr>
          <p:spPr>
            <a:xfrm>
              <a:off x="4438791" y="1282417"/>
              <a:ext cx="988909" cy="76539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5" name="Shape 1666"/>
            <p:cNvSpPr/>
            <p:nvPr/>
          </p:nvSpPr>
          <p:spPr>
            <a:xfrm>
              <a:off x="2731911" y="2377441"/>
              <a:ext cx="282225" cy="573478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6" name="Shape 1667"/>
            <p:cNvSpPr/>
            <p:nvPr/>
          </p:nvSpPr>
          <p:spPr>
            <a:xfrm>
              <a:off x="6093742" y="2424854"/>
              <a:ext cx="923434" cy="537354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7" name="Shape 1668"/>
            <p:cNvSpPr/>
            <p:nvPr/>
          </p:nvSpPr>
          <p:spPr>
            <a:xfrm flipH="1">
              <a:off x="6217920" y="3313571"/>
              <a:ext cx="254003" cy="661532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18" name="Shape 1669"/>
            <p:cNvSpPr/>
            <p:nvPr/>
          </p:nvSpPr>
          <p:spPr>
            <a:xfrm>
              <a:off x="1241777" y="379870"/>
              <a:ext cx="2273586" cy="602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9" name="Shape 1670"/>
            <p:cNvSpPr txBox="1"/>
            <p:nvPr/>
          </p:nvSpPr>
          <p:spPr>
            <a:xfrm>
              <a:off x="-1" y="-1"/>
              <a:ext cx="13589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root</a:t>
              </a:r>
            </a:p>
          </p:txBody>
        </p:sp>
      </p:grpSp>
      <p:grpSp>
        <p:nvGrpSpPr>
          <p:cNvPr id="1244" name="Group 1720"/>
          <p:cNvGrpSpPr/>
          <p:nvPr/>
        </p:nvGrpSpPr>
        <p:grpSpPr>
          <a:xfrm>
            <a:off x="3647080" y="1083401"/>
            <a:ext cx="5723278" cy="2209796"/>
            <a:chOff x="-1" y="0"/>
            <a:chExt cx="5723277" cy="2209795"/>
          </a:xfrm>
        </p:grpSpPr>
        <p:grpSp>
          <p:nvGrpSpPr>
            <p:cNvPr id="1223" name="Group 1699"/>
            <p:cNvGrpSpPr/>
            <p:nvPr/>
          </p:nvGrpSpPr>
          <p:grpSpPr>
            <a:xfrm>
              <a:off x="1730291" y="0"/>
              <a:ext cx="665501" cy="614500"/>
              <a:chOff x="0" y="0"/>
              <a:chExt cx="665500" cy="614498"/>
            </a:xfrm>
          </p:grpSpPr>
          <p:sp>
            <p:nvSpPr>
              <p:cNvPr id="1221" name="Shape 1697"/>
              <p:cNvSpPr/>
              <p:nvPr/>
            </p:nvSpPr>
            <p:spPr>
              <a:xfrm>
                <a:off x="-1" y="94943"/>
                <a:ext cx="665502" cy="41982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22" name="Shape 1698"/>
              <p:cNvSpPr txBox="1"/>
              <p:nvPr/>
            </p:nvSpPr>
            <p:spPr>
              <a:xfrm>
                <a:off x="8563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226" name="Group 1702"/>
            <p:cNvGrpSpPr/>
            <p:nvPr/>
          </p:nvGrpSpPr>
          <p:grpSpPr>
            <a:xfrm>
              <a:off x="-2" y="482786"/>
              <a:ext cx="732051" cy="614500"/>
              <a:chOff x="0" y="0"/>
              <a:chExt cx="732049" cy="614498"/>
            </a:xfrm>
          </p:grpSpPr>
          <p:sp>
            <p:nvSpPr>
              <p:cNvPr id="1224" name="Shape 1700"/>
              <p:cNvSpPr/>
              <p:nvPr/>
            </p:nvSpPr>
            <p:spPr>
              <a:xfrm>
                <a:off x="-1" y="73953"/>
                <a:ext cx="732051" cy="46180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25" name="Shape 1701"/>
              <p:cNvSpPr txBox="1"/>
              <p:nvPr/>
            </p:nvSpPr>
            <p:spPr>
              <a:xfrm>
                <a:off x="132219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229" name="Group 1705"/>
            <p:cNvGrpSpPr/>
            <p:nvPr/>
          </p:nvGrpSpPr>
          <p:grpSpPr>
            <a:xfrm>
              <a:off x="865145" y="1049537"/>
              <a:ext cx="665503" cy="614500"/>
              <a:chOff x="0" y="0"/>
              <a:chExt cx="665501" cy="614498"/>
            </a:xfrm>
          </p:grpSpPr>
          <p:sp>
            <p:nvSpPr>
              <p:cNvPr id="1227" name="Shape 1703"/>
              <p:cNvSpPr/>
              <p:nvPr/>
            </p:nvSpPr>
            <p:spPr>
              <a:xfrm>
                <a:off x="0" y="94943"/>
                <a:ext cx="665502" cy="41982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28" name="Shape 1704"/>
              <p:cNvSpPr txBox="1"/>
              <p:nvPr/>
            </p:nvSpPr>
            <p:spPr>
              <a:xfrm>
                <a:off x="8563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232" name="Group 1708"/>
            <p:cNvGrpSpPr/>
            <p:nvPr/>
          </p:nvGrpSpPr>
          <p:grpSpPr>
            <a:xfrm>
              <a:off x="3394032" y="482786"/>
              <a:ext cx="732051" cy="614500"/>
              <a:chOff x="0" y="0"/>
              <a:chExt cx="732049" cy="614498"/>
            </a:xfrm>
          </p:grpSpPr>
          <p:sp>
            <p:nvSpPr>
              <p:cNvPr id="1230" name="Shape 1706"/>
              <p:cNvSpPr/>
              <p:nvPr/>
            </p:nvSpPr>
            <p:spPr>
              <a:xfrm>
                <a:off x="-1" y="73953"/>
                <a:ext cx="732051" cy="46180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31" name="Shape 1707"/>
              <p:cNvSpPr txBox="1"/>
              <p:nvPr/>
            </p:nvSpPr>
            <p:spPr>
              <a:xfrm>
                <a:off x="118905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235" name="Group 1711"/>
            <p:cNvGrpSpPr/>
            <p:nvPr/>
          </p:nvGrpSpPr>
          <p:grpSpPr>
            <a:xfrm>
              <a:off x="4991225" y="1028546"/>
              <a:ext cx="732051" cy="614500"/>
              <a:chOff x="0" y="0"/>
              <a:chExt cx="732049" cy="614498"/>
            </a:xfrm>
          </p:grpSpPr>
          <p:sp>
            <p:nvSpPr>
              <p:cNvPr id="1233" name="Shape 1709"/>
              <p:cNvSpPr/>
              <p:nvPr/>
            </p:nvSpPr>
            <p:spPr>
              <a:xfrm>
                <a:off x="-1" y="73952"/>
                <a:ext cx="732051" cy="461803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34" name="Shape 1710"/>
              <p:cNvSpPr txBox="1"/>
              <p:nvPr/>
            </p:nvSpPr>
            <p:spPr>
              <a:xfrm>
                <a:off x="132219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238" name="Group 1714"/>
            <p:cNvGrpSpPr/>
            <p:nvPr/>
          </p:nvGrpSpPr>
          <p:grpSpPr>
            <a:xfrm>
              <a:off x="4192629" y="1595296"/>
              <a:ext cx="732051" cy="614500"/>
              <a:chOff x="0" y="0"/>
              <a:chExt cx="732049" cy="614498"/>
            </a:xfrm>
          </p:grpSpPr>
          <p:sp>
            <p:nvSpPr>
              <p:cNvPr id="1236" name="Shape 1712"/>
              <p:cNvSpPr/>
              <p:nvPr/>
            </p:nvSpPr>
            <p:spPr>
              <a:xfrm>
                <a:off x="-1" y="94943"/>
                <a:ext cx="732051" cy="41982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37" name="Shape 1713"/>
              <p:cNvSpPr txBox="1"/>
              <p:nvPr/>
            </p:nvSpPr>
            <p:spPr>
              <a:xfrm>
                <a:off x="145768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239" name="Shape 1715"/>
            <p:cNvSpPr/>
            <p:nvPr/>
          </p:nvSpPr>
          <p:spPr>
            <a:xfrm flipH="1">
              <a:off x="399298" y="304851"/>
              <a:ext cx="1330996" cy="251891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40" name="Shape 1716"/>
            <p:cNvSpPr/>
            <p:nvPr/>
          </p:nvSpPr>
          <p:spPr>
            <a:xfrm>
              <a:off x="732045" y="766647"/>
              <a:ext cx="465851" cy="377835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41" name="Shape 1717"/>
            <p:cNvSpPr/>
            <p:nvPr/>
          </p:nvSpPr>
          <p:spPr>
            <a:xfrm>
              <a:off x="2395788" y="304851"/>
              <a:ext cx="1330995" cy="251891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42" name="Shape 1718"/>
            <p:cNvSpPr/>
            <p:nvPr/>
          </p:nvSpPr>
          <p:spPr>
            <a:xfrm>
              <a:off x="4126078" y="766648"/>
              <a:ext cx="1270003" cy="335853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43" name="Shape 1719"/>
            <p:cNvSpPr/>
            <p:nvPr/>
          </p:nvSpPr>
          <p:spPr>
            <a:xfrm flipH="1">
              <a:off x="4591927" y="1312407"/>
              <a:ext cx="399301" cy="377836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Shape 2323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思考</a:t>
            </a:r>
          </a:p>
        </p:txBody>
      </p:sp>
      <p:sp>
        <p:nvSpPr>
          <p:cNvPr id="1249" name="Shape 2324"/>
          <p:cNvSpPr txBox="1"/>
          <p:nvPr/>
        </p:nvSpPr>
        <p:spPr>
          <a:xfrm>
            <a:off x="131134" y="1107158"/>
            <a:ext cx="967787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n个结点的二叉链表中有多少个引用变量的值为null?</a:t>
            </a:r>
          </a:p>
        </p:txBody>
      </p:sp>
      <p:sp>
        <p:nvSpPr>
          <p:cNvPr id="1250" name="n0= n2 + 1"/>
          <p:cNvSpPr txBox="1"/>
          <p:nvPr/>
        </p:nvSpPr>
        <p:spPr>
          <a:xfrm>
            <a:off x="238747" y="6548408"/>
            <a:ext cx="360333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   由性质3:         n</a:t>
            </a:r>
            <a:r>
              <a:rPr baseline="-5997"/>
              <a:t>0 </a:t>
            </a:r>
            <a:r>
              <a:t>= n</a:t>
            </a:r>
            <a:r>
              <a:rPr baseline="-5997"/>
              <a:t>2</a:t>
            </a:r>
            <a:r>
              <a:t> + 1</a:t>
            </a:r>
          </a:p>
        </p:txBody>
      </p:sp>
      <p:sp>
        <p:nvSpPr>
          <p:cNvPr id="1251" name="n = n0 + n1 + n2"/>
          <p:cNvSpPr txBox="1"/>
          <p:nvPr/>
        </p:nvSpPr>
        <p:spPr>
          <a:xfrm>
            <a:off x="2319950" y="7124010"/>
            <a:ext cx="698292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设总的结点数为n，n = n</a:t>
            </a:r>
            <a:r>
              <a:rPr baseline="-5997"/>
              <a:t>0</a:t>
            </a:r>
            <a:r>
              <a:t> + n</a:t>
            </a:r>
            <a:r>
              <a:rPr baseline="-5997"/>
              <a:t>1</a:t>
            </a:r>
            <a:r>
              <a:t> + n</a:t>
            </a:r>
            <a:r>
              <a:rPr baseline="-5997"/>
              <a:t>2</a:t>
            </a:r>
            <a:r>
              <a:t> = n</a:t>
            </a:r>
            <a:r>
              <a:rPr baseline="-5997"/>
              <a:t>0</a:t>
            </a:r>
            <a:r>
              <a:t> + n</a:t>
            </a:r>
            <a:r>
              <a:rPr baseline="-5997"/>
              <a:t>1</a:t>
            </a:r>
            <a:r>
              <a:t> + n</a:t>
            </a:r>
            <a:r>
              <a:rPr baseline="-5997"/>
              <a:t>0 </a:t>
            </a:r>
            <a:r>
              <a:t>- 1</a:t>
            </a:r>
          </a:p>
        </p:txBody>
      </p:sp>
      <p:sp>
        <p:nvSpPr>
          <p:cNvPr id="1252" name="2n0 + n1 = n +1"/>
          <p:cNvSpPr txBox="1"/>
          <p:nvPr/>
        </p:nvSpPr>
        <p:spPr>
          <a:xfrm>
            <a:off x="2384510" y="7694663"/>
            <a:ext cx="2212519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rPr>
                <a:solidFill>
                  <a:schemeClr val="accent5"/>
                </a:solidFill>
              </a:rPr>
              <a:t>2n</a:t>
            </a:r>
            <a:r>
              <a:rPr baseline="-5997">
                <a:solidFill>
                  <a:schemeClr val="accent5"/>
                </a:solidFill>
              </a:rPr>
              <a:t>0</a:t>
            </a:r>
            <a:r>
              <a:rPr>
                <a:solidFill>
                  <a:schemeClr val="accent5"/>
                </a:solidFill>
              </a:rPr>
              <a:t> + n</a:t>
            </a:r>
            <a:r>
              <a:rPr baseline="-5997">
                <a:solidFill>
                  <a:schemeClr val="accent5"/>
                </a:solidFill>
              </a:rPr>
              <a:t>1</a:t>
            </a:r>
            <a:r>
              <a:t> = </a:t>
            </a:r>
            <a:r>
              <a:rPr>
                <a:solidFill>
                  <a:schemeClr val="accent1"/>
                </a:solidFill>
              </a:rPr>
              <a:t>n + 1</a:t>
            </a:r>
            <a:r>
              <a:t> </a:t>
            </a:r>
          </a:p>
        </p:txBody>
      </p:sp>
      <p:grpSp>
        <p:nvGrpSpPr>
          <p:cNvPr id="1297" name="Group 1671"/>
          <p:cNvGrpSpPr/>
          <p:nvPr/>
        </p:nvGrpSpPr>
        <p:grpSpPr>
          <a:xfrm>
            <a:off x="5294508" y="1524372"/>
            <a:ext cx="7438192" cy="4238523"/>
            <a:chOff x="0" y="0"/>
            <a:chExt cx="7438190" cy="4238522"/>
          </a:xfrm>
        </p:grpSpPr>
        <p:grpSp>
          <p:nvGrpSpPr>
            <p:cNvPr id="1255" name="Group 1629"/>
            <p:cNvGrpSpPr/>
            <p:nvPr/>
          </p:nvGrpSpPr>
          <p:grpSpPr>
            <a:xfrm>
              <a:off x="2380707" y="826608"/>
              <a:ext cx="1798810" cy="733616"/>
              <a:chOff x="0" y="0"/>
              <a:chExt cx="1798808" cy="733614"/>
            </a:xfrm>
          </p:grpSpPr>
          <p:sp>
            <p:nvSpPr>
              <p:cNvPr id="1253" name="Shape 1627"/>
              <p:cNvSpPr/>
              <p:nvPr/>
            </p:nvSpPr>
            <p:spPr>
              <a:xfrm>
                <a:off x="-1" y="96272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54" name="Shape 1628"/>
              <p:cNvSpPr txBox="1"/>
              <p:nvPr/>
            </p:nvSpPr>
            <p:spPr>
              <a:xfrm>
                <a:off x="614232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256" name="Shape 1630"/>
            <p:cNvSpPr/>
            <p:nvPr/>
          </p:nvSpPr>
          <p:spPr>
            <a:xfrm>
              <a:off x="2829900" y="922882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57" name="Shape 1631"/>
            <p:cNvSpPr/>
            <p:nvPr/>
          </p:nvSpPr>
          <p:spPr>
            <a:xfrm>
              <a:off x="3730322" y="922882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260" name="Group 1634"/>
            <p:cNvGrpSpPr/>
            <p:nvPr/>
          </p:nvGrpSpPr>
          <p:grpSpPr>
            <a:xfrm>
              <a:off x="4689957" y="3504908"/>
              <a:ext cx="1798809" cy="733615"/>
              <a:chOff x="0" y="0"/>
              <a:chExt cx="1798807" cy="733614"/>
            </a:xfrm>
          </p:grpSpPr>
          <p:sp>
            <p:nvSpPr>
              <p:cNvPr id="1258" name="Shape 1632"/>
              <p:cNvSpPr/>
              <p:nvPr/>
            </p:nvSpPr>
            <p:spPr>
              <a:xfrm>
                <a:off x="-1" y="92699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59" name="Shape 1633"/>
              <p:cNvSpPr txBox="1"/>
              <p:nvPr/>
            </p:nvSpPr>
            <p:spPr>
              <a:xfrm>
                <a:off x="646199" y="-1"/>
                <a:ext cx="506408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261" name="Shape 1635"/>
            <p:cNvSpPr/>
            <p:nvPr/>
          </p:nvSpPr>
          <p:spPr>
            <a:xfrm>
              <a:off x="5128937" y="3579231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62" name="Shape 1636"/>
            <p:cNvSpPr/>
            <p:nvPr/>
          </p:nvSpPr>
          <p:spPr>
            <a:xfrm>
              <a:off x="6039570" y="3597607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63" name="Shape 1637"/>
            <p:cNvSpPr txBox="1"/>
            <p:nvPr/>
          </p:nvSpPr>
          <p:spPr>
            <a:xfrm>
              <a:off x="4612369" y="3662945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264" name="Shape 1638"/>
            <p:cNvSpPr txBox="1"/>
            <p:nvPr/>
          </p:nvSpPr>
          <p:spPr>
            <a:xfrm>
              <a:off x="5931355" y="3634361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67" name="Group 1641"/>
            <p:cNvGrpSpPr/>
            <p:nvPr/>
          </p:nvGrpSpPr>
          <p:grpSpPr>
            <a:xfrm>
              <a:off x="5639382" y="2606782"/>
              <a:ext cx="1798808" cy="733615"/>
              <a:chOff x="0" y="0"/>
              <a:chExt cx="1798807" cy="733614"/>
            </a:xfrm>
          </p:grpSpPr>
          <p:sp>
            <p:nvSpPr>
              <p:cNvPr id="1265" name="Shape 1639"/>
              <p:cNvSpPr/>
              <p:nvPr/>
            </p:nvSpPr>
            <p:spPr>
              <a:xfrm>
                <a:off x="-1" y="96527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66" name="Shape 1640"/>
              <p:cNvSpPr txBox="1"/>
              <p:nvPr/>
            </p:nvSpPr>
            <p:spPr>
              <a:xfrm>
                <a:off x="630075" y="-1"/>
                <a:ext cx="538653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1268" name="Shape 1642"/>
            <p:cNvSpPr/>
            <p:nvPr/>
          </p:nvSpPr>
          <p:spPr>
            <a:xfrm>
              <a:off x="6088573" y="2703310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69" name="Shape 1643"/>
            <p:cNvSpPr/>
            <p:nvPr/>
          </p:nvSpPr>
          <p:spPr>
            <a:xfrm>
              <a:off x="6991292" y="2703310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70" name="Shape 1644"/>
            <p:cNvSpPr txBox="1"/>
            <p:nvPr/>
          </p:nvSpPr>
          <p:spPr>
            <a:xfrm>
              <a:off x="6899157" y="2740062"/>
              <a:ext cx="387488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73" name="Group 1647"/>
            <p:cNvGrpSpPr/>
            <p:nvPr/>
          </p:nvGrpSpPr>
          <p:grpSpPr>
            <a:xfrm>
              <a:off x="3901831" y="1791858"/>
              <a:ext cx="1791661" cy="733616"/>
              <a:chOff x="0" y="0"/>
              <a:chExt cx="1791660" cy="733614"/>
            </a:xfrm>
          </p:grpSpPr>
          <p:sp>
            <p:nvSpPr>
              <p:cNvPr id="1271" name="Shape 1645"/>
              <p:cNvSpPr/>
              <p:nvPr/>
            </p:nvSpPr>
            <p:spPr>
              <a:xfrm>
                <a:off x="-1" y="90657"/>
                <a:ext cx="1791661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72" name="Shape 1646"/>
              <p:cNvSpPr txBox="1"/>
              <p:nvPr/>
            </p:nvSpPr>
            <p:spPr>
              <a:xfrm>
                <a:off x="613212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274" name="Shape 1648"/>
            <p:cNvSpPr/>
            <p:nvPr/>
          </p:nvSpPr>
          <p:spPr>
            <a:xfrm>
              <a:off x="4351022" y="1882516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75" name="Shape 1649"/>
            <p:cNvSpPr/>
            <p:nvPr/>
          </p:nvSpPr>
          <p:spPr>
            <a:xfrm>
              <a:off x="5249402" y="1882516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76" name="Shape 1650"/>
            <p:cNvSpPr txBox="1"/>
            <p:nvPr/>
          </p:nvSpPr>
          <p:spPr>
            <a:xfrm>
              <a:off x="3811993" y="1921310"/>
              <a:ext cx="387488" cy="461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79" name="Group 1653"/>
            <p:cNvGrpSpPr/>
            <p:nvPr/>
          </p:nvGrpSpPr>
          <p:grpSpPr>
            <a:xfrm>
              <a:off x="1692630" y="2605506"/>
              <a:ext cx="1791661" cy="733615"/>
              <a:chOff x="0" y="0"/>
              <a:chExt cx="1791660" cy="733614"/>
            </a:xfrm>
          </p:grpSpPr>
          <p:sp>
            <p:nvSpPr>
              <p:cNvPr id="1277" name="Shape 1651"/>
              <p:cNvSpPr/>
              <p:nvPr/>
            </p:nvSpPr>
            <p:spPr>
              <a:xfrm>
                <a:off x="-1" y="93720"/>
                <a:ext cx="1791661" cy="549242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78" name="Shape 1652"/>
              <p:cNvSpPr txBox="1"/>
              <p:nvPr/>
            </p:nvSpPr>
            <p:spPr>
              <a:xfrm>
                <a:off x="613211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280" name="Shape 1654"/>
            <p:cNvSpPr/>
            <p:nvPr/>
          </p:nvSpPr>
          <p:spPr>
            <a:xfrm>
              <a:off x="2141821" y="2699226"/>
              <a:ext cx="2044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81" name="Shape 1655"/>
            <p:cNvSpPr/>
            <p:nvPr/>
          </p:nvSpPr>
          <p:spPr>
            <a:xfrm>
              <a:off x="3040202" y="2699226"/>
              <a:ext cx="2045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82" name="Shape 1656"/>
            <p:cNvSpPr txBox="1"/>
            <p:nvPr/>
          </p:nvSpPr>
          <p:spPr>
            <a:xfrm>
              <a:off x="1586458" y="2732405"/>
              <a:ext cx="387488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283" name="Shape 1657"/>
            <p:cNvSpPr txBox="1"/>
            <p:nvPr/>
          </p:nvSpPr>
          <p:spPr>
            <a:xfrm>
              <a:off x="2917696" y="2735979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286" name="Group 1660"/>
            <p:cNvGrpSpPr/>
            <p:nvPr/>
          </p:nvGrpSpPr>
          <p:grpSpPr>
            <a:xfrm>
              <a:off x="826918" y="1774503"/>
              <a:ext cx="1791660" cy="733616"/>
              <a:chOff x="0" y="0"/>
              <a:chExt cx="1791659" cy="733614"/>
            </a:xfrm>
          </p:grpSpPr>
          <p:sp>
            <p:nvSpPr>
              <p:cNvPr id="1284" name="Shape 1658"/>
              <p:cNvSpPr/>
              <p:nvPr/>
            </p:nvSpPr>
            <p:spPr>
              <a:xfrm>
                <a:off x="-1" y="96527"/>
                <a:ext cx="1791660" cy="549242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85" name="Shape 1659"/>
              <p:cNvSpPr txBox="1"/>
              <p:nvPr/>
            </p:nvSpPr>
            <p:spPr>
              <a:xfrm>
                <a:off x="629053" y="-1"/>
                <a:ext cx="538654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1287" name="Shape 1661"/>
            <p:cNvSpPr/>
            <p:nvPr/>
          </p:nvSpPr>
          <p:spPr>
            <a:xfrm>
              <a:off x="1276109" y="1871031"/>
              <a:ext cx="2044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88" name="Shape 1662"/>
            <p:cNvSpPr/>
            <p:nvPr/>
          </p:nvSpPr>
          <p:spPr>
            <a:xfrm>
              <a:off x="2174489" y="1871031"/>
              <a:ext cx="2045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89" name="Shape 1663"/>
            <p:cNvSpPr txBox="1"/>
            <p:nvPr/>
          </p:nvSpPr>
          <p:spPr>
            <a:xfrm>
              <a:off x="737080" y="1919268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290" name="Shape 1664"/>
            <p:cNvSpPr/>
            <p:nvPr/>
          </p:nvSpPr>
          <p:spPr>
            <a:xfrm flipH="1">
              <a:off x="1666087" y="1188312"/>
              <a:ext cx="957596" cy="66358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91" name="Shape 1665"/>
            <p:cNvSpPr/>
            <p:nvPr/>
          </p:nvSpPr>
          <p:spPr>
            <a:xfrm>
              <a:off x="4014129" y="1159727"/>
              <a:ext cx="894300" cy="69216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92" name="Shape 1666"/>
            <p:cNvSpPr/>
            <p:nvPr/>
          </p:nvSpPr>
          <p:spPr>
            <a:xfrm>
              <a:off x="2470547" y="2149989"/>
              <a:ext cx="255225" cy="51861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93" name="Shape 1667"/>
            <p:cNvSpPr/>
            <p:nvPr/>
          </p:nvSpPr>
          <p:spPr>
            <a:xfrm>
              <a:off x="5510750" y="2192866"/>
              <a:ext cx="835088" cy="48594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94" name="Shape 1668"/>
            <p:cNvSpPr/>
            <p:nvPr/>
          </p:nvSpPr>
          <p:spPr>
            <a:xfrm flipH="1">
              <a:off x="5623048" y="2996559"/>
              <a:ext cx="229702" cy="59824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295" name="Shape 1669"/>
            <p:cNvSpPr/>
            <p:nvPr/>
          </p:nvSpPr>
          <p:spPr>
            <a:xfrm>
              <a:off x="1122975" y="343527"/>
              <a:ext cx="2056071" cy="5451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6" name="Shape 1670"/>
            <p:cNvSpPr txBox="1"/>
            <p:nvPr/>
          </p:nvSpPr>
          <p:spPr>
            <a:xfrm>
              <a:off x="-1" y="-1"/>
              <a:ext cx="1228895" cy="578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root</a:t>
              </a:r>
            </a:p>
          </p:txBody>
        </p:sp>
      </p:grpSp>
      <p:sp>
        <p:nvSpPr>
          <p:cNvPr id="1298" name="Shape 2324"/>
          <p:cNvSpPr txBox="1"/>
          <p:nvPr/>
        </p:nvSpPr>
        <p:spPr>
          <a:xfrm>
            <a:off x="257405" y="5390357"/>
            <a:ext cx="12489991" cy="106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t>从上往下看(</a:t>
            </a:r>
            <a:r>
              <a:rPr>
                <a:solidFill>
                  <a:schemeClr val="accent5"/>
                </a:solidFill>
              </a:rPr>
              <a:t>top-down</a:t>
            </a:r>
            <a:r>
              <a:t>):</a:t>
            </a:r>
          </a:p>
          <a:p>
            <a:pPr>
              <a:lnSpc>
                <a:spcPct val="120000"/>
              </a:lnSpc>
              <a:defRPr sz="2500"/>
            </a:pPr>
            <a:r>
              <a:t>叶子结点(n</a:t>
            </a:r>
            <a:r>
              <a:rPr baseline="-5999"/>
              <a:t>0</a:t>
            </a:r>
            <a:r>
              <a:t>)有2个null，度为1的结点(n</a:t>
            </a:r>
            <a:r>
              <a:rPr baseline="-5999"/>
              <a:t>1</a:t>
            </a:r>
            <a:r>
              <a:t>)有1个null，度为2的结点(n</a:t>
            </a:r>
            <a:r>
              <a:rPr baseline="-5999"/>
              <a:t>2</a:t>
            </a:r>
            <a:r>
              <a:t>)有0个null，</a:t>
            </a:r>
            <a:r>
              <a:rPr>
                <a:solidFill>
                  <a:schemeClr val="accent5"/>
                </a:solidFill>
              </a:rPr>
              <a:t>2n</a:t>
            </a:r>
            <a:r>
              <a:rPr baseline="-5997">
                <a:solidFill>
                  <a:schemeClr val="accent5"/>
                </a:solidFill>
              </a:rPr>
              <a:t>0</a:t>
            </a:r>
            <a:r>
              <a:rPr>
                <a:solidFill>
                  <a:schemeClr val="accent5"/>
                </a:solidFill>
              </a:rPr>
              <a:t> + n</a:t>
            </a:r>
            <a:r>
              <a:rPr baseline="-5997">
                <a:solidFill>
                  <a:schemeClr val="accent5"/>
                </a:solidFill>
              </a:rPr>
              <a:t>1</a:t>
            </a:r>
            <a:r>
              <a:t> 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51" grpId="3"/>
      <p:bldP build="whole" bldLvl="1" animBg="1" rev="0" advAuto="0" spid="1298" grpId="1"/>
      <p:bldP build="whole" bldLvl="1" animBg="1" rev="0" advAuto="0" spid="1250" grpId="2"/>
      <p:bldP build="whole" bldLvl="1" animBg="1" rev="0" advAuto="0" spid="1252" grpId="4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Shape 2323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思考</a:t>
            </a:r>
          </a:p>
        </p:txBody>
      </p:sp>
      <p:sp>
        <p:nvSpPr>
          <p:cNvPr id="1301" name="Shape 2324"/>
          <p:cNvSpPr txBox="1"/>
          <p:nvPr/>
        </p:nvSpPr>
        <p:spPr>
          <a:xfrm>
            <a:off x="131134" y="1107158"/>
            <a:ext cx="967787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n个结点的二叉链表中有多少个引用变量的值为null?</a:t>
            </a:r>
          </a:p>
        </p:txBody>
      </p:sp>
      <p:grpSp>
        <p:nvGrpSpPr>
          <p:cNvPr id="1346" name="Group 1671"/>
          <p:cNvGrpSpPr/>
          <p:nvPr/>
        </p:nvGrpSpPr>
        <p:grpSpPr>
          <a:xfrm>
            <a:off x="5294508" y="1524372"/>
            <a:ext cx="7438192" cy="4238523"/>
            <a:chOff x="0" y="0"/>
            <a:chExt cx="7438190" cy="4238522"/>
          </a:xfrm>
        </p:grpSpPr>
        <p:grpSp>
          <p:nvGrpSpPr>
            <p:cNvPr id="1304" name="Group 1629"/>
            <p:cNvGrpSpPr/>
            <p:nvPr/>
          </p:nvGrpSpPr>
          <p:grpSpPr>
            <a:xfrm>
              <a:off x="2380707" y="826608"/>
              <a:ext cx="1798810" cy="733616"/>
              <a:chOff x="0" y="0"/>
              <a:chExt cx="1798808" cy="733614"/>
            </a:xfrm>
          </p:grpSpPr>
          <p:sp>
            <p:nvSpPr>
              <p:cNvPr id="1302" name="Shape 1627"/>
              <p:cNvSpPr/>
              <p:nvPr/>
            </p:nvSpPr>
            <p:spPr>
              <a:xfrm>
                <a:off x="-1" y="96272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3" name="Shape 1628"/>
              <p:cNvSpPr txBox="1"/>
              <p:nvPr/>
            </p:nvSpPr>
            <p:spPr>
              <a:xfrm>
                <a:off x="614232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305" name="Shape 1630"/>
            <p:cNvSpPr/>
            <p:nvPr/>
          </p:nvSpPr>
          <p:spPr>
            <a:xfrm>
              <a:off x="2829900" y="922882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06" name="Shape 1631"/>
            <p:cNvSpPr/>
            <p:nvPr/>
          </p:nvSpPr>
          <p:spPr>
            <a:xfrm>
              <a:off x="3730322" y="922882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309" name="Group 1634"/>
            <p:cNvGrpSpPr/>
            <p:nvPr/>
          </p:nvGrpSpPr>
          <p:grpSpPr>
            <a:xfrm>
              <a:off x="4689957" y="3504908"/>
              <a:ext cx="1798809" cy="733615"/>
              <a:chOff x="0" y="0"/>
              <a:chExt cx="1798807" cy="733614"/>
            </a:xfrm>
          </p:grpSpPr>
          <p:sp>
            <p:nvSpPr>
              <p:cNvPr id="1307" name="Shape 1632"/>
              <p:cNvSpPr/>
              <p:nvPr/>
            </p:nvSpPr>
            <p:spPr>
              <a:xfrm>
                <a:off x="-1" y="92699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8" name="Shape 1633"/>
              <p:cNvSpPr txBox="1"/>
              <p:nvPr/>
            </p:nvSpPr>
            <p:spPr>
              <a:xfrm>
                <a:off x="646199" y="-1"/>
                <a:ext cx="506408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310" name="Shape 1635"/>
            <p:cNvSpPr/>
            <p:nvPr/>
          </p:nvSpPr>
          <p:spPr>
            <a:xfrm>
              <a:off x="5128937" y="3579231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11" name="Shape 1636"/>
            <p:cNvSpPr/>
            <p:nvPr/>
          </p:nvSpPr>
          <p:spPr>
            <a:xfrm>
              <a:off x="6039570" y="3597607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12" name="Shape 1637"/>
            <p:cNvSpPr txBox="1"/>
            <p:nvPr/>
          </p:nvSpPr>
          <p:spPr>
            <a:xfrm>
              <a:off x="4612369" y="3662945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313" name="Shape 1638"/>
            <p:cNvSpPr txBox="1"/>
            <p:nvPr/>
          </p:nvSpPr>
          <p:spPr>
            <a:xfrm>
              <a:off x="5931355" y="3634361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316" name="Group 1641"/>
            <p:cNvGrpSpPr/>
            <p:nvPr/>
          </p:nvGrpSpPr>
          <p:grpSpPr>
            <a:xfrm>
              <a:off x="5639382" y="2606782"/>
              <a:ext cx="1798808" cy="733615"/>
              <a:chOff x="0" y="0"/>
              <a:chExt cx="1798807" cy="733614"/>
            </a:xfrm>
          </p:grpSpPr>
          <p:sp>
            <p:nvSpPr>
              <p:cNvPr id="1314" name="Shape 1639"/>
              <p:cNvSpPr/>
              <p:nvPr/>
            </p:nvSpPr>
            <p:spPr>
              <a:xfrm>
                <a:off x="-1" y="96527"/>
                <a:ext cx="1798809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5" name="Shape 1640"/>
              <p:cNvSpPr txBox="1"/>
              <p:nvPr/>
            </p:nvSpPr>
            <p:spPr>
              <a:xfrm>
                <a:off x="630075" y="-1"/>
                <a:ext cx="538653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1317" name="Shape 1642"/>
            <p:cNvSpPr/>
            <p:nvPr/>
          </p:nvSpPr>
          <p:spPr>
            <a:xfrm>
              <a:off x="6088573" y="2703310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18" name="Shape 1643"/>
            <p:cNvSpPr/>
            <p:nvPr/>
          </p:nvSpPr>
          <p:spPr>
            <a:xfrm>
              <a:off x="6991292" y="2703310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19" name="Shape 1644"/>
            <p:cNvSpPr txBox="1"/>
            <p:nvPr/>
          </p:nvSpPr>
          <p:spPr>
            <a:xfrm>
              <a:off x="6899157" y="2740062"/>
              <a:ext cx="387488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322" name="Group 1647"/>
            <p:cNvGrpSpPr/>
            <p:nvPr/>
          </p:nvGrpSpPr>
          <p:grpSpPr>
            <a:xfrm>
              <a:off x="3901831" y="1791858"/>
              <a:ext cx="1791661" cy="733616"/>
              <a:chOff x="0" y="0"/>
              <a:chExt cx="1791660" cy="733614"/>
            </a:xfrm>
          </p:grpSpPr>
          <p:sp>
            <p:nvSpPr>
              <p:cNvPr id="1320" name="Shape 1645"/>
              <p:cNvSpPr/>
              <p:nvPr/>
            </p:nvSpPr>
            <p:spPr>
              <a:xfrm>
                <a:off x="-1" y="90657"/>
                <a:ext cx="1791661" cy="5512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1" name="Shape 1646"/>
              <p:cNvSpPr txBox="1"/>
              <p:nvPr/>
            </p:nvSpPr>
            <p:spPr>
              <a:xfrm>
                <a:off x="613212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323" name="Shape 1648"/>
            <p:cNvSpPr/>
            <p:nvPr/>
          </p:nvSpPr>
          <p:spPr>
            <a:xfrm>
              <a:off x="4351022" y="1882516"/>
              <a:ext cx="2044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24" name="Shape 1649"/>
            <p:cNvSpPr/>
            <p:nvPr/>
          </p:nvSpPr>
          <p:spPr>
            <a:xfrm>
              <a:off x="5249402" y="1882516"/>
              <a:ext cx="2045" cy="55128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25" name="Shape 1650"/>
            <p:cNvSpPr txBox="1"/>
            <p:nvPr/>
          </p:nvSpPr>
          <p:spPr>
            <a:xfrm>
              <a:off x="3811993" y="1921310"/>
              <a:ext cx="387488" cy="461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328" name="Group 1653"/>
            <p:cNvGrpSpPr/>
            <p:nvPr/>
          </p:nvGrpSpPr>
          <p:grpSpPr>
            <a:xfrm>
              <a:off x="1692630" y="2605506"/>
              <a:ext cx="1791661" cy="733615"/>
              <a:chOff x="0" y="0"/>
              <a:chExt cx="1791660" cy="733614"/>
            </a:xfrm>
          </p:grpSpPr>
          <p:sp>
            <p:nvSpPr>
              <p:cNvPr id="1326" name="Shape 1651"/>
              <p:cNvSpPr/>
              <p:nvPr/>
            </p:nvSpPr>
            <p:spPr>
              <a:xfrm>
                <a:off x="-1" y="93720"/>
                <a:ext cx="1791661" cy="549242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7" name="Shape 1652"/>
              <p:cNvSpPr txBox="1"/>
              <p:nvPr/>
            </p:nvSpPr>
            <p:spPr>
              <a:xfrm>
                <a:off x="613211" y="-1"/>
                <a:ext cx="570339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329" name="Shape 1654"/>
            <p:cNvSpPr/>
            <p:nvPr/>
          </p:nvSpPr>
          <p:spPr>
            <a:xfrm>
              <a:off x="2141821" y="2699226"/>
              <a:ext cx="2044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30" name="Shape 1655"/>
            <p:cNvSpPr/>
            <p:nvPr/>
          </p:nvSpPr>
          <p:spPr>
            <a:xfrm>
              <a:off x="3040202" y="2699226"/>
              <a:ext cx="2045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31" name="Shape 1656"/>
            <p:cNvSpPr txBox="1"/>
            <p:nvPr/>
          </p:nvSpPr>
          <p:spPr>
            <a:xfrm>
              <a:off x="1586458" y="2732405"/>
              <a:ext cx="387488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332" name="Shape 1657"/>
            <p:cNvSpPr txBox="1"/>
            <p:nvPr/>
          </p:nvSpPr>
          <p:spPr>
            <a:xfrm>
              <a:off x="2917696" y="2735979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335" name="Group 1660"/>
            <p:cNvGrpSpPr/>
            <p:nvPr/>
          </p:nvGrpSpPr>
          <p:grpSpPr>
            <a:xfrm>
              <a:off x="826918" y="1774503"/>
              <a:ext cx="1791660" cy="733616"/>
              <a:chOff x="0" y="0"/>
              <a:chExt cx="1791659" cy="733614"/>
            </a:xfrm>
          </p:grpSpPr>
          <p:sp>
            <p:nvSpPr>
              <p:cNvPr id="1333" name="Shape 1658"/>
              <p:cNvSpPr/>
              <p:nvPr/>
            </p:nvSpPr>
            <p:spPr>
              <a:xfrm>
                <a:off x="-1" y="96527"/>
                <a:ext cx="1791660" cy="549242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34" name="Shape 1659"/>
              <p:cNvSpPr txBox="1"/>
              <p:nvPr/>
            </p:nvSpPr>
            <p:spPr>
              <a:xfrm>
                <a:off x="629053" y="-1"/>
                <a:ext cx="538654" cy="733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1336" name="Shape 1661"/>
            <p:cNvSpPr/>
            <p:nvPr/>
          </p:nvSpPr>
          <p:spPr>
            <a:xfrm>
              <a:off x="1276109" y="1871031"/>
              <a:ext cx="2044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37" name="Shape 1662"/>
            <p:cNvSpPr/>
            <p:nvPr/>
          </p:nvSpPr>
          <p:spPr>
            <a:xfrm>
              <a:off x="2174489" y="1871031"/>
              <a:ext cx="2045" cy="54924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38" name="Shape 1663"/>
            <p:cNvSpPr txBox="1"/>
            <p:nvPr/>
          </p:nvSpPr>
          <p:spPr>
            <a:xfrm>
              <a:off x="737080" y="1919268"/>
              <a:ext cx="387487" cy="461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339" name="Shape 1664"/>
            <p:cNvSpPr/>
            <p:nvPr/>
          </p:nvSpPr>
          <p:spPr>
            <a:xfrm flipH="1">
              <a:off x="1666087" y="1188312"/>
              <a:ext cx="957596" cy="66358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40" name="Shape 1665"/>
            <p:cNvSpPr/>
            <p:nvPr/>
          </p:nvSpPr>
          <p:spPr>
            <a:xfrm>
              <a:off x="4014129" y="1159727"/>
              <a:ext cx="894300" cy="69216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41" name="Shape 1666"/>
            <p:cNvSpPr/>
            <p:nvPr/>
          </p:nvSpPr>
          <p:spPr>
            <a:xfrm>
              <a:off x="2470547" y="2149989"/>
              <a:ext cx="255225" cy="51861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42" name="Shape 1667"/>
            <p:cNvSpPr/>
            <p:nvPr/>
          </p:nvSpPr>
          <p:spPr>
            <a:xfrm>
              <a:off x="5510750" y="2192866"/>
              <a:ext cx="835088" cy="48594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43" name="Shape 1668"/>
            <p:cNvSpPr/>
            <p:nvPr/>
          </p:nvSpPr>
          <p:spPr>
            <a:xfrm flipH="1">
              <a:off x="5623048" y="2996559"/>
              <a:ext cx="229702" cy="59824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44" name="Shape 1669"/>
            <p:cNvSpPr/>
            <p:nvPr/>
          </p:nvSpPr>
          <p:spPr>
            <a:xfrm>
              <a:off x="1122975" y="343527"/>
              <a:ext cx="2056071" cy="5451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1670"/>
            <p:cNvSpPr txBox="1"/>
            <p:nvPr/>
          </p:nvSpPr>
          <p:spPr>
            <a:xfrm>
              <a:off x="-1" y="-1"/>
              <a:ext cx="1228895" cy="578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root</a:t>
              </a:r>
            </a:p>
          </p:txBody>
        </p:sp>
      </p:grpSp>
      <p:sp>
        <p:nvSpPr>
          <p:cNvPr id="1347" name="Shape 2324"/>
          <p:cNvSpPr txBox="1"/>
          <p:nvPr/>
        </p:nvSpPr>
        <p:spPr>
          <a:xfrm>
            <a:off x="257405" y="5390357"/>
            <a:ext cx="12489991" cy="2659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t>从下往上看(</a:t>
            </a:r>
            <a:r>
              <a:rPr>
                <a:solidFill>
                  <a:schemeClr val="accent5"/>
                </a:solidFill>
              </a:rPr>
              <a:t>bottom-up</a:t>
            </a:r>
            <a:r>
              <a:t>):</a:t>
            </a:r>
          </a:p>
          <a:p>
            <a:pPr lvl="1" marL="631657" indent="-250657">
              <a:lnSpc>
                <a:spcPct val="120000"/>
              </a:lnSpc>
              <a:buSzPct val="60000"/>
              <a:buBlip>
                <a:blip r:embed="rId2"/>
              </a:buBlip>
              <a:defRPr sz="2500"/>
            </a:pPr>
            <a:r>
              <a:t>每个结点有2个引用变量，</a:t>
            </a:r>
            <a:r>
              <a:rPr i="1"/>
              <a:t>n</a:t>
            </a:r>
            <a:r>
              <a:t>个结点共2</a:t>
            </a:r>
            <a:r>
              <a:rPr i="1"/>
              <a:t>n</a:t>
            </a:r>
            <a:r>
              <a:t>个引用变量</a:t>
            </a:r>
          </a:p>
          <a:p>
            <a:pPr lvl="1" marL="631657" indent="-250657">
              <a:lnSpc>
                <a:spcPct val="120000"/>
              </a:lnSpc>
              <a:buSzPct val="60000"/>
              <a:buBlip>
                <a:blip r:embed="rId2"/>
              </a:buBlip>
              <a:defRPr sz="2500"/>
            </a:pPr>
            <a:r>
              <a:t>结点的孩子占用1个引用变量，每个结点(除根结点)都是某个结点的孩子，</a:t>
            </a:r>
          </a:p>
          <a:p>
            <a:pPr lvl="1">
              <a:lnSpc>
                <a:spcPct val="120000"/>
              </a:lnSpc>
              <a:defRPr sz="2500"/>
            </a:pPr>
            <a:r>
              <a:t>     共有</a:t>
            </a:r>
            <a:r>
              <a:rPr i="1"/>
              <a:t>n</a:t>
            </a:r>
            <a:r>
              <a:t>-1个孩子结点，占用了</a:t>
            </a:r>
            <a:r>
              <a:rPr i="1"/>
              <a:t>n</a:t>
            </a:r>
            <a:r>
              <a:t>-1个引用变量</a:t>
            </a:r>
          </a:p>
          <a:p>
            <a:pPr lvl="1" marL="631657" indent="-250657">
              <a:lnSpc>
                <a:spcPct val="120000"/>
              </a:lnSpc>
              <a:buSzPct val="60000"/>
              <a:buBlip>
                <a:blip r:embed="rId2"/>
              </a:buBlip>
              <a:defRPr sz="2500"/>
            </a:pPr>
            <a:r>
              <a:t>所以null的个数为2</a:t>
            </a:r>
            <a:r>
              <a:rPr i="1"/>
              <a:t>n</a:t>
            </a:r>
            <a:r>
              <a:t> - (</a:t>
            </a:r>
            <a:r>
              <a:rPr i="1"/>
              <a:t>n</a:t>
            </a:r>
            <a:r>
              <a:t> - 1) = </a:t>
            </a:r>
            <a:r>
              <a:rPr i="1"/>
              <a:t>n</a:t>
            </a:r>
            <a:r>
              <a:t> + 1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4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Shape 1731"/>
          <p:cNvSpPr/>
          <p:nvPr/>
        </p:nvSpPr>
        <p:spPr>
          <a:xfrm>
            <a:off x="4276559" y="3537473"/>
            <a:ext cx="1542065" cy="616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7800" y="164"/>
                  <a:pt x="15600" y="327"/>
                  <a:pt x="17280" y="1964"/>
                </a:cubicBezTo>
                <a:cubicBezTo>
                  <a:pt x="18960" y="3600"/>
                  <a:pt x="9360" y="6545"/>
                  <a:pt x="10080" y="9818"/>
                </a:cubicBezTo>
                <a:cubicBezTo>
                  <a:pt x="10800" y="13091"/>
                  <a:pt x="19680" y="19636"/>
                  <a:pt x="21600" y="21600"/>
                </a:cubicBezTo>
              </a:path>
            </a:pathLst>
          </a:custGeom>
          <a:ln w="38100" cap="sq">
            <a:solidFill>
              <a:srgbClr val="000000"/>
            </a:solidFill>
            <a:tail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0" name="Shape 1732"/>
          <p:cNvSpPr txBox="1"/>
          <p:nvPr/>
        </p:nvSpPr>
        <p:spPr>
          <a:xfrm>
            <a:off x="3134122" y="3097205"/>
            <a:ext cx="931544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defRPr b="1" sz="34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defRPr>
            </a:lvl1pPr>
          </a:lstStyle>
          <a:p>
            <a:pPr/>
            <a:r>
              <a:t>root</a:t>
            </a:r>
          </a:p>
        </p:txBody>
      </p:sp>
      <p:sp>
        <p:nvSpPr>
          <p:cNvPr id="1351" name="Shape 1733"/>
          <p:cNvSpPr/>
          <p:nvPr/>
        </p:nvSpPr>
        <p:spPr>
          <a:xfrm>
            <a:off x="4396221" y="4167393"/>
            <a:ext cx="492199" cy="600572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57" name="Group 1739"/>
          <p:cNvGrpSpPr/>
          <p:nvPr/>
        </p:nvGrpSpPr>
        <p:grpSpPr>
          <a:xfrm>
            <a:off x="4888415" y="4144763"/>
            <a:ext cx="1659474" cy="639900"/>
            <a:chOff x="-2" y="-2"/>
            <a:chExt cx="1659472" cy="639898"/>
          </a:xfrm>
        </p:grpSpPr>
        <p:grpSp>
          <p:nvGrpSpPr>
            <p:cNvPr id="1354" name="Group 1736"/>
            <p:cNvGrpSpPr/>
            <p:nvPr/>
          </p:nvGrpSpPr>
          <p:grpSpPr>
            <a:xfrm>
              <a:off x="-3" y="-3"/>
              <a:ext cx="1659474" cy="639900"/>
              <a:chOff x="-1" y="0"/>
              <a:chExt cx="1659472" cy="639898"/>
            </a:xfrm>
          </p:grpSpPr>
          <p:sp>
            <p:nvSpPr>
              <p:cNvPr id="1352" name="Shape 1734"/>
              <p:cNvSpPr/>
              <p:nvPr/>
            </p:nvSpPr>
            <p:spPr>
              <a:xfrm>
                <a:off x="-2" y="22629"/>
                <a:ext cx="1659474" cy="60057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53" name="Shape 1735"/>
              <p:cNvSpPr txBox="1"/>
              <p:nvPr/>
            </p:nvSpPr>
            <p:spPr>
              <a:xfrm>
                <a:off x="569425" y="-1"/>
                <a:ext cx="520617" cy="6398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8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355" name="Shape 1737"/>
            <p:cNvSpPr/>
            <p:nvPr/>
          </p:nvSpPr>
          <p:spPr>
            <a:xfrm>
              <a:off x="414866" y="22629"/>
              <a:ext cx="2261" cy="60057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56" name="Shape 1738"/>
            <p:cNvSpPr/>
            <p:nvPr/>
          </p:nvSpPr>
          <p:spPr>
            <a:xfrm>
              <a:off x="1244600" y="22629"/>
              <a:ext cx="2260" cy="60057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grpSp>
        <p:nvGrpSpPr>
          <p:cNvPr id="1360" name="Group 1742"/>
          <p:cNvGrpSpPr/>
          <p:nvPr/>
        </p:nvGrpSpPr>
        <p:grpSpPr>
          <a:xfrm>
            <a:off x="8295402" y="6154185"/>
            <a:ext cx="2070388" cy="639900"/>
            <a:chOff x="0" y="-1"/>
            <a:chExt cx="2070387" cy="639898"/>
          </a:xfrm>
        </p:grpSpPr>
        <p:sp>
          <p:nvSpPr>
            <p:cNvPr id="1358" name="Shape 1740"/>
            <p:cNvSpPr/>
            <p:nvPr/>
          </p:nvSpPr>
          <p:spPr>
            <a:xfrm>
              <a:off x="-1" y="42948"/>
              <a:ext cx="2070389" cy="558805"/>
            </a:xfrm>
            <a:prstGeom prst="rect">
              <a:avLst/>
            </a:prstGeom>
            <a:solidFill>
              <a:srgbClr val="CAF2CE">
                <a:alpha val="50195"/>
              </a:srgbClr>
            </a:solidFill>
            <a:ln w="25400" cap="sq">
              <a:solidFill>
                <a:srgbClr val="1C1C1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9" name="Shape 1741"/>
            <p:cNvSpPr txBox="1"/>
            <p:nvPr/>
          </p:nvSpPr>
          <p:spPr>
            <a:xfrm>
              <a:off x="794412" y="-2"/>
              <a:ext cx="49398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7" indent="57797" algn="ctr" defTabSz="1295400">
                <a:defRPr b="1" sz="3800">
                  <a:solidFill>
                    <a:srgbClr val="005400"/>
                  </a:solidFill>
                  <a:uFill>
                    <a:solidFill>
                      <a:srgbClr val="0054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1361" name="Shape 1743"/>
          <p:cNvSpPr/>
          <p:nvPr/>
        </p:nvSpPr>
        <p:spPr>
          <a:xfrm>
            <a:off x="8837271" y="6197134"/>
            <a:ext cx="2260" cy="558803"/>
          </a:xfrm>
          <a:prstGeom prst="line">
            <a:avLst/>
          </a:prstGeom>
          <a:ln w="127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362" name="Shape 1744"/>
          <p:cNvSpPr/>
          <p:nvPr/>
        </p:nvSpPr>
        <p:spPr>
          <a:xfrm>
            <a:off x="9921004" y="6197134"/>
            <a:ext cx="2261" cy="558803"/>
          </a:xfrm>
          <a:prstGeom prst="line">
            <a:avLst/>
          </a:prstGeom>
          <a:ln w="127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370" name="Group 1752"/>
          <p:cNvGrpSpPr/>
          <p:nvPr/>
        </p:nvGrpSpPr>
        <p:grpSpPr>
          <a:xfrm>
            <a:off x="7861909" y="7357633"/>
            <a:ext cx="2038535" cy="1217329"/>
            <a:chOff x="0" y="0"/>
            <a:chExt cx="2038534" cy="1217327"/>
          </a:xfrm>
        </p:grpSpPr>
        <p:grpSp>
          <p:nvGrpSpPr>
            <p:cNvPr id="1365" name="Group 1747"/>
            <p:cNvGrpSpPr/>
            <p:nvPr/>
          </p:nvGrpSpPr>
          <p:grpSpPr>
            <a:xfrm>
              <a:off x="43639" y="-1"/>
              <a:ext cx="1994896" cy="1217329"/>
              <a:chOff x="0" y="0"/>
              <a:chExt cx="1994895" cy="1217327"/>
            </a:xfrm>
          </p:grpSpPr>
          <p:sp>
            <p:nvSpPr>
              <p:cNvPr id="1363" name="Shape 1745"/>
              <p:cNvSpPr/>
              <p:nvPr/>
            </p:nvSpPr>
            <p:spPr>
              <a:xfrm>
                <a:off x="0" y="0"/>
                <a:ext cx="1994896" cy="530681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4" name="Shape 1746"/>
              <p:cNvSpPr txBox="1"/>
              <p:nvPr/>
            </p:nvSpPr>
            <p:spPr>
              <a:xfrm>
                <a:off x="1399003" y="577428"/>
                <a:ext cx="466890" cy="6399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8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366" name="Shape 1748"/>
            <p:cNvSpPr/>
            <p:nvPr/>
          </p:nvSpPr>
          <p:spPr>
            <a:xfrm>
              <a:off x="542361" y="0"/>
              <a:ext cx="2261" cy="530677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67" name="Shape 1749"/>
            <p:cNvSpPr/>
            <p:nvPr/>
          </p:nvSpPr>
          <p:spPr>
            <a:xfrm>
              <a:off x="1539807" y="0"/>
              <a:ext cx="2262" cy="530677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68" name="Shape 1750"/>
            <p:cNvSpPr txBox="1"/>
            <p:nvPr/>
          </p:nvSpPr>
          <p:spPr>
            <a:xfrm>
              <a:off x="0" y="22111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369" name="Shape 1751"/>
            <p:cNvSpPr txBox="1"/>
            <p:nvPr/>
          </p:nvSpPr>
          <p:spPr>
            <a:xfrm>
              <a:off x="1496170" y="22111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</p:grpSp>
      <p:sp>
        <p:nvSpPr>
          <p:cNvPr id="1371" name="Shape 1753"/>
          <p:cNvSpPr txBox="1"/>
          <p:nvPr/>
        </p:nvSpPr>
        <p:spPr>
          <a:xfrm>
            <a:off x="9873591" y="6228743"/>
            <a:ext cx="428480" cy="510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defRPr sz="34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∧</a:t>
            </a:r>
          </a:p>
        </p:txBody>
      </p:sp>
      <p:grpSp>
        <p:nvGrpSpPr>
          <p:cNvPr id="1378" name="Group 1760"/>
          <p:cNvGrpSpPr/>
          <p:nvPr/>
        </p:nvGrpSpPr>
        <p:grpSpPr>
          <a:xfrm>
            <a:off x="6696895" y="5213759"/>
            <a:ext cx="1943954" cy="639900"/>
            <a:chOff x="-1" y="-1"/>
            <a:chExt cx="1943953" cy="639898"/>
          </a:xfrm>
        </p:grpSpPr>
        <p:grpSp>
          <p:nvGrpSpPr>
            <p:cNvPr id="1374" name="Group 1756"/>
            <p:cNvGrpSpPr/>
            <p:nvPr/>
          </p:nvGrpSpPr>
          <p:grpSpPr>
            <a:xfrm>
              <a:off x="92568" y="-2"/>
              <a:ext cx="1851385" cy="639900"/>
              <a:chOff x="0" y="0"/>
              <a:chExt cx="1851384" cy="639898"/>
            </a:xfrm>
          </p:grpSpPr>
          <p:sp>
            <p:nvSpPr>
              <p:cNvPr id="1372" name="Shape 1754"/>
              <p:cNvSpPr/>
              <p:nvPr/>
            </p:nvSpPr>
            <p:spPr>
              <a:xfrm>
                <a:off x="-1" y="28334"/>
                <a:ext cx="1851386" cy="58916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3" name="Shape 1755"/>
              <p:cNvSpPr txBox="1"/>
              <p:nvPr/>
            </p:nvSpPr>
            <p:spPr>
              <a:xfrm>
                <a:off x="665382" y="0"/>
                <a:ext cx="520617" cy="6398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8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375" name="Shape 1757"/>
            <p:cNvSpPr/>
            <p:nvPr/>
          </p:nvSpPr>
          <p:spPr>
            <a:xfrm>
              <a:off x="555413" y="28335"/>
              <a:ext cx="2261" cy="58916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76" name="Shape 1758"/>
            <p:cNvSpPr/>
            <p:nvPr/>
          </p:nvSpPr>
          <p:spPr>
            <a:xfrm>
              <a:off x="1481102" y="28335"/>
              <a:ext cx="2261" cy="58916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77" name="Shape 1759"/>
            <p:cNvSpPr txBox="1"/>
            <p:nvPr/>
          </p:nvSpPr>
          <p:spPr>
            <a:xfrm>
              <a:off x="-2" y="52882"/>
              <a:ext cx="4284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</p:grpSp>
      <p:sp>
        <p:nvSpPr>
          <p:cNvPr id="1379" name="Shape 1761"/>
          <p:cNvSpPr txBox="1"/>
          <p:nvPr/>
        </p:nvSpPr>
        <p:spPr>
          <a:xfrm>
            <a:off x="4104968" y="6240032"/>
            <a:ext cx="428481" cy="510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defRPr sz="34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∧</a:t>
            </a:r>
          </a:p>
        </p:txBody>
      </p:sp>
      <p:grpSp>
        <p:nvGrpSpPr>
          <p:cNvPr id="1386" name="Group 1768"/>
          <p:cNvGrpSpPr/>
          <p:nvPr/>
        </p:nvGrpSpPr>
        <p:grpSpPr>
          <a:xfrm>
            <a:off x="4213340" y="6225639"/>
            <a:ext cx="1969102" cy="1247412"/>
            <a:chOff x="0" y="0"/>
            <a:chExt cx="1969100" cy="1247411"/>
          </a:xfrm>
        </p:grpSpPr>
        <p:grpSp>
          <p:nvGrpSpPr>
            <p:cNvPr id="1382" name="Group 1764"/>
            <p:cNvGrpSpPr/>
            <p:nvPr/>
          </p:nvGrpSpPr>
          <p:grpSpPr>
            <a:xfrm>
              <a:off x="0" y="0"/>
              <a:ext cx="1969101" cy="1247412"/>
              <a:chOff x="0" y="0"/>
              <a:chExt cx="1969100" cy="1247411"/>
            </a:xfrm>
          </p:grpSpPr>
          <p:sp>
            <p:nvSpPr>
              <p:cNvPr id="1380" name="Shape 1762"/>
              <p:cNvSpPr/>
              <p:nvPr/>
            </p:nvSpPr>
            <p:spPr>
              <a:xfrm>
                <a:off x="0" y="0"/>
                <a:ext cx="1969101" cy="580121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81" name="Shape 1763"/>
              <p:cNvSpPr txBox="1"/>
              <p:nvPr/>
            </p:nvSpPr>
            <p:spPr>
              <a:xfrm>
                <a:off x="1359242" y="607512"/>
                <a:ext cx="520617" cy="6399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8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383" name="Shape 1765"/>
            <p:cNvSpPr/>
            <p:nvPr/>
          </p:nvSpPr>
          <p:spPr>
            <a:xfrm>
              <a:off x="492273" y="-1"/>
              <a:ext cx="2261" cy="580121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84" name="Shape 1766"/>
            <p:cNvSpPr/>
            <p:nvPr/>
          </p:nvSpPr>
          <p:spPr>
            <a:xfrm>
              <a:off x="1476823" y="-1"/>
              <a:ext cx="2261" cy="580121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385" name="Shape 1767"/>
            <p:cNvSpPr txBox="1"/>
            <p:nvPr/>
          </p:nvSpPr>
          <p:spPr>
            <a:xfrm>
              <a:off x="1433749" y="29534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</p:grpSp>
      <p:grpSp>
        <p:nvGrpSpPr>
          <p:cNvPr id="1394" name="Group 1776"/>
          <p:cNvGrpSpPr/>
          <p:nvPr/>
        </p:nvGrpSpPr>
        <p:grpSpPr>
          <a:xfrm>
            <a:off x="3381066" y="5190994"/>
            <a:ext cx="2018463" cy="639900"/>
            <a:chOff x="-1" y="-2"/>
            <a:chExt cx="2018462" cy="639898"/>
          </a:xfrm>
        </p:grpSpPr>
        <p:grpSp>
          <p:nvGrpSpPr>
            <p:cNvPr id="1392" name="Group 1774"/>
            <p:cNvGrpSpPr/>
            <p:nvPr/>
          </p:nvGrpSpPr>
          <p:grpSpPr>
            <a:xfrm>
              <a:off x="-2" y="-3"/>
              <a:ext cx="2018463" cy="639900"/>
              <a:chOff x="0" y="-1"/>
              <a:chExt cx="2018462" cy="639898"/>
            </a:xfrm>
          </p:grpSpPr>
          <p:sp>
            <p:nvSpPr>
              <p:cNvPr id="1387" name="Shape 1769"/>
              <p:cNvSpPr/>
              <p:nvPr/>
            </p:nvSpPr>
            <p:spPr>
              <a:xfrm>
                <a:off x="667767" y="26264"/>
                <a:ext cx="2259" cy="593305"/>
              </a:xfrm>
              <a:prstGeom prst="line">
                <a:avLst/>
              </a:prstGeom>
              <a:noFill/>
              <a:ln w="12700" cap="sq">
                <a:solidFill>
                  <a:srgbClr val="0054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1390" name="Group 1772"/>
              <p:cNvGrpSpPr/>
              <p:nvPr/>
            </p:nvGrpSpPr>
            <p:grpSpPr>
              <a:xfrm>
                <a:off x="-1" y="-2"/>
                <a:ext cx="2018463" cy="639900"/>
                <a:chOff x="-1" y="0"/>
                <a:chExt cx="2018462" cy="639898"/>
              </a:xfrm>
            </p:grpSpPr>
            <p:sp>
              <p:nvSpPr>
                <p:cNvPr id="1388" name="Shape 1770"/>
                <p:cNvSpPr/>
                <p:nvPr/>
              </p:nvSpPr>
              <p:spPr>
                <a:xfrm>
                  <a:off x="-2" y="26264"/>
                  <a:ext cx="2018464" cy="593309"/>
                </a:xfrm>
                <a:prstGeom prst="rect">
                  <a:avLst/>
                </a:prstGeom>
                <a:solidFill>
                  <a:srgbClr val="CAF2CE">
                    <a:alpha val="50195"/>
                  </a:srgbClr>
                </a:solidFill>
                <a:ln w="25400" cap="sq">
                  <a:solidFill>
                    <a:srgbClr val="1C1C1C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89" name="Shape 1771"/>
                <p:cNvSpPr txBox="1"/>
                <p:nvPr/>
              </p:nvSpPr>
              <p:spPr>
                <a:xfrm>
                  <a:off x="761387" y="0"/>
                  <a:ext cx="493989" cy="6398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7" indent="57797" algn="ctr" defTabSz="1295400">
                    <a:defRPr b="1" sz="3800">
                      <a:solidFill>
                        <a:srgbClr val="005400"/>
                      </a:solidFill>
                      <a:uFill>
                        <a:solidFill>
                          <a:srgbClr val="005400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sp>
            <p:nvSpPr>
              <p:cNvPr id="1391" name="Shape 1773"/>
              <p:cNvSpPr/>
              <p:nvPr/>
            </p:nvSpPr>
            <p:spPr>
              <a:xfrm>
                <a:off x="1430996" y="26264"/>
                <a:ext cx="2261" cy="593305"/>
              </a:xfrm>
              <a:prstGeom prst="line">
                <a:avLst/>
              </a:prstGeom>
              <a:noFill/>
              <a:ln w="12700" cap="sq">
                <a:solidFill>
                  <a:srgbClr val="0054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</p:grpSp>
        <p:sp>
          <p:nvSpPr>
            <p:cNvPr id="1393" name="Shape 1775"/>
            <p:cNvSpPr txBox="1"/>
            <p:nvPr/>
          </p:nvSpPr>
          <p:spPr>
            <a:xfrm>
              <a:off x="-2" y="105723"/>
              <a:ext cx="673102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</p:grpSp>
      <p:sp>
        <p:nvSpPr>
          <p:cNvPr id="1395" name="Shape 1777"/>
          <p:cNvSpPr/>
          <p:nvPr/>
        </p:nvSpPr>
        <p:spPr>
          <a:xfrm>
            <a:off x="6346942" y="4582823"/>
            <a:ext cx="1126633" cy="616377"/>
          </a:xfrm>
          <a:prstGeom prst="line">
            <a:avLst/>
          </a:prstGeom>
          <a:ln w="381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396" name="Shape 1778"/>
          <p:cNvSpPr/>
          <p:nvPr/>
        </p:nvSpPr>
        <p:spPr>
          <a:xfrm>
            <a:off x="5044203" y="5514440"/>
            <a:ext cx="273194" cy="693140"/>
          </a:xfrm>
          <a:prstGeom prst="line">
            <a:avLst/>
          </a:prstGeom>
          <a:ln w="381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397" name="Shape 1779"/>
          <p:cNvSpPr/>
          <p:nvPr/>
        </p:nvSpPr>
        <p:spPr>
          <a:xfrm>
            <a:off x="8317982" y="5528832"/>
            <a:ext cx="424465" cy="609603"/>
          </a:xfrm>
          <a:prstGeom prst="line">
            <a:avLst/>
          </a:prstGeom>
          <a:ln w="381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398" name="Shape 1780"/>
          <p:cNvSpPr/>
          <p:nvPr/>
        </p:nvSpPr>
        <p:spPr>
          <a:xfrm flipH="1">
            <a:off x="8902747" y="6788672"/>
            <a:ext cx="259647" cy="539611"/>
          </a:xfrm>
          <a:prstGeom prst="line">
            <a:avLst/>
          </a:prstGeom>
          <a:ln w="381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399" name="Shape 1781"/>
          <p:cNvSpPr/>
          <p:nvPr/>
        </p:nvSpPr>
        <p:spPr>
          <a:xfrm flipH="1">
            <a:off x="4615226" y="4564761"/>
            <a:ext cx="580251" cy="609603"/>
          </a:xfrm>
          <a:prstGeom prst="line">
            <a:avLst/>
          </a:prstGeom>
          <a:ln w="38100" cap="sq">
            <a:solidFill>
              <a:srgbClr val="0054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00" name="Shape 1782"/>
          <p:cNvSpPr/>
          <p:nvPr/>
        </p:nvSpPr>
        <p:spPr>
          <a:xfrm>
            <a:off x="2883509" y="5221774"/>
            <a:ext cx="508004" cy="593799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1" name="Shape 1783"/>
          <p:cNvSpPr/>
          <p:nvPr/>
        </p:nvSpPr>
        <p:spPr>
          <a:xfrm>
            <a:off x="6327468" y="5235039"/>
            <a:ext cx="462847" cy="589283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2" name="Shape 1784"/>
          <p:cNvSpPr/>
          <p:nvPr/>
        </p:nvSpPr>
        <p:spPr>
          <a:xfrm>
            <a:off x="3712114" y="6225639"/>
            <a:ext cx="492199" cy="580251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3" name="Shape 1785"/>
          <p:cNvSpPr/>
          <p:nvPr/>
        </p:nvSpPr>
        <p:spPr>
          <a:xfrm>
            <a:off x="7773858" y="6197135"/>
            <a:ext cx="517034" cy="558803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4" name="Shape 1786"/>
          <p:cNvSpPr/>
          <p:nvPr/>
        </p:nvSpPr>
        <p:spPr>
          <a:xfrm>
            <a:off x="7404710" y="7330540"/>
            <a:ext cx="508004" cy="584202"/>
          </a:xfrm>
          <a:prstGeom prst="rect">
            <a:avLst/>
          </a:prstGeom>
          <a:solidFill>
            <a:srgbClr val="FBE2DF"/>
          </a:solidFill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5" name="Shape 1787"/>
          <p:cNvSpPr txBox="1"/>
          <p:nvPr/>
        </p:nvSpPr>
        <p:spPr>
          <a:xfrm>
            <a:off x="4288976" y="4162595"/>
            <a:ext cx="609603" cy="543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∧</a:t>
            </a:r>
          </a:p>
        </p:txBody>
      </p:sp>
      <p:sp>
        <p:nvSpPr>
          <p:cNvPr id="1406" name="Shape 1788"/>
          <p:cNvSpPr/>
          <p:nvPr/>
        </p:nvSpPr>
        <p:spPr>
          <a:xfrm>
            <a:off x="3147669" y="4422240"/>
            <a:ext cx="1253069" cy="1104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384" y="19860"/>
                  <a:pt x="890" y="16020"/>
                  <a:pt x="1456" y="14760"/>
                </a:cubicBezTo>
                <a:cubicBezTo>
                  <a:pt x="1618" y="14400"/>
                  <a:pt x="1820" y="14070"/>
                  <a:pt x="1942" y="13680"/>
                </a:cubicBezTo>
                <a:cubicBezTo>
                  <a:pt x="2407" y="12300"/>
                  <a:pt x="2488" y="11700"/>
                  <a:pt x="3398" y="10800"/>
                </a:cubicBezTo>
                <a:cubicBezTo>
                  <a:pt x="3822" y="8910"/>
                  <a:pt x="3337" y="10380"/>
                  <a:pt x="4369" y="9000"/>
                </a:cubicBezTo>
                <a:cubicBezTo>
                  <a:pt x="6128" y="6690"/>
                  <a:pt x="5481" y="7110"/>
                  <a:pt x="7281" y="5760"/>
                </a:cubicBezTo>
                <a:cubicBezTo>
                  <a:pt x="8009" y="5220"/>
                  <a:pt x="8717" y="4440"/>
                  <a:pt x="9465" y="3960"/>
                </a:cubicBezTo>
                <a:cubicBezTo>
                  <a:pt x="11043" y="2910"/>
                  <a:pt x="12883" y="2340"/>
                  <a:pt x="14562" y="1800"/>
                </a:cubicBezTo>
                <a:cubicBezTo>
                  <a:pt x="15391" y="1530"/>
                  <a:pt x="16139" y="810"/>
                  <a:pt x="16989" y="720"/>
                </a:cubicBezTo>
                <a:cubicBezTo>
                  <a:pt x="18121" y="600"/>
                  <a:pt x="19254" y="480"/>
                  <a:pt x="20387" y="360"/>
                </a:cubicBezTo>
                <a:cubicBezTo>
                  <a:pt x="20791" y="240"/>
                  <a:pt x="21600" y="0"/>
                  <a:pt x="21600" y="0"/>
                </a:cubicBezTo>
              </a:path>
            </a:pathLst>
          </a:custGeom>
          <a:ln w="38100" cap="sq">
            <a:solidFill>
              <a:srgbClr val="333399"/>
            </a:solidFill>
            <a:tail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7" name="Shape 1789"/>
          <p:cNvSpPr/>
          <p:nvPr/>
        </p:nvSpPr>
        <p:spPr>
          <a:xfrm rot="480000">
            <a:off x="6037885" y="4695357"/>
            <a:ext cx="629923" cy="7789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340" y="4582"/>
                  <a:pt x="4481" y="8607"/>
                  <a:pt x="7353" y="12567"/>
                </a:cubicBezTo>
                <a:cubicBezTo>
                  <a:pt x="7698" y="13058"/>
                  <a:pt x="7889" y="13647"/>
                  <a:pt x="8272" y="14138"/>
                </a:cubicBezTo>
                <a:cubicBezTo>
                  <a:pt x="8655" y="14596"/>
                  <a:pt x="9268" y="14891"/>
                  <a:pt x="9651" y="15316"/>
                </a:cubicBezTo>
                <a:cubicBezTo>
                  <a:pt x="12217" y="18164"/>
                  <a:pt x="10226" y="17313"/>
                  <a:pt x="12868" y="18065"/>
                </a:cubicBezTo>
                <a:cubicBezTo>
                  <a:pt x="14094" y="19113"/>
                  <a:pt x="15434" y="19833"/>
                  <a:pt x="17004" y="20422"/>
                </a:cubicBezTo>
                <a:cubicBezTo>
                  <a:pt x="17885" y="20749"/>
                  <a:pt x="18804" y="21011"/>
                  <a:pt x="19762" y="21207"/>
                </a:cubicBezTo>
                <a:cubicBezTo>
                  <a:pt x="20374" y="21338"/>
                  <a:pt x="21600" y="21600"/>
                  <a:pt x="21600" y="21600"/>
                </a:cubicBezTo>
              </a:path>
            </a:pathLst>
          </a:custGeom>
          <a:ln w="38100" cap="sq">
            <a:solidFill>
              <a:srgbClr val="333399"/>
            </a:solidFill>
            <a:head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8" name="Shape 1790"/>
          <p:cNvSpPr/>
          <p:nvPr/>
        </p:nvSpPr>
        <p:spPr>
          <a:xfrm>
            <a:off x="7469058" y="5790735"/>
            <a:ext cx="501229" cy="838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47" fill="norm" stroke="1" extrusionOk="0">
                <a:moveTo>
                  <a:pt x="0" y="0"/>
                </a:moveTo>
                <a:cubicBezTo>
                  <a:pt x="588" y="2099"/>
                  <a:pt x="1102" y="2973"/>
                  <a:pt x="2645" y="4198"/>
                </a:cubicBezTo>
                <a:cubicBezTo>
                  <a:pt x="3269" y="6384"/>
                  <a:pt x="3857" y="7652"/>
                  <a:pt x="5731" y="8395"/>
                </a:cubicBezTo>
                <a:cubicBezTo>
                  <a:pt x="6576" y="11456"/>
                  <a:pt x="5510" y="8657"/>
                  <a:pt x="7494" y="11019"/>
                </a:cubicBezTo>
                <a:cubicBezTo>
                  <a:pt x="8963" y="12768"/>
                  <a:pt x="8780" y="13817"/>
                  <a:pt x="11020" y="14691"/>
                </a:cubicBezTo>
                <a:cubicBezTo>
                  <a:pt x="11976" y="18146"/>
                  <a:pt x="10653" y="14735"/>
                  <a:pt x="12784" y="16790"/>
                </a:cubicBezTo>
                <a:cubicBezTo>
                  <a:pt x="15649" y="19501"/>
                  <a:pt x="11682" y="17577"/>
                  <a:pt x="14988" y="18889"/>
                </a:cubicBezTo>
                <a:cubicBezTo>
                  <a:pt x="17265" y="21600"/>
                  <a:pt x="18000" y="20988"/>
                  <a:pt x="21600" y="20988"/>
                </a:cubicBezTo>
              </a:path>
            </a:pathLst>
          </a:custGeom>
          <a:ln w="38100" cap="sq">
            <a:solidFill>
              <a:srgbClr val="333399"/>
            </a:solidFill>
            <a:head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9" name="Shape 1791"/>
          <p:cNvSpPr/>
          <p:nvPr/>
        </p:nvSpPr>
        <p:spPr>
          <a:xfrm rot="21360000">
            <a:off x="7570565" y="6720058"/>
            <a:ext cx="1028703" cy="808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9620" y="3557"/>
                  <a:pt x="20844" y="2700"/>
                  <a:pt x="18576" y="3600"/>
                </a:cubicBezTo>
                <a:cubicBezTo>
                  <a:pt x="17064" y="8957"/>
                  <a:pt x="11160" y="12214"/>
                  <a:pt x="6912" y="13886"/>
                </a:cubicBezTo>
                <a:cubicBezTo>
                  <a:pt x="6012" y="14229"/>
                  <a:pt x="5220" y="15086"/>
                  <a:pt x="4320" y="15429"/>
                </a:cubicBezTo>
                <a:cubicBezTo>
                  <a:pt x="3888" y="15943"/>
                  <a:pt x="3492" y="16500"/>
                  <a:pt x="3024" y="16971"/>
                </a:cubicBezTo>
                <a:cubicBezTo>
                  <a:pt x="2628" y="17357"/>
                  <a:pt x="2052" y="17529"/>
                  <a:pt x="1728" y="18000"/>
                </a:cubicBezTo>
                <a:cubicBezTo>
                  <a:pt x="1440" y="18429"/>
                  <a:pt x="1512" y="19071"/>
                  <a:pt x="1296" y="19543"/>
                </a:cubicBezTo>
                <a:cubicBezTo>
                  <a:pt x="792" y="20700"/>
                  <a:pt x="612" y="20871"/>
                  <a:pt x="0" y="21600"/>
                </a:cubicBezTo>
              </a:path>
            </a:pathLst>
          </a:custGeom>
          <a:ln w="38100" cap="sq">
            <a:solidFill>
              <a:srgbClr val="333399"/>
            </a:solidFill>
            <a:head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10" name="Shape 1793"/>
          <p:cNvSpPr/>
          <p:nvPr/>
        </p:nvSpPr>
        <p:spPr>
          <a:xfrm>
            <a:off x="3736668" y="5752352"/>
            <a:ext cx="304801" cy="717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47" fill="norm" stroke="1" extrusionOk="0">
                <a:moveTo>
                  <a:pt x="0" y="0"/>
                </a:moveTo>
                <a:cubicBezTo>
                  <a:pt x="588" y="2099"/>
                  <a:pt x="1102" y="2973"/>
                  <a:pt x="2645" y="4198"/>
                </a:cubicBezTo>
                <a:cubicBezTo>
                  <a:pt x="3269" y="6384"/>
                  <a:pt x="3857" y="7652"/>
                  <a:pt x="5731" y="8395"/>
                </a:cubicBezTo>
                <a:cubicBezTo>
                  <a:pt x="6576" y="11456"/>
                  <a:pt x="5510" y="8657"/>
                  <a:pt x="7494" y="11019"/>
                </a:cubicBezTo>
                <a:cubicBezTo>
                  <a:pt x="8963" y="12768"/>
                  <a:pt x="8780" y="13817"/>
                  <a:pt x="11020" y="14691"/>
                </a:cubicBezTo>
                <a:cubicBezTo>
                  <a:pt x="11976" y="18146"/>
                  <a:pt x="10653" y="14735"/>
                  <a:pt x="12784" y="16790"/>
                </a:cubicBezTo>
                <a:cubicBezTo>
                  <a:pt x="15649" y="19501"/>
                  <a:pt x="11682" y="17577"/>
                  <a:pt x="14988" y="18889"/>
                </a:cubicBezTo>
                <a:cubicBezTo>
                  <a:pt x="17265" y="21600"/>
                  <a:pt x="18000" y="20988"/>
                  <a:pt x="21600" y="20988"/>
                </a:cubicBezTo>
              </a:path>
            </a:pathLst>
          </a:custGeom>
          <a:ln w="38100" cap="sq">
            <a:solidFill>
              <a:srgbClr val="333399"/>
            </a:solidFill>
            <a:head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11" name="链式存储：三叉链表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链式存储：三叉链表</a:t>
            </a:r>
          </a:p>
        </p:txBody>
      </p:sp>
      <p:sp>
        <p:nvSpPr>
          <p:cNvPr id="1412" name="二叉树的多数应用一般从root入手，采用top-down处理方式；…"/>
          <p:cNvSpPr txBox="1"/>
          <p:nvPr/>
        </p:nvSpPr>
        <p:spPr>
          <a:xfrm>
            <a:off x="219660" y="1186229"/>
            <a:ext cx="10464739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二叉树的多数应用一般从root入手，采用top-down处理方式；</a:t>
            </a:r>
          </a:p>
          <a:p>
            <a:pPr>
              <a:lnSpc>
                <a:spcPct val="120000"/>
              </a:lnSpc>
            </a:pPr>
            <a:r>
              <a:t>有些应用需要采用bottom-up处理方式，为了方便找到父结点，</a:t>
            </a:r>
          </a:p>
          <a:p>
            <a:pPr>
              <a:lnSpc>
                <a:spcPct val="120000"/>
              </a:lnSpc>
            </a:pPr>
            <a:r>
              <a:t>也可以采用三叉链表</a:t>
            </a:r>
          </a:p>
        </p:txBody>
      </p:sp>
      <p:sp>
        <p:nvSpPr>
          <p:cNvPr id="1413" name="像平衡树需要结合top-down和bottom-up2种方式，使用二叉链表 + 栈"/>
          <p:cNvSpPr txBox="1"/>
          <p:nvPr/>
        </p:nvSpPr>
        <p:spPr>
          <a:xfrm>
            <a:off x="219660" y="8597008"/>
            <a:ext cx="1137798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像平衡树需要结合top-down和bottom-up2种方式，使用二叉链表 + 栈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Class="entr" nodeType="after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Subtype="2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Class="entr" nodeType="after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Subtype="2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Class="entr" nodeType="afterEffect" presetSubtype="2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8"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Class="entr" nodeType="after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2"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Class="entr" nodeType="after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6"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0"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Class="entr" nodeType="after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9" dur="5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4" dur="3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"/>
                            </p:stCondLst>
                            <p:childTnLst>
                              <p:par>
                                <p:cTn id="66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06" grpId="7"/>
      <p:bldP build="whole" bldLvl="1" animBg="1" rev="0" advAuto="0" spid="1410" grpId="10"/>
      <p:bldP build="whole" bldLvl="1" animBg="1" rev="0" advAuto="0" spid="1408" grpId="9"/>
      <p:bldP build="whole" bldLvl="1" animBg="1" rev="0" advAuto="0" spid="1409" grpId="11"/>
      <p:bldP build="whole" bldLvl="1" animBg="1" rev="0" advAuto="0" spid="1351" grpId="1"/>
      <p:bldP build="whole" bldLvl="1" animBg="1" rev="0" advAuto="0" spid="1404" grpId="6"/>
      <p:bldP build="whole" bldLvl="1" animBg="1" rev="0" advAuto="0" spid="1350" grpId="13"/>
      <p:bldP build="whole" bldLvl="1" animBg="1" rev="0" advAuto="0" spid="1349" grpId="14"/>
      <p:bldP build="whole" bldLvl="1" animBg="1" rev="0" advAuto="0" spid="1413" grpId="15"/>
      <p:bldP build="whole" bldLvl="1" animBg="1" rev="0" advAuto="0" spid="1401" grpId="3"/>
      <p:bldP build="whole" bldLvl="1" animBg="1" rev="0" advAuto="0" spid="1403" grpId="5"/>
      <p:bldP build="whole" bldLvl="1" animBg="1" rev="0" advAuto="0" spid="1407" grpId="8"/>
      <p:bldP build="whole" bldLvl="1" animBg="1" rev="0" advAuto="0" spid="1405" grpId="12"/>
      <p:bldP build="whole" bldLvl="1" animBg="1" rev="0" advAuto="0" spid="1400" grpId="2"/>
      <p:bldP build="whole" bldLvl="1" animBg="1" rev="0" advAuto="0" spid="1402" grpId="4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二叉树的操作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二叉树的操作</a:t>
            </a:r>
          </a:p>
        </p:txBody>
      </p:sp>
      <p:sp>
        <p:nvSpPr>
          <p:cNvPr id="1418" name="Shape 1838"/>
          <p:cNvSpPr txBox="1"/>
          <p:nvPr/>
        </p:nvSpPr>
        <p:spPr>
          <a:xfrm>
            <a:off x="328437" y="1239506"/>
            <a:ext cx="12302771" cy="3086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57797">
              <a:lnSpc>
                <a:spcPct val="120000"/>
              </a:lnSpc>
            </a:pPr>
            <a:r>
              <a:t>二叉树是一种很重要的数据结构，但不如栈、队列和线性表那样基础，</a:t>
            </a:r>
          </a:p>
          <a:p>
            <a:pPr indent="57797">
              <a:lnSpc>
                <a:spcPct val="120000"/>
              </a:lnSpc>
            </a:pPr>
            <a:r>
              <a:t>有公认的基本操作(接口)。</a:t>
            </a:r>
          </a:p>
          <a:p>
            <a:pPr indent="57797">
              <a:lnSpc>
                <a:spcPct val="120000"/>
              </a:lnSpc>
            </a:pPr>
          </a:p>
          <a:p>
            <a:pPr indent="57797">
              <a:lnSpc>
                <a:spcPct val="120000"/>
              </a:lnSpc>
            </a:pPr>
            <a:r>
              <a:t>二叉树作为数据的集合，其最基本的操作就是</a:t>
            </a:r>
            <a:r>
              <a:rPr>
                <a:solidFill>
                  <a:schemeClr val="accent1"/>
                </a:solidFill>
              </a:rPr>
              <a:t>遍历</a:t>
            </a:r>
            <a:r>
              <a:t>。即</a:t>
            </a:r>
            <a:r>
              <a:rPr>
                <a:solidFill>
                  <a:schemeClr val="accent5"/>
                </a:solidFill>
              </a:rPr>
              <a:t>枚举</a:t>
            </a:r>
            <a:r>
              <a:t>二叉树中的结点，从根结点开始，一个不多，一个不少的给出所有的结点。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Shape 1845"/>
          <p:cNvSpPr txBox="1"/>
          <p:nvPr/>
        </p:nvSpPr>
        <p:spPr>
          <a:xfrm>
            <a:off x="356727" y="2828993"/>
            <a:ext cx="12115805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       </a:t>
            </a:r>
          </a:p>
        </p:txBody>
      </p:sp>
      <p:sp>
        <p:nvSpPr>
          <p:cNvPr id="1421" name="Shape 1846"/>
          <p:cNvSpPr txBox="1"/>
          <p:nvPr/>
        </p:nvSpPr>
        <p:spPr>
          <a:xfrm>
            <a:off x="112190" y="1391071"/>
            <a:ext cx="11058597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线性结构的遍历：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因为每个结点均只有一个后继，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/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                                </a:t>
            </a:r>
            <a:r>
              <a:t>所以只有一条搜索路径。</a:t>
            </a:r>
          </a:p>
        </p:txBody>
      </p:sp>
      <p:sp>
        <p:nvSpPr>
          <p:cNvPr id="1422" name="Shape 1847"/>
          <p:cNvSpPr txBox="1"/>
          <p:nvPr/>
        </p:nvSpPr>
        <p:spPr>
          <a:xfrm>
            <a:off x="136729" y="3045679"/>
            <a:ext cx="12731343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二叉树的遍历：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二叉树是非线性结构，每个结点</a:t>
            </a:r>
            <a:r>
              <a:rPr>
                <a:solidFill>
                  <a:schemeClr val="accent5"/>
                </a:solidFill>
              </a:rPr>
              <a:t>有两个后继</a:t>
            </a:r>
            <a:r>
              <a:t>，</a:t>
            </a:r>
          </a:p>
          <a:p>
            <a:pPr/>
            <a:r>
              <a:t>                            则存在如何遍历，即按什么样的搜索路径进行遍历的问题。</a:t>
            </a:r>
          </a:p>
        </p:txBody>
      </p:sp>
      <p:sp>
        <p:nvSpPr>
          <p:cNvPr id="1423" name="二叉树的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22" grpId="2"/>
      <p:bldP build="whole" bldLvl="1" animBg="1" rev="0" advAuto="0" spid="1421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Shape 1850"/>
          <p:cNvSpPr txBox="1"/>
          <p:nvPr/>
        </p:nvSpPr>
        <p:spPr>
          <a:xfrm>
            <a:off x="207568" y="1351986"/>
            <a:ext cx="1107440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spAutoFit/>
          </a:bodyPr>
          <a:lstStyle/>
          <a:p>
            <a:pPr/>
            <a:r>
              <a:t>二叉树存在下述三条搜索路径：</a:t>
            </a:r>
          </a:p>
        </p:txBody>
      </p:sp>
      <p:sp>
        <p:nvSpPr>
          <p:cNvPr id="1426" name="Shape 1851"/>
          <p:cNvSpPr txBox="1"/>
          <p:nvPr/>
        </p:nvSpPr>
        <p:spPr>
          <a:xfrm>
            <a:off x="1530490" y="2129364"/>
            <a:ext cx="9639304" cy="2833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1．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先上后下</a:t>
            </a:r>
            <a:r>
              <a:t>的按层次遍历；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2．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先左</a:t>
            </a:r>
            <a:r>
              <a:t>（子树）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后右</a:t>
            </a:r>
            <a:r>
              <a:t>（子树）的遍历；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 lvl="1" indent="0"/>
            <a:r>
              <a:t>       DLR，LDR，LRD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3．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先右</a:t>
            </a:r>
            <a:r>
              <a:t>（子树）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后左</a:t>
            </a:r>
            <a:r>
              <a:t>（子树）的遍历。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 lvl="1" indent="0"/>
            <a:r>
              <a:t>       DRL，RDL，RLD</a:t>
            </a:r>
          </a:p>
        </p:txBody>
      </p:sp>
      <p:sp>
        <p:nvSpPr>
          <p:cNvPr id="1427" name="二叉树的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二叉树的遍历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426" grpId="2"/>
      <p:bldP build="whole" bldLvl="1" animBg="1" rev="0" advAuto="0" spid="1425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roup 1866"/>
          <p:cNvGrpSpPr/>
          <p:nvPr/>
        </p:nvGrpSpPr>
        <p:grpSpPr>
          <a:xfrm>
            <a:off x="1087398" y="2349498"/>
            <a:ext cx="4599100" cy="4279903"/>
            <a:chOff x="0" y="0"/>
            <a:chExt cx="4599099" cy="4279902"/>
          </a:xfrm>
        </p:grpSpPr>
        <p:grpSp>
          <p:nvGrpSpPr>
            <p:cNvPr id="1431" name="Group 1857"/>
            <p:cNvGrpSpPr/>
            <p:nvPr/>
          </p:nvGrpSpPr>
          <p:grpSpPr>
            <a:xfrm>
              <a:off x="0" y="1562101"/>
              <a:ext cx="2192024" cy="2717802"/>
              <a:chOff x="0" y="0"/>
              <a:chExt cx="2192023" cy="2717801"/>
            </a:xfrm>
          </p:grpSpPr>
          <p:sp>
            <p:nvSpPr>
              <p:cNvPr id="1429" name="Shape 1855"/>
              <p:cNvSpPr/>
              <p:nvPr/>
            </p:nvSpPr>
            <p:spPr>
              <a:xfrm>
                <a:off x="0" y="0"/>
                <a:ext cx="1473205" cy="20574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BE2DF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0" name="Shape 1856"/>
              <p:cNvSpPr/>
              <p:nvPr/>
            </p:nvSpPr>
            <p:spPr>
              <a:xfrm>
                <a:off x="922023" y="14478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uFill>
                      <a:solidFill>
                        <a:srgbClr val="000000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uFill>
                      <a:solidFill>
                        <a:srgbClr val="000000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1434" name="Group 1860"/>
            <p:cNvGrpSpPr/>
            <p:nvPr/>
          </p:nvGrpSpPr>
          <p:grpSpPr>
            <a:xfrm>
              <a:off x="2926084" y="1562101"/>
              <a:ext cx="1673016" cy="2667002"/>
              <a:chOff x="107496" y="0"/>
              <a:chExt cx="1673014" cy="2667001"/>
            </a:xfrm>
          </p:grpSpPr>
          <p:sp>
            <p:nvSpPr>
              <p:cNvPr id="1432" name="Shape 1858"/>
              <p:cNvSpPr/>
              <p:nvPr/>
            </p:nvSpPr>
            <p:spPr>
              <a:xfrm>
                <a:off x="107496" y="0"/>
                <a:ext cx="1409706" cy="20574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BE2DF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3" name="Shape 1859"/>
              <p:cNvSpPr/>
              <p:nvPr/>
            </p:nvSpPr>
            <p:spPr>
              <a:xfrm>
                <a:off x="510511" y="13970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uFill>
                      <a:solidFill>
                        <a:srgbClr val="000000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uFill>
                      <a:solidFill>
                        <a:srgbClr val="000000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sp>
          <p:nvSpPr>
            <p:cNvPr id="1435" name="Shape 1861"/>
            <p:cNvSpPr/>
            <p:nvPr/>
          </p:nvSpPr>
          <p:spPr>
            <a:xfrm flipH="1">
              <a:off x="1478396" y="1016000"/>
              <a:ext cx="369035" cy="558654"/>
            </a:xfrm>
            <a:prstGeom prst="line">
              <a:avLst/>
            </a:prstGeom>
            <a:noFill/>
            <a:ln w="38100" cap="sq">
              <a:solidFill>
                <a:srgbClr val="0066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436" name="Shape 1862"/>
            <p:cNvSpPr/>
            <p:nvPr/>
          </p:nvSpPr>
          <p:spPr>
            <a:xfrm>
              <a:off x="2600963" y="1016001"/>
              <a:ext cx="330203" cy="546101"/>
            </a:xfrm>
            <a:prstGeom prst="line">
              <a:avLst/>
            </a:prstGeom>
            <a:noFill/>
            <a:ln w="38100" cap="sq">
              <a:solidFill>
                <a:srgbClr val="0066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439" name="Group 1865"/>
            <p:cNvGrpSpPr/>
            <p:nvPr/>
          </p:nvGrpSpPr>
          <p:grpSpPr>
            <a:xfrm>
              <a:off x="1638301" y="0"/>
              <a:ext cx="1866902" cy="1809750"/>
              <a:chOff x="0" y="0"/>
              <a:chExt cx="1866900" cy="1809750"/>
            </a:xfrm>
          </p:grpSpPr>
          <p:sp>
            <p:nvSpPr>
              <p:cNvPr id="1437" name="Shape 1863"/>
              <p:cNvSpPr/>
              <p:nvPr/>
            </p:nvSpPr>
            <p:spPr>
              <a:xfrm>
                <a:off x="0" y="0"/>
                <a:ext cx="1193803" cy="1079500"/>
              </a:xfrm>
              <a:prstGeom prst="ellipse">
                <a:avLst/>
              </a:prstGeom>
              <a:solidFill>
                <a:srgbClr val="FBE2DF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8" name="Shape 1864"/>
              <p:cNvSpPr/>
              <p:nvPr/>
            </p:nvSpPr>
            <p:spPr>
              <a:xfrm>
                <a:off x="596900" y="53975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</p:grpSp>
      <p:sp>
        <p:nvSpPr>
          <p:cNvPr id="1441" name="Shape 1867"/>
          <p:cNvSpPr/>
          <p:nvPr/>
        </p:nvSpPr>
        <p:spPr>
          <a:xfrm>
            <a:off x="3340663" y="1122678"/>
            <a:ext cx="22580" cy="1203398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42" name="Shape 1868"/>
          <p:cNvSpPr/>
          <p:nvPr/>
        </p:nvSpPr>
        <p:spPr>
          <a:xfrm flipV="1">
            <a:off x="1629267" y="3263899"/>
            <a:ext cx="1079503" cy="1511302"/>
          </a:xfrm>
          <a:prstGeom prst="line">
            <a:avLst/>
          </a:prstGeom>
          <a:ln w="38100" cap="sq">
            <a:solidFill>
              <a:srgbClr val="FF00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43" name="Shape 1869"/>
          <p:cNvSpPr/>
          <p:nvPr/>
        </p:nvSpPr>
        <p:spPr>
          <a:xfrm flipH="1" flipV="1">
            <a:off x="3905108" y="3263898"/>
            <a:ext cx="1079503" cy="1511304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44" name="Shape 1870"/>
          <p:cNvSpPr/>
          <p:nvPr/>
        </p:nvSpPr>
        <p:spPr>
          <a:xfrm flipH="1">
            <a:off x="2713002" y="3479799"/>
            <a:ext cx="431803" cy="762002"/>
          </a:xfrm>
          <a:prstGeom prst="line">
            <a:avLst/>
          </a:prstGeom>
          <a:ln w="38100" cap="sq">
            <a:solidFill>
              <a:srgbClr val="FF33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45" name="Shape 1871"/>
          <p:cNvSpPr/>
          <p:nvPr/>
        </p:nvSpPr>
        <p:spPr>
          <a:xfrm>
            <a:off x="3363242" y="3479798"/>
            <a:ext cx="546101" cy="863604"/>
          </a:xfrm>
          <a:prstGeom prst="line">
            <a:avLst/>
          </a:prstGeom>
          <a:ln w="38100" cap="sq">
            <a:solidFill>
              <a:srgbClr val="FF33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448" name="Group 1874"/>
          <p:cNvGrpSpPr/>
          <p:nvPr/>
        </p:nvGrpSpPr>
        <p:grpSpPr>
          <a:xfrm>
            <a:off x="2725134" y="2346674"/>
            <a:ext cx="1193807" cy="1079507"/>
            <a:chOff x="-1" y="-1"/>
            <a:chExt cx="1193806" cy="1079506"/>
          </a:xfrm>
        </p:grpSpPr>
        <p:sp>
          <p:nvSpPr>
            <p:cNvPr id="1446" name="Shape 1872"/>
            <p:cNvSpPr/>
            <p:nvPr/>
          </p:nvSpPr>
          <p:spPr>
            <a:xfrm>
              <a:off x="-2" y="-2"/>
              <a:ext cx="1193807" cy="10795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A5002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7" name="Shape 1873"/>
            <p:cNvSpPr txBox="1"/>
            <p:nvPr/>
          </p:nvSpPr>
          <p:spPr>
            <a:xfrm>
              <a:off x="205695" y="60960"/>
              <a:ext cx="780717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50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根</a:t>
              </a:r>
            </a:p>
          </p:txBody>
        </p:sp>
      </p:grpSp>
      <p:grpSp>
        <p:nvGrpSpPr>
          <p:cNvPr id="1451" name="Group 1877"/>
          <p:cNvGrpSpPr/>
          <p:nvPr/>
        </p:nvGrpSpPr>
        <p:grpSpPr>
          <a:xfrm>
            <a:off x="1035190" y="3948007"/>
            <a:ext cx="2293624" cy="2673211"/>
            <a:chOff x="0" y="0"/>
            <a:chExt cx="2293622" cy="2673210"/>
          </a:xfrm>
        </p:grpSpPr>
        <p:sp>
          <p:nvSpPr>
            <p:cNvPr id="1449" name="Shape 1875"/>
            <p:cNvSpPr/>
            <p:nvPr/>
          </p:nvSpPr>
          <p:spPr>
            <a:xfrm>
              <a:off x="0" y="0"/>
              <a:ext cx="15113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0" name="Shape 1876"/>
            <p:cNvSpPr/>
            <p:nvPr/>
          </p:nvSpPr>
          <p:spPr>
            <a:xfrm>
              <a:off x="1023622" y="14032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左</a:t>
              </a:r>
            </a:p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grpSp>
        <p:nvGrpSpPr>
          <p:cNvPr id="1454" name="Group 1880"/>
          <p:cNvGrpSpPr/>
          <p:nvPr/>
        </p:nvGrpSpPr>
        <p:grpSpPr>
          <a:xfrm>
            <a:off x="4027029" y="3935305"/>
            <a:ext cx="1673015" cy="2660512"/>
            <a:chOff x="107496" y="0"/>
            <a:chExt cx="1673014" cy="2660511"/>
          </a:xfrm>
        </p:grpSpPr>
        <p:sp>
          <p:nvSpPr>
            <p:cNvPr id="1452" name="Shape 1878"/>
            <p:cNvSpPr/>
            <p:nvPr/>
          </p:nvSpPr>
          <p:spPr>
            <a:xfrm>
              <a:off x="107496" y="0"/>
              <a:ext cx="1409705" cy="2057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3" name="Shape 1879"/>
            <p:cNvSpPr/>
            <p:nvPr/>
          </p:nvSpPr>
          <p:spPr>
            <a:xfrm>
              <a:off x="510511" y="139051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右</a:t>
              </a:r>
            </a:p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sp>
        <p:nvSpPr>
          <p:cNvPr id="1455" name="Shape 1881"/>
          <p:cNvSpPr txBox="1"/>
          <p:nvPr/>
        </p:nvSpPr>
        <p:spPr>
          <a:xfrm>
            <a:off x="5417399" y="1200143"/>
            <a:ext cx="6891381" cy="26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 若二叉树为空树，则空操作；否则：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20000"/>
              </a:lnSpc>
            </a:pPr>
            <a:r>
              <a:t>（1）访问根结点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20000"/>
              </a:lnSpc>
            </a:pPr>
            <a:r>
              <a:t>（2）先序遍历左子树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20000"/>
              </a:lnSpc>
            </a:pPr>
            <a:r>
              <a:t>（3）先序遍历右子树</a:t>
            </a:r>
          </a:p>
        </p:txBody>
      </p:sp>
      <p:sp>
        <p:nvSpPr>
          <p:cNvPr id="1456" name="先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先序遍历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54" grpId="8"/>
      <p:bldP build="whole" bldLvl="1" animBg="1" rev="0" advAuto="0" spid="1448" grpId="3"/>
      <p:bldP build="whole" bldLvl="1" animBg="1" rev="0" advAuto="0" spid="1451" grpId="5"/>
      <p:bldP build="whole" bldLvl="1" animBg="1" rev="0" advAuto="0" spid="1444" grpId="6"/>
      <p:bldP build="whole" bldLvl="1" animBg="1" rev="0" advAuto="0" spid="1443" grpId="9"/>
      <p:bldP build="whole" bldLvl="1" animBg="1" rev="0" advAuto="0" spid="1441" grpId="2"/>
      <p:bldP build="whole" bldLvl="1" animBg="1" rev="0" advAuto="0" spid="1442" grpId="4"/>
      <p:bldP build="whole" bldLvl="1" animBg="1" rev="0" advAuto="0" spid="1445" grpId="7"/>
      <p:bldP build="p" bldLvl="5" animBg="1" rev="0" advAuto="0" spid="1455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Shape 1883"/>
          <p:cNvSpPr/>
          <p:nvPr/>
        </p:nvSpPr>
        <p:spPr>
          <a:xfrm flipH="1">
            <a:off x="2432191" y="1792391"/>
            <a:ext cx="512518" cy="386083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59" name="Shape 1884"/>
          <p:cNvSpPr/>
          <p:nvPr/>
        </p:nvSpPr>
        <p:spPr>
          <a:xfrm>
            <a:off x="2463799" y="2998045"/>
            <a:ext cx="381001" cy="510261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0" name="Shape 1885"/>
          <p:cNvSpPr/>
          <p:nvPr/>
        </p:nvSpPr>
        <p:spPr>
          <a:xfrm flipH="1">
            <a:off x="2287691" y="4102099"/>
            <a:ext cx="431803" cy="652500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1" name="Shape 1886"/>
          <p:cNvSpPr/>
          <p:nvPr/>
        </p:nvSpPr>
        <p:spPr>
          <a:xfrm>
            <a:off x="3662679" y="1758524"/>
            <a:ext cx="715718" cy="419952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2" name="Shape 1887"/>
          <p:cNvSpPr/>
          <p:nvPr/>
        </p:nvSpPr>
        <p:spPr>
          <a:xfrm>
            <a:off x="4952999" y="2749691"/>
            <a:ext cx="347700" cy="555416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3" name="Shape 1888"/>
          <p:cNvSpPr/>
          <p:nvPr/>
        </p:nvSpPr>
        <p:spPr>
          <a:xfrm flipH="1">
            <a:off x="5105398" y="4061459"/>
            <a:ext cx="399629" cy="623149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4" name="Shape 1889"/>
          <p:cNvSpPr/>
          <p:nvPr/>
        </p:nvSpPr>
        <p:spPr>
          <a:xfrm flipH="1">
            <a:off x="4385169" y="5118098"/>
            <a:ext cx="286740" cy="643469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465" name="Shape 1890"/>
          <p:cNvSpPr/>
          <p:nvPr/>
        </p:nvSpPr>
        <p:spPr>
          <a:xfrm>
            <a:off x="5430518" y="5118098"/>
            <a:ext cx="334154" cy="747327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468" name="Group 1894"/>
          <p:cNvGrpSpPr/>
          <p:nvPr/>
        </p:nvGrpSpPr>
        <p:grpSpPr>
          <a:xfrm>
            <a:off x="2937932" y="1257300"/>
            <a:ext cx="762007" cy="863600"/>
            <a:chOff x="0" y="0"/>
            <a:chExt cx="762006" cy="863600"/>
          </a:xfrm>
        </p:grpSpPr>
        <p:sp>
          <p:nvSpPr>
            <p:cNvPr id="1466" name="Shape 1892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7" name="Shape 1893"/>
            <p:cNvSpPr txBox="1"/>
            <p:nvPr/>
          </p:nvSpPr>
          <p:spPr>
            <a:xfrm>
              <a:off x="77160" y="32535"/>
              <a:ext cx="604293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471" name="Group 1897"/>
          <p:cNvGrpSpPr/>
          <p:nvPr/>
        </p:nvGrpSpPr>
        <p:grpSpPr>
          <a:xfrm>
            <a:off x="1905000" y="2159000"/>
            <a:ext cx="762000" cy="863600"/>
            <a:chOff x="0" y="0"/>
            <a:chExt cx="762000" cy="863600"/>
          </a:xfrm>
        </p:grpSpPr>
        <p:sp>
          <p:nvSpPr>
            <p:cNvPr id="1469" name="Shape 1895"/>
            <p:cNvSpPr/>
            <p:nvPr/>
          </p:nvSpPr>
          <p:spPr>
            <a:xfrm>
              <a:off x="0" y="0"/>
              <a:ext cx="762000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0" name="Shape 1896"/>
            <p:cNvSpPr txBox="1"/>
            <p:nvPr/>
          </p:nvSpPr>
          <p:spPr>
            <a:xfrm>
              <a:off x="89033" y="32535"/>
              <a:ext cx="569257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474" name="Group 1900"/>
          <p:cNvGrpSpPr/>
          <p:nvPr/>
        </p:nvGrpSpPr>
        <p:grpSpPr>
          <a:xfrm>
            <a:off x="2362200" y="3345743"/>
            <a:ext cx="762000" cy="863605"/>
            <a:chOff x="0" y="0"/>
            <a:chExt cx="762000" cy="863603"/>
          </a:xfrm>
        </p:grpSpPr>
        <p:sp>
          <p:nvSpPr>
            <p:cNvPr id="1472" name="Shape 1898"/>
            <p:cNvSpPr/>
            <p:nvPr/>
          </p:nvSpPr>
          <p:spPr>
            <a:xfrm>
              <a:off x="0" y="0"/>
              <a:ext cx="762000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3" name="Shape 1899"/>
            <p:cNvSpPr txBox="1"/>
            <p:nvPr/>
          </p:nvSpPr>
          <p:spPr>
            <a:xfrm>
              <a:off x="77158" y="37900"/>
              <a:ext cx="604294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477" name="Group 1903"/>
          <p:cNvGrpSpPr/>
          <p:nvPr/>
        </p:nvGrpSpPr>
        <p:grpSpPr>
          <a:xfrm>
            <a:off x="1813559" y="4713958"/>
            <a:ext cx="762007" cy="863605"/>
            <a:chOff x="0" y="0"/>
            <a:chExt cx="762006" cy="863603"/>
          </a:xfrm>
        </p:grpSpPr>
        <p:sp>
          <p:nvSpPr>
            <p:cNvPr id="1475" name="Shape 1901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6" name="Shape 1902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480" name="Group 1906"/>
          <p:cNvGrpSpPr/>
          <p:nvPr/>
        </p:nvGrpSpPr>
        <p:grpSpPr>
          <a:xfrm>
            <a:off x="4276794" y="2097191"/>
            <a:ext cx="762007" cy="863605"/>
            <a:chOff x="0" y="0"/>
            <a:chExt cx="762006" cy="863603"/>
          </a:xfrm>
        </p:grpSpPr>
        <p:sp>
          <p:nvSpPr>
            <p:cNvPr id="1478" name="Shape 1904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9" name="Shape 1905"/>
            <p:cNvSpPr txBox="1"/>
            <p:nvPr/>
          </p:nvSpPr>
          <p:spPr>
            <a:xfrm>
              <a:off x="94678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483" name="Group 1909"/>
          <p:cNvGrpSpPr/>
          <p:nvPr/>
        </p:nvGrpSpPr>
        <p:grpSpPr>
          <a:xfrm>
            <a:off x="5177648" y="3225800"/>
            <a:ext cx="762007" cy="863600"/>
            <a:chOff x="0" y="0"/>
            <a:chExt cx="762006" cy="863600"/>
          </a:xfrm>
        </p:grpSpPr>
        <p:sp>
          <p:nvSpPr>
            <p:cNvPr id="1481" name="Shape 1907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2" name="Shape 1908"/>
            <p:cNvSpPr txBox="1"/>
            <p:nvPr/>
          </p:nvSpPr>
          <p:spPr>
            <a:xfrm>
              <a:off x="112506" y="32535"/>
              <a:ext cx="53360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486" name="Group 1912"/>
          <p:cNvGrpSpPr/>
          <p:nvPr/>
        </p:nvGrpSpPr>
        <p:grpSpPr>
          <a:xfrm>
            <a:off x="4671904" y="4684605"/>
            <a:ext cx="762007" cy="863605"/>
            <a:chOff x="0" y="0"/>
            <a:chExt cx="762006" cy="863603"/>
          </a:xfrm>
        </p:grpSpPr>
        <p:sp>
          <p:nvSpPr>
            <p:cNvPr id="1484" name="Shape 1910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5" name="Shape 1911"/>
            <p:cNvSpPr txBox="1"/>
            <p:nvPr/>
          </p:nvSpPr>
          <p:spPr>
            <a:xfrm>
              <a:off x="59486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489" name="Group 1915"/>
          <p:cNvGrpSpPr/>
          <p:nvPr/>
        </p:nvGrpSpPr>
        <p:grpSpPr>
          <a:xfrm>
            <a:off x="4051300" y="5761566"/>
            <a:ext cx="762000" cy="863605"/>
            <a:chOff x="0" y="0"/>
            <a:chExt cx="762000" cy="863603"/>
          </a:xfrm>
        </p:grpSpPr>
        <p:sp>
          <p:nvSpPr>
            <p:cNvPr id="1487" name="Shape 1913"/>
            <p:cNvSpPr/>
            <p:nvPr/>
          </p:nvSpPr>
          <p:spPr>
            <a:xfrm>
              <a:off x="0" y="0"/>
              <a:ext cx="762000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8" name="Shape 1914"/>
            <p:cNvSpPr txBox="1"/>
            <p:nvPr/>
          </p:nvSpPr>
          <p:spPr>
            <a:xfrm>
              <a:off x="56945" y="37900"/>
              <a:ext cx="639641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492" name="Group 1918"/>
          <p:cNvGrpSpPr/>
          <p:nvPr/>
        </p:nvGrpSpPr>
        <p:grpSpPr>
          <a:xfrm>
            <a:off x="5562600" y="5761566"/>
            <a:ext cx="762000" cy="863605"/>
            <a:chOff x="0" y="0"/>
            <a:chExt cx="762000" cy="863603"/>
          </a:xfrm>
        </p:grpSpPr>
        <p:sp>
          <p:nvSpPr>
            <p:cNvPr id="1490" name="Shape 1916"/>
            <p:cNvSpPr/>
            <p:nvPr/>
          </p:nvSpPr>
          <p:spPr>
            <a:xfrm>
              <a:off x="0" y="0"/>
              <a:ext cx="762000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1" name="Shape 1917"/>
            <p:cNvSpPr txBox="1"/>
            <p:nvPr/>
          </p:nvSpPr>
          <p:spPr>
            <a:xfrm>
              <a:off x="62872" y="37900"/>
              <a:ext cx="639641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495" name="Group 1921"/>
          <p:cNvGrpSpPr/>
          <p:nvPr/>
        </p:nvGrpSpPr>
        <p:grpSpPr>
          <a:xfrm>
            <a:off x="2933700" y="1257300"/>
            <a:ext cx="762000" cy="863600"/>
            <a:chOff x="0" y="0"/>
            <a:chExt cx="762000" cy="863600"/>
          </a:xfrm>
        </p:grpSpPr>
        <p:sp>
          <p:nvSpPr>
            <p:cNvPr id="1493" name="Shape 1919"/>
            <p:cNvSpPr/>
            <p:nvPr/>
          </p:nvSpPr>
          <p:spPr>
            <a:xfrm>
              <a:off x="0" y="0"/>
              <a:ext cx="762000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4" name="Shape 1920"/>
            <p:cNvSpPr txBox="1"/>
            <p:nvPr/>
          </p:nvSpPr>
          <p:spPr>
            <a:xfrm>
              <a:off x="72360" y="32535"/>
              <a:ext cx="604294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FF0000"/>
                  </a:solidFill>
                  <a:uFill>
                    <a:solidFill>
                      <a:srgbClr val="FF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498" name="Group 1924"/>
          <p:cNvGrpSpPr/>
          <p:nvPr/>
        </p:nvGrpSpPr>
        <p:grpSpPr>
          <a:xfrm>
            <a:off x="1921932" y="2159000"/>
            <a:ext cx="762007" cy="863600"/>
            <a:chOff x="0" y="0"/>
            <a:chExt cx="762006" cy="863600"/>
          </a:xfrm>
        </p:grpSpPr>
        <p:sp>
          <p:nvSpPr>
            <p:cNvPr id="1496" name="Shape 1922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7" name="Shape 1923"/>
            <p:cNvSpPr txBox="1"/>
            <p:nvPr/>
          </p:nvSpPr>
          <p:spPr>
            <a:xfrm>
              <a:off x="94678" y="32535"/>
              <a:ext cx="569257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501" name="Group 1927"/>
          <p:cNvGrpSpPr/>
          <p:nvPr/>
        </p:nvGrpSpPr>
        <p:grpSpPr>
          <a:xfrm>
            <a:off x="2357682" y="3345743"/>
            <a:ext cx="762007" cy="863605"/>
            <a:chOff x="-1" y="0"/>
            <a:chExt cx="762006" cy="863603"/>
          </a:xfrm>
        </p:grpSpPr>
        <p:sp>
          <p:nvSpPr>
            <p:cNvPr id="1499" name="Shape 1925"/>
            <p:cNvSpPr/>
            <p:nvPr/>
          </p:nvSpPr>
          <p:spPr>
            <a:xfrm>
              <a:off x="-2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0" name="Shape 1926"/>
            <p:cNvSpPr txBox="1"/>
            <p:nvPr/>
          </p:nvSpPr>
          <p:spPr>
            <a:xfrm>
              <a:off x="77160" y="37900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504" name="Group 1930"/>
          <p:cNvGrpSpPr/>
          <p:nvPr/>
        </p:nvGrpSpPr>
        <p:grpSpPr>
          <a:xfrm>
            <a:off x="1804527" y="4718472"/>
            <a:ext cx="762007" cy="863605"/>
            <a:chOff x="-1" y="0"/>
            <a:chExt cx="762006" cy="863603"/>
          </a:xfrm>
        </p:grpSpPr>
        <p:sp>
          <p:nvSpPr>
            <p:cNvPr id="1502" name="Shape 1928"/>
            <p:cNvSpPr/>
            <p:nvPr/>
          </p:nvSpPr>
          <p:spPr>
            <a:xfrm>
              <a:off x="-2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3" name="Shape 1929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507" name="Group 1933"/>
          <p:cNvGrpSpPr/>
          <p:nvPr/>
        </p:nvGrpSpPr>
        <p:grpSpPr>
          <a:xfrm>
            <a:off x="4279052" y="2088162"/>
            <a:ext cx="762007" cy="863605"/>
            <a:chOff x="0" y="0"/>
            <a:chExt cx="762006" cy="863603"/>
          </a:xfrm>
        </p:grpSpPr>
        <p:sp>
          <p:nvSpPr>
            <p:cNvPr id="1505" name="Shape 1931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6" name="Shape 1932"/>
            <p:cNvSpPr txBox="1"/>
            <p:nvPr/>
          </p:nvSpPr>
          <p:spPr>
            <a:xfrm>
              <a:off x="94677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510" name="Group 1936"/>
          <p:cNvGrpSpPr/>
          <p:nvPr/>
        </p:nvGrpSpPr>
        <p:grpSpPr>
          <a:xfrm>
            <a:off x="5179904" y="3235113"/>
            <a:ext cx="762007" cy="863604"/>
            <a:chOff x="0" y="0"/>
            <a:chExt cx="762006" cy="863603"/>
          </a:xfrm>
        </p:grpSpPr>
        <p:sp>
          <p:nvSpPr>
            <p:cNvPr id="1508" name="Shape 1934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9" name="Shape 1935"/>
            <p:cNvSpPr txBox="1"/>
            <p:nvPr/>
          </p:nvSpPr>
          <p:spPr>
            <a:xfrm>
              <a:off x="112507" y="37900"/>
              <a:ext cx="53360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513" name="Group 1939"/>
          <p:cNvGrpSpPr/>
          <p:nvPr/>
        </p:nvGrpSpPr>
        <p:grpSpPr>
          <a:xfrm>
            <a:off x="4674162" y="4695895"/>
            <a:ext cx="762007" cy="863605"/>
            <a:chOff x="0" y="0"/>
            <a:chExt cx="762006" cy="863603"/>
          </a:xfrm>
        </p:grpSpPr>
        <p:sp>
          <p:nvSpPr>
            <p:cNvPr id="1511" name="Shape 1937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2" name="Shape 1938"/>
            <p:cNvSpPr txBox="1"/>
            <p:nvPr/>
          </p:nvSpPr>
          <p:spPr>
            <a:xfrm>
              <a:off x="59486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516" name="Group 1942"/>
          <p:cNvGrpSpPr/>
          <p:nvPr/>
        </p:nvGrpSpPr>
        <p:grpSpPr>
          <a:xfrm>
            <a:off x="4051016" y="5753100"/>
            <a:ext cx="762007" cy="863600"/>
            <a:chOff x="0" y="0"/>
            <a:chExt cx="762006" cy="863600"/>
          </a:xfrm>
        </p:grpSpPr>
        <p:sp>
          <p:nvSpPr>
            <p:cNvPr id="1514" name="Shape 1940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5" name="Shape 1941"/>
            <p:cNvSpPr txBox="1"/>
            <p:nvPr/>
          </p:nvSpPr>
          <p:spPr>
            <a:xfrm>
              <a:off x="59486" y="32535"/>
              <a:ext cx="63964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519" name="Group 1945"/>
          <p:cNvGrpSpPr/>
          <p:nvPr/>
        </p:nvGrpSpPr>
        <p:grpSpPr>
          <a:xfrm>
            <a:off x="5568242" y="5772855"/>
            <a:ext cx="762007" cy="863604"/>
            <a:chOff x="0" y="0"/>
            <a:chExt cx="762006" cy="863603"/>
          </a:xfrm>
        </p:grpSpPr>
        <p:sp>
          <p:nvSpPr>
            <p:cNvPr id="1517" name="Shape 1943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8" name="Shape 1944"/>
            <p:cNvSpPr txBox="1"/>
            <p:nvPr/>
          </p:nvSpPr>
          <p:spPr>
            <a:xfrm>
              <a:off x="59486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520" name="Shape 1946"/>
          <p:cNvSpPr/>
          <p:nvPr/>
        </p:nvSpPr>
        <p:spPr>
          <a:xfrm>
            <a:off x="6324600" y="2350062"/>
            <a:ext cx="736600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521" name="Shape 1947"/>
          <p:cNvSpPr/>
          <p:nvPr/>
        </p:nvSpPr>
        <p:spPr>
          <a:xfrm>
            <a:off x="7061200" y="2350062"/>
            <a:ext cx="2044700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B C D</a:t>
            </a:r>
          </a:p>
        </p:txBody>
      </p:sp>
      <p:sp>
        <p:nvSpPr>
          <p:cNvPr id="1522" name="Shape 1948"/>
          <p:cNvSpPr/>
          <p:nvPr/>
        </p:nvSpPr>
        <p:spPr>
          <a:xfrm>
            <a:off x="9092634" y="2350062"/>
            <a:ext cx="3454404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E F G H K</a:t>
            </a:r>
          </a:p>
        </p:txBody>
      </p:sp>
      <p:sp>
        <p:nvSpPr>
          <p:cNvPr id="1523" name="先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先序遍历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3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10" grpId="8"/>
      <p:bldP build="whole" bldLvl="1" animBg="1" rev="0" advAuto="0" spid="1520" grpId="2"/>
      <p:bldP build="whole" bldLvl="1" animBg="1" rev="0" advAuto="0" spid="1501" grpId="4"/>
      <p:bldP build="whole" bldLvl="1" animBg="1" rev="0" advAuto="0" spid="1516" grpId="10"/>
      <p:bldP build="whole" bldLvl="1" animBg="1" rev="0" advAuto="0" spid="1522" grpId="12"/>
      <p:bldP build="whole" bldLvl="1" animBg="1" rev="0" advAuto="0" spid="1507" grpId="7"/>
      <p:bldP build="whole" bldLvl="1" animBg="1" rev="0" advAuto="0" spid="1498" grpId="3"/>
      <p:bldP build="whole" bldLvl="1" animBg="1" rev="0" advAuto="0" spid="1513" grpId="9"/>
      <p:bldP build="whole" bldLvl="1" animBg="1" rev="0" advAuto="0" spid="1521" grpId="6"/>
      <p:bldP build="whole" bldLvl="1" animBg="1" rev="0" advAuto="0" spid="1504" grpId="5"/>
      <p:bldP build="whole" bldLvl="1" animBg="1" rev="0" advAuto="0" spid="1519" grpId="11"/>
      <p:bldP build="whole" bldLvl="1" animBg="1" rev="0" advAuto="0" spid="149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8" name="Group 1974"/>
          <p:cNvGrpSpPr/>
          <p:nvPr/>
        </p:nvGrpSpPr>
        <p:grpSpPr>
          <a:xfrm>
            <a:off x="1411367" y="1458803"/>
            <a:ext cx="4071910" cy="4690542"/>
            <a:chOff x="-2" y="-2"/>
            <a:chExt cx="4071908" cy="4690540"/>
          </a:xfrm>
        </p:grpSpPr>
        <p:sp>
          <p:nvSpPr>
            <p:cNvPr id="1525" name="Shape 1951"/>
            <p:cNvSpPr/>
            <p:nvPr/>
          </p:nvSpPr>
          <p:spPr>
            <a:xfrm flipH="1">
              <a:off x="510256" y="647700"/>
              <a:ext cx="584768" cy="584767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526" name="Shape 1952"/>
            <p:cNvSpPr/>
            <p:nvPr/>
          </p:nvSpPr>
          <p:spPr>
            <a:xfrm>
              <a:off x="1855611" y="546098"/>
              <a:ext cx="808286" cy="627667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527" name="Shape 1953"/>
            <p:cNvSpPr/>
            <p:nvPr/>
          </p:nvSpPr>
          <p:spPr>
            <a:xfrm>
              <a:off x="722488" y="1738488"/>
              <a:ext cx="584202" cy="6858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528" name="Shape 1954"/>
            <p:cNvSpPr/>
            <p:nvPr/>
          </p:nvSpPr>
          <p:spPr>
            <a:xfrm>
              <a:off x="2985909" y="1810737"/>
              <a:ext cx="591541" cy="6477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529" name="Shape 1955"/>
            <p:cNvSpPr/>
            <p:nvPr/>
          </p:nvSpPr>
          <p:spPr>
            <a:xfrm flipH="1">
              <a:off x="3079608" y="3176693"/>
              <a:ext cx="431803" cy="8001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532" name="Group 1958"/>
            <p:cNvGrpSpPr/>
            <p:nvPr/>
          </p:nvGrpSpPr>
          <p:grpSpPr>
            <a:xfrm>
              <a:off x="1093609" y="-3"/>
              <a:ext cx="762007" cy="863603"/>
              <a:chOff x="0" y="-1"/>
              <a:chExt cx="762006" cy="863602"/>
            </a:xfrm>
          </p:grpSpPr>
          <p:sp>
            <p:nvSpPr>
              <p:cNvPr id="1530" name="Shape 1956"/>
              <p:cNvSpPr/>
              <p:nvPr/>
            </p:nvSpPr>
            <p:spPr>
              <a:xfrm>
                <a:off x="-1" y="-2"/>
                <a:ext cx="762007" cy="863603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1" name="Shape 1957"/>
              <p:cNvSpPr txBox="1"/>
              <p:nvPr/>
            </p:nvSpPr>
            <p:spPr>
              <a:xfrm>
                <a:off x="106085" y="81719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535" name="Group 1961"/>
            <p:cNvGrpSpPr/>
            <p:nvPr/>
          </p:nvGrpSpPr>
          <p:grpSpPr>
            <a:xfrm>
              <a:off x="-3" y="1232745"/>
              <a:ext cx="762003" cy="863607"/>
              <a:chOff x="-1" y="-1"/>
              <a:chExt cx="762002" cy="863606"/>
            </a:xfrm>
          </p:grpSpPr>
          <p:sp>
            <p:nvSpPr>
              <p:cNvPr id="1533" name="Shape 1959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4" name="Shape 1960"/>
              <p:cNvSpPr txBox="1"/>
              <p:nvPr/>
            </p:nvSpPr>
            <p:spPr>
              <a:xfrm>
                <a:off x="120091" y="85105"/>
                <a:ext cx="518432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538" name="Group 1964"/>
            <p:cNvGrpSpPr/>
            <p:nvPr/>
          </p:nvGrpSpPr>
          <p:grpSpPr>
            <a:xfrm>
              <a:off x="2401709" y="1149207"/>
              <a:ext cx="762007" cy="863607"/>
              <a:chOff x="0" y="-1"/>
              <a:chExt cx="762006" cy="863606"/>
            </a:xfrm>
          </p:grpSpPr>
          <p:sp>
            <p:nvSpPr>
              <p:cNvPr id="1536" name="Shape 1962"/>
              <p:cNvSpPr/>
              <p:nvPr/>
            </p:nvSpPr>
            <p:spPr>
              <a:xfrm>
                <a:off x="-1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7" name="Shape 1963"/>
              <p:cNvSpPr txBox="1"/>
              <p:nvPr/>
            </p:nvSpPr>
            <p:spPr>
              <a:xfrm>
                <a:off x="98465" y="85105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541" name="Group 1967"/>
            <p:cNvGrpSpPr/>
            <p:nvPr/>
          </p:nvGrpSpPr>
          <p:grpSpPr>
            <a:xfrm>
              <a:off x="992009" y="2387599"/>
              <a:ext cx="762007" cy="863603"/>
              <a:chOff x="0" y="-1"/>
              <a:chExt cx="762006" cy="863602"/>
            </a:xfrm>
          </p:grpSpPr>
          <p:sp>
            <p:nvSpPr>
              <p:cNvPr id="1539" name="Shape 1965"/>
              <p:cNvSpPr/>
              <p:nvPr/>
            </p:nvSpPr>
            <p:spPr>
              <a:xfrm>
                <a:off x="-1" y="-2"/>
                <a:ext cx="762007" cy="863603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0" name="Shape 1966"/>
              <p:cNvSpPr txBox="1"/>
              <p:nvPr/>
            </p:nvSpPr>
            <p:spPr>
              <a:xfrm>
                <a:off x="99312" y="81719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544" name="Group 1970"/>
            <p:cNvGrpSpPr/>
            <p:nvPr/>
          </p:nvGrpSpPr>
          <p:grpSpPr>
            <a:xfrm>
              <a:off x="3309900" y="2372923"/>
              <a:ext cx="762007" cy="863607"/>
              <a:chOff x="-1" y="-1"/>
              <a:chExt cx="762006" cy="863606"/>
            </a:xfrm>
          </p:grpSpPr>
          <p:sp>
            <p:nvSpPr>
              <p:cNvPr id="1542" name="Shape 1968"/>
              <p:cNvSpPr/>
              <p:nvPr/>
            </p:nvSpPr>
            <p:spPr>
              <a:xfrm>
                <a:off x="-2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3" name="Shape 1969"/>
              <p:cNvSpPr txBox="1"/>
              <p:nvPr/>
            </p:nvSpPr>
            <p:spPr>
              <a:xfrm>
                <a:off x="120091" y="85105"/>
                <a:ext cx="518432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547" name="Group 1973"/>
            <p:cNvGrpSpPr/>
            <p:nvPr/>
          </p:nvGrpSpPr>
          <p:grpSpPr>
            <a:xfrm>
              <a:off x="2429367" y="3826932"/>
              <a:ext cx="762007" cy="863607"/>
              <a:chOff x="0" y="-1"/>
              <a:chExt cx="762006" cy="863606"/>
            </a:xfrm>
          </p:grpSpPr>
          <p:sp>
            <p:nvSpPr>
              <p:cNvPr id="1545" name="Shape 1971"/>
              <p:cNvSpPr/>
              <p:nvPr/>
            </p:nvSpPr>
            <p:spPr>
              <a:xfrm>
                <a:off x="-1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6" name="Shape 1972"/>
              <p:cNvSpPr txBox="1"/>
              <p:nvPr/>
            </p:nvSpPr>
            <p:spPr>
              <a:xfrm>
                <a:off x="135779" y="85105"/>
                <a:ext cx="48705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557" name="Group 1983"/>
          <p:cNvGrpSpPr/>
          <p:nvPr/>
        </p:nvGrpSpPr>
        <p:grpSpPr>
          <a:xfrm>
            <a:off x="7247723" y="1391070"/>
            <a:ext cx="4660061" cy="3327971"/>
            <a:chOff x="-1" y="0"/>
            <a:chExt cx="4660059" cy="3327969"/>
          </a:xfrm>
        </p:grpSpPr>
        <p:sp>
          <p:nvSpPr>
            <p:cNvPr id="1549" name="Shape 1975"/>
            <p:cNvSpPr/>
            <p:nvPr/>
          </p:nvSpPr>
          <p:spPr>
            <a:xfrm>
              <a:off x="-2" y="-1"/>
              <a:ext cx="707247" cy="696111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50" name="Shape 1976"/>
            <p:cNvSpPr txBox="1"/>
            <p:nvPr/>
          </p:nvSpPr>
          <p:spPr>
            <a:xfrm>
              <a:off x="259160" y="220133"/>
              <a:ext cx="232817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551" name="Shape 1977"/>
            <p:cNvSpPr/>
            <p:nvPr/>
          </p:nvSpPr>
          <p:spPr>
            <a:xfrm>
              <a:off x="2020003" y="1270634"/>
              <a:ext cx="707247" cy="696111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52" name="Shape 1978"/>
            <p:cNvSpPr txBox="1"/>
            <p:nvPr/>
          </p:nvSpPr>
          <p:spPr>
            <a:xfrm>
              <a:off x="2291276" y="1485187"/>
              <a:ext cx="216000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553" name="Shape 1979"/>
            <p:cNvSpPr/>
            <p:nvPr/>
          </p:nvSpPr>
          <p:spPr>
            <a:xfrm>
              <a:off x="685444" y="510159"/>
              <a:ext cx="1421756" cy="846299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554" name="Shape 1980"/>
            <p:cNvSpPr/>
            <p:nvPr/>
          </p:nvSpPr>
          <p:spPr>
            <a:xfrm>
              <a:off x="3952812" y="2631858"/>
              <a:ext cx="707247" cy="696111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55" name="Shape 1981"/>
            <p:cNvSpPr txBox="1"/>
            <p:nvPr/>
          </p:nvSpPr>
          <p:spPr>
            <a:xfrm>
              <a:off x="4185331" y="2860715"/>
              <a:ext cx="216000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556" name="Shape 1982"/>
            <p:cNvSpPr/>
            <p:nvPr/>
          </p:nvSpPr>
          <p:spPr>
            <a:xfrm>
              <a:off x="2673963" y="1830857"/>
              <a:ext cx="1421756" cy="846297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1558" name="先序遍历练习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先序遍历练习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2" name="Group 1989"/>
          <p:cNvGrpSpPr/>
          <p:nvPr/>
        </p:nvGrpSpPr>
        <p:grpSpPr>
          <a:xfrm>
            <a:off x="1787029" y="3844149"/>
            <a:ext cx="2306324" cy="2698611"/>
            <a:chOff x="0" y="0"/>
            <a:chExt cx="2306322" cy="2698610"/>
          </a:xfrm>
        </p:grpSpPr>
        <p:sp>
          <p:nvSpPr>
            <p:cNvPr id="1560" name="Shape 1987"/>
            <p:cNvSpPr/>
            <p:nvPr/>
          </p:nvSpPr>
          <p:spPr>
            <a:xfrm>
              <a:off x="0" y="0"/>
              <a:ext cx="15113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1" name="Shape 1988"/>
            <p:cNvSpPr/>
            <p:nvPr/>
          </p:nvSpPr>
          <p:spPr>
            <a:xfrm>
              <a:off x="1036322" y="14286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93921" indent="28897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左</a:t>
              </a:r>
            </a:p>
            <a:p>
              <a:pPr marR="93921" indent="28897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grpSp>
        <p:nvGrpSpPr>
          <p:cNvPr id="1565" name="Group 1992"/>
          <p:cNvGrpSpPr/>
          <p:nvPr/>
        </p:nvGrpSpPr>
        <p:grpSpPr>
          <a:xfrm>
            <a:off x="4713109" y="3844149"/>
            <a:ext cx="1685716" cy="2673211"/>
            <a:chOff x="94796" y="0"/>
            <a:chExt cx="1685714" cy="2673210"/>
          </a:xfrm>
        </p:grpSpPr>
        <p:sp>
          <p:nvSpPr>
            <p:cNvPr id="1563" name="Shape 1990"/>
            <p:cNvSpPr/>
            <p:nvPr/>
          </p:nvSpPr>
          <p:spPr>
            <a:xfrm>
              <a:off x="94796" y="0"/>
              <a:ext cx="1409706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4" name="Shape 1991"/>
            <p:cNvSpPr/>
            <p:nvPr/>
          </p:nvSpPr>
          <p:spPr>
            <a:xfrm>
              <a:off x="510511" y="14032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28897" indent="93921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右</a:t>
              </a:r>
            </a:p>
            <a:p>
              <a:pPr marR="28897" indent="93921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sp>
        <p:nvSpPr>
          <p:cNvPr id="1566" name="Shape 1993"/>
          <p:cNvSpPr/>
          <p:nvPr/>
        </p:nvSpPr>
        <p:spPr>
          <a:xfrm flipH="1">
            <a:off x="3304257" y="3302282"/>
            <a:ext cx="330203" cy="546103"/>
          </a:xfrm>
          <a:prstGeom prst="line">
            <a:avLst/>
          </a:prstGeom>
          <a:ln w="38100" cap="sq">
            <a:solidFill>
              <a:srgbClr val="006666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67" name="Shape 1994"/>
          <p:cNvSpPr/>
          <p:nvPr/>
        </p:nvSpPr>
        <p:spPr>
          <a:xfrm>
            <a:off x="4387991" y="3302282"/>
            <a:ext cx="330202" cy="546103"/>
          </a:xfrm>
          <a:prstGeom prst="line">
            <a:avLst/>
          </a:prstGeom>
          <a:ln w="38100" cap="sq">
            <a:solidFill>
              <a:srgbClr val="006666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570" name="Group 1997"/>
          <p:cNvGrpSpPr/>
          <p:nvPr/>
        </p:nvGrpSpPr>
        <p:grpSpPr>
          <a:xfrm>
            <a:off x="3412629" y="2326919"/>
            <a:ext cx="1193807" cy="1079507"/>
            <a:chOff x="-1" y="-1"/>
            <a:chExt cx="1193806" cy="1079506"/>
          </a:xfrm>
        </p:grpSpPr>
        <p:sp>
          <p:nvSpPr>
            <p:cNvPr id="1568" name="Shape 1995"/>
            <p:cNvSpPr/>
            <p:nvPr/>
          </p:nvSpPr>
          <p:spPr>
            <a:xfrm>
              <a:off x="-2" y="-2"/>
              <a:ext cx="1193807" cy="1079507"/>
            </a:xfrm>
            <a:prstGeom prst="ellipse">
              <a:avLst/>
            </a:pr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9" name="Shape 1996"/>
            <p:cNvSpPr txBox="1"/>
            <p:nvPr/>
          </p:nvSpPr>
          <p:spPr>
            <a:xfrm>
              <a:off x="205695" y="60960"/>
              <a:ext cx="780717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50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根</a:t>
              </a:r>
            </a:p>
          </p:txBody>
        </p:sp>
      </p:grpSp>
      <p:sp>
        <p:nvSpPr>
          <p:cNvPr id="1571" name="Shape 1998"/>
          <p:cNvSpPr/>
          <p:nvPr/>
        </p:nvSpPr>
        <p:spPr>
          <a:xfrm>
            <a:off x="4062869" y="1261249"/>
            <a:ext cx="2261" cy="997941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72" name="Shape 1999"/>
          <p:cNvSpPr/>
          <p:nvPr/>
        </p:nvSpPr>
        <p:spPr>
          <a:xfrm flipV="1">
            <a:off x="2328895" y="3193907"/>
            <a:ext cx="1079503" cy="1511303"/>
          </a:xfrm>
          <a:prstGeom prst="line">
            <a:avLst/>
          </a:prstGeom>
          <a:ln w="38100" cap="sq">
            <a:solidFill>
              <a:srgbClr val="FF00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73" name="Shape 2000"/>
          <p:cNvSpPr/>
          <p:nvPr/>
        </p:nvSpPr>
        <p:spPr>
          <a:xfrm flipH="1" flipV="1">
            <a:off x="4604737" y="3193907"/>
            <a:ext cx="1079503" cy="1511303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74" name="Shape 2001"/>
          <p:cNvSpPr/>
          <p:nvPr/>
        </p:nvSpPr>
        <p:spPr>
          <a:xfrm flipH="1">
            <a:off x="3412630" y="3410653"/>
            <a:ext cx="431803" cy="762003"/>
          </a:xfrm>
          <a:prstGeom prst="line">
            <a:avLst/>
          </a:prstGeom>
          <a:ln w="38100" cap="sq">
            <a:solidFill>
              <a:srgbClr val="FF33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75" name="Shape 2002"/>
          <p:cNvSpPr/>
          <p:nvPr/>
        </p:nvSpPr>
        <p:spPr>
          <a:xfrm>
            <a:off x="4062870" y="3410654"/>
            <a:ext cx="546103" cy="863602"/>
          </a:xfrm>
          <a:prstGeom prst="line">
            <a:avLst/>
          </a:prstGeom>
          <a:ln w="38100" cap="sq">
            <a:solidFill>
              <a:srgbClr val="FF33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578" name="Group 2005"/>
          <p:cNvGrpSpPr/>
          <p:nvPr/>
        </p:nvGrpSpPr>
        <p:grpSpPr>
          <a:xfrm>
            <a:off x="3426175" y="2338208"/>
            <a:ext cx="1193807" cy="1079507"/>
            <a:chOff x="-1" y="-1"/>
            <a:chExt cx="1193806" cy="1079506"/>
          </a:xfrm>
        </p:grpSpPr>
        <p:sp>
          <p:nvSpPr>
            <p:cNvPr id="1576" name="Shape 2003"/>
            <p:cNvSpPr/>
            <p:nvPr/>
          </p:nvSpPr>
          <p:spPr>
            <a:xfrm>
              <a:off x="-2" y="-2"/>
              <a:ext cx="1193807" cy="10795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A5002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7" name="Shape 2004"/>
            <p:cNvSpPr txBox="1"/>
            <p:nvPr/>
          </p:nvSpPr>
          <p:spPr>
            <a:xfrm>
              <a:off x="205695" y="60960"/>
              <a:ext cx="780717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50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根</a:t>
              </a:r>
            </a:p>
          </p:txBody>
        </p:sp>
      </p:grpSp>
      <p:grpSp>
        <p:nvGrpSpPr>
          <p:cNvPr id="1581" name="Group 2008"/>
          <p:cNvGrpSpPr/>
          <p:nvPr/>
        </p:nvGrpSpPr>
        <p:grpSpPr>
          <a:xfrm>
            <a:off x="1777151" y="3865596"/>
            <a:ext cx="2293624" cy="2711312"/>
            <a:chOff x="0" y="0"/>
            <a:chExt cx="2293622" cy="2711310"/>
          </a:xfrm>
        </p:grpSpPr>
        <p:sp>
          <p:nvSpPr>
            <p:cNvPr id="1579" name="Shape 2006"/>
            <p:cNvSpPr/>
            <p:nvPr/>
          </p:nvSpPr>
          <p:spPr>
            <a:xfrm>
              <a:off x="0" y="0"/>
              <a:ext cx="15113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0" name="Shape 2007"/>
            <p:cNvSpPr/>
            <p:nvPr/>
          </p:nvSpPr>
          <p:spPr>
            <a:xfrm>
              <a:off x="1023622" y="14413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左</a:t>
              </a:r>
            </a:p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grpSp>
        <p:nvGrpSpPr>
          <p:cNvPr id="1584" name="Group 2011"/>
          <p:cNvGrpSpPr/>
          <p:nvPr/>
        </p:nvGrpSpPr>
        <p:grpSpPr>
          <a:xfrm>
            <a:off x="4724398" y="3855720"/>
            <a:ext cx="1648462" cy="2660511"/>
            <a:chOff x="132050" y="0"/>
            <a:chExt cx="1648460" cy="2660510"/>
          </a:xfrm>
        </p:grpSpPr>
        <p:sp>
          <p:nvSpPr>
            <p:cNvPr id="1582" name="Shape 2009"/>
            <p:cNvSpPr/>
            <p:nvPr/>
          </p:nvSpPr>
          <p:spPr>
            <a:xfrm>
              <a:off x="132050" y="0"/>
              <a:ext cx="14097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3" name="Shape 2010"/>
            <p:cNvSpPr/>
            <p:nvPr/>
          </p:nvSpPr>
          <p:spPr>
            <a:xfrm>
              <a:off x="510511" y="13905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右</a:t>
              </a:r>
            </a:p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sp>
        <p:nvSpPr>
          <p:cNvPr id="1585" name="Shape 2012"/>
          <p:cNvSpPr txBox="1"/>
          <p:nvPr/>
        </p:nvSpPr>
        <p:spPr>
          <a:xfrm>
            <a:off x="5511800" y="1516378"/>
            <a:ext cx="6997700" cy="228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 若二叉树为空树，则空操作；否则：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（1）中序遍历左子树；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（2）访问根结点；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（3）中序遍历右子树</a:t>
            </a:r>
          </a:p>
        </p:txBody>
      </p:sp>
      <p:sp>
        <p:nvSpPr>
          <p:cNvPr id="1586" name="中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中序遍历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85" grpId="1"/>
      <p:bldP build="whole" bldLvl="1" animBg="1" rev="0" advAuto="0" spid="1571" grpId="2"/>
      <p:bldP build="whole" bldLvl="1" animBg="1" rev="0" advAuto="0" spid="1573" grpId="9"/>
      <p:bldP build="whole" bldLvl="1" animBg="1" rev="0" advAuto="0" spid="1575" grpId="7"/>
      <p:bldP build="whole" bldLvl="1" animBg="1" rev="0" advAuto="0" spid="1572" grpId="3"/>
      <p:bldP build="whole" bldLvl="1" animBg="1" rev="0" advAuto="0" spid="1581" grpId="4"/>
      <p:bldP build="whole" bldLvl="1" animBg="1" rev="0" advAuto="0" spid="1578" grpId="6"/>
      <p:bldP build="whole" bldLvl="1" animBg="1" rev="0" advAuto="0" spid="1584" grpId="8"/>
      <p:bldP build="whole" bldLvl="1" animBg="1" rev="0" advAuto="0" spid="1574" grpId="5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Shape 2014"/>
          <p:cNvSpPr/>
          <p:nvPr/>
        </p:nvSpPr>
        <p:spPr>
          <a:xfrm flipH="1">
            <a:off x="2533791" y="1683736"/>
            <a:ext cx="512518" cy="349959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89" name="Shape 2015"/>
          <p:cNvSpPr/>
          <p:nvPr/>
        </p:nvSpPr>
        <p:spPr>
          <a:xfrm>
            <a:off x="2504440" y="2873585"/>
            <a:ext cx="329636" cy="449299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0" name="Shape 2016"/>
          <p:cNvSpPr/>
          <p:nvPr/>
        </p:nvSpPr>
        <p:spPr>
          <a:xfrm flipH="1">
            <a:off x="2475089" y="3959578"/>
            <a:ext cx="286740" cy="629923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1" name="Shape 2017"/>
          <p:cNvSpPr/>
          <p:nvPr/>
        </p:nvSpPr>
        <p:spPr>
          <a:xfrm>
            <a:off x="3764279" y="1751470"/>
            <a:ext cx="510261" cy="330204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2" name="Shape 2018"/>
          <p:cNvSpPr/>
          <p:nvPr/>
        </p:nvSpPr>
        <p:spPr>
          <a:xfrm>
            <a:off x="4749798" y="2667000"/>
            <a:ext cx="467362" cy="558800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3" name="Shape 2019"/>
          <p:cNvSpPr/>
          <p:nvPr/>
        </p:nvSpPr>
        <p:spPr>
          <a:xfrm flipH="1">
            <a:off x="4974449" y="4025053"/>
            <a:ext cx="399629" cy="623149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4" name="Shape 2020"/>
          <p:cNvSpPr/>
          <p:nvPr/>
        </p:nvSpPr>
        <p:spPr>
          <a:xfrm flipH="1">
            <a:off x="4335496" y="5278119"/>
            <a:ext cx="309319" cy="510260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595" name="Shape 2021"/>
          <p:cNvSpPr/>
          <p:nvPr/>
        </p:nvSpPr>
        <p:spPr>
          <a:xfrm>
            <a:off x="5191195" y="5305212"/>
            <a:ext cx="257389" cy="496712"/>
          </a:xfrm>
          <a:prstGeom prst="line">
            <a:avLst/>
          </a:prstGeom>
          <a:ln w="28575" cap="sq">
            <a:solidFill>
              <a:srgbClr val="1C1C1C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598" name="Group 2025"/>
          <p:cNvGrpSpPr/>
          <p:nvPr/>
        </p:nvGrpSpPr>
        <p:grpSpPr>
          <a:xfrm>
            <a:off x="3039532" y="1171220"/>
            <a:ext cx="762007" cy="863605"/>
            <a:chOff x="0" y="0"/>
            <a:chExt cx="762006" cy="863603"/>
          </a:xfrm>
        </p:grpSpPr>
        <p:sp>
          <p:nvSpPr>
            <p:cNvPr id="1596" name="Shape 2023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7" name="Shape 2024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601" name="Group 2028"/>
          <p:cNvGrpSpPr/>
          <p:nvPr/>
        </p:nvGrpSpPr>
        <p:grpSpPr>
          <a:xfrm>
            <a:off x="2041592" y="2054013"/>
            <a:ext cx="762007" cy="863604"/>
            <a:chOff x="0" y="0"/>
            <a:chExt cx="762006" cy="863603"/>
          </a:xfrm>
        </p:grpSpPr>
        <p:sp>
          <p:nvSpPr>
            <p:cNvPr id="1599" name="Shape 2026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0" name="Shape 2027"/>
            <p:cNvSpPr txBox="1"/>
            <p:nvPr/>
          </p:nvSpPr>
          <p:spPr>
            <a:xfrm>
              <a:off x="94678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604" name="Group 2031"/>
          <p:cNvGrpSpPr/>
          <p:nvPr/>
        </p:nvGrpSpPr>
        <p:grpSpPr>
          <a:xfrm>
            <a:off x="2527300" y="3302563"/>
            <a:ext cx="762000" cy="863605"/>
            <a:chOff x="0" y="0"/>
            <a:chExt cx="762000" cy="863603"/>
          </a:xfrm>
        </p:grpSpPr>
        <p:sp>
          <p:nvSpPr>
            <p:cNvPr id="1602" name="Shape 2029"/>
            <p:cNvSpPr/>
            <p:nvPr/>
          </p:nvSpPr>
          <p:spPr>
            <a:xfrm>
              <a:off x="0" y="0"/>
              <a:ext cx="762000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3" name="Shape 2030"/>
            <p:cNvSpPr txBox="1"/>
            <p:nvPr/>
          </p:nvSpPr>
          <p:spPr>
            <a:xfrm>
              <a:off x="74618" y="37900"/>
              <a:ext cx="604294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607" name="Group 2034"/>
          <p:cNvGrpSpPr/>
          <p:nvPr/>
        </p:nvGrpSpPr>
        <p:grpSpPr>
          <a:xfrm>
            <a:off x="2041592" y="4589497"/>
            <a:ext cx="762007" cy="863604"/>
            <a:chOff x="0" y="0"/>
            <a:chExt cx="762006" cy="863603"/>
          </a:xfrm>
        </p:grpSpPr>
        <p:sp>
          <p:nvSpPr>
            <p:cNvPr id="1605" name="Shape 2032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6" name="Shape 2033"/>
            <p:cNvSpPr txBox="1"/>
            <p:nvPr/>
          </p:nvSpPr>
          <p:spPr>
            <a:xfrm>
              <a:off x="77160" y="37900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1C1C1C"/>
                  </a:solidFill>
                  <a:uFill>
                    <a:solidFill>
                      <a:srgbClr val="1C1C1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610" name="Group 2037"/>
          <p:cNvGrpSpPr/>
          <p:nvPr/>
        </p:nvGrpSpPr>
        <p:grpSpPr>
          <a:xfrm>
            <a:off x="4053274" y="2033691"/>
            <a:ext cx="762007" cy="863605"/>
            <a:chOff x="0" y="0"/>
            <a:chExt cx="762006" cy="863603"/>
          </a:xfrm>
        </p:grpSpPr>
        <p:sp>
          <p:nvSpPr>
            <p:cNvPr id="1608" name="Shape 2035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9" name="Shape 2036"/>
            <p:cNvSpPr txBox="1"/>
            <p:nvPr/>
          </p:nvSpPr>
          <p:spPr>
            <a:xfrm>
              <a:off x="94677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613" name="Group 2040"/>
          <p:cNvGrpSpPr/>
          <p:nvPr/>
        </p:nvGrpSpPr>
        <p:grpSpPr>
          <a:xfrm>
            <a:off x="4933807" y="3225800"/>
            <a:ext cx="762007" cy="863600"/>
            <a:chOff x="0" y="0"/>
            <a:chExt cx="762006" cy="863600"/>
          </a:xfrm>
        </p:grpSpPr>
        <p:sp>
          <p:nvSpPr>
            <p:cNvPr id="1611" name="Shape 2038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2" name="Shape 2039"/>
            <p:cNvSpPr txBox="1"/>
            <p:nvPr/>
          </p:nvSpPr>
          <p:spPr>
            <a:xfrm>
              <a:off x="112507" y="32535"/>
              <a:ext cx="53360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616" name="Group 2043"/>
          <p:cNvGrpSpPr/>
          <p:nvPr/>
        </p:nvGrpSpPr>
        <p:grpSpPr>
          <a:xfrm>
            <a:off x="4540952" y="4648200"/>
            <a:ext cx="762007" cy="863600"/>
            <a:chOff x="-1" y="0"/>
            <a:chExt cx="762006" cy="863600"/>
          </a:xfrm>
        </p:grpSpPr>
        <p:sp>
          <p:nvSpPr>
            <p:cNvPr id="1614" name="Shape 2041"/>
            <p:cNvSpPr/>
            <p:nvPr/>
          </p:nvSpPr>
          <p:spPr>
            <a:xfrm>
              <a:off x="-2" y="0"/>
              <a:ext cx="762007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5" name="Shape 2042"/>
            <p:cNvSpPr txBox="1"/>
            <p:nvPr/>
          </p:nvSpPr>
          <p:spPr>
            <a:xfrm>
              <a:off x="59486" y="32535"/>
              <a:ext cx="63964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619" name="Group 2046"/>
          <p:cNvGrpSpPr/>
          <p:nvPr/>
        </p:nvGrpSpPr>
        <p:grpSpPr>
          <a:xfrm>
            <a:off x="3967478" y="5816600"/>
            <a:ext cx="762007" cy="863600"/>
            <a:chOff x="0" y="0"/>
            <a:chExt cx="762006" cy="863600"/>
          </a:xfrm>
        </p:grpSpPr>
        <p:sp>
          <p:nvSpPr>
            <p:cNvPr id="1617" name="Shape 2044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8" name="Shape 2045"/>
            <p:cNvSpPr txBox="1"/>
            <p:nvPr/>
          </p:nvSpPr>
          <p:spPr>
            <a:xfrm>
              <a:off x="59486" y="45235"/>
              <a:ext cx="63964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622" name="Group 2049"/>
          <p:cNvGrpSpPr/>
          <p:nvPr/>
        </p:nvGrpSpPr>
        <p:grpSpPr>
          <a:xfrm>
            <a:off x="5114429" y="5835791"/>
            <a:ext cx="762007" cy="863605"/>
            <a:chOff x="0" y="0"/>
            <a:chExt cx="762006" cy="863603"/>
          </a:xfrm>
        </p:grpSpPr>
        <p:sp>
          <p:nvSpPr>
            <p:cNvPr id="1620" name="Shape 2047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D9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1" name="Shape 2048"/>
            <p:cNvSpPr txBox="1"/>
            <p:nvPr/>
          </p:nvSpPr>
          <p:spPr>
            <a:xfrm>
              <a:off x="59486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625" name="Group 2052"/>
          <p:cNvGrpSpPr/>
          <p:nvPr/>
        </p:nvGrpSpPr>
        <p:grpSpPr>
          <a:xfrm>
            <a:off x="3025985" y="1171220"/>
            <a:ext cx="762007" cy="863605"/>
            <a:chOff x="0" y="0"/>
            <a:chExt cx="762006" cy="863603"/>
          </a:xfrm>
        </p:grpSpPr>
        <p:sp>
          <p:nvSpPr>
            <p:cNvPr id="1623" name="Shape 2050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4" name="Shape 2051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FF0000"/>
                  </a:solidFill>
                  <a:uFill>
                    <a:solidFill>
                      <a:srgbClr val="FF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628" name="Group 2055"/>
          <p:cNvGrpSpPr/>
          <p:nvPr/>
        </p:nvGrpSpPr>
        <p:grpSpPr>
          <a:xfrm>
            <a:off x="2041592" y="2054013"/>
            <a:ext cx="762007" cy="863604"/>
            <a:chOff x="0" y="0"/>
            <a:chExt cx="762006" cy="863603"/>
          </a:xfrm>
        </p:grpSpPr>
        <p:sp>
          <p:nvSpPr>
            <p:cNvPr id="1626" name="Shape 2053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7" name="Shape 2054"/>
            <p:cNvSpPr txBox="1"/>
            <p:nvPr/>
          </p:nvSpPr>
          <p:spPr>
            <a:xfrm>
              <a:off x="94678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631" name="Group 2058"/>
          <p:cNvGrpSpPr/>
          <p:nvPr/>
        </p:nvGrpSpPr>
        <p:grpSpPr>
          <a:xfrm>
            <a:off x="2513469" y="3304821"/>
            <a:ext cx="762007" cy="863605"/>
            <a:chOff x="-1" y="0"/>
            <a:chExt cx="762006" cy="863603"/>
          </a:xfrm>
        </p:grpSpPr>
        <p:sp>
          <p:nvSpPr>
            <p:cNvPr id="1629" name="Shape 2056"/>
            <p:cNvSpPr/>
            <p:nvPr/>
          </p:nvSpPr>
          <p:spPr>
            <a:xfrm>
              <a:off x="-2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0" name="Shape 2057"/>
            <p:cNvSpPr txBox="1"/>
            <p:nvPr/>
          </p:nvSpPr>
          <p:spPr>
            <a:xfrm>
              <a:off x="77160" y="37900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634" name="Group 2061"/>
          <p:cNvGrpSpPr/>
          <p:nvPr/>
        </p:nvGrpSpPr>
        <p:grpSpPr>
          <a:xfrm>
            <a:off x="2041592" y="4596271"/>
            <a:ext cx="762007" cy="863605"/>
            <a:chOff x="0" y="0"/>
            <a:chExt cx="762006" cy="863603"/>
          </a:xfrm>
        </p:grpSpPr>
        <p:sp>
          <p:nvSpPr>
            <p:cNvPr id="1632" name="Shape 2059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3" name="Shape 2060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637" name="Group 2064"/>
          <p:cNvGrpSpPr/>
          <p:nvPr/>
        </p:nvGrpSpPr>
        <p:grpSpPr>
          <a:xfrm>
            <a:off x="4048758" y="2044981"/>
            <a:ext cx="762007" cy="863604"/>
            <a:chOff x="0" y="0"/>
            <a:chExt cx="762006" cy="863603"/>
          </a:xfrm>
        </p:grpSpPr>
        <p:sp>
          <p:nvSpPr>
            <p:cNvPr id="1635" name="Shape 2062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6" name="Shape 2063"/>
            <p:cNvSpPr txBox="1"/>
            <p:nvPr/>
          </p:nvSpPr>
          <p:spPr>
            <a:xfrm>
              <a:off x="94677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640" name="Group 2067"/>
          <p:cNvGrpSpPr/>
          <p:nvPr/>
        </p:nvGrpSpPr>
        <p:grpSpPr>
          <a:xfrm>
            <a:off x="4929291" y="3214510"/>
            <a:ext cx="762007" cy="863605"/>
            <a:chOff x="0" y="0"/>
            <a:chExt cx="762006" cy="863603"/>
          </a:xfrm>
        </p:grpSpPr>
        <p:sp>
          <p:nvSpPr>
            <p:cNvPr id="1638" name="Shape 2065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9" name="Shape 2066"/>
            <p:cNvSpPr txBox="1"/>
            <p:nvPr/>
          </p:nvSpPr>
          <p:spPr>
            <a:xfrm>
              <a:off x="112507" y="37900"/>
              <a:ext cx="53360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643" name="Group 2070"/>
          <p:cNvGrpSpPr/>
          <p:nvPr/>
        </p:nvGrpSpPr>
        <p:grpSpPr>
          <a:xfrm>
            <a:off x="4525149" y="4657230"/>
            <a:ext cx="762007" cy="863605"/>
            <a:chOff x="0" y="0"/>
            <a:chExt cx="762006" cy="863603"/>
          </a:xfrm>
        </p:grpSpPr>
        <p:sp>
          <p:nvSpPr>
            <p:cNvPr id="1641" name="Shape 2068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2" name="Shape 2069"/>
            <p:cNvSpPr txBox="1"/>
            <p:nvPr/>
          </p:nvSpPr>
          <p:spPr>
            <a:xfrm>
              <a:off x="59486" y="37899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646" name="Group 2073"/>
          <p:cNvGrpSpPr/>
          <p:nvPr/>
        </p:nvGrpSpPr>
        <p:grpSpPr>
          <a:xfrm>
            <a:off x="3975100" y="5816600"/>
            <a:ext cx="762000" cy="863600"/>
            <a:chOff x="0" y="0"/>
            <a:chExt cx="762000" cy="863600"/>
          </a:xfrm>
        </p:grpSpPr>
        <p:sp>
          <p:nvSpPr>
            <p:cNvPr id="1644" name="Shape 2071"/>
            <p:cNvSpPr/>
            <p:nvPr/>
          </p:nvSpPr>
          <p:spPr>
            <a:xfrm>
              <a:off x="0" y="0"/>
              <a:ext cx="762000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5" name="Shape 2072"/>
            <p:cNvSpPr txBox="1"/>
            <p:nvPr/>
          </p:nvSpPr>
          <p:spPr>
            <a:xfrm>
              <a:off x="54123" y="45235"/>
              <a:ext cx="63964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649" name="Group 2076"/>
          <p:cNvGrpSpPr/>
          <p:nvPr/>
        </p:nvGrpSpPr>
        <p:grpSpPr>
          <a:xfrm>
            <a:off x="5121203" y="5816600"/>
            <a:ext cx="762007" cy="863600"/>
            <a:chOff x="0" y="0"/>
            <a:chExt cx="762006" cy="863600"/>
          </a:xfrm>
        </p:grpSpPr>
        <p:sp>
          <p:nvSpPr>
            <p:cNvPr id="1647" name="Shape 2074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8" name="Shape 2075"/>
            <p:cNvSpPr txBox="1"/>
            <p:nvPr/>
          </p:nvSpPr>
          <p:spPr>
            <a:xfrm>
              <a:off x="59487" y="45235"/>
              <a:ext cx="639640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650" name="Shape 2077"/>
          <p:cNvSpPr/>
          <p:nvPr/>
        </p:nvSpPr>
        <p:spPr>
          <a:xfrm>
            <a:off x="8282092" y="2203025"/>
            <a:ext cx="736603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51" name="Shape 2078"/>
          <p:cNvSpPr/>
          <p:nvPr/>
        </p:nvSpPr>
        <p:spPr>
          <a:xfrm>
            <a:off x="6247834" y="2203025"/>
            <a:ext cx="2044703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B D C</a:t>
            </a:r>
          </a:p>
        </p:txBody>
      </p:sp>
      <p:sp>
        <p:nvSpPr>
          <p:cNvPr id="1652" name="Shape 2079"/>
          <p:cNvSpPr/>
          <p:nvPr/>
        </p:nvSpPr>
        <p:spPr>
          <a:xfrm>
            <a:off x="8991600" y="2203025"/>
            <a:ext cx="3454400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E H G K F</a:t>
            </a:r>
          </a:p>
        </p:txBody>
      </p:sp>
      <p:sp>
        <p:nvSpPr>
          <p:cNvPr id="1653" name="中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中序遍历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" dur="1000"/>
                                        <p:tgtEl>
                                          <p:spTgt spid="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8" dur="10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3" dur="1000"/>
                                        <p:tgtEl>
                                          <p:spTgt spid="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40" grpId="11"/>
      <p:bldP build="whole" bldLvl="1" animBg="1" rev="0" advAuto="0" spid="1625" grpId="5"/>
      <p:bldP build="whole" bldLvl="1" animBg="1" rev="0" advAuto="0" spid="1651" grpId="4"/>
      <p:bldP build="whole" bldLvl="1" animBg="1" rev="0" advAuto="0" spid="1637" grpId="7"/>
      <p:bldP build="whole" bldLvl="1" animBg="1" rev="0" advAuto="0" spid="1628" grpId="1"/>
      <p:bldP build="whole" bldLvl="1" animBg="1" rev="0" advAuto="0" spid="1643" grpId="9"/>
      <p:bldP build="whole" bldLvl="1" animBg="1" rev="0" advAuto="0" spid="1634" grpId="2"/>
      <p:bldP build="whole" bldLvl="1" animBg="1" rev="0" advAuto="0" spid="1649" grpId="10"/>
      <p:bldP build="whole" bldLvl="1" animBg="1" rev="0" advAuto="0" spid="1650" grpId="6"/>
      <p:bldP build="whole" bldLvl="1" animBg="1" rev="0" advAuto="0" spid="1652" grpId="12"/>
      <p:bldP build="whole" bldLvl="1" animBg="1" rev="0" advAuto="0" spid="1631" grpId="3"/>
      <p:bldP build="whole" bldLvl="1" animBg="1" rev="0" advAuto="0" spid="1646" grpId="8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8" name="Group 2105"/>
          <p:cNvGrpSpPr/>
          <p:nvPr/>
        </p:nvGrpSpPr>
        <p:grpSpPr>
          <a:xfrm>
            <a:off x="1254192" y="1574797"/>
            <a:ext cx="4071911" cy="4690542"/>
            <a:chOff x="-2" y="-2"/>
            <a:chExt cx="4071910" cy="4690540"/>
          </a:xfrm>
        </p:grpSpPr>
        <p:sp>
          <p:nvSpPr>
            <p:cNvPr id="1655" name="Shape 2082"/>
            <p:cNvSpPr/>
            <p:nvPr/>
          </p:nvSpPr>
          <p:spPr>
            <a:xfrm flipH="1">
              <a:off x="510257" y="647700"/>
              <a:ext cx="584768" cy="584767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656" name="Shape 2083"/>
            <p:cNvSpPr/>
            <p:nvPr/>
          </p:nvSpPr>
          <p:spPr>
            <a:xfrm>
              <a:off x="1855611" y="546098"/>
              <a:ext cx="808287" cy="627667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657" name="Shape 2084"/>
            <p:cNvSpPr/>
            <p:nvPr/>
          </p:nvSpPr>
          <p:spPr>
            <a:xfrm>
              <a:off x="722488" y="1738488"/>
              <a:ext cx="584203" cy="6858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658" name="Shape 2085"/>
            <p:cNvSpPr/>
            <p:nvPr/>
          </p:nvSpPr>
          <p:spPr>
            <a:xfrm>
              <a:off x="2985910" y="1810737"/>
              <a:ext cx="591541" cy="6477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659" name="Shape 2086"/>
            <p:cNvSpPr/>
            <p:nvPr/>
          </p:nvSpPr>
          <p:spPr>
            <a:xfrm flipH="1">
              <a:off x="3079609" y="3176693"/>
              <a:ext cx="431803" cy="80010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662" name="Group 2089"/>
            <p:cNvGrpSpPr/>
            <p:nvPr/>
          </p:nvGrpSpPr>
          <p:grpSpPr>
            <a:xfrm>
              <a:off x="1093610" y="-3"/>
              <a:ext cx="762007" cy="863603"/>
              <a:chOff x="-1" y="-1"/>
              <a:chExt cx="762006" cy="863602"/>
            </a:xfrm>
          </p:grpSpPr>
          <p:sp>
            <p:nvSpPr>
              <p:cNvPr id="1660" name="Shape 2087"/>
              <p:cNvSpPr/>
              <p:nvPr/>
            </p:nvSpPr>
            <p:spPr>
              <a:xfrm>
                <a:off x="-2" y="-2"/>
                <a:ext cx="762007" cy="863603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1" name="Shape 2088"/>
              <p:cNvSpPr txBox="1"/>
              <p:nvPr/>
            </p:nvSpPr>
            <p:spPr>
              <a:xfrm>
                <a:off x="106085" y="81719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665" name="Group 2092"/>
            <p:cNvGrpSpPr/>
            <p:nvPr/>
          </p:nvGrpSpPr>
          <p:grpSpPr>
            <a:xfrm>
              <a:off x="-3" y="1232745"/>
              <a:ext cx="762003" cy="863607"/>
              <a:chOff x="-1" y="-1"/>
              <a:chExt cx="762002" cy="863606"/>
            </a:xfrm>
          </p:grpSpPr>
          <p:sp>
            <p:nvSpPr>
              <p:cNvPr id="1663" name="Shape 2090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4" name="Shape 2091"/>
              <p:cNvSpPr txBox="1"/>
              <p:nvPr/>
            </p:nvSpPr>
            <p:spPr>
              <a:xfrm>
                <a:off x="120091" y="85105"/>
                <a:ext cx="518432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68" name="Group 2095"/>
            <p:cNvGrpSpPr/>
            <p:nvPr/>
          </p:nvGrpSpPr>
          <p:grpSpPr>
            <a:xfrm>
              <a:off x="2401710" y="1149207"/>
              <a:ext cx="762007" cy="863607"/>
              <a:chOff x="-1" y="-1"/>
              <a:chExt cx="762006" cy="863606"/>
            </a:xfrm>
          </p:grpSpPr>
          <p:sp>
            <p:nvSpPr>
              <p:cNvPr id="1666" name="Shape 2093"/>
              <p:cNvSpPr/>
              <p:nvPr/>
            </p:nvSpPr>
            <p:spPr>
              <a:xfrm>
                <a:off x="-2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7" name="Shape 2094"/>
              <p:cNvSpPr txBox="1"/>
              <p:nvPr/>
            </p:nvSpPr>
            <p:spPr>
              <a:xfrm>
                <a:off x="98465" y="85105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671" name="Group 2098"/>
            <p:cNvGrpSpPr/>
            <p:nvPr/>
          </p:nvGrpSpPr>
          <p:grpSpPr>
            <a:xfrm>
              <a:off x="992010" y="2387599"/>
              <a:ext cx="762007" cy="863603"/>
              <a:chOff x="-1" y="-1"/>
              <a:chExt cx="762006" cy="863602"/>
            </a:xfrm>
          </p:grpSpPr>
          <p:sp>
            <p:nvSpPr>
              <p:cNvPr id="1669" name="Shape 2096"/>
              <p:cNvSpPr/>
              <p:nvPr/>
            </p:nvSpPr>
            <p:spPr>
              <a:xfrm>
                <a:off x="-2" y="-2"/>
                <a:ext cx="762007" cy="863603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0" name="Shape 2097"/>
              <p:cNvSpPr txBox="1"/>
              <p:nvPr/>
            </p:nvSpPr>
            <p:spPr>
              <a:xfrm>
                <a:off x="99312" y="81719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674" name="Group 2101"/>
            <p:cNvGrpSpPr/>
            <p:nvPr/>
          </p:nvGrpSpPr>
          <p:grpSpPr>
            <a:xfrm>
              <a:off x="3309902" y="2372923"/>
              <a:ext cx="762007" cy="863607"/>
              <a:chOff x="0" y="-1"/>
              <a:chExt cx="762006" cy="863606"/>
            </a:xfrm>
          </p:grpSpPr>
          <p:sp>
            <p:nvSpPr>
              <p:cNvPr id="1672" name="Shape 2099"/>
              <p:cNvSpPr/>
              <p:nvPr/>
            </p:nvSpPr>
            <p:spPr>
              <a:xfrm>
                <a:off x="-1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3" name="Shape 2100"/>
              <p:cNvSpPr txBox="1"/>
              <p:nvPr/>
            </p:nvSpPr>
            <p:spPr>
              <a:xfrm>
                <a:off x="120091" y="85105"/>
                <a:ext cx="518432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77" name="Group 2104"/>
            <p:cNvGrpSpPr/>
            <p:nvPr/>
          </p:nvGrpSpPr>
          <p:grpSpPr>
            <a:xfrm>
              <a:off x="2429368" y="3826932"/>
              <a:ext cx="762007" cy="863607"/>
              <a:chOff x="-1" y="-1"/>
              <a:chExt cx="762006" cy="863606"/>
            </a:xfrm>
          </p:grpSpPr>
          <p:sp>
            <p:nvSpPr>
              <p:cNvPr id="1675" name="Shape 2102"/>
              <p:cNvSpPr/>
              <p:nvPr/>
            </p:nvSpPr>
            <p:spPr>
              <a:xfrm>
                <a:off x="-2" y="-2"/>
                <a:ext cx="762007" cy="8636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6" name="Shape 2103"/>
              <p:cNvSpPr txBox="1"/>
              <p:nvPr/>
            </p:nvSpPr>
            <p:spPr>
              <a:xfrm>
                <a:off x="135779" y="85105"/>
                <a:ext cx="48705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4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687" name="Group 2114"/>
          <p:cNvGrpSpPr/>
          <p:nvPr/>
        </p:nvGrpSpPr>
        <p:grpSpPr>
          <a:xfrm>
            <a:off x="7090548" y="1507063"/>
            <a:ext cx="4660061" cy="3327972"/>
            <a:chOff x="-1" y="-1"/>
            <a:chExt cx="4660059" cy="3327970"/>
          </a:xfrm>
        </p:grpSpPr>
        <p:sp>
          <p:nvSpPr>
            <p:cNvPr id="1679" name="Shape 2106"/>
            <p:cNvSpPr/>
            <p:nvPr/>
          </p:nvSpPr>
          <p:spPr>
            <a:xfrm>
              <a:off x="-2" y="-2"/>
              <a:ext cx="707247" cy="696112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0" name="Shape 2107"/>
            <p:cNvSpPr txBox="1"/>
            <p:nvPr/>
          </p:nvSpPr>
          <p:spPr>
            <a:xfrm>
              <a:off x="259160" y="220133"/>
              <a:ext cx="232817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681" name="Shape 2108"/>
            <p:cNvSpPr/>
            <p:nvPr/>
          </p:nvSpPr>
          <p:spPr>
            <a:xfrm>
              <a:off x="2020003" y="1270634"/>
              <a:ext cx="707247" cy="696111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2" name="Shape 2109"/>
            <p:cNvSpPr txBox="1"/>
            <p:nvPr/>
          </p:nvSpPr>
          <p:spPr>
            <a:xfrm>
              <a:off x="2291276" y="1485187"/>
              <a:ext cx="216000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683" name="Shape 2110"/>
            <p:cNvSpPr/>
            <p:nvPr/>
          </p:nvSpPr>
          <p:spPr>
            <a:xfrm>
              <a:off x="685444" y="510160"/>
              <a:ext cx="1421756" cy="846298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684" name="Shape 2111"/>
            <p:cNvSpPr/>
            <p:nvPr/>
          </p:nvSpPr>
          <p:spPr>
            <a:xfrm>
              <a:off x="3952812" y="2631859"/>
              <a:ext cx="707247" cy="696111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5" name="Shape 2112"/>
            <p:cNvSpPr txBox="1"/>
            <p:nvPr/>
          </p:nvSpPr>
          <p:spPr>
            <a:xfrm>
              <a:off x="4185331" y="2860716"/>
              <a:ext cx="216000" cy="329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686" name="Shape 2113"/>
            <p:cNvSpPr/>
            <p:nvPr/>
          </p:nvSpPr>
          <p:spPr>
            <a:xfrm>
              <a:off x="2673963" y="1830858"/>
              <a:ext cx="1421756" cy="846297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1688" name="中序遍历练习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中序遍历练习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后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后序遍历</a:t>
            </a:r>
          </a:p>
        </p:txBody>
      </p:sp>
      <p:grpSp>
        <p:nvGrpSpPr>
          <p:cNvPr id="1693" name="Group 2120"/>
          <p:cNvGrpSpPr/>
          <p:nvPr/>
        </p:nvGrpSpPr>
        <p:grpSpPr>
          <a:xfrm>
            <a:off x="1670473" y="3789962"/>
            <a:ext cx="2306324" cy="2622411"/>
            <a:chOff x="0" y="0"/>
            <a:chExt cx="2306322" cy="2622410"/>
          </a:xfrm>
        </p:grpSpPr>
        <p:sp>
          <p:nvSpPr>
            <p:cNvPr id="1691" name="Shape 2118"/>
            <p:cNvSpPr/>
            <p:nvPr/>
          </p:nvSpPr>
          <p:spPr>
            <a:xfrm>
              <a:off x="0" y="0"/>
              <a:ext cx="15113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2" name="Shape 2119"/>
            <p:cNvSpPr/>
            <p:nvPr/>
          </p:nvSpPr>
          <p:spPr>
            <a:xfrm>
              <a:off x="1036322" y="13524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93921" indent="28897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左</a:t>
              </a:r>
            </a:p>
            <a:p>
              <a:pPr marR="93921" indent="28897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grpSp>
        <p:nvGrpSpPr>
          <p:cNvPr id="1696" name="Group 2123"/>
          <p:cNvGrpSpPr/>
          <p:nvPr/>
        </p:nvGrpSpPr>
        <p:grpSpPr>
          <a:xfrm>
            <a:off x="4596551" y="3789962"/>
            <a:ext cx="1698416" cy="2635111"/>
            <a:chOff x="82096" y="0"/>
            <a:chExt cx="1698414" cy="2635110"/>
          </a:xfrm>
        </p:grpSpPr>
        <p:sp>
          <p:nvSpPr>
            <p:cNvPr id="1694" name="Shape 2121"/>
            <p:cNvSpPr/>
            <p:nvPr/>
          </p:nvSpPr>
          <p:spPr>
            <a:xfrm>
              <a:off x="82096" y="0"/>
              <a:ext cx="1409706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5" name="Shape 2122"/>
            <p:cNvSpPr/>
            <p:nvPr/>
          </p:nvSpPr>
          <p:spPr>
            <a:xfrm>
              <a:off x="510511" y="13651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28897" indent="93921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右</a:t>
              </a:r>
            </a:p>
            <a:p>
              <a:pPr marR="28897" indent="93921" algn="ctr" defTabSz="1295400">
                <a:defRPr sz="34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sp>
        <p:nvSpPr>
          <p:cNvPr id="1697" name="Shape 2124"/>
          <p:cNvSpPr/>
          <p:nvPr/>
        </p:nvSpPr>
        <p:spPr>
          <a:xfrm flipH="1">
            <a:off x="3187699" y="3248094"/>
            <a:ext cx="330201" cy="546103"/>
          </a:xfrm>
          <a:prstGeom prst="line">
            <a:avLst/>
          </a:prstGeom>
          <a:ln w="38100" cap="sq">
            <a:solidFill>
              <a:srgbClr val="006666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698" name="Shape 2125"/>
          <p:cNvSpPr/>
          <p:nvPr/>
        </p:nvSpPr>
        <p:spPr>
          <a:xfrm>
            <a:off x="4271433" y="3248094"/>
            <a:ext cx="330202" cy="546103"/>
          </a:xfrm>
          <a:prstGeom prst="line">
            <a:avLst/>
          </a:prstGeom>
          <a:ln w="38100" cap="sq">
            <a:solidFill>
              <a:srgbClr val="006666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701" name="Group 2128"/>
          <p:cNvGrpSpPr/>
          <p:nvPr/>
        </p:nvGrpSpPr>
        <p:grpSpPr>
          <a:xfrm>
            <a:off x="3296071" y="2272732"/>
            <a:ext cx="1193807" cy="1079507"/>
            <a:chOff x="-1" y="-1"/>
            <a:chExt cx="1193806" cy="1079506"/>
          </a:xfrm>
        </p:grpSpPr>
        <p:sp>
          <p:nvSpPr>
            <p:cNvPr id="1699" name="Shape 2126"/>
            <p:cNvSpPr/>
            <p:nvPr/>
          </p:nvSpPr>
          <p:spPr>
            <a:xfrm>
              <a:off x="-2" y="-2"/>
              <a:ext cx="1193807" cy="1079507"/>
            </a:xfrm>
            <a:prstGeom prst="ellipse">
              <a:avLst/>
            </a:prstGeom>
            <a:solidFill>
              <a:srgbClr val="FBE2D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0" name="Shape 2127"/>
            <p:cNvSpPr txBox="1"/>
            <p:nvPr/>
          </p:nvSpPr>
          <p:spPr>
            <a:xfrm>
              <a:off x="205695" y="60960"/>
              <a:ext cx="780717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50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根</a:t>
              </a:r>
            </a:p>
          </p:txBody>
        </p:sp>
      </p:grpSp>
      <p:sp>
        <p:nvSpPr>
          <p:cNvPr id="1702" name="Shape 2129"/>
          <p:cNvSpPr/>
          <p:nvPr/>
        </p:nvSpPr>
        <p:spPr>
          <a:xfrm>
            <a:off x="3925992" y="1143846"/>
            <a:ext cx="2262" cy="1104903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703" name="Shape 2130"/>
          <p:cNvSpPr/>
          <p:nvPr/>
        </p:nvSpPr>
        <p:spPr>
          <a:xfrm flipV="1">
            <a:off x="2212338" y="3139720"/>
            <a:ext cx="1079503" cy="1511303"/>
          </a:xfrm>
          <a:prstGeom prst="line">
            <a:avLst/>
          </a:prstGeom>
          <a:ln w="38100" cap="sq">
            <a:solidFill>
              <a:srgbClr val="FF00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704" name="Shape 2131"/>
          <p:cNvSpPr/>
          <p:nvPr/>
        </p:nvSpPr>
        <p:spPr>
          <a:xfrm flipH="1" flipV="1">
            <a:off x="4343398" y="3160041"/>
            <a:ext cx="1079502" cy="1511302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705" name="Shape 2132"/>
          <p:cNvSpPr/>
          <p:nvPr/>
        </p:nvSpPr>
        <p:spPr>
          <a:xfrm flipH="1">
            <a:off x="3296072" y="3356469"/>
            <a:ext cx="431803" cy="762003"/>
          </a:xfrm>
          <a:prstGeom prst="line">
            <a:avLst/>
          </a:prstGeom>
          <a:ln w="38100" cap="sq">
            <a:solidFill>
              <a:srgbClr val="FF3300"/>
            </a:solidFill>
            <a:head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1706" name="Shape 2133"/>
          <p:cNvSpPr/>
          <p:nvPr/>
        </p:nvSpPr>
        <p:spPr>
          <a:xfrm>
            <a:off x="4027592" y="3410654"/>
            <a:ext cx="546103" cy="863602"/>
          </a:xfrm>
          <a:prstGeom prst="line">
            <a:avLst/>
          </a:prstGeom>
          <a:ln w="38100" cap="sq">
            <a:solidFill>
              <a:srgbClr val="FF33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grpSp>
        <p:nvGrpSpPr>
          <p:cNvPr id="1709" name="Group 2136"/>
          <p:cNvGrpSpPr/>
          <p:nvPr/>
        </p:nvGrpSpPr>
        <p:grpSpPr>
          <a:xfrm>
            <a:off x="3309619" y="2286000"/>
            <a:ext cx="1193807" cy="1079500"/>
            <a:chOff x="-1" y="0"/>
            <a:chExt cx="1193806" cy="1079500"/>
          </a:xfrm>
        </p:grpSpPr>
        <p:sp>
          <p:nvSpPr>
            <p:cNvPr id="1707" name="Shape 2134"/>
            <p:cNvSpPr/>
            <p:nvPr/>
          </p:nvSpPr>
          <p:spPr>
            <a:xfrm>
              <a:off x="-2" y="0"/>
              <a:ext cx="1193807" cy="1079500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A5002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8" name="Shape 2135"/>
            <p:cNvSpPr txBox="1"/>
            <p:nvPr/>
          </p:nvSpPr>
          <p:spPr>
            <a:xfrm>
              <a:off x="205695" y="63499"/>
              <a:ext cx="780717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50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根</a:t>
              </a:r>
            </a:p>
          </p:txBody>
        </p:sp>
      </p:grpSp>
      <p:grpSp>
        <p:nvGrpSpPr>
          <p:cNvPr id="1712" name="Group 2139"/>
          <p:cNvGrpSpPr/>
          <p:nvPr/>
        </p:nvGrpSpPr>
        <p:grpSpPr>
          <a:xfrm>
            <a:off x="1660594" y="3811411"/>
            <a:ext cx="2331724" cy="2685911"/>
            <a:chOff x="0" y="0"/>
            <a:chExt cx="2331722" cy="2685910"/>
          </a:xfrm>
        </p:grpSpPr>
        <p:sp>
          <p:nvSpPr>
            <p:cNvPr id="1710" name="Shape 2137"/>
            <p:cNvSpPr/>
            <p:nvPr/>
          </p:nvSpPr>
          <p:spPr>
            <a:xfrm>
              <a:off x="0" y="0"/>
              <a:ext cx="15113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1" name="Shape 2138"/>
            <p:cNvSpPr/>
            <p:nvPr/>
          </p:nvSpPr>
          <p:spPr>
            <a:xfrm>
              <a:off x="1061722" y="14159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左</a:t>
              </a:r>
            </a:p>
            <a:p>
              <a:pPr marR="93921" indent="28897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grpSp>
        <p:nvGrpSpPr>
          <p:cNvPr id="1715" name="Group 2142"/>
          <p:cNvGrpSpPr/>
          <p:nvPr/>
        </p:nvGrpSpPr>
        <p:grpSpPr>
          <a:xfrm>
            <a:off x="4608688" y="3788833"/>
            <a:ext cx="1673015" cy="2622411"/>
            <a:chOff x="107496" y="0"/>
            <a:chExt cx="1673014" cy="2622410"/>
          </a:xfrm>
        </p:grpSpPr>
        <p:sp>
          <p:nvSpPr>
            <p:cNvPr id="1713" name="Shape 2140"/>
            <p:cNvSpPr/>
            <p:nvPr/>
          </p:nvSpPr>
          <p:spPr>
            <a:xfrm>
              <a:off x="107496" y="0"/>
              <a:ext cx="1409704" cy="2057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4" name="Shape 2141"/>
            <p:cNvSpPr/>
            <p:nvPr/>
          </p:nvSpPr>
          <p:spPr>
            <a:xfrm>
              <a:off x="510511" y="13524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右</a:t>
              </a:r>
            </a:p>
            <a:p>
              <a:pPr marR="28897" indent="93921" algn="ctr" defTabSz="1295400">
                <a:defRPr sz="34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pPr>
              <a:r>
                <a:t>子树</a:t>
              </a:r>
            </a:p>
          </p:txBody>
        </p:sp>
      </p:grpSp>
      <p:sp>
        <p:nvSpPr>
          <p:cNvPr id="1716" name="Shape 2143"/>
          <p:cNvSpPr txBox="1"/>
          <p:nvPr/>
        </p:nvSpPr>
        <p:spPr>
          <a:xfrm>
            <a:off x="5416124" y="1358334"/>
            <a:ext cx="6680204" cy="2283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 若二叉树为空树，则空操作；否则：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（1）后序遍历左子树；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（2）后序遍历右子树；</a:t>
            </a:r>
            <a:endParaRPr>
              <a:uFill>
                <a:solidFill>
                  <a:srgbClr val="000000"/>
                </a:solidFill>
              </a:uFill>
            </a:endParaRPr>
          </a:p>
          <a:p>
            <a:pPr/>
            <a:r>
              <a:t>（3）访问根结点。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03" grpId="3"/>
      <p:bldP build="whole" bldLvl="1" animBg="1" rev="0" advAuto="0" spid="1712" grpId="4"/>
      <p:bldP build="p" bldLvl="5" animBg="1" rev="0" advAuto="0" spid="1716" grpId="2"/>
      <p:bldP build="whole" bldLvl="1" animBg="1" rev="0" advAuto="0" spid="1715" grpId="7"/>
      <p:bldP build="whole" bldLvl="1" animBg="1" rev="0" advAuto="0" spid="1705" grpId="5"/>
      <p:bldP build="whole" bldLvl="1" animBg="1" rev="0" advAuto="0" spid="1702" grpId="1"/>
      <p:bldP build="whole" bldLvl="1" animBg="1" rev="0" advAuto="0" spid="1704" grpId="8"/>
      <p:bldP build="whole" bldLvl="1" animBg="1" rev="0" advAuto="0" spid="1706" grpId="6"/>
      <p:bldP build="whole" bldLvl="1" animBg="1" rev="0" advAuto="0" spid="1709" grpId="9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3" name="Group 2181"/>
          <p:cNvGrpSpPr/>
          <p:nvPr/>
        </p:nvGrpSpPr>
        <p:grpSpPr>
          <a:xfrm>
            <a:off x="2101143" y="1291730"/>
            <a:ext cx="3622610" cy="5324975"/>
            <a:chOff x="0" y="0"/>
            <a:chExt cx="3622609" cy="5324974"/>
          </a:xfrm>
        </p:grpSpPr>
        <p:sp>
          <p:nvSpPr>
            <p:cNvPr id="1718" name="Shape 2146"/>
            <p:cNvSpPr/>
            <p:nvPr/>
          </p:nvSpPr>
          <p:spPr>
            <a:xfrm flipH="1">
              <a:off x="521546" y="435468"/>
              <a:ext cx="715719" cy="482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19" name="Shape 2147"/>
            <p:cNvSpPr/>
            <p:nvPr/>
          </p:nvSpPr>
          <p:spPr>
            <a:xfrm>
              <a:off x="451555" y="1444977"/>
              <a:ext cx="480910" cy="6547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0" name="Shape 2148"/>
            <p:cNvSpPr/>
            <p:nvPr/>
          </p:nvSpPr>
          <p:spPr>
            <a:xfrm flipH="1">
              <a:off x="433493" y="2391268"/>
              <a:ext cx="2159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1" name="Shape 2149"/>
            <p:cNvSpPr/>
            <p:nvPr/>
          </p:nvSpPr>
          <p:spPr>
            <a:xfrm>
              <a:off x="1546577" y="410915"/>
              <a:ext cx="819577" cy="521550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2" name="Shape 2150"/>
            <p:cNvSpPr/>
            <p:nvPr/>
          </p:nvSpPr>
          <p:spPr>
            <a:xfrm>
              <a:off x="2682239" y="1316284"/>
              <a:ext cx="460590" cy="74506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3" name="Shape 2151"/>
            <p:cNvSpPr/>
            <p:nvPr/>
          </p:nvSpPr>
          <p:spPr>
            <a:xfrm flipH="1">
              <a:off x="2707075" y="2537742"/>
              <a:ext cx="399630" cy="623150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4" name="Shape 2152"/>
            <p:cNvSpPr/>
            <p:nvPr/>
          </p:nvSpPr>
          <p:spPr>
            <a:xfrm flipH="1">
              <a:off x="2129084" y="3486008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25" name="Shape 2153"/>
            <p:cNvSpPr/>
            <p:nvPr/>
          </p:nvSpPr>
          <p:spPr>
            <a:xfrm>
              <a:off x="2833511" y="3486008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728" name="Group 2156"/>
            <p:cNvGrpSpPr/>
            <p:nvPr/>
          </p:nvGrpSpPr>
          <p:grpSpPr>
            <a:xfrm>
              <a:off x="1027289" y="-1"/>
              <a:ext cx="762005" cy="863603"/>
              <a:chOff x="0" y="-1"/>
              <a:chExt cx="762004" cy="863602"/>
            </a:xfrm>
          </p:grpSpPr>
          <p:sp>
            <p:nvSpPr>
              <p:cNvPr id="1726" name="Shape 2154"/>
              <p:cNvSpPr/>
              <p:nvPr/>
            </p:nvSpPr>
            <p:spPr>
              <a:xfrm>
                <a:off x="-1" y="-2"/>
                <a:ext cx="762006" cy="86360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7" name="Shape 2155"/>
              <p:cNvSpPr txBox="1"/>
              <p:nvPr/>
            </p:nvSpPr>
            <p:spPr>
              <a:xfrm>
                <a:off x="7716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731" name="Group 2159"/>
            <p:cNvGrpSpPr/>
            <p:nvPr/>
          </p:nvGrpSpPr>
          <p:grpSpPr>
            <a:xfrm>
              <a:off x="58702" y="905367"/>
              <a:ext cx="762005" cy="863607"/>
              <a:chOff x="0" y="-1"/>
              <a:chExt cx="762004" cy="863606"/>
            </a:xfrm>
          </p:grpSpPr>
          <p:sp>
            <p:nvSpPr>
              <p:cNvPr id="1729" name="Shape 2157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0" name="Shape 2158"/>
              <p:cNvSpPr txBox="1"/>
              <p:nvPr/>
            </p:nvSpPr>
            <p:spPr>
              <a:xfrm>
                <a:off x="94678" y="37899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734" name="Group 2162"/>
            <p:cNvGrpSpPr/>
            <p:nvPr/>
          </p:nvGrpSpPr>
          <p:grpSpPr>
            <a:xfrm>
              <a:off x="415431" y="1997567"/>
              <a:ext cx="762005" cy="863607"/>
              <a:chOff x="0" y="-1"/>
              <a:chExt cx="762004" cy="863606"/>
            </a:xfrm>
          </p:grpSpPr>
          <p:sp>
            <p:nvSpPr>
              <p:cNvPr id="1732" name="Shape 2160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3" name="Shape 2161"/>
              <p:cNvSpPr txBox="1"/>
              <p:nvPr/>
            </p:nvSpPr>
            <p:spPr>
              <a:xfrm>
                <a:off x="77160" y="325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737" name="Group 2165"/>
            <p:cNvGrpSpPr/>
            <p:nvPr/>
          </p:nvGrpSpPr>
          <p:grpSpPr>
            <a:xfrm>
              <a:off x="-1" y="3127867"/>
              <a:ext cx="762003" cy="863607"/>
              <a:chOff x="-1" y="-1"/>
              <a:chExt cx="762002" cy="863606"/>
            </a:xfrm>
          </p:grpSpPr>
          <p:sp>
            <p:nvSpPr>
              <p:cNvPr id="1735" name="Shape 2163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6" name="Shape 2164"/>
              <p:cNvSpPr txBox="1"/>
              <p:nvPr/>
            </p:nvSpPr>
            <p:spPr>
              <a:xfrm>
                <a:off x="77159" y="452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740" name="Group 2168"/>
            <p:cNvGrpSpPr/>
            <p:nvPr/>
          </p:nvGrpSpPr>
          <p:grpSpPr>
            <a:xfrm>
              <a:off x="2088444" y="905367"/>
              <a:ext cx="762005" cy="863607"/>
              <a:chOff x="0" y="-1"/>
              <a:chExt cx="762004" cy="863606"/>
            </a:xfrm>
          </p:grpSpPr>
          <p:sp>
            <p:nvSpPr>
              <p:cNvPr id="1738" name="Shape 2166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9" name="Shape 2167"/>
              <p:cNvSpPr txBox="1"/>
              <p:nvPr/>
            </p:nvSpPr>
            <p:spPr>
              <a:xfrm>
                <a:off x="94678" y="37899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743" name="Group 2171"/>
            <p:cNvGrpSpPr/>
            <p:nvPr/>
          </p:nvGrpSpPr>
          <p:grpSpPr>
            <a:xfrm>
              <a:off x="2860604" y="1934914"/>
              <a:ext cx="762005" cy="863607"/>
              <a:chOff x="0" y="-1"/>
              <a:chExt cx="762004" cy="863606"/>
            </a:xfrm>
          </p:grpSpPr>
          <p:sp>
            <p:nvSpPr>
              <p:cNvPr id="1741" name="Shape 2169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42" name="Shape 2170"/>
              <p:cNvSpPr txBox="1"/>
              <p:nvPr/>
            </p:nvSpPr>
            <p:spPr>
              <a:xfrm>
                <a:off x="112506" y="37899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746" name="Group 2174"/>
            <p:cNvGrpSpPr/>
            <p:nvPr/>
          </p:nvGrpSpPr>
          <p:grpSpPr>
            <a:xfrm>
              <a:off x="2273582" y="3088639"/>
              <a:ext cx="762005" cy="863607"/>
              <a:chOff x="0" y="-1"/>
              <a:chExt cx="762004" cy="863606"/>
            </a:xfrm>
          </p:grpSpPr>
          <p:sp>
            <p:nvSpPr>
              <p:cNvPr id="1744" name="Shape 2172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45" name="Shape 2173"/>
              <p:cNvSpPr txBox="1"/>
              <p:nvPr/>
            </p:nvSpPr>
            <p:spPr>
              <a:xfrm>
                <a:off x="59486" y="37899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749" name="Group 2177"/>
            <p:cNvGrpSpPr/>
            <p:nvPr/>
          </p:nvGrpSpPr>
          <p:grpSpPr>
            <a:xfrm>
              <a:off x="1803964" y="4461367"/>
              <a:ext cx="762005" cy="863607"/>
              <a:chOff x="0" y="-1"/>
              <a:chExt cx="762004" cy="863606"/>
            </a:xfrm>
          </p:grpSpPr>
          <p:sp>
            <p:nvSpPr>
              <p:cNvPr id="1747" name="Shape 2175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48" name="Shape 2176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752" name="Group 2180"/>
            <p:cNvGrpSpPr/>
            <p:nvPr/>
          </p:nvGrpSpPr>
          <p:grpSpPr>
            <a:xfrm>
              <a:off x="2833511" y="4461367"/>
              <a:ext cx="762005" cy="863607"/>
              <a:chOff x="0" y="-1"/>
              <a:chExt cx="762004" cy="863606"/>
            </a:xfrm>
          </p:grpSpPr>
          <p:sp>
            <p:nvSpPr>
              <p:cNvPr id="1750" name="Shape 2178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51" name="Shape 2179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756" name="Group 2184"/>
          <p:cNvGrpSpPr/>
          <p:nvPr/>
        </p:nvGrpSpPr>
        <p:grpSpPr>
          <a:xfrm>
            <a:off x="3119400" y="1291731"/>
            <a:ext cx="762007" cy="863605"/>
            <a:chOff x="0" y="0"/>
            <a:chExt cx="762006" cy="863603"/>
          </a:xfrm>
        </p:grpSpPr>
        <p:sp>
          <p:nvSpPr>
            <p:cNvPr id="1754" name="Shape 2182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5" name="Shape 2183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FF0000"/>
                  </a:solidFill>
                  <a:uFill>
                    <a:solidFill>
                      <a:srgbClr val="FF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759" name="Group 2187"/>
          <p:cNvGrpSpPr/>
          <p:nvPr/>
        </p:nvGrpSpPr>
        <p:grpSpPr>
          <a:xfrm>
            <a:off x="2159845" y="2208389"/>
            <a:ext cx="762007" cy="863605"/>
            <a:chOff x="0" y="0"/>
            <a:chExt cx="762006" cy="863603"/>
          </a:xfrm>
        </p:grpSpPr>
        <p:sp>
          <p:nvSpPr>
            <p:cNvPr id="1757" name="Shape 2185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8" name="Shape 2186"/>
            <p:cNvSpPr txBox="1"/>
            <p:nvPr/>
          </p:nvSpPr>
          <p:spPr>
            <a:xfrm>
              <a:off x="94678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762" name="Group 2190"/>
          <p:cNvGrpSpPr/>
          <p:nvPr/>
        </p:nvGrpSpPr>
        <p:grpSpPr>
          <a:xfrm>
            <a:off x="2507543" y="3263900"/>
            <a:ext cx="762007" cy="863600"/>
            <a:chOff x="0" y="0"/>
            <a:chExt cx="762006" cy="863600"/>
          </a:xfrm>
        </p:grpSpPr>
        <p:sp>
          <p:nvSpPr>
            <p:cNvPr id="1760" name="Shape 2188"/>
            <p:cNvSpPr/>
            <p:nvPr/>
          </p:nvSpPr>
          <p:spPr>
            <a:xfrm>
              <a:off x="-1" y="0"/>
              <a:ext cx="762007" cy="863600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1" name="Shape 2189"/>
            <p:cNvSpPr txBox="1"/>
            <p:nvPr/>
          </p:nvSpPr>
          <p:spPr>
            <a:xfrm>
              <a:off x="77160" y="45235"/>
              <a:ext cx="604293" cy="7858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765" name="Group 2193"/>
          <p:cNvGrpSpPr/>
          <p:nvPr/>
        </p:nvGrpSpPr>
        <p:grpSpPr>
          <a:xfrm>
            <a:off x="2107916" y="4430042"/>
            <a:ext cx="762007" cy="863605"/>
            <a:chOff x="0" y="0"/>
            <a:chExt cx="762006" cy="863603"/>
          </a:xfrm>
        </p:grpSpPr>
        <p:sp>
          <p:nvSpPr>
            <p:cNvPr id="1763" name="Shape 2191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4" name="Shape 2192"/>
            <p:cNvSpPr txBox="1"/>
            <p:nvPr/>
          </p:nvSpPr>
          <p:spPr>
            <a:xfrm>
              <a:off x="77160" y="37899"/>
              <a:ext cx="604293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768" name="Group 2196"/>
          <p:cNvGrpSpPr/>
          <p:nvPr/>
        </p:nvGrpSpPr>
        <p:grpSpPr>
          <a:xfrm>
            <a:off x="4187329" y="2203873"/>
            <a:ext cx="762007" cy="863605"/>
            <a:chOff x="0" y="0"/>
            <a:chExt cx="762006" cy="863603"/>
          </a:xfrm>
        </p:grpSpPr>
        <p:sp>
          <p:nvSpPr>
            <p:cNvPr id="1766" name="Shape 2194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7" name="Shape 2195"/>
            <p:cNvSpPr txBox="1"/>
            <p:nvPr/>
          </p:nvSpPr>
          <p:spPr>
            <a:xfrm>
              <a:off x="94678" y="37899"/>
              <a:ext cx="569257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771" name="Group 2199"/>
          <p:cNvGrpSpPr/>
          <p:nvPr/>
        </p:nvGrpSpPr>
        <p:grpSpPr>
          <a:xfrm>
            <a:off x="4959490" y="3219872"/>
            <a:ext cx="762007" cy="863605"/>
            <a:chOff x="0" y="0"/>
            <a:chExt cx="762006" cy="863603"/>
          </a:xfrm>
        </p:grpSpPr>
        <p:sp>
          <p:nvSpPr>
            <p:cNvPr id="1769" name="Shape 2197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0" name="Shape 2198"/>
            <p:cNvSpPr txBox="1"/>
            <p:nvPr/>
          </p:nvSpPr>
          <p:spPr>
            <a:xfrm>
              <a:off x="112507" y="37899"/>
              <a:ext cx="53360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774" name="Group 2202"/>
          <p:cNvGrpSpPr/>
          <p:nvPr/>
        </p:nvGrpSpPr>
        <p:grpSpPr>
          <a:xfrm>
            <a:off x="4372468" y="4373597"/>
            <a:ext cx="762007" cy="863604"/>
            <a:chOff x="0" y="0"/>
            <a:chExt cx="762006" cy="863603"/>
          </a:xfrm>
        </p:grpSpPr>
        <p:sp>
          <p:nvSpPr>
            <p:cNvPr id="1772" name="Shape 2200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3" name="Shape 2201"/>
            <p:cNvSpPr txBox="1"/>
            <p:nvPr/>
          </p:nvSpPr>
          <p:spPr>
            <a:xfrm>
              <a:off x="59486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777" name="Group 2205"/>
          <p:cNvGrpSpPr/>
          <p:nvPr/>
        </p:nvGrpSpPr>
        <p:grpSpPr>
          <a:xfrm>
            <a:off x="3902849" y="5764388"/>
            <a:ext cx="762007" cy="863605"/>
            <a:chOff x="0" y="0"/>
            <a:chExt cx="762006" cy="863603"/>
          </a:xfrm>
        </p:grpSpPr>
        <p:sp>
          <p:nvSpPr>
            <p:cNvPr id="1775" name="Shape 2203"/>
            <p:cNvSpPr/>
            <p:nvPr/>
          </p:nvSpPr>
          <p:spPr>
            <a:xfrm>
              <a:off x="-1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6" name="Shape 2204"/>
            <p:cNvSpPr txBox="1"/>
            <p:nvPr/>
          </p:nvSpPr>
          <p:spPr>
            <a:xfrm>
              <a:off x="59486" y="37899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780" name="Group 2208"/>
          <p:cNvGrpSpPr/>
          <p:nvPr/>
        </p:nvGrpSpPr>
        <p:grpSpPr>
          <a:xfrm>
            <a:off x="4932394" y="5746326"/>
            <a:ext cx="762007" cy="863604"/>
            <a:chOff x="-1" y="0"/>
            <a:chExt cx="762006" cy="863603"/>
          </a:xfrm>
        </p:grpSpPr>
        <p:sp>
          <p:nvSpPr>
            <p:cNvPr id="1778" name="Shape 2206"/>
            <p:cNvSpPr/>
            <p:nvPr/>
          </p:nvSpPr>
          <p:spPr>
            <a:xfrm>
              <a:off x="-2" y="0"/>
              <a:ext cx="762007" cy="863605"/>
            </a:xfrm>
            <a:prstGeom prst="ellipse">
              <a:avLst/>
            </a:prstGeom>
            <a:solidFill>
              <a:srgbClr val="FFFFFF"/>
            </a:solidFill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9" name="Shape 2207"/>
            <p:cNvSpPr txBox="1"/>
            <p:nvPr/>
          </p:nvSpPr>
          <p:spPr>
            <a:xfrm>
              <a:off x="59487" y="37900"/>
              <a:ext cx="639640" cy="785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b="1" sz="5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781" name="Shape 2209"/>
          <p:cNvSpPr/>
          <p:nvPr/>
        </p:nvSpPr>
        <p:spPr>
          <a:xfrm>
            <a:off x="11306102" y="2337080"/>
            <a:ext cx="736603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82" name="Shape 2210"/>
          <p:cNvSpPr/>
          <p:nvPr/>
        </p:nvSpPr>
        <p:spPr>
          <a:xfrm>
            <a:off x="5862601" y="2337080"/>
            <a:ext cx="2044703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D C B</a:t>
            </a:r>
          </a:p>
        </p:txBody>
      </p:sp>
      <p:sp>
        <p:nvSpPr>
          <p:cNvPr id="1783" name="Shape 2211"/>
          <p:cNvSpPr/>
          <p:nvPr/>
        </p:nvSpPr>
        <p:spPr>
          <a:xfrm>
            <a:off x="7885571" y="2337080"/>
            <a:ext cx="3454403" cy="823926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just" defTabSz="1295400">
              <a:spcBef>
                <a:spcPts val="1900"/>
              </a:spcBef>
              <a:defRPr b="1" sz="5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H K G F E</a:t>
            </a:r>
          </a:p>
        </p:txBody>
      </p:sp>
      <p:sp>
        <p:nvSpPr>
          <p:cNvPr id="1784" name="后序遍历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后序遍历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" dur="10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4" dur="10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3" dur="10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77" grpId="5"/>
      <p:bldP build="whole" bldLvl="1" animBg="1" rev="0" advAuto="0" spid="1756" grpId="11"/>
      <p:bldP build="whole" bldLvl="1" animBg="1" rev="0" advAuto="0" spid="1759" grpId="3"/>
      <p:bldP build="whole" bldLvl="1" animBg="1" rev="0" advAuto="0" spid="1771" grpId="8"/>
      <p:bldP build="whole" bldLvl="1" animBg="1" rev="0" advAuto="0" spid="1765" grpId="1"/>
      <p:bldP build="whole" bldLvl="1" animBg="1" rev="0" advAuto="0" spid="1768" grpId="9"/>
      <p:bldP build="whole" bldLvl="1" animBg="1" rev="0" advAuto="0" spid="1762" grpId="2"/>
      <p:bldP build="whole" bldLvl="1" animBg="1" rev="0" advAuto="0" spid="1781" grpId="12"/>
      <p:bldP build="whole" bldLvl="1" animBg="1" rev="0" advAuto="0" spid="1780" grpId="6"/>
      <p:bldP build="whole" bldLvl="1" animBg="1" rev="0" advAuto="0" spid="1774" grpId="7"/>
      <p:bldP build="whole" bldLvl="1" animBg="1" rev="0" advAuto="0" spid="1782" grpId="4"/>
      <p:bldP build="whole" bldLvl="1" animBg="1" rev="0" advAuto="0" spid="1783" grpId="1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0" name="Group 2229"/>
          <p:cNvGrpSpPr/>
          <p:nvPr/>
        </p:nvGrpSpPr>
        <p:grpSpPr>
          <a:xfrm>
            <a:off x="3723921" y="1391071"/>
            <a:ext cx="4693925" cy="3483757"/>
            <a:chOff x="0" y="0"/>
            <a:chExt cx="4693924" cy="3483755"/>
          </a:xfrm>
        </p:grpSpPr>
        <p:sp>
          <p:nvSpPr>
            <p:cNvPr id="1786" name="Shape 2215"/>
            <p:cNvSpPr/>
            <p:nvPr/>
          </p:nvSpPr>
          <p:spPr>
            <a:xfrm flipV="1">
              <a:off x="1326973" y="291112"/>
              <a:ext cx="1406198" cy="1266821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87" name="Shape 2216"/>
            <p:cNvSpPr/>
            <p:nvPr/>
          </p:nvSpPr>
          <p:spPr>
            <a:xfrm flipV="1">
              <a:off x="542177" y="1743474"/>
              <a:ext cx="826886" cy="1014098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88" name="Shape 2217"/>
            <p:cNvSpPr/>
            <p:nvPr/>
          </p:nvSpPr>
          <p:spPr>
            <a:xfrm>
              <a:off x="1552260" y="1596319"/>
              <a:ext cx="1193289" cy="1042889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89" name="Shape 2218"/>
            <p:cNvSpPr/>
            <p:nvPr/>
          </p:nvSpPr>
          <p:spPr>
            <a:xfrm>
              <a:off x="2899042" y="291112"/>
              <a:ext cx="1453236" cy="1135660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790" name="Shape 2219"/>
            <p:cNvSpPr/>
            <p:nvPr/>
          </p:nvSpPr>
          <p:spPr>
            <a:xfrm>
              <a:off x="2540064" y="-1"/>
              <a:ext cx="722909" cy="934124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1" name="Shape 2220"/>
            <p:cNvSpPr txBox="1"/>
            <p:nvPr/>
          </p:nvSpPr>
          <p:spPr>
            <a:xfrm>
              <a:off x="2738122" y="201539"/>
              <a:ext cx="324533" cy="464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792" name="Shape 2221"/>
            <p:cNvSpPr/>
            <p:nvPr/>
          </p:nvSpPr>
          <p:spPr>
            <a:xfrm>
              <a:off x="1215566" y="1161250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3" name="Shape 2222"/>
            <p:cNvSpPr txBox="1"/>
            <p:nvPr/>
          </p:nvSpPr>
          <p:spPr>
            <a:xfrm>
              <a:off x="1426000" y="1362789"/>
              <a:ext cx="300708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794" name="Shape 2223"/>
            <p:cNvSpPr/>
            <p:nvPr/>
          </p:nvSpPr>
          <p:spPr>
            <a:xfrm>
              <a:off x="3971018" y="1020493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5" name="Shape 2224"/>
            <p:cNvSpPr txBox="1"/>
            <p:nvPr/>
          </p:nvSpPr>
          <p:spPr>
            <a:xfrm>
              <a:off x="4181452" y="1222032"/>
              <a:ext cx="300709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796" name="Shape 2225"/>
            <p:cNvSpPr/>
            <p:nvPr/>
          </p:nvSpPr>
          <p:spPr>
            <a:xfrm>
              <a:off x="-1" y="2546433"/>
              <a:ext cx="722907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7" name="Shape 2226"/>
            <p:cNvSpPr txBox="1"/>
            <p:nvPr/>
          </p:nvSpPr>
          <p:spPr>
            <a:xfrm>
              <a:off x="210434" y="2747972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798" name="Shape 2227"/>
            <p:cNvSpPr/>
            <p:nvPr/>
          </p:nvSpPr>
          <p:spPr>
            <a:xfrm>
              <a:off x="2398950" y="2517642"/>
              <a:ext cx="725383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9" name="Shape 2228"/>
            <p:cNvSpPr txBox="1"/>
            <p:nvPr/>
          </p:nvSpPr>
          <p:spPr>
            <a:xfrm>
              <a:off x="2599483" y="2719181"/>
              <a:ext cx="324533" cy="46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1801" name="后序遍历练习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后序遍历练习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Shape 2314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层次遍历</a:t>
            </a:r>
          </a:p>
        </p:txBody>
      </p:sp>
      <p:grpSp>
        <p:nvGrpSpPr>
          <p:cNvPr id="1856" name="成组"/>
          <p:cNvGrpSpPr/>
          <p:nvPr/>
        </p:nvGrpSpPr>
        <p:grpSpPr>
          <a:xfrm>
            <a:off x="1308069" y="1673009"/>
            <a:ext cx="9890214" cy="4725536"/>
            <a:chOff x="0" y="0"/>
            <a:chExt cx="9890213" cy="4725535"/>
          </a:xfrm>
        </p:grpSpPr>
        <p:grpSp>
          <p:nvGrpSpPr>
            <p:cNvPr id="1852" name="Group 686"/>
            <p:cNvGrpSpPr/>
            <p:nvPr/>
          </p:nvGrpSpPr>
          <p:grpSpPr>
            <a:xfrm>
              <a:off x="-1" y="1017411"/>
              <a:ext cx="8261780" cy="3708124"/>
              <a:chOff x="0" y="0"/>
              <a:chExt cx="8261778" cy="3708123"/>
            </a:xfrm>
          </p:grpSpPr>
          <p:sp>
            <p:nvSpPr>
              <p:cNvPr id="1804" name="Shape 638"/>
              <p:cNvSpPr/>
              <p:nvPr/>
            </p:nvSpPr>
            <p:spPr>
              <a:xfrm>
                <a:off x="3416017" y="494453"/>
                <a:ext cx="1291452" cy="62766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05" name="Shape 639"/>
              <p:cNvSpPr/>
              <p:nvPr/>
            </p:nvSpPr>
            <p:spPr>
              <a:xfrm flipH="1">
                <a:off x="1889759" y="469617"/>
                <a:ext cx="1106314" cy="62766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06" name="Shape 640"/>
              <p:cNvSpPr/>
              <p:nvPr/>
            </p:nvSpPr>
            <p:spPr>
              <a:xfrm>
                <a:off x="1993617" y="1433688"/>
                <a:ext cx="566706" cy="51026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07" name="Shape 641"/>
              <p:cNvSpPr/>
              <p:nvPr/>
            </p:nvSpPr>
            <p:spPr>
              <a:xfrm>
                <a:off x="869244" y="2456463"/>
                <a:ext cx="304803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08" name="Shape 642"/>
              <p:cNvSpPr/>
              <p:nvPr/>
            </p:nvSpPr>
            <p:spPr>
              <a:xfrm>
                <a:off x="2862579" y="98777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9" name="Shape 643"/>
              <p:cNvSpPr/>
              <p:nvPr/>
            </p:nvSpPr>
            <p:spPr>
              <a:xfrm>
                <a:off x="1481102" y="964071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0" name="Shape 644"/>
              <p:cNvSpPr/>
              <p:nvPr/>
            </p:nvSpPr>
            <p:spPr>
              <a:xfrm>
                <a:off x="4284980" y="964071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1" name="Shape 645"/>
              <p:cNvSpPr/>
              <p:nvPr/>
            </p:nvSpPr>
            <p:spPr>
              <a:xfrm>
                <a:off x="501226" y="1943947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2" name="Shape 646"/>
              <p:cNvSpPr/>
              <p:nvPr/>
            </p:nvSpPr>
            <p:spPr>
              <a:xfrm>
                <a:off x="2199075" y="1943947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3" name="Shape 647"/>
              <p:cNvSpPr/>
              <p:nvPr/>
            </p:nvSpPr>
            <p:spPr>
              <a:xfrm>
                <a:off x="3705014" y="1943947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4" name="Shape 648"/>
              <p:cNvSpPr/>
              <p:nvPr/>
            </p:nvSpPr>
            <p:spPr>
              <a:xfrm>
                <a:off x="5231271" y="1943947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5" name="Shape 649"/>
              <p:cNvSpPr/>
              <p:nvPr/>
            </p:nvSpPr>
            <p:spPr>
              <a:xfrm>
                <a:off x="-1" y="3134079"/>
                <a:ext cx="643471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6" name="Shape 650"/>
              <p:cNvSpPr/>
              <p:nvPr/>
            </p:nvSpPr>
            <p:spPr>
              <a:xfrm>
                <a:off x="1790417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7" name="Shape 651"/>
              <p:cNvSpPr/>
              <p:nvPr/>
            </p:nvSpPr>
            <p:spPr>
              <a:xfrm>
                <a:off x="2608579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8" name="Shape 652"/>
              <p:cNvSpPr/>
              <p:nvPr/>
            </p:nvSpPr>
            <p:spPr>
              <a:xfrm>
                <a:off x="3325707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9" name="Shape 653"/>
              <p:cNvSpPr txBox="1"/>
              <p:nvPr/>
            </p:nvSpPr>
            <p:spPr>
              <a:xfrm>
                <a:off x="2940342" y="16932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1820" name="Shape 654"/>
              <p:cNvSpPr txBox="1"/>
              <p:nvPr/>
            </p:nvSpPr>
            <p:spPr>
              <a:xfrm>
                <a:off x="4329159" y="955604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1821" name="Shape 655"/>
              <p:cNvSpPr txBox="1"/>
              <p:nvPr/>
            </p:nvSpPr>
            <p:spPr>
              <a:xfrm>
                <a:off x="5286210" y="1910080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  <p:sp>
            <p:nvSpPr>
              <p:cNvPr id="1822" name="Shape 656"/>
              <p:cNvSpPr txBox="1"/>
              <p:nvPr/>
            </p:nvSpPr>
            <p:spPr>
              <a:xfrm>
                <a:off x="1558582" y="930204"/>
                <a:ext cx="46010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1823" name="Shape 657"/>
              <p:cNvSpPr txBox="1"/>
              <p:nvPr/>
            </p:nvSpPr>
            <p:spPr>
              <a:xfrm>
                <a:off x="578707" y="1922780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  <p:sp>
            <p:nvSpPr>
              <p:cNvPr id="1824" name="Shape 658"/>
              <p:cNvSpPr txBox="1"/>
              <p:nvPr/>
            </p:nvSpPr>
            <p:spPr>
              <a:xfrm>
                <a:off x="2287121" y="1922780"/>
                <a:ext cx="46010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  <p:sp>
            <p:nvSpPr>
              <p:cNvPr id="1825" name="Shape 659"/>
              <p:cNvSpPr txBox="1"/>
              <p:nvPr/>
            </p:nvSpPr>
            <p:spPr>
              <a:xfrm>
                <a:off x="3798228" y="1922780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  <p:sp>
            <p:nvSpPr>
              <p:cNvPr id="1826" name="Shape 660"/>
              <p:cNvSpPr txBox="1"/>
              <p:nvPr/>
            </p:nvSpPr>
            <p:spPr>
              <a:xfrm>
                <a:off x="2669691" y="3117993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  <p:sp>
            <p:nvSpPr>
              <p:cNvPr id="1827" name="Shape 661"/>
              <p:cNvSpPr txBox="1"/>
              <p:nvPr/>
            </p:nvSpPr>
            <p:spPr>
              <a:xfrm>
                <a:off x="3407633" y="3067193"/>
                <a:ext cx="46010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L</a:t>
                </a:r>
              </a:p>
            </p:txBody>
          </p:sp>
          <p:sp>
            <p:nvSpPr>
              <p:cNvPr id="1828" name="Shape 662"/>
              <p:cNvSpPr txBox="1"/>
              <p:nvPr/>
            </p:nvSpPr>
            <p:spPr>
              <a:xfrm>
                <a:off x="40790" y="3117993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  <p:sp>
            <p:nvSpPr>
              <p:cNvPr id="1829" name="Shape 663"/>
              <p:cNvSpPr txBox="1"/>
              <p:nvPr/>
            </p:nvSpPr>
            <p:spPr>
              <a:xfrm>
                <a:off x="1859360" y="3092593"/>
                <a:ext cx="38799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  <p:sp>
            <p:nvSpPr>
              <p:cNvPr id="1830" name="Shape 664"/>
              <p:cNvSpPr/>
              <p:nvPr/>
            </p:nvSpPr>
            <p:spPr>
              <a:xfrm>
                <a:off x="869244" y="3159479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1" name="Shape 665"/>
              <p:cNvSpPr txBox="1"/>
              <p:nvPr/>
            </p:nvSpPr>
            <p:spPr>
              <a:xfrm>
                <a:off x="1005180" y="3130693"/>
                <a:ext cx="340138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  <p:sp>
            <p:nvSpPr>
              <p:cNvPr id="1832" name="Shape 666"/>
              <p:cNvSpPr/>
              <p:nvPr/>
            </p:nvSpPr>
            <p:spPr>
              <a:xfrm flipH="1">
                <a:off x="1072444" y="1433689"/>
                <a:ext cx="512519" cy="60960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33" name="Shape 667"/>
              <p:cNvSpPr/>
              <p:nvPr/>
            </p:nvSpPr>
            <p:spPr>
              <a:xfrm flipH="1">
                <a:off x="4145280" y="1433689"/>
                <a:ext cx="304803" cy="510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34" name="Shape 668"/>
              <p:cNvSpPr/>
              <p:nvPr/>
            </p:nvSpPr>
            <p:spPr>
              <a:xfrm>
                <a:off x="4863254" y="1433689"/>
                <a:ext cx="609603" cy="510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35" name="Shape 669"/>
              <p:cNvSpPr/>
              <p:nvPr/>
            </p:nvSpPr>
            <p:spPr>
              <a:xfrm>
                <a:off x="4183663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6" name="Shape 670"/>
              <p:cNvSpPr txBox="1"/>
              <p:nvPr/>
            </p:nvSpPr>
            <p:spPr>
              <a:xfrm>
                <a:off x="4196708" y="3092593"/>
                <a:ext cx="57965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  <p:sp>
            <p:nvSpPr>
              <p:cNvPr id="1837" name="Shape 671"/>
              <p:cNvSpPr/>
              <p:nvPr/>
            </p:nvSpPr>
            <p:spPr>
              <a:xfrm>
                <a:off x="4869180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8" name="Shape 672"/>
              <p:cNvSpPr txBox="1"/>
              <p:nvPr/>
            </p:nvSpPr>
            <p:spPr>
              <a:xfrm>
                <a:off x="4920415" y="3067193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N</a:t>
                </a:r>
              </a:p>
            </p:txBody>
          </p:sp>
          <p:sp>
            <p:nvSpPr>
              <p:cNvPr id="1839" name="Shape 673"/>
              <p:cNvSpPr/>
              <p:nvPr/>
            </p:nvSpPr>
            <p:spPr>
              <a:xfrm>
                <a:off x="5685085" y="3136055"/>
                <a:ext cx="645729" cy="54864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0" name="Shape 674"/>
              <p:cNvSpPr txBox="1"/>
              <p:nvPr/>
            </p:nvSpPr>
            <p:spPr>
              <a:xfrm>
                <a:off x="5761754" y="3105293"/>
                <a:ext cx="507967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O</a:t>
                </a:r>
              </a:p>
            </p:txBody>
          </p:sp>
          <p:sp>
            <p:nvSpPr>
              <p:cNvPr id="1841" name="Shape 675"/>
              <p:cNvSpPr/>
              <p:nvPr/>
            </p:nvSpPr>
            <p:spPr>
              <a:xfrm>
                <a:off x="2608579" y="2456463"/>
                <a:ext cx="304803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2" name="Shape 676"/>
              <p:cNvSpPr/>
              <p:nvPr/>
            </p:nvSpPr>
            <p:spPr>
              <a:xfrm>
                <a:off x="4145280" y="2456463"/>
                <a:ext cx="408661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3" name="Shape 677"/>
              <p:cNvSpPr/>
              <p:nvPr/>
            </p:nvSpPr>
            <p:spPr>
              <a:xfrm>
                <a:off x="5681980" y="2456463"/>
                <a:ext cx="304803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4" name="Shape 678"/>
              <p:cNvSpPr/>
              <p:nvPr/>
            </p:nvSpPr>
            <p:spPr>
              <a:xfrm flipH="1">
                <a:off x="356728" y="2456463"/>
                <a:ext cx="408661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5" name="Shape 679"/>
              <p:cNvSpPr/>
              <p:nvPr/>
            </p:nvSpPr>
            <p:spPr>
              <a:xfrm flipH="1">
                <a:off x="2097475" y="2456463"/>
                <a:ext cx="408661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6" name="Shape 680"/>
              <p:cNvSpPr/>
              <p:nvPr/>
            </p:nvSpPr>
            <p:spPr>
              <a:xfrm flipH="1">
                <a:off x="3535680" y="2456463"/>
                <a:ext cx="408661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7" name="Shape 681"/>
              <p:cNvSpPr/>
              <p:nvPr/>
            </p:nvSpPr>
            <p:spPr>
              <a:xfrm flipH="1">
                <a:off x="5170312" y="2456463"/>
                <a:ext cx="408660" cy="7179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848" name="Shape 682"/>
              <p:cNvSpPr txBox="1"/>
              <p:nvPr/>
            </p:nvSpPr>
            <p:spPr>
              <a:xfrm>
                <a:off x="7525176" y="0"/>
                <a:ext cx="736603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1849" name="Shape 683"/>
              <p:cNvSpPr txBox="1"/>
              <p:nvPr/>
            </p:nvSpPr>
            <p:spPr>
              <a:xfrm>
                <a:off x="7525176" y="1013742"/>
                <a:ext cx="736603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1850" name="Shape 684"/>
              <p:cNvSpPr txBox="1"/>
              <p:nvPr/>
            </p:nvSpPr>
            <p:spPr>
              <a:xfrm>
                <a:off x="7525176" y="1934916"/>
                <a:ext cx="736603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851" name="Shape 685"/>
              <p:cNvSpPr txBox="1"/>
              <p:nvPr/>
            </p:nvSpPr>
            <p:spPr>
              <a:xfrm>
                <a:off x="7525176" y="3061548"/>
                <a:ext cx="736603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855" name="Group 689"/>
            <p:cNvGrpSpPr/>
            <p:nvPr/>
          </p:nvGrpSpPr>
          <p:grpSpPr>
            <a:xfrm>
              <a:off x="8056879" y="-1"/>
              <a:ext cx="1833335" cy="1244604"/>
              <a:chOff x="0" y="-1"/>
              <a:chExt cx="1833334" cy="1244603"/>
            </a:xfrm>
          </p:grpSpPr>
          <p:sp>
            <p:nvSpPr>
              <p:cNvPr id="1853" name="Shape 687"/>
              <p:cNvSpPr/>
              <p:nvPr/>
            </p:nvSpPr>
            <p:spPr>
              <a:xfrm>
                <a:off x="-1" y="-2"/>
                <a:ext cx="1833335" cy="12446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709" y="0"/>
                    </a:moveTo>
                    <a:lnTo>
                      <a:pt x="4709" y="14204"/>
                    </a:lnTo>
                    <a:lnTo>
                      <a:pt x="7524" y="14204"/>
                    </a:lnTo>
                    <a:lnTo>
                      <a:pt x="0" y="21600"/>
                    </a:lnTo>
                    <a:lnTo>
                      <a:pt x="11747" y="14204"/>
                    </a:lnTo>
                    <a:lnTo>
                      <a:pt x="21600" y="14204"/>
                    </a:lnTo>
                    <a:lnTo>
                      <a:pt x="21600" y="0"/>
                    </a:lnTo>
                    <a:lnTo>
                      <a:pt x="7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54" name="Shape 688"/>
              <p:cNvSpPr txBox="1"/>
              <p:nvPr/>
            </p:nvSpPr>
            <p:spPr>
              <a:xfrm>
                <a:off x="405553" y="-1"/>
                <a:ext cx="1422403" cy="711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层号</a:t>
                </a:r>
              </a:p>
            </p:txBody>
          </p:sp>
        </p:grpSp>
      </p:grpSp>
      <p:sp>
        <p:nvSpPr>
          <p:cNvPr id="1857" name="从0层开始，逐层遍历，同一层，从左往右遍历"/>
          <p:cNvSpPr txBox="1"/>
          <p:nvPr/>
        </p:nvSpPr>
        <p:spPr>
          <a:xfrm>
            <a:off x="577736" y="1175171"/>
            <a:ext cx="8503299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3200"/>
            </a:lvl1pPr>
          </a:lstStyle>
          <a:p>
            <a:pPr/>
            <a:r>
              <a:t>从0层开始，逐层遍历，同一层，从左往右遍历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遍历练习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遍历练习</a:t>
            </a:r>
          </a:p>
        </p:txBody>
      </p:sp>
      <p:grpSp>
        <p:nvGrpSpPr>
          <p:cNvPr id="1895" name="Group 2266"/>
          <p:cNvGrpSpPr/>
          <p:nvPr/>
        </p:nvGrpSpPr>
        <p:grpSpPr>
          <a:xfrm>
            <a:off x="2472969" y="1955797"/>
            <a:ext cx="8013706" cy="5070413"/>
            <a:chOff x="-2" y="-1"/>
            <a:chExt cx="8013704" cy="5070411"/>
          </a:xfrm>
        </p:grpSpPr>
        <p:grpSp>
          <p:nvGrpSpPr>
            <p:cNvPr id="1862" name="Group 2233"/>
            <p:cNvGrpSpPr/>
            <p:nvPr/>
          </p:nvGrpSpPr>
          <p:grpSpPr>
            <a:xfrm>
              <a:off x="3136900" y="-2"/>
              <a:ext cx="647703" cy="614405"/>
              <a:chOff x="0" y="0"/>
              <a:chExt cx="647701" cy="614403"/>
            </a:xfrm>
          </p:grpSpPr>
          <p:sp>
            <p:nvSpPr>
              <p:cNvPr id="1860" name="Shape 2231"/>
              <p:cNvSpPr/>
              <p:nvPr/>
            </p:nvSpPr>
            <p:spPr>
              <a:xfrm>
                <a:off x="0" y="68297"/>
                <a:ext cx="647702" cy="54610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1" name="Shape 2232"/>
              <p:cNvSpPr txBox="1"/>
              <p:nvPr/>
            </p:nvSpPr>
            <p:spPr>
              <a:xfrm>
                <a:off x="67283" y="-1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65" name="Group 2236"/>
            <p:cNvGrpSpPr/>
            <p:nvPr/>
          </p:nvGrpSpPr>
          <p:grpSpPr>
            <a:xfrm>
              <a:off x="-3" y="1109131"/>
              <a:ext cx="647703" cy="589004"/>
              <a:chOff x="-1" y="0"/>
              <a:chExt cx="647701" cy="589003"/>
            </a:xfrm>
          </p:grpSpPr>
          <p:sp>
            <p:nvSpPr>
              <p:cNvPr id="1863" name="Shape 2234"/>
              <p:cNvSpPr/>
              <p:nvPr/>
            </p:nvSpPr>
            <p:spPr>
              <a:xfrm>
                <a:off x="-2" y="42898"/>
                <a:ext cx="647703" cy="5461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4" name="Shape 2235"/>
              <p:cNvSpPr txBox="1"/>
              <p:nvPr/>
            </p:nvSpPr>
            <p:spPr>
              <a:xfrm>
                <a:off x="66593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68" name="Group 2239"/>
            <p:cNvGrpSpPr/>
            <p:nvPr/>
          </p:nvGrpSpPr>
          <p:grpSpPr>
            <a:xfrm>
              <a:off x="2057400" y="2205565"/>
              <a:ext cx="647703" cy="576305"/>
              <a:chOff x="0" y="-1"/>
              <a:chExt cx="647701" cy="576304"/>
            </a:xfrm>
          </p:grpSpPr>
          <p:sp>
            <p:nvSpPr>
              <p:cNvPr id="1866" name="Shape 2237"/>
              <p:cNvSpPr/>
              <p:nvPr/>
            </p:nvSpPr>
            <p:spPr>
              <a:xfrm>
                <a:off x="0" y="30197"/>
                <a:ext cx="647702" cy="54610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7" name="Shape 2238"/>
              <p:cNvSpPr txBox="1"/>
              <p:nvPr/>
            </p:nvSpPr>
            <p:spPr>
              <a:xfrm>
                <a:off x="50349" y="-2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871" name="Group 2242"/>
            <p:cNvGrpSpPr/>
            <p:nvPr/>
          </p:nvGrpSpPr>
          <p:grpSpPr>
            <a:xfrm>
              <a:off x="1079500" y="3410373"/>
              <a:ext cx="647703" cy="565858"/>
              <a:chOff x="0" y="-1"/>
              <a:chExt cx="647701" cy="565856"/>
            </a:xfrm>
          </p:grpSpPr>
          <p:sp>
            <p:nvSpPr>
              <p:cNvPr id="1869" name="Shape 2240"/>
              <p:cNvSpPr/>
              <p:nvPr/>
            </p:nvSpPr>
            <p:spPr>
              <a:xfrm>
                <a:off x="0" y="17497"/>
                <a:ext cx="647702" cy="546109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0" name="Shape 2241"/>
              <p:cNvSpPr txBox="1"/>
              <p:nvPr/>
            </p:nvSpPr>
            <p:spPr>
              <a:xfrm>
                <a:off x="90989" y="-2"/>
                <a:ext cx="483931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874" name="Group 2245"/>
            <p:cNvGrpSpPr/>
            <p:nvPr/>
          </p:nvGrpSpPr>
          <p:grpSpPr>
            <a:xfrm>
              <a:off x="5435600" y="982131"/>
              <a:ext cx="647703" cy="614404"/>
              <a:chOff x="0" y="0"/>
              <a:chExt cx="647701" cy="614403"/>
            </a:xfrm>
          </p:grpSpPr>
          <p:sp>
            <p:nvSpPr>
              <p:cNvPr id="1872" name="Shape 2243"/>
              <p:cNvSpPr/>
              <p:nvPr/>
            </p:nvSpPr>
            <p:spPr>
              <a:xfrm>
                <a:off x="0" y="68298"/>
                <a:ext cx="647702" cy="5461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3" name="Shape 2244"/>
              <p:cNvSpPr txBox="1"/>
              <p:nvPr/>
            </p:nvSpPr>
            <p:spPr>
              <a:xfrm>
                <a:off x="93687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877" name="Group 2248"/>
            <p:cNvGrpSpPr/>
            <p:nvPr/>
          </p:nvGrpSpPr>
          <p:grpSpPr>
            <a:xfrm>
              <a:off x="7366000" y="2218265"/>
              <a:ext cx="647703" cy="565858"/>
              <a:chOff x="0" y="-1"/>
              <a:chExt cx="647701" cy="565856"/>
            </a:xfrm>
          </p:grpSpPr>
          <p:sp>
            <p:nvSpPr>
              <p:cNvPr id="1875" name="Shape 2246"/>
              <p:cNvSpPr/>
              <p:nvPr/>
            </p:nvSpPr>
            <p:spPr>
              <a:xfrm>
                <a:off x="0" y="17497"/>
                <a:ext cx="647702" cy="546109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6" name="Shape 2247"/>
              <p:cNvSpPr txBox="1"/>
              <p:nvPr/>
            </p:nvSpPr>
            <p:spPr>
              <a:xfrm>
                <a:off x="75537" y="-2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880" name="Group 2251"/>
            <p:cNvGrpSpPr/>
            <p:nvPr/>
          </p:nvGrpSpPr>
          <p:grpSpPr>
            <a:xfrm>
              <a:off x="6388100" y="3276601"/>
              <a:ext cx="647703" cy="589002"/>
              <a:chOff x="0" y="0"/>
              <a:chExt cx="647701" cy="589001"/>
            </a:xfrm>
          </p:grpSpPr>
          <p:sp>
            <p:nvSpPr>
              <p:cNvPr id="1878" name="Shape 2249"/>
              <p:cNvSpPr/>
              <p:nvPr/>
            </p:nvSpPr>
            <p:spPr>
              <a:xfrm>
                <a:off x="0" y="42897"/>
                <a:ext cx="647702" cy="5461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9" name="Shape 2250"/>
              <p:cNvSpPr txBox="1"/>
              <p:nvPr/>
            </p:nvSpPr>
            <p:spPr>
              <a:xfrm>
                <a:off x="36484" y="-1"/>
                <a:ext cx="50796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883" name="Group 2254"/>
            <p:cNvGrpSpPr/>
            <p:nvPr/>
          </p:nvGrpSpPr>
          <p:grpSpPr>
            <a:xfrm>
              <a:off x="5638800" y="4456007"/>
              <a:ext cx="647703" cy="601703"/>
              <a:chOff x="0" y="0"/>
              <a:chExt cx="647701" cy="601702"/>
            </a:xfrm>
          </p:grpSpPr>
          <p:sp>
            <p:nvSpPr>
              <p:cNvPr id="1881" name="Shape 2252"/>
              <p:cNvSpPr/>
              <p:nvPr/>
            </p:nvSpPr>
            <p:spPr>
              <a:xfrm>
                <a:off x="0" y="55598"/>
                <a:ext cx="647702" cy="5461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2" name="Shape 2253"/>
              <p:cNvSpPr txBox="1"/>
              <p:nvPr/>
            </p:nvSpPr>
            <p:spPr>
              <a:xfrm>
                <a:off x="39870" y="-1"/>
                <a:ext cx="50796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886" name="Group 2257"/>
            <p:cNvGrpSpPr/>
            <p:nvPr/>
          </p:nvGrpSpPr>
          <p:grpSpPr>
            <a:xfrm>
              <a:off x="7150100" y="4468707"/>
              <a:ext cx="647703" cy="601703"/>
              <a:chOff x="0" y="0"/>
              <a:chExt cx="647701" cy="601702"/>
            </a:xfrm>
          </p:grpSpPr>
          <p:sp>
            <p:nvSpPr>
              <p:cNvPr id="1884" name="Shape 2255"/>
              <p:cNvSpPr/>
              <p:nvPr/>
            </p:nvSpPr>
            <p:spPr>
              <a:xfrm>
                <a:off x="0" y="55598"/>
                <a:ext cx="647702" cy="54610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5" name="Shape 2256"/>
              <p:cNvSpPr txBox="1"/>
              <p:nvPr/>
            </p:nvSpPr>
            <p:spPr>
              <a:xfrm>
                <a:off x="58497" y="-1"/>
                <a:ext cx="507966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sp>
          <p:nvSpPr>
            <p:cNvPr id="1887" name="Shape 2258"/>
            <p:cNvSpPr/>
            <p:nvPr/>
          </p:nvSpPr>
          <p:spPr>
            <a:xfrm flipH="1">
              <a:off x="330200" y="285042"/>
              <a:ext cx="2819402" cy="8636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88" name="Shape 2259"/>
            <p:cNvSpPr/>
            <p:nvPr/>
          </p:nvSpPr>
          <p:spPr>
            <a:xfrm>
              <a:off x="647700" y="1368777"/>
              <a:ext cx="1739900" cy="863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89" name="Shape 2260"/>
            <p:cNvSpPr/>
            <p:nvPr/>
          </p:nvSpPr>
          <p:spPr>
            <a:xfrm flipH="1">
              <a:off x="1409700" y="2452510"/>
              <a:ext cx="647702" cy="9779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90" name="Shape 2261"/>
            <p:cNvSpPr/>
            <p:nvPr/>
          </p:nvSpPr>
          <p:spPr>
            <a:xfrm>
              <a:off x="3797300" y="393417"/>
              <a:ext cx="1724127" cy="7254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91" name="Shape 2262"/>
            <p:cNvSpPr/>
            <p:nvPr/>
          </p:nvSpPr>
          <p:spPr>
            <a:xfrm>
              <a:off x="6086375" y="1411346"/>
              <a:ext cx="1609827" cy="8210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92" name="Shape 2263"/>
            <p:cNvSpPr/>
            <p:nvPr/>
          </p:nvSpPr>
          <p:spPr>
            <a:xfrm flipH="1">
              <a:off x="6718300" y="2452510"/>
              <a:ext cx="647702" cy="8636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93" name="Shape 2264"/>
            <p:cNvSpPr/>
            <p:nvPr/>
          </p:nvSpPr>
          <p:spPr>
            <a:xfrm flipH="1">
              <a:off x="5956300" y="3536245"/>
              <a:ext cx="431802" cy="9779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894" name="Shape 2265"/>
            <p:cNvSpPr/>
            <p:nvPr/>
          </p:nvSpPr>
          <p:spPr>
            <a:xfrm>
              <a:off x="7025729" y="3591579"/>
              <a:ext cx="454574" cy="92256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1896" name="Shape 2267"/>
          <p:cNvSpPr txBox="1"/>
          <p:nvPr/>
        </p:nvSpPr>
        <p:spPr>
          <a:xfrm>
            <a:off x="498979" y="1195352"/>
            <a:ext cx="9639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写出下列二叉树的前序、中序、后序和层次遍历的结果。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95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Shape 179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8551" indent="48551" defTabSz="1088136"/>
          </a:lstStyle>
          <a:p>
            <a:pPr/>
            <a:r>
              <a:t>二叉树的结点</a:t>
            </a:r>
          </a:p>
        </p:txBody>
      </p:sp>
      <p:sp>
        <p:nvSpPr>
          <p:cNvPr id="1899" name="private static class Node&lt;T&gt;{…"/>
          <p:cNvSpPr txBox="1"/>
          <p:nvPr/>
        </p:nvSpPr>
        <p:spPr>
          <a:xfrm>
            <a:off x="122516" y="1294364"/>
            <a:ext cx="8238395" cy="388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grpSp>
        <p:nvGrpSpPr>
          <p:cNvPr id="1903" name="成组"/>
          <p:cNvGrpSpPr/>
          <p:nvPr/>
        </p:nvGrpSpPr>
        <p:grpSpPr>
          <a:xfrm>
            <a:off x="9499600" y="1535380"/>
            <a:ext cx="2184400" cy="970313"/>
            <a:chOff x="0" y="0"/>
            <a:chExt cx="2184400" cy="970311"/>
          </a:xfrm>
        </p:grpSpPr>
        <p:graphicFrame>
          <p:nvGraphicFramePr>
            <p:cNvPr id="1900" name="Table 1799"/>
            <p:cNvGraphicFramePr/>
            <p:nvPr/>
          </p:nvGraphicFramePr>
          <p:xfrm>
            <a:off x="0" y="0"/>
            <a:ext cx="2184400" cy="685800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706966"/>
                  <a:gridCol w="706966"/>
                  <a:gridCol w="706966"/>
                </a:tblGrid>
                <a:tr h="609600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900"/>
                          </a:spcBef>
                          <a:tabLst>
                            <a:tab pos="1295400" algn="l"/>
                          </a:tabLst>
                          <a:defRPr sz="2400"/>
                        </a:pPr>
                      </a:p>
                    </a:txBody>
                    <a:tcPr marL="50800" marR="50800" marT="50800" marB="50800" anchor="ctr" anchorCtr="0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900"/>
                          </a:spcBef>
                          <a:tabLst>
                            <a:tab pos="1295400" algn="l"/>
                          </a:tabLst>
                          <a:defRPr sz="1800"/>
                        </a:pPr>
                        <a:r>
                          <a:rPr sz="2400"/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900"/>
                          </a:spcBef>
                          <a:tabLst>
                            <a:tab pos="1295400" algn="l"/>
                          </a:tabLst>
                          <a:defRPr sz="2400"/>
                        </a:pPr>
                      </a:p>
                    </a:txBody>
                    <a:tcPr marL="50800" marR="50800" marT="50800" marB="50800" anchor="ctr" anchorCtr="0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901" name="Shape 1802"/>
            <p:cNvSpPr/>
            <p:nvPr/>
          </p:nvSpPr>
          <p:spPr>
            <a:xfrm flipV="1">
              <a:off x="114944" y="371814"/>
              <a:ext cx="335313" cy="5762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02" name="Shape 1803"/>
            <p:cNvSpPr/>
            <p:nvPr/>
          </p:nvSpPr>
          <p:spPr>
            <a:xfrm flipH="1" flipV="1">
              <a:off x="1757709" y="381000"/>
              <a:ext cx="367609" cy="5893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Shape 179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8551" indent="48551" defTabSz="1088136"/>
          </a:lstStyle>
          <a:p>
            <a:pPr/>
            <a:r>
              <a:t>二叉树</a:t>
            </a:r>
          </a:p>
        </p:txBody>
      </p:sp>
      <p:sp>
        <p:nvSpPr>
          <p:cNvPr id="1906" name="public class BiTree&lt;T&gt; {…"/>
          <p:cNvSpPr txBox="1"/>
          <p:nvPr/>
        </p:nvSpPr>
        <p:spPr>
          <a:xfrm>
            <a:off x="269549" y="1587922"/>
            <a:ext cx="4321226" cy="864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BiTree&lt;T&gt;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;</a:t>
            </a:r>
          </a:p>
        </p:txBody>
      </p:sp>
      <p:grpSp>
        <p:nvGrpSpPr>
          <p:cNvPr id="1949" name="成组"/>
          <p:cNvGrpSpPr/>
          <p:nvPr/>
        </p:nvGrpSpPr>
        <p:grpSpPr>
          <a:xfrm>
            <a:off x="4076196" y="2057398"/>
            <a:ext cx="7441580" cy="4307054"/>
            <a:chOff x="0" y="0"/>
            <a:chExt cx="7441579" cy="4307052"/>
          </a:xfrm>
        </p:grpSpPr>
        <p:sp>
          <p:nvSpPr>
            <p:cNvPr id="1907" name="Shape 1666"/>
            <p:cNvSpPr/>
            <p:nvPr/>
          </p:nvSpPr>
          <p:spPr>
            <a:xfrm>
              <a:off x="1999425" y="1968418"/>
              <a:ext cx="231200" cy="60263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08" name="Shape 1661"/>
            <p:cNvSpPr/>
            <p:nvPr/>
          </p:nvSpPr>
          <p:spPr>
            <a:xfrm>
              <a:off x="716500" y="1714500"/>
              <a:ext cx="2260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09" name="Shape 1663"/>
            <p:cNvSpPr txBox="1"/>
            <p:nvPr/>
          </p:nvSpPr>
          <p:spPr>
            <a:xfrm>
              <a:off x="95045" y="1767840"/>
              <a:ext cx="4284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912" name="Group 1629"/>
            <p:cNvGrpSpPr/>
            <p:nvPr/>
          </p:nvGrpSpPr>
          <p:grpSpPr>
            <a:xfrm>
              <a:off x="1849056" y="534187"/>
              <a:ext cx="1989109" cy="811225"/>
              <a:chOff x="0" y="0"/>
              <a:chExt cx="1989108" cy="811224"/>
            </a:xfrm>
          </p:grpSpPr>
          <p:sp>
            <p:nvSpPr>
              <p:cNvPr id="1910" name="Shape 1627"/>
              <p:cNvSpPr/>
              <p:nvPr/>
            </p:nvSpPr>
            <p:spPr>
              <a:xfrm>
                <a:off x="-1" y="106457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1" name="Shape 1628"/>
              <p:cNvSpPr txBox="1"/>
              <p:nvPr/>
            </p:nvSpPr>
            <p:spPr>
              <a:xfrm>
                <a:off x="679213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913" name="Shape 1630"/>
            <p:cNvSpPr/>
            <p:nvPr/>
          </p:nvSpPr>
          <p:spPr>
            <a:xfrm>
              <a:off x="2345769" y="640645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14" name="Shape 1631"/>
            <p:cNvSpPr/>
            <p:nvPr/>
          </p:nvSpPr>
          <p:spPr>
            <a:xfrm>
              <a:off x="3341450" y="640645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917" name="Group 1634"/>
            <p:cNvGrpSpPr/>
            <p:nvPr/>
          </p:nvGrpSpPr>
          <p:grpSpPr>
            <a:xfrm>
              <a:off x="4402606" y="3495827"/>
              <a:ext cx="1989108" cy="811226"/>
              <a:chOff x="0" y="0"/>
              <a:chExt cx="1989107" cy="811224"/>
            </a:xfrm>
          </p:grpSpPr>
          <p:sp>
            <p:nvSpPr>
              <p:cNvPr id="1915" name="Shape 1632"/>
              <p:cNvSpPr/>
              <p:nvPr/>
            </p:nvSpPr>
            <p:spPr>
              <a:xfrm>
                <a:off x="-1" y="102506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6" name="Shape 1633"/>
              <p:cNvSpPr txBox="1"/>
              <p:nvPr/>
            </p:nvSpPr>
            <p:spPr>
              <a:xfrm>
                <a:off x="714561" y="-1"/>
                <a:ext cx="559983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918" name="Shape 1635"/>
            <p:cNvSpPr/>
            <p:nvPr/>
          </p:nvSpPr>
          <p:spPr>
            <a:xfrm>
              <a:off x="4888027" y="3578015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19" name="Shape 1636"/>
            <p:cNvSpPr/>
            <p:nvPr/>
          </p:nvSpPr>
          <p:spPr>
            <a:xfrm>
              <a:off x="5894997" y="3598335"/>
              <a:ext cx="2259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20" name="Shape 1637"/>
            <p:cNvSpPr txBox="1"/>
            <p:nvPr/>
          </p:nvSpPr>
          <p:spPr>
            <a:xfrm>
              <a:off x="4316809" y="3670584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921" name="Shape 1638"/>
            <p:cNvSpPr txBox="1"/>
            <p:nvPr/>
          </p:nvSpPr>
          <p:spPr>
            <a:xfrm>
              <a:off x="5775333" y="3638975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924" name="Group 1641"/>
            <p:cNvGrpSpPr/>
            <p:nvPr/>
          </p:nvGrpSpPr>
          <p:grpSpPr>
            <a:xfrm>
              <a:off x="5452472" y="2502687"/>
              <a:ext cx="1989108" cy="811226"/>
              <a:chOff x="0" y="0"/>
              <a:chExt cx="1989107" cy="811224"/>
            </a:xfrm>
          </p:grpSpPr>
          <p:sp>
            <p:nvSpPr>
              <p:cNvPr id="1922" name="Shape 1639"/>
              <p:cNvSpPr/>
              <p:nvPr/>
            </p:nvSpPr>
            <p:spPr>
              <a:xfrm>
                <a:off x="-1" y="106739"/>
                <a:ext cx="1989109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23" name="Shape 1640"/>
              <p:cNvSpPr txBox="1"/>
              <p:nvPr/>
            </p:nvSpPr>
            <p:spPr>
              <a:xfrm>
                <a:off x="696731" y="-1"/>
                <a:ext cx="595639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1925" name="Shape 1642"/>
            <p:cNvSpPr/>
            <p:nvPr/>
          </p:nvSpPr>
          <p:spPr>
            <a:xfrm>
              <a:off x="5949183" y="2609427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26" name="Shape 1643"/>
            <p:cNvSpPr/>
            <p:nvPr/>
          </p:nvSpPr>
          <p:spPr>
            <a:xfrm>
              <a:off x="6947404" y="2609427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27" name="Shape 1644"/>
            <p:cNvSpPr txBox="1"/>
            <p:nvPr/>
          </p:nvSpPr>
          <p:spPr>
            <a:xfrm>
              <a:off x="6845521" y="2650067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930" name="Group 1647"/>
            <p:cNvGrpSpPr/>
            <p:nvPr/>
          </p:nvGrpSpPr>
          <p:grpSpPr>
            <a:xfrm>
              <a:off x="3531102" y="1601552"/>
              <a:ext cx="1981204" cy="811226"/>
              <a:chOff x="0" y="0"/>
              <a:chExt cx="1981203" cy="811224"/>
            </a:xfrm>
          </p:grpSpPr>
          <p:sp>
            <p:nvSpPr>
              <p:cNvPr id="1928" name="Shape 1645"/>
              <p:cNvSpPr/>
              <p:nvPr/>
            </p:nvSpPr>
            <p:spPr>
              <a:xfrm>
                <a:off x="-1" y="100248"/>
                <a:ext cx="1981205" cy="6096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29" name="Shape 1646"/>
              <p:cNvSpPr txBox="1"/>
              <p:nvPr/>
            </p:nvSpPr>
            <p:spPr>
              <a:xfrm>
                <a:off x="678085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931" name="Shape 1648"/>
            <p:cNvSpPr/>
            <p:nvPr/>
          </p:nvSpPr>
          <p:spPr>
            <a:xfrm>
              <a:off x="4027813" y="1701800"/>
              <a:ext cx="2261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32" name="Shape 1649"/>
            <p:cNvSpPr/>
            <p:nvPr/>
          </p:nvSpPr>
          <p:spPr>
            <a:xfrm>
              <a:off x="5021236" y="1701800"/>
              <a:ext cx="2260" cy="6096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33" name="Shape 1650"/>
            <p:cNvSpPr txBox="1"/>
            <p:nvPr/>
          </p:nvSpPr>
          <p:spPr>
            <a:xfrm>
              <a:off x="3431760" y="1744698"/>
              <a:ext cx="4284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1936" name="Group 1653"/>
            <p:cNvGrpSpPr/>
            <p:nvPr/>
          </p:nvGrpSpPr>
          <p:grpSpPr>
            <a:xfrm>
              <a:off x="1088186" y="2501276"/>
              <a:ext cx="1981204" cy="811226"/>
              <a:chOff x="0" y="0"/>
              <a:chExt cx="1981203" cy="811224"/>
            </a:xfrm>
          </p:grpSpPr>
          <p:sp>
            <p:nvSpPr>
              <p:cNvPr id="1934" name="Shape 1651"/>
              <p:cNvSpPr/>
              <p:nvPr/>
            </p:nvSpPr>
            <p:spPr>
              <a:xfrm>
                <a:off x="-1" y="103635"/>
                <a:ext cx="1981205" cy="607347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35" name="Shape 1652"/>
              <p:cNvSpPr txBox="1"/>
              <p:nvPr/>
            </p:nvSpPr>
            <p:spPr>
              <a:xfrm>
                <a:off x="678084" y="-1"/>
                <a:ext cx="630676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937" name="Shape 1654"/>
            <p:cNvSpPr/>
            <p:nvPr/>
          </p:nvSpPr>
          <p:spPr>
            <a:xfrm>
              <a:off x="1584897" y="2604911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38" name="Shape 1655"/>
            <p:cNvSpPr/>
            <p:nvPr/>
          </p:nvSpPr>
          <p:spPr>
            <a:xfrm>
              <a:off x="2578320" y="2604911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39" name="Shape 1656"/>
            <p:cNvSpPr txBox="1"/>
            <p:nvPr/>
          </p:nvSpPr>
          <p:spPr>
            <a:xfrm>
              <a:off x="970782" y="2641600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940" name="Shape 1657"/>
            <p:cNvSpPr txBox="1"/>
            <p:nvPr/>
          </p:nvSpPr>
          <p:spPr>
            <a:xfrm>
              <a:off x="2442853" y="2645552"/>
              <a:ext cx="4284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1941" name="Shape 1658"/>
            <p:cNvSpPr/>
            <p:nvPr/>
          </p:nvSpPr>
          <p:spPr>
            <a:xfrm>
              <a:off x="0" y="1705468"/>
              <a:ext cx="1981201" cy="607346"/>
            </a:xfrm>
            <a:prstGeom prst="rect">
              <a:avLst/>
            </a:prstGeom>
            <a:solidFill>
              <a:srgbClr val="CAF2CE">
                <a:alpha val="50195"/>
              </a:srgbClr>
            </a:solidFill>
            <a:ln w="25400" cap="sq">
              <a:solidFill>
                <a:srgbClr val="1C1C1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2" name="Shape 1659"/>
            <p:cNvSpPr txBox="1"/>
            <p:nvPr/>
          </p:nvSpPr>
          <p:spPr>
            <a:xfrm>
              <a:off x="802220" y="1565427"/>
              <a:ext cx="595639" cy="8112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7" indent="57797" algn="ctr" defTabSz="1295400">
                <a:defRPr b="1" sz="5000">
                  <a:solidFill>
                    <a:srgbClr val="005400"/>
                  </a:solidFill>
                  <a:uFill>
                    <a:solidFill>
                      <a:srgbClr val="0054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943" name="Shape 1662"/>
            <p:cNvSpPr/>
            <p:nvPr/>
          </p:nvSpPr>
          <p:spPr>
            <a:xfrm>
              <a:off x="1481322" y="1689100"/>
              <a:ext cx="2261" cy="60734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4" name="Shape 1664"/>
            <p:cNvSpPr/>
            <p:nvPr/>
          </p:nvSpPr>
          <p:spPr>
            <a:xfrm flipH="1">
              <a:off x="1058835" y="934155"/>
              <a:ext cx="1058901" cy="733782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5" name="Shape 1665"/>
            <p:cNvSpPr/>
            <p:nvPr/>
          </p:nvSpPr>
          <p:spPr>
            <a:xfrm>
              <a:off x="3655281" y="902547"/>
              <a:ext cx="988909" cy="765389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6" name="Shape 1667"/>
            <p:cNvSpPr/>
            <p:nvPr/>
          </p:nvSpPr>
          <p:spPr>
            <a:xfrm>
              <a:off x="5310231" y="2044983"/>
              <a:ext cx="923434" cy="537354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7" name="Shape 1668"/>
            <p:cNvSpPr/>
            <p:nvPr/>
          </p:nvSpPr>
          <p:spPr>
            <a:xfrm flipH="1">
              <a:off x="5434410" y="2933700"/>
              <a:ext cx="254002" cy="661532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48" name="Shape 1669"/>
            <p:cNvSpPr/>
            <p:nvPr/>
          </p:nvSpPr>
          <p:spPr>
            <a:xfrm>
              <a:off x="458266" y="-1"/>
              <a:ext cx="2273586" cy="6028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Shape 2459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由两棵二叉树构造新的二叉树</a:t>
            </a:r>
          </a:p>
        </p:txBody>
      </p:sp>
      <p:grpSp>
        <p:nvGrpSpPr>
          <p:cNvPr id="2000" name="成组"/>
          <p:cNvGrpSpPr/>
          <p:nvPr/>
        </p:nvGrpSpPr>
        <p:grpSpPr>
          <a:xfrm>
            <a:off x="5787073" y="1281725"/>
            <a:ext cx="7192587" cy="6043202"/>
            <a:chOff x="-1" y="0"/>
            <a:chExt cx="7192585" cy="6043201"/>
          </a:xfrm>
        </p:grpSpPr>
        <p:grpSp>
          <p:nvGrpSpPr>
            <p:cNvPr id="1954" name="root"/>
            <p:cNvGrpSpPr/>
            <p:nvPr/>
          </p:nvGrpSpPr>
          <p:grpSpPr>
            <a:xfrm>
              <a:off x="1741018" y="0"/>
              <a:ext cx="1530987" cy="1207578"/>
              <a:chOff x="0" y="0"/>
              <a:chExt cx="1530985" cy="1207577"/>
            </a:xfrm>
          </p:grpSpPr>
          <p:sp>
            <p:nvSpPr>
              <p:cNvPr id="1952" name="矩形"/>
              <p:cNvSpPr/>
              <p:nvPr/>
            </p:nvSpPr>
            <p:spPr>
              <a:xfrm>
                <a:off x="0" y="-1"/>
                <a:ext cx="1530986" cy="120757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1953" name="root"/>
              <p:cNvSpPr txBox="1"/>
              <p:nvPr/>
            </p:nvSpPr>
            <p:spPr>
              <a:xfrm>
                <a:off x="0" y="400588"/>
                <a:ext cx="1530986" cy="406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lvl1pPr>
              </a:lstStyle>
              <a:p>
                <a:pPr/>
                <a:r>
                  <a:t>root</a:t>
                </a:r>
              </a:p>
            </p:txBody>
          </p:sp>
        </p:grpSp>
        <p:sp>
          <p:nvSpPr>
            <p:cNvPr id="1955" name="Shape 2333"/>
            <p:cNvSpPr/>
            <p:nvPr/>
          </p:nvSpPr>
          <p:spPr>
            <a:xfrm>
              <a:off x="3358590" y="1493233"/>
              <a:ext cx="1409702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975" name="成组"/>
            <p:cNvGrpSpPr/>
            <p:nvPr/>
          </p:nvGrpSpPr>
          <p:grpSpPr>
            <a:xfrm>
              <a:off x="-2" y="2118112"/>
              <a:ext cx="3107881" cy="3925090"/>
              <a:chOff x="0" y="0"/>
              <a:chExt cx="3107880" cy="3925088"/>
            </a:xfrm>
          </p:grpSpPr>
          <p:sp>
            <p:nvSpPr>
              <p:cNvPr id="1956" name="Shape 2330"/>
              <p:cNvSpPr/>
              <p:nvPr/>
            </p:nvSpPr>
            <p:spPr>
              <a:xfrm flipH="1">
                <a:off x="306171" y="407478"/>
                <a:ext cx="1291668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957" name="Shape 2331"/>
              <p:cNvSpPr/>
              <p:nvPr/>
            </p:nvSpPr>
            <p:spPr>
              <a:xfrm>
                <a:off x="407478" y="1429554"/>
                <a:ext cx="544528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958" name="Shape 2332"/>
              <p:cNvSpPr/>
              <p:nvPr/>
            </p:nvSpPr>
            <p:spPr>
              <a:xfrm flipH="1">
                <a:off x="508785" y="2449379"/>
                <a:ext cx="319683" cy="920770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1959" name="Shape 2333"/>
              <p:cNvSpPr/>
              <p:nvPr/>
            </p:nvSpPr>
            <p:spPr>
              <a:xfrm>
                <a:off x="1632169" y="407478"/>
                <a:ext cx="1405637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1962" name="Group 2340"/>
              <p:cNvGrpSpPr/>
              <p:nvPr/>
            </p:nvGrpSpPr>
            <p:grpSpPr>
              <a:xfrm>
                <a:off x="1296447" y="-1"/>
                <a:ext cx="759807" cy="861113"/>
                <a:chOff x="0" y="-1"/>
                <a:chExt cx="759805" cy="861111"/>
              </a:xfrm>
            </p:grpSpPr>
            <p:sp>
              <p:nvSpPr>
                <p:cNvPr id="1960" name="Shape 2338"/>
                <p:cNvSpPr/>
                <p:nvPr/>
              </p:nvSpPr>
              <p:spPr>
                <a:xfrm>
                  <a:off x="-1" y="-2"/>
                  <a:ext cx="759807" cy="861113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61" name="Shape 2339"/>
                <p:cNvSpPr txBox="1"/>
                <p:nvPr/>
              </p:nvSpPr>
              <p:spPr>
                <a:xfrm>
                  <a:off x="79470" y="36657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FF0000"/>
                      </a:solidFill>
                      <a:uFill>
                        <a:solidFill>
                          <a:srgbClr val="FF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1965" name="Group 2343"/>
              <p:cNvGrpSpPr/>
              <p:nvPr/>
            </p:nvGrpSpPr>
            <p:grpSpPr>
              <a:xfrm>
                <a:off x="-1" y="1019822"/>
                <a:ext cx="759807" cy="861115"/>
                <a:chOff x="0" y="-1"/>
                <a:chExt cx="759805" cy="861114"/>
              </a:xfrm>
            </p:grpSpPr>
            <p:sp>
              <p:nvSpPr>
                <p:cNvPr id="1963" name="Shape 2341"/>
                <p:cNvSpPr/>
                <p:nvPr/>
              </p:nvSpPr>
              <p:spPr>
                <a:xfrm>
                  <a:off x="-1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64" name="Shape 2342"/>
                <p:cNvSpPr txBox="1"/>
                <p:nvPr/>
              </p:nvSpPr>
              <p:spPr>
                <a:xfrm>
                  <a:off x="94404" y="36657"/>
                  <a:ext cx="567618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1968" name="Group 2346"/>
              <p:cNvGrpSpPr/>
              <p:nvPr/>
            </p:nvGrpSpPr>
            <p:grpSpPr>
              <a:xfrm>
                <a:off x="508785" y="1945092"/>
                <a:ext cx="759807" cy="861115"/>
                <a:chOff x="0" y="-1"/>
                <a:chExt cx="759805" cy="861114"/>
              </a:xfrm>
            </p:grpSpPr>
            <p:sp>
              <p:nvSpPr>
                <p:cNvPr id="1966" name="Shape 2344"/>
                <p:cNvSpPr/>
                <p:nvPr/>
              </p:nvSpPr>
              <p:spPr>
                <a:xfrm>
                  <a:off x="-1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67" name="Shape 2345"/>
                <p:cNvSpPr txBox="1"/>
                <p:nvPr/>
              </p:nvSpPr>
              <p:spPr>
                <a:xfrm>
                  <a:off x="76937" y="31310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1971" name="Group 2349"/>
              <p:cNvGrpSpPr/>
              <p:nvPr/>
            </p:nvGrpSpPr>
            <p:grpSpPr>
              <a:xfrm>
                <a:off x="-1" y="3063973"/>
                <a:ext cx="759807" cy="861115"/>
                <a:chOff x="0" y="-1"/>
                <a:chExt cx="759805" cy="861114"/>
              </a:xfrm>
            </p:grpSpPr>
            <p:sp>
              <p:nvSpPr>
                <p:cNvPr id="1969" name="Shape 2347"/>
                <p:cNvSpPr/>
                <p:nvPr/>
              </p:nvSpPr>
              <p:spPr>
                <a:xfrm>
                  <a:off x="-1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70" name="Shape 2348"/>
                <p:cNvSpPr txBox="1"/>
                <p:nvPr/>
              </p:nvSpPr>
              <p:spPr>
                <a:xfrm>
                  <a:off x="76937" y="36658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grpSp>
            <p:nvGrpSpPr>
              <p:cNvPr id="1974" name="Group 2352"/>
              <p:cNvGrpSpPr/>
              <p:nvPr/>
            </p:nvGrpSpPr>
            <p:grpSpPr>
              <a:xfrm>
                <a:off x="2348071" y="918515"/>
                <a:ext cx="759809" cy="861115"/>
                <a:chOff x="0" y="-1"/>
                <a:chExt cx="759807" cy="861114"/>
              </a:xfrm>
            </p:grpSpPr>
            <p:sp>
              <p:nvSpPr>
                <p:cNvPr id="1972" name="Shape 2350"/>
                <p:cNvSpPr/>
                <p:nvPr/>
              </p:nvSpPr>
              <p:spPr>
                <a:xfrm>
                  <a:off x="0" y="-2"/>
                  <a:ext cx="759808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73" name="Shape 2351"/>
                <p:cNvSpPr txBox="1"/>
                <p:nvPr/>
              </p:nvSpPr>
              <p:spPr>
                <a:xfrm>
                  <a:off x="94404" y="36657"/>
                  <a:ext cx="567617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333399"/>
                      </a:solidFill>
                      <a:uFill>
                        <a:solidFill>
                          <a:srgbClr val="333399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</p:grpSp>
        <p:sp>
          <p:nvSpPr>
            <p:cNvPr id="1976" name="Shape 2330"/>
            <p:cNvSpPr/>
            <p:nvPr/>
          </p:nvSpPr>
          <p:spPr>
            <a:xfrm flipH="1">
              <a:off x="3667058" y="2518366"/>
              <a:ext cx="12954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77" name="Shape 2331"/>
            <p:cNvSpPr/>
            <p:nvPr/>
          </p:nvSpPr>
          <p:spPr>
            <a:xfrm>
              <a:off x="3768658" y="3543399"/>
              <a:ext cx="546103" cy="86360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78" name="Shape 2333"/>
            <p:cNvSpPr/>
            <p:nvPr/>
          </p:nvSpPr>
          <p:spPr>
            <a:xfrm>
              <a:off x="4996890" y="2518366"/>
              <a:ext cx="1409702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1979" name="Shape 2334"/>
            <p:cNvSpPr/>
            <p:nvPr/>
          </p:nvSpPr>
          <p:spPr>
            <a:xfrm>
              <a:off x="6123522" y="3337941"/>
              <a:ext cx="546103" cy="86360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982" name="Group 2340"/>
            <p:cNvGrpSpPr/>
            <p:nvPr/>
          </p:nvGrpSpPr>
          <p:grpSpPr>
            <a:xfrm>
              <a:off x="4660198" y="2109708"/>
              <a:ext cx="762005" cy="863603"/>
              <a:chOff x="0" y="-1"/>
              <a:chExt cx="762004" cy="863602"/>
            </a:xfrm>
          </p:grpSpPr>
          <p:sp>
            <p:nvSpPr>
              <p:cNvPr id="1980" name="Shape 2338"/>
              <p:cNvSpPr/>
              <p:nvPr/>
            </p:nvSpPr>
            <p:spPr>
              <a:xfrm>
                <a:off x="0" y="-2"/>
                <a:ext cx="762005" cy="86360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1" name="Shape 2339"/>
              <p:cNvSpPr txBox="1"/>
              <p:nvPr/>
            </p:nvSpPr>
            <p:spPr>
              <a:xfrm>
                <a:off x="7970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85" name="Group 2343"/>
            <p:cNvGrpSpPr/>
            <p:nvPr/>
          </p:nvGrpSpPr>
          <p:grpSpPr>
            <a:xfrm>
              <a:off x="3360000" y="3132482"/>
              <a:ext cx="762003" cy="863607"/>
              <a:chOff x="-1" y="-1"/>
              <a:chExt cx="762002" cy="863606"/>
            </a:xfrm>
          </p:grpSpPr>
          <p:sp>
            <p:nvSpPr>
              <p:cNvPr id="1983" name="Shape 2341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4" name="Shape 2342"/>
              <p:cNvSpPr txBox="1"/>
              <p:nvPr/>
            </p:nvSpPr>
            <p:spPr>
              <a:xfrm>
                <a:off x="94678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88" name="Group 2346"/>
            <p:cNvGrpSpPr/>
            <p:nvPr/>
          </p:nvGrpSpPr>
          <p:grpSpPr>
            <a:xfrm>
              <a:off x="3870258" y="4060428"/>
              <a:ext cx="762005" cy="863607"/>
              <a:chOff x="0" y="-1"/>
              <a:chExt cx="762004" cy="863606"/>
            </a:xfrm>
          </p:grpSpPr>
          <p:sp>
            <p:nvSpPr>
              <p:cNvPr id="1986" name="Shape 2344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7" name="Shape 2345"/>
              <p:cNvSpPr txBox="1"/>
              <p:nvPr/>
            </p:nvSpPr>
            <p:spPr>
              <a:xfrm>
                <a:off x="77160" y="325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991" name="Group 2352"/>
            <p:cNvGrpSpPr/>
            <p:nvPr/>
          </p:nvGrpSpPr>
          <p:grpSpPr>
            <a:xfrm>
              <a:off x="5714863" y="3030882"/>
              <a:ext cx="762007" cy="863607"/>
              <a:chOff x="0" y="-1"/>
              <a:chExt cx="762005" cy="863606"/>
            </a:xfrm>
          </p:grpSpPr>
          <p:sp>
            <p:nvSpPr>
              <p:cNvPr id="1989" name="Shape 2350"/>
              <p:cNvSpPr/>
              <p:nvPr/>
            </p:nvSpPr>
            <p:spPr>
              <a:xfrm>
                <a:off x="0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0" name="Shape 2351"/>
              <p:cNvSpPr txBox="1"/>
              <p:nvPr/>
            </p:nvSpPr>
            <p:spPr>
              <a:xfrm>
                <a:off x="94677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994" name="Group 2355"/>
            <p:cNvGrpSpPr/>
            <p:nvPr/>
          </p:nvGrpSpPr>
          <p:grpSpPr>
            <a:xfrm>
              <a:off x="6430579" y="3952055"/>
              <a:ext cx="762005" cy="863607"/>
              <a:chOff x="0" y="-1"/>
              <a:chExt cx="762004" cy="863606"/>
            </a:xfrm>
          </p:grpSpPr>
          <p:sp>
            <p:nvSpPr>
              <p:cNvPr id="1992" name="Shape 2353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3" name="Shape 2354"/>
              <p:cNvSpPr txBox="1"/>
              <p:nvPr/>
            </p:nvSpPr>
            <p:spPr>
              <a:xfrm>
                <a:off x="112506" y="37900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995" name="Shape 2416"/>
            <p:cNvSpPr/>
            <p:nvPr/>
          </p:nvSpPr>
          <p:spPr>
            <a:xfrm>
              <a:off x="2470855" y="309883"/>
              <a:ext cx="940731" cy="780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6" name="Shape 2330"/>
            <p:cNvSpPr/>
            <p:nvPr/>
          </p:nvSpPr>
          <p:spPr>
            <a:xfrm flipH="1">
              <a:off x="2028758" y="1493233"/>
              <a:ext cx="12954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1999" name="Group 2340"/>
            <p:cNvGrpSpPr/>
            <p:nvPr/>
          </p:nvGrpSpPr>
          <p:grpSpPr>
            <a:xfrm>
              <a:off x="3021898" y="1084575"/>
              <a:ext cx="762005" cy="863603"/>
              <a:chOff x="0" y="-1"/>
              <a:chExt cx="762004" cy="863602"/>
            </a:xfrm>
          </p:grpSpPr>
          <p:sp>
            <p:nvSpPr>
              <p:cNvPr id="1997" name="Shape 2338"/>
              <p:cNvSpPr/>
              <p:nvPr/>
            </p:nvSpPr>
            <p:spPr>
              <a:xfrm>
                <a:off x="0" y="-2"/>
                <a:ext cx="762005" cy="86360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8" name="Shape 2339"/>
              <p:cNvSpPr txBox="1"/>
              <p:nvPr/>
            </p:nvSpPr>
            <p:spPr>
              <a:xfrm>
                <a:off x="7970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N</a:t>
                </a:r>
              </a:p>
            </p:txBody>
          </p:sp>
        </p:grpSp>
      </p:grpSp>
      <p:grpSp>
        <p:nvGrpSpPr>
          <p:cNvPr id="2025" name="成组"/>
          <p:cNvGrpSpPr/>
          <p:nvPr/>
        </p:nvGrpSpPr>
        <p:grpSpPr>
          <a:xfrm>
            <a:off x="748106" y="5112878"/>
            <a:ext cx="3958487" cy="4510495"/>
            <a:chOff x="0" y="0"/>
            <a:chExt cx="3958485" cy="4510495"/>
          </a:xfrm>
        </p:grpSpPr>
        <p:grpSp>
          <p:nvGrpSpPr>
            <p:cNvPr id="2003" name="root"/>
            <p:cNvGrpSpPr/>
            <p:nvPr/>
          </p:nvGrpSpPr>
          <p:grpSpPr>
            <a:xfrm>
              <a:off x="-1" y="0"/>
              <a:ext cx="1530987" cy="1207578"/>
              <a:chOff x="0" y="0"/>
              <a:chExt cx="1530986" cy="1207576"/>
            </a:xfrm>
          </p:grpSpPr>
          <p:sp>
            <p:nvSpPr>
              <p:cNvPr id="2001" name="矩形"/>
              <p:cNvSpPr/>
              <p:nvPr/>
            </p:nvSpPr>
            <p:spPr>
              <a:xfrm>
                <a:off x="-1" y="0"/>
                <a:ext cx="1530988" cy="120757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2002" name="root"/>
              <p:cNvSpPr txBox="1"/>
              <p:nvPr/>
            </p:nvSpPr>
            <p:spPr>
              <a:xfrm>
                <a:off x="-1" y="127538"/>
                <a:ext cx="1530988" cy="952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lvl1pPr>
              </a:lstStyle>
              <a:p>
                <a:pPr/>
                <a:r>
                  <a:t>root</a:t>
                </a:r>
              </a:p>
            </p:txBody>
          </p:sp>
        </p:grpSp>
        <p:grpSp>
          <p:nvGrpSpPr>
            <p:cNvPr id="2023" name="成组"/>
            <p:cNvGrpSpPr/>
            <p:nvPr/>
          </p:nvGrpSpPr>
          <p:grpSpPr>
            <a:xfrm>
              <a:off x="850604" y="585406"/>
              <a:ext cx="3107882" cy="3925090"/>
              <a:chOff x="0" y="0"/>
              <a:chExt cx="3107881" cy="3925088"/>
            </a:xfrm>
          </p:grpSpPr>
          <p:sp>
            <p:nvSpPr>
              <p:cNvPr id="2004" name="Shape 2330"/>
              <p:cNvSpPr/>
              <p:nvPr/>
            </p:nvSpPr>
            <p:spPr>
              <a:xfrm flipH="1">
                <a:off x="306171" y="407478"/>
                <a:ext cx="1291668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05" name="Shape 2331"/>
              <p:cNvSpPr/>
              <p:nvPr/>
            </p:nvSpPr>
            <p:spPr>
              <a:xfrm>
                <a:off x="407478" y="1429554"/>
                <a:ext cx="544528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06" name="Shape 2332"/>
              <p:cNvSpPr/>
              <p:nvPr/>
            </p:nvSpPr>
            <p:spPr>
              <a:xfrm flipH="1">
                <a:off x="508785" y="2449379"/>
                <a:ext cx="319683" cy="920770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07" name="Shape 2333"/>
              <p:cNvSpPr/>
              <p:nvPr/>
            </p:nvSpPr>
            <p:spPr>
              <a:xfrm>
                <a:off x="1632169" y="407478"/>
                <a:ext cx="1405637" cy="861112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010" name="Group 2340"/>
              <p:cNvGrpSpPr/>
              <p:nvPr/>
            </p:nvGrpSpPr>
            <p:grpSpPr>
              <a:xfrm>
                <a:off x="1296448" y="-1"/>
                <a:ext cx="759807" cy="861113"/>
                <a:chOff x="0" y="-1"/>
                <a:chExt cx="759805" cy="861111"/>
              </a:xfrm>
            </p:grpSpPr>
            <p:sp>
              <p:nvSpPr>
                <p:cNvPr id="2008" name="Shape 2338"/>
                <p:cNvSpPr/>
                <p:nvPr/>
              </p:nvSpPr>
              <p:spPr>
                <a:xfrm>
                  <a:off x="0" y="-2"/>
                  <a:ext cx="759807" cy="861113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09" name="Shape 2339"/>
                <p:cNvSpPr txBox="1"/>
                <p:nvPr/>
              </p:nvSpPr>
              <p:spPr>
                <a:xfrm>
                  <a:off x="79470" y="36657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FF0000"/>
                      </a:solidFill>
                      <a:uFill>
                        <a:solidFill>
                          <a:srgbClr val="FF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2013" name="Group 2343"/>
              <p:cNvGrpSpPr/>
              <p:nvPr/>
            </p:nvGrpSpPr>
            <p:grpSpPr>
              <a:xfrm>
                <a:off x="-1" y="1019822"/>
                <a:ext cx="759807" cy="861115"/>
                <a:chOff x="0" y="-1"/>
                <a:chExt cx="759805" cy="861114"/>
              </a:xfrm>
            </p:grpSpPr>
            <p:sp>
              <p:nvSpPr>
                <p:cNvPr id="2011" name="Shape 2341"/>
                <p:cNvSpPr/>
                <p:nvPr/>
              </p:nvSpPr>
              <p:spPr>
                <a:xfrm>
                  <a:off x="-1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12" name="Shape 2342"/>
                <p:cNvSpPr txBox="1"/>
                <p:nvPr/>
              </p:nvSpPr>
              <p:spPr>
                <a:xfrm>
                  <a:off x="94404" y="36657"/>
                  <a:ext cx="567618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2016" name="Group 2346"/>
              <p:cNvGrpSpPr/>
              <p:nvPr/>
            </p:nvGrpSpPr>
            <p:grpSpPr>
              <a:xfrm>
                <a:off x="508785" y="1945093"/>
                <a:ext cx="759807" cy="861115"/>
                <a:chOff x="0" y="-1"/>
                <a:chExt cx="759805" cy="861114"/>
              </a:xfrm>
            </p:grpSpPr>
            <p:sp>
              <p:nvSpPr>
                <p:cNvPr id="2014" name="Shape 2344"/>
                <p:cNvSpPr/>
                <p:nvPr/>
              </p:nvSpPr>
              <p:spPr>
                <a:xfrm>
                  <a:off x="0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15" name="Shape 2345"/>
                <p:cNvSpPr txBox="1"/>
                <p:nvPr/>
              </p:nvSpPr>
              <p:spPr>
                <a:xfrm>
                  <a:off x="76937" y="31310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2019" name="Group 2349"/>
              <p:cNvGrpSpPr/>
              <p:nvPr/>
            </p:nvGrpSpPr>
            <p:grpSpPr>
              <a:xfrm>
                <a:off x="-1" y="3063973"/>
                <a:ext cx="759807" cy="861115"/>
                <a:chOff x="0" y="-1"/>
                <a:chExt cx="759805" cy="861114"/>
              </a:xfrm>
            </p:grpSpPr>
            <p:sp>
              <p:nvSpPr>
                <p:cNvPr id="2017" name="Shape 2347"/>
                <p:cNvSpPr/>
                <p:nvPr/>
              </p:nvSpPr>
              <p:spPr>
                <a:xfrm>
                  <a:off x="-1" y="-2"/>
                  <a:ext cx="759807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18" name="Shape 2348"/>
                <p:cNvSpPr txBox="1"/>
                <p:nvPr/>
              </p:nvSpPr>
              <p:spPr>
                <a:xfrm>
                  <a:off x="76937" y="36658"/>
                  <a:ext cx="602553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grpSp>
            <p:nvGrpSpPr>
              <p:cNvPr id="2022" name="Group 2352"/>
              <p:cNvGrpSpPr/>
              <p:nvPr/>
            </p:nvGrpSpPr>
            <p:grpSpPr>
              <a:xfrm>
                <a:off x="2348072" y="918515"/>
                <a:ext cx="759809" cy="861115"/>
                <a:chOff x="0" y="-1"/>
                <a:chExt cx="759808" cy="861114"/>
              </a:xfrm>
            </p:grpSpPr>
            <p:sp>
              <p:nvSpPr>
                <p:cNvPr id="2020" name="Shape 2350"/>
                <p:cNvSpPr/>
                <p:nvPr/>
              </p:nvSpPr>
              <p:spPr>
                <a:xfrm>
                  <a:off x="-1" y="-2"/>
                  <a:ext cx="759810" cy="861115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21" name="Shape 2351"/>
                <p:cNvSpPr txBox="1"/>
                <p:nvPr/>
              </p:nvSpPr>
              <p:spPr>
                <a:xfrm>
                  <a:off x="94404" y="36657"/>
                  <a:ext cx="567618" cy="7858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333399"/>
                      </a:solidFill>
                      <a:uFill>
                        <a:solidFill>
                          <a:srgbClr val="333399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</p:grpSp>
        <p:sp>
          <p:nvSpPr>
            <p:cNvPr id="2024" name="Shape 2416"/>
            <p:cNvSpPr/>
            <p:nvPr/>
          </p:nvSpPr>
          <p:spPr>
            <a:xfrm>
              <a:off x="768880" y="308651"/>
              <a:ext cx="1444406" cy="469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050" name="成组"/>
          <p:cNvGrpSpPr/>
          <p:nvPr/>
        </p:nvGrpSpPr>
        <p:grpSpPr>
          <a:xfrm>
            <a:off x="1306906" y="1227102"/>
            <a:ext cx="4933876" cy="4871282"/>
            <a:chOff x="0" y="0"/>
            <a:chExt cx="4933874" cy="4871281"/>
          </a:xfrm>
        </p:grpSpPr>
        <p:grpSp>
          <p:nvGrpSpPr>
            <p:cNvPr id="2028" name="root"/>
            <p:cNvGrpSpPr/>
            <p:nvPr/>
          </p:nvGrpSpPr>
          <p:grpSpPr>
            <a:xfrm>
              <a:off x="0" y="0"/>
              <a:ext cx="1530987" cy="1207578"/>
              <a:chOff x="0" y="0"/>
              <a:chExt cx="1530986" cy="1207577"/>
            </a:xfrm>
          </p:grpSpPr>
          <p:sp>
            <p:nvSpPr>
              <p:cNvPr id="2026" name="矩形"/>
              <p:cNvSpPr/>
              <p:nvPr/>
            </p:nvSpPr>
            <p:spPr>
              <a:xfrm>
                <a:off x="-1" y="-1"/>
                <a:ext cx="1530988" cy="120757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pPr>
              </a:p>
            </p:txBody>
          </p:sp>
          <p:sp>
            <p:nvSpPr>
              <p:cNvPr id="2027" name="root"/>
              <p:cNvSpPr/>
              <p:nvPr/>
            </p:nvSpPr>
            <p:spPr>
              <a:xfrm>
                <a:off x="0" y="603788"/>
                <a:ext cx="1530987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  <a:latin typeface="Tahoma Bold"/>
                    <a:ea typeface="Tahoma Bold"/>
                    <a:cs typeface="Tahoma Bold"/>
                    <a:sym typeface="Tahoma Bold"/>
                  </a:defRPr>
                </a:lvl1pPr>
              </a:lstStyle>
              <a:p>
                <a:pPr/>
                <a:r>
                  <a:t>root</a:t>
                </a:r>
              </a:p>
            </p:txBody>
          </p:sp>
        </p:grpSp>
        <p:grpSp>
          <p:nvGrpSpPr>
            <p:cNvPr id="2048" name="成组"/>
            <p:cNvGrpSpPr/>
            <p:nvPr/>
          </p:nvGrpSpPr>
          <p:grpSpPr>
            <a:xfrm>
              <a:off x="212292" y="1109977"/>
              <a:ext cx="4721583" cy="3761305"/>
              <a:chOff x="0" y="0"/>
              <a:chExt cx="4721582" cy="3761303"/>
            </a:xfrm>
          </p:grpSpPr>
          <p:sp>
            <p:nvSpPr>
              <p:cNvPr id="2029" name="Shape 2330"/>
              <p:cNvSpPr/>
              <p:nvPr/>
            </p:nvSpPr>
            <p:spPr>
              <a:xfrm flipH="1">
                <a:off x="307059" y="408659"/>
                <a:ext cx="1295403" cy="863603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30" name="Shape 2331"/>
              <p:cNvSpPr/>
              <p:nvPr/>
            </p:nvSpPr>
            <p:spPr>
              <a:xfrm>
                <a:off x="408659" y="1433692"/>
                <a:ext cx="546103" cy="863603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31" name="Shape 2333"/>
              <p:cNvSpPr/>
              <p:nvPr/>
            </p:nvSpPr>
            <p:spPr>
              <a:xfrm>
                <a:off x="1636891" y="408659"/>
                <a:ext cx="1409702" cy="863603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032" name="Shape 2334"/>
              <p:cNvSpPr/>
              <p:nvPr/>
            </p:nvSpPr>
            <p:spPr>
              <a:xfrm>
                <a:off x="2763523" y="1228233"/>
                <a:ext cx="546103" cy="863603"/>
              </a:xfrm>
              <a:prstGeom prst="line">
                <a:avLst/>
              </a:prstGeom>
              <a:noFill/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035" name="Group 2340"/>
              <p:cNvGrpSpPr/>
              <p:nvPr/>
            </p:nvGrpSpPr>
            <p:grpSpPr>
              <a:xfrm>
                <a:off x="1300199" y="0"/>
                <a:ext cx="1651003" cy="1701801"/>
                <a:chOff x="0" y="0"/>
                <a:chExt cx="1651002" cy="1701801"/>
              </a:xfrm>
            </p:grpSpPr>
            <p:sp>
              <p:nvSpPr>
                <p:cNvPr id="2033" name="Shape 2338"/>
                <p:cNvSpPr/>
                <p:nvPr/>
              </p:nvSpPr>
              <p:spPr>
                <a:xfrm>
                  <a:off x="0" y="0"/>
                  <a:ext cx="762005" cy="863603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34" name="Shape 2339"/>
                <p:cNvSpPr/>
                <p:nvPr/>
              </p:nvSpPr>
              <p:spPr>
                <a:xfrm>
                  <a:off x="381002" y="43180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FF0000"/>
                      </a:solidFill>
                      <a:uFill>
                        <a:solidFill>
                          <a:srgbClr val="FF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2038" name="Group 2343"/>
              <p:cNvGrpSpPr/>
              <p:nvPr/>
            </p:nvGrpSpPr>
            <p:grpSpPr>
              <a:xfrm>
                <a:off x="0" y="1022774"/>
                <a:ext cx="1651001" cy="1701804"/>
                <a:chOff x="0" y="0"/>
                <a:chExt cx="1651001" cy="1701803"/>
              </a:xfrm>
            </p:grpSpPr>
            <p:sp>
              <p:nvSpPr>
                <p:cNvPr id="2036" name="Shape 2341"/>
                <p:cNvSpPr/>
                <p:nvPr/>
              </p:nvSpPr>
              <p:spPr>
                <a:xfrm>
                  <a:off x="0" y="0"/>
                  <a:ext cx="762003" cy="863607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37" name="Shape 2342"/>
                <p:cNvSpPr/>
                <p:nvPr/>
              </p:nvSpPr>
              <p:spPr>
                <a:xfrm>
                  <a:off x="381001" y="4318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2041" name="Group 2346"/>
              <p:cNvGrpSpPr/>
              <p:nvPr/>
            </p:nvGrpSpPr>
            <p:grpSpPr>
              <a:xfrm>
                <a:off x="510259" y="1950721"/>
                <a:ext cx="1651003" cy="1810583"/>
                <a:chOff x="0" y="0"/>
                <a:chExt cx="1651002" cy="1810582"/>
              </a:xfrm>
            </p:grpSpPr>
            <p:sp>
              <p:nvSpPr>
                <p:cNvPr id="2039" name="Shape 2344"/>
                <p:cNvSpPr/>
                <p:nvPr/>
              </p:nvSpPr>
              <p:spPr>
                <a:xfrm>
                  <a:off x="0" y="0"/>
                  <a:ext cx="762005" cy="863607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40" name="Shape 2345"/>
                <p:cNvSpPr/>
                <p:nvPr/>
              </p:nvSpPr>
              <p:spPr>
                <a:xfrm>
                  <a:off x="381002" y="540582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1C1C1C"/>
                      </a:solidFill>
                      <a:uFill>
                        <a:solidFill>
                          <a:srgbClr val="1C1C1C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2044" name="Group 2352"/>
              <p:cNvGrpSpPr/>
              <p:nvPr/>
            </p:nvGrpSpPr>
            <p:grpSpPr>
              <a:xfrm>
                <a:off x="2354865" y="921174"/>
                <a:ext cx="1651003" cy="1701804"/>
                <a:chOff x="0" y="0"/>
                <a:chExt cx="1651002" cy="1701803"/>
              </a:xfrm>
            </p:grpSpPr>
            <p:sp>
              <p:nvSpPr>
                <p:cNvPr id="2042" name="Shape 2350"/>
                <p:cNvSpPr/>
                <p:nvPr/>
              </p:nvSpPr>
              <p:spPr>
                <a:xfrm>
                  <a:off x="0" y="0"/>
                  <a:ext cx="762005" cy="863607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43" name="Shape 2351"/>
                <p:cNvSpPr/>
                <p:nvPr/>
              </p:nvSpPr>
              <p:spPr>
                <a:xfrm>
                  <a:off x="381002" y="4318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333399"/>
                      </a:solidFill>
                      <a:uFill>
                        <a:solidFill>
                          <a:srgbClr val="333399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2047" name="Group 2355"/>
              <p:cNvGrpSpPr/>
              <p:nvPr/>
            </p:nvGrpSpPr>
            <p:grpSpPr>
              <a:xfrm>
                <a:off x="3070580" y="1842348"/>
                <a:ext cx="1651003" cy="1701804"/>
                <a:chOff x="0" y="0"/>
                <a:chExt cx="1651001" cy="1701803"/>
              </a:xfrm>
            </p:grpSpPr>
            <p:sp>
              <p:nvSpPr>
                <p:cNvPr id="2045" name="Shape 2353"/>
                <p:cNvSpPr/>
                <p:nvPr/>
              </p:nvSpPr>
              <p:spPr>
                <a:xfrm>
                  <a:off x="0" y="0"/>
                  <a:ext cx="762004" cy="863607"/>
                </a:xfrm>
                <a:prstGeom prst="ellipse">
                  <a:avLst/>
                </a:prstGeom>
                <a:solidFill>
                  <a:srgbClr val="FFFFD9"/>
                </a:solidFill>
                <a:ln w="28575" cap="sq">
                  <a:solidFill>
                    <a:srgbClr val="1C1C1C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46" name="Shape 2354"/>
                <p:cNvSpPr/>
                <p:nvPr/>
              </p:nvSpPr>
              <p:spPr>
                <a:xfrm>
                  <a:off x="381001" y="4318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b="1" sz="5000">
                      <a:solidFill>
                        <a:srgbClr val="333399"/>
                      </a:solidFill>
                      <a:uFill>
                        <a:solidFill>
                          <a:srgbClr val="333399"/>
                        </a:solidFill>
                      </a:uFill>
                    </a:defRPr>
                  </a:lvl1pPr>
                </a:lstStyle>
                <a:p>
                  <a:pPr/>
                  <a:r>
                    <a:t>F</a:t>
                  </a:r>
                </a:p>
              </p:txBody>
            </p:sp>
          </p:grpSp>
        </p:grpSp>
        <p:sp>
          <p:nvSpPr>
            <p:cNvPr id="2049" name="Shape 2416"/>
            <p:cNvSpPr/>
            <p:nvPr/>
          </p:nvSpPr>
          <p:spPr>
            <a:xfrm>
              <a:off x="713599" y="598072"/>
              <a:ext cx="947280" cy="542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051" name="线条"/>
          <p:cNvSpPr/>
          <p:nvPr/>
        </p:nvSpPr>
        <p:spPr>
          <a:xfrm flipV="1">
            <a:off x="5626098" y="1443001"/>
            <a:ext cx="2" cy="769307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hape 2459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二叉树的构造器</a:t>
            </a:r>
          </a:p>
        </p:txBody>
      </p:sp>
      <p:sp>
        <p:nvSpPr>
          <p:cNvPr id="2054" name="public BiTree() {//建立空树…"/>
          <p:cNvSpPr txBox="1"/>
          <p:nvPr/>
        </p:nvSpPr>
        <p:spPr>
          <a:xfrm>
            <a:off x="160559" y="1430084"/>
            <a:ext cx="12491121" cy="287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BiTree() {</a:t>
            </a:r>
            <a:r>
              <a:rPr>
                <a:solidFill>
                  <a:srgbClr val="4E9072"/>
                </a:solidFill>
              </a:rPr>
              <a:t>//建立空树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BiTree(T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BiTree&lt;T&gt; </a:t>
            </a:r>
            <a:r>
              <a:rPr>
                <a:solidFill>
                  <a:srgbClr val="7E504F"/>
                </a:solidFill>
              </a:rPr>
              <a:t>leftBiTree</a:t>
            </a:r>
            <a:r>
              <a:t>, BiTree&lt;T&gt; </a:t>
            </a:r>
            <a:r>
              <a:rPr>
                <a:solidFill>
                  <a:srgbClr val="7E504F"/>
                </a:solidFill>
              </a:rPr>
              <a:t>rightBiTree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leftBiTree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rightBiTree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leftBiTree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rightBiTree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055" name="BiTree&lt;String&gt; btnull = new BiTree&lt;&gt;();…"/>
          <p:cNvSpPr txBox="1"/>
          <p:nvPr/>
        </p:nvSpPr>
        <p:spPr>
          <a:xfrm>
            <a:off x="883515" y="5180034"/>
            <a:ext cx="9831234" cy="2924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BiTree&lt;String&gt;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BiTree&lt;String&gt; </a:t>
            </a:r>
            <a:r>
              <a:rPr>
                <a:solidFill>
                  <a:srgbClr val="7E504F"/>
                </a:solidFill>
              </a:rPr>
              <a:t>btl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"D"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btl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"B"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btl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BiTree&lt;String&gt; </a:t>
            </a:r>
            <a:r>
              <a:rPr>
                <a:solidFill>
                  <a:srgbClr val="7E504F"/>
                </a:solidFill>
              </a:rPr>
              <a:t>btr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"E"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btr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"C"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btr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btnull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btl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"A"</a:t>
            </a:r>
            <a:r>
              <a:t>,</a:t>
            </a:r>
            <a:r>
              <a:rPr>
                <a:solidFill>
                  <a:srgbClr val="7E504F"/>
                </a:solidFill>
              </a:rPr>
              <a:t>btl</a:t>
            </a:r>
            <a:r>
              <a:t>, </a:t>
            </a:r>
            <a:r>
              <a:rPr>
                <a:solidFill>
                  <a:srgbClr val="7E504F"/>
                </a:solidFill>
              </a:rPr>
              <a:t>btr</a:t>
            </a:r>
            <a:r>
              <a:t>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Shape 2459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二叉树的构造器</a:t>
            </a:r>
          </a:p>
        </p:txBody>
      </p:sp>
      <p:sp>
        <p:nvSpPr>
          <p:cNvPr id="2058" name="// 使用前序和中序遍历的结果，构造一颗数据为Character的二叉树，用于构造测试用的二叉树…"/>
          <p:cNvSpPr txBox="1"/>
          <p:nvPr/>
        </p:nvSpPr>
        <p:spPr>
          <a:xfrm>
            <a:off x="160560" y="1086401"/>
            <a:ext cx="12641908" cy="3557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4E9072"/>
                </a:solidFill>
              </a:rPr>
              <a:t>// 使用前序和中序遍历的结果，构造一颗数据为Character的二叉树，用于构造测试用的二叉树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777777"/>
                </a:solidFill>
              </a:rPr>
              <a:t>@SuppressWarnings</a:t>
            </a:r>
            <a: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t>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BiTree(String 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String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.length() == 0) {</a:t>
            </a:r>
            <a:r>
              <a:rPr>
                <a:solidFill>
                  <a:srgbClr val="4E9072"/>
                </a:solidFill>
              </a:rPr>
              <a:t>// 如果不特殊处理，makeBitree将崩溃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(Node&lt;T&gt;) 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059" name="BiTree&lt;Character&gt; btString = new BiTree&lt;&gt;(&quot;ABCDEFGHK&quot;, &quot;BDCAEHGKF&quot;);"/>
          <p:cNvSpPr txBox="1"/>
          <p:nvPr/>
        </p:nvSpPr>
        <p:spPr>
          <a:xfrm>
            <a:off x="-132485" y="5320264"/>
            <a:ext cx="12430077" cy="8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BiTree&lt;Character&gt; </a:t>
            </a:r>
            <a:r>
              <a:rPr>
                <a:solidFill>
                  <a:srgbClr val="7E504F"/>
                </a:solidFill>
              </a:rPr>
              <a:t>btString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BiTree&lt;&gt;(</a:t>
            </a:r>
            <a:r>
              <a:rPr>
                <a:solidFill>
                  <a:srgbClr val="3933FF"/>
                </a:solidFill>
              </a:rPr>
              <a:t>"ABCDEFGHK"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"BDCAEHGKF"</a:t>
            </a:r>
            <a:r>
              <a:t>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前序遍历</a:t>
            </a:r>
          </a:p>
        </p:txBody>
      </p:sp>
      <p:sp>
        <p:nvSpPr>
          <p:cNvPr id="2062" name="public void preRootTraversal() {…"/>
          <p:cNvSpPr txBox="1"/>
          <p:nvPr/>
        </p:nvSpPr>
        <p:spPr>
          <a:xfrm>
            <a:off x="129850" y="1295400"/>
            <a:ext cx="7933619" cy="444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对结点的数据进行处理，</a:t>
            </a:r>
            <a:r>
              <a:rPr>
                <a:solidFill>
                  <a:schemeClr val="accent5"/>
                </a:solidFill>
              </a:rPr>
              <a:t>例如：</a:t>
            </a:r>
            <a:r>
              <a:t>输出结点t的数据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104" name="成组"/>
          <p:cNvGrpSpPr/>
          <p:nvPr/>
        </p:nvGrpSpPr>
        <p:grpSpPr>
          <a:xfrm>
            <a:off x="6423175" y="4669495"/>
            <a:ext cx="6404353" cy="3446294"/>
            <a:chOff x="0" y="0"/>
            <a:chExt cx="6404351" cy="3446293"/>
          </a:xfrm>
        </p:grpSpPr>
        <p:sp>
          <p:nvSpPr>
            <p:cNvPr id="2063" name="Shape 1666"/>
            <p:cNvSpPr/>
            <p:nvPr/>
          </p:nvSpPr>
          <p:spPr>
            <a:xfrm>
              <a:off x="1718928" y="1320806"/>
              <a:ext cx="198766" cy="536179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64" name="Shape 1661"/>
            <p:cNvSpPr/>
            <p:nvPr/>
          </p:nvSpPr>
          <p:spPr>
            <a:xfrm>
              <a:off x="615983" y="1094887"/>
              <a:ext cx="1943" cy="54037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65" name="Shape 1663"/>
            <p:cNvSpPr txBox="1"/>
            <p:nvPr/>
          </p:nvSpPr>
          <p:spPr>
            <a:xfrm>
              <a:off x="81712" y="1142345"/>
              <a:ext cx="519181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68" name="Group 1629"/>
            <p:cNvGrpSpPr/>
            <p:nvPr/>
          </p:nvGrpSpPr>
          <p:grpSpPr>
            <a:xfrm>
              <a:off x="1589654" y="-1"/>
              <a:ext cx="1710059" cy="811226"/>
              <a:chOff x="0" y="0"/>
              <a:chExt cx="1710058" cy="811224"/>
            </a:xfrm>
          </p:grpSpPr>
          <p:sp>
            <p:nvSpPr>
              <p:cNvPr id="2066" name="Shape 1627"/>
              <p:cNvSpPr/>
              <p:nvPr/>
            </p:nvSpPr>
            <p:spPr>
              <a:xfrm>
                <a:off x="0" y="139443"/>
                <a:ext cx="1710059" cy="54238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7" name="Shape 1628"/>
              <p:cNvSpPr txBox="1"/>
              <p:nvPr/>
            </p:nvSpPr>
            <p:spPr>
              <a:xfrm>
                <a:off x="583928" y="-1"/>
                <a:ext cx="542201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069" name="Shape 1630"/>
            <p:cNvSpPr/>
            <p:nvPr/>
          </p:nvSpPr>
          <p:spPr>
            <a:xfrm>
              <a:off x="2016684" y="139443"/>
              <a:ext cx="1944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70" name="Shape 1631"/>
            <p:cNvSpPr/>
            <p:nvPr/>
          </p:nvSpPr>
          <p:spPr>
            <a:xfrm>
              <a:off x="2872681" y="139443"/>
              <a:ext cx="1944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073" name="Group 1634"/>
            <p:cNvGrpSpPr/>
            <p:nvPr/>
          </p:nvGrpSpPr>
          <p:grpSpPr>
            <a:xfrm>
              <a:off x="3784969" y="2635068"/>
              <a:ext cx="1710058" cy="811226"/>
              <a:chOff x="0" y="0"/>
              <a:chExt cx="1710057" cy="811224"/>
            </a:xfrm>
          </p:grpSpPr>
          <p:sp>
            <p:nvSpPr>
              <p:cNvPr id="2071" name="Shape 1632"/>
              <p:cNvSpPr/>
              <p:nvPr/>
            </p:nvSpPr>
            <p:spPr>
              <a:xfrm>
                <a:off x="0" y="135928"/>
                <a:ext cx="1710058" cy="54238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2" name="Shape 1633"/>
              <p:cNvSpPr txBox="1"/>
              <p:nvPr/>
            </p:nvSpPr>
            <p:spPr>
              <a:xfrm>
                <a:off x="614316" y="-1"/>
                <a:ext cx="481425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074" name="Shape 1635"/>
            <p:cNvSpPr/>
            <p:nvPr/>
          </p:nvSpPr>
          <p:spPr>
            <a:xfrm>
              <a:off x="4202291" y="2752917"/>
              <a:ext cx="1944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75" name="Shape 1636"/>
            <p:cNvSpPr/>
            <p:nvPr/>
          </p:nvSpPr>
          <p:spPr>
            <a:xfrm>
              <a:off x="5067994" y="2770997"/>
              <a:ext cx="1943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76" name="Shape 1637"/>
            <p:cNvSpPr txBox="1"/>
            <p:nvPr/>
          </p:nvSpPr>
          <p:spPr>
            <a:xfrm>
              <a:off x="3711209" y="2835279"/>
              <a:ext cx="519180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77" name="Shape 1638"/>
            <p:cNvSpPr txBox="1"/>
            <p:nvPr/>
          </p:nvSpPr>
          <p:spPr>
            <a:xfrm>
              <a:off x="4965119" y="2807156"/>
              <a:ext cx="5191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80" name="Group 1641"/>
            <p:cNvGrpSpPr/>
            <p:nvPr/>
          </p:nvGrpSpPr>
          <p:grpSpPr>
            <a:xfrm>
              <a:off x="4687551" y="1751439"/>
              <a:ext cx="1710057" cy="811225"/>
              <a:chOff x="0" y="0"/>
              <a:chExt cx="1710056" cy="811224"/>
            </a:xfrm>
          </p:grpSpPr>
          <p:sp>
            <p:nvSpPr>
              <p:cNvPr id="2078" name="Shape 1639"/>
              <p:cNvSpPr/>
              <p:nvPr/>
            </p:nvSpPr>
            <p:spPr>
              <a:xfrm>
                <a:off x="0" y="139694"/>
                <a:ext cx="1710057" cy="54238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9" name="Shape 1640"/>
              <p:cNvSpPr txBox="1"/>
              <p:nvPr/>
            </p:nvSpPr>
            <p:spPr>
              <a:xfrm>
                <a:off x="598987" y="0"/>
                <a:ext cx="512080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081" name="Shape 1642"/>
            <p:cNvSpPr/>
            <p:nvPr/>
          </p:nvSpPr>
          <p:spPr>
            <a:xfrm>
              <a:off x="5114580" y="1891132"/>
              <a:ext cx="1942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82" name="Shape 1643"/>
            <p:cNvSpPr/>
            <p:nvPr/>
          </p:nvSpPr>
          <p:spPr>
            <a:xfrm>
              <a:off x="5972761" y="1891132"/>
              <a:ext cx="1943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83" name="Shape 1644"/>
            <p:cNvSpPr txBox="1"/>
            <p:nvPr/>
          </p:nvSpPr>
          <p:spPr>
            <a:xfrm>
              <a:off x="5885171" y="1927293"/>
              <a:ext cx="5191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86" name="Group 1647"/>
            <p:cNvGrpSpPr/>
            <p:nvPr/>
          </p:nvGrpSpPr>
          <p:grpSpPr>
            <a:xfrm>
              <a:off x="3035728" y="949669"/>
              <a:ext cx="1703263" cy="811226"/>
              <a:chOff x="0" y="0"/>
              <a:chExt cx="1703261" cy="811224"/>
            </a:xfrm>
          </p:grpSpPr>
          <p:sp>
            <p:nvSpPr>
              <p:cNvPr id="2084" name="Shape 1645"/>
              <p:cNvSpPr/>
              <p:nvPr/>
            </p:nvSpPr>
            <p:spPr>
              <a:xfrm>
                <a:off x="0" y="133919"/>
                <a:ext cx="1703262" cy="54238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5" name="Shape 1646"/>
              <p:cNvSpPr txBox="1"/>
              <p:nvPr/>
            </p:nvSpPr>
            <p:spPr>
              <a:xfrm>
                <a:off x="582957" y="0"/>
                <a:ext cx="542201" cy="8112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087" name="Shape 1648"/>
            <p:cNvSpPr/>
            <p:nvPr/>
          </p:nvSpPr>
          <p:spPr>
            <a:xfrm>
              <a:off x="3462756" y="1083587"/>
              <a:ext cx="1943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88" name="Shape 1649"/>
            <p:cNvSpPr/>
            <p:nvPr/>
          </p:nvSpPr>
          <p:spPr>
            <a:xfrm>
              <a:off x="4316812" y="1083587"/>
              <a:ext cx="1944" cy="54238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89" name="Shape 1650"/>
            <p:cNvSpPr txBox="1"/>
            <p:nvPr/>
          </p:nvSpPr>
          <p:spPr>
            <a:xfrm>
              <a:off x="2950322" y="1121755"/>
              <a:ext cx="519181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92" name="Group 1653"/>
            <p:cNvGrpSpPr/>
            <p:nvPr/>
          </p:nvGrpSpPr>
          <p:grpSpPr>
            <a:xfrm>
              <a:off x="935526" y="1750183"/>
              <a:ext cx="1703263" cy="811226"/>
              <a:chOff x="0" y="0"/>
              <a:chExt cx="1703261" cy="811224"/>
            </a:xfrm>
          </p:grpSpPr>
          <p:sp>
            <p:nvSpPr>
              <p:cNvPr id="2090" name="Shape 1651"/>
              <p:cNvSpPr/>
              <p:nvPr/>
            </p:nvSpPr>
            <p:spPr>
              <a:xfrm>
                <a:off x="0" y="136932"/>
                <a:ext cx="1703262" cy="54037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1" name="Shape 1652"/>
              <p:cNvSpPr txBox="1"/>
              <p:nvPr/>
            </p:nvSpPr>
            <p:spPr>
              <a:xfrm>
                <a:off x="582956" y="-1"/>
                <a:ext cx="542201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093" name="Shape 1654"/>
            <p:cNvSpPr/>
            <p:nvPr/>
          </p:nvSpPr>
          <p:spPr>
            <a:xfrm>
              <a:off x="1362554" y="1887114"/>
              <a:ext cx="1944" cy="54037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94" name="Shape 1655"/>
            <p:cNvSpPr/>
            <p:nvPr/>
          </p:nvSpPr>
          <p:spPr>
            <a:xfrm>
              <a:off x="2216610" y="1887114"/>
              <a:ext cx="1945" cy="54037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095" name="Shape 1656"/>
            <p:cNvSpPr txBox="1"/>
            <p:nvPr/>
          </p:nvSpPr>
          <p:spPr>
            <a:xfrm>
              <a:off x="834592" y="1919758"/>
              <a:ext cx="519180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96" name="Shape 1657"/>
            <p:cNvSpPr txBox="1"/>
            <p:nvPr/>
          </p:nvSpPr>
          <p:spPr>
            <a:xfrm>
              <a:off x="2100148" y="1923275"/>
              <a:ext cx="519181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97" name="Shape 1658"/>
            <p:cNvSpPr/>
            <p:nvPr/>
          </p:nvSpPr>
          <p:spPr>
            <a:xfrm>
              <a:off x="0" y="1086851"/>
              <a:ext cx="1703260" cy="540376"/>
            </a:xfrm>
            <a:prstGeom prst="rect">
              <a:avLst/>
            </a:prstGeom>
            <a:solidFill>
              <a:srgbClr val="CAF2CE">
                <a:alpha val="50195"/>
              </a:srgbClr>
            </a:solidFill>
            <a:ln w="25400" cap="sq">
              <a:solidFill>
                <a:srgbClr val="1C1C1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8" name="Shape 1659"/>
            <p:cNvSpPr txBox="1"/>
            <p:nvPr/>
          </p:nvSpPr>
          <p:spPr>
            <a:xfrm>
              <a:off x="689677" y="917526"/>
              <a:ext cx="512080" cy="8112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57797" indent="57797" algn="ctr" defTabSz="1295400">
                <a:defRPr b="1" sz="5000">
                  <a:solidFill>
                    <a:srgbClr val="005400"/>
                  </a:solidFill>
                  <a:uFill>
                    <a:solidFill>
                      <a:srgbClr val="0054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099" name="Shape 1662"/>
            <p:cNvSpPr/>
            <p:nvPr/>
          </p:nvSpPr>
          <p:spPr>
            <a:xfrm>
              <a:off x="1273509" y="1072287"/>
              <a:ext cx="1944" cy="54037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00" name="Shape 1664"/>
            <p:cNvSpPr/>
            <p:nvPr/>
          </p:nvSpPr>
          <p:spPr>
            <a:xfrm flipH="1">
              <a:off x="910292" y="400589"/>
              <a:ext cx="910350" cy="652869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01" name="Shape 1665"/>
            <p:cNvSpPr/>
            <p:nvPr/>
          </p:nvSpPr>
          <p:spPr>
            <a:xfrm>
              <a:off x="3142485" y="372466"/>
              <a:ext cx="850177" cy="680992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02" name="Shape 1667"/>
            <p:cNvSpPr/>
            <p:nvPr/>
          </p:nvSpPr>
          <p:spPr>
            <a:xfrm>
              <a:off x="4565265" y="1388930"/>
              <a:ext cx="793886" cy="47810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03" name="Shape 1668"/>
            <p:cNvSpPr/>
            <p:nvPr/>
          </p:nvSpPr>
          <p:spPr>
            <a:xfrm flipH="1">
              <a:off x="4672023" y="2179650"/>
              <a:ext cx="218370" cy="588586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2105" name="注意：不是必须要println!!!"/>
          <p:cNvSpPr txBox="1"/>
          <p:nvPr/>
        </p:nvSpPr>
        <p:spPr>
          <a:xfrm>
            <a:off x="479919" y="5965251"/>
            <a:ext cx="455886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r>
              <a:t>注意：不是必须要println!!!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Shape 2311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中序遍历</a:t>
            </a:r>
          </a:p>
        </p:txBody>
      </p:sp>
      <p:sp>
        <p:nvSpPr>
          <p:cNvPr id="2108" name="public void inRootTraversal() {…"/>
          <p:cNvSpPr txBox="1"/>
          <p:nvPr/>
        </p:nvSpPr>
        <p:spPr>
          <a:xfrm>
            <a:off x="892846" y="1543050"/>
            <a:ext cx="7863956" cy="483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inRootTraversal()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inRootTraversal(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inRootTraversal(Node&lt;T&gt;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inRootTraversal(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对结点的数据进行处理，</a:t>
            </a:r>
            <a:r>
              <a:rPr>
                <a:solidFill>
                  <a:schemeClr val="accent5"/>
                </a:solidFill>
              </a:rPr>
              <a:t>例如：</a:t>
            </a:r>
            <a:r>
              <a:t>输出结点t的数据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inRootTraversal(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Shape 2311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后序遍历</a:t>
            </a:r>
          </a:p>
        </p:txBody>
      </p:sp>
      <p:sp>
        <p:nvSpPr>
          <p:cNvPr id="2111" name="public void postRootTraversal() {…"/>
          <p:cNvSpPr txBox="1"/>
          <p:nvPr/>
        </p:nvSpPr>
        <p:spPr>
          <a:xfrm>
            <a:off x="1107518" y="1391072"/>
            <a:ext cx="8108908" cy="483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postRootTraversal()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postRootTraversal(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postRootTraversal(Node&lt;T&gt;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postRootTraversal(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postRootTraversal(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对结点的数据进行处理，</a:t>
            </a:r>
            <a:r>
              <a:rPr>
                <a:solidFill>
                  <a:schemeClr val="accent5"/>
                </a:solidFill>
              </a:rPr>
              <a:t>例如：</a:t>
            </a:r>
            <a:r>
              <a:t>输出结点t的数据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Shape 2314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层次遍历</a:t>
            </a:r>
          </a:p>
        </p:txBody>
      </p:sp>
      <p:sp>
        <p:nvSpPr>
          <p:cNvPr id="2114" name="public void levelTraverse() {…"/>
          <p:cNvSpPr txBox="1"/>
          <p:nvPr/>
        </p:nvSpPr>
        <p:spPr>
          <a:xfrm>
            <a:off x="453518" y="1180569"/>
            <a:ext cx="8390819" cy="601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levelTraverse()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.isEmpty())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.poll();</a:t>
            </a: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对结点的数据进行处理，</a:t>
            </a:r>
            <a:r>
              <a:rPr>
                <a:solidFill>
                  <a:schemeClr val="accent5"/>
                </a:solidFill>
              </a:rPr>
              <a:t>例如：</a:t>
            </a:r>
            <a:r>
              <a:t>输出结点t的数据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阶乘-递归定义"/>
          <p:cNvSpPr txBox="1"/>
          <p:nvPr/>
        </p:nvSpPr>
        <p:spPr>
          <a:xfrm>
            <a:off x="1372727" y="115145"/>
            <a:ext cx="10295470" cy="113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 marR="57798" indent="57798" algn="ctr" defTabSz="1300480">
              <a:defRPr b="1" sz="5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阶乘-递归定义</a:t>
            </a:r>
          </a:p>
        </p:txBody>
      </p:sp>
      <p:sp>
        <p:nvSpPr>
          <p:cNvPr id="2117" name="1              if n = 0"/>
          <p:cNvSpPr txBox="1"/>
          <p:nvPr/>
        </p:nvSpPr>
        <p:spPr>
          <a:xfrm>
            <a:off x="3122067" y="2100147"/>
            <a:ext cx="4804254" cy="719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pPr/>
            <a:r>
              <a:t>1              if n = 0</a:t>
            </a:r>
          </a:p>
        </p:txBody>
      </p:sp>
      <p:sp>
        <p:nvSpPr>
          <p:cNvPr id="2118" name="2! = 2×1!…"/>
          <p:cNvSpPr txBox="1"/>
          <p:nvPr/>
        </p:nvSpPr>
        <p:spPr>
          <a:xfrm>
            <a:off x="8623899" y="1949028"/>
            <a:ext cx="2045954" cy="2359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/>
          <a:p>
            <a:pPr marR="57798" indent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2! = 2×1!</a:t>
            </a:r>
          </a:p>
          <a:p>
            <a:pPr marR="57798" indent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1! = 1×0!</a:t>
            </a:r>
          </a:p>
          <a:p>
            <a:pPr marR="57798" indent="57798" defTabSz="1300480">
              <a:spcBef>
                <a:spcPts val="22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0! = 1</a:t>
            </a:r>
          </a:p>
        </p:txBody>
      </p:sp>
      <p:sp>
        <p:nvSpPr>
          <p:cNvPr id="2119" name="线条"/>
          <p:cNvSpPr/>
          <p:nvPr/>
        </p:nvSpPr>
        <p:spPr>
          <a:xfrm>
            <a:off x="2457574" y="1995448"/>
            <a:ext cx="309318" cy="1750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508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300480">
              <a:spcBef>
                <a:spcPts val="2200"/>
              </a:spcBef>
              <a:defRPr sz="4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20" name="n! ="/>
          <p:cNvSpPr txBox="1"/>
          <p:nvPr/>
        </p:nvSpPr>
        <p:spPr>
          <a:xfrm>
            <a:off x="1384575" y="2509281"/>
            <a:ext cx="1290129" cy="719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pPr/>
            <a:r>
              <a:t>n! =</a:t>
            </a:r>
          </a:p>
        </p:txBody>
      </p:sp>
      <p:sp>
        <p:nvSpPr>
          <p:cNvPr id="2121" name="n! = n*(n-1)!  if n ≥ 1"/>
          <p:cNvSpPr txBox="1"/>
          <p:nvPr/>
        </p:nvSpPr>
        <p:spPr>
          <a:xfrm>
            <a:off x="3122067" y="2999112"/>
            <a:ext cx="4804254" cy="719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pPr/>
            <a:r>
              <a:t>n! = n*(n-1)!  if n ≥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阶乘-递归的执行过程"/>
          <p:cNvSpPr txBox="1"/>
          <p:nvPr/>
        </p:nvSpPr>
        <p:spPr>
          <a:xfrm>
            <a:off x="1372727" y="115145"/>
            <a:ext cx="10295470" cy="113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spAutoFit/>
          </a:bodyPr>
          <a:lstStyle>
            <a:lvl1pPr marR="57798" indent="57798" algn="ctr" defTabSz="1300480">
              <a:defRPr b="1" sz="5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阶乘-递归的执行过程</a:t>
            </a:r>
          </a:p>
        </p:txBody>
      </p:sp>
      <p:sp>
        <p:nvSpPr>
          <p:cNvPr id="2124" name="public class Factorial {…"/>
          <p:cNvSpPr txBox="1"/>
          <p:nvPr/>
        </p:nvSpPr>
        <p:spPr>
          <a:xfrm>
            <a:off x="615550" y="2162563"/>
            <a:ext cx="8192741" cy="552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Factorial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long</a:t>
            </a:r>
            <a:r>
              <a:t> fact(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0)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* fact(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- 1);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long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fact(2);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grpSp>
        <p:nvGrpSpPr>
          <p:cNvPr id="2130" name="成组"/>
          <p:cNvGrpSpPr/>
          <p:nvPr/>
        </p:nvGrpSpPr>
        <p:grpSpPr>
          <a:xfrm>
            <a:off x="10194659" y="2350240"/>
            <a:ext cx="1500908" cy="3018469"/>
            <a:chOff x="0" y="0"/>
            <a:chExt cx="1500907" cy="3018468"/>
          </a:xfrm>
        </p:grpSpPr>
        <p:sp>
          <p:nvSpPr>
            <p:cNvPr id="2125" name="fact(2)"/>
            <p:cNvSpPr txBox="1"/>
            <p:nvPr/>
          </p:nvSpPr>
          <p:spPr>
            <a:xfrm>
              <a:off x="0" y="-1"/>
              <a:ext cx="1500908" cy="682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fact(2)</a:t>
              </a:r>
            </a:p>
          </p:txBody>
        </p:sp>
        <p:sp>
          <p:nvSpPr>
            <p:cNvPr id="2126" name="fact(1)"/>
            <p:cNvSpPr txBox="1"/>
            <p:nvPr/>
          </p:nvSpPr>
          <p:spPr>
            <a:xfrm>
              <a:off x="0" y="1193235"/>
              <a:ext cx="1500908" cy="6827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fact(1)</a:t>
              </a:r>
            </a:p>
          </p:txBody>
        </p:sp>
        <p:sp>
          <p:nvSpPr>
            <p:cNvPr id="2127" name="线条"/>
            <p:cNvSpPr/>
            <p:nvPr/>
          </p:nvSpPr>
          <p:spPr>
            <a:xfrm flipH="1">
              <a:off x="630349" y="592393"/>
              <a:ext cx="2" cy="706887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28" name="fact0)"/>
            <p:cNvSpPr txBox="1"/>
            <p:nvPr/>
          </p:nvSpPr>
          <p:spPr>
            <a:xfrm>
              <a:off x="0" y="2335672"/>
              <a:ext cx="1340198" cy="6827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R="57798" indent="57798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fact0)</a:t>
              </a:r>
            </a:p>
          </p:txBody>
        </p:sp>
        <p:sp>
          <p:nvSpPr>
            <p:cNvPr id="2129" name="线条"/>
            <p:cNvSpPr/>
            <p:nvPr/>
          </p:nvSpPr>
          <p:spPr>
            <a:xfrm flipH="1">
              <a:off x="630349" y="1767250"/>
              <a:ext cx="2" cy="706887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2131" name="递归的执行过程：同一个方法，多次执行，但每次执行传入的参数不同"/>
          <p:cNvSpPr txBox="1"/>
          <p:nvPr/>
        </p:nvSpPr>
        <p:spPr>
          <a:xfrm>
            <a:off x="651960" y="1468207"/>
            <a:ext cx="1198309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递归的执行过程：同一个方法，多次执行，但每次执行传入的参数不同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前序遍历－执行过程</a:t>
            </a:r>
          </a:p>
        </p:txBody>
      </p:sp>
      <p:grpSp>
        <p:nvGrpSpPr>
          <p:cNvPr id="2149" name="Group 2286"/>
          <p:cNvGrpSpPr/>
          <p:nvPr/>
        </p:nvGrpSpPr>
        <p:grpSpPr>
          <a:xfrm>
            <a:off x="912986" y="5714998"/>
            <a:ext cx="2768608" cy="2730507"/>
            <a:chOff x="-1" y="-1"/>
            <a:chExt cx="2768606" cy="2730506"/>
          </a:xfrm>
        </p:grpSpPr>
        <p:sp>
          <p:nvSpPr>
            <p:cNvPr id="2134" name="Shape 2271"/>
            <p:cNvSpPr/>
            <p:nvPr/>
          </p:nvSpPr>
          <p:spPr>
            <a:xfrm flipH="1">
              <a:off x="358397" y="406400"/>
              <a:ext cx="621606" cy="566988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35" name="Shape 2272"/>
            <p:cNvSpPr/>
            <p:nvPr/>
          </p:nvSpPr>
          <p:spPr>
            <a:xfrm>
              <a:off x="1653635" y="333672"/>
              <a:ext cx="781063" cy="598793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136" name="Shape 2273"/>
            <p:cNvSpPr/>
            <p:nvPr/>
          </p:nvSpPr>
          <p:spPr>
            <a:xfrm>
              <a:off x="548326" y="1560264"/>
              <a:ext cx="488787" cy="520306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139" name="Group 2276"/>
            <p:cNvGrpSpPr/>
            <p:nvPr/>
          </p:nvGrpSpPr>
          <p:grpSpPr>
            <a:xfrm>
              <a:off x="978691" y="-2"/>
              <a:ext cx="647671" cy="685807"/>
              <a:chOff x="0" y="-1"/>
              <a:chExt cx="647669" cy="685806"/>
            </a:xfrm>
          </p:grpSpPr>
          <p:sp>
            <p:nvSpPr>
              <p:cNvPr id="2137" name="Shape 2274"/>
              <p:cNvSpPr/>
              <p:nvPr/>
            </p:nvSpPr>
            <p:spPr>
              <a:xfrm>
                <a:off x="-1" y="-2"/>
                <a:ext cx="647670" cy="6858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8" name="Shape 2275"/>
              <p:cNvSpPr txBox="1"/>
              <p:nvPr/>
            </p:nvSpPr>
            <p:spPr>
              <a:xfrm>
                <a:off x="170507" y="130859"/>
                <a:ext cx="306173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2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142" name="Group 2279"/>
            <p:cNvGrpSpPr/>
            <p:nvPr/>
          </p:nvGrpSpPr>
          <p:grpSpPr>
            <a:xfrm>
              <a:off x="-2" y="991445"/>
              <a:ext cx="600567" cy="673107"/>
              <a:chOff x="0" y="0"/>
              <a:chExt cx="600566" cy="673106"/>
            </a:xfrm>
          </p:grpSpPr>
          <p:sp>
            <p:nvSpPr>
              <p:cNvPr id="2140" name="Shape 2277"/>
              <p:cNvSpPr/>
              <p:nvPr/>
            </p:nvSpPr>
            <p:spPr>
              <a:xfrm>
                <a:off x="0" y="-1"/>
                <a:ext cx="600567" cy="673107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1" name="Shape 2278"/>
              <p:cNvSpPr txBox="1"/>
              <p:nvPr/>
            </p:nvSpPr>
            <p:spPr>
              <a:xfrm>
                <a:off x="175301" y="123209"/>
                <a:ext cx="270844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2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45" name="Group 2282"/>
            <p:cNvGrpSpPr/>
            <p:nvPr/>
          </p:nvGrpSpPr>
          <p:grpSpPr>
            <a:xfrm>
              <a:off x="2144489" y="958707"/>
              <a:ext cx="624117" cy="622309"/>
              <a:chOff x="0" y="0"/>
              <a:chExt cx="624116" cy="622307"/>
            </a:xfrm>
          </p:grpSpPr>
          <p:sp>
            <p:nvSpPr>
              <p:cNvPr id="2143" name="Shape 2280"/>
              <p:cNvSpPr/>
              <p:nvPr/>
            </p:nvSpPr>
            <p:spPr>
              <a:xfrm>
                <a:off x="-1" y="-1"/>
                <a:ext cx="624118" cy="622309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4" name="Shape 2281"/>
              <p:cNvSpPr txBox="1"/>
              <p:nvPr/>
            </p:nvSpPr>
            <p:spPr>
              <a:xfrm>
                <a:off x="80647" y="110514"/>
                <a:ext cx="44987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2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148" name="Group 2285"/>
            <p:cNvGrpSpPr/>
            <p:nvPr/>
          </p:nvGrpSpPr>
          <p:grpSpPr>
            <a:xfrm>
              <a:off x="766728" y="2095500"/>
              <a:ext cx="612345" cy="635005"/>
              <a:chOff x="-1" y="0"/>
              <a:chExt cx="612344" cy="635003"/>
            </a:xfrm>
          </p:grpSpPr>
          <p:sp>
            <p:nvSpPr>
              <p:cNvPr id="2146" name="Shape 2283"/>
              <p:cNvSpPr/>
              <p:nvPr/>
            </p:nvSpPr>
            <p:spPr>
              <a:xfrm>
                <a:off x="-2" y="0"/>
                <a:ext cx="612346" cy="635005"/>
              </a:xfrm>
              <a:prstGeom prst="ellipse">
                <a:avLst/>
              </a:prstGeom>
              <a:solidFill>
                <a:srgbClr val="FFFFCC"/>
              </a:solidFill>
              <a:ln w="38100" cap="sq">
                <a:solidFill>
                  <a:srgbClr val="FF66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7" name="Shape 2284"/>
              <p:cNvSpPr txBox="1"/>
              <p:nvPr/>
            </p:nvSpPr>
            <p:spPr>
              <a:xfrm>
                <a:off x="153302" y="136462"/>
                <a:ext cx="29439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2400">
                    <a:solidFill>
                      <a:srgbClr val="990000"/>
                    </a:solidFill>
                    <a:uFill>
                      <a:solidFill>
                        <a:srgbClr val="99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</p:grpSp>
      <p:grpSp>
        <p:nvGrpSpPr>
          <p:cNvPr id="2152" name="Shape 2287"/>
          <p:cNvGrpSpPr/>
          <p:nvPr/>
        </p:nvGrpSpPr>
        <p:grpSpPr>
          <a:xfrm>
            <a:off x="9652000" y="1103820"/>
            <a:ext cx="1104900" cy="1104904"/>
            <a:chOff x="0" y="0"/>
            <a:chExt cx="1104900" cy="1104903"/>
          </a:xfrm>
        </p:grpSpPr>
        <p:sp>
          <p:nvSpPr>
            <p:cNvPr id="2150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51" name="t :  A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A</a:t>
              </a:r>
            </a:p>
          </p:txBody>
        </p:sp>
      </p:grpSp>
      <p:grpSp>
        <p:nvGrpSpPr>
          <p:cNvPr id="2155" name="Shape 2288"/>
          <p:cNvGrpSpPr/>
          <p:nvPr/>
        </p:nvGrpSpPr>
        <p:grpSpPr>
          <a:xfrm>
            <a:off x="8369300" y="2526220"/>
            <a:ext cx="1104900" cy="1104904"/>
            <a:chOff x="0" y="0"/>
            <a:chExt cx="1104900" cy="1104903"/>
          </a:xfrm>
        </p:grpSpPr>
        <p:sp>
          <p:nvSpPr>
            <p:cNvPr id="2153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54" name="t :  B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B</a:t>
              </a:r>
            </a:p>
          </p:txBody>
        </p:sp>
      </p:grpSp>
      <p:grpSp>
        <p:nvGrpSpPr>
          <p:cNvPr id="2158" name="Shape 2289"/>
          <p:cNvGrpSpPr/>
          <p:nvPr/>
        </p:nvGrpSpPr>
        <p:grpSpPr>
          <a:xfrm>
            <a:off x="7556500" y="3961322"/>
            <a:ext cx="1104900" cy="1104904"/>
            <a:chOff x="0" y="0"/>
            <a:chExt cx="1104900" cy="1104903"/>
          </a:xfrm>
        </p:grpSpPr>
        <p:sp>
          <p:nvSpPr>
            <p:cNvPr id="2156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57" name="t :  0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0</a:t>
              </a:r>
            </a:p>
          </p:txBody>
        </p:sp>
      </p:grpSp>
      <p:grpSp>
        <p:nvGrpSpPr>
          <p:cNvPr id="2161" name="Shape 2290"/>
          <p:cNvGrpSpPr/>
          <p:nvPr/>
        </p:nvGrpSpPr>
        <p:grpSpPr>
          <a:xfrm>
            <a:off x="9258300" y="3961322"/>
            <a:ext cx="1104900" cy="1104904"/>
            <a:chOff x="0" y="0"/>
            <a:chExt cx="1104900" cy="1104903"/>
          </a:xfrm>
        </p:grpSpPr>
        <p:sp>
          <p:nvSpPr>
            <p:cNvPr id="2159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0" name="t :  C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C</a:t>
              </a:r>
            </a:p>
          </p:txBody>
        </p:sp>
      </p:grpSp>
      <p:grpSp>
        <p:nvGrpSpPr>
          <p:cNvPr id="2164" name="Shape 2291"/>
          <p:cNvGrpSpPr/>
          <p:nvPr/>
        </p:nvGrpSpPr>
        <p:grpSpPr>
          <a:xfrm>
            <a:off x="8369300" y="5447222"/>
            <a:ext cx="1104900" cy="1104904"/>
            <a:chOff x="0" y="0"/>
            <a:chExt cx="1104900" cy="1104903"/>
          </a:xfrm>
        </p:grpSpPr>
        <p:sp>
          <p:nvSpPr>
            <p:cNvPr id="2162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3" name="t :  0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0</a:t>
              </a:r>
            </a:p>
          </p:txBody>
        </p:sp>
      </p:grpSp>
      <p:grpSp>
        <p:nvGrpSpPr>
          <p:cNvPr id="2167" name="Shape 2292"/>
          <p:cNvGrpSpPr/>
          <p:nvPr/>
        </p:nvGrpSpPr>
        <p:grpSpPr>
          <a:xfrm>
            <a:off x="10071100" y="5447222"/>
            <a:ext cx="1104900" cy="1104904"/>
            <a:chOff x="0" y="0"/>
            <a:chExt cx="1104900" cy="1104903"/>
          </a:xfrm>
        </p:grpSpPr>
        <p:sp>
          <p:nvSpPr>
            <p:cNvPr id="2165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6" name="t :  0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0</a:t>
              </a:r>
            </a:p>
          </p:txBody>
        </p:sp>
      </p:grpSp>
      <p:grpSp>
        <p:nvGrpSpPr>
          <p:cNvPr id="2170" name="Shape 2293"/>
          <p:cNvGrpSpPr/>
          <p:nvPr/>
        </p:nvGrpSpPr>
        <p:grpSpPr>
          <a:xfrm>
            <a:off x="11099800" y="2526220"/>
            <a:ext cx="1104900" cy="1104904"/>
            <a:chOff x="0" y="0"/>
            <a:chExt cx="1104900" cy="1104903"/>
          </a:xfrm>
        </p:grpSpPr>
        <p:sp>
          <p:nvSpPr>
            <p:cNvPr id="2168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9" name="t :  D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D</a:t>
              </a:r>
            </a:p>
          </p:txBody>
        </p:sp>
      </p:grpSp>
      <p:grpSp>
        <p:nvGrpSpPr>
          <p:cNvPr id="2173" name="Shape 2294"/>
          <p:cNvGrpSpPr/>
          <p:nvPr/>
        </p:nvGrpSpPr>
        <p:grpSpPr>
          <a:xfrm>
            <a:off x="10528300" y="3961322"/>
            <a:ext cx="1104900" cy="1104904"/>
            <a:chOff x="0" y="0"/>
            <a:chExt cx="1104900" cy="1104903"/>
          </a:xfrm>
        </p:grpSpPr>
        <p:sp>
          <p:nvSpPr>
            <p:cNvPr id="2171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2" name="t :  0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0</a:t>
              </a:r>
            </a:p>
          </p:txBody>
        </p:sp>
      </p:grpSp>
      <p:grpSp>
        <p:nvGrpSpPr>
          <p:cNvPr id="2176" name="Shape 2295"/>
          <p:cNvGrpSpPr/>
          <p:nvPr/>
        </p:nvGrpSpPr>
        <p:grpSpPr>
          <a:xfrm>
            <a:off x="11798300" y="3961322"/>
            <a:ext cx="1104900" cy="1104904"/>
            <a:chOff x="0" y="0"/>
            <a:chExt cx="1104900" cy="1104903"/>
          </a:xfrm>
        </p:grpSpPr>
        <p:sp>
          <p:nvSpPr>
            <p:cNvPr id="2174" name="正方形"/>
            <p:cNvSpPr/>
            <p:nvPr/>
          </p:nvSpPr>
          <p:spPr>
            <a:xfrm>
              <a:off x="0" y="-1"/>
              <a:ext cx="1104900" cy="11049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5" name="t :  0"/>
            <p:cNvSpPr txBox="1"/>
            <p:nvPr/>
          </p:nvSpPr>
          <p:spPr>
            <a:xfrm>
              <a:off x="0" y="-1"/>
              <a:ext cx="11049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 :  0</a:t>
              </a:r>
            </a:p>
          </p:txBody>
        </p:sp>
      </p:grpSp>
      <p:sp>
        <p:nvSpPr>
          <p:cNvPr id="2177" name="Shape 2296"/>
          <p:cNvSpPr/>
          <p:nvPr/>
        </p:nvSpPr>
        <p:spPr>
          <a:xfrm flipV="1">
            <a:off x="9131299" y="1682564"/>
            <a:ext cx="1065810" cy="843661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78" name="Shape 2297"/>
          <p:cNvSpPr/>
          <p:nvPr/>
        </p:nvSpPr>
        <p:spPr>
          <a:xfrm flipV="1">
            <a:off x="7937499" y="3091472"/>
            <a:ext cx="968127" cy="883296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79" name="Shape 2298"/>
          <p:cNvSpPr/>
          <p:nvPr/>
        </p:nvSpPr>
        <p:spPr>
          <a:xfrm flipH="1" flipV="1">
            <a:off x="10407006" y="1853369"/>
            <a:ext cx="958455" cy="674344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0" name="Shape 2299"/>
          <p:cNvSpPr/>
          <p:nvPr/>
        </p:nvSpPr>
        <p:spPr>
          <a:xfrm flipH="1" flipV="1">
            <a:off x="8930778" y="3395230"/>
            <a:ext cx="772570" cy="604046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1" name="Shape 2300"/>
          <p:cNvSpPr/>
          <p:nvPr/>
        </p:nvSpPr>
        <p:spPr>
          <a:xfrm flipV="1">
            <a:off x="8879778" y="4583622"/>
            <a:ext cx="874168" cy="865240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2" name="Shape 2301"/>
          <p:cNvSpPr/>
          <p:nvPr/>
        </p:nvSpPr>
        <p:spPr>
          <a:xfrm flipV="1">
            <a:off x="10706099" y="3148918"/>
            <a:ext cx="968476" cy="814043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3" name="Shape 2302"/>
          <p:cNvSpPr/>
          <p:nvPr/>
        </p:nvSpPr>
        <p:spPr>
          <a:xfrm flipH="1" flipV="1">
            <a:off x="11705827" y="3364966"/>
            <a:ext cx="717155" cy="632276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4" name="Shape 2303"/>
          <p:cNvSpPr/>
          <p:nvPr/>
        </p:nvSpPr>
        <p:spPr>
          <a:xfrm flipH="1" flipV="1">
            <a:off x="9878465" y="4710622"/>
            <a:ext cx="708921" cy="780309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185" name="Shape 2304"/>
          <p:cNvSpPr txBox="1"/>
          <p:nvPr/>
        </p:nvSpPr>
        <p:spPr>
          <a:xfrm>
            <a:off x="4483100" y="6007100"/>
            <a:ext cx="447244" cy="517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F2712"/>
                </a:solidFill>
                <a:uFill>
                  <a:solidFill>
                    <a:srgbClr val="FF2712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186" name="Shape 2305"/>
          <p:cNvSpPr txBox="1"/>
          <p:nvPr/>
        </p:nvSpPr>
        <p:spPr>
          <a:xfrm>
            <a:off x="5003800" y="6007100"/>
            <a:ext cx="426223" cy="517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F2712"/>
                </a:solidFill>
                <a:uFill>
                  <a:solidFill>
                    <a:srgbClr val="FF2712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187" name="Shape 2306"/>
          <p:cNvSpPr txBox="1"/>
          <p:nvPr/>
        </p:nvSpPr>
        <p:spPr>
          <a:xfrm>
            <a:off x="5549900" y="6007100"/>
            <a:ext cx="447244" cy="517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F2712"/>
                </a:solidFill>
                <a:uFill>
                  <a:solidFill>
                    <a:srgbClr val="FF2712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188" name="Shape 2307"/>
          <p:cNvSpPr txBox="1"/>
          <p:nvPr/>
        </p:nvSpPr>
        <p:spPr>
          <a:xfrm>
            <a:off x="6096000" y="6007100"/>
            <a:ext cx="447244" cy="517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F2712"/>
                </a:solidFill>
                <a:uFill>
                  <a:solidFill>
                    <a:srgbClr val="FF2712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189" name="Shape 2309"/>
          <p:cNvSpPr txBox="1"/>
          <p:nvPr/>
        </p:nvSpPr>
        <p:spPr>
          <a:xfrm>
            <a:off x="117308" y="994505"/>
            <a:ext cx="690285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/>
          </a:lstStyle>
          <a:p>
            <a:pPr/>
            <a:r>
              <a:t>可以使用Debug功能观察函数的调用过程</a:t>
            </a:r>
          </a:p>
        </p:txBody>
      </p:sp>
      <p:sp>
        <p:nvSpPr>
          <p:cNvPr id="2190" name="public void preRootTraversal() {…"/>
          <p:cNvSpPr txBox="1"/>
          <p:nvPr/>
        </p:nvSpPr>
        <p:spPr>
          <a:xfrm>
            <a:off x="10045" y="1825071"/>
            <a:ext cx="7863955" cy="4005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preRootTraversal() 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对结点的数据进行处理，</a:t>
            </a:r>
            <a:r>
              <a:rPr>
                <a:solidFill>
                  <a:schemeClr val="accent5"/>
                </a:solidFill>
              </a:rPr>
              <a:t>例如：</a:t>
            </a:r>
            <a:r>
              <a:t>输出结点t的数据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500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5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xit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36" dur="2000" fill="hold"/>
                                        <p:tgtEl>
                                          <p:spTgt spid="2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xit" nodeType="click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41" dur="1000" fill="hold"/>
                                        <p:tgtEl>
                                          <p:spTgt spid="2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1500"/>
                                        <p:tgtEl>
                                          <p:spTgt spid="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xit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67" dur="1000" fill="hold"/>
                                        <p:tgtEl>
                                          <p:spTgt spid="2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xit" nodeType="clickEffect" presetSubtype="2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72" dur="1000" fill="hold"/>
                                        <p:tgtEl>
                                          <p:spTgt spid="2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Class="exit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85" dur="1000" fill="hold"/>
                                        <p:tgtEl>
                                          <p:spTgt spid="2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xit" nodeType="clickEffect" presetSubtype="2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90" dur="1000" fill="hold"/>
                                        <p:tgtEl>
                                          <p:spTgt spid="2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Class="exit" nodeType="click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95" dur="1000" fill="hold"/>
                                        <p:tgtEl>
                                          <p:spTgt spid="2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Class="exit" nodeType="clickEffect" presetSubtype="2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00" dur="1000" fill="hold"/>
                                        <p:tgtEl>
                                          <p:spTgt spid="2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exit" nodeType="click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105" dur="2000" fill="hold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xit" nodeType="clickEffect" presetSubtype="2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10" dur="1000" fill="hold"/>
                                        <p:tgtEl>
                                          <p:spTgt spid="2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Class="entr" nodeType="click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4" dur="1500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Class="entr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Class="exit" nodeType="click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136" dur="1000" fill="hold"/>
                                        <p:tgtEl>
                                          <p:spTgt spid="2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Class="exit" nodeType="clickEffect" presetSubtype="2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41" dur="1000" fill="hold"/>
                                        <p:tgtEl>
                                          <p:spTgt spid="2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Class="entr" nodeType="clickEffect" presetSubtype="0" presetID="1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Class="entr" nodeType="clickEffect" presetSubtype="0" presetID="1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Class="exit" nodeType="clickEffect" presetSubtype="8" presetID="2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154" dur="1000" fill="hold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Class="exit" nodeType="clickEffect" presetSubtype="2" presetID="22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59" dur="1000" fill="hold"/>
                                        <p:tgtEl>
                                          <p:spTgt spid="2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Class="exit" nodeType="clickEffect" presetSubtype="8" presetID="2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164" dur="1000" fill="hold"/>
                                        <p:tgtEl>
                                          <p:spTgt spid="2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Class="exit" nodeType="clickEffect" presetSubtype="2" presetID="22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69" dur="1000" fill="hold"/>
                                        <p:tgtEl>
                                          <p:spTgt spid="2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Class="exit" nodeType="clickEffect" presetSubtype="6" presetID="15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70" grpId="26"/>
      <p:bldP build="whole" bldLvl="1" animBg="1" rev="0" advAuto="0" spid="2180" grpId="10"/>
      <p:bldP build="whole" bldLvl="1" animBg="1" rev="0" advAuto="0" spid="2155" grpId="23"/>
      <p:bldP build="whole" bldLvl="1" animBg="1" rev="0" advAuto="0" spid="2158" grpId="7"/>
      <p:bldP build="whole" bldLvl="1" animBg="1" rev="0" advAuto="0" spid="2158" grpId="8"/>
      <p:bldP build="whole" bldLvl="1" animBg="1" rev="0" advAuto="0" spid="2179" grpId="25"/>
      <p:bldP build="whole" bldLvl="1" animBg="1" rev="0" advAuto="0" spid="2170" grpId="36"/>
      <p:bldP build="whole" bldLvl="1" animBg="1" rev="0" advAuto="0" spid="2180" grpId="22"/>
      <p:bldP build="whole" bldLvl="1" animBg="1" rev="0" advAuto="0" spid="2181" grpId="13"/>
      <p:bldP build="whole" bldLvl="1" animBg="1" rev="0" advAuto="0" spid="2173" grpId="29"/>
      <p:bldP build="whole" bldLvl="1" animBg="1" rev="0" advAuto="0" spid="2181" grpId="16"/>
      <p:bldP build="whole" bldLvl="1" animBg="1" rev="0" advAuto="0" spid="2173" grpId="30"/>
      <p:bldP build="whole" bldLvl="1" animBg="1" rev="0" advAuto="0" spid="2152" grpId="38"/>
      <p:bldP build="whole" bldLvl="1" animBg="1" rev="0" advAuto="0" spid="2188" grpId="27"/>
      <p:bldP build="whole" bldLvl="1" animBg="1" rev="0" advAuto="0" spid="2161" grpId="11"/>
      <p:bldP build="whole" bldLvl="1" animBg="1" rev="0" advAuto="0" spid="2179" grpId="37"/>
      <p:bldP build="whole" bldLvl="1" animBg="1" rev="0" advAuto="0" spid="2161" grpId="21"/>
      <p:bldP build="whole" bldLvl="1" animBg="1" rev="0" advAuto="0" spid="2176" grpId="33"/>
      <p:bldP build="whole" bldLvl="1" animBg="1" rev="0" advAuto="0" spid="2176" grpId="34"/>
      <p:bldP build="whole" bldLvl="1" animBg="1" rev="0" advAuto="0" spid="2164" grpId="14"/>
      <p:bldP build="whole" bldLvl="1" animBg="1" rev="0" advAuto="0" spid="2164" grpId="15"/>
      <p:bldP build="whole" bldLvl="1" animBg="1" rev="0" advAuto="0" spid="2177" grpId="3"/>
      <p:bldP build="whole" bldLvl="1" animBg="1" rev="0" advAuto="0" spid="2182" grpId="28"/>
      <p:bldP build="whole" bldLvl="1" animBg="1" rev="0" advAuto="0" spid="2185" grpId="2"/>
      <p:bldP build="whole" bldLvl="1" animBg="1" rev="0" advAuto="0" spid="2182" grpId="31"/>
      <p:bldP build="whole" bldLvl="1" animBg="1" rev="0" advAuto="0" spid="2184" grpId="17"/>
      <p:bldP build="whole" bldLvl="1" animBg="1" rev="0" advAuto="0" spid="2184" grpId="20"/>
      <p:bldP build="whole" bldLvl="1" animBg="1" rev="0" advAuto="0" spid="2152" grpId="1"/>
      <p:bldP build="whole" bldLvl="1" animBg="1" rev="0" advAuto="0" spid="2178" grpId="6"/>
      <p:bldP build="whole" bldLvl="1" animBg="1" rev="0" advAuto="0" spid="2183" grpId="32"/>
      <p:bldP build="whole" bldLvl="1" animBg="1" rev="0" advAuto="0" spid="2186" grpId="5"/>
      <p:bldP build="whole" bldLvl="1" animBg="1" rev="0" advAuto="0" spid="2178" grpId="9"/>
      <p:bldP build="whole" bldLvl="1" animBg="1" rev="0" advAuto="0" spid="2167" grpId="18"/>
      <p:bldP build="whole" bldLvl="1" animBg="1" rev="0" advAuto="0" spid="2167" grpId="19"/>
      <p:bldP build="whole" bldLvl="1" animBg="1" rev="0" advAuto="0" spid="2155" grpId="4"/>
      <p:bldP build="whole" bldLvl="1" animBg="1" rev="0" advAuto="0" spid="2183" grpId="35"/>
      <p:bldP build="whole" bldLvl="1" animBg="1" rev="0" advAuto="0" spid="2177" grpId="24"/>
      <p:bldP build="whole" bldLvl="1" animBg="1" rev="0" advAuto="0" spid="2187" grpId="12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java的函数接口</a:t>
            </a:r>
          </a:p>
        </p:txBody>
      </p:sp>
      <p:sp>
        <p:nvSpPr>
          <p:cNvPr id="2193" name="高阶函数：函数的参数或返回值是函数的函数。即函数也是数据。"/>
          <p:cNvSpPr txBox="1"/>
          <p:nvPr/>
        </p:nvSpPr>
        <p:spPr>
          <a:xfrm>
            <a:off x="750879" y="1314871"/>
            <a:ext cx="1122109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defTabSz="1295400">
              <a:spcBef>
                <a:spcPts val="1900"/>
              </a:spcBef>
              <a:defRPr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高阶函数：函数的参数或返回值是函数的函数。即函数也是数据。</a:t>
            </a:r>
          </a:p>
        </p:txBody>
      </p:sp>
      <p:sp>
        <p:nvSpPr>
          <p:cNvPr id="2194" name="为了能将函数像数据那样传递，java se 8提出了函数接口的概念：…"/>
          <p:cNvSpPr txBox="1"/>
          <p:nvPr/>
        </p:nvSpPr>
        <p:spPr>
          <a:xfrm>
            <a:off x="332801" y="2260496"/>
            <a:ext cx="12182975" cy="366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7" indent="57797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为了能将函数像数据那样传递，java se 8提出了函数接口的概念：</a:t>
            </a:r>
          </a:p>
          <a:p>
            <a:pPr marR="57797" indent="57797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                                         </a:t>
            </a:r>
            <a:r>
              <a:rPr>
                <a:solidFill>
                  <a:schemeClr val="accent1"/>
                </a:solidFill>
              </a:rPr>
              <a:t>只有1个抽象函数的接口</a:t>
            </a:r>
          </a:p>
          <a:p>
            <a:pPr marR="57797" indent="57797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1、java se 8在包java.util.function定义了一系列的函数接口</a:t>
            </a:r>
          </a:p>
          <a:p>
            <a:pPr marR="57797" indent="57797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2、如果方法的参数的类型是函数接口，实参可以是</a:t>
            </a:r>
            <a:r>
              <a:rPr>
                <a:solidFill>
                  <a:schemeClr val="accent1"/>
                </a:solidFill>
              </a:rPr>
              <a:t>函数引用</a:t>
            </a:r>
            <a:r>
              <a:t>或</a:t>
            </a:r>
            <a:r>
              <a:rPr>
                <a:solidFill>
                  <a:schemeClr val="accent1"/>
                </a:solidFill>
              </a:rPr>
              <a:t>Lambda</a:t>
            </a:r>
            <a:r>
              <a:t>表达式</a:t>
            </a:r>
          </a:p>
          <a:p>
            <a:pPr marR="57797" indent="57797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      或某个对象(这个对象所属的类实现了函数接口)。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java的函数接口</a:t>
            </a:r>
          </a:p>
        </p:txBody>
      </p:sp>
      <p:sp>
        <p:nvSpPr>
          <p:cNvPr id="2197" name="@FunctionalInterface…"/>
          <p:cNvSpPr txBox="1"/>
          <p:nvPr/>
        </p:nvSpPr>
        <p:spPr>
          <a:xfrm>
            <a:off x="957957" y="1227561"/>
            <a:ext cx="10905977" cy="4140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@FunctionalInterface</a:t>
            </a:r>
          </a:p>
          <a:p>
            <a:pPr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interface</a:t>
            </a:r>
            <a:r>
              <a:rPr>
                <a:solidFill>
                  <a:srgbClr val="000000"/>
                </a:solidFill>
              </a:rPr>
              <a:t> Consumer&lt;T&gt;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accept(T 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default</a:t>
            </a:r>
            <a:r>
              <a:t> Consumer&lt;T&gt; andThen(Consumer&lt;?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 </a:t>
            </a:r>
            <a:r>
              <a:rPr>
                <a:solidFill>
                  <a:srgbClr val="7E504F"/>
                </a:solidFill>
              </a:rPr>
              <a:t>after</a:t>
            </a:r>
            <a:r>
              <a:t>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    Objects.requireNonNull(</a:t>
            </a:r>
            <a:r>
              <a:rPr>
                <a:solidFill>
                  <a:srgbClr val="7E504F"/>
                </a:solidFill>
              </a:rPr>
              <a:t>after</a:t>
            </a:r>
            <a:r>
              <a:t>);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(T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-&gt; { accept(</a:t>
            </a:r>
            <a:r>
              <a:rPr>
                <a:solidFill>
                  <a:srgbClr val="7E504F"/>
                </a:solidFill>
              </a:rPr>
              <a:t>t</a:t>
            </a:r>
            <a:r>
              <a:t>); </a:t>
            </a:r>
            <a:r>
              <a:rPr>
                <a:solidFill>
                  <a:srgbClr val="7E504F"/>
                </a:solidFill>
              </a:rPr>
              <a:t>after</a:t>
            </a:r>
            <a:r>
              <a:t>.accept(</a:t>
            </a:r>
            <a:r>
              <a:rPr>
                <a:solidFill>
                  <a:srgbClr val="7E504F"/>
                </a:solidFill>
              </a:rPr>
              <a:t>t</a:t>
            </a:r>
            <a:r>
              <a:t>); };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2198" name="、"/>
          <p:cNvSpPr txBox="1"/>
          <p:nvPr/>
        </p:nvSpPr>
        <p:spPr>
          <a:xfrm>
            <a:off x="1402604" y="6901319"/>
            <a:ext cx="4191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前序遍历</a:t>
            </a:r>
          </a:p>
        </p:txBody>
      </p:sp>
      <p:sp>
        <p:nvSpPr>
          <p:cNvPr id="2201" name="public void preRootTraversal(Consumer&lt;T&gt; fun) {…"/>
          <p:cNvSpPr txBox="1"/>
          <p:nvPr/>
        </p:nvSpPr>
        <p:spPr>
          <a:xfrm>
            <a:off x="337048" y="1241901"/>
            <a:ext cx="10463871" cy="467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preRootTraversal(Consumer&lt;T&gt;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preRootTraversal(Node&lt;T&gt;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Consumer&lt;T&gt;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4E9072"/>
                </a:solidFill>
              </a:rPr>
              <a:t>// 处理结点t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fun</a:t>
            </a:r>
            <a:r>
              <a:t>.accept(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preRootTraversal(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传入函数</a:t>
            </a:r>
          </a:p>
        </p:txBody>
      </p:sp>
      <p:sp>
        <p:nvSpPr>
          <p:cNvPr id="2204" name="btl.preRootTraversal(System.out::println);//函数引用…"/>
          <p:cNvSpPr txBox="1"/>
          <p:nvPr/>
        </p:nvSpPr>
        <p:spPr>
          <a:xfrm>
            <a:off x="277115" y="1252493"/>
            <a:ext cx="11637468" cy="303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btl</a:t>
            </a:r>
            <a:r>
              <a:rPr>
                <a:solidFill>
                  <a:srgbClr val="000000"/>
                </a:solidFill>
              </a:rPr>
              <a:t>.preRootTraversal(System.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::println);//函数引用		</a:t>
            </a:r>
          </a:p>
          <a:p>
            <a:pPr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btl</a:t>
            </a:r>
            <a:r>
              <a:rPr>
                <a:solidFill>
                  <a:srgbClr val="000000"/>
                </a:solidFill>
              </a:rPr>
              <a:t>.preRootTraversal(</a:t>
            </a:r>
            <a:r>
              <a:t>x</a:t>
            </a:r>
            <a:r>
              <a:rPr>
                <a:solidFill>
                  <a:srgbClr val="000000"/>
                </a:solidFill>
              </a:rPr>
              <a:t> -&gt; 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x</a:t>
            </a:r>
            <a:r>
              <a:rPr>
                <a:solidFill>
                  <a:srgbClr val="000000"/>
                </a:solidFill>
              </a:rPr>
              <a:t>));//Lambda 表达式</a:t>
            </a:r>
          </a:p>
          <a:p>
            <a:pPr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btl</a:t>
            </a:r>
            <a:r>
              <a:rPr>
                <a:solidFill>
                  <a:srgbClr val="000000"/>
                </a:solidFill>
              </a:rPr>
              <a:t>.preRootTraversal(</a:t>
            </a:r>
            <a:r>
              <a:t>new Test()</a:t>
            </a:r>
            <a:r>
              <a:rPr>
                <a:solidFill>
                  <a:srgbClr val="000000"/>
                </a:solidFill>
              </a:rPr>
              <a:t>);//对象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public class Test implements Consumer&lt;Test&gt;{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...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遍历小结</a:t>
            </a:r>
          </a:p>
        </p:txBody>
      </p:sp>
      <p:sp>
        <p:nvSpPr>
          <p:cNvPr id="2207" name="1、时间复杂度为O(n)：因为访问每个结点用的时间是常数…"/>
          <p:cNvSpPr txBox="1"/>
          <p:nvPr/>
        </p:nvSpPr>
        <p:spPr>
          <a:xfrm>
            <a:off x="720336" y="1327571"/>
            <a:ext cx="11570501" cy="2659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t>1、时间复杂度为O(n)：因为访问每个结点用的时间是常数</a:t>
            </a:r>
          </a:p>
          <a:p>
            <a:pPr>
              <a:lnSpc>
                <a:spcPct val="120000"/>
              </a:lnSpc>
              <a:defRPr sz="2500"/>
            </a:pPr>
            <a:r>
              <a:t>2、空间复杂度O(logn)：因为递归要用到系统栈，非递归的算法也要用到栈，极端</a:t>
            </a:r>
          </a:p>
          <a:p>
            <a:pPr>
              <a:lnSpc>
                <a:spcPct val="120000"/>
              </a:lnSpc>
              <a:defRPr sz="2500"/>
            </a:pPr>
            <a:r>
              <a:t>                                           情况会达到O(n)</a:t>
            </a:r>
          </a:p>
          <a:p>
            <a:pPr>
              <a:lnSpc>
                <a:spcPct val="120000"/>
              </a:lnSpc>
              <a:defRPr sz="2500"/>
            </a:pPr>
            <a:r>
              <a:t>3、1979年，Joseph Morris发明了空间复杂度为O(1)的遍历算法，利用了二叉链表中</a:t>
            </a:r>
          </a:p>
          <a:p>
            <a:pPr>
              <a:lnSpc>
                <a:spcPct val="120000"/>
              </a:lnSpc>
              <a:defRPr sz="2500"/>
            </a:pPr>
            <a:r>
              <a:t>      大量的null引用变量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非递归的遍历</a:t>
            </a:r>
          </a:p>
        </p:txBody>
      </p:sp>
      <p:sp>
        <p:nvSpPr>
          <p:cNvPr id="2210" name="public void inOrderNonRecursively() {…"/>
          <p:cNvSpPr txBox="1"/>
          <p:nvPr/>
        </p:nvSpPr>
        <p:spPr>
          <a:xfrm>
            <a:off x="475644" y="1811866"/>
            <a:ext cx="12207814" cy="668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inOrderNonRecursively()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stackNode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(;;) {</a:t>
            </a:r>
            <a:r>
              <a:rPr>
                <a:solidFill>
                  <a:srgbClr val="4E9072"/>
                </a:solidFill>
              </a:rPr>
              <a:t>// 对变量p代表的每棵二叉树做相同的操作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向左不断的分解二叉树，将以后要访问的各子二叉树逐次入栈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stackNode</a:t>
            </a:r>
            <a:r>
              <a:t>.push(</a:t>
            </a:r>
            <a:r>
              <a:rPr>
                <a:solidFill>
                  <a:srgbClr val="7E504F"/>
                </a:solidFill>
              </a:rPr>
              <a:t>p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4E9072"/>
                </a:solidFill>
              </a:rPr>
              <a:t>// 到此，p代表的二叉树分解到空二叉树，处理完毕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stackNode</a:t>
            </a:r>
            <a:r>
              <a:t>.isEmpty())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stackNode</a:t>
            </a:r>
            <a:r>
              <a:t>.pop(); </a:t>
            </a:r>
            <a:r>
              <a:rPr>
                <a:solidFill>
                  <a:srgbClr val="4E9072"/>
                </a:solidFill>
              </a:rPr>
              <a:t>// 从栈中取出下1棵待处理的二叉树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 </a:t>
            </a:r>
            <a:r>
              <a:rPr>
                <a:solidFill>
                  <a:srgbClr val="4E9072"/>
                </a:solidFill>
              </a:rPr>
              <a:t>// 做处理，例如，输出根结点的值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继续处理它的右子树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211" name="中序遍历如下，其它的见工程"/>
          <p:cNvSpPr txBox="1"/>
          <p:nvPr/>
        </p:nvSpPr>
        <p:spPr>
          <a:xfrm>
            <a:off x="687379" y="1136649"/>
            <a:ext cx="4959999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中序遍历如下，其它的见工程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结点个数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结点个数</a:t>
            </a:r>
          </a:p>
        </p:txBody>
      </p:sp>
      <p:grpSp>
        <p:nvGrpSpPr>
          <p:cNvPr id="2235" name="Group 2525"/>
          <p:cNvGrpSpPr/>
          <p:nvPr/>
        </p:nvGrpSpPr>
        <p:grpSpPr>
          <a:xfrm>
            <a:off x="1489552" y="4796365"/>
            <a:ext cx="4636921" cy="4251333"/>
            <a:chOff x="0" y="0"/>
            <a:chExt cx="4636919" cy="4251332"/>
          </a:xfrm>
        </p:grpSpPr>
        <p:grpSp>
          <p:nvGrpSpPr>
            <p:cNvPr id="2225" name="Group 2515"/>
            <p:cNvGrpSpPr/>
            <p:nvPr/>
          </p:nvGrpSpPr>
          <p:grpSpPr>
            <a:xfrm>
              <a:off x="52209" y="2821"/>
              <a:ext cx="4584711" cy="4208417"/>
              <a:chOff x="0" y="0"/>
              <a:chExt cx="4584709" cy="4208415"/>
            </a:xfrm>
          </p:grpSpPr>
          <p:grpSp>
            <p:nvGrpSpPr>
              <p:cNvPr id="2216" name="Group 2506"/>
              <p:cNvGrpSpPr/>
              <p:nvPr/>
            </p:nvGrpSpPr>
            <p:grpSpPr>
              <a:xfrm>
                <a:off x="0" y="1524001"/>
                <a:ext cx="2255725" cy="2654604"/>
                <a:chOff x="0" y="0"/>
                <a:chExt cx="2255724" cy="2654603"/>
              </a:xfrm>
            </p:grpSpPr>
            <p:sp>
              <p:nvSpPr>
                <p:cNvPr id="2214" name="Shape 2504"/>
                <p:cNvSpPr/>
                <p:nvPr/>
              </p:nvSpPr>
              <p:spPr>
                <a:xfrm>
                  <a:off x="0" y="0"/>
                  <a:ext cx="14732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15" name="Shape 2505"/>
                <p:cNvSpPr/>
                <p:nvPr/>
              </p:nvSpPr>
              <p:spPr>
                <a:xfrm>
                  <a:off x="985724" y="13846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左</a:t>
                  </a:r>
                </a:p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grpSp>
            <p:nvGrpSpPr>
              <p:cNvPr id="2219" name="Group 2509"/>
              <p:cNvGrpSpPr/>
              <p:nvPr/>
            </p:nvGrpSpPr>
            <p:grpSpPr>
              <a:xfrm>
                <a:off x="2926085" y="1524001"/>
                <a:ext cx="1658625" cy="2684415"/>
                <a:chOff x="121887" y="0"/>
                <a:chExt cx="1658623" cy="2684413"/>
              </a:xfrm>
            </p:grpSpPr>
            <p:sp>
              <p:nvSpPr>
                <p:cNvPr id="2217" name="Shape 2507"/>
                <p:cNvSpPr/>
                <p:nvPr/>
              </p:nvSpPr>
              <p:spPr>
                <a:xfrm>
                  <a:off x="121887" y="0"/>
                  <a:ext cx="14097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18" name="Shape 2508"/>
                <p:cNvSpPr/>
                <p:nvPr/>
              </p:nvSpPr>
              <p:spPr>
                <a:xfrm>
                  <a:off x="510511" y="141441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右</a:t>
                  </a:r>
                </a:p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sp>
            <p:nvSpPr>
              <p:cNvPr id="2220" name="Shape 2510"/>
              <p:cNvSpPr/>
              <p:nvPr/>
            </p:nvSpPr>
            <p:spPr>
              <a:xfrm flipH="1">
                <a:off x="1478397" y="977901"/>
                <a:ext cx="369035" cy="558654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221" name="Shape 2511"/>
              <p:cNvSpPr/>
              <p:nvPr/>
            </p:nvSpPr>
            <p:spPr>
              <a:xfrm>
                <a:off x="2600964" y="977901"/>
                <a:ext cx="330204" cy="546102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224" name="Group 2514"/>
              <p:cNvGrpSpPr/>
              <p:nvPr/>
            </p:nvGrpSpPr>
            <p:grpSpPr>
              <a:xfrm>
                <a:off x="1625602" y="0"/>
                <a:ext cx="1866902" cy="1809751"/>
                <a:chOff x="0" y="0"/>
                <a:chExt cx="1866901" cy="1809751"/>
              </a:xfrm>
            </p:grpSpPr>
            <p:sp>
              <p:nvSpPr>
                <p:cNvPr id="2222" name="Shape 2512"/>
                <p:cNvSpPr/>
                <p:nvPr/>
              </p:nvSpPr>
              <p:spPr>
                <a:xfrm>
                  <a:off x="0" y="0"/>
                  <a:ext cx="1193803" cy="1079503"/>
                </a:xfrm>
                <a:prstGeom prst="ellipse">
                  <a:avLst/>
                </a:pr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23" name="Shape 2513"/>
                <p:cNvSpPr/>
                <p:nvPr/>
              </p:nvSpPr>
              <p:spPr>
                <a:xfrm>
                  <a:off x="596901" y="53975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sz="5000">
                      <a:solidFill>
                        <a:srgbClr val="990000"/>
                      </a:solidFill>
                      <a:uFill>
                        <a:solidFill>
                          <a:srgbClr val="99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lvl1pPr>
                </a:lstStyle>
                <a:p>
                  <a:pPr/>
                  <a:r>
                    <a:t>根</a:t>
                  </a:r>
                </a:p>
              </p:txBody>
            </p:sp>
          </p:grpSp>
        </p:grpSp>
        <p:grpSp>
          <p:nvGrpSpPr>
            <p:cNvPr id="2228" name="Group 2518"/>
            <p:cNvGrpSpPr/>
            <p:nvPr/>
          </p:nvGrpSpPr>
          <p:grpSpPr>
            <a:xfrm>
              <a:off x="1677246" y="0"/>
              <a:ext cx="1866904" cy="1809751"/>
              <a:chOff x="0" y="0"/>
              <a:chExt cx="1866903" cy="1809751"/>
            </a:xfrm>
          </p:grpSpPr>
          <p:sp>
            <p:nvSpPr>
              <p:cNvPr id="2226" name="Shape 2516"/>
              <p:cNvSpPr/>
              <p:nvPr/>
            </p:nvSpPr>
            <p:spPr>
              <a:xfrm>
                <a:off x="0" y="0"/>
                <a:ext cx="1193807" cy="1079503"/>
              </a:xfrm>
              <a:prstGeom prst="ellipse">
                <a:avLst/>
              </a:prstGeom>
              <a:solidFill>
                <a:srgbClr val="333399"/>
              </a:solidFill>
              <a:ln w="12700" cap="sq">
                <a:solidFill>
                  <a:srgbClr val="A5002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27" name="Shape 2517"/>
              <p:cNvSpPr/>
              <p:nvPr/>
            </p:nvSpPr>
            <p:spPr>
              <a:xfrm>
                <a:off x="596903" y="53975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  <p:grpSp>
          <p:nvGrpSpPr>
            <p:cNvPr id="2231" name="Group 2521"/>
            <p:cNvGrpSpPr/>
            <p:nvPr/>
          </p:nvGrpSpPr>
          <p:grpSpPr>
            <a:xfrm>
              <a:off x="-1" y="1563230"/>
              <a:ext cx="2291304" cy="2688103"/>
              <a:chOff x="0" y="0"/>
              <a:chExt cx="2291302" cy="2688101"/>
            </a:xfrm>
          </p:grpSpPr>
          <p:sp>
            <p:nvSpPr>
              <p:cNvPr id="2229" name="Shape 2519"/>
              <p:cNvSpPr/>
              <p:nvPr/>
            </p:nvSpPr>
            <p:spPr>
              <a:xfrm>
                <a:off x="0" y="0"/>
                <a:ext cx="1511304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30" name="Shape 2520"/>
              <p:cNvSpPr/>
              <p:nvPr/>
            </p:nvSpPr>
            <p:spPr>
              <a:xfrm>
                <a:off x="1021302" y="14181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2234" name="Group 2524"/>
            <p:cNvGrpSpPr/>
            <p:nvPr/>
          </p:nvGrpSpPr>
          <p:grpSpPr>
            <a:xfrm>
              <a:off x="2991840" y="1550530"/>
              <a:ext cx="1644035" cy="2674143"/>
              <a:chOff x="136477" y="0"/>
              <a:chExt cx="1644033" cy="2674141"/>
            </a:xfrm>
          </p:grpSpPr>
          <p:sp>
            <p:nvSpPr>
              <p:cNvPr id="2232" name="Shape 2522"/>
              <p:cNvSpPr/>
              <p:nvPr/>
            </p:nvSpPr>
            <p:spPr>
              <a:xfrm>
                <a:off x="136477" y="0"/>
                <a:ext cx="1409705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33" name="Shape 2523"/>
              <p:cNvSpPr/>
              <p:nvPr/>
            </p:nvSpPr>
            <p:spPr>
              <a:xfrm>
                <a:off x="510511" y="140414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</p:grpSp>
      <p:grpSp>
        <p:nvGrpSpPr>
          <p:cNvPr id="2271" name="Group 2365"/>
          <p:cNvGrpSpPr/>
          <p:nvPr/>
        </p:nvGrpSpPr>
        <p:grpSpPr>
          <a:xfrm>
            <a:off x="7361200" y="4462777"/>
            <a:ext cx="3821361" cy="4806694"/>
            <a:chOff x="-1" y="-2"/>
            <a:chExt cx="3821360" cy="4806692"/>
          </a:xfrm>
        </p:grpSpPr>
        <p:sp>
          <p:nvSpPr>
            <p:cNvPr id="2236" name="Shape 2330"/>
            <p:cNvSpPr/>
            <p:nvPr/>
          </p:nvSpPr>
          <p:spPr>
            <a:xfrm flipH="1">
              <a:off x="294699" y="387963"/>
              <a:ext cx="1243270" cy="81987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37" name="Shape 2331"/>
            <p:cNvSpPr/>
            <p:nvPr/>
          </p:nvSpPr>
          <p:spPr>
            <a:xfrm>
              <a:off x="392210" y="1361090"/>
              <a:ext cx="524126" cy="81987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38" name="Shape 2332"/>
            <p:cNvSpPr/>
            <p:nvPr/>
          </p:nvSpPr>
          <p:spPr>
            <a:xfrm flipH="1">
              <a:off x="489722" y="2332073"/>
              <a:ext cx="307705" cy="87667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39" name="Shape 2333"/>
            <p:cNvSpPr/>
            <p:nvPr/>
          </p:nvSpPr>
          <p:spPr>
            <a:xfrm>
              <a:off x="1571013" y="387963"/>
              <a:ext cx="1352969" cy="81987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40" name="Shape 2334"/>
            <p:cNvSpPr/>
            <p:nvPr/>
          </p:nvSpPr>
          <p:spPr>
            <a:xfrm>
              <a:off x="2652304" y="1166036"/>
              <a:ext cx="524125" cy="81987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41" name="Shape 2335"/>
            <p:cNvSpPr/>
            <p:nvPr/>
          </p:nvSpPr>
          <p:spPr>
            <a:xfrm flipH="1">
              <a:off x="2751981" y="2332074"/>
              <a:ext cx="524126" cy="81987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42" name="Shape 2336"/>
            <p:cNvSpPr/>
            <p:nvPr/>
          </p:nvSpPr>
          <p:spPr>
            <a:xfrm flipH="1">
              <a:off x="2457282" y="3208744"/>
              <a:ext cx="414425" cy="928385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43" name="Shape 2337"/>
            <p:cNvSpPr/>
            <p:nvPr/>
          </p:nvSpPr>
          <p:spPr>
            <a:xfrm>
              <a:off x="2947004" y="3208744"/>
              <a:ext cx="414425" cy="928385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246" name="Group 2340"/>
            <p:cNvGrpSpPr/>
            <p:nvPr/>
          </p:nvGrpSpPr>
          <p:grpSpPr>
            <a:xfrm>
              <a:off x="1247871" y="-3"/>
              <a:ext cx="731339" cy="819875"/>
              <a:chOff x="0" y="-1"/>
              <a:chExt cx="731338" cy="819873"/>
            </a:xfrm>
          </p:grpSpPr>
          <p:sp>
            <p:nvSpPr>
              <p:cNvPr id="2244" name="Shape 2338"/>
              <p:cNvSpPr/>
              <p:nvPr/>
            </p:nvSpPr>
            <p:spPr>
              <a:xfrm>
                <a:off x="-1" y="-2"/>
                <a:ext cx="731339" cy="819875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45" name="Shape 2339"/>
              <p:cNvSpPr txBox="1"/>
              <p:nvPr/>
            </p:nvSpPr>
            <p:spPr>
              <a:xfrm>
                <a:off x="76492" y="16084"/>
                <a:ext cx="579976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249" name="Group 2343"/>
            <p:cNvGrpSpPr/>
            <p:nvPr/>
          </p:nvGrpSpPr>
          <p:grpSpPr>
            <a:xfrm>
              <a:off x="-2" y="970981"/>
              <a:ext cx="731337" cy="819875"/>
              <a:chOff x="-1" y="0"/>
              <a:chExt cx="731336" cy="819873"/>
            </a:xfrm>
          </p:grpSpPr>
          <p:sp>
            <p:nvSpPr>
              <p:cNvPr id="2247" name="Shape 2341"/>
              <p:cNvSpPr/>
              <p:nvPr/>
            </p:nvSpPr>
            <p:spPr>
              <a:xfrm>
                <a:off x="-2" y="-1"/>
                <a:ext cx="731338" cy="81987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48" name="Shape 2342"/>
              <p:cNvSpPr txBox="1"/>
              <p:nvPr/>
            </p:nvSpPr>
            <p:spPr>
              <a:xfrm>
                <a:off x="90867" y="16084"/>
                <a:ext cx="54635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252" name="Group 2346"/>
            <p:cNvGrpSpPr/>
            <p:nvPr/>
          </p:nvGrpSpPr>
          <p:grpSpPr>
            <a:xfrm>
              <a:off x="489721" y="1851938"/>
              <a:ext cx="731339" cy="819877"/>
              <a:chOff x="0" y="-1"/>
              <a:chExt cx="731338" cy="819876"/>
            </a:xfrm>
          </p:grpSpPr>
          <p:sp>
            <p:nvSpPr>
              <p:cNvPr id="2250" name="Shape 2344"/>
              <p:cNvSpPr/>
              <p:nvPr/>
            </p:nvSpPr>
            <p:spPr>
              <a:xfrm>
                <a:off x="-1" y="-2"/>
                <a:ext cx="731339" cy="81987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1" name="Shape 2345"/>
              <p:cNvSpPr txBox="1"/>
              <p:nvPr/>
            </p:nvSpPr>
            <p:spPr>
              <a:xfrm>
                <a:off x="74054" y="10994"/>
                <a:ext cx="579976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255" name="Group 2349"/>
            <p:cNvGrpSpPr/>
            <p:nvPr/>
          </p:nvGrpSpPr>
          <p:grpSpPr>
            <a:xfrm>
              <a:off x="-2" y="2917234"/>
              <a:ext cx="731337" cy="819877"/>
              <a:chOff x="-1" y="-1"/>
              <a:chExt cx="731336" cy="819876"/>
            </a:xfrm>
          </p:grpSpPr>
          <p:sp>
            <p:nvSpPr>
              <p:cNvPr id="2253" name="Shape 2347"/>
              <p:cNvSpPr/>
              <p:nvPr/>
            </p:nvSpPr>
            <p:spPr>
              <a:xfrm>
                <a:off x="-2" y="-2"/>
                <a:ext cx="731338" cy="81987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4" name="Shape 2348"/>
              <p:cNvSpPr txBox="1"/>
              <p:nvPr/>
            </p:nvSpPr>
            <p:spPr>
              <a:xfrm>
                <a:off x="74054" y="16085"/>
                <a:ext cx="579976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258" name="Group 2352"/>
            <p:cNvGrpSpPr/>
            <p:nvPr/>
          </p:nvGrpSpPr>
          <p:grpSpPr>
            <a:xfrm>
              <a:off x="2260092" y="874526"/>
              <a:ext cx="731339" cy="819875"/>
              <a:chOff x="0" y="0"/>
              <a:chExt cx="731338" cy="819873"/>
            </a:xfrm>
          </p:grpSpPr>
          <p:sp>
            <p:nvSpPr>
              <p:cNvPr id="2256" name="Shape 2350"/>
              <p:cNvSpPr/>
              <p:nvPr/>
            </p:nvSpPr>
            <p:spPr>
              <a:xfrm>
                <a:off x="-1" y="-1"/>
                <a:ext cx="731339" cy="81987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7" name="Shape 2351"/>
              <p:cNvSpPr txBox="1"/>
              <p:nvPr/>
            </p:nvSpPr>
            <p:spPr>
              <a:xfrm>
                <a:off x="90866" y="16084"/>
                <a:ext cx="54635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261" name="Group 2355"/>
            <p:cNvGrpSpPr/>
            <p:nvPr/>
          </p:nvGrpSpPr>
          <p:grpSpPr>
            <a:xfrm>
              <a:off x="2947004" y="1749053"/>
              <a:ext cx="731339" cy="819875"/>
              <a:chOff x="0" y="0"/>
              <a:chExt cx="731338" cy="819873"/>
            </a:xfrm>
          </p:grpSpPr>
          <p:sp>
            <p:nvSpPr>
              <p:cNvPr id="2259" name="Shape 2353"/>
              <p:cNvSpPr/>
              <p:nvPr/>
            </p:nvSpPr>
            <p:spPr>
              <a:xfrm>
                <a:off x="-1" y="-1"/>
                <a:ext cx="731339" cy="81987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0" name="Shape 2354"/>
              <p:cNvSpPr txBox="1"/>
              <p:nvPr/>
            </p:nvSpPr>
            <p:spPr>
              <a:xfrm>
                <a:off x="107978" y="16085"/>
                <a:ext cx="512128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264" name="Group 2358"/>
            <p:cNvGrpSpPr/>
            <p:nvPr/>
          </p:nvGrpSpPr>
          <p:grpSpPr>
            <a:xfrm>
              <a:off x="2554793" y="2917234"/>
              <a:ext cx="731339" cy="819877"/>
              <a:chOff x="0" y="-1"/>
              <a:chExt cx="731338" cy="819876"/>
            </a:xfrm>
          </p:grpSpPr>
          <p:sp>
            <p:nvSpPr>
              <p:cNvPr id="2262" name="Shape 2356"/>
              <p:cNvSpPr/>
              <p:nvPr/>
            </p:nvSpPr>
            <p:spPr>
              <a:xfrm>
                <a:off x="-1" y="-2"/>
                <a:ext cx="731339" cy="81987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3" name="Shape 2357"/>
              <p:cNvSpPr txBox="1"/>
              <p:nvPr/>
            </p:nvSpPr>
            <p:spPr>
              <a:xfrm>
                <a:off x="57092" y="16085"/>
                <a:ext cx="61390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267" name="Group 2361"/>
            <p:cNvGrpSpPr/>
            <p:nvPr/>
          </p:nvGrpSpPr>
          <p:grpSpPr>
            <a:xfrm>
              <a:off x="1965392" y="3986816"/>
              <a:ext cx="731339" cy="819875"/>
              <a:chOff x="0" y="0"/>
              <a:chExt cx="731338" cy="819873"/>
            </a:xfrm>
          </p:grpSpPr>
          <p:sp>
            <p:nvSpPr>
              <p:cNvPr id="2265" name="Shape 2359"/>
              <p:cNvSpPr/>
              <p:nvPr/>
            </p:nvSpPr>
            <p:spPr>
              <a:xfrm>
                <a:off x="-1" y="-1"/>
                <a:ext cx="731339" cy="81987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6" name="Shape 2360"/>
              <p:cNvSpPr txBox="1"/>
              <p:nvPr/>
            </p:nvSpPr>
            <p:spPr>
              <a:xfrm>
                <a:off x="57092" y="16085"/>
                <a:ext cx="61390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270" name="Group 2364"/>
            <p:cNvGrpSpPr/>
            <p:nvPr/>
          </p:nvGrpSpPr>
          <p:grpSpPr>
            <a:xfrm>
              <a:off x="3090021" y="3986816"/>
              <a:ext cx="731339" cy="819875"/>
              <a:chOff x="0" y="0"/>
              <a:chExt cx="731338" cy="819873"/>
            </a:xfrm>
          </p:grpSpPr>
          <p:sp>
            <p:nvSpPr>
              <p:cNvPr id="2268" name="Shape 2362"/>
              <p:cNvSpPr/>
              <p:nvPr/>
            </p:nvSpPr>
            <p:spPr>
              <a:xfrm>
                <a:off x="-1" y="-1"/>
                <a:ext cx="731339" cy="81987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9" name="Shape 2363"/>
              <p:cNvSpPr txBox="1"/>
              <p:nvPr/>
            </p:nvSpPr>
            <p:spPr>
              <a:xfrm>
                <a:off x="57092" y="16085"/>
                <a:ext cx="613900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272" name="public int countNode() {…"/>
          <p:cNvSpPr txBox="1"/>
          <p:nvPr/>
        </p:nvSpPr>
        <p:spPr>
          <a:xfrm>
            <a:off x="180649" y="1132894"/>
            <a:ext cx="9412066" cy="3627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countNode()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countNode(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countNode(Node&lt;T&gt;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0;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countNode(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 + countNode(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 + 1;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72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叶子结点个数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叶子结点个数</a:t>
            </a:r>
          </a:p>
        </p:txBody>
      </p:sp>
      <p:grpSp>
        <p:nvGrpSpPr>
          <p:cNvPr id="2310" name="Group 2365"/>
          <p:cNvGrpSpPr/>
          <p:nvPr/>
        </p:nvGrpSpPr>
        <p:grpSpPr>
          <a:xfrm>
            <a:off x="7766483" y="5224777"/>
            <a:ext cx="3793627" cy="4672947"/>
            <a:chOff x="0" y="-1"/>
            <a:chExt cx="3793626" cy="4672946"/>
          </a:xfrm>
        </p:grpSpPr>
        <p:sp>
          <p:nvSpPr>
            <p:cNvPr id="2275" name="Shape 2330"/>
            <p:cNvSpPr/>
            <p:nvPr/>
          </p:nvSpPr>
          <p:spPr>
            <a:xfrm flipH="1">
              <a:off x="292561" y="377168"/>
              <a:ext cx="1234247" cy="7970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76" name="Shape 2331"/>
            <p:cNvSpPr/>
            <p:nvPr/>
          </p:nvSpPr>
          <p:spPr>
            <a:xfrm>
              <a:off x="389364" y="1323218"/>
              <a:ext cx="520322" cy="7970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77" name="Shape 2332"/>
            <p:cNvSpPr/>
            <p:nvPr/>
          </p:nvSpPr>
          <p:spPr>
            <a:xfrm flipH="1">
              <a:off x="486168" y="2267182"/>
              <a:ext cx="305472" cy="852281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78" name="Shape 2333"/>
            <p:cNvSpPr/>
            <p:nvPr/>
          </p:nvSpPr>
          <p:spPr>
            <a:xfrm>
              <a:off x="1559612" y="377168"/>
              <a:ext cx="1343150" cy="7970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79" name="Shape 2334"/>
            <p:cNvSpPr/>
            <p:nvPr/>
          </p:nvSpPr>
          <p:spPr>
            <a:xfrm>
              <a:off x="2633055" y="1133591"/>
              <a:ext cx="520322" cy="7970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80" name="Shape 2335"/>
            <p:cNvSpPr/>
            <p:nvPr/>
          </p:nvSpPr>
          <p:spPr>
            <a:xfrm flipH="1">
              <a:off x="2732009" y="2267183"/>
              <a:ext cx="520322" cy="797059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81" name="Shape 2336"/>
            <p:cNvSpPr/>
            <p:nvPr/>
          </p:nvSpPr>
          <p:spPr>
            <a:xfrm flipH="1">
              <a:off x="2439448" y="3119461"/>
              <a:ext cx="411418" cy="90255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282" name="Shape 2337"/>
            <p:cNvSpPr/>
            <p:nvPr/>
          </p:nvSpPr>
          <p:spPr>
            <a:xfrm>
              <a:off x="2925616" y="3119461"/>
              <a:ext cx="411418" cy="90255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285" name="Group 2340"/>
            <p:cNvGrpSpPr/>
            <p:nvPr/>
          </p:nvGrpSpPr>
          <p:grpSpPr>
            <a:xfrm>
              <a:off x="1238815" y="-2"/>
              <a:ext cx="726031" cy="797061"/>
              <a:chOff x="0" y="-1"/>
              <a:chExt cx="726030" cy="797060"/>
            </a:xfrm>
          </p:grpSpPr>
          <p:sp>
            <p:nvSpPr>
              <p:cNvPr id="2283" name="Shape 2338"/>
              <p:cNvSpPr/>
              <p:nvPr/>
            </p:nvSpPr>
            <p:spPr>
              <a:xfrm>
                <a:off x="-1" y="-2"/>
                <a:ext cx="726031" cy="797062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4" name="Shape 2339"/>
              <p:cNvSpPr txBox="1"/>
              <p:nvPr/>
            </p:nvSpPr>
            <p:spPr>
              <a:xfrm>
                <a:off x="75937" y="4704"/>
                <a:ext cx="575766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288" name="Group 2343"/>
            <p:cNvGrpSpPr/>
            <p:nvPr/>
          </p:nvGrpSpPr>
          <p:grpSpPr>
            <a:xfrm>
              <a:off x="-1" y="943963"/>
              <a:ext cx="726031" cy="797063"/>
              <a:chOff x="0" y="0"/>
              <a:chExt cx="726030" cy="797062"/>
            </a:xfrm>
          </p:grpSpPr>
          <p:sp>
            <p:nvSpPr>
              <p:cNvPr id="2286" name="Shape 2341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7" name="Shape 2342"/>
              <p:cNvSpPr txBox="1"/>
              <p:nvPr/>
            </p:nvSpPr>
            <p:spPr>
              <a:xfrm>
                <a:off x="90208" y="4704"/>
                <a:ext cx="542383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291" name="Group 2346"/>
            <p:cNvGrpSpPr/>
            <p:nvPr/>
          </p:nvGrpSpPr>
          <p:grpSpPr>
            <a:xfrm>
              <a:off x="486168" y="1800164"/>
              <a:ext cx="726031" cy="797307"/>
              <a:chOff x="0" y="0"/>
              <a:chExt cx="726030" cy="797305"/>
            </a:xfrm>
          </p:grpSpPr>
          <p:sp>
            <p:nvSpPr>
              <p:cNvPr id="2289" name="Shape 2344"/>
              <p:cNvSpPr/>
              <p:nvPr/>
            </p:nvSpPr>
            <p:spPr>
              <a:xfrm>
                <a:off x="0" y="243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0" name="Shape 2345"/>
              <p:cNvSpPr txBox="1"/>
              <p:nvPr/>
            </p:nvSpPr>
            <p:spPr>
              <a:xfrm>
                <a:off x="73517" y="0"/>
                <a:ext cx="575766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294" name="Group 2349"/>
            <p:cNvGrpSpPr/>
            <p:nvPr/>
          </p:nvGrpSpPr>
          <p:grpSpPr>
            <a:xfrm>
              <a:off x="-1" y="2836062"/>
              <a:ext cx="726031" cy="797063"/>
              <a:chOff x="0" y="0"/>
              <a:chExt cx="726030" cy="797062"/>
            </a:xfrm>
          </p:grpSpPr>
          <p:sp>
            <p:nvSpPr>
              <p:cNvPr id="2292" name="Shape 2347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3" name="Shape 2348"/>
              <p:cNvSpPr txBox="1"/>
              <p:nvPr/>
            </p:nvSpPr>
            <p:spPr>
              <a:xfrm>
                <a:off x="73517" y="4704"/>
                <a:ext cx="575766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297" name="Group 2352"/>
            <p:cNvGrpSpPr/>
            <p:nvPr/>
          </p:nvGrpSpPr>
          <p:grpSpPr>
            <a:xfrm>
              <a:off x="2243690" y="850192"/>
              <a:ext cx="726031" cy="797063"/>
              <a:chOff x="0" y="0"/>
              <a:chExt cx="726030" cy="797062"/>
            </a:xfrm>
          </p:grpSpPr>
          <p:sp>
            <p:nvSpPr>
              <p:cNvPr id="2295" name="Shape 2350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6" name="Shape 2351"/>
              <p:cNvSpPr txBox="1"/>
              <p:nvPr/>
            </p:nvSpPr>
            <p:spPr>
              <a:xfrm>
                <a:off x="90207" y="4704"/>
                <a:ext cx="542384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300" name="Group 2355"/>
            <p:cNvGrpSpPr/>
            <p:nvPr/>
          </p:nvGrpSpPr>
          <p:grpSpPr>
            <a:xfrm>
              <a:off x="2925616" y="1700385"/>
              <a:ext cx="726031" cy="797063"/>
              <a:chOff x="0" y="0"/>
              <a:chExt cx="726030" cy="797062"/>
            </a:xfrm>
          </p:grpSpPr>
          <p:sp>
            <p:nvSpPr>
              <p:cNvPr id="2298" name="Shape 2353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9" name="Shape 2354"/>
              <p:cNvSpPr txBox="1"/>
              <p:nvPr/>
            </p:nvSpPr>
            <p:spPr>
              <a:xfrm>
                <a:off x="107194" y="4705"/>
                <a:ext cx="508411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303" name="Group 2358"/>
            <p:cNvGrpSpPr/>
            <p:nvPr/>
          </p:nvGrpSpPr>
          <p:grpSpPr>
            <a:xfrm>
              <a:off x="2536251" y="2836062"/>
              <a:ext cx="726033" cy="797063"/>
              <a:chOff x="0" y="0"/>
              <a:chExt cx="726031" cy="797062"/>
            </a:xfrm>
          </p:grpSpPr>
          <p:sp>
            <p:nvSpPr>
              <p:cNvPr id="2301" name="Shape 2356"/>
              <p:cNvSpPr/>
              <p:nvPr/>
            </p:nvSpPr>
            <p:spPr>
              <a:xfrm>
                <a:off x="-1" y="-1"/>
                <a:ext cx="726033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2" name="Shape 2357"/>
              <p:cNvSpPr txBox="1"/>
              <p:nvPr/>
            </p:nvSpPr>
            <p:spPr>
              <a:xfrm>
                <a:off x="56677" y="4704"/>
                <a:ext cx="609445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306" name="Group 2361"/>
            <p:cNvGrpSpPr/>
            <p:nvPr/>
          </p:nvGrpSpPr>
          <p:grpSpPr>
            <a:xfrm>
              <a:off x="1951128" y="3875882"/>
              <a:ext cx="726031" cy="797063"/>
              <a:chOff x="0" y="0"/>
              <a:chExt cx="726030" cy="797062"/>
            </a:xfrm>
          </p:grpSpPr>
          <p:sp>
            <p:nvSpPr>
              <p:cNvPr id="2304" name="Shape 2359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5" name="Shape 2360"/>
              <p:cNvSpPr txBox="1"/>
              <p:nvPr/>
            </p:nvSpPr>
            <p:spPr>
              <a:xfrm>
                <a:off x="56677" y="4704"/>
                <a:ext cx="609444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309" name="Group 2364"/>
            <p:cNvGrpSpPr/>
            <p:nvPr/>
          </p:nvGrpSpPr>
          <p:grpSpPr>
            <a:xfrm>
              <a:off x="3067595" y="3875882"/>
              <a:ext cx="726031" cy="797063"/>
              <a:chOff x="0" y="0"/>
              <a:chExt cx="726030" cy="797062"/>
            </a:xfrm>
          </p:grpSpPr>
          <p:sp>
            <p:nvSpPr>
              <p:cNvPr id="2307" name="Shape 2362"/>
              <p:cNvSpPr/>
              <p:nvPr/>
            </p:nvSpPr>
            <p:spPr>
              <a:xfrm>
                <a:off x="-1" y="-1"/>
                <a:ext cx="726031" cy="797063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8" name="Shape 2363"/>
              <p:cNvSpPr txBox="1"/>
              <p:nvPr/>
            </p:nvSpPr>
            <p:spPr>
              <a:xfrm>
                <a:off x="56677" y="4704"/>
                <a:ext cx="609444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311" name="public int countLeafNode() {…"/>
          <p:cNvSpPr txBox="1"/>
          <p:nvPr/>
        </p:nvSpPr>
        <p:spPr>
          <a:xfrm>
            <a:off x="244149" y="1046684"/>
            <a:ext cx="10082735" cy="453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countLeafNode()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countLeafNode(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countLeafNode(Node&lt;T&gt;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0;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&amp;&amp; 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 </a:t>
            </a:r>
            <a:r>
              <a:t>countLeafNode(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 + countLeafNode(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333" name="Group 2525"/>
          <p:cNvGrpSpPr/>
          <p:nvPr/>
        </p:nvGrpSpPr>
        <p:grpSpPr>
          <a:xfrm>
            <a:off x="1489552" y="5431365"/>
            <a:ext cx="4636921" cy="4251333"/>
            <a:chOff x="0" y="0"/>
            <a:chExt cx="4636919" cy="4251332"/>
          </a:xfrm>
        </p:grpSpPr>
        <p:grpSp>
          <p:nvGrpSpPr>
            <p:cNvPr id="2323" name="Group 2515"/>
            <p:cNvGrpSpPr/>
            <p:nvPr/>
          </p:nvGrpSpPr>
          <p:grpSpPr>
            <a:xfrm>
              <a:off x="52209" y="2821"/>
              <a:ext cx="4584711" cy="4208417"/>
              <a:chOff x="0" y="0"/>
              <a:chExt cx="4584709" cy="4208415"/>
            </a:xfrm>
          </p:grpSpPr>
          <p:grpSp>
            <p:nvGrpSpPr>
              <p:cNvPr id="2314" name="Group 2506"/>
              <p:cNvGrpSpPr/>
              <p:nvPr/>
            </p:nvGrpSpPr>
            <p:grpSpPr>
              <a:xfrm>
                <a:off x="0" y="1524001"/>
                <a:ext cx="2255725" cy="2654604"/>
                <a:chOff x="0" y="0"/>
                <a:chExt cx="2255724" cy="2654603"/>
              </a:xfrm>
            </p:grpSpPr>
            <p:sp>
              <p:nvSpPr>
                <p:cNvPr id="2312" name="Shape 2504"/>
                <p:cNvSpPr/>
                <p:nvPr/>
              </p:nvSpPr>
              <p:spPr>
                <a:xfrm>
                  <a:off x="0" y="0"/>
                  <a:ext cx="14732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13" name="Shape 2505"/>
                <p:cNvSpPr/>
                <p:nvPr/>
              </p:nvSpPr>
              <p:spPr>
                <a:xfrm>
                  <a:off x="985724" y="13846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左</a:t>
                  </a:r>
                </a:p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grpSp>
            <p:nvGrpSpPr>
              <p:cNvPr id="2317" name="Group 2509"/>
              <p:cNvGrpSpPr/>
              <p:nvPr/>
            </p:nvGrpSpPr>
            <p:grpSpPr>
              <a:xfrm>
                <a:off x="2926085" y="1524001"/>
                <a:ext cx="1658625" cy="2684415"/>
                <a:chOff x="121887" y="0"/>
                <a:chExt cx="1658623" cy="2684413"/>
              </a:xfrm>
            </p:grpSpPr>
            <p:sp>
              <p:nvSpPr>
                <p:cNvPr id="2315" name="Shape 2507"/>
                <p:cNvSpPr/>
                <p:nvPr/>
              </p:nvSpPr>
              <p:spPr>
                <a:xfrm>
                  <a:off x="121887" y="0"/>
                  <a:ext cx="14097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16" name="Shape 2508"/>
                <p:cNvSpPr/>
                <p:nvPr/>
              </p:nvSpPr>
              <p:spPr>
                <a:xfrm>
                  <a:off x="510511" y="141441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右</a:t>
                  </a:r>
                </a:p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sp>
            <p:nvSpPr>
              <p:cNvPr id="2318" name="Shape 2510"/>
              <p:cNvSpPr/>
              <p:nvPr/>
            </p:nvSpPr>
            <p:spPr>
              <a:xfrm flipH="1">
                <a:off x="1478397" y="977901"/>
                <a:ext cx="369035" cy="558654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319" name="Shape 2511"/>
              <p:cNvSpPr/>
              <p:nvPr/>
            </p:nvSpPr>
            <p:spPr>
              <a:xfrm>
                <a:off x="2600964" y="977901"/>
                <a:ext cx="330204" cy="546102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322" name="Group 2514"/>
              <p:cNvGrpSpPr/>
              <p:nvPr/>
            </p:nvGrpSpPr>
            <p:grpSpPr>
              <a:xfrm>
                <a:off x="1625602" y="0"/>
                <a:ext cx="1866902" cy="1809751"/>
                <a:chOff x="0" y="0"/>
                <a:chExt cx="1866901" cy="1809751"/>
              </a:xfrm>
            </p:grpSpPr>
            <p:sp>
              <p:nvSpPr>
                <p:cNvPr id="2320" name="Shape 2512"/>
                <p:cNvSpPr/>
                <p:nvPr/>
              </p:nvSpPr>
              <p:spPr>
                <a:xfrm>
                  <a:off x="0" y="0"/>
                  <a:ext cx="1193803" cy="1079503"/>
                </a:xfrm>
                <a:prstGeom prst="ellipse">
                  <a:avLst/>
                </a:pr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21" name="Shape 2513"/>
                <p:cNvSpPr/>
                <p:nvPr/>
              </p:nvSpPr>
              <p:spPr>
                <a:xfrm>
                  <a:off x="596901" y="53975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sz="5000">
                      <a:solidFill>
                        <a:srgbClr val="990000"/>
                      </a:solidFill>
                      <a:uFill>
                        <a:solidFill>
                          <a:srgbClr val="99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lvl1pPr>
                </a:lstStyle>
                <a:p>
                  <a:pPr/>
                  <a:r>
                    <a:t>根</a:t>
                  </a:r>
                </a:p>
              </p:txBody>
            </p:sp>
          </p:grpSp>
        </p:grpSp>
        <p:grpSp>
          <p:nvGrpSpPr>
            <p:cNvPr id="2326" name="Group 2518"/>
            <p:cNvGrpSpPr/>
            <p:nvPr/>
          </p:nvGrpSpPr>
          <p:grpSpPr>
            <a:xfrm>
              <a:off x="1677246" y="0"/>
              <a:ext cx="1866904" cy="1809751"/>
              <a:chOff x="0" y="0"/>
              <a:chExt cx="1866903" cy="1809751"/>
            </a:xfrm>
          </p:grpSpPr>
          <p:sp>
            <p:nvSpPr>
              <p:cNvPr id="2324" name="Shape 2516"/>
              <p:cNvSpPr/>
              <p:nvPr/>
            </p:nvSpPr>
            <p:spPr>
              <a:xfrm>
                <a:off x="0" y="0"/>
                <a:ext cx="1193807" cy="1079503"/>
              </a:xfrm>
              <a:prstGeom prst="ellipse">
                <a:avLst/>
              </a:prstGeom>
              <a:solidFill>
                <a:srgbClr val="333399"/>
              </a:solidFill>
              <a:ln w="12700" cap="sq">
                <a:solidFill>
                  <a:srgbClr val="A5002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25" name="Shape 2517"/>
              <p:cNvSpPr/>
              <p:nvPr/>
            </p:nvSpPr>
            <p:spPr>
              <a:xfrm>
                <a:off x="596903" y="53975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  <p:grpSp>
          <p:nvGrpSpPr>
            <p:cNvPr id="2329" name="Group 2521"/>
            <p:cNvGrpSpPr/>
            <p:nvPr/>
          </p:nvGrpSpPr>
          <p:grpSpPr>
            <a:xfrm>
              <a:off x="-1" y="1563230"/>
              <a:ext cx="2291304" cy="2688103"/>
              <a:chOff x="0" y="0"/>
              <a:chExt cx="2291302" cy="2688101"/>
            </a:xfrm>
          </p:grpSpPr>
          <p:sp>
            <p:nvSpPr>
              <p:cNvPr id="2327" name="Shape 2519"/>
              <p:cNvSpPr/>
              <p:nvPr/>
            </p:nvSpPr>
            <p:spPr>
              <a:xfrm>
                <a:off x="0" y="0"/>
                <a:ext cx="1511304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28" name="Shape 2520"/>
              <p:cNvSpPr/>
              <p:nvPr/>
            </p:nvSpPr>
            <p:spPr>
              <a:xfrm>
                <a:off x="1021302" y="14181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2332" name="Group 2524"/>
            <p:cNvGrpSpPr/>
            <p:nvPr/>
          </p:nvGrpSpPr>
          <p:grpSpPr>
            <a:xfrm>
              <a:off x="2991840" y="1550530"/>
              <a:ext cx="1644035" cy="2674143"/>
              <a:chOff x="136477" y="0"/>
              <a:chExt cx="1644033" cy="2674141"/>
            </a:xfrm>
          </p:grpSpPr>
          <p:sp>
            <p:nvSpPr>
              <p:cNvPr id="2330" name="Shape 2522"/>
              <p:cNvSpPr/>
              <p:nvPr/>
            </p:nvSpPr>
            <p:spPr>
              <a:xfrm>
                <a:off x="136477" y="0"/>
                <a:ext cx="1409705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31" name="Shape 2523"/>
              <p:cNvSpPr/>
              <p:nvPr/>
            </p:nvSpPr>
            <p:spPr>
              <a:xfrm>
                <a:off x="510511" y="140414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11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0" name="Group 2365"/>
          <p:cNvGrpSpPr/>
          <p:nvPr/>
        </p:nvGrpSpPr>
        <p:grpSpPr>
          <a:xfrm>
            <a:off x="8021600" y="4018277"/>
            <a:ext cx="3981598" cy="5063075"/>
            <a:chOff x="0" y="-1"/>
            <a:chExt cx="3981597" cy="5063074"/>
          </a:xfrm>
        </p:grpSpPr>
        <p:sp>
          <p:nvSpPr>
            <p:cNvPr id="2335" name="Shape 2330"/>
            <p:cNvSpPr/>
            <p:nvPr/>
          </p:nvSpPr>
          <p:spPr>
            <a:xfrm flipH="1">
              <a:off x="307057" y="408657"/>
              <a:ext cx="12954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36" name="Shape 2331"/>
            <p:cNvSpPr/>
            <p:nvPr/>
          </p:nvSpPr>
          <p:spPr>
            <a:xfrm>
              <a:off x="408657" y="1433689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37" name="Shape 2332"/>
            <p:cNvSpPr/>
            <p:nvPr/>
          </p:nvSpPr>
          <p:spPr>
            <a:xfrm flipH="1">
              <a:off x="510257" y="2456462"/>
              <a:ext cx="320608" cy="923434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38" name="Shape 2333"/>
            <p:cNvSpPr/>
            <p:nvPr/>
          </p:nvSpPr>
          <p:spPr>
            <a:xfrm>
              <a:off x="1636889" y="408657"/>
              <a:ext cx="1409702" cy="863602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39" name="Shape 2334"/>
            <p:cNvSpPr/>
            <p:nvPr/>
          </p:nvSpPr>
          <p:spPr>
            <a:xfrm>
              <a:off x="2763521" y="1228231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40" name="Shape 2335"/>
            <p:cNvSpPr/>
            <p:nvPr/>
          </p:nvSpPr>
          <p:spPr>
            <a:xfrm flipH="1">
              <a:off x="2867378" y="2456463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41" name="Shape 2336"/>
            <p:cNvSpPr/>
            <p:nvPr/>
          </p:nvSpPr>
          <p:spPr>
            <a:xfrm flipH="1">
              <a:off x="2560321" y="3379894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42" name="Shape 2337"/>
            <p:cNvSpPr/>
            <p:nvPr/>
          </p:nvSpPr>
          <p:spPr>
            <a:xfrm>
              <a:off x="3070578" y="3379894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345" name="Group 2340"/>
            <p:cNvGrpSpPr/>
            <p:nvPr/>
          </p:nvGrpSpPr>
          <p:grpSpPr>
            <a:xfrm>
              <a:off x="1300197" y="-2"/>
              <a:ext cx="762005" cy="863603"/>
              <a:chOff x="0" y="-1"/>
              <a:chExt cx="762004" cy="863602"/>
            </a:xfrm>
          </p:grpSpPr>
          <p:sp>
            <p:nvSpPr>
              <p:cNvPr id="2343" name="Shape 2338"/>
              <p:cNvSpPr/>
              <p:nvPr/>
            </p:nvSpPr>
            <p:spPr>
              <a:xfrm>
                <a:off x="-1" y="-2"/>
                <a:ext cx="762006" cy="86360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44" name="Shape 2339"/>
              <p:cNvSpPr txBox="1"/>
              <p:nvPr/>
            </p:nvSpPr>
            <p:spPr>
              <a:xfrm>
                <a:off x="7970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348" name="Group 2343"/>
            <p:cNvGrpSpPr/>
            <p:nvPr/>
          </p:nvGrpSpPr>
          <p:grpSpPr>
            <a:xfrm>
              <a:off x="-1" y="1022772"/>
              <a:ext cx="762003" cy="863607"/>
              <a:chOff x="-1" y="-1"/>
              <a:chExt cx="762002" cy="863606"/>
            </a:xfrm>
          </p:grpSpPr>
          <p:sp>
            <p:nvSpPr>
              <p:cNvPr id="2346" name="Shape 2341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47" name="Shape 2342"/>
              <p:cNvSpPr txBox="1"/>
              <p:nvPr/>
            </p:nvSpPr>
            <p:spPr>
              <a:xfrm>
                <a:off x="94678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351" name="Group 2346"/>
            <p:cNvGrpSpPr/>
            <p:nvPr/>
          </p:nvGrpSpPr>
          <p:grpSpPr>
            <a:xfrm>
              <a:off x="510257" y="1950718"/>
              <a:ext cx="762005" cy="863607"/>
              <a:chOff x="0" y="-1"/>
              <a:chExt cx="762004" cy="863606"/>
            </a:xfrm>
          </p:grpSpPr>
          <p:sp>
            <p:nvSpPr>
              <p:cNvPr id="2349" name="Shape 2344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50" name="Shape 2345"/>
              <p:cNvSpPr txBox="1"/>
              <p:nvPr/>
            </p:nvSpPr>
            <p:spPr>
              <a:xfrm>
                <a:off x="77160" y="325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354" name="Group 2349"/>
            <p:cNvGrpSpPr/>
            <p:nvPr/>
          </p:nvGrpSpPr>
          <p:grpSpPr>
            <a:xfrm>
              <a:off x="-1" y="3072835"/>
              <a:ext cx="762003" cy="863607"/>
              <a:chOff x="-1" y="-1"/>
              <a:chExt cx="762002" cy="863606"/>
            </a:xfrm>
          </p:grpSpPr>
          <p:sp>
            <p:nvSpPr>
              <p:cNvPr id="2352" name="Shape 2347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53" name="Shape 2348"/>
              <p:cNvSpPr txBox="1"/>
              <p:nvPr/>
            </p:nvSpPr>
            <p:spPr>
              <a:xfrm>
                <a:off x="77159" y="37900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357" name="Group 2352"/>
            <p:cNvGrpSpPr/>
            <p:nvPr/>
          </p:nvGrpSpPr>
          <p:grpSpPr>
            <a:xfrm>
              <a:off x="2354863" y="921172"/>
              <a:ext cx="762005" cy="863607"/>
              <a:chOff x="0" y="-1"/>
              <a:chExt cx="762004" cy="863606"/>
            </a:xfrm>
          </p:grpSpPr>
          <p:sp>
            <p:nvSpPr>
              <p:cNvPr id="2355" name="Shape 2350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56" name="Shape 2351"/>
              <p:cNvSpPr txBox="1"/>
              <p:nvPr/>
            </p:nvSpPr>
            <p:spPr>
              <a:xfrm>
                <a:off x="94677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360" name="Group 2355"/>
            <p:cNvGrpSpPr/>
            <p:nvPr/>
          </p:nvGrpSpPr>
          <p:grpSpPr>
            <a:xfrm>
              <a:off x="3070578" y="1842345"/>
              <a:ext cx="762005" cy="863607"/>
              <a:chOff x="0" y="-1"/>
              <a:chExt cx="762004" cy="863606"/>
            </a:xfrm>
          </p:grpSpPr>
          <p:sp>
            <p:nvSpPr>
              <p:cNvPr id="2358" name="Shape 2353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59" name="Shape 2354"/>
              <p:cNvSpPr txBox="1"/>
              <p:nvPr/>
            </p:nvSpPr>
            <p:spPr>
              <a:xfrm>
                <a:off x="112506" y="37900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363" name="Group 2358"/>
            <p:cNvGrpSpPr/>
            <p:nvPr/>
          </p:nvGrpSpPr>
          <p:grpSpPr>
            <a:xfrm>
              <a:off x="2661921" y="3072835"/>
              <a:ext cx="762005" cy="863607"/>
              <a:chOff x="0" y="-1"/>
              <a:chExt cx="762004" cy="863606"/>
            </a:xfrm>
          </p:grpSpPr>
          <p:sp>
            <p:nvSpPr>
              <p:cNvPr id="2361" name="Shape 2356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2" name="Shape 2357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366" name="Group 2361"/>
            <p:cNvGrpSpPr/>
            <p:nvPr/>
          </p:nvGrpSpPr>
          <p:grpSpPr>
            <a:xfrm>
              <a:off x="2047805" y="4199466"/>
              <a:ext cx="762005" cy="863607"/>
              <a:chOff x="0" y="-1"/>
              <a:chExt cx="762004" cy="863606"/>
            </a:xfrm>
          </p:grpSpPr>
          <p:sp>
            <p:nvSpPr>
              <p:cNvPr id="2364" name="Shape 2359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5" name="Shape 2360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369" name="Group 2364"/>
            <p:cNvGrpSpPr/>
            <p:nvPr/>
          </p:nvGrpSpPr>
          <p:grpSpPr>
            <a:xfrm>
              <a:off x="3219592" y="4199466"/>
              <a:ext cx="762005" cy="863607"/>
              <a:chOff x="0" y="-1"/>
              <a:chExt cx="762004" cy="863606"/>
            </a:xfrm>
          </p:grpSpPr>
          <p:sp>
            <p:nvSpPr>
              <p:cNvPr id="2367" name="Shape 2362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8" name="Shape 2363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371" name="求树的深度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求树的深度</a:t>
            </a:r>
          </a:p>
        </p:txBody>
      </p:sp>
      <p:sp>
        <p:nvSpPr>
          <p:cNvPr id="2372" name="public int depth() {…"/>
          <p:cNvSpPr txBox="1"/>
          <p:nvPr/>
        </p:nvSpPr>
        <p:spPr>
          <a:xfrm>
            <a:off x="193350" y="1311335"/>
            <a:ext cx="7910680" cy="4235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depth() {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depth(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depth(Node&lt;T&gt;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0;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depth(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depth(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?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+ 1 :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+ 1;</a:t>
            </a:r>
          </a:p>
          <a:p>
            <a:pPr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394" name="Group 2525"/>
          <p:cNvGrpSpPr/>
          <p:nvPr/>
        </p:nvGrpSpPr>
        <p:grpSpPr>
          <a:xfrm>
            <a:off x="1489552" y="5462866"/>
            <a:ext cx="4636921" cy="4251333"/>
            <a:chOff x="0" y="0"/>
            <a:chExt cx="4636919" cy="4251332"/>
          </a:xfrm>
        </p:grpSpPr>
        <p:grpSp>
          <p:nvGrpSpPr>
            <p:cNvPr id="2384" name="Group 2515"/>
            <p:cNvGrpSpPr/>
            <p:nvPr/>
          </p:nvGrpSpPr>
          <p:grpSpPr>
            <a:xfrm>
              <a:off x="52209" y="2821"/>
              <a:ext cx="4584711" cy="4208417"/>
              <a:chOff x="0" y="0"/>
              <a:chExt cx="4584709" cy="4208415"/>
            </a:xfrm>
          </p:grpSpPr>
          <p:grpSp>
            <p:nvGrpSpPr>
              <p:cNvPr id="2375" name="Group 2506"/>
              <p:cNvGrpSpPr/>
              <p:nvPr/>
            </p:nvGrpSpPr>
            <p:grpSpPr>
              <a:xfrm>
                <a:off x="0" y="1524001"/>
                <a:ext cx="2255725" cy="2654604"/>
                <a:chOff x="0" y="0"/>
                <a:chExt cx="2255724" cy="2654603"/>
              </a:xfrm>
            </p:grpSpPr>
            <p:sp>
              <p:nvSpPr>
                <p:cNvPr id="2373" name="Shape 2504"/>
                <p:cNvSpPr/>
                <p:nvPr/>
              </p:nvSpPr>
              <p:spPr>
                <a:xfrm>
                  <a:off x="0" y="0"/>
                  <a:ext cx="14732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74" name="Shape 2505"/>
                <p:cNvSpPr/>
                <p:nvPr/>
              </p:nvSpPr>
              <p:spPr>
                <a:xfrm>
                  <a:off x="985724" y="13846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左</a:t>
                  </a:r>
                </a:p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grpSp>
            <p:nvGrpSpPr>
              <p:cNvPr id="2378" name="Group 2509"/>
              <p:cNvGrpSpPr/>
              <p:nvPr/>
            </p:nvGrpSpPr>
            <p:grpSpPr>
              <a:xfrm>
                <a:off x="2926085" y="1524001"/>
                <a:ext cx="1658625" cy="2684415"/>
                <a:chOff x="121887" y="0"/>
                <a:chExt cx="1658623" cy="2684413"/>
              </a:xfrm>
            </p:grpSpPr>
            <p:sp>
              <p:nvSpPr>
                <p:cNvPr id="2376" name="Shape 2507"/>
                <p:cNvSpPr/>
                <p:nvPr/>
              </p:nvSpPr>
              <p:spPr>
                <a:xfrm>
                  <a:off x="121887" y="0"/>
                  <a:ext cx="14097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77" name="Shape 2508"/>
                <p:cNvSpPr/>
                <p:nvPr/>
              </p:nvSpPr>
              <p:spPr>
                <a:xfrm>
                  <a:off x="510511" y="141441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右</a:t>
                  </a:r>
                </a:p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sp>
            <p:nvSpPr>
              <p:cNvPr id="2379" name="Shape 2510"/>
              <p:cNvSpPr/>
              <p:nvPr/>
            </p:nvSpPr>
            <p:spPr>
              <a:xfrm flipH="1">
                <a:off x="1478397" y="977901"/>
                <a:ext cx="369035" cy="558654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380" name="Shape 2511"/>
              <p:cNvSpPr/>
              <p:nvPr/>
            </p:nvSpPr>
            <p:spPr>
              <a:xfrm>
                <a:off x="2600964" y="977901"/>
                <a:ext cx="330204" cy="546102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383" name="Group 2514"/>
              <p:cNvGrpSpPr/>
              <p:nvPr/>
            </p:nvGrpSpPr>
            <p:grpSpPr>
              <a:xfrm>
                <a:off x="1625602" y="0"/>
                <a:ext cx="1866902" cy="1809751"/>
                <a:chOff x="0" y="0"/>
                <a:chExt cx="1866901" cy="1809751"/>
              </a:xfrm>
            </p:grpSpPr>
            <p:sp>
              <p:nvSpPr>
                <p:cNvPr id="2381" name="Shape 2512"/>
                <p:cNvSpPr/>
                <p:nvPr/>
              </p:nvSpPr>
              <p:spPr>
                <a:xfrm>
                  <a:off x="0" y="0"/>
                  <a:ext cx="1193803" cy="1079503"/>
                </a:xfrm>
                <a:prstGeom prst="ellipse">
                  <a:avLst/>
                </a:pr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82" name="Shape 2513"/>
                <p:cNvSpPr/>
                <p:nvPr/>
              </p:nvSpPr>
              <p:spPr>
                <a:xfrm>
                  <a:off x="596901" y="53975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sz="5000">
                      <a:solidFill>
                        <a:srgbClr val="990000"/>
                      </a:solidFill>
                      <a:uFill>
                        <a:solidFill>
                          <a:srgbClr val="99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lvl1pPr>
                </a:lstStyle>
                <a:p>
                  <a:pPr/>
                  <a:r>
                    <a:t>根</a:t>
                  </a:r>
                </a:p>
              </p:txBody>
            </p:sp>
          </p:grpSp>
        </p:grpSp>
        <p:grpSp>
          <p:nvGrpSpPr>
            <p:cNvPr id="2387" name="Group 2518"/>
            <p:cNvGrpSpPr/>
            <p:nvPr/>
          </p:nvGrpSpPr>
          <p:grpSpPr>
            <a:xfrm>
              <a:off x="1677246" y="0"/>
              <a:ext cx="1866904" cy="1809751"/>
              <a:chOff x="0" y="0"/>
              <a:chExt cx="1866903" cy="1809751"/>
            </a:xfrm>
          </p:grpSpPr>
          <p:sp>
            <p:nvSpPr>
              <p:cNvPr id="2385" name="Shape 2516"/>
              <p:cNvSpPr/>
              <p:nvPr/>
            </p:nvSpPr>
            <p:spPr>
              <a:xfrm>
                <a:off x="0" y="0"/>
                <a:ext cx="1193807" cy="1079503"/>
              </a:xfrm>
              <a:prstGeom prst="ellipse">
                <a:avLst/>
              </a:prstGeom>
              <a:solidFill>
                <a:srgbClr val="333399"/>
              </a:solidFill>
              <a:ln w="12700" cap="sq">
                <a:solidFill>
                  <a:srgbClr val="A5002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86" name="Shape 2517"/>
              <p:cNvSpPr/>
              <p:nvPr/>
            </p:nvSpPr>
            <p:spPr>
              <a:xfrm>
                <a:off x="596903" y="53975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  <p:grpSp>
          <p:nvGrpSpPr>
            <p:cNvPr id="2390" name="Group 2521"/>
            <p:cNvGrpSpPr/>
            <p:nvPr/>
          </p:nvGrpSpPr>
          <p:grpSpPr>
            <a:xfrm>
              <a:off x="-1" y="1563230"/>
              <a:ext cx="2291304" cy="2688103"/>
              <a:chOff x="0" y="0"/>
              <a:chExt cx="2291302" cy="2688101"/>
            </a:xfrm>
          </p:grpSpPr>
          <p:sp>
            <p:nvSpPr>
              <p:cNvPr id="2388" name="Shape 2519"/>
              <p:cNvSpPr/>
              <p:nvPr/>
            </p:nvSpPr>
            <p:spPr>
              <a:xfrm>
                <a:off x="0" y="0"/>
                <a:ext cx="1511304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89" name="Shape 2520"/>
              <p:cNvSpPr/>
              <p:nvPr/>
            </p:nvSpPr>
            <p:spPr>
              <a:xfrm>
                <a:off x="1021302" y="14181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2393" name="Group 2524"/>
            <p:cNvGrpSpPr/>
            <p:nvPr/>
          </p:nvGrpSpPr>
          <p:grpSpPr>
            <a:xfrm>
              <a:off x="2991840" y="1550530"/>
              <a:ext cx="1644035" cy="2674143"/>
              <a:chOff x="136477" y="0"/>
              <a:chExt cx="1644033" cy="2674141"/>
            </a:xfrm>
          </p:grpSpPr>
          <p:sp>
            <p:nvSpPr>
              <p:cNvPr id="2391" name="Shape 2522"/>
              <p:cNvSpPr/>
              <p:nvPr/>
            </p:nvSpPr>
            <p:spPr>
              <a:xfrm>
                <a:off x="136477" y="0"/>
                <a:ext cx="1409705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92" name="Shape 2523"/>
              <p:cNvSpPr/>
              <p:nvPr/>
            </p:nvSpPr>
            <p:spPr>
              <a:xfrm>
                <a:off x="510511" y="140414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72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Shape 2555"/>
          <p:cNvSpPr txBox="1"/>
          <p:nvPr/>
        </p:nvSpPr>
        <p:spPr>
          <a:xfrm>
            <a:off x="1060731" y="215900"/>
            <a:ext cx="10020304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0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查找二叉树中的某个结点</a:t>
            </a:r>
          </a:p>
        </p:txBody>
      </p:sp>
      <p:sp>
        <p:nvSpPr>
          <p:cNvPr id="2397" name="Shape 2556"/>
          <p:cNvSpPr txBox="1"/>
          <p:nvPr/>
        </p:nvSpPr>
        <p:spPr>
          <a:xfrm>
            <a:off x="774698" y="1225964"/>
            <a:ext cx="11430004" cy="118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在树中查找数据元素的值等于x的结点，如果找到，则返回这个</a:t>
            </a:r>
          </a:p>
          <a:p>
            <a:pPr/>
            <a:r>
              <a:t>结点，否则，返回null。</a:t>
            </a:r>
          </a:p>
        </p:txBody>
      </p:sp>
      <p:grpSp>
        <p:nvGrpSpPr>
          <p:cNvPr id="2412" name="Group 2571"/>
          <p:cNvGrpSpPr/>
          <p:nvPr/>
        </p:nvGrpSpPr>
        <p:grpSpPr>
          <a:xfrm>
            <a:off x="4143021" y="3548252"/>
            <a:ext cx="4693925" cy="3483760"/>
            <a:chOff x="0" y="-1"/>
            <a:chExt cx="4693924" cy="3483758"/>
          </a:xfrm>
        </p:grpSpPr>
        <p:sp>
          <p:nvSpPr>
            <p:cNvPr id="2398" name="Shape 2557"/>
            <p:cNvSpPr/>
            <p:nvPr/>
          </p:nvSpPr>
          <p:spPr>
            <a:xfrm flipV="1">
              <a:off x="1326973" y="291112"/>
              <a:ext cx="1406198" cy="1266822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399" name="Shape 2558"/>
            <p:cNvSpPr/>
            <p:nvPr/>
          </p:nvSpPr>
          <p:spPr>
            <a:xfrm flipV="1">
              <a:off x="542177" y="1743476"/>
              <a:ext cx="826886" cy="1014098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00" name="Shape 2559"/>
            <p:cNvSpPr/>
            <p:nvPr/>
          </p:nvSpPr>
          <p:spPr>
            <a:xfrm>
              <a:off x="1552260" y="1596319"/>
              <a:ext cx="1193289" cy="1042890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01" name="Shape 2560"/>
            <p:cNvSpPr/>
            <p:nvPr/>
          </p:nvSpPr>
          <p:spPr>
            <a:xfrm>
              <a:off x="2899042" y="291112"/>
              <a:ext cx="1453236" cy="1135661"/>
            </a:xfrm>
            <a:prstGeom prst="line">
              <a:avLst/>
            </a:prstGeom>
            <a:noFill/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02" name="Shape 2561"/>
            <p:cNvSpPr/>
            <p:nvPr/>
          </p:nvSpPr>
          <p:spPr>
            <a:xfrm>
              <a:off x="2540064" y="-2"/>
              <a:ext cx="722909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03" name="Shape 2562"/>
            <p:cNvSpPr txBox="1"/>
            <p:nvPr/>
          </p:nvSpPr>
          <p:spPr>
            <a:xfrm>
              <a:off x="2738122" y="201539"/>
              <a:ext cx="287847" cy="415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404" name="Shape 2563"/>
            <p:cNvSpPr/>
            <p:nvPr/>
          </p:nvSpPr>
          <p:spPr>
            <a:xfrm>
              <a:off x="1215566" y="1161250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05" name="Shape 2564"/>
            <p:cNvSpPr txBox="1"/>
            <p:nvPr/>
          </p:nvSpPr>
          <p:spPr>
            <a:xfrm>
              <a:off x="1426000" y="1362790"/>
              <a:ext cx="266825" cy="415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406" name="Shape 2565"/>
            <p:cNvSpPr/>
            <p:nvPr/>
          </p:nvSpPr>
          <p:spPr>
            <a:xfrm>
              <a:off x="3971018" y="1020493"/>
              <a:ext cx="722907" cy="9341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07" name="Shape 2566"/>
            <p:cNvSpPr txBox="1"/>
            <p:nvPr/>
          </p:nvSpPr>
          <p:spPr>
            <a:xfrm>
              <a:off x="4181452" y="1222032"/>
              <a:ext cx="266825" cy="415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408" name="Shape 2567"/>
            <p:cNvSpPr/>
            <p:nvPr/>
          </p:nvSpPr>
          <p:spPr>
            <a:xfrm>
              <a:off x="-1" y="2546435"/>
              <a:ext cx="722907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09" name="Shape 2568"/>
            <p:cNvSpPr txBox="1"/>
            <p:nvPr/>
          </p:nvSpPr>
          <p:spPr>
            <a:xfrm>
              <a:off x="210434" y="2747975"/>
              <a:ext cx="287847" cy="415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410" name="Shape 2569"/>
            <p:cNvSpPr/>
            <p:nvPr/>
          </p:nvSpPr>
          <p:spPr>
            <a:xfrm>
              <a:off x="2398950" y="2517644"/>
              <a:ext cx="725383" cy="937323"/>
            </a:xfrm>
            <a:prstGeom prst="ellipse">
              <a:avLst/>
            </a:prstGeom>
            <a:solidFill>
              <a:srgbClr val="FFFFFF"/>
            </a:solidFill>
            <a:ln w="30163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11" name="Shape 2570"/>
            <p:cNvSpPr txBox="1"/>
            <p:nvPr/>
          </p:nvSpPr>
          <p:spPr>
            <a:xfrm>
              <a:off x="2599483" y="2719184"/>
              <a:ext cx="287847" cy="415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295400"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2413" name="Shape 2572"/>
          <p:cNvSpPr/>
          <p:nvPr/>
        </p:nvSpPr>
        <p:spPr>
          <a:xfrm>
            <a:off x="5782169" y="3087668"/>
            <a:ext cx="973105" cy="564447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414" name="Shape 2573"/>
          <p:cNvSpPr txBox="1"/>
          <p:nvPr/>
        </p:nvSpPr>
        <p:spPr>
          <a:xfrm>
            <a:off x="5181882" y="2538180"/>
            <a:ext cx="1270003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pPr/>
            <a:r>
              <a:t>root</a:t>
            </a:r>
          </a:p>
        </p:txBody>
      </p:sp>
      <p:sp>
        <p:nvSpPr>
          <p:cNvPr id="2415" name="Shape 2574"/>
          <p:cNvSpPr txBox="1"/>
          <p:nvPr/>
        </p:nvSpPr>
        <p:spPr>
          <a:xfrm>
            <a:off x="2283175" y="5183168"/>
            <a:ext cx="2019303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pPr/>
            <a:r>
              <a:t>X= " C"</a:t>
            </a:r>
          </a:p>
        </p:txBody>
      </p:sp>
      <p:sp>
        <p:nvSpPr>
          <p:cNvPr id="2416" name="Shape 2575"/>
          <p:cNvSpPr/>
          <p:nvPr/>
        </p:nvSpPr>
        <p:spPr>
          <a:xfrm>
            <a:off x="3734363" y="5699916"/>
            <a:ext cx="562190" cy="46059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Shape 2555"/>
          <p:cNvSpPr txBox="1"/>
          <p:nvPr/>
        </p:nvSpPr>
        <p:spPr>
          <a:xfrm>
            <a:off x="1060731" y="215900"/>
            <a:ext cx="10020304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0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查找二叉树中的某个结点</a:t>
            </a:r>
          </a:p>
        </p:txBody>
      </p:sp>
      <p:sp>
        <p:nvSpPr>
          <p:cNvPr id="2419" name="public Node&lt;T&gt; search(T x) {…"/>
          <p:cNvSpPr txBox="1"/>
          <p:nvPr/>
        </p:nvSpPr>
        <p:spPr>
          <a:xfrm>
            <a:off x="2174463" y="1391072"/>
            <a:ext cx="8192741" cy="5942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Node&lt;T&gt; search(T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search(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search(Node&lt;T&gt;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x</a:t>
            </a:r>
            <a:r>
              <a:t>))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search(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search(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19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Shape 2555"/>
          <p:cNvSpPr txBox="1"/>
          <p:nvPr/>
        </p:nvSpPr>
        <p:spPr>
          <a:xfrm>
            <a:off x="1060731" y="215900"/>
            <a:ext cx="10020304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0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判断二棵二叉树相等</a:t>
            </a:r>
          </a:p>
        </p:txBody>
      </p:sp>
      <p:sp>
        <p:nvSpPr>
          <p:cNvPr id="2422" name="public boolean isEqual(BiTree&lt;T&gt; rhd) {…"/>
          <p:cNvSpPr txBox="1"/>
          <p:nvPr/>
        </p:nvSpPr>
        <p:spPr>
          <a:xfrm>
            <a:off x="35860" y="1045695"/>
            <a:ext cx="11759408" cy="52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isEqual(BiTree&lt;T&gt;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)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isEqual(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isEqual(Node&lt;T&gt; </a:t>
            </a:r>
            <a:r>
              <a:rPr>
                <a:solidFill>
                  <a:srgbClr val="7E504F"/>
                </a:solidFill>
              </a:rPr>
              <a:t>t1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t2</a:t>
            </a:r>
            <a:r>
              <a:t>) {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&amp; </a:t>
            </a:r>
            <a:r>
              <a:rPr>
                <a:solidFill>
                  <a:srgbClr val="7E504F"/>
                </a:solidFill>
              </a:rPr>
              <a:t>t2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&amp;&amp; </a:t>
            </a:r>
            <a:r>
              <a:rPr>
                <a:solidFill>
                  <a:srgbClr val="7E504F"/>
                </a:solidFill>
              </a:rPr>
              <a:t>t2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t1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&amp;&amp; </a:t>
            </a:r>
            <a:r>
              <a:rPr>
                <a:solidFill>
                  <a:srgbClr val="7E504F"/>
                </a:solidFill>
              </a:rPr>
              <a:t>t2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(!</a:t>
            </a:r>
            <a:r>
              <a:rPr>
                <a:solidFill>
                  <a:srgbClr val="7E504F"/>
                </a:solidFill>
              </a:rPr>
              <a:t>t1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t2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isEqual(</a:t>
            </a:r>
            <a:r>
              <a:rPr>
                <a:solidFill>
                  <a:srgbClr val="7E504F"/>
                </a:solidFill>
              </a:rPr>
              <a:t>t1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t2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 &amp;&amp; isEqual(</a:t>
            </a:r>
            <a:r>
              <a:rPr>
                <a:solidFill>
                  <a:srgbClr val="7E504F"/>
                </a:solidFill>
              </a:rPr>
              <a:t>t1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t2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444" name="Group 2525"/>
          <p:cNvGrpSpPr/>
          <p:nvPr/>
        </p:nvGrpSpPr>
        <p:grpSpPr>
          <a:xfrm>
            <a:off x="1369582" y="5916086"/>
            <a:ext cx="4636921" cy="4251333"/>
            <a:chOff x="0" y="0"/>
            <a:chExt cx="4636919" cy="4251332"/>
          </a:xfrm>
        </p:grpSpPr>
        <p:grpSp>
          <p:nvGrpSpPr>
            <p:cNvPr id="2434" name="Group 2515"/>
            <p:cNvGrpSpPr/>
            <p:nvPr/>
          </p:nvGrpSpPr>
          <p:grpSpPr>
            <a:xfrm>
              <a:off x="52209" y="2821"/>
              <a:ext cx="4584711" cy="4208417"/>
              <a:chOff x="0" y="0"/>
              <a:chExt cx="4584709" cy="4208415"/>
            </a:xfrm>
          </p:grpSpPr>
          <p:grpSp>
            <p:nvGrpSpPr>
              <p:cNvPr id="2425" name="Group 2506"/>
              <p:cNvGrpSpPr/>
              <p:nvPr/>
            </p:nvGrpSpPr>
            <p:grpSpPr>
              <a:xfrm>
                <a:off x="0" y="1524001"/>
                <a:ext cx="2255725" cy="2654604"/>
                <a:chOff x="0" y="0"/>
                <a:chExt cx="2255724" cy="2654603"/>
              </a:xfrm>
            </p:grpSpPr>
            <p:sp>
              <p:nvSpPr>
                <p:cNvPr id="2423" name="Shape 2504"/>
                <p:cNvSpPr/>
                <p:nvPr/>
              </p:nvSpPr>
              <p:spPr>
                <a:xfrm>
                  <a:off x="0" y="0"/>
                  <a:ext cx="14732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24" name="Shape 2505"/>
                <p:cNvSpPr/>
                <p:nvPr/>
              </p:nvSpPr>
              <p:spPr>
                <a:xfrm>
                  <a:off x="985724" y="13846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左</a:t>
                  </a:r>
                </a:p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grpSp>
            <p:nvGrpSpPr>
              <p:cNvPr id="2428" name="Group 2509"/>
              <p:cNvGrpSpPr/>
              <p:nvPr/>
            </p:nvGrpSpPr>
            <p:grpSpPr>
              <a:xfrm>
                <a:off x="2926085" y="1524001"/>
                <a:ext cx="1658625" cy="2684415"/>
                <a:chOff x="121887" y="0"/>
                <a:chExt cx="1658623" cy="2684413"/>
              </a:xfrm>
            </p:grpSpPr>
            <p:sp>
              <p:nvSpPr>
                <p:cNvPr id="2426" name="Shape 2507"/>
                <p:cNvSpPr/>
                <p:nvPr/>
              </p:nvSpPr>
              <p:spPr>
                <a:xfrm>
                  <a:off x="121887" y="0"/>
                  <a:ext cx="14097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27" name="Shape 2508"/>
                <p:cNvSpPr/>
                <p:nvPr/>
              </p:nvSpPr>
              <p:spPr>
                <a:xfrm>
                  <a:off x="510511" y="141441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右</a:t>
                  </a:r>
                </a:p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sp>
            <p:nvSpPr>
              <p:cNvPr id="2429" name="Shape 2510"/>
              <p:cNvSpPr/>
              <p:nvPr/>
            </p:nvSpPr>
            <p:spPr>
              <a:xfrm flipH="1">
                <a:off x="1478397" y="977901"/>
                <a:ext cx="369035" cy="558654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430" name="Shape 2511"/>
              <p:cNvSpPr/>
              <p:nvPr/>
            </p:nvSpPr>
            <p:spPr>
              <a:xfrm>
                <a:off x="2600964" y="977901"/>
                <a:ext cx="330204" cy="546102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433" name="Group 2514"/>
              <p:cNvGrpSpPr/>
              <p:nvPr/>
            </p:nvGrpSpPr>
            <p:grpSpPr>
              <a:xfrm>
                <a:off x="1625602" y="0"/>
                <a:ext cx="1866902" cy="1809751"/>
                <a:chOff x="0" y="0"/>
                <a:chExt cx="1866901" cy="1809751"/>
              </a:xfrm>
            </p:grpSpPr>
            <p:sp>
              <p:nvSpPr>
                <p:cNvPr id="2431" name="Shape 2512"/>
                <p:cNvSpPr/>
                <p:nvPr/>
              </p:nvSpPr>
              <p:spPr>
                <a:xfrm>
                  <a:off x="0" y="0"/>
                  <a:ext cx="1193803" cy="1079503"/>
                </a:xfrm>
                <a:prstGeom prst="ellipse">
                  <a:avLst/>
                </a:pr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32" name="Shape 2513"/>
                <p:cNvSpPr/>
                <p:nvPr/>
              </p:nvSpPr>
              <p:spPr>
                <a:xfrm>
                  <a:off x="596901" y="53975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sz="5000">
                      <a:solidFill>
                        <a:srgbClr val="990000"/>
                      </a:solidFill>
                      <a:uFill>
                        <a:solidFill>
                          <a:srgbClr val="99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lvl1pPr>
                </a:lstStyle>
                <a:p>
                  <a:pPr/>
                  <a:r>
                    <a:t>根</a:t>
                  </a:r>
                </a:p>
              </p:txBody>
            </p:sp>
          </p:grpSp>
        </p:grpSp>
        <p:grpSp>
          <p:nvGrpSpPr>
            <p:cNvPr id="2437" name="Group 2518"/>
            <p:cNvGrpSpPr/>
            <p:nvPr/>
          </p:nvGrpSpPr>
          <p:grpSpPr>
            <a:xfrm>
              <a:off x="1677246" y="0"/>
              <a:ext cx="1866904" cy="1809751"/>
              <a:chOff x="0" y="0"/>
              <a:chExt cx="1866903" cy="1809751"/>
            </a:xfrm>
          </p:grpSpPr>
          <p:sp>
            <p:nvSpPr>
              <p:cNvPr id="2435" name="Shape 2516"/>
              <p:cNvSpPr/>
              <p:nvPr/>
            </p:nvSpPr>
            <p:spPr>
              <a:xfrm>
                <a:off x="0" y="0"/>
                <a:ext cx="1193807" cy="1079503"/>
              </a:xfrm>
              <a:prstGeom prst="ellipse">
                <a:avLst/>
              </a:prstGeom>
              <a:solidFill>
                <a:srgbClr val="333399"/>
              </a:solidFill>
              <a:ln w="12700" cap="sq">
                <a:solidFill>
                  <a:srgbClr val="A5002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36" name="Shape 2517"/>
              <p:cNvSpPr/>
              <p:nvPr/>
            </p:nvSpPr>
            <p:spPr>
              <a:xfrm>
                <a:off x="596903" y="53975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  <p:grpSp>
          <p:nvGrpSpPr>
            <p:cNvPr id="2440" name="Group 2521"/>
            <p:cNvGrpSpPr/>
            <p:nvPr/>
          </p:nvGrpSpPr>
          <p:grpSpPr>
            <a:xfrm>
              <a:off x="-1" y="1563230"/>
              <a:ext cx="2291304" cy="2688103"/>
              <a:chOff x="0" y="0"/>
              <a:chExt cx="2291302" cy="2688101"/>
            </a:xfrm>
          </p:grpSpPr>
          <p:sp>
            <p:nvSpPr>
              <p:cNvPr id="2438" name="Shape 2519"/>
              <p:cNvSpPr/>
              <p:nvPr/>
            </p:nvSpPr>
            <p:spPr>
              <a:xfrm>
                <a:off x="0" y="0"/>
                <a:ext cx="1511304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39" name="Shape 2520"/>
              <p:cNvSpPr/>
              <p:nvPr/>
            </p:nvSpPr>
            <p:spPr>
              <a:xfrm>
                <a:off x="1021302" y="14181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2443" name="Group 2524"/>
            <p:cNvGrpSpPr/>
            <p:nvPr/>
          </p:nvGrpSpPr>
          <p:grpSpPr>
            <a:xfrm>
              <a:off x="2991840" y="1550530"/>
              <a:ext cx="1644035" cy="2674143"/>
              <a:chOff x="136477" y="0"/>
              <a:chExt cx="1644033" cy="2674141"/>
            </a:xfrm>
          </p:grpSpPr>
          <p:sp>
            <p:nvSpPr>
              <p:cNvPr id="2441" name="Shape 2522"/>
              <p:cNvSpPr/>
              <p:nvPr/>
            </p:nvSpPr>
            <p:spPr>
              <a:xfrm>
                <a:off x="136477" y="0"/>
                <a:ext cx="1409705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42" name="Shape 2523"/>
              <p:cNvSpPr/>
              <p:nvPr/>
            </p:nvSpPr>
            <p:spPr>
              <a:xfrm>
                <a:off x="510511" y="140414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</p:grpSp>
      <p:grpSp>
        <p:nvGrpSpPr>
          <p:cNvPr id="2466" name="Group 2525"/>
          <p:cNvGrpSpPr/>
          <p:nvPr/>
        </p:nvGrpSpPr>
        <p:grpSpPr>
          <a:xfrm>
            <a:off x="6775269" y="5896456"/>
            <a:ext cx="4636920" cy="4251333"/>
            <a:chOff x="0" y="0"/>
            <a:chExt cx="4636919" cy="4251332"/>
          </a:xfrm>
        </p:grpSpPr>
        <p:grpSp>
          <p:nvGrpSpPr>
            <p:cNvPr id="2456" name="Group 2515"/>
            <p:cNvGrpSpPr/>
            <p:nvPr/>
          </p:nvGrpSpPr>
          <p:grpSpPr>
            <a:xfrm>
              <a:off x="52209" y="2821"/>
              <a:ext cx="4584711" cy="4208417"/>
              <a:chOff x="0" y="0"/>
              <a:chExt cx="4584709" cy="4208415"/>
            </a:xfrm>
          </p:grpSpPr>
          <p:grpSp>
            <p:nvGrpSpPr>
              <p:cNvPr id="2447" name="Group 2506"/>
              <p:cNvGrpSpPr/>
              <p:nvPr/>
            </p:nvGrpSpPr>
            <p:grpSpPr>
              <a:xfrm>
                <a:off x="0" y="1524001"/>
                <a:ext cx="2255725" cy="2654604"/>
                <a:chOff x="0" y="0"/>
                <a:chExt cx="2255724" cy="2654603"/>
              </a:xfrm>
            </p:grpSpPr>
            <p:sp>
              <p:nvSpPr>
                <p:cNvPr id="2445" name="Shape 2504"/>
                <p:cNvSpPr/>
                <p:nvPr/>
              </p:nvSpPr>
              <p:spPr>
                <a:xfrm>
                  <a:off x="0" y="0"/>
                  <a:ext cx="14732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46" name="Shape 2505"/>
                <p:cNvSpPr/>
                <p:nvPr/>
              </p:nvSpPr>
              <p:spPr>
                <a:xfrm>
                  <a:off x="985724" y="138460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左</a:t>
                  </a:r>
                </a:p>
                <a:p>
                  <a:pPr marR="93921" indent="28897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grpSp>
            <p:nvGrpSpPr>
              <p:cNvPr id="2450" name="Group 2509"/>
              <p:cNvGrpSpPr/>
              <p:nvPr/>
            </p:nvGrpSpPr>
            <p:grpSpPr>
              <a:xfrm>
                <a:off x="2926085" y="1524001"/>
                <a:ext cx="1658625" cy="2684415"/>
                <a:chOff x="121887" y="0"/>
                <a:chExt cx="1658623" cy="2684413"/>
              </a:xfrm>
            </p:grpSpPr>
            <p:sp>
              <p:nvSpPr>
                <p:cNvPr id="2448" name="Shape 2507"/>
                <p:cNvSpPr/>
                <p:nvPr/>
              </p:nvSpPr>
              <p:spPr>
                <a:xfrm>
                  <a:off x="121887" y="0"/>
                  <a:ext cx="1409707" cy="20574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49" name="Shape 2508"/>
                <p:cNvSpPr/>
                <p:nvPr/>
              </p:nvSpPr>
              <p:spPr>
                <a:xfrm>
                  <a:off x="510511" y="1414413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25400" tIns="25400" rIns="25400" bIns="25400" numCol="1" anchor="ctr">
                  <a:spAutoFit/>
                </a:bodyPr>
                <a:lstStyle/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右</a:t>
                  </a:r>
                </a:p>
                <a:p>
                  <a:pPr marR="28897" indent="93921" algn="ctr" defTabSz="1295400">
                    <a:defRPr sz="3400">
                      <a:uFill>
                        <a:solidFill>
                          <a:srgbClr val="00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pPr>
                  <a:r>
                    <a:t>子树</a:t>
                  </a:r>
                </a:p>
              </p:txBody>
            </p:sp>
          </p:grpSp>
          <p:sp>
            <p:nvSpPr>
              <p:cNvPr id="2451" name="Shape 2510"/>
              <p:cNvSpPr/>
              <p:nvPr/>
            </p:nvSpPr>
            <p:spPr>
              <a:xfrm flipH="1">
                <a:off x="1478397" y="977901"/>
                <a:ext cx="369035" cy="558654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sp>
            <p:nvSpPr>
              <p:cNvPr id="2452" name="Shape 2511"/>
              <p:cNvSpPr/>
              <p:nvPr/>
            </p:nvSpPr>
            <p:spPr>
              <a:xfrm>
                <a:off x="2600964" y="977901"/>
                <a:ext cx="330204" cy="546102"/>
              </a:xfrm>
              <a:prstGeom prst="line">
                <a:avLst/>
              </a:prstGeom>
              <a:noFill/>
              <a:ln w="38100" cap="sq">
                <a:solidFill>
                  <a:srgbClr val="006666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7">
                  <a:defRPr sz="2900"/>
                </a:pPr>
              </a:p>
            </p:txBody>
          </p:sp>
          <p:grpSp>
            <p:nvGrpSpPr>
              <p:cNvPr id="2455" name="Group 2514"/>
              <p:cNvGrpSpPr/>
              <p:nvPr/>
            </p:nvGrpSpPr>
            <p:grpSpPr>
              <a:xfrm>
                <a:off x="1625602" y="0"/>
                <a:ext cx="1866902" cy="1809751"/>
                <a:chOff x="0" y="0"/>
                <a:chExt cx="1866901" cy="1809751"/>
              </a:xfrm>
            </p:grpSpPr>
            <p:sp>
              <p:nvSpPr>
                <p:cNvPr id="2453" name="Shape 2512"/>
                <p:cNvSpPr/>
                <p:nvPr/>
              </p:nvSpPr>
              <p:spPr>
                <a:xfrm>
                  <a:off x="0" y="0"/>
                  <a:ext cx="1193803" cy="1079503"/>
                </a:xfrm>
                <a:prstGeom prst="ellipse">
                  <a:avLst/>
                </a:prstGeom>
                <a:solidFill>
                  <a:srgbClr val="FBE2DF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7" indent="57797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54" name="Shape 2513"/>
                <p:cNvSpPr/>
                <p:nvPr/>
              </p:nvSpPr>
              <p:spPr>
                <a:xfrm>
                  <a:off x="596901" y="53975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defRPr sz="5000">
                      <a:solidFill>
                        <a:srgbClr val="990000"/>
                      </a:solidFill>
                      <a:uFill>
                        <a:solidFill>
                          <a:srgbClr val="990000"/>
                        </a:solidFill>
                      </a:uFill>
                      <a:latin typeface="SimSun"/>
                      <a:ea typeface="SimSun"/>
                      <a:cs typeface="SimSun"/>
                      <a:sym typeface="SimSun"/>
                    </a:defRPr>
                  </a:lvl1pPr>
                </a:lstStyle>
                <a:p>
                  <a:pPr/>
                  <a:r>
                    <a:t>根</a:t>
                  </a:r>
                </a:p>
              </p:txBody>
            </p:sp>
          </p:grpSp>
        </p:grpSp>
        <p:grpSp>
          <p:nvGrpSpPr>
            <p:cNvPr id="2459" name="Group 2518"/>
            <p:cNvGrpSpPr/>
            <p:nvPr/>
          </p:nvGrpSpPr>
          <p:grpSpPr>
            <a:xfrm>
              <a:off x="1677246" y="0"/>
              <a:ext cx="1866904" cy="1809751"/>
              <a:chOff x="0" y="0"/>
              <a:chExt cx="1866903" cy="1809751"/>
            </a:xfrm>
          </p:grpSpPr>
          <p:sp>
            <p:nvSpPr>
              <p:cNvPr id="2457" name="Shape 2516"/>
              <p:cNvSpPr/>
              <p:nvPr/>
            </p:nvSpPr>
            <p:spPr>
              <a:xfrm>
                <a:off x="0" y="0"/>
                <a:ext cx="1193807" cy="1079503"/>
              </a:xfrm>
              <a:prstGeom prst="ellipse">
                <a:avLst/>
              </a:prstGeom>
              <a:solidFill>
                <a:srgbClr val="333399"/>
              </a:solidFill>
              <a:ln w="12700" cap="sq">
                <a:solidFill>
                  <a:srgbClr val="A5002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58" name="Shape 2517"/>
              <p:cNvSpPr/>
              <p:nvPr/>
            </p:nvSpPr>
            <p:spPr>
              <a:xfrm>
                <a:off x="596903" y="53975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50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lvl1pPr>
              </a:lstStyle>
              <a:p>
                <a:pPr/>
                <a:r>
                  <a:t>根</a:t>
                </a:r>
              </a:p>
            </p:txBody>
          </p:sp>
        </p:grpSp>
        <p:grpSp>
          <p:nvGrpSpPr>
            <p:cNvPr id="2462" name="Group 2521"/>
            <p:cNvGrpSpPr/>
            <p:nvPr/>
          </p:nvGrpSpPr>
          <p:grpSpPr>
            <a:xfrm>
              <a:off x="-1" y="1563230"/>
              <a:ext cx="2291304" cy="2688103"/>
              <a:chOff x="0" y="0"/>
              <a:chExt cx="2291302" cy="2688101"/>
            </a:xfrm>
          </p:grpSpPr>
          <p:sp>
            <p:nvSpPr>
              <p:cNvPr id="2460" name="Shape 2519"/>
              <p:cNvSpPr/>
              <p:nvPr/>
            </p:nvSpPr>
            <p:spPr>
              <a:xfrm>
                <a:off x="0" y="0"/>
                <a:ext cx="1511304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61" name="Shape 2520"/>
              <p:cNvSpPr/>
              <p:nvPr/>
            </p:nvSpPr>
            <p:spPr>
              <a:xfrm>
                <a:off x="1021302" y="141810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左</a:t>
                </a:r>
              </a:p>
              <a:p>
                <a:pPr marR="93921" indent="28897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  <p:grpSp>
          <p:nvGrpSpPr>
            <p:cNvPr id="2465" name="Group 2524"/>
            <p:cNvGrpSpPr/>
            <p:nvPr/>
          </p:nvGrpSpPr>
          <p:grpSpPr>
            <a:xfrm>
              <a:off x="2991840" y="1550530"/>
              <a:ext cx="1644035" cy="2674143"/>
              <a:chOff x="136477" y="0"/>
              <a:chExt cx="1644033" cy="2674141"/>
            </a:xfrm>
          </p:grpSpPr>
          <p:sp>
            <p:nvSpPr>
              <p:cNvPr id="2463" name="Shape 2522"/>
              <p:cNvSpPr/>
              <p:nvPr/>
            </p:nvSpPr>
            <p:spPr>
              <a:xfrm>
                <a:off x="136477" y="0"/>
                <a:ext cx="1409705" cy="2057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333399"/>
              </a:solidFill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64" name="Shape 2523"/>
              <p:cNvSpPr/>
              <p:nvPr/>
            </p:nvSpPr>
            <p:spPr>
              <a:xfrm>
                <a:off x="510511" y="140414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25400" tIns="25400" rIns="25400" bIns="25400" numCol="1" anchor="ctr">
                <a:spAutoFit/>
              </a:bodyPr>
              <a:lstStyle/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右</a:t>
                </a:r>
              </a:p>
              <a:p>
                <a:pPr marR="28897" indent="93921" algn="ctr" defTabSz="1295400">
                  <a:defRPr sz="3400">
                    <a:solidFill>
                      <a:srgbClr val="FFFFCC"/>
                    </a:solidFill>
                    <a:uFill>
                      <a:solidFill>
                        <a:srgbClr val="FFFFCC"/>
                      </a:solidFill>
                    </a:uFill>
                    <a:latin typeface="SimSun"/>
                    <a:ea typeface="SimSun"/>
                    <a:cs typeface="SimSun"/>
                    <a:sym typeface="SimSun"/>
                  </a:defRPr>
                </a:pPr>
                <a:r>
                  <a:t>子树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22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二叉树转换为数组</a:t>
            </a:r>
          </a:p>
        </p:txBody>
      </p:sp>
      <p:sp>
        <p:nvSpPr>
          <p:cNvPr id="2469" name="//将先序遍历的结果存入数组…"/>
          <p:cNvSpPr txBox="1"/>
          <p:nvPr/>
        </p:nvSpPr>
        <p:spPr>
          <a:xfrm>
            <a:off x="917618" y="1265166"/>
            <a:ext cx="11195436" cy="6918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4E9072"/>
                </a:solidFill>
              </a:rPr>
              <a:t>//将先序遍历的结果存入数组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Object[] toArray()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countNode();</a:t>
            </a:r>
            <a:r>
              <a:rPr>
                <a:solidFill>
                  <a:srgbClr val="4E9072"/>
                </a:solidFill>
              </a:rPr>
              <a:t>//因为没有size变量，只能笨办法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Object[] </a:t>
            </a:r>
            <a:r>
              <a:rPr>
                <a:solidFill>
                  <a:srgbClr val="7E504F"/>
                </a:solidFill>
              </a:rPr>
              <a:t>elements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</a:t>
            </a:r>
            <a:r>
              <a:rPr>
                <a:solidFill>
                  <a:srgbClr val="7E504F"/>
                </a:solidFill>
              </a:rPr>
              <a:t>n</a:t>
            </a:r>
            <a:r>
              <a:t>];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toArray(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elements</a:t>
            </a:r>
            <a:r>
              <a:t>, 0);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elements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4E9072"/>
                </a:solidFill>
              </a:rPr>
              <a:t>// </a:t>
            </a:r>
            <a:r>
              <a:rPr u="sng">
                <a:solidFill>
                  <a:srgbClr val="4E9072"/>
                </a:solidFill>
              </a:rPr>
              <a:t>pos</a:t>
            </a:r>
            <a:r>
              <a:rPr>
                <a:solidFill>
                  <a:srgbClr val="4E9072"/>
                </a:solidFill>
              </a:rPr>
              <a:t>：将以t为根的二叉树的第1个结点放入数组array的位置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4E9072"/>
                </a:solidFill>
              </a:rPr>
              <a:t>// 方法的返回值：</a:t>
            </a:r>
            <a:r>
              <a:rPr>
                <a:solidFill>
                  <a:schemeClr val="accent5"/>
                </a:solidFill>
              </a:rPr>
              <a:t>以t为根的二叉树的结点数</a:t>
            </a:r>
            <a:endParaRPr>
              <a:solidFill>
                <a:srgbClr val="4E9072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toArray(Node&lt;T&gt;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Object[] </a:t>
            </a:r>
            <a:r>
              <a:rPr>
                <a:solidFill>
                  <a:srgbClr val="7E504F"/>
                </a:solidFill>
              </a:rPr>
              <a:t>array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0;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array</a:t>
            </a:r>
            <a:r>
              <a:t>[</a:t>
            </a:r>
            <a:r>
              <a:rPr>
                <a:solidFill>
                  <a:srgbClr val="7E504F"/>
                </a:solidFill>
              </a:rPr>
              <a:t>pos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= toArray(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array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= toArray(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array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+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+ 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+ 1;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public T[] toArrayIn(T[] a) { // 将前序遍历结果存入指定的数组a中…"/>
          <p:cNvSpPr txBox="1"/>
          <p:nvPr/>
        </p:nvSpPr>
        <p:spPr>
          <a:xfrm>
            <a:off x="16202" y="1293920"/>
            <a:ext cx="12604106" cy="3705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T[] toArrayIn(T[]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 </a:t>
            </a:r>
            <a:r>
              <a:rPr>
                <a:solidFill>
                  <a:srgbClr val="4E9072"/>
                </a:solidFill>
              </a:rPr>
              <a:t>// 将前序遍历结果存入指定的数组a中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 = countNode();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)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 = (T[])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toArrayIn(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assert</a:t>
            </a:r>
            <a:r>
              <a:t> (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)</a:t>
            </a:r>
            <a:r>
              <a:rPr>
                <a:solidFill>
                  <a:schemeClr val="accent5"/>
                </a:solidFill>
              </a:rPr>
              <a:t>// 因为a的数组元素个数多余结点的个数，为了识别存储了多少个结点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size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472" name="Shape 2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二叉树转换为数组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Shape 2608"/>
          <p:cNvSpPr txBox="1"/>
          <p:nvPr/>
        </p:nvSpPr>
        <p:spPr>
          <a:xfrm>
            <a:off x="834670" y="85231"/>
            <a:ext cx="11290304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copy</a:t>
            </a:r>
          </a:p>
        </p:txBody>
      </p:sp>
      <p:grpSp>
        <p:nvGrpSpPr>
          <p:cNvPr id="2519" name="Group 2653"/>
          <p:cNvGrpSpPr/>
          <p:nvPr/>
        </p:nvGrpSpPr>
        <p:grpSpPr>
          <a:xfrm>
            <a:off x="203976" y="3272809"/>
            <a:ext cx="6858002" cy="4151406"/>
            <a:chOff x="0" y="0"/>
            <a:chExt cx="6858001" cy="4151404"/>
          </a:xfrm>
        </p:grpSpPr>
        <p:grpSp>
          <p:nvGrpSpPr>
            <p:cNvPr id="2477" name="Group 2611"/>
            <p:cNvGrpSpPr/>
            <p:nvPr/>
          </p:nvGrpSpPr>
          <p:grpSpPr>
            <a:xfrm>
              <a:off x="2192918" y="876640"/>
              <a:ext cx="1656919" cy="598418"/>
              <a:chOff x="0" y="0"/>
              <a:chExt cx="1656918" cy="598417"/>
            </a:xfrm>
          </p:grpSpPr>
          <p:sp>
            <p:nvSpPr>
              <p:cNvPr id="2475" name="Shape 2609"/>
              <p:cNvSpPr/>
              <p:nvPr/>
            </p:nvSpPr>
            <p:spPr>
              <a:xfrm>
                <a:off x="0" y="46800"/>
                <a:ext cx="1656919" cy="551618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6" name="Shape 2610"/>
              <p:cNvSpPr/>
              <p:nvPr/>
            </p:nvSpPr>
            <p:spPr>
              <a:xfrm>
                <a:off x="565781" y="0"/>
                <a:ext cx="525353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478" name="Shape 2612"/>
            <p:cNvSpPr/>
            <p:nvPr/>
          </p:nvSpPr>
          <p:spPr>
            <a:xfrm>
              <a:off x="2606677" y="923441"/>
              <a:ext cx="1884" cy="55161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79" name="Shape 2613"/>
            <p:cNvSpPr/>
            <p:nvPr/>
          </p:nvSpPr>
          <p:spPr>
            <a:xfrm>
              <a:off x="3436073" y="923441"/>
              <a:ext cx="1885" cy="55161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482" name="Group 2616"/>
            <p:cNvGrpSpPr/>
            <p:nvPr/>
          </p:nvGrpSpPr>
          <p:grpSpPr>
            <a:xfrm>
              <a:off x="4320014" y="3556563"/>
              <a:ext cx="1656920" cy="594842"/>
              <a:chOff x="0" y="0"/>
              <a:chExt cx="1656919" cy="594841"/>
            </a:xfrm>
          </p:grpSpPr>
          <p:sp>
            <p:nvSpPr>
              <p:cNvPr id="2480" name="Shape 2614"/>
              <p:cNvSpPr/>
              <p:nvPr/>
            </p:nvSpPr>
            <p:spPr>
              <a:xfrm>
                <a:off x="0" y="43224"/>
                <a:ext cx="1656920" cy="551618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1" name="Shape 2615"/>
              <p:cNvSpPr/>
              <p:nvPr/>
            </p:nvSpPr>
            <p:spPr>
              <a:xfrm>
                <a:off x="595225" y="0"/>
                <a:ext cx="466466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483" name="Shape 2617"/>
            <p:cNvSpPr/>
            <p:nvPr/>
          </p:nvSpPr>
          <p:spPr>
            <a:xfrm>
              <a:off x="4724369" y="3581400"/>
              <a:ext cx="1884" cy="55161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84" name="Shape 2618"/>
            <p:cNvSpPr/>
            <p:nvPr/>
          </p:nvSpPr>
          <p:spPr>
            <a:xfrm>
              <a:off x="5563168" y="3599788"/>
              <a:ext cx="1884" cy="55161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85" name="Shape 2619"/>
            <p:cNvSpPr/>
            <p:nvPr/>
          </p:nvSpPr>
          <p:spPr>
            <a:xfrm>
              <a:off x="4248545" y="3665164"/>
              <a:ext cx="5030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486" name="Shape 2620"/>
            <p:cNvSpPr/>
            <p:nvPr/>
          </p:nvSpPr>
          <p:spPr>
            <a:xfrm>
              <a:off x="5463490" y="3636562"/>
              <a:ext cx="50304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489" name="Group 2623"/>
            <p:cNvGrpSpPr/>
            <p:nvPr/>
          </p:nvGrpSpPr>
          <p:grpSpPr>
            <a:xfrm>
              <a:off x="5194547" y="2670591"/>
              <a:ext cx="1656919" cy="585974"/>
              <a:chOff x="0" y="0"/>
              <a:chExt cx="1656918" cy="585972"/>
            </a:xfrm>
          </p:grpSpPr>
          <p:sp>
            <p:nvSpPr>
              <p:cNvPr id="2487" name="Shape 2621"/>
              <p:cNvSpPr/>
              <p:nvPr/>
            </p:nvSpPr>
            <p:spPr>
              <a:xfrm>
                <a:off x="0" y="34355"/>
                <a:ext cx="1656919" cy="551618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8" name="Shape 2622"/>
              <p:cNvSpPr/>
              <p:nvPr/>
            </p:nvSpPr>
            <p:spPr>
              <a:xfrm>
                <a:off x="580374" y="0"/>
                <a:ext cx="496168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490" name="Shape 2624"/>
            <p:cNvSpPr/>
            <p:nvPr/>
          </p:nvSpPr>
          <p:spPr>
            <a:xfrm>
              <a:off x="5608307" y="2704948"/>
              <a:ext cx="1884" cy="55161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91" name="Shape 2625"/>
            <p:cNvSpPr/>
            <p:nvPr/>
          </p:nvSpPr>
          <p:spPr>
            <a:xfrm>
              <a:off x="6439817" y="2704948"/>
              <a:ext cx="1884" cy="551616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92" name="Shape 2626"/>
            <p:cNvSpPr/>
            <p:nvPr/>
          </p:nvSpPr>
          <p:spPr>
            <a:xfrm>
              <a:off x="6354954" y="2741722"/>
              <a:ext cx="5030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495" name="Group 2629"/>
            <p:cNvGrpSpPr/>
            <p:nvPr/>
          </p:nvGrpSpPr>
          <p:grpSpPr>
            <a:xfrm>
              <a:off x="3594056" y="1855175"/>
              <a:ext cx="1650336" cy="580100"/>
              <a:chOff x="0" y="0"/>
              <a:chExt cx="1650335" cy="580098"/>
            </a:xfrm>
          </p:grpSpPr>
          <p:sp>
            <p:nvSpPr>
              <p:cNvPr id="2493" name="Shape 2627"/>
              <p:cNvSpPr/>
              <p:nvPr/>
            </p:nvSpPr>
            <p:spPr>
              <a:xfrm>
                <a:off x="0" y="28481"/>
                <a:ext cx="1650336" cy="551618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4" name="Shape 2628"/>
              <p:cNvSpPr/>
              <p:nvPr/>
            </p:nvSpPr>
            <p:spPr>
              <a:xfrm>
                <a:off x="564841" y="0"/>
                <a:ext cx="525353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496" name="Shape 2630"/>
            <p:cNvSpPr/>
            <p:nvPr/>
          </p:nvSpPr>
          <p:spPr>
            <a:xfrm>
              <a:off x="4007815" y="1883657"/>
              <a:ext cx="1884" cy="55161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97" name="Shape 2631"/>
            <p:cNvSpPr/>
            <p:nvPr/>
          </p:nvSpPr>
          <p:spPr>
            <a:xfrm>
              <a:off x="4835330" y="1883657"/>
              <a:ext cx="1884" cy="55161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498" name="Shape 2632"/>
            <p:cNvSpPr/>
            <p:nvPr/>
          </p:nvSpPr>
          <p:spPr>
            <a:xfrm>
              <a:off x="3511303" y="1922474"/>
              <a:ext cx="5030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01" name="Group 2635"/>
            <p:cNvGrpSpPr/>
            <p:nvPr/>
          </p:nvGrpSpPr>
          <p:grpSpPr>
            <a:xfrm>
              <a:off x="1559117" y="2656615"/>
              <a:ext cx="1650336" cy="593822"/>
              <a:chOff x="0" y="0"/>
              <a:chExt cx="1650335" cy="593820"/>
            </a:xfrm>
          </p:grpSpPr>
          <p:sp>
            <p:nvSpPr>
              <p:cNvPr id="2499" name="Shape 2633"/>
              <p:cNvSpPr/>
              <p:nvPr/>
            </p:nvSpPr>
            <p:spPr>
              <a:xfrm>
                <a:off x="0" y="44246"/>
                <a:ext cx="1650336" cy="54957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0" name="Shape 2634"/>
              <p:cNvSpPr/>
              <p:nvPr/>
            </p:nvSpPr>
            <p:spPr>
              <a:xfrm>
                <a:off x="564841" y="0"/>
                <a:ext cx="525353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502" name="Shape 2636"/>
            <p:cNvSpPr/>
            <p:nvPr/>
          </p:nvSpPr>
          <p:spPr>
            <a:xfrm>
              <a:off x="1972876" y="2700862"/>
              <a:ext cx="1884" cy="54957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03" name="Shape 2637"/>
            <p:cNvSpPr/>
            <p:nvPr/>
          </p:nvSpPr>
          <p:spPr>
            <a:xfrm>
              <a:off x="2800391" y="2700862"/>
              <a:ext cx="1883" cy="54957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04" name="Shape 2638"/>
            <p:cNvSpPr/>
            <p:nvPr/>
          </p:nvSpPr>
          <p:spPr>
            <a:xfrm>
              <a:off x="1461319" y="2734060"/>
              <a:ext cx="5030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505" name="Shape 2639"/>
            <p:cNvSpPr/>
            <p:nvPr/>
          </p:nvSpPr>
          <p:spPr>
            <a:xfrm>
              <a:off x="2687547" y="2737636"/>
              <a:ext cx="50304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08" name="Group 2642"/>
            <p:cNvGrpSpPr/>
            <p:nvPr/>
          </p:nvGrpSpPr>
          <p:grpSpPr>
            <a:xfrm>
              <a:off x="761691" y="1837809"/>
              <a:ext cx="1650335" cy="583930"/>
              <a:chOff x="0" y="0"/>
              <a:chExt cx="1650333" cy="583929"/>
            </a:xfrm>
          </p:grpSpPr>
          <p:sp>
            <p:nvSpPr>
              <p:cNvPr id="2506" name="Shape 2640"/>
              <p:cNvSpPr/>
              <p:nvPr/>
            </p:nvSpPr>
            <p:spPr>
              <a:xfrm>
                <a:off x="0" y="34355"/>
                <a:ext cx="1650334" cy="54957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7" name="Shape 2641"/>
              <p:cNvSpPr/>
              <p:nvPr/>
            </p:nvSpPr>
            <p:spPr>
              <a:xfrm>
                <a:off x="579433" y="0"/>
                <a:ext cx="496168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2509" name="Shape 2643"/>
            <p:cNvSpPr/>
            <p:nvPr/>
          </p:nvSpPr>
          <p:spPr>
            <a:xfrm>
              <a:off x="1175449" y="1872163"/>
              <a:ext cx="1884" cy="54957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0" name="Shape 2644"/>
            <p:cNvSpPr/>
            <p:nvPr/>
          </p:nvSpPr>
          <p:spPr>
            <a:xfrm>
              <a:off x="2002967" y="1872163"/>
              <a:ext cx="1883" cy="54957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1" name="Shape 2645"/>
            <p:cNvSpPr/>
            <p:nvPr/>
          </p:nvSpPr>
          <p:spPr>
            <a:xfrm>
              <a:off x="678939" y="1920430"/>
              <a:ext cx="50304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512" name="Shape 2646"/>
            <p:cNvSpPr/>
            <p:nvPr/>
          </p:nvSpPr>
          <p:spPr>
            <a:xfrm flipH="1">
              <a:off x="1534666" y="1189032"/>
              <a:ext cx="882061" cy="663981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3" name="Shape 2647"/>
            <p:cNvSpPr/>
            <p:nvPr/>
          </p:nvSpPr>
          <p:spPr>
            <a:xfrm>
              <a:off x="3697492" y="1160430"/>
              <a:ext cx="823758" cy="69258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4" name="Shape 2648"/>
            <p:cNvSpPr/>
            <p:nvPr/>
          </p:nvSpPr>
          <p:spPr>
            <a:xfrm>
              <a:off x="2275670" y="2151292"/>
              <a:ext cx="235093" cy="518928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5" name="Shape 2649"/>
            <p:cNvSpPr/>
            <p:nvPr/>
          </p:nvSpPr>
          <p:spPr>
            <a:xfrm>
              <a:off x="5076062" y="2194195"/>
              <a:ext cx="769217" cy="486239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6" name="Shape 2650"/>
            <p:cNvSpPr/>
            <p:nvPr/>
          </p:nvSpPr>
          <p:spPr>
            <a:xfrm flipH="1">
              <a:off x="5179504" y="2998375"/>
              <a:ext cx="211584" cy="59860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17" name="Shape 2651"/>
            <p:cNvSpPr/>
            <p:nvPr/>
          </p:nvSpPr>
          <p:spPr>
            <a:xfrm>
              <a:off x="1034396" y="343736"/>
              <a:ext cx="1893887" cy="5454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8" name="Shape 2652"/>
            <p:cNvSpPr/>
            <p:nvPr/>
          </p:nvSpPr>
          <p:spPr>
            <a:xfrm>
              <a:off x="0" y="0"/>
              <a:ext cx="1131959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algn="r" defTabSz="1295400"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t</a:t>
              </a:r>
            </a:p>
          </p:txBody>
        </p:sp>
      </p:grpSp>
      <p:grpSp>
        <p:nvGrpSpPr>
          <p:cNvPr id="2564" name="Group 2698"/>
          <p:cNvGrpSpPr/>
          <p:nvPr/>
        </p:nvGrpSpPr>
        <p:grpSpPr>
          <a:xfrm>
            <a:off x="5306035" y="838198"/>
            <a:ext cx="7498130" cy="4543458"/>
            <a:chOff x="0" y="0"/>
            <a:chExt cx="7498128" cy="4543456"/>
          </a:xfrm>
        </p:grpSpPr>
        <p:grpSp>
          <p:nvGrpSpPr>
            <p:cNvPr id="2522" name="Group 2656"/>
            <p:cNvGrpSpPr/>
            <p:nvPr/>
          </p:nvGrpSpPr>
          <p:grpSpPr>
            <a:xfrm>
              <a:off x="2397606" y="997811"/>
              <a:ext cx="1811575" cy="615579"/>
              <a:chOff x="0" y="-1"/>
              <a:chExt cx="1811574" cy="615577"/>
            </a:xfrm>
          </p:grpSpPr>
          <p:sp>
            <p:nvSpPr>
              <p:cNvPr id="2520" name="Shape 2654"/>
              <p:cNvSpPr/>
              <p:nvPr/>
            </p:nvSpPr>
            <p:spPr>
              <a:xfrm>
                <a:off x="-1" y="11822"/>
                <a:ext cx="1811576" cy="60310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21" name="Shape 2655"/>
              <p:cNvSpPr txBox="1"/>
              <p:nvPr/>
            </p:nvSpPr>
            <p:spPr>
              <a:xfrm>
                <a:off x="618592" y="-2"/>
                <a:ext cx="574389" cy="6155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523" name="Shape 2657"/>
            <p:cNvSpPr/>
            <p:nvPr/>
          </p:nvSpPr>
          <p:spPr>
            <a:xfrm>
              <a:off x="2849985" y="1009635"/>
              <a:ext cx="2060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24" name="Shape 2658"/>
            <p:cNvSpPr/>
            <p:nvPr/>
          </p:nvSpPr>
          <p:spPr>
            <a:xfrm>
              <a:off x="3756798" y="1009635"/>
              <a:ext cx="2059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527" name="Group 2661"/>
            <p:cNvGrpSpPr/>
            <p:nvPr/>
          </p:nvGrpSpPr>
          <p:grpSpPr>
            <a:xfrm>
              <a:off x="4723247" y="3927878"/>
              <a:ext cx="1811576" cy="615579"/>
              <a:chOff x="0" y="-1"/>
              <a:chExt cx="1811575" cy="615577"/>
            </a:xfrm>
          </p:grpSpPr>
          <p:sp>
            <p:nvSpPr>
              <p:cNvPr id="2525" name="Shape 2659"/>
              <p:cNvSpPr/>
              <p:nvPr/>
            </p:nvSpPr>
            <p:spPr>
              <a:xfrm>
                <a:off x="-1" y="7912"/>
                <a:ext cx="1811577" cy="603107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26" name="Shape 2660"/>
              <p:cNvSpPr txBox="1"/>
              <p:nvPr/>
            </p:nvSpPr>
            <p:spPr>
              <a:xfrm>
                <a:off x="650784" y="-2"/>
                <a:ext cx="510006" cy="6155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528" name="Shape 2662"/>
            <p:cNvSpPr/>
            <p:nvPr/>
          </p:nvSpPr>
          <p:spPr>
            <a:xfrm>
              <a:off x="5165344" y="3915688"/>
              <a:ext cx="2058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29" name="Shape 2663"/>
            <p:cNvSpPr/>
            <p:nvPr/>
          </p:nvSpPr>
          <p:spPr>
            <a:xfrm>
              <a:off x="6082436" y="3935791"/>
              <a:ext cx="2061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30" name="Shape 2664"/>
            <p:cNvSpPr txBox="1"/>
            <p:nvPr/>
          </p:nvSpPr>
          <p:spPr>
            <a:xfrm>
              <a:off x="4645105" y="4007270"/>
              <a:ext cx="550003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531" name="Shape 2665"/>
            <p:cNvSpPr txBox="1"/>
            <p:nvPr/>
          </p:nvSpPr>
          <p:spPr>
            <a:xfrm>
              <a:off x="5973454" y="3975999"/>
              <a:ext cx="550003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34" name="Group 2668"/>
            <p:cNvGrpSpPr/>
            <p:nvPr/>
          </p:nvGrpSpPr>
          <p:grpSpPr>
            <a:xfrm>
              <a:off x="5679408" y="2945325"/>
              <a:ext cx="1811576" cy="615579"/>
              <a:chOff x="0" y="0"/>
              <a:chExt cx="1811575" cy="615577"/>
            </a:xfrm>
          </p:grpSpPr>
          <p:sp>
            <p:nvSpPr>
              <p:cNvPr id="2532" name="Shape 2666"/>
              <p:cNvSpPr/>
              <p:nvPr/>
            </p:nvSpPr>
            <p:spPr>
              <a:xfrm>
                <a:off x="-1" y="12101"/>
                <a:ext cx="1811577" cy="60310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33" name="Shape 2667"/>
              <p:cNvSpPr txBox="1"/>
              <p:nvPr/>
            </p:nvSpPr>
            <p:spPr>
              <a:xfrm>
                <a:off x="634546" y="-1"/>
                <a:ext cx="542480" cy="6155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535" name="Shape 2669"/>
            <p:cNvSpPr/>
            <p:nvPr/>
          </p:nvSpPr>
          <p:spPr>
            <a:xfrm>
              <a:off x="6131788" y="2957427"/>
              <a:ext cx="2060" cy="60310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36" name="Shape 2670"/>
            <p:cNvSpPr/>
            <p:nvPr/>
          </p:nvSpPr>
          <p:spPr>
            <a:xfrm>
              <a:off x="7040912" y="2957427"/>
              <a:ext cx="2060" cy="603104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37" name="Shape 2671"/>
            <p:cNvSpPr txBox="1"/>
            <p:nvPr/>
          </p:nvSpPr>
          <p:spPr>
            <a:xfrm>
              <a:off x="6948127" y="2997634"/>
              <a:ext cx="550003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40" name="Group 2674"/>
            <p:cNvGrpSpPr/>
            <p:nvPr/>
          </p:nvGrpSpPr>
          <p:grpSpPr>
            <a:xfrm>
              <a:off x="3929527" y="2053796"/>
              <a:ext cx="1804378" cy="615579"/>
              <a:chOff x="0" y="-1"/>
              <a:chExt cx="1804377" cy="615577"/>
            </a:xfrm>
          </p:grpSpPr>
          <p:sp>
            <p:nvSpPr>
              <p:cNvPr id="2538" name="Shape 2672"/>
              <p:cNvSpPr/>
              <p:nvPr/>
            </p:nvSpPr>
            <p:spPr>
              <a:xfrm>
                <a:off x="-1" y="5679"/>
                <a:ext cx="1804379" cy="603106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39" name="Shape 2673"/>
              <p:cNvSpPr txBox="1"/>
              <p:nvPr/>
            </p:nvSpPr>
            <p:spPr>
              <a:xfrm>
                <a:off x="617564" y="-2"/>
                <a:ext cx="574389" cy="6155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541" name="Shape 2675"/>
            <p:cNvSpPr/>
            <p:nvPr/>
          </p:nvSpPr>
          <p:spPr>
            <a:xfrm>
              <a:off x="4381905" y="2059477"/>
              <a:ext cx="2059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42" name="Shape 2676"/>
            <p:cNvSpPr/>
            <p:nvPr/>
          </p:nvSpPr>
          <p:spPr>
            <a:xfrm>
              <a:off x="5286662" y="2059477"/>
              <a:ext cx="2059" cy="603103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43" name="Shape 2677"/>
            <p:cNvSpPr txBox="1"/>
            <p:nvPr/>
          </p:nvSpPr>
          <p:spPr>
            <a:xfrm>
              <a:off x="3839050" y="2101917"/>
              <a:ext cx="550002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46" name="Group 2680"/>
            <p:cNvGrpSpPr/>
            <p:nvPr/>
          </p:nvGrpSpPr>
          <p:grpSpPr>
            <a:xfrm>
              <a:off x="1704645" y="2943929"/>
              <a:ext cx="1804378" cy="615579"/>
              <a:chOff x="0" y="-1"/>
              <a:chExt cx="1804377" cy="615577"/>
            </a:xfrm>
          </p:grpSpPr>
          <p:sp>
            <p:nvSpPr>
              <p:cNvPr id="2544" name="Shape 2678"/>
              <p:cNvSpPr/>
              <p:nvPr/>
            </p:nvSpPr>
            <p:spPr>
              <a:xfrm>
                <a:off x="-1" y="9029"/>
                <a:ext cx="1804379" cy="600873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45" name="Shape 2679"/>
              <p:cNvSpPr txBox="1"/>
              <p:nvPr/>
            </p:nvSpPr>
            <p:spPr>
              <a:xfrm>
                <a:off x="617563" y="-2"/>
                <a:ext cx="574389" cy="6155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547" name="Shape 2681"/>
            <p:cNvSpPr/>
            <p:nvPr/>
          </p:nvSpPr>
          <p:spPr>
            <a:xfrm>
              <a:off x="2157024" y="2952959"/>
              <a:ext cx="2060" cy="60087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48" name="Shape 2682"/>
            <p:cNvSpPr/>
            <p:nvPr/>
          </p:nvSpPr>
          <p:spPr>
            <a:xfrm>
              <a:off x="3061779" y="2952959"/>
              <a:ext cx="2061" cy="60087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49" name="Shape 2683"/>
            <p:cNvSpPr txBox="1"/>
            <p:nvPr/>
          </p:nvSpPr>
          <p:spPr>
            <a:xfrm>
              <a:off x="1597719" y="2989257"/>
              <a:ext cx="550002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550" name="Shape 2684"/>
            <p:cNvSpPr txBox="1"/>
            <p:nvPr/>
          </p:nvSpPr>
          <p:spPr>
            <a:xfrm>
              <a:off x="2938404" y="2993166"/>
              <a:ext cx="550002" cy="510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53" name="Group 2687"/>
            <p:cNvGrpSpPr/>
            <p:nvPr/>
          </p:nvGrpSpPr>
          <p:grpSpPr>
            <a:xfrm>
              <a:off x="832787" y="2034809"/>
              <a:ext cx="1804378" cy="615579"/>
              <a:chOff x="0" y="-1"/>
              <a:chExt cx="1804377" cy="615577"/>
            </a:xfrm>
          </p:grpSpPr>
          <p:sp>
            <p:nvSpPr>
              <p:cNvPr id="2551" name="Shape 2685"/>
              <p:cNvSpPr/>
              <p:nvPr/>
            </p:nvSpPr>
            <p:spPr>
              <a:xfrm>
                <a:off x="-1" y="12100"/>
                <a:ext cx="1804379" cy="600874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2" name="Shape 2686"/>
              <p:cNvSpPr txBox="1"/>
              <p:nvPr/>
            </p:nvSpPr>
            <p:spPr>
              <a:xfrm>
                <a:off x="633518" y="-2"/>
                <a:ext cx="542479" cy="6155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7" indent="57797" algn="ctr" defTabSz="1295400">
                  <a:defRPr b="1" sz="36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2554" name="Shape 2688"/>
            <p:cNvSpPr/>
            <p:nvPr/>
          </p:nvSpPr>
          <p:spPr>
            <a:xfrm>
              <a:off x="1285166" y="2046911"/>
              <a:ext cx="2059" cy="60087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55" name="Shape 2689"/>
            <p:cNvSpPr/>
            <p:nvPr/>
          </p:nvSpPr>
          <p:spPr>
            <a:xfrm>
              <a:off x="2189924" y="2046911"/>
              <a:ext cx="2059" cy="600870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56" name="Shape 2690"/>
            <p:cNvSpPr txBox="1"/>
            <p:nvPr/>
          </p:nvSpPr>
          <p:spPr>
            <a:xfrm>
              <a:off x="742312" y="2099682"/>
              <a:ext cx="550002" cy="510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557" name="Shape 2691"/>
            <p:cNvSpPr/>
            <p:nvPr/>
          </p:nvSpPr>
          <p:spPr>
            <a:xfrm flipH="1">
              <a:off x="1677912" y="1300017"/>
              <a:ext cx="964393" cy="725957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58" name="Shape 2692"/>
            <p:cNvSpPr/>
            <p:nvPr/>
          </p:nvSpPr>
          <p:spPr>
            <a:xfrm>
              <a:off x="4042617" y="1268744"/>
              <a:ext cx="900647" cy="75723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59" name="Shape 2693"/>
            <p:cNvSpPr/>
            <p:nvPr/>
          </p:nvSpPr>
          <p:spPr>
            <a:xfrm>
              <a:off x="2488082" y="2352092"/>
              <a:ext cx="257036" cy="56736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60" name="Shape 2694"/>
            <p:cNvSpPr/>
            <p:nvPr/>
          </p:nvSpPr>
          <p:spPr>
            <a:xfrm>
              <a:off x="5549864" y="2398999"/>
              <a:ext cx="841015" cy="531625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61" name="Shape 2695"/>
            <p:cNvSpPr/>
            <p:nvPr/>
          </p:nvSpPr>
          <p:spPr>
            <a:xfrm flipH="1">
              <a:off x="5662961" y="3278243"/>
              <a:ext cx="231333" cy="654478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62" name="Shape 2696"/>
            <p:cNvSpPr/>
            <p:nvPr/>
          </p:nvSpPr>
          <p:spPr>
            <a:xfrm>
              <a:off x="1130946" y="375820"/>
              <a:ext cx="2070664" cy="596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3" name="Shape 2697"/>
            <p:cNvSpPr txBox="1"/>
            <p:nvPr/>
          </p:nvSpPr>
          <p:spPr>
            <a:xfrm>
              <a:off x="0" y="-1"/>
              <a:ext cx="1237617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algn="r" defTabSz="1295400"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2565" name="Shape 2699"/>
          <p:cNvSpPr/>
          <p:nvPr/>
        </p:nvSpPr>
        <p:spPr>
          <a:xfrm rot="19330796">
            <a:off x="4928280" y="3850299"/>
            <a:ext cx="1750017" cy="864761"/>
          </a:xfrm>
          <a:prstGeom prst="rightArrow">
            <a:avLst>
              <a:gd name="adj1" fmla="val 43909"/>
              <a:gd name="adj2" fmla="val 90625"/>
            </a:avLst>
          </a:prstGeom>
          <a:solidFill>
            <a:srgbClr val="FFFFFF"/>
          </a:solidFill>
          <a:ln w="25400">
            <a:solidFill>
              <a:srgbClr val="A408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Shape 2702"/>
          <p:cNvSpPr txBox="1"/>
          <p:nvPr/>
        </p:nvSpPr>
        <p:spPr>
          <a:xfrm>
            <a:off x="1358900" y="1222022"/>
            <a:ext cx="106172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先复制t的左子树，再复制t的右子树，然后生成新的根结点。</a:t>
            </a:r>
          </a:p>
        </p:txBody>
      </p:sp>
      <p:sp>
        <p:nvSpPr>
          <p:cNvPr id="2568" name="Shape 2703"/>
          <p:cNvSpPr/>
          <p:nvPr/>
        </p:nvSpPr>
        <p:spPr>
          <a:xfrm>
            <a:off x="1915722" y="3588453"/>
            <a:ext cx="3022604" cy="800101"/>
          </a:xfrm>
          <a:prstGeom prst="rect">
            <a:avLst/>
          </a:prstGeom>
          <a:solidFill>
            <a:srgbClr val="CAF2CE"/>
          </a:solidFill>
          <a:ln w="25400" cap="sq">
            <a:solidFill>
              <a:srgbClr val="33339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spcBef>
                <a:spcPts val="1900"/>
              </a:spcBef>
              <a:defRPr b="1"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根元素</a:t>
            </a:r>
          </a:p>
        </p:txBody>
      </p:sp>
      <p:sp>
        <p:nvSpPr>
          <p:cNvPr id="2569" name="Shape 2704"/>
          <p:cNvSpPr/>
          <p:nvPr/>
        </p:nvSpPr>
        <p:spPr>
          <a:xfrm flipH="1">
            <a:off x="2600622" y="3624580"/>
            <a:ext cx="2598" cy="643367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70" name="Shape 2705"/>
          <p:cNvSpPr/>
          <p:nvPr/>
        </p:nvSpPr>
        <p:spPr>
          <a:xfrm>
            <a:off x="4445563" y="3611879"/>
            <a:ext cx="3257" cy="670999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71" name="Shape 2706"/>
          <p:cNvSpPr/>
          <p:nvPr/>
        </p:nvSpPr>
        <p:spPr>
          <a:xfrm>
            <a:off x="2284870" y="2641196"/>
            <a:ext cx="1079503" cy="983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31" fill="norm" stroke="1" extrusionOk="0">
                <a:moveTo>
                  <a:pt x="0" y="168"/>
                </a:moveTo>
                <a:cubicBezTo>
                  <a:pt x="1440" y="168"/>
                  <a:pt x="2880" y="168"/>
                  <a:pt x="4320" y="168"/>
                </a:cubicBezTo>
                <a:cubicBezTo>
                  <a:pt x="5760" y="168"/>
                  <a:pt x="7200" y="-211"/>
                  <a:pt x="8640" y="168"/>
                </a:cubicBezTo>
                <a:cubicBezTo>
                  <a:pt x="10080" y="547"/>
                  <a:pt x="10800" y="-969"/>
                  <a:pt x="12960" y="2442"/>
                </a:cubicBezTo>
                <a:cubicBezTo>
                  <a:pt x="15120" y="5852"/>
                  <a:pt x="20160" y="17599"/>
                  <a:pt x="21600" y="20631"/>
                </a:cubicBezTo>
              </a:path>
            </a:pathLst>
          </a:custGeom>
          <a:ln w="38100" cap="sq">
            <a:solidFill>
              <a:srgbClr val="333399"/>
            </a:solidFill>
            <a:tail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572" name="Shape 2707"/>
          <p:cNvSpPr txBox="1"/>
          <p:nvPr/>
        </p:nvSpPr>
        <p:spPr>
          <a:xfrm>
            <a:off x="1995875" y="2001236"/>
            <a:ext cx="482603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573" name="Shape 2708"/>
          <p:cNvSpPr/>
          <p:nvPr/>
        </p:nvSpPr>
        <p:spPr>
          <a:xfrm flipH="1">
            <a:off x="1993617" y="4058071"/>
            <a:ext cx="410919" cy="1133408"/>
          </a:xfrm>
          <a:prstGeom prst="line">
            <a:avLst/>
          </a:prstGeom>
          <a:ln w="38100" cap="sq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74" name="Shape 2709"/>
          <p:cNvSpPr/>
          <p:nvPr/>
        </p:nvSpPr>
        <p:spPr>
          <a:xfrm>
            <a:off x="4772941" y="4058072"/>
            <a:ext cx="393703" cy="1028703"/>
          </a:xfrm>
          <a:prstGeom prst="line">
            <a:avLst/>
          </a:prstGeom>
          <a:ln w="38100" cap="sq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75" name="Shape 2710"/>
          <p:cNvSpPr txBox="1"/>
          <p:nvPr/>
        </p:nvSpPr>
        <p:spPr>
          <a:xfrm>
            <a:off x="4655820" y="5087618"/>
            <a:ext cx="19304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b="1"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右子树</a:t>
            </a:r>
          </a:p>
        </p:txBody>
      </p:sp>
      <p:grpSp>
        <p:nvGrpSpPr>
          <p:cNvPr id="2579" name="Group 2714"/>
          <p:cNvGrpSpPr/>
          <p:nvPr/>
        </p:nvGrpSpPr>
        <p:grpSpPr>
          <a:xfrm>
            <a:off x="8067040" y="3576427"/>
            <a:ext cx="2984503" cy="803096"/>
            <a:chOff x="0" y="0"/>
            <a:chExt cx="2984502" cy="803095"/>
          </a:xfrm>
        </p:grpSpPr>
        <p:sp>
          <p:nvSpPr>
            <p:cNvPr id="2576" name="Shape 2711"/>
            <p:cNvSpPr/>
            <p:nvPr/>
          </p:nvSpPr>
          <p:spPr>
            <a:xfrm>
              <a:off x="-1" y="2995"/>
              <a:ext cx="2984504" cy="800101"/>
            </a:xfrm>
            <a:prstGeom prst="rect">
              <a:avLst/>
            </a:prstGeom>
            <a:solidFill>
              <a:srgbClr val="FBE2DF"/>
            </a:solidFill>
            <a:ln w="25400" cap="sq">
              <a:solidFill>
                <a:srgbClr val="FF33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algn="ctr" defTabSz="1295400">
                <a:spcBef>
                  <a:spcPts val="1900"/>
                </a:spcBef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根元素</a:t>
              </a:r>
            </a:p>
          </p:txBody>
        </p:sp>
        <p:sp>
          <p:nvSpPr>
            <p:cNvPr id="2577" name="Shape 2712"/>
            <p:cNvSpPr/>
            <p:nvPr/>
          </p:nvSpPr>
          <p:spPr>
            <a:xfrm flipH="1">
              <a:off x="585975" y="-1"/>
              <a:ext cx="1669" cy="673114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78" name="Shape 2713"/>
            <p:cNvSpPr/>
            <p:nvPr/>
          </p:nvSpPr>
          <p:spPr>
            <a:xfrm flipH="1">
              <a:off x="2335252" y="12700"/>
              <a:ext cx="9173" cy="665375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2580" name="Shape 2715"/>
          <p:cNvSpPr/>
          <p:nvPr/>
        </p:nvSpPr>
        <p:spPr>
          <a:xfrm>
            <a:off x="8466666" y="2607329"/>
            <a:ext cx="1079503" cy="983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31" fill="norm" stroke="1" extrusionOk="0">
                <a:moveTo>
                  <a:pt x="0" y="168"/>
                </a:moveTo>
                <a:cubicBezTo>
                  <a:pt x="1440" y="168"/>
                  <a:pt x="2880" y="168"/>
                  <a:pt x="4320" y="168"/>
                </a:cubicBezTo>
                <a:cubicBezTo>
                  <a:pt x="5760" y="168"/>
                  <a:pt x="7200" y="-211"/>
                  <a:pt x="8640" y="168"/>
                </a:cubicBezTo>
                <a:cubicBezTo>
                  <a:pt x="10080" y="547"/>
                  <a:pt x="10800" y="-969"/>
                  <a:pt x="12960" y="2442"/>
                </a:cubicBezTo>
                <a:cubicBezTo>
                  <a:pt x="15120" y="5852"/>
                  <a:pt x="20160" y="17599"/>
                  <a:pt x="21600" y="20631"/>
                </a:cubicBezTo>
              </a:path>
            </a:pathLst>
          </a:custGeom>
          <a:ln w="38100" cap="sq">
            <a:solidFill>
              <a:srgbClr val="FF3300"/>
            </a:solidFill>
            <a:tailEnd type="triangle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581" name="Shape 2716"/>
          <p:cNvSpPr txBox="1"/>
          <p:nvPr/>
        </p:nvSpPr>
        <p:spPr>
          <a:xfrm>
            <a:off x="8088207" y="1967370"/>
            <a:ext cx="413399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defRPr sz="38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2582" name="Shape 2717"/>
          <p:cNvSpPr/>
          <p:nvPr/>
        </p:nvSpPr>
        <p:spPr>
          <a:xfrm flipH="1">
            <a:off x="8069297" y="3994856"/>
            <a:ext cx="419949" cy="1575932"/>
          </a:xfrm>
          <a:prstGeom prst="line">
            <a:avLst/>
          </a:prstGeom>
          <a:ln w="38100" cap="sq">
            <a:solidFill>
              <a:srgbClr val="FF33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83" name="Shape 2718"/>
          <p:cNvSpPr/>
          <p:nvPr/>
        </p:nvSpPr>
        <p:spPr>
          <a:xfrm>
            <a:off x="10642598" y="4024207"/>
            <a:ext cx="647703" cy="1511303"/>
          </a:xfrm>
          <a:prstGeom prst="line">
            <a:avLst/>
          </a:prstGeom>
          <a:ln w="38100" cap="sq">
            <a:solidFill>
              <a:srgbClr val="FF3300"/>
            </a:solidFill>
            <a:tailEnd type="triangle"/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84" name="Shape 2719"/>
          <p:cNvSpPr txBox="1"/>
          <p:nvPr/>
        </p:nvSpPr>
        <p:spPr>
          <a:xfrm>
            <a:off x="7172959" y="5367582"/>
            <a:ext cx="18796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b="1" sz="38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defRPr>
            </a:lvl1pPr>
          </a:lstStyle>
          <a:p>
            <a:pPr/>
            <a:r>
              <a:t>左子树</a:t>
            </a:r>
          </a:p>
        </p:txBody>
      </p:sp>
      <p:sp>
        <p:nvSpPr>
          <p:cNvPr id="2585" name="Shape 2720"/>
          <p:cNvSpPr txBox="1"/>
          <p:nvPr/>
        </p:nvSpPr>
        <p:spPr>
          <a:xfrm>
            <a:off x="10254825" y="5367582"/>
            <a:ext cx="18923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b="1" sz="380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defRPr>
            </a:lvl1pPr>
          </a:lstStyle>
          <a:p>
            <a:pPr/>
            <a:r>
              <a:t>右子树</a:t>
            </a:r>
          </a:p>
        </p:txBody>
      </p:sp>
      <p:sp>
        <p:nvSpPr>
          <p:cNvPr id="2586" name="Shape 2721"/>
          <p:cNvSpPr txBox="1"/>
          <p:nvPr/>
        </p:nvSpPr>
        <p:spPr>
          <a:xfrm>
            <a:off x="1151464" y="5087618"/>
            <a:ext cx="19812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defRPr b="1"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左子树</a:t>
            </a:r>
          </a:p>
        </p:txBody>
      </p:sp>
      <p:sp>
        <p:nvSpPr>
          <p:cNvPr id="2587" name="Shape 2722"/>
          <p:cNvSpPr/>
          <p:nvPr/>
        </p:nvSpPr>
        <p:spPr>
          <a:xfrm>
            <a:off x="6655928" y="1944509"/>
            <a:ext cx="2261" cy="5734760"/>
          </a:xfrm>
          <a:prstGeom prst="line">
            <a:avLst/>
          </a:prstGeom>
          <a:ln w="317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indent="57797">
              <a:defRPr sz="2900"/>
            </a:pPr>
          </a:p>
        </p:txBody>
      </p:sp>
      <p:sp>
        <p:nvSpPr>
          <p:cNvPr id="2588" name="Shape 2608"/>
          <p:cNvSpPr txBox="1"/>
          <p:nvPr/>
        </p:nvSpPr>
        <p:spPr>
          <a:xfrm>
            <a:off x="834670" y="85231"/>
            <a:ext cx="11290304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Shape 2608"/>
          <p:cNvSpPr txBox="1"/>
          <p:nvPr/>
        </p:nvSpPr>
        <p:spPr>
          <a:xfrm>
            <a:off x="834670" y="85231"/>
            <a:ext cx="11290304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copy</a:t>
            </a:r>
          </a:p>
        </p:txBody>
      </p:sp>
      <p:sp>
        <p:nvSpPr>
          <p:cNvPr id="2591" name="private Node&lt;T&gt; copy(Node&lt;T&gt; t){//返回复制得到的二叉树的根结点…"/>
          <p:cNvSpPr txBox="1"/>
          <p:nvPr/>
        </p:nvSpPr>
        <p:spPr>
          <a:xfrm>
            <a:off x="1260556" y="1916151"/>
            <a:ext cx="10397258" cy="2770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copy(Node&lt;T&gt;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){//返回复制得到的二叉树的根结点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	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	Node&lt;T&gt;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copy(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	Node&lt;T&gt;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copy(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2592" name="复制以t为根的二叉树"/>
          <p:cNvSpPr txBox="1"/>
          <p:nvPr/>
        </p:nvSpPr>
        <p:spPr>
          <a:xfrm>
            <a:off x="922330" y="1124371"/>
            <a:ext cx="358912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复制以t为根的二叉树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Shape 2608"/>
          <p:cNvSpPr txBox="1"/>
          <p:nvPr/>
        </p:nvSpPr>
        <p:spPr>
          <a:xfrm>
            <a:off x="834670" y="85231"/>
            <a:ext cx="11290304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clone</a:t>
            </a:r>
          </a:p>
        </p:txBody>
      </p:sp>
      <p:sp>
        <p:nvSpPr>
          <p:cNvPr id="2595" name="public Object clone() {…"/>
          <p:cNvSpPr txBox="1"/>
          <p:nvPr/>
        </p:nvSpPr>
        <p:spPr>
          <a:xfrm>
            <a:off x="828119" y="1275876"/>
            <a:ext cx="11154124" cy="391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Object clone()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try</a:t>
            </a:r>
            <a:r>
              <a:t>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	BiTree&lt;T&gt;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(BiTree&lt;T&gt;)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.clone();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	</a:t>
            </a:r>
            <a:r>
              <a:rPr>
                <a:solidFill>
                  <a:srgbClr val="7E504F"/>
                </a:solidFill>
              </a:rPr>
              <a:t>v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copy(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);// clone后二者的root引用了相同的node，不行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} </a:t>
            </a:r>
            <a:r>
              <a:rPr>
                <a:solidFill>
                  <a:srgbClr val="931A68"/>
                </a:solidFill>
              </a:rPr>
              <a:t>catch</a:t>
            </a:r>
            <a:r>
              <a:t> (CloneNotSupportedException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4E9072"/>
                </a:solidFill>
              </a:rPr>
              <a:t>// this shouldn't happen, since we are Cloneable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InternalError(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Shape 272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根据先序和中序遍历结果构造二叉树</a:t>
            </a:r>
          </a:p>
        </p:txBody>
      </p:sp>
      <p:grpSp>
        <p:nvGrpSpPr>
          <p:cNvPr id="2633" name="Group 2764"/>
          <p:cNvGrpSpPr/>
          <p:nvPr/>
        </p:nvGrpSpPr>
        <p:grpSpPr>
          <a:xfrm>
            <a:off x="401599" y="1567177"/>
            <a:ext cx="3981599" cy="5063075"/>
            <a:chOff x="0" y="-2"/>
            <a:chExt cx="3981597" cy="5063073"/>
          </a:xfrm>
        </p:grpSpPr>
        <p:sp>
          <p:nvSpPr>
            <p:cNvPr id="2598" name="Shape 2729"/>
            <p:cNvSpPr/>
            <p:nvPr/>
          </p:nvSpPr>
          <p:spPr>
            <a:xfrm flipH="1">
              <a:off x="307057" y="408656"/>
              <a:ext cx="1295403" cy="863604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599" name="Shape 2730"/>
            <p:cNvSpPr/>
            <p:nvPr/>
          </p:nvSpPr>
          <p:spPr>
            <a:xfrm>
              <a:off x="408657" y="1433689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0" name="Shape 2731"/>
            <p:cNvSpPr/>
            <p:nvPr/>
          </p:nvSpPr>
          <p:spPr>
            <a:xfrm flipH="1">
              <a:off x="510257" y="2456462"/>
              <a:ext cx="320608" cy="923434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1" name="Shape 2732"/>
            <p:cNvSpPr/>
            <p:nvPr/>
          </p:nvSpPr>
          <p:spPr>
            <a:xfrm>
              <a:off x="1636889" y="408657"/>
              <a:ext cx="1409702" cy="863601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2" name="Shape 2733"/>
            <p:cNvSpPr/>
            <p:nvPr/>
          </p:nvSpPr>
          <p:spPr>
            <a:xfrm>
              <a:off x="2763521" y="1228231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3" name="Shape 2734"/>
            <p:cNvSpPr/>
            <p:nvPr/>
          </p:nvSpPr>
          <p:spPr>
            <a:xfrm flipH="1">
              <a:off x="2867378" y="2456462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4" name="Shape 2735"/>
            <p:cNvSpPr/>
            <p:nvPr/>
          </p:nvSpPr>
          <p:spPr>
            <a:xfrm flipH="1">
              <a:off x="2560321" y="3379893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05" name="Shape 2736"/>
            <p:cNvSpPr/>
            <p:nvPr/>
          </p:nvSpPr>
          <p:spPr>
            <a:xfrm>
              <a:off x="3070578" y="3379893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608" name="Group 2739"/>
            <p:cNvGrpSpPr/>
            <p:nvPr/>
          </p:nvGrpSpPr>
          <p:grpSpPr>
            <a:xfrm>
              <a:off x="1300197" y="-3"/>
              <a:ext cx="762005" cy="863603"/>
              <a:chOff x="0" y="-1"/>
              <a:chExt cx="762004" cy="863602"/>
            </a:xfrm>
          </p:grpSpPr>
          <p:sp>
            <p:nvSpPr>
              <p:cNvPr id="2606" name="Shape 2737"/>
              <p:cNvSpPr/>
              <p:nvPr/>
            </p:nvSpPr>
            <p:spPr>
              <a:xfrm>
                <a:off x="-1" y="-2"/>
                <a:ext cx="762006" cy="86360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7" name="Shape 2738"/>
              <p:cNvSpPr txBox="1"/>
              <p:nvPr/>
            </p:nvSpPr>
            <p:spPr>
              <a:xfrm>
                <a:off x="7970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611" name="Group 2742"/>
            <p:cNvGrpSpPr/>
            <p:nvPr/>
          </p:nvGrpSpPr>
          <p:grpSpPr>
            <a:xfrm>
              <a:off x="-1" y="1022772"/>
              <a:ext cx="762003" cy="863607"/>
              <a:chOff x="-1" y="-1"/>
              <a:chExt cx="762002" cy="863606"/>
            </a:xfrm>
          </p:grpSpPr>
          <p:sp>
            <p:nvSpPr>
              <p:cNvPr id="2609" name="Shape 2740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0" name="Shape 2741"/>
              <p:cNvSpPr txBox="1"/>
              <p:nvPr/>
            </p:nvSpPr>
            <p:spPr>
              <a:xfrm>
                <a:off x="94678" y="37899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614" name="Group 2745"/>
            <p:cNvGrpSpPr/>
            <p:nvPr/>
          </p:nvGrpSpPr>
          <p:grpSpPr>
            <a:xfrm>
              <a:off x="510257" y="1950718"/>
              <a:ext cx="762005" cy="863607"/>
              <a:chOff x="0" y="-1"/>
              <a:chExt cx="762004" cy="863606"/>
            </a:xfrm>
          </p:grpSpPr>
          <p:sp>
            <p:nvSpPr>
              <p:cNvPr id="2612" name="Shape 2743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3" name="Shape 2744"/>
              <p:cNvSpPr txBox="1"/>
              <p:nvPr/>
            </p:nvSpPr>
            <p:spPr>
              <a:xfrm>
                <a:off x="77160" y="325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617" name="Group 2748"/>
            <p:cNvGrpSpPr/>
            <p:nvPr/>
          </p:nvGrpSpPr>
          <p:grpSpPr>
            <a:xfrm>
              <a:off x="-1" y="3072834"/>
              <a:ext cx="762003" cy="863607"/>
              <a:chOff x="-1" y="-1"/>
              <a:chExt cx="762002" cy="863606"/>
            </a:xfrm>
          </p:grpSpPr>
          <p:sp>
            <p:nvSpPr>
              <p:cNvPr id="2615" name="Shape 2746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6" name="Shape 2747"/>
              <p:cNvSpPr txBox="1"/>
              <p:nvPr/>
            </p:nvSpPr>
            <p:spPr>
              <a:xfrm>
                <a:off x="77159" y="37900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620" name="Group 2751"/>
            <p:cNvGrpSpPr/>
            <p:nvPr/>
          </p:nvGrpSpPr>
          <p:grpSpPr>
            <a:xfrm>
              <a:off x="2354863" y="921172"/>
              <a:ext cx="762005" cy="863607"/>
              <a:chOff x="0" y="-1"/>
              <a:chExt cx="762004" cy="863606"/>
            </a:xfrm>
          </p:grpSpPr>
          <p:sp>
            <p:nvSpPr>
              <p:cNvPr id="2618" name="Shape 2749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9" name="Shape 2750"/>
              <p:cNvSpPr txBox="1"/>
              <p:nvPr/>
            </p:nvSpPr>
            <p:spPr>
              <a:xfrm>
                <a:off x="94677" y="37899"/>
                <a:ext cx="569257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623" name="Group 2754"/>
            <p:cNvGrpSpPr/>
            <p:nvPr/>
          </p:nvGrpSpPr>
          <p:grpSpPr>
            <a:xfrm>
              <a:off x="3070578" y="1842345"/>
              <a:ext cx="762005" cy="863607"/>
              <a:chOff x="0" y="-1"/>
              <a:chExt cx="762004" cy="863606"/>
            </a:xfrm>
          </p:grpSpPr>
          <p:sp>
            <p:nvSpPr>
              <p:cNvPr id="2621" name="Shape 2752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22" name="Shape 2753"/>
              <p:cNvSpPr txBox="1"/>
              <p:nvPr/>
            </p:nvSpPr>
            <p:spPr>
              <a:xfrm>
                <a:off x="112506" y="37900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626" name="Group 2757"/>
            <p:cNvGrpSpPr/>
            <p:nvPr/>
          </p:nvGrpSpPr>
          <p:grpSpPr>
            <a:xfrm>
              <a:off x="2661921" y="3072834"/>
              <a:ext cx="762005" cy="863607"/>
              <a:chOff x="0" y="-1"/>
              <a:chExt cx="762004" cy="863606"/>
            </a:xfrm>
          </p:grpSpPr>
          <p:sp>
            <p:nvSpPr>
              <p:cNvPr id="2624" name="Shape 2755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25" name="Shape 2756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629" name="Group 2760"/>
            <p:cNvGrpSpPr/>
            <p:nvPr/>
          </p:nvGrpSpPr>
          <p:grpSpPr>
            <a:xfrm>
              <a:off x="2047805" y="4199465"/>
              <a:ext cx="762005" cy="863607"/>
              <a:chOff x="0" y="-1"/>
              <a:chExt cx="762004" cy="863606"/>
            </a:xfrm>
          </p:grpSpPr>
          <p:sp>
            <p:nvSpPr>
              <p:cNvPr id="2627" name="Shape 2758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28" name="Shape 2759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632" name="Group 2763"/>
            <p:cNvGrpSpPr/>
            <p:nvPr/>
          </p:nvGrpSpPr>
          <p:grpSpPr>
            <a:xfrm>
              <a:off x="3219592" y="4199465"/>
              <a:ext cx="762005" cy="863607"/>
              <a:chOff x="0" y="-1"/>
              <a:chExt cx="762004" cy="863606"/>
            </a:xfrm>
          </p:grpSpPr>
          <p:sp>
            <p:nvSpPr>
              <p:cNvPr id="2630" name="Shape 2761"/>
              <p:cNvSpPr/>
              <p:nvPr/>
            </p:nvSpPr>
            <p:spPr>
              <a:xfrm>
                <a:off x="-1" y="-2"/>
                <a:ext cx="762006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1" name="Shape 2762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634" name="Shape 2765"/>
          <p:cNvSpPr txBox="1"/>
          <p:nvPr/>
        </p:nvSpPr>
        <p:spPr>
          <a:xfrm>
            <a:off x="5441524" y="1498600"/>
            <a:ext cx="3708404" cy="88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4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中序序列：</a:t>
            </a:r>
          </a:p>
        </p:txBody>
      </p:sp>
      <p:sp>
        <p:nvSpPr>
          <p:cNvPr id="2635" name="Shape 2766"/>
          <p:cNvSpPr txBox="1"/>
          <p:nvPr/>
        </p:nvSpPr>
        <p:spPr>
          <a:xfrm>
            <a:off x="5441524" y="3039815"/>
            <a:ext cx="370840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44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先序序列：</a:t>
            </a:r>
          </a:p>
        </p:txBody>
      </p:sp>
      <p:sp>
        <p:nvSpPr>
          <p:cNvPr id="2636" name="Shape 2767"/>
          <p:cNvSpPr/>
          <p:nvPr/>
        </p:nvSpPr>
        <p:spPr>
          <a:xfrm>
            <a:off x="5441524" y="2321841"/>
            <a:ext cx="5867404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57797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pPr>
            <a:r>
              <a:t>BDC</a:t>
            </a:r>
            <a:r>
              <a:rPr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A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EHGKF</a:t>
            </a:r>
          </a:p>
        </p:txBody>
      </p:sp>
      <p:sp>
        <p:nvSpPr>
          <p:cNvPr id="2637" name="Shape 2768"/>
          <p:cNvSpPr/>
          <p:nvPr/>
        </p:nvSpPr>
        <p:spPr>
          <a:xfrm>
            <a:off x="5441524" y="3857130"/>
            <a:ext cx="6310763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57797" defTabSz="1295400">
              <a:spcBef>
                <a:spcPts val="1900"/>
              </a:spcBef>
              <a:defRPr b="1" sz="50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pPr>
            <a:r>
              <a:t>A</a:t>
            </a:r>
            <a:r>
              <a:rPr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rPr>
              <a:t>BCD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EFGHK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  <p:sp>
        <p:nvSpPr>
          <p:cNvPr id="2638" name="Shape 2769"/>
          <p:cNvSpPr/>
          <p:nvPr/>
        </p:nvSpPr>
        <p:spPr>
          <a:xfrm>
            <a:off x="5791200" y="5562600"/>
            <a:ext cx="2120900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57797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pPr>
            <a:r>
              <a:t>BDC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  <p:sp>
        <p:nvSpPr>
          <p:cNvPr id="2639" name="Shape 2770"/>
          <p:cNvSpPr/>
          <p:nvPr/>
        </p:nvSpPr>
        <p:spPr>
          <a:xfrm>
            <a:off x="9321800" y="5562600"/>
            <a:ext cx="2120900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50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BCD</a:t>
            </a:r>
          </a:p>
        </p:txBody>
      </p:sp>
      <p:sp>
        <p:nvSpPr>
          <p:cNvPr id="2640" name="Shape 2771"/>
          <p:cNvSpPr txBox="1"/>
          <p:nvPr/>
        </p:nvSpPr>
        <p:spPr>
          <a:xfrm>
            <a:off x="4826000" y="4864100"/>
            <a:ext cx="5201298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左子树的中序和先序序列</a:t>
            </a:r>
          </a:p>
        </p:txBody>
      </p:sp>
      <p:sp>
        <p:nvSpPr>
          <p:cNvPr id="2641" name="Shape 2772"/>
          <p:cNvSpPr txBox="1"/>
          <p:nvPr/>
        </p:nvSpPr>
        <p:spPr>
          <a:xfrm>
            <a:off x="4826000" y="6604000"/>
            <a:ext cx="5201298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右子树的中序和先序序列</a:t>
            </a:r>
          </a:p>
        </p:txBody>
      </p:sp>
      <p:sp>
        <p:nvSpPr>
          <p:cNvPr id="2642" name="Shape 2773"/>
          <p:cNvSpPr/>
          <p:nvPr/>
        </p:nvSpPr>
        <p:spPr>
          <a:xfrm>
            <a:off x="5791200" y="7327900"/>
            <a:ext cx="3314700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5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EHGKF</a:t>
            </a:r>
          </a:p>
        </p:txBody>
      </p:sp>
      <p:sp>
        <p:nvSpPr>
          <p:cNvPr id="2643" name="Shape 2774"/>
          <p:cNvSpPr/>
          <p:nvPr/>
        </p:nvSpPr>
        <p:spPr>
          <a:xfrm>
            <a:off x="9321800" y="7315200"/>
            <a:ext cx="3314700" cy="823925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FF99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5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EFGHK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Shape 272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根据先序和中序遍历结果构造二叉树</a:t>
            </a:r>
          </a:p>
        </p:txBody>
      </p:sp>
      <p:sp>
        <p:nvSpPr>
          <p:cNvPr id="2648" name="public BiTree(String preString, String inString) {…"/>
          <p:cNvSpPr txBox="1"/>
          <p:nvPr/>
        </p:nvSpPr>
        <p:spPr>
          <a:xfrm>
            <a:off x="465430" y="1737273"/>
            <a:ext cx="7979272" cy="1072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BiTree(String 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String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) {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(Node&lt;T&gt;)makeBitree(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);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Shape 272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根据先序和中序遍历结果构造二叉树</a:t>
            </a:r>
          </a:p>
        </p:txBody>
      </p:sp>
      <p:sp>
        <p:nvSpPr>
          <p:cNvPr id="2653" name="public Node&lt;String&gt; makeBitree(String preString, String inString){…"/>
          <p:cNvSpPr txBox="1"/>
          <p:nvPr/>
        </p:nvSpPr>
        <p:spPr>
          <a:xfrm>
            <a:off x="269549" y="1637391"/>
            <a:ext cx="12444350" cy="7723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Node&lt;String&gt; makeBitree(String 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String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){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Node&lt;String&gt;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.length() != 1)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4E9072"/>
                </a:solidFill>
              </a:rPr>
              <a:t>//假设各个结点的值不一样，使用indexOf代替了书上的循环查找，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.indexOf(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.charAt(0));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 == -1)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throw new IllegalStateException();//return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&gt; 0)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.substring(1,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+ 1), 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          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.substring(0,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));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.length() - 1 -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&gt; 0)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.substring(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+ 1),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          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.substring(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+ 1));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Node&lt;String&gt;(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.substring(0, 1),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654" name="容易理解版，但生成了多个String对象。注意substring(int s, int e)的区间是 [s, )"/>
          <p:cNvSpPr txBox="1"/>
          <p:nvPr/>
        </p:nvSpPr>
        <p:spPr>
          <a:xfrm>
            <a:off x="357179" y="1079499"/>
            <a:ext cx="1166862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defTabSz="1295400">
              <a:spcBef>
                <a:spcPts val="1900"/>
              </a:spcBef>
              <a:defRPr sz="2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容易理解版，但生成了多个String对象。注意substring(int s, int e)的区间是 [s,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Shape 2728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7973" indent="47973" defTabSz="1075180">
              <a:defRPr sz="3900"/>
            </a:lvl1pPr>
          </a:lstStyle>
          <a:p>
            <a:pPr/>
            <a:r>
              <a:t>根据先序和中序遍历结果构造二叉树</a:t>
            </a:r>
          </a:p>
        </p:txBody>
      </p:sp>
      <p:sp>
        <p:nvSpPr>
          <p:cNvPr id="2659" name="public Node&lt;String&gt; makeBitree(String preString, String inString, int preStart, int inStart, int count){…"/>
          <p:cNvSpPr txBox="1"/>
          <p:nvPr/>
        </p:nvSpPr>
        <p:spPr>
          <a:xfrm>
            <a:off x="89284" y="2223042"/>
            <a:ext cx="13004802" cy="3758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Node&lt;String&gt; makeBitree(String 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String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inStart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){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Node&lt;String&gt;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!= 1) 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.indexOf(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.charAt(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));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 == -1)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	throw new IllegalStateException();//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rootPos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inStart</a:t>
            </a:r>
            <a: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&gt; 0)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inStart</a:t>
            </a:r>
            <a:r>
              <a:t>,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);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-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- 1;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 &gt; 0)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makeBitree(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inString</a:t>
            </a:r>
            <a:r>
              <a:t>, 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 + 1 +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, </a:t>
            </a:r>
            <a:r>
              <a:rPr>
                <a:solidFill>
                  <a:srgbClr val="7E504F"/>
                </a:solidFill>
              </a:rPr>
              <a:t>inStart</a:t>
            </a:r>
            <a:r>
              <a:t> + </a:t>
            </a:r>
            <a:r>
              <a:rPr>
                <a:solidFill>
                  <a:srgbClr val="7E504F"/>
                </a:solidFill>
              </a:rPr>
              <a:t>countLeft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countRight</a:t>
            </a:r>
            <a:r>
              <a:t>);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Node&lt;String&gt;(</a:t>
            </a:r>
            <a:r>
              <a:rPr>
                <a:solidFill>
                  <a:srgbClr val="7E504F"/>
                </a:solidFill>
              </a:rPr>
              <a:t>preString</a:t>
            </a:r>
            <a:r>
              <a:t>.substring(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, </a:t>
            </a:r>
            <a:r>
              <a:rPr>
                <a:solidFill>
                  <a:srgbClr val="7E504F"/>
                </a:solidFill>
              </a:rPr>
              <a:t>preStart</a:t>
            </a:r>
            <a:r>
              <a:t> + 1),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660" name="较难理解版，但生成的对象少，效率高。"/>
          <p:cNvSpPr txBox="1"/>
          <p:nvPr/>
        </p:nvSpPr>
        <p:spPr>
          <a:xfrm>
            <a:off x="438318" y="1173691"/>
            <a:ext cx="703009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7" indent="57797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较难理解版，但生成的对象少，效率高。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Shape 2781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>
            <a:lvl1pPr marR="46237" indent="46237" defTabSz="1036319">
              <a:defRPr sz="3800"/>
            </a:lvl1pPr>
          </a:lstStyle>
          <a:p>
            <a:pPr/>
            <a:r>
              <a:t>作业</a:t>
            </a:r>
          </a:p>
        </p:txBody>
      </p:sp>
      <p:sp>
        <p:nvSpPr>
          <p:cNvPr id="2665" name="Shape 2782"/>
          <p:cNvSpPr txBox="1"/>
          <p:nvPr/>
        </p:nvSpPr>
        <p:spPr>
          <a:xfrm>
            <a:off x="114300" y="1269385"/>
            <a:ext cx="7924801" cy="1947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1、画出下面二叉树的顺序存储和链式存储</a:t>
            </a:r>
            <a:endParaRPr b="1"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20000"/>
              </a:lnSpc>
            </a:pPr>
            <a:r>
              <a:t>2、给出先序、中序、后序和层次遍历的结果。</a:t>
            </a:r>
            <a:endParaRPr b="1">
              <a:uFill>
                <a:solidFill>
                  <a:srgbClr val="000000"/>
                </a:solidFill>
              </a:uFill>
            </a:endParaRPr>
          </a:p>
          <a:p>
            <a:pPr>
              <a:lnSpc>
                <a:spcPct val="120000"/>
              </a:lnSpc>
            </a:pPr>
            <a:r>
              <a:t>3、完成BiTree.java 的toArray函数。</a:t>
            </a:r>
          </a:p>
        </p:txBody>
      </p:sp>
      <p:grpSp>
        <p:nvGrpSpPr>
          <p:cNvPr id="2701" name="成组"/>
          <p:cNvGrpSpPr/>
          <p:nvPr/>
        </p:nvGrpSpPr>
        <p:grpSpPr>
          <a:xfrm>
            <a:off x="3121659" y="3713478"/>
            <a:ext cx="3940110" cy="5266274"/>
            <a:chOff x="0" y="0"/>
            <a:chExt cx="3940109" cy="5266273"/>
          </a:xfrm>
        </p:grpSpPr>
        <p:sp>
          <p:nvSpPr>
            <p:cNvPr id="2666" name="Shape 2729"/>
            <p:cNvSpPr/>
            <p:nvPr/>
          </p:nvSpPr>
          <p:spPr>
            <a:xfrm flipH="1">
              <a:off x="1130300" y="408657"/>
              <a:ext cx="12954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67" name="Shape 2730"/>
            <p:cNvSpPr/>
            <p:nvPr/>
          </p:nvSpPr>
          <p:spPr>
            <a:xfrm flipH="1">
              <a:off x="444501" y="1534722"/>
              <a:ext cx="427852" cy="635570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68" name="Shape 2731"/>
            <p:cNvSpPr/>
            <p:nvPr/>
          </p:nvSpPr>
          <p:spPr>
            <a:xfrm>
              <a:off x="320606" y="2329462"/>
              <a:ext cx="429261" cy="825501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69" name="Shape 2732"/>
            <p:cNvSpPr/>
            <p:nvPr/>
          </p:nvSpPr>
          <p:spPr>
            <a:xfrm>
              <a:off x="2460132" y="408657"/>
              <a:ext cx="1409702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70" name="Shape 2733"/>
            <p:cNvSpPr/>
            <p:nvPr/>
          </p:nvSpPr>
          <p:spPr>
            <a:xfrm flipH="1">
              <a:off x="3031969" y="1545731"/>
              <a:ext cx="427796" cy="61355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71" name="Shape 2734"/>
            <p:cNvSpPr/>
            <p:nvPr/>
          </p:nvSpPr>
          <p:spPr>
            <a:xfrm flipH="1">
              <a:off x="2357119" y="2659663"/>
              <a:ext cx="546103" cy="8636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72" name="Shape 2735"/>
            <p:cNvSpPr/>
            <p:nvPr/>
          </p:nvSpPr>
          <p:spPr>
            <a:xfrm flipH="1">
              <a:off x="2050063" y="3583094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2673" name="Shape 2736"/>
            <p:cNvSpPr/>
            <p:nvPr/>
          </p:nvSpPr>
          <p:spPr>
            <a:xfrm>
              <a:off x="2560319" y="3583094"/>
              <a:ext cx="431803" cy="977903"/>
            </a:xfrm>
            <a:prstGeom prst="line">
              <a:avLst/>
            </a:prstGeom>
            <a:noFill/>
            <a:ln w="28575" cap="sq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grpSp>
          <p:nvGrpSpPr>
            <p:cNvPr id="2676" name="Group 2739"/>
            <p:cNvGrpSpPr/>
            <p:nvPr/>
          </p:nvGrpSpPr>
          <p:grpSpPr>
            <a:xfrm>
              <a:off x="2123440" y="-1"/>
              <a:ext cx="762005" cy="863603"/>
              <a:chOff x="0" y="-1"/>
              <a:chExt cx="762004" cy="863602"/>
            </a:xfrm>
          </p:grpSpPr>
          <p:sp>
            <p:nvSpPr>
              <p:cNvPr id="2674" name="Shape 2737"/>
              <p:cNvSpPr/>
              <p:nvPr/>
            </p:nvSpPr>
            <p:spPr>
              <a:xfrm>
                <a:off x="0" y="-2"/>
                <a:ext cx="762005" cy="863604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75" name="Shape 2738"/>
              <p:cNvSpPr txBox="1"/>
              <p:nvPr/>
            </p:nvSpPr>
            <p:spPr>
              <a:xfrm>
                <a:off x="79700" y="37899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679" name="Group 2742"/>
            <p:cNvGrpSpPr/>
            <p:nvPr/>
          </p:nvGrpSpPr>
          <p:grpSpPr>
            <a:xfrm>
              <a:off x="823241" y="1022772"/>
              <a:ext cx="762003" cy="863607"/>
              <a:chOff x="-1" y="-1"/>
              <a:chExt cx="762002" cy="863606"/>
            </a:xfrm>
          </p:grpSpPr>
          <p:sp>
            <p:nvSpPr>
              <p:cNvPr id="2677" name="Shape 2740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78" name="Shape 2741"/>
              <p:cNvSpPr txBox="1"/>
              <p:nvPr/>
            </p:nvSpPr>
            <p:spPr>
              <a:xfrm>
                <a:off x="94678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682" name="Group 2745"/>
            <p:cNvGrpSpPr/>
            <p:nvPr/>
          </p:nvGrpSpPr>
          <p:grpSpPr>
            <a:xfrm>
              <a:off x="0" y="1823718"/>
              <a:ext cx="762005" cy="863607"/>
              <a:chOff x="0" y="-1"/>
              <a:chExt cx="762004" cy="863606"/>
            </a:xfrm>
          </p:grpSpPr>
          <p:sp>
            <p:nvSpPr>
              <p:cNvPr id="2680" name="Shape 2743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81" name="Shape 2744"/>
              <p:cNvSpPr txBox="1"/>
              <p:nvPr/>
            </p:nvSpPr>
            <p:spPr>
              <a:xfrm>
                <a:off x="77160" y="32537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685" name="Group 2748"/>
            <p:cNvGrpSpPr/>
            <p:nvPr/>
          </p:nvGrpSpPr>
          <p:grpSpPr>
            <a:xfrm>
              <a:off x="315241" y="3085536"/>
              <a:ext cx="762003" cy="863607"/>
              <a:chOff x="-1" y="-1"/>
              <a:chExt cx="762002" cy="863606"/>
            </a:xfrm>
          </p:grpSpPr>
          <p:sp>
            <p:nvSpPr>
              <p:cNvPr id="2683" name="Shape 2746"/>
              <p:cNvSpPr/>
              <p:nvPr/>
            </p:nvSpPr>
            <p:spPr>
              <a:xfrm>
                <a:off x="-2" y="-2"/>
                <a:ext cx="762004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84" name="Shape 2747"/>
              <p:cNvSpPr txBox="1"/>
              <p:nvPr/>
            </p:nvSpPr>
            <p:spPr>
              <a:xfrm>
                <a:off x="77159" y="37900"/>
                <a:ext cx="604293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1C1C1C"/>
                    </a:solidFill>
                    <a:uFill>
                      <a:solidFill>
                        <a:srgbClr val="1C1C1C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688" name="Group 2751"/>
            <p:cNvGrpSpPr/>
            <p:nvPr/>
          </p:nvGrpSpPr>
          <p:grpSpPr>
            <a:xfrm>
              <a:off x="3178105" y="921172"/>
              <a:ext cx="762005" cy="863607"/>
              <a:chOff x="0" y="-1"/>
              <a:chExt cx="762004" cy="863606"/>
            </a:xfrm>
          </p:grpSpPr>
          <p:sp>
            <p:nvSpPr>
              <p:cNvPr id="2686" name="Shape 2749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87" name="Shape 2750"/>
              <p:cNvSpPr txBox="1"/>
              <p:nvPr/>
            </p:nvSpPr>
            <p:spPr>
              <a:xfrm>
                <a:off x="94677" y="37899"/>
                <a:ext cx="569257" cy="785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691" name="Group 2754"/>
            <p:cNvGrpSpPr/>
            <p:nvPr/>
          </p:nvGrpSpPr>
          <p:grpSpPr>
            <a:xfrm>
              <a:off x="2560319" y="2045545"/>
              <a:ext cx="762005" cy="863607"/>
              <a:chOff x="0" y="-1"/>
              <a:chExt cx="762004" cy="863606"/>
            </a:xfrm>
          </p:grpSpPr>
          <p:sp>
            <p:nvSpPr>
              <p:cNvPr id="2689" name="Shape 2752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0" name="Shape 2753"/>
              <p:cNvSpPr txBox="1"/>
              <p:nvPr/>
            </p:nvSpPr>
            <p:spPr>
              <a:xfrm>
                <a:off x="112506" y="37900"/>
                <a:ext cx="53360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694" name="Group 2757"/>
            <p:cNvGrpSpPr/>
            <p:nvPr/>
          </p:nvGrpSpPr>
          <p:grpSpPr>
            <a:xfrm>
              <a:off x="2151662" y="3276036"/>
              <a:ext cx="762005" cy="863607"/>
              <a:chOff x="0" y="-1"/>
              <a:chExt cx="762004" cy="863606"/>
            </a:xfrm>
          </p:grpSpPr>
          <p:sp>
            <p:nvSpPr>
              <p:cNvPr id="2692" name="Shape 2755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3" name="Shape 2756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697" name="Group 2760"/>
            <p:cNvGrpSpPr/>
            <p:nvPr/>
          </p:nvGrpSpPr>
          <p:grpSpPr>
            <a:xfrm>
              <a:off x="1537546" y="4402666"/>
              <a:ext cx="762005" cy="863607"/>
              <a:chOff x="0" y="-1"/>
              <a:chExt cx="762004" cy="863606"/>
            </a:xfrm>
          </p:grpSpPr>
          <p:sp>
            <p:nvSpPr>
              <p:cNvPr id="2695" name="Shape 2758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6" name="Shape 2759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700" name="Group 2763"/>
            <p:cNvGrpSpPr/>
            <p:nvPr/>
          </p:nvGrpSpPr>
          <p:grpSpPr>
            <a:xfrm>
              <a:off x="2709333" y="4402666"/>
              <a:ext cx="762005" cy="863607"/>
              <a:chOff x="0" y="-1"/>
              <a:chExt cx="762004" cy="863606"/>
            </a:xfrm>
          </p:grpSpPr>
          <p:sp>
            <p:nvSpPr>
              <p:cNvPr id="2698" name="Shape 2761"/>
              <p:cNvSpPr/>
              <p:nvPr/>
            </p:nvSpPr>
            <p:spPr>
              <a:xfrm>
                <a:off x="0" y="-2"/>
                <a:ext cx="762005" cy="863607"/>
              </a:xfrm>
              <a:prstGeom prst="ellipse">
                <a:avLst/>
              </a:prstGeom>
              <a:solidFill>
                <a:srgbClr val="FFFFD9"/>
              </a:solidFill>
              <a:ln w="28575" cap="sq">
                <a:solidFill>
                  <a:srgbClr val="1C1C1C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9" name="Shape 2762"/>
              <p:cNvSpPr txBox="1"/>
              <p:nvPr/>
            </p:nvSpPr>
            <p:spPr>
              <a:xfrm>
                <a:off x="59486" y="37900"/>
                <a:ext cx="639640" cy="78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b="1" sz="50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Shape 204"/>
          <p:cNvSpPr/>
          <p:nvPr/>
        </p:nvSpPr>
        <p:spPr>
          <a:xfrm>
            <a:off x="4789875" y="1305982"/>
            <a:ext cx="4301071" cy="4109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4" name="Shape 205"/>
          <p:cNvSpPr/>
          <p:nvPr/>
        </p:nvSpPr>
        <p:spPr>
          <a:xfrm>
            <a:off x="5403989" y="1818496"/>
            <a:ext cx="3686955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5" name="Shape 206"/>
          <p:cNvSpPr/>
          <p:nvPr/>
        </p:nvSpPr>
        <p:spPr>
          <a:xfrm>
            <a:off x="6223000" y="2360364"/>
            <a:ext cx="2867381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6" name="Shape 207"/>
          <p:cNvSpPr/>
          <p:nvPr/>
        </p:nvSpPr>
        <p:spPr>
          <a:xfrm>
            <a:off x="7043138" y="3435630"/>
            <a:ext cx="2047807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7" name="Shape 208"/>
          <p:cNvSpPr/>
          <p:nvPr/>
        </p:nvSpPr>
        <p:spPr>
          <a:xfrm>
            <a:off x="7043138" y="2905335"/>
            <a:ext cx="2047807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8" name="Shape 209"/>
          <p:cNvSpPr/>
          <p:nvPr/>
        </p:nvSpPr>
        <p:spPr>
          <a:xfrm>
            <a:off x="6223000" y="3955200"/>
            <a:ext cx="2867381" cy="4086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09" name="Shape 210"/>
          <p:cNvSpPr/>
          <p:nvPr/>
        </p:nvSpPr>
        <p:spPr>
          <a:xfrm>
            <a:off x="5426567" y="4509768"/>
            <a:ext cx="3686957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0" name="Shape 211"/>
          <p:cNvSpPr/>
          <p:nvPr/>
        </p:nvSpPr>
        <p:spPr>
          <a:xfrm>
            <a:off x="6223000" y="5004222"/>
            <a:ext cx="2867381" cy="4086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1" name="Shape 212"/>
          <p:cNvSpPr/>
          <p:nvPr/>
        </p:nvSpPr>
        <p:spPr>
          <a:xfrm>
            <a:off x="5444630" y="5607048"/>
            <a:ext cx="3686955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2" name="Shape 213"/>
          <p:cNvSpPr/>
          <p:nvPr/>
        </p:nvSpPr>
        <p:spPr>
          <a:xfrm>
            <a:off x="6235700" y="6209875"/>
            <a:ext cx="2867381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3" name="Shape 214"/>
          <p:cNvSpPr/>
          <p:nvPr/>
        </p:nvSpPr>
        <p:spPr>
          <a:xfrm>
            <a:off x="6261100" y="7239424"/>
            <a:ext cx="2867381" cy="4086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4" name="Shape 215"/>
          <p:cNvSpPr txBox="1"/>
          <p:nvPr/>
        </p:nvSpPr>
        <p:spPr>
          <a:xfrm>
            <a:off x="3824675" y="1215669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715" name="Shape 216"/>
          <p:cNvSpPr txBox="1"/>
          <p:nvPr/>
        </p:nvSpPr>
        <p:spPr>
          <a:xfrm>
            <a:off x="6426765" y="3324435"/>
            <a:ext cx="736603" cy="565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716" name="Shape 217"/>
          <p:cNvSpPr txBox="1"/>
          <p:nvPr/>
        </p:nvSpPr>
        <p:spPr>
          <a:xfrm>
            <a:off x="5643316" y="2245217"/>
            <a:ext cx="736603" cy="565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717" name="Shape 218"/>
          <p:cNvSpPr txBox="1"/>
          <p:nvPr/>
        </p:nvSpPr>
        <p:spPr>
          <a:xfrm>
            <a:off x="6426765" y="2746443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K</a:t>
            </a:r>
          </a:p>
        </p:txBody>
      </p:sp>
      <p:sp>
        <p:nvSpPr>
          <p:cNvPr id="2718" name="Shape 219"/>
          <p:cNvSpPr txBox="1"/>
          <p:nvPr/>
        </p:nvSpPr>
        <p:spPr>
          <a:xfrm>
            <a:off x="4812453" y="1721412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719" name="Shape 220"/>
          <p:cNvSpPr txBox="1"/>
          <p:nvPr/>
        </p:nvSpPr>
        <p:spPr>
          <a:xfrm>
            <a:off x="5656862" y="3823403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2720" name="Shape 221"/>
          <p:cNvSpPr txBox="1"/>
          <p:nvPr/>
        </p:nvSpPr>
        <p:spPr>
          <a:xfrm>
            <a:off x="4891475" y="4396880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721" name="Shape 222"/>
          <p:cNvSpPr txBox="1"/>
          <p:nvPr/>
        </p:nvSpPr>
        <p:spPr>
          <a:xfrm>
            <a:off x="4862124" y="5491903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722" name="Shape 223"/>
          <p:cNvSpPr/>
          <p:nvPr/>
        </p:nvSpPr>
        <p:spPr>
          <a:xfrm>
            <a:off x="7043138" y="6720979"/>
            <a:ext cx="2047807" cy="40866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23" name="Shape 224"/>
          <p:cNvSpPr txBox="1"/>
          <p:nvPr/>
        </p:nvSpPr>
        <p:spPr>
          <a:xfrm>
            <a:off x="5625253" y="4889074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2724" name="Shape 225"/>
          <p:cNvSpPr txBox="1"/>
          <p:nvPr/>
        </p:nvSpPr>
        <p:spPr>
          <a:xfrm>
            <a:off x="5638800" y="6101503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725" name="Shape 226"/>
          <p:cNvSpPr txBox="1"/>
          <p:nvPr/>
        </p:nvSpPr>
        <p:spPr>
          <a:xfrm>
            <a:off x="6596098" y="6650142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726" name="Shape 227"/>
          <p:cNvSpPr txBox="1"/>
          <p:nvPr/>
        </p:nvSpPr>
        <p:spPr>
          <a:xfrm>
            <a:off x="5783298" y="7149110"/>
            <a:ext cx="73660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J</a:t>
            </a:r>
          </a:p>
        </p:txBody>
      </p:sp>
      <p:sp>
        <p:nvSpPr>
          <p:cNvPr id="2727" name="Shape 228"/>
          <p:cNvSpPr txBox="1"/>
          <p:nvPr/>
        </p:nvSpPr>
        <p:spPr>
          <a:xfrm>
            <a:off x="2664931" y="1149630"/>
            <a:ext cx="124460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树根</a:t>
            </a:r>
          </a:p>
        </p:txBody>
      </p:sp>
      <p:sp>
        <p:nvSpPr>
          <p:cNvPr id="2728" name="Shape 237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树的其它表示方法</a:t>
            </a:r>
          </a:p>
        </p:txBody>
      </p:sp>
      <p:sp>
        <p:nvSpPr>
          <p:cNvPr id="2729" name="indentation 表示法"/>
          <p:cNvSpPr txBox="1"/>
          <p:nvPr/>
        </p:nvSpPr>
        <p:spPr>
          <a:xfrm>
            <a:off x="3899682" y="7773705"/>
            <a:ext cx="3026065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indentation 表示法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Shape 272"/>
          <p:cNvSpPr txBox="1"/>
          <p:nvPr/>
        </p:nvSpPr>
        <p:spPr>
          <a:xfrm>
            <a:off x="215900" y="2800207"/>
            <a:ext cx="12573000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         A(                                                                      )</a:t>
            </a:r>
          </a:p>
        </p:txBody>
      </p:sp>
      <p:sp>
        <p:nvSpPr>
          <p:cNvPr id="2732" name="Shape 282"/>
          <p:cNvSpPr txBox="1"/>
          <p:nvPr/>
        </p:nvSpPr>
        <p:spPr>
          <a:xfrm>
            <a:off x="1954670" y="2800207"/>
            <a:ext cx="3290420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B ( E, F( K, L) ), </a:t>
            </a:r>
          </a:p>
        </p:txBody>
      </p:sp>
      <p:sp>
        <p:nvSpPr>
          <p:cNvPr id="2733" name="Shape 283"/>
          <p:cNvSpPr txBox="1"/>
          <p:nvPr/>
        </p:nvSpPr>
        <p:spPr>
          <a:xfrm>
            <a:off x="5218598" y="2800207"/>
            <a:ext cx="1539184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C( G ), </a:t>
            </a:r>
          </a:p>
        </p:txBody>
      </p:sp>
      <p:sp>
        <p:nvSpPr>
          <p:cNvPr id="2734" name="Shape 284"/>
          <p:cNvSpPr txBox="1"/>
          <p:nvPr/>
        </p:nvSpPr>
        <p:spPr>
          <a:xfrm>
            <a:off x="6767894" y="2800207"/>
            <a:ext cx="3050063" cy="565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D( H, I, J( M ) )</a:t>
            </a:r>
          </a:p>
        </p:txBody>
      </p:sp>
      <p:sp>
        <p:nvSpPr>
          <p:cNvPr id="2735" name="Shape 285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树的其它表示方法</a:t>
            </a:r>
          </a:p>
        </p:txBody>
      </p:sp>
      <p:sp>
        <p:nvSpPr>
          <p:cNvPr id="2736" name="nested parentheses 表示法"/>
          <p:cNvSpPr txBox="1"/>
          <p:nvPr/>
        </p:nvSpPr>
        <p:spPr>
          <a:xfrm>
            <a:off x="4475159" y="4001804"/>
            <a:ext cx="411999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nested parentheses 表示法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" name="成组"/>
          <p:cNvGrpSpPr/>
          <p:nvPr/>
        </p:nvGrpSpPr>
        <p:grpSpPr>
          <a:xfrm>
            <a:off x="3251763" y="1176019"/>
            <a:ext cx="6143421" cy="5633161"/>
            <a:chOff x="0" y="0"/>
            <a:chExt cx="6143419" cy="5633160"/>
          </a:xfrm>
        </p:grpSpPr>
        <p:sp>
          <p:nvSpPr>
            <p:cNvPr id="2738" name="Shape 242"/>
            <p:cNvSpPr/>
            <p:nvPr/>
          </p:nvSpPr>
          <p:spPr>
            <a:xfrm>
              <a:off x="0" y="-1"/>
              <a:ext cx="6143421" cy="563316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9" name="Shape 243"/>
            <p:cNvSpPr txBox="1"/>
            <p:nvPr/>
          </p:nvSpPr>
          <p:spPr>
            <a:xfrm>
              <a:off x="2456462" y="307055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740" name="Shape 244"/>
            <p:cNvSpPr/>
            <p:nvPr/>
          </p:nvSpPr>
          <p:spPr>
            <a:xfrm>
              <a:off x="307058" y="1433688"/>
              <a:ext cx="2451105" cy="245872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1" name="Shape 245"/>
            <p:cNvSpPr txBox="1"/>
            <p:nvPr/>
          </p:nvSpPr>
          <p:spPr>
            <a:xfrm>
              <a:off x="1636889" y="1639146"/>
              <a:ext cx="6350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742" name="Shape 246"/>
            <p:cNvSpPr/>
            <p:nvPr/>
          </p:nvSpPr>
          <p:spPr>
            <a:xfrm>
              <a:off x="510258" y="2149404"/>
              <a:ext cx="1537551" cy="143369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3" name="Shape 247"/>
            <p:cNvSpPr txBox="1"/>
            <p:nvPr/>
          </p:nvSpPr>
          <p:spPr>
            <a:xfrm>
              <a:off x="1124373" y="2253262"/>
              <a:ext cx="4318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grpSp>
          <p:nvGrpSpPr>
            <p:cNvPr id="2746" name="Group 250"/>
            <p:cNvGrpSpPr/>
            <p:nvPr/>
          </p:nvGrpSpPr>
          <p:grpSpPr>
            <a:xfrm>
              <a:off x="708578" y="2729933"/>
              <a:ext cx="519659" cy="565858"/>
              <a:chOff x="-1" y="0"/>
              <a:chExt cx="519658" cy="565856"/>
            </a:xfrm>
          </p:grpSpPr>
          <p:sp>
            <p:nvSpPr>
              <p:cNvPr id="2744" name="Shape 248"/>
              <p:cNvSpPr/>
              <p:nvPr/>
            </p:nvSpPr>
            <p:spPr>
              <a:xfrm>
                <a:off x="7135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45" name="Shape 249"/>
              <p:cNvSpPr txBox="1"/>
              <p:nvPr/>
            </p:nvSpPr>
            <p:spPr>
              <a:xfrm>
                <a:off x="-2" y="-1"/>
                <a:ext cx="507967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2749" name="Group 253"/>
            <p:cNvGrpSpPr/>
            <p:nvPr/>
          </p:nvGrpSpPr>
          <p:grpSpPr>
            <a:xfrm>
              <a:off x="1291730" y="2729933"/>
              <a:ext cx="512523" cy="565858"/>
              <a:chOff x="0" y="0"/>
              <a:chExt cx="512522" cy="565856"/>
            </a:xfrm>
          </p:grpSpPr>
          <p:sp>
            <p:nvSpPr>
              <p:cNvPr id="2747" name="Shape 251"/>
              <p:cNvSpPr/>
              <p:nvPr/>
            </p:nvSpPr>
            <p:spPr>
              <a:xfrm>
                <a:off x="-1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48" name="Shape 252"/>
              <p:cNvSpPr txBox="1"/>
              <p:nvPr/>
            </p:nvSpPr>
            <p:spPr>
              <a:xfrm>
                <a:off x="20249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L</a:t>
                </a:r>
              </a:p>
            </p:txBody>
          </p:sp>
        </p:grpSp>
        <p:grpSp>
          <p:nvGrpSpPr>
            <p:cNvPr id="2752" name="Group 256"/>
            <p:cNvGrpSpPr/>
            <p:nvPr/>
          </p:nvGrpSpPr>
          <p:grpSpPr>
            <a:xfrm>
              <a:off x="2149404" y="2422877"/>
              <a:ext cx="512523" cy="565858"/>
              <a:chOff x="0" y="-1"/>
              <a:chExt cx="512522" cy="565856"/>
            </a:xfrm>
          </p:grpSpPr>
          <p:sp>
            <p:nvSpPr>
              <p:cNvPr id="2750" name="Shape 254"/>
              <p:cNvSpPr/>
              <p:nvPr/>
            </p:nvSpPr>
            <p:spPr>
              <a:xfrm>
                <a:off x="-1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51" name="Shape 255"/>
              <p:cNvSpPr txBox="1"/>
              <p:nvPr/>
            </p:nvSpPr>
            <p:spPr>
              <a:xfrm>
                <a:off x="16359" y="-2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753" name="Shape 257"/>
            <p:cNvSpPr/>
            <p:nvPr/>
          </p:nvSpPr>
          <p:spPr>
            <a:xfrm>
              <a:off x="3174435" y="1433688"/>
              <a:ext cx="2661925" cy="266192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4" name="Shape 258"/>
            <p:cNvSpPr txBox="1"/>
            <p:nvPr/>
          </p:nvSpPr>
          <p:spPr>
            <a:xfrm>
              <a:off x="4709726" y="1740746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755" name="Shape 259"/>
            <p:cNvSpPr/>
            <p:nvPr/>
          </p:nvSpPr>
          <p:spPr>
            <a:xfrm>
              <a:off x="3377637" y="2354862"/>
              <a:ext cx="1230493" cy="123190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6" name="Shape 260"/>
            <p:cNvSpPr txBox="1"/>
            <p:nvPr/>
          </p:nvSpPr>
          <p:spPr>
            <a:xfrm>
              <a:off x="3684695" y="2458720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2759" name="Group 263"/>
            <p:cNvGrpSpPr/>
            <p:nvPr/>
          </p:nvGrpSpPr>
          <p:grpSpPr>
            <a:xfrm>
              <a:off x="3580837" y="2943012"/>
              <a:ext cx="762004" cy="568107"/>
              <a:chOff x="0" y="0"/>
              <a:chExt cx="762003" cy="568105"/>
            </a:xfrm>
          </p:grpSpPr>
          <p:sp>
            <p:nvSpPr>
              <p:cNvPr id="2757" name="Shape 261"/>
              <p:cNvSpPr/>
              <p:nvPr/>
            </p:nvSpPr>
            <p:spPr>
              <a:xfrm>
                <a:off x="0" y="-1"/>
                <a:ext cx="628595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58" name="Shape 262"/>
              <p:cNvSpPr txBox="1"/>
              <p:nvPr/>
            </p:nvSpPr>
            <p:spPr>
              <a:xfrm>
                <a:off x="51066" y="2249"/>
                <a:ext cx="710938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grpSp>
          <p:nvGrpSpPr>
            <p:cNvPr id="2762" name="Group 266"/>
            <p:cNvGrpSpPr/>
            <p:nvPr/>
          </p:nvGrpSpPr>
          <p:grpSpPr>
            <a:xfrm>
              <a:off x="4608126" y="3277163"/>
              <a:ext cx="571505" cy="568106"/>
              <a:chOff x="0" y="0"/>
              <a:chExt cx="571503" cy="568104"/>
            </a:xfrm>
          </p:grpSpPr>
          <p:sp>
            <p:nvSpPr>
              <p:cNvPr id="2760" name="Shape 264"/>
              <p:cNvSpPr/>
              <p:nvPr/>
            </p:nvSpPr>
            <p:spPr>
              <a:xfrm>
                <a:off x="0" y="0"/>
                <a:ext cx="571504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61" name="Shape 265"/>
              <p:cNvSpPr txBox="1"/>
              <p:nvPr/>
            </p:nvSpPr>
            <p:spPr>
              <a:xfrm>
                <a:off x="115956" y="2247"/>
                <a:ext cx="37928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2765" name="Group 269"/>
            <p:cNvGrpSpPr/>
            <p:nvPr/>
          </p:nvGrpSpPr>
          <p:grpSpPr>
            <a:xfrm>
              <a:off x="4915184" y="2639897"/>
              <a:ext cx="584205" cy="565858"/>
              <a:chOff x="0" y="0"/>
              <a:chExt cx="584203" cy="565856"/>
            </a:xfrm>
          </p:grpSpPr>
          <p:sp>
            <p:nvSpPr>
              <p:cNvPr id="2763" name="Shape 267"/>
              <p:cNvSpPr/>
              <p:nvPr/>
            </p:nvSpPr>
            <p:spPr>
              <a:xfrm>
                <a:off x="0" y="23150"/>
                <a:ext cx="584204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64" name="Shape 268"/>
              <p:cNvSpPr txBox="1"/>
              <p:nvPr/>
            </p:nvSpPr>
            <p:spPr>
              <a:xfrm>
                <a:off x="72381" y="-1"/>
                <a:ext cx="44227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</p:grpSp>
      <p:sp>
        <p:nvSpPr>
          <p:cNvPr id="2767" name="Shape 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树的其它表示方法</a:t>
            </a:r>
          </a:p>
        </p:txBody>
      </p:sp>
      <p:sp>
        <p:nvSpPr>
          <p:cNvPr id="2768" name="nested sets 表示法"/>
          <p:cNvSpPr txBox="1"/>
          <p:nvPr/>
        </p:nvSpPr>
        <p:spPr>
          <a:xfrm>
            <a:off x="4419825" y="7075205"/>
            <a:ext cx="295449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nested sets 表示法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8" name="成组"/>
          <p:cNvGrpSpPr/>
          <p:nvPr/>
        </p:nvGrpSpPr>
        <p:grpSpPr>
          <a:xfrm>
            <a:off x="3251763" y="1176019"/>
            <a:ext cx="6143421" cy="5633161"/>
            <a:chOff x="0" y="0"/>
            <a:chExt cx="6143419" cy="5633160"/>
          </a:xfrm>
        </p:grpSpPr>
        <p:sp>
          <p:nvSpPr>
            <p:cNvPr id="2770" name="Shape 242"/>
            <p:cNvSpPr/>
            <p:nvPr/>
          </p:nvSpPr>
          <p:spPr>
            <a:xfrm>
              <a:off x="0" y="-1"/>
              <a:ext cx="6143421" cy="563316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1" name="Shape 243"/>
            <p:cNvSpPr txBox="1"/>
            <p:nvPr/>
          </p:nvSpPr>
          <p:spPr>
            <a:xfrm>
              <a:off x="2456462" y="307055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772" name="Shape 244"/>
            <p:cNvSpPr/>
            <p:nvPr/>
          </p:nvSpPr>
          <p:spPr>
            <a:xfrm>
              <a:off x="307058" y="1433688"/>
              <a:ext cx="2451105" cy="245872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3" name="Shape 245"/>
            <p:cNvSpPr txBox="1"/>
            <p:nvPr/>
          </p:nvSpPr>
          <p:spPr>
            <a:xfrm>
              <a:off x="1636889" y="1639146"/>
              <a:ext cx="6350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774" name="Shape 246"/>
            <p:cNvSpPr/>
            <p:nvPr/>
          </p:nvSpPr>
          <p:spPr>
            <a:xfrm>
              <a:off x="510258" y="2149404"/>
              <a:ext cx="1537551" cy="143369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5" name="Shape 247"/>
            <p:cNvSpPr txBox="1"/>
            <p:nvPr/>
          </p:nvSpPr>
          <p:spPr>
            <a:xfrm>
              <a:off x="1124373" y="2253262"/>
              <a:ext cx="4318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grpSp>
          <p:nvGrpSpPr>
            <p:cNvPr id="2778" name="Group 250"/>
            <p:cNvGrpSpPr/>
            <p:nvPr/>
          </p:nvGrpSpPr>
          <p:grpSpPr>
            <a:xfrm>
              <a:off x="708578" y="2729933"/>
              <a:ext cx="519659" cy="565858"/>
              <a:chOff x="-1" y="0"/>
              <a:chExt cx="519658" cy="565856"/>
            </a:xfrm>
          </p:grpSpPr>
          <p:sp>
            <p:nvSpPr>
              <p:cNvPr id="2776" name="Shape 248"/>
              <p:cNvSpPr/>
              <p:nvPr/>
            </p:nvSpPr>
            <p:spPr>
              <a:xfrm>
                <a:off x="7135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77" name="Shape 249"/>
              <p:cNvSpPr txBox="1"/>
              <p:nvPr/>
            </p:nvSpPr>
            <p:spPr>
              <a:xfrm>
                <a:off x="-2" y="-1"/>
                <a:ext cx="507967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2781" name="Group 253"/>
            <p:cNvGrpSpPr/>
            <p:nvPr/>
          </p:nvGrpSpPr>
          <p:grpSpPr>
            <a:xfrm>
              <a:off x="1291730" y="2729933"/>
              <a:ext cx="512523" cy="565858"/>
              <a:chOff x="0" y="0"/>
              <a:chExt cx="512522" cy="565856"/>
            </a:xfrm>
          </p:grpSpPr>
          <p:sp>
            <p:nvSpPr>
              <p:cNvPr id="2779" name="Shape 251"/>
              <p:cNvSpPr/>
              <p:nvPr/>
            </p:nvSpPr>
            <p:spPr>
              <a:xfrm>
                <a:off x="-1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0" name="Shape 252"/>
              <p:cNvSpPr txBox="1"/>
              <p:nvPr/>
            </p:nvSpPr>
            <p:spPr>
              <a:xfrm>
                <a:off x="20249" y="-1"/>
                <a:ext cx="46010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L</a:t>
                </a:r>
              </a:p>
            </p:txBody>
          </p:sp>
        </p:grpSp>
        <p:grpSp>
          <p:nvGrpSpPr>
            <p:cNvPr id="2784" name="Group 256"/>
            <p:cNvGrpSpPr/>
            <p:nvPr/>
          </p:nvGrpSpPr>
          <p:grpSpPr>
            <a:xfrm>
              <a:off x="2149404" y="2422877"/>
              <a:ext cx="512523" cy="565858"/>
              <a:chOff x="0" y="-1"/>
              <a:chExt cx="512522" cy="565856"/>
            </a:xfrm>
          </p:grpSpPr>
          <p:sp>
            <p:nvSpPr>
              <p:cNvPr id="2782" name="Shape 254"/>
              <p:cNvSpPr/>
              <p:nvPr/>
            </p:nvSpPr>
            <p:spPr>
              <a:xfrm>
                <a:off x="-1" y="35841"/>
                <a:ext cx="512523" cy="5102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3" name="Shape 255"/>
              <p:cNvSpPr txBox="1"/>
              <p:nvPr/>
            </p:nvSpPr>
            <p:spPr>
              <a:xfrm>
                <a:off x="16359" y="-2"/>
                <a:ext cx="43585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785" name="Shape 257"/>
            <p:cNvSpPr/>
            <p:nvPr/>
          </p:nvSpPr>
          <p:spPr>
            <a:xfrm>
              <a:off x="3174435" y="1433688"/>
              <a:ext cx="2661925" cy="266192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6" name="Shape 258"/>
            <p:cNvSpPr txBox="1"/>
            <p:nvPr/>
          </p:nvSpPr>
          <p:spPr>
            <a:xfrm>
              <a:off x="4709726" y="1740746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787" name="Shape 259"/>
            <p:cNvSpPr/>
            <p:nvPr/>
          </p:nvSpPr>
          <p:spPr>
            <a:xfrm>
              <a:off x="3377637" y="2354862"/>
              <a:ext cx="1230493" cy="123190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8" name="Shape 260"/>
            <p:cNvSpPr txBox="1"/>
            <p:nvPr/>
          </p:nvSpPr>
          <p:spPr>
            <a:xfrm>
              <a:off x="3684695" y="2458720"/>
              <a:ext cx="5207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2791" name="Group 263"/>
            <p:cNvGrpSpPr/>
            <p:nvPr/>
          </p:nvGrpSpPr>
          <p:grpSpPr>
            <a:xfrm>
              <a:off x="3580837" y="2943012"/>
              <a:ext cx="762004" cy="568107"/>
              <a:chOff x="0" y="0"/>
              <a:chExt cx="762003" cy="568105"/>
            </a:xfrm>
          </p:grpSpPr>
          <p:sp>
            <p:nvSpPr>
              <p:cNvPr id="2789" name="Shape 261"/>
              <p:cNvSpPr/>
              <p:nvPr/>
            </p:nvSpPr>
            <p:spPr>
              <a:xfrm>
                <a:off x="0" y="-1"/>
                <a:ext cx="628595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0" name="Shape 262"/>
              <p:cNvSpPr txBox="1"/>
              <p:nvPr/>
            </p:nvSpPr>
            <p:spPr>
              <a:xfrm>
                <a:off x="51066" y="2249"/>
                <a:ext cx="710938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grpSp>
          <p:nvGrpSpPr>
            <p:cNvPr id="2794" name="Group 266"/>
            <p:cNvGrpSpPr/>
            <p:nvPr/>
          </p:nvGrpSpPr>
          <p:grpSpPr>
            <a:xfrm>
              <a:off x="4608126" y="3277163"/>
              <a:ext cx="571505" cy="568106"/>
              <a:chOff x="0" y="0"/>
              <a:chExt cx="571503" cy="568104"/>
            </a:xfrm>
          </p:grpSpPr>
          <p:sp>
            <p:nvSpPr>
              <p:cNvPr id="2792" name="Shape 264"/>
              <p:cNvSpPr/>
              <p:nvPr/>
            </p:nvSpPr>
            <p:spPr>
              <a:xfrm>
                <a:off x="0" y="0"/>
                <a:ext cx="571504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3" name="Shape 265"/>
              <p:cNvSpPr txBox="1"/>
              <p:nvPr/>
            </p:nvSpPr>
            <p:spPr>
              <a:xfrm>
                <a:off x="115956" y="2247"/>
                <a:ext cx="379289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2797" name="Group 269"/>
            <p:cNvGrpSpPr/>
            <p:nvPr/>
          </p:nvGrpSpPr>
          <p:grpSpPr>
            <a:xfrm>
              <a:off x="4915184" y="2639897"/>
              <a:ext cx="584205" cy="565858"/>
              <a:chOff x="0" y="0"/>
              <a:chExt cx="584203" cy="565856"/>
            </a:xfrm>
          </p:grpSpPr>
          <p:sp>
            <p:nvSpPr>
              <p:cNvPr id="2795" name="Shape 267"/>
              <p:cNvSpPr/>
              <p:nvPr/>
            </p:nvSpPr>
            <p:spPr>
              <a:xfrm>
                <a:off x="0" y="23150"/>
                <a:ext cx="584204" cy="5082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6" name="Shape 268"/>
              <p:cNvSpPr txBox="1"/>
              <p:nvPr/>
            </p:nvSpPr>
            <p:spPr>
              <a:xfrm>
                <a:off x="72381" y="-1"/>
                <a:ext cx="44227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</p:grpSp>
      <p:sp>
        <p:nvSpPr>
          <p:cNvPr id="2799" name="Shape 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树的其它表示方法</a:t>
            </a:r>
          </a:p>
        </p:txBody>
      </p:sp>
      <p:sp>
        <p:nvSpPr>
          <p:cNvPr id="2800" name="nested sets 表示法"/>
          <p:cNvSpPr txBox="1"/>
          <p:nvPr/>
        </p:nvSpPr>
        <p:spPr>
          <a:xfrm>
            <a:off x="4419825" y="7075205"/>
            <a:ext cx="295449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nested sets 表示法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Shape 270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树的其它表示方法</a:t>
            </a:r>
          </a:p>
        </p:txBody>
      </p:sp>
      <p:sp>
        <p:nvSpPr>
          <p:cNvPr id="2803" name="Dewey decimal notation"/>
          <p:cNvSpPr txBox="1"/>
          <p:nvPr/>
        </p:nvSpPr>
        <p:spPr>
          <a:xfrm>
            <a:off x="4153125" y="5622527"/>
            <a:ext cx="3772015" cy="50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7">
              <a:defRPr sz="2900"/>
            </a:lvl1pPr>
          </a:lstStyle>
          <a:p>
            <a:pPr/>
            <a:r>
              <a:t>Dewey decimal notation</a:t>
            </a:r>
          </a:p>
        </p:txBody>
      </p:sp>
      <p:sp>
        <p:nvSpPr>
          <p:cNvPr id="2804" name="1…"/>
          <p:cNvSpPr txBox="1"/>
          <p:nvPr/>
        </p:nvSpPr>
        <p:spPr>
          <a:xfrm>
            <a:off x="4752649" y="1149771"/>
            <a:ext cx="908699" cy="343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7">
              <a:defRPr sz="2900"/>
            </a:pPr>
            <a:r>
              <a:t>1</a:t>
            </a:r>
          </a:p>
          <a:p>
            <a:pPr indent="57797">
              <a:defRPr sz="2900"/>
            </a:pPr>
            <a:r>
              <a:t>1.1</a:t>
            </a:r>
          </a:p>
          <a:p>
            <a:pPr indent="57797">
              <a:defRPr sz="2900"/>
            </a:pPr>
            <a:r>
              <a:t>1.1.1</a:t>
            </a:r>
          </a:p>
          <a:p>
            <a:pPr indent="57797">
              <a:defRPr sz="2900"/>
            </a:pPr>
            <a:r>
              <a:t>1.1.2</a:t>
            </a:r>
          </a:p>
          <a:p>
            <a:pPr indent="57797">
              <a:defRPr sz="2900"/>
            </a:pPr>
            <a:r>
              <a:t>1.2</a:t>
            </a:r>
          </a:p>
          <a:p>
            <a:pPr indent="57797">
              <a:defRPr sz="2900"/>
            </a:pPr>
            <a:r>
              <a:t>1.2.1</a:t>
            </a:r>
          </a:p>
          <a:p>
            <a:pPr indent="57797">
              <a:defRPr sz="2900"/>
            </a:pPr>
            <a:r>
              <a:t>1.2.2</a:t>
            </a:r>
          </a:p>
          <a:p>
            <a:pPr indent="57797">
              <a:defRPr sz="2900"/>
            </a:pPr>
            <a:r>
              <a:t>1.2.3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7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9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7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9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