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40640" marR="40640" indent="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1pPr>
    <a:lvl2pPr marL="40640" marR="40640" indent="3429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2pPr>
    <a:lvl3pPr marL="40640" marR="40640" indent="6858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3pPr>
    <a:lvl4pPr marL="40640" marR="40640" indent="10287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4pPr>
    <a:lvl5pPr marL="40640" marR="40640" indent="13716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5pPr>
    <a:lvl6pPr marL="40640" marR="40640" indent="17145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6pPr>
    <a:lvl7pPr marL="40640" marR="40640" indent="20574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7pPr>
    <a:lvl8pPr marL="40640" marR="40640" indent="24003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8pPr>
    <a:lvl9pPr marL="40640" marR="40640" indent="2743200" algn="l" defTabSz="914400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盛恩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2-09T12:14:11.811" idx="1">
    <p:pos x="2434" y="2782"/>
    <p:text>数据有序
i = 0，表示为i指向了数组元素0
j =7，表示为j指向了数组元素7
(j - i) / 2 : 坐标范围[i, j]中的元素个数的一半。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" name="Shape 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计算机科学是研究算法的科学，或者说是研究变换的科学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这段代码只能计算很小的</a:t>
            </a:r>
            <a:r>
              <a:t>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分治法：将问题分解为相同的但是规模更小的问题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为了使分析有统一的度量，需要将问题的输入转换为问题的规模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" name="Shape 1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下面的分析是分析最坏的情形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i=0 1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次</a:t>
            </a:r>
          </a:p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x == a[i]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、</a:t>
            </a:r>
            <a:r>
              <a:t>i++ n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次</a:t>
            </a:r>
          </a:p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i &lt; a.length n+ 1 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次</a:t>
            </a:r>
          </a:p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方法参数的传入和返回不计算，因为每个方法都需要传入参数和返回值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" name="Shape 2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使用等比数列的求和公式或二进制数的计算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max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指的取增长率快的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417512" y="98425"/>
            <a:ext cx="438151" cy="474663"/>
          </a:xfrm>
          <a:prstGeom prst="rect">
            <a:avLst/>
          </a:prstGeom>
          <a:solidFill>
            <a:srgbClr val="F81F08"/>
          </a:soli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" name="矩形"/>
          <p:cNvSpPr/>
          <p:nvPr/>
        </p:nvSpPr>
        <p:spPr>
          <a:xfrm>
            <a:off x="800100" y="98425"/>
            <a:ext cx="328613" cy="474663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" name="矩形"/>
          <p:cNvSpPr/>
          <p:nvPr/>
        </p:nvSpPr>
        <p:spPr>
          <a:xfrm>
            <a:off x="541337" y="520700"/>
            <a:ext cx="422276" cy="474663"/>
          </a:xfrm>
          <a:prstGeom prst="rect">
            <a:avLst/>
          </a:prstGeom>
          <a:solidFill>
            <a:srgbClr val="3333CC"/>
          </a:soli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矩形"/>
          <p:cNvSpPr/>
          <p:nvPr/>
        </p:nvSpPr>
        <p:spPr>
          <a:xfrm>
            <a:off x="911225" y="520700"/>
            <a:ext cx="368300" cy="474663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" name="矩形"/>
          <p:cNvSpPr/>
          <p:nvPr/>
        </p:nvSpPr>
        <p:spPr>
          <a:xfrm>
            <a:off x="127000" y="447675"/>
            <a:ext cx="560388" cy="422275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" name="矩形"/>
          <p:cNvSpPr/>
          <p:nvPr/>
        </p:nvSpPr>
        <p:spPr>
          <a:xfrm>
            <a:off x="755650" y="-19050"/>
            <a:ext cx="44450" cy="1052513"/>
          </a:xfrm>
          <a:prstGeom prst="rect">
            <a:avLst/>
          </a:prstGeom>
          <a:solidFill>
            <a:srgbClr val="1C1C1C"/>
          </a:soli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" name="矩形"/>
          <p:cNvSpPr/>
          <p:nvPr/>
        </p:nvSpPr>
        <p:spPr>
          <a:xfrm>
            <a:off x="442912" y="946150"/>
            <a:ext cx="8226426" cy="44450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9" name="tb.png" descr="t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616" y="84137"/>
            <a:ext cx="907122" cy="84613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896937" y="22225"/>
            <a:ext cx="7793038" cy="944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11" name="正文级别 1…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1" cy="484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2pPr marL="783590" indent="-285750">
              <a:spcBef>
                <a:spcPts val="600"/>
              </a:spcBef>
              <a:buClr>
                <a:srgbClr val="FF0000"/>
              </a:buClr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lr>
                <a:srgbClr val="F81F08"/>
              </a:buClr>
              <a:defRPr sz="2000"/>
            </a:lvl4pPr>
            <a:lvl5pPr marL="2098039" indent="-228600">
              <a:spcBef>
                <a:spcPts val="400"/>
              </a:spcBef>
              <a:buClr>
                <a:srgbClr val="FFFFFF"/>
              </a:buClr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337050" y="6388100"/>
            <a:ext cx="469900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L="0" marR="0" algn="ctr" defTabSz="584200">
              <a:spcBef>
                <a:spcPts val="0"/>
              </a:spcBef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40640" marR="4064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1pPr>
      <a:lvl2pPr marL="40640" marR="40640" indent="228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2pPr>
      <a:lvl3pPr marL="40640" marR="40640" indent="457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3pPr>
      <a:lvl4pPr marL="40640" marR="40640" indent="6858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4pPr>
      <a:lvl5pPr marL="40640" marR="40640" indent="9144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5pPr>
      <a:lvl6pPr marL="40640" marR="40640" indent="11430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6pPr>
      <a:lvl7pPr marL="40640" marR="40640" indent="1371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7pPr>
      <a:lvl8pPr marL="40640" marR="40640" indent="1600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8pPr>
      <a:lvl9pPr marL="40640" marR="40640" indent="18288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333399"/>
          </a:solidFill>
          <a:uFill>
            <a:solidFill>
              <a:srgbClr val="333399"/>
            </a:solidFill>
          </a:uFill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383540" marR="4064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6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1pPr>
      <a:lvl2pPr marL="824411" marR="4064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2pPr>
      <a:lvl3pPr marL="1259839" marR="4064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3pPr>
      <a:lvl4pPr marL="17780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4pPr>
      <a:lvl5pPr marL="22352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5pPr>
      <a:lvl6pPr marL="22352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6pPr>
      <a:lvl7pPr marL="22352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7pPr>
      <a:lvl8pPr marL="22352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8pPr>
      <a:lvl9pPr marL="2235200" marR="4064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sz="3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ahoma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算法(algorithm)</a:t>
            </a:r>
          </a:p>
        </p:txBody>
      </p:sp>
      <p:sp>
        <p:nvSpPr>
          <p:cNvPr id="30" name="文本框 2"/>
          <p:cNvSpPr txBox="1"/>
          <p:nvPr/>
        </p:nvSpPr>
        <p:spPr>
          <a:xfrm>
            <a:off x="317088" y="1137285"/>
            <a:ext cx="8382824" cy="440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200">
                <a:uFillTx/>
              </a:defRPr>
            </a:pPr>
            <a:r>
              <a:t>算法：没有统一的定义。 一般认为：</a:t>
            </a:r>
          </a:p>
          <a:p>
            <a:pPr marL="800100" marR="0" lvl="1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200">
                <a:uFillTx/>
              </a:defRPr>
            </a:pPr>
            <a:r>
              <a:t>算法是一个意义明确的指令序列；</a:t>
            </a:r>
          </a:p>
          <a:p>
            <a:pPr marL="800100" marR="0" lvl="1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200">
                <a:uFillTx/>
              </a:defRPr>
            </a:pPr>
            <a:r>
              <a:t>这个指令序列描述了一个有效地计算过程：给定一组数据，得到一个结果，这个计算过程一定会</a:t>
            </a:r>
            <a:r>
              <a:rPr>
                <a:solidFill>
                  <a:srgbClr val="2169D3"/>
                </a:solidFill>
              </a:rPr>
              <a:t>结束</a:t>
            </a:r>
            <a: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200">
                <a:uFillTx/>
              </a:defRPr>
            </a:pPr>
            <a:r>
              <a:t>算法是一个变换： </a:t>
            </a:r>
            <a:r>
              <a:rPr>
                <a:solidFill>
                  <a:srgbClr val="16468D"/>
                </a:solidFill>
              </a:rPr>
              <a:t>Out = translate(In)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200">
                <a:uFillTx/>
              </a:defRPr>
            </a:pPr>
            <a:r>
              <a:t>算法定义了一个部分函数(partial function)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200">
                <a:uFillTx/>
              </a:defRPr>
            </a:pPr>
            <a:endParaRPr/>
          </a:p>
          <a:p>
            <a:pPr marL="0" marR="0">
              <a:lnSpc>
                <a:spcPct val="150000"/>
              </a:lnSpc>
              <a:spcBef>
                <a:spcPts val="0"/>
              </a:spcBef>
              <a:defRPr sz="2200">
                <a:solidFill>
                  <a:srgbClr val="0F1423"/>
                </a:solidFill>
                <a:uFillTx/>
              </a:defRPr>
            </a:pPr>
            <a:r>
              <a:t>算法的描述：自然语言 + 数学语言 + 计算机语言 =&gt; 伪代码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build="p" bldLvl="5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算法</a:t>
            </a:r>
          </a:p>
        </p:txBody>
      </p:sp>
      <p:sp>
        <p:nvSpPr>
          <p:cNvPr id="35" name="求一元二次方程ax2 + bx + c = 0 的实根"/>
          <p:cNvSpPr txBox="1"/>
          <p:nvPr/>
        </p:nvSpPr>
        <p:spPr>
          <a:xfrm>
            <a:off x="486182" y="1128030"/>
            <a:ext cx="530332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200">
                <a:uFillTx/>
              </a:defRPr>
            </a:pPr>
            <a:r>
              <a:t>求一元二次方程ax</a:t>
            </a:r>
            <a:r>
              <a:rPr baseline="31998"/>
              <a:t>2</a:t>
            </a:r>
            <a:r>
              <a:t> + bx + c = 0 实根的算法</a:t>
            </a:r>
          </a:p>
        </p:txBody>
      </p:sp>
      <p:sp>
        <p:nvSpPr>
          <p:cNvPr id="36" name="1、给定a, b, c"/>
          <p:cNvSpPr txBox="1"/>
          <p:nvPr/>
        </p:nvSpPr>
        <p:spPr>
          <a:xfrm>
            <a:off x="902616" y="1706558"/>
            <a:ext cx="17339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200">
                <a:uFillTx/>
              </a:defRPr>
            </a:pPr>
            <a:r>
              <a:t>1、输入a, b, c</a:t>
            </a:r>
          </a:p>
        </p:txBody>
      </p:sp>
      <p:sp>
        <p:nvSpPr>
          <p:cNvPr id="37" name="2、计算 ∆ = b2 - 4ac"/>
          <p:cNvSpPr txBox="1"/>
          <p:nvPr/>
        </p:nvSpPr>
        <p:spPr>
          <a:xfrm>
            <a:off x="902616" y="2263997"/>
            <a:ext cx="245816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200">
                <a:uFillTx/>
              </a:defRPr>
            </a:pPr>
            <a:r>
              <a:t>2、计算 ∆ = b</a:t>
            </a:r>
            <a:r>
              <a:rPr baseline="31998"/>
              <a:t>2</a:t>
            </a:r>
            <a:r>
              <a:t> - 4ac</a:t>
            </a:r>
          </a:p>
        </p:txBody>
      </p:sp>
      <p:sp>
        <p:nvSpPr>
          <p:cNvPr id="38" name="3、如果∆ &lt; 0，则没有实根"/>
          <p:cNvSpPr txBox="1"/>
          <p:nvPr/>
        </p:nvSpPr>
        <p:spPr>
          <a:xfrm>
            <a:off x="902616" y="2790410"/>
            <a:ext cx="335111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200">
                <a:uFillTx/>
              </a:defRPr>
            </a:lvl1pPr>
          </a:lstStyle>
          <a:p>
            <a:r>
              <a:t>3、如果∆ &lt; 0，则没有实根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4、否则，x1,2 ="/>
              <p:cNvSpPr txBox="1"/>
              <p:nvPr/>
            </p:nvSpPr>
            <p:spPr>
              <a:xfrm>
                <a:off x="902616" y="3310354"/>
                <a:ext cx="4084055" cy="8409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8100" tIns="38100" rIns="38100" bIns="38100" anchor="ctr">
                <a:spAutoFit/>
              </a:bodyPr>
              <a:lstStyle/>
              <a:p>
                <a:pPr marL="0" marR="0">
                  <a:spcBef>
                    <a:spcPts val="0"/>
                  </a:spcBef>
                  <a:defRPr sz="2200">
                    <a:uFillTx/>
                  </a:defRPr>
                </a:pPr>
                <a:r>
                  <a:t>4、否则，x</a:t>
                </a:r>
                <a:r>
                  <a:rPr baseline="-5998"/>
                  <a:t>1,2</a:t>
                </a:r>
                <a: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sz="2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sz="2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sz="2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sz="2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2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m:rPr>
                                <m:sty m:val="p"/>
                              </m:rPr>
                              <a:rPr sz="2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ac</m:t>
                            </m:r>
                          </m:e>
                        </m:rad>
                      </m:num>
                      <m:den>
                        <m: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sz="2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endParaRPr/>
              </a:p>
            </p:txBody>
          </p:sp>
        </mc:Choice>
        <mc:Fallback>
          <p:sp>
            <p:nvSpPr>
              <p:cNvPr id="39" name="4、否则，x1,2 =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16" y="3310354"/>
                <a:ext cx="4084055" cy="840986"/>
              </a:xfrm>
              <a:prstGeom prst="rect">
                <a:avLst/>
              </a:prstGeom>
              <a:blipFill>
                <a:blip r:embed="rId2"/>
                <a:stretch>
                  <a:fillRect l="-328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4、否则，x1,2 ="/>
          <p:cNvSpPr txBox="1"/>
          <p:nvPr/>
        </p:nvSpPr>
        <p:spPr>
          <a:xfrm>
            <a:off x="902616" y="4181724"/>
            <a:ext cx="143933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200">
                <a:uFillTx/>
              </a:defRPr>
            </a:pPr>
            <a:r>
              <a:t>5、输出x</a:t>
            </a:r>
            <a:r>
              <a:rPr baseline="-5998"/>
              <a:t>1,2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animBg="1" advAuto="0"/>
      <p:bldP spid="37" grpId="2" animBg="1" advAuto="0"/>
      <p:bldP spid="38" grpId="3" animBg="1" advAuto="0"/>
      <p:bldP spid="39" grpId="4" animBg="1" advAuto="0"/>
      <p:bldP spid="40" grpId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程序(program)</a:t>
            </a:r>
          </a:p>
        </p:txBody>
      </p:sp>
      <p:sp>
        <p:nvSpPr>
          <p:cNvPr id="43" name="文本框 3"/>
          <p:cNvSpPr txBox="1"/>
          <p:nvPr/>
        </p:nvSpPr>
        <p:spPr>
          <a:xfrm>
            <a:off x="100753" y="1159742"/>
            <a:ext cx="28625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lvl1pPr>
          </a:lstStyle>
          <a:p>
            <a:r>
              <a:t>程序是算法的实现</a:t>
            </a:r>
          </a:p>
        </p:txBody>
      </p:sp>
      <p:sp>
        <p:nvSpPr>
          <p:cNvPr id="44" name="public static boolean realroot(double a, double b, double c, double[] roots) {…"/>
          <p:cNvSpPr txBox="1"/>
          <p:nvPr/>
        </p:nvSpPr>
        <p:spPr>
          <a:xfrm>
            <a:off x="53012" y="1793893"/>
            <a:ext cx="8914222" cy="291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realroot(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c</a:t>
            </a:r>
            <a:r>
              <a:t>, 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     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[] </a:t>
            </a:r>
            <a:r>
              <a:rPr>
                <a:solidFill>
                  <a:srgbClr val="7E504F"/>
                </a:solidFill>
              </a:rPr>
              <a:t>roots</a:t>
            </a:r>
            <a:r>
              <a:t>) {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deta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b</a:t>
            </a:r>
            <a:r>
              <a:t> * </a:t>
            </a:r>
            <a:r>
              <a:rPr>
                <a:solidFill>
                  <a:srgbClr val="7E504F"/>
                </a:solidFill>
              </a:rPr>
              <a:t>b</a:t>
            </a:r>
            <a:r>
              <a:t> - 4.0 * </a:t>
            </a:r>
            <a:r>
              <a:rPr>
                <a:solidFill>
                  <a:srgbClr val="7E504F"/>
                </a:solidFill>
              </a:rPr>
              <a:t>a</a:t>
            </a:r>
            <a:r>
              <a:t> * </a:t>
            </a:r>
            <a:r>
              <a:rPr>
                <a:solidFill>
                  <a:srgbClr val="7E504F"/>
                </a:solidFill>
              </a:rPr>
              <a:t>c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deta</a:t>
            </a:r>
            <a:r>
              <a:t> &lt; 0)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roots</a:t>
            </a:r>
            <a:r>
              <a:t>[0] = (-</a:t>
            </a:r>
            <a:r>
              <a:rPr>
                <a:solidFill>
                  <a:srgbClr val="7E504F"/>
                </a:solidFill>
              </a:rPr>
              <a:t>b</a:t>
            </a:r>
            <a:r>
              <a:t> + Math.sqrt(</a:t>
            </a:r>
            <a:r>
              <a:rPr>
                <a:solidFill>
                  <a:srgbClr val="7E504F"/>
                </a:solidFill>
              </a:rPr>
              <a:t>deta</a:t>
            </a:r>
            <a:r>
              <a:t>)) / (2.0 * </a:t>
            </a:r>
            <a:r>
              <a:rPr>
                <a:solidFill>
                  <a:srgbClr val="7E504F"/>
                </a:solidFill>
              </a:rPr>
              <a:t>a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roots</a:t>
            </a:r>
            <a:r>
              <a:t>[1] = (-</a:t>
            </a:r>
            <a:r>
              <a:rPr>
                <a:solidFill>
                  <a:srgbClr val="7E504F"/>
                </a:solidFill>
              </a:rPr>
              <a:t>b</a:t>
            </a:r>
            <a:r>
              <a:t> - Math.sqrt(</a:t>
            </a:r>
            <a:r>
              <a:rPr>
                <a:solidFill>
                  <a:srgbClr val="7E504F"/>
                </a:solidFill>
              </a:rPr>
              <a:t>deta</a:t>
            </a:r>
            <a:r>
              <a:t>)) / (2.0 * </a:t>
            </a:r>
            <a:r>
              <a:rPr>
                <a:solidFill>
                  <a:srgbClr val="7E504F"/>
                </a:solidFill>
              </a:rPr>
              <a:t>a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5" name="文本框 4"/>
          <p:cNvSpPr txBox="1"/>
          <p:nvPr/>
        </p:nvSpPr>
        <p:spPr>
          <a:xfrm>
            <a:off x="100752" y="5111889"/>
            <a:ext cx="1973928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lvl1pPr>
          </a:lstStyle>
          <a:p>
            <a:r>
              <a:t>算法 ≃ 程序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1" animBg="1" advAuto="0"/>
      <p:bldP spid="44" grpId="2" animBg="1" advAuto="0"/>
      <p:bldP spid="45" grpId="3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查找问题(search problem)</a:t>
            </a:r>
          </a:p>
        </p:txBody>
      </p:sp>
      <p:sp>
        <p:nvSpPr>
          <p:cNvPr id="48" name="给定一个整数x，判断x是否与上述n个整数中的某个整数相等，如果是，则给出其下标值，否则，返回-1。"/>
          <p:cNvSpPr txBox="1"/>
          <p:nvPr/>
        </p:nvSpPr>
        <p:spPr>
          <a:xfrm>
            <a:off x="40403" y="1422560"/>
            <a:ext cx="7337162" cy="3086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给定n个</a:t>
            </a:r>
            <a:r>
              <a:rPr>
                <a:solidFill>
                  <a:srgbClr val="2169D3"/>
                </a:solidFill>
              </a:rPr>
              <a:t>整数</a:t>
            </a:r>
            <a:r>
              <a:t>，a</a:t>
            </a:r>
            <a:r>
              <a:rPr baseline="-23733"/>
              <a:t>0</a:t>
            </a:r>
            <a:r>
              <a:t>，a</a:t>
            </a:r>
            <a:r>
              <a:rPr baseline="-23733"/>
              <a:t>1</a:t>
            </a:r>
            <a:r>
              <a:t>，……，a</a:t>
            </a:r>
            <a:r>
              <a:rPr baseline="-23733"/>
              <a:t>n-1</a:t>
            </a:r>
            <a:r>
              <a:t> 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给定一个整数 x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判断x是否与上述n个整数的某个整数相等，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    如果是，则给出其下标，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    否则，给出-1。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顺序查找算法</a:t>
            </a:r>
          </a:p>
        </p:txBody>
      </p:sp>
      <p:sp>
        <p:nvSpPr>
          <p:cNvPr id="51" name="过程：…"/>
          <p:cNvSpPr txBox="1"/>
          <p:nvPr/>
        </p:nvSpPr>
        <p:spPr>
          <a:xfrm>
            <a:off x="180021" y="1206215"/>
            <a:ext cx="8119360" cy="2649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600"/>
              </a:spcBef>
              <a:defRPr sz="2400">
                <a:uFillTx/>
              </a:defRPr>
            </a:pPr>
            <a:r>
              <a:t>输入：a</a:t>
            </a:r>
            <a:r>
              <a:rPr baseline="-25000"/>
              <a:t>0  </a:t>
            </a:r>
            <a:r>
              <a:t>, a</a:t>
            </a:r>
            <a:r>
              <a:rPr baseline="-25000"/>
              <a:t>1  </a:t>
            </a:r>
            <a:r>
              <a:t>,  …… ,  a</a:t>
            </a:r>
            <a:r>
              <a:rPr baseline="-25000"/>
              <a:t>n-1</a:t>
            </a:r>
            <a:r>
              <a:t>， x</a:t>
            </a:r>
          </a:p>
          <a:p>
            <a:pPr marL="0" marR="0">
              <a:spcBef>
                <a:spcPts val="600"/>
              </a:spcBef>
              <a:defRPr sz="2400">
                <a:uFillTx/>
              </a:defRPr>
            </a:pPr>
            <a:r>
              <a:t>输出：-1 ≤ i ≤ n-1</a:t>
            </a:r>
          </a:p>
          <a:p>
            <a:pPr marL="0" marR="0">
              <a:spcBef>
                <a:spcPts val="900"/>
              </a:spcBef>
              <a:defRPr sz="2400">
                <a:uFillTx/>
              </a:defRPr>
            </a:pPr>
            <a:r>
              <a:t>过程：</a:t>
            </a:r>
          </a:p>
          <a:p>
            <a:pPr marL="0" marR="0">
              <a:spcBef>
                <a:spcPts val="900"/>
              </a:spcBef>
              <a:defRPr sz="2400">
                <a:uFillTx/>
              </a:defRPr>
            </a:pPr>
            <a:r>
              <a:t>       将x和数据逐一比较，如果相等，则找到，给出下标，</a:t>
            </a:r>
          </a:p>
          <a:p>
            <a:pPr marL="0" marR="0">
              <a:spcBef>
                <a:spcPts val="900"/>
              </a:spcBef>
              <a:defRPr sz="2400">
                <a:uFillTx/>
              </a:defRPr>
            </a:pPr>
            <a:r>
              <a:t>       如果没有任何一个数据与x相等，则给出-1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顺序查找算法</a:t>
            </a:r>
          </a:p>
        </p:txBody>
      </p:sp>
      <p:sp>
        <p:nvSpPr>
          <p:cNvPr id="54" name="过程：…"/>
          <p:cNvSpPr txBox="1"/>
          <p:nvPr/>
        </p:nvSpPr>
        <p:spPr>
          <a:xfrm>
            <a:off x="254735" y="1066800"/>
            <a:ext cx="8602780" cy="4309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600"/>
              </a:spcBef>
              <a:defRPr sz="2400">
                <a:uFillTx/>
              </a:defRPr>
            </a:pPr>
            <a:r>
              <a:t>输入：a</a:t>
            </a:r>
            <a:r>
              <a:rPr baseline="-25000"/>
              <a:t>0  </a:t>
            </a:r>
            <a:r>
              <a:t>, a</a:t>
            </a:r>
            <a:r>
              <a:rPr baseline="-25000"/>
              <a:t>1  </a:t>
            </a:r>
            <a:r>
              <a:t>,  …… ,  a</a:t>
            </a:r>
            <a:r>
              <a:rPr baseline="-25000"/>
              <a:t>n-1</a:t>
            </a:r>
            <a:r>
              <a:t>， x</a:t>
            </a:r>
          </a:p>
          <a:p>
            <a:pPr marL="0" marR="0">
              <a:spcBef>
                <a:spcPts val="600"/>
              </a:spcBef>
              <a:defRPr sz="2400">
                <a:uFillTx/>
              </a:defRPr>
            </a:pPr>
            <a:r>
              <a:t>输出：-1 ≤ i ≤ n-1</a:t>
            </a:r>
          </a:p>
          <a:p>
            <a:pPr marL="0" marR="0">
              <a:spcBef>
                <a:spcPts val="900"/>
              </a:spcBef>
              <a:defRPr sz="2400">
                <a:uFillTx/>
              </a:defRPr>
            </a:pPr>
            <a:r>
              <a:t>过程：</a:t>
            </a:r>
          </a:p>
          <a:p>
            <a:pPr marL="0" marR="0" lvl="1" indent="457200">
              <a:spcBef>
                <a:spcPts val="900"/>
              </a:spcBef>
              <a:defRPr sz="2400">
                <a:uFillTx/>
              </a:defRPr>
            </a:pPr>
            <a:r>
              <a:t>1、i=0</a:t>
            </a:r>
          </a:p>
          <a:p>
            <a:pPr marL="0" marR="0" lvl="1" indent="457200">
              <a:spcBef>
                <a:spcPts val="900"/>
              </a:spcBef>
              <a:defRPr sz="2400">
                <a:uFillTx/>
              </a:defRPr>
            </a:pPr>
            <a:r>
              <a:t>2、如果a</a:t>
            </a:r>
            <a:r>
              <a:rPr baseline="-25000"/>
              <a:t>i</a:t>
            </a:r>
            <a:r>
              <a:t> ==  x，则输出i，结束</a:t>
            </a:r>
          </a:p>
          <a:p>
            <a:pPr marL="0" marR="0" lvl="1" indent="457200">
              <a:spcBef>
                <a:spcPts val="900"/>
              </a:spcBef>
              <a:defRPr sz="2400">
                <a:uFillTx/>
              </a:defRPr>
            </a:pPr>
            <a:r>
              <a:t>     否则：i = i + 1</a:t>
            </a:r>
          </a:p>
          <a:p>
            <a:pPr marL="0" marR="0" lvl="1" indent="457200">
              <a:spcBef>
                <a:spcPts val="900"/>
              </a:spcBef>
              <a:defRPr sz="2400">
                <a:uFillTx/>
              </a:defRPr>
            </a:pPr>
            <a:r>
              <a:t>3、如果 i &lt; n，则重复2，</a:t>
            </a:r>
          </a:p>
          <a:p>
            <a:pPr marL="0" marR="0" lvl="1" indent="457200">
              <a:spcBef>
                <a:spcPts val="900"/>
              </a:spcBef>
              <a:defRPr sz="2400">
                <a:uFillTx/>
              </a:defRPr>
            </a:pPr>
            <a:r>
              <a:t>     否则，输出-1，结束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使用数组存储数据</a:t>
            </a:r>
          </a:p>
        </p:txBody>
      </p:sp>
      <p:graphicFrame>
        <p:nvGraphicFramePr>
          <p:cNvPr id="57" name="表格"/>
          <p:cNvGraphicFramePr/>
          <p:nvPr/>
        </p:nvGraphicFramePr>
        <p:xfrm>
          <a:off x="873125" y="2201862"/>
          <a:ext cx="7366000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a[0]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a[1]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a[2]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a[3]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a[4]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a[5]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a[6]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a[7]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表格"/>
          <p:cNvGraphicFramePr/>
          <p:nvPr/>
        </p:nvGraphicFramePr>
        <p:xfrm>
          <a:off x="873125" y="1363662"/>
          <a:ext cx="7366000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179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81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167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112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78</a:t>
                      </a:r>
                    </a:p>
                  </a:txBody>
                  <a:tcPr marL="50800" marR="50800" marT="50800" marB="50800" anchor="ctr" horzOverflow="overflow"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顺序查找程序</a:t>
            </a:r>
          </a:p>
        </p:txBody>
      </p:sp>
      <p:sp>
        <p:nvSpPr>
          <p:cNvPr id="61" name="public int sequentialSearch(int a[],int x){…"/>
          <p:cNvSpPr txBox="1"/>
          <p:nvPr/>
        </p:nvSpPr>
        <p:spPr>
          <a:xfrm>
            <a:off x="53474" y="1274415"/>
            <a:ext cx="8929465" cy="3149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int</a:t>
            </a:r>
            <a:r>
              <a:t> sequentialSearch(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[],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i++){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 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折半查找算法</a:t>
            </a:r>
          </a:p>
        </p:txBody>
      </p:sp>
      <p:sp>
        <p:nvSpPr>
          <p:cNvPr id="64" name="线条"/>
          <p:cNvSpPr/>
          <p:nvPr/>
        </p:nvSpPr>
        <p:spPr>
          <a:xfrm>
            <a:off x="7723225" y="2207930"/>
            <a:ext cx="1" cy="474664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j"/>
          <p:cNvSpPr txBox="1"/>
          <p:nvPr/>
        </p:nvSpPr>
        <p:spPr>
          <a:xfrm>
            <a:off x="7582255" y="1745796"/>
            <a:ext cx="25373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</a:t>
            </a:r>
          </a:p>
        </p:txBody>
      </p:sp>
      <p:graphicFrame>
        <p:nvGraphicFramePr>
          <p:cNvPr id="66" name="表格"/>
          <p:cNvGraphicFramePr/>
          <p:nvPr/>
        </p:nvGraphicFramePr>
        <p:xfrm>
          <a:off x="838199" y="3545840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a[0]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a[1]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a[2]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a[3]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a[4]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a[5]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a[6]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a[7]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表格"/>
          <p:cNvGraphicFramePr/>
          <p:nvPr/>
        </p:nvGraphicFramePr>
        <p:xfrm>
          <a:off x="838199" y="2707639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78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81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112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167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179</a:t>
                      </a:r>
                    </a:p>
                  </a:txBody>
                  <a:tcPr marL="50800" marR="50800" marT="50800" marB="50800" anchor="ctr" horzOverflow="overflow"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线条"/>
          <p:cNvSpPr/>
          <p:nvPr/>
        </p:nvSpPr>
        <p:spPr>
          <a:xfrm>
            <a:off x="1294718" y="2207930"/>
            <a:ext cx="1" cy="474664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i"/>
          <p:cNvSpPr txBox="1"/>
          <p:nvPr/>
        </p:nvSpPr>
        <p:spPr>
          <a:xfrm>
            <a:off x="1153748" y="1745796"/>
            <a:ext cx="25373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i</a:t>
            </a:r>
          </a:p>
        </p:txBody>
      </p:sp>
      <p:sp>
        <p:nvSpPr>
          <p:cNvPr id="70" name="线条"/>
          <p:cNvSpPr/>
          <p:nvPr/>
        </p:nvSpPr>
        <p:spPr>
          <a:xfrm>
            <a:off x="4006636" y="2207930"/>
            <a:ext cx="1" cy="474664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p"/>
          <p:cNvSpPr txBox="1"/>
          <p:nvPr/>
        </p:nvSpPr>
        <p:spPr>
          <a:xfrm>
            <a:off x="3840266" y="1745796"/>
            <a:ext cx="33274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</a:t>
            </a:r>
          </a:p>
        </p:txBody>
      </p:sp>
      <p:sp>
        <p:nvSpPr>
          <p:cNvPr id="72" name="p = i + (j - i) / 2"/>
          <p:cNvSpPr txBox="1"/>
          <p:nvPr/>
        </p:nvSpPr>
        <p:spPr>
          <a:xfrm>
            <a:off x="733247" y="4585857"/>
            <a:ext cx="2373274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 = i + (j - i) / 2</a:t>
            </a:r>
          </a:p>
        </p:txBody>
      </p:sp>
      <p:sp>
        <p:nvSpPr>
          <p:cNvPr id="73" name="如果数据有序，即   a0 &lt; a1 &lt; a2 &lt; …… &lt; an-1"/>
          <p:cNvSpPr txBox="1"/>
          <p:nvPr/>
        </p:nvSpPr>
        <p:spPr>
          <a:xfrm>
            <a:off x="871341" y="961103"/>
            <a:ext cx="7172932" cy="65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3000"/>
            </a:pPr>
            <a:r>
              <a:t>如果数据</a:t>
            </a:r>
            <a:r>
              <a:rPr>
                <a:solidFill>
                  <a:schemeClr val="accent5"/>
                </a:solidFill>
              </a:rPr>
              <a:t>有序</a:t>
            </a:r>
            <a:r>
              <a:t>，即   a</a:t>
            </a:r>
            <a:r>
              <a:rPr baseline="-23733"/>
              <a:t>0 </a:t>
            </a:r>
            <a:r>
              <a:t>&lt; a</a:t>
            </a:r>
            <a:r>
              <a:rPr baseline="-23733"/>
              <a:t>1 </a:t>
            </a:r>
            <a:r>
              <a:t>&lt; a</a:t>
            </a:r>
            <a:r>
              <a:rPr baseline="-23733"/>
              <a:t>2 </a:t>
            </a:r>
            <a:r>
              <a:t>&lt; …… &lt; a</a:t>
            </a:r>
            <a:r>
              <a:rPr baseline="-23733"/>
              <a:t>n-1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折半查找算法</a:t>
            </a:r>
          </a:p>
        </p:txBody>
      </p:sp>
      <p:sp>
        <p:nvSpPr>
          <p:cNvPr id="76" name="输入输出同前…"/>
          <p:cNvSpPr txBox="1"/>
          <p:nvPr/>
        </p:nvSpPr>
        <p:spPr>
          <a:xfrm>
            <a:off x="96955" y="1082709"/>
            <a:ext cx="8575238" cy="40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900"/>
              </a:spcBef>
              <a:defRPr sz="2200">
                <a:uFillTx/>
              </a:defRPr>
            </a:pPr>
            <a:r>
              <a:t>输入输出同前</a:t>
            </a:r>
          </a:p>
          <a:p>
            <a:pPr marL="0" marR="0">
              <a:spcBef>
                <a:spcPts val="900"/>
              </a:spcBef>
              <a:defRPr sz="2200">
                <a:uFillTx/>
              </a:defRPr>
            </a:pPr>
            <a:r>
              <a:t>过程：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1、i = 0, j = n - 1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2、p = i + (j - i) / 2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3、如果a</a:t>
            </a:r>
            <a:r>
              <a:rPr baseline="-27494"/>
              <a:t>p</a:t>
            </a:r>
            <a:r>
              <a:t> == x，则输出p，结束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4、如果 a</a:t>
            </a:r>
            <a:r>
              <a:rPr baseline="-27494"/>
              <a:t>p</a:t>
            </a:r>
            <a:r>
              <a:t>&lt; x，则 i = p + 1，否则，j = p - 1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5、如果i &lt; j，重复2-4</a:t>
            </a:r>
          </a:p>
          <a:p>
            <a:pPr marL="0" marR="0" lvl="1" indent="457200">
              <a:spcBef>
                <a:spcPts val="900"/>
              </a:spcBef>
              <a:defRPr sz="2200">
                <a:uFillTx/>
              </a:defRPr>
            </a:pPr>
            <a:r>
              <a:t>6、输出 -1，结束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折半查找程序</a:t>
            </a:r>
          </a:p>
        </p:txBody>
      </p:sp>
      <p:sp>
        <p:nvSpPr>
          <p:cNvPr id="79" name="public int binarySearch(int a[], int x){…"/>
          <p:cNvSpPr txBox="1"/>
          <p:nvPr/>
        </p:nvSpPr>
        <p:spPr>
          <a:xfrm>
            <a:off x="22874" y="1136119"/>
            <a:ext cx="7710067" cy="4512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int</a:t>
            </a:r>
            <a:r>
              <a:t> binarySearch(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){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0,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 </a:t>
            </a:r>
            <a:r>
              <a:t>- 1;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j</a:t>
            </a:r>
            <a:r>
              <a:t>){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i + ((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</a:t>
            </a:r>
            <a:r>
              <a:t>) &gt;&gt;&gt; 1);</a:t>
            </a:r>
            <a:endParaRPr>
              <a:solidFill>
                <a:srgbClr val="4E9072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a[p]</a:t>
            </a:r>
            <a:r>
              <a:t>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- 1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x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a[p]</a:t>
            </a:r>
            <a:r>
              <a:t>)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+ 1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阶乘：递推定义和程序</a:t>
            </a:r>
          </a:p>
        </p:txBody>
      </p:sp>
      <p:sp>
        <p:nvSpPr>
          <p:cNvPr id="82" name="public int factorial (int n){…"/>
          <p:cNvSpPr txBox="1"/>
          <p:nvPr/>
        </p:nvSpPr>
        <p:spPr>
          <a:xfrm>
            <a:off x="220249" y="2243286"/>
            <a:ext cx="7313762" cy="3835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long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(n == 0)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long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rPr>
                <a:solidFill>
                  <a:srgbClr val="000000"/>
                </a:solidFill>
              </a:rPr>
              <a:t> =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2;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i++</a:t>
            </a:r>
            <a:r>
              <a:t>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f</a:t>
            </a:r>
            <a:r>
              <a:t> *=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t>;	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83" name="n! = 1×2×3×4...×n"/>
          <p:cNvSpPr txBox="1"/>
          <p:nvPr/>
        </p:nvSpPr>
        <p:spPr>
          <a:xfrm>
            <a:off x="223929" y="1265682"/>
            <a:ext cx="3489189" cy="815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n! = 1×2×3×4...×n   if n ≥ 1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0! = 1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阶乘：递归定义</a:t>
            </a:r>
          </a:p>
        </p:txBody>
      </p:sp>
      <p:sp>
        <p:nvSpPr>
          <p:cNvPr id="88" name="5! = 5×4!…"/>
          <p:cNvSpPr txBox="1"/>
          <p:nvPr/>
        </p:nvSpPr>
        <p:spPr>
          <a:xfrm>
            <a:off x="1693995" y="2686587"/>
            <a:ext cx="1245295" cy="2450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5! = 5×4!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4! = 4×3!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3! = 3×2!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2! = 2×1!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1! = 1×0!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0! = 1</a:t>
            </a:r>
          </a:p>
        </p:txBody>
      </p:sp>
      <p:grpSp>
        <p:nvGrpSpPr>
          <p:cNvPr id="93" name="组合 4"/>
          <p:cNvGrpSpPr/>
          <p:nvPr/>
        </p:nvGrpSpPr>
        <p:grpSpPr>
          <a:xfrm>
            <a:off x="404519" y="956463"/>
            <a:ext cx="4368878" cy="2070425"/>
            <a:chOff x="0" y="0"/>
            <a:chExt cx="4368877" cy="2070424"/>
          </a:xfrm>
        </p:grpSpPr>
        <p:sp>
          <p:nvSpPr>
            <p:cNvPr id="89" name="1              if n = 0"/>
            <p:cNvSpPr txBox="1"/>
            <p:nvPr/>
          </p:nvSpPr>
          <p:spPr>
            <a:xfrm>
              <a:off x="1160376" y="0"/>
              <a:ext cx="3208502" cy="11226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noAutofit/>
            </a:bodyPr>
            <a:lstStyle/>
            <a:p>
              <a:pPr marL="0" marR="0" defTabSz="321467">
                <a:lnSpc>
                  <a:spcPct val="120000"/>
                </a:lnSpc>
                <a:spcBef>
                  <a:spcPts val="0"/>
                </a:spcBef>
                <a:defRPr sz="2400">
                  <a:uFillTx/>
                </a:defRPr>
              </a:pPr>
              <a:r>
                <a:t>1                      if n = 0</a:t>
              </a:r>
            </a:p>
          </p:txBody>
        </p:sp>
        <p:sp>
          <p:nvSpPr>
            <p:cNvPr id="90" name="线条"/>
            <p:cNvSpPr/>
            <p:nvPr/>
          </p:nvSpPr>
          <p:spPr>
            <a:xfrm>
              <a:off x="716598" y="141005"/>
              <a:ext cx="206577" cy="1169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3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5965" y="10800"/>
                    <a:pt x="0" y="10800"/>
                  </a:cubicBezTo>
                  <a:cubicBezTo>
                    <a:pt x="596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 marL="0" marR="0">
                <a:spcBef>
                  <a:spcPts val="0"/>
                </a:spcBef>
                <a:defRPr sz="2400">
                  <a:uFillTx/>
                </a:defRPr>
              </a:pPr>
              <a:endParaRPr/>
            </a:p>
          </p:txBody>
        </p:sp>
        <p:sp>
          <p:nvSpPr>
            <p:cNvPr id="91" name="n! ="/>
            <p:cNvSpPr txBox="1"/>
            <p:nvPr/>
          </p:nvSpPr>
          <p:spPr>
            <a:xfrm>
              <a:off x="0" y="484166"/>
              <a:ext cx="861608" cy="5629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noAutofit/>
            </a:bodyPr>
            <a:lstStyle>
              <a:lvl1pPr marL="0" marR="0" defTabSz="321467">
                <a:lnSpc>
                  <a:spcPct val="120000"/>
                </a:lnSpc>
                <a:spcBef>
                  <a:spcPts val="0"/>
                </a:spcBef>
                <a:defRPr sz="2400">
                  <a:uFillTx/>
                </a:defRPr>
              </a:lvl1pPr>
            </a:lstStyle>
            <a:p>
              <a:r>
                <a:t>n! =</a:t>
              </a:r>
            </a:p>
          </p:txBody>
        </p:sp>
        <p:sp>
          <p:nvSpPr>
            <p:cNvPr id="92" name="n! = n*(n-1)!  if n ≥ 1"/>
            <p:cNvSpPr txBox="1"/>
            <p:nvPr/>
          </p:nvSpPr>
          <p:spPr>
            <a:xfrm>
              <a:off x="1160376" y="947781"/>
              <a:ext cx="3208502" cy="11226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noAutofit/>
            </a:bodyPr>
            <a:lstStyle/>
            <a:p>
              <a:pPr marL="0" marR="0" defTabSz="321467">
                <a:lnSpc>
                  <a:spcPct val="120000"/>
                </a:lnSpc>
                <a:spcBef>
                  <a:spcPts val="0"/>
                </a:spcBef>
                <a:defRPr sz="2400">
                  <a:uFillTx/>
                </a:defRPr>
              </a:pPr>
              <a:r>
                <a:rPr>
                  <a:solidFill>
                    <a:schemeClr val="accent5"/>
                  </a:solidFill>
                </a:rPr>
                <a:t>n!</a:t>
              </a:r>
              <a:r>
                <a:t> = n*</a:t>
              </a:r>
              <a:r>
                <a:rPr>
                  <a:solidFill>
                    <a:schemeClr val="accent5">
                      <a:hueOff val="-444211"/>
                      <a:satOff val="-14915"/>
                      <a:lumOff val="22857"/>
                    </a:schemeClr>
                  </a:solidFill>
                </a:rPr>
                <a:t>(n-1)!</a:t>
              </a:r>
              <a:r>
                <a:t>    if n ≥ 1</a:t>
              </a:r>
            </a:p>
          </p:txBody>
        </p:sp>
      </p:grpSp>
      <p:sp>
        <p:nvSpPr>
          <p:cNvPr id="94" name="直线箭头连接符 3"/>
          <p:cNvSpPr/>
          <p:nvPr/>
        </p:nvSpPr>
        <p:spPr>
          <a:xfrm flipH="1">
            <a:off x="1267697" y="2764548"/>
            <a:ext cx="1" cy="2295001"/>
          </a:xfrm>
          <a:prstGeom prst="line">
            <a:avLst/>
          </a:prstGeom>
          <a:ln w="12700">
            <a:solidFill>
              <a:srgbClr val="6096E6"/>
            </a:solidFill>
            <a:miter/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" name="直线箭头连接符 10"/>
          <p:cNvSpPr/>
          <p:nvPr/>
        </p:nvSpPr>
        <p:spPr>
          <a:xfrm flipV="1">
            <a:off x="3139013" y="2764548"/>
            <a:ext cx="1" cy="2295001"/>
          </a:xfrm>
          <a:prstGeom prst="line">
            <a:avLst/>
          </a:prstGeom>
          <a:ln w="12700">
            <a:solidFill>
              <a:srgbClr val="FF0000"/>
            </a:solidFill>
            <a:miter/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" name="文本框 2"/>
          <p:cNvSpPr txBox="1"/>
          <p:nvPr/>
        </p:nvSpPr>
        <p:spPr>
          <a:xfrm>
            <a:off x="382118" y="5449258"/>
            <a:ext cx="28244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递归是一个计算过程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1" build="p" bldLvl="5" animBg="1" advAuto="0"/>
      <p:bldP spid="94" grpId="2" animBg="1" advAuto="0"/>
      <p:bldP spid="95" grpId="3" animBg="1" advAuto="0"/>
      <p:bldP spid="96" grpId="4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阶乘：递归的程序</a:t>
            </a:r>
          </a:p>
        </p:txBody>
      </p:sp>
      <p:sp>
        <p:nvSpPr>
          <p:cNvPr id="101" name="public int factorial (int n){…"/>
          <p:cNvSpPr txBox="1"/>
          <p:nvPr/>
        </p:nvSpPr>
        <p:spPr>
          <a:xfrm>
            <a:off x="-191382" y="1190441"/>
            <a:ext cx="6749791" cy="2696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long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0)	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* factorial(</a:t>
            </a:r>
            <a:r>
              <a:rPr>
                <a:solidFill>
                  <a:srgbClr val="7E504F"/>
                </a:solidFill>
              </a:rPr>
              <a:t>n</a:t>
            </a:r>
            <a:r>
              <a:t>-1);	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  <p:sp>
        <p:nvSpPr>
          <p:cNvPr id="102" name="f(5)"/>
          <p:cNvSpPr txBox="1"/>
          <p:nvPr/>
        </p:nvSpPr>
        <p:spPr>
          <a:xfrm>
            <a:off x="6653121" y="1546801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f(5)</a:t>
            </a:r>
          </a:p>
        </p:txBody>
      </p:sp>
      <p:sp>
        <p:nvSpPr>
          <p:cNvPr id="103" name="f(4)"/>
          <p:cNvSpPr txBox="1"/>
          <p:nvPr/>
        </p:nvSpPr>
        <p:spPr>
          <a:xfrm>
            <a:off x="6653121" y="1975426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f(4)</a:t>
            </a:r>
          </a:p>
        </p:txBody>
      </p:sp>
      <p:sp>
        <p:nvSpPr>
          <p:cNvPr id="104" name="f(3)"/>
          <p:cNvSpPr txBox="1"/>
          <p:nvPr/>
        </p:nvSpPr>
        <p:spPr>
          <a:xfrm>
            <a:off x="6653121" y="2451676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f(3)</a:t>
            </a:r>
          </a:p>
        </p:txBody>
      </p:sp>
      <p:sp>
        <p:nvSpPr>
          <p:cNvPr id="105" name="f(2)"/>
          <p:cNvSpPr txBox="1"/>
          <p:nvPr/>
        </p:nvSpPr>
        <p:spPr>
          <a:xfrm>
            <a:off x="6653121" y="28996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f(2)</a:t>
            </a:r>
          </a:p>
        </p:txBody>
      </p:sp>
      <p:sp>
        <p:nvSpPr>
          <p:cNvPr id="106" name="f(1)"/>
          <p:cNvSpPr txBox="1"/>
          <p:nvPr/>
        </p:nvSpPr>
        <p:spPr>
          <a:xfrm>
            <a:off x="6653121" y="33949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f(1)</a:t>
            </a:r>
          </a:p>
        </p:txBody>
      </p:sp>
      <p:sp>
        <p:nvSpPr>
          <p:cNvPr id="107" name="线条"/>
          <p:cNvSpPr/>
          <p:nvPr/>
        </p:nvSpPr>
        <p:spPr>
          <a:xfrm>
            <a:off x="6896395" y="187791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8" name="线条"/>
          <p:cNvSpPr/>
          <p:nvPr/>
        </p:nvSpPr>
        <p:spPr>
          <a:xfrm>
            <a:off x="6896395" y="233511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9" name="线条"/>
          <p:cNvSpPr/>
          <p:nvPr/>
        </p:nvSpPr>
        <p:spPr>
          <a:xfrm>
            <a:off x="6896395" y="2801837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0" name="线条"/>
          <p:cNvSpPr/>
          <p:nvPr/>
        </p:nvSpPr>
        <p:spPr>
          <a:xfrm>
            <a:off x="6896395" y="326856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1" name="f(0)"/>
          <p:cNvSpPr txBox="1"/>
          <p:nvPr/>
        </p:nvSpPr>
        <p:spPr>
          <a:xfrm>
            <a:off x="6653121" y="38902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f(0)</a:t>
            </a:r>
          </a:p>
        </p:txBody>
      </p:sp>
      <p:sp>
        <p:nvSpPr>
          <p:cNvPr id="112" name="线条"/>
          <p:cNvSpPr/>
          <p:nvPr/>
        </p:nvSpPr>
        <p:spPr>
          <a:xfrm>
            <a:off x="6896395" y="376386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1" animBg="1" advAuto="0"/>
      <p:bldP spid="103" grpId="2" animBg="1" advAuto="0"/>
      <p:bldP spid="104" grpId="3" animBg="1" advAuto="0"/>
      <p:bldP spid="105" grpId="4" animBg="1" advAuto="0"/>
      <p:bldP spid="106" grpId="5" animBg="1" advAuto="0"/>
      <p:bldP spid="107" grpId="6" animBg="1" advAuto="0"/>
      <p:bldP spid="108" grpId="7" animBg="1" advAuto="0"/>
      <p:bldP spid="109" grpId="8" animBg="1" advAuto="0"/>
      <p:bldP spid="110" grpId="9" animBg="1" advAuto="0"/>
      <p:bldP spid="111" grpId="10" animBg="1" advAuto="0"/>
      <p:bldP spid="112" grpId="11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程序的执行时间和影响因素</a:t>
            </a:r>
          </a:p>
        </p:txBody>
      </p:sp>
      <p:sp>
        <p:nvSpPr>
          <p:cNvPr id="115" name="文本框 2"/>
          <p:cNvSpPr txBox="1"/>
          <p:nvPr/>
        </p:nvSpPr>
        <p:spPr>
          <a:xfrm>
            <a:off x="235616" y="998827"/>
            <a:ext cx="4434842" cy="174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影响因素</a:t>
            </a:r>
          </a:p>
          <a:p>
            <a:pPr marL="800100" marR="0" lvl="1" indent="-342900"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软硬件环境</a:t>
            </a:r>
          </a:p>
          <a:p>
            <a:pPr marL="800100" marR="0" lvl="1" indent="-342900"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算法</a:t>
            </a:r>
          </a:p>
          <a:p>
            <a:pPr marL="800100" marR="0" lvl="1" indent="-342900"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问题的输入</a:t>
            </a:r>
          </a:p>
        </p:txBody>
      </p:sp>
      <p:sp>
        <p:nvSpPr>
          <p:cNvPr id="116" name="文本框 5"/>
          <p:cNvSpPr txBox="1"/>
          <p:nvPr/>
        </p:nvSpPr>
        <p:spPr>
          <a:xfrm>
            <a:off x="299256" y="4764155"/>
            <a:ext cx="5397570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查找不同的x，如：x=68，x=167， x=78</a:t>
            </a:r>
          </a:p>
        </p:txBody>
      </p:sp>
      <p:sp>
        <p:nvSpPr>
          <p:cNvPr id="117" name="文本框 6"/>
          <p:cNvSpPr txBox="1"/>
          <p:nvPr/>
        </p:nvSpPr>
        <p:spPr>
          <a:xfrm>
            <a:off x="295912" y="5261181"/>
            <a:ext cx="4314250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执行时间是一个函数：T(E, A, I)</a:t>
            </a:r>
          </a:p>
        </p:txBody>
      </p:sp>
      <p:sp>
        <p:nvSpPr>
          <p:cNvPr id="118" name="文本框 7"/>
          <p:cNvSpPr txBox="1"/>
          <p:nvPr/>
        </p:nvSpPr>
        <p:spPr>
          <a:xfrm>
            <a:off x="5149324" y="5261181"/>
            <a:ext cx="944484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T(A, I)</a:t>
            </a:r>
          </a:p>
        </p:txBody>
      </p:sp>
      <p:sp>
        <p:nvSpPr>
          <p:cNvPr id="119" name="文本框 8"/>
          <p:cNvSpPr txBox="1"/>
          <p:nvPr/>
        </p:nvSpPr>
        <p:spPr>
          <a:xfrm>
            <a:off x="6442952" y="5261181"/>
            <a:ext cx="571967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T(I)</a:t>
            </a:r>
          </a:p>
        </p:txBody>
      </p:sp>
      <p:sp>
        <p:nvSpPr>
          <p:cNvPr id="120" name="文本框 9"/>
          <p:cNvSpPr txBox="1"/>
          <p:nvPr/>
        </p:nvSpPr>
        <p:spPr>
          <a:xfrm>
            <a:off x="4612115" y="5261181"/>
            <a:ext cx="425074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=&gt;</a:t>
            </a:r>
          </a:p>
        </p:txBody>
      </p:sp>
      <p:sp>
        <p:nvSpPr>
          <p:cNvPr id="121" name="文本框 10"/>
          <p:cNvSpPr txBox="1"/>
          <p:nvPr/>
        </p:nvSpPr>
        <p:spPr>
          <a:xfrm>
            <a:off x="5968708" y="5261181"/>
            <a:ext cx="425074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=&gt;</a:t>
            </a:r>
          </a:p>
        </p:txBody>
      </p:sp>
      <p:grpSp>
        <p:nvGrpSpPr>
          <p:cNvPr id="124" name="成组"/>
          <p:cNvGrpSpPr/>
          <p:nvPr/>
        </p:nvGrpSpPr>
        <p:grpSpPr>
          <a:xfrm>
            <a:off x="873125" y="3082234"/>
            <a:ext cx="7366000" cy="1625602"/>
            <a:chOff x="38100" y="38100"/>
            <a:chExt cx="7366000" cy="1625600"/>
          </a:xfrm>
        </p:grpSpPr>
        <p:graphicFrame>
          <p:nvGraphicFramePr>
            <p:cNvPr id="122" name="表格"/>
            <p:cNvGraphicFramePr/>
            <p:nvPr/>
          </p:nvGraphicFramePr>
          <p:xfrm>
            <a:off x="38100" y="876300"/>
            <a:ext cx="7366000" cy="787401"/>
          </p:xfrm>
          <a:graphic>
            <a:graphicData uri="http://schemas.openxmlformats.org/drawingml/2006/table">
              <a:tbl>
                <a:tblPr>
                  <a:tableStyleId>{8F44A2F1-9E1F-4B54-A3A2-5F16C0AD49E2}</a:tableStyleId>
                </a:tblPr>
                <a:tblGrid>
                  <a:gridCol w="9207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a[0]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a[1]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a[2]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a[3]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a[4]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a[5]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a[6]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a[7]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23" name="表格"/>
            <p:cNvGraphicFramePr/>
            <p:nvPr/>
          </p:nvGraphicFramePr>
          <p:xfrm>
            <a:off x="38100" y="38100"/>
            <a:ext cx="7366000" cy="787400"/>
          </p:xfrm>
          <a:graphic>
            <a:graphicData uri="http://schemas.openxmlformats.org/drawingml/2006/table">
              <a:tbl>
                <a:tblPr>
                  <a:tableStyleId>{8F44A2F1-9E1F-4B54-A3A2-5F16C0AD49E2}</a:tableStyleId>
                </a:tblPr>
                <a:tblGrid>
                  <a:gridCol w="9207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68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56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179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81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167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112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90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78</a:t>
                        </a:r>
                      </a:p>
                    </a:txBody>
                    <a:tcPr marL="50800" marR="50800" marT="50800" marB="50800" anchor="ctr" horzOverflow="overflow"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2" animBg="1" advAuto="0"/>
      <p:bldP spid="117" grpId="3" animBg="1" advAuto="0"/>
      <p:bldP spid="118" grpId="5" animBg="1" advAuto="0"/>
      <p:bldP spid="119" grpId="7" animBg="1" advAuto="0"/>
      <p:bldP spid="120" grpId="4" animBg="1" advAuto="0"/>
      <p:bldP spid="121" grpId="6" animBg="1" advAuto="0"/>
      <p:bldP spid="124" grpId="1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问题的规模</a:t>
            </a:r>
          </a:p>
        </p:txBody>
      </p:sp>
      <p:sp>
        <p:nvSpPr>
          <p:cNvPr id="129" name="文本框 2"/>
          <p:cNvSpPr txBox="1"/>
          <p:nvPr/>
        </p:nvSpPr>
        <p:spPr>
          <a:xfrm>
            <a:off x="102868" y="1258566"/>
            <a:ext cx="4434843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>
            <a:lvl1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lvl1pPr>
          </a:lstStyle>
          <a:p>
            <a:r>
              <a:t>规模大，需要的时间长</a:t>
            </a:r>
          </a:p>
        </p:txBody>
      </p:sp>
      <p:graphicFrame>
        <p:nvGraphicFramePr>
          <p:cNvPr id="130" name="表格"/>
          <p:cNvGraphicFramePr/>
          <p:nvPr/>
        </p:nvGraphicFramePr>
        <p:xfrm>
          <a:off x="473182" y="2852414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a[0]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a[1]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a[2]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a[3]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a[4]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a[5]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a[6]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a[7]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" name="表格"/>
          <p:cNvGraphicFramePr/>
          <p:nvPr/>
        </p:nvGraphicFramePr>
        <p:xfrm>
          <a:off x="473182" y="2014213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179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81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167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112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78</a:t>
                      </a:r>
                    </a:p>
                  </a:txBody>
                  <a:tcPr marL="50800" marR="50800" marT="50800" marB="50800" anchor="ctr" horzOverflow="overflow"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" name="表格"/>
          <p:cNvGraphicFramePr/>
          <p:nvPr/>
        </p:nvGraphicFramePr>
        <p:xfrm>
          <a:off x="382031" y="4784078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a[0]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a[1]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a[2]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a[3]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a[4]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a[5]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a[6]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algn="l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a[7]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5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表格"/>
          <p:cNvGraphicFramePr/>
          <p:nvPr/>
        </p:nvGraphicFramePr>
        <p:xfrm>
          <a:off x="382031" y="3945877"/>
          <a:ext cx="7366001" cy="787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50800" marR="50800" marT="50800" marB="50800" anchor="ctr" horzOverflow="overflow">
                    <a:lnL w="28575">
                      <a:solidFill>
                        <a:srgbClr val="000000"/>
                      </a:solidFill>
                      <a:miter lim="400000"/>
                    </a:lnL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179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81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167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112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78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50800" marR="50800" marT="50800" marB="50800" anchor="ctr" horzOverflow="overflow"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0640" defTabSz="914400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>
                          <a:uFillTx/>
                        </a:defRPr>
                      </a:pPr>
                      <a:r>
                        <a:rPr sz="28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lnR w="28575">
                      <a:solidFill>
                        <a:srgbClr val="000000"/>
                      </a:solidFill>
                      <a:miter lim="400000"/>
                    </a:lnR>
                    <a:lnT w="28575">
                      <a:solidFill>
                        <a:srgbClr val="000000"/>
                      </a:solidFill>
                      <a:miter lim="400000"/>
                    </a:lnT>
                    <a:lnB w="285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问题的规模</a:t>
            </a:r>
          </a:p>
        </p:txBody>
      </p:sp>
      <p:sp>
        <p:nvSpPr>
          <p:cNvPr id="136" name="文本框 2"/>
          <p:cNvSpPr txBox="1"/>
          <p:nvPr/>
        </p:nvSpPr>
        <p:spPr>
          <a:xfrm>
            <a:off x="114988" y="1074167"/>
            <a:ext cx="5162205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>
            <a:lvl1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lvl1pPr>
          </a:lstStyle>
          <a:p>
            <a:r>
              <a:t>相同规模的不同输入</a:t>
            </a:r>
          </a:p>
        </p:txBody>
      </p:sp>
      <p:sp>
        <p:nvSpPr>
          <p:cNvPr id="137" name="文本框 5"/>
          <p:cNvSpPr txBox="1"/>
          <p:nvPr/>
        </p:nvSpPr>
        <p:spPr>
          <a:xfrm>
            <a:off x="157496" y="5448480"/>
            <a:ext cx="4434842" cy="50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执行时间：</a:t>
            </a:r>
            <a:r>
              <a:rPr>
                <a:solidFill>
                  <a:srgbClr val="0F1423"/>
                </a:solidFill>
              </a:rPr>
              <a:t>T</a:t>
            </a:r>
            <a:r>
              <a:rPr baseline="-25000">
                <a:solidFill>
                  <a:srgbClr val="0F1423"/>
                </a:solidFill>
              </a:rPr>
              <a:t>worst</a:t>
            </a:r>
            <a:r>
              <a:rPr>
                <a:solidFill>
                  <a:srgbClr val="0F1423"/>
                </a:solidFill>
              </a:rPr>
              <a:t>、</a:t>
            </a:r>
            <a:r>
              <a:t>T</a:t>
            </a:r>
            <a:r>
              <a:rPr baseline="-25000"/>
              <a:t>best</a:t>
            </a:r>
            <a:r>
              <a:t>、T</a:t>
            </a:r>
            <a:r>
              <a:rPr baseline="-25000"/>
              <a:t>avg</a:t>
            </a:r>
          </a:p>
        </p:txBody>
      </p:sp>
      <p:sp>
        <p:nvSpPr>
          <p:cNvPr id="138" name="文本框 7"/>
          <p:cNvSpPr txBox="1"/>
          <p:nvPr/>
        </p:nvSpPr>
        <p:spPr>
          <a:xfrm>
            <a:off x="491471" y="3185160"/>
            <a:ext cx="539757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查找不同的x，如：x=68，x=167， x=78</a:t>
            </a:r>
          </a:p>
        </p:txBody>
      </p:sp>
      <p:sp>
        <p:nvSpPr>
          <p:cNvPr id="139" name="文本框 10"/>
          <p:cNvSpPr txBox="1"/>
          <p:nvPr/>
        </p:nvSpPr>
        <p:spPr>
          <a:xfrm>
            <a:off x="159297" y="4195478"/>
            <a:ext cx="7793038" cy="1159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    取最坏的情形： </a:t>
            </a:r>
            <a:r>
              <a:rPr>
                <a:solidFill>
                  <a:srgbClr val="FF0000"/>
                </a:solidFill>
              </a:rPr>
              <a:t>T</a:t>
            </a:r>
            <a:r>
              <a:rPr baseline="-25000">
                <a:solidFill>
                  <a:srgbClr val="FF0000"/>
                </a:solidFill>
              </a:rPr>
              <a:t>worst</a:t>
            </a:r>
            <a:endParaRPr>
              <a:solidFill>
                <a:srgbClr val="FF0000"/>
              </a:solidFill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一般的，算法的执行时间是问题规模的函数: T(n)</a:t>
            </a:r>
          </a:p>
        </p:txBody>
      </p:sp>
      <p:grpSp>
        <p:nvGrpSpPr>
          <p:cNvPr id="142" name="成组"/>
          <p:cNvGrpSpPr/>
          <p:nvPr/>
        </p:nvGrpSpPr>
        <p:grpSpPr>
          <a:xfrm>
            <a:off x="758505" y="1707326"/>
            <a:ext cx="7366001" cy="1625601"/>
            <a:chOff x="38100" y="38100"/>
            <a:chExt cx="7366000" cy="1625600"/>
          </a:xfrm>
        </p:grpSpPr>
        <p:graphicFrame>
          <p:nvGraphicFramePr>
            <p:cNvPr id="140" name="表格"/>
            <p:cNvGraphicFramePr/>
            <p:nvPr/>
          </p:nvGraphicFramePr>
          <p:xfrm>
            <a:off x="38100" y="876300"/>
            <a:ext cx="7366000" cy="787401"/>
          </p:xfrm>
          <a:graphic>
            <a:graphicData uri="http://schemas.openxmlformats.org/drawingml/2006/table">
              <a:tbl>
                <a:tblPr>
                  <a:tableStyleId>{8F44A2F1-9E1F-4B54-A3A2-5F16C0AD49E2}</a:tableStyleId>
                </a:tblPr>
                <a:tblGrid>
                  <a:gridCol w="9207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a[0]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a[1]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a[2]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a[3]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a[4]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a[5]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a[6]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a[7]</a:t>
                        </a:r>
                      </a:p>
                    </a:txBody>
                    <a:tcPr marL="50800" marR="50800" marT="50800" marB="50800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41" name="表格"/>
            <p:cNvGraphicFramePr/>
            <p:nvPr/>
          </p:nvGraphicFramePr>
          <p:xfrm>
            <a:off x="38100" y="38100"/>
            <a:ext cx="7366000" cy="787400"/>
          </p:xfrm>
          <a:graphic>
            <a:graphicData uri="http://schemas.openxmlformats.org/drawingml/2006/table">
              <a:tbl>
                <a:tblPr>
                  <a:tableStyleId>{8F44A2F1-9E1F-4B54-A3A2-5F16C0AD49E2}</a:tableStyleId>
                </a:tblPr>
                <a:tblGrid>
                  <a:gridCol w="9207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9207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68</a:t>
                        </a:r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56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179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81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167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112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90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algn="ctr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>
                            <a:uFillTx/>
                          </a:defRPr>
                        </a:pPr>
                        <a:r>
                          <a:rPr sz="2800"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</a:rPr>
                          <a:t>78</a:t>
                        </a:r>
                      </a:p>
                    </a:txBody>
                    <a:tcPr marL="50800" marR="50800" marT="50800" marB="50800" anchor="ctr" horzOverflow="overflow"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1" animBg="1" advAuto="0"/>
      <p:bldP spid="137" grpId="5" animBg="1" advAuto="0"/>
      <p:bldP spid="138" grpId="3" animBg="1" advAuto="0"/>
      <p:bldP spid="139" grpId="4" animBg="1" advAuto="0"/>
      <p:bldP spid="142" grpId="2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算法分析</a:t>
            </a:r>
          </a:p>
        </p:txBody>
      </p:sp>
      <p:sp>
        <p:nvSpPr>
          <p:cNvPr id="147" name="算法分析：对算法的执行时间和需要的…"/>
          <p:cNvSpPr txBox="1"/>
          <p:nvPr/>
        </p:nvSpPr>
        <p:spPr>
          <a:xfrm>
            <a:off x="201586" y="1363662"/>
            <a:ext cx="8709078" cy="1123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算法分析：对算法的执行时间和需要的存储空间进行</a:t>
            </a:r>
            <a:r>
              <a:rPr>
                <a:solidFill>
                  <a:srgbClr val="FF0000"/>
                </a:solidFill>
              </a:rPr>
              <a:t>定性分析</a:t>
            </a:r>
            <a:r>
              <a:t>，以比较算法、改进算法。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执行时间模型</a:t>
            </a:r>
          </a:p>
        </p:txBody>
      </p:sp>
      <p:sp>
        <p:nvSpPr>
          <p:cNvPr id="150" name="1、任何一个算法都是由有限个基本运算（算术运算、逻辑运算、赋值运算等）组成。"/>
          <p:cNvSpPr txBox="1"/>
          <p:nvPr/>
        </p:nvSpPr>
        <p:spPr>
          <a:xfrm>
            <a:off x="187230" y="1156912"/>
            <a:ext cx="6907736" cy="101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marR="0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每条指令的执行时间为1个时间单位</a:t>
            </a:r>
          </a:p>
          <a:p>
            <a:pPr marL="342900" marR="0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程序的执行时间 = 指令的条数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执行时间模型</a:t>
            </a:r>
          </a:p>
        </p:txBody>
      </p:sp>
      <p:sp>
        <p:nvSpPr>
          <p:cNvPr id="153" name="1、任何一个算法都是由有限个基本运算（算术运算、逻辑运算、赋值运算等）组成。"/>
          <p:cNvSpPr txBox="1"/>
          <p:nvPr/>
        </p:nvSpPr>
        <p:spPr>
          <a:xfrm>
            <a:off x="352976" y="1066800"/>
            <a:ext cx="5106857" cy="351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假设基本的指令为：</a:t>
            </a:r>
          </a:p>
          <a:p>
            <a:pPr marL="800100" marR="0" lvl="1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算术运算</a:t>
            </a:r>
          </a:p>
          <a:p>
            <a:pPr marL="800100" marR="0" lvl="1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比较运算</a:t>
            </a:r>
          </a:p>
          <a:p>
            <a:pPr marL="800100" marR="0" lvl="1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逻辑运算</a:t>
            </a:r>
          </a:p>
          <a:p>
            <a:pPr marL="800100" marR="0" lvl="1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赋值运算</a:t>
            </a:r>
          </a:p>
          <a:p>
            <a:pPr marL="800100" marR="0" lvl="1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移位运算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每条指令的执行时间为1个单位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1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56" name="问题规模n：数据的个数…"/>
          <p:cNvSpPr txBox="1"/>
          <p:nvPr/>
        </p:nvSpPr>
        <p:spPr>
          <a:xfrm>
            <a:off x="1381541" y="4773925"/>
            <a:ext cx="1736279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3n + 2</a:t>
            </a:r>
          </a:p>
        </p:txBody>
      </p:sp>
      <p:sp>
        <p:nvSpPr>
          <p:cNvPr id="157" name="public int sequentialSearch(int a[],int x){…"/>
          <p:cNvSpPr txBox="1"/>
          <p:nvPr/>
        </p:nvSpPr>
        <p:spPr>
          <a:xfrm>
            <a:off x="112530" y="1262042"/>
            <a:ext cx="8167341" cy="2455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 int</a:t>
            </a:r>
            <a:r>
              <a:rPr>
                <a:solidFill>
                  <a:srgbClr val="000000"/>
                </a:solidFill>
              </a:rPr>
              <a:t> sequentialSearch(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[],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i++</a:t>
            </a:r>
            <a:r>
              <a:t>){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58" name="文本框 2"/>
          <p:cNvSpPr txBox="1"/>
          <p:nvPr/>
        </p:nvSpPr>
        <p:spPr>
          <a:xfrm>
            <a:off x="495153" y="4264745"/>
            <a:ext cx="45008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问题的规模：数据的个数，记为n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2" animBg="1" advAuto="0"/>
      <p:bldP spid="158" grpId="1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63" name="public int binarySearch(int a[], int x){…"/>
          <p:cNvSpPr txBox="1"/>
          <p:nvPr/>
        </p:nvSpPr>
        <p:spPr>
          <a:xfrm>
            <a:off x="101487" y="1133570"/>
            <a:ext cx="7710067" cy="4512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 int</a:t>
            </a:r>
            <a:r>
              <a:rPr>
                <a:solidFill>
                  <a:srgbClr val="000000"/>
                </a:solidFill>
              </a:rPr>
              <a:t> binarySearch(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[],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0,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 </a:t>
            </a:r>
            <a:r>
              <a:t>- 1;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j</a:t>
            </a:r>
            <a:r>
              <a:t>){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i + ((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</a:t>
            </a:r>
            <a:r>
              <a:t>) &gt;&gt;&gt; 1);</a:t>
            </a:r>
            <a:endParaRPr>
              <a:solidFill>
                <a:srgbClr val="4E9072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a[p]</a:t>
            </a:r>
            <a:r>
              <a:t>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- 1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x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ap</a:t>
            </a:r>
            <a:r>
              <a:t>)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+ 1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  <p:sp>
        <p:nvSpPr>
          <p:cNvPr id="164" name="文本框 7"/>
          <p:cNvSpPr txBox="1"/>
          <p:nvPr/>
        </p:nvSpPr>
        <p:spPr>
          <a:xfrm>
            <a:off x="399719" y="5909883"/>
            <a:ext cx="19100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每循环1次：9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67" name="文本框 2"/>
          <p:cNvSpPr txBox="1"/>
          <p:nvPr/>
        </p:nvSpPr>
        <p:spPr>
          <a:xfrm>
            <a:off x="73478" y="1037227"/>
            <a:ext cx="6482081" cy="111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solidFill>
                  <a:srgbClr val="FF0000"/>
                </a:solidFill>
                <a:uFillTx/>
              </a:defRPr>
            </a:pPr>
            <a:r>
              <a:t>循环多少次？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分析一个特殊情形，假设查找区间的数据个数：</a:t>
            </a:r>
          </a:p>
        </p:txBody>
      </p:sp>
      <p:sp>
        <p:nvSpPr>
          <p:cNvPr id="168" name="2m-1"/>
          <p:cNvSpPr txBox="1"/>
          <p:nvPr/>
        </p:nvSpPr>
        <p:spPr>
          <a:xfrm>
            <a:off x="623952" y="2689206"/>
            <a:ext cx="2362201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2</a:t>
            </a:r>
            <a:r>
              <a:rPr baseline="29998"/>
              <a:t>m-1</a:t>
            </a:r>
          </a:p>
        </p:txBody>
      </p:sp>
      <p:sp>
        <p:nvSpPr>
          <p:cNvPr id="169" name="2m-2"/>
          <p:cNvSpPr txBox="1"/>
          <p:nvPr/>
        </p:nvSpPr>
        <p:spPr>
          <a:xfrm>
            <a:off x="623952" y="3202366"/>
            <a:ext cx="2362201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2</a:t>
            </a:r>
            <a:r>
              <a:rPr baseline="29998"/>
              <a:t>m-2</a:t>
            </a:r>
          </a:p>
        </p:txBody>
      </p:sp>
      <p:sp>
        <p:nvSpPr>
          <p:cNvPr id="170" name="……"/>
          <p:cNvSpPr txBox="1"/>
          <p:nvPr/>
        </p:nvSpPr>
        <p:spPr>
          <a:xfrm>
            <a:off x="623952" y="3633372"/>
            <a:ext cx="1106065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     ……</a:t>
            </a:r>
          </a:p>
        </p:txBody>
      </p:sp>
      <p:sp>
        <p:nvSpPr>
          <p:cNvPr id="171" name="22"/>
          <p:cNvSpPr txBox="1"/>
          <p:nvPr/>
        </p:nvSpPr>
        <p:spPr>
          <a:xfrm>
            <a:off x="623952" y="4120338"/>
            <a:ext cx="2362201" cy="406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2</a:t>
            </a:r>
            <a:r>
              <a:rPr baseline="29998"/>
              <a:t>2</a:t>
            </a:r>
          </a:p>
        </p:txBody>
      </p:sp>
      <p:sp>
        <p:nvSpPr>
          <p:cNvPr id="172" name="21"/>
          <p:cNvSpPr txBox="1"/>
          <p:nvPr/>
        </p:nvSpPr>
        <p:spPr>
          <a:xfrm>
            <a:off x="623952" y="4552535"/>
            <a:ext cx="2362201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2</a:t>
            </a:r>
            <a:r>
              <a:rPr baseline="29998"/>
              <a:t>1</a:t>
            </a:r>
          </a:p>
        </p:txBody>
      </p:sp>
      <p:sp>
        <p:nvSpPr>
          <p:cNvPr id="173" name="20"/>
          <p:cNvSpPr txBox="1"/>
          <p:nvPr/>
        </p:nvSpPr>
        <p:spPr>
          <a:xfrm>
            <a:off x="623952" y="4983541"/>
            <a:ext cx="2362201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2</a:t>
            </a:r>
            <a:r>
              <a:rPr baseline="29998"/>
              <a:t>0</a:t>
            </a:r>
          </a:p>
        </p:txBody>
      </p:sp>
      <p:grpSp>
        <p:nvGrpSpPr>
          <p:cNvPr id="177" name="组合 3"/>
          <p:cNvGrpSpPr/>
          <p:nvPr/>
        </p:nvGrpSpPr>
        <p:grpSpPr>
          <a:xfrm>
            <a:off x="373407" y="2241550"/>
            <a:ext cx="3618941" cy="1441517"/>
            <a:chOff x="0" y="31560"/>
            <a:chExt cx="3618940" cy="1441515"/>
          </a:xfrm>
        </p:grpSpPr>
        <p:sp>
          <p:nvSpPr>
            <p:cNvPr id="174" name="2m          即m = log2n"/>
            <p:cNvSpPr/>
            <p:nvPr/>
          </p:nvSpPr>
          <p:spPr>
            <a:xfrm>
              <a:off x="590771" y="31560"/>
              <a:ext cx="302817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/>
            <a:p>
              <a:pPr marL="0" marR="0">
                <a:spcBef>
                  <a:spcPts val="0"/>
                </a:spcBef>
                <a:defRPr sz="2400">
                  <a:uFillTx/>
                </a:defRPr>
              </a:pPr>
              <a:r>
                <a:t>2</a:t>
              </a:r>
              <a:r>
                <a:rPr baseline="29998"/>
                <a:t>m          </a:t>
              </a:r>
              <a:r>
                <a:t>即m = </a:t>
              </a:r>
              <a:r>
                <a:rPr>
                  <a:uFill>
                    <a:solidFill>
                      <a:srgbClr val="F81F08"/>
                    </a:solidFill>
                  </a:uFill>
                </a:rPr>
                <a:t>log</a:t>
              </a:r>
              <a:r>
                <a:rPr baseline="-25000">
                  <a:uFill>
                    <a:solidFill>
                      <a:srgbClr val="F81F08"/>
                    </a:solidFill>
                  </a:uFill>
                </a:rPr>
                <a:t>2</a:t>
              </a:r>
              <a:r>
                <a:rPr>
                  <a:uFill>
                    <a:solidFill>
                      <a:srgbClr val="F81F08"/>
                    </a:solidFill>
                  </a:uFill>
                </a:rPr>
                <a:t>n</a:t>
              </a:r>
            </a:p>
          </p:txBody>
        </p:sp>
        <p:sp>
          <p:nvSpPr>
            <p:cNvPr id="175" name="n"/>
            <p:cNvSpPr/>
            <p:nvPr/>
          </p:nvSpPr>
          <p:spPr>
            <a:xfrm>
              <a:off x="0" y="20307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0" marR="0">
                <a:spcBef>
                  <a:spcPts val="0"/>
                </a:spcBef>
                <a:defRPr sz="2400">
                  <a:uFillTx/>
                </a:defRPr>
              </a:lvl1pPr>
            </a:lstStyle>
            <a:p>
              <a:r>
                <a:t>n</a:t>
              </a:r>
            </a:p>
          </p:txBody>
        </p:sp>
        <p:sp>
          <p:nvSpPr>
            <p:cNvPr id="176" name="线条"/>
            <p:cNvSpPr/>
            <p:nvPr/>
          </p:nvSpPr>
          <p:spPr>
            <a:xfrm>
              <a:off x="257291" y="222961"/>
              <a:ext cx="32861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pPr marL="0" marR="0">
                <a:spcBef>
                  <a:spcPts val="0"/>
                </a:spcBef>
                <a:defRPr sz="1800"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78" name="线条"/>
          <p:cNvSpPr/>
          <p:nvPr/>
        </p:nvSpPr>
        <p:spPr>
          <a:xfrm>
            <a:off x="630699" y="2899676"/>
            <a:ext cx="328614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9" name="线条"/>
          <p:cNvSpPr/>
          <p:nvPr/>
        </p:nvSpPr>
        <p:spPr>
          <a:xfrm>
            <a:off x="630699" y="3865958"/>
            <a:ext cx="32861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0" name="线条"/>
          <p:cNvSpPr/>
          <p:nvPr/>
        </p:nvSpPr>
        <p:spPr>
          <a:xfrm>
            <a:off x="630699" y="3403343"/>
            <a:ext cx="328614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1" name="线条"/>
          <p:cNvSpPr/>
          <p:nvPr/>
        </p:nvSpPr>
        <p:spPr>
          <a:xfrm>
            <a:off x="630699" y="4750178"/>
            <a:ext cx="328614" cy="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2" name="m + 1次，即  log2n + 1"/>
          <p:cNvSpPr txBox="1"/>
          <p:nvPr/>
        </p:nvSpPr>
        <p:spPr>
          <a:xfrm>
            <a:off x="1755367" y="3614932"/>
            <a:ext cx="2989661" cy="515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solidFill>
                  <a:srgbClr val="FF0000"/>
                </a:solidFill>
                <a:uFillTx/>
              </a:defRPr>
            </a:pPr>
            <a:r>
              <a:t>m + 1</a:t>
            </a:r>
            <a:r>
              <a:rPr>
                <a:solidFill>
                  <a:srgbClr val="000000"/>
                </a:solidFill>
              </a:rPr>
              <a:t>次，即  </a:t>
            </a:r>
            <a:r>
              <a:rPr>
                <a:solidFill>
                  <a:srgbClr val="000000"/>
                </a:solidFill>
                <a:uFill>
                  <a:solidFill>
                    <a:srgbClr val="F81F08"/>
                  </a:solidFill>
                </a:uFill>
              </a:rPr>
              <a:t>log</a:t>
            </a:r>
            <a:r>
              <a:rPr baseline="-25000">
                <a:solidFill>
                  <a:srgbClr val="000000"/>
                </a:solidFill>
                <a:uFill>
                  <a:solidFill>
                    <a:srgbClr val="F81F08"/>
                  </a:solidFill>
                </a:uFill>
              </a:rPr>
              <a:t>2</a:t>
            </a:r>
            <a:r>
              <a:rPr>
                <a:solidFill>
                  <a:srgbClr val="000000"/>
                </a:solidFill>
                <a:uFill>
                  <a:solidFill>
                    <a:srgbClr val="F81F08"/>
                  </a:solidFill>
                </a:uFill>
              </a:rPr>
              <a:t>n + 1</a:t>
            </a:r>
          </a:p>
        </p:txBody>
      </p:sp>
      <p:sp>
        <p:nvSpPr>
          <p:cNvPr id="183" name="线条"/>
          <p:cNvSpPr/>
          <p:nvPr/>
        </p:nvSpPr>
        <p:spPr>
          <a:xfrm>
            <a:off x="649749" y="4304108"/>
            <a:ext cx="32861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4" name="线条"/>
          <p:cNvSpPr/>
          <p:nvPr/>
        </p:nvSpPr>
        <p:spPr>
          <a:xfrm>
            <a:off x="630699" y="5172437"/>
            <a:ext cx="32861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T(n) = 6(⎣log2n⎦ + 1) + 2"/>
              <p:cNvSpPr txBox="1"/>
              <p:nvPr/>
            </p:nvSpPr>
            <p:spPr>
              <a:xfrm>
                <a:off x="2086149" y="4773369"/>
                <a:ext cx="3342654" cy="6777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38100" tIns="38100" rIns="38100" bIns="38100">
                <a:spAutoFit/>
              </a:bodyPr>
              <a:lstStyle/>
              <a:p>
                <a:pPr marL="0" marR="0">
                  <a:spcBef>
                    <a:spcPts val="0"/>
                  </a:spcBef>
                  <a:defRPr sz="2400">
                    <a:uFillTx/>
                  </a:defRPr>
                </a:pPr>
                <a:r>
                  <a:t>T(n) = </a:t>
                </a:r>
                <a14:m>
                  <m:oMath xmlns:m="http://schemas.openxmlformats.org/officeDocument/2006/math">
                    <m:r>
                      <a:rPr sz="2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sz="255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sz="255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sz="255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  <m:r>
                          <a:rPr sz="2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>
                    <a:latin typeface="Arial"/>
                    <a:ea typeface="Arial"/>
                    <a:cs typeface="Arial"/>
                    <a:sym typeface="Arial"/>
                  </a:rPr>
                  <a:t> + 4</a:t>
                </a:r>
              </a:p>
            </p:txBody>
          </p:sp>
        </mc:Choice>
        <mc:Fallback>
          <p:sp>
            <p:nvSpPr>
              <p:cNvPr id="185" name="T(n) = 6(⎣log2n⎦ + 1) +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49" y="4773369"/>
                <a:ext cx="3342654" cy="677719"/>
              </a:xfrm>
              <a:prstGeom prst="rect">
                <a:avLst/>
              </a:prstGeom>
              <a:blipFill>
                <a:blip r:embed="rId2"/>
                <a:stretch>
                  <a:fillRect l="-4372" t="-6306" r="-455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1" animBg="1" advAuto="0"/>
      <p:bldP spid="168" grpId="3" animBg="1" advAuto="0"/>
      <p:bldP spid="169" grpId="4" animBg="1" advAuto="0"/>
      <p:bldP spid="170" grpId="5" animBg="1" advAuto="0"/>
      <p:bldP spid="171" grpId="6" animBg="1" advAuto="0"/>
      <p:bldP spid="172" grpId="7" animBg="1" advAuto="0"/>
      <p:bldP spid="173" grpId="8" animBg="1" advAuto="0"/>
      <p:bldP spid="177" grpId="2" animBg="1" advAuto="0"/>
      <p:bldP spid="178" grpId="9" animBg="1" advAuto="0"/>
      <p:bldP spid="179" grpId="10" animBg="1" advAuto="0"/>
      <p:bldP spid="180" grpId="11" animBg="1" advAuto="0"/>
      <p:bldP spid="181" grpId="12" animBg="1" advAuto="0"/>
      <p:bldP spid="182" grpId="13" animBg="1" advAuto="0"/>
      <p:bldP spid="183" grpId="14" animBg="1" advAuto="0"/>
      <p:bldP spid="184" grpId="15" animBg="1" advAuto="0"/>
      <p:bldP spid="185" grpId="16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88" name="T(n) = 3(n-1) + 3= 3n"/>
          <p:cNvSpPr txBox="1"/>
          <p:nvPr/>
        </p:nvSpPr>
        <p:spPr>
          <a:xfrm>
            <a:off x="665578" y="4909626"/>
            <a:ext cx="3937745" cy="109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T(n) = 4(n-1) + 4 = 4n   if n ≥ 1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endParaRPr/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T(0) = 1;</a:t>
            </a:r>
          </a:p>
        </p:txBody>
      </p:sp>
      <p:sp>
        <p:nvSpPr>
          <p:cNvPr id="189" name="public int factorial (int n){…"/>
          <p:cNvSpPr txBox="1"/>
          <p:nvPr/>
        </p:nvSpPr>
        <p:spPr>
          <a:xfrm>
            <a:off x="95152" y="932440"/>
            <a:ext cx="6749791" cy="36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long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(n == 0)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long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rPr>
                <a:solidFill>
                  <a:srgbClr val="000000"/>
                </a:solidFill>
              </a:rPr>
              <a:t> =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2;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i++</a:t>
            </a:r>
            <a:r>
              <a:t>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f</a:t>
            </a:r>
            <a:r>
              <a:t> *=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t>;	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90" name="文本框 2"/>
          <p:cNvSpPr txBox="1"/>
          <p:nvPr/>
        </p:nvSpPr>
        <p:spPr>
          <a:xfrm>
            <a:off x="382632" y="4496707"/>
            <a:ext cx="20624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问题的规模：n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2" animBg="1" advAuto="0"/>
      <p:bldP spid="190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93" name="T(0) = 2…"/>
          <p:cNvSpPr txBox="1"/>
          <p:nvPr/>
        </p:nvSpPr>
        <p:spPr>
          <a:xfrm>
            <a:off x="413480" y="4144077"/>
            <a:ext cx="2907259" cy="1542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递推式：</a:t>
            </a:r>
          </a:p>
          <a:p>
            <a:pPr marL="0" marR="0" lvl="1" indent="45720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T(0) = 1</a:t>
            </a:r>
          </a:p>
          <a:p>
            <a:pPr marL="0" marR="0" lvl="1" indent="45720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T(n) = T(n - 1)  + 2</a:t>
            </a:r>
          </a:p>
        </p:txBody>
      </p:sp>
      <p:sp>
        <p:nvSpPr>
          <p:cNvPr id="194" name="public int factorial (int n){…"/>
          <p:cNvSpPr txBox="1"/>
          <p:nvPr/>
        </p:nvSpPr>
        <p:spPr>
          <a:xfrm>
            <a:off x="132258" y="1182240"/>
            <a:ext cx="7313762" cy="248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long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0)	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* factorial(</a:t>
            </a:r>
            <a:r>
              <a:rPr>
                <a:solidFill>
                  <a:srgbClr val="7E504F"/>
                </a:solidFill>
              </a:rPr>
              <a:t>n</a:t>
            </a:r>
            <a:r>
              <a:t>-1);	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197" name="T(0) = 2…"/>
          <p:cNvSpPr txBox="1"/>
          <p:nvPr/>
        </p:nvSpPr>
        <p:spPr>
          <a:xfrm>
            <a:off x="423466" y="1180499"/>
            <a:ext cx="2450059" cy="914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T(0) = 1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T(n) = T(n - 1)  + 2</a:t>
            </a:r>
          </a:p>
        </p:txBody>
      </p:sp>
      <p:sp>
        <p:nvSpPr>
          <p:cNvPr id="198" name="T(n) = T(n - 1) + 1…"/>
          <p:cNvSpPr txBox="1"/>
          <p:nvPr/>
        </p:nvSpPr>
        <p:spPr>
          <a:xfrm>
            <a:off x="419310" y="2348271"/>
            <a:ext cx="5061844" cy="2859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T(n) = T(n - 1) + 2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= (T(n-2) + 2) + 2 = T(n-2) + 2×2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= (T(n-3) + 2) + 2×2= T(n-3) + 3×2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....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= T(1) + (n - 1)×2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= (T(0) + 2)+ (n - 1)×2</a:t>
            </a:r>
          </a:p>
          <a:p>
            <a:pPr marL="0" marR="0" defTabSz="321467">
              <a:lnSpc>
                <a:spcPct val="120000"/>
              </a:lnSpc>
              <a:spcBef>
                <a:spcPts val="0"/>
              </a:spcBef>
              <a:defRPr sz="2400">
                <a:uFillTx/>
              </a:defRPr>
            </a:pPr>
            <a:r>
              <a:t>        = 1 + 2n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201" name="反映汉诺塔盘子移动过程中，每个塔上盘子的分布情况"/>
          <p:cNvSpPr txBox="1"/>
          <p:nvPr/>
        </p:nvSpPr>
        <p:spPr>
          <a:xfrm>
            <a:off x="88354" y="1242949"/>
            <a:ext cx="1648077" cy="47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8" tIns="26788" rIns="26788" bIns="26788">
            <a:spAutoFit/>
          </a:bodyPr>
          <a:lstStyle/>
          <a:p>
            <a:pPr marL="0" marR="57798" indent="57798" defTabSz="1295400">
              <a:spcBef>
                <a:spcPts val="1900"/>
              </a:spcBef>
              <a:defRPr sz="2400">
                <a:uFillTx/>
              </a:defRPr>
            </a:pPr>
            <a:r>
              <a:t>汉诺塔问题</a:t>
            </a:r>
          </a:p>
        </p:txBody>
      </p:sp>
      <p:pic>
        <p:nvPicPr>
          <p:cNvPr id="202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9" y="2012255"/>
            <a:ext cx="4735690" cy="13461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205" name="public void move(int x, int y, int z) {…"/>
          <p:cNvSpPr txBox="1"/>
          <p:nvPr/>
        </p:nvSpPr>
        <p:spPr>
          <a:xfrm>
            <a:off x="56769" y="1171241"/>
            <a:ext cx="8799904" cy="3027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void</a:t>
            </a:r>
            <a:r>
              <a:t> hanoi(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, 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y</a:t>
            </a:r>
            <a:r>
              <a:t>, 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z</a:t>
            </a:r>
            <a:r>
              <a:t>) {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1)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move(</a:t>
            </a:r>
            <a:r>
              <a:rPr>
                <a:solidFill>
                  <a:srgbClr val="7E504F"/>
                </a:solidFill>
              </a:rPr>
              <a:t>x</a:t>
            </a:r>
            <a:r>
              <a:t>, 1, </a:t>
            </a:r>
            <a:r>
              <a:rPr>
                <a:solidFill>
                  <a:srgbClr val="7E504F"/>
                </a:solidFill>
              </a:rPr>
              <a:t>z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hanoi(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- 1, 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7E504F"/>
                </a:solidFill>
              </a:rPr>
              <a:t>z</a:t>
            </a:r>
            <a:r>
              <a:t>, </a:t>
            </a:r>
            <a:r>
              <a:rPr>
                <a:solidFill>
                  <a:srgbClr val="7E504F"/>
                </a:solidFill>
              </a:rPr>
              <a:t>y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move(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t>, </a:t>
            </a:r>
            <a:r>
              <a:rPr>
                <a:solidFill>
                  <a:srgbClr val="7E504F"/>
                </a:solidFill>
              </a:rPr>
              <a:t>z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hanoi(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- 1, </a:t>
            </a:r>
            <a:r>
              <a:rPr>
                <a:solidFill>
                  <a:srgbClr val="7E504F"/>
                </a:solidFill>
              </a:rPr>
              <a:t>y</a:t>
            </a:r>
            <a:r>
              <a:t>, 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7E504F"/>
                </a:solidFill>
              </a:rPr>
              <a:t>z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06" name="分析程序：            T(1)=1…"/>
          <p:cNvSpPr txBox="1"/>
          <p:nvPr/>
        </p:nvSpPr>
        <p:spPr>
          <a:xfrm>
            <a:off x="453160" y="4363952"/>
            <a:ext cx="5724527" cy="2197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问题的规模：n</a:t>
            </a:r>
          </a:p>
          <a:p>
            <a:pPr marL="0" marR="0" lvl="1" indent="45720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假设move方法的用时为1个时间单位： </a:t>
            </a:r>
          </a:p>
          <a:p>
            <a:pPr marL="0" marR="0" lvl="1" indent="45720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T(1) = 2</a:t>
            </a:r>
          </a:p>
          <a:p>
            <a:pPr marL="0" marR="0" lvl="1" indent="45720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T(n) = 2T(n -1) + 2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1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执行时间的计算</a:t>
            </a:r>
          </a:p>
        </p:txBody>
      </p:sp>
      <p:sp>
        <p:nvSpPr>
          <p:cNvPr id="209" name="T(n)=2T(n-1) + 1"/>
          <p:cNvSpPr txBox="1"/>
          <p:nvPr/>
        </p:nvSpPr>
        <p:spPr>
          <a:xfrm>
            <a:off x="361950" y="1134151"/>
            <a:ext cx="3152775" cy="406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2T(n-1) + 2</a:t>
            </a:r>
          </a:p>
        </p:txBody>
      </p:sp>
      <p:sp>
        <p:nvSpPr>
          <p:cNvPr id="210" name="=2(2T(n-2)+1)+1=22T(n-2) + 2 + 1"/>
          <p:cNvSpPr txBox="1"/>
          <p:nvPr/>
        </p:nvSpPr>
        <p:spPr>
          <a:xfrm>
            <a:off x="857250" y="1673901"/>
            <a:ext cx="7530549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 2(2T(n-2)+2)+2=2</a:t>
            </a:r>
            <a:r>
              <a:rPr baseline="29998"/>
              <a:t>2</a:t>
            </a:r>
            <a:r>
              <a:t>T(n-2) + 2</a:t>
            </a:r>
            <a:r>
              <a:rPr baseline="31999"/>
              <a:t>2</a:t>
            </a:r>
            <a:r>
              <a:t> + 2</a:t>
            </a:r>
          </a:p>
        </p:txBody>
      </p:sp>
      <p:sp>
        <p:nvSpPr>
          <p:cNvPr id="211" name="=22(2T(n-3) +1) + 2 + 1=23T(n-3) + 22 + 2 +1"/>
          <p:cNvSpPr txBox="1"/>
          <p:nvPr/>
        </p:nvSpPr>
        <p:spPr>
          <a:xfrm>
            <a:off x="857250" y="2156501"/>
            <a:ext cx="6806805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 2</a:t>
            </a:r>
            <a:r>
              <a:rPr baseline="29998"/>
              <a:t>2</a:t>
            </a:r>
            <a:r>
              <a:t>(2T(n-3) +2) + 2</a:t>
            </a:r>
            <a:r>
              <a:rPr baseline="31999"/>
              <a:t>2</a:t>
            </a:r>
            <a:r>
              <a:t> + 2=2</a:t>
            </a:r>
            <a:r>
              <a:rPr baseline="29998"/>
              <a:t>3</a:t>
            </a:r>
            <a:r>
              <a:t>T(n-3) + 2</a:t>
            </a:r>
            <a:r>
              <a:rPr baseline="29998"/>
              <a:t>3</a:t>
            </a:r>
            <a:r>
              <a:t> + 2</a:t>
            </a:r>
            <a:r>
              <a:rPr baseline="31999"/>
              <a:t>2</a:t>
            </a:r>
            <a:r>
              <a:t> +2</a:t>
            </a:r>
          </a:p>
        </p:txBody>
      </p:sp>
      <p:sp>
        <p:nvSpPr>
          <p:cNvPr id="212" name="=……"/>
          <p:cNvSpPr txBox="1"/>
          <p:nvPr/>
        </p:nvSpPr>
        <p:spPr>
          <a:xfrm>
            <a:off x="857250" y="2597381"/>
            <a:ext cx="4124325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=……</a:t>
            </a:r>
          </a:p>
        </p:txBody>
      </p:sp>
      <p:sp>
        <p:nvSpPr>
          <p:cNvPr id="213" name="=2n-1T(1)+2n-2+…+2+1= 2n-1+2n-2+…+2+1"/>
          <p:cNvSpPr txBox="1"/>
          <p:nvPr/>
        </p:nvSpPr>
        <p:spPr>
          <a:xfrm>
            <a:off x="857250" y="3107366"/>
            <a:ext cx="6003037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=2</a:t>
            </a:r>
            <a:r>
              <a:rPr baseline="29998"/>
              <a:t>n-1</a:t>
            </a:r>
            <a:r>
              <a:t>T(1)+2</a:t>
            </a:r>
            <a:r>
              <a:rPr baseline="29998"/>
              <a:t>n-1</a:t>
            </a:r>
            <a:r>
              <a:t>+…+2</a:t>
            </a:r>
            <a:r>
              <a:rPr baseline="31999"/>
              <a:t>2</a:t>
            </a:r>
            <a:r>
              <a:t>+2= 2(2</a:t>
            </a:r>
            <a:r>
              <a:rPr baseline="29998"/>
              <a:t>n-1</a:t>
            </a:r>
            <a:r>
              <a:t>+2</a:t>
            </a:r>
            <a:r>
              <a:rPr baseline="29998"/>
              <a:t>n-2</a:t>
            </a:r>
            <a:r>
              <a:t>+…+2+1)      </a:t>
            </a:r>
          </a:p>
        </p:txBody>
      </p:sp>
      <p:sp>
        <p:nvSpPr>
          <p:cNvPr id="214" name="=2n-1"/>
          <p:cNvSpPr txBox="1"/>
          <p:nvPr/>
        </p:nvSpPr>
        <p:spPr>
          <a:xfrm>
            <a:off x="857250" y="3575281"/>
            <a:ext cx="2867025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=2(2</a:t>
            </a:r>
            <a:r>
              <a:rPr baseline="29998"/>
              <a:t>n</a:t>
            </a:r>
            <a:r>
              <a:t>-1) = 2</a:t>
            </a:r>
            <a:r>
              <a:rPr baseline="31999"/>
              <a:t>n+1</a:t>
            </a:r>
            <a:r>
              <a:t> -2</a:t>
            </a:r>
          </a:p>
        </p:txBody>
      </p:sp>
      <p:sp>
        <p:nvSpPr>
          <p:cNvPr id="215" name="=2n-1T(1)+2n-2+…+2+1= 2n-1+2n-2+…+2+1"/>
          <p:cNvSpPr txBox="1"/>
          <p:nvPr/>
        </p:nvSpPr>
        <p:spPr>
          <a:xfrm>
            <a:off x="857250" y="4368878"/>
            <a:ext cx="5038725" cy="46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2</a:t>
            </a:r>
            <a:r>
              <a:rPr baseline="29998"/>
              <a:t>n-1</a:t>
            </a:r>
            <a:r>
              <a:t>+2</a:t>
            </a:r>
            <a:r>
              <a:rPr baseline="29998"/>
              <a:t>n-2</a:t>
            </a:r>
            <a:r>
              <a:t>+…+2+1    = (111......11)</a:t>
            </a:r>
            <a:r>
              <a:rPr baseline="-25000"/>
              <a:t>2</a:t>
            </a:r>
            <a:r>
              <a:t>  </a:t>
            </a:r>
          </a:p>
        </p:txBody>
      </p:sp>
      <p:sp>
        <p:nvSpPr>
          <p:cNvPr id="216" name="=2n-1T(1)+2n-2+…+2+1= 2n-1+2n-2+…+2+1"/>
          <p:cNvSpPr txBox="1"/>
          <p:nvPr/>
        </p:nvSpPr>
        <p:spPr>
          <a:xfrm>
            <a:off x="844185" y="5153376"/>
            <a:ext cx="7124511" cy="12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(2</a:t>
            </a:r>
            <a:r>
              <a:rPr baseline="29998"/>
              <a:t>n-1</a:t>
            </a:r>
            <a:r>
              <a:t>+2</a:t>
            </a:r>
            <a:r>
              <a:rPr baseline="29998"/>
              <a:t>n-2</a:t>
            </a:r>
            <a:r>
              <a:t>+…+2+1) + 1    = (111......11)</a:t>
            </a:r>
            <a:r>
              <a:rPr baseline="-25000"/>
              <a:t>2</a:t>
            </a:r>
            <a:r>
              <a:t> + (1)</a:t>
            </a:r>
            <a:r>
              <a:rPr baseline="-25000"/>
              <a:t>2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                                  = (1000......00)</a:t>
            </a:r>
            <a:r>
              <a:rPr baseline="-25000"/>
              <a:t>2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                                  = 2</a:t>
            </a:r>
            <a:r>
              <a:rPr baseline="29998"/>
              <a:t>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1" animBg="1" advAuto="0"/>
      <p:bldP spid="210" grpId="2" animBg="1" advAuto="0"/>
      <p:bldP spid="211" grpId="3" animBg="1" advAuto="0"/>
      <p:bldP spid="212" grpId="4" animBg="1" advAuto="0"/>
      <p:bldP spid="213" grpId="5" animBg="1" advAuto="0"/>
      <p:bldP spid="214" grpId="6" animBg="1" advAuto="0"/>
      <p:bldP spid="215" grpId="7" animBg="1" advAuto="0"/>
      <p:bldP spid="216" grpId="8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执行时间的比较</a:t>
            </a:r>
          </a:p>
        </p:txBody>
      </p:sp>
      <p:sp>
        <p:nvSpPr>
          <p:cNvPr id="221" name="两个算法哪个速度快呢？"/>
          <p:cNvSpPr txBox="1"/>
          <p:nvPr/>
        </p:nvSpPr>
        <p:spPr>
          <a:xfrm>
            <a:off x="114027" y="1526862"/>
            <a:ext cx="580407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>
                  <a:solidFill>
                    <a:srgbClr val="F81F08"/>
                  </a:solidFill>
                </a:uFill>
              </a:defRPr>
            </a:pPr>
            <a:r>
              <a:t>以下的两个算法哪个用时少(速度快)？</a:t>
            </a:r>
          </a:p>
        </p:txBody>
      </p:sp>
      <p:sp>
        <p:nvSpPr>
          <p:cNvPr id="222" name="T1(n) =3n+2"/>
          <p:cNvSpPr txBox="1"/>
          <p:nvPr/>
        </p:nvSpPr>
        <p:spPr>
          <a:xfrm>
            <a:off x="809625" y="2114072"/>
            <a:ext cx="3333750" cy="46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</a:t>
            </a:r>
            <a:r>
              <a:rPr baseline="-25000"/>
              <a:t>1</a:t>
            </a:r>
            <a:r>
              <a:t>(n) =3n + 2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2(n) =   + 4"/>
              <p:cNvSpPr txBox="1"/>
              <p:nvPr/>
            </p:nvSpPr>
            <p:spPr>
              <a:xfrm>
                <a:off x="789281" y="2670047"/>
                <a:ext cx="3425238" cy="7031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T</a:t>
                </a:r>
                <a:r>
                  <a:rPr sz="2300" baseline="-5999"/>
                  <a:t>2</a:t>
                </a:r>
                <a:r>
                  <a:t>(n) = </a:t>
                </a:r>
                <a14:m>
                  <m:oMath xmlns:m="http://schemas.openxmlformats.org/officeDocument/2006/math">
                    <m:r>
                      <a:rPr sz="2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sz="255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sz="255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sz="255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  <m:r>
                          <a:rPr sz="2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t> + 4</a:t>
                </a:r>
              </a:p>
            </p:txBody>
          </p:sp>
        </mc:Choice>
        <mc:Fallback>
          <p:sp>
            <p:nvSpPr>
              <p:cNvPr id="223" name="T2(n) =   +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81" y="2670047"/>
                <a:ext cx="3425238" cy="703120"/>
              </a:xfrm>
              <a:prstGeom prst="rect">
                <a:avLst/>
              </a:prstGeom>
              <a:blipFill>
                <a:blip r:embed="rId2"/>
                <a:stretch>
                  <a:fillRect l="-3915" r="-4093" b="-60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O的定义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1、任何一个算法都是由有限个基本运算（算术运算、逻辑运算、赋值运算等）组成。"/>
              <p:cNvSpPr txBox="1"/>
              <p:nvPr/>
            </p:nvSpPr>
            <p:spPr>
              <a:xfrm>
                <a:off x="206745" y="1200828"/>
                <a:ext cx="8133934" cy="22783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8100" tIns="38100" rIns="38100" bIns="38100">
                <a:spAutoFit/>
              </a:bodyPr>
              <a:lstStyle/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如果存在正常数c，存在n</a:t>
                </a:r>
                <a:r>
                  <a:rPr baseline="-25000"/>
                  <a:t>0</a:t>
                </a:r>
                <a:r>
                  <a:t>，当n ≥ n</a:t>
                </a:r>
                <a:r>
                  <a:rPr baseline="-25000"/>
                  <a:t>0</a:t>
                </a:r>
                <a:r>
                  <a:t>时，有</a:t>
                </a: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                T(n) ≤ c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</a:t>
                </a:r>
                <a:endParaRPr baseline="-25000"/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则称T(n)的</a:t>
                </a:r>
                <a:r>
                  <a:rPr>
                    <a:solidFill>
                      <a:srgbClr val="16468D"/>
                    </a:solidFill>
                  </a:rPr>
                  <a:t>增长率</a:t>
                </a:r>
                <a:r>
                  <a:t>(growth rate)为O(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)，记为</a:t>
                </a: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     T(n) = O(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</a:t>
                </a:r>
              </a:p>
            </p:txBody>
          </p:sp>
        </mc:Choice>
        <mc:Fallback>
          <p:sp>
            <p:nvSpPr>
              <p:cNvPr id="226" name="1、任何一个算法都是由有限个基本运算（算术运算、逻辑运算、赋值运算等）组成。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5" y="1200828"/>
                <a:ext cx="8133934" cy="2278390"/>
              </a:xfrm>
              <a:prstGeom prst="rect">
                <a:avLst/>
              </a:prstGeom>
              <a:blipFill>
                <a:blip r:embed="rId2"/>
                <a:stretch>
                  <a:fillRect l="-1799" b="-72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1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O的常见形式</a:t>
            </a:r>
          </a:p>
        </p:txBody>
      </p:sp>
      <p:sp>
        <p:nvSpPr>
          <p:cNvPr id="229" name="常数阶   O(1)…"/>
          <p:cNvSpPr txBox="1"/>
          <p:nvPr/>
        </p:nvSpPr>
        <p:spPr>
          <a:xfrm>
            <a:off x="250498" y="1175804"/>
            <a:ext cx="4766758" cy="337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099" tIns="35099" rIns="35099" bIns="35099">
            <a:normAutofit/>
          </a:bodyPr>
          <a:lstStyle/>
          <a:p>
            <a:pPr marL="155447" marR="0" indent="-155447" defTabSz="621791">
              <a:lnSpc>
                <a:spcPct val="110000"/>
              </a:lnSpc>
              <a:spcBef>
                <a:spcPts val="600"/>
              </a:spcBef>
              <a:defRPr sz="1632" spc="68">
                <a:solidFill>
                  <a:srgbClr val="0F1423"/>
                </a:solidFill>
                <a:uFillTx/>
              </a:defRPr>
            </a:pPr>
            <a:r>
              <a:t>	 常数阶	               O(1)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对数阶			O(logn)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线性阶			O(n)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线性对数阶		O(nlogn)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平方阶			O(n</a:t>
            </a:r>
            <a:r>
              <a:rPr baseline="29057"/>
              <a:t>2</a:t>
            </a:r>
            <a:r>
              <a:t>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立方阶			O(n</a:t>
            </a:r>
            <a:r>
              <a:rPr baseline="29057"/>
              <a:t>3</a:t>
            </a:r>
            <a:r>
              <a:t>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k次方阶	               O(n</a:t>
            </a:r>
            <a:r>
              <a:rPr baseline="29057"/>
              <a:t>k</a:t>
            </a:r>
            <a:r>
              <a:t>)</a:t>
            </a:r>
            <a:endParaRPr spc="136">
              <a:solidFill>
                <a:srgbClr val="595959"/>
              </a:solidFill>
            </a:endParaRPr>
          </a:p>
          <a:p>
            <a:pPr marL="231660" marR="0" indent="-204025" defTabSz="621791">
              <a:lnSpc>
                <a:spcPct val="110000"/>
              </a:lnSpc>
              <a:spcBef>
                <a:spcPts val="600"/>
              </a:spcBef>
              <a:buSzPct val="100000"/>
              <a:buFont typeface="Times New Roman"/>
              <a:buChar char=" "/>
              <a:defRPr sz="1632" spc="68">
                <a:solidFill>
                  <a:srgbClr val="0F1423"/>
                </a:solidFill>
                <a:uFillTx/>
              </a:defRPr>
            </a:pPr>
            <a:r>
              <a:t>指数阶			O(2</a:t>
            </a:r>
            <a:r>
              <a:rPr baseline="29057"/>
              <a:t>n</a:t>
            </a:r>
            <a:r>
              <a:t>)</a:t>
            </a:r>
          </a:p>
        </p:txBody>
      </p:sp>
      <p:sp>
        <p:nvSpPr>
          <p:cNvPr id="230" name="线条"/>
          <p:cNvSpPr/>
          <p:nvPr/>
        </p:nvSpPr>
        <p:spPr>
          <a:xfrm flipH="1">
            <a:off x="4353753" y="1071296"/>
            <a:ext cx="2" cy="3607522"/>
          </a:xfrm>
          <a:prstGeom prst="line">
            <a:avLst/>
          </a:prstGeom>
          <a:ln w="38100">
            <a:solidFill>
              <a:srgbClr val="6096E6"/>
            </a:solidFill>
            <a:miter lim="400000"/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O的常见形式</a:t>
            </a:r>
          </a:p>
        </p:txBody>
      </p:sp>
      <p:pic>
        <p:nvPicPr>
          <p:cNvPr id="233" name="图片 3" descr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45" y="1491094"/>
            <a:ext cx="4597210" cy="4483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O的计算</a:t>
            </a:r>
          </a:p>
        </p:txBody>
      </p:sp>
      <p:sp>
        <p:nvSpPr>
          <p:cNvPr id="236" name="T1(n) =3n+2"/>
          <p:cNvSpPr txBox="1"/>
          <p:nvPr/>
        </p:nvSpPr>
        <p:spPr>
          <a:xfrm>
            <a:off x="298357" y="1066800"/>
            <a:ext cx="3333751" cy="2434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</a:t>
            </a:r>
            <a:r>
              <a:rPr baseline="-25000"/>
              <a:t>1</a:t>
            </a:r>
            <a:r>
              <a:t>(n) =3n + 2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  ≤ 3n + n   当</a:t>
            </a:r>
            <a:r>
              <a:rPr>
                <a:uFill>
                  <a:solidFill>
                    <a:srgbClr val="F81F08"/>
                  </a:solidFill>
                </a:uFill>
              </a:rPr>
              <a:t>n </a:t>
            </a:r>
            <a:r>
              <a:t>≥ 2 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  ≤ 4n     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endParaRPr/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n</a:t>
            </a:r>
            <a:r>
              <a:rPr baseline="-25000"/>
              <a:t>0</a:t>
            </a:r>
            <a:r>
              <a:t> = 2， c = 4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</a:t>
            </a:r>
            <a:r>
              <a:rPr baseline="-25000"/>
              <a:t>1</a:t>
            </a:r>
            <a:r>
              <a:t>(n) = O(n)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1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矩形 6"/>
              <p:cNvSpPr txBox="1"/>
              <p:nvPr/>
            </p:nvSpPr>
            <p:spPr>
              <a:xfrm>
                <a:off x="421794" y="1157631"/>
                <a:ext cx="5489472" cy="36847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4289" tIns="34289" rIns="34289" bIns="34289">
                <a:spAutoFit/>
              </a:bodyPr>
              <a:lstStyle/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T</a:t>
                </a:r>
                <a:r>
                  <a:rPr sz="2300" baseline="-5999"/>
                  <a:t>2</a:t>
                </a:r>
                <a:r>
                  <a:t>(n) = </a:t>
                </a:r>
                <a14:m>
                  <m:oMath xmlns:m="http://schemas.openxmlformats.org/officeDocument/2006/math">
                    <m:r>
                      <a:rPr sz="2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sz="255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sz="255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sz="255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sz="2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  <m:r>
                          <a:rPr sz="2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t> + 4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       &lt; 9</a:t>
                </a:r>
                <a:r>
                  <a:rPr>
                    <a:uFill>
                      <a:solidFill>
                        <a:srgbClr val="F81F08"/>
                      </a:solidFill>
                    </a:uFill>
                  </a:rPr>
                  <a:t>log</a:t>
                </a:r>
                <a:r>
                  <a:rPr baseline="-25000">
                    <a:uFill>
                      <a:solidFill>
                        <a:srgbClr val="F81F08"/>
                      </a:solidFill>
                    </a:uFill>
                  </a:rPr>
                  <a:t>2</a:t>
                </a:r>
                <a:r>
                  <a:rPr>
                    <a:uFill>
                      <a:solidFill>
                        <a:srgbClr val="F81F08"/>
                      </a:solidFill>
                    </a:uFill>
                  </a:rPr>
                  <a:t>n + 13 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>
                      <a:solidFill>
                        <a:srgbClr val="F81F08"/>
                      </a:solidFill>
                    </a:uFill>
                  </a:defRPr>
                </a:pPr>
                <a:r>
                  <a:t>       = </a:t>
                </a:r>
                <a:r>
                  <a:rPr>
                    <a:uFillTx/>
                  </a:rPr>
                  <a:t>9</a:t>
                </a:r>
                <a:r>
                  <a:t>log</a:t>
                </a:r>
                <a:r>
                  <a:rPr baseline="-25000"/>
                  <a:t>2</a:t>
                </a:r>
                <a:r>
                  <a:t>n + log</a:t>
                </a:r>
                <a:r>
                  <a:rPr baseline="-25000"/>
                  <a:t>2</a:t>
                </a:r>
                <a:r>
                  <a:t>2</a:t>
                </a:r>
                <a:r>
                  <a:rPr baseline="30000"/>
                  <a:t>13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>
                      <a:solidFill>
                        <a:srgbClr val="F81F08"/>
                      </a:solidFill>
                    </a:uFill>
                  </a:defRPr>
                </a:pPr>
                <a:r>
                  <a:t>       </a:t>
                </a:r>
                <a:r>
                  <a:rPr>
                    <a:uFillTx/>
                  </a:rPr>
                  <a:t>≤ 9</a:t>
                </a:r>
                <a:r>
                  <a:t>log</a:t>
                </a:r>
                <a:r>
                  <a:rPr baseline="-25000"/>
                  <a:t>2</a:t>
                </a:r>
                <a:r>
                  <a:t>n + log</a:t>
                </a:r>
                <a:r>
                  <a:rPr baseline="-25000"/>
                  <a:t>2</a:t>
                </a:r>
                <a:r>
                  <a:t>n 当 n </a:t>
                </a:r>
                <a:r>
                  <a:rPr>
                    <a:uFillTx/>
                  </a:rPr>
                  <a:t>≥ </a:t>
                </a:r>
                <a:r>
                  <a:t> 2</a:t>
                </a:r>
                <a:r>
                  <a:rPr baseline="30000"/>
                  <a:t>13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 baseline="30000">
                    <a:uFill>
                      <a:solidFill>
                        <a:srgbClr val="F81F08"/>
                      </a:solidFill>
                    </a:uFill>
                  </a:defRPr>
                </a:pPr>
                <a:r>
                  <a:t>           </a:t>
                </a:r>
                <a:r>
                  <a:rPr baseline="0">
                    <a:uFillTx/>
                  </a:rPr>
                  <a:t>≤ 10</a:t>
                </a:r>
                <a:r>
                  <a:rPr baseline="0"/>
                  <a:t>log</a:t>
                </a:r>
                <a:r>
                  <a:rPr baseline="-25000"/>
                  <a:t>2</a:t>
                </a:r>
                <a:r>
                  <a:rPr baseline="0"/>
                  <a:t>n</a:t>
                </a:r>
                <a:r>
                  <a:rPr baseline="0">
                    <a:uFillTx/>
                  </a:rPr>
                  <a:t> 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n</a:t>
                </a:r>
                <a:r>
                  <a:rPr baseline="-25000"/>
                  <a:t>0</a:t>
                </a:r>
                <a:r>
                  <a:t> = </a:t>
                </a:r>
                <a:r>
                  <a:rPr>
                    <a:uFill>
                      <a:solidFill>
                        <a:srgbClr val="F81F08"/>
                      </a:solidFill>
                    </a:uFill>
                  </a:rPr>
                  <a:t>2</a:t>
                </a:r>
                <a:r>
                  <a:rPr baseline="30000">
                    <a:uFill>
                      <a:solidFill>
                        <a:srgbClr val="F81F08"/>
                      </a:solidFill>
                    </a:uFill>
                  </a:rPr>
                  <a:t>13 </a:t>
                </a:r>
                <a:r>
                  <a:t>， c = 10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T</a:t>
                </a:r>
                <a:r>
                  <a:rPr baseline="-25000"/>
                  <a:t>2</a:t>
                </a:r>
                <a:r>
                  <a:t>(n) = O(</a:t>
                </a:r>
                <a:r>
                  <a:rPr>
                    <a:uFill>
                      <a:solidFill>
                        <a:srgbClr val="F81F08"/>
                      </a:solidFill>
                    </a:uFill>
                  </a:rPr>
                  <a:t>log</a:t>
                </a:r>
                <a:r>
                  <a:rPr baseline="-25000">
                    <a:uFill>
                      <a:solidFill>
                        <a:srgbClr val="F81F08"/>
                      </a:solidFill>
                    </a:uFill>
                  </a:rPr>
                  <a:t>2</a:t>
                </a:r>
                <a:r>
                  <a:rPr>
                    <a:uFill>
                      <a:solidFill>
                        <a:srgbClr val="F81F08"/>
                      </a:solidFill>
                    </a:uFill>
                  </a:rPr>
                  <a:t>n</a:t>
                </a:r>
                <a:r>
                  <a:t>)</a:t>
                </a:r>
              </a:p>
            </p:txBody>
          </p:sp>
        </mc:Choice>
        <mc:Fallback>
          <p:sp>
            <p:nvSpPr>
              <p:cNvPr id="239" name="矩形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94" y="1157631"/>
                <a:ext cx="5489472" cy="3684700"/>
              </a:xfrm>
              <a:prstGeom prst="rect">
                <a:avLst/>
              </a:prstGeom>
              <a:blipFill>
                <a:blip r:embed="rId2"/>
                <a:stretch>
                  <a:fillRect l="-2775" t="-33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1" build="p" bldLvl="5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矩形 7"/>
              <p:cNvSpPr txBox="1"/>
              <p:nvPr/>
            </p:nvSpPr>
            <p:spPr>
              <a:xfrm>
                <a:off x="1135829" y="1917428"/>
                <a:ext cx="1975346" cy="66698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atinLnBrk="1">
                  <a:spcBef>
                    <a:spcPts val="0"/>
                  </a:spcBef>
                  <a:defRPr sz="1800"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a:rPr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bSup>
                        <m:sSubSup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42" name="矩形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29" y="1917428"/>
                <a:ext cx="1975346" cy="666983"/>
              </a:xfrm>
              <a:prstGeom prst="rect">
                <a:avLst/>
              </a:prstGeom>
              <a:blipFill>
                <a:blip r:embed="rId2"/>
                <a:stretch>
                  <a:fillRect r="-370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文本框 8"/>
          <p:cNvSpPr txBox="1"/>
          <p:nvPr/>
        </p:nvSpPr>
        <p:spPr>
          <a:xfrm>
            <a:off x="385762" y="1339850"/>
            <a:ext cx="2214881" cy="487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对数的换底公式</a:t>
            </a:r>
          </a:p>
        </p:txBody>
      </p:sp>
      <p:sp>
        <p:nvSpPr>
          <p:cNvPr id="244" name="文本框 9"/>
          <p:cNvSpPr txBox="1"/>
          <p:nvPr/>
        </p:nvSpPr>
        <p:spPr>
          <a:xfrm>
            <a:off x="385761" y="2768472"/>
            <a:ext cx="3129281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所以，不关注对数的底</a:t>
            </a:r>
          </a:p>
        </p:txBody>
      </p:sp>
      <p:sp>
        <p:nvSpPr>
          <p:cNvPr id="245" name="T2(n)= 6(⎣log2n⎦ + 1) + 2"/>
          <p:cNvSpPr txBox="1"/>
          <p:nvPr/>
        </p:nvSpPr>
        <p:spPr>
          <a:xfrm>
            <a:off x="351471" y="3693812"/>
            <a:ext cx="657742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T</a:t>
            </a:r>
            <a:r>
              <a:rPr baseline="-25000"/>
              <a:t>2</a:t>
            </a:r>
            <a:r>
              <a:t>(n) = O(</a:t>
            </a:r>
            <a:r>
              <a:rPr>
                <a:uFill>
                  <a:solidFill>
                    <a:srgbClr val="F81F08"/>
                  </a:solidFill>
                </a:uFill>
              </a:rPr>
              <a:t>log</a:t>
            </a:r>
            <a:r>
              <a:rPr baseline="-25000">
                <a:uFill>
                  <a:solidFill>
                    <a:srgbClr val="F81F08"/>
                  </a:solidFill>
                </a:uFill>
              </a:rPr>
              <a:t>2</a:t>
            </a:r>
            <a:r>
              <a:rPr>
                <a:uFill>
                  <a:solidFill>
                    <a:srgbClr val="F81F08"/>
                  </a:solidFill>
                </a:uFill>
              </a:rPr>
              <a:t>n</a:t>
            </a:r>
            <a:r>
              <a:t>)   ⟹  T</a:t>
            </a:r>
            <a:r>
              <a:rPr baseline="-25000"/>
              <a:t>2</a:t>
            </a:r>
            <a:r>
              <a:t>(n) = O(</a:t>
            </a:r>
            <a:r>
              <a:rPr>
                <a:uFill>
                  <a:solidFill>
                    <a:srgbClr val="F81F08"/>
                  </a:solidFill>
                </a:uFill>
              </a:rPr>
              <a:t>logn</a:t>
            </a:r>
            <a:r>
              <a:t>) 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1" animBg="1" advAuto="0"/>
      <p:bldP spid="245" grpId="2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O的用途</a:t>
            </a:r>
          </a:p>
        </p:txBody>
      </p:sp>
      <p:sp>
        <p:nvSpPr>
          <p:cNvPr id="248" name="T1(n) =3n+2"/>
          <p:cNvSpPr txBox="1"/>
          <p:nvPr/>
        </p:nvSpPr>
        <p:spPr>
          <a:xfrm>
            <a:off x="115377" y="1363662"/>
            <a:ext cx="8657671" cy="183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由于O(n)的增长率比O(</a:t>
            </a:r>
            <a:r>
              <a:rPr>
                <a:uFill>
                  <a:solidFill>
                    <a:srgbClr val="F81F08"/>
                  </a:solidFill>
                </a:uFill>
              </a:rPr>
              <a:t>log</a:t>
            </a:r>
            <a:r>
              <a:rPr baseline="-25000">
                <a:uFill>
                  <a:solidFill>
                    <a:srgbClr val="F81F08"/>
                  </a:solidFill>
                </a:uFill>
              </a:rPr>
              <a:t>2</a:t>
            </a:r>
            <a:r>
              <a:rPr>
                <a:uFill>
                  <a:solidFill>
                    <a:srgbClr val="F81F08"/>
                  </a:solidFill>
                </a:uFill>
              </a:rPr>
              <a:t>n</a:t>
            </a:r>
            <a:r>
              <a:t>)高，所以，</a:t>
            </a:r>
            <a:r>
              <a:rPr>
                <a:solidFill>
                  <a:srgbClr val="16468D"/>
                </a:solidFill>
              </a:rPr>
              <a:t>随着n的增大</a:t>
            </a:r>
            <a:r>
              <a:t>， T</a:t>
            </a:r>
            <a:r>
              <a:rPr baseline="-25000"/>
              <a:t>2</a:t>
            </a:r>
            <a:r>
              <a:t>(n)比T</a:t>
            </a:r>
            <a:r>
              <a:rPr baseline="-25000"/>
              <a:t>1</a:t>
            </a:r>
            <a:r>
              <a:t>(n)需要的时间少。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即折半查找比顺序查找快。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 运算规则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1、任何一个算法都是由有限个基本运算（算术运算、逻辑运算、赋值运算等）组成。"/>
              <p:cNvSpPr txBox="1"/>
              <p:nvPr/>
            </p:nvSpPr>
            <p:spPr>
              <a:xfrm>
                <a:off x="91865" y="1479575"/>
                <a:ext cx="8960270" cy="136288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8100" tIns="38100" rIns="38100" bIns="38100">
                <a:spAutoFit/>
              </a:bodyPr>
              <a:lstStyle/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000">
                    <a:uFillTx/>
                  </a:defRPr>
                </a:pPr>
                <a:r>
                  <a:t>假设T</a:t>
                </a:r>
                <a:r>
                  <a:rPr baseline="-28799"/>
                  <a:t>1</a:t>
                </a:r>
                <a:r>
                  <a:t>(n) = O(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)， T</a:t>
                </a:r>
                <a:r>
                  <a:rPr baseline="-28799"/>
                  <a:t>2</a:t>
                </a:r>
                <a:r>
                  <a:t>(n) = O(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)</a:t>
                </a:r>
              </a:p>
              <a:p>
                <a:pPr marL="800100" marR="0" lvl="1" indent="-342900">
                  <a:lnSpc>
                    <a:spcPct val="120000"/>
                  </a:lnSpc>
                  <a:spcBef>
                    <a:spcPts val="0"/>
                  </a:spcBef>
                  <a:buSzPct val="100000"/>
                  <a:buChar char="●"/>
                  <a:defRPr sz="2000">
                    <a:uFillTx/>
                  </a:defRPr>
                </a:pPr>
                <a:r>
                  <a:t>T</a:t>
                </a:r>
                <a:r>
                  <a:rPr baseline="-28799"/>
                  <a:t>1</a:t>
                </a:r>
                <a:r>
                  <a:t>(n) + T</a:t>
                </a:r>
                <a:r>
                  <a:rPr baseline="-28799"/>
                  <a:t>2</a:t>
                </a:r>
                <a:r>
                  <a:t>(n) = O( 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i="1"/>
                  <a:t> + 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    ⟹ max(O(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), O(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)) </a:t>
                </a:r>
              </a:p>
              <a:p>
                <a:pPr marL="800100" marR="0" lvl="1" indent="-342900">
                  <a:lnSpc>
                    <a:spcPct val="120000"/>
                  </a:lnSpc>
                  <a:spcBef>
                    <a:spcPts val="0"/>
                  </a:spcBef>
                  <a:buSzPct val="100000"/>
                  <a:buChar char="●"/>
                  <a:defRPr sz="2000">
                    <a:uFillTx/>
                  </a:defRPr>
                </a:pPr>
                <a:r>
                  <a:t>T</a:t>
                </a:r>
                <a:r>
                  <a:rPr baseline="-28799"/>
                  <a:t>1</a:t>
                </a:r>
                <a:r>
                  <a:t>(n) T</a:t>
                </a:r>
                <a:r>
                  <a:rPr baseline="-28799"/>
                  <a:t>2</a:t>
                </a:r>
                <a:r>
                  <a:t>(n) = O(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×</a:t>
                </a:r>
                <a:r>
                  <a:rPr i="1"/>
                  <a:t> 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i="1"/>
              </a:p>
            </p:txBody>
          </p:sp>
        </mc:Choice>
        <mc:Fallback>
          <p:sp>
            <p:nvSpPr>
              <p:cNvPr id="251" name="1、任何一个算法都是由有限个基本运算（算术运算、逻辑运算、赋值运算等）组成。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" y="1479575"/>
                <a:ext cx="8960270" cy="1362882"/>
              </a:xfrm>
              <a:prstGeom prst="rect">
                <a:avLst/>
              </a:prstGeom>
              <a:blipFill>
                <a:blip r:embed="rId3"/>
                <a:stretch>
                  <a:fillRect l="-1293" t="-13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 运算规则的应用</a:t>
            </a:r>
          </a:p>
        </p:txBody>
      </p:sp>
      <p:sp>
        <p:nvSpPr>
          <p:cNvPr id="256" name="public int binarySearch(int a[], int x){…"/>
          <p:cNvSpPr txBox="1"/>
          <p:nvPr/>
        </p:nvSpPr>
        <p:spPr>
          <a:xfrm>
            <a:off x="77248" y="1178953"/>
            <a:ext cx="8456800" cy="420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18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 int</a:t>
            </a:r>
            <a:r>
              <a:rPr>
                <a:solidFill>
                  <a:srgbClr val="000000"/>
                </a:solidFill>
              </a:rPr>
              <a:t> binarySearch(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[],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){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0,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 O(1) + O(1)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j</a:t>
            </a:r>
            <a:r>
              <a:t>){                O(1)，循环O(logn)次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i + ((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</a:t>
            </a:r>
            <a:r>
              <a:rPr>
                <a:solidFill>
                  <a:srgbClr val="7E504F"/>
                </a:solidFill>
              </a:rPr>
              <a:t>i</a:t>
            </a:r>
            <a:r>
              <a:t>) &gt;&gt;&gt; 1);  O(1) + O(1) + O(1) + O(1)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a[p]</a:t>
            </a:r>
            <a:r>
              <a:t>)               O(1)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- 1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x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a[p]</a:t>
            </a:r>
            <a:r>
              <a:t>)        O(1)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 + 1</a:t>
            </a:r>
            <a:r>
              <a:t>;             O(1) + O(1)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 运算规则的应用</a:t>
            </a:r>
          </a:p>
        </p:txBody>
      </p:sp>
      <p:sp>
        <p:nvSpPr>
          <p:cNvPr id="259" name="文本框 2"/>
          <p:cNvSpPr txBox="1"/>
          <p:nvPr/>
        </p:nvSpPr>
        <p:spPr>
          <a:xfrm>
            <a:off x="307135" y="1235490"/>
            <a:ext cx="6205558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O(1) + O(1) + O(1) + O(logn) (O(1) + ...... +O(1))</a:t>
            </a:r>
          </a:p>
        </p:txBody>
      </p:sp>
      <p:sp>
        <p:nvSpPr>
          <p:cNvPr id="260" name="文本框 4"/>
          <p:cNvSpPr txBox="1"/>
          <p:nvPr/>
        </p:nvSpPr>
        <p:spPr>
          <a:xfrm>
            <a:off x="294435" y="1730790"/>
            <a:ext cx="5133252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O(1) + O(1) + O(1)= O(1 + 1 + 1) = O(1)</a:t>
            </a:r>
          </a:p>
        </p:txBody>
      </p:sp>
      <p:sp>
        <p:nvSpPr>
          <p:cNvPr id="261" name="矩形 3"/>
          <p:cNvSpPr txBox="1"/>
          <p:nvPr/>
        </p:nvSpPr>
        <p:spPr>
          <a:xfrm>
            <a:off x="307135" y="2220943"/>
            <a:ext cx="3263226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O(1) + ...... +O(1)) = O(1)</a:t>
            </a:r>
          </a:p>
        </p:txBody>
      </p:sp>
      <p:sp>
        <p:nvSpPr>
          <p:cNvPr id="262" name="矩形 7"/>
          <p:cNvSpPr txBox="1"/>
          <p:nvPr/>
        </p:nvSpPr>
        <p:spPr>
          <a:xfrm>
            <a:off x="345235" y="2830540"/>
            <a:ext cx="2674016" cy="2430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O(1) + O(logn) O(1) 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= O(1) + O(1×logn) 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= O(1) + O(logn)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= O(1 + logn)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= O(logn)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1" animBg="1" advAuto="0"/>
      <p:bldP spid="261" grpId="2" animBg="1" advAuto="0"/>
      <p:bldP spid="262" grpId="3" build="p" bldLvl="5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O 运算规则的应用</a:t>
            </a:r>
          </a:p>
        </p:txBody>
      </p:sp>
      <p:sp>
        <p:nvSpPr>
          <p:cNvPr id="265" name="例4: n×n矩阵的元素值的和…"/>
          <p:cNvSpPr txBox="1"/>
          <p:nvPr/>
        </p:nvSpPr>
        <p:spPr>
          <a:xfrm>
            <a:off x="180955" y="1028105"/>
            <a:ext cx="6301745" cy="339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099" tIns="35099" rIns="35099" bIns="35099">
            <a:spAutoFit/>
          </a:bodyPr>
          <a:lstStyle/>
          <a:p>
            <a:pPr marL="228600" marR="0" indent="-228600">
              <a:spcBef>
                <a:spcPts val="1000"/>
              </a:spcBef>
              <a:defRPr sz="2400" spc="150">
                <a:uFillTx/>
              </a:defRPr>
            </a:pPr>
            <a:r>
              <a:t>例: n×n矩阵的元素值的和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600"/>
              </a:spcBef>
              <a:defRPr sz="2400" spc="150">
                <a:uFillTx/>
              </a:defRPr>
            </a:pPr>
            <a:r>
              <a:t>float  sum(float a[][]){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600"/>
              </a:spcBef>
              <a:defRPr sz="2400" spc="150">
                <a:uFillTx/>
              </a:defRPr>
            </a:pPr>
            <a:r>
              <a:t>	result = 0;                        O(1)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600"/>
              </a:spcBef>
              <a:defRPr sz="2400" spc="150">
                <a:uFillTx/>
              </a:defRPr>
            </a:pPr>
            <a:r>
              <a:t>    for(i = 0; i&lt; n; i++)           O(n)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600"/>
              </a:spcBef>
              <a:defRPr sz="2400" spc="150">
                <a:uFillTx/>
              </a:defRPr>
            </a:pPr>
            <a:r>
              <a:t>         for(j = 0; j &lt; n; j++)     O(n)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0"/>
              </a:spcBef>
              <a:defRPr sz="2400" spc="150">
                <a:uFillTx/>
              </a:defRPr>
            </a:pPr>
            <a:r>
              <a:t>		   result += a[i][j];   O(1)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600"/>
              </a:spcBef>
              <a:defRPr sz="2400" spc="150">
                <a:uFillTx/>
              </a:defRPr>
            </a:pPr>
            <a:r>
              <a:t>	return result;</a:t>
            </a:r>
            <a:endParaRPr sz="2800">
              <a:solidFill>
                <a:srgbClr val="595959"/>
              </a:solidFill>
            </a:endParaRPr>
          </a:p>
          <a:p>
            <a:pPr marL="0" marR="0" lvl="2" indent="497840">
              <a:spcBef>
                <a:spcPts val="0"/>
              </a:spcBef>
              <a:defRPr sz="2400" spc="150">
                <a:uFillTx/>
              </a:defRPr>
            </a:pPr>
            <a:r>
              <a:t>}</a:t>
            </a:r>
          </a:p>
        </p:txBody>
      </p:sp>
      <p:sp>
        <p:nvSpPr>
          <p:cNvPr id="266" name="文本框 5"/>
          <p:cNvSpPr txBox="1"/>
          <p:nvPr/>
        </p:nvSpPr>
        <p:spPr>
          <a:xfrm>
            <a:off x="146775" y="4533279"/>
            <a:ext cx="3573533" cy="177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T(n) = O(1) + O(n)O(n)O(1)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= O(1) + O(n×n×1)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= O(1) + O(n</a:t>
            </a:r>
            <a:r>
              <a:rPr baseline="30000"/>
              <a:t>2</a:t>
            </a:r>
            <a:r>
              <a:t>)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= O(1 + n</a:t>
            </a:r>
            <a:r>
              <a:rPr baseline="30000"/>
              <a:t>2</a:t>
            </a:r>
            <a:r>
              <a:t>)</a:t>
            </a:r>
          </a:p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       = O(n</a:t>
            </a:r>
            <a:r>
              <a:rPr baseline="30000"/>
              <a:t>2</a:t>
            </a:r>
            <a: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1" build="p" bldLvl="5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1、任何一个算法都是由有限个基本运算（算术运算、逻辑运算、赋值运算等）组成。"/>
              <p:cNvSpPr txBox="1"/>
              <p:nvPr/>
            </p:nvSpPr>
            <p:spPr>
              <a:xfrm>
                <a:off x="218865" y="1149377"/>
                <a:ext cx="8706270" cy="20688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8100" tIns="38100" rIns="38100" bIns="38100">
                <a:spAutoFit/>
              </a:bodyPr>
              <a:lstStyle/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如果存在正常数c，存在n</a:t>
                </a:r>
                <a:r>
                  <a:rPr baseline="-25000"/>
                  <a:t>0</a:t>
                </a:r>
                <a:r>
                  <a:t>，当n ≥ n</a:t>
                </a:r>
                <a:r>
                  <a:rPr baseline="-25000"/>
                  <a:t>0</a:t>
                </a:r>
                <a:r>
                  <a:t>时，有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                T(n) ≥ c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</a:t>
                </a:r>
                <a:endParaRPr baseline="-25000"/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则称T(n)的</a:t>
                </a:r>
                <a:r>
                  <a:rPr>
                    <a:solidFill>
                      <a:srgbClr val="16468D"/>
                    </a:solidFill>
                  </a:rPr>
                  <a:t>增长率</a:t>
                </a:r>
                <a:r>
                  <a:t>(growth rate)为𝛀(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)，记为</a:t>
                </a:r>
              </a:p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defRPr sz="2400">
                    <a:uFillTx/>
                  </a:defRPr>
                </a:pPr>
                <a:r>
                  <a:t>     T(n) = 𝛀(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</a:t>
                </a:r>
              </a:p>
            </p:txBody>
          </p:sp>
        </mc:Choice>
        <mc:Fallback>
          <p:sp>
            <p:nvSpPr>
              <p:cNvPr id="269" name="1、任何一个算法都是由有限个基本运算（算术运算、逻辑运算、赋值运算等）组成。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65" y="1149377"/>
                <a:ext cx="8706270" cy="2068898"/>
              </a:xfrm>
              <a:prstGeom prst="rect">
                <a:avLst/>
              </a:prstGeom>
              <a:blipFill>
                <a:blip r:embed="rId2"/>
                <a:stretch>
                  <a:fillRect l="-1681" t="-23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文本框 2"/>
          <p:cNvSpPr txBox="1"/>
          <p:nvPr/>
        </p:nvSpPr>
        <p:spPr>
          <a:xfrm>
            <a:off x="182576" y="3585643"/>
            <a:ext cx="1825598" cy="10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solidFill>
                  <a:srgbClr val="FF0000"/>
                </a:solidFill>
                <a:uFillTx/>
              </a:defRPr>
            </a:pPr>
            <a:r>
              <a:t>Big O  : 上界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solidFill>
                  <a:srgbClr val="FF0000"/>
                </a:solidFill>
                <a:uFillTx/>
              </a:defRPr>
            </a:pPr>
            <a:r>
              <a:t>Big 𝛀 ：下界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1" animBg="1" advAuto="0"/>
      <p:bldP spid="270" grpId="2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局限性</a:t>
            </a:r>
          </a:p>
        </p:txBody>
      </p:sp>
      <p:sp>
        <p:nvSpPr>
          <p:cNvPr id="273" name="两个算法哪个速度快呢？"/>
          <p:cNvSpPr txBox="1"/>
          <p:nvPr/>
        </p:nvSpPr>
        <p:spPr>
          <a:xfrm>
            <a:off x="114027" y="1133162"/>
            <a:ext cx="362902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defRPr sz="2400">
                <a:uFill>
                  <a:solidFill>
                    <a:srgbClr val="F81F08"/>
                  </a:solidFill>
                </a:uFill>
              </a:defRPr>
            </a:pPr>
            <a:r>
              <a:t>查找问题的2个算法：</a:t>
            </a:r>
          </a:p>
        </p:txBody>
      </p:sp>
      <p:sp>
        <p:nvSpPr>
          <p:cNvPr id="274" name="文本框 5"/>
          <p:cNvSpPr txBox="1"/>
          <p:nvPr/>
        </p:nvSpPr>
        <p:spPr>
          <a:xfrm>
            <a:off x="661307" y="1580423"/>
            <a:ext cx="2913182" cy="100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342900" marR="0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顺序查找：O(n)</a:t>
            </a:r>
          </a:p>
          <a:p>
            <a:pPr marL="342900" marR="0" indent="-342900">
              <a:lnSpc>
                <a:spcPct val="12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折半查找：O(logn)</a:t>
            </a:r>
          </a:p>
        </p:txBody>
      </p:sp>
      <p:sp>
        <p:nvSpPr>
          <p:cNvPr id="275" name="文本框 6"/>
          <p:cNvSpPr txBox="1"/>
          <p:nvPr/>
        </p:nvSpPr>
        <p:spPr>
          <a:xfrm>
            <a:off x="148317" y="2708644"/>
            <a:ext cx="5720081" cy="2022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457200" marR="0" indent="-457200">
              <a:lnSpc>
                <a:spcPct val="120000"/>
              </a:lnSpc>
              <a:spcBef>
                <a:spcPts val="0"/>
              </a:spcBef>
              <a:buSzPct val="100000"/>
              <a:buAutoNum type="circleNumDbPlain"/>
              <a:defRPr sz="2400">
                <a:uFillTx/>
              </a:defRPr>
            </a:pPr>
            <a:r>
              <a:t>当n比较大时，折半查找比顺序查找快</a:t>
            </a:r>
          </a:p>
          <a:p>
            <a:pPr marL="457200" marR="0" indent="-457200">
              <a:lnSpc>
                <a:spcPct val="120000"/>
              </a:lnSpc>
              <a:spcBef>
                <a:spcPts val="0"/>
              </a:spcBef>
              <a:buSzPct val="100000"/>
              <a:buAutoNum type="circleNumDbPlain"/>
              <a:defRPr sz="2400">
                <a:uFillTx/>
              </a:defRPr>
            </a:pPr>
            <a:r>
              <a:t>n比较小时？</a:t>
            </a:r>
          </a:p>
          <a:p>
            <a:pPr marL="457200" marR="0" indent="-457200">
              <a:lnSpc>
                <a:spcPct val="120000"/>
              </a:lnSpc>
              <a:spcBef>
                <a:spcPts val="0"/>
              </a:spcBef>
              <a:buSzPct val="100000"/>
              <a:buAutoNum type="circleNumDbPlain"/>
              <a:defRPr sz="2400">
                <a:uFillTx/>
              </a:defRPr>
            </a:pPr>
            <a:r>
              <a:t>数据无序时？</a:t>
            </a:r>
          </a:p>
          <a:p>
            <a:pPr marL="457200" marR="0" indent="-457200">
              <a:lnSpc>
                <a:spcPct val="120000"/>
              </a:lnSpc>
              <a:spcBef>
                <a:spcPts val="0"/>
              </a:spcBef>
              <a:buSzPct val="100000"/>
              <a:buAutoNum type="circleNumDbPlain"/>
              <a:defRPr sz="2400">
                <a:uFillTx/>
              </a:defRPr>
            </a:pPr>
            <a:r>
              <a:t>折半查找的实现比顺序查找的实现复杂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1" build="p" bldLvl="5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局限性</a:t>
            </a:r>
          </a:p>
        </p:txBody>
      </p:sp>
      <p:sp>
        <p:nvSpPr>
          <p:cNvPr id="278" name="coff[0] = a0 coff[1] = a1    ......coff[n] =  an"/>
          <p:cNvSpPr txBox="1"/>
          <p:nvPr/>
        </p:nvSpPr>
        <p:spPr>
          <a:xfrm>
            <a:off x="680932" y="1663399"/>
            <a:ext cx="5614989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coff[0] = a</a:t>
            </a:r>
            <a:r>
              <a:rPr baseline="-5998"/>
              <a:t>0  </a:t>
            </a:r>
            <a:r>
              <a:t>  coff[1] = a</a:t>
            </a:r>
            <a:r>
              <a:rPr baseline="-5998"/>
              <a:t>1</a:t>
            </a:r>
            <a:r>
              <a:t>    ......   coff[n] =  a</a:t>
            </a:r>
            <a:r>
              <a:rPr baseline="-5998"/>
              <a:t>n</a:t>
            </a:r>
          </a:p>
        </p:txBody>
      </p:sp>
      <p:sp>
        <p:nvSpPr>
          <p:cNvPr id="279" name="求anxn + an-1xn-1 + ... + a2x2 +  a1x + a0"/>
          <p:cNvSpPr txBox="1"/>
          <p:nvPr/>
        </p:nvSpPr>
        <p:spPr>
          <a:xfrm>
            <a:off x="93101" y="1165677"/>
            <a:ext cx="620514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多项式求和：a</a:t>
            </a:r>
            <a:r>
              <a:rPr baseline="-5998"/>
              <a:t>n</a:t>
            </a:r>
            <a:r>
              <a:t>x</a:t>
            </a:r>
            <a:r>
              <a:rPr baseline="31999"/>
              <a:t>n </a:t>
            </a:r>
            <a:r>
              <a:t>+ a</a:t>
            </a:r>
            <a:r>
              <a:rPr baseline="-5998"/>
              <a:t>n-1</a:t>
            </a:r>
            <a:r>
              <a:t>x</a:t>
            </a:r>
            <a:r>
              <a:rPr baseline="31999"/>
              <a:t>n-1 </a:t>
            </a:r>
            <a:r>
              <a:t>+ ... + a</a:t>
            </a:r>
            <a:r>
              <a:rPr baseline="-5998"/>
              <a:t>2</a:t>
            </a:r>
            <a:r>
              <a:t>x</a:t>
            </a:r>
            <a:r>
              <a:rPr baseline="31999"/>
              <a:t>2 </a:t>
            </a:r>
            <a:r>
              <a:t>+</a:t>
            </a:r>
            <a:r>
              <a:rPr baseline="31999"/>
              <a:t>  </a:t>
            </a:r>
            <a:r>
              <a:t>a</a:t>
            </a:r>
            <a:r>
              <a:rPr baseline="-5998"/>
              <a:t>1</a:t>
            </a:r>
            <a:r>
              <a:t>x</a:t>
            </a:r>
            <a:r>
              <a:rPr baseline="31999"/>
              <a:t> </a:t>
            </a:r>
            <a:r>
              <a:t>+ a</a:t>
            </a:r>
            <a:r>
              <a:rPr baseline="-5998"/>
              <a:t>0</a:t>
            </a:r>
            <a:r>
              <a:t> </a:t>
            </a:r>
          </a:p>
        </p:txBody>
      </p:sp>
      <p:sp>
        <p:nvSpPr>
          <p:cNvPr id="280" name="public static float polyEval(float coff[], float x){…"/>
          <p:cNvSpPr txBox="1"/>
          <p:nvPr/>
        </p:nvSpPr>
        <p:spPr>
          <a:xfrm>
            <a:off x="59231" y="2301091"/>
            <a:ext cx="8472191" cy="2798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</a:t>
            </a:r>
            <a:r>
              <a:rPr dirty="0">
                <a:solidFill>
                  <a:srgbClr val="931A68"/>
                </a:solidFill>
              </a:rPr>
              <a:t>public</a:t>
            </a:r>
            <a:r>
              <a:rPr dirty="0"/>
              <a:t> </a:t>
            </a:r>
            <a:r>
              <a:rPr dirty="0">
                <a:solidFill>
                  <a:srgbClr val="931A68"/>
                </a:solidFill>
              </a:rPr>
              <a:t>static float</a:t>
            </a:r>
            <a:r>
              <a:rPr dirty="0"/>
              <a:t> </a:t>
            </a:r>
            <a:r>
              <a:rPr dirty="0" err="1"/>
              <a:t>polyEval</a:t>
            </a:r>
            <a:r>
              <a:rPr dirty="0"/>
              <a:t>(</a:t>
            </a:r>
            <a:r>
              <a:rPr dirty="0">
                <a:solidFill>
                  <a:srgbClr val="931A68"/>
                </a:solidFill>
              </a:rPr>
              <a:t>float</a:t>
            </a:r>
            <a:r>
              <a:rPr dirty="0"/>
              <a:t> </a:t>
            </a:r>
            <a:r>
              <a:rPr dirty="0" err="1">
                <a:solidFill>
                  <a:srgbClr val="7E504F"/>
                </a:solidFill>
              </a:rPr>
              <a:t>coff</a:t>
            </a:r>
            <a:r>
              <a:rPr dirty="0"/>
              <a:t>[], </a:t>
            </a:r>
            <a:r>
              <a:rPr dirty="0">
                <a:solidFill>
                  <a:srgbClr val="931A68"/>
                </a:solidFill>
              </a:rPr>
              <a:t>float</a:t>
            </a:r>
            <a:r>
              <a:rPr dirty="0"/>
              <a:t> </a:t>
            </a:r>
            <a:r>
              <a:rPr dirty="0">
                <a:solidFill>
                  <a:srgbClr val="7E504F"/>
                </a:solidFill>
              </a:rPr>
              <a:t>x</a:t>
            </a:r>
            <a:r>
              <a:rPr dirty="0"/>
              <a:t>){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</a:t>
            </a:r>
            <a:r>
              <a:rPr dirty="0">
                <a:solidFill>
                  <a:srgbClr val="931A68"/>
                </a:solidFill>
              </a:rPr>
              <a:t>float</a:t>
            </a:r>
            <a:r>
              <a:rPr dirty="0"/>
              <a:t> </a:t>
            </a:r>
            <a:r>
              <a:rPr dirty="0">
                <a:solidFill>
                  <a:srgbClr val="7E504F"/>
                </a:solidFill>
              </a:rPr>
              <a:t>y</a:t>
            </a:r>
            <a:r>
              <a:rPr dirty="0"/>
              <a:t> = 1, </a:t>
            </a:r>
            <a:r>
              <a:rPr dirty="0">
                <a:solidFill>
                  <a:srgbClr val="7E504F"/>
                </a:solidFill>
              </a:rPr>
              <a:t>value</a:t>
            </a:r>
            <a:r>
              <a:rPr dirty="0"/>
              <a:t> = </a:t>
            </a:r>
            <a:r>
              <a:rPr dirty="0" err="1">
                <a:solidFill>
                  <a:srgbClr val="7E504F"/>
                </a:solidFill>
              </a:rPr>
              <a:t>coff</a:t>
            </a:r>
            <a:r>
              <a:rPr dirty="0"/>
              <a:t>[0];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</a:t>
            </a:r>
            <a:r>
              <a:rPr dirty="0">
                <a:solidFill>
                  <a:srgbClr val="931A68"/>
                </a:solidFill>
              </a:rPr>
              <a:t>for</a:t>
            </a:r>
            <a:r>
              <a:rPr dirty="0"/>
              <a:t>(</a:t>
            </a:r>
            <a:r>
              <a:rPr dirty="0">
                <a:solidFill>
                  <a:srgbClr val="931A68"/>
                </a:solidFill>
              </a:rPr>
              <a:t>int</a:t>
            </a:r>
            <a:r>
              <a:rPr dirty="0"/>
              <a:t>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 = 1;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 &lt; </a:t>
            </a:r>
            <a:r>
              <a:rPr dirty="0" err="1">
                <a:solidFill>
                  <a:srgbClr val="7E504F"/>
                </a:solidFill>
              </a:rPr>
              <a:t>coff</a:t>
            </a:r>
            <a:r>
              <a:rPr dirty="0" err="1"/>
              <a:t>.</a:t>
            </a:r>
            <a:r>
              <a:rPr dirty="0" err="1">
                <a:solidFill>
                  <a:srgbClr val="0326CC"/>
                </a:solidFill>
              </a:rPr>
              <a:t>length</a:t>
            </a:r>
            <a:r>
              <a:rPr dirty="0"/>
              <a:t>; 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>
                <a:solidFill>
                  <a:srgbClr val="7E504F"/>
                </a:solidFill>
              </a:rPr>
              <a:t>++</a:t>
            </a:r>
            <a:r>
              <a:rPr dirty="0"/>
              <a:t>){</a:t>
            </a:r>
            <a:endParaRPr dirty="0">
              <a:solidFill>
                <a:srgbClr val="4E9072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	</a:t>
            </a:r>
            <a:r>
              <a:rPr dirty="0">
                <a:solidFill>
                  <a:srgbClr val="7E504F"/>
                </a:solidFill>
              </a:rPr>
              <a:t>y</a:t>
            </a:r>
            <a:r>
              <a:rPr dirty="0"/>
              <a:t> *=</a:t>
            </a:r>
            <a:r>
              <a:rPr dirty="0">
                <a:solidFill>
                  <a:srgbClr val="7E504F"/>
                </a:solidFill>
              </a:rPr>
              <a:t>x</a:t>
            </a:r>
            <a:r>
              <a:rPr dirty="0"/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	</a:t>
            </a:r>
            <a:r>
              <a:rPr dirty="0">
                <a:solidFill>
                  <a:srgbClr val="7E504F"/>
                </a:solidFill>
              </a:rPr>
              <a:t>value</a:t>
            </a:r>
            <a:r>
              <a:rPr dirty="0"/>
              <a:t> += </a:t>
            </a:r>
            <a:r>
              <a:rPr dirty="0">
                <a:solidFill>
                  <a:srgbClr val="7E504F"/>
                </a:solidFill>
              </a:rPr>
              <a:t>y</a:t>
            </a:r>
            <a:r>
              <a:rPr dirty="0"/>
              <a:t>*</a:t>
            </a:r>
            <a:r>
              <a:rPr dirty="0" err="1">
                <a:solidFill>
                  <a:srgbClr val="7E504F"/>
                </a:solidFill>
              </a:rPr>
              <a:t>coff</a:t>
            </a:r>
            <a:r>
              <a:rPr dirty="0"/>
              <a:t>[</a:t>
            </a:r>
            <a:r>
              <a:rPr dirty="0" err="1">
                <a:solidFill>
                  <a:srgbClr val="7E504F"/>
                </a:solidFill>
              </a:rPr>
              <a:t>i</a:t>
            </a:r>
            <a:r>
              <a:rPr dirty="0"/>
              <a:t>];</a:t>
            </a:r>
            <a:endParaRPr dirty="0">
              <a:solidFill>
                <a:srgbClr val="7E504F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}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	</a:t>
            </a:r>
            <a:r>
              <a:rPr dirty="0">
                <a:solidFill>
                  <a:srgbClr val="931A68"/>
                </a:solidFill>
              </a:rPr>
              <a:t>return</a:t>
            </a:r>
            <a:r>
              <a:rPr dirty="0"/>
              <a:t> </a:t>
            </a:r>
            <a:r>
              <a:rPr dirty="0">
                <a:solidFill>
                  <a:srgbClr val="7E504F"/>
                </a:solidFill>
              </a:rPr>
              <a:t>value</a:t>
            </a:r>
            <a:r>
              <a:rPr dirty="0"/>
              <a:t>;</a:t>
            </a:r>
            <a:endParaRPr dirty="0"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	}</a:t>
            </a:r>
          </a:p>
        </p:txBody>
      </p:sp>
      <p:sp>
        <p:nvSpPr>
          <p:cNvPr id="281" name="文本框 2"/>
          <p:cNvSpPr txBox="1"/>
          <p:nvPr/>
        </p:nvSpPr>
        <p:spPr>
          <a:xfrm>
            <a:off x="504552" y="5297530"/>
            <a:ext cx="2628475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7n + 4 = O(n)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1" animBg="1" advAuto="0"/>
      <p:bldP spid="280" grpId="2" animBg="1" advAuto="0"/>
      <p:bldP spid="281" grpId="3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局限性</a:t>
            </a:r>
          </a:p>
        </p:txBody>
      </p:sp>
      <p:sp>
        <p:nvSpPr>
          <p:cNvPr id="284" name="a3x3+a2x2+a1x+a0"/>
          <p:cNvSpPr txBox="1"/>
          <p:nvPr/>
        </p:nvSpPr>
        <p:spPr>
          <a:xfrm>
            <a:off x="1129841" y="2156919"/>
            <a:ext cx="2212529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a</a:t>
            </a:r>
            <a:r>
              <a:rPr baseline="-5998"/>
              <a:t>3</a:t>
            </a:r>
            <a:r>
              <a:t>x</a:t>
            </a:r>
            <a:r>
              <a:rPr baseline="31999"/>
              <a:t>3</a:t>
            </a:r>
            <a:r>
              <a:t>+a</a:t>
            </a:r>
            <a:r>
              <a:rPr baseline="-5998"/>
              <a:t>2</a:t>
            </a:r>
            <a:r>
              <a:t>x</a:t>
            </a:r>
            <a:r>
              <a:rPr baseline="31999"/>
              <a:t>2</a:t>
            </a:r>
            <a:r>
              <a:t>+a</a:t>
            </a:r>
            <a:r>
              <a:rPr baseline="-5998"/>
              <a:t>1</a:t>
            </a:r>
            <a:r>
              <a:t>x+a</a:t>
            </a:r>
            <a:r>
              <a:rPr baseline="-5998"/>
              <a:t>0</a:t>
            </a:r>
          </a:p>
        </p:txBody>
      </p:sp>
      <p:sp>
        <p:nvSpPr>
          <p:cNvPr id="285" name="=(a3x2+a2x+a1)x+a0"/>
          <p:cNvSpPr txBox="1"/>
          <p:nvPr/>
        </p:nvSpPr>
        <p:spPr>
          <a:xfrm>
            <a:off x="1006016" y="2585544"/>
            <a:ext cx="2485827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=(a</a:t>
            </a:r>
            <a:r>
              <a:rPr baseline="-5998"/>
              <a:t>3</a:t>
            </a:r>
            <a:r>
              <a:t>x</a:t>
            </a:r>
            <a:r>
              <a:rPr baseline="31999"/>
              <a:t>2</a:t>
            </a:r>
            <a:r>
              <a:t>+a</a:t>
            </a:r>
            <a:r>
              <a:rPr baseline="-5998"/>
              <a:t>2</a:t>
            </a:r>
            <a:r>
              <a:t>x+a</a:t>
            </a:r>
            <a:r>
              <a:rPr baseline="-5998"/>
              <a:t>1</a:t>
            </a:r>
            <a:r>
              <a:t>)x+a</a:t>
            </a:r>
            <a:r>
              <a:rPr baseline="-5998"/>
              <a:t>0</a:t>
            </a:r>
          </a:p>
        </p:txBody>
      </p:sp>
      <p:sp>
        <p:nvSpPr>
          <p:cNvPr id="286" name="=(a3x+a2)x+a1)x+a0"/>
          <p:cNvSpPr txBox="1"/>
          <p:nvPr/>
        </p:nvSpPr>
        <p:spPr>
          <a:xfrm>
            <a:off x="996491" y="2947494"/>
            <a:ext cx="2587229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=((a</a:t>
            </a:r>
            <a:r>
              <a:rPr baseline="-5998"/>
              <a:t>3</a:t>
            </a:r>
            <a:r>
              <a:t>x+a</a:t>
            </a:r>
            <a:r>
              <a:rPr baseline="-5998"/>
              <a:t>2</a:t>
            </a:r>
            <a:r>
              <a:t>)x+a</a:t>
            </a:r>
            <a:r>
              <a:rPr baseline="-5998"/>
              <a:t>1</a:t>
            </a:r>
            <a:r>
              <a:t>)x+a</a:t>
            </a:r>
            <a:r>
              <a:rPr baseline="-5998"/>
              <a:t>0</a:t>
            </a:r>
          </a:p>
        </p:txBody>
      </p:sp>
      <p:sp>
        <p:nvSpPr>
          <p:cNvPr id="287" name="bx+ai-1"/>
          <p:cNvSpPr txBox="1"/>
          <p:nvPr/>
        </p:nvSpPr>
        <p:spPr>
          <a:xfrm>
            <a:off x="1763962" y="3485000"/>
            <a:ext cx="926605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bx+a</a:t>
            </a:r>
            <a:r>
              <a:rPr baseline="-5998"/>
              <a:t>i-1</a:t>
            </a:r>
          </a:p>
        </p:txBody>
      </p:sp>
      <p:sp>
        <p:nvSpPr>
          <p:cNvPr id="288" name="重复多少次？？？"/>
          <p:cNvSpPr txBox="1"/>
          <p:nvPr/>
        </p:nvSpPr>
        <p:spPr>
          <a:xfrm>
            <a:off x="3118162" y="3440426"/>
            <a:ext cx="252730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重复多少次？？？</a:t>
            </a:r>
          </a:p>
        </p:txBody>
      </p:sp>
      <p:sp>
        <p:nvSpPr>
          <p:cNvPr id="289" name="文本框 2"/>
          <p:cNvSpPr txBox="1"/>
          <p:nvPr/>
        </p:nvSpPr>
        <p:spPr>
          <a:xfrm>
            <a:off x="191042" y="1494062"/>
            <a:ext cx="1858884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0" marR="0">
              <a:spcBef>
                <a:spcPts val="0"/>
              </a:spcBef>
              <a:defRPr sz="2400">
                <a:uFillTx/>
              </a:defRPr>
            </a:pPr>
            <a:r>
              <a:t>Horner算法：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局限性</a:t>
            </a:r>
          </a:p>
        </p:txBody>
      </p:sp>
      <p:sp>
        <p:nvSpPr>
          <p:cNvPr id="292" name="public static float polyHorner(float coff[], float x){…"/>
          <p:cNvSpPr txBox="1"/>
          <p:nvPr/>
        </p:nvSpPr>
        <p:spPr>
          <a:xfrm>
            <a:off x="-1" y="1045695"/>
            <a:ext cx="8777041" cy="284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 static float</a:t>
            </a:r>
            <a:r>
              <a:t> polyHorner(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coff</a:t>
            </a:r>
            <a:r>
              <a:t>[],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coff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- 1;</a:t>
            </a:r>
            <a:endParaRPr>
              <a:solidFill>
                <a:srgbClr val="0326CC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coff</a:t>
            </a:r>
            <a:r>
              <a:t>[</a:t>
            </a:r>
            <a:r>
              <a:rPr>
                <a:solidFill>
                  <a:srgbClr val="7E504F"/>
                </a:solidFill>
              </a:rPr>
              <a:t>n</a:t>
            </a:r>
            <a:r>
              <a:t>];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i++</a:t>
            </a:r>
            <a:r>
              <a:t>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 * </a:t>
            </a:r>
            <a:r>
              <a:rPr>
                <a:solidFill>
                  <a:srgbClr val="7E504F"/>
                </a:solidFill>
              </a:rPr>
              <a:t>x</a:t>
            </a:r>
            <a:r>
              <a:t> + </a:t>
            </a:r>
            <a:r>
              <a:rPr>
                <a:solidFill>
                  <a:srgbClr val="7E504F"/>
                </a:solidFill>
              </a:rPr>
              <a:t>coff</a:t>
            </a:r>
            <a:r>
              <a:t>[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 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  <a:endParaRPr>
              <a:solidFill>
                <a:srgbClr val="7E504F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93" name="文本框 9"/>
          <p:cNvSpPr txBox="1"/>
          <p:nvPr/>
        </p:nvSpPr>
        <p:spPr>
          <a:xfrm>
            <a:off x="504552" y="3945557"/>
            <a:ext cx="2628475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6n + 5 = O(n)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1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局限性</a:t>
            </a:r>
          </a:p>
        </p:txBody>
      </p:sp>
      <p:sp>
        <p:nvSpPr>
          <p:cNvPr id="296" name="文本框 9"/>
          <p:cNvSpPr txBox="1"/>
          <p:nvPr/>
        </p:nvSpPr>
        <p:spPr>
          <a:xfrm>
            <a:off x="582632" y="1522480"/>
            <a:ext cx="2628474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6n + 5 = O(n)</a:t>
            </a:r>
          </a:p>
        </p:txBody>
      </p:sp>
      <p:sp>
        <p:nvSpPr>
          <p:cNvPr id="297" name="文本框 13"/>
          <p:cNvSpPr txBox="1"/>
          <p:nvPr/>
        </p:nvSpPr>
        <p:spPr>
          <a:xfrm>
            <a:off x="582631" y="1966857"/>
            <a:ext cx="2628474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T(n) = 7n + 4 = O(n)</a:t>
            </a:r>
          </a:p>
        </p:txBody>
      </p:sp>
      <p:sp>
        <p:nvSpPr>
          <p:cNvPr id="298" name="文本框 3"/>
          <p:cNvSpPr txBox="1"/>
          <p:nvPr/>
        </p:nvSpPr>
        <p:spPr>
          <a:xfrm>
            <a:off x="460317" y="2613313"/>
            <a:ext cx="3801984" cy="1129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Horner 算法的基本操作少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Horner算法的</a:t>
            </a:r>
            <a:r>
              <a:rPr>
                <a:solidFill>
                  <a:srgbClr val="FF0000"/>
                </a:solidFill>
              </a:rPr>
              <a:t>乘法操作少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1" build="p" bldLvl="5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空间复杂性模型</a:t>
            </a:r>
          </a:p>
        </p:txBody>
      </p:sp>
      <p:sp>
        <p:nvSpPr>
          <p:cNvPr id="301" name="文本框 2"/>
          <p:cNvSpPr txBox="1"/>
          <p:nvPr/>
        </p:nvSpPr>
        <p:spPr>
          <a:xfrm>
            <a:off x="96630" y="1470311"/>
            <a:ext cx="7320281" cy="174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只计局部变量的个数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buSzPct val="100000"/>
              <a:buChar char="●"/>
              <a:defRPr sz="2400">
                <a:uFillTx/>
              </a:defRPr>
            </a:pPr>
            <a:r>
              <a:t>不计执行方法时其它必须的空间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defRPr sz="2400">
                <a:uFillTx/>
              </a:defRPr>
            </a:pPr>
            <a:r>
              <a:t>   如方法的返回地址、返回值、中间结果等占用的空间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空间复杂性计算</a:t>
            </a:r>
          </a:p>
        </p:txBody>
      </p:sp>
      <p:sp>
        <p:nvSpPr>
          <p:cNvPr id="304" name="public int factorial (int n){…"/>
          <p:cNvSpPr txBox="1"/>
          <p:nvPr/>
        </p:nvSpPr>
        <p:spPr>
          <a:xfrm>
            <a:off x="313771" y="1192293"/>
            <a:ext cx="6185819" cy="3248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long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(n == 0)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long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rPr>
                <a:solidFill>
                  <a:srgbClr val="000000"/>
                </a:solidFill>
              </a:rPr>
              <a:t> = 1;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2;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i++</a:t>
            </a:r>
            <a:r>
              <a:t>)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f</a:t>
            </a:r>
            <a:r>
              <a:t> *=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f</a:t>
            </a:r>
            <a:r>
              <a:t>;	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305" name="文本框 4"/>
          <p:cNvSpPr txBox="1"/>
          <p:nvPr/>
        </p:nvSpPr>
        <p:spPr>
          <a:xfrm>
            <a:off x="702771" y="4478272"/>
            <a:ext cx="1982709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S(n) = 3 = O(1)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" grpId="1" animBg="1" advAuto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空间复杂性计算</a:t>
            </a:r>
          </a:p>
        </p:txBody>
      </p:sp>
      <p:sp>
        <p:nvSpPr>
          <p:cNvPr id="308" name="文本框 4"/>
          <p:cNvSpPr txBox="1"/>
          <p:nvPr/>
        </p:nvSpPr>
        <p:spPr>
          <a:xfrm>
            <a:off x="959080" y="4094593"/>
            <a:ext cx="1982709" cy="39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S(n) = 3 = O(1)</a:t>
            </a:r>
          </a:p>
        </p:txBody>
      </p:sp>
      <p:sp>
        <p:nvSpPr>
          <p:cNvPr id="309" name="public int sequentialSearch(int a[],int x){…"/>
          <p:cNvSpPr txBox="1"/>
          <p:nvPr/>
        </p:nvSpPr>
        <p:spPr>
          <a:xfrm>
            <a:off x="53474" y="1221469"/>
            <a:ext cx="8167341" cy="2776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int</a:t>
            </a:r>
            <a:r>
              <a:t> sequentialSearch(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[],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i++){</a:t>
            </a: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x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 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-1;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1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空间复杂性计算</a:t>
            </a:r>
          </a:p>
        </p:txBody>
      </p:sp>
      <p:sp>
        <p:nvSpPr>
          <p:cNvPr id="312" name="public int factorial (int n){…"/>
          <p:cNvSpPr txBox="1"/>
          <p:nvPr/>
        </p:nvSpPr>
        <p:spPr>
          <a:xfrm>
            <a:off x="-236771" y="1182240"/>
            <a:ext cx="7130852" cy="248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 int</a:t>
            </a:r>
            <a:r>
              <a:t> factorial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){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0)	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* factorial(</a:t>
            </a:r>
            <a:r>
              <a:rPr>
                <a:solidFill>
                  <a:srgbClr val="7E504F"/>
                </a:solidFill>
              </a:rPr>
              <a:t>n</a:t>
            </a:r>
            <a:r>
              <a:t>-1);	</a:t>
            </a:r>
          </a:p>
          <a:p>
            <a:pPr marL="0" marR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	</a:t>
            </a:r>
          </a:p>
        </p:txBody>
      </p:sp>
      <p:sp>
        <p:nvSpPr>
          <p:cNvPr id="313" name="f(5)"/>
          <p:cNvSpPr txBox="1"/>
          <p:nvPr/>
        </p:nvSpPr>
        <p:spPr>
          <a:xfrm>
            <a:off x="6927938" y="1546801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f(5)</a:t>
            </a:r>
          </a:p>
        </p:txBody>
      </p:sp>
      <p:sp>
        <p:nvSpPr>
          <p:cNvPr id="314" name="f(4)"/>
          <p:cNvSpPr txBox="1"/>
          <p:nvPr/>
        </p:nvSpPr>
        <p:spPr>
          <a:xfrm>
            <a:off x="6927938" y="1975426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f(4)</a:t>
            </a:r>
          </a:p>
        </p:txBody>
      </p:sp>
      <p:sp>
        <p:nvSpPr>
          <p:cNvPr id="315" name="f(3)"/>
          <p:cNvSpPr txBox="1"/>
          <p:nvPr/>
        </p:nvSpPr>
        <p:spPr>
          <a:xfrm>
            <a:off x="6927938" y="2451676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f(3)</a:t>
            </a:r>
          </a:p>
        </p:txBody>
      </p:sp>
      <p:sp>
        <p:nvSpPr>
          <p:cNvPr id="316" name="f(2)"/>
          <p:cNvSpPr txBox="1"/>
          <p:nvPr/>
        </p:nvSpPr>
        <p:spPr>
          <a:xfrm>
            <a:off x="6927938" y="28996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f(2)</a:t>
            </a:r>
          </a:p>
        </p:txBody>
      </p:sp>
      <p:sp>
        <p:nvSpPr>
          <p:cNvPr id="317" name="f(1)"/>
          <p:cNvSpPr txBox="1"/>
          <p:nvPr/>
        </p:nvSpPr>
        <p:spPr>
          <a:xfrm>
            <a:off x="6927938" y="33949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f(1)</a:t>
            </a:r>
          </a:p>
        </p:txBody>
      </p:sp>
      <p:sp>
        <p:nvSpPr>
          <p:cNvPr id="318" name="线条"/>
          <p:cNvSpPr/>
          <p:nvPr/>
        </p:nvSpPr>
        <p:spPr>
          <a:xfrm>
            <a:off x="7171212" y="187791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9" name="线条"/>
          <p:cNvSpPr/>
          <p:nvPr/>
        </p:nvSpPr>
        <p:spPr>
          <a:xfrm>
            <a:off x="7171212" y="233511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0" name="线条"/>
          <p:cNvSpPr/>
          <p:nvPr/>
        </p:nvSpPr>
        <p:spPr>
          <a:xfrm>
            <a:off x="7171212" y="2801837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1" name="线条"/>
          <p:cNvSpPr/>
          <p:nvPr/>
        </p:nvSpPr>
        <p:spPr>
          <a:xfrm>
            <a:off x="7171212" y="326856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2" name="f(0)"/>
          <p:cNvSpPr txBox="1"/>
          <p:nvPr/>
        </p:nvSpPr>
        <p:spPr>
          <a:xfrm>
            <a:off x="6927938" y="3890240"/>
            <a:ext cx="545803" cy="40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t>f(0)</a:t>
            </a:r>
          </a:p>
        </p:txBody>
      </p:sp>
      <p:sp>
        <p:nvSpPr>
          <p:cNvPr id="323" name="线条"/>
          <p:cNvSpPr/>
          <p:nvPr/>
        </p:nvSpPr>
        <p:spPr>
          <a:xfrm>
            <a:off x="7171212" y="3763862"/>
            <a:ext cx="2" cy="20534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289" tIns="34289" rIns="34289" bIns="34289"/>
          <a:lstStyle/>
          <a:p>
            <a:pPr marL="0" marR="0">
              <a:spcBef>
                <a:spcPts val="0"/>
              </a:spcBef>
              <a:defRPr sz="1800">
                <a:uFillTx/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4" name="文本框 3"/>
          <p:cNvSpPr txBox="1"/>
          <p:nvPr/>
        </p:nvSpPr>
        <p:spPr>
          <a:xfrm>
            <a:off x="429144" y="3774987"/>
            <a:ext cx="1508744" cy="438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tIns="34289" rIns="34289" bIns="34289">
            <a:spAutoFit/>
          </a:bodyPr>
          <a:lstStyle>
            <a:lvl1pPr marL="0" marR="0">
              <a:spcBef>
                <a:spcPts val="0"/>
              </a:spcBef>
              <a:defRPr sz="2400">
                <a:uFillTx/>
              </a:defRPr>
            </a:lvl1pPr>
          </a:lstStyle>
          <a:p>
            <a:r>
              <a:rPr dirty="0"/>
              <a:t>S(n) = O(n)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1" animBg="1" advAuto="0"/>
      <p:bldP spid="314" grpId="2" animBg="1" advAuto="0"/>
      <p:bldP spid="315" grpId="3" animBg="1" advAuto="0"/>
      <p:bldP spid="316" grpId="4" animBg="1" advAuto="0"/>
      <p:bldP spid="317" grpId="5" animBg="1" advAuto="0"/>
      <p:bldP spid="318" grpId="6" animBg="1" advAuto="0"/>
      <p:bldP spid="319" grpId="7" animBg="1" advAuto="0"/>
      <p:bldP spid="320" grpId="8" animBg="1" advAuto="0"/>
      <p:bldP spid="321" grpId="9" animBg="1" advAuto="0"/>
      <p:bldP spid="322" grpId="10" animBg="1" advAuto="0"/>
      <p:bldP spid="323" grpId="11" animBg="1" advAuto="0"/>
      <p:bldP spid="324" grpId="12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程序性能的测量</a:t>
            </a:r>
          </a:p>
        </p:txBody>
      </p:sp>
      <p:sp>
        <p:nvSpPr>
          <p:cNvPr id="327" name="public class Test {…"/>
          <p:cNvSpPr txBox="1"/>
          <p:nvPr/>
        </p:nvSpPr>
        <p:spPr>
          <a:xfrm>
            <a:off x="-26019" y="1155824"/>
            <a:ext cx="7303245" cy="3894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100000;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</a:t>
            </a:r>
            <a:r>
              <a:rPr>
                <a:solidFill>
                  <a:srgbClr val="7E504F"/>
                </a:solidFill>
              </a:rPr>
              <a:t>n</a:t>
            </a:r>
            <a:r>
              <a:t>];</a:t>
            </a:r>
            <a:endParaRPr>
              <a:solidFill>
                <a:srgbClr val="931A68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long</a:t>
            </a:r>
            <a:r>
              <a:t> </a:t>
            </a:r>
            <a:r>
              <a:rPr>
                <a:solidFill>
                  <a:srgbClr val="7E504F"/>
                </a:solidFill>
              </a:rPr>
              <a:t>start</a:t>
            </a:r>
            <a:r>
              <a:t> = System.nanoTime();</a:t>
            </a:r>
            <a:r>
              <a:rPr>
                <a:solidFill>
                  <a:srgbClr val="4E9072"/>
                </a:solidFill>
              </a:rPr>
              <a:t>// 纳秒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sequentialSearch(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- 1);</a:t>
            </a:r>
            <a:r>
              <a:rPr>
                <a:solidFill>
                  <a:srgbClr val="4E9072"/>
                </a:solidFill>
              </a:rPr>
              <a:t>// 找最后一个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long</a:t>
            </a:r>
            <a:r>
              <a:t> </a:t>
            </a:r>
            <a:r>
              <a:rPr>
                <a:solidFill>
                  <a:srgbClr val="7E504F"/>
                </a:solidFill>
              </a:rPr>
              <a:t>end</a:t>
            </a:r>
            <a:r>
              <a:t> = System.nanoTime();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.println((</a:t>
            </a:r>
            <a:r>
              <a:rPr>
                <a:solidFill>
                  <a:srgbClr val="7E504F"/>
                </a:solidFill>
              </a:rPr>
              <a:t>end</a:t>
            </a:r>
            <a:r>
              <a:t> - </a:t>
            </a:r>
            <a:r>
              <a:rPr>
                <a:solidFill>
                  <a:srgbClr val="7E504F"/>
                </a:solidFill>
              </a:rPr>
              <a:t>start)/n</a:t>
            </a:r>
            <a:r>
              <a:t>);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(n)=Θ(h(n))，如果存在正常数c1、c2和n0， n≥n0，c1h(n)  ≤T(n) ≤c2h(n)…"/>
          <p:cNvSpPr txBox="1"/>
          <p:nvPr/>
        </p:nvSpPr>
        <p:spPr>
          <a:xfrm>
            <a:off x="1042987" y="1235075"/>
            <a:ext cx="7429501" cy="190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T(n)=Θ(</a:t>
            </a:r>
            <a:r>
              <a:rPr i="1"/>
              <a:t>h</a:t>
            </a:r>
            <a:r>
              <a:t>(n))，如果存在正常数</a:t>
            </a:r>
            <a:r>
              <a:rPr i="1"/>
              <a:t>c</a:t>
            </a:r>
            <a:r>
              <a:rPr i="1" baseline="-25000"/>
              <a:t>1</a:t>
            </a:r>
            <a:r>
              <a:t>、</a:t>
            </a:r>
            <a:r>
              <a:rPr i="1"/>
              <a:t>c</a:t>
            </a:r>
            <a:r>
              <a:rPr i="1" baseline="-25000"/>
              <a:t>2</a:t>
            </a:r>
            <a:r>
              <a:t>和</a:t>
            </a:r>
            <a:r>
              <a:rPr i="1"/>
              <a:t>n0</a:t>
            </a:r>
            <a:r>
              <a:t>， n≥</a:t>
            </a:r>
            <a:r>
              <a:rPr i="1"/>
              <a:t>n</a:t>
            </a:r>
            <a:r>
              <a:rPr i="1" baseline="-25000"/>
              <a:t>0</a:t>
            </a:r>
            <a:r>
              <a:t>，</a:t>
            </a:r>
            <a:r>
              <a:rPr i="1"/>
              <a:t>c</a:t>
            </a:r>
            <a:r>
              <a:rPr i="1" baseline="-25000"/>
              <a:t>1</a:t>
            </a:r>
            <a:r>
              <a:rPr i="1"/>
              <a:t>h</a:t>
            </a:r>
            <a:r>
              <a:t>(n)  ≤T(n) ≤</a:t>
            </a:r>
            <a:r>
              <a:rPr i="1"/>
              <a:t>c</a:t>
            </a:r>
            <a:r>
              <a:rPr i="1" baseline="-25000"/>
              <a:t>2</a:t>
            </a:r>
            <a:r>
              <a:rPr i="1"/>
              <a:t>h</a:t>
            </a:r>
            <a:r>
              <a:t>(n)</a:t>
            </a:r>
          </a:p>
          <a:p>
            <a:r>
              <a:t>叫做渐近确界</a:t>
            </a:r>
          </a:p>
        </p:txBody>
      </p:sp>
      <p:grpSp>
        <p:nvGrpSpPr>
          <p:cNvPr id="332" name="成组"/>
          <p:cNvGrpSpPr/>
          <p:nvPr/>
        </p:nvGrpSpPr>
        <p:grpSpPr>
          <a:xfrm>
            <a:off x="808037" y="3255962"/>
            <a:ext cx="7899401" cy="447676"/>
            <a:chOff x="0" y="0"/>
            <a:chExt cx="7899400" cy="447675"/>
          </a:xfrm>
        </p:grpSpPr>
        <p:sp>
          <p:nvSpPr>
            <p:cNvPr id="330" name="T(n)=Θ(h(n))        T(n)= O(h(n))且 T(n)=Ω(h(n))"/>
            <p:cNvSpPr/>
            <p:nvPr/>
          </p:nvSpPr>
          <p:spPr>
            <a:xfrm>
              <a:off x="0" y="0"/>
              <a:ext cx="78994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r>
                <a:t>T(n)=Θ(</a:t>
              </a:r>
              <a:r>
                <a:rPr i="1"/>
                <a:t>h</a:t>
              </a:r>
              <a:r>
                <a:t>(n))        T(n)= O(</a:t>
              </a:r>
              <a:r>
                <a:rPr i="1"/>
                <a:t>h</a:t>
              </a:r>
              <a:r>
                <a:t>(n))且 T(n)=Ω(</a:t>
              </a:r>
              <a:r>
                <a:rPr i="1"/>
                <a:t>h</a:t>
              </a:r>
              <a:r>
                <a:t>(n))</a:t>
              </a:r>
            </a:p>
          </p:txBody>
        </p:sp>
        <p:sp>
          <p:nvSpPr>
            <p:cNvPr id="331" name="双箭头"/>
            <p:cNvSpPr/>
            <p:nvPr/>
          </p:nvSpPr>
          <p:spPr>
            <a:xfrm>
              <a:off x="2084387" y="231775"/>
              <a:ext cx="612776" cy="215900"/>
            </a:xfrm>
            <a:prstGeom prst="leftRightArrow">
              <a:avLst>
                <a:gd name="adj1" fmla="val 50000"/>
                <a:gd name="adj2" fmla="val 56765"/>
              </a:avLst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333" name="渐进分析-Θ记号"/>
          <p:cNvSpPr txBox="1"/>
          <p:nvPr/>
        </p:nvSpPr>
        <p:spPr>
          <a:xfrm>
            <a:off x="952500" y="36512"/>
            <a:ext cx="7239000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>
              <a:spcBef>
                <a:spcPts val="0"/>
              </a:spcBef>
              <a:buFont typeface="Helvetica"/>
              <a:defRPr sz="400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渐进分析-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t>记号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(n)=o(g(n))，当且仅当：…"/>
          <p:cNvSpPr txBox="1"/>
          <p:nvPr/>
        </p:nvSpPr>
        <p:spPr>
          <a:xfrm>
            <a:off x="1042987" y="1235075"/>
            <a:ext cx="7429501" cy="133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T(n)=o(</a:t>
            </a:r>
            <a:r>
              <a:rPr i="1"/>
              <a:t>g</a:t>
            </a:r>
            <a:r>
              <a:t>(n))，当且仅当：</a:t>
            </a:r>
          </a:p>
          <a:p>
            <a:r>
              <a:t>T(n) =</a:t>
            </a:r>
            <a:r>
              <a:rPr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</a:rPr>
              <a:t>O</a:t>
            </a:r>
            <a:r>
              <a:t>(</a:t>
            </a:r>
            <a:r>
              <a:rPr i="1"/>
              <a:t>g</a:t>
            </a:r>
            <a:r>
              <a:t>(n))且 T(n) != Ω(</a:t>
            </a:r>
            <a:r>
              <a:rPr i="1"/>
              <a:t>g</a:t>
            </a:r>
            <a:r>
              <a:t>(n))</a:t>
            </a:r>
          </a:p>
        </p:txBody>
      </p:sp>
      <p:sp>
        <p:nvSpPr>
          <p:cNvPr id="336" name="渐进分析-o记号"/>
          <p:cNvSpPr txBox="1"/>
          <p:nvPr/>
        </p:nvSpPr>
        <p:spPr>
          <a:xfrm>
            <a:off x="947737" y="28575"/>
            <a:ext cx="72390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>
              <a:spcBef>
                <a:spcPts val="0"/>
              </a:spcBef>
              <a:buFont typeface="Helvetica"/>
              <a:defRPr sz="400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渐进分析-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t>记号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小 结"/>
          <p:cNvSpPr txBox="1"/>
          <p:nvPr/>
        </p:nvSpPr>
        <p:spPr>
          <a:xfrm>
            <a:off x="541019" y="-1588"/>
            <a:ext cx="7937501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小 结</a:t>
            </a:r>
          </a:p>
        </p:txBody>
      </p:sp>
      <p:sp>
        <p:nvSpPr>
          <p:cNvPr id="339" name="线条"/>
          <p:cNvSpPr/>
          <p:nvPr/>
        </p:nvSpPr>
        <p:spPr>
          <a:xfrm>
            <a:off x="1293812" y="1782762"/>
            <a:ext cx="217488" cy="3819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0" name="算法分析"/>
          <p:cNvSpPr txBox="1"/>
          <p:nvPr/>
        </p:nvSpPr>
        <p:spPr>
          <a:xfrm>
            <a:off x="1547812" y="3722687"/>
            <a:ext cx="16637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算法分析</a:t>
            </a:r>
          </a:p>
        </p:txBody>
      </p:sp>
      <p:sp>
        <p:nvSpPr>
          <p:cNvPr id="341" name="算法的概念"/>
          <p:cNvSpPr txBox="1"/>
          <p:nvPr/>
        </p:nvSpPr>
        <p:spPr>
          <a:xfrm>
            <a:off x="1547812" y="1563687"/>
            <a:ext cx="22098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算法的概念 </a:t>
            </a:r>
          </a:p>
        </p:txBody>
      </p:sp>
      <p:sp>
        <p:nvSpPr>
          <p:cNvPr id="342" name="线条"/>
          <p:cNvSpPr/>
          <p:nvPr/>
        </p:nvSpPr>
        <p:spPr>
          <a:xfrm>
            <a:off x="3852862" y="1389062"/>
            <a:ext cx="179388" cy="1014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3" name="算法"/>
          <p:cNvSpPr txBox="1"/>
          <p:nvPr/>
        </p:nvSpPr>
        <p:spPr>
          <a:xfrm>
            <a:off x="4076700" y="1244600"/>
            <a:ext cx="866141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r>
              <a:t>算法</a:t>
            </a:r>
          </a:p>
        </p:txBody>
      </p:sp>
      <p:sp>
        <p:nvSpPr>
          <p:cNvPr id="344" name="特性"/>
          <p:cNvSpPr txBox="1"/>
          <p:nvPr/>
        </p:nvSpPr>
        <p:spPr>
          <a:xfrm>
            <a:off x="4076700" y="1990725"/>
            <a:ext cx="866141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r>
              <a:t>特性</a:t>
            </a:r>
          </a:p>
        </p:txBody>
      </p:sp>
      <p:sp>
        <p:nvSpPr>
          <p:cNvPr id="345" name="线条"/>
          <p:cNvSpPr/>
          <p:nvPr/>
        </p:nvSpPr>
        <p:spPr>
          <a:xfrm rot="10800000" flipH="1">
            <a:off x="3852862" y="3008312"/>
            <a:ext cx="179388" cy="2069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6" name="问题的规模n"/>
          <p:cNvSpPr txBox="1"/>
          <p:nvPr/>
        </p:nvSpPr>
        <p:spPr>
          <a:xfrm>
            <a:off x="4076700" y="2828925"/>
            <a:ext cx="2110741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Font typeface="Times New Roman"/>
            </a:pPr>
            <a:r>
              <a:t>问题的规模n</a:t>
            </a:r>
          </a:p>
        </p:txBody>
      </p:sp>
      <p:sp>
        <p:nvSpPr>
          <p:cNvPr id="347" name="执行时间和空间是n的函数。"/>
          <p:cNvSpPr txBox="1"/>
          <p:nvPr/>
        </p:nvSpPr>
        <p:spPr>
          <a:xfrm>
            <a:off x="4076700" y="3400425"/>
            <a:ext cx="4599941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Font typeface="Times New Roman"/>
            </a:pPr>
            <a:r>
              <a:t>执行时间和空间是n的函数。</a:t>
            </a:r>
          </a:p>
        </p:txBody>
      </p:sp>
      <p:sp>
        <p:nvSpPr>
          <p:cNvPr id="348" name="O的含义"/>
          <p:cNvSpPr txBox="1"/>
          <p:nvPr/>
        </p:nvSpPr>
        <p:spPr>
          <a:xfrm>
            <a:off x="4076700" y="3976687"/>
            <a:ext cx="147854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r>
              <a:t>O的含义</a:t>
            </a:r>
          </a:p>
        </p:txBody>
      </p:sp>
      <p:sp>
        <p:nvSpPr>
          <p:cNvPr id="349" name="如何求出T(n)的阶"/>
          <p:cNvSpPr txBox="1"/>
          <p:nvPr/>
        </p:nvSpPr>
        <p:spPr>
          <a:xfrm>
            <a:off x="4076700" y="4557712"/>
            <a:ext cx="4368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如何求出T(n)的阶</a:t>
            </a:r>
          </a:p>
        </p:txBody>
      </p:sp>
      <p:sp>
        <p:nvSpPr>
          <p:cNvPr id="350" name="常用算法"/>
          <p:cNvSpPr txBox="1"/>
          <p:nvPr/>
        </p:nvSpPr>
        <p:spPr>
          <a:xfrm>
            <a:off x="1547812" y="5297487"/>
            <a:ext cx="16637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r>
              <a:t>常用算法</a:t>
            </a:r>
          </a:p>
        </p:txBody>
      </p:sp>
      <p:sp>
        <p:nvSpPr>
          <p:cNvPr id="351" name="顺序和折半查找算法、…"/>
          <p:cNvSpPr txBox="1"/>
          <p:nvPr/>
        </p:nvSpPr>
        <p:spPr>
          <a:xfrm>
            <a:off x="4076700" y="5256212"/>
            <a:ext cx="436880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0" marR="0" defTabSz="321468">
              <a:lnSpc>
                <a:spcPct val="120000"/>
              </a:lnSpc>
              <a:spcBef>
                <a:spcPts val="0"/>
              </a:spcBef>
              <a:defRPr>
                <a:uFillTx/>
              </a:defRPr>
            </a:pPr>
            <a:r>
              <a:t>顺序和折半查找算法、</a:t>
            </a:r>
          </a:p>
          <a:p>
            <a:pPr marL="0" marR="0" defTabSz="321468">
              <a:lnSpc>
                <a:spcPct val="120000"/>
              </a:lnSpc>
              <a:spcBef>
                <a:spcPts val="0"/>
              </a:spcBef>
              <a:defRPr>
                <a:uFillTx/>
              </a:defRPr>
            </a:pPr>
            <a:r>
              <a:t>Horner算法</a:t>
            </a:r>
          </a:p>
        </p:txBody>
      </p:sp>
      <p:sp>
        <p:nvSpPr>
          <p:cNvPr id="352" name="线条"/>
          <p:cNvSpPr/>
          <p:nvPr/>
        </p:nvSpPr>
        <p:spPr>
          <a:xfrm>
            <a:off x="3852862" y="5316537"/>
            <a:ext cx="179388" cy="1014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1" animBg="1" advAuto="0"/>
      <p:bldP spid="340" grpId="6" animBg="1" advAuto="0"/>
      <p:bldP spid="341" grpId="2" animBg="1" advAuto="0"/>
      <p:bldP spid="342" grpId="3" animBg="1" advAuto="0"/>
      <p:bldP spid="343" grpId="4" animBg="1" advAuto="0"/>
      <p:bldP spid="344" grpId="5" animBg="1" advAuto="0"/>
      <p:bldP spid="345" grpId="7" animBg="1" advAuto="0"/>
      <p:bldP spid="346" grpId="8" animBg="1" advAuto="0"/>
      <p:bldP spid="347" grpId="9" animBg="1" advAuto="0"/>
      <p:bldP spid="348" grpId="10" animBg="1" advAuto="0"/>
      <p:bldP spid="349" grpId="11" animBg="1" advAuto="0"/>
      <p:bldP spid="350" grpId="12" animBg="1" advAuto="0"/>
      <p:bldP spid="351" grpId="13" animBg="1" advAuto="0"/>
      <p:bldP spid="352" grpId="14" animBg="1" advAuto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作业"/>
          <p:cNvSpPr txBox="1"/>
          <p:nvPr/>
        </p:nvSpPr>
        <p:spPr>
          <a:xfrm>
            <a:off x="719137" y="44450"/>
            <a:ext cx="79375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作业</a:t>
            </a:r>
          </a:p>
        </p:txBody>
      </p:sp>
      <p:sp>
        <p:nvSpPr>
          <p:cNvPr id="355" name="1、编写程序计算n = 1 、2、4、8、16、32时，以下函数的值：…"/>
          <p:cNvSpPr txBox="1"/>
          <p:nvPr/>
        </p:nvSpPr>
        <p:spPr>
          <a:xfrm>
            <a:off x="637050" y="1060595"/>
            <a:ext cx="8133350" cy="5397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/>
            </a:pPr>
            <a:r>
              <a:t>1、编写程序计算n = 1 、2、4、8、16、32时，以下函数的值：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1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logn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n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nlogn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n</a:t>
            </a:r>
            <a:r>
              <a:rPr baseline="31999"/>
              <a:t>2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n</a:t>
            </a:r>
            <a:r>
              <a:rPr baseline="31999"/>
              <a:t>3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2</a:t>
            </a:r>
            <a:r>
              <a:rPr baseline="31999"/>
              <a:t>n</a:t>
            </a:r>
          </a:p>
          <a:p>
            <a:pPr marL="818515" lvl="1" indent="-333375">
              <a:buSzPct val="45000"/>
              <a:buBlip>
                <a:blip r:embed="rId2"/>
              </a:buBlip>
              <a:defRPr sz="2300"/>
            </a:pPr>
            <a:r>
              <a:t>n!</a:t>
            </a:r>
          </a:p>
          <a:p>
            <a:pPr>
              <a:defRPr sz="2300"/>
            </a:pPr>
            <a:r>
              <a:t>用excel做表，保存为PDF。提交"漂亮的"表格(log以2为底)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作业"/>
          <p:cNvSpPr txBox="1"/>
          <p:nvPr/>
        </p:nvSpPr>
        <p:spPr>
          <a:xfrm>
            <a:off x="719137" y="44450"/>
            <a:ext cx="79375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作业</a:t>
            </a:r>
          </a:p>
        </p:txBody>
      </p:sp>
      <p:sp>
        <p:nvSpPr>
          <p:cNvPr id="358" name="2、测试你的机器跑递归的阶乘…"/>
          <p:cNvSpPr txBox="1"/>
          <p:nvPr/>
        </p:nvSpPr>
        <p:spPr>
          <a:xfrm>
            <a:off x="294005" y="1160846"/>
            <a:ext cx="5146016" cy="133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2、测试你的机器跑递归的阶乘</a:t>
            </a:r>
          </a:p>
          <a:p>
            <a:r>
              <a:t>程序， 当n=?时，程序开始抛出:</a:t>
            </a:r>
          </a:p>
        </p:txBody>
      </p:sp>
      <p:sp>
        <p:nvSpPr>
          <p:cNvPr id="359" name="java.lang.StackOverflowError"/>
          <p:cNvSpPr txBox="1"/>
          <p:nvPr/>
        </p:nvSpPr>
        <p:spPr>
          <a:xfrm>
            <a:off x="1306830" y="3152275"/>
            <a:ext cx="6302748" cy="553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0" marR="0" defTabSz="457200">
              <a:spcBef>
                <a:spcPts val="0"/>
              </a:spcBef>
              <a:defRPr sz="2900">
                <a:solidFill>
                  <a:srgbClr val="FF2600"/>
                </a:solidFill>
                <a:uFillTx/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java.lang.StackOverflowError</a:t>
            </a:r>
          </a:p>
        </p:txBody>
      </p:sp>
      <p:sp>
        <p:nvSpPr>
          <p:cNvPr id="360" name="注意：ppt的代码的返回值是int，能表示的数太小，要用…"/>
          <p:cNvSpPr txBox="1"/>
          <p:nvPr/>
        </p:nvSpPr>
        <p:spPr>
          <a:xfrm>
            <a:off x="192405" y="4008118"/>
            <a:ext cx="8807932" cy="206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注意：ppt的代码的返回值是int，能表示的数太小，要用</a:t>
            </a:r>
          </a:p>
          <a:p>
            <a:r>
              <a:t>long或double。记录下你尝试的次数(我的机器n=15000</a:t>
            </a:r>
          </a:p>
          <a:p>
            <a:r>
              <a:t>肯定抛出异常)。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作业"/>
          <p:cNvSpPr txBox="1"/>
          <p:nvPr/>
        </p:nvSpPr>
        <p:spPr>
          <a:xfrm>
            <a:off x="719137" y="44450"/>
            <a:ext cx="79375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作业</a:t>
            </a:r>
          </a:p>
        </p:txBody>
      </p:sp>
      <p:sp>
        <p:nvSpPr>
          <p:cNvPr id="363" name="3、请给出++x的执行次数与n函数关系(严格，不用O)…"/>
          <p:cNvSpPr txBox="1"/>
          <p:nvPr/>
        </p:nvSpPr>
        <p:spPr>
          <a:xfrm>
            <a:off x="389890" y="1160462"/>
            <a:ext cx="8298830" cy="3791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0" marR="0" defTabSz="457200">
              <a:lnSpc>
                <a:spcPct val="120000"/>
              </a:lnSpc>
              <a:spcBef>
                <a:spcPts val="0"/>
              </a:spcBef>
              <a:defRPr>
                <a:uFillTx/>
              </a:defRPr>
            </a:pPr>
            <a:r>
              <a:t>3、请给出++x的执行次数与n函数关系(严格，不用O)</a:t>
            </a:r>
          </a:p>
          <a:p>
            <a:pPr marL="0" marR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fun(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t> = 1;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; i++)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j</a:t>
            </a:r>
            <a:r>
              <a:t>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j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k</a:t>
            </a:r>
            <a:r>
              <a:t>)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	++</a:t>
            </a:r>
            <a:r>
              <a:rPr>
                <a:solidFill>
                  <a:srgbClr val="7E504F"/>
                </a:solidFill>
              </a:rPr>
              <a:t>x</a:t>
            </a:r>
            <a:r>
              <a:t>;</a:t>
            </a:r>
          </a:p>
          <a:p>
            <a:pPr marL="0" marR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 marL="0" marR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作业(自我练习)"/>
          <p:cNvSpPr txBox="1"/>
          <p:nvPr/>
        </p:nvSpPr>
        <p:spPr>
          <a:xfrm>
            <a:off x="719137" y="44450"/>
            <a:ext cx="79375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作业(自我练习)</a:t>
            </a:r>
          </a:p>
        </p:txBody>
      </p:sp>
      <p:sp>
        <p:nvSpPr>
          <p:cNvPr id="366" name="输入：a0  ≤ a1  ≤ …… ≤ an-1， x…"/>
          <p:cNvSpPr txBox="1"/>
          <p:nvPr/>
        </p:nvSpPr>
        <p:spPr>
          <a:xfrm>
            <a:off x="971550" y="1000125"/>
            <a:ext cx="7213600" cy="3050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600"/>
              </a:spcBef>
            </a:pPr>
            <a:r>
              <a:t>输入：a</a:t>
            </a:r>
            <a:r>
              <a:rPr baseline="-25000"/>
              <a:t>0  </a:t>
            </a:r>
            <a:r>
              <a:t>≤ a</a:t>
            </a:r>
            <a:r>
              <a:rPr baseline="-25000"/>
              <a:t>1  </a:t>
            </a:r>
            <a:r>
              <a:t>≤ …… ≤ a</a:t>
            </a:r>
            <a:r>
              <a:rPr baseline="-25000"/>
              <a:t>n-1</a:t>
            </a:r>
            <a:r>
              <a:t>， x</a:t>
            </a:r>
          </a:p>
          <a:p>
            <a:pPr>
              <a:spcBef>
                <a:spcPts val="600"/>
              </a:spcBef>
            </a:pPr>
            <a:r>
              <a:t>修改折半查找算法:</a:t>
            </a:r>
          </a:p>
          <a:p>
            <a:pPr>
              <a:spcBef>
                <a:spcPts val="600"/>
              </a:spcBef>
            </a:pPr>
            <a:r>
              <a:t>1、找到x的第1次出现的位置</a:t>
            </a:r>
          </a:p>
          <a:p>
            <a:pPr>
              <a:spcBef>
                <a:spcPts val="600"/>
              </a:spcBef>
            </a:pPr>
            <a:r>
              <a:t>2、找到x的最后1次出现的位置</a:t>
            </a:r>
          </a:p>
          <a:p>
            <a:pPr>
              <a:spcBef>
                <a:spcPts val="600"/>
              </a:spcBef>
            </a:pPr>
            <a:r>
              <a:t>3、给出x出现的次数</a:t>
            </a:r>
          </a:p>
        </p:txBody>
      </p:sp>
      <p:sp>
        <p:nvSpPr>
          <p:cNvPr id="367" name="阅读：数据结构与算法之美 3.8节"/>
          <p:cNvSpPr txBox="1"/>
          <p:nvPr/>
        </p:nvSpPr>
        <p:spPr>
          <a:xfrm>
            <a:off x="951230" y="4477887"/>
            <a:ext cx="531114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阅读：数据结构与算法之美 3.8节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作业(自我练习)"/>
          <p:cNvSpPr txBox="1"/>
          <p:nvPr/>
        </p:nvSpPr>
        <p:spPr>
          <a:xfrm>
            <a:off x="719137" y="44450"/>
            <a:ext cx="7937501" cy="96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4000" b="1"/>
            </a:lvl1pPr>
          </a:lstStyle>
          <a:p>
            <a:r>
              <a:t>作业(自我练习)</a:t>
            </a:r>
          </a:p>
        </p:txBody>
      </p:sp>
      <p:grpSp>
        <p:nvGrpSpPr>
          <p:cNvPr id="437" name="成组"/>
          <p:cNvGrpSpPr/>
          <p:nvPr/>
        </p:nvGrpSpPr>
        <p:grpSpPr>
          <a:xfrm>
            <a:off x="2286150" y="2881945"/>
            <a:ext cx="5190527" cy="3729316"/>
            <a:chOff x="0" y="0"/>
            <a:chExt cx="5190526" cy="3729315"/>
          </a:xfrm>
        </p:grpSpPr>
        <p:sp>
          <p:nvSpPr>
            <p:cNvPr id="370" name="线条"/>
            <p:cNvSpPr/>
            <p:nvPr/>
          </p:nvSpPr>
          <p:spPr>
            <a:xfrm flipH="1" flipV="1">
              <a:off x="3769901" y="19002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线条"/>
            <p:cNvSpPr/>
            <p:nvPr/>
          </p:nvSpPr>
          <p:spPr>
            <a:xfrm flipV="1">
              <a:off x="3438893" y="19002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线条"/>
            <p:cNvSpPr/>
            <p:nvPr/>
          </p:nvSpPr>
          <p:spPr>
            <a:xfrm flipH="1" flipV="1">
              <a:off x="3477801" y="13795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线条"/>
            <p:cNvSpPr/>
            <p:nvPr/>
          </p:nvSpPr>
          <p:spPr>
            <a:xfrm flipV="1">
              <a:off x="3146793" y="13795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线条"/>
            <p:cNvSpPr/>
            <p:nvPr/>
          </p:nvSpPr>
          <p:spPr>
            <a:xfrm flipH="1" flipV="1">
              <a:off x="2474501" y="13795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线条"/>
            <p:cNvSpPr/>
            <p:nvPr/>
          </p:nvSpPr>
          <p:spPr>
            <a:xfrm flipV="1">
              <a:off x="2143493" y="13795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线条"/>
            <p:cNvSpPr/>
            <p:nvPr/>
          </p:nvSpPr>
          <p:spPr>
            <a:xfrm flipH="1" flipV="1">
              <a:off x="1509301" y="13922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7" name="线条"/>
            <p:cNvSpPr/>
            <p:nvPr/>
          </p:nvSpPr>
          <p:spPr>
            <a:xfrm flipV="1">
              <a:off x="1178293" y="13922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8" name="线条"/>
            <p:cNvSpPr/>
            <p:nvPr/>
          </p:nvSpPr>
          <p:spPr>
            <a:xfrm flipH="1" flipV="1">
              <a:off x="467901" y="1366824"/>
              <a:ext cx="266913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线条"/>
            <p:cNvSpPr/>
            <p:nvPr/>
          </p:nvSpPr>
          <p:spPr>
            <a:xfrm flipV="1">
              <a:off x="136893" y="1366824"/>
              <a:ext cx="266914" cy="4442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线条"/>
            <p:cNvSpPr/>
            <p:nvPr/>
          </p:nvSpPr>
          <p:spPr>
            <a:xfrm flipH="1" flipV="1">
              <a:off x="3054732" y="791158"/>
              <a:ext cx="441809" cy="44180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线条"/>
            <p:cNvSpPr/>
            <p:nvPr/>
          </p:nvSpPr>
          <p:spPr>
            <a:xfrm flipV="1">
              <a:off x="2399134" y="791158"/>
              <a:ext cx="441809" cy="44180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线条"/>
            <p:cNvSpPr/>
            <p:nvPr/>
          </p:nvSpPr>
          <p:spPr>
            <a:xfrm flipH="1" flipV="1">
              <a:off x="1121764" y="791158"/>
              <a:ext cx="441808" cy="44180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3" name="线条"/>
            <p:cNvSpPr/>
            <p:nvPr/>
          </p:nvSpPr>
          <p:spPr>
            <a:xfrm flipV="1">
              <a:off x="466166" y="791158"/>
              <a:ext cx="441808" cy="44180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4" name="线条"/>
            <p:cNvSpPr/>
            <p:nvPr/>
          </p:nvSpPr>
          <p:spPr>
            <a:xfrm flipH="1" flipV="1">
              <a:off x="2084409" y="217378"/>
              <a:ext cx="736257" cy="4781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5" name="线条"/>
            <p:cNvSpPr/>
            <p:nvPr/>
          </p:nvSpPr>
          <p:spPr>
            <a:xfrm flipV="1">
              <a:off x="1138467" y="187493"/>
              <a:ext cx="693465" cy="45034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grpSp>
          <p:nvGrpSpPr>
            <p:cNvPr id="388" name="成组"/>
            <p:cNvGrpSpPr/>
            <p:nvPr/>
          </p:nvGrpSpPr>
          <p:grpSpPr>
            <a:xfrm>
              <a:off x="1752449" y="0"/>
              <a:ext cx="381001" cy="382910"/>
              <a:chOff x="0" y="0"/>
              <a:chExt cx="381000" cy="382909"/>
            </a:xfrm>
          </p:grpSpPr>
          <p:sp>
            <p:nvSpPr>
              <p:cNvPr id="386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387" name="3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3</a:t>
                </a:r>
              </a:p>
            </p:txBody>
          </p:sp>
        </p:grpSp>
        <p:grpSp>
          <p:nvGrpSpPr>
            <p:cNvPr id="391" name="成组"/>
            <p:cNvGrpSpPr/>
            <p:nvPr/>
          </p:nvGrpSpPr>
          <p:grpSpPr>
            <a:xfrm>
              <a:off x="797261" y="534998"/>
              <a:ext cx="381001" cy="382911"/>
              <a:chOff x="0" y="0"/>
              <a:chExt cx="381000" cy="382909"/>
            </a:xfrm>
          </p:grpSpPr>
          <p:sp>
            <p:nvSpPr>
              <p:cNvPr id="389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390" name="1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1</a:t>
                </a:r>
              </a:p>
            </p:txBody>
          </p:sp>
        </p:grpSp>
        <p:grpSp>
          <p:nvGrpSpPr>
            <p:cNvPr id="394" name="成组"/>
            <p:cNvGrpSpPr/>
            <p:nvPr/>
          </p:nvGrpSpPr>
          <p:grpSpPr>
            <a:xfrm>
              <a:off x="2731937" y="534998"/>
              <a:ext cx="381001" cy="382911"/>
              <a:chOff x="0" y="0"/>
              <a:chExt cx="381000" cy="382909"/>
            </a:xfrm>
          </p:grpSpPr>
          <p:sp>
            <p:nvSpPr>
              <p:cNvPr id="392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393" name="5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5</a:t>
                </a:r>
              </a:p>
            </p:txBody>
          </p:sp>
        </p:grpSp>
        <p:grpSp>
          <p:nvGrpSpPr>
            <p:cNvPr id="397" name="成组"/>
            <p:cNvGrpSpPr/>
            <p:nvPr/>
          </p:nvGrpSpPr>
          <p:grpSpPr>
            <a:xfrm>
              <a:off x="261723" y="1159478"/>
              <a:ext cx="381001" cy="382911"/>
              <a:chOff x="0" y="0"/>
              <a:chExt cx="381000" cy="382909"/>
            </a:xfrm>
          </p:grpSpPr>
          <p:sp>
            <p:nvSpPr>
              <p:cNvPr id="395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396" name="0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0</a:t>
                </a:r>
              </a:p>
            </p:txBody>
          </p:sp>
        </p:grpSp>
        <p:grpSp>
          <p:nvGrpSpPr>
            <p:cNvPr id="400" name="成组"/>
            <p:cNvGrpSpPr/>
            <p:nvPr/>
          </p:nvGrpSpPr>
          <p:grpSpPr>
            <a:xfrm>
              <a:off x="1294699" y="1159478"/>
              <a:ext cx="381001" cy="382911"/>
              <a:chOff x="0" y="0"/>
              <a:chExt cx="381000" cy="382909"/>
            </a:xfrm>
          </p:grpSpPr>
          <p:sp>
            <p:nvSpPr>
              <p:cNvPr id="398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399" name="2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2</a:t>
                </a:r>
              </a:p>
            </p:txBody>
          </p:sp>
        </p:grpSp>
        <p:grpSp>
          <p:nvGrpSpPr>
            <p:cNvPr id="403" name="成组"/>
            <p:cNvGrpSpPr/>
            <p:nvPr/>
          </p:nvGrpSpPr>
          <p:grpSpPr>
            <a:xfrm>
              <a:off x="3556683" y="1707319"/>
              <a:ext cx="381001" cy="382911"/>
              <a:chOff x="0" y="0"/>
              <a:chExt cx="381000" cy="382909"/>
            </a:xfrm>
          </p:grpSpPr>
          <p:sp>
            <p:nvSpPr>
              <p:cNvPr id="401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402" name="7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7</a:t>
                </a:r>
              </a:p>
            </p:txBody>
          </p:sp>
        </p:grpSp>
        <p:grpSp>
          <p:nvGrpSpPr>
            <p:cNvPr id="406" name="成组"/>
            <p:cNvGrpSpPr/>
            <p:nvPr/>
          </p:nvGrpSpPr>
          <p:grpSpPr>
            <a:xfrm>
              <a:off x="2228149" y="1159478"/>
              <a:ext cx="381001" cy="382911"/>
              <a:chOff x="0" y="0"/>
              <a:chExt cx="381000" cy="382909"/>
            </a:xfrm>
          </p:grpSpPr>
          <p:sp>
            <p:nvSpPr>
              <p:cNvPr id="404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405" name="4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4</a:t>
                </a:r>
              </a:p>
            </p:txBody>
          </p:sp>
        </p:grpSp>
        <p:grpSp>
          <p:nvGrpSpPr>
            <p:cNvPr id="409" name="成组"/>
            <p:cNvGrpSpPr/>
            <p:nvPr/>
          </p:nvGrpSpPr>
          <p:grpSpPr>
            <a:xfrm>
              <a:off x="3261125" y="1159478"/>
              <a:ext cx="381001" cy="382911"/>
              <a:chOff x="0" y="0"/>
              <a:chExt cx="381000" cy="382909"/>
            </a:xfrm>
          </p:grpSpPr>
          <p:sp>
            <p:nvSpPr>
              <p:cNvPr id="407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000"/>
                </a:pPr>
                <a:endParaRPr/>
              </a:p>
            </p:txBody>
          </p:sp>
          <p:sp>
            <p:nvSpPr>
              <p:cNvPr id="408" name="6"/>
              <p:cNvSpPr txBox="1"/>
              <p:nvPr/>
            </p:nvSpPr>
            <p:spPr>
              <a:xfrm>
                <a:off x="36829" y="0"/>
                <a:ext cx="281941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6</a:t>
                </a:r>
              </a:p>
            </p:txBody>
          </p:sp>
        </p:grpSp>
        <p:grpSp>
          <p:nvGrpSpPr>
            <p:cNvPr id="412" name="成组"/>
            <p:cNvGrpSpPr/>
            <p:nvPr/>
          </p:nvGrpSpPr>
          <p:grpSpPr>
            <a:xfrm>
              <a:off x="-1" y="1707319"/>
              <a:ext cx="275616" cy="382911"/>
              <a:chOff x="-12700" y="-12699"/>
              <a:chExt cx="275614" cy="382909"/>
            </a:xfrm>
          </p:grpSpPr>
          <p:sp>
            <p:nvSpPr>
              <p:cNvPr id="410" name="正方形"/>
              <p:cNvSpPr/>
              <p:nvPr/>
            </p:nvSpPr>
            <p:spPr>
              <a:xfrm>
                <a:off x="89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11" name="a"/>
              <p:cNvSpPr txBox="1"/>
              <p:nvPr/>
            </p:nvSpPr>
            <p:spPr>
              <a:xfrm>
                <a:off x="-12700" y="-12700"/>
                <a:ext cx="267678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415" name="成组"/>
            <p:cNvGrpSpPr/>
            <p:nvPr/>
          </p:nvGrpSpPr>
          <p:grpSpPr>
            <a:xfrm>
              <a:off x="584200" y="1797174"/>
              <a:ext cx="1270000" cy="1384301"/>
              <a:chOff x="0" y="77154"/>
              <a:chExt cx="1270000" cy="1384300"/>
            </a:xfrm>
          </p:grpSpPr>
          <p:sp>
            <p:nvSpPr>
              <p:cNvPr id="413" name="正方形"/>
              <p:cNvSpPr/>
              <p:nvPr/>
            </p:nvSpPr>
            <p:spPr>
              <a:xfrm>
                <a:off x="89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14" name="b"/>
              <p:cNvSpPr/>
              <p:nvPr/>
            </p:nvSpPr>
            <p:spPr>
              <a:xfrm>
                <a:off x="0" y="191454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418" name="成组"/>
            <p:cNvGrpSpPr/>
            <p:nvPr/>
          </p:nvGrpSpPr>
          <p:grpSpPr>
            <a:xfrm>
              <a:off x="1054100" y="1707319"/>
              <a:ext cx="275615" cy="382911"/>
              <a:chOff x="-12700" y="-12699"/>
              <a:chExt cx="275614" cy="382909"/>
            </a:xfrm>
          </p:grpSpPr>
          <p:sp>
            <p:nvSpPr>
              <p:cNvPr id="416" name="正方形"/>
              <p:cNvSpPr/>
              <p:nvPr/>
            </p:nvSpPr>
            <p:spPr>
              <a:xfrm>
                <a:off x="89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17" name="c"/>
              <p:cNvSpPr txBox="1"/>
              <p:nvPr/>
            </p:nvSpPr>
            <p:spPr>
              <a:xfrm>
                <a:off x="-12700" y="-12700"/>
                <a:ext cx="267678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421" name="成组"/>
            <p:cNvGrpSpPr/>
            <p:nvPr/>
          </p:nvGrpSpPr>
          <p:grpSpPr>
            <a:xfrm>
              <a:off x="1612900" y="1797174"/>
              <a:ext cx="1270001" cy="1397001"/>
              <a:chOff x="0" y="64454"/>
              <a:chExt cx="1270000" cy="1397000"/>
            </a:xfrm>
          </p:grpSpPr>
          <p:sp>
            <p:nvSpPr>
              <p:cNvPr id="419" name="正方形"/>
              <p:cNvSpPr/>
              <p:nvPr/>
            </p:nvSpPr>
            <p:spPr>
              <a:xfrm>
                <a:off x="34314" y="644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20" name="d"/>
              <p:cNvSpPr/>
              <p:nvPr/>
            </p:nvSpPr>
            <p:spPr>
              <a:xfrm>
                <a:off x="0" y="191454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424" name="成组"/>
            <p:cNvGrpSpPr/>
            <p:nvPr/>
          </p:nvGrpSpPr>
          <p:grpSpPr>
            <a:xfrm>
              <a:off x="2003579" y="1707319"/>
              <a:ext cx="275616" cy="382911"/>
              <a:chOff x="-12700" y="-12699"/>
              <a:chExt cx="275614" cy="382909"/>
            </a:xfrm>
          </p:grpSpPr>
          <p:sp>
            <p:nvSpPr>
              <p:cNvPr id="422" name="正方形"/>
              <p:cNvSpPr/>
              <p:nvPr/>
            </p:nvSpPr>
            <p:spPr>
              <a:xfrm>
                <a:off x="89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23" name="e"/>
              <p:cNvSpPr txBox="1"/>
              <p:nvPr/>
            </p:nvSpPr>
            <p:spPr>
              <a:xfrm>
                <a:off x="-12700" y="-12700"/>
                <a:ext cx="267678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e</a:t>
                </a:r>
              </a:p>
            </p:txBody>
          </p:sp>
        </p:grpSp>
        <p:grpSp>
          <p:nvGrpSpPr>
            <p:cNvPr id="427" name="成组"/>
            <p:cNvGrpSpPr/>
            <p:nvPr/>
          </p:nvGrpSpPr>
          <p:grpSpPr>
            <a:xfrm>
              <a:off x="2575079" y="1732719"/>
              <a:ext cx="275616" cy="382911"/>
              <a:chOff x="-12700" y="12700"/>
              <a:chExt cx="275614" cy="382909"/>
            </a:xfrm>
          </p:grpSpPr>
          <p:sp>
            <p:nvSpPr>
              <p:cNvPr id="425" name="正方形"/>
              <p:cNvSpPr/>
              <p:nvPr/>
            </p:nvSpPr>
            <p:spPr>
              <a:xfrm>
                <a:off x="89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26" name="f"/>
              <p:cNvSpPr txBox="1"/>
              <p:nvPr/>
            </p:nvSpPr>
            <p:spPr>
              <a:xfrm>
                <a:off x="-12700" y="12700"/>
                <a:ext cx="239524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f</a:t>
                </a:r>
              </a:p>
            </p:txBody>
          </p:sp>
        </p:grpSp>
        <p:grpSp>
          <p:nvGrpSpPr>
            <p:cNvPr id="430" name="成组"/>
            <p:cNvGrpSpPr/>
            <p:nvPr/>
          </p:nvGrpSpPr>
          <p:grpSpPr>
            <a:xfrm>
              <a:off x="3323626" y="2345015"/>
              <a:ext cx="1270001" cy="1384301"/>
              <a:chOff x="0" y="77154"/>
              <a:chExt cx="1270000" cy="1384300"/>
            </a:xfrm>
          </p:grpSpPr>
          <p:sp>
            <p:nvSpPr>
              <p:cNvPr id="428" name="正方形"/>
              <p:cNvSpPr/>
              <p:nvPr/>
            </p:nvSpPr>
            <p:spPr>
              <a:xfrm>
                <a:off x="21614" y="771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29" name="h"/>
              <p:cNvSpPr/>
              <p:nvPr/>
            </p:nvSpPr>
            <p:spPr>
              <a:xfrm>
                <a:off x="0" y="191454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h</a:t>
                </a:r>
              </a:p>
            </p:txBody>
          </p:sp>
        </p:grpSp>
        <p:grpSp>
          <p:nvGrpSpPr>
            <p:cNvPr id="433" name="成组"/>
            <p:cNvGrpSpPr/>
            <p:nvPr/>
          </p:nvGrpSpPr>
          <p:grpSpPr>
            <a:xfrm>
              <a:off x="3916741" y="2345015"/>
              <a:ext cx="1273786" cy="1384301"/>
              <a:chOff x="0" y="77154"/>
              <a:chExt cx="1273785" cy="1384300"/>
            </a:xfrm>
          </p:grpSpPr>
          <p:sp>
            <p:nvSpPr>
              <p:cNvPr id="431" name="正方形"/>
              <p:cNvSpPr/>
              <p:nvPr/>
            </p:nvSpPr>
            <p:spPr>
              <a:xfrm>
                <a:off x="0" y="77154"/>
                <a:ext cx="254000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32" name="i"/>
              <p:cNvSpPr/>
              <p:nvPr/>
            </p:nvSpPr>
            <p:spPr>
              <a:xfrm>
                <a:off x="3785" y="19145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i</a:t>
                </a:r>
              </a:p>
            </p:txBody>
          </p:sp>
        </p:grpSp>
        <p:grpSp>
          <p:nvGrpSpPr>
            <p:cNvPr id="436" name="成组"/>
            <p:cNvGrpSpPr/>
            <p:nvPr/>
          </p:nvGrpSpPr>
          <p:grpSpPr>
            <a:xfrm>
              <a:off x="2991159" y="1797174"/>
              <a:ext cx="1270001" cy="1358901"/>
              <a:chOff x="0" y="102554"/>
              <a:chExt cx="1270000" cy="1358900"/>
            </a:xfrm>
          </p:grpSpPr>
          <p:sp>
            <p:nvSpPr>
              <p:cNvPr id="434" name="正方形"/>
              <p:cNvSpPr/>
              <p:nvPr/>
            </p:nvSpPr>
            <p:spPr>
              <a:xfrm>
                <a:off x="21614" y="102554"/>
                <a:ext cx="254001" cy="254001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435" name="g"/>
              <p:cNvSpPr/>
              <p:nvPr/>
            </p:nvSpPr>
            <p:spPr>
              <a:xfrm>
                <a:off x="0" y="191454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g</a:t>
                </a:r>
              </a:p>
            </p:txBody>
          </p:sp>
        </p:grp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ahoma Bold"/>
        <a:ea typeface="Tahoma Bold"/>
        <a:cs typeface="Tahoma Bold"/>
      </a:majorFont>
      <a:minorFont>
        <a:latin typeface="Tahoma"/>
        <a:ea typeface="Tahoma"/>
        <a:cs typeface="Taho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40" marR="40640" indent="0" algn="l" defTabSz="9144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40" marR="40640" indent="0" algn="l" defTabSz="9144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ahoma Bold"/>
        <a:ea typeface="Tahoma Bold"/>
        <a:cs typeface="Tahoma Bold"/>
      </a:majorFont>
      <a:minorFont>
        <a:latin typeface="Tahoma"/>
        <a:ea typeface="Tahoma"/>
        <a:cs typeface="Taho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40" marR="40640" indent="0" algn="l" defTabSz="9144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40" marR="40640" indent="0" algn="l" defTabSz="9144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3810</Words>
  <Application>Microsoft Office PowerPoint</Application>
  <PresentationFormat>全屏显示(4:3)</PresentationFormat>
  <Paragraphs>615</Paragraphs>
  <Slides>60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0" baseType="lpstr">
      <vt:lpstr>Lucida Grande</vt:lpstr>
      <vt:lpstr>Monaco</vt:lpstr>
      <vt:lpstr>Arial</vt:lpstr>
      <vt:lpstr>Arial Black</vt:lpstr>
      <vt:lpstr>Calibri</vt:lpstr>
      <vt:lpstr>Cambria Math</vt:lpstr>
      <vt:lpstr>Helvetica</vt:lpstr>
      <vt:lpstr>Tahoma</vt:lpstr>
      <vt:lpstr>Times New Roman</vt:lpstr>
      <vt:lpstr>White</vt:lpstr>
      <vt:lpstr>算法(algorithm)</vt:lpstr>
      <vt:lpstr>算法</vt:lpstr>
      <vt:lpstr>程序(program)</vt:lpstr>
      <vt:lpstr>查找问题(search problem)</vt:lpstr>
      <vt:lpstr>顺序查找算法</vt:lpstr>
      <vt:lpstr>顺序查找算法</vt:lpstr>
      <vt:lpstr>使用数组存储数据</vt:lpstr>
      <vt:lpstr>顺序查找程序</vt:lpstr>
      <vt:lpstr>折半查找算法</vt:lpstr>
      <vt:lpstr>折半查找算法</vt:lpstr>
      <vt:lpstr>折半查找程序</vt:lpstr>
      <vt:lpstr>阶乘：递推定义和程序</vt:lpstr>
      <vt:lpstr>阶乘：递归定义</vt:lpstr>
      <vt:lpstr>阶乘：递归的程序</vt:lpstr>
      <vt:lpstr>程序的执行时间和影响因素</vt:lpstr>
      <vt:lpstr>问题的规模</vt:lpstr>
      <vt:lpstr>问题的规模</vt:lpstr>
      <vt:lpstr>算法分析</vt:lpstr>
      <vt:lpstr>执行时间模型</vt:lpstr>
      <vt:lpstr>执行时间模型</vt:lpstr>
      <vt:lpstr>执行时间的计算</vt:lpstr>
      <vt:lpstr>执行时间的计算</vt:lpstr>
      <vt:lpstr>执行时间的计算</vt:lpstr>
      <vt:lpstr>执行时间的计算</vt:lpstr>
      <vt:lpstr>执行时间的计算</vt:lpstr>
      <vt:lpstr>执行时间的计算</vt:lpstr>
      <vt:lpstr>执行时间的计算</vt:lpstr>
      <vt:lpstr>执行时间的计算</vt:lpstr>
      <vt:lpstr>执行时间的计算</vt:lpstr>
      <vt:lpstr>执行时间的比较</vt:lpstr>
      <vt:lpstr>Big O的定义</vt:lpstr>
      <vt:lpstr>Big O的常见形式</vt:lpstr>
      <vt:lpstr>Big O的常见形式</vt:lpstr>
      <vt:lpstr>Big O的计算</vt:lpstr>
      <vt:lpstr>Big O的计算</vt:lpstr>
      <vt:lpstr>Big O的计算</vt:lpstr>
      <vt:lpstr>Big O的用途</vt:lpstr>
      <vt:lpstr>Big O 运算规则</vt:lpstr>
      <vt:lpstr>Big O 运算规则的应用</vt:lpstr>
      <vt:lpstr>Big O 运算规则的应用</vt:lpstr>
      <vt:lpstr>Big O 运算规则的应用</vt:lpstr>
      <vt:lpstr>Big 𝛀</vt:lpstr>
      <vt:lpstr>局限性</vt:lpstr>
      <vt:lpstr>局限性</vt:lpstr>
      <vt:lpstr>局限性</vt:lpstr>
      <vt:lpstr>局限性</vt:lpstr>
      <vt:lpstr>局限性</vt:lpstr>
      <vt:lpstr>空间复杂性模型</vt:lpstr>
      <vt:lpstr>空间复杂性计算</vt:lpstr>
      <vt:lpstr>空间复杂性计算</vt:lpstr>
      <vt:lpstr>空间复杂性计算</vt:lpstr>
      <vt:lpstr>程序性能的测量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算法(algorithm)</dc:title>
  <cp:lastModifiedBy>陈 宇</cp:lastModifiedBy>
  <cp:revision>1</cp:revision>
  <dcterms:modified xsi:type="dcterms:W3CDTF">2023-01-26T14:06:15Z</dcterms:modified>
</cp:coreProperties>
</file>