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4.xml" ContentType="application/vnd.openxmlformats-officedocument.theme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53" r:id="rId1"/>
    <p:sldMasterId id="2147483654" r:id="rId2"/>
    <p:sldMasterId id="2147483655" r:id="rId3"/>
    <p:sldMasterId id="2147483656" r:id="rId4"/>
    <p:sldMasterId id="2147483703" r:id="rId5"/>
  </p:sldMasterIdLst>
  <p:notesMasterIdLst>
    <p:notesMasterId r:id="rId14"/>
  </p:notesMasterIdLst>
  <p:handoutMasterIdLst>
    <p:handoutMasterId r:id="rId15"/>
  </p:handoutMasterIdLst>
  <p:sldIdLst>
    <p:sldId id="464" r:id="rId6"/>
    <p:sldId id="380" r:id="rId7"/>
    <p:sldId id="468" r:id="rId8"/>
    <p:sldId id="467" r:id="rId9"/>
    <p:sldId id="469" r:id="rId10"/>
    <p:sldId id="470" r:id="rId11"/>
    <p:sldId id="466" r:id="rId12"/>
    <p:sldId id="471" r:id="rId13"/>
  </p:sldIdLst>
  <p:sldSz cx="9144000" cy="6858000" type="screen4x3"/>
  <p:notesSz cx="9601200" cy="7315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b="1" i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b="1" i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b="1" i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b="1" i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b="1" i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b="1" i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6pPr>
    <a:lvl7pPr marL="2743200" algn="l" defTabSz="914400" rtl="0" eaLnBrk="1" latinLnBrk="0" hangingPunct="1">
      <a:defRPr b="1" i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7pPr>
    <a:lvl8pPr marL="3200400" algn="l" defTabSz="914400" rtl="0" eaLnBrk="1" latinLnBrk="0" hangingPunct="1">
      <a:defRPr b="1" i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8pPr>
    <a:lvl9pPr marL="3657600" algn="l" defTabSz="914400" rtl="0" eaLnBrk="1" latinLnBrk="0" hangingPunct="1">
      <a:defRPr b="1" i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DDDDD"/>
    <a:srgbClr val="FFFF00"/>
    <a:srgbClr val="FF0000"/>
    <a:srgbClr val="FFFF99"/>
    <a:srgbClr val="FFFF66"/>
    <a:srgbClr val="F4FDA1"/>
    <a:srgbClr val="FEF3A0"/>
    <a:srgbClr val="F5FBA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6F890A9-2807-4EBB-B81D-B2AA78EC7F39}" styleName="深色样式 2 - 强调 5/强调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785" autoAdjust="0"/>
    <p:restoredTop sz="71650" autoAdjust="0"/>
  </p:normalViewPr>
  <p:slideViewPr>
    <p:cSldViewPr snapToGrid="0">
      <p:cViewPr varScale="1">
        <p:scale>
          <a:sx n="82" d="100"/>
          <a:sy n="82" d="100"/>
        </p:scale>
        <p:origin x="1520" y="1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4343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279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5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5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152900" cy="358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4631" tIns="47316" rIns="94631" bIns="47316" numCol="1" anchor="t" anchorCtr="0" compatLnSpc="1">
            <a:prstTxWarp prst="textNoShape">
              <a:avLst/>
            </a:prstTxWarp>
          </a:bodyPr>
          <a:lstStyle>
            <a:lvl1pPr defTabSz="946150" eaLnBrk="0" hangingPunct="0">
              <a:defRPr sz="1200" b="0" i="0">
                <a:latin typeface="Comic Sans MS" pitchFamily="66" charset="0"/>
              </a:defRPr>
            </a:lvl1pPr>
          </a:lstStyle>
          <a:p>
            <a:endParaRPr lang="zh-CN" altLang="en-US"/>
          </a:p>
        </p:txBody>
      </p:sp>
      <p:sp>
        <p:nvSpPr>
          <p:cNvPr id="15565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395913" y="0"/>
            <a:ext cx="4152900" cy="358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4631" tIns="47316" rIns="94631" bIns="47316" numCol="1" anchor="t" anchorCtr="0" compatLnSpc="1">
            <a:prstTxWarp prst="textNoShape">
              <a:avLst/>
            </a:prstTxWarp>
          </a:bodyPr>
          <a:lstStyle>
            <a:lvl1pPr algn="r" defTabSz="946150" eaLnBrk="0" hangingPunct="0">
              <a:defRPr sz="1200" b="0" i="0">
                <a:latin typeface="Comic Sans MS" pitchFamily="66" charset="0"/>
              </a:defRPr>
            </a:lvl1pPr>
          </a:lstStyle>
          <a:p>
            <a:endParaRPr lang="en-US" altLang="zh-CN"/>
          </a:p>
        </p:txBody>
      </p:sp>
      <p:sp>
        <p:nvSpPr>
          <p:cNvPr id="15565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956425"/>
            <a:ext cx="4152900" cy="358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4631" tIns="47316" rIns="94631" bIns="47316" numCol="1" anchor="b" anchorCtr="0" compatLnSpc="1">
            <a:prstTxWarp prst="textNoShape">
              <a:avLst/>
            </a:prstTxWarp>
          </a:bodyPr>
          <a:lstStyle>
            <a:lvl1pPr defTabSz="946150" eaLnBrk="0" hangingPunct="0">
              <a:defRPr sz="1200" b="0" i="0">
                <a:latin typeface="Comic Sans MS" pitchFamily="66" charset="0"/>
              </a:defRPr>
            </a:lvl1pPr>
          </a:lstStyle>
          <a:p>
            <a:endParaRPr lang="en-US" altLang="zh-CN"/>
          </a:p>
        </p:txBody>
      </p:sp>
      <p:sp>
        <p:nvSpPr>
          <p:cNvPr id="15565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395913" y="6956425"/>
            <a:ext cx="4152900" cy="358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4631" tIns="47316" rIns="94631" bIns="47316" numCol="1" anchor="b" anchorCtr="0" compatLnSpc="1">
            <a:prstTxWarp prst="textNoShape">
              <a:avLst/>
            </a:prstTxWarp>
          </a:bodyPr>
          <a:lstStyle>
            <a:lvl1pPr algn="r" defTabSz="946150" eaLnBrk="0" hangingPunct="0">
              <a:defRPr sz="1200" b="0" i="0">
                <a:latin typeface="Comic Sans MS" pitchFamily="66" charset="0"/>
              </a:defRPr>
            </a:lvl1pPr>
          </a:lstStyle>
          <a:p>
            <a:fld id="{9E5FFBF9-665C-468D-B43C-4CF37BD39DB5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26600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16083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57" tIns="48328" rIns="96657" bIns="48328" numCol="1" anchor="t" anchorCtr="0" compatLnSpc="1">
            <a:prstTxWarp prst="textNoShape">
              <a:avLst/>
            </a:prstTxWarp>
          </a:bodyPr>
          <a:lstStyle>
            <a:lvl1pPr defTabSz="966788" eaLnBrk="0" hangingPunct="0">
              <a:defRPr sz="1200" b="0" i="0"/>
            </a:lvl1pPr>
          </a:lstStyle>
          <a:p>
            <a:endParaRPr lang="zh-CN" alt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440363" y="0"/>
            <a:ext cx="416083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57" tIns="48328" rIns="96657" bIns="48328" numCol="1" anchor="t" anchorCtr="0" compatLnSpc="1">
            <a:prstTxWarp prst="textNoShape">
              <a:avLst/>
            </a:prstTxWarp>
          </a:bodyPr>
          <a:lstStyle>
            <a:lvl1pPr algn="r" defTabSz="966788" eaLnBrk="0" hangingPunct="0">
              <a:defRPr sz="1200" b="0" i="0"/>
            </a:lvl1pPr>
          </a:lstStyle>
          <a:p>
            <a:endParaRPr lang="en-US" altLang="zh-CN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971800" y="547688"/>
            <a:ext cx="3657600" cy="27432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279525" y="3475038"/>
            <a:ext cx="7042150" cy="3292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57" tIns="48328" rIns="96657" bIns="4832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948488"/>
            <a:ext cx="416083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57" tIns="48328" rIns="96657" bIns="48328" numCol="1" anchor="b" anchorCtr="0" compatLnSpc="1">
            <a:prstTxWarp prst="textNoShape">
              <a:avLst/>
            </a:prstTxWarp>
          </a:bodyPr>
          <a:lstStyle>
            <a:lvl1pPr defTabSz="966788" eaLnBrk="0" hangingPunct="0">
              <a:defRPr sz="1200" b="0" i="0"/>
            </a:lvl1pPr>
          </a:lstStyle>
          <a:p>
            <a:endParaRPr lang="en-US" altLang="zh-CN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440363" y="6948488"/>
            <a:ext cx="416083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57" tIns="48328" rIns="96657" bIns="48328" numCol="1" anchor="b" anchorCtr="0" compatLnSpc="1">
            <a:prstTxWarp prst="textNoShape">
              <a:avLst/>
            </a:prstTxWarp>
          </a:bodyPr>
          <a:lstStyle>
            <a:lvl1pPr algn="r" defTabSz="966788" eaLnBrk="0" hangingPunct="0">
              <a:defRPr sz="1200" b="0" i="0"/>
            </a:lvl1pPr>
          </a:lstStyle>
          <a:p>
            <a:fld id="{6260AA04-2DF8-4362-B35F-0903BD5074D3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7730182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60AA04-2DF8-4362-B35F-0903BD5074D3}" type="slidenum">
              <a:rPr lang="zh-CN" altLang="en-US" smtClean="0"/>
              <a:pPr/>
              <a:t>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798203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4A16EC1-AC24-4A22-86D5-7CA4852FDD5F}" type="slidenum">
              <a:rPr lang="zh-CN" altLang="en-US"/>
              <a:pPr/>
              <a:t>2</a:t>
            </a:fld>
            <a:endParaRPr lang="en-US" altLang="zh-CN"/>
          </a:p>
        </p:txBody>
      </p:sp>
      <p:sp>
        <p:nvSpPr>
          <p:cNvPr id="5632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18884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4A16EC1-AC24-4A22-86D5-7CA4852FDD5F}" type="slidenum">
              <a:rPr lang="zh-CN" altLang="en-US"/>
              <a:pPr/>
              <a:t>7</a:t>
            </a:fld>
            <a:endParaRPr lang="en-US" altLang="zh-CN"/>
          </a:p>
        </p:txBody>
      </p:sp>
      <p:sp>
        <p:nvSpPr>
          <p:cNvPr id="5632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321494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13895675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892019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2694792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1742057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9911333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7388452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454686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321766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8220883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4751588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0575759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3748345992"/>
      </p:ext>
    </p:extLst>
  </p:cSld>
  <p:clrMapOvr>
    <a:masterClrMapping/>
  </p:clrMapOvr>
  <p:transition>
    <p:random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2pPr marL="742950" indent="-285750">
              <a:buFont typeface="Wingdings" pitchFamily="2" charset="2"/>
              <a:buChar char="n"/>
              <a:defRPr/>
            </a:lvl2pPr>
            <a:lvl3pPr marL="1143000" indent="-228600">
              <a:buFont typeface="Wingdings" pitchFamily="2" charset="2"/>
              <a:buChar char="u"/>
              <a:defRPr/>
            </a:lvl3pPr>
            <a:lvl4pPr marL="1600200" indent="-228600">
              <a:buFont typeface="Wingdings" pitchFamily="2" charset="2"/>
              <a:buChar char="Ø"/>
              <a:defRPr/>
            </a:lvl4pPr>
            <a:lvl5pPr marL="2057400" indent="-228600">
              <a:buFont typeface="Wingdings" pitchFamily="2" charset="2"/>
              <a:buChar char="ü"/>
              <a:defRPr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98373359"/>
      </p:ext>
    </p:extLst>
  </p:cSld>
  <p:clrMapOvr>
    <a:masterClrMapping/>
  </p:clrMapOvr>
  <p:transition>
    <p:random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531118573"/>
      </p:ext>
    </p:extLst>
  </p:cSld>
  <p:clrMapOvr>
    <a:masterClrMapping/>
  </p:clrMapOvr>
  <p:transition>
    <p:random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085850" y="1527175"/>
            <a:ext cx="3775075" cy="50260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013325" y="1527175"/>
            <a:ext cx="3776663" cy="50260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191616953"/>
      </p:ext>
    </p:extLst>
  </p:cSld>
  <p:clrMapOvr>
    <a:masterClrMapping/>
  </p:clrMapOvr>
  <p:transition>
    <p:random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849790811"/>
      </p:ext>
    </p:extLst>
  </p:cSld>
  <p:clrMapOvr>
    <a:masterClrMapping/>
  </p:clrMapOvr>
  <p:transition>
    <p:random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886235426"/>
      </p:ext>
    </p:extLst>
  </p:cSld>
  <p:clrMapOvr>
    <a:masterClrMapping/>
  </p:clrMapOvr>
  <p:transition>
    <p:random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35630166"/>
      </p:ext>
    </p:extLst>
  </p:cSld>
  <p:clrMapOvr>
    <a:masterClrMapping/>
  </p:clrMapOvr>
  <p:transition>
    <p:random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887443901"/>
      </p:ext>
    </p:extLst>
  </p:cSld>
  <p:clrMapOvr>
    <a:masterClrMapping/>
  </p:clrMapOvr>
  <p:transition>
    <p:random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536373756"/>
      </p:ext>
    </p:extLst>
  </p:cSld>
  <p:clrMapOvr>
    <a:masterClrMapping/>
  </p:clrMapOvr>
  <p:transition>
    <p:random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196419687"/>
      </p:ext>
    </p:extLst>
  </p:cSld>
  <p:clrMapOvr>
    <a:masterClrMapping/>
  </p:clrMapOvr>
  <p:transition>
    <p:random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86575" y="117475"/>
            <a:ext cx="1962150" cy="64357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000125" y="117475"/>
            <a:ext cx="5734050" cy="64357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405687308"/>
      </p:ext>
    </p:extLst>
  </p:cSld>
  <p:clrMapOvr>
    <a:masterClrMapping/>
  </p:clrMapOvr>
  <p:transition>
    <p:random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00125" y="117475"/>
            <a:ext cx="78486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085850" y="1527175"/>
            <a:ext cx="3775075" cy="50260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013325" y="1527175"/>
            <a:ext cx="3776663" cy="50260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138820328"/>
      </p:ext>
    </p:extLst>
  </p:cSld>
  <p:clrMapOvr>
    <a:masterClrMapping/>
  </p:clrMapOvr>
  <p:transition>
    <p:random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3143745707"/>
      </p:ext>
    </p:extLst>
  </p:cSld>
  <p:clrMapOvr>
    <a:masterClrMapping/>
  </p:clrMapOvr>
  <p:transition>
    <p:random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342982135"/>
      </p:ext>
    </p:extLst>
  </p:cSld>
  <p:clrMapOvr>
    <a:masterClrMapping/>
  </p:clrMapOvr>
  <p:transition>
    <p:random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305199215"/>
      </p:ext>
    </p:extLst>
  </p:cSld>
  <p:clrMapOvr>
    <a:masterClrMapping/>
  </p:clrMapOvr>
  <p:transition>
    <p:random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252413" y="1600200"/>
            <a:ext cx="8567737" cy="4781550"/>
          </a:xfrm>
        </p:spPr>
        <p:txBody>
          <a:bodyPr/>
          <a:lstStyle>
            <a:lvl1pPr>
              <a:defRPr sz="2800" b="0">
                <a:latin typeface="Times New Roman" panose="02020603050405020304" pitchFamily="18" charset="0"/>
                <a:ea typeface="Kaiti SC" panose="02010600040101010101" pitchFamily="2" charset="-122"/>
                <a:cs typeface="Times New Roman" panose="02020603050405020304" pitchFamily="18" charset="0"/>
              </a:defRPr>
            </a:lvl1pPr>
            <a:lvl2pPr marL="742950" indent="-285750">
              <a:buFont typeface="Wingdings" pitchFamily="2" charset="2"/>
              <a:buChar char="Ø"/>
              <a:defRPr sz="2400" b="0">
                <a:latin typeface="Times New Roman" panose="02020603050405020304" pitchFamily="18" charset="0"/>
                <a:ea typeface="Kaiti SC" panose="02010600040101010101" pitchFamily="2" charset="-122"/>
                <a:cs typeface="Times New Roman" panose="02020603050405020304" pitchFamily="18" charset="0"/>
              </a:defRPr>
            </a:lvl2pPr>
            <a:lvl3pPr marL="1143000" indent="-228600">
              <a:buFont typeface="Wingdings" pitchFamily="2" charset="2"/>
              <a:buChar char="ü"/>
              <a:defRPr sz="2000" b="0">
                <a:latin typeface="Times New Roman" panose="02020603050405020304" pitchFamily="18" charset="0"/>
                <a:ea typeface="Kaiti SC" panose="02010600040101010101" pitchFamily="2" charset="-122"/>
                <a:cs typeface="Times New Roman" panose="02020603050405020304" pitchFamily="18" charset="0"/>
              </a:defRPr>
            </a:lvl3pPr>
            <a:lvl4pPr marL="1600200" indent="-228600">
              <a:buFont typeface="Wingdings" pitchFamily="2" charset="2"/>
              <a:buChar char="l"/>
              <a:defRPr sz="1800" b="0">
                <a:latin typeface="Times New Roman" panose="02020603050405020304" pitchFamily="18" charset="0"/>
                <a:ea typeface="Kaiti SC" panose="02010600040101010101" pitchFamily="2" charset="-122"/>
                <a:cs typeface="Times New Roman" panose="02020603050405020304" pitchFamily="18" charset="0"/>
              </a:defRPr>
            </a:lvl4pPr>
            <a:lvl5pPr>
              <a:defRPr sz="1800" b="0">
                <a:latin typeface="Times New Roman" panose="02020603050405020304" pitchFamily="18" charset="0"/>
                <a:ea typeface="Kaiti SC" panose="02010600040101010101" pitchFamily="2" charset="-122"/>
                <a:cs typeface="Times New Roman" panose="02020603050405020304" pitchFamily="18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038036545"/>
      </p:ext>
    </p:extLst>
  </p:cSld>
  <p:clrMapOvr>
    <a:masterClrMapping/>
  </p:clrMapOvr>
  <p:transition>
    <p:random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759759878"/>
      </p:ext>
    </p:extLst>
  </p:cSld>
  <p:clrMapOvr>
    <a:masterClrMapping/>
  </p:clrMapOvr>
  <p:transition>
    <p:random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531088565"/>
      </p:ext>
    </p:extLst>
  </p:cSld>
  <p:clrMapOvr>
    <a:masterClrMapping/>
  </p:clrMapOvr>
  <p:transition>
    <p:random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19122592"/>
      </p:ext>
    </p:extLst>
  </p:cSld>
  <p:clrMapOvr>
    <a:masterClrMapping/>
  </p:clrMapOvr>
  <p:transition>
    <p:random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780711561"/>
      </p:ext>
    </p:extLst>
  </p:cSld>
  <p:clrMapOvr>
    <a:masterClrMapping/>
  </p:clrMapOvr>
  <p:transition>
    <p:random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409151635"/>
      </p:ext>
    </p:extLst>
  </p:cSld>
  <p:clrMapOvr>
    <a:masterClrMapping/>
  </p:clrMapOvr>
  <p:transition>
    <p:random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4268961129"/>
      </p:ext>
    </p:extLst>
  </p:cSld>
  <p:clrMapOvr>
    <a:masterClrMapping/>
  </p:clrMapOvr>
  <p:transition>
    <p:random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78613" y="274638"/>
            <a:ext cx="2141537" cy="610711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250825" y="274638"/>
            <a:ext cx="6275388" cy="610711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993454815"/>
      </p:ext>
    </p:extLst>
  </p:cSld>
  <p:clrMapOvr>
    <a:masterClrMapping/>
  </p:clrMapOvr>
  <p:transition>
    <p:random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0825" y="274638"/>
            <a:ext cx="8569325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252413" y="1600200"/>
            <a:ext cx="8567737" cy="4781550"/>
          </a:xfrm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7220612"/>
      </p:ext>
    </p:extLst>
  </p:cSld>
  <p:clrMapOvr>
    <a:masterClrMapping/>
  </p:clrMapOvr>
  <p:transition>
    <p:random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293341552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74362571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93327376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405977181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82696472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419973680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764765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404205827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52150434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82598652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23708446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35924606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575136526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35637493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61152431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4207023169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673011233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61565489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799700801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687508591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180702363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9117620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5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3.xml"/><Relationship Id="rId3" Type="http://schemas.openxmlformats.org/officeDocument/2006/relationships/slideLayout" Target="../slideLayouts/slideLayout38.xml"/><Relationship Id="rId7" Type="http://schemas.openxmlformats.org/officeDocument/2006/relationships/slideLayout" Target="../slideLayouts/slideLayout42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0.xml"/><Relationship Id="rId10" Type="http://schemas.openxmlformats.org/officeDocument/2006/relationships/slideLayout" Target="../slideLayouts/slideLayout45.xml"/><Relationship Id="rId4" Type="http://schemas.openxmlformats.org/officeDocument/2006/relationships/slideLayout" Target="../slideLayouts/slideLayout39.xml"/><Relationship Id="rId9" Type="http://schemas.openxmlformats.org/officeDocument/2006/relationships/slideLayout" Target="../slideLayouts/slideLayout4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4.xml"/><Relationship Id="rId3" Type="http://schemas.openxmlformats.org/officeDocument/2006/relationships/slideLayout" Target="../slideLayouts/slideLayout49.xml"/><Relationship Id="rId7" Type="http://schemas.openxmlformats.org/officeDocument/2006/relationships/slideLayout" Target="../slideLayouts/slideLayout53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8.xml"/><Relationship Id="rId1" Type="http://schemas.openxmlformats.org/officeDocument/2006/relationships/slideLayout" Target="../slideLayouts/slideLayout47.xml"/><Relationship Id="rId6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57.xml"/><Relationship Id="rId5" Type="http://schemas.openxmlformats.org/officeDocument/2006/relationships/slideLayout" Target="../slideLayouts/slideLayout51.xml"/><Relationship Id="rId10" Type="http://schemas.openxmlformats.org/officeDocument/2006/relationships/slideLayout" Target="../slideLayouts/slideLayout56.xml"/><Relationship Id="rId4" Type="http://schemas.openxmlformats.org/officeDocument/2006/relationships/slideLayout" Target="../slideLayouts/slideLayout50.xml"/><Relationship Id="rId9" Type="http://schemas.openxmlformats.org/officeDocument/2006/relationships/slideLayout" Target="../slideLayouts/slideLayout5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200" name="Line 8"/>
          <p:cNvSpPr>
            <a:spLocks noChangeShapeType="1"/>
          </p:cNvSpPr>
          <p:nvPr/>
        </p:nvSpPr>
        <p:spPr bwMode="auto">
          <a:xfrm>
            <a:off x="0" y="3733800"/>
            <a:ext cx="9144000" cy="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spcBef>
                <a:spcPct val="60000"/>
              </a:spcBef>
              <a:buClr>
                <a:schemeClr val="bg1"/>
              </a:buClr>
              <a:buSzPct val="70000"/>
              <a:buFont typeface="Wingdings" pitchFamily="2" charset="2"/>
              <a:buNone/>
              <a:defRPr/>
            </a:pPr>
            <a:endParaRPr lang="zh-CN" altLang="en-US" sz="2000" b="0" i="0">
              <a:latin typeface="Arial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  <p:sldLayoutId id="2147483660" r:id="rId4"/>
    <p:sldLayoutId id="2147483661" r:id="rId5"/>
    <p:sldLayoutId id="2147483662" r:id="rId6"/>
    <p:sldLayoutId id="2147483663" r:id="rId7"/>
    <p:sldLayoutId id="2147483664" r:id="rId8"/>
    <p:sldLayoutId id="2147483665" r:id="rId9"/>
    <p:sldLayoutId id="2147483666" r:id="rId10"/>
    <p:sldLayoutId id="2147483667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122" name="Rectangle 2"/>
          <p:cNvSpPr>
            <a:spLocks noChangeArrowheads="1"/>
          </p:cNvSpPr>
          <p:nvPr/>
        </p:nvSpPr>
        <p:spPr bwMode="auto">
          <a:xfrm>
            <a:off x="0" y="1454150"/>
            <a:ext cx="971550" cy="5184775"/>
          </a:xfrm>
          <a:prstGeom prst="rect">
            <a:avLst/>
          </a:prstGeom>
          <a:solidFill>
            <a:schemeClr val="accent1">
              <a:alpha val="55000"/>
            </a:scheme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>
            <a:normAutofit/>
          </a:bodyPr>
          <a:lstStyle/>
          <a:p>
            <a:pPr algn="ctr">
              <a:defRPr/>
            </a:pPr>
            <a:endParaRPr lang="zh-CN" altLang="en-US" sz="2700" b="0" i="0">
              <a:solidFill>
                <a:schemeClr val="tx2"/>
              </a:solidFill>
              <a:ea typeface="黑体" pitchFamily="2" charset="-122"/>
            </a:endParaRPr>
          </a:p>
        </p:txBody>
      </p:sp>
      <p:sp>
        <p:nvSpPr>
          <p:cNvPr id="517123" name="Rectangle 3"/>
          <p:cNvSpPr>
            <a:spLocks noChangeArrowheads="1"/>
          </p:cNvSpPr>
          <p:nvPr/>
        </p:nvSpPr>
        <p:spPr bwMode="auto">
          <a:xfrm>
            <a:off x="0" y="0"/>
            <a:ext cx="9144000" cy="1412875"/>
          </a:xfrm>
          <a:prstGeom prst="rect">
            <a:avLst/>
          </a:prstGeom>
          <a:solidFill>
            <a:schemeClr val="accent1">
              <a:alpha val="55000"/>
            </a:scheme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ct val="60000"/>
              </a:spcBef>
              <a:buClr>
                <a:schemeClr val="bg1"/>
              </a:buClr>
              <a:buSzPct val="70000"/>
              <a:buFont typeface="Wingdings" pitchFamily="2" charset="2"/>
              <a:buNone/>
              <a:defRPr/>
            </a:pPr>
            <a:endParaRPr lang="zh-CN" altLang="en-US" sz="2000" b="0" i="0">
              <a:latin typeface="Arial" pitchFamily="34" charset="0"/>
            </a:endParaRPr>
          </a:p>
        </p:txBody>
      </p:sp>
      <p:sp>
        <p:nvSpPr>
          <p:cNvPr id="844804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1000125" y="117475"/>
            <a:ext cx="7848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844805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1085850" y="1527175"/>
            <a:ext cx="7704138" cy="5026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17126" name="Line 6"/>
          <p:cNvSpPr>
            <a:spLocks noChangeShapeType="1"/>
          </p:cNvSpPr>
          <p:nvPr/>
        </p:nvSpPr>
        <p:spPr bwMode="auto">
          <a:xfrm>
            <a:off x="79375" y="1412875"/>
            <a:ext cx="8997950" cy="0"/>
          </a:xfrm>
          <a:prstGeom prst="line">
            <a:avLst/>
          </a:prstGeom>
          <a:noFill/>
          <a:ln w="38100">
            <a:solidFill>
              <a:srgbClr val="000066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spcBef>
                <a:spcPct val="60000"/>
              </a:spcBef>
              <a:buClr>
                <a:schemeClr val="bg1"/>
              </a:buClr>
              <a:buSzPct val="70000"/>
              <a:buFont typeface="Wingdings" pitchFamily="2" charset="2"/>
              <a:buNone/>
              <a:defRPr/>
            </a:pPr>
            <a:endParaRPr lang="zh-CN" altLang="en-US" sz="2000" b="0" i="0">
              <a:latin typeface="Arial" pitchFamily="34" charset="0"/>
            </a:endParaRPr>
          </a:p>
        </p:txBody>
      </p:sp>
      <p:sp>
        <p:nvSpPr>
          <p:cNvPr id="517127" name="Text Box 7"/>
          <p:cNvSpPr txBox="1">
            <a:spLocks noChangeArrowheads="1"/>
          </p:cNvSpPr>
          <p:nvPr/>
        </p:nvSpPr>
        <p:spPr bwMode="auto">
          <a:xfrm>
            <a:off x="5795963" y="6583363"/>
            <a:ext cx="2914650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1200">
                <a:solidFill>
                  <a:srgbClr val="000066"/>
                </a:solidFill>
                <a:ea typeface="黑体" pitchFamily="2" charset="-122"/>
              </a:rPr>
              <a:t>School of Computer Science &amp; Technology</a:t>
            </a:r>
          </a:p>
        </p:txBody>
      </p:sp>
      <p:sp>
        <p:nvSpPr>
          <p:cNvPr id="517128" name="Text Box 8"/>
          <p:cNvSpPr txBox="1">
            <a:spLocks noChangeArrowheads="1"/>
          </p:cNvSpPr>
          <p:nvPr/>
        </p:nvSpPr>
        <p:spPr bwMode="auto">
          <a:xfrm>
            <a:off x="8604250" y="6618443"/>
            <a:ext cx="431800" cy="1841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r">
              <a:spcBef>
                <a:spcPct val="50000"/>
              </a:spcBef>
              <a:defRPr/>
            </a:pPr>
            <a:fld id="{C8779A31-AD12-4838-AB08-0591904D1A75}" type="slidenum">
              <a:rPr lang="zh-CN" altLang="en-US" sz="1200" i="0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</a:rPr>
              <a:pPr algn="r">
                <a:spcBef>
                  <a:spcPct val="50000"/>
                </a:spcBef>
                <a:defRPr/>
              </a:pPr>
              <a:t>‹#›</a:t>
            </a:fld>
            <a:endParaRPr lang="en-US" altLang="zh-CN" sz="1200" i="0" dirty="0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  <p:sp>
        <p:nvSpPr>
          <p:cNvPr id="517129" name="Line 9"/>
          <p:cNvSpPr>
            <a:spLocks noChangeShapeType="1"/>
          </p:cNvSpPr>
          <p:nvPr/>
        </p:nvSpPr>
        <p:spPr bwMode="auto">
          <a:xfrm>
            <a:off x="971550" y="1412875"/>
            <a:ext cx="0" cy="5184775"/>
          </a:xfrm>
          <a:prstGeom prst="line">
            <a:avLst/>
          </a:prstGeom>
          <a:noFill/>
          <a:ln w="38100">
            <a:solidFill>
              <a:srgbClr val="000066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spcBef>
                <a:spcPct val="60000"/>
              </a:spcBef>
              <a:buClr>
                <a:schemeClr val="bg1"/>
              </a:buClr>
              <a:buSzPct val="70000"/>
              <a:buFont typeface="Wingdings" pitchFamily="2" charset="2"/>
              <a:buNone/>
              <a:defRPr/>
            </a:pPr>
            <a:endParaRPr lang="zh-CN" altLang="en-US" sz="2000" b="0" i="0">
              <a:latin typeface="Arial" pitchFamily="34" charset="0"/>
            </a:endParaRPr>
          </a:p>
        </p:txBody>
      </p:sp>
      <p:sp>
        <p:nvSpPr>
          <p:cNvPr id="517130" name="Rectangle 10"/>
          <p:cNvSpPr>
            <a:spLocks noChangeArrowheads="1"/>
          </p:cNvSpPr>
          <p:nvPr userDrawn="1"/>
        </p:nvSpPr>
        <p:spPr bwMode="auto">
          <a:xfrm>
            <a:off x="207963" y="1512888"/>
            <a:ext cx="692150" cy="4897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 sz="4400" i="0">
              <a:solidFill>
                <a:schemeClr val="tx2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  <p:sldLayoutId id="2147483701" r:id="rId12"/>
  </p:sldLayoutIdLst>
  <p:transition>
    <p:random/>
  </p:transition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itchFamily="18" charset="0"/>
          <a:ea typeface="楷体_GB2312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itchFamily="18" charset="0"/>
          <a:ea typeface="楷体_GB2312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itchFamily="18" charset="0"/>
          <a:ea typeface="楷体_GB2312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itchFamily="18" charset="0"/>
          <a:ea typeface="楷体_GB2312" pitchFamily="49" charset="-122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itchFamily="18" charset="0"/>
          <a:ea typeface="楷体_GB2312" pitchFamily="49" charset="-122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itchFamily="18" charset="0"/>
          <a:ea typeface="楷体_GB2312" pitchFamily="49" charset="-122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itchFamily="18" charset="0"/>
          <a:ea typeface="楷体_GB2312" pitchFamily="49" charset="-122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itchFamily="18" charset="0"/>
          <a:ea typeface="楷体_GB2312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20000"/>
        </a:spcAft>
        <a:buClr>
          <a:srgbClr val="003366"/>
        </a:buClr>
        <a:buFont typeface="Wingdings" pitchFamily="2" charset="2"/>
        <a:buChar char="r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20000"/>
        </a:spcAft>
        <a:buClr>
          <a:srgbClr val="003366"/>
        </a:buClr>
        <a:buFont typeface="Wingdings" pitchFamily="2" charset="2"/>
        <a:buChar char="q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20000"/>
        </a:spcAft>
        <a:buClr>
          <a:srgbClr val="003366"/>
        </a:buClr>
        <a:buFont typeface="Wingdings" pitchFamily="2" charset="2"/>
        <a:buChar char="p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20000"/>
        </a:spcAft>
        <a:buClr>
          <a:srgbClr val="000066"/>
        </a:buClr>
        <a:buFont typeface="Wingdings" pitchFamily="2" charset="2"/>
        <a:buChar char="o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20000"/>
        </a:spcAft>
        <a:buClr>
          <a:srgbClr val="000066"/>
        </a:buClr>
        <a:buFont typeface="Wingdings" pitchFamily="2" charset="2"/>
        <a:buChar char="v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20000"/>
        </a:spcAft>
        <a:buClr>
          <a:srgbClr val="000066"/>
        </a:buClr>
        <a:buFont typeface="Wingdings" pitchFamily="2" charset="2"/>
        <a:buChar char="v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20000"/>
        </a:spcAft>
        <a:buClr>
          <a:srgbClr val="000066"/>
        </a:buClr>
        <a:buFont typeface="Wingdings" pitchFamily="2" charset="2"/>
        <a:buChar char="v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20000"/>
        </a:spcAft>
        <a:buClr>
          <a:srgbClr val="000066"/>
        </a:buClr>
        <a:buFont typeface="Wingdings" pitchFamily="2" charset="2"/>
        <a:buChar char="v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20000"/>
        </a:spcAft>
        <a:buClr>
          <a:srgbClr val="000066"/>
        </a:buClr>
        <a:buFont typeface="Wingdings" pitchFamily="2" charset="2"/>
        <a:buChar char="v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146" name="Rectangle 2"/>
          <p:cNvSpPr>
            <a:spLocks noChangeArrowheads="1"/>
          </p:cNvSpPr>
          <p:nvPr/>
        </p:nvSpPr>
        <p:spPr bwMode="auto">
          <a:xfrm>
            <a:off x="0" y="0"/>
            <a:ext cx="9144000" cy="1412875"/>
          </a:xfrm>
          <a:prstGeom prst="rect">
            <a:avLst/>
          </a:prstGeom>
          <a:solidFill>
            <a:schemeClr val="accent1">
              <a:alpha val="55000"/>
            </a:scheme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ct val="60000"/>
              </a:spcBef>
              <a:buClr>
                <a:schemeClr val="bg1"/>
              </a:buClr>
              <a:buSzPct val="70000"/>
              <a:buFont typeface="Wingdings" pitchFamily="2" charset="2"/>
              <a:buNone/>
              <a:defRPr/>
            </a:pPr>
            <a:endParaRPr lang="zh-CN" altLang="en-US" sz="2000" b="0" i="0">
              <a:latin typeface="Arial" pitchFamily="34" charset="0"/>
            </a:endParaRPr>
          </a:p>
        </p:txBody>
      </p:sp>
      <p:sp>
        <p:nvSpPr>
          <p:cNvPr id="8458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250825" y="274638"/>
            <a:ext cx="8569325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8458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252413" y="1600200"/>
            <a:ext cx="8567737" cy="4781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18149" name="Line 5"/>
          <p:cNvSpPr>
            <a:spLocks noChangeShapeType="1"/>
          </p:cNvSpPr>
          <p:nvPr/>
        </p:nvSpPr>
        <p:spPr bwMode="auto">
          <a:xfrm>
            <a:off x="0" y="1412875"/>
            <a:ext cx="9175750" cy="0"/>
          </a:xfrm>
          <a:prstGeom prst="line">
            <a:avLst/>
          </a:prstGeom>
          <a:noFill/>
          <a:ln w="38100">
            <a:solidFill>
              <a:srgbClr val="000066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spcBef>
                <a:spcPct val="60000"/>
              </a:spcBef>
              <a:buClr>
                <a:schemeClr val="bg1"/>
              </a:buClr>
              <a:buSzPct val="70000"/>
              <a:buFont typeface="Wingdings" pitchFamily="2" charset="2"/>
              <a:buNone/>
              <a:defRPr/>
            </a:pPr>
            <a:endParaRPr lang="zh-CN" altLang="en-US" sz="2000" b="0" i="0">
              <a:latin typeface="Arial" pitchFamily="34" charset="0"/>
            </a:endParaRPr>
          </a:p>
        </p:txBody>
      </p:sp>
      <p:sp>
        <p:nvSpPr>
          <p:cNvPr id="518150" name="Text Box 6"/>
          <p:cNvSpPr txBox="1">
            <a:spLocks noChangeArrowheads="1"/>
          </p:cNvSpPr>
          <p:nvPr/>
        </p:nvSpPr>
        <p:spPr bwMode="auto">
          <a:xfrm>
            <a:off x="5867400" y="6583363"/>
            <a:ext cx="2914650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1200">
                <a:solidFill>
                  <a:srgbClr val="000066"/>
                </a:solidFill>
                <a:ea typeface="黑体" pitchFamily="2" charset="-122"/>
              </a:rPr>
              <a:t>School of Computer Science &amp; Technology</a:t>
            </a:r>
          </a:p>
        </p:txBody>
      </p:sp>
      <p:sp>
        <p:nvSpPr>
          <p:cNvPr id="518151" name="Text Box 7"/>
          <p:cNvSpPr txBox="1">
            <a:spLocks noChangeArrowheads="1"/>
          </p:cNvSpPr>
          <p:nvPr/>
        </p:nvSpPr>
        <p:spPr bwMode="auto">
          <a:xfrm>
            <a:off x="8637301" y="6618443"/>
            <a:ext cx="431800" cy="1841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r">
              <a:spcBef>
                <a:spcPct val="50000"/>
              </a:spcBef>
              <a:defRPr/>
            </a:pPr>
            <a:fld id="{F7F9435D-7712-4466-B9AD-560FB0528270}" type="slidenum">
              <a:rPr lang="zh-CN" altLang="en-US" sz="1200" i="0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</a:rPr>
              <a:pPr algn="r">
                <a:spcBef>
                  <a:spcPct val="50000"/>
                </a:spcBef>
                <a:defRPr/>
              </a:pPr>
              <a:t>‹#›</a:t>
            </a:fld>
            <a:endParaRPr lang="en-US" altLang="zh-CN" sz="1200" i="0" dirty="0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702" r:id="rId12"/>
  </p:sldLayoutIdLst>
  <p:transition>
    <p:random/>
  </p:transition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itchFamily="18" charset="0"/>
          <a:ea typeface="楷体_GB2312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itchFamily="18" charset="0"/>
          <a:ea typeface="楷体_GB2312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itchFamily="18" charset="0"/>
          <a:ea typeface="楷体_GB2312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itchFamily="18" charset="0"/>
          <a:ea typeface="楷体_GB2312" pitchFamily="49" charset="-122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itchFamily="18" charset="0"/>
          <a:ea typeface="楷体_GB2312" pitchFamily="49" charset="-122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itchFamily="18" charset="0"/>
          <a:ea typeface="楷体_GB2312" pitchFamily="49" charset="-122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itchFamily="18" charset="0"/>
          <a:ea typeface="楷体_GB2312" pitchFamily="49" charset="-122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itchFamily="18" charset="0"/>
          <a:ea typeface="楷体_GB2312" pitchFamily="49" charset="-122"/>
        </a:defRPr>
      </a:lvl9pPr>
    </p:titleStyle>
    <p:bodyStyle>
      <a:lvl1pPr marL="342900" indent="-342900" algn="l" rtl="0" eaLnBrk="0" fontAlgn="base" hangingPunct="0">
        <a:spcBef>
          <a:spcPct val="10000"/>
        </a:spcBef>
        <a:spcAft>
          <a:spcPct val="10000"/>
        </a:spcAft>
        <a:buClr>
          <a:srgbClr val="003366"/>
        </a:buClr>
        <a:buFont typeface="Wingdings" pitchFamily="2" charset="2"/>
        <a:buChar char="r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10000"/>
        </a:spcBef>
        <a:spcAft>
          <a:spcPct val="10000"/>
        </a:spcAft>
        <a:buClr>
          <a:srgbClr val="003366"/>
        </a:buClr>
        <a:buFont typeface="Wingdings" pitchFamily="2" charset="2"/>
        <a:buChar char="q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10000"/>
        </a:spcBef>
        <a:spcAft>
          <a:spcPct val="10000"/>
        </a:spcAft>
        <a:buClr>
          <a:srgbClr val="003366"/>
        </a:buClr>
        <a:buFont typeface="Wingdings" pitchFamily="2" charset="2"/>
        <a:buChar char="p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10000"/>
        </a:spcBef>
        <a:spcAft>
          <a:spcPct val="10000"/>
        </a:spcAft>
        <a:buClr>
          <a:srgbClr val="000066"/>
        </a:buClr>
        <a:buFont typeface="Wingdings" pitchFamily="2" charset="2"/>
        <a:buChar char="o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10000"/>
        </a:spcBef>
        <a:spcAft>
          <a:spcPct val="10000"/>
        </a:spcAft>
        <a:buClr>
          <a:srgbClr val="000066"/>
        </a:buClr>
        <a:buFont typeface="Wingdings" pitchFamily="2" charset="2"/>
        <a:buChar char="v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0" fontAlgn="base" hangingPunct="0">
        <a:spcBef>
          <a:spcPct val="10000"/>
        </a:spcBef>
        <a:spcAft>
          <a:spcPct val="10000"/>
        </a:spcAft>
        <a:buClr>
          <a:srgbClr val="000066"/>
        </a:buClr>
        <a:buFont typeface="Wingdings" pitchFamily="2" charset="2"/>
        <a:buChar char="v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10000"/>
        </a:spcBef>
        <a:spcAft>
          <a:spcPct val="10000"/>
        </a:spcAft>
        <a:buClr>
          <a:srgbClr val="000066"/>
        </a:buClr>
        <a:buFont typeface="Wingdings" pitchFamily="2" charset="2"/>
        <a:buChar char="v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10000"/>
        </a:spcBef>
        <a:spcAft>
          <a:spcPct val="10000"/>
        </a:spcAft>
        <a:buClr>
          <a:srgbClr val="000066"/>
        </a:buClr>
        <a:buFont typeface="Wingdings" pitchFamily="2" charset="2"/>
        <a:buChar char="v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10000"/>
        </a:spcBef>
        <a:spcAft>
          <a:spcPct val="10000"/>
        </a:spcAft>
        <a:buClr>
          <a:srgbClr val="000066"/>
        </a:buClr>
        <a:buFont typeface="Wingdings" pitchFamily="2" charset="2"/>
        <a:buChar char="v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426075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6" r:id="rId3"/>
    <p:sldLayoutId id="2147483707" r:id="rId4"/>
    <p:sldLayoutId id="2147483708" r:id="rId5"/>
    <p:sldLayoutId id="2147483709" r:id="rId6"/>
    <p:sldLayoutId id="2147483710" r:id="rId7"/>
    <p:sldLayoutId id="2147483711" r:id="rId8"/>
    <p:sldLayoutId id="2147483712" r:id="rId9"/>
    <p:sldLayoutId id="2147483713" r:id="rId10"/>
    <p:sldLayoutId id="2147483714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338" name="Rectangle 2"/>
          <p:cNvSpPr>
            <a:spLocks noGrp="1" noChangeArrowheads="1"/>
          </p:cNvSpPr>
          <p:nvPr>
            <p:ph type="ctrTitle" idx="4294967295"/>
          </p:nvPr>
        </p:nvSpPr>
        <p:spPr bwMode="auto">
          <a:xfrm>
            <a:off x="228600" y="254000"/>
            <a:ext cx="8551863" cy="331061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lIns="0" rIns="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8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SimHei" panose="02010609060101010101" pitchFamily="49" charset="-122"/>
                <a:ea typeface="SimHei" panose="02010609060101010101" pitchFamily="49" charset="-122"/>
              </a:rPr>
              <a:t>计 算 机 网 络</a:t>
            </a:r>
            <a:br>
              <a:rPr lang="en-US" altLang="zh-CN" sz="8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SimHei" panose="02010609060101010101" pitchFamily="49" charset="-122"/>
                <a:ea typeface="SimHei" panose="02010609060101010101" pitchFamily="49" charset="-122"/>
              </a:rPr>
            </a:br>
            <a:r>
              <a:rPr lang="zh-CN" alt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imSun" panose="02010600030101010101" pitchFamily="2" charset="-122"/>
                <a:ea typeface="SimSun" panose="02010600030101010101" pitchFamily="2" charset="-122"/>
              </a:rPr>
              <a:t>期末考试</a:t>
            </a:r>
            <a:endParaRPr lang="en-US" altLang="zh-CN" sz="6000" b="1" dirty="0">
              <a:effectLst>
                <a:outerShdw blurRad="38100" dist="38100" dir="2700000" algn="tl">
                  <a:srgbClr val="C0C0C0"/>
                </a:outerShdw>
              </a:effectLst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561155" name="Rectangle 6"/>
          <p:cNvSpPr>
            <a:spLocks noChangeArrowheads="1"/>
          </p:cNvSpPr>
          <p:nvPr/>
        </p:nvSpPr>
        <p:spPr bwMode="auto">
          <a:xfrm>
            <a:off x="395288" y="4191000"/>
            <a:ext cx="8497887" cy="1130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>
              <a:spcBef>
                <a:spcPct val="20000"/>
              </a:spcBef>
            </a:pPr>
            <a:r>
              <a:rPr lang="en-US" altLang="zh-CN" sz="4800" i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_GB2312" pitchFamily="49" charset="-122"/>
                <a:cs typeface="Times New Roman" panose="02020603050405020304" pitchFamily="18" charset="0"/>
              </a:rPr>
              <a:t>2022/2023 (2)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202" name="Rectangle 2"/>
          <p:cNvSpPr>
            <a:spLocks noGrp="1" noChangeArrowheads="1"/>
          </p:cNvSpPr>
          <p:nvPr>
            <p:ph type="title"/>
          </p:nvPr>
        </p:nvSpPr>
        <p:spPr>
          <a:xfrm>
            <a:off x="222250" y="381000"/>
            <a:ext cx="8645525" cy="884238"/>
          </a:xfrm>
        </p:spPr>
        <p:txBody>
          <a:bodyPr/>
          <a:lstStyle/>
          <a:p>
            <a:pPr>
              <a:spcBef>
                <a:spcPct val="15000"/>
              </a:spcBef>
              <a:spcAft>
                <a:spcPct val="15000"/>
              </a:spcAft>
            </a:pPr>
            <a:r>
              <a:rPr lang="zh-CN" altLang="en-US" sz="4800" dirty="0"/>
              <a:t>试题题型</a:t>
            </a:r>
            <a:endParaRPr lang="en-US" altLang="zh-CN" sz="4800" dirty="0"/>
          </a:p>
        </p:txBody>
      </p:sp>
      <p:sp>
        <p:nvSpPr>
          <p:cNvPr id="43520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66700" y="1530350"/>
            <a:ext cx="8645524" cy="4756150"/>
          </a:xfrm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p"/>
            </a:pPr>
            <a:r>
              <a:rPr lang="zh-CN" altLang="en-US" b="1" dirty="0"/>
              <a:t>一、简答题：</a:t>
            </a:r>
            <a:r>
              <a:rPr lang="en-US" altLang="zh-CN" b="1" dirty="0"/>
              <a:t>7</a:t>
            </a:r>
            <a:r>
              <a:rPr lang="zh-CN" altLang="en-US" b="1" dirty="0"/>
              <a:t>小题，</a:t>
            </a:r>
            <a:r>
              <a:rPr lang="en-US" altLang="zh-CN" b="1" dirty="0"/>
              <a:t>35</a:t>
            </a:r>
            <a:r>
              <a:rPr lang="zh-CN" altLang="en-US" b="1" dirty="0"/>
              <a:t>分</a:t>
            </a:r>
            <a:endParaRPr lang="en-US" altLang="zh-CN" b="1" dirty="0"/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zh-CN" altLang="en-US" dirty="0"/>
              <a:t>直接写结果，不要求分析计算过程</a:t>
            </a:r>
            <a:r>
              <a:rPr lang="en-US" altLang="zh-CN" dirty="0"/>
              <a:t>.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altLang="zh-CN" dirty="0"/>
              <a:t>Socket </a:t>
            </a:r>
            <a:r>
              <a:rPr lang="zh-CN" altLang="en-US" dirty="0"/>
              <a:t>程序设计</a:t>
            </a:r>
            <a:endParaRPr lang="en-US" altLang="zh-CN" dirty="0"/>
          </a:p>
          <a:p>
            <a:pPr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p"/>
            </a:pPr>
            <a:r>
              <a:rPr lang="zh-CN" altLang="en-US" b="1" dirty="0"/>
              <a:t>二、协议分析题：</a:t>
            </a:r>
            <a:r>
              <a:rPr lang="en-US" altLang="zh-CN" b="1" dirty="0"/>
              <a:t>5</a:t>
            </a:r>
            <a:r>
              <a:rPr lang="zh-CN" altLang="en-US" b="1" dirty="0"/>
              <a:t>小题，</a:t>
            </a:r>
            <a:r>
              <a:rPr lang="en-US" altLang="zh-CN" b="1" dirty="0"/>
              <a:t>10</a:t>
            </a:r>
            <a:r>
              <a:rPr lang="zh-CN" altLang="en-US" b="1" dirty="0"/>
              <a:t>分</a:t>
            </a:r>
            <a:endParaRPr lang="en-US" altLang="zh-CN" b="1" dirty="0"/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zh-CN" altLang="en-US" dirty="0"/>
              <a:t>直接写结果</a:t>
            </a:r>
            <a:endParaRPr lang="en-US" altLang="zh-CN" dirty="0"/>
          </a:p>
          <a:p>
            <a:pPr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p"/>
            </a:pPr>
            <a:r>
              <a:rPr lang="zh-CN" altLang="en-US" b="1" dirty="0"/>
              <a:t>三、计算分析题：</a:t>
            </a:r>
            <a:r>
              <a:rPr lang="en-US" altLang="zh-CN" b="1" dirty="0"/>
              <a:t>6</a:t>
            </a:r>
            <a:r>
              <a:rPr lang="zh-CN" altLang="en-US" b="1" dirty="0"/>
              <a:t>小题，</a:t>
            </a:r>
            <a:r>
              <a:rPr lang="en-US" altLang="zh-CN" b="1" dirty="0"/>
              <a:t>45</a:t>
            </a:r>
            <a:r>
              <a:rPr lang="zh-CN" altLang="en-US" b="1" dirty="0"/>
              <a:t>分</a:t>
            </a:r>
            <a:r>
              <a:rPr lang="en-US" altLang="zh-CN" b="1" dirty="0"/>
              <a:t>.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zh-CN" altLang="en-US" dirty="0"/>
              <a:t>必须有分析和计算过程</a:t>
            </a:r>
            <a:endParaRPr lang="en-US" altLang="zh-CN" dirty="0"/>
          </a:p>
          <a:p>
            <a:pPr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p"/>
            </a:pPr>
            <a:r>
              <a:rPr lang="zh-CN" altLang="en-US" b="1" dirty="0"/>
              <a:t>四、计算题：</a:t>
            </a:r>
            <a:r>
              <a:rPr lang="en-US" altLang="zh-CN" b="1" dirty="0"/>
              <a:t>10</a:t>
            </a:r>
            <a:r>
              <a:rPr lang="zh-CN" altLang="en-US" b="1" dirty="0"/>
              <a:t>分</a:t>
            </a:r>
            <a:endParaRPr lang="en-US" altLang="zh-CN" b="1" dirty="0"/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zh-CN" altLang="en-US" dirty="0"/>
              <a:t>必须有分析和计算过程</a:t>
            </a:r>
            <a:endParaRPr lang="en-US" altLang="zh-CN" dirty="0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2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2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2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2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2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4C464E-1D95-DD43-A326-41442B3DE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825" y="290136"/>
            <a:ext cx="8569325" cy="1143000"/>
          </a:xfrm>
        </p:spPr>
        <p:txBody>
          <a:bodyPr/>
          <a:lstStyle/>
          <a:p>
            <a:r>
              <a:rPr kumimoji="1" lang="zh-CN" altLang="en-US" dirty="0"/>
              <a:t>重点考查内容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5631C40-F4D6-6449-AEB6-4F10B1C6C9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52413" y="1600200"/>
            <a:ext cx="8567737" cy="4781550"/>
          </a:xfrm>
        </p:spPr>
        <p:txBody>
          <a:bodyPr/>
          <a:lstStyle/>
          <a:p>
            <a:r>
              <a:rPr lang="en-US" altLang="zh-CN" b="1" dirty="0"/>
              <a:t>Internet</a:t>
            </a:r>
            <a:r>
              <a:rPr lang="zh-CN" altLang="en-US" b="1" dirty="0"/>
              <a:t>概述</a:t>
            </a:r>
            <a:endParaRPr lang="en-US" altLang="zh-CN" b="1" dirty="0"/>
          </a:p>
          <a:p>
            <a:pPr lvl="1"/>
            <a:r>
              <a:rPr lang="en-US" altLang="zh-CN" b="0" dirty="0"/>
              <a:t>Internet</a:t>
            </a:r>
            <a:r>
              <a:rPr lang="zh-CN" altLang="en-US" b="0" dirty="0"/>
              <a:t>协议层次及其功能</a:t>
            </a:r>
            <a:endParaRPr lang="en-US" altLang="zh-CN" b="0" dirty="0"/>
          </a:p>
          <a:p>
            <a:pPr lvl="1">
              <a:buFont typeface="Wingdings" pitchFamily="2" charset="2"/>
              <a:buChar char="Ø"/>
            </a:pPr>
            <a:r>
              <a:rPr lang="zh-CN" altLang="en-US" b="0" dirty="0"/>
              <a:t>分组</a:t>
            </a:r>
            <a:r>
              <a:rPr lang="en-US" altLang="zh-CN" b="0" dirty="0"/>
              <a:t>/</a:t>
            </a:r>
            <a:r>
              <a:rPr lang="zh-CN" altLang="en-US" b="0" dirty="0"/>
              <a:t>电路交换技术概念及应用</a:t>
            </a:r>
            <a:endParaRPr lang="en-US" altLang="zh-CN" b="0" dirty="0"/>
          </a:p>
          <a:p>
            <a:pPr lvl="1">
              <a:buFont typeface="Wingdings" pitchFamily="2" charset="2"/>
              <a:buChar char="Ø"/>
            </a:pPr>
            <a:r>
              <a:rPr lang="zh-CN" altLang="en-US" b="0" dirty="0"/>
              <a:t>延迟</a:t>
            </a:r>
            <a:r>
              <a:rPr lang="en-US" altLang="zh-CN" b="0" dirty="0"/>
              <a:t>/</a:t>
            </a:r>
            <a:r>
              <a:rPr lang="zh-CN" altLang="en-US" b="0" dirty="0"/>
              <a:t>吞吐率计算</a:t>
            </a:r>
            <a:endParaRPr lang="en-US" altLang="zh-CN" b="0" dirty="0"/>
          </a:p>
          <a:p>
            <a:r>
              <a:rPr lang="zh-CN" altLang="en-US" b="1" dirty="0"/>
              <a:t>应用层</a:t>
            </a:r>
            <a:endParaRPr lang="en-US" altLang="zh-CN" b="1" dirty="0"/>
          </a:p>
          <a:p>
            <a:pPr lvl="1"/>
            <a:r>
              <a:rPr lang="zh-CN" altLang="en-US" b="0" dirty="0"/>
              <a:t>应用体系结构及其优缺点</a:t>
            </a:r>
            <a:endParaRPr lang="en-US" altLang="zh-CN" b="0" dirty="0"/>
          </a:p>
          <a:p>
            <a:pPr lvl="1">
              <a:buFont typeface="Wingdings" pitchFamily="2" charset="2"/>
              <a:buChar char="Ø"/>
            </a:pPr>
            <a:r>
              <a:rPr lang="en-US" altLang="zh-CN" b="0" dirty="0"/>
              <a:t>HTTP</a:t>
            </a:r>
          </a:p>
          <a:p>
            <a:pPr lvl="2">
              <a:buFont typeface="Wingdings" pitchFamily="2" charset="2"/>
              <a:buChar char="ü"/>
            </a:pPr>
            <a:r>
              <a:rPr lang="zh-CN" altLang="en-US" b="0" dirty="0"/>
              <a:t>连接与响应性能、消息结构、</a:t>
            </a:r>
            <a:r>
              <a:rPr lang="en-US" altLang="zh-CN" dirty="0"/>
              <a:t>Cookie</a:t>
            </a:r>
            <a:r>
              <a:rPr lang="zh-CN" altLang="en-US" dirty="0"/>
              <a:t>、</a:t>
            </a:r>
            <a:r>
              <a:rPr lang="en-US" altLang="zh-CN" b="0" dirty="0"/>
              <a:t>Web</a:t>
            </a:r>
            <a:r>
              <a:rPr lang="zh-CN" altLang="en-US" b="0" dirty="0"/>
              <a:t> 缓存</a:t>
            </a:r>
            <a:endParaRPr lang="en-US" altLang="zh-CN" b="0" dirty="0"/>
          </a:p>
          <a:p>
            <a:pPr lvl="1">
              <a:buFont typeface="Wingdings" pitchFamily="2" charset="2"/>
              <a:buChar char="Ø"/>
            </a:pPr>
            <a:r>
              <a:rPr lang="zh-CN" altLang="en-US" dirty="0"/>
              <a:t>电子邮件</a:t>
            </a:r>
            <a:endParaRPr lang="en-US" altLang="zh-CN" dirty="0"/>
          </a:p>
          <a:p>
            <a:pPr lvl="2">
              <a:buFont typeface="Wingdings" pitchFamily="2" charset="2"/>
              <a:buChar char="ü"/>
            </a:pPr>
            <a:r>
              <a:rPr lang="zh-CN" altLang="en-US" b="0" dirty="0"/>
              <a:t>组成、交互过程、</a:t>
            </a:r>
            <a:r>
              <a:rPr lang="en-US" altLang="zh-CN" b="0" dirty="0"/>
              <a:t>SMTP</a:t>
            </a:r>
          </a:p>
          <a:p>
            <a:pPr lvl="1">
              <a:buFont typeface="Wingdings" pitchFamily="2" charset="2"/>
              <a:buChar char="Ø"/>
            </a:pPr>
            <a:r>
              <a:rPr lang="en-US" altLang="zh-CN" dirty="0"/>
              <a:t>DNS</a:t>
            </a:r>
          </a:p>
          <a:p>
            <a:pPr lvl="2">
              <a:buFont typeface="Wingdings" pitchFamily="2" charset="2"/>
              <a:buChar char="ü"/>
            </a:pPr>
            <a:r>
              <a:rPr lang="zh-CN" altLang="en-US" b="0" dirty="0"/>
              <a:t>服务、工作原理、</a:t>
            </a:r>
            <a:r>
              <a:rPr lang="zh-CN" altLang="en-US" dirty="0"/>
              <a:t>资源记录</a:t>
            </a:r>
            <a:endParaRPr lang="en-US" altLang="zh-CN" b="0" dirty="0"/>
          </a:p>
          <a:p>
            <a:pPr marL="0" indent="0">
              <a:buNone/>
            </a:pPr>
            <a:endParaRPr lang="en-US" altLang="zh-CN" b="0" dirty="0"/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084625"/>
      </p:ext>
    </p:ext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4C464E-1D95-DD43-A326-41442B3DE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825" y="290136"/>
            <a:ext cx="8569325" cy="1143000"/>
          </a:xfrm>
        </p:spPr>
        <p:txBody>
          <a:bodyPr/>
          <a:lstStyle/>
          <a:p>
            <a:r>
              <a:rPr kumimoji="1" lang="zh-CN" altLang="en-US" dirty="0"/>
              <a:t>重点考查内容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5631C40-F4D6-6449-AEB6-4F10B1C6C9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52413" y="1600200"/>
            <a:ext cx="8567737" cy="4781550"/>
          </a:xfrm>
        </p:spPr>
        <p:txBody>
          <a:bodyPr/>
          <a:lstStyle/>
          <a:p>
            <a:r>
              <a:rPr lang="zh-CN" altLang="en-US" b="0" dirty="0"/>
              <a:t>应用层</a:t>
            </a:r>
            <a:endParaRPr lang="en-US" altLang="zh-CN" b="0" dirty="0"/>
          </a:p>
          <a:p>
            <a:pPr lvl="1"/>
            <a:r>
              <a:rPr lang="en-US" altLang="zh-CN" dirty="0"/>
              <a:t>Socket</a:t>
            </a:r>
            <a:r>
              <a:rPr lang="zh-CN" altLang="en-US" dirty="0"/>
              <a:t> </a:t>
            </a:r>
            <a:r>
              <a:rPr lang="en-US" altLang="zh-CN" dirty="0"/>
              <a:t>Programming</a:t>
            </a:r>
            <a:r>
              <a:rPr lang="zh-CN" altLang="en-US" dirty="0"/>
              <a:t>，</a:t>
            </a:r>
            <a:r>
              <a:rPr lang="en-US" altLang="zh-CN" dirty="0"/>
              <a:t>Java</a:t>
            </a:r>
          </a:p>
          <a:p>
            <a:r>
              <a:rPr lang="zh-CN" altLang="en-US" b="0" dirty="0"/>
              <a:t>传输层</a:t>
            </a:r>
            <a:endParaRPr lang="en-US" altLang="zh-CN" b="0" dirty="0"/>
          </a:p>
          <a:p>
            <a:pPr lvl="1"/>
            <a:r>
              <a:rPr lang="zh-CN" altLang="en-US" b="0" dirty="0"/>
              <a:t>多路复用</a:t>
            </a:r>
            <a:r>
              <a:rPr lang="en-US" altLang="zh-CN" b="0" dirty="0"/>
              <a:t>/</a:t>
            </a:r>
            <a:r>
              <a:rPr lang="zh-CN" altLang="en-US" b="0" dirty="0"/>
              <a:t>分解</a:t>
            </a:r>
            <a:endParaRPr lang="en-US" altLang="zh-CN" b="0" dirty="0"/>
          </a:p>
          <a:p>
            <a:pPr lvl="1"/>
            <a:r>
              <a:rPr lang="en-US" altLang="zh-CN" dirty="0"/>
              <a:t>UDP</a:t>
            </a:r>
          </a:p>
          <a:p>
            <a:pPr lvl="2"/>
            <a:r>
              <a:rPr lang="zh-CN" altLang="en-US" b="0" dirty="0"/>
              <a:t>段结构、</a:t>
            </a:r>
            <a:r>
              <a:rPr lang="en-US" altLang="zh-CN" b="0" dirty="0"/>
              <a:t>checksum</a:t>
            </a:r>
            <a:r>
              <a:rPr lang="zh-CN" altLang="en-US" b="0" dirty="0"/>
              <a:t>计算</a:t>
            </a:r>
            <a:endParaRPr lang="en-US" altLang="zh-CN" b="0" dirty="0"/>
          </a:p>
          <a:p>
            <a:pPr lvl="1"/>
            <a:r>
              <a:rPr lang="zh-CN" altLang="en-US" b="1" dirty="0"/>
              <a:t>可靠数据传输基本原理</a:t>
            </a:r>
            <a:endParaRPr lang="en-US" altLang="zh-CN" b="1" dirty="0"/>
          </a:p>
          <a:p>
            <a:pPr lvl="1"/>
            <a:r>
              <a:rPr lang="en-US" altLang="zh-CN" b="1" dirty="0"/>
              <a:t>TCP</a:t>
            </a:r>
          </a:p>
          <a:p>
            <a:pPr lvl="2"/>
            <a:r>
              <a:rPr lang="zh-CN" altLang="en-US" b="1" dirty="0"/>
              <a:t>连接、段、可靠传输、序号</a:t>
            </a:r>
            <a:r>
              <a:rPr lang="en-US" altLang="zh-CN" b="1" dirty="0"/>
              <a:t>/</a:t>
            </a:r>
            <a:r>
              <a:rPr lang="zh-CN" altLang="en-US" b="1" dirty="0"/>
              <a:t>确认号、流量控制</a:t>
            </a:r>
            <a:endParaRPr lang="en-US" altLang="zh-CN" b="1" dirty="0"/>
          </a:p>
          <a:p>
            <a:pPr lvl="1"/>
            <a:r>
              <a:rPr lang="zh-CN" altLang="en-US" b="1" dirty="0"/>
              <a:t>拥塞控制</a:t>
            </a:r>
            <a:endParaRPr lang="en-US" altLang="zh-CN" b="1" dirty="0"/>
          </a:p>
          <a:p>
            <a:pPr lvl="2"/>
            <a:r>
              <a:rPr lang="zh-CN" altLang="en-US" b="1" dirty="0"/>
              <a:t>基本原理、</a:t>
            </a:r>
            <a:r>
              <a:rPr lang="en-US" altLang="zh-CN" b="1" dirty="0"/>
              <a:t>TCP</a:t>
            </a:r>
            <a:r>
              <a:rPr lang="zh-CN" altLang="en-US" b="1" dirty="0"/>
              <a:t>拥塞控制</a:t>
            </a:r>
            <a:endParaRPr lang="en-US" altLang="zh-CN" b="1" dirty="0"/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51320456"/>
      </p:ext>
    </p:ext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3CDD27-7F10-7442-B25B-C2610352DB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重点考查内容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7154661-7D66-8542-A9E4-CDD0F564BB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52413" y="1600200"/>
            <a:ext cx="8567737" cy="5126064"/>
          </a:xfrm>
        </p:spPr>
        <p:txBody>
          <a:bodyPr/>
          <a:lstStyle/>
          <a:p>
            <a:r>
              <a:rPr lang="zh-CN" altLang="en-US" dirty="0"/>
              <a:t>网络层</a:t>
            </a:r>
            <a:endParaRPr lang="en-US" altLang="zh-CN" dirty="0"/>
          </a:p>
          <a:p>
            <a:pPr lvl="1"/>
            <a:r>
              <a:rPr kumimoji="1" lang="zh-CN" altLang="en-US" dirty="0"/>
              <a:t>数据平面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转发和路由及其实现方式、路由器工作原理</a:t>
            </a:r>
            <a:r>
              <a:rPr kumimoji="1" lang="en-US" altLang="zh-CN" dirty="0"/>
              <a:t>(</a:t>
            </a:r>
            <a:r>
              <a:rPr kumimoji="1" lang="zh-CN" altLang="en-US" dirty="0"/>
              <a:t>结构、传输调度</a:t>
            </a:r>
            <a:r>
              <a:rPr kumimoji="1" lang="en-US" altLang="zh-CN" dirty="0"/>
              <a:t>))</a:t>
            </a:r>
          </a:p>
          <a:p>
            <a:pPr lvl="2"/>
            <a:r>
              <a:rPr kumimoji="1" lang="en-US" altLang="zh-CN" dirty="0"/>
              <a:t>IPv4(</a:t>
            </a:r>
            <a:r>
              <a:rPr kumimoji="1" lang="zh-CN" altLang="en-US" dirty="0"/>
              <a:t>数据报、分片重组、</a:t>
            </a:r>
            <a:r>
              <a:rPr kumimoji="1" lang="en-US" altLang="zh-CN" dirty="0"/>
              <a:t>IP</a:t>
            </a:r>
            <a:r>
              <a:rPr kumimoji="1" lang="zh-CN" altLang="en-US" dirty="0"/>
              <a:t>编址、最长前缀匹配、</a:t>
            </a:r>
            <a:r>
              <a:rPr kumimoji="1" lang="en-US" altLang="zh-CN" dirty="0"/>
              <a:t>DHCP</a:t>
            </a:r>
            <a:r>
              <a:rPr kumimoji="1" lang="zh-CN" altLang="en-US" dirty="0"/>
              <a:t>、</a:t>
            </a:r>
            <a:r>
              <a:rPr kumimoji="1" lang="en-US" altLang="zh-CN" dirty="0"/>
              <a:t>NAT)</a:t>
            </a:r>
          </a:p>
          <a:p>
            <a:pPr lvl="2"/>
            <a:r>
              <a:rPr kumimoji="1" lang="en-US" altLang="zh-CN" dirty="0"/>
              <a:t>SDN</a:t>
            </a:r>
            <a:r>
              <a:rPr kumimoji="1" lang="zh-CN" altLang="en-US" dirty="0"/>
              <a:t>通用转发</a:t>
            </a:r>
            <a:r>
              <a:rPr kumimoji="1" lang="en-US" altLang="zh-CN" dirty="0"/>
              <a:t>(</a:t>
            </a:r>
            <a:r>
              <a:rPr kumimoji="1" lang="zh-CN" altLang="en-US" dirty="0"/>
              <a:t>控制</a:t>
            </a:r>
            <a:r>
              <a:rPr kumimoji="1" lang="en-US" altLang="zh-CN" dirty="0"/>
              <a:t>/</a:t>
            </a:r>
            <a:r>
              <a:rPr kumimoji="1" lang="zh-CN" altLang="en-US" dirty="0"/>
              <a:t>数据平面功能、</a:t>
            </a:r>
            <a:r>
              <a:rPr kumimoji="1" lang="en-US" altLang="zh-CN" dirty="0"/>
              <a:t>match+action)</a:t>
            </a:r>
          </a:p>
          <a:p>
            <a:pPr lvl="1"/>
            <a:r>
              <a:rPr kumimoji="1" lang="zh-CN" altLang="en-US" dirty="0"/>
              <a:t>控制平面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路由算法</a:t>
            </a:r>
            <a:r>
              <a:rPr kumimoji="1" lang="en-US" altLang="zh-CN" dirty="0"/>
              <a:t>(LS</a:t>
            </a:r>
            <a:r>
              <a:rPr kumimoji="1" lang="zh-CN" altLang="en-US" dirty="0"/>
              <a:t>、</a:t>
            </a:r>
            <a:r>
              <a:rPr kumimoji="1" lang="en-US" altLang="zh-CN" dirty="0"/>
              <a:t>DV)</a:t>
            </a:r>
          </a:p>
          <a:p>
            <a:pPr lvl="2"/>
            <a:r>
              <a:rPr kumimoji="1" lang="zh-CN" altLang="en-US" dirty="0"/>
              <a:t>自治系统内部路由协议</a:t>
            </a:r>
            <a:r>
              <a:rPr kumimoji="1" lang="en-US" altLang="zh-CN" dirty="0"/>
              <a:t>(OSPF)</a:t>
            </a:r>
          </a:p>
          <a:p>
            <a:pPr lvl="2"/>
            <a:r>
              <a:rPr kumimoji="1" lang="en-US" altLang="zh-CN" dirty="0"/>
              <a:t>SDN</a:t>
            </a:r>
            <a:r>
              <a:rPr kumimoji="1" lang="zh-CN" altLang="en-US" dirty="0"/>
              <a:t>控制平面</a:t>
            </a:r>
            <a:r>
              <a:rPr kumimoji="1" lang="en-US" altLang="zh-CN" dirty="0"/>
              <a:t>(OpenFlow 1.0)</a:t>
            </a:r>
          </a:p>
          <a:p>
            <a:pPr lvl="2"/>
            <a:r>
              <a:rPr kumimoji="1" lang="en-US" altLang="zh-CN" dirty="0"/>
              <a:t>ICMP(</a:t>
            </a:r>
            <a:r>
              <a:rPr kumimoji="1" lang="zh-CN" altLang="en-US" dirty="0"/>
              <a:t>报文结构、</a:t>
            </a:r>
            <a:r>
              <a:rPr kumimoji="1" lang="en-US" altLang="zh-CN" dirty="0"/>
              <a:t>ping/traceroute</a:t>
            </a:r>
            <a:r>
              <a:rPr kumimoji="1" lang="zh-CN" altLang="en-US" dirty="0"/>
              <a:t>的实现、分片重组相关</a:t>
            </a:r>
            <a:r>
              <a:rPr kumimoji="1" lang="en-US" altLang="zh-CN" dirty="0"/>
              <a:t>)</a:t>
            </a:r>
          </a:p>
          <a:p>
            <a:pPr lvl="2"/>
            <a:r>
              <a:rPr kumimoji="1" lang="zh-CN" altLang="en-US" dirty="0"/>
              <a:t>网络管理</a:t>
            </a:r>
            <a:r>
              <a:rPr kumimoji="1" lang="en-US" altLang="zh-CN" dirty="0"/>
              <a:t>(</a:t>
            </a:r>
            <a:r>
              <a:rPr kumimoji="1" lang="zh-CN" altLang="en-US" dirty="0"/>
              <a:t>概念、框架、</a:t>
            </a:r>
            <a:r>
              <a:rPr kumimoji="1" lang="en-US" altLang="zh-CN" dirty="0"/>
              <a:t>SNMP)</a:t>
            </a:r>
          </a:p>
        </p:txBody>
      </p:sp>
    </p:spTree>
    <p:extLst>
      <p:ext uri="{BB962C8B-B14F-4D97-AF65-F5344CB8AC3E}">
        <p14:creationId xmlns:p14="http://schemas.microsoft.com/office/powerpoint/2010/main" val="3001279467"/>
      </p:ext>
    </p:ext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F6B010-020F-D940-A259-B8ABB1404A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重点考查内容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FC492EB-AE63-DA48-AFC8-A11D8B47C72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kumimoji="1" lang="zh-CN" altLang="en-US" dirty="0"/>
              <a:t>链路层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差错检测</a:t>
            </a:r>
            <a:r>
              <a:rPr kumimoji="1" lang="en-US" altLang="zh-CN" dirty="0"/>
              <a:t>(</a:t>
            </a:r>
            <a:r>
              <a:rPr kumimoji="1" lang="zh-CN" altLang="en-US" dirty="0"/>
              <a:t>奇偶校验、</a:t>
            </a:r>
            <a:r>
              <a:rPr kumimoji="1" lang="en-US" altLang="zh-CN" dirty="0"/>
              <a:t>CRC)</a:t>
            </a:r>
          </a:p>
          <a:p>
            <a:pPr lvl="1"/>
            <a:r>
              <a:rPr kumimoji="1" lang="zh-CN" altLang="en-US" dirty="0"/>
              <a:t>多路访问控制</a:t>
            </a:r>
            <a:r>
              <a:rPr kumimoji="1" lang="en-US" altLang="zh-CN" dirty="0"/>
              <a:t>(</a:t>
            </a:r>
            <a:r>
              <a:rPr kumimoji="1" lang="zh-CN" altLang="en-US" dirty="0"/>
              <a:t>信道划分、随机访问</a:t>
            </a:r>
            <a:r>
              <a:rPr kumimoji="1" lang="en-US" altLang="zh-CN" dirty="0"/>
              <a:t>(ALOHA</a:t>
            </a:r>
            <a:r>
              <a:rPr kumimoji="1" lang="zh-CN" altLang="en-US" dirty="0"/>
              <a:t>、</a:t>
            </a:r>
            <a:r>
              <a:rPr kumimoji="1" lang="en-US" altLang="zh-CN" dirty="0"/>
              <a:t>CSMA/CD)</a:t>
            </a:r>
          </a:p>
          <a:p>
            <a:pPr lvl="1"/>
            <a:r>
              <a:rPr kumimoji="1" lang="zh-CN" altLang="en-US" dirty="0"/>
              <a:t>局域网与</a:t>
            </a:r>
            <a:r>
              <a:rPr kumimoji="1" lang="en-US" altLang="zh-CN" dirty="0"/>
              <a:t>Ethernet(MAC</a:t>
            </a:r>
            <a:r>
              <a:rPr kumimoji="1" lang="zh-CN" altLang="en-US" dirty="0"/>
              <a:t>编址、</a:t>
            </a:r>
            <a:r>
              <a:rPr kumimoji="1" lang="en-US" altLang="zh-CN" dirty="0"/>
              <a:t>Ethernet</a:t>
            </a:r>
            <a:r>
              <a:rPr kumimoji="1" lang="zh-CN" altLang="en-US" dirty="0"/>
              <a:t> </a:t>
            </a:r>
            <a:r>
              <a:rPr kumimoji="1" lang="en-US" altLang="zh-CN" dirty="0"/>
              <a:t>Frame</a:t>
            </a:r>
            <a:r>
              <a:rPr kumimoji="1" lang="zh-CN" altLang="en-US" dirty="0"/>
              <a:t>、</a:t>
            </a:r>
            <a:r>
              <a:rPr kumimoji="1" lang="en-US" altLang="zh-CN" dirty="0"/>
              <a:t>ARP</a:t>
            </a:r>
            <a:r>
              <a:rPr kumimoji="1" lang="zh-CN" altLang="en-US" dirty="0"/>
              <a:t>、交换机、</a:t>
            </a:r>
            <a:r>
              <a:rPr kumimoji="1" lang="en-US" altLang="zh-CN" dirty="0"/>
              <a:t>VLAN</a:t>
            </a:r>
          </a:p>
          <a:p>
            <a:pPr lvl="1"/>
            <a:r>
              <a:rPr kumimoji="1" lang="zh-CN" altLang="en-US" dirty="0"/>
              <a:t>数据中心网络结构</a:t>
            </a:r>
            <a:endParaRPr kumimoji="1" lang="en-US" altLang="zh-CN" dirty="0"/>
          </a:p>
          <a:p>
            <a:r>
              <a:rPr kumimoji="1" lang="zh-CN" altLang="en-US" b="1" dirty="0">
                <a:solidFill>
                  <a:srgbClr val="FF0000"/>
                </a:solidFill>
              </a:rPr>
              <a:t>注意</a:t>
            </a:r>
            <a:endParaRPr kumimoji="1" lang="en-US" altLang="zh-CN" b="1" dirty="0">
              <a:solidFill>
                <a:srgbClr val="FF0000"/>
              </a:solidFill>
            </a:endParaRPr>
          </a:p>
          <a:p>
            <a:pPr lvl="1"/>
            <a:r>
              <a:rPr kumimoji="1" lang="zh-CN" altLang="en-US" b="1" dirty="0">
                <a:solidFill>
                  <a:srgbClr val="FF0000"/>
                </a:solidFill>
              </a:rPr>
              <a:t>以上仅是重点考查内容</a:t>
            </a:r>
          </a:p>
        </p:txBody>
      </p:sp>
    </p:spTree>
    <p:extLst>
      <p:ext uri="{BB962C8B-B14F-4D97-AF65-F5344CB8AC3E}">
        <p14:creationId xmlns:p14="http://schemas.microsoft.com/office/powerpoint/2010/main" val="1391534603"/>
      </p:ext>
    </p:extLst>
  </p:cSld>
  <p:clrMapOvr>
    <a:masterClrMapping/>
  </p:clrMapOvr>
  <p:transition>
    <p:random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202" name="Rectangle 2"/>
          <p:cNvSpPr>
            <a:spLocks noGrp="1" noChangeArrowheads="1"/>
          </p:cNvSpPr>
          <p:nvPr>
            <p:ph type="title"/>
          </p:nvPr>
        </p:nvSpPr>
        <p:spPr>
          <a:xfrm>
            <a:off x="222250" y="381000"/>
            <a:ext cx="8645525" cy="884238"/>
          </a:xfrm>
        </p:spPr>
        <p:txBody>
          <a:bodyPr/>
          <a:lstStyle/>
          <a:p>
            <a:r>
              <a:rPr lang="zh-CN" altLang="en-US" sz="48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复习建议</a:t>
            </a:r>
            <a:endParaRPr lang="en-US" altLang="zh-CN" sz="4800" dirty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43520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22250" y="1545848"/>
            <a:ext cx="8645524" cy="4756150"/>
          </a:xfrm>
        </p:spPr>
        <p:txBody>
          <a:bodyPr/>
          <a:lstStyle/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zh-CN" altLang="en-US" sz="2800" b="1" dirty="0"/>
              <a:t>计算机网络期末考试</a:t>
            </a:r>
            <a:r>
              <a:rPr lang="zh-CN" altLang="en-US" b="1" dirty="0"/>
              <a:t>侧重</a:t>
            </a:r>
            <a:r>
              <a:rPr lang="zh-CN" altLang="en-US" sz="2800" b="1" dirty="0"/>
              <a:t>考查对</a:t>
            </a:r>
            <a:r>
              <a:rPr lang="zh-CN" altLang="en-US" sz="2800" b="1" dirty="0">
                <a:solidFill>
                  <a:srgbClr val="FF0000"/>
                </a:solidFill>
              </a:rPr>
              <a:t>基本概念</a:t>
            </a:r>
            <a:r>
              <a:rPr lang="zh-CN" altLang="en-US" sz="2800" b="1" dirty="0"/>
              <a:t>、</a:t>
            </a:r>
            <a:r>
              <a:rPr lang="zh-CN" altLang="en-US" sz="2800" b="1" dirty="0">
                <a:solidFill>
                  <a:srgbClr val="FF0000"/>
                </a:solidFill>
              </a:rPr>
              <a:t>基本原理</a:t>
            </a:r>
            <a:r>
              <a:rPr lang="zh-CN" altLang="en-US" sz="2800" b="1" dirty="0"/>
              <a:t>的理解</a:t>
            </a:r>
            <a:endParaRPr lang="en-US" altLang="zh-CN" sz="2800" b="1" dirty="0"/>
          </a:p>
          <a:p>
            <a:pPr lvl="1" algn="just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Ø"/>
            </a:pPr>
            <a:r>
              <a:rPr lang="zh-CN" altLang="en-US" dirty="0"/>
              <a:t>少量题目可能涉及仍需记忆的内容</a:t>
            </a:r>
            <a:endParaRPr lang="en-US" altLang="zh-CN" dirty="0"/>
          </a:p>
          <a:p>
            <a:pPr lvl="1" algn="just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Ø"/>
            </a:pPr>
            <a:r>
              <a:rPr lang="zh-CN" altLang="en-US" dirty="0"/>
              <a:t>除</a:t>
            </a:r>
            <a:r>
              <a:rPr lang="en-US" altLang="zh-CN" dirty="0"/>
              <a:t>UDP</a:t>
            </a:r>
            <a:r>
              <a:rPr lang="zh-CN" altLang="en-US" dirty="0"/>
              <a:t>报文段、</a:t>
            </a:r>
            <a:r>
              <a:rPr lang="en-US" altLang="zh-CN" dirty="0"/>
              <a:t>Ethernet</a:t>
            </a:r>
            <a:r>
              <a:rPr lang="zh-CN" altLang="en-US" dirty="0"/>
              <a:t>帧外，其他协议的消息结构都会在题目中给出</a:t>
            </a:r>
            <a:r>
              <a:rPr lang="en-US" altLang="zh-CN" dirty="0"/>
              <a:t>.</a:t>
            </a:r>
          </a:p>
          <a:p>
            <a:pPr lvl="2" algn="just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ü"/>
            </a:pPr>
            <a:r>
              <a:rPr lang="zh-CN" altLang="en-US" dirty="0"/>
              <a:t>但主要协议的头部字段的含义、数值单位等需要记住</a:t>
            </a:r>
            <a:endParaRPr lang="en-US" altLang="zh-CN" dirty="0"/>
          </a:p>
          <a:p>
            <a:pPr algn="just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p"/>
            </a:pPr>
            <a:r>
              <a:rPr lang="zh-CN" altLang="en-US" b="1" dirty="0"/>
              <a:t>往年试题</a:t>
            </a:r>
            <a:endParaRPr lang="en-US" altLang="zh-CN" b="1" dirty="0"/>
          </a:p>
          <a:p>
            <a:pPr lvl="1" algn="just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Ø"/>
            </a:pPr>
            <a:r>
              <a:rPr lang="zh-CN" altLang="en-US" b="0" dirty="0"/>
              <a:t>试题题型与最近一次期末考试完全相同</a:t>
            </a:r>
            <a:endParaRPr lang="en-US" altLang="zh-CN" b="0" dirty="0"/>
          </a:p>
          <a:p>
            <a:pPr lvl="1" algn="just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Ø"/>
            </a:pPr>
            <a:r>
              <a:rPr lang="zh-CN" altLang="en-US" b="0" dirty="0"/>
              <a:t>考试内容可以参考往年试题</a:t>
            </a:r>
            <a:endParaRPr lang="en-US" altLang="zh-CN" b="0" dirty="0"/>
          </a:p>
          <a:p>
            <a:pPr algn="just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p"/>
            </a:pPr>
            <a:r>
              <a:rPr lang="zh-CN" altLang="en-US" b="1" dirty="0"/>
              <a:t>作业</a:t>
            </a:r>
            <a:r>
              <a:rPr lang="en-US" altLang="zh-CN" b="1" dirty="0"/>
              <a:t>/</a:t>
            </a:r>
            <a:r>
              <a:rPr lang="zh-CN" altLang="en-US" b="1" dirty="0"/>
              <a:t>实验</a:t>
            </a:r>
            <a:endParaRPr lang="en-US" altLang="zh-CN" b="1" dirty="0"/>
          </a:p>
        </p:txBody>
      </p:sp>
    </p:spTree>
    <p:extLst>
      <p:ext uri="{BB962C8B-B14F-4D97-AF65-F5344CB8AC3E}">
        <p14:creationId xmlns:p14="http://schemas.microsoft.com/office/powerpoint/2010/main" val="2591434923"/>
      </p:ext>
    </p:ext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2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2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2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2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2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2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6537CB-F848-AA45-B050-17CB867C1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辅导答疑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8734A21-26C7-5A4A-9474-9125C2A7D35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kumimoji="1" lang="zh-CN" altLang="en-US" dirty="0"/>
              <a:t>建议使用</a:t>
            </a:r>
            <a:r>
              <a:rPr kumimoji="1" lang="en-US" altLang="zh-CN" dirty="0"/>
              <a:t>QQ</a:t>
            </a:r>
          </a:p>
          <a:p>
            <a:pPr lvl="1"/>
            <a:r>
              <a:rPr kumimoji="1" lang="en-US" altLang="zh-CN" dirty="0"/>
              <a:t>QQ</a:t>
            </a:r>
            <a:r>
              <a:rPr kumimoji="1" lang="zh-CN" altLang="en-US" dirty="0"/>
              <a:t>群会在下学期补考前一直有效</a:t>
            </a:r>
            <a:endParaRPr kumimoji="1" lang="en-US" altLang="zh-CN" dirty="0"/>
          </a:p>
          <a:p>
            <a:r>
              <a:rPr kumimoji="1" lang="zh-CN" altLang="en-US" dirty="0"/>
              <a:t>着急解决的问题可以电话联系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13953189978</a:t>
            </a:r>
          </a:p>
          <a:p>
            <a:r>
              <a:rPr kumimoji="1" lang="zh-CN" altLang="en-US" dirty="0"/>
              <a:t>共性问题，如果需要可以通过腾讯会议讲解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你们发起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提前告知需要解决的问题</a:t>
            </a:r>
          </a:p>
        </p:txBody>
      </p:sp>
    </p:spTree>
    <p:extLst>
      <p:ext uri="{BB962C8B-B14F-4D97-AF65-F5344CB8AC3E}">
        <p14:creationId xmlns:p14="http://schemas.microsoft.com/office/powerpoint/2010/main" val="3334281881"/>
      </p:ext>
    </p:extLst>
  </p:cSld>
  <p:clrMapOvr>
    <a:masterClrMapping/>
  </p:clrMapOvr>
  <p:transition>
    <p:random/>
  </p:transition>
</p:sld>
</file>

<file path=ppt/theme/theme1.xml><?xml version="1.0" encoding="utf-8"?>
<a:theme xmlns:a="http://schemas.openxmlformats.org/drawingml/2006/main" name="1_自定义设计方案">
  <a:themeElements>
    <a:clrScheme name="1_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自定义设计方案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1_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默认设计模板">
  <a:themeElements>
    <a:clrScheme name="1_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默认设计模板">
      <a:majorFont>
        <a:latin typeface="Times New Roman"/>
        <a:ea typeface="楷体_GB2312"/>
        <a:cs typeface=""/>
      </a:majorFont>
      <a:minorFont>
        <a:latin typeface="Times New Roman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1_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_默认设计模板">
  <a:themeElements>
    <a:clrScheme name="2_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默认设计模板">
      <a:majorFont>
        <a:latin typeface="Times New Roman"/>
        <a:ea typeface="楷体_GB2312"/>
        <a:cs typeface=""/>
      </a:majorFont>
      <a:minorFont>
        <a:latin typeface="Times New Roman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2_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自定义设计方案">
  <a:themeElements>
    <a:clrScheme name="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自定义设计方案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2_自定义设计方案">
  <a:themeElements>
    <a:clrScheme name="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自定义设计方案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36669</TotalTime>
  <Words>481</Words>
  <Application>Microsoft Macintosh PowerPoint</Application>
  <PresentationFormat>全屏显示(4:3)</PresentationFormat>
  <Paragraphs>77</Paragraphs>
  <Slides>8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5</vt:i4>
      </vt:variant>
      <vt:variant>
        <vt:lpstr>幻灯片标题</vt:lpstr>
      </vt:variant>
      <vt:variant>
        <vt:i4>8</vt:i4>
      </vt:variant>
    </vt:vector>
  </HeadingPairs>
  <TitlesOfParts>
    <vt:vector size="19" baseType="lpstr">
      <vt:lpstr>SimHei</vt:lpstr>
      <vt:lpstr>SimSun</vt:lpstr>
      <vt:lpstr>Arial</vt:lpstr>
      <vt:lpstr>Comic Sans MS</vt:lpstr>
      <vt:lpstr>Times New Roman</vt:lpstr>
      <vt:lpstr>Wingdings</vt:lpstr>
      <vt:lpstr>1_自定义设计方案</vt:lpstr>
      <vt:lpstr>1_默认设计模板</vt:lpstr>
      <vt:lpstr>2_默认设计模板</vt:lpstr>
      <vt:lpstr>自定义设计方案</vt:lpstr>
      <vt:lpstr>2_自定义设计方案</vt:lpstr>
      <vt:lpstr>计 算 机 网 络 期末考试</vt:lpstr>
      <vt:lpstr>试题题型</vt:lpstr>
      <vt:lpstr>重点考查内容</vt:lpstr>
      <vt:lpstr>重点考查内容</vt:lpstr>
      <vt:lpstr>重点考查内容</vt:lpstr>
      <vt:lpstr>重点考查内容</vt:lpstr>
      <vt:lpstr>复习建议</vt:lpstr>
      <vt:lpstr>辅导答疑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3rd Edition, Chapter 5</dc:title>
  <dc:subject/>
  <dc:creator>Jim Kurose and Keith Ross</dc:creator>
  <cp:keywords/>
  <dc:description/>
  <cp:lastModifiedBy>Longbow</cp:lastModifiedBy>
  <cp:revision>3185</cp:revision>
  <cp:lastPrinted>2000-10-23T11:49:35Z</cp:lastPrinted>
  <dcterms:created xsi:type="dcterms:W3CDTF">1999-10-08T19:08:27Z</dcterms:created>
  <dcterms:modified xsi:type="dcterms:W3CDTF">2023-06-19T08:52:25Z</dcterms:modified>
  <cp:category/>
</cp:coreProperties>
</file>