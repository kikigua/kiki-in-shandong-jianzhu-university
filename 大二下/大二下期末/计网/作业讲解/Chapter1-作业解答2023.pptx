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</p:sldMasterIdLst>
  <p:notesMasterIdLst>
    <p:notesMasterId r:id="rId13"/>
  </p:notesMasterIdLst>
  <p:sldIdLst>
    <p:sldId id="267" r:id="rId3"/>
    <p:sldId id="276" r:id="rId4"/>
    <p:sldId id="287" r:id="rId5"/>
    <p:sldId id="288" r:id="rId6"/>
    <p:sldId id="289" r:id="rId7"/>
    <p:sldId id="285" r:id="rId8"/>
    <p:sldId id="282" r:id="rId9"/>
    <p:sldId id="283" r:id="rId10"/>
    <p:sldId id="284" r:id="rId11"/>
    <p:sldId id="277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40" autoAdjust="0"/>
  </p:normalViewPr>
  <p:slideViewPr>
    <p:cSldViewPr>
      <p:cViewPr varScale="1">
        <p:scale>
          <a:sx n="90" d="100"/>
          <a:sy n="90" d="100"/>
        </p:scale>
        <p:origin x="11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122B-21DD-4D9C-838D-B8BD62AD7031}" type="datetimeFigureOut">
              <a:rPr lang="zh-CN" altLang="en-US" smtClean="0"/>
              <a:t>2021-06-24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0FBF0-F277-4107-8364-D8445895C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335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188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66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379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0FBF0-F277-4107-8364-D8445895C06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905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344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7784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64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7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31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05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331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40692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6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64801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64801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681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FFA7D7ED-C484-4C51-9295-DEDF63282964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A0503BD-BFD0-47F7-A9C6-078611043A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231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4C6F2827-C11F-44C9-AC0C-E3868344A030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021AA-F9C6-467B-8D44-6B5E8A42A8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921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EEAEFB33-8D17-455F-A69B-A74D77E9592C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7B6DCF2-AEB8-4E7D-BAAD-B5FBE8755D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93B420D7-0B38-4CC5-8BD6-D8BF582B41BB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42BF2CB-7D35-4E50-8A72-23E9A0DF91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460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D5E31D14-5AA4-4A81-AA05-478444022A76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09727D4-E285-40E5-9EDC-64FA73549D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840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718D471A-7021-4707-BA85-F59D859E555A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83DECAD-94DA-46E6-BF71-784B21775E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73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00C0DFBE-03BA-4B54-9CD9-DF824EFC12A2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323B0DA-513D-47B4-B4B3-1C9CDF648C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436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D058E089-324D-4AE1-8D98-85795038FBA6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C880D58-B382-424F-B10C-19BEA2FC45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240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00AFE5A7-CBFC-42C9-8CAF-F42AB36CF24D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518A6B3-669E-4DAB-A984-1931706DAA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982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D87452A4-0B07-41FE-A6CE-10A6C7BCCEB2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CA7BDE4-89C2-471C-A4FC-34D272B22B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348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fld id="{8C7C0AB8-62E6-46D8-B8FF-F7DB4EC39968}" type="datetimeFigureOut">
              <a:rPr lang="zh-CN" altLang="en-US"/>
              <a:pPr>
                <a:defRPr/>
              </a:pPr>
              <a:t>2021-06-24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C1E9D67-C28A-4483-8141-C09A6ED4F6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第三章：传输层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4800"/>
            <a:ext cx="8229600" cy="509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Line 13"/>
          <p:cNvSpPr>
            <a:spLocks noChangeShapeType="1"/>
          </p:cNvSpPr>
          <p:nvPr userDrawn="1"/>
        </p:nvSpPr>
        <p:spPr bwMode="auto">
          <a:xfrm>
            <a:off x="0" y="1412875"/>
            <a:ext cx="91440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o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377950" indent="-4683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827213" indent="-4381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297113" indent="-4683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5pPr>
      <a:lvl6pPr marL="27543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6pPr>
      <a:lvl7pPr marL="32115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7pPr>
      <a:lvl8pPr marL="36687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8pPr>
      <a:lvl9pPr marL="41259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11188" y="1412875"/>
            <a:ext cx="7772400" cy="410368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1200"/>
              </a:spcBef>
              <a:spcAft>
                <a:spcPts val="1200"/>
              </a:spcAft>
              <a:defRPr/>
            </a:pPr>
            <a:r>
              <a:rPr lang="zh-CN" altLang="en-US" sz="8800" b="1" u="sng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习题解答</a:t>
            </a:r>
            <a:r>
              <a:rPr lang="zh-CN" altLang="en-US" sz="8800" dirty="0" smtClean="0"/>
              <a:t/>
            </a:r>
            <a:br>
              <a:rPr lang="zh-CN" altLang="en-US" sz="8800" dirty="0" smtClean="0"/>
            </a:br>
            <a:r>
              <a:rPr lang="zh-CN" alt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第一章 应用层</a:t>
            </a:r>
            <a:r>
              <a:rPr lang="en-US" altLang="zh-C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C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14800" y="297469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 smtClean="0"/>
              <a:t>第一章</a:t>
            </a:r>
            <a:r>
              <a:rPr lang="en-US" altLang="zh-CN" kern="0" dirty="0" smtClean="0"/>
              <a:t>:</a:t>
            </a:r>
            <a:r>
              <a:rPr lang="zh-CN" altLang="en-US" kern="0" dirty="0" smtClean="0"/>
              <a:t>计算机网络和</a:t>
            </a:r>
            <a:r>
              <a:rPr lang="en-US" altLang="zh-CN" kern="0" dirty="0" smtClean="0"/>
              <a:t>Internet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en-US" altLang="zh-CN" b="1" kern="0" dirty="0" smtClean="0"/>
              <a:t>R4</a:t>
            </a:r>
          </a:p>
        </p:txBody>
      </p:sp>
      <p:sp>
        <p:nvSpPr>
          <p:cNvPr id="5" name="矩形 4"/>
          <p:cNvSpPr/>
          <p:nvPr/>
        </p:nvSpPr>
        <p:spPr>
          <a:xfrm>
            <a:off x="624408" y="2251099"/>
            <a:ext cx="75608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zh-CN" altLang="en-US" sz="2400" dirty="0" smtClean="0">
                <a:ea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1</a:t>
            </a:r>
            <a:r>
              <a:rPr lang="zh-CN" altLang="en-US" sz="2400" dirty="0" smtClean="0">
                <a:ea typeface="Times New Roman" panose="02020603050405020304" pitchFamily="18" charset="0"/>
              </a:rPr>
              <a:t>）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Dial-up </a:t>
            </a:r>
            <a:r>
              <a:rPr lang="en-US" altLang="zh-CN" sz="2400" dirty="0">
                <a:ea typeface="Times New Roman" panose="02020603050405020304" pitchFamily="18" charset="0"/>
              </a:rPr>
              <a:t>modem over telephone line: home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;</a:t>
            </a: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zh-CN" altLang="en-US" sz="2400" dirty="0" smtClean="0">
                <a:ea typeface="Times New Roman" panose="02020603050405020304" pitchFamily="18" charset="0"/>
              </a:rPr>
              <a:t>（</a:t>
            </a:r>
            <a:r>
              <a:rPr lang="en-US" altLang="zh-CN" sz="2400" dirty="0">
                <a:ea typeface="Times New Roman" panose="02020603050405020304" pitchFamily="18" charset="0"/>
              </a:rPr>
              <a:t>2</a:t>
            </a:r>
            <a:r>
              <a:rPr lang="zh-CN" altLang="en-US" sz="2400" dirty="0" smtClean="0">
                <a:ea typeface="Times New Roman" panose="02020603050405020304" pitchFamily="18" charset="0"/>
              </a:rPr>
              <a:t>）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DSL </a:t>
            </a:r>
            <a:r>
              <a:rPr lang="en-US" altLang="zh-CN" sz="2400" dirty="0">
                <a:ea typeface="Times New Roman" panose="02020603050405020304" pitchFamily="18" charset="0"/>
              </a:rPr>
              <a:t>over telephone line: home or small office; </a:t>
            </a:r>
            <a:endParaRPr lang="en-US" altLang="zh-CN" sz="2400" dirty="0" smtClean="0"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zh-CN" altLang="en-US" sz="2400" dirty="0" smtClean="0">
                <a:ea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3</a:t>
            </a:r>
            <a:r>
              <a:rPr lang="zh-CN" altLang="en-US" sz="2400" dirty="0" smtClean="0">
                <a:ea typeface="Times New Roman" panose="02020603050405020304" pitchFamily="18" charset="0"/>
              </a:rPr>
              <a:t>）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Cable </a:t>
            </a:r>
            <a:r>
              <a:rPr lang="en-US" altLang="zh-CN" sz="2400" dirty="0">
                <a:ea typeface="Times New Roman" panose="02020603050405020304" pitchFamily="18" charset="0"/>
              </a:rPr>
              <a:t>to HFC: home; </a:t>
            </a:r>
            <a:endParaRPr lang="en-US" altLang="zh-CN" sz="2400" dirty="0" smtClean="0"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zh-CN" altLang="en-US" sz="2400" dirty="0" smtClean="0">
                <a:ea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4</a:t>
            </a:r>
            <a:r>
              <a:rPr lang="zh-CN" altLang="en-US" sz="2400" dirty="0" smtClean="0">
                <a:ea typeface="Times New Roman" panose="02020603050405020304" pitchFamily="18" charset="0"/>
              </a:rPr>
              <a:t>）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 </a:t>
            </a:r>
            <a:r>
              <a:rPr lang="en-US" altLang="zh-CN" sz="2400" dirty="0">
                <a:ea typeface="Times New Roman" panose="02020603050405020304" pitchFamily="18" charset="0"/>
              </a:rPr>
              <a:t>100 Mbps switched Ethernet: enterprise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;</a:t>
            </a: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zh-CN" altLang="en-US" sz="2400" dirty="0" smtClean="0">
                <a:ea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5</a:t>
            </a:r>
            <a:r>
              <a:rPr lang="zh-CN" altLang="en-US" sz="2400" dirty="0" smtClean="0">
                <a:ea typeface="Times New Roman" panose="02020603050405020304" pitchFamily="18" charset="0"/>
              </a:rPr>
              <a:t>）</a:t>
            </a:r>
            <a:r>
              <a:rPr lang="en-US" altLang="zh-CN" sz="2400" dirty="0" err="1" smtClean="0">
                <a:ea typeface="Times New Roman" panose="02020603050405020304" pitchFamily="18" charset="0"/>
              </a:rPr>
              <a:t>Wifi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 </a:t>
            </a:r>
            <a:r>
              <a:rPr lang="en-US" altLang="zh-CN" sz="2400" dirty="0">
                <a:ea typeface="Times New Roman" panose="02020603050405020304" pitchFamily="18" charset="0"/>
              </a:rPr>
              <a:t>(802.11):  home and 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enterprise;</a:t>
            </a: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dirty="0" smtClean="0">
                <a:ea typeface="Times New Roman" panose="02020603050405020304" pitchFamily="18" charset="0"/>
              </a:rPr>
              <a:t> </a:t>
            </a:r>
            <a:r>
              <a:rPr lang="zh-CN" altLang="en-US" sz="2400" dirty="0" smtClean="0">
                <a:ea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6</a:t>
            </a:r>
            <a:r>
              <a:rPr lang="zh-CN" altLang="en-US" sz="2400" dirty="0" smtClean="0">
                <a:ea typeface="Times New Roman" panose="02020603050405020304" pitchFamily="18" charset="0"/>
              </a:rPr>
              <a:t>）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3G </a:t>
            </a:r>
            <a:r>
              <a:rPr lang="en-US" altLang="zh-CN" sz="2400" dirty="0">
                <a:ea typeface="Times New Roman" panose="02020603050405020304" pitchFamily="18" charset="0"/>
              </a:rPr>
              <a:t>and 4G: wide-area wireless</a:t>
            </a:r>
            <a:r>
              <a:rPr lang="en-US" altLang="zh-CN" sz="2400" dirty="0" smtClean="0">
                <a:ea typeface="Times New Roman" panose="02020603050405020304" pitchFamily="18" charset="0"/>
              </a:rPr>
              <a:t>.</a:t>
            </a: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b="1" dirty="0">
                <a:ea typeface="Times New Roman" panose="02020603050405020304" pitchFamily="18" charset="0"/>
              </a:rPr>
              <a:t>FTTH</a:t>
            </a:r>
            <a:endParaRPr lang="zh-CN" altLang="zh-CN" sz="2400" b="1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 smtClean="0"/>
              <a:t>第一章</a:t>
            </a:r>
            <a:r>
              <a:rPr lang="en-US" altLang="zh-CN" kern="0" dirty="0" smtClean="0"/>
              <a:t>:</a:t>
            </a:r>
            <a:r>
              <a:rPr lang="zh-CN" altLang="en-US" kern="0" dirty="0" smtClean="0"/>
              <a:t>计算机网络和</a:t>
            </a:r>
            <a:r>
              <a:rPr lang="en-US" altLang="zh-CN" kern="0" dirty="0" smtClean="0"/>
              <a:t>Internet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en-US" altLang="zh-CN" b="1" kern="0" dirty="0" smtClean="0"/>
              <a:t>R23</a:t>
            </a:r>
          </a:p>
          <a:p>
            <a:pPr lvl="1">
              <a:spcAft>
                <a:spcPct val="15000"/>
              </a:spcAft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应用层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en-US" altLang="zh-TW" dirty="0"/>
              <a:t> </a:t>
            </a:r>
            <a:r>
              <a:rPr lang="zh-CN" altLang="en-US" dirty="0"/>
              <a:t>包含支持应用系统的高层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pPr lvl="1">
              <a:spcAft>
                <a:spcPct val="15000"/>
              </a:spcAft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运输层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en-US" altLang="zh-TW" dirty="0"/>
              <a:t> </a:t>
            </a:r>
            <a:r>
              <a:rPr lang="zh-CN" altLang="en-US" dirty="0"/>
              <a:t>位于不同主机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进程之间</a:t>
            </a:r>
            <a:r>
              <a:rPr lang="zh-CN" altLang="en-US" dirty="0"/>
              <a:t>的通信</a:t>
            </a:r>
            <a:endParaRPr lang="en-US" altLang="zh-TW" dirty="0"/>
          </a:p>
          <a:p>
            <a:pPr lvl="1">
              <a:spcAft>
                <a:spcPct val="15000"/>
              </a:spcAft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网络层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en-US" altLang="zh-TW" dirty="0"/>
              <a:t> </a:t>
            </a:r>
            <a:r>
              <a:rPr lang="zh-CN" altLang="en-US" dirty="0"/>
              <a:t>不同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主机之间</a:t>
            </a:r>
            <a:r>
              <a:rPr lang="zh-CN" altLang="en-US" dirty="0"/>
              <a:t>的通信</a:t>
            </a:r>
          </a:p>
          <a:p>
            <a:pPr lvl="1">
              <a:spcAft>
                <a:spcPct val="15000"/>
              </a:spcAft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链路层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en-US" altLang="zh-TW" dirty="0"/>
              <a:t> </a:t>
            </a:r>
            <a:r>
              <a:rPr lang="zh-CN" altLang="en-US" dirty="0"/>
              <a:t>相邻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节点之间</a:t>
            </a:r>
            <a:r>
              <a:rPr lang="zh-CN" altLang="en-US" dirty="0"/>
              <a:t>的通信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物理层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en-US" altLang="zh-TW" dirty="0"/>
              <a:t> </a:t>
            </a:r>
            <a:r>
              <a:rPr lang="zh-CN" altLang="en-US" dirty="0"/>
              <a:t>传输</a:t>
            </a:r>
            <a:r>
              <a:rPr lang="en-US" altLang="zh-CN" dirty="0"/>
              <a:t>bit, 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070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 smtClean="0"/>
              <a:t>第一章</a:t>
            </a:r>
            <a:r>
              <a:rPr lang="en-US" altLang="zh-CN" kern="0" dirty="0" smtClean="0"/>
              <a:t>:</a:t>
            </a:r>
            <a:r>
              <a:rPr lang="zh-CN" altLang="en-US" kern="0" dirty="0" smtClean="0"/>
              <a:t>计算机网络和</a:t>
            </a:r>
            <a:r>
              <a:rPr lang="en-US" altLang="zh-CN" kern="0" dirty="0" smtClean="0"/>
              <a:t>Internet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en-US" altLang="zh-CN" b="1" kern="0" dirty="0" smtClean="0"/>
              <a:t>R25</a:t>
            </a:r>
          </a:p>
          <a:p>
            <a:pPr lvl="1" eaLnBrk="1" hangingPunct="1">
              <a:defRPr/>
            </a:pPr>
            <a:r>
              <a:rPr lang="en-US" altLang="zh-CN" dirty="0"/>
              <a:t>Routers process network, link and physical layers (layers 1 through 3). (This is a little bit of a white lie, as modern routers sometimes act as firewalls or caching components, and process Transport layer as well.) 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Link </a:t>
            </a:r>
            <a:r>
              <a:rPr lang="en-US" altLang="zh-CN" dirty="0"/>
              <a:t>layer switches process link and physical layers (layers 1 through2). 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Hosts </a:t>
            </a:r>
            <a:r>
              <a:rPr lang="en-US" altLang="zh-CN" dirty="0"/>
              <a:t>process all five layers.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82308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20713" y="3413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 smtClean="0"/>
              <a:t>第一章</a:t>
            </a:r>
            <a:r>
              <a:rPr lang="en-US" altLang="zh-CN" kern="0" dirty="0" smtClean="0"/>
              <a:t>:</a:t>
            </a:r>
            <a:r>
              <a:rPr lang="zh-CN" altLang="en-US" kern="0" dirty="0" smtClean="0"/>
              <a:t>计算机网络和</a:t>
            </a:r>
            <a:r>
              <a:rPr lang="en-US" altLang="zh-CN" kern="0" dirty="0" smtClean="0"/>
              <a:t>Internet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-180975" y="862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.</a:t>
            </a:r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9850" y="1628800"/>
            <a:ext cx="8893175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  <a:defRPr/>
            </a:pPr>
            <a:r>
              <a:rPr lang="en-US" altLang="zh-CN" b="1" kern="0" dirty="0" smtClean="0"/>
              <a:t>P3</a:t>
            </a:r>
          </a:p>
          <a:p>
            <a:pPr lvl="1" eaLnBrk="1" hangingPunct="1">
              <a:defRPr/>
            </a:pPr>
            <a:r>
              <a:rPr lang="en-US" altLang="zh-CN" b="1" kern="0" dirty="0" smtClean="0"/>
              <a:t>a</a:t>
            </a:r>
            <a:r>
              <a:rPr lang="en-US" altLang="zh-CN" b="1" kern="0" dirty="0"/>
              <a:t>)</a:t>
            </a:r>
            <a:r>
              <a:rPr lang="en-US" altLang="zh-CN" kern="0" dirty="0"/>
              <a:t> </a:t>
            </a:r>
            <a:r>
              <a:rPr lang="zh-CN" altLang="en-US" b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电路交换网络</a:t>
            </a:r>
            <a:r>
              <a:rPr lang="zh-CN" altLang="en-US" kern="0" dirty="0"/>
              <a:t>更适合这种应用</a:t>
            </a:r>
            <a:r>
              <a:rPr lang="en-US" altLang="zh-CN" kern="0" dirty="0"/>
              <a:t>,</a:t>
            </a:r>
            <a:r>
              <a:rPr lang="zh-CN" altLang="en-US" kern="0" dirty="0"/>
              <a:t>理由如下：</a:t>
            </a:r>
          </a:p>
          <a:p>
            <a:pPr lvl="2" eaLnBrk="1" hangingPunct="1">
              <a:defRPr/>
            </a:pPr>
            <a:r>
              <a:rPr lang="zh-CN" altLang="en-US" kern="0" dirty="0"/>
              <a:t>应用对带宽的需求比较平稳</a:t>
            </a:r>
            <a:r>
              <a:rPr lang="en-US" altLang="zh-CN" kern="0" dirty="0"/>
              <a:t>(</a:t>
            </a:r>
            <a:r>
              <a:rPr lang="zh-CN" altLang="en-US" kern="0" dirty="0"/>
              <a:t>突发很小</a:t>
            </a:r>
            <a:r>
              <a:rPr lang="en-US" altLang="zh-CN" kern="0" dirty="0"/>
              <a:t>)</a:t>
            </a:r>
            <a:r>
              <a:rPr lang="zh-CN" altLang="en-US" kern="0" dirty="0"/>
              <a:t>。因此，为应用在传输路径的每一条链路和交换机中预留资源</a:t>
            </a:r>
            <a:r>
              <a:rPr lang="en-US" altLang="zh-CN" kern="0" dirty="0"/>
              <a:t>(</a:t>
            </a:r>
            <a:r>
              <a:rPr lang="zh-CN" altLang="en-US" kern="0" dirty="0"/>
              <a:t>缓存、带宽等</a:t>
            </a:r>
            <a:r>
              <a:rPr lang="en-US" altLang="zh-CN" kern="0" dirty="0"/>
              <a:t>)</a:t>
            </a:r>
            <a:r>
              <a:rPr lang="zh-CN" altLang="en-US" kern="0" dirty="0"/>
              <a:t>不会导致过大的浪费。</a:t>
            </a:r>
          </a:p>
          <a:p>
            <a:pPr lvl="2" eaLnBrk="1" hangingPunct="1">
              <a:defRPr/>
            </a:pPr>
            <a:r>
              <a:rPr lang="zh-CN" altLang="en-US" kern="0" dirty="0"/>
              <a:t>数据传输持续时间较长，建立</a:t>
            </a:r>
            <a:r>
              <a:rPr lang="en-US" altLang="zh-CN" kern="0" dirty="0"/>
              <a:t>/</a:t>
            </a:r>
            <a:r>
              <a:rPr lang="zh-CN" altLang="en-US" kern="0" dirty="0"/>
              <a:t>拆除连接的时间开销</a:t>
            </a:r>
            <a:r>
              <a:rPr lang="zh-CN" altLang="en-US" b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相对较小</a:t>
            </a:r>
            <a:r>
              <a:rPr lang="zh-CN" altLang="en-US" kern="0" dirty="0"/>
              <a:t>。</a:t>
            </a:r>
          </a:p>
          <a:p>
            <a:pPr lvl="1" eaLnBrk="1" hangingPunct="1">
              <a:defRPr/>
            </a:pPr>
            <a:r>
              <a:rPr lang="en-US" altLang="zh-CN" b="1" kern="0" dirty="0"/>
              <a:t>b)</a:t>
            </a:r>
            <a:r>
              <a:rPr lang="en-US" altLang="zh-CN" kern="0" dirty="0"/>
              <a:t> </a:t>
            </a:r>
            <a:r>
              <a:rPr lang="zh-CN" altLang="en-US" kern="0" dirty="0"/>
              <a:t>在题目假设条件下，分组交换网络中没有必要进行拥塞控制。</a:t>
            </a:r>
          </a:p>
          <a:p>
            <a:pPr lvl="2" eaLnBrk="1" hangingPunct="1">
              <a:defRPr/>
            </a:pPr>
            <a:r>
              <a:rPr lang="zh-CN" altLang="en-US" kern="0" dirty="0"/>
              <a:t>最坏情况下，所有应用同时传输数据时链路也有足够的带宽予以容纳。因此，不会产生拥塞。</a:t>
            </a:r>
          </a:p>
        </p:txBody>
      </p:sp>
    </p:spTree>
    <p:extLst>
      <p:ext uri="{BB962C8B-B14F-4D97-AF65-F5344CB8AC3E}">
        <p14:creationId xmlns:p14="http://schemas.microsoft.com/office/powerpoint/2010/main" val="223468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第一章</a:t>
            </a:r>
            <a:r>
              <a:rPr lang="en-US" altLang="zh-CN" smtClean="0"/>
              <a:t>:</a:t>
            </a:r>
            <a:r>
              <a:rPr lang="zh-CN" altLang="en-US" smtClean="0"/>
              <a:t>计算机网络和</a:t>
            </a:r>
            <a:r>
              <a:rPr lang="en-US" altLang="zh-CN" smtClean="0"/>
              <a:t>Internet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74800"/>
            <a:ext cx="9144000" cy="50942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smtClean="0"/>
              <a:t>P</a:t>
            </a:r>
            <a:r>
              <a:rPr lang="en-US" altLang="zh-CN" sz="3600" b="1" smtClean="0"/>
              <a:t>12</a:t>
            </a:r>
            <a:endParaRPr lang="en-US" altLang="zh-CN" sz="3600" b="1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b="1" u="sng" dirty="0" smtClean="0"/>
              <a:t>排队延迟</a:t>
            </a:r>
            <a:r>
              <a:rPr lang="zh-CN" altLang="en-US" sz="2400" dirty="0" smtClean="0"/>
              <a:t>指等待缓存队列前面分组被发送到传输链路上的时间。</a:t>
            </a:r>
            <a:endParaRPr lang="en-US" altLang="zh-CN" sz="24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dirty="0" smtClean="0"/>
              <a:t>根据题目条件，该分组需要等待</a:t>
            </a:r>
            <a:r>
              <a:rPr lang="en-US" altLang="zh-CN" sz="2400" dirty="0" smtClean="0"/>
              <a:t>4.5</a:t>
            </a:r>
            <a:r>
              <a:rPr lang="zh-CN" altLang="en-US" sz="2400" dirty="0" smtClean="0"/>
              <a:t>个分组，即排队延迟为</a:t>
            </a:r>
            <a:r>
              <a:rPr lang="en-US" altLang="zh-CN" sz="2400" dirty="0" smtClean="0"/>
              <a:t>4.5</a:t>
            </a:r>
            <a:r>
              <a:rPr lang="zh-CN" altLang="en-US" sz="2400" dirty="0" smtClean="0"/>
              <a:t>个分组的传输时间。</a:t>
            </a:r>
            <a:endParaRPr lang="en-US" altLang="zh-CN" sz="24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dirty="0" smtClean="0"/>
              <a:t>代入具体数值，该分组经历的排队延迟为：</a:t>
            </a:r>
            <a:r>
              <a:rPr lang="en-US" altLang="zh-CN" sz="2400" dirty="0" smtClean="0"/>
              <a:t>4.5*1500*8/(2*10</a:t>
            </a:r>
            <a:r>
              <a:rPr lang="en-US" altLang="zh-CN" sz="2400" baseline="30000" dirty="0" smtClean="0"/>
              <a:t>6</a:t>
            </a:r>
            <a:r>
              <a:rPr lang="en-US" altLang="zh-CN" sz="2400" dirty="0" smtClean="0"/>
              <a:t>)=0.027</a:t>
            </a:r>
            <a:r>
              <a:rPr lang="zh-CN" altLang="en-US" sz="2400" dirty="0" smtClean="0"/>
              <a:t>秒</a:t>
            </a:r>
            <a:endParaRPr lang="en-US" altLang="zh-CN" sz="24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dirty="0" smtClean="0"/>
              <a:t>一般化，，在队列中等待传输的总数据量为：</a:t>
            </a:r>
            <a:endParaRPr lang="en-US" altLang="zh-CN" sz="2400" dirty="0" smtClean="0"/>
          </a:p>
          <a:p>
            <a:pPr marL="909637" lvl="2" indent="0" eaLnBrk="1" hangingPunct="1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zh-CN" sz="2000" b="1" dirty="0" smtClean="0"/>
              <a:t>           </a:t>
            </a:r>
            <a:r>
              <a:rPr lang="en-US" altLang="zh-CN" sz="2000" b="1" dirty="0" err="1" smtClean="0"/>
              <a:t>nL+L-x</a:t>
            </a:r>
            <a:r>
              <a:rPr lang="en-US" altLang="zh-CN" sz="2000" dirty="0" smtClean="0"/>
              <a:t>=</a:t>
            </a:r>
            <a:r>
              <a:rPr lang="en-US" altLang="zh-CN" sz="2000" b="1" dirty="0" smtClean="0"/>
              <a:t>(n+1)L-x</a:t>
            </a:r>
            <a:r>
              <a:rPr lang="zh-CN" altLang="en-US" sz="2000" dirty="0"/>
              <a:t>位假设当前正在传输的分组已经传输了</a:t>
            </a:r>
            <a:r>
              <a:rPr lang="en-US" altLang="zh-CN" sz="2000" dirty="0"/>
              <a:t>x</a:t>
            </a:r>
            <a:r>
              <a:rPr lang="zh-CN" altLang="en-US" sz="2000" dirty="0"/>
              <a:t>位，则该分组还剩余</a:t>
            </a:r>
            <a:r>
              <a:rPr lang="en-US" altLang="zh-CN" sz="2000" b="1" dirty="0"/>
              <a:t>L-x</a:t>
            </a:r>
            <a:r>
              <a:rPr lang="zh-CN" altLang="en-US" sz="2000" dirty="0"/>
              <a:t>位没有发送。</a:t>
            </a:r>
            <a:r>
              <a:rPr lang="zh-CN" altLang="en-US" sz="2000" dirty="0" smtClean="0"/>
              <a:t>故，分组排队延迟的一般形式为：</a:t>
            </a:r>
            <a:endParaRPr lang="en-US" altLang="zh-CN" sz="2000" dirty="0" smtClean="0"/>
          </a:p>
          <a:p>
            <a:pPr marL="471487" lvl="1" indent="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           </a:t>
            </a:r>
            <a:r>
              <a:rPr lang="en-US" altLang="zh-CN" sz="2400" b="1" dirty="0"/>
              <a:t>(</a:t>
            </a:r>
            <a:r>
              <a:rPr lang="en-US" altLang="zh-CN" sz="2400" b="1" dirty="0" smtClean="0"/>
              <a:t>(n+1)L-x)/R</a:t>
            </a:r>
          </a:p>
        </p:txBody>
      </p:sp>
    </p:spTree>
    <p:extLst>
      <p:ext uri="{BB962C8B-B14F-4D97-AF65-F5344CB8AC3E}">
        <p14:creationId xmlns:p14="http://schemas.microsoft.com/office/powerpoint/2010/main" val="216983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609725"/>
            <a:ext cx="8893175" cy="4987925"/>
          </a:xfrm>
        </p:spPr>
        <p:txBody>
          <a:bodyPr>
            <a:normAutofit/>
          </a:bodyPr>
          <a:lstStyle/>
          <a:p>
            <a:pPr marL="571500" indent="-571500" eaLnBrk="1" hangingPunct="1">
              <a:defRPr/>
            </a:pPr>
            <a:r>
              <a:rPr lang="en-US" altLang="zh-TW" sz="3600" b="1" dirty="0" smtClean="0"/>
              <a:t>P</a:t>
            </a:r>
            <a:r>
              <a:rPr lang="en-US" altLang="zh-CN" sz="3600" b="1" dirty="0" smtClean="0"/>
              <a:t>25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b="1" u="sng" dirty="0" smtClean="0"/>
              <a:t>带宽</a:t>
            </a:r>
            <a:r>
              <a:rPr lang="en-US" altLang="zh-CN" b="1" u="sng" dirty="0" smtClean="0"/>
              <a:t>-</a:t>
            </a:r>
            <a:r>
              <a:rPr lang="zh-CN" altLang="en-US" b="1" u="sng" dirty="0" smtClean="0"/>
              <a:t>延迟积</a:t>
            </a:r>
            <a:r>
              <a:rPr lang="zh-CN" altLang="en-US" b="1" dirty="0" smtClean="0"/>
              <a:t> </a:t>
            </a:r>
            <a:r>
              <a:rPr lang="en-US" altLang="zh-CN" dirty="0" smtClean="0"/>
              <a:t>= 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R*</a:t>
            </a:r>
            <a:r>
              <a:rPr lang="en-US" altLang="zh-CN" b="1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zh-CN" b="1" baseline="-2500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prop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= 2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20000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/(2.5*10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)=160000</a:t>
            </a:r>
            <a:r>
              <a:rPr lang="en-US" altLang="zh-CN" dirty="0" smtClean="0"/>
              <a:t> (</a:t>
            </a:r>
            <a:r>
              <a:rPr lang="zh-CN" altLang="en-US" dirty="0" smtClean="0"/>
              <a:t>位</a:t>
            </a:r>
            <a:r>
              <a:rPr lang="en-US" altLang="zh-CN" dirty="0" smtClean="0"/>
              <a:t>)=160kb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min(R*</a:t>
            </a:r>
            <a:r>
              <a:rPr lang="en-US" altLang="zh-CN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zh-CN" b="1" i="1" baseline="-2500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prop</a:t>
            </a:r>
            <a:r>
              <a:rPr lang="en-US" altLang="zh-CN" b="1" i="1" baseline="-25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 L) 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= 160000</a:t>
            </a:r>
            <a:r>
              <a:rPr lang="en-US" altLang="zh-CN" dirty="0" smtClean="0"/>
              <a:t> bits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b="1" u="sng" dirty="0"/>
              <a:t>带宽延迟</a:t>
            </a:r>
            <a:r>
              <a:rPr lang="zh-CN" altLang="en-US" b="1" dirty="0" smtClean="0"/>
              <a:t>积</a:t>
            </a:r>
            <a:r>
              <a:rPr lang="en-US" altLang="zh-CN" b="1" dirty="0" smtClean="0"/>
              <a:t>:</a:t>
            </a:r>
            <a:r>
              <a:rPr lang="zh-CN" altLang="en-US" dirty="0" smtClean="0"/>
              <a:t>正在链路中传输的最大数据位数</a:t>
            </a:r>
            <a:r>
              <a:rPr lang="en-US" altLang="zh-CN" dirty="0" smtClean="0"/>
              <a:t>(bits)</a:t>
            </a:r>
            <a:endParaRPr lang="zh-CN" altLang="en-US" dirty="0" smtClean="0"/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b="1" u="sng" dirty="0" smtClean="0"/>
              <a:t>位宽</a:t>
            </a:r>
            <a:r>
              <a:rPr lang="en-US" altLang="zh-CN" dirty="0" smtClean="0"/>
              <a:t>= </a:t>
            </a:r>
            <a:r>
              <a:rPr lang="zh-CN" altLang="en-US" dirty="0" smtClean="0"/>
              <a:t>传播速度</a:t>
            </a:r>
            <a:r>
              <a:rPr lang="zh-CN" altLang="en-US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 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位传输时间</a:t>
            </a:r>
            <a:endParaRPr lang="en-US" altLang="zh-CN" dirty="0" smtClean="0"/>
          </a:p>
          <a:p>
            <a:pPr marL="344488" lvl="1" indent="0" eaLnBrk="1" hangingPunct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2.5*10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*[1/(2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6)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]=125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米</a:t>
            </a:r>
            <a:endParaRPr lang="en-US" altLang="zh-CN" b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801688" lvl="1" indent="-4572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b="1" u="sng" dirty="0"/>
              <a:t>位宽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的一般形式：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s*(1/R)=s/R</a:t>
            </a:r>
          </a:p>
          <a:p>
            <a:pPr marL="839788" lvl="1" indent="-495300" eaLnBrk="1" hangingPunct="1">
              <a:defRPr/>
            </a:pPr>
            <a:endParaRPr lang="en-US" altLang="zh-CN" b="1" i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4000" dirty="0" smtClean="0"/>
              <a:t>第一章</a:t>
            </a:r>
            <a:r>
              <a:rPr lang="en-US" altLang="zh-CN" sz="4000" dirty="0" smtClean="0"/>
              <a:t>:</a:t>
            </a:r>
            <a:r>
              <a:rPr lang="zh-CN" altLang="en-US" sz="4000" dirty="0" smtClean="0"/>
              <a:t>计算机网络和</a:t>
            </a:r>
            <a:r>
              <a:rPr lang="en-US" altLang="zh-CN" sz="4000" dirty="0" smtClean="0"/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400131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609725"/>
            <a:ext cx="8893175" cy="4987925"/>
          </a:xfrm>
        </p:spPr>
        <p:txBody>
          <a:bodyPr>
            <a:normAutofit/>
          </a:bodyPr>
          <a:lstStyle/>
          <a:p>
            <a:pPr marL="571500" indent="-571500" eaLnBrk="1" hangingPunct="1">
              <a:defRPr/>
            </a:pPr>
            <a:r>
              <a:rPr lang="en-US" altLang="zh-TW" sz="3600" b="1" dirty="0" smtClean="0"/>
              <a:t>P</a:t>
            </a:r>
            <a:r>
              <a:rPr lang="en-US" altLang="zh-CN" sz="3600" b="1" dirty="0" smtClean="0"/>
              <a:t>27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b="1" u="sng" dirty="0" smtClean="0"/>
              <a:t>带宽</a:t>
            </a:r>
            <a:r>
              <a:rPr lang="en-US" altLang="zh-CN" b="1" u="sng" dirty="0" smtClean="0"/>
              <a:t>-</a:t>
            </a:r>
            <a:r>
              <a:rPr lang="zh-CN" altLang="en-US" b="1" u="sng" dirty="0" smtClean="0"/>
              <a:t>延迟积</a:t>
            </a:r>
            <a:r>
              <a:rPr lang="zh-CN" altLang="en-US" b="1" dirty="0" smtClean="0"/>
              <a:t> </a:t>
            </a:r>
            <a:r>
              <a:rPr lang="en-US" altLang="zh-CN" dirty="0" smtClean="0"/>
              <a:t>= 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R*</a:t>
            </a:r>
            <a:r>
              <a:rPr lang="en-US" altLang="zh-CN" b="1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zh-CN" b="1" baseline="-2500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prop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= 1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20000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/(2.5*10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)=8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  <a:r>
              <a:rPr lang="en-US" altLang="zh-CN" dirty="0" smtClean="0"/>
              <a:t>(</a:t>
            </a:r>
            <a:r>
              <a:rPr lang="zh-CN" altLang="en-US" dirty="0" smtClean="0"/>
              <a:t>位</a:t>
            </a:r>
            <a:r>
              <a:rPr lang="en-US" altLang="zh-CN" dirty="0" smtClean="0"/>
              <a:t>)=80000kb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min(R*</a:t>
            </a:r>
            <a:r>
              <a:rPr lang="en-US" altLang="zh-CN" b="1" i="1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zh-CN" b="1" i="1" baseline="-2500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prop</a:t>
            </a:r>
            <a:r>
              <a:rPr lang="en-US" altLang="zh-CN" b="1" i="1" baseline="-25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 L) 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= 800000</a:t>
            </a:r>
            <a:r>
              <a:rPr lang="en-US" altLang="zh-CN" dirty="0" smtClean="0"/>
              <a:t> bits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b="1" u="sng" dirty="0"/>
              <a:t>带宽延迟</a:t>
            </a:r>
            <a:r>
              <a:rPr lang="zh-CN" altLang="en-US" b="1" dirty="0" smtClean="0"/>
              <a:t>积</a:t>
            </a:r>
            <a:r>
              <a:rPr lang="en-US" altLang="zh-CN" b="1" dirty="0" smtClean="0"/>
              <a:t>:</a:t>
            </a:r>
            <a:r>
              <a:rPr lang="zh-CN" altLang="en-US" dirty="0" smtClean="0"/>
              <a:t>正在链路中传输的最大数据位数</a:t>
            </a:r>
            <a:r>
              <a:rPr lang="en-US" altLang="zh-CN" dirty="0" smtClean="0"/>
              <a:t>(bits)</a:t>
            </a:r>
            <a:endParaRPr lang="zh-CN" altLang="en-US" dirty="0" smtClean="0"/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b="1" u="sng" dirty="0" smtClean="0"/>
              <a:t>位宽</a:t>
            </a:r>
            <a:r>
              <a:rPr lang="en-US" altLang="zh-CN" dirty="0" smtClean="0"/>
              <a:t>= </a:t>
            </a:r>
            <a:r>
              <a:rPr lang="zh-CN" altLang="en-US" dirty="0" smtClean="0"/>
              <a:t>传播速度</a:t>
            </a:r>
            <a:r>
              <a:rPr lang="zh-CN" altLang="en-US" b="1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 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位传输时间</a:t>
            </a:r>
            <a:endParaRPr lang="en-US" altLang="zh-CN" dirty="0" smtClean="0"/>
          </a:p>
          <a:p>
            <a:pPr marL="344488" lvl="1" indent="0" eaLnBrk="1" hangingPunct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2.5*10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*[1/(1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*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b="1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9)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]=0.25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米</a:t>
            </a:r>
            <a:endParaRPr lang="en-US" altLang="zh-CN" b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839788" lvl="1" indent="-495300" eaLnBrk="1" hangingPunct="1">
              <a:defRPr/>
            </a:pPr>
            <a:endParaRPr lang="en-US" altLang="zh-CN" b="1" i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4000" dirty="0" smtClean="0"/>
              <a:t>第一章</a:t>
            </a:r>
            <a:r>
              <a:rPr lang="en-US" altLang="zh-CN" sz="4000" dirty="0" smtClean="0"/>
              <a:t>:</a:t>
            </a:r>
            <a:r>
              <a:rPr lang="zh-CN" altLang="en-US" sz="4000" dirty="0" smtClean="0"/>
              <a:t>计算机网络和</a:t>
            </a:r>
            <a:r>
              <a:rPr lang="en-US" altLang="zh-CN" sz="4000" dirty="0" smtClean="0"/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2053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609725"/>
            <a:ext cx="8893175" cy="4987925"/>
          </a:xfrm>
        </p:spPr>
        <p:txBody>
          <a:bodyPr>
            <a:normAutofit/>
          </a:bodyPr>
          <a:lstStyle/>
          <a:p>
            <a:pPr marL="571500" indent="-571500" eaLnBrk="1" hangingPunct="1">
              <a:defRPr/>
            </a:pPr>
            <a:r>
              <a:rPr lang="en-US" altLang="zh-TW" sz="3600" b="1" dirty="0" smtClean="0"/>
              <a:t>P</a:t>
            </a:r>
            <a:r>
              <a:rPr lang="en-US" altLang="zh-CN" sz="3600" b="1" dirty="0" smtClean="0"/>
              <a:t>28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b="1" dirty="0" smtClean="0"/>
              <a:t>a</a:t>
            </a:r>
            <a:r>
              <a:rPr lang="en-US" altLang="zh-CN" b="1" dirty="0"/>
              <a:t>)	</a:t>
            </a:r>
            <a:r>
              <a:rPr lang="en-US" altLang="zh-CN" b="1" dirty="0" err="1"/>
              <a:t>t</a:t>
            </a:r>
            <a:r>
              <a:rPr lang="en-US" altLang="zh-CN" b="1" baseline="-25000" dirty="0" err="1"/>
              <a:t>trans</a:t>
            </a:r>
            <a:r>
              <a:rPr lang="en-US" altLang="zh-CN" b="1" dirty="0"/>
              <a:t> + </a:t>
            </a:r>
            <a:r>
              <a:rPr lang="en-US" altLang="zh-CN" b="1" dirty="0" err="1"/>
              <a:t>t</a:t>
            </a:r>
            <a:r>
              <a:rPr lang="en-US" altLang="zh-CN" b="1" baseline="-25000" dirty="0" err="1"/>
              <a:t>prop</a:t>
            </a:r>
            <a:r>
              <a:rPr lang="en-US" altLang="zh-CN" b="1" dirty="0"/>
              <a:t> = 400 </a:t>
            </a:r>
            <a:r>
              <a:rPr lang="en-US" altLang="zh-CN" b="1" dirty="0" err="1"/>
              <a:t>msec</a:t>
            </a:r>
            <a:r>
              <a:rPr lang="en-US" altLang="zh-CN" b="1" dirty="0"/>
              <a:t> + 80 </a:t>
            </a:r>
            <a:r>
              <a:rPr lang="en-US" altLang="zh-CN" b="1" dirty="0" err="1"/>
              <a:t>msec</a:t>
            </a:r>
            <a:r>
              <a:rPr lang="en-US" altLang="zh-CN" b="1" dirty="0"/>
              <a:t> = 480 msec.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b="1" dirty="0"/>
              <a:t>b)	20 * (</a:t>
            </a:r>
            <a:r>
              <a:rPr lang="en-US" altLang="zh-CN" b="1" dirty="0" err="1"/>
              <a:t>t</a:t>
            </a:r>
            <a:r>
              <a:rPr lang="en-US" altLang="zh-CN" b="1" baseline="-25000" dirty="0" err="1"/>
              <a:t>trans</a:t>
            </a:r>
            <a:r>
              <a:rPr lang="en-US" altLang="zh-CN" b="1" dirty="0"/>
              <a:t> + 2 </a:t>
            </a:r>
            <a:r>
              <a:rPr lang="en-US" altLang="zh-CN" b="1" dirty="0" err="1"/>
              <a:t>t</a:t>
            </a:r>
            <a:r>
              <a:rPr lang="en-US" altLang="zh-CN" b="1" baseline="-25000" dirty="0" err="1"/>
              <a:t>prop</a:t>
            </a:r>
            <a:r>
              <a:rPr lang="en-US" altLang="zh-CN" b="1" dirty="0"/>
              <a:t>) = 20*(20 </a:t>
            </a:r>
            <a:r>
              <a:rPr lang="en-US" altLang="zh-CN" b="1" dirty="0" err="1"/>
              <a:t>msec</a:t>
            </a:r>
            <a:r>
              <a:rPr lang="en-US" altLang="zh-CN" b="1" dirty="0"/>
              <a:t> </a:t>
            </a:r>
            <a:r>
              <a:rPr lang="en-US" altLang="zh-CN" b="1" dirty="0" smtClean="0"/>
              <a:t>+2</a:t>
            </a:r>
            <a:r>
              <a:rPr lang="zh-CN" altLang="en-US" b="1" dirty="0" smtClean="0"/>
              <a:t>*</a:t>
            </a:r>
            <a:r>
              <a:rPr lang="en-US" altLang="zh-CN" b="1" dirty="0" smtClean="0"/>
              <a:t> </a:t>
            </a:r>
            <a:r>
              <a:rPr lang="en-US" altLang="zh-CN" b="1" dirty="0"/>
              <a:t>80 </a:t>
            </a:r>
            <a:r>
              <a:rPr lang="en-US" altLang="zh-CN" b="1" dirty="0" err="1"/>
              <a:t>msec</a:t>
            </a:r>
            <a:r>
              <a:rPr lang="en-US" altLang="zh-CN" b="1" dirty="0"/>
              <a:t>) = </a:t>
            </a:r>
            <a:r>
              <a:rPr lang="en-US" altLang="zh-CN" b="1" dirty="0" smtClean="0"/>
              <a:t>3.6 </a:t>
            </a:r>
            <a:r>
              <a:rPr lang="en-US" altLang="zh-CN" b="1" dirty="0"/>
              <a:t>sec.</a:t>
            </a:r>
          </a:p>
          <a:p>
            <a:pPr marL="839788" lvl="1" indent="-495300" eaLnBrk="1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en-US" altLang="zh-CN" b="1" dirty="0"/>
              <a:t>c)	Breaking up a file takes longer to transmit because each data packet and its corresponding acknowledgement packet add their own propagation delays.</a:t>
            </a:r>
          </a:p>
          <a:p>
            <a:pPr marL="839788" lvl="1" indent="-495300" eaLnBrk="1" hangingPunct="1">
              <a:defRPr/>
            </a:pPr>
            <a:endParaRPr lang="en-US" altLang="zh-CN" b="1" i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4000" dirty="0" smtClean="0"/>
              <a:t>第一章</a:t>
            </a:r>
            <a:r>
              <a:rPr lang="en-US" altLang="zh-CN" sz="4000" dirty="0" smtClean="0"/>
              <a:t>:</a:t>
            </a:r>
            <a:r>
              <a:rPr lang="zh-CN" altLang="en-US" sz="4000" dirty="0" smtClean="0"/>
              <a:t>计算机网络和</a:t>
            </a:r>
            <a:r>
              <a:rPr lang="en-US" altLang="zh-CN" sz="4000" dirty="0" smtClean="0"/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5526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7488832" cy="4347123"/>
          </a:xfrm>
          <a:prstGeom prst="rect">
            <a:avLst/>
          </a:prstGeom>
        </p:spPr>
      </p:pic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zh-CN" altLang="en-US" sz="4000" dirty="0" smtClean="0"/>
              <a:t>第一章</a:t>
            </a:r>
            <a:r>
              <a:rPr lang="en-US" altLang="zh-CN" sz="4000" dirty="0" smtClean="0"/>
              <a:t>:</a:t>
            </a:r>
            <a:r>
              <a:rPr lang="zh-CN" altLang="en-US" sz="4000" dirty="0" smtClean="0"/>
              <a:t>计算机网络和</a:t>
            </a:r>
            <a:r>
              <a:rPr lang="en-US" altLang="zh-CN" sz="4000" dirty="0" smtClean="0"/>
              <a:t>Internet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27584" y="6093296"/>
                <a:ext cx="7134257" cy="653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3200" kern="1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即当</a:t>
                </a:r>
                <a:r>
                  <a:rPr lang="en-US" sz="3200" kern="1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zh-CN" sz="3200" kern="1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sz="32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40</m:t>
                        </m:r>
                        <m:r>
                          <a:rPr lang="en-US" sz="32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rad>
                  </m:oMath>
                </a14:m>
                <a:r>
                  <a:rPr lang="zh-CN" sz="3200" kern="1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时文件传输时间最小</a:t>
                </a:r>
                <a:r>
                  <a:rPr lang="zh-CN" sz="4000" kern="1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sz="105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6093296"/>
                <a:ext cx="7134257" cy="653752"/>
              </a:xfrm>
              <a:prstGeom prst="rect">
                <a:avLst/>
              </a:prstGeom>
              <a:blipFill rotWithShape="0">
                <a:blip r:embed="rId3"/>
                <a:stretch>
                  <a:fillRect t="-25234" r="-598" b="-392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804000" y="1570507"/>
            <a:ext cx="147475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P33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410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Quadrant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Quadrant</Template>
  <TotalTime>2842</TotalTime>
  <Words>615</Words>
  <Application>Microsoft Office PowerPoint</Application>
  <PresentationFormat>全屏显示(4:3)</PresentationFormat>
  <Paragraphs>69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楷体_GB2312</vt:lpstr>
      <vt:lpstr>宋体</vt:lpstr>
      <vt:lpstr>Arial</vt:lpstr>
      <vt:lpstr>Calibri</vt:lpstr>
      <vt:lpstr>Cambria Math</vt:lpstr>
      <vt:lpstr>Times New Roman</vt:lpstr>
      <vt:lpstr>Wingdings</vt:lpstr>
      <vt:lpstr>Quadrant</vt:lpstr>
      <vt:lpstr>自定义设计方案</vt:lpstr>
      <vt:lpstr>习题解答 第一章 应用层 </vt:lpstr>
      <vt:lpstr>PowerPoint 演示文稿</vt:lpstr>
      <vt:lpstr>PowerPoint 演示文稿</vt:lpstr>
      <vt:lpstr>PowerPoint 演示文稿</vt:lpstr>
      <vt:lpstr>PowerPoint 演示文稿</vt:lpstr>
      <vt:lpstr>第一章:计算机网络和Internet</vt:lpstr>
      <vt:lpstr>第一章:计算机网络和Internet</vt:lpstr>
      <vt:lpstr>第一章:计算机网络和Internet</vt:lpstr>
      <vt:lpstr>第一章:计算机网络和Internet</vt:lpstr>
      <vt:lpstr>第一章:计算机网络和Internet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:answer of the problems</dc:title>
  <dc:creator>Longbow</dc:creator>
  <cp:lastModifiedBy>lenovo</cp:lastModifiedBy>
  <cp:revision>178</cp:revision>
  <dcterms:created xsi:type="dcterms:W3CDTF">2006-10-08T09:09:43Z</dcterms:created>
  <dcterms:modified xsi:type="dcterms:W3CDTF">2021-06-24T13:50:59Z</dcterms:modified>
</cp:coreProperties>
</file>