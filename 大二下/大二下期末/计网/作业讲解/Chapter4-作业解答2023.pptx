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9"/>
  </p:notesMasterIdLst>
  <p:sldIdLst>
    <p:sldId id="262" r:id="rId3"/>
    <p:sldId id="287" r:id="rId4"/>
    <p:sldId id="288" r:id="rId5"/>
    <p:sldId id="283" r:id="rId6"/>
    <p:sldId id="275" r:id="rId7"/>
    <p:sldId id="289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004" y="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3DFB119-8C5A-4B38-91EB-F83C541AA25F}" type="datetimeFigureOut">
              <a:rPr lang="zh-CN" altLang="en-US"/>
              <a:pPr>
                <a:defRPr/>
              </a:pPr>
              <a:t>2023/6/26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621A960C-8477-49D6-A533-A4DFC2BE97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4768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68991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321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605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74800"/>
            <a:ext cx="4038600" cy="509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4800"/>
            <a:ext cx="4038600" cy="509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5023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8991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0989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87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96290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9597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0274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64801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64801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14719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574800"/>
            <a:ext cx="4038600" cy="5094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4800"/>
            <a:ext cx="4038600" cy="5094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54485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19672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0178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31281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75179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749419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31574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0274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754227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38199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72740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32208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第三章</a:t>
            </a:r>
            <a:r>
              <a:rPr lang="en-US" altLang="zh-CN"/>
              <a:t>-</a:t>
            </a:r>
            <a:r>
              <a:rPr lang="zh-CN" altLang="en-US"/>
              <a:t>传输层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74800"/>
            <a:ext cx="8229600" cy="509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Line 4"/>
          <p:cNvSpPr>
            <a:spLocks noChangeShapeType="1"/>
          </p:cNvSpPr>
          <p:nvPr userDrawn="1"/>
        </p:nvSpPr>
        <p:spPr bwMode="auto">
          <a:xfrm>
            <a:off x="0" y="1412875"/>
            <a:ext cx="914400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o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377950" indent="-4683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827213" indent="-4381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297113" indent="-4683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5pPr>
      <a:lvl6pPr marL="27543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6pPr>
      <a:lvl7pPr marL="32115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7pPr>
      <a:lvl8pPr marL="36687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8pPr>
      <a:lvl9pPr marL="41259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6000" dirty="0"/>
              <a:t>习题解答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第四章</a:t>
            </a:r>
            <a:r>
              <a:rPr lang="en-US" altLang="zh-CN" b="1" dirty="0"/>
              <a:t>-</a:t>
            </a:r>
            <a:r>
              <a:rPr lang="zh-CN" altLang="en-US" b="1" dirty="0"/>
              <a:t>网络层：数据平面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199" y="1574800"/>
            <a:ext cx="8240713" cy="5094288"/>
          </a:xfrm>
        </p:spPr>
        <p:txBody>
          <a:bodyPr/>
          <a:lstStyle/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P.8(pp.243)</a:t>
            </a:r>
          </a:p>
          <a:p>
            <a:pPr lvl="1"/>
            <a:r>
              <a:rPr lang="en-US" altLang="zh-CN" b="1" dirty="0"/>
              <a:t>a. </a:t>
            </a:r>
          </a:p>
          <a:p>
            <a:pPr marL="438150" lvl="1" indent="450850">
              <a:spcBef>
                <a:spcPts val="0"/>
              </a:spcBef>
              <a:buNone/>
            </a:pPr>
            <a:r>
              <a:rPr lang="en-US" altLang="zh-CN" sz="2000" b="1" dirty="0"/>
              <a:t>Prefix Match	                  Link Interface</a:t>
            </a:r>
            <a:endParaRPr lang="zh-CN" altLang="zh-CN" sz="2000" b="1" dirty="0"/>
          </a:p>
          <a:p>
            <a:pPr marL="438150" lvl="1" indent="450850">
              <a:spcBef>
                <a:spcPts val="0"/>
              </a:spcBef>
              <a:buNone/>
            </a:pPr>
            <a:r>
              <a:rPr lang="en-US" altLang="zh-CN" sz="2000" dirty="0"/>
              <a:t>11100000  00                       	   0</a:t>
            </a:r>
            <a:endParaRPr lang="zh-CN" altLang="zh-CN" sz="2000" b="1" dirty="0"/>
          </a:p>
          <a:p>
            <a:pPr marL="438150" lvl="1" indent="450850">
              <a:spcBef>
                <a:spcPts val="0"/>
              </a:spcBef>
              <a:buNone/>
            </a:pPr>
            <a:r>
              <a:rPr lang="en-US" altLang="zh-CN" sz="2000" dirty="0"/>
              <a:t>11100000  01000000	       	   1</a:t>
            </a:r>
            <a:endParaRPr lang="zh-CN" altLang="zh-CN" sz="2000" b="1" dirty="0"/>
          </a:p>
          <a:p>
            <a:pPr marL="438150" lvl="1" indent="450850">
              <a:spcBef>
                <a:spcPts val="0"/>
              </a:spcBef>
              <a:buNone/>
            </a:pPr>
            <a:r>
              <a:rPr lang="en-US" altLang="zh-CN" sz="2000" dirty="0"/>
              <a:t>1110000				   2</a:t>
            </a:r>
            <a:endParaRPr lang="zh-CN" altLang="zh-CN" sz="2000" b="1" dirty="0"/>
          </a:p>
          <a:p>
            <a:pPr marL="438150" lvl="1" indent="450850">
              <a:spcBef>
                <a:spcPts val="0"/>
              </a:spcBef>
              <a:buNone/>
            </a:pPr>
            <a:r>
              <a:rPr lang="en-US" altLang="zh-CN" sz="2000" dirty="0"/>
              <a:t>11100001  1			   3	</a:t>
            </a:r>
            <a:endParaRPr lang="zh-CN" altLang="zh-CN" sz="2000" b="1" dirty="0"/>
          </a:p>
          <a:p>
            <a:pPr marL="438150" lvl="1" indent="450850">
              <a:spcBef>
                <a:spcPts val="0"/>
              </a:spcBef>
              <a:buNone/>
            </a:pPr>
            <a:r>
              <a:rPr lang="en-US" altLang="zh-CN" sz="2000" dirty="0"/>
              <a:t> otherwise			   3</a:t>
            </a:r>
            <a:endParaRPr lang="zh-CN" altLang="zh-CN" sz="2000" b="1" dirty="0"/>
          </a:p>
          <a:p>
            <a:pPr lvl="1"/>
            <a:r>
              <a:rPr lang="en-US" altLang="zh-CN" dirty="0"/>
              <a:t>b. </a:t>
            </a:r>
          </a:p>
          <a:p>
            <a:pPr marL="1168400" lvl="2" indent="-228600">
              <a:buFont typeface="+mj-ea"/>
              <a:buAutoNum type="circleNumDbPlain"/>
            </a:pPr>
            <a:r>
              <a:rPr lang="en-US" altLang="zh-CN" sz="2000" dirty="0"/>
              <a:t>11001000 10010001 01010001 01010101:</a:t>
            </a:r>
            <a:r>
              <a:rPr lang="zh-CN" altLang="en-US" sz="2000" dirty="0"/>
              <a:t>出口</a:t>
            </a:r>
            <a:r>
              <a:rPr lang="en-US" altLang="zh-CN" sz="2000" dirty="0"/>
              <a:t>3</a:t>
            </a:r>
          </a:p>
          <a:p>
            <a:pPr marL="1168400" lvl="2" indent="-228600">
              <a:buFont typeface="+mj-ea"/>
              <a:buAutoNum type="circleNumDbPlain"/>
            </a:pPr>
            <a:r>
              <a:rPr lang="en-US" altLang="zh-CN" sz="2000" dirty="0"/>
              <a:t>11100001 01000000 11000011 00111100:</a:t>
            </a:r>
            <a:r>
              <a:rPr lang="zh-CN" altLang="en-US" sz="2000" dirty="0"/>
              <a:t>出口</a:t>
            </a:r>
            <a:r>
              <a:rPr lang="en-US" altLang="zh-CN" sz="2000" dirty="0"/>
              <a:t>2</a:t>
            </a:r>
          </a:p>
          <a:p>
            <a:pPr marL="1168400" lvl="2" indent="-228600">
              <a:buFont typeface="+mj-ea"/>
              <a:buAutoNum type="circleNumDbPlain"/>
            </a:pPr>
            <a:r>
              <a:rPr lang="en-US" altLang="zh-CN" sz="2000" dirty="0"/>
              <a:t>11100001 10000000 00010001 01110111:</a:t>
            </a:r>
            <a:r>
              <a:rPr lang="zh-CN" altLang="en-US" sz="2000" dirty="0"/>
              <a:t>出口</a:t>
            </a:r>
            <a:r>
              <a:rPr lang="en-US" altLang="zh-CN" sz="2000" dirty="0"/>
              <a:t>3</a:t>
            </a:r>
          </a:p>
          <a:p>
            <a:pPr marL="471487" lvl="1" indent="0">
              <a:buNone/>
            </a:pPr>
            <a:endParaRPr lang="en-US" altLang="zh-CN" sz="2400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</a:t>
            </a:r>
            <a:r>
              <a:rPr lang="en-US" altLang="zh-CN" dirty="0"/>
              <a:t>-</a:t>
            </a:r>
            <a:r>
              <a:rPr lang="zh-CN" altLang="en-US" dirty="0"/>
              <a:t>网络层：数据平面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1331640" y="2924944"/>
            <a:ext cx="5544616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95936" y="2564904"/>
            <a:ext cx="0" cy="1944216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481704" y="1484784"/>
            <a:ext cx="7610193" cy="4586175"/>
            <a:chOff x="298851" y="1574800"/>
            <a:chExt cx="7610193" cy="4586175"/>
          </a:xfrm>
        </p:grpSpPr>
        <p:grpSp>
          <p:nvGrpSpPr>
            <p:cNvPr id="8" name="组合 7"/>
            <p:cNvGrpSpPr/>
            <p:nvPr/>
          </p:nvGrpSpPr>
          <p:grpSpPr>
            <a:xfrm>
              <a:off x="298851" y="1574800"/>
              <a:ext cx="7610193" cy="4586175"/>
              <a:chOff x="298851" y="1574800"/>
              <a:chExt cx="7610193" cy="4586175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8851" y="1574800"/>
                <a:ext cx="7610193" cy="4586175"/>
              </a:xfrm>
              <a:prstGeom prst="rect">
                <a:avLst/>
              </a:prstGeom>
            </p:spPr>
          </p:pic>
          <p:sp>
            <p:nvSpPr>
              <p:cNvPr id="4" name="矩形 3"/>
              <p:cNvSpPr/>
              <p:nvPr/>
            </p:nvSpPr>
            <p:spPr>
              <a:xfrm>
                <a:off x="457198" y="4437112"/>
                <a:ext cx="7283153" cy="1008112"/>
              </a:xfrm>
              <a:prstGeom prst="rect">
                <a:avLst/>
              </a:prstGeom>
              <a:solidFill>
                <a:schemeClr val="accent1">
                  <a:alpha val="51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57199" y="4437112"/>
                <a:ext cx="730425" cy="1008112"/>
              </a:xfrm>
              <a:prstGeom prst="rect">
                <a:avLst/>
              </a:prstGeom>
              <a:solidFill>
                <a:srgbClr val="00B0F0">
                  <a:alpha val="6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457198" y="5085184"/>
              <a:ext cx="3538738" cy="360040"/>
            </a:xfrm>
            <a:prstGeom prst="rect">
              <a:avLst/>
            </a:prstGeom>
            <a:solidFill>
              <a:srgbClr val="7030A0">
                <a:alpha val="22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57197" y="4437112"/>
              <a:ext cx="3538738" cy="360040"/>
            </a:xfrm>
            <a:prstGeom prst="rect">
              <a:avLst/>
            </a:prstGeom>
            <a:solidFill>
              <a:srgbClr val="7030A0">
                <a:alpha val="22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0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199" y="1574800"/>
            <a:ext cx="8240713" cy="5094288"/>
          </a:xfrm>
        </p:spPr>
        <p:txBody>
          <a:bodyPr/>
          <a:lstStyle/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P.9 (pp.243)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</a:t>
            </a:r>
            <a:r>
              <a:rPr lang="en-US" altLang="zh-CN" dirty="0"/>
              <a:t>-</a:t>
            </a:r>
            <a:r>
              <a:rPr lang="zh-CN" altLang="en-US" dirty="0"/>
              <a:t>网络层：数据平面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400390"/>
              </p:ext>
            </p:extLst>
          </p:nvPr>
        </p:nvGraphicFramePr>
        <p:xfrm>
          <a:off x="1553219" y="2750344"/>
          <a:ext cx="6048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地址范围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接口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地址数量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00000000 - 00111111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0(64)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01000000 - 01011111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1(32)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01100000 - 01111111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2(96)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10000000 - 10111111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11000000 - 11111111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3(64)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938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</a:t>
            </a:r>
            <a:r>
              <a:rPr lang="en-US" altLang="zh-CN" dirty="0"/>
              <a:t>-</a:t>
            </a:r>
            <a:r>
              <a:rPr lang="zh-CN" altLang="en-US" dirty="0"/>
              <a:t>网络层：数据平面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574800"/>
            <a:ext cx="8507288" cy="5094288"/>
          </a:xfrm>
        </p:spPr>
        <p:txBody>
          <a:bodyPr/>
          <a:lstStyle/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P.10(pp.244)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943767"/>
              </p:ext>
            </p:extLst>
          </p:nvPr>
        </p:nvGraphicFramePr>
        <p:xfrm>
          <a:off x="782104" y="2132856"/>
          <a:ext cx="760201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1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1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地址范围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接口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地址数量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11000000 – 11011111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0(32)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10000000 - 10111111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1(64)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11100000 - 11111111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2(32)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00000000 - 01111111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3(128)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82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第四章</a:t>
            </a:r>
            <a:r>
              <a:rPr lang="en-US" altLang="zh-CN" dirty="0"/>
              <a:t>-</a:t>
            </a:r>
            <a:r>
              <a:rPr lang="zh-CN" altLang="en-US" dirty="0"/>
              <a:t>网络层：数据平面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439150" cy="4929188"/>
          </a:xfrm>
        </p:spPr>
        <p:txBody>
          <a:bodyPr/>
          <a:lstStyle/>
          <a:p>
            <a:pPr eaLnBrk="1" hangingPunct="1"/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P.14(pp.244)</a:t>
            </a:r>
          </a:p>
          <a:p>
            <a:pPr lvl="1" eaLnBrk="1" hangingPunct="1"/>
            <a:r>
              <a:rPr lang="zh-CN" altLang="en-US" sz="2400" dirty="0"/>
              <a:t>前缀</a:t>
            </a:r>
            <a:r>
              <a:rPr lang="en-US" altLang="zh-CN" sz="2400" dirty="0"/>
              <a:t>128.19.40.128/26</a:t>
            </a:r>
            <a:r>
              <a:rPr lang="zh-CN" altLang="en-US" sz="2400" dirty="0"/>
              <a:t>对应的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地址范围为：</a:t>
            </a:r>
            <a:endParaRPr lang="en-US" altLang="zh-CN" sz="2400" dirty="0"/>
          </a:p>
          <a:p>
            <a:pPr marL="471487" lvl="1" indent="0" eaLnBrk="1" hangingPunct="1">
              <a:buNone/>
            </a:pPr>
            <a:r>
              <a:rPr lang="en-US" altLang="zh-CN" sz="2400" dirty="0"/>
              <a:t>         128.119.40.128 ~ 128.119.40. 191</a:t>
            </a:r>
          </a:p>
          <a:p>
            <a:pPr marL="471487" lvl="1" indent="0" eaLnBrk="1" hangingPunct="1"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其中能供主机使用的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地址范围为：</a:t>
            </a:r>
            <a:endParaRPr lang="en-US" altLang="zh-CN" sz="2400" dirty="0"/>
          </a:p>
          <a:p>
            <a:pPr marL="471487" lvl="1" indent="0" eaLnBrk="1" hangingPunct="1">
              <a:buNone/>
            </a:pPr>
            <a:r>
              <a:rPr lang="en-US" altLang="zh-CN" sz="2400" dirty="0"/>
              <a:t>          128.119.40.129 ~ 128.119.40. 190</a:t>
            </a:r>
          </a:p>
          <a:p>
            <a:pPr lvl="1" eaLnBrk="1" hangingPunct="1"/>
            <a:r>
              <a:rPr lang="en-US" altLang="zh-CN" sz="2400" dirty="0"/>
              <a:t>ISP</a:t>
            </a:r>
            <a:r>
              <a:rPr lang="zh-CN" altLang="en-US" sz="2400" dirty="0"/>
              <a:t>的地址块为</a:t>
            </a:r>
            <a:r>
              <a:rPr lang="en-US" altLang="zh-CN" sz="2400" dirty="0"/>
              <a:t>128.119.40.64/26</a:t>
            </a:r>
            <a:r>
              <a:rPr lang="zh-CN" altLang="en-US" sz="2400" dirty="0"/>
              <a:t>， 分成四个子网，每个子网地址数量相同。每个子网的网络地址为：</a:t>
            </a:r>
            <a:endParaRPr lang="en-US" altLang="zh-CN" sz="2400" dirty="0"/>
          </a:p>
          <a:p>
            <a:pPr marL="471487" lvl="1" indent="0" eaLnBrk="1" hangingPunct="1">
              <a:buNone/>
            </a:pPr>
            <a:r>
              <a:rPr lang="en-US" altLang="zh-CN" sz="2400" dirty="0"/>
              <a:t>      (1) 128.119.40.64/28</a:t>
            </a:r>
          </a:p>
          <a:p>
            <a:pPr marL="471487" lvl="1" indent="0" eaLnBrk="1" hangingPunct="1">
              <a:buNone/>
            </a:pPr>
            <a:r>
              <a:rPr lang="en-US" altLang="zh-CN" sz="2400" dirty="0"/>
              <a:t>      (2) 128.119.40.80/28</a:t>
            </a:r>
          </a:p>
          <a:p>
            <a:pPr marL="471487" lvl="1" indent="0" eaLnBrk="1" hangingPunct="1">
              <a:buNone/>
            </a:pPr>
            <a:r>
              <a:rPr lang="en-US" altLang="zh-CN" sz="2400" dirty="0"/>
              <a:t>      (3) 128.119.40.96/28</a:t>
            </a:r>
          </a:p>
          <a:p>
            <a:pPr marL="471487" lvl="1" indent="0" eaLnBrk="1" hangingPunct="1">
              <a:buNone/>
            </a:pPr>
            <a:r>
              <a:rPr lang="en-US" altLang="zh-CN" sz="2400" dirty="0"/>
              <a:t>      (4) 128.119.40.112/28 </a:t>
            </a:r>
          </a:p>
          <a:p>
            <a:pPr marL="471487" lvl="1" indent="0" eaLnBrk="1" hangingPunct="1">
              <a:buNone/>
            </a:pPr>
            <a:endParaRPr lang="en-US" altLang="zh-CN" b="1" dirty="0"/>
          </a:p>
          <a:p>
            <a:pPr marL="471487" lvl="1" indent="0" eaLnBrk="1" hangingPunct="1">
              <a:buNone/>
            </a:pPr>
            <a:r>
              <a:rPr lang="en-US" altLang="zh-CN" b="1" dirty="0"/>
              <a:t>     </a:t>
            </a:r>
          </a:p>
          <a:p>
            <a:pPr eaLnBrk="1" hangingPunct="1"/>
            <a:endParaRPr lang="en-US" altLang="zh-CN" sz="2400" b="1" dirty="0"/>
          </a:p>
          <a:p>
            <a:pPr eaLnBrk="1" hangingPunct="1"/>
            <a:endParaRPr lang="en-US" altLang="zh-CN" sz="2400" b="1" dirty="0"/>
          </a:p>
          <a:p>
            <a:pPr eaLnBrk="1" hangingPunct="1"/>
            <a:endParaRPr lang="en-US" altLang="zh-CN" sz="2400" b="1" dirty="0"/>
          </a:p>
          <a:p>
            <a:pPr eaLnBrk="1" hangingPunct="1"/>
            <a:endParaRPr lang="en-US" altLang="zh-CN" sz="2400" b="1" dirty="0"/>
          </a:p>
          <a:p>
            <a:pPr lvl="1" eaLnBrk="1" hangingPunct="1"/>
            <a:endParaRPr lang="en-US" altLang="zh-CN" sz="2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</a:t>
            </a:r>
            <a:r>
              <a:rPr lang="en-US" altLang="zh-CN" dirty="0"/>
              <a:t>-</a:t>
            </a:r>
            <a:r>
              <a:rPr lang="zh-CN" altLang="en-US" dirty="0"/>
              <a:t>网络层：数据平面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占位符 2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457200" y="1574800"/>
                <a:ext cx="8579296" cy="5094288"/>
              </a:xfrm>
            </p:spPr>
            <p:txBody>
              <a:bodyPr/>
              <a:lstStyle/>
              <a:p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P.14(pp.239,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第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7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版教材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dirty="0"/>
                  <a:t>假设数据报不含</a:t>
                </a:r>
                <a:r>
                  <a:rPr lang="en-US" altLang="zh-CN" dirty="0"/>
                  <a:t>Options</a:t>
                </a:r>
                <a:r>
                  <a:rPr lang="zh-CN" altLang="en-US" dirty="0"/>
                  <a:t>。则分片数量为：</a:t>
                </a:r>
                <a:endParaRPr lang="en-US" altLang="zh-CN" dirty="0"/>
              </a:p>
              <a:p>
                <a:pPr marL="471487" lvl="1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2400−20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700−20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4</a:t>
                </a:r>
                <a:r>
                  <a:rPr lang="zh-CN" altLang="en-US" dirty="0"/>
                  <a:t>个片的</a:t>
                </a:r>
                <a:r>
                  <a:rPr lang="en-US" altLang="zh-CN" dirty="0"/>
                  <a:t>Total Length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Identification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Flags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Fragment Offset</a:t>
                </a:r>
                <a:r>
                  <a:rPr lang="zh-CN" altLang="en-US" dirty="0"/>
                  <a:t>等字段的值分别为：</a:t>
                </a:r>
                <a:endParaRPr lang="en-US" altLang="zh-CN" dirty="0"/>
              </a:p>
              <a:p>
                <a:pPr marL="909637" lvl="2" indent="0">
                  <a:buNone/>
                </a:pPr>
                <a:r>
                  <a:rPr lang="en-US" altLang="zh-CN" dirty="0"/>
                  <a:t>(1) 700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422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001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0</a:t>
                </a:r>
              </a:p>
              <a:p>
                <a:pPr marL="909637" lvl="2" indent="0">
                  <a:buNone/>
                </a:pPr>
                <a:r>
                  <a:rPr lang="en-US" altLang="zh-CN" dirty="0"/>
                  <a:t>(2) 700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422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001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85</a:t>
                </a:r>
              </a:p>
              <a:p>
                <a:pPr marL="909637" lvl="2" indent="0">
                  <a:buNone/>
                </a:pPr>
                <a:r>
                  <a:rPr lang="en-US" altLang="zh-CN" dirty="0"/>
                  <a:t>(3) 700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422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001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170</a:t>
                </a:r>
              </a:p>
              <a:p>
                <a:pPr marL="909637" lvl="2" indent="0">
                  <a:buNone/>
                </a:pPr>
                <a:r>
                  <a:rPr lang="en-US" altLang="zh-CN" dirty="0"/>
                  <a:t>(4) 360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422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000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255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文本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574800"/>
                <a:ext cx="8579296" cy="5094288"/>
              </a:xfrm>
              <a:blipFill>
                <a:blip r:embed="rId2"/>
                <a:stretch>
                  <a:fillRect l="-924" t="-1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041030"/>
      </p:ext>
    </p:extLst>
  </p:cSld>
  <p:clrMapOvr>
    <a:masterClrMapping/>
  </p:clrMapOvr>
</p:sld>
</file>

<file path=ppt/theme/theme1.xml><?xml version="1.0" encoding="utf-8"?>
<a:theme xmlns:a="http://schemas.openxmlformats.org/drawingml/2006/main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Quadrant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Quadrant 1">
        <a:dk1>
          <a:srgbClr val="5C5674"/>
        </a:dk1>
        <a:lt1>
          <a:srgbClr val="FFFFFF"/>
        </a:lt1>
        <a:dk2>
          <a:srgbClr val="85986A"/>
        </a:dk2>
        <a:lt2>
          <a:srgbClr val="FFFFFF"/>
        </a:lt2>
        <a:accent1>
          <a:srgbClr val="666633"/>
        </a:accent1>
        <a:accent2>
          <a:srgbClr val="ADC5B8"/>
        </a:accent2>
        <a:accent3>
          <a:srgbClr val="C2CAB9"/>
        </a:accent3>
        <a:accent4>
          <a:srgbClr val="DADADA"/>
        </a:accent4>
        <a:accent5>
          <a:srgbClr val="B8B8AD"/>
        </a:accent5>
        <a:accent6>
          <a:srgbClr val="9CB2A6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2">
        <a:dk1>
          <a:srgbClr val="000000"/>
        </a:dk1>
        <a:lt1>
          <a:srgbClr val="FFFFFF"/>
        </a:lt1>
        <a:dk2>
          <a:srgbClr val="420000"/>
        </a:dk2>
        <a:lt2>
          <a:srgbClr val="660000"/>
        </a:lt2>
        <a:accent1>
          <a:srgbClr val="CCCC00"/>
        </a:accent1>
        <a:accent2>
          <a:srgbClr val="999966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8A8A5C"/>
        </a:accent6>
        <a:hlink>
          <a:srgbClr val="996633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3">
        <a:dk1>
          <a:srgbClr val="618052"/>
        </a:dk1>
        <a:lt1>
          <a:srgbClr val="FFFFE3"/>
        </a:lt1>
        <a:dk2>
          <a:srgbClr val="162E36"/>
        </a:dk2>
        <a:lt2>
          <a:srgbClr val="FFFFFF"/>
        </a:lt2>
        <a:accent1>
          <a:srgbClr val="336699"/>
        </a:accent1>
        <a:accent2>
          <a:srgbClr val="69888B"/>
        </a:accent2>
        <a:accent3>
          <a:srgbClr val="ABADAE"/>
        </a:accent3>
        <a:accent4>
          <a:srgbClr val="DADAC2"/>
        </a:accent4>
        <a:accent5>
          <a:srgbClr val="ADB8CA"/>
        </a:accent5>
        <a:accent6>
          <a:srgbClr val="5E7B7D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4">
        <a:dk1>
          <a:srgbClr val="000000"/>
        </a:dk1>
        <a:lt1>
          <a:srgbClr val="FFFFFF"/>
        </a:lt1>
        <a:dk2>
          <a:srgbClr val="000000"/>
        </a:dk2>
        <a:lt2>
          <a:srgbClr val="CC0000"/>
        </a:lt2>
        <a:accent1>
          <a:srgbClr val="FFCC00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5CB9"/>
        </a:accent6>
        <a:hlink>
          <a:srgbClr val="666699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5">
        <a:dk1>
          <a:srgbClr val="666699"/>
        </a:dk1>
        <a:lt1>
          <a:srgbClr val="FFFFFF"/>
        </a:lt1>
        <a:dk2>
          <a:srgbClr val="000033"/>
        </a:dk2>
        <a:lt2>
          <a:srgbClr val="FFFFFF"/>
        </a:lt2>
        <a:accent1>
          <a:srgbClr val="9966FF"/>
        </a:accent1>
        <a:accent2>
          <a:srgbClr val="CCCCFF"/>
        </a:accent2>
        <a:accent3>
          <a:srgbClr val="AAAAAD"/>
        </a:accent3>
        <a:accent4>
          <a:srgbClr val="DADADA"/>
        </a:accent4>
        <a:accent5>
          <a:srgbClr val="CAB8FF"/>
        </a:accent5>
        <a:accent6>
          <a:srgbClr val="B9B9E7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6">
        <a:dk1>
          <a:srgbClr val="000000"/>
        </a:dk1>
        <a:lt1>
          <a:srgbClr val="FFFFFF"/>
        </a:lt1>
        <a:dk2>
          <a:srgbClr val="000000"/>
        </a:dk2>
        <a:lt2>
          <a:srgbClr val="669966"/>
        </a:lt2>
        <a:accent1>
          <a:srgbClr val="CCCC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8AB9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7">
        <a:dk1>
          <a:srgbClr val="0099CC"/>
        </a:dk1>
        <a:lt1>
          <a:srgbClr val="FFFFFF"/>
        </a:lt1>
        <a:dk2>
          <a:srgbClr val="000099"/>
        </a:dk2>
        <a:lt2>
          <a:srgbClr val="FFFFFF"/>
        </a:lt2>
        <a:accent1>
          <a:srgbClr val="0099CC"/>
        </a:accent1>
        <a:accent2>
          <a:srgbClr val="6600FF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5C00E7"/>
        </a:accent6>
        <a:hlink>
          <a:srgbClr val="FFCC00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8">
        <a:dk1>
          <a:srgbClr val="000033"/>
        </a:dk1>
        <a:lt1>
          <a:srgbClr val="FFFFFF"/>
        </a:lt1>
        <a:dk2>
          <a:srgbClr val="003366"/>
        </a:dk2>
        <a:lt2>
          <a:srgbClr val="275C6D"/>
        </a:lt2>
        <a:accent1>
          <a:srgbClr val="A7D2DF"/>
        </a:accent1>
        <a:accent2>
          <a:srgbClr val="108DA6"/>
        </a:accent2>
        <a:accent3>
          <a:srgbClr val="FFFFFF"/>
        </a:accent3>
        <a:accent4>
          <a:srgbClr val="00002A"/>
        </a:accent4>
        <a:accent5>
          <a:srgbClr val="D0E5EC"/>
        </a:accent5>
        <a:accent6>
          <a:srgbClr val="0D7F96"/>
        </a:accent6>
        <a:hlink>
          <a:srgbClr val="666699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9">
        <a:dk1>
          <a:srgbClr val="CC33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9933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8A2D00"/>
        </a:accent6>
        <a:hlink>
          <a:srgbClr val="CEC5A2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3348</TotalTime>
  <Words>365</Words>
  <Application>Microsoft Office PowerPoint</Application>
  <PresentationFormat>全屏显示(4:3)</PresentationFormat>
  <Paragraphs>65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楷体_GB2312</vt:lpstr>
      <vt:lpstr>宋体</vt:lpstr>
      <vt:lpstr>Arial</vt:lpstr>
      <vt:lpstr>Calibri</vt:lpstr>
      <vt:lpstr>Cambria Math</vt:lpstr>
      <vt:lpstr>Times New Roman</vt:lpstr>
      <vt:lpstr>Wingdings</vt:lpstr>
      <vt:lpstr>Quadrant</vt:lpstr>
      <vt:lpstr>自定义设计方案</vt:lpstr>
      <vt:lpstr>习题解答</vt:lpstr>
      <vt:lpstr>第四章-网络层：数据平面</vt:lpstr>
      <vt:lpstr>第四章-网络层：数据平面</vt:lpstr>
      <vt:lpstr>第四章-网络层：数据平面</vt:lpstr>
      <vt:lpstr>第四章-网络层：数据平面</vt:lpstr>
      <vt:lpstr>第四章-网络层：数据平面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solutions</dc:title>
  <dc:creator>Longbow</dc:creator>
  <cp:lastModifiedBy>zxm_sdjzu</cp:lastModifiedBy>
  <cp:revision>277</cp:revision>
  <dcterms:created xsi:type="dcterms:W3CDTF">2006-10-17T14:32:09Z</dcterms:created>
  <dcterms:modified xsi:type="dcterms:W3CDTF">2023-06-26T00:40:18Z</dcterms:modified>
</cp:coreProperties>
</file>