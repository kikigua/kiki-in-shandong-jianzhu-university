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sldIdLst>
    <p:sldId id="262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5" autoAdjust="0"/>
    <p:restoredTop sz="93481" autoAdjust="0"/>
  </p:normalViewPr>
  <p:slideViewPr>
    <p:cSldViewPr>
      <p:cViewPr varScale="1">
        <p:scale>
          <a:sx n="76" d="100"/>
          <a:sy n="76" d="100"/>
        </p:scale>
        <p:origin x="1062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764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6684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2301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50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477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0478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25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8604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703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2097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64801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64801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9716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74800"/>
            <a:ext cx="4038600" cy="5094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4800"/>
            <a:ext cx="4038600" cy="5094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8869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86543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54789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8775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7152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9416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91527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503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807138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2542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21814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3591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第三章</a:t>
            </a:r>
            <a:r>
              <a:rPr lang="en-US" altLang="zh-CN"/>
              <a:t>-</a:t>
            </a:r>
            <a:r>
              <a:rPr lang="zh-CN" altLang="en-US"/>
              <a:t>传输层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4800"/>
            <a:ext cx="822960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Line 4"/>
          <p:cNvSpPr>
            <a:spLocks noChangeShapeType="1"/>
          </p:cNvSpPr>
          <p:nvPr userDrawn="1"/>
        </p:nvSpPr>
        <p:spPr bwMode="auto">
          <a:xfrm>
            <a:off x="0" y="1412875"/>
            <a:ext cx="91440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o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377950" indent="-4683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827213" indent="-4381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297113" indent="-4683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5pPr>
      <a:lvl6pPr marL="27543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6pPr>
      <a:lvl7pPr marL="32115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7pPr>
      <a:lvl8pPr marL="36687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8pPr>
      <a:lvl9pPr marL="41259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o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zh-CN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习题解答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第五章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网络层：控制平面</a:t>
            </a:r>
            <a:endParaRPr lang="en-US" altLang="zh-CN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第五章</a:t>
            </a:r>
            <a:r>
              <a:rPr lang="en-US" altLang="zh-CN" b="1" dirty="0"/>
              <a:t>-</a:t>
            </a:r>
            <a:r>
              <a:rPr lang="zh-CN" altLang="en-US" b="1" dirty="0"/>
              <a:t>网络层</a:t>
            </a:r>
            <a:r>
              <a:rPr lang="en-US" altLang="zh-CN" b="1" dirty="0"/>
              <a:t>:</a:t>
            </a:r>
            <a:r>
              <a:rPr lang="zh-CN" altLang="en-US" b="1" dirty="0"/>
              <a:t>控制平面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439150" cy="608856"/>
          </a:xfrm>
        </p:spPr>
        <p:txBody>
          <a:bodyPr/>
          <a:lstStyle/>
          <a:p>
            <a:pPr lvl="1" eaLnBrk="1" hangingPunct="1"/>
            <a:r>
              <a:rPr lang="en-US" altLang="zh-CN" b="1" dirty="0"/>
              <a:t>P288, P3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7505813" cy="252028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62138" y="4869160"/>
            <a:ext cx="8439150" cy="608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/>
            <a:r>
              <a:rPr lang="zh-CN" altLang="en-US" b="1" kern="0" dirty="0"/>
              <a:t>注意：</a:t>
            </a:r>
            <a:endParaRPr lang="en-US" altLang="zh-CN" b="1" kern="0" dirty="0"/>
          </a:p>
          <a:p>
            <a:pPr lvl="2" eaLnBrk="1" hangingPunct="1"/>
            <a:r>
              <a:rPr lang="zh-CN" altLang="en-US" b="1" kern="0" dirty="0"/>
              <a:t>按节点标识符英文字母顺序</a:t>
            </a:r>
            <a:endParaRPr lang="en-US" altLang="zh-CN" b="1" kern="0" dirty="0"/>
          </a:p>
          <a:p>
            <a:pPr lvl="2" eaLnBrk="1" hangingPunct="1"/>
            <a:r>
              <a:rPr lang="zh-CN" altLang="en-US" b="1" kern="0" dirty="0"/>
              <a:t>节点被拿入</a:t>
            </a:r>
            <a:r>
              <a:rPr lang="en-US" altLang="zh-CN" b="1" kern="0" dirty="0"/>
              <a:t>N’</a:t>
            </a:r>
            <a:r>
              <a:rPr lang="zh-CN" altLang="en-US" b="1" kern="0" dirty="0"/>
              <a:t>后，该节点不再参与后面的计算。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第五章</a:t>
            </a:r>
            <a:r>
              <a:rPr lang="en-US" altLang="zh-CN" b="1" dirty="0"/>
              <a:t>-</a:t>
            </a:r>
            <a:r>
              <a:rPr lang="zh-CN" altLang="en-US" b="1" dirty="0"/>
              <a:t>网络层</a:t>
            </a:r>
            <a:r>
              <a:rPr lang="en-US" altLang="zh-CN" b="1" dirty="0"/>
              <a:t>:</a:t>
            </a:r>
            <a:r>
              <a:rPr lang="zh-CN" altLang="en-US" b="1" dirty="0"/>
              <a:t>控制平面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439150" cy="574104"/>
          </a:xfrm>
        </p:spPr>
        <p:txBody>
          <a:bodyPr/>
          <a:lstStyle/>
          <a:p>
            <a:pPr lvl="1" eaLnBrk="1" hangingPunct="1"/>
            <a:r>
              <a:rPr lang="en-US" altLang="zh-CN" b="1" dirty="0"/>
              <a:t>P289, P5</a:t>
            </a:r>
            <a:endParaRPr lang="zh-CN" altLang="en-US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048087"/>
              </p:ext>
            </p:extLst>
          </p:nvPr>
        </p:nvGraphicFramePr>
        <p:xfrm>
          <a:off x="1259630" y="2204864"/>
          <a:ext cx="36004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r>
                        <a:rPr lang="zh-CN" altLang="en-US" dirty="0"/>
                        <a:t>及其邻居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267744" y="3861048"/>
            <a:ext cx="1368152" cy="39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</a:pPr>
            <a:r>
              <a:rPr lang="en-US" altLang="zh-CN" sz="2000" b="1" kern="0" dirty="0"/>
              <a:t>(1)</a:t>
            </a:r>
            <a:endParaRPr lang="zh-CN" altLang="en-US" sz="2000" b="1" kern="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054605"/>
              </p:ext>
            </p:extLst>
          </p:nvPr>
        </p:nvGraphicFramePr>
        <p:xfrm>
          <a:off x="5184615" y="2204864"/>
          <a:ext cx="36004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r>
                        <a:rPr lang="zh-CN" altLang="en-US" dirty="0"/>
                        <a:t>及其邻居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192729" y="3861048"/>
            <a:ext cx="1368152" cy="39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</a:pPr>
            <a:r>
              <a:rPr lang="en-US" altLang="zh-CN" sz="2000" b="1" kern="0" dirty="0"/>
              <a:t>(2)</a:t>
            </a:r>
            <a:endParaRPr lang="zh-CN" altLang="en-US" sz="2000" b="1" kern="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724008"/>
              </p:ext>
            </p:extLst>
          </p:nvPr>
        </p:nvGraphicFramePr>
        <p:xfrm>
          <a:off x="1237708" y="4454415"/>
          <a:ext cx="36004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r>
                        <a:rPr lang="zh-CN" altLang="en-US" dirty="0"/>
                        <a:t>及其邻居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245822" y="6110599"/>
            <a:ext cx="1368152" cy="39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</a:pPr>
            <a:r>
              <a:rPr lang="en-US" altLang="zh-CN" sz="2000" b="1" kern="0" dirty="0"/>
              <a:t>(3)</a:t>
            </a:r>
            <a:endParaRPr lang="zh-CN" altLang="en-US" sz="2000" b="1" kern="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21080"/>
              </p:ext>
            </p:extLst>
          </p:nvPr>
        </p:nvGraphicFramePr>
        <p:xfrm>
          <a:off x="5226281" y="4454415"/>
          <a:ext cx="36004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r>
                        <a:rPr lang="zh-CN" altLang="en-US" dirty="0"/>
                        <a:t>及其邻居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234395" y="6110599"/>
            <a:ext cx="1368152" cy="39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71487" lvl="1" indent="0" eaLnBrk="1" hangingPunct="1">
              <a:buNone/>
            </a:pPr>
            <a:r>
              <a:rPr lang="en-US" altLang="zh-CN" sz="2000" b="1" kern="0" dirty="0"/>
              <a:t>(4)</a:t>
            </a:r>
            <a:endParaRPr lang="zh-CN" altLang="en-US" sz="2000" b="1" kern="0" dirty="0"/>
          </a:p>
        </p:txBody>
      </p:sp>
    </p:spTree>
    <p:extLst>
      <p:ext uri="{BB962C8B-B14F-4D97-AF65-F5344CB8AC3E}">
        <p14:creationId xmlns:p14="http://schemas.microsoft.com/office/powerpoint/2010/main" val="343968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r>
              <a:rPr lang="zh-CN" altLang="en-US" b="1" dirty="0"/>
              <a:t>第五章</a:t>
            </a:r>
            <a:r>
              <a:rPr lang="en-US" altLang="zh-CN" b="1" dirty="0"/>
              <a:t>-</a:t>
            </a:r>
            <a:r>
              <a:rPr lang="zh-CN" altLang="en-US" b="1" dirty="0"/>
              <a:t>网络层</a:t>
            </a:r>
            <a:r>
              <a:rPr lang="en-US" altLang="zh-CN" b="1" dirty="0"/>
              <a:t>:</a:t>
            </a:r>
            <a:r>
              <a:rPr lang="zh-CN" altLang="en-US" b="1" dirty="0"/>
              <a:t>控制平面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439150" cy="4713312"/>
          </a:xfrm>
        </p:spPr>
        <p:txBody>
          <a:bodyPr/>
          <a:lstStyle/>
          <a:p>
            <a:pPr lvl="1" eaLnBrk="1" hangingPunct="1"/>
            <a:r>
              <a:rPr lang="en-US" altLang="zh-CN" b="1"/>
              <a:t>P289</a:t>
            </a:r>
            <a:r>
              <a:rPr lang="en-US" altLang="zh-CN" b="1" dirty="0"/>
              <a:t>, P7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zh-CN" dirty="0"/>
              <a:t>x</a:t>
            </a:r>
            <a:r>
              <a:rPr lang="zh-CN" altLang="en-US" dirty="0"/>
              <a:t>对目的地</a:t>
            </a:r>
            <a:r>
              <a:rPr lang="en-US" altLang="zh-CN" dirty="0"/>
              <a:t>w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u</a:t>
            </a:r>
            <a:r>
              <a:rPr lang="zh-CN" altLang="en-US" dirty="0"/>
              <a:t>的距离分别为：</a:t>
            </a:r>
            <a:endParaRPr lang="en-US" altLang="zh-CN" dirty="0"/>
          </a:p>
          <a:p>
            <a:pPr marL="909637" lvl="2" indent="0" eaLnBrk="1" hangingPunct="1">
              <a:spcBef>
                <a:spcPts val="400"/>
              </a:spcBef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x</a:t>
            </a:r>
            <a:r>
              <a:rPr lang="en-US" altLang="zh-CN" dirty="0"/>
              <a:t>(w) = 2,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x</a:t>
            </a:r>
            <a:r>
              <a:rPr lang="en-US" altLang="zh-CN" dirty="0"/>
              <a:t>(y) = 4, 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x</a:t>
            </a:r>
            <a:r>
              <a:rPr lang="en-US" altLang="zh-CN" dirty="0"/>
              <a:t>(u) = 7</a:t>
            </a:r>
          </a:p>
          <a:p>
            <a:pPr lvl="2" eaLnBrk="1" hangingPunct="1">
              <a:spcBef>
                <a:spcPts val="400"/>
              </a:spcBef>
            </a:pPr>
            <a:r>
              <a:rPr lang="zh-CN" altLang="en-US" dirty="0"/>
              <a:t>之前，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u</a:t>
            </a:r>
            <a:r>
              <a:rPr lang="zh-CN" altLang="en-US" dirty="0"/>
              <a:t>的最短路径为</a:t>
            </a:r>
            <a:r>
              <a:rPr lang="en-US" altLang="zh-CN" dirty="0"/>
              <a:t>x-w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∙∙∙∙∙u,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开销为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lvl="3" eaLnBrk="1" hangingPunct="1">
              <a:spcBef>
                <a:spcPts val="4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当只有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变化：只要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)&gt;1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cs typeface="Times New Roman" panose="02020603050405020304" pitchFamily="18" charset="0"/>
              </a:rPr>
              <a:t>u</a:t>
            </a:r>
            <a:r>
              <a:rPr lang="zh-CN" altLang="en-US" dirty="0">
                <a:cs typeface="Times New Roman" panose="02020603050405020304" pitchFamily="18" charset="0"/>
              </a:rPr>
              <a:t>的最短路径不会发生变化。此时，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不向邻居公告新的距离向量。如果</a:t>
            </a:r>
            <a:r>
              <a:rPr lang="en-US" altLang="zh-CN" dirty="0">
                <a:cs typeface="Times New Roman" panose="02020603050405020304" pitchFamily="18" charset="0"/>
              </a:rPr>
              <a:t>c(</a:t>
            </a:r>
            <a:r>
              <a:rPr lang="en-US" altLang="zh-CN" dirty="0" err="1"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cs typeface="Times New Roman" panose="02020603050405020304" pitchFamily="18" charset="0"/>
              </a:rPr>
              <a:t>)&lt;1</a:t>
            </a:r>
            <a:r>
              <a:rPr lang="zh-CN" altLang="en-US" dirty="0">
                <a:cs typeface="Times New Roman" panose="02020603050405020304" pitchFamily="18" charset="0"/>
              </a:rPr>
              <a:t>，则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经由</a:t>
            </a:r>
            <a:r>
              <a:rPr lang="en-US" altLang="zh-CN" dirty="0">
                <a:cs typeface="Times New Roman" panose="02020603050405020304" pitchFamily="18" charset="0"/>
              </a:rPr>
              <a:t>y</a:t>
            </a:r>
            <a:r>
              <a:rPr lang="zh-CN" altLang="en-US" dirty="0"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cs typeface="Times New Roman" panose="02020603050405020304" pitchFamily="18" charset="0"/>
              </a:rPr>
              <a:t>u</a:t>
            </a:r>
            <a:r>
              <a:rPr lang="zh-CN" altLang="en-US" dirty="0">
                <a:cs typeface="Times New Roman" panose="02020603050405020304" pitchFamily="18" charset="0"/>
              </a:rPr>
              <a:t>的路径成为最短路径，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向邻居公告到</a:t>
            </a:r>
            <a:r>
              <a:rPr lang="en-US" altLang="zh-CN" dirty="0">
                <a:cs typeface="Times New Roman" panose="02020603050405020304" pitchFamily="18" charset="0"/>
              </a:rPr>
              <a:t>u</a:t>
            </a:r>
            <a:r>
              <a:rPr lang="zh-CN" altLang="en-US" dirty="0">
                <a:cs typeface="Times New Roman" panose="02020603050405020304" pitchFamily="18" charset="0"/>
              </a:rPr>
              <a:t>的新路径及开销。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3">
              <a:spcBef>
                <a:spcPts val="4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当只有</a:t>
            </a:r>
            <a:r>
              <a:rPr lang="en-US" altLang="zh-CN" dirty="0">
                <a:cs typeface="Times New Roman" panose="02020603050405020304" pitchFamily="18" charset="0"/>
              </a:rPr>
              <a:t>c(</a:t>
            </a:r>
            <a:r>
              <a:rPr lang="en-US" altLang="zh-CN" dirty="0" err="1">
                <a:cs typeface="Times New Roman" panose="02020603050405020304" pitchFamily="18" charset="0"/>
              </a:rPr>
              <a:t>x,w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zh-CN" altLang="en-US" dirty="0">
                <a:cs typeface="Times New Roman" panose="02020603050405020304" pitchFamily="18" charset="0"/>
              </a:rPr>
              <a:t>变化：只要</a:t>
            </a:r>
            <a:r>
              <a:rPr lang="en-US" altLang="zh-CN" dirty="0"/>
              <a:t> c(</a:t>
            </a:r>
            <a:r>
              <a:rPr lang="en-US" altLang="zh-CN" dirty="0" err="1"/>
              <a:t>x,w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dirty="0"/>
              <a:t>6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cs typeface="Times New Roman" panose="02020603050405020304" pitchFamily="18" charset="0"/>
              </a:rPr>
              <a:t>u</a:t>
            </a:r>
            <a:r>
              <a:rPr lang="zh-CN" altLang="en-US" dirty="0">
                <a:cs typeface="Times New Roman" panose="02020603050405020304" pitchFamily="18" charset="0"/>
              </a:rPr>
              <a:t>的最短路径不会发生变化，但路径开销有变化。此时</a:t>
            </a:r>
            <a:r>
              <a:rPr lang="en-US" altLang="zh-CN" dirty="0">
                <a:cs typeface="Times New Roman" panose="02020603050405020304" pitchFamily="18" charset="0"/>
              </a:rPr>
              <a:t>x</a:t>
            </a:r>
            <a:r>
              <a:rPr lang="zh-CN" altLang="en-US" dirty="0">
                <a:cs typeface="Times New Roman" panose="02020603050405020304" pitchFamily="18" charset="0"/>
              </a:rPr>
              <a:t>向邻居发送新的距离路径开销。如果</a:t>
            </a:r>
            <a:r>
              <a:rPr lang="en-US" altLang="zh-CN" dirty="0"/>
              <a:t>c(</a:t>
            </a:r>
            <a:r>
              <a:rPr lang="en-US" altLang="zh-CN" dirty="0" err="1"/>
              <a:t>x,w</a:t>
            </a:r>
            <a:r>
              <a:rPr lang="en-US" altLang="zh-CN" dirty="0"/>
              <a:t>) &gt; 6, x</a:t>
            </a:r>
            <a:r>
              <a:rPr lang="zh-CN" altLang="en-US" dirty="0"/>
              <a:t>到</a:t>
            </a:r>
            <a:r>
              <a:rPr lang="en-US" altLang="zh-CN" dirty="0"/>
              <a:t>u</a:t>
            </a:r>
            <a:r>
              <a:rPr lang="zh-CN" altLang="en-US" dirty="0"/>
              <a:t>的最短路径发生变化，</a:t>
            </a:r>
            <a:r>
              <a:rPr lang="en-US" altLang="zh-CN" dirty="0"/>
              <a:t>x</a:t>
            </a:r>
            <a:r>
              <a:rPr lang="zh-CN" altLang="en-US" dirty="0"/>
              <a:t>向邻居公告到</a:t>
            </a:r>
            <a:r>
              <a:rPr lang="en-US" altLang="zh-CN" dirty="0"/>
              <a:t>u</a:t>
            </a:r>
            <a:r>
              <a:rPr lang="zh-CN" altLang="en-US" dirty="0"/>
              <a:t>的新路径及其开销</a:t>
            </a:r>
            <a:r>
              <a:rPr lang="en-US" altLang="zh-CN" dirty="0"/>
              <a:t>. </a:t>
            </a:r>
          </a:p>
          <a:p>
            <a:pPr lvl="2">
              <a:spcBef>
                <a:spcPts val="400"/>
              </a:spcBef>
            </a:pPr>
            <a:r>
              <a:rPr lang="zh-CN" altLang="en-US" dirty="0"/>
              <a:t>只要</a:t>
            </a:r>
            <a:r>
              <a:rPr lang="en-US" altLang="zh-CN" dirty="0"/>
              <a:t>c(</a:t>
            </a:r>
            <a:r>
              <a:rPr lang="en-US" altLang="zh-CN" dirty="0" err="1"/>
              <a:t>x,y</a:t>
            </a:r>
            <a:r>
              <a:rPr lang="en-US" altLang="zh-CN" dirty="0"/>
              <a:t>)&gt;1, </a:t>
            </a:r>
            <a:r>
              <a:rPr lang="zh-CN" altLang="en-US" dirty="0"/>
              <a:t>不会导致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u</a:t>
            </a:r>
            <a:r>
              <a:rPr lang="zh-CN" altLang="en-US" dirty="0"/>
              <a:t>最短路径开销的变化，</a:t>
            </a:r>
            <a:r>
              <a:rPr lang="en-US" altLang="zh-CN" dirty="0"/>
              <a:t>x</a:t>
            </a:r>
            <a:r>
              <a:rPr lang="zh-CN" altLang="en-US" dirty="0"/>
              <a:t>也就不会向邻居公告新距离向量</a:t>
            </a:r>
            <a:r>
              <a:rPr lang="en-US" altLang="zh-CN" dirty="0"/>
              <a:t>. </a:t>
            </a:r>
            <a:endParaRPr lang="zh-CN" altLang="zh-CN" b="1" dirty="0"/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6888627"/>
      </p:ext>
    </p:extLst>
  </p:cSld>
  <p:clrMapOvr>
    <a:masterClrMapping/>
  </p:clrMapOvr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chemeClr val="tx1"/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2956</TotalTime>
  <Words>416</Words>
  <Application>Microsoft Office PowerPoint</Application>
  <PresentationFormat>全屏显示(4:3)</PresentationFormat>
  <Paragraphs>117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楷体_GB2312</vt:lpstr>
      <vt:lpstr>宋体</vt:lpstr>
      <vt:lpstr>Arial</vt:lpstr>
      <vt:lpstr>Symbol</vt:lpstr>
      <vt:lpstr>Times New Roman</vt:lpstr>
      <vt:lpstr>Wingdings</vt:lpstr>
      <vt:lpstr>Quadrant</vt:lpstr>
      <vt:lpstr>自定义设计方案</vt:lpstr>
      <vt:lpstr>习题解答</vt:lpstr>
      <vt:lpstr>第五章-网络层:控制平面</vt:lpstr>
      <vt:lpstr>第五章-网络层:控制平面</vt:lpstr>
      <vt:lpstr>第五章-网络层:控制平面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solutions</dc:title>
  <dc:creator>Longbow</dc:creator>
  <cp:lastModifiedBy>zxm_sdjzu</cp:lastModifiedBy>
  <cp:revision>263</cp:revision>
  <dcterms:created xsi:type="dcterms:W3CDTF">2006-10-17T14:32:09Z</dcterms:created>
  <dcterms:modified xsi:type="dcterms:W3CDTF">2023-06-26T00:49:58Z</dcterms:modified>
</cp:coreProperties>
</file>