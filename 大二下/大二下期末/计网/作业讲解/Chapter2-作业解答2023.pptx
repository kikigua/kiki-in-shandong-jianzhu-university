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notesMasterIdLst>
    <p:notesMasterId r:id="rId15"/>
  </p:notesMasterIdLst>
  <p:sldIdLst>
    <p:sldId id="267" r:id="rId3"/>
    <p:sldId id="276" r:id="rId4"/>
    <p:sldId id="277" r:id="rId5"/>
    <p:sldId id="278" r:id="rId6"/>
    <p:sldId id="279" r:id="rId7"/>
    <p:sldId id="284" r:id="rId8"/>
    <p:sldId id="286" r:id="rId9"/>
    <p:sldId id="280" r:id="rId10"/>
    <p:sldId id="281" r:id="rId11"/>
    <p:sldId id="282" r:id="rId12"/>
    <p:sldId id="283" r:id="rId13"/>
    <p:sldId id="285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61" autoAdjust="0"/>
  </p:normalViewPr>
  <p:slideViewPr>
    <p:cSldViewPr>
      <p:cViewPr varScale="1">
        <p:scale>
          <a:sx n="62" d="100"/>
          <a:sy n="62" d="100"/>
        </p:scale>
        <p:origin x="14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122B-21DD-4D9C-838D-B8BD62AD7031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0FBF0-F277-4107-8364-D8445895C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335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18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进一步假定与链接相关的</a:t>
            </a:r>
            <a:r>
              <a:rPr lang="en-US" altLang="zh-CN" dirty="0"/>
              <a:t>Web</a:t>
            </a:r>
            <a:r>
              <a:rPr lang="zh-CN" altLang="en-US" dirty="0"/>
              <a:t>页面的</a:t>
            </a:r>
            <a:r>
              <a:rPr lang="en-US" altLang="zh-CN" dirty="0"/>
              <a:t>HTML</a:t>
            </a:r>
            <a:r>
              <a:rPr lang="zh-CN" altLang="en-US" dirty="0"/>
              <a:t>文件和其所引用的对象一共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4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7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300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062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477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823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616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05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43344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359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784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2964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99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5731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05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331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40692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286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64801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64801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9468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FFA7D7ED-C484-4C51-9295-DEDF63282964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A0503BD-BFD0-47F7-A9C6-078611043A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231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4C6F2827-C11F-44C9-AC0C-E3868344A030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021AA-F9C6-467B-8D44-6B5E8A42A8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921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EEAEFB33-8D17-455F-A69B-A74D77E9592C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7B6DCF2-AEB8-4E7D-BAAD-B5FBE8755D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93B420D7-0B38-4CC5-8BD6-D8BF582B41BB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42BF2CB-7D35-4E50-8A72-23E9A0DF91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460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D5E31D14-5AA4-4A81-AA05-478444022A76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09727D4-E285-40E5-9EDC-64FA73549D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840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718D471A-7021-4707-BA85-F59D859E555A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83DECAD-94DA-46E6-BF71-784B21775E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73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00C0DFBE-03BA-4B54-9CD9-DF824EFC12A2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323B0DA-513D-47B4-B4B3-1C9CDF648C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436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D058E089-324D-4AE1-8D98-85795038FBA6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C880D58-B382-424F-B10C-19BEA2FC45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240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00AFE5A7-CBFC-42C9-8CAF-F42AB36CF24D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518A6B3-669E-4DAB-A984-1931706DAA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982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D87452A4-0B07-41FE-A6CE-10A6C7BCCEB2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CA7BDE4-89C2-471C-A4FC-34D272B22B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348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8C7C0AB8-62E6-46D8-B8FF-F7DB4EC39968}" type="datetimeFigureOut">
              <a:rPr lang="zh-CN" altLang="en-US"/>
              <a:pPr>
                <a:defRPr/>
              </a:pPr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C1E9D67-C28A-4483-8141-C09A6ED4F6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第三章：传输层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4800"/>
            <a:ext cx="8229600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Line 13"/>
          <p:cNvSpPr>
            <a:spLocks noChangeShapeType="1"/>
          </p:cNvSpPr>
          <p:nvPr userDrawn="1"/>
        </p:nvSpPr>
        <p:spPr bwMode="auto">
          <a:xfrm>
            <a:off x="0" y="1412875"/>
            <a:ext cx="91440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o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377950" indent="-4683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827213" indent="-4381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297113" indent="-4683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5pPr>
      <a:lvl6pPr marL="27543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6pPr>
      <a:lvl7pPr marL="32115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7pPr>
      <a:lvl8pPr marL="36687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8pPr>
      <a:lvl9pPr marL="41259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.bin"/><Relationship Id="rId4" Type="http://schemas.openxmlformats.org/officeDocument/2006/relationships/hyperlink" Target="http://gaia.cs.umass.edu/wireshark-labs/HTTP-wireshark-file3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11188" y="1412875"/>
            <a:ext cx="7772400" cy="410368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1200"/>
              </a:spcBef>
              <a:spcAft>
                <a:spcPts val="1200"/>
              </a:spcAft>
              <a:defRPr/>
            </a:pPr>
            <a:r>
              <a:rPr lang="zh-CN" altLang="en-US" sz="8800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习题解答</a:t>
            </a:r>
            <a:br>
              <a:rPr lang="zh-CN" altLang="en-US" sz="8800" dirty="0"/>
            </a:br>
            <a:r>
              <a:rPr lang="zh-CN" alt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第二章 应用层</a:t>
            </a:r>
            <a:br>
              <a:rPr lang="en-US" altLang="zh-C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14800" y="297469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补充</a:t>
            </a:r>
            <a:r>
              <a:rPr lang="en-US" altLang="zh-CN" kern="0" dirty="0"/>
              <a:t>1</a:t>
            </a:r>
            <a:r>
              <a:rPr lang="zh-CN" altLang="en-US" kern="0" dirty="0"/>
              <a:t>：假定你在浏览器中点击一个超链接获得</a:t>
            </a:r>
            <a:r>
              <a:rPr lang="en-US" altLang="zh-CN" kern="0" dirty="0"/>
              <a:t>Web</a:t>
            </a:r>
            <a:r>
              <a:rPr lang="zh-CN" altLang="en-US" kern="0" dirty="0"/>
              <a:t>页面。假定相关的</a:t>
            </a:r>
            <a:r>
              <a:rPr lang="en-US" altLang="zh-CN" kern="0" dirty="0"/>
              <a:t>URL</a:t>
            </a:r>
            <a:r>
              <a:rPr lang="zh-CN" altLang="en-US" kern="0" dirty="0"/>
              <a:t>的</a:t>
            </a:r>
            <a:r>
              <a:rPr lang="en-US" altLang="zh-CN" kern="0" dirty="0"/>
              <a:t>IP</a:t>
            </a:r>
            <a:r>
              <a:rPr lang="zh-CN" altLang="en-US" kern="0" dirty="0"/>
              <a:t>地址已经缓存在本地主机上，因此不需要进行</a:t>
            </a:r>
            <a:r>
              <a:rPr lang="en-US" altLang="zh-CN" kern="0" dirty="0"/>
              <a:t>DNS</a:t>
            </a:r>
            <a:r>
              <a:rPr lang="zh-CN" altLang="en-US" kern="0" dirty="0"/>
              <a:t>查询。假定与链接相关的</a:t>
            </a:r>
            <a:r>
              <a:rPr lang="en-US" altLang="zh-CN" kern="0" dirty="0"/>
              <a:t>Web</a:t>
            </a:r>
            <a:r>
              <a:rPr lang="zh-CN" altLang="en-US" kern="0" dirty="0"/>
              <a:t>页面的</a:t>
            </a:r>
            <a:r>
              <a:rPr lang="en-US" altLang="zh-CN" kern="0" dirty="0"/>
              <a:t>HTML</a:t>
            </a:r>
            <a:r>
              <a:rPr lang="zh-CN" altLang="en-US" kern="0" dirty="0"/>
              <a:t>文件又引用了它所在服务器上的</a:t>
            </a:r>
            <a:r>
              <a:rPr lang="en-US" altLang="zh-CN" kern="0" dirty="0"/>
              <a:t>7</a:t>
            </a:r>
            <a:r>
              <a:rPr lang="zh-CN" altLang="en-US" kern="0" dirty="0"/>
              <a:t>个非常小的对象。令</a:t>
            </a:r>
            <a:r>
              <a:rPr lang="en-US" altLang="zh-CN" kern="0" dirty="0"/>
              <a:t>RTT0</a:t>
            </a:r>
            <a:r>
              <a:rPr lang="zh-CN" altLang="en-US" kern="0" dirty="0"/>
              <a:t>表示本地主机和包含对象的服务器之间的</a:t>
            </a:r>
            <a:r>
              <a:rPr lang="en-US" altLang="zh-CN" kern="0" dirty="0"/>
              <a:t>RTT</a:t>
            </a:r>
            <a:r>
              <a:rPr lang="zh-CN" altLang="en-US" kern="0" dirty="0"/>
              <a:t>值。假定</a:t>
            </a:r>
            <a:r>
              <a:rPr lang="en-US" altLang="zh-CN" kern="0" dirty="0"/>
              <a:t>HTML</a:t>
            </a:r>
            <a:r>
              <a:rPr lang="zh-CN" altLang="en-US" kern="0" dirty="0"/>
              <a:t>文件及所有对象传输时间为</a:t>
            </a:r>
            <a:r>
              <a:rPr lang="en-US" altLang="zh-CN" kern="0" dirty="0"/>
              <a:t>0</a:t>
            </a:r>
            <a:r>
              <a:rPr lang="zh-CN" altLang="en-US" kern="0" dirty="0"/>
              <a:t>，在下列情况下，从客户机点击该超链接到它接收到所有引用的对象需要多少时间？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（</a:t>
            </a:r>
            <a:r>
              <a:rPr lang="en-US" altLang="zh-CN" kern="0" dirty="0"/>
              <a:t>1</a:t>
            </a:r>
            <a:r>
              <a:rPr lang="zh-CN" altLang="en-US" kern="0" dirty="0"/>
              <a:t>）配有</a:t>
            </a:r>
            <a:r>
              <a:rPr lang="en-US" altLang="zh-CN" kern="0" dirty="0"/>
              <a:t>4</a:t>
            </a:r>
            <a:r>
              <a:rPr lang="zh-CN" altLang="en-US" kern="0" dirty="0"/>
              <a:t>个并行</a:t>
            </a:r>
            <a:r>
              <a:rPr lang="en-US" altLang="zh-CN" kern="0" dirty="0"/>
              <a:t>TCP</a:t>
            </a:r>
            <a:r>
              <a:rPr lang="zh-CN" altLang="en-US" kern="0" dirty="0"/>
              <a:t>连接的非持续</a:t>
            </a:r>
            <a:r>
              <a:rPr lang="en-US" altLang="zh-CN" kern="0" dirty="0"/>
              <a:t>HTTP</a:t>
            </a:r>
            <a:r>
              <a:rPr lang="zh-CN" altLang="en-US" kern="0" dirty="0"/>
              <a:t>。（</a:t>
            </a:r>
            <a:r>
              <a:rPr lang="en-US" altLang="zh-CN" kern="0" dirty="0"/>
              <a:t>6RTT0</a:t>
            </a:r>
            <a:r>
              <a:rPr lang="zh-CN" altLang="en-US" kern="0" dirty="0"/>
              <a:t>）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（</a:t>
            </a:r>
            <a:r>
              <a:rPr lang="en-US" altLang="zh-CN" kern="0" dirty="0"/>
              <a:t>2</a:t>
            </a:r>
            <a:r>
              <a:rPr lang="zh-CN" altLang="en-US" kern="0" dirty="0"/>
              <a:t>）串行</a:t>
            </a:r>
            <a:r>
              <a:rPr lang="en-US" altLang="zh-CN" kern="0" dirty="0"/>
              <a:t>TCP</a:t>
            </a:r>
            <a:r>
              <a:rPr lang="zh-CN" altLang="en-US" kern="0" dirty="0"/>
              <a:t>连接的非持续</a:t>
            </a:r>
            <a:r>
              <a:rPr lang="en-US" altLang="zh-CN" kern="0" dirty="0"/>
              <a:t>HTTP</a:t>
            </a:r>
            <a:r>
              <a:rPr lang="zh-CN" altLang="en-US" kern="0" dirty="0"/>
              <a:t>。               （</a:t>
            </a:r>
            <a:r>
              <a:rPr lang="en-US" altLang="zh-CN" kern="0" dirty="0"/>
              <a:t>16RTT0</a:t>
            </a:r>
            <a:r>
              <a:rPr lang="zh-CN" altLang="en-US" kern="0" dirty="0"/>
              <a:t>）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（</a:t>
            </a:r>
            <a:r>
              <a:rPr lang="en-US" altLang="zh-CN" kern="0" dirty="0"/>
              <a:t>3</a:t>
            </a:r>
            <a:r>
              <a:rPr lang="zh-CN" altLang="en-US" kern="0" dirty="0"/>
              <a:t>）流水的持续</a:t>
            </a:r>
            <a:r>
              <a:rPr lang="en-US" altLang="zh-CN" kern="0" dirty="0"/>
              <a:t>HTTP</a:t>
            </a:r>
            <a:r>
              <a:rPr lang="zh-CN" altLang="en-US" kern="0" dirty="0"/>
              <a:t>。                                   （</a:t>
            </a:r>
            <a:r>
              <a:rPr lang="en-US" altLang="zh-CN" kern="0" dirty="0"/>
              <a:t>3RTT0</a:t>
            </a:r>
            <a:r>
              <a:rPr lang="zh-CN" altLang="en-US" kern="0" dirty="0"/>
              <a:t>）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（</a:t>
            </a:r>
            <a:r>
              <a:rPr lang="en-US" altLang="zh-CN" kern="0" dirty="0"/>
              <a:t>3</a:t>
            </a:r>
            <a:r>
              <a:rPr lang="zh-CN" altLang="en-US" kern="0" dirty="0"/>
              <a:t>）非流水的持续</a:t>
            </a:r>
            <a:r>
              <a:rPr lang="en-US" altLang="zh-CN" kern="0" dirty="0"/>
              <a:t>HTTP</a:t>
            </a:r>
            <a:r>
              <a:rPr lang="zh-CN" altLang="en-US" kern="0" dirty="0"/>
              <a:t>。                                （</a:t>
            </a:r>
            <a:r>
              <a:rPr lang="en-US" altLang="zh-CN" kern="0" dirty="0"/>
              <a:t>9RTT0</a:t>
            </a:r>
            <a:r>
              <a:rPr lang="zh-CN" altLang="en-US" kern="0" dirty="0"/>
              <a:t>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800"/>
            <a:ext cx="91440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习题</a:t>
            </a:r>
            <a:r>
              <a:rPr lang="en-US" altLang="zh-CN" kern="0" dirty="0"/>
              <a:t>P.4</a:t>
            </a:r>
            <a:r>
              <a:rPr lang="zh-CN" altLang="en-US" kern="0" dirty="0"/>
              <a:t>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a)	</a:t>
            </a:r>
            <a:r>
              <a:rPr lang="zh-CN" altLang="en-US" kern="0" dirty="0"/>
              <a:t>浏览器请求文档的完整</a:t>
            </a:r>
            <a:r>
              <a:rPr lang="en-US" altLang="zh-CN" kern="0" dirty="0"/>
              <a:t>URL</a:t>
            </a:r>
            <a:r>
              <a:rPr lang="zh-CN" altLang="en-US" kern="0" dirty="0"/>
              <a:t>为</a:t>
            </a:r>
            <a:r>
              <a:rPr lang="en-US" altLang="zh-CN" kern="0" dirty="0"/>
              <a:t>: http://gaia.cs.umass.edu/cs453/index.html</a:t>
            </a:r>
            <a:r>
              <a:rPr lang="zh-CN" altLang="en-US" kern="0" dirty="0"/>
              <a:t>，这需要综合请求行</a:t>
            </a:r>
            <a:r>
              <a:rPr lang="en-US" altLang="zh-CN" kern="0" dirty="0"/>
              <a:t>(request line)</a:t>
            </a:r>
            <a:r>
              <a:rPr lang="zh-CN" altLang="en-US" kern="0" dirty="0"/>
              <a:t>的</a:t>
            </a:r>
            <a:r>
              <a:rPr lang="en-US" altLang="zh-CN" kern="0" dirty="0"/>
              <a:t>URL</a:t>
            </a:r>
            <a:r>
              <a:rPr lang="zh-CN" altLang="en-US" kern="0" dirty="0"/>
              <a:t>字段和</a:t>
            </a:r>
            <a:r>
              <a:rPr lang="en-US" altLang="zh-CN" kern="0" dirty="0"/>
              <a:t>Host:</a:t>
            </a:r>
            <a:r>
              <a:rPr lang="zh-CN" altLang="en-US" kern="0" dirty="0"/>
              <a:t>头部行的值。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b)	</a:t>
            </a:r>
            <a:r>
              <a:rPr lang="zh-CN" altLang="en-US" kern="0" dirty="0"/>
              <a:t>浏览器运行的</a:t>
            </a:r>
            <a:r>
              <a:rPr lang="en-US" altLang="zh-CN" kern="0" dirty="0"/>
              <a:t>HTTP</a:t>
            </a:r>
            <a:r>
              <a:rPr lang="zh-CN" altLang="en-US" kern="0" dirty="0"/>
              <a:t>版本为</a:t>
            </a:r>
            <a:r>
              <a:rPr lang="en-US" altLang="zh-CN" kern="0" dirty="0"/>
              <a:t>HTTP 1.1</a:t>
            </a:r>
            <a:r>
              <a:rPr lang="zh-CN" altLang="en-US" kern="0" dirty="0"/>
              <a:t>，请求行的第三个字段为</a:t>
            </a:r>
            <a:r>
              <a:rPr lang="en-US" altLang="zh-CN" kern="0" dirty="0"/>
              <a:t>HTTP</a:t>
            </a:r>
            <a:r>
              <a:rPr lang="zh-CN" altLang="en-US" kern="0" dirty="0"/>
              <a:t>版本号。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c)	</a:t>
            </a:r>
            <a:r>
              <a:rPr lang="zh-CN" altLang="en-US" kern="0" dirty="0"/>
              <a:t>浏览器希望使用持续连接，</a:t>
            </a:r>
            <a:r>
              <a:rPr lang="en-US" altLang="zh-CN" kern="0" dirty="0"/>
              <a:t>Connection: keep-alive:300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并且，希望服务器保持连接</a:t>
            </a:r>
            <a:r>
              <a:rPr lang="en-US" altLang="zh-CN" kern="0" dirty="0"/>
              <a:t>300</a:t>
            </a:r>
            <a:r>
              <a:rPr lang="zh-CN" altLang="en-US" kern="0" dirty="0"/>
              <a:t>秒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d)	HTTP</a:t>
            </a:r>
            <a:r>
              <a:rPr lang="zh-CN" altLang="en-US" kern="0" dirty="0"/>
              <a:t>请求消息中没有包含客户机的</a:t>
            </a:r>
            <a:r>
              <a:rPr lang="en-US" altLang="zh-CN" kern="0" dirty="0"/>
              <a:t>IP</a:t>
            </a:r>
            <a:r>
              <a:rPr lang="zh-CN" altLang="en-US" kern="0" dirty="0"/>
              <a:t>地址信息。因此，仅根据该</a:t>
            </a:r>
            <a:r>
              <a:rPr lang="en-US" altLang="zh-CN" kern="0" dirty="0"/>
              <a:t>HTTP</a:t>
            </a:r>
            <a:r>
              <a:rPr lang="zh-CN" altLang="en-US" kern="0" dirty="0"/>
              <a:t>请求消息，无从获知客户机的</a:t>
            </a:r>
            <a:r>
              <a:rPr lang="en-US" altLang="zh-CN" kern="0" dirty="0"/>
              <a:t>IP</a:t>
            </a:r>
            <a:r>
              <a:rPr lang="zh-CN" altLang="en-US" kern="0" dirty="0"/>
              <a:t>地址。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e)	</a:t>
            </a:r>
            <a:r>
              <a:rPr lang="zh-CN" altLang="en-US" kern="0" dirty="0"/>
              <a:t>从</a:t>
            </a:r>
            <a:r>
              <a:rPr lang="en-US" altLang="zh-CN" kern="0" dirty="0"/>
              <a:t>User-Agent: Mozilla/5.0</a:t>
            </a:r>
            <a:r>
              <a:rPr lang="zh-CN" altLang="en-US" kern="0" dirty="0"/>
              <a:t>头部行可知，浏览器的类型为</a:t>
            </a:r>
            <a:r>
              <a:rPr lang="en-US" altLang="zh-CN" kern="0" dirty="0"/>
              <a:t>Mozilla/5.0</a:t>
            </a:r>
            <a:r>
              <a:rPr lang="zh-CN" altLang="en-US" kern="0" dirty="0"/>
              <a:t>。现实环境中，不同类型的浏览器有稍许不同。在</a:t>
            </a:r>
            <a:r>
              <a:rPr lang="en-US" altLang="zh-CN" kern="0" dirty="0"/>
              <a:t>Request</a:t>
            </a:r>
            <a:r>
              <a:rPr lang="zh-CN" altLang="en-US" kern="0" dirty="0"/>
              <a:t>消息中携带客户端浏览器类型信息，便于服务器根据客户浏览器类型的不同发送同一对象的不同版本。</a:t>
            </a:r>
          </a:p>
          <a:p>
            <a:pPr marL="471487" lvl="1" indent="0" eaLnBrk="1" hangingPunct="1">
              <a:buNone/>
              <a:defRPr/>
            </a:pP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63491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习题</a:t>
            </a:r>
            <a:r>
              <a:rPr lang="en-US" altLang="zh-CN" kern="0" dirty="0"/>
              <a:t>P.5</a:t>
            </a:r>
            <a:r>
              <a:rPr lang="zh-CN" altLang="en-US" kern="0" dirty="0"/>
              <a:t>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a)	</a:t>
            </a:r>
            <a:r>
              <a:rPr lang="zh-CN" altLang="en-US" kern="0" dirty="0"/>
              <a:t>响应消息状态行的“</a:t>
            </a:r>
            <a:r>
              <a:rPr lang="en-US" altLang="zh-CN" kern="0" dirty="0"/>
              <a:t>200 OK”</a:t>
            </a:r>
            <a:r>
              <a:rPr lang="zh-CN" altLang="en-US" kern="0" dirty="0"/>
              <a:t>，说明服务器已经成功找到客户请求的对象。从</a:t>
            </a:r>
            <a:r>
              <a:rPr lang="en-US" altLang="zh-CN" kern="0" dirty="0"/>
              <a:t>Date</a:t>
            </a:r>
            <a:r>
              <a:rPr lang="zh-CN" altLang="en-US" kern="0" dirty="0"/>
              <a:t>头部行可知，服务器在“</a:t>
            </a:r>
            <a:r>
              <a:rPr lang="en-US" altLang="zh-CN" kern="0" dirty="0"/>
              <a:t>Tue,07 Mar 2008……”</a:t>
            </a:r>
            <a:r>
              <a:rPr lang="zh-CN" altLang="en-US" kern="0" dirty="0"/>
              <a:t>时创建了该响应消息。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b)	</a:t>
            </a:r>
            <a:r>
              <a:rPr lang="zh-CN" altLang="en-US" kern="0" dirty="0"/>
              <a:t>对象的最后修改时间为“ </a:t>
            </a:r>
            <a:r>
              <a:rPr lang="en-US" altLang="zh-CN" kern="0" dirty="0"/>
              <a:t>Sat,10 Dec 2005……”</a:t>
            </a:r>
            <a:r>
              <a:rPr lang="zh-CN" altLang="en-US" kern="0" dirty="0"/>
              <a:t>，这可以从</a:t>
            </a:r>
            <a:r>
              <a:rPr lang="en-US" altLang="zh-CN" kern="0" dirty="0"/>
              <a:t>Last-Modified</a:t>
            </a:r>
            <a:r>
              <a:rPr lang="zh-CN" altLang="en-US" kern="0" dirty="0"/>
              <a:t>头部行获得。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c)	</a:t>
            </a:r>
            <a:r>
              <a:rPr lang="zh-CN" altLang="en-US" kern="0" dirty="0"/>
              <a:t>从</a:t>
            </a:r>
            <a:r>
              <a:rPr lang="en-US" altLang="zh-CN" kern="0" dirty="0"/>
              <a:t>Content-Length</a:t>
            </a:r>
            <a:r>
              <a:rPr lang="zh-CN" altLang="en-US" kern="0" dirty="0"/>
              <a:t>头部行可知，对象</a:t>
            </a:r>
            <a:r>
              <a:rPr lang="en-US" altLang="zh-CN" kern="0" dirty="0"/>
              <a:t>(HTML</a:t>
            </a:r>
            <a:r>
              <a:rPr lang="zh-CN" altLang="en-US" kern="0" dirty="0"/>
              <a:t>文档</a:t>
            </a:r>
            <a:r>
              <a:rPr lang="en-US" altLang="zh-CN" kern="0" dirty="0"/>
              <a:t>)</a:t>
            </a:r>
            <a:r>
              <a:rPr lang="zh-CN" altLang="en-US" kern="0" dirty="0"/>
              <a:t>的长度为</a:t>
            </a:r>
            <a:r>
              <a:rPr lang="en-US" altLang="zh-CN" kern="0" dirty="0"/>
              <a:t>3874</a:t>
            </a:r>
            <a:r>
              <a:rPr lang="zh-CN" altLang="en-US" kern="0" dirty="0"/>
              <a:t>字节。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d)	</a:t>
            </a:r>
            <a:r>
              <a:rPr lang="zh-CN" altLang="en-US" kern="0" dirty="0"/>
              <a:t>从头部行</a:t>
            </a:r>
            <a:r>
              <a:rPr lang="en-US" altLang="zh-CN" kern="0" dirty="0"/>
              <a:t>Connection:  keep-alive</a:t>
            </a:r>
            <a:r>
              <a:rPr lang="zh-CN" altLang="en-US" kern="0" dirty="0"/>
              <a:t>可知，服务器同意使用持续连接。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两个连续的回车换行符</a:t>
            </a:r>
            <a:r>
              <a:rPr lang="en-US" altLang="zh-CN" kern="0" dirty="0"/>
              <a:t>(&lt;</a:t>
            </a:r>
            <a:r>
              <a:rPr lang="en-US" altLang="zh-CN" kern="0" dirty="0" err="1"/>
              <a:t>cr</a:t>
            </a:r>
            <a:r>
              <a:rPr lang="en-US" altLang="zh-CN" kern="0" dirty="0"/>
              <a:t>&gt;&lt;lf&gt;&lt;</a:t>
            </a:r>
            <a:r>
              <a:rPr lang="en-US" altLang="zh-CN" kern="0" dirty="0" err="1"/>
              <a:t>cr</a:t>
            </a:r>
            <a:r>
              <a:rPr lang="en-US" altLang="zh-CN" kern="0" dirty="0"/>
              <a:t>&gt;&lt;lf&gt;)</a:t>
            </a:r>
            <a:r>
              <a:rPr lang="zh-CN" altLang="en-US" kern="0" dirty="0"/>
              <a:t>后，便是</a:t>
            </a:r>
            <a:r>
              <a:rPr lang="en-US" altLang="zh-CN" kern="0" dirty="0"/>
              <a:t>HTML</a:t>
            </a:r>
            <a:r>
              <a:rPr lang="zh-CN" altLang="en-US" kern="0" dirty="0"/>
              <a:t>文档的内容。因此，该文档的前五个字节内容为：</a:t>
            </a:r>
            <a:r>
              <a:rPr lang="en-US" altLang="zh-CN" kern="0" dirty="0"/>
              <a:t>&lt;!doc</a:t>
            </a:r>
          </a:p>
        </p:txBody>
      </p:sp>
    </p:spTree>
    <p:extLst>
      <p:ext uri="{BB962C8B-B14F-4D97-AF65-F5344CB8AC3E}">
        <p14:creationId xmlns:p14="http://schemas.microsoft.com/office/powerpoint/2010/main" val="288917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052736"/>
            <a:ext cx="8229600" cy="1143000"/>
          </a:xfrm>
        </p:spPr>
        <p:txBody>
          <a:bodyPr/>
          <a:lstStyle/>
          <a:p>
            <a:r>
              <a:rPr lang="zh-CN" altLang="zh-CN" sz="2400" b="1" dirty="0"/>
              <a:t>在利用</a:t>
            </a:r>
            <a:r>
              <a:rPr lang="en-US" altLang="zh-CN" sz="2400" b="1" dirty="0" err="1"/>
              <a:t>WireShark</a:t>
            </a:r>
            <a:r>
              <a:rPr lang="zh-CN" altLang="zh-CN" sz="2400" b="1" dirty="0"/>
              <a:t>进行协议分析的过程中，俘获到了清空浏览器缓存后访问网页</a:t>
            </a:r>
            <a:r>
              <a:rPr lang="en-US" altLang="zh-CN" sz="2400" b="1" u="sng" dirty="0">
                <a:hlinkClick r:id="rId4"/>
              </a:rPr>
              <a:t>http://gaia.cs.umass.edu/wireshark-labs/HTTP-wireshark-file3.html</a:t>
            </a:r>
            <a:r>
              <a:rPr lang="zh-CN" altLang="zh-CN" sz="2400" b="1" dirty="0"/>
              <a:t>时所发送的</a:t>
            </a:r>
            <a:r>
              <a:rPr lang="en-US" altLang="zh-CN" sz="2400" b="1" dirty="0"/>
              <a:t>HTTP</a:t>
            </a:r>
            <a:r>
              <a:rPr lang="zh-CN" altLang="zh-CN" sz="2400" b="1" dirty="0"/>
              <a:t>请求报文和响应报文。选中其中的响应报文后，</a:t>
            </a:r>
            <a:r>
              <a:rPr lang="en-US" altLang="zh-CN" sz="2400" b="1" dirty="0" err="1"/>
              <a:t>WireShark</a:t>
            </a:r>
            <a:r>
              <a:rPr lang="zh-CN" altLang="zh-CN" sz="2400" b="1" dirty="0"/>
              <a:t>分组首部明细子窗口中部分内容显示如下图</a:t>
            </a:r>
            <a:r>
              <a:rPr lang="en-US" altLang="zh-CN" sz="2400" b="1" dirty="0"/>
              <a:t>1.1</a:t>
            </a:r>
            <a:r>
              <a:rPr lang="zh-CN" altLang="zh-CN" sz="2400" b="1" dirty="0"/>
              <a:t>所示。</a:t>
            </a:r>
            <a:endParaRPr lang="zh-CN" altLang="en-US" sz="2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1" y="1772815"/>
            <a:ext cx="1148729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984133"/>
              </p:ext>
            </p:extLst>
          </p:nvPr>
        </p:nvGraphicFramePr>
        <p:xfrm>
          <a:off x="-108520" y="2132856"/>
          <a:ext cx="9572811" cy="458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BMP 图像" r:id="rId5" imgW="9571550" imgH="4564776" progId="Paint.Picture">
                  <p:embed/>
                </p:oleObj>
              </mc:Choice>
              <mc:Fallback>
                <p:oleObj name="BMP 图像" r:id="rId5" imgW="9571550" imgH="4564776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8520" y="2132856"/>
                        <a:ext cx="9572811" cy="45811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460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A75EB-C46A-4B42-B6B1-A2D0BD51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3A3337-7838-4554-A402-743D73B5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2E0094-1108-4836-A98B-38648D3007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4641" y="332656"/>
            <a:ext cx="8496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48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补充</a:t>
            </a:r>
            <a:r>
              <a:rPr lang="en-US" altLang="zh-CN" kern="0" dirty="0"/>
              <a:t>2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假设用户主机上所有的</a:t>
            </a:r>
            <a:r>
              <a:rPr lang="en-US" altLang="zh-CN" kern="0" dirty="0"/>
              <a:t>DNS Cache</a:t>
            </a:r>
            <a:r>
              <a:rPr lang="zh-CN" altLang="en-US" kern="0" dirty="0"/>
              <a:t>和浏览器的</a:t>
            </a:r>
            <a:r>
              <a:rPr lang="en-US" altLang="zh-CN" kern="0" dirty="0"/>
              <a:t>Cache</a:t>
            </a:r>
            <a:r>
              <a:rPr lang="zh-CN" altLang="en-US" kern="0" dirty="0"/>
              <a:t>均为空。用户要利用</a:t>
            </a:r>
            <a:r>
              <a:rPr lang="en-US" altLang="zh-CN" kern="0" dirty="0"/>
              <a:t>163</a:t>
            </a:r>
            <a:r>
              <a:rPr lang="zh-CN" altLang="en-US" kern="0" dirty="0"/>
              <a:t>邮件系统的基于</a:t>
            </a:r>
            <a:r>
              <a:rPr lang="en-US" altLang="zh-CN" kern="0" dirty="0"/>
              <a:t>Web</a:t>
            </a:r>
            <a:r>
              <a:rPr lang="zh-CN" altLang="en-US" kern="0" dirty="0"/>
              <a:t>的邮件客户端发送邮件给</a:t>
            </a:r>
            <a:r>
              <a:rPr lang="en-US" altLang="zh-CN" kern="0" dirty="0"/>
              <a:t>Bob</a:t>
            </a:r>
            <a:r>
              <a:rPr lang="zh-CN" altLang="en-US" kern="0" dirty="0"/>
              <a:t>（</a:t>
            </a:r>
            <a:r>
              <a:rPr lang="en-US" altLang="zh-CN" kern="0" dirty="0"/>
              <a:t>Bob@qq.com</a:t>
            </a:r>
            <a:r>
              <a:rPr lang="zh-CN" altLang="en-US" kern="0" dirty="0"/>
              <a:t>），涉及到的应用层协议有哪些？它们各自使用的运输层协议是什么？</a:t>
            </a:r>
            <a:endParaRPr lang="en-US" altLang="zh-CN" kern="0" dirty="0"/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涉及到的应用层协议有</a:t>
            </a:r>
            <a:r>
              <a:rPr lang="en-US" altLang="zh-CN" kern="0" dirty="0"/>
              <a:t>DNS</a:t>
            </a:r>
            <a:r>
              <a:rPr lang="zh-CN" altLang="en-US" kern="0" dirty="0"/>
              <a:t>、</a:t>
            </a:r>
            <a:r>
              <a:rPr lang="en-US" altLang="zh-CN" kern="0" dirty="0"/>
              <a:t>HTTP</a:t>
            </a:r>
            <a:r>
              <a:rPr lang="zh-CN" altLang="en-US" kern="0" dirty="0"/>
              <a:t>、</a:t>
            </a:r>
            <a:r>
              <a:rPr lang="en-US" altLang="zh-CN" kern="0" dirty="0"/>
              <a:t>SMTP</a:t>
            </a:r>
            <a:r>
              <a:rPr lang="zh-CN" altLang="en-US" kern="0" dirty="0"/>
              <a:t>，它们使用的运输层协议分别是</a:t>
            </a:r>
            <a:r>
              <a:rPr lang="en-US" altLang="zh-CN" kern="0" dirty="0"/>
              <a:t>UDP</a:t>
            </a:r>
            <a:r>
              <a:rPr lang="zh-CN" altLang="en-US" kern="0" dirty="0"/>
              <a:t>、</a:t>
            </a:r>
            <a:r>
              <a:rPr lang="en-US" altLang="zh-CN" kern="0" dirty="0"/>
              <a:t>TCP</a:t>
            </a:r>
            <a:r>
              <a:rPr lang="zh-CN" altLang="en-US" kern="0" dirty="0"/>
              <a:t>、</a:t>
            </a:r>
            <a:r>
              <a:rPr lang="en-US" altLang="zh-CN" kern="0" dirty="0"/>
              <a:t>TCP</a:t>
            </a:r>
            <a:r>
              <a:rPr lang="zh-CN" altLang="en-US" kern="0" dirty="0"/>
              <a:t>。 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398564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382714"/>
            <a:ext cx="8893175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en-US" altLang="zh-CN" sz="2100" kern="0" dirty="0"/>
              <a:t>P 8  a </a:t>
            </a:r>
            <a:r>
              <a:rPr lang="zh-CN" altLang="en-US" sz="2100" kern="0" dirty="0"/>
              <a:t>无并行</a:t>
            </a:r>
            <a:r>
              <a:rPr lang="en-US" altLang="zh-CN" sz="2100" kern="0" dirty="0"/>
              <a:t>TCP</a:t>
            </a:r>
            <a:r>
              <a:rPr lang="zh-CN" altLang="en-US" sz="2100" kern="0" dirty="0"/>
              <a:t>连接的非持续</a:t>
            </a:r>
            <a:r>
              <a:rPr lang="en-US" altLang="zh-CN" sz="2100" kern="0" dirty="0"/>
              <a:t>HTTP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sz="2100" kern="0" dirty="0"/>
              <a:t>DNS</a:t>
            </a:r>
            <a:r>
              <a:rPr lang="zh-CN" altLang="en-US" sz="2100" kern="0" dirty="0"/>
              <a:t>解析所需时间：</a:t>
            </a:r>
            <a:r>
              <a:rPr lang="en-US" altLang="zh-CN" sz="2100" kern="0" dirty="0"/>
              <a:t>RTT1+…+</a:t>
            </a:r>
            <a:r>
              <a:rPr lang="en-US" altLang="zh-CN" sz="2100" kern="0" dirty="0" err="1"/>
              <a:t>RTTn</a:t>
            </a:r>
            <a:endParaRPr lang="en-US" altLang="zh-CN" sz="2100" kern="0" dirty="0"/>
          </a:p>
          <a:p>
            <a:pPr marL="471487" lvl="1" indent="0" eaLnBrk="1" hangingPunct="1">
              <a:buNone/>
              <a:defRPr/>
            </a:pPr>
            <a:r>
              <a:rPr lang="zh-CN" altLang="en-US" sz="2100" kern="0" dirty="0"/>
              <a:t>非持续</a:t>
            </a:r>
            <a:r>
              <a:rPr lang="en-US" altLang="zh-CN" sz="2100" kern="0" dirty="0"/>
              <a:t>HTTP</a:t>
            </a:r>
            <a:r>
              <a:rPr lang="zh-CN" altLang="en-US" sz="2100" kern="0" dirty="0"/>
              <a:t>下，每个对象需要</a:t>
            </a:r>
            <a:r>
              <a:rPr lang="en-US" altLang="zh-CN" sz="2100" kern="0" dirty="0"/>
              <a:t>2RTT0</a:t>
            </a:r>
            <a:r>
              <a:rPr lang="zh-CN" altLang="en-US" sz="2100" kern="0" dirty="0"/>
              <a:t>（</a:t>
            </a:r>
            <a:r>
              <a:rPr lang="en-US" altLang="zh-CN" sz="2100" kern="0" dirty="0"/>
              <a:t>1</a:t>
            </a:r>
            <a:r>
              <a:rPr lang="zh-CN" altLang="en-US" sz="2100" kern="0" dirty="0"/>
              <a:t>个</a:t>
            </a:r>
            <a:r>
              <a:rPr lang="en-US" altLang="zh-CN" sz="2100" kern="0" dirty="0"/>
              <a:t>RTT0</a:t>
            </a:r>
            <a:r>
              <a:rPr lang="zh-CN" altLang="en-US" sz="2100" kern="0" dirty="0"/>
              <a:t>用于建立</a:t>
            </a:r>
            <a:r>
              <a:rPr lang="en-US" altLang="zh-CN" sz="2100" kern="0" dirty="0"/>
              <a:t>TCP</a:t>
            </a:r>
            <a:r>
              <a:rPr lang="zh-CN" altLang="en-US" sz="2100" kern="0" dirty="0"/>
              <a:t>连接，另一个用于获取对象），</a:t>
            </a:r>
            <a:r>
              <a:rPr lang="en-US" altLang="zh-CN" sz="2100" kern="0" dirty="0"/>
              <a:t>HTML</a:t>
            </a:r>
            <a:r>
              <a:rPr lang="zh-CN" altLang="en-US" sz="2100" kern="0" dirty="0"/>
              <a:t>文件及其引用的小对象总共</a:t>
            </a:r>
            <a:r>
              <a:rPr lang="en-US" altLang="zh-CN" sz="2100" kern="0" dirty="0"/>
              <a:t>1+8=9</a:t>
            </a:r>
            <a:r>
              <a:rPr lang="zh-CN" altLang="en-US" sz="2100" kern="0" dirty="0"/>
              <a:t>个对象，串行获取共需</a:t>
            </a:r>
            <a:r>
              <a:rPr lang="en-US" altLang="zh-CN" sz="2100" kern="0" dirty="0"/>
              <a:t>18RTT0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sz="2100" kern="0" dirty="0"/>
              <a:t>共耗时：</a:t>
            </a:r>
            <a:r>
              <a:rPr lang="en-US" altLang="zh-CN" sz="2100" kern="0" dirty="0"/>
              <a:t>18RTT0+RTT1+…+</a:t>
            </a:r>
            <a:r>
              <a:rPr lang="en-US" altLang="zh-CN" sz="2100" kern="0" dirty="0" err="1"/>
              <a:t>RTTn</a:t>
            </a:r>
            <a:endParaRPr lang="en-US" altLang="zh-CN" sz="2100" kern="0" dirty="0"/>
          </a:p>
          <a:p>
            <a:pPr marL="471487" lvl="1" indent="0" eaLnBrk="1" hangingPunct="1">
              <a:buNone/>
              <a:defRPr/>
            </a:pPr>
            <a:r>
              <a:rPr lang="en-US" altLang="zh-CN" sz="2100" kern="0" dirty="0"/>
              <a:t>b </a:t>
            </a:r>
            <a:r>
              <a:rPr lang="zh-CN" altLang="en-US" sz="2100" kern="0" dirty="0"/>
              <a:t>配置有</a:t>
            </a:r>
            <a:r>
              <a:rPr lang="en-US" altLang="zh-CN" sz="2100" kern="0" dirty="0"/>
              <a:t>5</a:t>
            </a:r>
            <a:r>
              <a:rPr lang="zh-CN" altLang="en-US" sz="2100" kern="0" dirty="0"/>
              <a:t>个并行连接的非持续</a:t>
            </a:r>
            <a:r>
              <a:rPr lang="en-US" altLang="zh-CN" sz="2100" kern="0" dirty="0"/>
              <a:t>HTTP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sz="2100" kern="0" dirty="0"/>
              <a:t>DNS</a:t>
            </a:r>
            <a:r>
              <a:rPr lang="zh-CN" altLang="en-US" sz="2100" kern="0" dirty="0"/>
              <a:t>解析所需时间：</a:t>
            </a:r>
            <a:r>
              <a:rPr lang="en-US" altLang="zh-CN" sz="2100" kern="0" dirty="0"/>
              <a:t>RTT1+…+</a:t>
            </a:r>
            <a:r>
              <a:rPr lang="en-US" altLang="zh-CN" sz="2100" kern="0" dirty="0" err="1"/>
              <a:t>RTTn</a:t>
            </a:r>
            <a:endParaRPr lang="en-US" altLang="zh-CN" sz="2100" kern="0" dirty="0"/>
          </a:p>
          <a:p>
            <a:pPr marL="471487" lvl="1" indent="0" eaLnBrk="1" hangingPunct="1">
              <a:buNone/>
              <a:defRPr/>
            </a:pPr>
            <a:r>
              <a:rPr lang="zh-CN" altLang="en-US" sz="2100" kern="0" dirty="0"/>
              <a:t>客户端只有获得</a:t>
            </a:r>
            <a:r>
              <a:rPr lang="en-US" altLang="zh-CN" sz="2100" kern="0" dirty="0"/>
              <a:t>HTML</a:t>
            </a:r>
            <a:r>
              <a:rPr lang="zh-CN" altLang="en-US" sz="2100" kern="0" dirty="0"/>
              <a:t>基文件后才能分析出该页面还内嵌</a:t>
            </a:r>
            <a:r>
              <a:rPr lang="en-US" altLang="zh-CN" sz="2100" kern="0" dirty="0"/>
              <a:t>8</a:t>
            </a:r>
            <a:r>
              <a:rPr lang="zh-CN" altLang="en-US" sz="2100" kern="0" dirty="0"/>
              <a:t>个对象。因此，</a:t>
            </a:r>
            <a:r>
              <a:rPr lang="en-US" altLang="zh-CN" sz="2100" kern="0" dirty="0"/>
              <a:t>HTML</a:t>
            </a:r>
            <a:r>
              <a:rPr lang="zh-CN" altLang="en-US" sz="2100" kern="0" dirty="0"/>
              <a:t>基文件和内嵌对象无法并行传输。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sz="2100" kern="0" dirty="0"/>
              <a:t>1RTT0</a:t>
            </a:r>
            <a:r>
              <a:rPr lang="zh-CN" altLang="en-US" sz="2100" kern="0" dirty="0"/>
              <a:t>用于建立</a:t>
            </a:r>
            <a:r>
              <a:rPr lang="en-US" altLang="zh-CN" sz="2100" kern="0" dirty="0"/>
              <a:t>TCP</a:t>
            </a:r>
            <a:r>
              <a:rPr lang="zh-CN" altLang="en-US" sz="2100" kern="0" dirty="0"/>
              <a:t>连接，</a:t>
            </a:r>
            <a:r>
              <a:rPr lang="en-US" altLang="zh-CN" sz="2100" kern="0" dirty="0"/>
              <a:t>1RTT0</a:t>
            </a:r>
            <a:r>
              <a:rPr lang="zh-CN" altLang="en-US" sz="2100" kern="0" dirty="0"/>
              <a:t>用于获取</a:t>
            </a:r>
            <a:r>
              <a:rPr lang="en-US" altLang="zh-CN" sz="2100" kern="0" dirty="0"/>
              <a:t>HTML</a:t>
            </a:r>
            <a:r>
              <a:rPr lang="zh-CN" altLang="en-US" sz="2100" kern="0" dirty="0"/>
              <a:t>基文件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sz="2100" kern="0" dirty="0"/>
              <a:t>并行获取前</a:t>
            </a:r>
            <a:r>
              <a:rPr lang="en-US" altLang="zh-CN" sz="2100" kern="0" dirty="0"/>
              <a:t>5</a:t>
            </a:r>
            <a:r>
              <a:rPr lang="zh-CN" altLang="en-US" sz="2100" kern="0" dirty="0"/>
              <a:t>个内嵌的对象，共需</a:t>
            </a:r>
            <a:r>
              <a:rPr lang="en-US" altLang="zh-CN" sz="2100" kern="0" dirty="0"/>
              <a:t>2RTT0(</a:t>
            </a:r>
            <a:r>
              <a:rPr lang="zh-CN" altLang="en-US" sz="2100" kern="0" dirty="0"/>
              <a:t>建立</a:t>
            </a:r>
            <a:r>
              <a:rPr lang="en-US" altLang="zh-CN" sz="2100" kern="0" dirty="0"/>
              <a:t>TCP</a:t>
            </a:r>
            <a:r>
              <a:rPr lang="zh-CN" altLang="en-US" sz="2100" kern="0" dirty="0"/>
              <a:t>连接需要</a:t>
            </a:r>
            <a:r>
              <a:rPr lang="en-US" altLang="zh-CN" sz="2100" kern="0" dirty="0"/>
              <a:t>1</a:t>
            </a:r>
            <a:r>
              <a:rPr lang="zh-CN" altLang="en-US" sz="2100" kern="0" dirty="0"/>
              <a:t>个</a:t>
            </a:r>
            <a:r>
              <a:rPr lang="en-US" altLang="zh-CN" sz="2100" kern="0" dirty="0"/>
              <a:t>RTT0</a:t>
            </a:r>
            <a:r>
              <a:rPr lang="zh-CN" altLang="en-US" sz="2100" kern="0" dirty="0"/>
              <a:t>，获取一个对象耗时</a:t>
            </a:r>
            <a:r>
              <a:rPr lang="en-US" altLang="zh-CN" sz="2100" kern="0" dirty="0"/>
              <a:t>1</a:t>
            </a:r>
            <a:r>
              <a:rPr lang="zh-CN" altLang="en-US" sz="2100" kern="0" dirty="0"/>
              <a:t>个</a:t>
            </a:r>
            <a:r>
              <a:rPr lang="en-US" altLang="zh-CN" sz="2100" kern="0" dirty="0"/>
              <a:t>RTT0)</a:t>
            </a:r>
            <a:r>
              <a:rPr lang="zh-CN" altLang="en-US" sz="2100" kern="0" dirty="0"/>
              <a:t>，并行获取后</a:t>
            </a:r>
            <a:r>
              <a:rPr lang="en-US" altLang="zh-CN" sz="2100" kern="0" dirty="0"/>
              <a:t>3</a:t>
            </a:r>
            <a:r>
              <a:rPr lang="zh-CN" altLang="en-US" sz="2100" kern="0" dirty="0"/>
              <a:t>个内嵌的对象，共需</a:t>
            </a:r>
            <a:r>
              <a:rPr lang="en-US" altLang="zh-CN" sz="2100" kern="0" dirty="0"/>
              <a:t>2RTT0</a:t>
            </a:r>
            <a:r>
              <a:rPr lang="zh-CN" altLang="en-US" sz="2100" kern="0" dirty="0"/>
              <a:t>。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sz="2100" kern="0" dirty="0"/>
              <a:t>共耗时</a:t>
            </a:r>
            <a:r>
              <a:rPr lang="en-US" altLang="zh-CN" sz="2100" kern="0" dirty="0"/>
              <a:t>: 6RTT0+RTT1+…+</a:t>
            </a:r>
            <a:r>
              <a:rPr lang="en-US" altLang="zh-CN" sz="2100" kern="0" dirty="0" err="1"/>
              <a:t>RTTn</a:t>
            </a:r>
            <a:endParaRPr lang="en-US" altLang="zh-CN" sz="2100" kern="0" dirty="0"/>
          </a:p>
        </p:txBody>
      </p:sp>
    </p:spTree>
    <p:extLst>
      <p:ext uri="{BB962C8B-B14F-4D97-AF65-F5344CB8AC3E}">
        <p14:creationId xmlns:p14="http://schemas.microsoft.com/office/powerpoint/2010/main" val="143003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P 8(</a:t>
            </a:r>
            <a:r>
              <a:rPr lang="zh-CN" altLang="en-US" kern="0" dirty="0"/>
              <a:t>续</a:t>
            </a:r>
            <a:r>
              <a:rPr lang="en-US" altLang="zh-CN" kern="0" dirty="0"/>
              <a:t>)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c  </a:t>
            </a:r>
            <a:r>
              <a:rPr lang="zh-CN" altLang="en-US" kern="0" dirty="0"/>
              <a:t>有流水线的持续</a:t>
            </a:r>
            <a:r>
              <a:rPr lang="en-US" altLang="zh-CN" kern="0" dirty="0"/>
              <a:t>HTTP</a:t>
            </a:r>
          </a:p>
          <a:p>
            <a:pPr marL="471487" lvl="1" indent="0" eaLnBrk="1" hangingPunct="1">
              <a:buNone/>
              <a:defRPr/>
            </a:pPr>
            <a:r>
              <a:rPr lang="en-US" altLang="zh-CN" kern="0" dirty="0"/>
              <a:t>DNS</a:t>
            </a:r>
            <a:r>
              <a:rPr lang="zh-CN" altLang="en-US" kern="0" dirty="0"/>
              <a:t>解析所需时间：</a:t>
            </a:r>
            <a:r>
              <a:rPr lang="en-US" altLang="zh-CN" kern="0" dirty="0"/>
              <a:t>RTT1+…+</a:t>
            </a:r>
            <a:r>
              <a:rPr lang="en-US" altLang="zh-CN" kern="0" dirty="0" err="1"/>
              <a:t>RTTn</a:t>
            </a:r>
            <a:endParaRPr lang="en-US" altLang="zh-CN" kern="0" dirty="0"/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持续</a:t>
            </a:r>
            <a:r>
              <a:rPr lang="en-US" altLang="zh-CN" kern="0" dirty="0"/>
              <a:t>HTTP</a:t>
            </a:r>
            <a:r>
              <a:rPr lang="zh-CN" altLang="en-US" kern="0" dirty="0"/>
              <a:t>， </a:t>
            </a:r>
            <a:r>
              <a:rPr lang="en-US" altLang="zh-CN" kern="0" dirty="0"/>
              <a:t>TCP</a:t>
            </a:r>
            <a:r>
              <a:rPr lang="zh-CN" altLang="en-US" kern="0" dirty="0"/>
              <a:t>连接只需建立一次，耗时</a:t>
            </a:r>
            <a:r>
              <a:rPr lang="en-US" altLang="zh-CN" kern="0" dirty="0"/>
              <a:t>RTT0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同样，</a:t>
            </a:r>
            <a:r>
              <a:rPr lang="en-US" altLang="zh-CN" kern="0" dirty="0"/>
              <a:t>HTML</a:t>
            </a:r>
            <a:r>
              <a:rPr lang="zh-CN" altLang="en-US" kern="0" dirty="0"/>
              <a:t>基文件和内嵌对象无法并行获取。因此，需要</a:t>
            </a:r>
            <a:r>
              <a:rPr lang="en-US" altLang="zh-CN" kern="0" dirty="0"/>
              <a:t>1</a:t>
            </a:r>
            <a:r>
              <a:rPr lang="zh-CN" altLang="en-US" kern="0" dirty="0"/>
              <a:t>个</a:t>
            </a:r>
            <a:r>
              <a:rPr lang="en-US" altLang="zh-CN" kern="0" dirty="0"/>
              <a:t>RTT0</a:t>
            </a:r>
            <a:r>
              <a:rPr lang="zh-CN" altLang="en-US" kern="0" dirty="0"/>
              <a:t>获得</a:t>
            </a:r>
            <a:r>
              <a:rPr lang="en-US" altLang="zh-CN" kern="0" dirty="0"/>
              <a:t>HTML</a:t>
            </a:r>
            <a:r>
              <a:rPr lang="zh-CN" altLang="en-US" kern="0" dirty="0"/>
              <a:t>基文件，其他的</a:t>
            </a:r>
            <a:r>
              <a:rPr lang="en-US" altLang="zh-CN" kern="0" dirty="0"/>
              <a:t>8</a:t>
            </a:r>
            <a:r>
              <a:rPr lang="zh-CN" altLang="en-US" kern="0" dirty="0"/>
              <a:t>个对象耗时</a:t>
            </a:r>
            <a:r>
              <a:rPr lang="en-US" altLang="zh-CN" kern="0" dirty="0"/>
              <a:t>1</a:t>
            </a:r>
            <a:r>
              <a:rPr lang="zh-CN" altLang="en-US" kern="0" dirty="0"/>
              <a:t>个</a:t>
            </a:r>
            <a:r>
              <a:rPr lang="en-US" altLang="zh-CN" kern="0" dirty="0"/>
              <a:t>RTT0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共耗时：</a:t>
            </a:r>
            <a:r>
              <a:rPr lang="en-US" altLang="zh-CN" kern="0" dirty="0"/>
              <a:t>3RTT0+RTT1+…+</a:t>
            </a:r>
            <a:r>
              <a:rPr lang="en-US" altLang="zh-CN" kern="0" dirty="0" err="1"/>
              <a:t>RTTn</a:t>
            </a:r>
            <a:endParaRPr lang="en-US" altLang="zh-CN" kern="0" dirty="0"/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非流水的持续连接：</a:t>
            </a:r>
            <a:endParaRPr lang="en-US" altLang="zh-CN" kern="0" dirty="0"/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共耗时：</a:t>
            </a:r>
            <a:r>
              <a:rPr lang="en-US" altLang="zh-CN" kern="0" dirty="0"/>
              <a:t> 10RTT0+RTT1+…+</a:t>
            </a:r>
            <a:r>
              <a:rPr lang="en-US" altLang="zh-CN" kern="0" dirty="0" err="1"/>
              <a:t>RTTn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124310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/>
              <a:t>第二章</a:t>
            </a:r>
            <a:r>
              <a:rPr lang="en-US" altLang="zh-CN" kern="0" dirty="0"/>
              <a:t>:</a:t>
            </a:r>
            <a:r>
              <a:rPr lang="zh-CN" altLang="en-US" kern="0" dirty="0"/>
              <a:t>应用层</a:t>
            </a:r>
            <a:endParaRPr lang="en-US" altLang="zh-CN" kern="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zh-CN" altLang="en-US" dirty="0"/>
              <a:t>补充</a:t>
            </a:r>
            <a:r>
              <a:rPr lang="en-US" altLang="zh-CN" dirty="0"/>
              <a:t>3</a:t>
            </a:r>
          </a:p>
          <a:p>
            <a:pPr marL="471487" lvl="1" indent="0" eaLnBrk="1" hangingPunct="1">
              <a:buNone/>
              <a:defRPr/>
            </a:pPr>
            <a:r>
              <a:rPr lang="zh-CN" altLang="en-US" dirty="0"/>
              <a:t>若要在</a:t>
            </a:r>
            <a:r>
              <a:rPr lang="en-US" altLang="zh-CN" dirty="0"/>
              <a:t>com</a:t>
            </a:r>
            <a:r>
              <a:rPr lang="zh-CN" altLang="en-US" dirty="0"/>
              <a:t>域的顶级域（</a:t>
            </a:r>
            <a:r>
              <a:rPr lang="en-US" altLang="zh-CN" dirty="0"/>
              <a:t>DNS</a:t>
            </a:r>
            <a:r>
              <a:rPr lang="zh-CN" altLang="en-US" dirty="0"/>
              <a:t>）服务器中为</a:t>
            </a:r>
            <a:r>
              <a:rPr lang="en-US" altLang="zh-CN" dirty="0"/>
              <a:t>networkutopia.com</a:t>
            </a:r>
            <a:r>
              <a:rPr lang="zh-CN" altLang="en-US" dirty="0"/>
              <a:t>域设置权威</a:t>
            </a:r>
            <a:r>
              <a:rPr lang="en-US" altLang="zh-CN" dirty="0"/>
              <a:t>DNS</a:t>
            </a:r>
            <a:r>
              <a:rPr lang="zh-CN" altLang="en-US" dirty="0"/>
              <a:t>服务器，以便于域名解析时可以查询该权威服务器中的记录，则至少需要在</a:t>
            </a:r>
            <a:r>
              <a:rPr lang="en-US" altLang="zh-CN" dirty="0"/>
              <a:t>com</a:t>
            </a:r>
            <a:r>
              <a:rPr lang="zh-CN" altLang="en-US" dirty="0"/>
              <a:t>域服务器中添加哪几种类型的资源记录？</a:t>
            </a:r>
            <a:endParaRPr lang="en-US" altLang="zh-CN" dirty="0"/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至少添加</a:t>
            </a:r>
            <a:r>
              <a:rPr lang="en-US" altLang="zh-CN" kern="0" dirty="0"/>
              <a:t>NS</a:t>
            </a:r>
            <a:r>
              <a:rPr lang="zh-CN" altLang="en-US" kern="0" dirty="0"/>
              <a:t>和</a:t>
            </a:r>
            <a:r>
              <a:rPr lang="en-US" altLang="zh-CN" kern="0" dirty="0"/>
              <a:t>A</a:t>
            </a:r>
            <a:r>
              <a:rPr lang="zh-CN" altLang="en-US" kern="0" dirty="0"/>
              <a:t>两种类型的资源记录。</a:t>
            </a:r>
            <a:endParaRPr lang="en-US" altLang="zh-CN" kern="0" dirty="0"/>
          </a:p>
          <a:p>
            <a:pPr marL="471487" lvl="1" indent="0" eaLnBrk="1" hangingPunct="1">
              <a:buNone/>
              <a:defRPr/>
            </a:pPr>
            <a:r>
              <a:rPr lang="zh-CN" altLang="en-US" kern="0" dirty="0"/>
              <a:t>如：</a:t>
            </a:r>
            <a:endParaRPr lang="en-US" altLang="zh-CN" kern="0" dirty="0"/>
          </a:p>
          <a:p>
            <a:pPr lvl="1">
              <a:buNone/>
            </a:pPr>
            <a:r>
              <a:rPr lang="en-US" altLang="zh-CN" dirty="0">
                <a:solidFill>
                  <a:srgbClr val="0033CC"/>
                </a:solidFill>
                <a:latin typeface="Courier New" pitchFamily="49" charset="0"/>
              </a:rPr>
              <a:t>(networkutopia.com, dns1.networkutopia.com, NS)</a:t>
            </a:r>
          </a:p>
          <a:p>
            <a:pPr lvl="1">
              <a:buNone/>
            </a:pPr>
            <a:r>
              <a:rPr lang="en-US" altLang="zh-CN" dirty="0">
                <a:solidFill>
                  <a:srgbClr val="0033CC"/>
                </a:solidFill>
                <a:latin typeface="Courier New" pitchFamily="49" charset="0"/>
              </a:rPr>
              <a:t>(dns1.networkutopia.com, 212.212.212.1, A)</a:t>
            </a:r>
          </a:p>
          <a:p>
            <a:pPr marL="471487" lvl="1" indent="0" eaLnBrk="1" hangingPunct="1">
              <a:buNone/>
              <a:defRPr/>
            </a:pP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30979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574800"/>
            <a:ext cx="8435975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2800" b="1" kern="0"/>
              <a:t>P9</a:t>
            </a:r>
          </a:p>
          <a:p>
            <a:pPr lvl="1" eaLnBrk="1" hangingPunct="1"/>
            <a:r>
              <a:rPr lang="en-US" altLang="zh-CN" sz="2400" b="1" kern="0"/>
              <a:t>a </a:t>
            </a:r>
          </a:p>
          <a:p>
            <a:pPr lvl="2" eaLnBrk="1" hangingPunct="1"/>
            <a:r>
              <a:rPr lang="zh-CN" altLang="en-US" sz="2000" b="1" kern="0"/>
              <a:t>通过速率为</a:t>
            </a:r>
            <a:r>
              <a:rPr lang="en-US" altLang="zh-CN" sz="2000" b="1" kern="0"/>
              <a:t>R</a:t>
            </a:r>
            <a:r>
              <a:rPr lang="zh-CN" altLang="en-US" sz="2000" b="1" kern="0"/>
              <a:t>的访问链路发送长度为</a:t>
            </a:r>
            <a:r>
              <a:rPr lang="en-US" altLang="zh-CN" sz="2000" b="1" kern="0"/>
              <a:t>L</a:t>
            </a:r>
            <a:r>
              <a:rPr lang="zh-CN" altLang="en-US" sz="2000" b="1" kern="0"/>
              <a:t>位的对象，耗时</a:t>
            </a:r>
            <a:r>
              <a:rPr lang="en-US" altLang="zh-CN" sz="2000" b="1" kern="0"/>
              <a:t>L/R</a:t>
            </a:r>
            <a:r>
              <a:rPr lang="zh-CN" altLang="en-US" sz="2000" b="1" kern="0"/>
              <a:t>。</a:t>
            </a:r>
          </a:p>
          <a:p>
            <a:pPr lvl="2" eaLnBrk="1" hangingPunct="1"/>
            <a:r>
              <a:rPr lang="el-GR" altLang="zh-CN" sz="2000" b="1" kern="0">
                <a:cs typeface="Times New Roman" panose="02020603050405020304" pitchFamily="18" charset="0"/>
              </a:rPr>
              <a:t>Δ</a:t>
            </a:r>
            <a:r>
              <a:rPr lang="zh-CN" altLang="el-GR" sz="2000" b="1" kern="0">
                <a:cs typeface="Times New Roman" panose="02020603050405020304" pitchFamily="18" charset="0"/>
              </a:rPr>
              <a:t>为通过访问链路发送一个平均长度大小对象所需时间，即</a:t>
            </a:r>
            <a:r>
              <a:rPr lang="zh-CN" altLang="en-US" sz="2000" b="1" kern="0">
                <a:cs typeface="Times New Roman" panose="02020603050405020304" pitchFamily="18" charset="0"/>
              </a:rPr>
              <a:t> </a:t>
            </a:r>
            <a:r>
              <a:rPr lang="el-GR" altLang="zh-CN" sz="2000" b="1" kern="0">
                <a:cs typeface="Times New Roman" panose="02020603050405020304" pitchFamily="18" charset="0"/>
              </a:rPr>
              <a:t>Δ</a:t>
            </a:r>
            <a:r>
              <a:rPr lang="en-US" altLang="zh-CN" sz="2000" b="1" kern="0">
                <a:cs typeface="Times New Roman" panose="02020603050405020304" pitchFamily="18" charset="0"/>
              </a:rPr>
              <a:t>=(850000bits)/(15000000bps)=0.0567s</a:t>
            </a:r>
            <a:r>
              <a:rPr lang="zh-CN" altLang="en-US" sz="2000" b="1" kern="0">
                <a:cs typeface="Times New Roman" panose="02020603050405020304" pitchFamily="18" charset="0"/>
              </a:rPr>
              <a:t>。</a:t>
            </a:r>
            <a:r>
              <a:rPr lang="el-GR" altLang="zh-CN" sz="2000" b="1" kern="0">
                <a:cs typeface="Times New Roman" panose="02020603050405020304" pitchFamily="18" charset="0"/>
              </a:rPr>
              <a:t>β</a:t>
            </a:r>
            <a:r>
              <a:rPr lang="zh-CN" altLang="el-GR" sz="2000" b="1" kern="0">
                <a:cs typeface="Times New Roman" panose="02020603050405020304" pitchFamily="18" charset="0"/>
              </a:rPr>
              <a:t>为</a:t>
            </a:r>
            <a:r>
              <a:rPr lang="el-GR" altLang="zh-CN" sz="2000" b="1" kern="0">
                <a:cs typeface="Times New Roman" panose="02020603050405020304" pitchFamily="18" charset="0"/>
              </a:rPr>
              <a:t>1</a:t>
            </a:r>
            <a:r>
              <a:rPr lang="en-US" altLang="zh-CN" sz="2000" b="1" kern="0">
                <a:cs typeface="Times New Roman" panose="02020603050405020304" pitchFamily="18" charset="0"/>
              </a:rPr>
              <a:t>6</a:t>
            </a:r>
          </a:p>
          <a:p>
            <a:pPr lvl="2" eaLnBrk="1" hangingPunct="1"/>
            <a:r>
              <a:rPr lang="zh-CN" altLang="el-GR" sz="2000" b="1" kern="0">
                <a:cs typeface="Times New Roman" panose="02020603050405020304" pitchFamily="18" charset="0"/>
              </a:rPr>
              <a:t>所以，访问延迟为：</a:t>
            </a:r>
            <a:r>
              <a:rPr lang="el-GR" altLang="zh-CN" sz="2000" b="1" kern="0">
                <a:cs typeface="Times New Roman" panose="02020603050405020304" pitchFamily="18" charset="0"/>
              </a:rPr>
              <a:t> Δ</a:t>
            </a:r>
            <a:r>
              <a:rPr lang="en-US" altLang="zh-CN" sz="2000" b="1" kern="0">
                <a:cs typeface="Times New Roman" panose="02020603050405020304" pitchFamily="18" charset="0"/>
              </a:rPr>
              <a:t>/(1-</a:t>
            </a:r>
            <a:r>
              <a:rPr lang="el-GR" altLang="zh-CN" sz="2000" b="1" kern="0">
                <a:cs typeface="Times New Roman" panose="02020603050405020304" pitchFamily="18" charset="0"/>
              </a:rPr>
              <a:t> Δ β</a:t>
            </a:r>
            <a:r>
              <a:rPr lang="en-US" altLang="zh-CN" sz="2000" b="1" kern="0">
                <a:cs typeface="Times New Roman" panose="02020603050405020304" pitchFamily="18" charset="0"/>
              </a:rPr>
              <a:t>)=0.6</a:t>
            </a:r>
            <a:endParaRPr lang="zh-CN" altLang="el-GR" sz="2000" b="1" kern="0">
              <a:cs typeface="Times New Roman" panose="02020603050405020304" pitchFamily="18" charset="0"/>
            </a:endParaRPr>
          </a:p>
          <a:p>
            <a:pPr lvl="2" eaLnBrk="1" hangingPunct="1"/>
            <a:r>
              <a:rPr lang="el-GR" altLang="zh-CN" sz="2000" b="1" kern="0">
                <a:cs typeface="Times New Roman" panose="02020603050405020304" pitchFamily="18" charset="0"/>
              </a:rPr>
              <a:t>Internet</a:t>
            </a:r>
            <a:r>
              <a:rPr lang="zh-CN" altLang="el-GR" sz="2000" b="1" kern="0">
                <a:cs typeface="Times New Roman" panose="02020603050405020304" pitchFamily="18" charset="0"/>
              </a:rPr>
              <a:t>延迟为</a:t>
            </a:r>
            <a:r>
              <a:rPr lang="en-US" altLang="zh-CN" sz="2000" b="1" kern="0">
                <a:cs typeface="Times New Roman" panose="02020603050405020304" pitchFamily="18" charset="0"/>
              </a:rPr>
              <a:t>3</a:t>
            </a:r>
            <a:r>
              <a:rPr lang="el-GR" altLang="zh-CN" sz="2000" b="1" kern="0">
                <a:cs typeface="Times New Roman" panose="02020603050405020304" pitchFamily="18" charset="0"/>
              </a:rPr>
              <a:t>s</a:t>
            </a:r>
            <a:r>
              <a:rPr lang="zh-CN" altLang="el-GR" sz="2000" b="1" kern="0">
                <a:cs typeface="Times New Roman" panose="02020603050405020304" pitchFamily="18" charset="0"/>
              </a:rPr>
              <a:t>，因此，总的响应时间为</a:t>
            </a:r>
            <a:r>
              <a:rPr lang="en-US" altLang="zh-CN" sz="2000" b="1" kern="0">
                <a:cs typeface="Times New Roman" panose="02020603050405020304" pitchFamily="18" charset="0"/>
              </a:rPr>
              <a:t>3.6s</a:t>
            </a:r>
            <a:r>
              <a:rPr lang="zh-CN" altLang="en-US" sz="2000" b="1" kern="0">
                <a:cs typeface="Times New Roman" panose="02020603050405020304" pitchFamily="18" charset="0"/>
              </a:rPr>
              <a:t>。</a:t>
            </a:r>
            <a:endParaRPr lang="zh-CN" altLang="el-GR" sz="2000" b="1" kern="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b="1" kern="0"/>
              <a:t>b</a:t>
            </a:r>
          </a:p>
          <a:p>
            <a:pPr lvl="2" eaLnBrk="1" hangingPunct="1"/>
            <a:r>
              <a:rPr lang="zh-CN" altLang="en-US" sz="2000" b="1" kern="0"/>
              <a:t>安装</a:t>
            </a:r>
            <a:r>
              <a:rPr lang="en-US" altLang="zh-CN" sz="2000" b="1" kern="0"/>
              <a:t>Cache</a:t>
            </a:r>
            <a:r>
              <a:rPr lang="zh-CN" altLang="en-US" sz="2000" b="1" kern="0"/>
              <a:t>后，</a:t>
            </a:r>
            <a:r>
              <a:rPr lang="en-US" altLang="zh-CN" sz="2000" b="1" kern="0"/>
              <a:t>40%</a:t>
            </a:r>
            <a:r>
              <a:rPr lang="zh-CN" altLang="en-US" sz="2000" b="1" kern="0"/>
              <a:t>的请求可以从</a:t>
            </a:r>
            <a:r>
              <a:rPr lang="en-US" altLang="zh-CN" sz="2000" b="1" kern="0"/>
              <a:t>Cache</a:t>
            </a:r>
            <a:r>
              <a:rPr lang="zh-CN" altLang="en-US" sz="2000" b="1" kern="0"/>
              <a:t>获得对象，基本无需时间。</a:t>
            </a:r>
          </a:p>
          <a:p>
            <a:pPr lvl="2" eaLnBrk="1" hangingPunct="1"/>
            <a:r>
              <a:rPr lang="en-US" altLang="zh-CN" sz="2000" b="1" kern="0"/>
              <a:t>60%</a:t>
            </a:r>
            <a:r>
              <a:rPr lang="zh-CN" altLang="en-US" sz="2000" b="1" kern="0"/>
              <a:t>的请求仍然需要访问原始服务器，则</a:t>
            </a:r>
            <a:r>
              <a:rPr lang="el-GR" altLang="zh-CN" sz="2000" b="1" kern="0">
                <a:cs typeface="Times New Roman" panose="02020603050405020304" pitchFamily="18" charset="0"/>
              </a:rPr>
              <a:t>β</a:t>
            </a:r>
            <a:r>
              <a:rPr lang="zh-CN" altLang="el-GR" sz="2000" b="1" kern="0">
                <a:cs typeface="Times New Roman" panose="02020603050405020304" pitchFamily="18" charset="0"/>
              </a:rPr>
              <a:t>变为</a:t>
            </a:r>
            <a:r>
              <a:rPr lang="el-GR" altLang="zh-CN" sz="2000" b="1" kern="0">
                <a:cs typeface="Times New Roman" panose="02020603050405020304" pitchFamily="18" charset="0"/>
              </a:rPr>
              <a:t>1</a:t>
            </a:r>
            <a:r>
              <a:rPr lang="en-US" altLang="zh-CN" sz="2000" b="1" kern="0">
                <a:cs typeface="Times New Roman" panose="02020603050405020304" pitchFamily="18" charset="0"/>
              </a:rPr>
              <a:t>6*0.6=9.6</a:t>
            </a:r>
            <a:r>
              <a:rPr lang="zh-CN" altLang="en-US" sz="2000" b="1" kern="0">
                <a:cs typeface="Times New Roman" panose="02020603050405020304" pitchFamily="18" charset="0"/>
              </a:rPr>
              <a:t>。访问延迟为</a:t>
            </a:r>
            <a:r>
              <a:rPr lang="el-GR" altLang="zh-CN" sz="2000" b="1" kern="0">
                <a:cs typeface="Times New Roman" panose="02020603050405020304" pitchFamily="18" charset="0"/>
              </a:rPr>
              <a:t>Δ</a:t>
            </a:r>
            <a:r>
              <a:rPr lang="en-US" altLang="zh-CN" sz="2000" b="1" kern="0">
                <a:cs typeface="Times New Roman" panose="02020603050405020304" pitchFamily="18" charset="0"/>
              </a:rPr>
              <a:t>/(1-</a:t>
            </a:r>
            <a:r>
              <a:rPr lang="el-GR" altLang="zh-CN" sz="2000" b="1" kern="0">
                <a:cs typeface="Times New Roman" panose="02020603050405020304" pitchFamily="18" charset="0"/>
              </a:rPr>
              <a:t> Δ β</a:t>
            </a:r>
            <a:r>
              <a:rPr lang="en-US" altLang="zh-CN" sz="2000" b="1" kern="0">
                <a:cs typeface="Times New Roman" panose="02020603050405020304" pitchFamily="18" charset="0"/>
              </a:rPr>
              <a:t>)=0.12</a:t>
            </a:r>
            <a:endParaRPr lang="zh-CN" altLang="en-US" sz="2000" b="1" kern="0">
              <a:cs typeface="Times New Roman" panose="02020603050405020304" pitchFamily="18" charset="0"/>
            </a:endParaRPr>
          </a:p>
          <a:p>
            <a:pPr lvl="2" eaLnBrk="1" hangingPunct="1"/>
            <a:r>
              <a:rPr lang="zh-CN" altLang="en-US" sz="2000" b="1" kern="0">
                <a:cs typeface="Times New Roman" panose="02020603050405020304" pitchFamily="18" charset="0"/>
              </a:rPr>
              <a:t>总耗时：</a:t>
            </a:r>
            <a:r>
              <a:rPr lang="en-US" altLang="zh-CN" sz="2000" b="1" kern="0">
                <a:cs typeface="Times New Roman" panose="02020603050405020304" pitchFamily="18" charset="0"/>
              </a:rPr>
              <a:t>0.4*0+0.6(3+0.12)=1.87s</a:t>
            </a:r>
            <a:endParaRPr lang="en-US" altLang="zh-CN" sz="2000" b="1" kern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971148"/>
      </p:ext>
    </p:extLst>
  </p:cSld>
  <p:clrMapOvr>
    <a:masterClrMapping/>
  </p:clrMapOvr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Quadrant</Template>
  <TotalTime>2988</TotalTime>
  <Words>1219</Words>
  <Application>Microsoft Office PowerPoint</Application>
  <PresentationFormat>全屏显示(4:3)</PresentationFormat>
  <Paragraphs>84</Paragraphs>
  <Slides>12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楷体_GB2312</vt:lpstr>
      <vt:lpstr>宋体</vt:lpstr>
      <vt:lpstr>Arial</vt:lpstr>
      <vt:lpstr>Calibri</vt:lpstr>
      <vt:lpstr>Courier New</vt:lpstr>
      <vt:lpstr>Times New Roman</vt:lpstr>
      <vt:lpstr>Wingdings</vt:lpstr>
      <vt:lpstr>Quadrant</vt:lpstr>
      <vt:lpstr>自定义设计方案</vt:lpstr>
      <vt:lpstr>BMP 图像</vt:lpstr>
      <vt:lpstr>习题解答 第二章 应用层 </vt:lpstr>
      <vt:lpstr>PowerPoint 演示文稿</vt:lpstr>
      <vt:lpstr>PowerPoint 演示文稿</vt:lpstr>
      <vt:lpstr>PowerPoint 演示文稿</vt:lpstr>
      <vt:lpstr>PowerPoint 演示文稿</vt:lpstr>
      <vt:lpstr>在利用WireShark进行协议分析的过程中，俘获到了清空浏览器缓存后访问网页http://gaia.cs.umass.edu/wireshark-labs/HTTP-wireshark-file3.html时所发送的HTTP请求报文和响应报文。选中其中的响应报文后，WireShark分组首部明细子窗口中部分内容显示如下图1.1所示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:answer of the problems</dc:title>
  <dc:creator>Longbow</dc:creator>
  <cp:lastModifiedBy>zxm_sdjzu</cp:lastModifiedBy>
  <cp:revision>190</cp:revision>
  <dcterms:created xsi:type="dcterms:W3CDTF">2006-10-08T09:09:43Z</dcterms:created>
  <dcterms:modified xsi:type="dcterms:W3CDTF">2022-05-19T09:41:20Z</dcterms:modified>
</cp:coreProperties>
</file>