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301" r:id="rId3"/>
    <p:sldId id="293" r:id="rId4"/>
    <p:sldId id="296" r:id="rId5"/>
    <p:sldId id="295" r:id="rId6"/>
    <p:sldId id="303" r:id="rId7"/>
    <p:sldId id="302" r:id="rId8"/>
    <p:sldId id="297" r:id="rId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4400" b="1" kern="1200">
        <a:solidFill>
          <a:schemeClr val="tx2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FFFF00"/>
    <a:srgbClr val="25116F"/>
    <a:srgbClr val="FF0000"/>
    <a:srgbClr val="003366"/>
    <a:srgbClr val="000066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3" autoAdjust="0"/>
    <p:restoredTop sz="89198" autoAdjust="0"/>
  </p:normalViewPr>
  <p:slideViewPr>
    <p:cSldViewPr>
      <p:cViewPr varScale="1">
        <p:scale>
          <a:sx n="62" d="100"/>
          <a:sy n="62" d="100"/>
        </p:scale>
        <p:origin x="1382" y="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9378"/>
    </p:cViewPr>
  </p:sorterViewPr>
  <p:notesViewPr>
    <p:cSldViewPr>
      <p:cViewPr varScale="1">
        <p:scale>
          <a:sx n="63" d="100"/>
          <a:sy n="63" d="100"/>
        </p:scale>
        <p:origin x="-3354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11BB67AB-ED3B-4208-B1B3-596AED389C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5686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15A24FE7-109C-48E6-B2A1-D8F80F76F7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43728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A24FE7-109C-48E6-B2A1-D8F80F76F776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4616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B9CE8F90-0D09-4A5C-BCE5-575EA56A6C4F}" type="slidenum">
              <a:rPr lang="en-US" altLang="zh-CN" sz="1200" b="0" smtClean="0">
                <a:solidFill>
                  <a:schemeClr val="tx1"/>
                </a:solidFill>
                <a:latin typeface="Arial" charset="0"/>
              </a:rPr>
              <a:pPr eaLnBrk="1" hangingPunct="1"/>
              <a:t>3</a:t>
            </a:fld>
            <a:endParaRPr lang="en-US" altLang="zh-CN" sz="1200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525597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CDBD3F52-40D5-40E5-83F2-5CD62B40DC1C}" type="slidenum">
              <a:rPr lang="en-US" altLang="zh-CN" sz="1200" b="0" smtClean="0">
                <a:solidFill>
                  <a:schemeClr val="tx1"/>
                </a:solidFill>
                <a:latin typeface="Arial" charset="0"/>
              </a:rPr>
              <a:pPr eaLnBrk="1" hangingPunct="1"/>
              <a:t>4</a:t>
            </a:fld>
            <a:endParaRPr lang="en-US" altLang="zh-CN" sz="1200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7355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B9CE8F90-0D09-4A5C-BCE5-575EA56A6C4F}" type="slidenum">
              <a:rPr lang="en-US" altLang="zh-CN" sz="1200" b="0" smtClean="0">
                <a:solidFill>
                  <a:srgbClr val="000000"/>
                </a:solidFill>
                <a:latin typeface="Arial" charset="0"/>
              </a:rPr>
              <a:pPr eaLnBrk="1" hangingPunct="1"/>
              <a:t>7</a:t>
            </a:fld>
            <a:endParaRPr lang="en-US" altLang="zh-CN" sz="12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074109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03384567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17233188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87415760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81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81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63866602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59695083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9154452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882789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7125199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7240042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93051914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107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107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41456951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6438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50825" y="1412875"/>
            <a:ext cx="8637588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Text Box 8"/>
          <p:cNvSpPr txBox="1">
            <a:spLocks noChangeArrowheads="1"/>
          </p:cNvSpPr>
          <p:nvPr userDrawn="1"/>
        </p:nvSpPr>
        <p:spPr bwMode="auto">
          <a:xfrm>
            <a:off x="395288" y="6578600"/>
            <a:ext cx="29019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i="1">
                <a:solidFill>
                  <a:srgbClr val="000066"/>
                </a:solidFill>
                <a:ea typeface="黑体" pitchFamily="2" charset="-122"/>
              </a:rPr>
              <a:t>School of Computer Science &amp; Technology</a:t>
            </a:r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8604250" y="6453188"/>
            <a:ext cx="431800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6723703B-3C31-473A-9B46-ED7617581269}" type="slidenum">
              <a:rPr lang="en-US" altLang="zh-CN" sz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CN" sz="12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20000"/>
        </a:spcAft>
        <a:buClr>
          <a:srgbClr val="003366"/>
        </a:buClr>
        <a:buFont typeface="Wingdings" pitchFamily="2" charset="2"/>
        <a:buChar char="r"/>
        <a:defRPr sz="3200" b="1">
          <a:solidFill>
            <a:schemeClr val="tx1"/>
          </a:solidFill>
          <a:latin typeface="+mn-lt"/>
          <a:ea typeface="楷体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20000"/>
        </a:spcAft>
        <a:buClr>
          <a:srgbClr val="003366"/>
        </a:buClr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楷体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20000"/>
        </a:spcAft>
        <a:buClr>
          <a:srgbClr val="003366"/>
        </a:buClr>
        <a:buFont typeface="Wingdings" pitchFamily="2" charset="2"/>
        <a:buChar char="p"/>
        <a:defRPr sz="2400">
          <a:solidFill>
            <a:schemeClr val="tx1"/>
          </a:solidFill>
          <a:latin typeface="+mn-lt"/>
          <a:ea typeface="楷体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楷体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>
          <a:solidFill>
            <a:schemeClr val="tx1"/>
          </a:solidFill>
          <a:latin typeface="+mn-lt"/>
          <a:ea typeface="楷体" pitchFamily="49" charset="-122"/>
        </a:defRPr>
      </a:lvl5pPr>
      <a:lvl6pPr marL="2514600" indent="-228600" algn="l" rtl="0" fontAlgn="base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260350"/>
            <a:ext cx="8820150" cy="3960813"/>
          </a:xfrm>
        </p:spPr>
        <p:txBody>
          <a:bodyPr lIns="0" rIns="0"/>
          <a:lstStyle/>
          <a:p>
            <a:pPr algn="ctr" eaLnBrk="1" hangingPunct="1">
              <a:defRPr/>
            </a:pPr>
            <a:r>
              <a:rPr lang="zh-CN" altLang="en-US" sz="80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计算机网络</a:t>
            </a:r>
            <a:br>
              <a:rPr lang="zh-CN" altLang="en-US" sz="80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zh-CN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自顶向下方法</a:t>
            </a:r>
            <a:br>
              <a:rPr lang="zh-CN" altLang="en-US" sz="72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6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Computer Networking</a:t>
            </a:r>
            <a:r>
              <a:rPr lang="en-US" altLang="zh-CN" sz="3600" dirty="0"/>
              <a:t> </a:t>
            </a:r>
            <a:br>
              <a:rPr lang="en-US" altLang="zh-CN" sz="3600" dirty="0"/>
            </a:br>
            <a:r>
              <a:rPr lang="en-US" altLang="zh-CN" sz="4000" dirty="0"/>
              <a:t>A Top-Down Approach  </a:t>
            </a:r>
          </a:p>
        </p:txBody>
      </p:sp>
      <p:sp>
        <p:nvSpPr>
          <p:cNvPr id="2051" name="Line 4"/>
          <p:cNvSpPr>
            <a:spLocks noChangeShapeType="1"/>
          </p:cNvSpPr>
          <p:nvPr/>
        </p:nvSpPr>
        <p:spPr bwMode="auto">
          <a:xfrm>
            <a:off x="250825" y="4292600"/>
            <a:ext cx="8569325" cy="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95288" y="4508500"/>
            <a:ext cx="8497887" cy="11303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7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课程简介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楷体_GB2312" pitchFamily="49" charset="-122"/>
              </a:rPr>
              <a:t>联系方式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40060"/>
            <a:ext cx="8640960" cy="4781550"/>
          </a:xfrm>
        </p:spPr>
        <p:txBody>
          <a:bodyPr/>
          <a:lstStyle/>
          <a:p>
            <a:pPr eaLnBrk="1" hangingPunct="1">
              <a:spcBef>
                <a:spcPts val="400"/>
              </a:spcBef>
              <a:spcAft>
                <a:spcPts val="400"/>
              </a:spcAft>
              <a:defRPr/>
            </a:pPr>
            <a:r>
              <a:rPr lang="zh-CN" altLang="en-US" sz="2800" dirty="0"/>
              <a:t>赵秀梅 </a:t>
            </a:r>
            <a:r>
              <a:rPr lang="en-US" altLang="zh-CN" sz="2800" dirty="0"/>
              <a:t>:</a:t>
            </a:r>
          </a:p>
          <a:p>
            <a:pPr lvl="1" eaLnBrk="1" hangingPunct="1">
              <a:spcBef>
                <a:spcPts val="400"/>
              </a:spcBef>
              <a:spcAft>
                <a:spcPts val="400"/>
              </a:spcAft>
              <a:defRPr/>
            </a:pPr>
            <a:r>
              <a:rPr lang="it-IT" altLang="zh-CN" sz="2400" dirty="0"/>
              <a:t> E_mail:    zhao</a:t>
            </a:r>
            <a:r>
              <a:rPr lang="en-US" altLang="zh-CN" sz="2400" dirty="0" err="1"/>
              <a:t>xm</a:t>
            </a:r>
            <a:r>
              <a:rPr lang="it-IT" altLang="zh-CN" sz="2400" dirty="0"/>
              <a:t>@</a:t>
            </a:r>
            <a:r>
              <a:rPr lang="en-US" altLang="zh-CN" sz="2400" dirty="0"/>
              <a:t>sdjzu.edu.cn</a:t>
            </a:r>
            <a:endParaRPr lang="it-IT" altLang="zh-CN" sz="2400" dirty="0"/>
          </a:p>
          <a:p>
            <a:pPr lvl="1" eaLnBrk="1" hangingPunct="1">
              <a:spcBef>
                <a:spcPts val="400"/>
              </a:spcBef>
              <a:spcAft>
                <a:spcPts val="400"/>
              </a:spcAft>
              <a:defRPr/>
            </a:pPr>
            <a:r>
              <a:rPr lang="it-IT" altLang="zh-CN" sz="2400" dirty="0"/>
              <a:t> Mobile:    15853103639  </a:t>
            </a:r>
          </a:p>
          <a:p>
            <a:pPr lvl="1" eaLnBrk="1" hangingPunct="1">
              <a:spcBef>
                <a:spcPts val="400"/>
              </a:spcBef>
              <a:spcAft>
                <a:spcPts val="400"/>
              </a:spcAft>
              <a:defRPr/>
            </a:pPr>
            <a:r>
              <a:rPr lang="it-IT" altLang="zh-CN" sz="2400" dirty="0"/>
              <a:t>       QQ:    446249465          </a:t>
            </a:r>
          </a:p>
          <a:p>
            <a:pPr marL="457200" lvl="1" indent="0" eaLnBrk="1" hangingPunct="1">
              <a:spcBef>
                <a:spcPts val="400"/>
              </a:spcBef>
              <a:spcAft>
                <a:spcPts val="400"/>
              </a:spcAft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楷体_GB2312" pitchFamily="49" charset="-122"/>
              </a:rPr>
              <a:t>关于</a:t>
            </a:r>
            <a:r>
              <a:rPr lang="en-US" altLang="zh-CN" dirty="0">
                <a:ea typeface="楷体_GB2312" pitchFamily="49" charset="-122"/>
              </a:rPr>
              <a:t>《</a:t>
            </a:r>
            <a:r>
              <a:rPr lang="zh-CN" altLang="en-US" dirty="0">
                <a:ea typeface="楷体_GB2312" pitchFamily="49" charset="-122"/>
              </a:rPr>
              <a:t>计算机网络</a:t>
            </a:r>
            <a:r>
              <a:rPr lang="en-US" altLang="zh-CN" dirty="0">
                <a:ea typeface="楷体_GB2312" pitchFamily="49" charset="-122"/>
              </a:rPr>
              <a:t>》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2" y="1412776"/>
            <a:ext cx="8661275" cy="525658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课程教学安排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</a:rPr>
              <a:t>理论课：周一</a:t>
            </a:r>
            <a:r>
              <a:rPr lang="en-US" altLang="zh-CN" sz="2400" b="1" dirty="0">
                <a:solidFill>
                  <a:srgbClr val="FF0000"/>
                </a:solidFill>
              </a:rPr>
              <a:t>3-4 </a:t>
            </a:r>
            <a:r>
              <a:rPr lang="zh-CN" altLang="en-US" sz="2400" b="1" dirty="0">
                <a:solidFill>
                  <a:srgbClr val="FF0000"/>
                </a:solidFill>
              </a:rPr>
              <a:t>节（</a:t>
            </a:r>
            <a:r>
              <a:rPr lang="en-US" altLang="zh-CN" sz="2400" b="1" dirty="0">
                <a:solidFill>
                  <a:srgbClr val="FF0000"/>
                </a:solidFill>
              </a:rPr>
              <a:t>1-8</a:t>
            </a:r>
            <a:r>
              <a:rPr lang="zh-CN" altLang="en-US" sz="2400" b="1" dirty="0">
                <a:solidFill>
                  <a:srgbClr val="FF0000"/>
                </a:solidFill>
              </a:rPr>
              <a:t>周） ，周三</a:t>
            </a:r>
            <a:r>
              <a:rPr lang="en-US" altLang="zh-CN" sz="2400" b="1" dirty="0">
                <a:solidFill>
                  <a:srgbClr val="FF0000"/>
                </a:solidFill>
              </a:rPr>
              <a:t>1-2</a:t>
            </a:r>
            <a:r>
              <a:rPr lang="zh-CN" altLang="en-US" sz="2400" b="1" dirty="0">
                <a:solidFill>
                  <a:srgbClr val="FF0000"/>
                </a:solidFill>
              </a:rPr>
              <a:t>节（</a:t>
            </a:r>
            <a:r>
              <a:rPr lang="en-US" altLang="zh-CN" sz="2400" b="1" dirty="0">
                <a:solidFill>
                  <a:srgbClr val="FF0000"/>
                </a:solidFill>
              </a:rPr>
              <a:t>1-8</a:t>
            </a:r>
            <a:r>
              <a:rPr lang="zh-CN" altLang="en-US" sz="2400" b="1" dirty="0">
                <a:solidFill>
                  <a:srgbClr val="FF0000"/>
                </a:solidFill>
              </a:rPr>
              <a:t>周）周一</a:t>
            </a:r>
            <a:r>
              <a:rPr lang="en-US" altLang="zh-CN" sz="2400" b="1" dirty="0">
                <a:solidFill>
                  <a:srgbClr val="FF0000"/>
                </a:solidFill>
              </a:rPr>
              <a:t>8-9</a:t>
            </a:r>
            <a:r>
              <a:rPr lang="zh-CN" altLang="en-US" sz="2400" b="1" dirty="0">
                <a:solidFill>
                  <a:srgbClr val="FF0000"/>
                </a:solidFill>
              </a:rPr>
              <a:t>节（</a:t>
            </a:r>
            <a:r>
              <a:rPr lang="en-US" altLang="zh-CN" sz="2400" b="1" dirty="0">
                <a:solidFill>
                  <a:srgbClr val="FF0000"/>
                </a:solidFill>
              </a:rPr>
              <a:t>9-16</a:t>
            </a:r>
            <a:r>
              <a:rPr lang="zh-CN" altLang="en-US" sz="2400" b="1" dirty="0">
                <a:solidFill>
                  <a:srgbClr val="FF0000"/>
                </a:solidFill>
              </a:rPr>
              <a:t>周）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</a:rPr>
              <a:t>实验课：第</a:t>
            </a:r>
            <a:r>
              <a:rPr lang="en-US" altLang="zh-CN" sz="2400" b="1" dirty="0">
                <a:solidFill>
                  <a:srgbClr val="FF0000"/>
                </a:solidFill>
              </a:rPr>
              <a:t>9-16</a:t>
            </a:r>
            <a:r>
              <a:rPr lang="zh-CN" altLang="en-US" sz="2400" b="1" dirty="0">
                <a:solidFill>
                  <a:srgbClr val="FF0000"/>
                </a:solidFill>
              </a:rPr>
              <a:t>周周五</a:t>
            </a:r>
            <a:r>
              <a:rPr lang="en-US" altLang="zh-CN" sz="2400" b="1" dirty="0">
                <a:solidFill>
                  <a:srgbClr val="FF0000"/>
                </a:solidFill>
              </a:rPr>
              <a:t>3-4</a:t>
            </a:r>
            <a:r>
              <a:rPr lang="zh-CN" altLang="en-US" sz="2400" b="1" dirty="0">
                <a:solidFill>
                  <a:srgbClr val="FF0000"/>
                </a:solidFill>
              </a:rPr>
              <a:t>节</a:t>
            </a:r>
            <a:r>
              <a:rPr lang="en-US" altLang="zh-CN" sz="2400" b="1" dirty="0">
                <a:solidFill>
                  <a:srgbClr val="FF0000"/>
                </a:solidFill>
              </a:rPr>
              <a:t>XX206</a:t>
            </a:r>
            <a:r>
              <a:rPr lang="zh-CN" altLang="en-US" sz="2400" b="1" dirty="0">
                <a:solidFill>
                  <a:srgbClr val="FF0000"/>
                </a:solidFill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207</a:t>
            </a:r>
          </a:p>
          <a:p>
            <a:pPr marL="457200" lvl="1" indent="0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zh-CN" sz="2200" b="1" dirty="0"/>
            </a:br>
            <a:endParaRPr lang="zh-CN" altLang="en-US" sz="22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825" y="160338"/>
            <a:ext cx="7543800" cy="1295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教材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参考书目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530350"/>
            <a:ext cx="8675688" cy="49228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CN" altLang="en-US" sz="3900" dirty="0"/>
              <a:t>教材</a:t>
            </a:r>
            <a:r>
              <a:rPr lang="en-US" altLang="zh-CN" sz="3900" dirty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CN" altLang="en-US" sz="31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计算机网络</a:t>
            </a:r>
            <a:r>
              <a:rPr lang="en-US" altLang="zh-CN" sz="31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zh-CN" altLang="en-US" sz="31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自顶向下方法</a:t>
            </a:r>
            <a:r>
              <a:rPr lang="en-US" altLang="zh-CN" sz="3100" dirty="0"/>
              <a:t>(</a:t>
            </a:r>
            <a:r>
              <a:rPr lang="zh-CN" altLang="en-US" sz="3100" dirty="0"/>
              <a:t>第七版</a:t>
            </a:r>
            <a:r>
              <a:rPr lang="en-US" altLang="zh-CN" sz="3100" dirty="0"/>
              <a:t>)</a:t>
            </a:r>
            <a:r>
              <a:rPr lang="zh-CN" altLang="en-US" sz="3100" dirty="0"/>
              <a:t>，机械工业出版社</a:t>
            </a:r>
            <a:r>
              <a:rPr lang="en-US" altLang="zh-CN" sz="3100" dirty="0"/>
              <a:t>.</a:t>
            </a:r>
          </a:p>
          <a:p>
            <a:pPr lvl="2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CN" altLang="en-US" sz="2700" dirty="0"/>
              <a:t>以</a:t>
            </a:r>
            <a:r>
              <a:rPr lang="en-US" altLang="zh-CN" sz="2700" dirty="0"/>
              <a:t>Internet</a:t>
            </a:r>
            <a:r>
              <a:rPr lang="zh-CN" altLang="en-US" sz="2700" dirty="0"/>
              <a:t>为研究目标</a:t>
            </a:r>
            <a:endParaRPr lang="en-US" altLang="zh-CN" sz="2700" dirty="0"/>
          </a:p>
          <a:p>
            <a:pPr lvl="2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CN" altLang="en-US" sz="2700" dirty="0"/>
              <a:t>自顶向下</a:t>
            </a:r>
            <a:endParaRPr lang="en-US" altLang="zh-CN" sz="2700" dirty="0"/>
          </a:p>
          <a:p>
            <a:pPr lvl="2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CN" altLang="en-US" sz="2700" dirty="0"/>
              <a:t>理论与实践相结合</a:t>
            </a:r>
            <a:endParaRPr lang="en-US" altLang="zh-CN" sz="2700" dirty="0"/>
          </a:p>
          <a:p>
            <a:pPr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CN" altLang="en-US" sz="3900" dirty="0"/>
              <a:t>参考书目：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CN" altLang="en-US" sz="3100" b="1" dirty="0"/>
              <a:t>计算机网络</a:t>
            </a:r>
            <a:r>
              <a:rPr lang="en-US" altLang="zh-CN" sz="3100" b="1" dirty="0"/>
              <a:t>(</a:t>
            </a:r>
            <a:r>
              <a:rPr lang="zh-CN" altLang="en-US" sz="3100" b="1" dirty="0"/>
              <a:t>第</a:t>
            </a:r>
            <a:r>
              <a:rPr lang="en-US" altLang="zh-CN" sz="3100" b="1" dirty="0"/>
              <a:t>5</a:t>
            </a:r>
            <a:r>
              <a:rPr lang="zh-CN" altLang="en-US" sz="3100" b="1" dirty="0"/>
              <a:t>版</a:t>
            </a:r>
            <a:r>
              <a:rPr lang="en-US" altLang="zh-CN" sz="3100" b="1" dirty="0"/>
              <a:t>)</a:t>
            </a:r>
            <a:r>
              <a:rPr lang="zh-CN" altLang="en-US" sz="3100" b="1" dirty="0"/>
              <a:t> </a:t>
            </a:r>
            <a:r>
              <a:rPr lang="zh-CN" altLang="en-US" sz="3100" dirty="0"/>
              <a:t> </a:t>
            </a:r>
            <a:r>
              <a:rPr lang="en-US" altLang="zh-CN" sz="3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A.S Tanebaum</a:t>
            </a:r>
            <a:r>
              <a:rPr lang="zh-CN" altLang="en-US" sz="3100" dirty="0"/>
              <a:t>著 </a:t>
            </a:r>
            <a:r>
              <a:rPr lang="zh-CN" altLang="en-US" sz="3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严伟 潘爱民</a:t>
            </a:r>
            <a:r>
              <a:rPr lang="zh-CN" altLang="en-US" sz="3100" dirty="0"/>
              <a:t>译</a:t>
            </a:r>
            <a:r>
              <a:rPr lang="en-US" altLang="zh-CN" sz="3100" dirty="0"/>
              <a:t>  </a:t>
            </a:r>
            <a:r>
              <a:rPr lang="zh-CN" altLang="en-US" sz="3100" dirty="0"/>
              <a:t>清华大学出版社</a:t>
            </a:r>
            <a:r>
              <a:rPr lang="en-US" altLang="zh-CN" sz="3100" dirty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CN" altLang="en-US" sz="3100" b="1" dirty="0"/>
              <a:t>计算机网络</a:t>
            </a:r>
            <a:r>
              <a:rPr lang="en-US" altLang="zh-CN" sz="3100" dirty="0"/>
              <a:t>(</a:t>
            </a:r>
            <a:r>
              <a:rPr lang="zh-CN" altLang="en-US" sz="3100" b="1" dirty="0"/>
              <a:t>第</a:t>
            </a:r>
            <a:r>
              <a:rPr lang="en-US" altLang="zh-CN" sz="3100" b="1" dirty="0"/>
              <a:t>6</a:t>
            </a:r>
            <a:r>
              <a:rPr lang="zh-CN" altLang="en-US" sz="3100" b="1" dirty="0"/>
              <a:t>版</a:t>
            </a:r>
            <a:r>
              <a:rPr lang="en-US" altLang="zh-CN" sz="3100" dirty="0"/>
              <a:t>)</a:t>
            </a:r>
            <a:r>
              <a:rPr lang="zh-CN" altLang="en-US" sz="3100" dirty="0"/>
              <a:t> </a:t>
            </a:r>
            <a:r>
              <a:rPr lang="zh-CN" altLang="en-US" sz="3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谢希仁</a:t>
            </a:r>
            <a:r>
              <a:rPr lang="en-US" altLang="zh-CN" sz="3100" dirty="0"/>
              <a:t> </a:t>
            </a:r>
            <a:r>
              <a:rPr lang="zh-CN" altLang="en-US" sz="3100" dirty="0"/>
              <a:t>电子工业出版社</a:t>
            </a:r>
            <a:r>
              <a:rPr lang="en-US" altLang="zh-CN" sz="3100" dirty="0"/>
              <a:t>.</a:t>
            </a:r>
          </a:p>
        </p:txBody>
      </p:sp>
      <p:pic>
        <p:nvPicPr>
          <p:cNvPr id="1028" name="Picture 4" descr="https://timgsa.baidu.com/timg?image&amp;quality=80&amp;size=b9999_10000&amp;sec=1488166872965&amp;di=0fd67b6740b9b83198763c5af0b59b70&amp;imgtype=0&amp;src=http%3A%2F%2Ffile.100xuexi.com%2FXXSub%2FMatUpPT%2FImage%2F20150116094448957996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0" t="-945" r="14951"/>
          <a:stretch/>
        </p:blipFill>
        <p:spPr bwMode="auto">
          <a:xfrm>
            <a:off x="6658745" y="0"/>
            <a:ext cx="2485255" cy="3587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gd4.alicdn.com/imgextra/i2/0/TB1ND8wOpXXXXbxXVXXXXXXXXXX_!!0-item_pic.jpg_400x400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1" r="14010"/>
          <a:stretch/>
        </p:blipFill>
        <p:spPr bwMode="auto">
          <a:xfrm>
            <a:off x="4138465" y="25878"/>
            <a:ext cx="2520280" cy="3535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进度计划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99495"/>
              </p:ext>
            </p:extLst>
          </p:nvPr>
        </p:nvGraphicFramePr>
        <p:xfrm>
          <a:off x="323528" y="1438707"/>
          <a:ext cx="8435280" cy="4931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教学内容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计划</a:t>
                      </a:r>
                      <a:r>
                        <a:rPr lang="en-US" altLang="zh-CN" sz="28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zh-CN" altLang="en-US" sz="28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学时</a:t>
                      </a:r>
                      <a:r>
                        <a:rPr lang="en-US" altLang="zh-CN" sz="28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zh-CN" altLang="en-US" sz="2800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495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第一章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计算机网络和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Internet</a:t>
                      </a:r>
                      <a:endParaRPr lang="zh-CN" altLang="en-US" sz="2600" b="1" dirty="0"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2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第二章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应用层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424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第三章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传输层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运输层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sz="2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第四章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网络层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数据平面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2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第五章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网络层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控制平面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第六章</a:t>
                      </a:r>
                      <a:r>
                        <a:rPr lang="en-US" altLang="zh-CN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链路层和局域网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小计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endParaRPr lang="zh-CN" altLang="en-US" sz="26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2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r>
                        <a:rPr lang="zh-CN" altLang="en-US" sz="26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</a:t>
                      </a:r>
                      <a:endParaRPr lang="zh-CN" altLang="en-US" sz="2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进度计划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01854"/>
              </p:ext>
            </p:extLst>
          </p:nvPr>
        </p:nvGraphicFramePr>
        <p:xfrm>
          <a:off x="323528" y="1556792"/>
          <a:ext cx="8424936" cy="49355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3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73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effectLst/>
                        </a:rPr>
                        <a:t>序号</a:t>
                      </a:r>
                      <a:endParaRPr lang="zh-CN" sz="1600" b="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实验名称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实验内容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学时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9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1</a:t>
                      </a:r>
                      <a:endParaRPr lang="zh-CN" sz="1600" b="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HTTP</a:t>
                      </a:r>
                      <a:r>
                        <a:rPr lang="zh-CN" sz="2000" b="0" kern="100">
                          <a:effectLst/>
                        </a:rPr>
                        <a:t>和</a:t>
                      </a:r>
                      <a:r>
                        <a:rPr lang="en-US" sz="2000" b="0" kern="100">
                          <a:effectLst/>
                        </a:rPr>
                        <a:t>DNS</a:t>
                      </a:r>
                      <a:r>
                        <a:rPr lang="zh-CN" sz="2000" b="0" kern="100">
                          <a:effectLst/>
                        </a:rPr>
                        <a:t>协议分析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协议分析软件的使用，</a:t>
                      </a:r>
                      <a:r>
                        <a:rPr lang="en-US" sz="2000" b="0" kern="100">
                          <a:effectLst/>
                        </a:rPr>
                        <a:t>HTTP</a:t>
                      </a:r>
                      <a:r>
                        <a:rPr lang="zh-CN" sz="2000" b="0" kern="100">
                          <a:effectLst/>
                        </a:rPr>
                        <a:t>和</a:t>
                      </a:r>
                      <a:r>
                        <a:rPr lang="en-US" sz="2000" b="0" kern="100">
                          <a:effectLst/>
                        </a:rPr>
                        <a:t>DNS</a:t>
                      </a:r>
                      <a:r>
                        <a:rPr lang="zh-CN" sz="2000" b="0" kern="100">
                          <a:effectLst/>
                        </a:rPr>
                        <a:t>协议分析。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4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9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2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多线程</a:t>
                      </a:r>
                      <a:r>
                        <a:rPr lang="en-US" sz="2000" b="0" kern="100">
                          <a:effectLst/>
                        </a:rPr>
                        <a:t>Web</a:t>
                      </a:r>
                      <a:r>
                        <a:rPr lang="zh-CN" sz="2000" b="0" kern="100">
                          <a:effectLst/>
                        </a:rPr>
                        <a:t>服务器的设计与实现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利用</a:t>
                      </a:r>
                      <a:r>
                        <a:rPr lang="en-US" sz="2000" b="0" kern="100">
                          <a:effectLst/>
                        </a:rPr>
                        <a:t>Java</a:t>
                      </a:r>
                      <a:r>
                        <a:rPr lang="zh-CN" sz="2000" b="0" kern="100">
                          <a:effectLst/>
                        </a:rPr>
                        <a:t>或</a:t>
                      </a:r>
                      <a:r>
                        <a:rPr lang="en-US" sz="2000" b="0" kern="100">
                          <a:effectLst/>
                        </a:rPr>
                        <a:t>C++</a:t>
                      </a:r>
                      <a:r>
                        <a:rPr lang="zh-CN" sz="2000" b="0" kern="100">
                          <a:effectLst/>
                        </a:rPr>
                        <a:t>实现的多线程机制，实现</a:t>
                      </a:r>
                      <a:r>
                        <a:rPr lang="en-US" sz="2000" b="0" kern="100">
                          <a:effectLst/>
                        </a:rPr>
                        <a:t>Web</a:t>
                      </a:r>
                      <a:r>
                        <a:rPr lang="zh-CN" sz="2000" b="0" kern="100">
                          <a:effectLst/>
                        </a:rPr>
                        <a:t>服务器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4</a:t>
                      </a:r>
                      <a:endParaRPr lang="zh-CN" sz="1600" b="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9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3</a:t>
                      </a:r>
                      <a:endParaRPr lang="zh-CN" sz="1600" b="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TCP</a:t>
                      </a:r>
                      <a:r>
                        <a:rPr lang="zh-CN" sz="2000" b="0" kern="100">
                          <a:effectLst/>
                        </a:rPr>
                        <a:t>和</a:t>
                      </a:r>
                      <a:r>
                        <a:rPr lang="en-US" sz="2000" b="0" kern="100">
                          <a:effectLst/>
                        </a:rPr>
                        <a:t>UDP</a:t>
                      </a:r>
                      <a:r>
                        <a:rPr lang="zh-CN" sz="2000" b="0" kern="100">
                          <a:effectLst/>
                        </a:rPr>
                        <a:t>协议分析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利用协议分析软件分析</a:t>
                      </a:r>
                      <a:r>
                        <a:rPr lang="en-US" sz="2000" b="0" kern="100">
                          <a:effectLst/>
                        </a:rPr>
                        <a:t>TCP</a:t>
                      </a:r>
                      <a:r>
                        <a:rPr lang="zh-CN" sz="2000" b="0" kern="100">
                          <a:effectLst/>
                        </a:rPr>
                        <a:t>、</a:t>
                      </a:r>
                      <a:r>
                        <a:rPr lang="en-US" sz="2000" b="0" kern="100">
                          <a:effectLst/>
                        </a:rPr>
                        <a:t>UDP</a:t>
                      </a:r>
                      <a:r>
                        <a:rPr lang="zh-CN" sz="2000" b="0" kern="100">
                          <a:effectLst/>
                        </a:rPr>
                        <a:t>的报文格式，</a:t>
                      </a:r>
                      <a:r>
                        <a:rPr lang="en-US" sz="2000" b="0" kern="100">
                          <a:effectLst/>
                        </a:rPr>
                        <a:t>TCP</a:t>
                      </a:r>
                      <a:r>
                        <a:rPr lang="zh-CN" sz="2000" b="0" kern="100">
                          <a:effectLst/>
                        </a:rPr>
                        <a:t>的连接管理、拥塞控制、流量控制机制。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2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4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IP</a:t>
                      </a:r>
                      <a:r>
                        <a:rPr lang="zh-CN" sz="2000" b="0" kern="100" dirty="0">
                          <a:effectLst/>
                        </a:rPr>
                        <a:t>协议分析</a:t>
                      </a:r>
                      <a:endParaRPr lang="zh-CN" sz="1600" b="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利用协议分析软件分析</a:t>
                      </a:r>
                      <a:r>
                        <a:rPr lang="en-US" sz="2000" b="0" kern="100">
                          <a:effectLst/>
                        </a:rPr>
                        <a:t>IPv4</a:t>
                      </a:r>
                      <a:r>
                        <a:rPr lang="zh-CN" sz="2000" b="0" kern="100">
                          <a:effectLst/>
                        </a:rPr>
                        <a:t>和</a:t>
                      </a:r>
                      <a:r>
                        <a:rPr lang="en-US" sz="2000" b="0" kern="100">
                          <a:effectLst/>
                        </a:rPr>
                        <a:t>(</a:t>
                      </a:r>
                      <a:r>
                        <a:rPr lang="zh-CN" sz="2000" b="0" kern="100">
                          <a:effectLst/>
                        </a:rPr>
                        <a:t>或</a:t>
                      </a:r>
                      <a:r>
                        <a:rPr lang="en-US" sz="2000" b="0" kern="100">
                          <a:effectLst/>
                        </a:rPr>
                        <a:t>)IPv6</a:t>
                      </a:r>
                      <a:r>
                        <a:rPr lang="zh-CN" sz="2000" b="0" kern="100">
                          <a:effectLst/>
                        </a:rPr>
                        <a:t>，包括报文格式与协议工作过程。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2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9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5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ICMP</a:t>
                      </a:r>
                      <a:r>
                        <a:rPr lang="zh-CN" sz="2000" b="0" kern="100">
                          <a:effectLst/>
                        </a:rPr>
                        <a:t>和</a:t>
                      </a:r>
                      <a:r>
                        <a:rPr lang="en-US" sz="2000" b="0" kern="100">
                          <a:effectLst/>
                        </a:rPr>
                        <a:t>NAT</a:t>
                      </a:r>
                      <a:r>
                        <a:rPr lang="zh-CN" sz="2000" b="0" kern="100">
                          <a:effectLst/>
                        </a:rPr>
                        <a:t>协议分析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利用协议分析软件分析</a:t>
                      </a:r>
                      <a:r>
                        <a:rPr lang="en-US" sz="2000" b="0" kern="100">
                          <a:effectLst/>
                        </a:rPr>
                        <a:t>ICMP</a:t>
                      </a:r>
                      <a:r>
                        <a:rPr lang="zh-CN" sz="2000" b="0" kern="100">
                          <a:effectLst/>
                        </a:rPr>
                        <a:t>和</a:t>
                      </a:r>
                      <a:r>
                        <a:rPr lang="en-US" sz="2000" b="0" kern="100">
                          <a:effectLst/>
                        </a:rPr>
                        <a:t>NAT</a:t>
                      </a:r>
                      <a:r>
                        <a:rPr lang="zh-CN" sz="2000" b="0" kern="100">
                          <a:effectLst/>
                        </a:rPr>
                        <a:t>的 协议工作过程。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2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8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6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effectLst/>
                        </a:rPr>
                        <a:t>Ethernet</a:t>
                      </a:r>
                      <a:r>
                        <a:rPr lang="zh-CN" sz="2000" b="0" kern="100">
                          <a:effectLst/>
                        </a:rPr>
                        <a:t>和</a:t>
                      </a:r>
                      <a:r>
                        <a:rPr lang="en-US" sz="2000" b="0" kern="100">
                          <a:effectLst/>
                        </a:rPr>
                        <a:t>ARP</a:t>
                      </a:r>
                      <a:r>
                        <a:rPr lang="zh-CN" sz="2000" b="0" kern="100">
                          <a:effectLst/>
                        </a:rPr>
                        <a:t>协议分析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0" kern="100">
                          <a:effectLst/>
                        </a:rPr>
                        <a:t>利用协议分析软件分析</a:t>
                      </a:r>
                      <a:r>
                        <a:rPr lang="en-US" sz="2000" b="0" kern="100">
                          <a:effectLst/>
                        </a:rPr>
                        <a:t>IEEE802.3</a:t>
                      </a:r>
                      <a:r>
                        <a:rPr lang="zh-CN" sz="2000" b="0" kern="100">
                          <a:effectLst/>
                        </a:rPr>
                        <a:t>和</a:t>
                      </a:r>
                      <a:r>
                        <a:rPr lang="en-US" sz="2000" b="0" kern="100">
                          <a:effectLst/>
                        </a:rPr>
                        <a:t>ARP</a:t>
                      </a:r>
                      <a:r>
                        <a:rPr lang="zh-CN" sz="2000" b="0" kern="100">
                          <a:effectLst/>
                        </a:rPr>
                        <a:t>的帧格式及协议工作过程。</a:t>
                      </a:r>
                      <a:endParaRPr lang="zh-CN" sz="1600" b="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2</a:t>
                      </a:r>
                      <a:endParaRPr lang="zh-CN" sz="1600" b="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992430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楷体_GB2312" pitchFamily="49" charset="-122"/>
              </a:rPr>
              <a:t>关于</a:t>
            </a:r>
            <a:r>
              <a:rPr lang="en-US" altLang="zh-CN" dirty="0">
                <a:ea typeface="楷体_GB2312" pitchFamily="49" charset="-122"/>
              </a:rPr>
              <a:t>《</a:t>
            </a:r>
            <a:r>
              <a:rPr lang="zh-CN" altLang="en-US" dirty="0">
                <a:ea typeface="楷体_GB2312" pitchFamily="49" charset="-122"/>
              </a:rPr>
              <a:t>计算机网络</a:t>
            </a:r>
            <a:r>
              <a:rPr lang="en-US" altLang="zh-CN" dirty="0">
                <a:ea typeface="楷体_GB2312" pitchFamily="49" charset="-122"/>
              </a:rPr>
              <a:t>》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2" y="1412776"/>
            <a:ext cx="8661275" cy="525658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考试与成绩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/>
              <a:t>期末考试：闭卷、笔试</a:t>
            </a:r>
            <a:r>
              <a:rPr lang="en-US" altLang="zh-CN" sz="2000" b="1" dirty="0"/>
              <a:t>                             60%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/>
              <a:t>平时成绩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过程性评价）</a:t>
            </a:r>
            <a:r>
              <a:rPr lang="en-US" altLang="zh-CN" sz="2000" b="1" dirty="0"/>
              <a:t>:                           40%</a:t>
            </a:r>
          </a:p>
          <a:p>
            <a:pPr lvl="2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FF0000"/>
                </a:solidFill>
              </a:rPr>
              <a:t>作业（</a:t>
            </a:r>
            <a:r>
              <a:rPr lang="en-US" altLang="zh-CN" sz="1800" b="1" dirty="0">
                <a:solidFill>
                  <a:srgbClr val="FF0000"/>
                </a:solidFill>
              </a:rPr>
              <a:t>20%</a:t>
            </a:r>
            <a:r>
              <a:rPr lang="zh-CN" altLang="en-US" sz="1800" b="1" dirty="0">
                <a:solidFill>
                  <a:srgbClr val="FF0000"/>
                </a:solidFill>
              </a:rPr>
              <a:t>）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FF0000"/>
                </a:solidFill>
              </a:rPr>
              <a:t>实验（</a:t>
            </a:r>
            <a:r>
              <a:rPr lang="en-US" altLang="zh-CN" sz="1800" b="1" dirty="0">
                <a:solidFill>
                  <a:srgbClr val="FF0000"/>
                </a:solidFill>
              </a:rPr>
              <a:t>20%</a:t>
            </a:r>
            <a:r>
              <a:rPr lang="zh-CN" altLang="en-US" sz="1800" b="1" dirty="0">
                <a:solidFill>
                  <a:srgbClr val="FF0000"/>
                </a:solidFill>
              </a:rPr>
              <a:t>）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/>
              <a:t>                                       </a:t>
            </a:r>
            <a:r>
              <a:rPr lang="en-US" altLang="zh-CN" sz="1800" b="1" dirty="0"/>
              <a:t>  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课程网站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</a:rPr>
              <a:t>教学管理系统</a:t>
            </a:r>
            <a:r>
              <a:rPr lang="en-US" altLang="zh-CN" sz="2400" b="1" dirty="0">
                <a:solidFill>
                  <a:srgbClr val="FF0000"/>
                </a:solidFill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</a:rPr>
              <a:t>智慧树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/>
              <a:t>课程有关材料、网上答疑、作业等</a:t>
            </a:r>
            <a:endParaRPr lang="en-US" altLang="zh-CN" sz="2200" b="1" dirty="0"/>
          </a:p>
          <a:p>
            <a:pPr marL="457200" lvl="1" indent="0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zh-CN" sz="2200" b="1" dirty="0"/>
            </a:br>
            <a:endParaRPr lang="zh-CN" altLang="en-US" sz="2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1308D4-90F1-495E-A115-B74592921A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28" t="3751" r="2625" b="2065"/>
          <a:stretch/>
        </p:blipFill>
        <p:spPr>
          <a:xfrm>
            <a:off x="5436096" y="2555776"/>
            <a:ext cx="3096344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685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7643813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楷体_GB2312" pitchFamily="49" charset="-122"/>
              </a:rPr>
              <a:t>要求</a:t>
            </a:r>
            <a:r>
              <a:rPr lang="en-US" altLang="zh-CN" dirty="0">
                <a:latin typeface="+mn-lt"/>
                <a:ea typeface="楷体_GB2312" pitchFamily="49" charset="-122"/>
              </a:rPr>
              <a:t>&amp;</a:t>
            </a:r>
            <a:r>
              <a:rPr lang="zh-CN" altLang="en-US" dirty="0">
                <a:latin typeface="+mn-lt"/>
                <a:ea typeface="楷体_GB2312" pitchFamily="49" charset="-122"/>
              </a:rPr>
              <a:t>建议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412875"/>
            <a:ext cx="9036496" cy="5329238"/>
          </a:xfrm>
        </p:spPr>
        <p:txBody>
          <a:bodyPr/>
          <a:lstStyle/>
          <a:p>
            <a:pPr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纪律要求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/>
            </a:endParaRP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两次以上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旷课</a:t>
            </a:r>
            <a:r>
              <a:rPr lang="zh-CN" altLang="en-US" sz="2000" dirty="0">
                <a:ea typeface="楷体_GB2312"/>
              </a:rPr>
              <a:t>，平时成绩记</a:t>
            </a:r>
            <a:r>
              <a:rPr lang="en-US" altLang="zh-CN" sz="2000" b="1" u="sng" dirty="0">
                <a:solidFill>
                  <a:srgbClr val="FF0000"/>
                </a:solidFill>
                <a:ea typeface="楷体_GB2312"/>
              </a:rPr>
              <a:t>0</a:t>
            </a:r>
            <a:r>
              <a:rPr lang="zh-CN" altLang="en-US" sz="2000" dirty="0">
                <a:ea typeface="楷体_GB2312"/>
              </a:rPr>
              <a:t>分；</a:t>
            </a:r>
            <a:endParaRPr lang="en-US" altLang="zh-CN" sz="2000" dirty="0">
              <a:ea typeface="楷体_GB2312"/>
            </a:endParaRP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两次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以上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不交作业</a:t>
            </a:r>
            <a:r>
              <a:rPr lang="zh-CN" altLang="en-US" sz="2000" dirty="0">
                <a:ea typeface="楷体_GB2312"/>
              </a:rPr>
              <a:t>，平时成绩记</a:t>
            </a:r>
            <a:r>
              <a:rPr lang="en-US" altLang="zh-CN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0</a:t>
            </a:r>
            <a:r>
              <a:rPr lang="zh-CN" altLang="en-US" sz="2000" dirty="0">
                <a:ea typeface="楷体_GB2312"/>
              </a:rPr>
              <a:t>分</a:t>
            </a:r>
            <a:r>
              <a:rPr lang="en-US" altLang="zh-CN" sz="2000" dirty="0">
                <a:ea typeface="楷体_GB2312"/>
              </a:rPr>
              <a:t>;</a:t>
            </a: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两次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以上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不交</a:t>
            </a:r>
            <a:r>
              <a:rPr lang="zh-CN" altLang="en-US" sz="2000" dirty="0">
                <a:ea typeface="楷体_GB2312"/>
              </a:rPr>
              <a:t>实验报告，实验成绩记</a:t>
            </a:r>
            <a:r>
              <a:rPr lang="en-US" altLang="zh-CN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0</a:t>
            </a:r>
            <a:r>
              <a:rPr lang="zh-CN" altLang="en-US" sz="2000" dirty="0">
                <a:ea typeface="楷体_GB2312"/>
              </a:rPr>
              <a:t>分；</a:t>
            </a:r>
            <a:endParaRPr lang="en-US" altLang="zh-CN" sz="2000" dirty="0">
              <a:ea typeface="楷体_GB2312"/>
            </a:endParaRP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迟到 </a:t>
            </a:r>
            <a:r>
              <a:rPr lang="en-US" altLang="zh-CN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/</a:t>
            </a:r>
            <a:r>
              <a:rPr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早退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(5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分钟以上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)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两次</a:t>
            </a:r>
            <a:r>
              <a:rPr lang="en-US" altLang="zh-CN" sz="2000" dirty="0">
                <a:ea typeface="楷体_GB2312"/>
              </a:rPr>
              <a:t>=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旷课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一次</a:t>
            </a:r>
            <a:r>
              <a:rPr lang="zh-CN" altLang="en-US" sz="2000" dirty="0">
                <a:ea typeface="楷体_GB2312"/>
              </a:rPr>
              <a:t>；</a:t>
            </a:r>
            <a:endParaRPr lang="en-US" altLang="zh-CN" sz="2000" dirty="0">
              <a:ea typeface="楷体_GB2312"/>
            </a:endParaRP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缺勤</a:t>
            </a:r>
            <a:r>
              <a:rPr lang="zh-CN" altLang="en-US" sz="2000" b="1" u="sng" dirty="0">
                <a:ea typeface="楷体_GB2312"/>
              </a:rPr>
              <a:t>次数超出</a:t>
            </a:r>
            <a:r>
              <a:rPr lang="en-US" altLang="zh-CN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1/3</a:t>
            </a:r>
            <a:r>
              <a:rPr lang="zh-CN" altLang="en-US" sz="2000" b="1" u="sng" dirty="0">
                <a:ea typeface="楷体_GB2312"/>
              </a:rPr>
              <a:t>者</a:t>
            </a:r>
            <a:r>
              <a:rPr lang="zh-CN" altLang="en-US" sz="2000" dirty="0">
                <a:ea typeface="楷体_GB2312"/>
              </a:rPr>
              <a:t>不得参加期末考试</a:t>
            </a:r>
            <a:r>
              <a:rPr lang="en-US" altLang="zh-CN" sz="2000" dirty="0">
                <a:ea typeface="楷体_GB2312"/>
              </a:rPr>
              <a:t>;</a:t>
            </a:r>
            <a:endParaRPr lang="zh-CN" altLang="en-US" sz="2400" dirty="0">
              <a:ea typeface="楷体_GB2312"/>
            </a:endParaRP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endParaRPr lang="en-US" altLang="zh-CN" sz="2000" dirty="0">
              <a:ea typeface="楷体_GB2312"/>
            </a:endParaRP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dirty="0">
                <a:ea typeface="楷体_GB2312"/>
              </a:rPr>
              <a:t>独立完成作业和实验报告，</a:t>
            </a:r>
            <a:r>
              <a:rPr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不得抄袭</a:t>
            </a:r>
            <a:r>
              <a:rPr lang="en-US" altLang="zh-CN" sz="2000" dirty="0">
                <a:ea typeface="楷体_GB2312"/>
              </a:rPr>
              <a:t>;</a:t>
            </a: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dirty="0">
                <a:ea typeface="楷体_GB2312"/>
              </a:rPr>
              <a:t>必须携带</a:t>
            </a:r>
            <a:r>
              <a:rPr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教材</a:t>
            </a:r>
            <a:r>
              <a:rPr lang="en-US" altLang="zh-CN" sz="2000" u="sng" dirty="0">
                <a:ea typeface="楷体_GB2312"/>
              </a:rPr>
              <a:t>/</a:t>
            </a:r>
            <a:r>
              <a:rPr lang="zh-CN" altLang="en-US" sz="2000" u="sng" dirty="0">
                <a:ea typeface="楷体_GB2312"/>
              </a:rPr>
              <a:t>打印版</a:t>
            </a:r>
            <a:r>
              <a:rPr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实验指导书</a:t>
            </a:r>
            <a:r>
              <a:rPr lang="en-US" altLang="zh-CN" sz="2000" b="1" dirty="0">
                <a:ea typeface="楷体_GB2312"/>
              </a:rPr>
              <a:t>(</a:t>
            </a:r>
            <a:r>
              <a:rPr lang="zh-CN" altLang="en-US" sz="2000" b="1" dirty="0">
                <a:ea typeface="楷体_GB2312"/>
              </a:rPr>
              <a:t>单面打印、左侧装订</a:t>
            </a:r>
            <a:r>
              <a:rPr lang="en-US" altLang="zh-CN" sz="2000" b="1" dirty="0">
                <a:ea typeface="楷体_GB2312"/>
              </a:rPr>
              <a:t>)</a:t>
            </a:r>
            <a:r>
              <a:rPr lang="zh-CN" altLang="en-US" sz="2000" dirty="0">
                <a:ea typeface="楷体_GB2312"/>
              </a:rPr>
              <a:t>，最好用</a:t>
            </a:r>
            <a:r>
              <a:rPr lang="zh-CN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笔记本</a:t>
            </a:r>
            <a:r>
              <a:rPr lang="en-US" altLang="zh-CN" sz="2000" dirty="0">
                <a:ea typeface="楷体_GB2312"/>
              </a:rPr>
              <a:t>;</a:t>
            </a: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dirty="0">
                <a:ea typeface="楷体_GB2312"/>
              </a:rPr>
              <a:t>只要教室前面有位置就不要坐在</a:t>
            </a:r>
            <a:r>
              <a:rPr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后排</a:t>
            </a:r>
            <a:r>
              <a:rPr lang="en-US" altLang="zh-CN" sz="2000" dirty="0">
                <a:ea typeface="楷体_GB2312"/>
              </a:rPr>
              <a:t>.</a:t>
            </a:r>
          </a:p>
          <a:p>
            <a:pPr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</a:rPr>
              <a:t>学习建议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/>
            </a:endParaRP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dirty="0">
                <a:ea typeface="楷体_GB2312"/>
              </a:rPr>
              <a:t>预习、认真听讲、独立完成作业、课后复习、积极互动</a:t>
            </a:r>
            <a:r>
              <a:rPr lang="en-US" altLang="zh-CN" sz="2000" dirty="0">
                <a:ea typeface="楷体_GB2312"/>
              </a:rPr>
              <a:t>.</a:t>
            </a: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dirty="0">
                <a:ea typeface="楷体_GB2312"/>
              </a:rPr>
              <a:t>勤于思考、善于联系、辨证</a:t>
            </a:r>
            <a:r>
              <a:rPr lang="en-US" altLang="zh-CN" sz="2000" b="1" dirty="0">
                <a:ea typeface="楷体_GB2312"/>
              </a:rPr>
              <a:t>(</a:t>
            </a:r>
            <a:r>
              <a:rPr lang="zh-CN" altLang="en-US" sz="2000" b="1" dirty="0">
                <a:ea typeface="楷体_GB2312"/>
              </a:rPr>
              <a:t>批判</a:t>
            </a:r>
            <a:r>
              <a:rPr lang="en-US" altLang="zh-CN" sz="2000" b="1" dirty="0">
                <a:ea typeface="楷体_GB2312"/>
              </a:rPr>
              <a:t>)</a:t>
            </a:r>
            <a:r>
              <a:rPr lang="zh-CN" altLang="en-US" sz="2000" b="1" dirty="0">
                <a:ea typeface="楷体_GB2312"/>
              </a:rPr>
              <a:t>思维</a:t>
            </a:r>
            <a:endParaRPr lang="en-US" altLang="zh-CN" sz="2000" b="1" dirty="0">
              <a:ea typeface="楷体_GB231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12210</TotalTime>
  <Words>546</Words>
  <Application>Microsoft Office PowerPoint</Application>
  <PresentationFormat>全屏显示(4:3)</PresentationFormat>
  <Paragraphs>102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黑体</vt:lpstr>
      <vt:lpstr>华文新魏</vt:lpstr>
      <vt:lpstr>楷体</vt:lpstr>
      <vt:lpstr>楷体_GB2312</vt:lpstr>
      <vt:lpstr>宋体</vt:lpstr>
      <vt:lpstr>Arial</vt:lpstr>
      <vt:lpstr>Calibri</vt:lpstr>
      <vt:lpstr>Times New Roman</vt:lpstr>
      <vt:lpstr>Wingdings</vt:lpstr>
      <vt:lpstr>默认设计模板</vt:lpstr>
      <vt:lpstr>计算机网络 自顶向下方法 Computer Networking  A Top-Down Approach  </vt:lpstr>
      <vt:lpstr>联系方式</vt:lpstr>
      <vt:lpstr>关于《计算机网络》</vt:lpstr>
      <vt:lpstr>教材/参考书目</vt:lpstr>
      <vt:lpstr>进度计划</vt:lpstr>
      <vt:lpstr>进度计划</vt:lpstr>
      <vt:lpstr>关于《计算机网络》</vt:lpstr>
      <vt:lpstr>要求&amp;建议</vt:lpstr>
    </vt:vector>
  </TitlesOfParts>
  <Company>cs.sdjzu.edu.cn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zxm</dc:creator>
  <cp:lastModifiedBy>zxm_sdjzu</cp:lastModifiedBy>
  <cp:revision>2385</cp:revision>
  <dcterms:created xsi:type="dcterms:W3CDTF">2007-10-24T02:38:15Z</dcterms:created>
  <dcterms:modified xsi:type="dcterms:W3CDTF">2023-03-04T15:16:01Z</dcterms:modified>
</cp:coreProperties>
</file>