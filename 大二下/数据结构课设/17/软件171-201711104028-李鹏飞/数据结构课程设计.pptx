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4"/>
  </p:handoutMasterIdLst>
  <p:sldIdLst>
    <p:sldId id="258" r:id="rId3"/>
    <p:sldId id="289" r:id="rId5"/>
    <p:sldId id="290" r:id="rId6"/>
    <p:sldId id="259" r:id="rId7"/>
    <p:sldId id="260" r:id="rId8"/>
    <p:sldId id="292" r:id="rId9"/>
    <p:sldId id="293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4" r:id="rId23"/>
    <p:sldId id="275" r:id="rId24"/>
    <p:sldId id="276" r:id="rId25"/>
    <p:sldId id="277" r:id="rId26"/>
    <p:sldId id="278" r:id="rId27"/>
    <p:sldId id="279" r:id="rId28"/>
    <p:sldId id="282" r:id="rId29"/>
    <p:sldId id="283" r:id="rId30"/>
    <p:sldId id="284" r:id="rId31"/>
    <p:sldId id="286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280" r:id="rId42"/>
    <p:sldId id="281" r:id="rId4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168" y="96"/>
      </p:cViewPr>
      <p:guideLst>
        <p:guide orient="horz" pos="2159"/>
        <p:guide pos="381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handoutMaster" Target="handoutMasters/handoutMaster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09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409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843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843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843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843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819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819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229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229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433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43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229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229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433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43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638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638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843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843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2048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25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245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1024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245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662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>
              <a:spcBef>
                <a:spcPct val="0"/>
              </a:spcBef>
            </a:pPr>
            <a:r>
              <a:rPr lang="zh-CN" altLang="en-US" dirty="0"/>
              <a:t>更多免费教程和模板请访问：</a:t>
            </a:r>
            <a:r>
              <a:rPr lang="en-US" altLang="zh-CN" dirty="0"/>
              <a:t>www.quppt.com</a:t>
            </a:r>
            <a:endParaRPr lang="zh-CN" altLang="en-US" dirty="0"/>
          </a:p>
        </p:txBody>
      </p:sp>
      <p:sp>
        <p:nvSpPr>
          <p:cNvPr id="2662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b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.xml"/><Relationship Id="rId12" Type="http://schemas.openxmlformats.org/officeDocument/2006/relationships/tags" Target="../tags/tag2.xml"/><Relationship Id="rId11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tx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" name="TextBox 18      (向天歌演示原创作品：www.TopPPT.cn)"/>
          <p:cNvSpPr txBox="1"/>
          <p:nvPr/>
        </p:nvSpPr>
        <p:spPr>
          <a:xfrm>
            <a:off x="584200" y="3284538"/>
            <a:ext cx="2933700" cy="87471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4800" b="1" dirty="0">
                <a:solidFill>
                  <a:srgbClr val="2B2E30"/>
                </a:solidFill>
                <a:latin typeface="微软雅黑" panose="020B0503020204020204" charset="-122"/>
                <a:ea typeface="微软雅黑" panose="020B0503020204020204" charset="-122"/>
              </a:rPr>
              <a:t>数据结构</a:t>
            </a:r>
            <a:endParaRPr lang="zh-CN" altLang="en-US" sz="4800" b="1" dirty="0">
              <a:solidFill>
                <a:srgbClr val="2B2E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76" name="TextBox 21      (向天歌演示原创作品：www.TopPPT.cn)"/>
          <p:cNvSpPr txBox="1"/>
          <p:nvPr/>
        </p:nvSpPr>
        <p:spPr>
          <a:xfrm>
            <a:off x="3879850" y="3544888"/>
            <a:ext cx="2716213" cy="87471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4800" b="1" dirty="0">
                <a:solidFill>
                  <a:srgbClr val="2B2E30"/>
                </a:solidFill>
                <a:latin typeface="微软雅黑" panose="020B0503020204020204" charset="-122"/>
                <a:ea typeface="微软雅黑" panose="020B0503020204020204" charset="-122"/>
              </a:rPr>
              <a:t>课程设计</a:t>
            </a:r>
            <a:endParaRPr lang="zh-CN" altLang="en-US" sz="4800" b="1" dirty="0">
              <a:solidFill>
                <a:srgbClr val="2B2E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      (向天歌演示原创作品：www.TopPPT.cn)"/>
          <p:cNvSpPr/>
          <p:nvPr/>
        </p:nvSpPr>
        <p:spPr>
          <a:xfrm>
            <a:off x="192088" y="247650"/>
            <a:ext cx="2549525" cy="468313"/>
          </a:xfrm>
          <a:prstGeom prst="rect">
            <a:avLst/>
          </a:prstGeom>
          <a:solidFill>
            <a:srgbClr val="2B2E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3085" name="文本框 3"/>
          <p:cNvSpPr txBox="1"/>
          <p:nvPr/>
        </p:nvSpPr>
        <p:spPr>
          <a:xfrm>
            <a:off x="365125" y="300038"/>
            <a:ext cx="2201863" cy="365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 eaLnBrk="0" hangingPunct="0"/>
            <a:r>
              <a:rPr lang="zh-CN" altLang="en-US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山东建筑大学</a:t>
            </a:r>
            <a:endParaRPr lang="zh-CN" altLang="en-US">
              <a:solidFill>
                <a:schemeClr val="bg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3175" y="4918075"/>
            <a:ext cx="40735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/>
            <a:r>
              <a:rPr lang="zh-CN" altLang="en-US" sz="2400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</a:rPr>
              <a:t>姓名：李鹏飞</a:t>
            </a:r>
            <a:endParaRPr lang="en-US" altLang="zh-CN" sz="2400" strike="noStrike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fontAlgn="base"/>
            <a:endParaRPr lang="zh-CN" altLang="en-US" sz="2400" strike="noStrike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/>
            <a:r>
              <a:rPr lang="zh-CN" altLang="en-US" sz="2400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</a:rPr>
              <a:t>学号：</a:t>
            </a:r>
            <a:r>
              <a:rPr lang="en-US" altLang="zh-CN" sz="2400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</a:rPr>
              <a:t>201711104028</a:t>
            </a:r>
            <a:endParaRPr lang="en-US" altLang="zh-CN" sz="2400" strike="noStrike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fontAlgn="base"/>
            <a:endParaRPr lang="en-US" altLang="zh-CN" sz="2400" strike="noStrike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fontAlgn="base"/>
            <a:r>
              <a:rPr lang="zh-CN" altLang="en-US" sz="2400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</a:rPr>
              <a:t>班级：</a:t>
            </a:r>
            <a:r>
              <a:rPr lang="zh-CN" sz="2400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</a:rPr>
              <a:t>软件</a:t>
            </a:r>
            <a:r>
              <a:rPr lang="en-US" altLang="zh-CN" sz="2400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</a:rPr>
              <a:t>171</a:t>
            </a:r>
            <a:endParaRPr lang="en-US" altLang="zh-CN" sz="2400" strike="noStrike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56088" y="4876800"/>
            <a:ext cx="3070225" cy="548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/>
            <a:r>
              <a:rPr lang="zh-CN" altLang="en-US" sz="2800" strike="noStrike" noProof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</a:rPr>
              <a:t>指导老师：汤晓兵</a:t>
            </a:r>
            <a:endParaRPr lang="zh-CN" altLang="en-US" sz="2800" strike="noStrike" noProof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17423" name="TextBox 51      (向天歌演示原创作品：www.TopPPT.cn)"/>
          <p:cNvSpPr txBox="1"/>
          <p:nvPr/>
        </p:nvSpPr>
        <p:spPr>
          <a:xfrm>
            <a:off x="681038" y="23495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4152900" y="1461135"/>
            <a:ext cx="6934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en-US" altLang="zh-CN" sz="2400" strike="noStrike" noProof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</a:rPr>
              <a:t>01-     </a:t>
            </a:r>
            <a:r>
              <a:rPr lang="zh-CN" altLang="en-US" sz="2400" b="1" strike="noStrike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</a:rPr>
              <a:t>双向循环列表</a:t>
            </a:r>
            <a:endParaRPr lang="zh-CN" altLang="en-US" sz="2400" b="1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17425" name="TextBox 58      (向天歌演示原创作品：www.TopPPT.cn)"/>
          <p:cNvSpPr txBox="1"/>
          <p:nvPr/>
        </p:nvSpPr>
        <p:spPr>
          <a:xfrm>
            <a:off x="3936048" y="2170430"/>
            <a:ext cx="69342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</a:t>
            </a:r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02-     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排序算法的实现</a:t>
            </a:r>
            <a:endParaRPr lang="zh-CN" altLang="en-US" sz="2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52900" y="2769235"/>
            <a:ext cx="6500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03-</a:t>
            </a:r>
            <a:r>
              <a:rPr lang="en-US" altLang="zh-CN"/>
              <a:t>       </a:t>
            </a:r>
            <a:r>
              <a:rPr lang="zh-C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判断运算是否正确</a:t>
            </a:r>
            <a:r>
              <a:rPr lang="en-US" altLang="zh-CN" sz="2400"/>
              <a:t> </a:t>
            </a:r>
            <a:r>
              <a:rPr lang="en-US" altLang="zh-CN"/>
              <a:t>     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1192848" y="1564640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17423" name="TextBox 51      (向天歌演示原创作品：www.TopPPT.cn)"/>
          <p:cNvSpPr txBox="1"/>
          <p:nvPr/>
        </p:nvSpPr>
        <p:spPr>
          <a:xfrm>
            <a:off x="681038" y="23495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1075055" y="87249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设计要求</a:t>
            </a:r>
            <a:endParaRPr lang="zh-CN" altLang="en-US" sz="28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17425" name="TextBox 58      (向天歌演示原创作品：www.TopPPT.cn)"/>
          <p:cNvSpPr txBox="1"/>
          <p:nvPr/>
        </p:nvSpPr>
        <p:spPr>
          <a:xfrm>
            <a:off x="1193165" y="2040890"/>
            <a:ext cx="9569450" cy="3538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buFont typeface="Arial" panose="020B0604020202020204" pitchFamily="34" charset="0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1.	建立一个空表。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2.	在第i个位置插入新的元素x。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3.	删除第i个位置上的元素。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4.	取第i个位置上的元素。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5.	返回元素x第一次出现在双向循环链  表中的位置号。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6.	求双向循环链表的长度，即元素个数。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7.	输出双向循环链表中所有的元素值。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8.	实现双向循环链表的就地逆置。</a:t>
            </a:r>
            <a:endParaRPr lang="en-US" altLang="zh-CN" sz="2800" dirty="0">
              <a:solidFill>
                <a:srgbClr val="17375E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799148" y="206438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7183" name="TextBox 51      (向天歌演示原创作品：www.TopPPT.cn)"/>
          <p:cNvSpPr txBox="1"/>
          <p:nvPr/>
        </p:nvSpPr>
        <p:spPr>
          <a:xfrm>
            <a:off x="681038" y="30480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681355" y="929005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algn="l" eaLnBrk="0" fontAlgn="base" hangingPunct="0">
              <a:buNone/>
            </a:pPr>
            <a:r>
              <a:rPr lang="zh-CN" altLang="en-US" sz="2800" strike="noStrike" noProof="1">
                <a:solidFill>
                  <a:schemeClr val="tx1"/>
                </a:solidFill>
                <a:ea typeface="微软雅黑" panose="020B0503020204020204" charset="-122"/>
                <a:cs typeface="+mn-cs"/>
              </a:rPr>
              <a:t>双向循环链表·方法</a:t>
            </a:r>
            <a:endParaRPr lang="zh-CN" altLang="en-US" sz="2800" strike="noStrike" noProof="1">
              <a:solidFill>
                <a:schemeClr val="tx1"/>
              </a:solidFill>
            </a:endParaRPr>
          </a:p>
        </p:txBody>
      </p:sp>
      <p:sp>
        <p:nvSpPr>
          <p:cNvPr id="7185" name="TextBox 58      (向天歌演示原创作品：www.TopPPT.cn)"/>
          <p:cNvSpPr txBox="1"/>
          <p:nvPr/>
        </p:nvSpPr>
        <p:spPr>
          <a:xfrm>
            <a:off x="681355" y="2211070"/>
            <a:ext cx="9758680" cy="335343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marL="742950" lvl="1" indent="-285750" algn="l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en-US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（1）使用DuLinkList（）类建立双向循环链表</a:t>
            </a:r>
            <a:endParaRPr lang="zh-CN" altLang="en-US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742950" lvl="1" indent="-285750" algn="l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en-US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（2）输入结点数和结点值</a:t>
            </a:r>
            <a:endParaRPr lang="zh-CN" altLang="en-US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742950" lvl="1" indent="-285750" algn="l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en-US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（3）insert（）函数插入元素</a:t>
            </a:r>
            <a:endParaRPr lang="zh-CN" altLang="en-US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742950" lvl="1" indent="-285750" algn="l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en-US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（4）remove（）函数删除元素</a:t>
            </a:r>
            <a:endParaRPr lang="zh-CN" altLang="en-US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742950" lvl="1" indent="-285750" algn="l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en-US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（5）get（）函数提取元素</a:t>
            </a:r>
            <a:endParaRPr lang="zh-CN" altLang="en-US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742950" lvl="1" indent="-285750" algn="l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en-US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（6）indexOf()函数返回元素x第一次出现在双向循环链表中的位置号</a:t>
            </a:r>
            <a:endParaRPr lang="zh-CN" altLang="en-US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742950" lvl="1" indent="-285750" algn="l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en-US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（7）length()函数求双向循环链表的长度</a:t>
            </a:r>
            <a:endParaRPr lang="zh-CN" altLang="en-US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742950" lvl="1" indent="-285750" algn="l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en-US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（8）在完成每一次操作后使用display()函数输出双向循环链表中所有的元素值</a:t>
            </a:r>
            <a:endParaRPr lang="zh-CN" altLang="en-US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742950" lvl="1" indent="-285750" algn="l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lang="zh-CN" altLang="en-US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（9）inverse()双向循环链表的就地逆置</a:t>
            </a:r>
            <a:endParaRPr lang="zh-CN" altLang="en-US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973138" y="167449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038" y="30480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855345" y="95250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双向循环链表操作的实现</a:t>
            </a:r>
            <a:endParaRPr lang="zh-CN" altLang="en-US" sz="44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85670"/>
            <a:ext cx="5897880" cy="18669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4224020"/>
            <a:ext cx="5876290" cy="22123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97305" y="1850390"/>
            <a:ext cx="2536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插入：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665" y="2185670"/>
            <a:ext cx="4766310" cy="18675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205" y="4319270"/>
            <a:ext cx="4763770" cy="20218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059295" y="1745615"/>
            <a:ext cx="2376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删除：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865188" y="162496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11279" name="TextBox 51      (向天歌演示原创作品：www.TopPPT.cn)"/>
          <p:cNvSpPr txBox="1"/>
          <p:nvPr/>
        </p:nvSpPr>
        <p:spPr>
          <a:xfrm>
            <a:off x="681038" y="30480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865505" y="882015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 strike="noStrike" noProof="1">
                <a:solidFill>
                  <a:schemeClr val="tx1"/>
                </a:solidFill>
                <a:ea typeface="微软雅黑" panose="020B0503020204020204" charset="-122"/>
                <a:cs typeface="+mn-cs"/>
              </a:rPr>
              <a:t>模块划分</a:t>
            </a:r>
            <a:endParaRPr lang="zh-CN" altLang="en-US" sz="44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505" y="2258060"/>
            <a:ext cx="9375140" cy="38207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799148" y="188912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13327" name="TextBox 51      (向天歌演示原创作品：www.TopPPT.cn)"/>
          <p:cNvSpPr txBox="1"/>
          <p:nvPr/>
        </p:nvSpPr>
        <p:spPr>
          <a:xfrm>
            <a:off x="681038" y="30480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681355" y="1025525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 strike="noStrike" noProof="1">
                <a:solidFill>
                  <a:schemeClr val="tx1"/>
                </a:solidFill>
                <a:ea typeface="微软雅黑" panose="020B0503020204020204" charset="-122"/>
                <a:cs typeface="+mn-cs"/>
              </a:rPr>
              <a:t>主要构造方法：插入数据</a:t>
            </a:r>
            <a:endParaRPr lang="zh-CN" altLang="en-US" sz="36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13329" name="TextBox 58      (向天歌演示原创作品：www.TopPPT.cn)"/>
          <p:cNvSpPr txBox="1"/>
          <p:nvPr/>
        </p:nvSpPr>
        <p:spPr>
          <a:xfrm>
            <a:off x="799148" y="2181225"/>
            <a:ext cx="6934200" cy="40309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public void insert(int i,T x)throws Exception{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DulNode&lt;T&gt; p=head.next;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int j=0;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while(!p.equals(head)&amp;&amp;j&lt;i){ 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p=p.next;               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++j;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}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if(j!=i&amp;&amp;p.equals(head))   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throw new Exception("插入位置不合法！");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DulNode&lt;T&gt; s=new DulNode&lt;T&gt;(x);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p.prior.next=s;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s.prior=p.prior;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s.next=p;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p.prior=s;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}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799148" y="176847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11279" name="TextBox 51      (向天歌演示原创作品：www.TopPPT.cn)"/>
          <p:cNvSpPr txBox="1"/>
          <p:nvPr/>
        </p:nvSpPr>
        <p:spPr>
          <a:xfrm>
            <a:off x="681038" y="30480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681355" y="1005205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 strike="noStrike" noProof="1">
                <a:solidFill>
                  <a:schemeClr val="tx1"/>
                </a:solidFill>
                <a:ea typeface="微软雅黑" panose="020B0503020204020204" charset="-122"/>
                <a:cs typeface="+mn-cs"/>
              </a:rPr>
              <a:t>主要构造方法：删除</a:t>
            </a:r>
            <a:endParaRPr lang="zh-CN" altLang="en-US" sz="44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11281" name="TextBox 58      (向天歌演示原创作品：www.TopPPT.cn)"/>
          <p:cNvSpPr txBox="1"/>
          <p:nvPr/>
        </p:nvSpPr>
        <p:spPr>
          <a:xfrm>
            <a:off x="799148" y="2021205"/>
            <a:ext cx="6934200" cy="329184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public void remove(int i)throws Exception{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DulNode&lt;T&gt; p=head.next;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int j=0;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while (!p.equals(head)&amp;&amp;j&lt;i){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p=p.next;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++j;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}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if(j!=i)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throw new Exception("删除位置不合法");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p.prior.next=p.next;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p.next.prior=p.prior;	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}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981393" y="183451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13327" name="TextBox 51      (向天歌演示原创作品：www.TopPPT.cn)"/>
          <p:cNvSpPr txBox="1"/>
          <p:nvPr/>
        </p:nvSpPr>
        <p:spPr>
          <a:xfrm>
            <a:off x="681038" y="30480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745490" y="1005205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 strike="noStrike" noProof="1">
                <a:solidFill>
                  <a:schemeClr val="tx1"/>
                </a:solidFill>
                <a:ea typeface="微软雅黑" panose="020B0503020204020204" charset="-122"/>
                <a:cs typeface="+mn-cs"/>
              </a:rPr>
              <a:t>主要构造方法：提取元素</a:t>
            </a:r>
            <a:endParaRPr lang="zh-CN" altLang="en-US" sz="2800" strike="noStrike" noProof="1">
              <a:solidFill>
                <a:schemeClr val="tx1"/>
              </a:solidFill>
            </a:endParaRPr>
          </a:p>
        </p:txBody>
      </p:sp>
      <p:sp>
        <p:nvSpPr>
          <p:cNvPr id="13329" name="TextBox 58      (向天歌演示原创作品：www.TopPPT.cn)"/>
          <p:cNvSpPr txBox="1"/>
          <p:nvPr/>
        </p:nvSpPr>
        <p:spPr>
          <a:xfrm>
            <a:off x="981393" y="2171065"/>
            <a:ext cx="6934200" cy="3046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public Object get(int i)throws Exception 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DulNode&lt;T&gt; p=head.next;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int j=0;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while(!p.equals(head)&amp;&amp;j&lt;i){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p=p.next;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++j;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}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if(j&gt;i||p.equals(head)){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throw new Exception("第"+i+"个元素不存在");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}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return p.data;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}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903288" y="181673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15375" name="TextBox 51      (向天歌演示原创作品：www.TopPPT.cn)"/>
          <p:cNvSpPr txBox="1"/>
          <p:nvPr/>
        </p:nvSpPr>
        <p:spPr>
          <a:xfrm>
            <a:off x="681038" y="26035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785495" y="98298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 strike="noStrike" noProof="1">
                <a:solidFill>
                  <a:schemeClr val="tx1"/>
                </a:solidFill>
                <a:ea typeface="微软雅黑" panose="020B0503020204020204" charset="-122"/>
                <a:cs typeface="+mn-cs"/>
              </a:rPr>
              <a:t>主要构造方法：输出该值的结点位置</a:t>
            </a:r>
            <a:endParaRPr lang="zh-CN" altLang="en-US" sz="2800" strike="noStrike" noProof="1">
              <a:solidFill>
                <a:schemeClr val="tx1"/>
              </a:solidFill>
            </a:endParaRPr>
          </a:p>
        </p:txBody>
      </p:sp>
      <p:sp>
        <p:nvSpPr>
          <p:cNvPr id="15377" name="TextBox 58      (向天歌演示原创作品：www.TopPPT.cn)"/>
          <p:cNvSpPr txBox="1"/>
          <p:nvPr/>
        </p:nvSpPr>
        <p:spPr>
          <a:xfrm>
            <a:off x="903288" y="2240915"/>
            <a:ext cx="6934200" cy="3046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public int indexOf(T x) 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DulNode&lt;T&gt; p=head.next;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int j=0;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while (!p.equals(head)&amp;&amp;!p.data.equals(x)){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p=p.next;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++j;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}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if(!p.equals(head))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return j;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else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    return -1;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}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tx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799148" y="181419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17423" name="TextBox 51      (向天歌演示原创作品：www.TopPPT.cn)"/>
          <p:cNvSpPr txBox="1"/>
          <p:nvPr/>
        </p:nvSpPr>
        <p:spPr>
          <a:xfrm>
            <a:off x="681038" y="30480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681355" y="94488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 strike="noStrike" noProof="1">
                <a:solidFill>
                  <a:schemeClr val="tx1"/>
                </a:solidFill>
                <a:ea typeface="微软雅黑" panose="020B0503020204020204" charset="-122"/>
                <a:cs typeface="+mn-cs"/>
              </a:rPr>
              <a:t>主要构造方法：就地转置</a:t>
            </a:r>
            <a:endParaRPr lang="zh-CN" altLang="en-US" sz="36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17425" name="TextBox 58      (向天歌演示原创作品：www.TopPPT.cn)"/>
          <p:cNvSpPr txBox="1"/>
          <p:nvPr/>
        </p:nvSpPr>
        <p:spPr>
          <a:xfrm>
            <a:off x="799148" y="2260600"/>
            <a:ext cx="6934200" cy="40925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public void  inverse(){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DulNode&lt;T&gt; p=head;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DulNode&lt;T&gt; q; 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while(!p.next.equals(head)){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  q=p.next;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  p.next=p.prior;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  p.prior=q;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  p=q;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}	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q=p.next;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  p.next=p.prior;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  p.prior=q;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}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795338" y="1752600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19471" name="TextBox 51      (向天歌演示原创作品：www.TopPPT.cn)"/>
          <p:cNvSpPr txBox="1"/>
          <p:nvPr/>
        </p:nvSpPr>
        <p:spPr>
          <a:xfrm>
            <a:off x="681038" y="30480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795655" y="922655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algn="l" eaLnBrk="0" fontAlgn="base" hangingPunct="0">
              <a:buNone/>
            </a:pPr>
            <a:r>
              <a:rPr lang="zh-CN" altLang="en-US" sz="2800" strike="noStrike" noProof="1">
                <a:solidFill>
                  <a:schemeClr val="tx1"/>
                </a:solidFill>
                <a:ea typeface="微软雅黑" panose="020B0503020204020204" charset="-122"/>
                <a:cs typeface="+mn-cs"/>
              </a:rPr>
              <a:t>测试类代码</a:t>
            </a:r>
            <a:endParaRPr lang="zh-CN" altLang="en-US" sz="2800" strike="noStrike" noProof="1">
              <a:solidFill>
                <a:schemeClr val="tx1"/>
              </a:solidFill>
            </a:endParaRPr>
          </a:p>
        </p:txBody>
      </p:sp>
      <p:sp>
        <p:nvSpPr>
          <p:cNvPr id="19473" name="TextBox 58      (向天歌演示原创作品：www.TopPPT.cn)"/>
          <p:cNvSpPr txBox="1"/>
          <p:nvPr/>
        </p:nvSpPr>
        <p:spPr>
          <a:xfrm>
            <a:off x="795655" y="2070735"/>
            <a:ext cx="10488930" cy="47078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static Scanner cin=new Scanner(System.in);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	public static String showMenu(){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System.out.println("系统功能：   创建 一个双向链表");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System.out.println("          1 在第i个位置插入新元素x ");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System.out.println("          2 删除第i个位置上的元素 ");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System.out.println("          3 提取第i个位置上的元素 ");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System.out.println("          4 返回元素x第一次出现在双向循环链表中的位置号 ");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System.out.println("          5 求双向循环链表的长度，即元素个数 ");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System.out.println("          6 输出双向循环链表中所有的元素值 ");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System.out.println("          7 双向循环链表的就地逆置 ");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System.out.println("          0 退出");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System.out.println("请输入指令:");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return cin.next();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}</a:t>
            </a:r>
            <a:endParaRPr lang="en-US" altLang="zh-CN" sz="20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921703" y="1574800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21519" name="TextBox 51      (向天歌演示原创作品：www.TopPPT.cn)"/>
          <p:cNvSpPr txBox="1"/>
          <p:nvPr/>
        </p:nvSpPr>
        <p:spPr>
          <a:xfrm>
            <a:off x="681038" y="30480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745490" y="765175"/>
            <a:ext cx="687451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测试类代码</a:t>
            </a:r>
            <a:endParaRPr lang="zh-CN" altLang="en-US" sz="44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21521" name="TextBox 58      (向天歌演示原创作品：www.TopPPT.cn)"/>
          <p:cNvSpPr txBox="1"/>
          <p:nvPr/>
        </p:nvSpPr>
        <p:spPr>
          <a:xfrm>
            <a:off x="921703" y="2004695"/>
            <a:ext cx="6934200" cy="3046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public static &lt;T&gt; void main(String[] args)throws Exception 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//从键盘上依次输入数据逆序创建双向循环链表，并输出双向循环链表中的各元素值；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	DuLinkList&lt;String&gt; L=new DuLinkList&lt;String&gt;();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Scanner sc=new Scanner(System.in);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System.out.println("请输入链表的大小:");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int m=sc.nextInt(); 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System.out.println("请输入双向循环链表中的数据元素：");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for(int i=0;i&lt;m;i++){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String l=sc.next();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L.insert(i,l);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}   				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795338" y="156908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21519" name="TextBox 51      (向天歌演示原创作品：www.TopPPT.cn)"/>
          <p:cNvSpPr txBox="1"/>
          <p:nvPr/>
        </p:nvSpPr>
        <p:spPr>
          <a:xfrm>
            <a:off x="681038" y="30480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795655" y="855345"/>
            <a:ext cx="705421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测试类代码</a:t>
            </a:r>
            <a:endParaRPr lang="zh-CN" altLang="en-US" sz="44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21521" name="TextBox 58      (向天歌演示原创作品：www.TopPPT.cn)"/>
          <p:cNvSpPr txBox="1"/>
          <p:nvPr/>
        </p:nvSpPr>
        <p:spPr>
          <a:xfrm>
            <a:off x="551815" y="2373630"/>
            <a:ext cx="10835640" cy="45231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while(true){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		String choice=showMenu();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		if(choice.equals("1")){//在第i个位置插入新元素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			System.out.println("请输入要插入元素的位置：");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			Scanner s1=new Scanner(System.in);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			int i=s1.nextInt();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			System.out.println("请输入要插入的数据元素：");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			Scanner s2=new Scanner(System.in);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			String x=s2.next();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			try 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	L.insert(i,x);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	System.out.println("在第"+i+"个位置插入"+x+"后双向循环链表中的各个元素值为：");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	L.display();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			} catch (Exception e) 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				System.out.println("在第"+i+"个位置插入"+x+"失败！！！");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}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		}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799148" y="1675130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21519" name="TextBox 51      (向天歌演示原创作品：www.TopPPT.cn)"/>
          <p:cNvSpPr txBox="1"/>
          <p:nvPr/>
        </p:nvSpPr>
        <p:spPr>
          <a:xfrm>
            <a:off x="681038" y="30480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681355" y="852805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algn="l" eaLnBrk="0" fontAlgn="base" hangingPunct="0">
              <a:buNone/>
            </a:pPr>
            <a:r>
              <a:rPr lang="zh-CN" altLang="en-US" sz="2800">
                <a:sym typeface="+mn-ea"/>
              </a:rPr>
              <a:t>测试类代码</a:t>
            </a:r>
            <a:endParaRPr lang="zh-CN" altLang="en-US" sz="44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21521" name="TextBox 58      (向天歌演示原创作品：www.TopPPT.cn)"/>
          <p:cNvSpPr txBox="1"/>
          <p:nvPr/>
        </p:nvSpPr>
        <p:spPr>
          <a:xfrm>
            <a:off x="799148" y="2204085"/>
            <a:ext cx="6934200" cy="35382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else if(choice.equals("2")){//删除第i个位置上的元素 ");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System.out.println("请输入要删除元素的位置：");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Scanner s3=new Scanner(System.in);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int i=s3.nextInt();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 try 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	L.remove(i);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	 System.out.println("删除第"+i+"个元素后双向循环链表中的各个元素值为：");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	 L.display();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} catch (Exception e) 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	System.out.println("删除失败！！！第"+i+"个元素不存在");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} 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}			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681038" y="182435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21519" name="TextBox 51      (向天歌演示原创作品：www.TopPPT.cn)"/>
          <p:cNvSpPr txBox="1"/>
          <p:nvPr/>
        </p:nvSpPr>
        <p:spPr>
          <a:xfrm>
            <a:off x="681038" y="30480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765810" y="97409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测试类代码</a:t>
            </a:r>
            <a:endParaRPr lang="zh-CN" altLang="en-US" sz="44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21521" name="TextBox 58      (向天歌演示原创作品：www.TopPPT.cn)"/>
          <p:cNvSpPr txBox="1"/>
          <p:nvPr/>
        </p:nvSpPr>
        <p:spPr>
          <a:xfrm>
            <a:off x="765493" y="2172970"/>
            <a:ext cx="6934200" cy="3784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else if(choice.equals("3")){//提取第i个位置上的元素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System.out.println("请输入要提取元素的位置：");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Scanner s4=new Scanner(System.in);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int i=s4.nextInt();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try 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	if(L.get(i)!=null)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		System.out.println("双向循环链表的第"+i+"个元素为："+L.get(i));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} catch (Exception e) 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	System.out.println("双向循环链表的第"+i+"个元素不存在");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}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}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		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917258" y="1744980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21519" name="TextBox 51      (向天歌演示原创作品：www.TopPPT.cn)"/>
          <p:cNvSpPr txBox="1"/>
          <p:nvPr/>
        </p:nvSpPr>
        <p:spPr>
          <a:xfrm>
            <a:off x="681038" y="30480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681355" y="86233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测试类代码</a:t>
            </a:r>
            <a:endParaRPr lang="zh-CN" altLang="en-US" sz="44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21521" name="TextBox 58      (向天歌演示原创作品：www.TopPPT.cn)"/>
          <p:cNvSpPr txBox="1"/>
          <p:nvPr/>
        </p:nvSpPr>
        <p:spPr>
          <a:xfrm>
            <a:off x="917575" y="2185035"/>
            <a:ext cx="10159365" cy="3046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else if(choice.equals("4")){     //返回元素x第一次出现在双向循环链表中的位置号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System.out.println("请输入要提取的元素的值：");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Scanner s5=new Scanner(System.in);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String x=s5.next();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int order =L.indexOf(x);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	if(order!=-1)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		System.out.println("双向循环链表中值为"+x+"的数据元素出现的位置为："+order);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	else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		    System.out.println("双向循环链表中值为"+x+"的元素不存在");	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}					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923608" y="168465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21519" name="TextBox 51      (向天歌演示原创作品：www.TopPPT.cn)"/>
          <p:cNvSpPr txBox="1"/>
          <p:nvPr/>
        </p:nvSpPr>
        <p:spPr>
          <a:xfrm>
            <a:off x="681038" y="30480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805815" y="93218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algn="l" eaLnBrk="0" fontAlgn="base" hangingPunct="0">
              <a:buNone/>
            </a:pPr>
            <a:r>
              <a:rPr lang="zh-CN" altLang="en-US" sz="2800">
                <a:sym typeface="+mn-ea"/>
              </a:rPr>
              <a:t>测试类代码</a:t>
            </a:r>
            <a:endParaRPr lang="zh-CN" altLang="en-US" sz="2800" strike="noStrike" noProof="1">
              <a:solidFill>
                <a:schemeClr val="tx1"/>
              </a:solidFill>
            </a:endParaRPr>
          </a:p>
        </p:txBody>
      </p:sp>
      <p:sp>
        <p:nvSpPr>
          <p:cNvPr id="21521" name="TextBox 58      (向天歌演示原创作品：www.TopPPT.cn)"/>
          <p:cNvSpPr txBox="1"/>
          <p:nvPr/>
        </p:nvSpPr>
        <p:spPr>
          <a:xfrm>
            <a:off x="923925" y="2093595"/>
            <a:ext cx="7183755" cy="3046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else if(choice.equals("5")){//求双向循环链表的长度，即元素个数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 System.out.println("双向循环链表的长度："+L.length());	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}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else if(choice.equals("6")){//输出双向循环链表中所有的元素值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if(L.isEmpty())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	   System.out.println("双向循环链表为空");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	else{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	   System.out.println("双向循环链表中各个元素的值为：") ;//双向链表不为空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	   L.display();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	}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}			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923608" y="1734820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21519" name="TextBox 51      (向天歌演示原创作品：www.TopPPT.cn)"/>
          <p:cNvSpPr txBox="1"/>
          <p:nvPr/>
        </p:nvSpPr>
        <p:spPr>
          <a:xfrm>
            <a:off x="681038" y="304800"/>
            <a:ext cx="34718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805815" y="958215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测试类代码</a:t>
            </a:r>
            <a:endParaRPr lang="zh-CN" altLang="en-US" sz="44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21521" name="TextBox 58      (向天歌演示原创作品：www.TopPPT.cn)"/>
          <p:cNvSpPr txBox="1"/>
          <p:nvPr/>
        </p:nvSpPr>
        <p:spPr>
          <a:xfrm>
            <a:off x="923608" y="2193925"/>
            <a:ext cx="6934200" cy="20612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else if(choice.equals("7")){//双向循环链表的就地逆置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System.out.println("双向循环链表逆置后为：");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   L.inverse();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   L.display();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}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   else if(choice.equals("0")){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	System.exit(0);//退出系统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		   } 			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16      (向天歌演示原创作品：www.TopPPT.cn)"/>
          <p:cNvSpPr/>
          <p:nvPr/>
        </p:nvSpPr>
        <p:spPr>
          <a:xfrm>
            <a:off x="843598" y="1048703"/>
            <a:ext cx="3887788" cy="2232025"/>
          </a:xfrm>
          <a:prstGeom prst="rect">
            <a:avLst/>
          </a:prstGeom>
          <a:solidFill>
            <a:srgbClr val="2B2E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34" name="Rectangle 33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35" name="Rectangle 34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36" name="Rectangle 35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23558" name="TextBox 36      (向天歌演示原创作品：www.TopPPT.cn)"/>
          <p:cNvSpPr txBox="1"/>
          <p:nvPr/>
        </p:nvSpPr>
        <p:spPr>
          <a:xfrm>
            <a:off x="681355" y="304800"/>
            <a:ext cx="33972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双向循环链表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59" name="文本框 2"/>
          <p:cNvSpPr txBox="1"/>
          <p:nvPr/>
        </p:nvSpPr>
        <p:spPr>
          <a:xfrm>
            <a:off x="1080770" y="1259840"/>
            <a:ext cx="4127500" cy="612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 eaLnBrk="0" hangingPunct="0"/>
            <a:r>
              <a: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程序测试结果</a:t>
            </a:r>
            <a:endParaRPr lang="zh-CN" altLang="en-US" sz="3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885" y="553403"/>
            <a:ext cx="2062480" cy="36937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365" y="553720"/>
            <a:ext cx="2171700" cy="29438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23" y="553720"/>
            <a:ext cx="2323465" cy="33553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8740" y="3908743"/>
            <a:ext cx="2227580" cy="7537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917258" y="1894840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304800"/>
            <a:ext cx="38112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排序算法的实现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681355" y="973455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函数或类的具体定义和功能</a:t>
            </a:r>
            <a:endParaRPr lang="zh-CN" altLang="en-US" sz="36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233" name="TextBox 58      (向天歌演示原创作品：www.TopPPT.cn)"/>
          <p:cNvSpPr txBox="1"/>
          <p:nvPr/>
        </p:nvSpPr>
        <p:spPr>
          <a:xfrm>
            <a:off x="917575" y="2160905"/>
            <a:ext cx="6934200" cy="3784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 algn="l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</a:t>
            </a:r>
            <a:r>
              <a:rPr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直接插入排序：insertSort()</a:t>
            </a: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希尔排序：shellSort(int[] d)</a:t>
            </a: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冒泡排序：bubbleSort()</a:t>
            </a: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快速排序：quickSort()</a:t>
            </a: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直接选择排序：selecrSort()</a:t>
            </a: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堆排序：heapSort()</a:t>
            </a: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归并排序：mergeSort（）</a:t>
            </a: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比较执行效率：randTest()</a:t>
            </a: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955993" y="163512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304800"/>
            <a:ext cx="371030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排序算法的实现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824865" y="873125"/>
            <a:ext cx="71018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排序算法主要代码</a:t>
            </a:r>
            <a:endParaRPr lang="zh-CN" altLang="en-US" sz="28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233" name="TextBox 58      (向天歌演示原创作品：www.TopPPT.cn)"/>
          <p:cNvSpPr txBox="1"/>
          <p:nvPr/>
        </p:nvSpPr>
        <p:spPr>
          <a:xfrm>
            <a:off x="956310" y="2172970"/>
            <a:ext cx="7665720" cy="396938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 algn="l">
              <a:buFont typeface="Arial" panose="020B0604020202020204" pitchFamily="34" charset="0"/>
              <a:buNone/>
            </a:pPr>
            <a:r>
              <a:rPr 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直接插入排序</a:t>
            </a:r>
            <a:endParaRPr lang="zh-CN" altLang="en-US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public void insertSort(boolean flag){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int tmp,i,j;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for(i=1;i&lt;len;i++){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tmp=a[i];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for(j=i-1;j&gt;=0&amp;&amp;tmp&lt;a[j];j--)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   a[j+1]=a[j];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a[j+1]=tmp;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if(flag) 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	System.out.print("第"+i +"趟: ");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	display();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1065848" y="168465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304800"/>
            <a:ext cx="388112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排序算法的实现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864235" y="913130"/>
            <a:ext cx="71018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排序算法主要代码</a:t>
            </a:r>
            <a:endParaRPr lang="zh-CN" altLang="en-US" sz="28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233" name="TextBox 58      (向天歌演示原创作品：www.TopPPT.cn)"/>
          <p:cNvSpPr txBox="1"/>
          <p:nvPr/>
        </p:nvSpPr>
        <p:spPr>
          <a:xfrm>
            <a:off x="1066165" y="1843405"/>
            <a:ext cx="7665720" cy="50463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 algn="l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</a:t>
            </a:r>
            <a:r>
              <a:rPr 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//</a:t>
            </a:r>
            <a:r>
              <a:rPr lang="zh-CN" alt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希尔排序</a:t>
            </a:r>
            <a:endParaRPr lang="zh-CN" altLang="en-US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public void shellSort(int[] d,boolean flag){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int tmp,i,j;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for(int k=0;k&lt;d.length;k++){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int dk=d[k];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for(i=dk;i&lt;len;i++){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   tmp=a[i];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   for(j=i-dk;j&gt;=0&amp;&amp;tmp&lt;a[j];j-=dk)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       a[j+dk]=a[j];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   a[j+dk]=tmp;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if(flag) 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	System.out.print("dk="+dk+":");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	display();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874713" y="175450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304800"/>
            <a:ext cx="38100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排序算法的实现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756920" y="87376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排序算法主要代码</a:t>
            </a:r>
            <a:endParaRPr lang="zh-CN" altLang="en-US" sz="28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233" name="TextBox 58      (向天歌演示原创作品：www.TopPPT.cn)"/>
          <p:cNvSpPr txBox="1"/>
          <p:nvPr/>
        </p:nvSpPr>
        <p:spPr>
          <a:xfrm>
            <a:off x="875030" y="1941195"/>
            <a:ext cx="5810250" cy="50463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//冒泡排序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public void bubbleSort(boolean flag) {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boolean tmp = true;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for (int i=1;i&lt;len&amp;&amp;tmp;i++) {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tmp=false;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for (int j=0;j&lt;len-1;j++) { 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   if (a[j]&gt;a[j+1]) { 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   		swap(j, j+1);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       tmp = true;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   }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}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if(flag) {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	System.out.print("第"+i +"趟: ");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		display();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}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}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}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</a:t>
            </a: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995998" y="166052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304800"/>
            <a:ext cx="37909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排序算法的实现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855980" y="765175"/>
            <a:ext cx="801624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排序算法主要代码</a:t>
            </a:r>
            <a:endParaRPr lang="zh-CN" altLang="en-US" sz="2800" strike="noStrike" noProof="1">
              <a:solidFill>
                <a:schemeClr val="tx1"/>
              </a:solidFill>
              <a:ea typeface="微软雅黑" panose="020B0503020204020204" charset="-122"/>
              <a:cs typeface="+mn-cs"/>
            </a:endParaRPr>
          </a:p>
        </p:txBody>
      </p:sp>
      <p:sp>
        <p:nvSpPr>
          <p:cNvPr id="9233" name="TextBox 58      (向天歌演示原创作品：www.TopPPT.cn)"/>
          <p:cNvSpPr txBox="1"/>
          <p:nvPr/>
        </p:nvSpPr>
        <p:spPr>
          <a:xfrm>
            <a:off x="996315" y="2014855"/>
            <a:ext cx="6934200" cy="36614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 algn="l">
              <a:buFont typeface="Arial" panose="020B0604020202020204" pitchFamily="34" charset="0"/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                    </a:t>
            </a: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//快速排序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 public void quickSort(int l,int h,boolean flag){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if (l&lt;h){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int pl=Partition(l,h);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if(flag) {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		System.out.print("第"+(++cnt)+"趟: ");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		display();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}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quickSort(l,pl-1,flag);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quickSort(pl+1,h,flag);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}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}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1042353" y="1704340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304800"/>
            <a:ext cx="38100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排序算法的实现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806450" y="93345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排序算法主要代码</a:t>
            </a:r>
            <a:endParaRPr lang="zh-CN" altLang="en-US" sz="2800" strike="noStrike" noProof="1">
              <a:solidFill>
                <a:schemeClr val="tx1"/>
              </a:solidFill>
              <a:ea typeface="微软雅黑" panose="020B0503020204020204" charset="-122"/>
              <a:cs typeface="+mn-cs"/>
            </a:endParaRPr>
          </a:p>
        </p:txBody>
      </p:sp>
      <p:sp>
        <p:nvSpPr>
          <p:cNvPr id="9233" name="TextBox 58      (向天歌演示原创作品：www.TopPPT.cn)"/>
          <p:cNvSpPr txBox="1"/>
          <p:nvPr/>
        </p:nvSpPr>
        <p:spPr>
          <a:xfrm>
            <a:off x="1042670" y="2050415"/>
            <a:ext cx="5810250" cy="4246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 algn="l">
              <a:buFont typeface="Arial" panose="020B0604020202020204" pitchFamily="34" charset="0"/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//选择排序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 void selectSort(boolean flag) {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for (int i=0;i&lt;len-1;i++) {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int min=i; 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for (int j=i+1;j&lt;len;j++) {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if(a[j]&lt;a[min]) min=j;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}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if(min!=i) swap(i, min);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if(flag) {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	   		System.out.print("第"+(i+1)+"趟: ");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	   		display();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}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}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algn="l"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}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924243" y="168973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304800"/>
            <a:ext cx="38100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排序算法的实现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806450" y="893445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排序算法主要代码</a:t>
            </a:r>
            <a:endParaRPr lang="zh-CN" altLang="en-US" sz="28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233" name="TextBox 58      (向天歌演示原创作品：www.TopPPT.cn)"/>
          <p:cNvSpPr txBox="1"/>
          <p:nvPr/>
        </p:nvSpPr>
        <p:spPr>
          <a:xfrm>
            <a:off x="1047750" y="1836738"/>
            <a:ext cx="6059170" cy="39382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lvl="0" algn="l">
              <a:lnSpc>
                <a:spcPct val="100000"/>
              </a:lnSpc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//堆排序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public void heapSort(boolean flag){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	cnt=0;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for(int i=0;i&lt;len-1;i++){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sift(len-1-i);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swap(0,len-1-i);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if(flag) {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		System.out.print("第"+(++cnt)+"趟: ");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		display();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}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}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sz="18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}</a:t>
            </a:r>
            <a:endParaRPr sz="18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9855" indent="0">
              <a:buNone/>
            </a:pPr>
            <a:endParaRPr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488555" y="1963420"/>
            <a:ext cx="3853815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 void sift(int n){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for (int i=(n-1)/2;i&gt;=0;i--){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int k=i;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while(2*k+1&lt;=n){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int bn=2*k+1;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if(bn&lt;n&amp;&amp;a[bn]&lt;a[bn+1])bn++;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if(a[k]&lt;a[bn]){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swap(k,bn);k=bn;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}else break;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}</a:t>
            </a:r>
            <a:endParaRPr lang="zh-CN" altLang="en-US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1062673" y="1684020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304800"/>
            <a:ext cx="38100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排序算法的实现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826770" y="90297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排序算法主要代码</a:t>
            </a:r>
            <a:endParaRPr lang="zh-CN" altLang="en-US" sz="28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62990" y="1913255"/>
            <a:ext cx="768477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//归并排序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 void mergeSort(boolean flag){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	cnt=0;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	mergeSort(a,0,len-1,flag);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public void mergeSort(int[] a,int l,int r,boolean flag) {  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if(l&gt;=r)return;  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int mid=(l+r)/2;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mergeSort(a,l,mid,flag);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mergeSort(a,mid+1,r,flag);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merge(a,l,mid,r);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if(flag) 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		System.out.print("第"+(++cnt)+"趟: ");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		display();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}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endParaRPr lang="zh-CN" altLang="en-US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304800"/>
            <a:ext cx="38100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排序算法的实现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5865" y="1202055"/>
            <a:ext cx="2160905" cy="43033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050" y="1202055"/>
            <a:ext cx="2027555" cy="43033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Rectangle 16      (向天歌演示原创作品：www.TopPPT.cn)"/>
          <p:cNvSpPr/>
          <p:nvPr/>
        </p:nvSpPr>
        <p:spPr>
          <a:xfrm>
            <a:off x="615633" y="1694498"/>
            <a:ext cx="3887788" cy="2232025"/>
          </a:xfrm>
          <a:prstGeom prst="rect">
            <a:avLst/>
          </a:prstGeom>
          <a:solidFill>
            <a:srgbClr val="2B2E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23559" name="文本框 2"/>
          <p:cNvSpPr txBox="1"/>
          <p:nvPr/>
        </p:nvSpPr>
        <p:spPr>
          <a:xfrm>
            <a:off x="750570" y="1854835"/>
            <a:ext cx="4127500" cy="612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 eaLnBrk="0" hangingPunct="0"/>
            <a:r>
              <a: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程序测试结果</a:t>
            </a:r>
            <a:endParaRPr lang="zh-CN" altLang="en-US" sz="3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864553" y="172910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304800"/>
            <a:ext cx="420941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判断运算是否正确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746760" y="91313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algn="l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函数和类的具体定义</a:t>
            </a:r>
            <a:endParaRPr lang="zh-CN" altLang="en-US" sz="28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4870" y="2033905"/>
            <a:ext cx="768477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 fontAlgn="auto">
              <a:lnSpc>
                <a:spcPct val="200000"/>
              </a:lnSpc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 void clear()将栈置空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ct val="200000"/>
              </a:lnSpc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 boolean isEmpty() 判断栈是否为空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 fontAlgn="auto">
              <a:lnSpc>
                <a:spcPct val="200000"/>
              </a:lnSpc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</a:rPr>
              <a:t>public int length() 求栈链长度方法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 fontAlgn="auto">
              <a:lnSpc>
                <a:spcPct val="200000"/>
              </a:lnSpc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</a:rPr>
              <a:t>public Object peek()取栈顶元素并返回它的值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 fontAlgn="auto">
              <a:lnSpc>
                <a:spcPct val="200000"/>
              </a:lnSpc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</a:rPr>
              <a:t>public Object pop()出栈方法</a:t>
            </a:r>
            <a:endParaRPr lang="en-US" altLang="zh-CN" sz="1600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l" fontAlgn="auto">
              <a:lnSpc>
                <a:spcPct val="200000"/>
              </a:lnSpc>
              <a:buNone/>
            </a:pPr>
            <a:r>
              <a:rPr lang="en-US" altLang="zh-CN" sz="1600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</a:rPr>
              <a:t>public void push(Object x) throws Exception入栈方法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874713" y="1664970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260350"/>
            <a:ext cx="446849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判断运算是否正确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/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756920" y="942975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测试主要代码</a:t>
            </a:r>
            <a:endParaRPr lang="zh-CN" altLang="en-US" sz="28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54100" y="1933575"/>
            <a:ext cx="768477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</a:t>
            </a:r>
            <a:r>
              <a:rPr lang="zh-CN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判断优先级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 int priority(char c){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if(c=='*'||c=='/'){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return 2;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else if(c=='+'||c=='-'){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return 1;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else{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return 0;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endParaRPr lang="zh-CN" altLang="en-US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974408" y="168973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304800"/>
            <a:ext cx="435864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判断运算是否正确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/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856615" y="91313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测试主要代码</a:t>
            </a:r>
            <a:endParaRPr lang="zh-CN" altLang="en-US" sz="28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56615" y="1964055"/>
            <a:ext cx="768477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00000"/>
              </a:lnSpc>
              <a:buNone/>
            </a:pPr>
            <a:r>
              <a:rPr 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</a:t>
            </a: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</a:t>
            </a:r>
            <a:r>
              <a:rPr lang="zh-CN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判断是否为左括号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public boolean isOpenParenthesis(char c){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return '('==c;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</a:t>
            </a:r>
            <a:r>
              <a:rPr lang="zh-CN" alt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判断是否为右括号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public boolean isCloseParenthesis(char c){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return ')'==c;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//判断是否为运算符</a:t>
            </a:r>
            <a:endParaRPr lang="zh-CN" altLang="en-US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                                public boolean isOperator(char c){</a:t>
            </a:r>
            <a:endParaRPr lang="zh-CN" altLang="en-US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if('+'==c||'-'==c||'*'==c||'/'==c){</a:t>
            </a:r>
            <a:endParaRPr lang="zh-CN" altLang="en-US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return true;</a:t>
            </a:r>
            <a:endParaRPr lang="zh-CN" altLang="en-US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}else{</a:t>
            </a:r>
            <a:endParaRPr lang="zh-CN" altLang="en-US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return false;</a:t>
            </a:r>
            <a:endParaRPr lang="zh-CN" altLang="en-US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}</a:t>
            </a:r>
            <a:endParaRPr lang="zh-CN" altLang="en-US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}</a:t>
            </a:r>
            <a:endParaRPr lang="zh-CN" altLang="en-US"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954088" y="1714500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304800"/>
            <a:ext cx="408876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判断运算是否正确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836295" y="893445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测试主要代码</a:t>
            </a:r>
            <a:endParaRPr lang="zh-CN" altLang="en-US" sz="28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1355" y="1943735"/>
            <a:ext cx="1117282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</a:t>
            </a:r>
            <a:r>
              <a:rPr lang="zh-CN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将运算表达式转变成后缀表达式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 String convertToPostfix(String expression) throws Exception{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Stack st=new Stack();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String postfix=new String( 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for(int i=0;expression!=null&amp;&amp;i&lt;expression.length();i++){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char c=expression.charAt(i);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if(' '!=c){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if(isOpenParenthesis(c)){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st.push(c);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else if(isCloseParenthesis(c)){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char ac=(Character) st.pop();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while(!isOpenParenthesis(ac)){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postfix=postfix.concat(String.valueOf(ac));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ac=(Character)st.pop();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}}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endParaRPr lang="zh-CN" altLang="en-US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914083" y="1605280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304800"/>
            <a:ext cx="420941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判断运算是否正确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796290" y="84328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测试主要代码</a:t>
            </a:r>
            <a:endParaRPr lang="zh-CN" altLang="en-US" sz="28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1180" y="1943735"/>
            <a:ext cx="1130300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</a:t>
            </a:r>
            <a:r>
              <a:rPr lang="zh-CN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将运算表达式转变成后缀表达式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else if(isOperator(c)){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if(!st.isEmpty()){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Character ac=(Character)st.pop();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while(ac !=null&amp;&amp;priority(ac)&gt;=priority(c)){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	postfix=postfix.concat(String.valueOf(ac));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	ac=(Character)st.pop();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if(ac!=null){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	st.push(ac);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st.push(c);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endParaRPr lang="zh-CN" altLang="en-US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1065848" y="1729740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304800"/>
            <a:ext cx="413893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判断运算是否正确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866140" y="88392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测试主要代码</a:t>
            </a:r>
            <a:endParaRPr lang="zh-CN" altLang="en-US" sz="28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1180" y="2053590"/>
            <a:ext cx="772795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</a:t>
            </a:r>
            <a:r>
              <a:rPr lang="zh-CN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将运算表达式转变成后缀表达式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else{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postfix=postfix.concat(String.valueOf(c));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while(!st.isEmpty())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postfix=postfix.concat(String.valueOf(st.pop()));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endParaRPr lang="zh-CN" altLang="en-US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4152583" y="169481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304800"/>
            <a:ext cx="40690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判断运算是否正确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4151630" y="92329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测试主要代码</a:t>
            </a:r>
            <a:endParaRPr lang="zh-CN" altLang="en-US" sz="28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5110" y="1943735"/>
            <a:ext cx="1160907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</a:t>
            </a:r>
            <a:r>
              <a:rPr lang="zh-CN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对后缀表达式进行运算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 double numberCalculate(String postfix) throws Exception{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Stack st=new Stack();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for(int i=0;postfix!=null&amp;&amp;i&lt;postfix.length();i++){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char c=postfix.charAt(i);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if(isOperator(c)){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double d2=Double.valueOf(st.pop().toString());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double d1=Double.valueOf(st.pop().toString());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double d3=0;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if('+'==c){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d3=d1+d2;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}else if('-'==c){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d3=d1-d2;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}else if('*'==c){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d3=d1*d2;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}else if('/'==c){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</a:t>
            </a:r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4152583" y="1694815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304800"/>
            <a:ext cx="40690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判断运算是否正确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4151630" y="92329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测试主要代码</a:t>
            </a:r>
            <a:endParaRPr lang="zh-CN" altLang="en-US" sz="28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5110" y="1943735"/>
            <a:ext cx="1160907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//</a:t>
            </a:r>
            <a:r>
              <a:rPr lang="zh-CN"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对后缀表达式进行运算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if(d2==0){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	throw new IllegalArgumentException("除数不能为0.");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}else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	d3=d1/d2;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st.push(d3);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}else{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	st.push(c);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return (Double)st.pop();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024255" lvl="2" indent="0"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endParaRPr lang="zh-CN" altLang="en-US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0" name="Straight Connector 69      (向天歌演示原创作品：www.TopPPT.cn)"/>
          <p:cNvCxnSpPr/>
          <p:nvPr/>
        </p:nvCxnSpPr>
        <p:spPr>
          <a:xfrm>
            <a:off x="914083" y="1654810"/>
            <a:ext cx="6697663" cy="0"/>
          </a:xfrm>
          <a:prstGeom prst="line">
            <a:avLst/>
          </a:prstGeom>
          <a:ln w="19050">
            <a:solidFill>
              <a:srgbClr val="21A3D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0" name="Rectangle 49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51" name="Rectangle 50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9231" name="TextBox 51      (向天歌演示原创作品：www.TopPPT.cn)"/>
          <p:cNvSpPr txBox="1"/>
          <p:nvPr/>
        </p:nvSpPr>
        <p:spPr>
          <a:xfrm>
            <a:off x="681355" y="304800"/>
            <a:ext cx="40690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判断运算是否正确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57" name="TextBox 52      (向天歌演示原创作品：www.TopPPT.cn)"/>
          <p:cNvSpPr txBox="1"/>
          <p:nvPr/>
        </p:nvSpPr>
        <p:spPr>
          <a:xfrm>
            <a:off x="796290" y="843280"/>
            <a:ext cx="6934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  <a:scene3d>
              <a:camera prst="orthographicFront"/>
              <a:lightRig rig="threePt" dir="t"/>
            </a:scene3d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微软雅黑" panose="020B0503020204020204" charset="-122"/>
                <a:cs typeface="+mn-cs"/>
              </a:defRPr>
            </a:lvl5pPr>
          </a:lstStyle>
          <a:p>
            <a:pPr marL="0" lvl="0" indent="0" eaLnBrk="0" fontAlgn="base" hangingPunct="0">
              <a:spcBef>
                <a:spcPct val="0"/>
              </a:spcBef>
              <a:buNone/>
            </a:pPr>
            <a:r>
              <a:rPr lang="zh-CN" altLang="en-US" sz="2800">
                <a:sym typeface="+mn-ea"/>
              </a:rPr>
              <a:t>主方法</a:t>
            </a:r>
            <a:endParaRPr lang="zh-CN" altLang="en-US" sz="2800" strike="noStrike" noProof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5110" y="1943735"/>
            <a:ext cx="1160907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public static void main(String[] args)throws Exception{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boolean flag=false;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while(flag==false){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try{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jisuan p=new jisuan();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Scanner sc=new Scanner(System.in);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System.out.println("请输入运算表达式：");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String expression=sc.next();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String postfix=p.convertToPostfix(expression);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System.out.println(p.numberCalculate(postfix));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} 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catch(Exception e){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System.out.println("输入错误！请重新输入：");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r>
              <a:rPr dirty="0">
                <a:solidFill>
                  <a:srgbClr val="17375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  <a:endParaRPr dirty="0">
              <a:solidFill>
                <a:srgbClr val="17375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l">
              <a:lnSpc>
                <a:spcPct val="100000"/>
              </a:lnSpc>
              <a:buNone/>
            </a:pPr>
            <a:endParaRPr lang="zh-CN" altLang="en-US"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16      (向天歌演示原创作品：www.TopPPT.cn)"/>
          <p:cNvSpPr/>
          <p:nvPr/>
        </p:nvSpPr>
        <p:spPr>
          <a:xfrm>
            <a:off x="1982153" y="1288098"/>
            <a:ext cx="3887788" cy="2232025"/>
          </a:xfrm>
          <a:prstGeom prst="rect">
            <a:avLst/>
          </a:prstGeom>
          <a:solidFill>
            <a:srgbClr val="2B2E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34" name="Rectangle 33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35" name="Rectangle 34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36" name="Rectangle 35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23558" name="TextBox 36      (向天歌演示原创作品：www.TopPPT.cn)"/>
          <p:cNvSpPr txBox="1"/>
          <p:nvPr/>
        </p:nvSpPr>
        <p:spPr>
          <a:xfrm>
            <a:off x="681355" y="334645"/>
            <a:ext cx="411607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课程设计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判断运算是否正确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59" name="文本框 2"/>
          <p:cNvSpPr txBox="1"/>
          <p:nvPr/>
        </p:nvSpPr>
        <p:spPr>
          <a:xfrm>
            <a:off x="2438400" y="1539875"/>
            <a:ext cx="4127500" cy="612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 eaLnBrk="0" hangingPunct="0"/>
            <a:r>
              <a:rPr lang="zh-CN" altLang="en-US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程序测试结果</a:t>
            </a:r>
            <a:endParaRPr lang="zh-CN" altLang="en-US" sz="3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8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9435" y="1402715"/>
            <a:ext cx="2167890" cy="24434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Rectangle 39      (向天歌演示原创作品：www.TopPPT.cn)"/>
          <p:cNvSpPr/>
          <p:nvPr/>
        </p:nvSpPr>
        <p:spPr>
          <a:xfrm>
            <a:off x="0" y="260350"/>
            <a:ext cx="40798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41" name="Rectangle 40      (向天歌演示原创作品：www.TopPPT.cn)"/>
          <p:cNvSpPr/>
          <p:nvPr/>
        </p:nvSpPr>
        <p:spPr>
          <a:xfrm>
            <a:off x="479425" y="260350"/>
            <a:ext cx="71438" cy="431800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42" name="Rectangle 41      (向天歌演示原创作品：www.TopPPT.cn)"/>
          <p:cNvSpPr/>
          <p:nvPr/>
        </p:nvSpPr>
        <p:spPr>
          <a:xfrm>
            <a:off x="615950" y="463550"/>
            <a:ext cx="65088" cy="225425"/>
          </a:xfrm>
          <a:prstGeom prst="rect">
            <a:avLst/>
          </a:prstGeom>
          <a:solidFill>
            <a:srgbClr val="21A3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微软雅黑" panose="020B0503020204020204" charset="-122"/>
              <a:cs typeface="+mn-cs"/>
            </a:endParaRPr>
          </a:p>
        </p:txBody>
      </p:sp>
      <p:sp>
        <p:nvSpPr>
          <p:cNvPr id="25604" name="TextBox 42      (向天歌演示原创作品：www.TopPPT.cn)"/>
          <p:cNvSpPr txBox="1"/>
          <p:nvPr/>
        </p:nvSpPr>
        <p:spPr>
          <a:xfrm>
            <a:off x="681038" y="304800"/>
            <a:ext cx="3192462" cy="482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lvl="0"/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数据结构·课程设计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05" name="TextBox 33      (向天歌演示原创作品：www.TopPPT.cn)"/>
          <p:cNvSpPr txBox="1"/>
          <p:nvPr/>
        </p:nvSpPr>
        <p:spPr>
          <a:xfrm>
            <a:off x="2782888" y="2854325"/>
            <a:ext cx="6324600" cy="396938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eaLnBrk="0" hangingPunct="0">
              <a:buFont typeface="Arial" panose="020B0604020202020204" pitchFamily="34" charset="0"/>
              <a:buNone/>
            </a:pPr>
            <a:r>
              <a:rPr lang="en-US" dirty="0">
                <a:latin typeface="微软雅黑" panose="020B0503020204020204" charset="-122"/>
              </a:rPr>
              <a:t>  </a:t>
            </a:r>
            <a:r>
              <a:rPr dirty="0">
                <a:latin typeface="微软雅黑" panose="020B0503020204020204" charset="-122"/>
              </a:rPr>
              <a:t>在这两周的课程设计中，一共做了三道课设题目。在过程中也遇到了不少问题，在敲第一个程序的时候，刚开始不懂就地逆置是什么意思，通过询问同学也解决了问题。在最后运行结果时。第二个程序是排序算法的实现，通过查找课本，知道了多种算法，并在代码中实现，完成了程序，我可以很熟练的理解整个代码。第三个程序是判断运算是否正确，运用了栈的知识，询问同学，查找资料，勉强完成了这个实验。</a:t>
            </a:r>
            <a:endParaRPr dirty="0">
              <a:latin typeface="微软雅黑" panose="020B0503020204020204" charset="-122"/>
            </a:endParaRPr>
          </a:p>
          <a:p>
            <a:pPr lvl="0" eaLnBrk="0" hangingPunct="0">
              <a:buFont typeface="Arial" panose="020B0604020202020204" pitchFamily="34" charset="0"/>
              <a:buNone/>
            </a:pPr>
            <a:r>
              <a:rPr dirty="0">
                <a:latin typeface="微软雅黑" panose="020B0503020204020204" charset="-122"/>
              </a:rPr>
              <a:t>通过这次的数据结构的课程设计，我的编程能力有了很明显的提高，虽然好多代码都是在书上找的，理解为主。同学们每天都能坚持完善自己的程序，在老师和同学们的帮助下，我可以在自己的能力下敲出简单的代码，已经不单单是只能看懂代码了，在以后的学习中，我可以多动手敲代码，编程能力会有更大的提高。</a:t>
            </a:r>
            <a:endParaRPr dirty="0">
              <a:latin typeface="微软雅黑" panose="020B0503020204020204" charset="-122"/>
            </a:endParaRPr>
          </a:p>
        </p:txBody>
      </p:sp>
      <p:sp>
        <p:nvSpPr>
          <p:cNvPr id="25606" name="TextBox 34      (向天歌演示原创作品：www.TopPPT.cn)"/>
          <p:cNvSpPr txBox="1"/>
          <p:nvPr/>
        </p:nvSpPr>
        <p:spPr>
          <a:xfrm>
            <a:off x="2782888" y="2117725"/>
            <a:ext cx="7091362" cy="5476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lvl="0" eaLnBrk="0" hangingPunct="0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21A3D0"/>
                </a:solidFill>
                <a:latin typeface="微软雅黑" panose="020B0503020204020204" charset="-122"/>
                <a:ea typeface="微软雅黑" panose="020B0503020204020204" charset="-122"/>
              </a:rPr>
              <a:t>课程设计总结</a:t>
            </a:r>
            <a:endParaRPr lang="zh-CN" altLang="en-US" sz="2800" b="1" dirty="0">
              <a:solidFill>
                <a:srgbClr val="21A3D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607" name="Picture 1      (向天歌演示原创作品：www.TopPPT.cn)"/>
          <p:cNvPicPr>
            <a:picLocks noChangeAspect="1"/>
          </p:cNvPicPr>
          <p:nvPr/>
        </p:nvPicPr>
        <p:blipFill>
          <a:blip r:embed="rId1"/>
          <a:srcRect l="50000" t="15062" r="27390" b="64651"/>
          <a:stretch>
            <a:fillRect/>
          </a:stretch>
        </p:blipFill>
        <p:spPr>
          <a:xfrm>
            <a:off x="1065213" y="1914525"/>
            <a:ext cx="1511300" cy="1295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8" name="Picture 2      (向天歌演示原创作品：www.TopPPT.cn)"/>
          <p:cNvPicPr>
            <a:picLocks noChangeAspect="1"/>
          </p:cNvPicPr>
          <p:nvPr/>
        </p:nvPicPr>
        <p:blipFill>
          <a:blip r:embed="rId2"/>
          <a:srcRect l="28445" t="14536" r="50359" b="65935"/>
          <a:stretch>
            <a:fillRect/>
          </a:stretch>
        </p:blipFill>
        <p:spPr>
          <a:xfrm>
            <a:off x="9336088" y="4005263"/>
            <a:ext cx="1608137" cy="1412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87308"/>
  <p:tag name="KSO_WM_TEMPLATE_THUMBS_INDEX" val="1、2、3、6、8、10、11、12、15"/>
</p:tagLst>
</file>

<file path=ppt/theme/theme1.xml><?xml version="1.0" encoding="utf-8"?>
<a:theme xmlns:a="http://schemas.openxmlformats.org/drawingml/2006/main" name="Office 主题​​">
  <a:themeElements>
    <a:clrScheme name="2019空白演示文档">
      <a:dk1>
        <a:srgbClr val="000000"/>
      </a:dk1>
      <a:lt1>
        <a:srgbClr val="FFFFFF"/>
      </a:lt1>
      <a:dk2>
        <a:srgbClr val="E6E4E4"/>
      </a:dk2>
      <a:lt2>
        <a:srgbClr val="FFFFFF"/>
      </a:lt2>
      <a:accent1>
        <a:srgbClr val="477DEA"/>
      </a:accent1>
      <a:accent2>
        <a:srgbClr val="9B9B9B"/>
      </a:accent2>
      <a:accent3>
        <a:srgbClr val="F3B745"/>
      </a:accent3>
      <a:accent4>
        <a:srgbClr val="477EE7"/>
      </a:accent4>
      <a:accent5>
        <a:srgbClr val="4BA151"/>
      </a:accent5>
      <a:accent6>
        <a:srgbClr val="E9403C"/>
      </a:accent6>
      <a:hlink>
        <a:srgbClr val="0563C1"/>
      </a:hlink>
      <a:folHlink>
        <a:srgbClr val="954D72"/>
      </a:folHlink>
    </a:clrScheme>
    <a:fontScheme name="2019空白演示文档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2019空白演示文档">
    <a:dk1>
      <a:srgbClr val="000000"/>
    </a:dk1>
    <a:lt1>
      <a:srgbClr val="FFFFFF"/>
    </a:lt1>
    <a:dk2>
      <a:srgbClr val="E6E4E4"/>
    </a:dk2>
    <a:lt2>
      <a:srgbClr val="FFFFFF"/>
    </a:lt2>
    <a:accent1>
      <a:srgbClr val="477DEA"/>
    </a:accent1>
    <a:accent2>
      <a:srgbClr val="9B9B9B"/>
    </a:accent2>
    <a:accent3>
      <a:srgbClr val="F3B745"/>
    </a:accent3>
    <a:accent4>
      <a:srgbClr val="477EE7"/>
    </a:accent4>
    <a:accent5>
      <a:srgbClr val="4BA151"/>
    </a:accent5>
    <a:accent6>
      <a:srgbClr val="E9403C"/>
    </a:accent6>
    <a:hlink>
      <a:srgbClr val="0563C1"/>
    </a:hlink>
    <a:folHlink>
      <a:srgbClr val="954D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11536</Words>
  <Application>WPS 演示</Application>
  <PresentationFormat>宽屏</PresentationFormat>
  <Paragraphs>661</Paragraphs>
  <Slides>40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9" baseType="lpstr">
      <vt:lpstr>Arial</vt:lpstr>
      <vt:lpstr>宋体</vt:lpstr>
      <vt:lpstr>Wingdings</vt:lpstr>
      <vt:lpstr>微软雅黑</vt:lpstr>
      <vt:lpstr>Calibri</vt:lpstr>
      <vt:lpstr>黑体</vt:lpstr>
      <vt:lpstr>Arial Unicode MS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kingsoft</dc:creator>
  <cp:lastModifiedBy>哆啦</cp:lastModifiedBy>
  <cp:revision>399</cp:revision>
  <dcterms:created xsi:type="dcterms:W3CDTF">2017-08-03T09:01:00Z</dcterms:created>
  <dcterms:modified xsi:type="dcterms:W3CDTF">2019-01-10T03:49:54Z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2052-11.1.0.8201</vt:lpwstr>
  </property>
</Properties>
</file>