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9" r:id="rId4"/>
    <p:sldId id="258" r:id="rId5"/>
    <p:sldId id="260" r:id="rId6"/>
    <p:sldId id="268" r:id="rId7"/>
    <p:sldId id="272" r:id="rId8"/>
    <p:sldId id="270" r:id="rId9"/>
    <p:sldId id="273" r:id="rId10"/>
    <p:sldId id="271" r:id="rId11"/>
    <p:sldId id="274" r:id="rId12"/>
    <p:sldId id="275" r:id="rId13"/>
    <p:sldId id="276" r:id="rId15"/>
    <p:sldId id="285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6" r:id="rId25"/>
    <p:sldId id="288" r:id="rId26"/>
    <p:sldId id="289" r:id="rId27"/>
    <p:sldId id="287" r:id="rId28"/>
    <p:sldId id="290" r:id="rId29"/>
    <p:sldId id="262" r:id="rId30"/>
    <p:sldId id="264" r:id="rId31"/>
    <p:sldId id="263" r:id="rId32"/>
    <p:sldId id="265" r:id="rId33"/>
    <p:sldId id="266" r:id="rId34"/>
    <p:sldId id="267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71851e-ee4d-4c96-ad9f-0cc632a09c96}">
          <p14:sldIdLst>
            <p14:sldId id="256"/>
            <p14:sldId id="259"/>
            <p14:sldId id="258"/>
          </p14:sldIdLst>
        </p14:section>
        <p14:section name="无标题节" id="{b7367769-1c99-4ba3-86c4-1f9364b0de68}">
          <p14:sldIdLst>
            <p14:sldId id="260"/>
            <p14:sldId id="268"/>
            <p14:sldId id="272"/>
            <p14:sldId id="270"/>
            <p14:sldId id="273"/>
            <p14:sldId id="271"/>
            <p14:sldId id="274"/>
            <p14:sldId id="275"/>
            <p14:sldId id="276"/>
            <p14:sldId id="285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6"/>
            <p14:sldId id="288"/>
            <p14:sldId id="289"/>
            <p14:sldId id="287"/>
            <p14:sldId id="290"/>
            <p14:sldId id="262"/>
            <p14:sldId id="264"/>
            <p14:sldId id="263"/>
            <p14:sldId id="265"/>
            <p14:sldId id="266"/>
            <p14:sldId id="267"/>
            <p14:sldId id="291"/>
            <p14:sldId id="292"/>
            <p14:sldId id="293"/>
            <p14:sldId id="294"/>
            <p14:sldId id="295"/>
            <p14:sldId id="296"/>
            <p14:sldId id="297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测试结果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59314" y="1586820"/>
            <a:ext cx="64733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59314" y="4066495"/>
            <a:ext cx="6473372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15771" y="563110"/>
            <a:ext cx="6547758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15771" y="3442835"/>
            <a:ext cx="6547758" cy="150018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37701" y="3295381"/>
            <a:ext cx="10516598" cy="267238"/>
            <a:chOff x="837701" y="3295382"/>
            <a:chExt cx="10516598" cy="267238"/>
          </a:xfrm>
        </p:grpSpPr>
        <p:sp>
          <p:nvSpPr>
            <p:cNvPr id="7" name="椭圆 6"/>
            <p:cNvSpPr/>
            <p:nvPr/>
          </p:nvSpPr>
          <p:spPr>
            <a:xfrm rot="10800000">
              <a:off x="2551641" y="3295382"/>
              <a:ext cx="267237" cy="2672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 rot="10800000">
              <a:off x="1913519" y="3328787"/>
              <a:ext cx="200428" cy="200428"/>
            </a:xfrm>
            <a:prstGeom prst="ellipse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1342205" y="3362192"/>
              <a:ext cx="133619" cy="133619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rot="10800000">
              <a:off x="837701" y="3395597"/>
              <a:ext cx="66809" cy="66809"/>
            </a:xfrm>
            <a:prstGeom prst="ellipse">
              <a:avLst/>
            </a:prstGeom>
            <a:solidFill>
              <a:schemeClr val="tx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9373122" y="3295383"/>
              <a:ext cx="267237" cy="2672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0078054" y="3328787"/>
              <a:ext cx="200428" cy="200428"/>
            </a:xfrm>
            <a:prstGeom prst="ellipse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0716177" y="3362192"/>
              <a:ext cx="133619" cy="133619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11287490" y="3395597"/>
              <a:ext cx="66809" cy="66809"/>
            </a:xfrm>
            <a:prstGeom prst="ellipse">
              <a:avLst/>
            </a:prstGeom>
            <a:solidFill>
              <a:schemeClr val="tx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962800" y="2768400"/>
            <a:ext cx="6264000" cy="1324800"/>
          </a:xfrm>
        </p:spPr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/>
          <a:lstStyle>
            <a:lvl1pPr algn="l">
              <a:defRPr sz="3200" b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09760" y="365125"/>
            <a:ext cx="1844040" cy="5513161"/>
          </a:xfrm>
        </p:spPr>
        <p:txBody>
          <a:bodyPr vert="eaVert"/>
          <a:lstStyle>
            <a:lvl1pPr algn="l"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8384177" cy="5513161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24471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249714" y="333829"/>
            <a:ext cx="7692572" cy="1178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32B8C-E81A-4559-905F-EA468C4AE0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302A8-733F-4FC4-86EA-56C9498006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just" defTabSz="914400" rtl="0" eaLnBrk="1" latinLnBrk="0" hangingPunct="1">
        <a:lnSpc>
          <a:spcPct val="130000"/>
        </a:lnSpc>
        <a:spcBef>
          <a:spcPts val="12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02945" indent="-342900" algn="just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859314" y="850855"/>
            <a:ext cx="6473372" cy="2387600"/>
          </a:xfrm>
        </p:spPr>
        <p:txBody>
          <a:bodyPr>
            <a:normAutofit/>
          </a:bodyPr>
          <a:p>
            <a:r>
              <a:rPr lang="zh-CN" altLang="en-US" dirty="0"/>
              <a:t>数据结构课程设计答辩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859314" y="3492455"/>
            <a:ext cx="6473372" cy="1655762"/>
          </a:xfrm>
        </p:spPr>
        <p:txBody>
          <a:bodyPr>
            <a:normAutofit fontScale="90000" lnSpcReduction="20000"/>
          </a:bodyPr>
          <a:p>
            <a:r>
              <a:rPr lang="zh-CN" dirty="0"/>
              <a:t>软件</a:t>
            </a:r>
            <a:r>
              <a:rPr lang="en-US" altLang="zh-CN" dirty="0"/>
              <a:t>171    </a:t>
            </a:r>
            <a:endParaRPr lang="en-US" altLang="zh-CN" dirty="0"/>
          </a:p>
          <a:p>
            <a:r>
              <a:rPr lang="en-US" altLang="zh-CN" dirty="0"/>
              <a:t>201711104024</a:t>
            </a:r>
            <a:endParaRPr lang="en-US" altLang="zh-CN" dirty="0"/>
          </a:p>
          <a:p>
            <a:r>
              <a:rPr lang="zh-CN" altLang="en-US" dirty="0"/>
              <a:t>潘和钰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-32385"/>
            <a:ext cx="7692390" cy="1104265"/>
          </a:xfrm>
        </p:spPr>
        <p:txBody>
          <a:bodyPr>
            <a:normAutofit/>
          </a:bodyPr>
          <a:p>
            <a:r>
              <a:rPr lang="zh-CN" altLang="en-US"/>
              <a:t>双向循环链表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15"/>
            <a:ext cx="10515600" cy="5219065"/>
          </a:xfrm>
        </p:spPr>
        <p:txBody>
          <a:bodyPr>
            <a:normAutofit fontScale="70000"/>
          </a:bodyPr>
          <a:p>
            <a:pPr marL="0" indent="0" algn="ctr">
              <a:buNone/>
            </a:pPr>
            <a:r>
              <a:rPr lang="zh-CN" altLang="en-US" sz="3600"/>
              <a:t>方   法</a:t>
            </a:r>
            <a:endParaRPr lang="zh-CN" altLang="en-US" sz="3600"/>
          </a:p>
          <a:p>
            <a:pPr marL="0" indent="0" algn="l">
              <a:buNone/>
            </a:pPr>
            <a:r>
              <a:rPr lang="en-US" altLang="zh-CN" sz="3600"/>
              <a:t>insert()      </a:t>
            </a:r>
            <a:r>
              <a:rPr lang="zh-CN" altLang="en-US" sz="3600"/>
              <a:t>插入一个节点</a:t>
            </a:r>
            <a:endParaRPr lang="zh-CN" altLang="en-US" sz="3600"/>
          </a:p>
          <a:p>
            <a:pPr marL="0" indent="0" algn="l">
              <a:buNone/>
            </a:pPr>
            <a:r>
              <a:rPr lang="en-US" altLang="zh-CN" sz="3600"/>
              <a:t>remove()   </a:t>
            </a:r>
            <a:r>
              <a:rPr lang="zh-CN" altLang="en-US" sz="3600"/>
              <a:t>删除一个节点</a:t>
            </a:r>
            <a:endParaRPr lang="zh-CN" altLang="en-US" sz="3600"/>
          </a:p>
          <a:p>
            <a:pPr marL="0" indent="0" algn="l">
              <a:buNone/>
            </a:pPr>
            <a:r>
              <a:rPr lang="en-US" altLang="zh-CN" sz="3600"/>
              <a:t>re()           </a:t>
            </a:r>
            <a:r>
              <a:rPr lang="zh-CN" altLang="en-US" sz="3600"/>
              <a:t>返回位置号</a:t>
            </a:r>
            <a:endParaRPr lang="zh-CN" altLang="en-US" sz="3600"/>
          </a:p>
          <a:p>
            <a:pPr marL="0" indent="0" algn="l">
              <a:buNone/>
            </a:pPr>
            <a:r>
              <a:rPr lang="en-US" altLang="zh-CN" sz="3600"/>
              <a:t>get()          </a:t>
            </a:r>
            <a:r>
              <a:rPr lang="zh-CN" altLang="en-US" sz="3600"/>
              <a:t>取元素</a:t>
            </a:r>
            <a:endParaRPr lang="zh-CN" altLang="en-US" sz="3600"/>
          </a:p>
          <a:p>
            <a:pPr marL="0" indent="0" algn="l">
              <a:buNone/>
            </a:pPr>
            <a:r>
              <a:rPr lang="en-US" altLang="zh-CN" sz="3600"/>
              <a:t>getlength()  </a:t>
            </a:r>
            <a:r>
              <a:rPr lang="zh-CN" altLang="en-US" sz="3600"/>
              <a:t>输出链表长度（元素个数）</a:t>
            </a:r>
            <a:endParaRPr lang="zh-CN" altLang="en-US" sz="3600"/>
          </a:p>
          <a:p>
            <a:pPr marL="0" indent="0" algn="l">
              <a:buNone/>
            </a:pPr>
            <a:r>
              <a:rPr lang="en-US" altLang="zh-CN" sz="3600"/>
              <a:t>inverse()          </a:t>
            </a:r>
            <a:r>
              <a:rPr lang="zh-CN" altLang="en-US" sz="3600"/>
              <a:t>就地逆置</a:t>
            </a:r>
            <a:endParaRPr lang="zh-CN" altLang="en-US" sz="3600"/>
          </a:p>
          <a:p>
            <a:pPr marL="0" indent="0" algn="l">
              <a:buNone/>
            </a:pPr>
            <a:r>
              <a:rPr lang="en-US" altLang="zh-CN" sz="3600"/>
              <a:t>display()   </a:t>
            </a:r>
            <a:r>
              <a:rPr lang="zh-CN" altLang="en-US" sz="3600"/>
              <a:t>输出整条链表</a:t>
            </a:r>
            <a:endParaRPr lang="zh-CN" altLang="en-US" sz="3600"/>
          </a:p>
          <a:p>
            <a:pPr marL="0" indent="0" algn="l">
              <a:buNone/>
            </a:pPr>
            <a:endParaRPr lang="zh-CN" alt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53975"/>
            <a:ext cx="7692390" cy="929640"/>
          </a:xfrm>
        </p:spPr>
        <p:txBody>
          <a:bodyPr>
            <a:normAutofit/>
          </a:bodyPr>
          <a:p>
            <a:r>
              <a:rPr lang="zh-CN" altLang="en-US"/>
              <a:t>双向循环链表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62635"/>
            <a:ext cx="10515600" cy="603313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zh-CN" altLang="en-US" sz="3600"/>
              <a:t>功    能</a:t>
            </a:r>
            <a:endParaRPr lang="zh-CN" altLang="en-US" sz="3600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建立一个新表</a:t>
            </a:r>
            <a:endParaRPr lang="zh-CN" altLang="en-US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插入节点</a:t>
            </a:r>
            <a:endParaRPr lang="zh-CN" altLang="en-US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删除节点</a:t>
            </a:r>
            <a:endParaRPr lang="zh-CN" altLang="en-US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返回位置号</a:t>
            </a:r>
            <a:endParaRPr lang="zh-CN" altLang="en-US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求链表长度</a:t>
            </a:r>
            <a:endParaRPr lang="zh-CN" altLang="en-US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取元素输出</a:t>
            </a:r>
            <a:endParaRPr lang="en-US" altLang="zh-CN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就地逆置</a:t>
            </a:r>
            <a:endParaRPr lang="zh-CN" altLang="en-US"/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/>
              <a:t>输出整条链表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10795"/>
            <a:ext cx="7692390" cy="913765"/>
          </a:xfrm>
        </p:spPr>
        <p:txBody>
          <a:bodyPr>
            <a:normAutofit/>
          </a:bodyPr>
          <a:p>
            <a:r>
              <a:rPr lang="zh-CN" altLang="en-US"/>
              <a:t>双向循环链表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24560"/>
            <a:ext cx="10515600" cy="5252720"/>
          </a:xfrm>
        </p:spPr>
        <p:txBody>
          <a:bodyPr/>
          <a:p>
            <a:pPr marL="0" indent="0" algn="just">
              <a:buNone/>
            </a:pPr>
            <a:r>
              <a:rPr lang="en-US" altLang="zh-CN"/>
              <a:t>   </a:t>
            </a:r>
            <a:r>
              <a:rPr lang="zh-CN" altLang="en-US" sz="3600"/>
              <a:t>结构：</a:t>
            </a:r>
            <a:endParaRPr lang="zh-CN" altLang="en-US" sz="3600"/>
          </a:p>
        </p:txBody>
      </p:sp>
      <p:pic>
        <p:nvPicPr>
          <p:cNvPr id="13" name="图片 13" descr="Q`XWOQ]ZSWJT~74T$H9[K$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20925" y="2680970"/>
            <a:ext cx="7267575" cy="1739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双向循环链表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r>
              <a:rPr lang="zh-CN"/>
              <a:t>插入：</a:t>
            </a:r>
            <a:endParaRPr lang="zh-CN"/>
          </a:p>
          <a:p>
            <a:r>
              <a:rPr lang="zh-CN"/>
              <a:t> </a:t>
            </a:r>
            <a:endParaRPr lang="zh-CN"/>
          </a:p>
          <a:p>
            <a:endParaRPr lang="zh-CN"/>
          </a:p>
          <a:p>
            <a:endParaRPr lang="zh-CN"/>
          </a:p>
          <a:p>
            <a:endParaRPr lang="zh-CN"/>
          </a:p>
          <a:p>
            <a:endParaRPr lang="zh-CN"/>
          </a:p>
        </p:txBody>
      </p:sp>
      <p:pic>
        <p:nvPicPr>
          <p:cNvPr id="4" name="图片 -2147482605" descr="1X~~D}(K_KCZ5CNHDEC@G~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0330" y="2549525"/>
            <a:ext cx="6339840" cy="2419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双向循环链表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1148080"/>
            <a:ext cx="10788015" cy="5686425"/>
          </a:xfrm>
        </p:spPr>
        <p:txBody>
          <a:bodyPr>
            <a:noAutofit/>
          </a:bodyPr>
          <a:p>
            <a:r>
              <a:rPr lang="zh-CN" altLang="en-US" sz="2000"/>
              <a:t>插入：</a:t>
            </a:r>
            <a:r>
              <a:rPr lang="zh-CN" altLang="en-US" sz="1400"/>
              <a:t> DuLNode p= head.next;</a:t>
            </a:r>
            <a:endParaRPr lang="zh-CN" altLang="en-US" sz="1400"/>
          </a:p>
          <a:p>
            <a:r>
              <a:rPr lang="zh-CN" altLang="en-US" sz="1400"/>
              <a:t>		 int j=0;</a:t>
            </a:r>
            <a:endParaRPr lang="zh-CN" altLang="en-US" sz="1400"/>
          </a:p>
          <a:p>
            <a:r>
              <a:rPr lang="zh-CN" altLang="en-US" sz="1400"/>
              <a:t>		 while(!p.equals(head)&amp;&amp;j&lt;i) {</a:t>
            </a:r>
            <a:endParaRPr lang="zh-CN" altLang="en-US" sz="1400"/>
          </a:p>
          <a:p>
            <a:r>
              <a:rPr lang="zh-CN" altLang="en-US" sz="1400"/>
              <a:t>			 p=p.next;</a:t>
            </a:r>
            <a:endParaRPr lang="zh-CN" altLang="en-US" sz="1400"/>
          </a:p>
          <a:p>
            <a:r>
              <a:rPr lang="zh-CN" altLang="en-US" sz="1400"/>
              <a:t>			 ++j;</a:t>
            </a:r>
            <a:endParaRPr lang="zh-CN" altLang="en-US" sz="1400"/>
          </a:p>
          <a:p>
            <a:r>
              <a:rPr lang="zh-CN" altLang="en-US" sz="1400"/>
              <a:t>		 }</a:t>
            </a:r>
            <a:endParaRPr lang="zh-CN" altLang="en-US" sz="1400"/>
          </a:p>
          <a:p>
            <a:r>
              <a:rPr lang="zh-CN" altLang="en-US" sz="1400"/>
              <a:t>		 if(j!=i) </a:t>
            </a:r>
            <a:endParaRPr lang="zh-CN" altLang="en-US" sz="1400"/>
          </a:p>
          <a:p>
            <a:r>
              <a:rPr lang="zh-CN" altLang="en-US" sz="1400"/>
              <a:t>			 throw new Exception("插入位置不合法");</a:t>
            </a:r>
            <a:endParaRPr lang="zh-CN" altLang="en-US" sz="1400"/>
          </a:p>
          <a:p>
            <a:r>
              <a:rPr lang="zh-CN" altLang="en-US" sz="1400"/>
              <a:t>		 DuLNode s=new DuLNode(x);</a:t>
            </a:r>
            <a:endParaRPr lang="zh-CN" altLang="en-US" sz="1400"/>
          </a:p>
          <a:p>
            <a:r>
              <a:rPr lang="zh-CN" altLang="en-US" sz="1400"/>
              <a:t>		 p.prior.next=s;</a:t>
            </a:r>
            <a:endParaRPr lang="zh-CN" altLang="en-US" sz="1400"/>
          </a:p>
          <a:p>
            <a:r>
              <a:rPr lang="zh-CN" altLang="en-US" sz="1400"/>
              <a:t>		 s.prior=p.prior;</a:t>
            </a:r>
            <a:endParaRPr lang="zh-CN" altLang="en-US" sz="1400"/>
          </a:p>
          <a:p>
            <a:r>
              <a:rPr lang="zh-CN" altLang="en-US" sz="1400"/>
              <a:t>		 s.next=p;</a:t>
            </a:r>
            <a:endParaRPr lang="zh-CN" altLang="en-US" sz="1400"/>
          </a:p>
          <a:p>
            <a:r>
              <a:rPr lang="zh-CN" altLang="en-US" sz="1400"/>
              <a:t>		 p.prior=s;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双向循环链表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删除：</a:t>
            </a:r>
            <a:endParaRPr lang="zh-CN" altLang="en-US"/>
          </a:p>
        </p:txBody>
      </p:sp>
      <p:pic>
        <p:nvPicPr>
          <p:cNvPr id="4" name="图片 15" descr="3YP%MD$)W4Q0~GKX`3APQ`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590" y="2874010"/>
            <a:ext cx="5610860" cy="23037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双向循环链表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7395" y="1330325"/>
            <a:ext cx="10515600" cy="4775835"/>
          </a:xfrm>
        </p:spPr>
        <p:txBody>
          <a:bodyPr>
            <a:normAutofit fontScale="60000"/>
          </a:bodyPr>
          <a:p>
            <a:r>
              <a:rPr lang="zh-CN" altLang="en-US" sz="3200"/>
              <a:t>删除：</a:t>
            </a:r>
            <a:r>
              <a:rPr lang="zh-CN" altLang="en-US"/>
              <a:t>		 DuLNode p=head.next;</a:t>
            </a:r>
            <a:endParaRPr lang="zh-CN" altLang="en-US"/>
          </a:p>
          <a:p>
            <a:r>
              <a:rPr lang="zh-CN" altLang="en-US"/>
              <a:t>		 int j=0;</a:t>
            </a:r>
            <a:endParaRPr lang="zh-CN" altLang="en-US"/>
          </a:p>
          <a:p>
            <a:r>
              <a:rPr lang="zh-CN" altLang="en-US"/>
              <a:t>		 while(!p.equals(head)&amp;&amp;j&lt;i) {</a:t>
            </a:r>
            <a:endParaRPr lang="zh-CN" altLang="en-US"/>
          </a:p>
          <a:p>
            <a:r>
              <a:rPr lang="zh-CN" altLang="en-US"/>
              <a:t>			 p=p.next;</a:t>
            </a:r>
            <a:endParaRPr lang="zh-CN" altLang="en-US"/>
          </a:p>
          <a:p>
            <a:r>
              <a:rPr lang="zh-CN" altLang="en-US"/>
              <a:t>			 ++j;</a:t>
            </a:r>
            <a:endParaRPr lang="zh-CN" altLang="en-US"/>
          </a:p>
          <a:p>
            <a:r>
              <a:rPr lang="zh-CN" altLang="en-US"/>
              <a:t>		 }</a:t>
            </a:r>
            <a:endParaRPr lang="zh-CN" altLang="en-US"/>
          </a:p>
          <a:p>
            <a:r>
              <a:rPr lang="zh-CN" altLang="en-US"/>
              <a:t>		 if(j!=i) {</a:t>
            </a:r>
            <a:endParaRPr lang="zh-CN" altLang="en-US"/>
          </a:p>
          <a:p>
            <a:r>
              <a:rPr lang="zh-CN" altLang="en-US"/>
              <a:t>			 throw new Exception("删除位置不合法");</a:t>
            </a:r>
            <a:endParaRPr lang="zh-CN" altLang="en-US"/>
          </a:p>
          <a:p>
            <a:r>
              <a:rPr lang="zh-CN" altLang="en-US"/>
              <a:t>		 }</a:t>
            </a:r>
            <a:endParaRPr lang="zh-CN" altLang="en-US"/>
          </a:p>
          <a:p>
            <a:r>
              <a:rPr lang="zh-CN" altLang="en-US"/>
              <a:t>		 p.prior.next=p.next;</a:t>
            </a:r>
            <a:endParaRPr lang="zh-CN" altLang="en-US"/>
          </a:p>
          <a:p>
            <a:r>
              <a:rPr lang="zh-CN" altLang="en-US"/>
              <a:t>		 p.next.prior=p.prior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双向循环链表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就地逆置：</a:t>
            </a:r>
            <a:endParaRPr lang="zh-CN" altLang="en-US"/>
          </a:p>
        </p:txBody>
      </p:sp>
      <p:grpSp>
        <p:nvGrpSpPr>
          <p:cNvPr id="1073743009" name="组合 1073743008"/>
          <p:cNvGrpSpPr/>
          <p:nvPr/>
        </p:nvGrpSpPr>
        <p:grpSpPr>
          <a:xfrm>
            <a:off x="3458845" y="1892935"/>
            <a:ext cx="5274310" cy="3072130"/>
            <a:chOff x="0" y="0"/>
            <a:chExt cx="5274310" cy="3072130"/>
          </a:xfrm>
        </p:grpSpPr>
        <p:sp>
          <p:nvSpPr>
            <p:cNvPr id="4" name="矩形 3"/>
            <p:cNvSpPr/>
            <p:nvPr/>
          </p:nvSpPr>
          <p:spPr>
            <a:xfrm>
              <a:off x="0" y="0"/>
              <a:ext cx="5274310" cy="307213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43011" name="流程图: 预定义过程 1073743010"/>
            <p:cNvSpPr/>
            <p:nvPr/>
          </p:nvSpPr>
          <p:spPr>
            <a:xfrm>
              <a:off x="400685" y="1545590"/>
              <a:ext cx="876300" cy="342900"/>
            </a:xfrm>
            <a:prstGeom prst="flowChartPredefined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43012" name="流程图: 预定义过程 1073743011"/>
            <p:cNvSpPr/>
            <p:nvPr/>
          </p:nvSpPr>
          <p:spPr>
            <a:xfrm>
              <a:off x="2983865" y="1543685"/>
              <a:ext cx="876300" cy="342900"/>
            </a:xfrm>
            <a:prstGeom prst="flowChartPredefined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43013" name="流程图: 预定义过程 1073743012"/>
            <p:cNvSpPr/>
            <p:nvPr/>
          </p:nvSpPr>
          <p:spPr>
            <a:xfrm>
              <a:off x="1665605" y="1536065"/>
              <a:ext cx="876300" cy="342900"/>
            </a:xfrm>
            <a:prstGeom prst="flowChartPredefined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43014" name="流程图: 预定义过程 1073743013"/>
            <p:cNvSpPr/>
            <p:nvPr/>
          </p:nvSpPr>
          <p:spPr>
            <a:xfrm>
              <a:off x="4225925" y="1536065"/>
              <a:ext cx="876300" cy="342900"/>
            </a:xfrm>
            <a:prstGeom prst="flowChartPredefined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43015" name="文本框 1073743014"/>
            <p:cNvSpPr txBox="1"/>
            <p:nvPr/>
          </p:nvSpPr>
          <p:spPr>
            <a:xfrm>
              <a:off x="553085" y="1097280"/>
              <a:ext cx="495300" cy="26098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horz" anchor="t"/>
            <a:p>
              <a:r>
                <a:rPr lang="zh-CN" altLang="en-US" sz="1000"/>
                <a:t>Head</a:t>
              </a:r>
              <a:endParaRPr lang="zh-CN" altLang="en-US" sz="1000"/>
            </a:p>
            <a:p>
              <a:endParaRPr lang="zh-CN" altLang="en-US" sz="1000"/>
            </a:p>
          </p:txBody>
        </p:sp>
        <p:sp>
          <p:nvSpPr>
            <p:cNvPr id="1073743016" name="文本框 1073743015"/>
            <p:cNvSpPr txBox="1"/>
            <p:nvPr/>
          </p:nvSpPr>
          <p:spPr>
            <a:xfrm>
              <a:off x="1863725" y="1090295"/>
              <a:ext cx="464820" cy="27686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horz" anchor="t"/>
            <a:p>
              <a:r>
                <a:rPr lang="zh-CN" altLang="en-US" sz="1200"/>
                <a:t>p</a:t>
              </a:r>
              <a:endParaRPr lang="zh-CN" altLang="en-US" sz="1200"/>
            </a:p>
            <a:p>
              <a:endParaRPr lang="zh-CN" altLang="en-US" sz="1200"/>
            </a:p>
          </p:txBody>
        </p:sp>
        <p:sp>
          <p:nvSpPr>
            <p:cNvPr id="1073743017" name="文本框 1073743016"/>
            <p:cNvSpPr txBox="1"/>
            <p:nvPr/>
          </p:nvSpPr>
          <p:spPr>
            <a:xfrm>
              <a:off x="2999105" y="1120140"/>
              <a:ext cx="533400" cy="30797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horz" anchor="t"/>
            <a:p>
              <a:r>
                <a:rPr lang="zh-CN" altLang="en-US" sz="1000"/>
                <a:t>Temp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3018" name="直接连接符 1073743017"/>
            <p:cNvSpPr/>
            <p:nvPr/>
          </p:nvSpPr>
          <p:spPr>
            <a:xfrm flipV="1">
              <a:off x="2503805" y="815340"/>
              <a:ext cx="635" cy="7010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19" name="直接连接符 1073743018"/>
            <p:cNvSpPr/>
            <p:nvPr/>
          </p:nvSpPr>
          <p:spPr>
            <a:xfrm flipV="1">
              <a:off x="2503805" y="792480"/>
              <a:ext cx="2049780" cy="304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20" name="直接连接符 1073743019"/>
            <p:cNvSpPr/>
            <p:nvPr/>
          </p:nvSpPr>
          <p:spPr>
            <a:xfrm flipH="1">
              <a:off x="4561205" y="822960"/>
              <a:ext cx="15240" cy="6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21" name="直接连接符 1073743020"/>
            <p:cNvSpPr/>
            <p:nvPr/>
          </p:nvSpPr>
          <p:spPr>
            <a:xfrm flipH="1">
              <a:off x="4751705" y="975360"/>
              <a:ext cx="15240" cy="6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22" name="直接连接符 1073743021"/>
            <p:cNvSpPr/>
            <p:nvPr/>
          </p:nvSpPr>
          <p:spPr>
            <a:xfrm flipV="1">
              <a:off x="4629785" y="746760"/>
              <a:ext cx="7620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23" name="直接连接符 1073743022"/>
            <p:cNvSpPr/>
            <p:nvPr/>
          </p:nvSpPr>
          <p:spPr>
            <a:xfrm>
              <a:off x="4530725" y="784860"/>
              <a:ext cx="38100" cy="6858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24" name="直接连接符 1073743023"/>
            <p:cNvSpPr/>
            <p:nvPr/>
          </p:nvSpPr>
          <p:spPr>
            <a:xfrm flipH="1">
              <a:off x="4843145" y="335280"/>
              <a:ext cx="22860" cy="6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25" name="直接连接符 1073743024"/>
            <p:cNvSpPr/>
            <p:nvPr/>
          </p:nvSpPr>
          <p:spPr>
            <a:xfrm>
              <a:off x="4264025" y="1905000"/>
              <a:ext cx="15240" cy="3810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26" name="直接连接符 1073743025"/>
            <p:cNvSpPr/>
            <p:nvPr/>
          </p:nvSpPr>
          <p:spPr>
            <a:xfrm flipH="1" flipV="1">
              <a:off x="2199005" y="2278380"/>
              <a:ext cx="2110740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27" name="直接连接符 1073743026"/>
            <p:cNvSpPr/>
            <p:nvPr/>
          </p:nvSpPr>
          <p:spPr>
            <a:xfrm flipH="1" flipV="1">
              <a:off x="2199005" y="1912620"/>
              <a:ext cx="22860" cy="3733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28" name="直接连接符 1073743027"/>
            <p:cNvSpPr/>
            <p:nvPr/>
          </p:nvSpPr>
          <p:spPr>
            <a:xfrm flipV="1">
              <a:off x="1939925" y="2270760"/>
              <a:ext cx="7620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29" name="直接连接符 1073743028"/>
            <p:cNvSpPr/>
            <p:nvPr/>
          </p:nvSpPr>
          <p:spPr>
            <a:xfrm flipH="1" flipV="1">
              <a:off x="3616325" y="586740"/>
              <a:ext cx="22860" cy="9677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30" name="直接连接符 1073743029"/>
            <p:cNvSpPr/>
            <p:nvPr/>
          </p:nvSpPr>
          <p:spPr>
            <a:xfrm flipV="1">
              <a:off x="1497965" y="518160"/>
              <a:ext cx="2118360" cy="381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31" name="直接连接符 1073743030"/>
            <p:cNvSpPr/>
            <p:nvPr/>
          </p:nvSpPr>
          <p:spPr>
            <a:xfrm flipH="1">
              <a:off x="3608705" y="533400"/>
              <a:ext cx="7620" cy="45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32" name="直接连接符 1073743031"/>
            <p:cNvSpPr/>
            <p:nvPr/>
          </p:nvSpPr>
          <p:spPr>
            <a:xfrm flipV="1">
              <a:off x="3905885" y="457200"/>
              <a:ext cx="635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3033" name="直接连接符 1073743032"/>
            <p:cNvSpPr/>
            <p:nvPr/>
          </p:nvSpPr>
          <p:spPr>
            <a:xfrm>
              <a:off x="1505585" y="548640"/>
              <a:ext cx="7620" cy="11049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34" name="直接连接符 1073743033"/>
            <p:cNvSpPr/>
            <p:nvPr/>
          </p:nvSpPr>
          <p:spPr>
            <a:xfrm>
              <a:off x="1284605" y="1656080"/>
              <a:ext cx="350520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35" name="直接连接符 1073743034"/>
            <p:cNvSpPr/>
            <p:nvPr/>
          </p:nvSpPr>
          <p:spPr>
            <a:xfrm flipH="1">
              <a:off x="1299845" y="1762760"/>
              <a:ext cx="350520" cy="6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36" name="直接连接符 1073743035"/>
            <p:cNvSpPr/>
            <p:nvPr/>
          </p:nvSpPr>
          <p:spPr>
            <a:xfrm flipV="1">
              <a:off x="2549525" y="1663700"/>
              <a:ext cx="396240" cy="152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38" name="直接连接符 1073743037"/>
            <p:cNvSpPr/>
            <p:nvPr/>
          </p:nvSpPr>
          <p:spPr>
            <a:xfrm flipH="1" flipV="1">
              <a:off x="2587625" y="1800860"/>
              <a:ext cx="342900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39" name="直接连接符 1073743038"/>
            <p:cNvSpPr/>
            <p:nvPr/>
          </p:nvSpPr>
          <p:spPr>
            <a:xfrm>
              <a:off x="3883025" y="1648460"/>
              <a:ext cx="289560" cy="6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40" name="直接连接符 1073743039"/>
            <p:cNvSpPr/>
            <p:nvPr/>
          </p:nvSpPr>
          <p:spPr>
            <a:xfrm flipH="1">
              <a:off x="3890645" y="1785620"/>
              <a:ext cx="327660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73743041" name="直接连接符 1073743040"/>
            <p:cNvSpPr/>
            <p:nvPr/>
          </p:nvSpPr>
          <p:spPr>
            <a:xfrm flipH="1" flipV="1">
              <a:off x="3608705" y="2578100"/>
              <a:ext cx="15240" cy="76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双向循环链表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就地逆置：</a:t>
            </a:r>
            <a:r>
              <a:rPr lang="zh-CN" altLang="en-US" sz="2000"/>
              <a:t>DuLNode p=head.next;</a:t>
            </a:r>
            <a:endParaRPr lang="zh-CN" altLang="en-US" sz="2000"/>
          </a:p>
          <a:p>
            <a:r>
              <a:rPr lang="zh-CN" altLang="en-US" sz="2000"/>
              <a:t>			while(!p.next.equals(head)) {</a:t>
            </a:r>
            <a:endParaRPr lang="zh-CN" altLang="en-US" sz="2000"/>
          </a:p>
          <a:p>
            <a:r>
              <a:rPr lang="zh-CN" altLang="en-US" sz="2000"/>
              <a:t>				DuLNode temp = p.next;</a:t>
            </a:r>
            <a:endParaRPr lang="zh-CN" altLang="en-US" sz="2000"/>
          </a:p>
          <a:p>
            <a:r>
              <a:rPr lang="zh-CN" altLang="en-US" sz="2000"/>
              <a:t>				p.next = temp.next;</a:t>
            </a:r>
            <a:endParaRPr lang="zh-CN" altLang="en-US" sz="2000"/>
          </a:p>
          <a:p>
            <a:r>
              <a:rPr lang="zh-CN" altLang="en-US" sz="2000"/>
              <a:t>				temp.next.prior = p;</a:t>
            </a:r>
            <a:endParaRPr lang="zh-CN" altLang="en-US" sz="2000"/>
          </a:p>
          <a:p>
            <a:r>
              <a:rPr lang="zh-CN" altLang="en-US" sz="2000"/>
              <a:t>				insert(0,temp.data);</a:t>
            </a:r>
            <a:endParaRPr lang="zh-CN" altLang="en-US" sz="2000"/>
          </a:p>
          <a:p>
            <a:r>
              <a:rPr lang="zh-CN" altLang="en-US" sz="2000"/>
              <a:t>			}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测试结果</a:t>
            </a:r>
            <a:endParaRPr lang="zh-CN" altLang="en-US"/>
          </a:p>
        </p:txBody>
      </p:sp>
      <p:pic>
        <p:nvPicPr>
          <p:cNvPr id="4" name="内容占位符 3" descr="就地逆置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11515" y="4229100"/>
            <a:ext cx="2418080" cy="2437130"/>
          </a:xfrm>
          <a:prstGeom prst="rect">
            <a:avLst/>
          </a:prstGeom>
        </p:spPr>
      </p:pic>
      <p:pic>
        <p:nvPicPr>
          <p:cNvPr id="5" name="图片 4" descr="QQ图片201901092055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110" y="1260475"/>
            <a:ext cx="2705100" cy="2686050"/>
          </a:xfrm>
          <a:prstGeom prst="rect">
            <a:avLst/>
          </a:prstGeom>
        </p:spPr>
      </p:pic>
      <p:pic>
        <p:nvPicPr>
          <p:cNvPr id="6" name="图片 5" descr="插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420" y="1089025"/>
            <a:ext cx="2543175" cy="2857500"/>
          </a:xfrm>
          <a:prstGeom prst="rect">
            <a:avLst/>
          </a:prstGeom>
        </p:spPr>
      </p:pic>
      <p:pic>
        <p:nvPicPr>
          <p:cNvPr id="7" name="图片 6" descr="删除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155" y="4229100"/>
            <a:ext cx="2238375" cy="2371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题目一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编程实现直接插入排序、希尔排序、改进的冒泡排序、快速排序、直接选择排序、堆排序、归并排序和链式基数排序。要求先输入10个整数，输出各种排序算法每一趟排序的结果；然后，随机产生3万个数，对其进行排序，观察其结果，并测试各排序算法的执行时间，比较执行效率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860425"/>
          </a:xfrm>
        </p:spPr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315"/>
            <a:ext cx="10515600" cy="4799965"/>
          </a:xfrm>
        </p:spPr>
        <p:txBody>
          <a:bodyPr>
            <a:normAutofit/>
          </a:bodyPr>
          <a:p>
            <a:pPr fontAlgn="auto">
              <a:lnSpc>
                <a:spcPts val="700"/>
              </a:lnSpc>
            </a:pPr>
            <a:r>
              <a:rPr lang="zh-CN" altLang="en-US"/>
              <a:t>	</a:t>
            </a:r>
            <a:endParaRPr lang="zh-CN" altLang="en-US"/>
          </a:p>
          <a:p>
            <a:pPr fontAlgn="auto">
              <a:lnSpc>
                <a:spcPts val="700"/>
              </a:lnSpc>
            </a:pPr>
            <a:r>
              <a:rPr lang="zh-CN" altLang="en-US"/>
              <a:t>                            直接插入排序：insertSort()</a:t>
            </a:r>
            <a:endParaRPr lang="zh-CN" altLang="en-US"/>
          </a:p>
          <a:p>
            <a:pPr fontAlgn="auto">
              <a:lnSpc>
                <a:spcPts val="700"/>
              </a:lnSpc>
            </a:pPr>
            <a:endParaRPr lang="zh-CN" altLang="en-US"/>
          </a:p>
          <a:p>
            <a:pPr fontAlgn="auto">
              <a:lnSpc>
                <a:spcPts val="700"/>
              </a:lnSpc>
            </a:pPr>
            <a:r>
              <a:rPr lang="zh-CN" altLang="en-US"/>
              <a:t>		          希尔排序：shellSort(int[] d)</a:t>
            </a:r>
            <a:endParaRPr lang="zh-CN" altLang="en-US"/>
          </a:p>
          <a:p>
            <a:pPr fontAlgn="auto">
              <a:lnSpc>
                <a:spcPts val="700"/>
              </a:lnSpc>
            </a:pPr>
            <a:endParaRPr lang="zh-CN" altLang="en-US"/>
          </a:p>
          <a:p>
            <a:pPr fontAlgn="auto">
              <a:lnSpc>
                <a:spcPts val="700"/>
              </a:lnSpc>
            </a:pPr>
            <a:r>
              <a:rPr lang="zh-CN" altLang="en-US"/>
              <a:t>			冒泡排序：bubbleSort()</a:t>
            </a:r>
            <a:endParaRPr lang="zh-CN" altLang="en-US"/>
          </a:p>
          <a:p>
            <a:pPr fontAlgn="auto">
              <a:lnSpc>
                <a:spcPts val="700"/>
              </a:lnSpc>
            </a:pPr>
            <a:endParaRPr lang="zh-CN" altLang="en-US"/>
          </a:p>
          <a:p>
            <a:pPr fontAlgn="auto">
              <a:lnSpc>
                <a:spcPts val="700"/>
              </a:lnSpc>
            </a:pPr>
            <a:r>
              <a:rPr lang="zh-CN" altLang="en-US"/>
              <a:t>			快速排序：quickSort()</a:t>
            </a:r>
            <a:endParaRPr lang="zh-CN" altLang="en-US"/>
          </a:p>
          <a:p>
            <a:pPr fontAlgn="auto">
              <a:lnSpc>
                <a:spcPts val="700"/>
              </a:lnSpc>
            </a:pPr>
            <a:endParaRPr lang="zh-CN" altLang="en-US"/>
          </a:p>
          <a:p>
            <a:pPr fontAlgn="auto">
              <a:lnSpc>
                <a:spcPts val="700"/>
              </a:lnSpc>
            </a:pPr>
            <a:r>
              <a:rPr lang="zh-CN" altLang="en-US"/>
              <a:t>			直接选择排序：</a:t>
            </a:r>
            <a:r>
              <a:rPr lang="zh-CN" altLang="en-US">
                <a:sym typeface="+mn-ea"/>
              </a:rPr>
              <a:t>selectSort()</a:t>
            </a:r>
            <a:endParaRPr lang="zh-CN" altLang="en-US"/>
          </a:p>
          <a:p>
            <a:pPr fontAlgn="auto">
              <a:lnSpc>
                <a:spcPts val="700"/>
              </a:lnSpc>
            </a:pPr>
            <a:endParaRPr lang="zh-CN" altLang="en-US"/>
          </a:p>
          <a:p>
            <a:pPr fontAlgn="auto">
              <a:lnSpc>
                <a:spcPts val="700"/>
              </a:lnSpc>
            </a:pPr>
            <a:r>
              <a:rPr lang="zh-CN" altLang="en-US"/>
              <a:t>			堆排序：heapSort()</a:t>
            </a:r>
            <a:endParaRPr lang="zh-CN" altLang="en-US"/>
          </a:p>
          <a:p>
            <a:pPr fontAlgn="auto">
              <a:lnSpc>
                <a:spcPts val="700"/>
              </a:lnSpc>
            </a:pPr>
            <a:endParaRPr lang="zh-CN" altLang="en-US"/>
          </a:p>
          <a:p>
            <a:pPr fontAlgn="auto">
              <a:lnSpc>
                <a:spcPts val="700"/>
              </a:lnSpc>
            </a:pPr>
            <a:r>
              <a:rPr lang="zh-CN" altLang="en-US"/>
              <a:t>			归并排序：mergeSort（）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6365"/>
            <a:ext cx="10515600" cy="5089525"/>
          </a:xfrm>
        </p:spPr>
        <p:txBody>
          <a:bodyPr>
            <a:normAutofit fontScale="50000"/>
          </a:bodyPr>
          <a:p>
            <a:r>
              <a:rPr lang="zh-CN" altLang="en-US"/>
              <a:t>直接插入排序：</a:t>
            </a:r>
            <a:endParaRPr lang="zh-CN" altLang="en-US"/>
          </a:p>
          <a:p>
            <a:r>
              <a:rPr lang="zh-CN" altLang="en-US"/>
              <a:t>public void insertSort() {</a:t>
            </a:r>
            <a:endParaRPr lang="zh-CN" altLang="en-US"/>
          </a:p>
          <a:p>
            <a:r>
              <a:rPr lang="zh-CN" altLang="en-US"/>
              <a:t>	RecordNode temp;</a:t>
            </a:r>
            <a:endParaRPr lang="zh-CN" altLang="en-US"/>
          </a:p>
          <a:p>
            <a:r>
              <a:rPr lang="zh-CN" altLang="en-US"/>
              <a:t>	int i,j;</a:t>
            </a:r>
            <a:endParaRPr lang="zh-CN" altLang="en-US"/>
          </a:p>
          <a:p>
            <a:r>
              <a:rPr lang="zh-CN" altLang="en-US"/>
              <a:t>	for(i=1;i&lt;this.curlen;i++) {</a:t>
            </a:r>
            <a:endParaRPr lang="zh-CN" altLang="en-US"/>
          </a:p>
          <a:p>
            <a:r>
              <a:rPr lang="zh-CN" altLang="en-US"/>
              <a:t>		temp=r[i];</a:t>
            </a:r>
            <a:endParaRPr lang="zh-CN" altLang="en-US"/>
          </a:p>
          <a:p>
            <a:r>
              <a:rPr lang="zh-CN" altLang="en-US"/>
              <a:t>		for(j=i-1;j&gt;=0&amp;&amp;temp.key.compareTo(r[j].key)&lt;0;j--) {</a:t>
            </a:r>
            <a:endParaRPr lang="zh-CN" altLang="en-US"/>
          </a:p>
          <a:p>
            <a:r>
              <a:rPr lang="zh-CN" altLang="en-US"/>
              <a:t>			r[j+1]=r[j];</a:t>
            </a:r>
            <a:endParaRPr lang="zh-CN" altLang="en-US"/>
          </a:p>
          <a:p>
            <a:r>
              <a:rPr lang="zh-CN" altLang="en-US"/>
              <a:t>			</a:t>
            </a:r>
            <a:endParaRPr lang="zh-CN" altLang="en-US"/>
          </a:p>
          <a:p>
            <a:r>
              <a:rPr lang="zh-CN" altLang="en-US"/>
              <a:t>		}</a:t>
            </a:r>
            <a:endParaRPr lang="zh-CN" altLang="en-US"/>
          </a:p>
          <a:p>
            <a:r>
              <a:rPr lang="zh-CN" altLang="en-US"/>
              <a:t>		r[j+1]=temp;</a:t>
            </a:r>
            <a:endParaRPr lang="zh-CN" altLang="en-US"/>
          </a:p>
          <a:p>
            <a:r>
              <a:rPr lang="en-US" altLang="zh-CN"/>
              <a:t>}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46505"/>
            <a:ext cx="10515600" cy="5539105"/>
          </a:xfrm>
        </p:spPr>
        <p:txBody>
          <a:bodyPr>
            <a:normAutofit fontScale="50000"/>
          </a:bodyPr>
          <a:p>
            <a:r>
              <a:rPr lang="zh-CN" altLang="en-US" sz="3200"/>
              <a:t>希尔排序</a:t>
            </a:r>
            <a:r>
              <a:rPr lang="zh-CN" altLang="en-US"/>
              <a:t>：public void shellSort(int[] b) {</a:t>
            </a:r>
            <a:endParaRPr lang="zh-CN" altLang="en-US"/>
          </a:p>
          <a:p>
            <a:r>
              <a:rPr lang="zh-CN" altLang="en-US"/>
              <a:t>	// TODO Auto-generated method stub</a:t>
            </a:r>
            <a:endParaRPr lang="zh-CN" altLang="en-US"/>
          </a:p>
          <a:p>
            <a:r>
              <a:rPr lang="zh-CN" altLang="en-US"/>
              <a:t>	RecordNode temp;</a:t>
            </a:r>
            <a:endParaRPr lang="zh-CN" altLang="en-US"/>
          </a:p>
          <a:p>
            <a:r>
              <a:rPr lang="zh-CN" altLang="en-US"/>
              <a:t>	int i,j;</a:t>
            </a:r>
            <a:endParaRPr lang="zh-CN" altLang="en-US"/>
          </a:p>
          <a:p>
            <a:r>
              <a:rPr lang="zh-CN" altLang="en-US"/>
              <a:t>	for(int k=0;k&lt;b.length;k++) {</a:t>
            </a:r>
            <a:endParaRPr lang="zh-CN" altLang="en-US"/>
          </a:p>
          <a:p>
            <a:r>
              <a:rPr lang="zh-CN" altLang="en-US"/>
              <a:t>		int ak=b[k];</a:t>
            </a:r>
            <a:endParaRPr lang="zh-CN" altLang="en-US"/>
          </a:p>
          <a:p>
            <a:r>
              <a:rPr lang="zh-CN" altLang="en-US"/>
              <a:t>		for(i=ak; i&lt;this.curlen;i++){</a:t>
            </a:r>
            <a:endParaRPr lang="zh-CN" altLang="en-US"/>
          </a:p>
          <a:p>
            <a:r>
              <a:rPr lang="zh-CN" altLang="en-US"/>
              <a:t>			temp=r[i];</a:t>
            </a:r>
            <a:endParaRPr lang="zh-CN" altLang="en-US"/>
          </a:p>
          <a:p>
            <a:r>
              <a:rPr lang="zh-CN" altLang="en-US"/>
              <a:t>			for(j=i - ak;j&gt;=0&amp;&amp;temp.key.compareTo(r[j].key)&lt;0;j-= ak) {</a:t>
            </a:r>
            <a:endParaRPr lang="zh-CN" altLang="en-US"/>
          </a:p>
          <a:p>
            <a:r>
              <a:rPr lang="zh-CN" altLang="en-US"/>
              <a:t>				r[j+ak]=r[j];</a:t>
            </a:r>
            <a:endParaRPr lang="zh-CN" altLang="en-US"/>
          </a:p>
          <a:p>
            <a:r>
              <a:rPr lang="zh-CN" altLang="en-US"/>
              <a:t>			}</a:t>
            </a:r>
            <a:endParaRPr lang="zh-CN" altLang="en-US"/>
          </a:p>
          <a:p>
            <a:r>
              <a:rPr lang="zh-CN" altLang="en-US"/>
              <a:t>			r[j+ak]=temp;</a:t>
            </a:r>
            <a:endParaRPr lang="zh-CN" altLang="en-US"/>
          </a:p>
          <a:p>
            <a:r>
              <a:rPr lang="zh-CN" altLang="en-US"/>
              <a:t>		}</a:t>
            </a:r>
            <a:r>
              <a:rPr lang="en-US" altLang="zh-CN"/>
              <a:t>}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6675"/>
            <a:ext cx="10515600" cy="5318760"/>
          </a:xfrm>
        </p:spPr>
        <p:txBody>
          <a:bodyPr>
            <a:normAutofit fontScale="60000"/>
          </a:bodyPr>
          <a:p>
            <a:r>
              <a:rPr lang="zh-CN" altLang="en-US"/>
              <a:t>冒泡排序：public void bubbleSort() {</a:t>
            </a:r>
            <a:endParaRPr lang="zh-CN" altLang="en-US"/>
          </a:p>
          <a:p>
            <a:r>
              <a:rPr lang="zh-CN" altLang="en-US"/>
              <a:t>	// TODO Auto-generated method stub</a:t>
            </a:r>
            <a:endParaRPr lang="zh-CN" altLang="en-US"/>
          </a:p>
          <a:p>
            <a:r>
              <a:rPr lang="zh-CN" altLang="en-US"/>
              <a:t>	RecordNode temp;</a:t>
            </a:r>
            <a:endParaRPr lang="zh-CN" altLang="en-US"/>
          </a:p>
          <a:p>
            <a:r>
              <a:rPr lang="zh-CN" altLang="en-US"/>
              <a:t>	boolean flag=true;</a:t>
            </a:r>
            <a:endParaRPr lang="zh-CN" altLang="en-US"/>
          </a:p>
          <a:p>
            <a:r>
              <a:rPr lang="zh-CN" altLang="en-US"/>
              <a:t>	for(int i=1;i&lt;this.curlen&amp;&amp;flag;i++) {</a:t>
            </a:r>
            <a:endParaRPr lang="zh-CN" altLang="en-US"/>
          </a:p>
          <a:p>
            <a:r>
              <a:rPr lang="zh-CN" altLang="en-US"/>
              <a:t>		flag=false;</a:t>
            </a:r>
            <a:endParaRPr lang="zh-CN" altLang="en-US"/>
          </a:p>
          <a:p>
            <a:r>
              <a:rPr lang="zh-CN" altLang="en-US"/>
              <a:t>		for(int j=0;j&lt;this.curlen-i;j++) {</a:t>
            </a:r>
            <a:endParaRPr lang="zh-CN" altLang="en-US"/>
          </a:p>
          <a:p>
            <a:r>
              <a:rPr lang="zh-CN" altLang="en-US"/>
              <a:t>		if(r[j].key.compareTo(r[j+1].key)&gt;0) {</a:t>
            </a:r>
            <a:endParaRPr lang="zh-CN" altLang="en-US"/>
          </a:p>
          <a:p>
            <a:r>
              <a:rPr lang="zh-CN" altLang="en-US"/>
              <a:t>		temp=r[j];</a:t>
            </a:r>
            <a:endParaRPr lang="zh-CN" altLang="en-US"/>
          </a:p>
          <a:p>
            <a:r>
              <a:rPr lang="zh-CN" altLang="en-US"/>
              <a:t>		r[j]=r[j+1];</a:t>
            </a:r>
            <a:endParaRPr lang="zh-CN" altLang="en-US"/>
          </a:p>
          <a:p>
            <a:r>
              <a:rPr lang="zh-CN" altLang="en-US"/>
              <a:t>		r[j+1]=temp;</a:t>
            </a:r>
            <a:endParaRPr lang="zh-CN" altLang="en-US"/>
          </a:p>
          <a:p>
            <a:r>
              <a:rPr lang="zh-CN" altLang="en-US"/>
              <a:t>		}</a:t>
            </a:r>
            <a:r>
              <a:rPr lang="en-US" altLang="zh-CN"/>
              <a:t>}}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909320"/>
          </a:xfrm>
        </p:spPr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303020"/>
            <a:ext cx="5377815" cy="4874260"/>
          </a:xfrm>
        </p:spPr>
        <p:txBody>
          <a:bodyPr>
            <a:normAutofit fontScale="45000"/>
          </a:bodyPr>
          <a:p>
            <a:pPr fontAlgn="auto">
              <a:lnSpc>
                <a:spcPts val="620"/>
              </a:lnSpc>
            </a:pPr>
            <a:r>
              <a:rPr lang="zh-CN" altLang="en-US"/>
              <a:t>快速排序：public void quickSort() {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// TODO Auto-generated method stub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qSort(0,this.curlen-1);	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}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public void qSort (int low,int high) {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boolean flag=true;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if(low&lt;high) {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	int pivotloc =Partition(low,high);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	if(flag) {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    		System.out.print("第"+(++cnt)+"趟: ");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    		for(int k= 0;k&lt;curlen;k++) {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    			System.out.print(" "+r[k].key.toString());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    			}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    			System.out.println();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    }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	qSort(low,pivotloc-1);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	qSort(pivotloc+1,high);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	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	}</a:t>
            </a:r>
            <a:endParaRPr lang="zh-CN" altLang="en-US"/>
          </a:p>
          <a:p>
            <a:pPr fontAlgn="auto">
              <a:lnSpc>
                <a:spcPts val="620"/>
              </a:lnSpc>
            </a:pPr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62495" y="1259840"/>
            <a:ext cx="4450080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public int  Partition(int i,int j){</a:t>
            </a:r>
            <a:endParaRPr lang="zh-CN" altLang="en-US" sz="1200"/>
          </a:p>
          <a:p>
            <a:r>
              <a:rPr lang="zh-CN" altLang="en-US" sz="1200"/>
              <a:t>	RecordNode pivot=r[i];</a:t>
            </a:r>
            <a:endParaRPr lang="zh-CN" altLang="en-US" sz="1200"/>
          </a:p>
          <a:p>
            <a:r>
              <a:rPr lang="zh-CN" altLang="en-US" sz="1200"/>
              <a:t>	while(i&lt;j) {</a:t>
            </a:r>
            <a:endParaRPr lang="zh-CN" altLang="en-US" sz="1200"/>
          </a:p>
          <a:p>
            <a:r>
              <a:rPr lang="zh-CN" altLang="en-US" sz="1200"/>
              <a:t>		while(i&lt;j&amp;&amp;pivot.key.compareTo(r[j].key)&lt;=0) {</a:t>
            </a:r>
            <a:endParaRPr lang="zh-CN" altLang="en-US" sz="1200"/>
          </a:p>
          <a:p>
            <a:r>
              <a:rPr lang="zh-CN" altLang="en-US" sz="1200"/>
              <a:t>			j--;</a:t>
            </a:r>
            <a:endParaRPr lang="zh-CN" altLang="en-US" sz="1200"/>
          </a:p>
          <a:p>
            <a:r>
              <a:rPr lang="zh-CN" altLang="en-US" sz="1200"/>
              <a:t>		}</a:t>
            </a:r>
            <a:endParaRPr lang="zh-CN" altLang="en-US" sz="1200"/>
          </a:p>
          <a:p>
            <a:r>
              <a:rPr lang="zh-CN" altLang="en-US" sz="1200"/>
              <a:t>		if(i&lt;j) {</a:t>
            </a:r>
            <a:endParaRPr lang="zh-CN" altLang="en-US" sz="1200"/>
          </a:p>
          <a:p>
            <a:r>
              <a:rPr lang="zh-CN" altLang="en-US" sz="1200"/>
              <a:t>			r[i]=r[j];</a:t>
            </a:r>
            <a:endParaRPr lang="zh-CN" altLang="en-US" sz="1200"/>
          </a:p>
          <a:p>
            <a:r>
              <a:rPr lang="zh-CN" altLang="en-US" sz="1200"/>
              <a:t>			i++;</a:t>
            </a:r>
            <a:endParaRPr lang="zh-CN" altLang="en-US" sz="1200"/>
          </a:p>
          <a:p>
            <a:r>
              <a:rPr lang="zh-CN" altLang="en-US" sz="1200"/>
              <a:t>		}</a:t>
            </a:r>
            <a:endParaRPr lang="zh-CN" altLang="en-US" sz="1200"/>
          </a:p>
          <a:p>
            <a:r>
              <a:rPr lang="zh-CN" altLang="en-US" sz="1200"/>
              <a:t>		while(i&lt;j&amp;&amp;pivot.key.compareTo(r[i].key)&gt;0) {</a:t>
            </a:r>
            <a:endParaRPr lang="zh-CN" altLang="en-US" sz="1200"/>
          </a:p>
          <a:p>
            <a:r>
              <a:rPr lang="zh-CN" altLang="en-US" sz="1200"/>
              <a:t>			i++;</a:t>
            </a:r>
            <a:endParaRPr lang="zh-CN" altLang="en-US" sz="1200"/>
          </a:p>
          <a:p>
            <a:r>
              <a:rPr lang="zh-CN" altLang="en-US" sz="1200"/>
              <a:t>		}</a:t>
            </a:r>
            <a:endParaRPr lang="zh-CN" altLang="en-US" sz="1200"/>
          </a:p>
          <a:p>
            <a:r>
              <a:rPr lang="zh-CN" altLang="en-US" sz="1200"/>
              <a:t>		if(i&lt;j) {</a:t>
            </a:r>
            <a:endParaRPr lang="zh-CN" altLang="en-US" sz="1200"/>
          </a:p>
          <a:p>
            <a:r>
              <a:rPr lang="zh-CN" altLang="en-US" sz="1200"/>
              <a:t>			r[j]=r[i];</a:t>
            </a:r>
            <a:endParaRPr lang="zh-CN" altLang="en-US" sz="1200"/>
          </a:p>
          <a:p>
            <a:r>
              <a:rPr lang="zh-CN" altLang="en-US" sz="1200"/>
              <a:t>			j--;</a:t>
            </a:r>
            <a:endParaRPr lang="zh-CN" altLang="en-US" sz="1200"/>
          </a:p>
          <a:p>
            <a:r>
              <a:rPr lang="zh-CN" altLang="en-US" sz="1200"/>
              <a:t>		}</a:t>
            </a:r>
            <a:endParaRPr lang="zh-CN" altLang="en-US" sz="1200"/>
          </a:p>
          <a:p>
            <a:r>
              <a:rPr lang="zh-CN" altLang="en-US" sz="1200"/>
              <a:t>	}</a:t>
            </a:r>
            <a:endParaRPr lang="zh-CN" altLang="en-US" sz="1200"/>
          </a:p>
          <a:p>
            <a:r>
              <a:rPr lang="zh-CN" altLang="en-US" sz="1200"/>
              <a:t>	r[i]=pivot;</a:t>
            </a:r>
            <a:endParaRPr lang="zh-CN" altLang="en-US" sz="1200"/>
          </a:p>
          <a:p>
            <a:r>
              <a:rPr lang="zh-CN" altLang="en-US" sz="1200"/>
              <a:t>	return i;</a:t>
            </a:r>
            <a:endParaRPr lang="zh-CN" altLang="en-US" sz="1200"/>
          </a:p>
          <a:p>
            <a:r>
              <a:rPr lang="zh-CN" altLang="en-US" sz="1200"/>
              <a:t>}</a:t>
            </a:r>
            <a:endParaRPr lang="zh-CN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830580"/>
          </a:xfrm>
        </p:spPr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7095" y="1273175"/>
            <a:ext cx="10466705" cy="5432425"/>
          </a:xfrm>
        </p:spPr>
        <p:txBody>
          <a:bodyPr>
            <a:normAutofit fontScale="55000"/>
          </a:bodyPr>
          <a:p>
            <a:pPr fontAlgn="auto">
              <a:lnSpc>
                <a:spcPts val="500"/>
              </a:lnSpc>
            </a:pP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直接排序：public void selectSort() {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// TODO Auto-generated method stub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RecordNode temp;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for(int i=0;i&lt;this.curlen-1;i++) {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int min=1;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for(int j=i+1;j&lt;this.curlen;j++) {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	if(r[j].key.compareTo(r[min].key)&lt;0) {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		min=j;}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}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if(min!=i) {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	temp =r[i];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	r[i]=r[min];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	r[min]=temp;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}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int m=i+1;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System.out.print("第"+m+"次循环结果为：");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for(int k= 0;k&lt;curlen;k++) {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System.out.print(" "+r[k].key.toString());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}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	System.out.println();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}</a:t>
            </a:r>
            <a:endParaRPr lang="zh-CN" altLang="en-US"/>
          </a:p>
          <a:p>
            <a:pPr fontAlgn="auto">
              <a:lnSpc>
                <a:spcPts val="500"/>
              </a:lnSpc>
            </a:pPr>
            <a:r>
              <a:rPr lang="zh-CN" altLang="en-US"/>
              <a:t>	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740410"/>
          </a:xfrm>
        </p:spPr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74420"/>
            <a:ext cx="10515600" cy="6040755"/>
          </a:xfrm>
        </p:spPr>
        <p:txBody>
          <a:bodyPr>
            <a:normAutofit/>
          </a:bodyPr>
          <a:p>
            <a:pPr fontAlgn="auto">
              <a:lnSpc>
                <a:spcPts val="640"/>
              </a:lnSpc>
            </a:pP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堆排序：public void heapSort() {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// TODO Auto-generated method stub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System.out.println("堆排序");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int n=this.curlen;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RecordNode temp;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for(int i=n/2-1;i&gt;=0;i--) {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sift(i,n);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}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for(int i=n-1;i&gt;0;i--) {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temp=r[0];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r[0]=r[i];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r[i]=temp;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sift(0,i);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int q=n-i;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System.out.print("第"+q+"次循环结果为：");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for(int k= 0;k&lt;curlen;k++) {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System.out.print(" "+r[k].key.toString());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}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	System.out.println();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	}</a:t>
            </a:r>
            <a:endParaRPr lang="zh-CN" altLang="en-US" sz="1800"/>
          </a:p>
          <a:p>
            <a:pPr fontAlgn="auto">
              <a:lnSpc>
                <a:spcPts val="640"/>
              </a:lnSpc>
            </a:pPr>
            <a:r>
              <a:rPr lang="zh-CN" altLang="en-US" sz="1800"/>
              <a:t>}</a:t>
            </a:r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860425"/>
          </a:xfrm>
        </p:spPr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6205"/>
            <a:ext cx="10515600" cy="4791075"/>
          </a:xfrm>
        </p:spPr>
        <p:txBody>
          <a:bodyPr>
            <a:normAutofit/>
          </a:bodyPr>
          <a:p>
            <a:pPr fontAlgn="auto">
              <a:lnSpc>
                <a:spcPts val="620"/>
              </a:lnSpc>
            </a:pP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归并排序：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public void merge(RecordNode[ ] r, RecordNode[ ] order, int h, int m, int t) {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int i=h,j=m+1,k=h;boolean flag=true;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while(i&lt;= m&amp;&amp;j&lt;= t) { 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if (r[i].key.compareTo(r[j].key)&lt;=0){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order[k++] = r[i++];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flag=true;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}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       else {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order[k++] = r[j++];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}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}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while (i&lt;= m) {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order[k++] = r[ i++ ];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}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while (j&lt;= t) {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order[k++] = r[j++ ];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		}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838835"/>
          </a:xfrm>
        </p:spPr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8055" y="1512570"/>
            <a:ext cx="4448175" cy="4445000"/>
          </a:xfrm>
        </p:spPr>
        <p:txBody>
          <a:bodyPr>
            <a:normAutofit/>
          </a:bodyPr>
          <a:p>
            <a:pPr fontAlgn="auto">
              <a:lnSpc>
                <a:spcPts val="620"/>
              </a:lnSpc>
            </a:pPr>
            <a:r>
              <a:rPr lang="zh-CN" altLang="en-US" sz="1600"/>
              <a:t>运行结果：请输入数据的个数：10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请输入数据：10 9 12 53 24 8 10 23 14 25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排序前：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10  9  12  53  24  8  10  23  14  25  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请选择排序方法：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1-直接插入排序：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2-希尔排序：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3-冒泡排序：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4-快速排序：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5-直接选择排序：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6-堆排序：</a:t>
            </a:r>
            <a:endParaRPr lang="zh-CN" altLang="en-US" sz="1600"/>
          </a:p>
          <a:p>
            <a:pPr fontAlgn="auto">
              <a:lnSpc>
                <a:spcPts val="620"/>
              </a:lnSpc>
            </a:pPr>
            <a:r>
              <a:rPr lang="zh-CN" altLang="en-US" sz="1600"/>
              <a:t>7-递归排序：</a:t>
            </a:r>
            <a:endParaRPr lang="zh-CN" altLang="en-US"/>
          </a:p>
          <a:p>
            <a:pPr fontAlgn="auto">
              <a:lnSpc>
                <a:spcPts val="620"/>
              </a:lnSpc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94450" y="1512570"/>
            <a:ext cx="5267960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1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第1次循环结果为： 9 10 12 53 24 8 10 2314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第2次循环结果为： 9 10 12 53 24 8 10 23 14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第3次循环结果为： 9 10 12 53 24 8 10 23 14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第4次循环结果为： 9 10 12 24 53 8 10 23 14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第5次循环结果为： 8 9 10 12 24 53 10 23 14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第6次循环结果为： 8 9 10 10 12 24 53 23 14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第7次循环结果为： 8 9 10 10 12 23 24 53 14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第8次循环结果为： 8 9 10 10 12 14 23 24 53 25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第9次循环结果为： 8 9 10 10 12 14 23 24 25 53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排序后：</a:t>
            </a:r>
            <a:endParaRPr lang="zh-CN" altLang="en-US"/>
          </a:p>
          <a:p>
            <a:pPr fontAlgn="auto">
              <a:lnSpc>
                <a:spcPts val="1660"/>
              </a:lnSpc>
            </a:pPr>
            <a:r>
              <a:rPr lang="zh-CN" altLang="en-US">
                <a:sym typeface="+mn-ea"/>
              </a:rPr>
              <a:t> 8 9 10 10 12 14 23 24 25 53</a:t>
            </a:r>
            <a:endParaRPr lang="zh-CN" altLang="en-US"/>
          </a:p>
          <a:p>
            <a:pPr fontAlgn="auto">
              <a:lnSpc>
                <a:spcPts val="960"/>
              </a:lnSpc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排序算法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耗时计算：</a:t>
            </a:r>
            <a:endParaRPr lang="zh-CN" altLang="en-US"/>
          </a:p>
          <a:p>
            <a:r>
              <a:rPr lang="zh-CN" altLang="en-US" sz="2000"/>
              <a:t>tmp=a.clone();</a:t>
            </a:r>
            <a:endParaRPr lang="zh-CN" altLang="en-US" sz="2000"/>
          </a:p>
          <a:p>
            <a:r>
              <a:rPr lang="zh-CN" altLang="en-US" sz="2000"/>
              <a:t>			startTime = System.currentTimeMillis();</a:t>
            </a:r>
            <a:endParaRPr lang="zh-CN" altLang="en-US" sz="2000"/>
          </a:p>
          <a:p>
            <a:r>
              <a:rPr lang="zh-CN" altLang="en-US" sz="2000"/>
              <a:t>			new SortTest(tmp).insertSort();</a:t>
            </a:r>
            <a:endParaRPr lang="zh-CN" altLang="en-US" sz="2000"/>
          </a:p>
          <a:p>
            <a:r>
              <a:rPr lang="zh-CN" altLang="en-US" sz="2000"/>
              <a:t>			endTime = System.currentTimeMillis();</a:t>
            </a:r>
            <a:endParaRPr lang="zh-CN" altLang="en-US" sz="2000"/>
          </a:p>
          <a:p>
            <a:r>
              <a:rPr lang="zh-CN" altLang="en-US" sz="2000"/>
              <a:t>			System.out.println("直接插入排序："+(endTime-startTime)+"ms");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008880" cy="4351655"/>
          </a:xfrm>
        </p:spPr>
        <p:txBody>
          <a:bodyPr>
            <a:normAutofit fontScale="90000" lnSpcReduction="20000"/>
          </a:bodyPr>
          <a:p>
            <a:r>
              <a:rPr lang="zh-CN" altLang="en-US"/>
              <a:t>希尔排序：</a:t>
            </a:r>
            <a:endParaRPr lang="zh-CN" altLang="en-US"/>
          </a:p>
          <a:p>
            <a:r>
              <a:rPr lang="zh-CN" altLang="en-US"/>
              <a:t>第1次循环结果为： 8 9 12 14 24 10 10 23 53 25</a:t>
            </a:r>
            <a:endParaRPr lang="zh-CN" altLang="en-US"/>
          </a:p>
          <a:p>
            <a:r>
              <a:rPr lang="zh-CN" altLang="en-US"/>
              <a:t>第2次循环结果为： 8 9 10 10 23 12 14 24 53 25</a:t>
            </a:r>
            <a:endParaRPr lang="zh-CN" altLang="en-US"/>
          </a:p>
          <a:p>
            <a:r>
              <a:rPr lang="zh-CN" altLang="en-US"/>
              <a:t>第3次循环结果为： 8 9 10 10 12 14 23 24 25 53</a:t>
            </a:r>
            <a:endParaRPr lang="zh-CN" altLang="en-US"/>
          </a:p>
          <a:p>
            <a:r>
              <a:rPr lang="zh-CN" altLang="en-US"/>
              <a:t>排序后：</a:t>
            </a:r>
            <a:endParaRPr lang="zh-CN" altLang="en-US"/>
          </a:p>
          <a:p>
            <a:r>
              <a:rPr lang="zh-CN" altLang="en-US"/>
              <a:t> 8 9 10 10 12 14 23 24 25 53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55410" y="2275205"/>
            <a:ext cx="52292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改进后的冒泡排序：</a:t>
            </a:r>
            <a:endParaRPr lang="zh-CN" altLang="en-US"/>
          </a:p>
          <a:p>
            <a:pPr algn="l"/>
            <a:r>
              <a:rPr lang="zh-CN" altLang="en-US"/>
              <a:t>第1次循环结果为： 9 10 12 24 8 10 23 14 25 53</a:t>
            </a:r>
            <a:endParaRPr lang="zh-CN" altLang="en-US"/>
          </a:p>
          <a:p>
            <a:pPr algn="l"/>
            <a:r>
              <a:rPr lang="zh-CN" altLang="en-US"/>
              <a:t>第2次循环结果为： 9 10 12 8 10 23 14 24 25 53</a:t>
            </a:r>
            <a:endParaRPr lang="zh-CN" altLang="en-US"/>
          </a:p>
          <a:p>
            <a:pPr algn="l"/>
            <a:r>
              <a:rPr lang="zh-CN" altLang="en-US"/>
              <a:t>第3次循环结果为： 9 10 8 10 12 14 23 24 25 53</a:t>
            </a:r>
            <a:endParaRPr lang="zh-CN" altLang="en-US"/>
          </a:p>
          <a:p>
            <a:pPr algn="l"/>
            <a:r>
              <a:rPr lang="zh-CN" altLang="en-US"/>
              <a:t>第4次循环结果为： 9 8 10 10 12 14 23 24 25 53</a:t>
            </a:r>
            <a:endParaRPr lang="zh-CN" altLang="en-US"/>
          </a:p>
          <a:p>
            <a:pPr algn="l"/>
            <a:r>
              <a:rPr lang="zh-CN" altLang="en-US"/>
              <a:t>第5次循环结果为： 8 9 10 10 12 14 23 24 25 53</a:t>
            </a:r>
            <a:endParaRPr lang="zh-CN" altLang="en-US"/>
          </a:p>
          <a:p>
            <a:pPr algn="l"/>
            <a:r>
              <a:rPr lang="zh-CN" altLang="en-US"/>
              <a:t>第6次循环结果为： 8 9 10 10 12 14 23 24 25 53</a:t>
            </a:r>
            <a:endParaRPr lang="zh-CN" altLang="en-US"/>
          </a:p>
          <a:p>
            <a:pPr algn="l"/>
            <a:r>
              <a:rPr lang="zh-CN" altLang="en-US"/>
              <a:t>第7次循环结果为： 8 9 10 10 12 14 23 24 25 53</a:t>
            </a:r>
            <a:endParaRPr lang="zh-CN" altLang="en-US"/>
          </a:p>
          <a:p>
            <a:pPr algn="l"/>
            <a:r>
              <a:rPr lang="zh-CN" altLang="en-US"/>
              <a:t>第8次循环结果为： 8 9 10 10 12 14 23 24 25 53</a:t>
            </a:r>
            <a:endParaRPr lang="zh-CN" altLang="en-US"/>
          </a:p>
          <a:p>
            <a:pPr algn="l"/>
            <a:r>
              <a:rPr lang="zh-CN" altLang="en-US"/>
              <a:t>第9次循环结果为： 8 9 10 10 12 14 23 24 25 53</a:t>
            </a:r>
            <a:endParaRPr lang="zh-CN" altLang="en-US"/>
          </a:p>
          <a:p>
            <a:pPr algn="l"/>
            <a:r>
              <a:rPr lang="zh-CN" altLang="en-US"/>
              <a:t>排序后：</a:t>
            </a:r>
            <a:endParaRPr lang="zh-CN" altLang="en-US"/>
          </a:p>
          <a:p>
            <a:pPr algn="l"/>
            <a:r>
              <a:rPr lang="zh-CN" altLang="en-US"/>
              <a:t> 8 9 10 10 12 14 23 24 25 53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99949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48530" cy="4351655"/>
          </a:xfrm>
        </p:spPr>
        <p:txBody>
          <a:bodyPr>
            <a:normAutofit fontScale="60000"/>
          </a:bodyPr>
          <a:p>
            <a:r>
              <a:rPr lang="zh-CN" altLang="en-US"/>
              <a:t>快速排序：</a:t>
            </a:r>
            <a:endParaRPr lang="zh-CN" altLang="en-US"/>
          </a:p>
          <a:p>
            <a:r>
              <a:rPr lang="zh-CN" altLang="en-US"/>
              <a:t>第1趟:  8 9 10 53 24 12 10 23 14 25</a:t>
            </a:r>
            <a:endParaRPr lang="zh-CN" altLang="en-US"/>
          </a:p>
          <a:p>
            <a:r>
              <a:rPr lang="zh-CN" altLang="en-US"/>
              <a:t>第2趟:  8 9 10 53 24 12 10 23 14 25</a:t>
            </a:r>
            <a:endParaRPr lang="zh-CN" altLang="en-US"/>
          </a:p>
          <a:p>
            <a:r>
              <a:rPr lang="zh-CN" altLang="en-US"/>
              <a:t>第3趟:  8 9 10 25 24 12 10 23 14 53</a:t>
            </a:r>
            <a:endParaRPr lang="zh-CN" altLang="en-US"/>
          </a:p>
          <a:p>
            <a:r>
              <a:rPr lang="zh-CN" altLang="en-US"/>
              <a:t>第4趟:  8 9 10 14 24 12 10 23 25 53</a:t>
            </a:r>
            <a:endParaRPr lang="zh-CN" altLang="en-US"/>
          </a:p>
          <a:p>
            <a:r>
              <a:rPr lang="zh-CN" altLang="en-US"/>
              <a:t>第5趟:  8 9 10 10 12 14 24 23 25 53</a:t>
            </a:r>
            <a:endParaRPr lang="zh-CN" altLang="en-US"/>
          </a:p>
          <a:p>
            <a:r>
              <a:rPr lang="zh-CN" altLang="en-US"/>
              <a:t>第6趟:  8 9 10 10 12 14 24 23 25 53</a:t>
            </a:r>
            <a:endParaRPr lang="zh-CN" altLang="en-US"/>
          </a:p>
          <a:p>
            <a:r>
              <a:rPr lang="zh-CN" altLang="en-US"/>
              <a:t>第7趟:  8 9 10 10 12 14 23 24 25 53</a:t>
            </a:r>
            <a:endParaRPr lang="zh-CN" altLang="en-US"/>
          </a:p>
          <a:p>
            <a:r>
              <a:rPr lang="zh-CN" altLang="en-US"/>
              <a:t>排序后：</a:t>
            </a:r>
            <a:endParaRPr lang="zh-CN" altLang="en-US"/>
          </a:p>
          <a:p>
            <a:r>
              <a:rPr lang="zh-CN" altLang="en-US"/>
              <a:t> 8 9 10 10 12 14 23 24 25 53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64605" y="2225675"/>
            <a:ext cx="53378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直接选择排序：</a:t>
            </a:r>
            <a:endParaRPr lang="zh-CN" altLang="en-US"/>
          </a:p>
          <a:p>
            <a:r>
              <a:rPr lang="zh-CN" altLang="en-US"/>
              <a:t>第1次循环结果为： 8 9 12 53 24 10 10 23 14 25</a:t>
            </a:r>
            <a:endParaRPr lang="zh-CN" altLang="en-US"/>
          </a:p>
          <a:p>
            <a:r>
              <a:rPr lang="zh-CN" altLang="en-US"/>
              <a:t>第2次循环结果为： 8 9 12 53 24 10 10 23 14 25</a:t>
            </a:r>
            <a:endParaRPr lang="zh-CN" altLang="en-US"/>
          </a:p>
          <a:p>
            <a:r>
              <a:rPr lang="zh-CN" altLang="en-US"/>
              <a:t>第3次循环结果为： 8 12 9 53 24 10 10 23 14 25</a:t>
            </a:r>
            <a:endParaRPr lang="zh-CN" altLang="en-US"/>
          </a:p>
          <a:p>
            <a:r>
              <a:rPr lang="zh-CN" altLang="en-US"/>
              <a:t>第4次循环结果为： 8 12 9 10 24 53 10 23 14 25</a:t>
            </a:r>
            <a:endParaRPr lang="zh-CN" altLang="en-US"/>
          </a:p>
          <a:p>
            <a:r>
              <a:rPr lang="zh-CN" altLang="en-US"/>
              <a:t>第5次循环结果为： 8 12 9 10 10 53 24 23 14 25</a:t>
            </a:r>
            <a:endParaRPr lang="zh-CN" altLang="en-US"/>
          </a:p>
          <a:p>
            <a:r>
              <a:rPr lang="zh-CN" altLang="en-US"/>
              <a:t>第6次循环结果为： 8 53 9 10 10 12 24 23 14 25</a:t>
            </a:r>
            <a:endParaRPr lang="zh-CN" altLang="en-US"/>
          </a:p>
          <a:p>
            <a:r>
              <a:rPr lang="zh-CN" altLang="en-US"/>
              <a:t>第7次循环结果为： 8 53 9 10 10 12 14 23 24 25</a:t>
            </a:r>
            <a:endParaRPr lang="zh-CN" altLang="en-US"/>
          </a:p>
          <a:p>
            <a:r>
              <a:rPr lang="zh-CN" altLang="en-US"/>
              <a:t>第8次循环结果为： 8 53 9 10 10 12 14 24 23 25</a:t>
            </a:r>
            <a:endParaRPr lang="zh-CN" altLang="en-US"/>
          </a:p>
          <a:p>
            <a:r>
              <a:rPr lang="zh-CN" altLang="en-US"/>
              <a:t>第9次循环结果为： 8 53 9 10 10 12 14 24 25 23</a:t>
            </a:r>
            <a:endParaRPr lang="zh-CN" altLang="en-US"/>
          </a:p>
          <a:p>
            <a:r>
              <a:rPr lang="zh-CN" altLang="en-US"/>
              <a:t>排序后：</a:t>
            </a:r>
            <a:endParaRPr lang="zh-CN" altLang="en-US"/>
          </a:p>
          <a:p>
            <a:r>
              <a:rPr lang="zh-CN" altLang="en-US"/>
              <a:t> 8 53 9 10 10 12 14 24 25 23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714" y="324304"/>
            <a:ext cx="7692572" cy="1178265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09795" cy="4351655"/>
          </a:xfrm>
        </p:spPr>
        <p:txBody>
          <a:bodyPr>
            <a:normAutofit lnSpcReduction="20000"/>
          </a:bodyPr>
          <a:p>
            <a:r>
              <a:rPr lang="zh-CN" altLang="en-US" sz="1200"/>
              <a:t>堆排序：</a:t>
            </a:r>
            <a:endParaRPr lang="zh-CN" altLang="en-US" sz="1200"/>
          </a:p>
          <a:p>
            <a:r>
              <a:rPr lang="zh-CN" altLang="en-US" sz="1200"/>
              <a:t>第1次循环结果为： 9 14 10 23 24 12 10 25 53 8</a:t>
            </a:r>
            <a:endParaRPr lang="zh-CN" altLang="en-US" sz="1200"/>
          </a:p>
          <a:p>
            <a:r>
              <a:rPr lang="zh-CN" altLang="en-US" sz="1200"/>
              <a:t>第2次循环结果为： 10 14 10 23 24 12 53 25 9 8</a:t>
            </a:r>
            <a:endParaRPr lang="zh-CN" altLang="en-US" sz="1200"/>
          </a:p>
          <a:p>
            <a:r>
              <a:rPr lang="zh-CN" altLang="en-US" sz="1200"/>
              <a:t>第3次循环结果为： 10 14 12 23 24 25 53 10 9 8</a:t>
            </a:r>
            <a:endParaRPr lang="zh-CN" altLang="en-US" sz="1200"/>
          </a:p>
          <a:p>
            <a:r>
              <a:rPr lang="zh-CN" altLang="en-US" sz="1200"/>
              <a:t>第4次循环结果为： 12 14 25 23 24 53 10 10 9 8</a:t>
            </a:r>
            <a:endParaRPr lang="zh-CN" altLang="en-US" sz="1200"/>
          </a:p>
          <a:p>
            <a:r>
              <a:rPr lang="zh-CN" altLang="en-US" sz="1200"/>
              <a:t>第5次循环结果为： 14 23 25 53 24 12 10 10 9 8</a:t>
            </a:r>
            <a:endParaRPr lang="zh-CN" altLang="en-US" sz="1200"/>
          </a:p>
          <a:p>
            <a:r>
              <a:rPr lang="zh-CN" altLang="en-US" sz="1200"/>
              <a:t>第6次循环结果为： 23 24 25 53 14 12 10 10 9 8</a:t>
            </a:r>
            <a:endParaRPr lang="zh-CN" altLang="en-US" sz="1200"/>
          </a:p>
          <a:p>
            <a:r>
              <a:rPr lang="zh-CN" altLang="en-US" sz="1200"/>
              <a:t>第7次循环结果为： 24 53 25 23 14 12 10 10 9 8</a:t>
            </a:r>
            <a:endParaRPr lang="zh-CN" altLang="en-US" sz="1200"/>
          </a:p>
          <a:p>
            <a:r>
              <a:rPr lang="zh-CN" altLang="en-US" sz="1200"/>
              <a:t>第8次循环结果为： 25 53 24 23 14 12 10 10 9 8</a:t>
            </a:r>
            <a:endParaRPr lang="zh-CN" altLang="en-US" sz="1200"/>
          </a:p>
          <a:p>
            <a:r>
              <a:rPr lang="zh-CN" altLang="en-US" sz="1200"/>
              <a:t>第9次循环结果为： 53 25 24 23 14 12 10 10 9 8</a:t>
            </a:r>
            <a:endParaRPr lang="zh-CN" altLang="en-US" sz="1200"/>
          </a:p>
          <a:p>
            <a:r>
              <a:rPr lang="zh-CN" altLang="en-US" sz="1200"/>
              <a:t>排序后：</a:t>
            </a:r>
            <a:endParaRPr lang="zh-CN" altLang="en-US" sz="1200"/>
          </a:p>
          <a:p>
            <a:r>
              <a:rPr lang="zh-CN" altLang="en-US" sz="1200"/>
              <a:t> 53 25 24 23 14 12 10 10 9 8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6304915" y="2385695"/>
            <a:ext cx="51682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归并排序</a:t>
            </a:r>
            <a:endParaRPr lang="zh-CN" altLang="en-US"/>
          </a:p>
          <a:p>
            <a:r>
              <a:rPr lang="zh-CN" altLang="en-US"/>
              <a:t>第1次循环结果为： 10 9 12 53 24 8 10 23 14 25</a:t>
            </a:r>
            <a:endParaRPr lang="zh-CN" altLang="en-US"/>
          </a:p>
          <a:p>
            <a:r>
              <a:rPr lang="zh-CN" altLang="en-US"/>
              <a:t>第2次循环结果为： 10 9 12 53 24 8 10 23 14 25</a:t>
            </a:r>
            <a:endParaRPr lang="zh-CN" altLang="en-US"/>
          </a:p>
          <a:p>
            <a:r>
              <a:rPr lang="zh-CN" altLang="en-US"/>
              <a:t>第3次循环结果为： 10 9 12 53 24 8 10 23 14 25</a:t>
            </a:r>
            <a:endParaRPr lang="zh-CN" altLang="en-US"/>
          </a:p>
          <a:p>
            <a:r>
              <a:rPr lang="zh-CN" altLang="en-US"/>
              <a:t>第4次循环结果为： 10 9 12 53 24 8 10 23 14 25</a:t>
            </a:r>
            <a:endParaRPr lang="zh-CN" altLang="en-US"/>
          </a:p>
          <a:p>
            <a:r>
              <a:rPr lang="zh-CN" altLang="en-US"/>
              <a:t>第5次循环结果为： 10 9 12 53 24 8 10 23 14 25</a:t>
            </a:r>
            <a:endParaRPr lang="zh-CN" altLang="en-US"/>
          </a:p>
          <a:p>
            <a:r>
              <a:rPr lang="zh-CN" altLang="en-US"/>
              <a:t>第6次循环结果为： 9 10 12 53 8 24 10 23 14 25</a:t>
            </a:r>
            <a:endParaRPr lang="zh-CN" altLang="en-US"/>
          </a:p>
          <a:p>
            <a:r>
              <a:rPr lang="zh-CN" altLang="en-US"/>
              <a:t>第7次循环结果为： 9 10 12 53 8 24 10 23 14 25</a:t>
            </a:r>
            <a:endParaRPr lang="zh-CN" altLang="en-US"/>
          </a:p>
          <a:p>
            <a:r>
              <a:rPr lang="zh-CN" altLang="en-US"/>
              <a:t>第8次循环结果为： 9 10 12 53 8 10 23 24 14 25</a:t>
            </a:r>
            <a:endParaRPr lang="zh-CN" altLang="en-US"/>
          </a:p>
          <a:p>
            <a:r>
              <a:rPr lang="zh-CN" altLang="en-US"/>
              <a:t>第9次循环结果为： 8 9 10 10 12 23 24 53 14 25</a:t>
            </a:r>
            <a:endParaRPr lang="zh-CN" altLang="en-US"/>
          </a:p>
          <a:p>
            <a:r>
              <a:rPr lang="zh-CN" altLang="en-US"/>
              <a:t>排序后：</a:t>
            </a:r>
            <a:endParaRPr lang="zh-CN" altLang="en-US"/>
          </a:p>
          <a:p>
            <a:r>
              <a:rPr lang="zh-CN" altLang="en-US"/>
              <a:t> 8 9 10 10 12 14 23 24 25 53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zh-CN" altLang="en-US"/>
              <a:t>耗时结果：</a:t>
            </a:r>
            <a:endParaRPr lang="zh-CN" altLang="en-US"/>
          </a:p>
          <a:p>
            <a:r>
              <a:rPr lang="zh-CN" altLang="en-US"/>
              <a:t>随机生成三万个随机数测试结果：</a:t>
            </a:r>
            <a:endParaRPr lang="zh-CN" altLang="en-US"/>
          </a:p>
          <a:p>
            <a:r>
              <a:rPr lang="zh-CN" altLang="en-US"/>
              <a:t>直接插入排序：331ms</a:t>
            </a:r>
            <a:endParaRPr lang="zh-CN" altLang="en-US"/>
          </a:p>
          <a:p>
            <a:r>
              <a:rPr lang="zh-CN" altLang="en-US"/>
              <a:t>希尔排序：105ms</a:t>
            </a:r>
            <a:endParaRPr lang="zh-CN" altLang="en-US"/>
          </a:p>
          <a:p>
            <a:r>
              <a:rPr lang="zh-CN" altLang="en-US"/>
              <a:t>改进后的冒泡排序：1779ms</a:t>
            </a:r>
            <a:endParaRPr lang="zh-CN" altLang="en-US"/>
          </a:p>
          <a:p>
            <a:r>
              <a:rPr lang="zh-CN" altLang="en-US"/>
              <a:t>快速排序：9ms</a:t>
            </a:r>
            <a:endParaRPr lang="zh-CN" altLang="en-US"/>
          </a:p>
          <a:p>
            <a:r>
              <a:rPr lang="zh-CN" altLang="en-US"/>
              <a:t>直接选择排序268ms</a:t>
            </a:r>
            <a:endParaRPr lang="zh-CN" altLang="en-US"/>
          </a:p>
          <a:p>
            <a:r>
              <a:rPr lang="zh-CN" altLang="en-US"/>
              <a:t>堆排序：1381ms</a:t>
            </a:r>
            <a:endParaRPr lang="zh-CN" altLang="en-US"/>
          </a:p>
          <a:p>
            <a:r>
              <a:rPr lang="zh-CN" altLang="en-US"/>
              <a:t>归并排序：729ms</a:t>
            </a:r>
            <a:endParaRPr lang="zh-CN" altLang="en-US"/>
          </a:p>
          <a:p>
            <a:r>
              <a:rPr lang="zh-CN" altLang="en-US"/>
              <a:t>链式基数排序：3ms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题目二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编程判断小学生输入的包含括号和加、减、乘、除运算的整数表达式是否合法，如果合法，则进一步判断计算结果是否正确。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总体思想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运用所学的栈的知识将输入的整式转化为前缀或后缀表达式，然后对前缀或后缀表达式进行计算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将表达式转化为前缀表达式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435" y="739775"/>
            <a:ext cx="13656945" cy="6178550"/>
          </a:xfrm>
        </p:spPr>
        <p:txBody>
          <a:bodyPr>
            <a:normAutofit fontScale="70000"/>
          </a:bodyPr>
          <a:p>
            <a:endParaRPr lang="zh-CN" altLang="en-US"/>
          </a:p>
          <a:p>
            <a:r>
              <a:rPr lang="zh-CN" altLang="en-US" sz="1600">
                <a:solidFill>
                  <a:schemeClr val="bg1"/>
                </a:solidFill>
              </a:rPr>
              <a:t>将中缀表达式转换为前缀表达式：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遵循以下步骤：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(1) 初始化两个栈：运算符栈S1和储存中间结果的栈S2；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(2) 从右至左扫描中缀表达式；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(3) 遇到操作数时，将其压入S2；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(4) 遇到运算符时，比较其与S1栈顶运算符的优先级：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(4-1) 如果S1为空，或栈顶运算符为右括号“)”，则直接将此运算符入栈；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(4-2) 否则，若优先级比栈顶运算符的较高或相等，也将运算符压入S1；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(4-3) 否则，将S1栈顶的运算符弹出并压入到S2中，再次转到(4-1)与S1中新的栈顶运算符相比较；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(5) 遇到括号时：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(5-1) 如果是右括号“)”，则直接压入S1；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(5-2) 如果是左括号“(”，则依次弹出S1栈顶的运算符，并压入S2，直到遇到右括号为止，此时将这一对括号丢弃；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(6) 重复步骤(2)至(5)，直到表达式的最左边；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(7) 将S1中剩余的运算符依次弹出并压入S2；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(8) 依次弹出S2中的元素并输出，结果即为中缀表达式对应的前缀表达式。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前缀表达式求值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zh-CN" altLang="en-US"/>
              <a:t>从右至左扫描表达式，遇到数字时，将数字压入堆栈，遇到运算符时，弹出栈顶的两个数，用运算符对它们做相应的计算（栈顶元素 op 次顶元素），并将结果入栈；重复上述过程直到表达式最左端，最后运算得出的值即为表达式的结果。</a:t>
            </a:r>
            <a:endParaRPr lang="zh-CN" altLang="en-US"/>
          </a:p>
          <a:p>
            <a:r>
              <a:rPr lang="zh-CN" altLang="en-US"/>
              <a:t>例如前缀表达式“- × + 3 4 5 6”：</a:t>
            </a:r>
            <a:endParaRPr lang="zh-CN" altLang="en-US"/>
          </a:p>
          <a:p>
            <a:r>
              <a:rPr lang="zh-CN" altLang="en-US"/>
              <a:t>(1) 从右至左扫描，将6、5、4、3压入堆栈；</a:t>
            </a:r>
            <a:endParaRPr lang="zh-CN" altLang="en-US"/>
          </a:p>
          <a:p>
            <a:r>
              <a:rPr lang="zh-CN" altLang="en-US"/>
              <a:t>(2) 遇到+运算符，因此弹出3和4（3为栈顶元素，4为次顶元素，注意与后缀表达式做比较），计算出3+4的值，得7，再将7入栈；</a:t>
            </a:r>
            <a:endParaRPr lang="zh-CN" altLang="en-US"/>
          </a:p>
          <a:p>
            <a:r>
              <a:rPr lang="zh-CN" altLang="en-US"/>
              <a:t>(3) 接下来是×运算符，因此弹出7和5，计算出7×5=35，将35入栈；</a:t>
            </a:r>
            <a:endParaRPr lang="zh-CN" altLang="en-US"/>
          </a:p>
          <a:p>
            <a:r>
              <a:rPr lang="zh-CN" altLang="en-US"/>
              <a:t>(4) 最后是-运算符，计算出35-6的值，即29，由此得出最终结果。</a:t>
            </a:r>
            <a:endParaRPr lang="zh-CN" altLang="en-US"/>
          </a:p>
          <a:p>
            <a:r>
              <a:rPr lang="zh-CN" altLang="en-US"/>
              <a:t>可以看出，用计算机计算前缀表达式的值是很容易的。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后缀表达式的计算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815" y="1826260"/>
            <a:ext cx="10802620" cy="5000625"/>
          </a:xfrm>
        </p:spPr>
        <p:txBody>
          <a:bodyPr>
            <a:normAutofit fontScale="60000"/>
          </a:bodyPr>
          <a:p>
            <a:r>
              <a:rPr lang="zh-CN" altLang="en-US"/>
              <a:t>与前缀表达式类似，只是顺序是从左至右：</a:t>
            </a:r>
            <a:endParaRPr lang="zh-CN" altLang="en-US"/>
          </a:p>
          <a:p>
            <a:r>
              <a:rPr lang="zh-CN" altLang="en-US"/>
              <a:t>从左至右扫描表达式，遇到数字时，将数字压入堆栈，遇到运算符时，弹出栈顶的两个数，用运算符对它们做相应的计算（次顶元素 op 栈顶元素），并将结果入栈；重复上述过程直到表达式最右端，最后运算得出的值即为表达式的结果。</a:t>
            </a:r>
            <a:endParaRPr lang="zh-CN" altLang="en-US"/>
          </a:p>
          <a:p>
            <a:r>
              <a:rPr lang="zh-CN" altLang="en-US"/>
              <a:t>例如后缀表达式“3 4 + 5 × 6 -”：</a:t>
            </a:r>
            <a:endParaRPr lang="zh-CN" altLang="en-US"/>
          </a:p>
          <a:p>
            <a:r>
              <a:rPr lang="zh-CN" altLang="en-US"/>
              <a:t>(1) 从左至右扫描，将3和4压入堆栈；</a:t>
            </a:r>
            <a:endParaRPr lang="zh-CN" altLang="en-US"/>
          </a:p>
          <a:p>
            <a:r>
              <a:rPr lang="zh-CN" altLang="en-US"/>
              <a:t>(2) 遇到+运算符，因此弹出4和3（4为栈顶元素，3为次顶元素，注意与前缀表达式做比较），计算出3+4的值，得7，再将7入栈；</a:t>
            </a:r>
            <a:endParaRPr lang="zh-CN" altLang="en-US"/>
          </a:p>
          <a:p>
            <a:r>
              <a:rPr lang="zh-CN" altLang="en-US"/>
              <a:t>(3) 将5入栈；</a:t>
            </a:r>
            <a:endParaRPr lang="zh-CN" altLang="en-US"/>
          </a:p>
          <a:p>
            <a:r>
              <a:rPr lang="zh-CN" altLang="en-US"/>
              <a:t>(4) 接下来是×运算符，因此弹出5和7，计算出7×5=35，将35入栈；</a:t>
            </a:r>
            <a:endParaRPr lang="zh-CN" altLang="en-US"/>
          </a:p>
          <a:p>
            <a:r>
              <a:rPr lang="zh-CN" altLang="en-US"/>
              <a:t>(5) 将6入栈；</a:t>
            </a:r>
            <a:endParaRPr lang="zh-CN" altLang="en-US"/>
          </a:p>
          <a:p>
            <a:r>
              <a:rPr lang="zh-CN" altLang="en-US"/>
              <a:t>(6) 最后是-运算符，计算出35-6的值，即29，由此得出最终结果。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将表达式转化为后缀表达式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1010" y="1826260"/>
            <a:ext cx="10893425" cy="5530215"/>
          </a:xfrm>
        </p:spPr>
        <p:txBody>
          <a:bodyPr>
            <a:normAutofit fontScale="50000"/>
          </a:bodyPr>
          <a:p>
            <a:r>
              <a:rPr lang="zh-CN" altLang="en-US"/>
              <a:t>(1) 初始化两个栈：运算符栈S1和储存中间结果的栈S2；</a:t>
            </a:r>
            <a:endParaRPr lang="zh-CN" altLang="en-US"/>
          </a:p>
          <a:p>
            <a:r>
              <a:rPr lang="zh-CN" altLang="en-US"/>
              <a:t>(2) 从左至右扫描中缀表达式；</a:t>
            </a:r>
            <a:endParaRPr lang="zh-CN" altLang="en-US"/>
          </a:p>
          <a:p>
            <a:r>
              <a:rPr lang="zh-CN" altLang="en-US"/>
              <a:t>(3) 遇到操作数时，将其压入S2；</a:t>
            </a:r>
            <a:endParaRPr lang="zh-CN" altLang="en-US"/>
          </a:p>
          <a:p>
            <a:r>
              <a:rPr lang="zh-CN" altLang="en-US"/>
              <a:t>(4) 遇到运算符时，比较其与S1栈顶运算符的优先级：</a:t>
            </a:r>
            <a:endParaRPr lang="zh-CN" altLang="en-US"/>
          </a:p>
          <a:p>
            <a:r>
              <a:rPr lang="zh-CN" altLang="en-US"/>
              <a:t>(4-1) 如果S1为空，或栈顶运算符为左括号“(”，则直接将此运算符入栈；</a:t>
            </a:r>
            <a:endParaRPr lang="zh-CN" altLang="en-US"/>
          </a:p>
          <a:p>
            <a:r>
              <a:rPr lang="zh-CN" altLang="en-US"/>
              <a:t>(4-2) 否则，若优先级比栈顶运算符的高，也将运算符压入S1（注意转换为前缀表达式时是优先级较高或相同，而这里则不包括相同的情况）；</a:t>
            </a:r>
            <a:endParaRPr lang="zh-CN" altLang="en-US"/>
          </a:p>
          <a:p>
            <a:r>
              <a:rPr lang="zh-CN" altLang="en-US"/>
              <a:t>(4-3) 否则，将S1栈顶的运算符弹出并压入到S2中，再次转到(4-1)与S1中新的栈顶运算符相比较；</a:t>
            </a:r>
            <a:endParaRPr lang="zh-CN" altLang="en-US"/>
          </a:p>
          <a:p>
            <a:r>
              <a:rPr lang="zh-CN" altLang="en-US"/>
              <a:t>(5) 遇到括号时：</a:t>
            </a:r>
            <a:endParaRPr lang="zh-CN" altLang="en-US"/>
          </a:p>
          <a:p>
            <a:r>
              <a:rPr lang="zh-CN" altLang="en-US"/>
              <a:t>(5-1) 如果是左括号“(”，则直接压入S1；</a:t>
            </a:r>
            <a:endParaRPr lang="zh-CN" altLang="en-US"/>
          </a:p>
          <a:p>
            <a:r>
              <a:rPr lang="zh-CN" altLang="en-US"/>
              <a:t>(5-2) 如果是右括号“)”，则依次弹出S1栈顶的运算符，并压入S2，直到遇到左括号为止，此时将这一对括号丢弃；</a:t>
            </a:r>
            <a:endParaRPr lang="zh-CN" altLang="en-US"/>
          </a:p>
          <a:p>
            <a:r>
              <a:rPr lang="zh-CN" altLang="en-US"/>
              <a:t>(6) 重复步骤(2)至(5)，直到表达式的最右边；</a:t>
            </a:r>
            <a:endParaRPr lang="zh-CN" altLang="en-US"/>
          </a:p>
          <a:p>
            <a:r>
              <a:rPr lang="zh-CN" altLang="en-US"/>
              <a:t>(7) 将S1中剩余的运算符依次弹出并压入S2；</a:t>
            </a:r>
            <a:endParaRPr lang="zh-CN" altLang="en-US"/>
          </a:p>
          <a:p>
            <a:r>
              <a:rPr lang="zh-CN" altLang="en-US"/>
              <a:t>(8) 依次弹出S2中的元素并输出，结果的逆序即为中缀表达式对应的后缀表达式（转换为前缀表达式时不用逆序）。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lvl="0" algn="l" fontAlgn="auto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void clear()将栈置空</a:t>
            </a:r>
            <a:endParaRPr lang="en-US" altLang="zh-CN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boo</a:t>
            </a:r>
            <a:r>
              <a:rPr lang="zh-CN" altLang="en-US">
                <a:sym typeface="+mn-ea"/>
              </a:rPr>
              <a:t>lean isEmp</a:t>
            </a:r>
            <a:r>
              <a:rPr lang="en-US" alt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ty() 判断栈是否为空</a:t>
            </a:r>
            <a:endParaRPr lang="en-US" altLang="zh-CN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int length() 求栈链长度方法</a:t>
            </a:r>
            <a:endParaRPr lang="en-US" altLang="zh-CN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Object peek()取栈顶元素并返回它的值</a:t>
            </a:r>
            <a:endParaRPr lang="en-US" altLang="zh-CN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Object pop()出栈方法</a:t>
            </a:r>
            <a:endParaRPr lang="en-US" altLang="zh-CN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void push(Object x) throws Exception入栈方法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测试主要代码</a:t>
            </a:r>
            <a:b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664710"/>
          </a:xfrm>
        </p:spPr>
        <p:txBody>
          <a:bodyPr>
            <a:normAutofit lnSpcReduction="10000"/>
          </a:bodyPr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判断优先级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int priority(char c){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if(c=='*'||c=='/'){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2;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else if(c=='+'||c=='-'){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1;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else{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0;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1018540"/>
          </a:xfrm>
        </p:spPr>
        <p:txBody>
          <a:bodyPr/>
          <a:p>
            <a:r>
              <a:rPr lang="zh-CN" altLang="en-US">
                <a:sym typeface="+mn-ea"/>
              </a:rPr>
              <a:t>测试主要代码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4940300"/>
          </a:xfrm>
        </p:spPr>
        <p:txBody>
          <a:bodyPr>
            <a:normAutofit fontScale="50000"/>
          </a:bodyPr>
          <a:p>
            <a:pPr lvl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//判断是否为左括号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public boolean isOpenParenthesis(char c){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return '('==c;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//判断是否为右括号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public boolean isCloseParenthesis(char c){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return ')'==c;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//判断是否为运算符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public boolean isOperator(char c){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if('+'==c||'-'==c||'*'==c||'/'==c){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true;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}else{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false;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989330"/>
          </a:xfrm>
        </p:spPr>
        <p:txBody>
          <a:bodyPr/>
          <a:p>
            <a:r>
              <a:rPr lang="zh-CN" altLang="en-US">
                <a:sym typeface="+mn-ea"/>
              </a:rPr>
              <a:t>测试主要代码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78560"/>
            <a:ext cx="10515600" cy="4998720"/>
          </a:xfrm>
        </p:spPr>
        <p:txBody>
          <a:bodyPr>
            <a:normAutofit fontScale="60000"/>
          </a:bodyPr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将运算表达式转变成后缀表达式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String convertToPostfix(String expression) throws Exception{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Stack st=new Stack();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String postfix=new String( 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for(int i=0;expression!=null&amp;&amp;i&lt;expression.length();i++){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char c=expression.charAt(i);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if(' '!=c){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if(isOpenParenthesis(c)){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st.push(c);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else if(isCloseParenthesis(c)){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char ac=(Character) st.pop();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while(!isOpenParenthesis(ac)){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postfix=postfix.concat(String.valueOf(ac));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ac=(Character)st.pop();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 sz="2400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809625"/>
          </a:xfrm>
        </p:spPr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测试主要代码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6825"/>
            <a:ext cx="10515600" cy="4910455"/>
          </a:xfrm>
        </p:spPr>
        <p:txBody>
          <a:bodyPr>
            <a:normAutofit lnSpcReduction="20000"/>
          </a:bodyPr>
          <a:p>
            <a:pPr lvl="0" algn="l">
              <a:lnSpc>
                <a:spcPct val="100000"/>
              </a:lnSpc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对后缀表达式进行运算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if(d2==0){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	throw new IllegalArgumentException("除数不能为0.");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}else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d3=d1/d2;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st.push(d3);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}else{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st.push(c);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return (Double)st.pop();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sz="24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sz="24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 sz="2400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72009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测试主要代码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6845"/>
            <a:ext cx="10515600" cy="5090160"/>
          </a:xfrm>
        </p:spPr>
        <p:txBody>
          <a:bodyPr>
            <a:normAutofit/>
          </a:bodyPr>
          <a:p>
            <a:pPr lvl="0" algn="l" fontAlgn="auto">
              <a:lnSpc>
                <a:spcPts val="800"/>
              </a:lnSpc>
              <a:buNone/>
            </a:pPr>
            <a:endParaRPr 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ublic static void main(String[] args)throws Exception{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boolean flag=false;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while(flag==false){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try{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jisuan p=new jisuan();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Scanner sc=new Scanner(System.in);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System.out.println("请输入运算表达式：");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String expression=sc.next();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String postfix=p.convertToPostfix(expression);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System.out.println(p.numberCalculate(postfix));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 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catch(Exception e){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System.out.println("输入错误！请重新输入：");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ts val="8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1178560"/>
          </a:xfrm>
        </p:spPr>
        <p:txBody>
          <a:bodyPr/>
          <a:p>
            <a:r>
              <a:rPr lang="zh-CN" altLang="en-US"/>
              <a:t>测试结果</a:t>
            </a:r>
            <a:endParaRPr lang="zh-CN" altLang="en-US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r>
              <a:rPr lang="zh-CN" altLang="en-US"/>
              <a:t>数据一：1++1</a:t>
            </a:r>
            <a:endParaRPr lang="zh-CN" altLang="en-US"/>
          </a:p>
          <a:p>
            <a:r>
              <a:rPr lang="zh-CN" altLang="en-US"/>
              <a:t>数据二：1+1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判断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8638" y="2000250"/>
            <a:ext cx="3514725" cy="285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题目三</a:t>
            </a:r>
            <a:b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一、问题描述</a:t>
            </a:r>
            <a:endParaRPr lang="zh-CN" altLang="en-US"/>
          </a:p>
          <a:p>
            <a:r>
              <a:rPr lang="zh-CN" altLang="en-US"/>
              <a:t>设计一个简单的学生信息管理系统，每个学生的信息包括学号、姓名、性别、班级和电话等，以姓名为关键字，自选哈希函数，分别以线性探测法和链地址法处理冲突创建哈希表，并实现查找已知姓名学生的电话功能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9815"/>
          </a:xfrm>
        </p:spPr>
        <p:txBody>
          <a:bodyPr/>
          <a:p>
            <a:r>
              <a:rPr lang="zh-CN" altLang="en-US"/>
              <a:t>总体思路</a:t>
            </a:r>
            <a:endParaRPr lang="zh-CN" altLang="en-US"/>
          </a:p>
          <a:p>
            <a:r>
              <a:rPr lang="zh-CN" altLang="en-US"/>
              <a:t>创建学生表--创建单链表--编写各种方法--实现各种操作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建立学生类</a:t>
            </a:r>
            <a:b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public class HashTable&lt;E&gt; {</a:t>
            </a:r>
            <a:endParaRPr lang="zh-CN" altLang="en-US"/>
          </a:p>
          <a:p>
            <a:r>
              <a:rPr lang="zh-CN" altLang="en-US"/>
              <a:t>public LinkList[] table;</a:t>
            </a:r>
            <a:endParaRPr lang="zh-CN" altLang="en-US"/>
          </a:p>
          <a:p>
            <a:r>
              <a:rPr lang="zh-CN" altLang="en-US"/>
              <a:t>public 	HashTable(int size) {</a:t>
            </a:r>
            <a:endParaRPr lang="zh-CN" altLang="en-US"/>
          </a:p>
          <a:p>
            <a:r>
              <a:rPr lang="zh-CN" altLang="en-US"/>
              <a:t>	this.table=new LinkList[size];</a:t>
            </a:r>
            <a:endParaRPr lang="zh-CN" altLang="en-US"/>
          </a:p>
          <a:p>
            <a:r>
              <a:rPr lang="zh-CN" altLang="en-US"/>
              <a:t>	for(int i=0;i&lt;table.length;i++) {</a:t>
            </a:r>
            <a:endParaRPr lang="zh-CN" altLang="en-US"/>
          </a:p>
          <a:p>
            <a:r>
              <a:rPr lang="zh-CN" altLang="en-US"/>
              <a:t>		table[i]=new LinkList();</a:t>
            </a:r>
            <a:endParaRPr lang="zh-CN" altLang="en-US"/>
          </a:p>
          <a:p>
            <a:r>
              <a:rPr lang="zh-CN" altLang="en-US"/>
              <a:t>	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定义学生类</a:t>
            </a:r>
            <a:b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class Student {</a:t>
            </a: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定义五个变量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public int </a:t>
            </a: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id</a:t>
            </a: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public String Name;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public String Sex;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public String Cla;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public String TEL;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public Student() {</a:t>
            </a: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调用构造方法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this(0, null, null, null, null);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构造方法</a:t>
            </a:r>
            <a:b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Student(int No, String Name, String Sex, String Cla, String T        EL)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this.No = No;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this.Name = Name;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this.Sex = Sex;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this.Cla = Cla;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this.TEL = TEL;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749935"/>
          </a:xfrm>
        </p:spPr>
        <p:txBody>
          <a:bodyPr>
            <a:normAutofit fontScale="90000"/>
          </a:bodyPr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普通方法</a:t>
            </a:r>
            <a:b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6680"/>
            <a:ext cx="10515600" cy="4800600"/>
          </a:xfrm>
        </p:spPr>
        <p:txBody>
          <a:bodyPr>
            <a:normAutofit/>
          </a:bodyPr>
          <a:p>
            <a:pPr lvl="0" algn="l" fontAlgn="auto">
              <a:lnSpc>
                <a:spcPts val="74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int getNo()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return No;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void setNo(int No)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this.No = No;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String getName()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return Name;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void setName(String Name)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this.Name = Name;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76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805" y="334010"/>
            <a:ext cx="7692390" cy="750570"/>
          </a:xfrm>
        </p:spPr>
        <p:txBody>
          <a:bodyPr>
            <a:normAutofit fontScale="90000"/>
          </a:bodyPr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普通方法</a:t>
            </a:r>
            <a:b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6855"/>
            <a:ext cx="10515600" cy="4670425"/>
          </a:xfrm>
        </p:spPr>
        <p:txBody>
          <a:bodyPr>
            <a:normAutofit fontScale="80000"/>
          </a:bodyPr>
          <a:p>
            <a:pPr lvl="0" algn="l" fontAlgn="auto">
              <a:lnSpc>
                <a:spcPts val="620"/>
              </a:lnSpc>
              <a:buFont typeface="Arial" panose="020B0604020202020204" pitchFamily="34" charset="0"/>
              <a:buNone/>
            </a:pP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String getSex()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return Sex;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void setSex(String Sex)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this.Sex = Sex;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String getCla()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return Cla;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void setCla(String Cla)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this.Cla = Cla;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String getTEL()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return TEL = TEL;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public void setTEL(String TEL)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this.TEL = TEL;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 fontAlgn="auto">
              <a:lnSpc>
                <a:spcPts val="680"/>
              </a:lnSpc>
              <a:buNone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测试数据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请输入要插入的学生个数</a:t>
            </a:r>
            <a:endParaRPr lang="zh-CN" altLang="en-US"/>
          </a:p>
          <a:p>
            <a:r>
              <a:rPr lang="zh-CN" altLang="en-US"/>
              <a:t>2			</a:t>
            </a:r>
            <a:endParaRPr lang="zh-CN" altLang="en-US"/>
          </a:p>
          <a:p>
            <a:r>
              <a:rPr lang="zh-CN" altLang="en-US"/>
              <a:t>第0个学生的学号 姓名 性别 班级 电话：</a:t>
            </a:r>
            <a:endParaRPr lang="zh-CN" altLang="en-US"/>
          </a:p>
          <a:p>
            <a:r>
              <a:rPr lang="zh-CN" altLang="en-US"/>
              <a:t>1 2 3 4 5</a:t>
            </a:r>
            <a:endParaRPr lang="zh-CN" altLang="en-US"/>
          </a:p>
          <a:p>
            <a:r>
              <a:rPr lang="zh-CN" altLang="en-US"/>
              <a:t>第一个学生的学号 姓名 性别 班级 电话：</a:t>
            </a:r>
            <a:endParaRPr lang="zh-CN" altLang="en-US"/>
          </a:p>
          <a:p>
            <a:r>
              <a:rPr lang="zh-CN" altLang="en-US"/>
              <a:t>4 5 6 7 8 9			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测试结果</a:t>
            </a:r>
            <a:endParaRPr lang="zh-CN" altLang="en-US"/>
          </a:p>
        </p:txBody>
      </p:sp>
      <p:pic>
        <p:nvPicPr>
          <p:cNvPr id="3" name="内容占位符 -214748260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11475" y="1739900"/>
            <a:ext cx="6188710" cy="4394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课程设计总结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zh-CN" altLang="en-US"/>
              <a:t>本次课程设计我做的题目为必做题（双向循环列表）和三个选做题（排序算法的实现 用栈判断四则运算 哈希表的异常数据处理及应用），四个题目对我来讲题量有点过大，因为本身Java基础不牢固。通过对双向循环列表的构建及算法的实现，对线性表有了充足的认识以及对期末考试起到了复习的作用，掌握了插入删除查找节点以及就地逆置，明白了节点的前驱以及后继。通过完成排序算法的实现，我掌握了各种排序的算法，在以后的学习发展中有所收益。做哈希表的时候，我做的很少，只是把学生类写了一下，但是我还是学到了不少东西，通过本次课程设计，我对双向循环链表和哈希表都有了更深的理解和动手实践能力，从中学到的学习的方法和思想，都会在以后的学习中提供很大的帮助，从中学到的知识，也为以后的学习打下了基础。</a:t>
            </a:r>
            <a:endParaRPr lang="zh-CN" altLang="en-US"/>
          </a:p>
          <a:p>
            <a:r>
              <a:rPr lang="zh-CN" altLang="en-US"/>
              <a:t>程设计是对自己编程能力的综合考验，通过本次课程设计，让我对数据结构的理解更近了一步，也使自己发现自己的不足之处，使自己的能力更上一层楼。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249930" y="2829560"/>
            <a:ext cx="569214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>
                <a:rot lat="0" lon="0" rev="0"/>
              </a:lightRig>
            </a:scene3d>
            <a:sp3d extrusionH="120650" prstMaterial="matte"/>
          </a:bodyPr>
          <a:p>
            <a:pPr algn="ctr"/>
            <a:r>
              <a:rPr lang="zh-CN" altLang="en-US" sz="7200" b="1">
                <a:ln>
                  <a:gradFill>
                    <a:gsLst>
                      <a:gs pos="98000">
                        <a:srgbClr val="F88C89"/>
                      </a:gs>
                      <a:gs pos="86000">
                        <a:srgbClr val="F8D078"/>
                      </a:gs>
                      <a:gs pos="73000">
                        <a:srgbClr val="BAD172"/>
                      </a:gs>
                      <a:gs pos="62000">
                        <a:srgbClr val="BEC7AF"/>
                      </a:gs>
                      <a:gs pos="50000">
                        <a:srgbClr val="83D9E3"/>
                      </a:gs>
                      <a:gs pos="37000">
                        <a:srgbClr val="9C61DF"/>
                      </a:gs>
                      <a:gs pos="24000">
                        <a:srgbClr val="CA78E1"/>
                      </a:gs>
                      <a:gs pos="12000">
                        <a:srgbClr val="E564DF"/>
                      </a:gs>
                      <a:gs pos="0">
                        <a:srgbClr val="F86CC0"/>
                      </a:gs>
                    </a:gsLst>
                    <a:lin ang="0"/>
                  </a:gradFill>
                </a:ln>
                <a:gradFill>
                  <a:gsLst>
                    <a:gs pos="79000">
                      <a:srgbClr val="CCFF66"/>
                    </a:gs>
                    <a:gs pos="94000">
                      <a:srgbClr val="FFFF00">
                        <a:alpha val="50000"/>
                      </a:srgbClr>
                    </a:gs>
                    <a:gs pos="70000">
                      <a:srgbClr val="00FF00">
                        <a:alpha val="13000"/>
                      </a:srgbClr>
                    </a:gs>
                    <a:gs pos="56000">
                      <a:srgbClr val="00FFFF">
                        <a:alpha val="50000"/>
                      </a:srgbClr>
                    </a:gs>
                    <a:gs pos="43000">
                      <a:srgbClr val="00FFFF">
                        <a:alpha val="13000"/>
                      </a:srgbClr>
                    </a:gs>
                    <a:gs pos="22000">
                      <a:srgbClr val="FF00FF">
                        <a:alpha val="50000"/>
                      </a:srgbClr>
                    </a:gs>
                    <a:gs pos="33000">
                      <a:srgbClr val="9900FF">
                        <a:alpha val="50000"/>
                      </a:srgbClr>
                    </a:gs>
                    <a:gs pos="5000">
                      <a:srgbClr val="FF00FF">
                        <a:alpha val="50000"/>
                      </a:srgbClr>
                    </a:gs>
                    <a:gs pos="0">
                      <a:srgbClr val="FF3300">
                        <a:alpha val="50000"/>
                      </a:srgbClr>
                    </a:gs>
                    <a:gs pos="100000">
                      <a:srgbClr val="FF3300">
                        <a:alpha val="30000"/>
                      </a:srgbClr>
                    </a:gs>
                  </a:gsLst>
                  <a:lin ang="0"/>
                </a:gradFill>
                <a:effectLst>
                  <a:outerShdw blurRad="50800" dist="38100" algn="l" rotWithShape="0">
                    <a:srgbClr val="CC00CC">
                      <a:alpha val="40000"/>
                    </a:srgbClr>
                  </a:outerShdw>
                </a:effectLst>
              </a:rPr>
              <a:t>谢谢老师观看</a:t>
            </a:r>
            <a:endParaRPr lang="zh-CN" altLang="en-US" sz="7200" b="1">
              <a:ln>
                <a:gradFill>
                  <a:gsLst>
                    <a:gs pos="98000">
                      <a:srgbClr val="F88C89"/>
                    </a:gs>
                    <a:gs pos="86000">
                      <a:srgbClr val="F8D078"/>
                    </a:gs>
                    <a:gs pos="73000">
                      <a:srgbClr val="BAD172"/>
                    </a:gs>
                    <a:gs pos="62000">
                      <a:srgbClr val="BEC7AF"/>
                    </a:gs>
                    <a:gs pos="50000">
                      <a:srgbClr val="83D9E3"/>
                    </a:gs>
                    <a:gs pos="37000">
                      <a:srgbClr val="9C61DF"/>
                    </a:gs>
                    <a:gs pos="24000">
                      <a:srgbClr val="CA78E1"/>
                    </a:gs>
                    <a:gs pos="12000">
                      <a:srgbClr val="E564DF"/>
                    </a:gs>
                    <a:gs pos="0">
                      <a:srgbClr val="F86CC0"/>
                    </a:gs>
                  </a:gsLst>
                  <a:lin ang="0"/>
                </a:gradFill>
              </a:ln>
              <a:gradFill>
                <a:gsLst>
                  <a:gs pos="79000">
                    <a:srgbClr val="CCFF66"/>
                  </a:gs>
                  <a:gs pos="94000">
                    <a:srgbClr val="FFFF00">
                      <a:alpha val="50000"/>
                    </a:srgbClr>
                  </a:gs>
                  <a:gs pos="70000">
                    <a:srgbClr val="00FF00">
                      <a:alpha val="13000"/>
                    </a:srgbClr>
                  </a:gs>
                  <a:gs pos="56000">
                    <a:srgbClr val="00FFFF">
                      <a:alpha val="50000"/>
                    </a:srgbClr>
                  </a:gs>
                  <a:gs pos="43000">
                    <a:srgbClr val="00FFFF">
                      <a:alpha val="13000"/>
                    </a:srgbClr>
                  </a:gs>
                  <a:gs pos="22000">
                    <a:srgbClr val="FF00FF">
                      <a:alpha val="50000"/>
                    </a:srgbClr>
                  </a:gs>
                  <a:gs pos="33000">
                    <a:srgbClr val="9900FF">
                      <a:alpha val="50000"/>
                    </a:srgbClr>
                  </a:gs>
                  <a:gs pos="5000">
                    <a:srgbClr val="FF00FF">
                      <a:alpha val="50000"/>
                    </a:srgbClr>
                  </a:gs>
                  <a:gs pos="0">
                    <a:srgbClr val="FF3300">
                      <a:alpha val="50000"/>
                    </a:srgbClr>
                  </a:gs>
                  <a:gs pos="100000">
                    <a:srgbClr val="FF3300">
                      <a:alpha val="30000"/>
                    </a:srgbClr>
                  </a:gs>
                </a:gsLst>
                <a:lin ang="0"/>
              </a:gradFill>
              <a:effectLst>
                <a:outerShdw blurRad="50800" dist="38100" algn="l" rotWithShape="0">
                  <a:srgbClr val="CC00CC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自定义 59">
      <a:dk1>
        <a:srgbClr val="FFFFFF"/>
      </a:dk1>
      <a:lt1>
        <a:srgbClr val="5F5F5F"/>
      </a:lt1>
      <a:dk2>
        <a:srgbClr val="FFFFFF"/>
      </a:dk2>
      <a:lt2>
        <a:srgbClr val="5F5F5F"/>
      </a:lt2>
      <a:accent1>
        <a:srgbClr val="628EE3"/>
      </a:accent1>
      <a:accent2>
        <a:srgbClr val="2BC3B5"/>
      </a:accent2>
      <a:accent3>
        <a:srgbClr val="92D050"/>
      </a:accent3>
      <a:accent4>
        <a:srgbClr val="CEB9A3"/>
      </a:accent4>
      <a:accent5>
        <a:srgbClr val="776C6D"/>
      </a:accent5>
      <a:accent6>
        <a:srgbClr val="FFC00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11887</Words>
  <Application>WPS 演示</Application>
  <PresentationFormat>宽屏</PresentationFormat>
  <Paragraphs>695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8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Office 主题</vt:lpstr>
      <vt:lpstr>数据结构课程设计答辩</vt:lpstr>
      <vt:lpstr>双向循环链表</vt:lpstr>
      <vt:lpstr>双向循环链表</vt:lpstr>
      <vt:lpstr>双向循环链表</vt:lpstr>
      <vt:lpstr>双向循环链表</vt:lpstr>
      <vt:lpstr>双向循环链表 </vt:lpstr>
      <vt:lpstr>双向循环链表 </vt:lpstr>
      <vt:lpstr>双向循环链表</vt:lpstr>
      <vt:lpstr>双向循环链表</vt:lpstr>
      <vt:lpstr>双向循环链表</vt:lpstr>
      <vt:lpstr>测试结果</vt:lpstr>
      <vt:lpstr>题目一</vt:lpstr>
      <vt:lpstr>排序算法</vt:lpstr>
      <vt:lpstr>排序算法</vt:lpstr>
      <vt:lpstr>排序算法</vt:lpstr>
      <vt:lpstr>排序算法</vt:lpstr>
      <vt:lpstr>排序算法</vt:lpstr>
      <vt:lpstr>排序算法</vt:lpstr>
      <vt:lpstr>排序算法</vt:lpstr>
      <vt:lpstr>排序算法</vt:lpstr>
      <vt:lpstr>排序算法</vt:lpstr>
      <vt:lpstr>排序算法</vt:lpstr>
      <vt:lpstr>PowerPoint 演示文稿</vt:lpstr>
      <vt:lpstr>PowerPoint 演示文稿</vt:lpstr>
      <vt:lpstr>PowerPoint 演示文稿</vt:lpstr>
      <vt:lpstr>PowerPoint 演示文稿</vt:lpstr>
      <vt:lpstr>题目二</vt:lpstr>
      <vt:lpstr>总体思想</vt:lpstr>
      <vt:lpstr>将表达式转化为前缀表达式</vt:lpstr>
      <vt:lpstr>前缀表达式求值</vt:lpstr>
      <vt:lpstr>后缀表达式的计算</vt:lpstr>
      <vt:lpstr>将表达式转化为后缀表达式</vt:lpstr>
      <vt:lpstr>PowerPoint 演示文稿</vt:lpstr>
      <vt:lpstr>测试主要代码 </vt:lpstr>
      <vt:lpstr>测试主要代码</vt:lpstr>
      <vt:lpstr>测试主要代码</vt:lpstr>
      <vt:lpstr>测试主要代码 </vt:lpstr>
      <vt:lpstr>测试主要代码</vt:lpstr>
      <vt:lpstr>测试结果</vt:lpstr>
      <vt:lpstr>题目三 </vt:lpstr>
      <vt:lpstr>PowerPoint 演示文稿</vt:lpstr>
      <vt:lpstr>建立学生类 </vt:lpstr>
      <vt:lpstr>定义学生类 </vt:lpstr>
      <vt:lpstr>构造方法 </vt:lpstr>
      <vt:lpstr>普通方法 </vt:lpstr>
      <vt:lpstr>普通方法 </vt:lpstr>
      <vt:lpstr>测试数据</vt:lpstr>
      <vt:lpstr>测试结果</vt:lpstr>
      <vt:lpstr>课程设计总结</vt:lpstr>
      <vt:lpstr>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自知</cp:lastModifiedBy>
  <cp:revision>9</cp:revision>
  <dcterms:created xsi:type="dcterms:W3CDTF">2015-05-05T08:02:00Z</dcterms:created>
  <dcterms:modified xsi:type="dcterms:W3CDTF">2019-01-10T10:39:31Z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