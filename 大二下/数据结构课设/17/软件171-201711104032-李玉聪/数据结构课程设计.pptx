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61" r:id="rId3"/>
    <p:sldId id="308" r:id="rId4"/>
    <p:sldId id="260" r:id="rId5"/>
    <p:sldId id="309" r:id="rId6"/>
    <p:sldId id="263" r:id="rId7"/>
    <p:sldId id="264" r:id="rId8"/>
    <p:sldId id="310" r:id="rId9"/>
    <p:sldId id="266" r:id="rId10"/>
    <p:sldId id="311" r:id="rId11"/>
    <p:sldId id="271" r:id="rId12"/>
    <p:sldId id="269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36" r:id="rId23"/>
    <p:sldId id="351" r:id="rId24"/>
    <p:sldId id="352" r:id="rId25"/>
    <p:sldId id="354" r:id="rId26"/>
    <p:sldId id="353" r:id="rId27"/>
    <p:sldId id="369" r:id="rId28"/>
    <p:sldId id="370" r:id="rId29"/>
    <p:sldId id="355" r:id="rId30"/>
    <p:sldId id="356" r:id="rId31"/>
    <p:sldId id="358" r:id="rId32"/>
    <p:sldId id="359" r:id="rId33"/>
    <p:sldId id="357" r:id="rId34"/>
    <p:sldId id="360" r:id="rId35"/>
    <p:sldId id="361" r:id="rId36"/>
    <p:sldId id="362" r:id="rId37"/>
    <p:sldId id="363" r:id="rId38"/>
    <p:sldId id="364" r:id="rId39"/>
    <p:sldId id="402" r:id="rId40"/>
    <p:sldId id="371" r:id="rId41"/>
    <p:sldId id="372" r:id="rId42"/>
    <p:sldId id="373" r:id="rId43"/>
    <p:sldId id="374" r:id="rId44"/>
    <p:sldId id="377" r:id="rId45"/>
    <p:sldId id="378" r:id="rId46"/>
    <p:sldId id="379" r:id="rId47"/>
    <p:sldId id="386" r:id="rId48"/>
    <p:sldId id="387" r:id="rId49"/>
    <p:sldId id="388" r:id="rId50"/>
    <p:sldId id="389" r:id="rId51"/>
    <p:sldId id="397" r:id="rId52"/>
    <p:sldId id="398" r:id="rId53"/>
    <p:sldId id="399" r:id="rId54"/>
    <p:sldId id="401" r:id="rId55"/>
    <p:sldId id="391" r:id="rId56"/>
    <p:sldId id="392" r:id="rId57"/>
    <p:sldId id="393" r:id="rId58"/>
    <p:sldId id="395" r:id="rId59"/>
    <p:sldId id="396" r:id="rId60"/>
    <p:sldId id="303" r:id="rId61"/>
  </p:sldIdLst>
  <p:sldSz cx="9144000" cy="5145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玉聪" initials="李玉聪" lastIdx="2" clrIdx="0">
    <p:extLst>
      <p:ext uri="{19B8F6BF-5375-455C-9EA6-DF929625EA0E}">
        <p15:presenceInfo xmlns:p15="http://schemas.microsoft.com/office/powerpoint/2012/main" userId="李玉聪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75D"/>
    <a:srgbClr val="AD6568"/>
    <a:srgbClr val="E6D3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7"/>
      </p:cViewPr>
      <p:guideLst>
        <p:guide orient="horz" pos="162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6ED28-0653-44D2-981F-B8620E8F8553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08728-D05A-47F6-9A47-F3716918B17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62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647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    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948264" y="397670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     </a:t>
            </a:r>
            <a:r>
              <a:rPr lang="zh-CN" altLang="en-US" sz="100" dirty="0">
                <a:solidFill>
                  <a:schemeClr val="bg1"/>
                </a:solidFill>
              </a:rPr>
              <a:t>行业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www.1ppt.com/hangye/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节日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www.1ppt.com/jieri/           PPT</a:t>
            </a:r>
            <a:r>
              <a:rPr lang="zh-CN" altLang="en-US" sz="100" dirty="0">
                <a:solidFill>
                  <a:schemeClr val="bg1"/>
                </a:solidFill>
              </a:rPr>
              <a:t>素材下载：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www.1ppt.com/sucai/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背景图片：</a:t>
            </a:r>
            <a:r>
              <a:rPr lang="en-US" altLang="zh-CN" sz="100" dirty="0">
                <a:solidFill>
                  <a:schemeClr val="bg1"/>
                </a:solidFill>
              </a:rPr>
              <a:t>www.1ppt.com/beijing/      PPT</a:t>
            </a:r>
            <a:r>
              <a:rPr lang="zh-CN" altLang="en-US" sz="100" dirty="0">
                <a:solidFill>
                  <a:schemeClr val="bg1"/>
                </a:solidFill>
              </a:rPr>
              <a:t>图表下载：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www.1ppt.com/tubiao/    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优秀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        PPT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www.1ppt.com/powerpoint/      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Word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www.1ppt.com/word/              Excel</a:t>
            </a:r>
            <a:r>
              <a:rPr lang="zh-CN" altLang="en-US" sz="100" dirty="0">
                <a:solidFill>
                  <a:schemeClr val="bg1"/>
                </a:solidFill>
              </a:rPr>
              <a:t>教程：</a:t>
            </a:r>
            <a:r>
              <a:rPr lang="en-US" altLang="zh-CN" sz="100" dirty="0">
                <a:solidFill>
                  <a:schemeClr val="bg1"/>
                </a:solidFill>
              </a:rPr>
              <a:t>www.1ppt.com/excel/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资料下载：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www.1ppt.com/ziliao/                PPT</a:t>
            </a:r>
            <a:r>
              <a:rPr lang="zh-CN" altLang="en-US" sz="100" dirty="0">
                <a:solidFill>
                  <a:schemeClr val="bg1"/>
                </a:solidFill>
              </a:rPr>
              <a:t>课件下载：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www.1ppt.com/kejian/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范文下载：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www.1ppt.com/fanwen/             </a:t>
            </a:r>
            <a:r>
              <a:rPr lang="zh-CN" altLang="en-US" sz="100" dirty="0">
                <a:solidFill>
                  <a:schemeClr val="bg1"/>
                </a:solidFill>
              </a:rPr>
              <a:t>试卷下载：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www.1ppt.com/shiti/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教案下载：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www.1ppt.com/jiaoan/      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字体下载：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www.1ppt.com/ziti/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 </a:t>
            </a:r>
            <a:endParaRPr lang="zh-CN" altLang="en-US" sz="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896703"/>
      </p:ext>
    </p:extLst>
  </p:cSld>
  <p:clrMapOvr>
    <a:masterClrMapping/>
  </p:clrMapOvr>
  <p:transition advClick="0" advTm="0">
    <p:comb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896703"/>
      </p:ext>
    </p:extLst>
  </p:cSld>
  <p:clrMapOvr>
    <a:masterClrMapping/>
  </p:clrMapOvr>
  <p:transition advClick="0" advTm="0">
    <p:comb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8735"/>
            <a:ext cx="2133600" cy="273928"/>
          </a:xfrm>
        </p:spPr>
        <p:txBody>
          <a:bodyPr/>
          <a:lstStyle>
            <a:lvl1pPr>
              <a:defRPr/>
            </a:lvl1pPr>
          </a:lstStyle>
          <a:p>
            <a:fld id="{5ACD4103-EC3D-4C16-8996-25DE18166E0A}" type="datetime1">
              <a:rPr lang="zh-CN" altLang="en-US"/>
              <a:pPr/>
              <a:t>2019/1/9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8735"/>
            <a:ext cx="2895600" cy="273928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8735"/>
            <a:ext cx="2133600" cy="273928"/>
          </a:xfrm>
        </p:spPr>
        <p:txBody>
          <a:bodyPr/>
          <a:lstStyle>
            <a:lvl1pPr>
              <a:defRPr/>
            </a:lvl1pPr>
          </a:lstStyle>
          <a:p>
            <a:fld id="{DD6AF21D-1CB3-4C6F-BC4D-99798AE8B24D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15970"/>
      </p:ext>
    </p:extLst>
  </p:cSld>
  <p:clrMapOvr>
    <a:masterClrMapping/>
  </p:clrMapOvr>
  <p:transition advClick="0" advTm="0">
    <p:comb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alphaModFix amt="69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160A8-FCDA-4438-A06B-8F9A2E82FEAD}" type="datetimeFigureOut">
              <a:rPr lang="zh-CN" altLang="en-US" smtClean="0"/>
              <a:pPr/>
              <a:t>2019/1/9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2EDEE-018F-4012-A1B4-6387EBE5E632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5" r:id="rId13"/>
    <p:sldLayoutId id="2147483669" r:id="rId14"/>
    <p:sldLayoutId id="2147483670" r:id="rId15"/>
  </p:sldLayoutIdLst>
  <p:transition advClick="0" advTm="0">
    <p:comb dir="vert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1\13e1b1eada54150ef5fc11fe8bb74598.png"/>
          <p:cNvPicPr>
            <a:picLocks noChangeAspect="1" noChangeArrowheads="1"/>
          </p:cNvPicPr>
          <p:nvPr/>
        </p:nvPicPr>
        <p:blipFill>
          <a:blip r:embed="rId2" cstate="screen">
            <a:lum bright="-4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925" y="0"/>
            <a:ext cx="4279900" cy="2806700"/>
          </a:xfrm>
          <a:prstGeom prst="rect">
            <a:avLst/>
          </a:prstGeom>
          <a:noFill/>
        </p:spPr>
      </p:pic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2087724" y="2727354"/>
            <a:ext cx="7128792" cy="493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r>
              <a:rPr lang="zh-CN" altLang="en-US" sz="4800" b="1" spc="225" dirty="0">
                <a:solidFill>
                  <a:schemeClr val="tx1">
                    <a:lumMod val="85000"/>
                    <a:lumOff val="15000"/>
                  </a:schemeClr>
                </a:solidFill>
                <a:latin typeface="造字工房明黑（非商用）常规体" pitchFamily="2" charset="-122"/>
                <a:ea typeface="造字工房明黑（非商用）常规体" pitchFamily="2" charset="-122"/>
                <a:cs typeface="博洋行书 7000" panose="02000600000000000000" pitchFamily="2" charset="-122"/>
              </a:rPr>
              <a:t>数据结构课程设计</a:t>
            </a:r>
          </a:p>
        </p:txBody>
      </p:sp>
      <p:grpSp>
        <p:nvGrpSpPr>
          <p:cNvPr id="49" name="组合 60"/>
          <p:cNvGrpSpPr/>
          <p:nvPr/>
        </p:nvGrpSpPr>
        <p:grpSpPr>
          <a:xfrm rot="2750590">
            <a:off x="6379728" y="475387"/>
            <a:ext cx="2556284" cy="2306360"/>
            <a:chOff x="6072188" y="1752600"/>
            <a:chExt cx="982663" cy="84296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50" name="Freeform 124"/>
            <p:cNvSpPr>
              <a:spLocks noEditPoints="1"/>
            </p:cNvSpPr>
            <p:nvPr/>
          </p:nvSpPr>
          <p:spPr bwMode="auto">
            <a:xfrm>
              <a:off x="6553201" y="2081213"/>
              <a:ext cx="398463" cy="185738"/>
            </a:xfrm>
            <a:custGeom>
              <a:avLst/>
              <a:gdLst/>
              <a:ahLst/>
              <a:cxnLst>
                <a:cxn ang="0">
                  <a:pos x="733" y="155"/>
                </a:cxn>
                <a:cxn ang="0">
                  <a:pos x="635" y="216"/>
                </a:cxn>
                <a:cxn ang="0">
                  <a:pos x="475" y="305"/>
                </a:cxn>
                <a:cxn ang="0">
                  <a:pos x="398" y="351"/>
                </a:cxn>
                <a:cxn ang="0">
                  <a:pos x="349" y="338"/>
                </a:cxn>
                <a:cxn ang="0">
                  <a:pos x="185" y="273"/>
                </a:cxn>
                <a:cxn ang="0">
                  <a:pos x="73" y="218"/>
                </a:cxn>
                <a:cxn ang="0">
                  <a:pos x="3" y="177"/>
                </a:cxn>
                <a:cxn ang="0">
                  <a:pos x="20" y="142"/>
                </a:cxn>
                <a:cxn ang="0">
                  <a:pos x="221" y="49"/>
                </a:cxn>
                <a:cxn ang="0">
                  <a:pos x="364" y="1"/>
                </a:cxn>
                <a:cxn ang="0">
                  <a:pos x="400" y="5"/>
                </a:cxn>
                <a:cxn ang="0">
                  <a:pos x="419" y="4"/>
                </a:cxn>
                <a:cxn ang="0">
                  <a:pos x="479" y="33"/>
                </a:cxn>
                <a:cxn ang="0">
                  <a:pos x="651" y="81"/>
                </a:cxn>
                <a:cxn ang="0">
                  <a:pos x="750" y="129"/>
                </a:cxn>
                <a:cxn ang="0">
                  <a:pos x="440" y="308"/>
                </a:cxn>
                <a:cxn ang="0">
                  <a:pos x="634" y="200"/>
                </a:cxn>
                <a:cxn ang="0">
                  <a:pos x="726" y="138"/>
                </a:cxn>
                <a:cxn ang="0">
                  <a:pos x="675" y="149"/>
                </a:cxn>
                <a:cxn ang="0">
                  <a:pos x="363" y="327"/>
                </a:cxn>
                <a:cxn ang="0">
                  <a:pos x="422" y="321"/>
                </a:cxn>
                <a:cxn ang="0">
                  <a:pos x="581" y="95"/>
                </a:cxn>
                <a:cxn ang="0">
                  <a:pos x="471" y="165"/>
                </a:cxn>
                <a:cxn ang="0">
                  <a:pos x="349" y="235"/>
                </a:cxn>
                <a:cxn ang="0">
                  <a:pos x="281" y="274"/>
                </a:cxn>
                <a:cxn ang="0">
                  <a:pos x="272" y="286"/>
                </a:cxn>
                <a:cxn ang="0">
                  <a:pos x="301" y="297"/>
                </a:cxn>
                <a:cxn ang="0">
                  <a:pos x="347" y="319"/>
                </a:cxn>
                <a:cxn ang="0">
                  <a:pos x="406" y="282"/>
                </a:cxn>
                <a:cxn ang="0">
                  <a:pos x="612" y="166"/>
                </a:cxn>
                <a:cxn ang="0">
                  <a:pos x="701" y="114"/>
                </a:cxn>
                <a:cxn ang="0">
                  <a:pos x="613" y="87"/>
                </a:cxn>
                <a:cxn ang="0">
                  <a:pos x="440" y="96"/>
                </a:cxn>
                <a:cxn ang="0">
                  <a:pos x="304" y="162"/>
                </a:cxn>
                <a:cxn ang="0">
                  <a:pos x="186" y="255"/>
                </a:cxn>
                <a:cxn ang="0">
                  <a:pos x="251" y="274"/>
                </a:cxn>
                <a:cxn ang="0">
                  <a:pos x="500" y="131"/>
                </a:cxn>
                <a:cxn ang="0">
                  <a:pos x="503" y="58"/>
                </a:cxn>
                <a:cxn ang="0">
                  <a:pos x="292" y="79"/>
                </a:cxn>
                <a:cxn ang="0">
                  <a:pos x="190" y="123"/>
                </a:cxn>
                <a:cxn ang="0">
                  <a:pos x="72" y="198"/>
                </a:cxn>
                <a:cxn ang="0">
                  <a:pos x="146" y="235"/>
                </a:cxn>
                <a:cxn ang="0">
                  <a:pos x="349" y="126"/>
                </a:cxn>
                <a:cxn ang="0">
                  <a:pos x="468" y="65"/>
                </a:cxn>
                <a:cxn ang="0">
                  <a:pos x="462" y="45"/>
                </a:cxn>
                <a:cxn ang="0">
                  <a:pos x="293" y="41"/>
                </a:cxn>
                <a:cxn ang="0">
                  <a:pos x="255" y="52"/>
                </a:cxn>
                <a:cxn ang="0">
                  <a:pos x="153" y="92"/>
                </a:cxn>
                <a:cxn ang="0">
                  <a:pos x="96" y="122"/>
                </a:cxn>
                <a:cxn ang="0">
                  <a:pos x="34" y="152"/>
                </a:cxn>
                <a:cxn ang="0">
                  <a:pos x="36" y="178"/>
                </a:cxn>
                <a:cxn ang="0">
                  <a:pos x="225" y="89"/>
                </a:cxn>
                <a:cxn ang="0">
                  <a:pos x="383" y="18"/>
                </a:cxn>
                <a:cxn ang="0">
                  <a:pos x="307" y="38"/>
                </a:cxn>
              </a:cxnLst>
              <a:rect l="0" t="0" r="r" b="b"/>
              <a:pathLst>
                <a:path w="751" h="353">
                  <a:moveTo>
                    <a:pt x="749" y="152"/>
                  </a:moveTo>
                  <a:lnTo>
                    <a:pt x="749" y="152"/>
                  </a:lnTo>
                  <a:lnTo>
                    <a:pt x="744" y="154"/>
                  </a:lnTo>
                  <a:lnTo>
                    <a:pt x="741" y="156"/>
                  </a:lnTo>
                  <a:lnTo>
                    <a:pt x="737" y="156"/>
                  </a:lnTo>
                  <a:lnTo>
                    <a:pt x="733" y="155"/>
                  </a:lnTo>
                  <a:lnTo>
                    <a:pt x="733" y="155"/>
                  </a:lnTo>
                  <a:lnTo>
                    <a:pt x="723" y="165"/>
                  </a:lnTo>
                  <a:lnTo>
                    <a:pt x="712" y="172"/>
                  </a:lnTo>
                  <a:lnTo>
                    <a:pt x="699" y="180"/>
                  </a:lnTo>
                  <a:lnTo>
                    <a:pt x="687" y="187"/>
                  </a:lnTo>
                  <a:lnTo>
                    <a:pt x="661" y="201"/>
                  </a:lnTo>
                  <a:lnTo>
                    <a:pt x="635" y="216"/>
                  </a:lnTo>
                  <a:lnTo>
                    <a:pt x="635" y="216"/>
                  </a:lnTo>
                  <a:lnTo>
                    <a:pt x="615" y="227"/>
                  </a:lnTo>
                  <a:lnTo>
                    <a:pt x="596" y="237"/>
                  </a:lnTo>
                  <a:lnTo>
                    <a:pt x="555" y="259"/>
                  </a:lnTo>
                  <a:lnTo>
                    <a:pt x="515" y="280"/>
                  </a:lnTo>
                  <a:lnTo>
                    <a:pt x="494" y="292"/>
                  </a:lnTo>
                  <a:lnTo>
                    <a:pt x="475" y="305"/>
                  </a:lnTo>
                  <a:lnTo>
                    <a:pt x="475" y="305"/>
                  </a:lnTo>
                  <a:lnTo>
                    <a:pt x="458" y="317"/>
                  </a:lnTo>
                  <a:lnTo>
                    <a:pt x="438" y="329"/>
                  </a:lnTo>
                  <a:lnTo>
                    <a:pt x="438" y="329"/>
                  </a:lnTo>
                  <a:lnTo>
                    <a:pt x="424" y="338"/>
                  </a:lnTo>
                  <a:lnTo>
                    <a:pt x="411" y="346"/>
                  </a:lnTo>
                  <a:lnTo>
                    <a:pt x="405" y="349"/>
                  </a:lnTo>
                  <a:lnTo>
                    <a:pt x="398" y="351"/>
                  </a:lnTo>
                  <a:lnTo>
                    <a:pt x="393" y="353"/>
                  </a:lnTo>
                  <a:lnTo>
                    <a:pt x="388" y="353"/>
                  </a:lnTo>
                  <a:lnTo>
                    <a:pt x="388" y="353"/>
                  </a:lnTo>
                  <a:lnTo>
                    <a:pt x="378" y="351"/>
                  </a:lnTo>
                  <a:lnTo>
                    <a:pt x="368" y="347"/>
                  </a:lnTo>
                  <a:lnTo>
                    <a:pt x="358" y="343"/>
                  </a:lnTo>
                  <a:lnTo>
                    <a:pt x="349" y="338"/>
                  </a:lnTo>
                  <a:lnTo>
                    <a:pt x="330" y="328"/>
                  </a:lnTo>
                  <a:lnTo>
                    <a:pt x="320" y="323"/>
                  </a:lnTo>
                  <a:lnTo>
                    <a:pt x="309" y="319"/>
                  </a:lnTo>
                  <a:lnTo>
                    <a:pt x="309" y="319"/>
                  </a:lnTo>
                  <a:lnTo>
                    <a:pt x="260" y="301"/>
                  </a:lnTo>
                  <a:lnTo>
                    <a:pt x="210" y="282"/>
                  </a:lnTo>
                  <a:lnTo>
                    <a:pt x="185" y="273"/>
                  </a:lnTo>
                  <a:lnTo>
                    <a:pt x="160" y="261"/>
                  </a:lnTo>
                  <a:lnTo>
                    <a:pt x="138" y="249"/>
                  </a:lnTo>
                  <a:lnTo>
                    <a:pt x="115" y="235"/>
                  </a:lnTo>
                  <a:lnTo>
                    <a:pt x="115" y="235"/>
                  </a:lnTo>
                  <a:lnTo>
                    <a:pt x="104" y="231"/>
                  </a:lnTo>
                  <a:lnTo>
                    <a:pt x="93" y="228"/>
                  </a:lnTo>
                  <a:lnTo>
                    <a:pt x="73" y="218"/>
                  </a:lnTo>
                  <a:lnTo>
                    <a:pt x="54" y="207"/>
                  </a:lnTo>
                  <a:lnTo>
                    <a:pt x="36" y="195"/>
                  </a:lnTo>
                  <a:lnTo>
                    <a:pt x="36" y="195"/>
                  </a:lnTo>
                  <a:lnTo>
                    <a:pt x="20" y="189"/>
                  </a:lnTo>
                  <a:lnTo>
                    <a:pt x="14" y="186"/>
                  </a:lnTo>
                  <a:lnTo>
                    <a:pt x="8" y="182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7"/>
                  </a:lnTo>
                  <a:lnTo>
                    <a:pt x="2" y="160"/>
                  </a:lnTo>
                  <a:lnTo>
                    <a:pt x="2" y="160"/>
                  </a:lnTo>
                  <a:lnTo>
                    <a:pt x="6" y="154"/>
                  </a:lnTo>
                  <a:lnTo>
                    <a:pt x="13" y="147"/>
                  </a:lnTo>
                  <a:lnTo>
                    <a:pt x="20" y="142"/>
                  </a:lnTo>
                  <a:lnTo>
                    <a:pt x="29" y="136"/>
                  </a:lnTo>
                  <a:lnTo>
                    <a:pt x="47" y="126"/>
                  </a:lnTo>
                  <a:lnTo>
                    <a:pt x="63" y="117"/>
                  </a:lnTo>
                  <a:lnTo>
                    <a:pt x="63" y="117"/>
                  </a:lnTo>
                  <a:lnTo>
                    <a:pt x="124" y="90"/>
                  </a:lnTo>
                  <a:lnTo>
                    <a:pt x="188" y="62"/>
                  </a:lnTo>
                  <a:lnTo>
                    <a:pt x="221" y="49"/>
                  </a:lnTo>
                  <a:lnTo>
                    <a:pt x="255" y="36"/>
                  </a:lnTo>
                  <a:lnTo>
                    <a:pt x="289" y="24"/>
                  </a:lnTo>
                  <a:lnTo>
                    <a:pt x="322" y="13"/>
                  </a:lnTo>
                  <a:lnTo>
                    <a:pt x="322" y="13"/>
                  </a:lnTo>
                  <a:lnTo>
                    <a:pt x="340" y="7"/>
                  </a:lnTo>
                  <a:lnTo>
                    <a:pt x="356" y="3"/>
                  </a:lnTo>
                  <a:lnTo>
                    <a:pt x="364" y="1"/>
                  </a:lnTo>
                  <a:lnTo>
                    <a:pt x="371" y="0"/>
                  </a:lnTo>
                  <a:lnTo>
                    <a:pt x="380" y="0"/>
                  </a:lnTo>
                  <a:lnTo>
                    <a:pt x="390" y="1"/>
                  </a:lnTo>
                  <a:lnTo>
                    <a:pt x="390" y="1"/>
                  </a:lnTo>
                  <a:lnTo>
                    <a:pt x="394" y="2"/>
                  </a:lnTo>
                  <a:lnTo>
                    <a:pt x="397" y="3"/>
                  </a:lnTo>
                  <a:lnTo>
                    <a:pt x="400" y="5"/>
                  </a:lnTo>
                  <a:lnTo>
                    <a:pt x="403" y="6"/>
                  </a:lnTo>
                  <a:lnTo>
                    <a:pt x="403" y="6"/>
                  </a:lnTo>
                  <a:lnTo>
                    <a:pt x="409" y="6"/>
                  </a:lnTo>
                  <a:lnTo>
                    <a:pt x="413" y="5"/>
                  </a:lnTo>
                  <a:lnTo>
                    <a:pt x="417" y="4"/>
                  </a:lnTo>
                  <a:lnTo>
                    <a:pt x="419" y="4"/>
                  </a:lnTo>
                  <a:lnTo>
                    <a:pt x="419" y="4"/>
                  </a:lnTo>
                  <a:lnTo>
                    <a:pt x="422" y="5"/>
                  </a:lnTo>
                  <a:lnTo>
                    <a:pt x="422" y="6"/>
                  </a:lnTo>
                  <a:lnTo>
                    <a:pt x="422" y="6"/>
                  </a:lnTo>
                  <a:lnTo>
                    <a:pt x="436" y="14"/>
                  </a:lnTo>
                  <a:lnTo>
                    <a:pt x="449" y="21"/>
                  </a:lnTo>
                  <a:lnTo>
                    <a:pt x="464" y="28"/>
                  </a:lnTo>
                  <a:lnTo>
                    <a:pt x="479" y="33"/>
                  </a:lnTo>
                  <a:lnTo>
                    <a:pt x="509" y="43"/>
                  </a:lnTo>
                  <a:lnTo>
                    <a:pt x="540" y="52"/>
                  </a:lnTo>
                  <a:lnTo>
                    <a:pt x="540" y="52"/>
                  </a:lnTo>
                  <a:lnTo>
                    <a:pt x="570" y="61"/>
                  </a:lnTo>
                  <a:lnTo>
                    <a:pt x="599" y="68"/>
                  </a:lnTo>
                  <a:lnTo>
                    <a:pt x="599" y="68"/>
                  </a:lnTo>
                  <a:lnTo>
                    <a:pt x="651" y="81"/>
                  </a:lnTo>
                  <a:lnTo>
                    <a:pt x="697" y="95"/>
                  </a:lnTo>
                  <a:lnTo>
                    <a:pt x="697" y="95"/>
                  </a:lnTo>
                  <a:lnTo>
                    <a:pt x="721" y="102"/>
                  </a:lnTo>
                  <a:lnTo>
                    <a:pt x="742" y="111"/>
                  </a:lnTo>
                  <a:lnTo>
                    <a:pt x="742" y="111"/>
                  </a:lnTo>
                  <a:lnTo>
                    <a:pt x="746" y="120"/>
                  </a:lnTo>
                  <a:lnTo>
                    <a:pt x="750" y="129"/>
                  </a:lnTo>
                  <a:lnTo>
                    <a:pt x="751" y="135"/>
                  </a:lnTo>
                  <a:lnTo>
                    <a:pt x="751" y="140"/>
                  </a:lnTo>
                  <a:lnTo>
                    <a:pt x="751" y="145"/>
                  </a:lnTo>
                  <a:lnTo>
                    <a:pt x="749" y="152"/>
                  </a:lnTo>
                  <a:lnTo>
                    <a:pt x="749" y="152"/>
                  </a:lnTo>
                  <a:close/>
                  <a:moveTo>
                    <a:pt x="440" y="308"/>
                  </a:moveTo>
                  <a:lnTo>
                    <a:pt x="440" y="308"/>
                  </a:lnTo>
                  <a:lnTo>
                    <a:pt x="459" y="295"/>
                  </a:lnTo>
                  <a:lnTo>
                    <a:pt x="479" y="283"/>
                  </a:lnTo>
                  <a:lnTo>
                    <a:pt x="521" y="261"/>
                  </a:lnTo>
                  <a:lnTo>
                    <a:pt x="563" y="238"/>
                  </a:lnTo>
                  <a:lnTo>
                    <a:pt x="605" y="216"/>
                  </a:lnTo>
                  <a:lnTo>
                    <a:pt x="605" y="216"/>
                  </a:lnTo>
                  <a:lnTo>
                    <a:pt x="634" y="200"/>
                  </a:lnTo>
                  <a:lnTo>
                    <a:pt x="668" y="181"/>
                  </a:lnTo>
                  <a:lnTo>
                    <a:pt x="685" y="171"/>
                  </a:lnTo>
                  <a:lnTo>
                    <a:pt x="700" y="160"/>
                  </a:lnTo>
                  <a:lnTo>
                    <a:pt x="714" y="151"/>
                  </a:lnTo>
                  <a:lnTo>
                    <a:pt x="724" y="141"/>
                  </a:lnTo>
                  <a:lnTo>
                    <a:pt x="724" y="141"/>
                  </a:lnTo>
                  <a:lnTo>
                    <a:pt x="726" y="138"/>
                  </a:lnTo>
                  <a:lnTo>
                    <a:pt x="728" y="131"/>
                  </a:lnTo>
                  <a:lnTo>
                    <a:pt x="728" y="128"/>
                  </a:lnTo>
                  <a:lnTo>
                    <a:pt x="726" y="126"/>
                  </a:lnTo>
                  <a:lnTo>
                    <a:pt x="724" y="123"/>
                  </a:lnTo>
                  <a:lnTo>
                    <a:pt x="718" y="122"/>
                  </a:lnTo>
                  <a:lnTo>
                    <a:pt x="718" y="122"/>
                  </a:lnTo>
                  <a:lnTo>
                    <a:pt x="675" y="149"/>
                  </a:lnTo>
                  <a:lnTo>
                    <a:pt x="630" y="173"/>
                  </a:lnTo>
                  <a:lnTo>
                    <a:pt x="539" y="223"/>
                  </a:lnTo>
                  <a:lnTo>
                    <a:pt x="494" y="248"/>
                  </a:lnTo>
                  <a:lnTo>
                    <a:pt x="449" y="274"/>
                  </a:lnTo>
                  <a:lnTo>
                    <a:pt x="406" y="301"/>
                  </a:lnTo>
                  <a:lnTo>
                    <a:pt x="363" y="327"/>
                  </a:lnTo>
                  <a:lnTo>
                    <a:pt x="363" y="327"/>
                  </a:lnTo>
                  <a:lnTo>
                    <a:pt x="368" y="331"/>
                  </a:lnTo>
                  <a:lnTo>
                    <a:pt x="373" y="332"/>
                  </a:lnTo>
                  <a:lnTo>
                    <a:pt x="383" y="334"/>
                  </a:lnTo>
                  <a:lnTo>
                    <a:pt x="393" y="333"/>
                  </a:lnTo>
                  <a:lnTo>
                    <a:pt x="403" y="331"/>
                  </a:lnTo>
                  <a:lnTo>
                    <a:pt x="413" y="326"/>
                  </a:lnTo>
                  <a:lnTo>
                    <a:pt x="422" y="321"/>
                  </a:lnTo>
                  <a:lnTo>
                    <a:pt x="431" y="314"/>
                  </a:lnTo>
                  <a:lnTo>
                    <a:pt x="440" y="308"/>
                  </a:lnTo>
                  <a:lnTo>
                    <a:pt x="440" y="308"/>
                  </a:lnTo>
                  <a:close/>
                  <a:moveTo>
                    <a:pt x="602" y="87"/>
                  </a:moveTo>
                  <a:lnTo>
                    <a:pt x="602" y="87"/>
                  </a:lnTo>
                  <a:lnTo>
                    <a:pt x="592" y="90"/>
                  </a:lnTo>
                  <a:lnTo>
                    <a:pt x="581" y="95"/>
                  </a:lnTo>
                  <a:lnTo>
                    <a:pt x="570" y="101"/>
                  </a:lnTo>
                  <a:lnTo>
                    <a:pt x="561" y="109"/>
                  </a:lnTo>
                  <a:lnTo>
                    <a:pt x="540" y="125"/>
                  </a:lnTo>
                  <a:lnTo>
                    <a:pt x="531" y="131"/>
                  </a:lnTo>
                  <a:lnTo>
                    <a:pt x="521" y="138"/>
                  </a:lnTo>
                  <a:lnTo>
                    <a:pt x="521" y="138"/>
                  </a:lnTo>
                  <a:lnTo>
                    <a:pt x="471" y="165"/>
                  </a:lnTo>
                  <a:lnTo>
                    <a:pt x="419" y="190"/>
                  </a:lnTo>
                  <a:lnTo>
                    <a:pt x="419" y="190"/>
                  </a:lnTo>
                  <a:lnTo>
                    <a:pt x="401" y="201"/>
                  </a:lnTo>
                  <a:lnTo>
                    <a:pt x="384" y="213"/>
                  </a:lnTo>
                  <a:lnTo>
                    <a:pt x="367" y="225"/>
                  </a:lnTo>
                  <a:lnTo>
                    <a:pt x="349" y="235"/>
                  </a:lnTo>
                  <a:lnTo>
                    <a:pt x="349" y="235"/>
                  </a:lnTo>
                  <a:lnTo>
                    <a:pt x="332" y="244"/>
                  </a:lnTo>
                  <a:lnTo>
                    <a:pt x="316" y="252"/>
                  </a:lnTo>
                  <a:lnTo>
                    <a:pt x="301" y="261"/>
                  </a:lnTo>
                  <a:lnTo>
                    <a:pt x="293" y="266"/>
                  </a:lnTo>
                  <a:lnTo>
                    <a:pt x="287" y="273"/>
                  </a:lnTo>
                  <a:lnTo>
                    <a:pt x="287" y="273"/>
                  </a:lnTo>
                  <a:lnTo>
                    <a:pt x="281" y="274"/>
                  </a:lnTo>
                  <a:lnTo>
                    <a:pt x="276" y="275"/>
                  </a:lnTo>
                  <a:lnTo>
                    <a:pt x="274" y="276"/>
                  </a:lnTo>
                  <a:lnTo>
                    <a:pt x="272" y="277"/>
                  </a:lnTo>
                  <a:lnTo>
                    <a:pt x="271" y="279"/>
                  </a:lnTo>
                  <a:lnTo>
                    <a:pt x="271" y="281"/>
                  </a:lnTo>
                  <a:lnTo>
                    <a:pt x="271" y="281"/>
                  </a:lnTo>
                  <a:lnTo>
                    <a:pt x="272" y="286"/>
                  </a:lnTo>
                  <a:lnTo>
                    <a:pt x="274" y="288"/>
                  </a:lnTo>
                  <a:lnTo>
                    <a:pt x="276" y="290"/>
                  </a:lnTo>
                  <a:lnTo>
                    <a:pt x="279" y="291"/>
                  </a:lnTo>
                  <a:lnTo>
                    <a:pt x="287" y="292"/>
                  </a:lnTo>
                  <a:lnTo>
                    <a:pt x="294" y="294"/>
                  </a:lnTo>
                  <a:lnTo>
                    <a:pt x="294" y="294"/>
                  </a:lnTo>
                  <a:lnTo>
                    <a:pt x="301" y="297"/>
                  </a:lnTo>
                  <a:lnTo>
                    <a:pt x="307" y="301"/>
                  </a:lnTo>
                  <a:lnTo>
                    <a:pt x="320" y="309"/>
                  </a:lnTo>
                  <a:lnTo>
                    <a:pt x="327" y="313"/>
                  </a:lnTo>
                  <a:lnTo>
                    <a:pt x="334" y="317"/>
                  </a:lnTo>
                  <a:lnTo>
                    <a:pt x="340" y="319"/>
                  </a:lnTo>
                  <a:lnTo>
                    <a:pt x="347" y="319"/>
                  </a:lnTo>
                  <a:lnTo>
                    <a:pt x="347" y="319"/>
                  </a:lnTo>
                  <a:lnTo>
                    <a:pt x="351" y="318"/>
                  </a:lnTo>
                  <a:lnTo>
                    <a:pt x="355" y="316"/>
                  </a:lnTo>
                  <a:lnTo>
                    <a:pt x="364" y="309"/>
                  </a:lnTo>
                  <a:lnTo>
                    <a:pt x="373" y="302"/>
                  </a:lnTo>
                  <a:lnTo>
                    <a:pt x="383" y="295"/>
                  </a:lnTo>
                  <a:lnTo>
                    <a:pt x="383" y="295"/>
                  </a:lnTo>
                  <a:lnTo>
                    <a:pt x="406" y="282"/>
                  </a:lnTo>
                  <a:lnTo>
                    <a:pt x="430" y="270"/>
                  </a:lnTo>
                  <a:lnTo>
                    <a:pt x="483" y="241"/>
                  </a:lnTo>
                  <a:lnTo>
                    <a:pt x="483" y="241"/>
                  </a:lnTo>
                  <a:lnTo>
                    <a:pt x="533" y="211"/>
                  </a:lnTo>
                  <a:lnTo>
                    <a:pt x="581" y="182"/>
                  </a:lnTo>
                  <a:lnTo>
                    <a:pt x="581" y="182"/>
                  </a:lnTo>
                  <a:lnTo>
                    <a:pt x="612" y="166"/>
                  </a:lnTo>
                  <a:lnTo>
                    <a:pt x="643" y="150"/>
                  </a:lnTo>
                  <a:lnTo>
                    <a:pt x="673" y="134"/>
                  </a:lnTo>
                  <a:lnTo>
                    <a:pt x="686" y="125"/>
                  </a:lnTo>
                  <a:lnTo>
                    <a:pt x="699" y="116"/>
                  </a:lnTo>
                  <a:lnTo>
                    <a:pt x="699" y="116"/>
                  </a:lnTo>
                  <a:lnTo>
                    <a:pt x="700" y="115"/>
                  </a:lnTo>
                  <a:lnTo>
                    <a:pt x="701" y="114"/>
                  </a:lnTo>
                  <a:lnTo>
                    <a:pt x="701" y="114"/>
                  </a:lnTo>
                  <a:lnTo>
                    <a:pt x="689" y="112"/>
                  </a:lnTo>
                  <a:lnTo>
                    <a:pt x="676" y="108"/>
                  </a:lnTo>
                  <a:lnTo>
                    <a:pt x="651" y="98"/>
                  </a:lnTo>
                  <a:lnTo>
                    <a:pt x="638" y="93"/>
                  </a:lnTo>
                  <a:lnTo>
                    <a:pt x="625" y="90"/>
                  </a:lnTo>
                  <a:lnTo>
                    <a:pt x="613" y="87"/>
                  </a:lnTo>
                  <a:lnTo>
                    <a:pt x="602" y="87"/>
                  </a:lnTo>
                  <a:lnTo>
                    <a:pt x="602" y="87"/>
                  </a:lnTo>
                  <a:close/>
                  <a:moveTo>
                    <a:pt x="503" y="58"/>
                  </a:moveTo>
                  <a:lnTo>
                    <a:pt x="503" y="58"/>
                  </a:lnTo>
                  <a:lnTo>
                    <a:pt x="483" y="71"/>
                  </a:lnTo>
                  <a:lnTo>
                    <a:pt x="461" y="84"/>
                  </a:lnTo>
                  <a:lnTo>
                    <a:pt x="440" y="96"/>
                  </a:lnTo>
                  <a:lnTo>
                    <a:pt x="417" y="109"/>
                  </a:lnTo>
                  <a:lnTo>
                    <a:pt x="395" y="120"/>
                  </a:lnTo>
                  <a:lnTo>
                    <a:pt x="371" y="130"/>
                  </a:lnTo>
                  <a:lnTo>
                    <a:pt x="347" y="141"/>
                  </a:lnTo>
                  <a:lnTo>
                    <a:pt x="322" y="150"/>
                  </a:lnTo>
                  <a:lnTo>
                    <a:pt x="322" y="150"/>
                  </a:lnTo>
                  <a:lnTo>
                    <a:pt x="304" y="162"/>
                  </a:lnTo>
                  <a:lnTo>
                    <a:pt x="284" y="174"/>
                  </a:lnTo>
                  <a:lnTo>
                    <a:pt x="244" y="198"/>
                  </a:lnTo>
                  <a:lnTo>
                    <a:pt x="203" y="220"/>
                  </a:lnTo>
                  <a:lnTo>
                    <a:pt x="183" y="232"/>
                  </a:lnTo>
                  <a:lnTo>
                    <a:pt x="164" y="244"/>
                  </a:lnTo>
                  <a:lnTo>
                    <a:pt x="164" y="244"/>
                  </a:lnTo>
                  <a:lnTo>
                    <a:pt x="186" y="255"/>
                  </a:lnTo>
                  <a:lnTo>
                    <a:pt x="207" y="265"/>
                  </a:lnTo>
                  <a:lnTo>
                    <a:pt x="231" y="275"/>
                  </a:lnTo>
                  <a:lnTo>
                    <a:pt x="255" y="283"/>
                  </a:lnTo>
                  <a:lnTo>
                    <a:pt x="255" y="283"/>
                  </a:lnTo>
                  <a:lnTo>
                    <a:pt x="254" y="279"/>
                  </a:lnTo>
                  <a:lnTo>
                    <a:pt x="252" y="277"/>
                  </a:lnTo>
                  <a:lnTo>
                    <a:pt x="251" y="274"/>
                  </a:lnTo>
                  <a:lnTo>
                    <a:pt x="252" y="271"/>
                  </a:lnTo>
                  <a:lnTo>
                    <a:pt x="252" y="271"/>
                  </a:lnTo>
                  <a:lnTo>
                    <a:pt x="294" y="247"/>
                  </a:lnTo>
                  <a:lnTo>
                    <a:pt x="335" y="225"/>
                  </a:lnTo>
                  <a:lnTo>
                    <a:pt x="418" y="178"/>
                  </a:lnTo>
                  <a:lnTo>
                    <a:pt x="460" y="156"/>
                  </a:lnTo>
                  <a:lnTo>
                    <a:pt x="500" y="131"/>
                  </a:lnTo>
                  <a:lnTo>
                    <a:pt x="539" y="107"/>
                  </a:lnTo>
                  <a:lnTo>
                    <a:pt x="578" y="81"/>
                  </a:lnTo>
                  <a:lnTo>
                    <a:pt x="578" y="81"/>
                  </a:lnTo>
                  <a:lnTo>
                    <a:pt x="560" y="77"/>
                  </a:lnTo>
                  <a:lnTo>
                    <a:pt x="540" y="70"/>
                  </a:lnTo>
                  <a:lnTo>
                    <a:pt x="503" y="58"/>
                  </a:lnTo>
                  <a:lnTo>
                    <a:pt x="503" y="58"/>
                  </a:lnTo>
                  <a:close/>
                  <a:moveTo>
                    <a:pt x="408" y="28"/>
                  </a:moveTo>
                  <a:lnTo>
                    <a:pt x="408" y="28"/>
                  </a:lnTo>
                  <a:lnTo>
                    <a:pt x="378" y="40"/>
                  </a:lnTo>
                  <a:lnTo>
                    <a:pt x="349" y="53"/>
                  </a:lnTo>
                  <a:lnTo>
                    <a:pt x="321" y="66"/>
                  </a:lnTo>
                  <a:lnTo>
                    <a:pt x="292" y="79"/>
                  </a:lnTo>
                  <a:lnTo>
                    <a:pt x="292" y="79"/>
                  </a:lnTo>
                  <a:lnTo>
                    <a:pt x="270" y="87"/>
                  </a:lnTo>
                  <a:lnTo>
                    <a:pt x="248" y="95"/>
                  </a:lnTo>
                  <a:lnTo>
                    <a:pt x="226" y="104"/>
                  </a:lnTo>
                  <a:lnTo>
                    <a:pt x="204" y="112"/>
                  </a:lnTo>
                  <a:lnTo>
                    <a:pt x="204" y="112"/>
                  </a:lnTo>
                  <a:lnTo>
                    <a:pt x="198" y="117"/>
                  </a:lnTo>
                  <a:lnTo>
                    <a:pt x="190" y="123"/>
                  </a:lnTo>
                  <a:lnTo>
                    <a:pt x="184" y="128"/>
                  </a:lnTo>
                  <a:lnTo>
                    <a:pt x="176" y="132"/>
                  </a:lnTo>
                  <a:lnTo>
                    <a:pt x="176" y="132"/>
                  </a:lnTo>
                  <a:lnTo>
                    <a:pt x="119" y="161"/>
                  </a:lnTo>
                  <a:lnTo>
                    <a:pt x="63" y="190"/>
                  </a:lnTo>
                  <a:lnTo>
                    <a:pt x="63" y="190"/>
                  </a:lnTo>
                  <a:lnTo>
                    <a:pt x="72" y="198"/>
                  </a:lnTo>
                  <a:lnTo>
                    <a:pt x="81" y="204"/>
                  </a:lnTo>
                  <a:lnTo>
                    <a:pt x="92" y="210"/>
                  </a:lnTo>
                  <a:lnTo>
                    <a:pt x="103" y="215"/>
                  </a:lnTo>
                  <a:lnTo>
                    <a:pt x="125" y="225"/>
                  </a:lnTo>
                  <a:lnTo>
                    <a:pt x="136" y="230"/>
                  </a:lnTo>
                  <a:lnTo>
                    <a:pt x="146" y="235"/>
                  </a:lnTo>
                  <a:lnTo>
                    <a:pt x="146" y="235"/>
                  </a:lnTo>
                  <a:lnTo>
                    <a:pt x="173" y="221"/>
                  </a:lnTo>
                  <a:lnTo>
                    <a:pt x="200" y="206"/>
                  </a:lnTo>
                  <a:lnTo>
                    <a:pt x="252" y="174"/>
                  </a:lnTo>
                  <a:lnTo>
                    <a:pt x="279" y="159"/>
                  </a:lnTo>
                  <a:lnTo>
                    <a:pt x="306" y="144"/>
                  </a:lnTo>
                  <a:lnTo>
                    <a:pt x="334" y="132"/>
                  </a:lnTo>
                  <a:lnTo>
                    <a:pt x="349" y="126"/>
                  </a:lnTo>
                  <a:lnTo>
                    <a:pt x="363" y="122"/>
                  </a:lnTo>
                  <a:lnTo>
                    <a:pt x="363" y="122"/>
                  </a:lnTo>
                  <a:lnTo>
                    <a:pt x="378" y="113"/>
                  </a:lnTo>
                  <a:lnTo>
                    <a:pt x="393" y="105"/>
                  </a:lnTo>
                  <a:lnTo>
                    <a:pt x="423" y="89"/>
                  </a:lnTo>
                  <a:lnTo>
                    <a:pt x="454" y="72"/>
                  </a:lnTo>
                  <a:lnTo>
                    <a:pt x="468" y="65"/>
                  </a:lnTo>
                  <a:lnTo>
                    <a:pt x="483" y="55"/>
                  </a:lnTo>
                  <a:lnTo>
                    <a:pt x="483" y="55"/>
                  </a:lnTo>
                  <a:lnTo>
                    <a:pt x="484" y="53"/>
                  </a:lnTo>
                  <a:lnTo>
                    <a:pt x="484" y="52"/>
                  </a:lnTo>
                  <a:lnTo>
                    <a:pt x="484" y="50"/>
                  </a:lnTo>
                  <a:lnTo>
                    <a:pt x="484" y="50"/>
                  </a:lnTo>
                  <a:lnTo>
                    <a:pt x="462" y="45"/>
                  </a:lnTo>
                  <a:lnTo>
                    <a:pt x="444" y="39"/>
                  </a:lnTo>
                  <a:lnTo>
                    <a:pt x="426" y="33"/>
                  </a:lnTo>
                  <a:lnTo>
                    <a:pt x="408" y="28"/>
                  </a:lnTo>
                  <a:lnTo>
                    <a:pt x="408" y="28"/>
                  </a:lnTo>
                  <a:close/>
                  <a:moveTo>
                    <a:pt x="295" y="41"/>
                  </a:moveTo>
                  <a:lnTo>
                    <a:pt x="295" y="41"/>
                  </a:lnTo>
                  <a:lnTo>
                    <a:pt x="293" y="41"/>
                  </a:lnTo>
                  <a:lnTo>
                    <a:pt x="291" y="40"/>
                  </a:lnTo>
                  <a:lnTo>
                    <a:pt x="287" y="39"/>
                  </a:lnTo>
                  <a:lnTo>
                    <a:pt x="287" y="39"/>
                  </a:lnTo>
                  <a:lnTo>
                    <a:pt x="279" y="41"/>
                  </a:lnTo>
                  <a:lnTo>
                    <a:pt x="272" y="45"/>
                  </a:lnTo>
                  <a:lnTo>
                    <a:pt x="255" y="52"/>
                  </a:lnTo>
                  <a:lnTo>
                    <a:pt x="255" y="52"/>
                  </a:lnTo>
                  <a:lnTo>
                    <a:pt x="232" y="61"/>
                  </a:lnTo>
                  <a:lnTo>
                    <a:pt x="212" y="69"/>
                  </a:lnTo>
                  <a:lnTo>
                    <a:pt x="193" y="78"/>
                  </a:lnTo>
                  <a:lnTo>
                    <a:pt x="173" y="85"/>
                  </a:lnTo>
                  <a:lnTo>
                    <a:pt x="173" y="85"/>
                  </a:lnTo>
                  <a:lnTo>
                    <a:pt x="163" y="89"/>
                  </a:lnTo>
                  <a:lnTo>
                    <a:pt x="153" y="92"/>
                  </a:lnTo>
                  <a:lnTo>
                    <a:pt x="143" y="95"/>
                  </a:lnTo>
                  <a:lnTo>
                    <a:pt x="134" y="98"/>
                  </a:lnTo>
                  <a:lnTo>
                    <a:pt x="134" y="98"/>
                  </a:lnTo>
                  <a:lnTo>
                    <a:pt x="124" y="104"/>
                  </a:lnTo>
                  <a:lnTo>
                    <a:pt x="114" y="110"/>
                  </a:lnTo>
                  <a:lnTo>
                    <a:pt x="106" y="116"/>
                  </a:lnTo>
                  <a:lnTo>
                    <a:pt x="96" y="122"/>
                  </a:lnTo>
                  <a:lnTo>
                    <a:pt x="96" y="122"/>
                  </a:lnTo>
                  <a:lnTo>
                    <a:pt x="72" y="132"/>
                  </a:lnTo>
                  <a:lnTo>
                    <a:pt x="60" y="139"/>
                  </a:lnTo>
                  <a:lnTo>
                    <a:pt x="50" y="144"/>
                  </a:lnTo>
                  <a:lnTo>
                    <a:pt x="50" y="144"/>
                  </a:lnTo>
                  <a:lnTo>
                    <a:pt x="43" y="149"/>
                  </a:lnTo>
                  <a:lnTo>
                    <a:pt x="34" y="152"/>
                  </a:lnTo>
                  <a:lnTo>
                    <a:pt x="28" y="156"/>
                  </a:lnTo>
                  <a:lnTo>
                    <a:pt x="24" y="158"/>
                  </a:lnTo>
                  <a:lnTo>
                    <a:pt x="21" y="162"/>
                  </a:lnTo>
                  <a:lnTo>
                    <a:pt x="21" y="162"/>
                  </a:lnTo>
                  <a:lnTo>
                    <a:pt x="25" y="169"/>
                  </a:lnTo>
                  <a:lnTo>
                    <a:pt x="30" y="174"/>
                  </a:lnTo>
                  <a:lnTo>
                    <a:pt x="36" y="178"/>
                  </a:lnTo>
                  <a:lnTo>
                    <a:pt x="45" y="182"/>
                  </a:lnTo>
                  <a:lnTo>
                    <a:pt x="45" y="182"/>
                  </a:lnTo>
                  <a:lnTo>
                    <a:pt x="81" y="164"/>
                  </a:lnTo>
                  <a:lnTo>
                    <a:pt x="122" y="143"/>
                  </a:lnTo>
                  <a:lnTo>
                    <a:pt x="201" y="100"/>
                  </a:lnTo>
                  <a:lnTo>
                    <a:pt x="201" y="100"/>
                  </a:lnTo>
                  <a:lnTo>
                    <a:pt x="225" y="89"/>
                  </a:lnTo>
                  <a:lnTo>
                    <a:pt x="248" y="79"/>
                  </a:lnTo>
                  <a:lnTo>
                    <a:pt x="296" y="61"/>
                  </a:lnTo>
                  <a:lnTo>
                    <a:pt x="320" y="52"/>
                  </a:lnTo>
                  <a:lnTo>
                    <a:pt x="342" y="43"/>
                  </a:lnTo>
                  <a:lnTo>
                    <a:pt x="364" y="31"/>
                  </a:lnTo>
                  <a:lnTo>
                    <a:pt x="373" y="25"/>
                  </a:lnTo>
                  <a:lnTo>
                    <a:pt x="383" y="18"/>
                  </a:lnTo>
                  <a:lnTo>
                    <a:pt x="383" y="18"/>
                  </a:lnTo>
                  <a:lnTo>
                    <a:pt x="370" y="18"/>
                  </a:lnTo>
                  <a:lnTo>
                    <a:pt x="360" y="20"/>
                  </a:lnTo>
                  <a:lnTo>
                    <a:pt x="349" y="22"/>
                  </a:lnTo>
                  <a:lnTo>
                    <a:pt x="338" y="25"/>
                  </a:lnTo>
                  <a:lnTo>
                    <a:pt x="317" y="34"/>
                  </a:lnTo>
                  <a:lnTo>
                    <a:pt x="307" y="38"/>
                  </a:lnTo>
                  <a:lnTo>
                    <a:pt x="295" y="41"/>
                  </a:lnTo>
                  <a:lnTo>
                    <a:pt x="295" y="41"/>
                  </a:lnTo>
                  <a:close/>
                </a:path>
              </a:pathLst>
            </a:cu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Freeform 125"/>
            <p:cNvSpPr/>
            <p:nvPr/>
          </p:nvSpPr>
          <p:spPr bwMode="auto">
            <a:xfrm>
              <a:off x="6373813" y="2325688"/>
              <a:ext cx="15875" cy="19050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4" y="26"/>
                </a:cxn>
                <a:cxn ang="0">
                  <a:pos x="7" y="21"/>
                </a:cxn>
                <a:cxn ang="0">
                  <a:pos x="12" y="15"/>
                </a:cxn>
                <a:cxn ang="0">
                  <a:pos x="23" y="7"/>
                </a:cxn>
                <a:cxn ang="0">
                  <a:pos x="32" y="0"/>
                </a:cxn>
                <a:cxn ang="0">
                  <a:pos x="32" y="0"/>
                </a:cxn>
                <a:cxn ang="0">
                  <a:pos x="31" y="7"/>
                </a:cxn>
                <a:cxn ang="0">
                  <a:pos x="29" y="13"/>
                </a:cxn>
                <a:cxn ang="0">
                  <a:pos x="26" y="17"/>
                </a:cxn>
                <a:cxn ang="0">
                  <a:pos x="22" y="23"/>
                </a:cxn>
                <a:cxn ang="0">
                  <a:pos x="11" y="31"/>
                </a:cxn>
                <a:cxn ang="0">
                  <a:pos x="0" y="38"/>
                </a:cxn>
                <a:cxn ang="0">
                  <a:pos x="0" y="38"/>
                </a:cxn>
              </a:cxnLst>
              <a:rect l="0" t="0" r="r" b="b"/>
              <a:pathLst>
                <a:path w="32" h="38">
                  <a:moveTo>
                    <a:pt x="0" y="38"/>
                  </a:moveTo>
                  <a:lnTo>
                    <a:pt x="0" y="38"/>
                  </a:lnTo>
                  <a:lnTo>
                    <a:pt x="0" y="32"/>
                  </a:lnTo>
                  <a:lnTo>
                    <a:pt x="4" y="26"/>
                  </a:lnTo>
                  <a:lnTo>
                    <a:pt x="7" y="21"/>
                  </a:lnTo>
                  <a:lnTo>
                    <a:pt x="12" y="15"/>
                  </a:lnTo>
                  <a:lnTo>
                    <a:pt x="23" y="7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1" y="7"/>
                  </a:lnTo>
                  <a:lnTo>
                    <a:pt x="29" y="13"/>
                  </a:lnTo>
                  <a:lnTo>
                    <a:pt x="26" y="17"/>
                  </a:lnTo>
                  <a:lnTo>
                    <a:pt x="22" y="23"/>
                  </a:lnTo>
                  <a:lnTo>
                    <a:pt x="11" y="31"/>
                  </a:lnTo>
                  <a:lnTo>
                    <a:pt x="0" y="38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2" name="Freeform 126"/>
            <p:cNvSpPr>
              <a:spLocks noEditPoints="1"/>
            </p:cNvSpPr>
            <p:nvPr/>
          </p:nvSpPr>
          <p:spPr bwMode="auto">
            <a:xfrm>
              <a:off x="6237288" y="2035175"/>
              <a:ext cx="817563" cy="560388"/>
            </a:xfrm>
            <a:custGeom>
              <a:avLst/>
              <a:gdLst/>
              <a:ahLst/>
              <a:cxnLst>
                <a:cxn ang="0">
                  <a:pos x="91" y="444"/>
                </a:cxn>
                <a:cxn ang="0">
                  <a:pos x="627" y="160"/>
                </a:cxn>
                <a:cxn ang="0">
                  <a:pos x="1233" y="59"/>
                </a:cxn>
                <a:cxn ang="0">
                  <a:pos x="1522" y="331"/>
                </a:cxn>
                <a:cxn ang="0">
                  <a:pos x="1023" y="693"/>
                </a:cxn>
                <a:cxn ang="0">
                  <a:pos x="734" y="978"/>
                </a:cxn>
                <a:cxn ang="0">
                  <a:pos x="458" y="947"/>
                </a:cxn>
                <a:cxn ang="0">
                  <a:pos x="44" y="670"/>
                </a:cxn>
                <a:cxn ang="0">
                  <a:pos x="1404" y="260"/>
                </a:cxn>
                <a:cxn ang="0">
                  <a:pos x="1033" y="662"/>
                </a:cxn>
                <a:cxn ang="0">
                  <a:pos x="1508" y="310"/>
                </a:cxn>
                <a:cxn ang="0">
                  <a:pos x="1513" y="172"/>
                </a:cxn>
                <a:cxn ang="0">
                  <a:pos x="1082" y="33"/>
                </a:cxn>
                <a:cxn ang="0">
                  <a:pos x="798" y="417"/>
                </a:cxn>
                <a:cxn ang="0">
                  <a:pos x="1519" y="172"/>
                </a:cxn>
                <a:cxn ang="0">
                  <a:pos x="873" y="810"/>
                </a:cxn>
                <a:cxn ang="0">
                  <a:pos x="836" y="624"/>
                </a:cxn>
                <a:cxn ang="0">
                  <a:pos x="854" y="662"/>
                </a:cxn>
                <a:cxn ang="0">
                  <a:pos x="782" y="603"/>
                </a:cxn>
                <a:cxn ang="0">
                  <a:pos x="705" y="720"/>
                </a:cxn>
                <a:cxn ang="0">
                  <a:pos x="828" y="779"/>
                </a:cxn>
                <a:cxn ang="0">
                  <a:pos x="601" y="867"/>
                </a:cxn>
                <a:cxn ang="0">
                  <a:pos x="545" y="584"/>
                </a:cxn>
                <a:cxn ang="0">
                  <a:pos x="556" y="690"/>
                </a:cxn>
                <a:cxn ang="0">
                  <a:pos x="697" y="704"/>
                </a:cxn>
                <a:cxn ang="0">
                  <a:pos x="601" y="702"/>
                </a:cxn>
                <a:cxn ang="0">
                  <a:pos x="537" y="841"/>
                </a:cxn>
                <a:cxn ang="0">
                  <a:pos x="664" y="775"/>
                </a:cxn>
                <a:cxn ang="0">
                  <a:pos x="589" y="877"/>
                </a:cxn>
                <a:cxn ang="0">
                  <a:pos x="488" y="818"/>
                </a:cxn>
                <a:cxn ang="0">
                  <a:pos x="326" y="777"/>
                </a:cxn>
                <a:cxn ang="0">
                  <a:pos x="227" y="667"/>
                </a:cxn>
                <a:cxn ang="0">
                  <a:pos x="119" y="605"/>
                </a:cxn>
                <a:cxn ang="0">
                  <a:pos x="626" y="1015"/>
                </a:cxn>
                <a:cxn ang="0">
                  <a:pos x="407" y="572"/>
                </a:cxn>
                <a:cxn ang="0">
                  <a:pos x="555" y="867"/>
                </a:cxn>
                <a:cxn ang="0">
                  <a:pos x="475" y="895"/>
                </a:cxn>
                <a:cxn ang="0">
                  <a:pos x="448" y="765"/>
                </a:cxn>
                <a:cxn ang="0">
                  <a:pos x="475" y="724"/>
                </a:cxn>
                <a:cxn ang="0">
                  <a:pos x="478" y="644"/>
                </a:cxn>
                <a:cxn ang="0">
                  <a:pos x="388" y="727"/>
                </a:cxn>
                <a:cxn ang="0">
                  <a:pos x="420" y="525"/>
                </a:cxn>
                <a:cxn ang="0">
                  <a:pos x="288" y="489"/>
                </a:cxn>
                <a:cxn ang="0">
                  <a:pos x="435" y="623"/>
                </a:cxn>
                <a:cxn ang="0">
                  <a:pos x="367" y="621"/>
                </a:cxn>
                <a:cxn ang="0">
                  <a:pos x="330" y="617"/>
                </a:cxn>
                <a:cxn ang="0">
                  <a:pos x="430" y="628"/>
                </a:cxn>
                <a:cxn ang="0">
                  <a:pos x="332" y="799"/>
                </a:cxn>
                <a:cxn ang="0">
                  <a:pos x="246" y="345"/>
                </a:cxn>
                <a:cxn ang="0">
                  <a:pos x="306" y="435"/>
                </a:cxn>
                <a:cxn ang="0">
                  <a:pos x="230" y="535"/>
                </a:cxn>
                <a:cxn ang="0">
                  <a:pos x="219" y="562"/>
                </a:cxn>
                <a:cxn ang="0">
                  <a:pos x="230" y="610"/>
                </a:cxn>
                <a:cxn ang="0">
                  <a:pos x="334" y="579"/>
                </a:cxn>
                <a:cxn ang="0">
                  <a:pos x="292" y="665"/>
                </a:cxn>
                <a:cxn ang="0">
                  <a:pos x="147" y="455"/>
                </a:cxn>
                <a:cxn ang="0">
                  <a:pos x="91" y="480"/>
                </a:cxn>
                <a:cxn ang="0">
                  <a:pos x="167" y="500"/>
                </a:cxn>
                <a:cxn ang="0">
                  <a:pos x="155" y="501"/>
                </a:cxn>
                <a:cxn ang="0">
                  <a:pos x="158" y="585"/>
                </a:cxn>
                <a:cxn ang="0">
                  <a:pos x="82" y="516"/>
                </a:cxn>
              </a:cxnLst>
              <a:rect l="0" t="0" r="r" b="b"/>
              <a:pathLst>
                <a:path w="1545" h="1058">
                  <a:moveTo>
                    <a:pt x="96" y="538"/>
                  </a:moveTo>
                  <a:lnTo>
                    <a:pt x="96" y="538"/>
                  </a:lnTo>
                  <a:lnTo>
                    <a:pt x="90" y="537"/>
                  </a:lnTo>
                  <a:lnTo>
                    <a:pt x="85" y="537"/>
                  </a:lnTo>
                  <a:lnTo>
                    <a:pt x="72" y="539"/>
                  </a:lnTo>
                  <a:lnTo>
                    <a:pt x="60" y="542"/>
                  </a:lnTo>
                  <a:lnTo>
                    <a:pt x="49" y="546"/>
                  </a:lnTo>
                  <a:lnTo>
                    <a:pt x="36" y="549"/>
                  </a:lnTo>
                  <a:lnTo>
                    <a:pt x="24" y="552"/>
                  </a:lnTo>
                  <a:lnTo>
                    <a:pt x="19" y="552"/>
                  </a:lnTo>
                  <a:lnTo>
                    <a:pt x="13" y="552"/>
                  </a:lnTo>
                  <a:lnTo>
                    <a:pt x="7" y="550"/>
                  </a:lnTo>
                  <a:lnTo>
                    <a:pt x="1" y="547"/>
                  </a:lnTo>
                  <a:lnTo>
                    <a:pt x="1" y="547"/>
                  </a:lnTo>
                  <a:lnTo>
                    <a:pt x="1" y="542"/>
                  </a:lnTo>
                  <a:lnTo>
                    <a:pt x="3" y="535"/>
                  </a:lnTo>
                  <a:lnTo>
                    <a:pt x="5" y="531"/>
                  </a:lnTo>
                  <a:lnTo>
                    <a:pt x="7" y="527"/>
                  </a:lnTo>
                  <a:lnTo>
                    <a:pt x="9" y="524"/>
                  </a:lnTo>
                  <a:lnTo>
                    <a:pt x="12" y="522"/>
                  </a:lnTo>
                  <a:lnTo>
                    <a:pt x="20" y="517"/>
                  </a:lnTo>
                  <a:lnTo>
                    <a:pt x="20" y="517"/>
                  </a:lnTo>
                  <a:lnTo>
                    <a:pt x="25" y="509"/>
                  </a:lnTo>
                  <a:lnTo>
                    <a:pt x="31" y="500"/>
                  </a:lnTo>
                  <a:lnTo>
                    <a:pt x="45" y="485"/>
                  </a:lnTo>
                  <a:lnTo>
                    <a:pt x="60" y="471"/>
                  </a:lnTo>
                  <a:lnTo>
                    <a:pt x="75" y="458"/>
                  </a:lnTo>
                  <a:lnTo>
                    <a:pt x="91" y="444"/>
                  </a:lnTo>
                  <a:lnTo>
                    <a:pt x="106" y="431"/>
                  </a:lnTo>
                  <a:lnTo>
                    <a:pt x="113" y="423"/>
                  </a:lnTo>
                  <a:lnTo>
                    <a:pt x="119" y="414"/>
                  </a:lnTo>
                  <a:lnTo>
                    <a:pt x="125" y="406"/>
                  </a:lnTo>
                  <a:lnTo>
                    <a:pt x="130" y="396"/>
                  </a:lnTo>
                  <a:lnTo>
                    <a:pt x="130" y="396"/>
                  </a:lnTo>
                  <a:lnTo>
                    <a:pt x="135" y="394"/>
                  </a:lnTo>
                  <a:lnTo>
                    <a:pt x="140" y="391"/>
                  </a:lnTo>
                  <a:lnTo>
                    <a:pt x="143" y="388"/>
                  </a:lnTo>
                  <a:lnTo>
                    <a:pt x="147" y="384"/>
                  </a:lnTo>
                  <a:lnTo>
                    <a:pt x="147" y="384"/>
                  </a:lnTo>
                  <a:lnTo>
                    <a:pt x="159" y="381"/>
                  </a:lnTo>
                  <a:lnTo>
                    <a:pt x="171" y="377"/>
                  </a:lnTo>
                  <a:lnTo>
                    <a:pt x="182" y="373"/>
                  </a:lnTo>
                  <a:lnTo>
                    <a:pt x="193" y="367"/>
                  </a:lnTo>
                  <a:lnTo>
                    <a:pt x="215" y="355"/>
                  </a:lnTo>
                  <a:lnTo>
                    <a:pt x="235" y="342"/>
                  </a:lnTo>
                  <a:lnTo>
                    <a:pt x="235" y="342"/>
                  </a:lnTo>
                  <a:lnTo>
                    <a:pt x="227" y="337"/>
                  </a:lnTo>
                  <a:lnTo>
                    <a:pt x="220" y="332"/>
                  </a:lnTo>
                  <a:lnTo>
                    <a:pt x="215" y="326"/>
                  </a:lnTo>
                  <a:lnTo>
                    <a:pt x="210" y="318"/>
                  </a:lnTo>
                  <a:lnTo>
                    <a:pt x="210" y="318"/>
                  </a:lnTo>
                  <a:lnTo>
                    <a:pt x="278" y="295"/>
                  </a:lnTo>
                  <a:lnTo>
                    <a:pt x="347" y="270"/>
                  </a:lnTo>
                  <a:lnTo>
                    <a:pt x="417" y="243"/>
                  </a:lnTo>
                  <a:lnTo>
                    <a:pt x="487" y="215"/>
                  </a:lnTo>
                  <a:lnTo>
                    <a:pt x="627" y="160"/>
                  </a:lnTo>
                  <a:lnTo>
                    <a:pt x="697" y="132"/>
                  </a:lnTo>
                  <a:lnTo>
                    <a:pt x="766" y="105"/>
                  </a:lnTo>
                  <a:lnTo>
                    <a:pt x="766" y="105"/>
                  </a:lnTo>
                  <a:lnTo>
                    <a:pt x="829" y="83"/>
                  </a:lnTo>
                  <a:lnTo>
                    <a:pt x="894" y="61"/>
                  </a:lnTo>
                  <a:lnTo>
                    <a:pt x="1026" y="19"/>
                  </a:lnTo>
                  <a:lnTo>
                    <a:pt x="1026" y="19"/>
                  </a:lnTo>
                  <a:lnTo>
                    <a:pt x="1052" y="13"/>
                  </a:lnTo>
                  <a:lnTo>
                    <a:pt x="1064" y="8"/>
                  </a:lnTo>
                  <a:lnTo>
                    <a:pt x="1069" y="4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1"/>
                  </a:lnTo>
                  <a:lnTo>
                    <a:pt x="1075" y="2"/>
                  </a:lnTo>
                  <a:lnTo>
                    <a:pt x="1079" y="3"/>
                  </a:lnTo>
                  <a:lnTo>
                    <a:pt x="1081" y="4"/>
                  </a:lnTo>
                  <a:lnTo>
                    <a:pt x="1081" y="5"/>
                  </a:lnTo>
                  <a:lnTo>
                    <a:pt x="1081" y="8"/>
                  </a:lnTo>
                  <a:lnTo>
                    <a:pt x="1081" y="8"/>
                  </a:lnTo>
                  <a:lnTo>
                    <a:pt x="1084" y="4"/>
                  </a:lnTo>
                  <a:lnTo>
                    <a:pt x="1087" y="4"/>
                  </a:lnTo>
                  <a:lnTo>
                    <a:pt x="1099" y="3"/>
                  </a:lnTo>
                  <a:lnTo>
                    <a:pt x="1099" y="3"/>
                  </a:lnTo>
                  <a:lnTo>
                    <a:pt x="1109" y="10"/>
                  </a:lnTo>
                  <a:lnTo>
                    <a:pt x="1113" y="13"/>
                  </a:lnTo>
                  <a:lnTo>
                    <a:pt x="1116" y="18"/>
                  </a:lnTo>
                  <a:lnTo>
                    <a:pt x="1116" y="18"/>
                  </a:lnTo>
                  <a:lnTo>
                    <a:pt x="1233" y="59"/>
                  </a:lnTo>
                  <a:lnTo>
                    <a:pt x="1263" y="70"/>
                  </a:lnTo>
                  <a:lnTo>
                    <a:pt x="1291" y="78"/>
                  </a:lnTo>
                  <a:lnTo>
                    <a:pt x="1320" y="86"/>
                  </a:lnTo>
                  <a:lnTo>
                    <a:pt x="1346" y="92"/>
                  </a:lnTo>
                  <a:lnTo>
                    <a:pt x="1346" y="92"/>
                  </a:lnTo>
                  <a:lnTo>
                    <a:pt x="1391" y="110"/>
                  </a:lnTo>
                  <a:lnTo>
                    <a:pt x="1436" y="128"/>
                  </a:lnTo>
                  <a:lnTo>
                    <a:pt x="1460" y="136"/>
                  </a:lnTo>
                  <a:lnTo>
                    <a:pt x="1482" y="144"/>
                  </a:lnTo>
                  <a:lnTo>
                    <a:pt x="1506" y="151"/>
                  </a:lnTo>
                  <a:lnTo>
                    <a:pt x="1530" y="156"/>
                  </a:lnTo>
                  <a:lnTo>
                    <a:pt x="1530" y="156"/>
                  </a:lnTo>
                  <a:lnTo>
                    <a:pt x="1532" y="160"/>
                  </a:lnTo>
                  <a:lnTo>
                    <a:pt x="1534" y="161"/>
                  </a:lnTo>
                  <a:lnTo>
                    <a:pt x="1538" y="164"/>
                  </a:lnTo>
                  <a:lnTo>
                    <a:pt x="1542" y="167"/>
                  </a:lnTo>
                  <a:lnTo>
                    <a:pt x="1544" y="170"/>
                  </a:lnTo>
                  <a:lnTo>
                    <a:pt x="1545" y="172"/>
                  </a:lnTo>
                  <a:lnTo>
                    <a:pt x="1545" y="172"/>
                  </a:lnTo>
                  <a:lnTo>
                    <a:pt x="1539" y="211"/>
                  </a:lnTo>
                  <a:lnTo>
                    <a:pt x="1536" y="245"/>
                  </a:lnTo>
                  <a:lnTo>
                    <a:pt x="1533" y="280"/>
                  </a:lnTo>
                  <a:lnTo>
                    <a:pt x="1530" y="317"/>
                  </a:lnTo>
                  <a:lnTo>
                    <a:pt x="1530" y="317"/>
                  </a:lnTo>
                  <a:lnTo>
                    <a:pt x="1527" y="319"/>
                  </a:lnTo>
                  <a:lnTo>
                    <a:pt x="1525" y="322"/>
                  </a:lnTo>
                  <a:lnTo>
                    <a:pt x="1522" y="331"/>
                  </a:lnTo>
                  <a:lnTo>
                    <a:pt x="1522" y="331"/>
                  </a:lnTo>
                  <a:lnTo>
                    <a:pt x="1520" y="331"/>
                  </a:lnTo>
                  <a:lnTo>
                    <a:pt x="1518" y="331"/>
                  </a:lnTo>
                  <a:lnTo>
                    <a:pt x="1518" y="332"/>
                  </a:lnTo>
                  <a:lnTo>
                    <a:pt x="1519" y="333"/>
                  </a:lnTo>
                  <a:lnTo>
                    <a:pt x="1519" y="333"/>
                  </a:lnTo>
                  <a:lnTo>
                    <a:pt x="1510" y="335"/>
                  </a:lnTo>
                  <a:lnTo>
                    <a:pt x="1504" y="338"/>
                  </a:lnTo>
                  <a:lnTo>
                    <a:pt x="1496" y="344"/>
                  </a:lnTo>
                  <a:lnTo>
                    <a:pt x="1488" y="350"/>
                  </a:lnTo>
                  <a:lnTo>
                    <a:pt x="1488" y="350"/>
                  </a:lnTo>
                  <a:lnTo>
                    <a:pt x="1473" y="358"/>
                  </a:lnTo>
                  <a:lnTo>
                    <a:pt x="1458" y="366"/>
                  </a:lnTo>
                  <a:lnTo>
                    <a:pt x="1443" y="376"/>
                  </a:lnTo>
                  <a:lnTo>
                    <a:pt x="1429" y="386"/>
                  </a:lnTo>
                  <a:lnTo>
                    <a:pt x="1372" y="427"/>
                  </a:lnTo>
                  <a:lnTo>
                    <a:pt x="1372" y="427"/>
                  </a:lnTo>
                  <a:lnTo>
                    <a:pt x="1288" y="487"/>
                  </a:lnTo>
                  <a:lnTo>
                    <a:pt x="1204" y="549"/>
                  </a:lnTo>
                  <a:lnTo>
                    <a:pt x="1121" y="613"/>
                  </a:lnTo>
                  <a:lnTo>
                    <a:pt x="1040" y="678"/>
                  </a:lnTo>
                  <a:lnTo>
                    <a:pt x="1040" y="678"/>
                  </a:lnTo>
                  <a:lnTo>
                    <a:pt x="1036" y="685"/>
                  </a:lnTo>
                  <a:lnTo>
                    <a:pt x="1034" y="689"/>
                  </a:lnTo>
                  <a:lnTo>
                    <a:pt x="1031" y="692"/>
                  </a:lnTo>
                  <a:lnTo>
                    <a:pt x="1031" y="692"/>
                  </a:lnTo>
                  <a:lnTo>
                    <a:pt x="1028" y="693"/>
                  </a:lnTo>
                  <a:lnTo>
                    <a:pt x="1026" y="693"/>
                  </a:lnTo>
                  <a:lnTo>
                    <a:pt x="1023" y="693"/>
                  </a:lnTo>
                  <a:lnTo>
                    <a:pt x="1021" y="695"/>
                  </a:lnTo>
                  <a:lnTo>
                    <a:pt x="1021" y="695"/>
                  </a:lnTo>
                  <a:lnTo>
                    <a:pt x="964" y="745"/>
                  </a:lnTo>
                  <a:lnTo>
                    <a:pt x="906" y="795"/>
                  </a:lnTo>
                  <a:lnTo>
                    <a:pt x="906" y="795"/>
                  </a:lnTo>
                  <a:lnTo>
                    <a:pt x="888" y="812"/>
                  </a:lnTo>
                  <a:lnTo>
                    <a:pt x="878" y="820"/>
                  </a:lnTo>
                  <a:lnTo>
                    <a:pt x="871" y="830"/>
                  </a:lnTo>
                  <a:lnTo>
                    <a:pt x="871" y="830"/>
                  </a:lnTo>
                  <a:lnTo>
                    <a:pt x="861" y="833"/>
                  </a:lnTo>
                  <a:lnTo>
                    <a:pt x="852" y="837"/>
                  </a:lnTo>
                  <a:lnTo>
                    <a:pt x="843" y="842"/>
                  </a:lnTo>
                  <a:lnTo>
                    <a:pt x="834" y="846"/>
                  </a:lnTo>
                  <a:lnTo>
                    <a:pt x="819" y="858"/>
                  </a:lnTo>
                  <a:lnTo>
                    <a:pt x="806" y="871"/>
                  </a:lnTo>
                  <a:lnTo>
                    <a:pt x="794" y="885"/>
                  </a:lnTo>
                  <a:lnTo>
                    <a:pt x="782" y="900"/>
                  </a:lnTo>
                  <a:lnTo>
                    <a:pt x="770" y="917"/>
                  </a:lnTo>
                  <a:lnTo>
                    <a:pt x="760" y="934"/>
                  </a:lnTo>
                  <a:lnTo>
                    <a:pt x="760" y="934"/>
                  </a:lnTo>
                  <a:lnTo>
                    <a:pt x="751" y="944"/>
                  </a:lnTo>
                  <a:lnTo>
                    <a:pt x="745" y="955"/>
                  </a:lnTo>
                  <a:lnTo>
                    <a:pt x="745" y="955"/>
                  </a:lnTo>
                  <a:lnTo>
                    <a:pt x="742" y="961"/>
                  </a:lnTo>
                  <a:lnTo>
                    <a:pt x="740" y="967"/>
                  </a:lnTo>
                  <a:lnTo>
                    <a:pt x="738" y="973"/>
                  </a:lnTo>
                  <a:lnTo>
                    <a:pt x="734" y="978"/>
                  </a:lnTo>
                  <a:lnTo>
                    <a:pt x="734" y="978"/>
                  </a:lnTo>
                  <a:lnTo>
                    <a:pt x="727" y="983"/>
                  </a:lnTo>
                  <a:lnTo>
                    <a:pt x="718" y="987"/>
                  </a:lnTo>
                  <a:lnTo>
                    <a:pt x="707" y="992"/>
                  </a:lnTo>
                  <a:lnTo>
                    <a:pt x="695" y="998"/>
                  </a:lnTo>
                  <a:lnTo>
                    <a:pt x="695" y="998"/>
                  </a:lnTo>
                  <a:lnTo>
                    <a:pt x="672" y="101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1" y="1025"/>
                  </a:lnTo>
                  <a:lnTo>
                    <a:pt x="632" y="1030"/>
                  </a:lnTo>
                  <a:lnTo>
                    <a:pt x="618" y="1040"/>
                  </a:lnTo>
                  <a:lnTo>
                    <a:pt x="604" y="1050"/>
                  </a:lnTo>
                  <a:lnTo>
                    <a:pt x="597" y="1055"/>
                  </a:lnTo>
                  <a:lnTo>
                    <a:pt x="588" y="1058"/>
                  </a:lnTo>
                  <a:lnTo>
                    <a:pt x="588" y="1058"/>
                  </a:lnTo>
                  <a:lnTo>
                    <a:pt x="560" y="1032"/>
                  </a:lnTo>
                  <a:lnTo>
                    <a:pt x="534" y="1008"/>
                  </a:lnTo>
                  <a:lnTo>
                    <a:pt x="520" y="996"/>
                  </a:lnTo>
                  <a:lnTo>
                    <a:pt x="506" y="986"/>
                  </a:lnTo>
                  <a:lnTo>
                    <a:pt x="491" y="977"/>
                  </a:lnTo>
                  <a:lnTo>
                    <a:pt x="477" y="969"/>
                  </a:lnTo>
                  <a:lnTo>
                    <a:pt x="477" y="969"/>
                  </a:lnTo>
                  <a:lnTo>
                    <a:pt x="476" y="967"/>
                  </a:lnTo>
                  <a:lnTo>
                    <a:pt x="476" y="965"/>
                  </a:lnTo>
                  <a:lnTo>
                    <a:pt x="475" y="963"/>
                  </a:lnTo>
                  <a:lnTo>
                    <a:pt x="475" y="961"/>
                  </a:lnTo>
                  <a:lnTo>
                    <a:pt x="475" y="961"/>
                  </a:lnTo>
                  <a:lnTo>
                    <a:pt x="458" y="947"/>
                  </a:lnTo>
                  <a:lnTo>
                    <a:pt x="439" y="934"/>
                  </a:lnTo>
                  <a:lnTo>
                    <a:pt x="400" y="909"/>
                  </a:lnTo>
                  <a:lnTo>
                    <a:pt x="400" y="909"/>
                  </a:lnTo>
                  <a:lnTo>
                    <a:pt x="361" y="883"/>
                  </a:lnTo>
                  <a:lnTo>
                    <a:pt x="321" y="856"/>
                  </a:lnTo>
                  <a:lnTo>
                    <a:pt x="321" y="856"/>
                  </a:lnTo>
                  <a:lnTo>
                    <a:pt x="308" y="847"/>
                  </a:lnTo>
                  <a:lnTo>
                    <a:pt x="295" y="840"/>
                  </a:lnTo>
                  <a:lnTo>
                    <a:pt x="283" y="832"/>
                  </a:lnTo>
                  <a:lnTo>
                    <a:pt x="272" y="823"/>
                  </a:lnTo>
                  <a:lnTo>
                    <a:pt x="272" y="823"/>
                  </a:lnTo>
                  <a:lnTo>
                    <a:pt x="266" y="820"/>
                  </a:lnTo>
                  <a:lnTo>
                    <a:pt x="262" y="820"/>
                  </a:lnTo>
                  <a:lnTo>
                    <a:pt x="257" y="820"/>
                  </a:lnTo>
                  <a:lnTo>
                    <a:pt x="257" y="820"/>
                  </a:lnTo>
                  <a:lnTo>
                    <a:pt x="252" y="813"/>
                  </a:lnTo>
                  <a:lnTo>
                    <a:pt x="250" y="810"/>
                  </a:lnTo>
                  <a:lnTo>
                    <a:pt x="247" y="805"/>
                  </a:lnTo>
                  <a:lnTo>
                    <a:pt x="247" y="805"/>
                  </a:lnTo>
                  <a:lnTo>
                    <a:pt x="227" y="795"/>
                  </a:lnTo>
                  <a:lnTo>
                    <a:pt x="207" y="783"/>
                  </a:lnTo>
                  <a:lnTo>
                    <a:pt x="170" y="757"/>
                  </a:lnTo>
                  <a:lnTo>
                    <a:pt x="132" y="730"/>
                  </a:lnTo>
                  <a:lnTo>
                    <a:pt x="95" y="705"/>
                  </a:lnTo>
                  <a:lnTo>
                    <a:pt x="95" y="705"/>
                  </a:lnTo>
                  <a:lnTo>
                    <a:pt x="70" y="686"/>
                  </a:lnTo>
                  <a:lnTo>
                    <a:pt x="57" y="678"/>
                  </a:lnTo>
                  <a:lnTo>
                    <a:pt x="44" y="670"/>
                  </a:lnTo>
                  <a:lnTo>
                    <a:pt x="44" y="670"/>
                  </a:lnTo>
                  <a:lnTo>
                    <a:pt x="39" y="668"/>
                  </a:lnTo>
                  <a:lnTo>
                    <a:pt x="34" y="667"/>
                  </a:lnTo>
                  <a:lnTo>
                    <a:pt x="28" y="666"/>
                  </a:lnTo>
                  <a:lnTo>
                    <a:pt x="23" y="663"/>
                  </a:lnTo>
                  <a:lnTo>
                    <a:pt x="23" y="663"/>
                  </a:lnTo>
                  <a:lnTo>
                    <a:pt x="18" y="659"/>
                  </a:lnTo>
                  <a:lnTo>
                    <a:pt x="13" y="653"/>
                  </a:lnTo>
                  <a:lnTo>
                    <a:pt x="8" y="649"/>
                  </a:lnTo>
                  <a:lnTo>
                    <a:pt x="5" y="647"/>
                  </a:lnTo>
                  <a:lnTo>
                    <a:pt x="1" y="646"/>
                  </a:lnTo>
                  <a:lnTo>
                    <a:pt x="1" y="646"/>
                  </a:lnTo>
                  <a:lnTo>
                    <a:pt x="0" y="639"/>
                  </a:lnTo>
                  <a:lnTo>
                    <a:pt x="1" y="634"/>
                  </a:lnTo>
                  <a:lnTo>
                    <a:pt x="4" y="629"/>
                  </a:lnTo>
                  <a:lnTo>
                    <a:pt x="9" y="622"/>
                  </a:lnTo>
                  <a:lnTo>
                    <a:pt x="9" y="622"/>
                  </a:lnTo>
                  <a:lnTo>
                    <a:pt x="13" y="618"/>
                  </a:lnTo>
                  <a:lnTo>
                    <a:pt x="19" y="613"/>
                  </a:lnTo>
                  <a:lnTo>
                    <a:pt x="31" y="603"/>
                  </a:lnTo>
                  <a:lnTo>
                    <a:pt x="60" y="584"/>
                  </a:lnTo>
                  <a:lnTo>
                    <a:pt x="60" y="584"/>
                  </a:lnTo>
                  <a:lnTo>
                    <a:pt x="72" y="574"/>
                  </a:lnTo>
                  <a:lnTo>
                    <a:pt x="81" y="563"/>
                  </a:lnTo>
                  <a:lnTo>
                    <a:pt x="88" y="552"/>
                  </a:lnTo>
                  <a:lnTo>
                    <a:pt x="96" y="538"/>
                  </a:lnTo>
                  <a:lnTo>
                    <a:pt x="96" y="538"/>
                  </a:lnTo>
                  <a:close/>
                  <a:moveTo>
                    <a:pt x="1404" y="260"/>
                  </a:moveTo>
                  <a:lnTo>
                    <a:pt x="1404" y="260"/>
                  </a:lnTo>
                  <a:lnTo>
                    <a:pt x="1379" y="273"/>
                  </a:lnTo>
                  <a:lnTo>
                    <a:pt x="1355" y="287"/>
                  </a:lnTo>
                  <a:lnTo>
                    <a:pt x="1331" y="302"/>
                  </a:lnTo>
                  <a:lnTo>
                    <a:pt x="1308" y="318"/>
                  </a:lnTo>
                  <a:lnTo>
                    <a:pt x="1262" y="350"/>
                  </a:lnTo>
                  <a:lnTo>
                    <a:pt x="1216" y="382"/>
                  </a:lnTo>
                  <a:lnTo>
                    <a:pt x="1216" y="382"/>
                  </a:lnTo>
                  <a:lnTo>
                    <a:pt x="1193" y="398"/>
                  </a:lnTo>
                  <a:lnTo>
                    <a:pt x="1171" y="414"/>
                  </a:lnTo>
                  <a:lnTo>
                    <a:pt x="1126" y="449"/>
                  </a:lnTo>
                  <a:lnTo>
                    <a:pt x="1082" y="483"/>
                  </a:lnTo>
                  <a:lnTo>
                    <a:pt x="1038" y="516"/>
                  </a:lnTo>
                  <a:lnTo>
                    <a:pt x="1038" y="516"/>
                  </a:lnTo>
                  <a:lnTo>
                    <a:pt x="1039" y="519"/>
                  </a:lnTo>
                  <a:lnTo>
                    <a:pt x="1040" y="522"/>
                  </a:lnTo>
                  <a:lnTo>
                    <a:pt x="1042" y="525"/>
                  </a:lnTo>
                  <a:lnTo>
                    <a:pt x="1042" y="528"/>
                  </a:lnTo>
                  <a:lnTo>
                    <a:pt x="1042" y="528"/>
                  </a:lnTo>
                  <a:lnTo>
                    <a:pt x="1039" y="534"/>
                  </a:lnTo>
                  <a:lnTo>
                    <a:pt x="1038" y="541"/>
                  </a:lnTo>
                  <a:lnTo>
                    <a:pt x="1036" y="555"/>
                  </a:lnTo>
                  <a:lnTo>
                    <a:pt x="1035" y="571"/>
                  </a:lnTo>
                  <a:lnTo>
                    <a:pt x="1035" y="589"/>
                  </a:lnTo>
                  <a:lnTo>
                    <a:pt x="1036" y="625"/>
                  </a:lnTo>
                  <a:lnTo>
                    <a:pt x="1035" y="644"/>
                  </a:lnTo>
                  <a:lnTo>
                    <a:pt x="1033" y="662"/>
                  </a:lnTo>
                  <a:lnTo>
                    <a:pt x="1033" y="662"/>
                  </a:lnTo>
                  <a:lnTo>
                    <a:pt x="1054" y="647"/>
                  </a:lnTo>
                  <a:lnTo>
                    <a:pt x="1076" y="631"/>
                  </a:lnTo>
                  <a:lnTo>
                    <a:pt x="1120" y="595"/>
                  </a:lnTo>
                  <a:lnTo>
                    <a:pt x="1120" y="595"/>
                  </a:lnTo>
                  <a:lnTo>
                    <a:pt x="1157" y="567"/>
                  </a:lnTo>
                  <a:lnTo>
                    <a:pt x="1194" y="539"/>
                  </a:lnTo>
                  <a:lnTo>
                    <a:pt x="1269" y="484"/>
                  </a:lnTo>
                  <a:lnTo>
                    <a:pt x="1269" y="484"/>
                  </a:lnTo>
                  <a:lnTo>
                    <a:pt x="1330" y="440"/>
                  </a:lnTo>
                  <a:lnTo>
                    <a:pt x="1388" y="396"/>
                  </a:lnTo>
                  <a:lnTo>
                    <a:pt x="1388" y="396"/>
                  </a:lnTo>
                  <a:lnTo>
                    <a:pt x="1418" y="373"/>
                  </a:lnTo>
                  <a:lnTo>
                    <a:pt x="1433" y="361"/>
                  </a:lnTo>
                  <a:lnTo>
                    <a:pt x="1447" y="350"/>
                  </a:lnTo>
                  <a:lnTo>
                    <a:pt x="1447" y="350"/>
                  </a:lnTo>
                  <a:lnTo>
                    <a:pt x="1459" y="344"/>
                  </a:lnTo>
                  <a:lnTo>
                    <a:pt x="1470" y="338"/>
                  </a:lnTo>
                  <a:lnTo>
                    <a:pt x="1480" y="333"/>
                  </a:lnTo>
                  <a:lnTo>
                    <a:pt x="1490" y="328"/>
                  </a:lnTo>
                  <a:lnTo>
                    <a:pt x="1490" y="328"/>
                  </a:lnTo>
                  <a:lnTo>
                    <a:pt x="1493" y="323"/>
                  </a:lnTo>
                  <a:lnTo>
                    <a:pt x="1497" y="318"/>
                  </a:lnTo>
                  <a:lnTo>
                    <a:pt x="1504" y="307"/>
                  </a:lnTo>
                  <a:lnTo>
                    <a:pt x="1504" y="307"/>
                  </a:lnTo>
                  <a:lnTo>
                    <a:pt x="1505" y="307"/>
                  </a:lnTo>
                  <a:lnTo>
                    <a:pt x="1506" y="308"/>
                  </a:lnTo>
                  <a:lnTo>
                    <a:pt x="1508" y="310"/>
                  </a:lnTo>
                  <a:lnTo>
                    <a:pt x="1508" y="310"/>
                  </a:lnTo>
                  <a:lnTo>
                    <a:pt x="1509" y="306"/>
                  </a:lnTo>
                  <a:lnTo>
                    <a:pt x="1509" y="305"/>
                  </a:lnTo>
                  <a:lnTo>
                    <a:pt x="1509" y="303"/>
                  </a:lnTo>
                  <a:lnTo>
                    <a:pt x="1511" y="301"/>
                  </a:lnTo>
                  <a:lnTo>
                    <a:pt x="1511" y="301"/>
                  </a:lnTo>
                  <a:lnTo>
                    <a:pt x="1513" y="299"/>
                  </a:lnTo>
                  <a:lnTo>
                    <a:pt x="1514" y="296"/>
                  </a:lnTo>
                  <a:lnTo>
                    <a:pt x="1517" y="291"/>
                  </a:lnTo>
                  <a:lnTo>
                    <a:pt x="1517" y="291"/>
                  </a:lnTo>
                  <a:lnTo>
                    <a:pt x="1520" y="278"/>
                  </a:lnTo>
                  <a:lnTo>
                    <a:pt x="1522" y="266"/>
                  </a:lnTo>
                  <a:lnTo>
                    <a:pt x="1523" y="252"/>
                  </a:lnTo>
                  <a:lnTo>
                    <a:pt x="1524" y="238"/>
                  </a:lnTo>
                  <a:lnTo>
                    <a:pt x="1525" y="211"/>
                  </a:lnTo>
                  <a:lnTo>
                    <a:pt x="1526" y="198"/>
                  </a:lnTo>
                  <a:lnTo>
                    <a:pt x="1529" y="186"/>
                  </a:lnTo>
                  <a:lnTo>
                    <a:pt x="1529" y="186"/>
                  </a:lnTo>
                  <a:lnTo>
                    <a:pt x="1528" y="185"/>
                  </a:lnTo>
                  <a:lnTo>
                    <a:pt x="1527" y="185"/>
                  </a:lnTo>
                  <a:lnTo>
                    <a:pt x="1527" y="185"/>
                  </a:lnTo>
                  <a:lnTo>
                    <a:pt x="1513" y="197"/>
                  </a:lnTo>
                  <a:lnTo>
                    <a:pt x="1499" y="209"/>
                  </a:lnTo>
                  <a:lnTo>
                    <a:pt x="1484" y="219"/>
                  </a:lnTo>
                  <a:lnTo>
                    <a:pt x="1469" y="227"/>
                  </a:lnTo>
                  <a:lnTo>
                    <a:pt x="1437" y="244"/>
                  </a:lnTo>
                  <a:lnTo>
                    <a:pt x="1404" y="260"/>
                  </a:lnTo>
                  <a:lnTo>
                    <a:pt x="1404" y="260"/>
                  </a:lnTo>
                  <a:close/>
                  <a:moveTo>
                    <a:pt x="1513" y="172"/>
                  </a:moveTo>
                  <a:lnTo>
                    <a:pt x="1513" y="172"/>
                  </a:lnTo>
                  <a:lnTo>
                    <a:pt x="1483" y="162"/>
                  </a:lnTo>
                  <a:lnTo>
                    <a:pt x="1453" y="151"/>
                  </a:lnTo>
                  <a:lnTo>
                    <a:pt x="1423" y="140"/>
                  </a:lnTo>
                  <a:lnTo>
                    <a:pt x="1392" y="130"/>
                  </a:lnTo>
                  <a:lnTo>
                    <a:pt x="1392" y="130"/>
                  </a:lnTo>
                  <a:lnTo>
                    <a:pt x="1372" y="123"/>
                  </a:lnTo>
                  <a:lnTo>
                    <a:pt x="1352" y="115"/>
                  </a:lnTo>
                  <a:lnTo>
                    <a:pt x="1330" y="105"/>
                  </a:lnTo>
                  <a:lnTo>
                    <a:pt x="1309" y="98"/>
                  </a:lnTo>
                  <a:lnTo>
                    <a:pt x="1309" y="98"/>
                  </a:lnTo>
                  <a:lnTo>
                    <a:pt x="1296" y="94"/>
                  </a:lnTo>
                  <a:lnTo>
                    <a:pt x="1283" y="92"/>
                  </a:lnTo>
                  <a:lnTo>
                    <a:pt x="1270" y="89"/>
                  </a:lnTo>
                  <a:lnTo>
                    <a:pt x="1257" y="86"/>
                  </a:lnTo>
                  <a:lnTo>
                    <a:pt x="1257" y="86"/>
                  </a:lnTo>
                  <a:lnTo>
                    <a:pt x="1233" y="77"/>
                  </a:lnTo>
                  <a:lnTo>
                    <a:pt x="1209" y="68"/>
                  </a:lnTo>
                  <a:lnTo>
                    <a:pt x="1209" y="68"/>
                  </a:lnTo>
                  <a:lnTo>
                    <a:pt x="1184" y="58"/>
                  </a:lnTo>
                  <a:lnTo>
                    <a:pt x="1158" y="48"/>
                  </a:lnTo>
                  <a:lnTo>
                    <a:pt x="1134" y="40"/>
                  </a:lnTo>
                  <a:lnTo>
                    <a:pt x="1122" y="37"/>
                  </a:lnTo>
                  <a:lnTo>
                    <a:pt x="1111" y="34"/>
                  </a:lnTo>
                  <a:lnTo>
                    <a:pt x="1111" y="34"/>
                  </a:lnTo>
                  <a:lnTo>
                    <a:pt x="1103" y="33"/>
                  </a:lnTo>
                  <a:lnTo>
                    <a:pt x="1096" y="32"/>
                  </a:lnTo>
                  <a:lnTo>
                    <a:pt x="1082" y="33"/>
                  </a:lnTo>
                  <a:lnTo>
                    <a:pt x="1070" y="32"/>
                  </a:lnTo>
                  <a:lnTo>
                    <a:pt x="1065" y="31"/>
                  </a:lnTo>
                  <a:lnTo>
                    <a:pt x="1058" y="29"/>
                  </a:lnTo>
                  <a:lnTo>
                    <a:pt x="1058" y="29"/>
                  </a:lnTo>
                  <a:lnTo>
                    <a:pt x="1013" y="41"/>
                  </a:lnTo>
                  <a:lnTo>
                    <a:pt x="969" y="54"/>
                  </a:lnTo>
                  <a:lnTo>
                    <a:pt x="927" y="66"/>
                  </a:lnTo>
                  <a:lnTo>
                    <a:pt x="885" y="80"/>
                  </a:lnTo>
                  <a:lnTo>
                    <a:pt x="802" y="109"/>
                  </a:lnTo>
                  <a:lnTo>
                    <a:pt x="722" y="139"/>
                  </a:lnTo>
                  <a:lnTo>
                    <a:pt x="561" y="202"/>
                  </a:lnTo>
                  <a:lnTo>
                    <a:pt x="480" y="234"/>
                  </a:lnTo>
                  <a:lnTo>
                    <a:pt x="397" y="265"/>
                  </a:lnTo>
                  <a:lnTo>
                    <a:pt x="397" y="265"/>
                  </a:lnTo>
                  <a:lnTo>
                    <a:pt x="409" y="273"/>
                  </a:lnTo>
                  <a:lnTo>
                    <a:pt x="422" y="280"/>
                  </a:lnTo>
                  <a:lnTo>
                    <a:pt x="436" y="285"/>
                  </a:lnTo>
                  <a:lnTo>
                    <a:pt x="450" y="290"/>
                  </a:lnTo>
                  <a:lnTo>
                    <a:pt x="450" y="290"/>
                  </a:lnTo>
                  <a:lnTo>
                    <a:pt x="506" y="311"/>
                  </a:lnTo>
                  <a:lnTo>
                    <a:pt x="561" y="331"/>
                  </a:lnTo>
                  <a:lnTo>
                    <a:pt x="561" y="331"/>
                  </a:lnTo>
                  <a:lnTo>
                    <a:pt x="610" y="348"/>
                  </a:lnTo>
                  <a:lnTo>
                    <a:pt x="657" y="365"/>
                  </a:lnTo>
                  <a:lnTo>
                    <a:pt x="705" y="381"/>
                  </a:lnTo>
                  <a:lnTo>
                    <a:pt x="752" y="398"/>
                  </a:lnTo>
                  <a:lnTo>
                    <a:pt x="752" y="398"/>
                  </a:lnTo>
                  <a:lnTo>
                    <a:pt x="798" y="417"/>
                  </a:lnTo>
                  <a:lnTo>
                    <a:pt x="843" y="436"/>
                  </a:lnTo>
                  <a:lnTo>
                    <a:pt x="843" y="436"/>
                  </a:lnTo>
                  <a:lnTo>
                    <a:pt x="877" y="451"/>
                  </a:lnTo>
                  <a:lnTo>
                    <a:pt x="908" y="466"/>
                  </a:lnTo>
                  <a:lnTo>
                    <a:pt x="908" y="466"/>
                  </a:lnTo>
                  <a:lnTo>
                    <a:pt x="943" y="484"/>
                  </a:lnTo>
                  <a:lnTo>
                    <a:pt x="960" y="493"/>
                  </a:lnTo>
                  <a:lnTo>
                    <a:pt x="978" y="500"/>
                  </a:lnTo>
                  <a:lnTo>
                    <a:pt x="978" y="500"/>
                  </a:lnTo>
                  <a:lnTo>
                    <a:pt x="989" y="503"/>
                  </a:lnTo>
                  <a:lnTo>
                    <a:pt x="999" y="507"/>
                  </a:lnTo>
                  <a:lnTo>
                    <a:pt x="1010" y="510"/>
                  </a:lnTo>
                  <a:lnTo>
                    <a:pt x="1021" y="511"/>
                  </a:lnTo>
                  <a:lnTo>
                    <a:pt x="1021" y="511"/>
                  </a:lnTo>
                  <a:lnTo>
                    <a:pt x="1078" y="466"/>
                  </a:lnTo>
                  <a:lnTo>
                    <a:pt x="1135" y="423"/>
                  </a:lnTo>
                  <a:lnTo>
                    <a:pt x="1253" y="336"/>
                  </a:lnTo>
                  <a:lnTo>
                    <a:pt x="1253" y="336"/>
                  </a:lnTo>
                  <a:lnTo>
                    <a:pt x="1285" y="314"/>
                  </a:lnTo>
                  <a:lnTo>
                    <a:pt x="1318" y="293"/>
                  </a:lnTo>
                  <a:lnTo>
                    <a:pt x="1354" y="273"/>
                  </a:lnTo>
                  <a:lnTo>
                    <a:pt x="1388" y="254"/>
                  </a:lnTo>
                  <a:lnTo>
                    <a:pt x="1423" y="235"/>
                  </a:lnTo>
                  <a:lnTo>
                    <a:pt x="1457" y="214"/>
                  </a:lnTo>
                  <a:lnTo>
                    <a:pt x="1489" y="194"/>
                  </a:lnTo>
                  <a:lnTo>
                    <a:pt x="1504" y="183"/>
                  </a:lnTo>
                  <a:lnTo>
                    <a:pt x="1519" y="172"/>
                  </a:lnTo>
                  <a:lnTo>
                    <a:pt x="1519" y="172"/>
                  </a:lnTo>
                  <a:lnTo>
                    <a:pt x="1518" y="171"/>
                  </a:lnTo>
                  <a:lnTo>
                    <a:pt x="1515" y="171"/>
                  </a:lnTo>
                  <a:lnTo>
                    <a:pt x="1514" y="171"/>
                  </a:lnTo>
                  <a:lnTo>
                    <a:pt x="1513" y="172"/>
                  </a:lnTo>
                  <a:lnTo>
                    <a:pt x="1513" y="172"/>
                  </a:lnTo>
                  <a:close/>
                  <a:moveTo>
                    <a:pt x="1015" y="678"/>
                  </a:moveTo>
                  <a:lnTo>
                    <a:pt x="1015" y="678"/>
                  </a:lnTo>
                  <a:lnTo>
                    <a:pt x="1018" y="663"/>
                  </a:lnTo>
                  <a:lnTo>
                    <a:pt x="1020" y="647"/>
                  </a:lnTo>
                  <a:lnTo>
                    <a:pt x="1021" y="630"/>
                  </a:lnTo>
                  <a:lnTo>
                    <a:pt x="1021" y="613"/>
                  </a:lnTo>
                  <a:lnTo>
                    <a:pt x="1021" y="576"/>
                  </a:lnTo>
                  <a:lnTo>
                    <a:pt x="1022" y="541"/>
                  </a:lnTo>
                  <a:lnTo>
                    <a:pt x="1022" y="541"/>
                  </a:lnTo>
                  <a:lnTo>
                    <a:pt x="1023" y="540"/>
                  </a:lnTo>
                  <a:lnTo>
                    <a:pt x="1023" y="540"/>
                  </a:lnTo>
                  <a:lnTo>
                    <a:pt x="1021" y="538"/>
                  </a:lnTo>
                  <a:lnTo>
                    <a:pt x="1015" y="533"/>
                  </a:lnTo>
                  <a:lnTo>
                    <a:pt x="1015" y="533"/>
                  </a:lnTo>
                  <a:lnTo>
                    <a:pt x="946" y="588"/>
                  </a:lnTo>
                  <a:lnTo>
                    <a:pt x="908" y="616"/>
                  </a:lnTo>
                  <a:lnTo>
                    <a:pt x="890" y="630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68" y="685"/>
                  </a:lnTo>
                  <a:lnTo>
                    <a:pt x="867" y="724"/>
                  </a:lnTo>
                  <a:lnTo>
                    <a:pt x="869" y="764"/>
                  </a:lnTo>
                  <a:lnTo>
                    <a:pt x="873" y="810"/>
                  </a:lnTo>
                  <a:lnTo>
                    <a:pt x="873" y="810"/>
                  </a:lnTo>
                  <a:lnTo>
                    <a:pt x="891" y="794"/>
                  </a:lnTo>
                  <a:lnTo>
                    <a:pt x="909" y="777"/>
                  </a:lnTo>
                  <a:lnTo>
                    <a:pt x="945" y="744"/>
                  </a:lnTo>
                  <a:lnTo>
                    <a:pt x="980" y="710"/>
                  </a:lnTo>
                  <a:lnTo>
                    <a:pt x="1015" y="678"/>
                  </a:lnTo>
                  <a:lnTo>
                    <a:pt x="1015" y="678"/>
                  </a:lnTo>
                  <a:close/>
                  <a:moveTo>
                    <a:pt x="368" y="277"/>
                  </a:moveTo>
                  <a:lnTo>
                    <a:pt x="368" y="277"/>
                  </a:lnTo>
                  <a:lnTo>
                    <a:pt x="337" y="288"/>
                  </a:lnTo>
                  <a:lnTo>
                    <a:pt x="307" y="300"/>
                  </a:lnTo>
                  <a:lnTo>
                    <a:pt x="276" y="312"/>
                  </a:lnTo>
                  <a:lnTo>
                    <a:pt x="260" y="317"/>
                  </a:lnTo>
                  <a:lnTo>
                    <a:pt x="241" y="322"/>
                  </a:lnTo>
                  <a:lnTo>
                    <a:pt x="241" y="322"/>
                  </a:lnTo>
                  <a:lnTo>
                    <a:pt x="389" y="397"/>
                  </a:lnTo>
                  <a:lnTo>
                    <a:pt x="539" y="473"/>
                  </a:lnTo>
                  <a:lnTo>
                    <a:pt x="539" y="473"/>
                  </a:lnTo>
                  <a:lnTo>
                    <a:pt x="576" y="492"/>
                  </a:lnTo>
                  <a:lnTo>
                    <a:pt x="615" y="509"/>
                  </a:lnTo>
                  <a:lnTo>
                    <a:pt x="693" y="541"/>
                  </a:lnTo>
                  <a:lnTo>
                    <a:pt x="731" y="559"/>
                  </a:lnTo>
                  <a:lnTo>
                    <a:pt x="750" y="568"/>
                  </a:lnTo>
                  <a:lnTo>
                    <a:pt x="768" y="577"/>
                  </a:lnTo>
                  <a:lnTo>
                    <a:pt x="785" y="588"/>
                  </a:lnTo>
                  <a:lnTo>
                    <a:pt x="802" y="600"/>
                  </a:lnTo>
                  <a:lnTo>
                    <a:pt x="819" y="611"/>
                  </a:lnTo>
                  <a:lnTo>
                    <a:pt x="836" y="624"/>
                  </a:lnTo>
                  <a:lnTo>
                    <a:pt x="836" y="624"/>
                  </a:lnTo>
                  <a:lnTo>
                    <a:pt x="843" y="625"/>
                  </a:lnTo>
                  <a:lnTo>
                    <a:pt x="849" y="626"/>
                  </a:lnTo>
                  <a:lnTo>
                    <a:pt x="856" y="629"/>
                  </a:lnTo>
                  <a:lnTo>
                    <a:pt x="859" y="631"/>
                  </a:lnTo>
                  <a:lnTo>
                    <a:pt x="862" y="633"/>
                  </a:lnTo>
                  <a:lnTo>
                    <a:pt x="862" y="633"/>
                  </a:lnTo>
                  <a:lnTo>
                    <a:pt x="879" y="619"/>
                  </a:lnTo>
                  <a:lnTo>
                    <a:pt x="897" y="605"/>
                  </a:lnTo>
                  <a:lnTo>
                    <a:pt x="932" y="579"/>
                  </a:lnTo>
                  <a:lnTo>
                    <a:pt x="967" y="553"/>
                  </a:lnTo>
                  <a:lnTo>
                    <a:pt x="984" y="539"/>
                  </a:lnTo>
                  <a:lnTo>
                    <a:pt x="1000" y="525"/>
                  </a:lnTo>
                  <a:lnTo>
                    <a:pt x="1000" y="525"/>
                  </a:lnTo>
                  <a:lnTo>
                    <a:pt x="924" y="489"/>
                  </a:lnTo>
                  <a:lnTo>
                    <a:pt x="846" y="456"/>
                  </a:lnTo>
                  <a:lnTo>
                    <a:pt x="768" y="424"/>
                  </a:lnTo>
                  <a:lnTo>
                    <a:pt x="688" y="393"/>
                  </a:lnTo>
                  <a:lnTo>
                    <a:pt x="609" y="364"/>
                  </a:lnTo>
                  <a:lnTo>
                    <a:pt x="528" y="334"/>
                  </a:lnTo>
                  <a:lnTo>
                    <a:pt x="368" y="277"/>
                  </a:lnTo>
                  <a:lnTo>
                    <a:pt x="368" y="277"/>
                  </a:lnTo>
                  <a:close/>
                  <a:moveTo>
                    <a:pt x="854" y="694"/>
                  </a:moveTo>
                  <a:lnTo>
                    <a:pt x="854" y="694"/>
                  </a:lnTo>
                  <a:lnTo>
                    <a:pt x="853" y="690"/>
                  </a:lnTo>
                  <a:lnTo>
                    <a:pt x="853" y="685"/>
                  </a:lnTo>
                  <a:lnTo>
                    <a:pt x="854" y="674"/>
                  </a:lnTo>
                  <a:lnTo>
                    <a:pt x="854" y="662"/>
                  </a:lnTo>
                  <a:lnTo>
                    <a:pt x="853" y="656"/>
                  </a:lnTo>
                  <a:lnTo>
                    <a:pt x="852" y="651"/>
                  </a:lnTo>
                  <a:lnTo>
                    <a:pt x="852" y="651"/>
                  </a:lnTo>
                  <a:lnTo>
                    <a:pt x="849" y="652"/>
                  </a:lnTo>
                  <a:lnTo>
                    <a:pt x="848" y="652"/>
                  </a:lnTo>
                  <a:lnTo>
                    <a:pt x="847" y="652"/>
                  </a:lnTo>
                  <a:lnTo>
                    <a:pt x="846" y="651"/>
                  </a:lnTo>
                  <a:lnTo>
                    <a:pt x="844" y="648"/>
                  </a:lnTo>
                  <a:lnTo>
                    <a:pt x="841" y="646"/>
                  </a:lnTo>
                  <a:lnTo>
                    <a:pt x="841" y="646"/>
                  </a:lnTo>
                  <a:lnTo>
                    <a:pt x="841" y="648"/>
                  </a:lnTo>
                  <a:lnTo>
                    <a:pt x="840" y="649"/>
                  </a:lnTo>
                  <a:lnTo>
                    <a:pt x="839" y="649"/>
                  </a:lnTo>
                  <a:lnTo>
                    <a:pt x="839" y="649"/>
                  </a:lnTo>
                  <a:lnTo>
                    <a:pt x="837" y="647"/>
                  </a:lnTo>
                  <a:lnTo>
                    <a:pt x="836" y="644"/>
                  </a:lnTo>
                  <a:lnTo>
                    <a:pt x="833" y="640"/>
                  </a:lnTo>
                  <a:lnTo>
                    <a:pt x="832" y="638"/>
                  </a:lnTo>
                  <a:lnTo>
                    <a:pt x="832" y="638"/>
                  </a:lnTo>
                  <a:lnTo>
                    <a:pt x="829" y="637"/>
                  </a:lnTo>
                  <a:lnTo>
                    <a:pt x="827" y="636"/>
                  </a:lnTo>
                  <a:lnTo>
                    <a:pt x="824" y="636"/>
                  </a:lnTo>
                  <a:lnTo>
                    <a:pt x="822" y="635"/>
                  </a:lnTo>
                  <a:lnTo>
                    <a:pt x="822" y="635"/>
                  </a:lnTo>
                  <a:lnTo>
                    <a:pt x="813" y="629"/>
                  </a:lnTo>
                  <a:lnTo>
                    <a:pt x="806" y="622"/>
                  </a:lnTo>
                  <a:lnTo>
                    <a:pt x="790" y="609"/>
                  </a:lnTo>
                  <a:lnTo>
                    <a:pt x="782" y="603"/>
                  </a:lnTo>
                  <a:lnTo>
                    <a:pt x="772" y="596"/>
                  </a:lnTo>
                  <a:lnTo>
                    <a:pt x="764" y="592"/>
                  </a:lnTo>
                  <a:lnTo>
                    <a:pt x="754" y="589"/>
                  </a:lnTo>
                  <a:lnTo>
                    <a:pt x="754" y="589"/>
                  </a:lnTo>
                  <a:lnTo>
                    <a:pt x="725" y="609"/>
                  </a:lnTo>
                  <a:lnTo>
                    <a:pt x="695" y="629"/>
                  </a:lnTo>
                  <a:lnTo>
                    <a:pt x="634" y="665"/>
                  </a:lnTo>
                  <a:lnTo>
                    <a:pt x="634" y="665"/>
                  </a:lnTo>
                  <a:lnTo>
                    <a:pt x="634" y="673"/>
                  </a:lnTo>
                  <a:lnTo>
                    <a:pt x="633" y="679"/>
                  </a:lnTo>
                  <a:lnTo>
                    <a:pt x="629" y="692"/>
                  </a:lnTo>
                  <a:lnTo>
                    <a:pt x="629" y="692"/>
                  </a:lnTo>
                  <a:lnTo>
                    <a:pt x="651" y="682"/>
                  </a:lnTo>
                  <a:lnTo>
                    <a:pt x="665" y="678"/>
                  </a:lnTo>
                  <a:lnTo>
                    <a:pt x="679" y="674"/>
                  </a:lnTo>
                  <a:lnTo>
                    <a:pt x="687" y="673"/>
                  </a:lnTo>
                  <a:lnTo>
                    <a:pt x="693" y="673"/>
                  </a:lnTo>
                  <a:lnTo>
                    <a:pt x="698" y="674"/>
                  </a:lnTo>
                  <a:lnTo>
                    <a:pt x="704" y="675"/>
                  </a:lnTo>
                  <a:lnTo>
                    <a:pt x="708" y="678"/>
                  </a:lnTo>
                  <a:lnTo>
                    <a:pt x="711" y="681"/>
                  </a:lnTo>
                  <a:lnTo>
                    <a:pt x="713" y="686"/>
                  </a:lnTo>
                  <a:lnTo>
                    <a:pt x="715" y="694"/>
                  </a:lnTo>
                  <a:lnTo>
                    <a:pt x="715" y="694"/>
                  </a:lnTo>
                  <a:lnTo>
                    <a:pt x="713" y="700"/>
                  </a:lnTo>
                  <a:lnTo>
                    <a:pt x="712" y="707"/>
                  </a:lnTo>
                  <a:lnTo>
                    <a:pt x="709" y="713"/>
                  </a:lnTo>
                  <a:lnTo>
                    <a:pt x="705" y="720"/>
                  </a:lnTo>
                  <a:lnTo>
                    <a:pt x="698" y="732"/>
                  </a:lnTo>
                  <a:lnTo>
                    <a:pt x="695" y="739"/>
                  </a:lnTo>
                  <a:lnTo>
                    <a:pt x="693" y="746"/>
                  </a:lnTo>
                  <a:lnTo>
                    <a:pt x="693" y="746"/>
                  </a:lnTo>
                  <a:lnTo>
                    <a:pt x="702" y="746"/>
                  </a:lnTo>
                  <a:lnTo>
                    <a:pt x="709" y="749"/>
                  </a:lnTo>
                  <a:lnTo>
                    <a:pt x="717" y="752"/>
                  </a:lnTo>
                  <a:lnTo>
                    <a:pt x="723" y="756"/>
                  </a:lnTo>
                  <a:lnTo>
                    <a:pt x="728" y="762"/>
                  </a:lnTo>
                  <a:lnTo>
                    <a:pt x="734" y="769"/>
                  </a:lnTo>
                  <a:lnTo>
                    <a:pt x="738" y="776"/>
                  </a:lnTo>
                  <a:lnTo>
                    <a:pt x="741" y="784"/>
                  </a:lnTo>
                  <a:lnTo>
                    <a:pt x="741" y="784"/>
                  </a:lnTo>
                  <a:lnTo>
                    <a:pt x="770" y="762"/>
                  </a:lnTo>
                  <a:lnTo>
                    <a:pt x="798" y="740"/>
                  </a:lnTo>
                  <a:lnTo>
                    <a:pt x="854" y="694"/>
                  </a:lnTo>
                  <a:lnTo>
                    <a:pt x="854" y="694"/>
                  </a:lnTo>
                  <a:close/>
                  <a:moveTo>
                    <a:pt x="852" y="721"/>
                  </a:moveTo>
                  <a:lnTo>
                    <a:pt x="852" y="721"/>
                  </a:lnTo>
                  <a:lnTo>
                    <a:pt x="844" y="724"/>
                  </a:lnTo>
                  <a:lnTo>
                    <a:pt x="837" y="728"/>
                  </a:lnTo>
                  <a:lnTo>
                    <a:pt x="823" y="738"/>
                  </a:lnTo>
                  <a:lnTo>
                    <a:pt x="811" y="749"/>
                  </a:lnTo>
                  <a:lnTo>
                    <a:pt x="800" y="761"/>
                  </a:lnTo>
                  <a:lnTo>
                    <a:pt x="800" y="761"/>
                  </a:lnTo>
                  <a:lnTo>
                    <a:pt x="808" y="765"/>
                  </a:lnTo>
                  <a:lnTo>
                    <a:pt x="815" y="769"/>
                  </a:lnTo>
                  <a:lnTo>
                    <a:pt x="828" y="779"/>
                  </a:lnTo>
                  <a:lnTo>
                    <a:pt x="842" y="787"/>
                  </a:lnTo>
                  <a:lnTo>
                    <a:pt x="848" y="790"/>
                  </a:lnTo>
                  <a:lnTo>
                    <a:pt x="855" y="794"/>
                  </a:lnTo>
                  <a:lnTo>
                    <a:pt x="855" y="794"/>
                  </a:lnTo>
                  <a:lnTo>
                    <a:pt x="853" y="758"/>
                  </a:lnTo>
                  <a:lnTo>
                    <a:pt x="852" y="740"/>
                  </a:lnTo>
                  <a:lnTo>
                    <a:pt x="852" y="721"/>
                  </a:lnTo>
                  <a:lnTo>
                    <a:pt x="852" y="721"/>
                  </a:lnTo>
                  <a:close/>
                  <a:moveTo>
                    <a:pt x="792" y="784"/>
                  </a:moveTo>
                  <a:lnTo>
                    <a:pt x="792" y="784"/>
                  </a:lnTo>
                  <a:lnTo>
                    <a:pt x="787" y="777"/>
                  </a:lnTo>
                  <a:lnTo>
                    <a:pt x="784" y="770"/>
                  </a:lnTo>
                  <a:lnTo>
                    <a:pt x="784" y="770"/>
                  </a:lnTo>
                  <a:lnTo>
                    <a:pt x="760" y="794"/>
                  </a:lnTo>
                  <a:lnTo>
                    <a:pt x="753" y="800"/>
                  </a:lnTo>
                  <a:lnTo>
                    <a:pt x="746" y="804"/>
                  </a:lnTo>
                  <a:lnTo>
                    <a:pt x="738" y="810"/>
                  </a:lnTo>
                  <a:lnTo>
                    <a:pt x="731" y="813"/>
                  </a:lnTo>
                  <a:lnTo>
                    <a:pt x="731" y="813"/>
                  </a:lnTo>
                  <a:lnTo>
                    <a:pt x="722" y="815"/>
                  </a:lnTo>
                  <a:lnTo>
                    <a:pt x="713" y="817"/>
                  </a:lnTo>
                  <a:lnTo>
                    <a:pt x="705" y="819"/>
                  </a:lnTo>
                  <a:lnTo>
                    <a:pt x="697" y="821"/>
                  </a:lnTo>
                  <a:lnTo>
                    <a:pt x="697" y="821"/>
                  </a:lnTo>
                  <a:lnTo>
                    <a:pt x="672" y="832"/>
                  </a:lnTo>
                  <a:lnTo>
                    <a:pt x="647" y="844"/>
                  </a:lnTo>
                  <a:lnTo>
                    <a:pt x="601" y="867"/>
                  </a:lnTo>
                  <a:lnTo>
                    <a:pt x="601" y="867"/>
                  </a:lnTo>
                  <a:lnTo>
                    <a:pt x="616" y="877"/>
                  </a:lnTo>
                  <a:lnTo>
                    <a:pt x="632" y="886"/>
                  </a:lnTo>
                  <a:lnTo>
                    <a:pt x="665" y="903"/>
                  </a:lnTo>
                  <a:lnTo>
                    <a:pt x="701" y="919"/>
                  </a:lnTo>
                  <a:lnTo>
                    <a:pt x="718" y="928"/>
                  </a:lnTo>
                  <a:lnTo>
                    <a:pt x="734" y="937"/>
                  </a:lnTo>
                  <a:lnTo>
                    <a:pt x="734" y="937"/>
                  </a:lnTo>
                  <a:lnTo>
                    <a:pt x="757" y="904"/>
                  </a:lnTo>
                  <a:lnTo>
                    <a:pt x="769" y="888"/>
                  </a:lnTo>
                  <a:lnTo>
                    <a:pt x="782" y="872"/>
                  </a:lnTo>
                  <a:lnTo>
                    <a:pt x="796" y="858"/>
                  </a:lnTo>
                  <a:lnTo>
                    <a:pt x="811" y="844"/>
                  </a:lnTo>
                  <a:lnTo>
                    <a:pt x="827" y="832"/>
                  </a:lnTo>
                  <a:lnTo>
                    <a:pt x="844" y="821"/>
                  </a:lnTo>
                  <a:lnTo>
                    <a:pt x="844" y="821"/>
                  </a:lnTo>
                  <a:lnTo>
                    <a:pt x="844" y="816"/>
                  </a:lnTo>
                  <a:lnTo>
                    <a:pt x="844" y="816"/>
                  </a:lnTo>
                  <a:lnTo>
                    <a:pt x="832" y="806"/>
                  </a:lnTo>
                  <a:lnTo>
                    <a:pt x="819" y="798"/>
                  </a:lnTo>
                  <a:lnTo>
                    <a:pt x="806" y="790"/>
                  </a:lnTo>
                  <a:lnTo>
                    <a:pt x="792" y="784"/>
                  </a:lnTo>
                  <a:lnTo>
                    <a:pt x="792" y="784"/>
                  </a:lnTo>
                  <a:close/>
                  <a:moveTo>
                    <a:pt x="629" y="532"/>
                  </a:moveTo>
                  <a:lnTo>
                    <a:pt x="629" y="532"/>
                  </a:lnTo>
                  <a:lnTo>
                    <a:pt x="614" y="543"/>
                  </a:lnTo>
                  <a:lnTo>
                    <a:pt x="597" y="554"/>
                  </a:lnTo>
                  <a:lnTo>
                    <a:pt x="563" y="573"/>
                  </a:lnTo>
                  <a:lnTo>
                    <a:pt x="545" y="584"/>
                  </a:lnTo>
                  <a:lnTo>
                    <a:pt x="528" y="593"/>
                  </a:lnTo>
                  <a:lnTo>
                    <a:pt x="512" y="605"/>
                  </a:lnTo>
                  <a:lnTo>
                    <a:pt x="498" y="617"/>
                  </a:lnTo>
                  <a:lnTo>
                    <a:pt x="498" y="617"/>
                  </a:lnTo>
                  <a:lnTo>
                    <a:pt x="491" y="620"/>
                  </a:lnTo>
                  <a:lnTo>
                    <a:pt x="483" y="623"/>
                  </a:lnTo>
                  <a:lnTo>
                    <a:pt x="480" y="625"/>
                  </a:lnTo>
                  <a:lnTo>
                    <a:pt x="477" y="628"/>
                  </a:lnTo>
                  <a:lnTo>
                    <a:pt x="476" y="630"/>
                  </a:lnTo>
                  <a:lnTo>
                    <a:pt x="477" y="633"/>
                  </a:lnTo>
                  <a:lnTo>
                    <a:pt x="477" y="633"/>
                  </a:lnTo>
                  <a:lnTo>
                    <a:pt x="506" y="625"/>
                  </a:lnTo>
                  <a:lnTo>
                    <a:pt x="521" y="623"/>
                  </a:lnTo>
                  <a:lnTo>
                    <a:pt x="537" y="621"/>
                  </a:lnTo>
                  <a:lnTo>
                    <a:pt x="537" y="621"/>
                  </a:lnTo>
                  <a:lnTo>
                    <a:pt x="542" y="626"/>
                  </a:lnTo>
                  <a:lnTo>
                    <a:pt x="546" y="633"/>
                  </a:lnTo>
                  <a:lnTo>
                    <a:pt x="549" y="639"/>
                  </a:lnTo>
                  <a:lnTo>
                    <a:pt x="550" y="647"/>
                  </a:lnTo>
                  <a:lnTo>
                    <a:pt x="550" y="653"/>
                  </a:lnTo>
                  <a:lnTo>
                    <a:pt x="548" y="661"/>
                  </a:lnTo>
                  <a:lnTo>
                    <a:pt x="544" y="667"/>
                  </a:lnTo>
                  <a:lnTo>
                    <a:pt x="540" y="674"/>
                  </a:lnTo>
                  <a:lnTo>
                    <a:pt x="540" y="674"/>
                  </a:lnTo>
                  <a:lnTo>
                    <a:pt x="551" y="681"/>
                  </a:lnTo>
                  <a:lnTo>
                    <a:pt x="554" y="685"/>
                  </a:lnTo>
                  <a:lnTo>
                    <a:pt x="556" y="690"/>
                  </a:lnTo>
                  <a:lnTo>
                    <a:pt x="556" y="690"/>
                  </a:lnTo>
                  <a:lnTo>
                    <a:pt x="573" y="683"/>
                  </a:lnTo>
                  <a:lnTo>
                    <a:pt x="588" y="677"/>
                  </a:lnTo>
                  <a:lnTo>
                    <a:pt x="596" y="673"/>
                  </a:lnTo>
                  <a:lnTo>
                    <a:pt x="602" y="668"/>
                  </a:lnTo>
                  <a:lnTo>
                    <a:pt x="609" y="663"/>
                  </a:lnTo>
                  <a:lnTo>
                    <a:pt x="613" y="656"/>
                  </a:lnTo>
                  <a:lnTo>
                    <a:pt x="613" y="656"/>
                  </a:lnTo>
                  <a:lnTo>
                    <a:pt x="620" y="655"/>
                  </a:lnTo>
                  <a:lnTo>
                    <a:pt x="628" y="654"/>
                  </a:lnTo>
                  <a:lnTo>
                    <a:pt x="628" y="654"/>
                  </a:lnTo>
                  <a:lnTo>
                    <a:pt x="641" y="645"/>
                  </a:lnTo>
                  <a:lnTo>
                    <a:pt x="655" y="636"/>
                  </a:lnTo>
                  <a:lnTo>
                    <a:pt x="685" y="618"/>
                  </a:lnTo>
                  <a:lnTo>
                    <a:pt x="712" y="601"/>
                  </a:lnTo>
                  <a:lnTo>
                    <a:pt x="726" y="591"/>
                  </a:lnTo>
                  <a:lnTo>
                    <a:pt x="739" y="581"/>
                  </a:lnTo>
                  <a:lnTo>
                    <a:pt x="739" y="581"/>
                  </a:lnTo>
                  <a:lnTo>
                    <a:pt x="684" y="556"/>
                  </a:lnTo>
                  <a:lnTo>
                    <a:pt x="629" y="532"/>
                  </a:lnTo>
                  <a:lnTo>
                    <a:pt x="629" y="532"/>
                  </a:lnTo>
                  <a:close/>
                  <a:moveTo>
                    <a:pt x="669" y="756"/>
                  </a:moveTo>
                  <a:lnTo>
                    <a:pt x="669" y="756"/>
                  </a:lnTo>
                  <a:lnTo>
                    <a:pt x="671" y="751"/>
                  </a:lnTo>
                  <a:lnTo>
                    <a:pt x="674" y="744"/>
                  </a:lnTo>
                  <a:lnTo>
                    <a:pt x="685" y="730"/>
                  </a:lnTo>
                  <a:lnTo>
                    <a:pt x="690" y="723"/>
                  </a:lnTo>
                  <a:lnTo>
                    <a:pt x="694" y="713"/>
                  </a:lnTo>
                  <a:lnTo>
                    <a:pt x="697" y="704"/>
                  </a:lnTo>
                  <a:lnTo>
                    <a:pt x="697" y="699"/>
                  </a:lnTo>
                  <a:lnTo>
                    <a:pt x="697" y="694"/>
                  </a:lnTo>
                  <a:lnTo>
                    <a:pt x="697" y="694"/>
                  </a:lnTo>
                  <a:lnTo>
                    <a:pt x="692" y="691"/>
                  </a:lnTo>
                  <a:lnTo>
                    <a:pt x="687" y="690"/>
                  </a:lnTo>
                  <a:lnTo>
                    <a:pt x="682" y="689"/>
                  </a:lnTo>
                  <a:lnTo>
                    <a:pt x="677" y="690"/>
                  </a:lnTo>
                  <a:lnTo>
                    <a:pt x="667" y="691"/>
                  </a:lnTo>
                  <a:lnTo>
                    <a:pt x="657" y="695"/>
                  </a:lnTo>
                  <a:lnTo>
                    <a:pt x="637" y="704"/>
                  </a:lnTo>
                  <a:lnTo>
                    <a:pt x="627" y="708"/>
                  </a:lnTo>
                  <a:lnTo>
                    <a:pt x="617" y="711"/>
                  </a:lnTo>
                  <a:lnTo>
                    <a:pt x="617" y="711"/>
                  </a:lnTo>
                  <a:lnTo>
                    <a:pt x="611" y="721"/>
                  </a:lnTo>
                  <a:lnTo>
                    <a:pt x="604" y="731"/>
                  </a:lnTo>
                  <a:lnTo>
                    <a:pt x="591" y="753"/>
                  </a:lnTo>
                  <a:lnTo>
                    <a:pt x="584" y="762"/>
                  </a:lnTo>
                  <a:lnTo>
                    <a:pt x="576" y="771"/>
                  </a:lnTo>
                  <a:lnTo>
                    <a:pt x="569" y="779"/>
                  </a:lnTo>
                  <a:lnTo>
                    <a:pt x="560" y="784"/>
                  </a:lnTo>
                  <a:lnTo>
                    <a:pt x="560" y="784"/>
                  </a:lnTo>
                  <a:lnTo>
                    <a:pt x="564" y="773"/>
                  </a:lnTo>
                  <a:lnTo>
                    <a:pt x="569" y="762"/>
                  </a:lnTo>
                  <a:lnTo>
                    <a:pt x="582" y="744"/>
                  </a:lnTo>
                  <a:lnTo>
                    <a:pt x="587" y="735"/>
                  </a:lnTo>
                  <a:lnTo>
                    <a:pt x="592" y="725"/>
                  </a:lnTo>
                  <a:lnTo>
                    <a:pt x="598" y="714"/>
                  </a:lnTo>
                  <a:lnTo>
                    <a:pt x="601" y="702"/>
                  </a:lnTo>
                  <a:lnTo>
                    <a:pt x="601" y="702"/>
                  </a:lnTo>
                  <a:lnTo>
                    <a:pt x="607" y="697"/>
                  </a:lnTo>
                  <a:lnTo>
                    <a:pt x="613" y="691"/>
                  </a:lnTo>
                  <a:lnTo>
                    <a:pt x="615" y="688"/>
                  </a:lnTo>
                  <a:lnTo>
                    <a:pt x="617" y="683"/>
                  </a:lnTo>
                  <a:lnTo>
                    <a:pt x="617" y="680"/>
                  </a:lnTo>
                  <a:lnTo>
                    <a:pt x="617" y="676"/>
                  </a:lnTo>
                  <a:lnTo>
                    <a:pt x="617" y="676"/>
                  </a:lnTo>
                  <a:lnTo>
                    <a:pt x="600" y="686"/>
                  </a:lnTo>
                  <a:lnTo>
                    <a:pt x="583" y="698"/>
                  </a:lnTo>
                  <a:lnTo>
                    <a:pt x="568" y="709"/>
                  </a:lnTo>
                  <a:lnTo>
                    <a:pt x="556" y="716"/>
                  </a:lnTo>
                  <a:lnTo>
                    <a:pt x="556" y="716"/>
                  </a:lnTo>
                  <a:lnTo>
                    <a:pt x="544" y="740"/>
                  </a:lnTo>
                  <a:lnTo>
                    <a:pt x="533" y="762"/>
                  </a:lnTo>
                  <a:lnTo>
                    <a:pt x="520" y="785"/>
                  </a:lnTo>
                  <a:lnTo>
                    <a:pt x="509" y="810"/>
                  </a:lnTo>
                  <a:lnTo>
                    <a:pt x="509" y="810"/>
                  </a:lnTo>
                  <a:lnTo>
                    <a:pt x="512" y="810"/>
                  </a:lnTo>
                  <a:lnTo>
                    <a:pt x="515" y="811"/>
                  </a:lnTo>
                  <a:lnTo>
                    <a:pt x="520" y="812"/>
                  </a:lnTo>
                  <a:lnTo>
                    <a:pt x="523" y="813"/>
                  </a:lnTo>
                  <a:lnTo>
                    <a:pt x="523" y="813"/>
                  </a:lnTo>
                  <a:lnTo>
                    <a:pt x="528" y="829"/>
                  </a:lnTo>
                  <a:lnTo>
                    <a:pt x="531" y="835"/>
                  </a:lnTo>
                  <a:lnTo>
                    <a:pt x="534" y="838"/>
                  </a:lnTo>
                  <a:lnTo>
                    <a:pt x="537" y="841"/>
                  </a:lnTo>
                  <a:lnTo>
                    <a:pt x="537" y="841"/>
                  </a:lnTo>
                  <a:lnTo>
                    <a:pt x="556" y="837"/>
                  </a:lnTo>
                  <a:lnTo>
                    <a:pt x="556" y="837"/>
                  </a:lnTo>
                  <a:lnTo>
                    <a:pt x="563" y="842"/>
                  </a:lnTo>
                  <a:lnTo>
                    <a:pt x="567" y="847"/>
                  </a:lnTo>
                  <a:lnTo>
                    <a:pt x="568" y="850"/>
                  </a:lnTo>
                  <a:lnTo>
                    <a:pt x="569" y="855"/>
                  </a:lnTo>
                  <a:lnTo>
                    <a:pt x="569" y="859"/>
                  </a:lnTo>
                  <a:lnTo>
                    <a:pt x="569" y="864"/>
                  </a:lnTo>
                  <a:lnTo>
                    <a:pt x="569" y="864"/>
                  </a:lnTo>
                  <a:lnTo>
                    <a:pt x="604" y="848"/>
                  </a:lnTo>
                  <a:lnTo>
                    <a:pt x="641" y="831"/>
                  </a:lnTo>
                  <a:lnTo>
                    <a:pt x="675" y="815"/>
                  </a:lnTo>
                  <a:lnTo>
                    <a:pt x="711" y="799"/>
                  </a:lnTo>
                  <a:lnTo>
                    <a:pt x="711" y="799"/>
                  </a:lnTo>
                  <a:lnTo>
                    <a:pt x="716" y="792"/>
                  </a:lnTo>
                  <a:lnTo>
                    <a:pt x="718" y="786"/>
                  </a:lnTo>
                  <a:lnTo>
                    <a:pt x="719" y="780"/>
                  </a:lnTo>
                  <a:lnTo>
                    <a:pt x="717" y="773"/>
                  </a:lnTo>
                  <a:lnTo>
                    <a:pt x="713" y="769"/>
                  </a:lnTo>
                  <a:lnTo>
                    <a:pt x="708" y="765"/>
                  </a:lnTo>
                  <a:lnTo>
                    <a:pt x="701" y="762"/>
                  </a:lnTo>
                  <a:lnTo>
                    <a:pt x="692" y="762"/>
                  </a:lnTo>
                  <a:lnTo>
                    <a:pt x="692" y="762"/>
                  </a:lnTo>
                  <a:lnTo>
                    <a:pt x="687" y="767"/>
                  </a:lnTo>
                  <a:lnTo>
                    <a:pt x="681" y="770"/>
                  </a:lnTo>
                  <a:lnTo>
                    <a:pt x="681" y="770"/>
                  </a:lnTo>
                  <a:lnTo>
                    <a:pt x="673" y="772"/>
                  </a:lnTo>
                  <a:lnTo>
                    <a:pt x="664" y="775"/>
                  </a:lnTo>
                  <a:lnTo>
                    <a:pt x="649" y="784"/>
                  </a:lnTo>
                  <a:lnTo>
                    <a:pt x="634" y="792"/>
                  </a:lnTo>
                  <a:lnTo>
                    <a:pt x="621" y="802"/>
                  </a:lnTo>
                  <a:lnTo>
                    <a:pt x="609" y="812"/>
                  </a:lnTo>
                  <a:lnTo>
                    <a:pt x="595" y="821"/>
                  </a:lnTo>
                  <a:lnTo>
                    <a:pt x="582" y="830"/>
                  </a:lnTo>
                  <a:lnTo>
                    <a:pt x="567" y="835"/>
                  </a:lnTo>
                  <a:lnTo>
                    <a:pt x="567" y="835"/>
                  </a:lnTo>
                  <a:lnTo>
                    <a:pt x="578" y="823"/>
                  </a:lnTo>
                  <a:lnTo>
                    <a:pt x="589" y="812"/>
                  </a:lnTo>
                  <a:lnTo>
                    <a:pt x="601" y="802"/>
                  </a:lnTo>
                  <a:lnTo>
                    <a:pt x="614" y="792"/>
                  </a:lnTo>
                  <a:lnTo>
                    <a:pt x="642" y="774"/>
                  </a:lnTo>
                  <a:lnTo>
                    <a:pt x="669" y="756"/>
                  </a:lnTo>
                  <a:lnTo>
                    <a:pt x="669" y="756"/>
                  </a:lnTo>
                  <a:close/>
                  <a:moveTo>
                    <a:pt x="715" y="948"/>
                  </a:moveTo>
                  <a:lnTo>
                    <a:pt x="715" y="948"/>
                  </a:lnTo>
                  <a:lnTo>
                    <a:pt x="697" y="935"/>
                  </a:lnTo>
                  <a:lnTo>
                    <a:pt x="678" y="924"/>
                  </a:lnTo>
                  <a:lnTo>
                    <a:pt x="659" y="913"/>
                  </a:lnTo>
                  <a:lnTo>
                    <a:pt x="639" y="904"/>
                  </a:lnTo>
                  <a:lnTo>
                    <a:pt x="639" y="904"/>
                  </a:lnTo>
                  <a:lnTo>
                    <a:pt x="627" y="897"/>
                  </a:lnTo>
                  <a:lnTo>
                    <a:pt x="616" y="890"/>
                  </a:lnTo>
                  <a:lnTo>
                    <a:pt x="605" y="883"/>
                  </a:lnTo>
                  <a:lnTo>
                    <a:pt x="596" y="878"/>
                  </a:lnTo>
                  <a:lnTo>
                    <a:pt x="596" y="878"/>
                  </a:lnTo>
                  <a:lnTo>
                    <a:pt x="589" y="877"/>
                  </a:lnTo>
                  <a:lnTo>
                    <a:pt x="584" y="876"/>
                  </a:lnTo>
                  <a:lnTo>
                    <a:pt x="580" y="876"/>
                  </a:lnTo>
                  <a:lnTo>
                    <a:pt x="575" y="878"/>
                  </a:lnTo>
                  <a:lnTo>
                    <a:pt x="567" y="882"/>
                  </a:lnTo>
                  <a:lnTo>
                    <a:pt x="556" y="888"/>
                  </a:lnTo>
                  <a:lnTo>
                    <a:pt x="556" y="888"/>
                  </a:lnTo>
                  <a:lnTo>
                    <a:pt x="527" y="900"/>
                  </a:lnTo>
                  <a:lnTo>
                    <a:pt x="512" y="906"/>
                  </a:lnTo>
                  <a:lnTo>
                    <a:pt x="496" y="910"/>
                  </a:lnTo>
                  <a:lnTo>
                    <a:pt x="489" y="911"/>
                  </a:lnTo>
                  <a:lnTo>
                    <a:pt x="481" y="912"/>
                  </a:lnTo>
                  <a:lnTo>
                    <a:pt x="474" y="913"/>
                  </a:lnTo>
                  <a:lnTo>
                    <a:pt x="467" y="912"/>
                  </a:lnTo>
                  <a:lnTo>
                    <a:pt x="461" y="910"/>
                  </a:lnTo>
                  <a:lnTo>
                    <a:pt x="455" y="908"/>
                  </a:lnTo>
                  <a:lnTo>
                    <a:pt x="450" y="904"/>
                  </a:lnTo>
                  <a:lnTo>
                    <a:pt x="446" y="898"/>
                  </a:lnTo>
                  <a:lnTo>
                    <a:pt x="446" y="898"/>
                  </a:lnTo>
                  <a:lnTo>
                    <a:pt x="449" y="893"/>
                  </a:lnTo>
                  <a:lnTo>
                    <a:pt x="451" y="888"/>
                  </a:lnTo>
                  <a:lnTo>
                    <a:pt x="451" y="881"/>
                  </a:lnTo>
                  <a:lnTo>
                    <a:pt x="450" y="875"/>
                  </a:lnTo>
                  <a:lnTo>
                    <a:pt x="450" y="875"/>
                  </a:lnTo>
                  <a:lnTo>
                    <a:pt x="461" y="862"/>
                  </a:lnTo>
                  <a:lnTo>
                    <a:pt x="470" y="848"/>
                  </a:lnTo>
                  <a:lnTo>
                    <a:pt x="479" y="833"/>
                  </a:lnTo>
                  <a:lnTo>
                    <a:pt x="488" y="818"/>
                  </a:lnTo>
                  <a:lnTo>
                    <a:pt x="488" y="818"/>
                  </a:lnTo>
                  <a:lnTo>
                    <a:pt x="479" y="815"/>
                  </a:lnTo>
                  <a:lnTo>
                    <a:pt x="472" y="811"/>
                  </a:lnTo>
                  <a:lnTo>
                    <a:pt x="459" y="801"/>
                  </a:lnTo>
                  <a:lnTo>
                    <a:pt x="452" y="796"/>
                  </a:lnTo>
                  <a:lnTo>
                    <a:pt x="446" y="792"/>
                  </a:lnTo>
                  <a:lnTo>
                    <a:pt x="438" y="789"/>
                  </a:lnTo>
                  <a:lnTo>
                    <a:pt x="430" y="788"/>
                  </a:lnTo>
                  <a:lnTo>
                    <a:pt x="430" y="788"/>
                  </a:lnTo>
                  <a:lnTo>
                    <a:pt x="427" y="788"/>
                  </a:lnTo>
                  <a:lnTo>
                    <a:pt x="422" y="789"/>
                  </a:lnTo>
                  <a:lnTo>
                    <a:pt x="415" y="792"/>
                  </a:lnTo>
                  <a:lnTo>
                    <a:pt x="405" y="797"/>
                  </a:lnTo>
                  <a:lnTo>
                    <a:pt x="397" y="800"/>
                  </a:lnTo>
                  <a:lnTo>
                    <a:pt x="397" y="800"/>
                  </a:lnTo>
                  <a:lnTo>
                    <a:pt x="382" y="803"/>
                  </a:lnTo>
                  <a:lnTo>
                    <a:pt x="367" y="807"/>
                  </a:lnTo>
                  <a:lnTo>
                    <a:pt x="367" y="807"/>
                  </a:lnTo>
                  <a:lnTo>
                    <a:pt x="351" y="812"/>
                  </a:lnTo>
                  <a:lnTo>
                    <a:pt x="344" y="814"/>
                  </a:lnTo>
                  <a:lnTo>
                    <a:pt x="338" y="814"/>
                  </a:lnTo>
                  <a:lnTo>
                    <a:pt x="331" y="814"/>
                  </a:lnTo>
                  <a:lnTo>
                    <a:pt x="326" y="812"/>
                  </a:lnTo>
                  <a:lnTo>
                    <a:pt x="321" y="808"/>
                  </a:lnTo>
                  <a:lnTo>
                    <a:pt x="315" y="802"/>
                  </a:lnTo>
                  <a:lnTo>
                    <a:pt x="315" y="802"/>
                  </a:lnTo>
                  <a:lnTo>
                    <a:pt x="317" y="792"/>
                  </a:lnTo>
                  <a:lnTo>
                    <a:pt x="322" y="785"/>
                  </a:lnTo>
                  <a:lnTo>
                    <a:pt x="326" y="777"/>
                  </a:lnTo>
                  <a:lnTo>
                    <a:pt x="331" y="770"/>
                  </a:lnTo>
                  <a:lnTo>
                    <a:pt x="343" y="757"/>
                  </a:lnTo>
                  <a:lnTo>
                    <a:pt x="356" y="745"/>
                  </a:lnTo>
                  <a:lnTo>
                    <a:pt x="356" y="745"/>
                  </a:lnTo>
                  <a:lnTo>
                    <a:pt x="342" y="735"/>
                  </a:lnTo>
                  <a:lnTo>
                    <a:pt x="329" y="724"/>
                  </a:lnTo>
                  <a:lnTo>
                    <a:pt x="322" y="719"/>
                  </a:lnTo>
                  <a:lnTo>
                    <a:pt x="314" y="714"/>
                  </a:lnTo>
                  <a:lnTo>
                    <a:pt x="306" y="711"/>
                  </a:lnTo>
                  <a:lnTo>
                    <a:pt x="297" y="708"/>
                  </a:lnTo>
                  <a:lnTo>
                    <a:pt x="297" y="708"/>
                  </a:lnTo>
                  <a:lnTo>
                    <a:pt x="291" y="712"/>
                  </a:lnTo>
                  <a:lnTo>
                    <a:pt x="284" y="715"/>
                  </a:lnTo>
                  <a:lnTo>
                    <a:pt x="278" y="717"/>
                  </a:lnTo>
                  <a:lnTo>
                    <a:pt x="269" y="720"/>
                  </a:lnTo>
                  <a:lnTo>
                    <a:pt x="253" y="724"/>
                  </a:lnTo>
                  <a:lnTo>
                    <a:pt x="235" y="727"/>
                  </a:lnTo>
                  <a:lnTo>
                    <a:pt x="235" y="727"/>
                  </a:lnTo>
                  <a:lnTo>
                    <a:pt x="230" y="720"/>
                  </a:lnTo>
                  <a:lnTo>
                    <a:pt x="227" y="713"/>
                  </a:lnTo>
                  <a:lnTo>
                    <a:pt x="228" y="707"/>
                  </a:lnTo>
                  <a:lnTo>
                    <a:pt x="231" y="700"/>
                  </a:lnTo>
                  <a:lnTo>
                    <a:pt x="234" y="695"/>
                  </a:lnTo>
                  <a:lnTo>
                    <a:pt x="239" y="689"/>
                  </a:lnTo>
                  <a:lnTo>
                    <a:pt x="249" y="678"/>
                  </a:lnTo>
                  <a:lnTo>
                    <a:pt x="249" y="678"/>
                  </a:lnTo>
                  <a:lnTo>
                    <a:pt x="237" y="674"/>
                  </a:lnTo>
                  <a:lnTo>
                    <a:pt x="227" y="667"/>
                  </a:lnTo>
                  <a:lnTo>
                    <a:pt x="206" y="651"/>
                  </a:lnTo>
                  <a:lnTo>
                    <a:pt x="196" y="645"/>
                  </a:lnTo>
                  <a:lnTo>
                    <a:pt x="186" y="638"/>
                  </a:lnTo>
                  <a:lnTo>
                    <a:pt x="180" y="636"/>
                  </a:lnTo>
                  <a:lnTo>
                    <a:pt x="174" y="634"/>
                  </a:lnTo>
                  <a:lnTo>
                    <a:pt x="169" y="633"/>
                  </a:lnTo>
                  <a:lnTo>
                    <a:pt x="162" y="633"/>
                  </a:lnTo>
                  <a:lnTo>
                    <a:pt x="162" y="633"/>
                  </a:lnTo>
                  <a:lnTo>
                    <a:pt x="158" y="634"/>
                  </a:lnTo>
                  <a:lnTo>
                    <a:pt x="154" y="636"/>
                  </a:lnTo>
                  <a:lnTo>
                    <a:pt x="150" y="638"/>
                  </a:lnTo>
                  <a:lnTo>
                    <a:pt x="146" y="640"/>
                  </a:lnTo>
                  <a:lnTo>
                    <a:pt x="146" y="640"/>
                  </a:lnTo>
                  <a:lnTo>
                    <a:pt x="136" y="643"/>
                  </a:lnTo>
                  <a:lnTo>
                    <a:pt x="127" y="644"/>
                  </a:lnTo>
                  <a:lnTo>
                    <a:pt x="116" y="645"/>
                  </a:lnTo>
                  <a:lnTo>
                    <a:pt x="105" y="647"/>
                  </a:lnTo>
                  <a:lnTo>
                    <a:pt x="105" y="647"/>
                  </a:lnTo>
                  <a:lnTo>
                    <a:pt x="102" y="645"/>
                  </a:lnTo>
                  <a:lnTo>
                    <a:pt x="100" y="643"/>
                  </a:lnTo>
                  <a:lnTo>
                    <a:pt x="98" y="639"/>
                  </a:lnTo>
                  <a:lnTo>
                    <a:pt x="98" y="636"/>
                  </a:lnTo>
                  <a:lnTo>
                    <a:pt x="98" y="631"/>
                  </a:lnTo>
                  <a:lnTo>
                    <a:pt x="100" y="624"/>
                  </a:lnTo>
                  <a:lnTo>
                    <a:pt x="104" y="618"/>
                  </a:lnTo>
                  <a:lnTo>
                    <a:pt x="110" y="613"/>
                  </a:lnTo>
                  <a:lnTo>
                    <a:pt x="119" y="605"/>
                  </a:lnTo>
                  <a:lnTo>
                    <a:pt x="119" y="605"/>
                  </a:lnTo>
                  <a:lnTo>
                    <a:pt x="113" y="600"/>
                  </a:lnTo>
                  <a:lnTo>
                    <a:pt x="106" y="595"/>
                  </a:lnTo>
                  <a:lnTo>
                    <a:pt x="99" y="593"/>
                  </a:lnTo>
                  <a:lnTo>
                    <a:pt x="92" y="593"/>
                  </a:lnTo>
                  <a:lnTo>
                    <a:pt x="86" y="593"/>
                  </a:lnTo>
                  <a:lnTo>
                    <a:pt x="80" y="595"/>
                  </a:lnTo>
                  <a:lnTo>
                    <a:pt x="73" y="598"/>
                  </a:lnTo>
                  <a:lnTo>
                    <a:pt x="67" y="601"/>
                  </a:lnTo>
                  <a:lnTo>
                    <a:pt x="55" y="609"/>
                  </a:lnTo>
                  <a:lnTo>
                    <a:pt x="43" y="619"/>
                  </a:lnTo>
                  <a:lnTo>
                    <a:pt x="23" y="640"/>
                  </a:lnTo>
                  <a:lnTo>
                    <a:pt x="23" y="640"/>
                  </a:lnTo>
                  <a:lnTo>
                    <a:pt x="94" y="690"/>
                  </a:lnTo>
                  <a:lnTo>
                    <a:pt x="164" y="739"/>
                  </a:lnTo>
                  <a:lnTo>
                    <a:pt x="310" y="835"/>
                  </a:lnTo>
                  <a:lnTo>
                    <a:pt x="382" y="883"/>
                  </a:lnTo>
                  <a:lnTo>
                    <a:pt x="452" y="932"/>
                  </a:lnTo>
                  <a:lnTo>
                    <a:pt x="488" y="957"/>
                  </a:lnTo>
                  <a:lnTo>
                    <a:pt x="521" y="983"/>
                  </a:lnTo>
                  <a:lnTo>
                    <a:pt x="554" y="1009"/>
                  </a:lnTo>
                  <a:lnTo>
                    <a:pt x="587" y="1034"/>
                  </a:lnTo>
                  <a:lnTo>
                    <a:pt x="587" y="1034"/>
                  </a:lnTo>
                  <a:lnTo>
                    <a:pt x="590" y="1035"/>
                  </a:lnTo>
                  <a:lnTo>
                    <a:pt x="594" y="1035"/>
                  </a:lnTo>
                  <a:lnTo>
                    <a:pt x="601" y="1033"/>
                  </a:lnTo>
                  <a:lnTo>
                    <a:pt x="606" y="1030"/>
                  </a:lnTo>
                  <a:lnTo>
                    <a:pt x="613" y="1026"/>
                  </a:lnTo>
                  <a:lnTo>
                    <a:pt x="626" y="1015"/>
                  </a:lnTo>
                  <a:lnTo>
                    <a:pt x="632" y="1010"/>
                  </a:lnTo>
                  <a:lnTo>
                    <a:pt x="640" y="1007"/>
                  </a:lnTo>
                  <a:lnTo>
                    <a:pt x="640" y="1007"/>
                  </a:lnTo>
                  <a:lnTo>
                    <a:pt x="664" y="997"/>
                  </a:lnTo>
                  <a:lnTo>
                    <a:pt x="685" y="986"/>
                  </a:lnTo>
                  <a:lnTo>
                    <a:pt x="703" y="976"/>
                  </a:lnTo>
                  <a:lnTo>
                    <a:pt x="710" y="969"/>
                  </a:lnTo>
                  <a:lnTo>
                    <a:pt x="717" y="964"/>
                  </a:lnTo>
                  <a:lnTo>
                    <a:pt x="717" y="964"/>
                  </a:lnTo>
                  <a:lnTo>
                    <a:pt x="715" y="961"/>
                  </a:lnTo>
                  <a:lnTo>
                    <a:pt x="713" y="956"/>
                  </a:lnTo>
                  <a:lnTo>
                    <a:pt x="713" y="952"/>
                  </a:lnTo>
                  <a:lnTo>
                    <a:pt x="715" y="948"/>
                  </a:lnTo>
                  <a:lnTo>
                    <a:pt x="715" y="948"/>
                  </a:lnTo>
                  <a:close/>
                  <a:moveTo>
                    <a:pt x="510" y="477"/>
                  </a:moveTo>
                  <a:lnTo>
                    <a:pt x="510" y="477"/>
                  </a:lnTo>
                  <a:lnTo>
                    <a:pt x="495" y="488"/>
                  </a:lnTo>
                  <a:lnTo>
                    <a:pt x="480" y="499"/>
                  </a:lnTo>
                  <a:lnTo>
                    <a:pt x="449" y="520"/>
                  </a:lnTo>
                  <a:lnTo>
                    <a:pt x="417" y="542"/>
                  </a:lnTo>
                  <a:lnTo>
                    <a:pt x="402" y="554"/>
                  </a:lnTo>
                  <a:lnTo>
                    <a:pt x="388" y="565"/>
                  </a:lnTo>
                  <a:lnTo>
                    <a:pt x="388" y="565"/>
                  </a:lnTo>
                  <a:lnTo>
                    <a:pt x="394" y="564"/>
                  </a:lnTo>
                  <a:lnTo>
                    <a:pt x="398" y="564"/>
                  </a:lnTo>
                  <a:lnTo>
                    <a:pt x="402" y="563"/>
                  </a:lnTo>
                  <a:lnTo>
                    <a:pt x="402" y="563"/>
                  </a:lnTo>
                  <a:lnTo>
                    <a:pt x="407" y="572"/>
                  </a:lnTo>
                  <a:lnTo>
                    <a:pt x="412" y="581"/>
                  </a:lnTo>
                  <a:lnTo>
                    <a:pt x="413" y="587"/>
                  </a:lnTo>
                  <a:lnTo>
                    <a:pt x="414" y="592"/>
                  </a:lnTo>
                  <a:lnTo>
                    <a:pt x="414" y="598"/>
                  </a:lnTo>
                  <a:lnTo>
                    <a:pt x="413" y="603"/>
                  </a:lnTo>
                  <a:lnTo>
                    <a:pt x="413" y="603"/>
                  </a:lnTo>
                  <a:lnTo>
                    <a:pt x="420" y="602"/>
                  </a:lnTo>
                  <a:lnTo>
                    <a:pt x="427" y="603"/>
                  </a:lnTo>
                  <a:lnTo>
                    <a:pt x="433" y="604"/>
                  </a:lnTo>
                  <a:lnTo>
                    <a:pt x="439" y="606"/>
                  </a:lnTo>
                  <a:lnTo>
                    <a:pt x="445" y="610"/>
                  </a:lnTo>
                  <a:lnTo>
                    <a:pt x="448" y="616"/>
                  </a:lnTo>
                  <a:lnTo>
                    <a:pt x="451" y="622"/>
                  </a:lnTo>
                  <a:lnTo>
                    <a:pt x="451" y="630"/>
                  </a:lnTo>
                  <a:lnTo>
                    <a:pt x="451" y="630"/>
                  </a:lnTo>
                  <a:lnTo>
                    <a:pt x="455" y="625"/>
                  </a:lnTo>
                  <a:lnTo>
                    <a:pt x="459" y="621"/>
                  </a:lnTo>
                  <a:lnTo>
                    <a:pt x="459" y="621"/>
                  </a:lnTo>
                  <a:lnTo>
                    <a:pt x="537" y="575"/>
                  </a:lnTo>
                  <a:lnTo>
                    <a:pt x="576" y="550"/>
                  </a:lnTo>
                  <a:lnTo>
                    <a:pt x="615" y="525"/>
                  </a:lnTo>
                  <a:lnTo>
                    <a:pt x="615" y="525"/>
                  </a:lnTo>
                  <a:lnTo>
                    <a:pt x="561" y="500"/>
                  </a:lnTo>
                  <a:lnTo>
                    <a:pt x="510" y="477"/>
                  </a:lnTo>
                  <a:lnTo>
                    <a:pt x="510" y="477"/>
                  </a:lnTo>
                  <a:close/>
                  <a:moveTo>
                    <a:pt x="556" y="867"/>
                  </a:moveTo>
                  <a:lnTo>
                    <a:pt x="556" y="867"/>
                  </a:lnTo>
                  <a:lnTo>
                    <a:pt x="555" y="867"/>
                  </a:lnTo>
                  <a:lnTo>
                    <a:pt x="554" y="865"/>
                  </a:lnTo>
                  <a:lnTo>
                    <a:pt x="553" y="861"/>
                  </a:lnTo>
                  <a:lnTo>
                    <a:pt x="553" y="857"/>
                  </a:lnTo>
                  <a:lnTo>
                    <a:pt x="552" y="855"/>
                  </a:lnTo>
                  <a:lnTo>
                    <a:pt x="550" y="853"/>
                  </a:lnTo>
                  <a:lnTo>
                    <a:pt x="550" y="853"/>
                  </a:lnTo>
                  <a:lnTo>
                    <a:pt x="542" y="855"/>
                  </a:lnTo>
                  <a:lnTo>
                    <a:pt x="536" y="853"/>
                  </a:lnTo>
                  <a:lnTo>
                    <a:pt x="529" y="852"/>
                  </a:lnTo>
                  <a:lnTo>
                    <a:pt x="523" y="849"/>
                  </a:lnTo>
                  <a:lnTo>
                    <a:pt x="519" y="845"/>
                  </a:lnTo>
                  <a:lnTo>
                    <a:pt x="514" y="840"/>
                  </a:lnTo>
                  <a:lnTo>
                    <a:pt x="511" y="834"/>
                  </a:lnTo>
                  <a:lnTo>
                    <a:pt x="510" y="827"/>
                  </a:lnTo>
                  <a:lnTo>
                    <a:pt x="510" y="827"/>
                  </a:lnTo>
                  <a:lnTo>
                    <a:pt x="505" y="829"/>
                  </a:lnTo>
                  <a:lnTo>
                    <a:pt x="500" y="831"/>
                  </a:lnTo>
                  <a:lnTo>
                    <a:pt x="496" y="834"/>
                  </a:lnTo>
                  <a:lnTo>
                    <a:pt x="493" y="838"/>
                  </a:lnTo>
                  <a:lnTo>
                    <a:pt x="488" y="847"/>
                  </a:lnTo>
                  <a:lnTo>
                    <a:pt x="482" y="856"/>
                  </a:lnTo>
                  <a:lnTo>
                    <a:pt x="482" y="856"/>
                  </a:lnTo>
                  <a:lnTo>
                    <a:pt x="476" y="864"/>
                  </a:lnTo>
                  <a:lnTo>
                    <a:pt x="472" y="874"/>
                  </a:lnTo>
                  <a:lnTo>
                    <a:pt x="467" y="883"/>
                  </a:lnTo>
                  <a:lnTo>
                    <a:pt x="464" y="894"/>
                  </a:lnTo>
                  <a:lnTo>
                    <a:pt x="464" y="894"/>
                  </a:lnTo>
                  <a:lnTo>
                    <a:pt x="475" y="895"/>
                  </a:lnTo>
                  <a:lnTo>
                    <a:pt x="487" y="894"/>
                  </a:lnTo>
                  <a:lnTo>
                    <a:pt x="498" y="892"/>
                  </a:lnTo>
                  <a:lnTo>
                    <a:pt x="511" y="889"/>
                  </a:lnTo>
                  <a:lnTo>
                    <a:pt x="524" y="885"/>
                  </a:lnTo>
                  <a:lnTo>
                    <a:pt x="536" y="879"/>
                  </a:lnTo>
                  <a:lnTo>
                    <a:pt x="546" y="874"/>
                  </a:lnTo>
                  <a:lnTo>
                    <a:pt x="556" y="867"/>
                  </a:lnTo>
                  <a:lnTo>
                    <a:pt x="556" y="867"/>
                  </a:lnTo>
                  <a:close/>
                  <a:moveTo>
                    <a:pt x="404" y="729"/>
                  </a:moveTo>
                  <a:lnTo>
                    <a:pt x="404" y="729"/>
                  </a:lnTo>
                  <a:lnTo>
                    <a:pt x="405" y="735"/>
                  </a:lnTo>
                  <a:lnTo>
                    <a:pt x="406" y="740"/>
                  </a:lnTo>
                  <a:lnTo>
                    <a:pt x="405" y="752"/>
                  </a:lnTo>
                  <a:lnTo>
                    <a:pt x="405" y="752"/>
                  </a:lnTo>
                  <a:lnTo>
                    <a:pt x="409" y="753"/>
                  </a:lnTo>
                  <a:lnTo>
                    <a:pt x="413" y="752"/>
                  </a:lnTo>
                  <a:lnTo>
                    <a:pt x="420" y="747"/>
                  </a:lnTo>
                  <a:lnTo>
                    <a:pt x="423" y="745"/>
                  </a:lnTo>
                  <a:lnTo>
                    <a:pt x="428" y="743"/>
                  </a:lnTo>
                  <a:lnTo>
                    <a:pt x="433" y="743"/>
                  </a:lnTo>
                  <a:lnTo>
                    <a:pt x="439" y="743"/>
                  </a:lnTo>
                  <a:lnTo>
                    <a:pt x="439" y="743"/>
                  </a:lnTo>
                  <a:lnTo>
                    <a:pt x="443" y="749"/>
                  </a:lnTo>
                  <a:lnTo>
                    <a:pt x="445" y="754"/>
                  </a:lnTo>
                  <a:lnTo>
                    <a:pt x="446" y="759"/>
                  </a:lnTo>
                  <a:lnTo>
                    <a:pt x="446" y="765"/>
                  </a:lnTo>
                  <a:lnTo>
                    <a:pt x="446" y="765"/>
                  </a:lnTo>
                  <a:lnTo>
                    <a:pt x="448" y="765"/>
                  </a:lnTo>
                  <a:lnTo>
                    <a:pt x="450" y="766"/>
                  </a:lnTo>
                  <a:lnTo>
                    <a:pt x="451" y="768"/>
                  </a:lnTo>
                  <a:lnTo>
                    <a:pt x="451" y="768"/>
                  </a:lnTo>
                  <a:lnTo>
                    <a:pt x="472" y="762"/>
                  </a:lnTo>
                  <a:lnTo>
                    <a:pt x="492" y="757"/>
                  </a:lnTo>
                  <a:lnTo>
                    <a:pt x="511" y="752"/>
                  </a:lnTo>
                  <a:lnTo>
                    <a:pt x="520" y="747"/>
                  </a:lnTo>
                  <a:lnTo>
                    <a:pt x="528" y="743"/>
                  </a:lnTo>
                  <a:lnTo>
                    <a:pt x="528" y="743"/>
                  </a:lnTo>
                  <a:lnTo>
                    <a:pt x="536" y="726"/>
                  </a:lnTo>
                  <a:lnTo>
                    <a:pt x="539" y="717"/>
                  </a:lnTo>
                  <a:lnTo>
                    <a:pt x="544" y="710"/>
                  </a:lnTo>
                  <a:lnTo>
                    <a:pt x="544" y="710"/>
                  </a:lnTo>
                  <a:lnTo>
                    <a:pt x="542" y="706"/>
                  </a:lnTo>
                  <a:lnTo>
                    <a:pt x="540" y="702"/>
                  </a:lnTo>
                  <a:lnTo>
                    <a:pt x="539" y="699"/>
                  </a:lnTo>
                  <a:lnTo>
                    <a:pt x="540" y="694"/>
                  </a:lnTo>
                  <a:lnTo>
                    <a:pt x="540" y="694"/>
                  </a:lnTo>
                  <a:lnTo>
                    <a:pt x="535" y="692"/>
                  </a:lnTo>
                  <a:lnTo>
                    <a:pt x="528" y="691"/>
                  </a:lnTo>
                  <a:lnTo>
                    <a:pt x="523" y="691"/>
                  </a:lnTo>
                  <a:lnTo>
                    <a:pt x="518" y="692"/>
                  </a:lnTo>
                  <a:lnTo>
                    <a:pt x="513" y="695"/>
                  </a:lnTo>
                  <a:lnTo>
                    <a:pt x="508" y="698"/>
                  </a:lnTo>
                  <a:lnTo>
                    <a:pt x="498" y="706"/>
                  </a:lnTo>
                  <a:lnTo>
                    <a:pt x="490" y="713"/>
                  </a:lnTo>
                  <a:lnTo>
                    <a:pt x="480" y="721"/>
                  </a:lnTo>
                  <a:lnTo>
                    <a:pt x="475" y="724"/>
                  </a:lnTo>
                  <a:lnTo>
                    <a:pt x="469" y="726"/>
                  </a:lnTo>
                  <a:lnTo>
                    <a:pt x="464" y="727"/>
                  </a:lnTo>
                  <a:lnTo>
                    <a:pt x="459" y="727"/>
                  </a:lnTo>
                  <a:lnTo>
                    <a:pt x="459" y="727"/>
                  </a:lnTo>
                  <a:lnTo>
                    <a:pt x="461" y="724"/>
                  </a:lnTo>
                  <a:lnTo>
                    <a:pt x="464" y="720"/>
                  </a:lnTo>
                  <a:lnTo>
                    <a:pt x="473" y="713"/>
                  </a:lnTo>
                  <a:lnTo>
                    <a:pt x="481" y="707"/>
                  </a:lnTo>
                  <a:lnTo>
                    <a:pt x="491" y="699"/>
                  </a:lnTo>
                  <a:lnTo>
                    <a:pt x="491" y="699"/>
                  </a:lnTo>
                  <a:lnTo>
                    <a:pt x="499" y="691"/>
                  </a:lnTo>
                  <a:lnTo>
                    <a:pt x="508" y="682"/>
                  </a:lnTo>
                  <a:lnTo>
                    <a:pt x="521" y="667"/>
                  </a:lnTo>
                  <a:lnTo>
                    <a:pt x="521" y="667"/>
                  </a:lnTo>
                  <a:lnTo>
                    <a:pt x="528" y="660"/>
                  </a:lnTo>
                  <a:lnTo>
                    <a:pt x="531" y="656"/>
                  </a:lnTo>
                  <a:lnTo>
                    <a:pt x="535" y="653"/>
                  </a:lnTo>
                  <a:lnTo>
                    <a:pt x="536" y="649"/>
                  </a:lnTo>
                  <a:lnTo>
                    <a:pt x="537" y="645"/>
                  </a:lnTo>
                  <a:lnTo>
                    <a:pt x="535" y="640"/>
                  </a:lnTo>
                  <a:lnTo>
                    <a:pt x="531" y="635"/>
                  </a:lnTo>
                  <a:lnTo>
                    <a:pt x="531" y="635"/>
                  </a:lnTo>
                  <a:lnTo>
                    <a:pt x="523" y="635"/>
                  </a:lnTo>
                  <a:lnTo>
                    <a:pt x="515" y="635"/>
                  </a:lnTo>
                  <a:lnTo>
                    <a:pt x="504" y="638"/>
                  </a:lnTo>
                  <a:lnTo>
                    <a:pt x="492" y="641"/>
                  </a:lnTo>
                  <a:lnTo>
                    <a:pt x="485" y="643"/>
                  </a:lnTo>
                  <a:lnTo>
                    <a:pt x="478" y="644"/>
                  </a:lnTo>
                  <a:lnTo>
                    <a:pt x="478" y="644"/>
                  </a:lnTo>
                  <a:lnTo>
                    <a:pt x="473" y="652"/>
                  </a:lnTo>
                  <a:lnTo>
                    <a:pt x="468" y="661"/>
                  </a:lnTo>
                  <a:lnTo>
                    <a:pt x="463" y="670"/>
                  </a:lnTo>
                  <a:lnTo>
                    <a:pt x="457" y="679"/>
                  </a:lnTo>
                  <a:lnTo>
                    <a:pt x="457" y="679"/>
                  </a:lnTo>
                  <a:lnTo>
                    <a:pt x="451" y="688"/>
                  </a:lnTo>
                  <a:lnTo>
                    <a:pt x="445" y="696"/>
                  </a:lnTo>
                  <a:lnTo>
                    <a:pt x="442" y="699"/>
                  </a:lnTo>
                  <a:lnTo>
                    <a:pt x="437" y="701"/>
                  </a:lnTo>
                  <a:lnTo>
                    <a:pt x="433" y="704"/>
                  </a:lnTo>
                  <a:lnTo>
                    <a:pt x="429" y="705"/>
                  </a:lnTo>
                  <a:lnTo>
                    <a:pt x="429" y="705"/>
                  </a:lnTo>
                  <a:lnTo>
                    <a:pt x="438" y="689"/>
                  </a:lnTo>
                  <a:lnTo>
                    <a:pt x="448" y="673"/>
                  </a:lnTo>
                  <a:lnTo>
                    <a:pt x="453" y="665"/>
                  </a:lnTo>
                  <a:lnTo>
                    <a:pt x="458" y="656"/>
                  </a:lnTo>
                  <a:lnTo>
                    <a:pt x="461" y="649"/>
                  </a:lnTo>
                  <a:lnTo>
                    <a:pt x="462" y="640"/>
                  </a:lnTo>
                  <a:lnTo>
                    <a:pt x="462" y="640"/>
                  </a:lnTo>
                  <a:lnTo>
                    <a:pt x="451" y="649"/>
                  </a:lnTo>
                  <a:lnTo>
                    <a:pt x="440" y="659"/>
                  </a:lnTo>
                  <a:lnTo>
                    <a:pt x="431" y="669"/>
                  </a:lnTo>
                  <a:lnTo>
                    <a:pt x="422" y="681"/>
                  </a:lnTo>
                  <a:lnTo>
                    <a:pt x="405" y="705"/>
                  </a:lnTo>
                  <a:lnTo>
                    <a:pt x="397" y="716"/>
                  </a:lnTo>
                  <a:lnTo>
                    <a:pt x="388" y="727"/>
                  </a:lnTo>
                  <a:lnTo>
                    <a:pt x="388" y="727"/>
                  </a:lnTo>
                  <a:lnTo>
                    <a:pt x="390" y="726"/>
                  </a:lnTo>
                  <a:lnTo>
                    <a:pt x="393" y="726"/>
                  </a:lnTo>
                  <a:lnTo>
                    <a:pt x="398" y="727"/>
                  </a:lnTo>
                  <a:lnTo>
                    <a:pt x="401" y="729"/>
                  </a:lnTo>
                  <a:lnTo>
                    <a:pt x="403" y="729"/>
                  </a:lnTo>
                  <a:lnTo>
                    <a:pt x="404" y="729"/>
                  </a:lnTo>
                  <a:lnTo>
                    <a:pt x="404" y="729"/>
                  </a:lnTo>
                  <a:close/>
                  <a:moveTo>
                    <a:pt x="450" y="783"/>
                  </a:moveTo>
                  <a:lnTo>
                    <a:pt x="450" y="783"/>
                  </a:lnTo>
                  <a:lnTo>
                    <a:pt x="457" y="785"/>
                  </a:lnTo>
                  <a:lnTo>
                    <a:pt x="462" y="788"/>
                  </a:lnTo>
                  <a:lnTo>
                    <a:pt x="472" y="795"/>
                  </a:lnTo>
                  <a:lnTo>
                    <a:pt x="482" y="802"/>
                  </a:lnTo>
                  <a:lnTo>
                    <a:pt x="489" y="804"/>
                  </a:lnTo>
                  <a:lnTo>
                    <a:pt x="496" y="805"/>
                  </a:lnTo>
                  <a:lnTo>
                    <a:pt x="496" y="805"/>
                  </a:lnTo>
                  <a:lnTo>
                    <a:pt x="497" y="800"/>
                  </a:lnTo>
                  <a:lnTo>
                    <a:pt x="499" y="794"/>
                  </a:lnTo>
                  <a:lnTo>
                    <a:pt x="505" y="785"/>
                  </a:lnTo>
                  <a:lnTo>
                    <a:pt x="510" y="775"/>
                  </a:lnTo>
                  <a:lnTo>
                    <a:pt x="512" y="770"/>
                  </a:lnTo>
                  <a:lnTo>
                    <a:pt x="514" y="765"/>
                  </a:lnTo>
                  <a:lnTo>
                    <a:pt x="514" y="765"/>
                  </a:lnTo>
                  <a:lnTo>
                    <a:pt x="482" y="772"/>
                  </a:lnTo>
                  <a:lnTo>
                    <a:pt x="466" y="776"/>
                  </a:lnTo>
                  <a:lnTo>
                    <a:pt x="450" y="783"/>
                  </a:lnTo>
                  <a:lnTo>
                    <a:pt x="450" y="783"/>
                  </a:lnTo>
                  <a:close/>
                  <a:moveTo>
                    <a:pt x="420" y="525"/>
                  </a:moveTo>
                  <a:lnTo>
                    <a:pt x="420" y="525"/>
                  </a:lnTo>
                  <a:lnTo>
                    <a:pt x="439" y="512"/>
                  </a:lnTo>
                  <a:lnTo>
                    <a:pt x="460" y="499"/>
                  </a:lnTo>
                  <a:lnTo>
                    <a:pt x="469" y="493"/>
                  </a:lnTo>
                  <a:lnTo>
                    <a:pt x="478" y="485"/>
                  </a:lnTo>
                  <a:lnTo>
                    <a:pt x="485" y="478"/>
                  </a:lnTo>
                  <a:lnTo>
                    <a:pt x="493" y="469"/>
                  </a:lnTo>
                  <a:lnTo>
                    <a:pt x="493" y="469"/>
                  </a:lnTo>
                  <a:lnTo>
                    <a:pt x="493" y="466"/>
                  </a:lnTo>
                  <a:lnTo>
                    <a:pt x="493" y="466"/>
                  </a:lnTo>
                  <a:lnTo>
                    <a:pt x="461" y="452"/>
                  </a:lnTo>
                  <a:lnTo>
                    <a:pt x="430" y="436"/>
                  </a:lnTo>
                  <a:lnTo>
                    <a:pt x="400" y="421"/>
                  </a:lnTo>
                  <a:lnTo>
                    <a:pt x="368" y="406"/>
                  </a:lnTo>
                  <a:lnTo>
                    <a:pt x="368" y="406"/>
                  </a:lnTo>
                  <a:lnTo>
                    <a:pt x="342" y="424"/>
                  </a:lnTo>
                  <a:lnTo>
                    <a:pt x="314" y="442"/>
                  </a:lnTo>
                  <a:lnTo>
                    <a:pt x="285" y="459"/>
                  </a:lnTo>
                  <a:lnTo>
                    <a:pt x="256" y="474"/>
                  </a:lnTo>
                  <a:lnTo>
                    <a:pt x="256" y="474"/>
                  </a:lnTo>
                  <a:lnTo>
                    <a:pt x="258" y="480"/>
                  </a:lnTo>
                  <a:lnTo>
                    <a:pt x="262" y="483"/>
                  </a:lnTo>
                  <a:lnTo>
                    <a:pt x="266" y="484"/>
                  </a:lnTo>
                  <a:lnTo>
                    <a:pt x="270" y="485"/>
                  </a:lnTo>
                  <a:lnTo>
                    <a:pt x="280" y="486"/>
                  </a:lnTo>
                  <a:lnTo>
                    <a:pt x="284" y="487"/>
                  </a:lnTo>
                  <a:lnTo>
                    <a:pt x="288" y="489"/>
                  </a:lnTo>
                  <a:lnTo>
                    <a:pt x="288" y="489"/>
                  </a:lnTo>
                  <a:lnTo>
                    <a:pt x="292" y="493"/>
                  </a:lnTo>
                  <a:lnTo>
                    <a:pt x="295" y="497"/>
                  </a:lnTo>
                  <a:lnTo>
                    <a:pt x="297" y="502"/>
                  </a:lnTo>
                  <a:lnTo>
                    <a:pt x="298" y="508"/>
                  </a:lnTo>
                  <a:lnTo>
                    <a:pt x="300" y="519"/>
                  </a:lnTo>
                  <a:lnTo>
                    <a:pt x="304" y="533"/>
                  </a:lnTo>
                  <a:lnTo>
                    <a:pt x="304" y="533"/>
                  </a:lnTo>
                  <a:lnTo>
                    <a:pt x="315" y="531"/>
                  </a:lnTo>
                  <a:lnTo>
                    <a:pt x="326" y="531"/>
                  </a:lnTo>
                  <a:lnTo>
                    <a:pt x="334" y="532"/>
                  </a:lnTo>
                  <a:lnTo>
                    <a:pt x="341" y="535"/>
                  </a:lnTo>
                  <a:lnTo>
                    <a:pt x="346" y="540"/>
                  </a:lnTo>
                  <a:lnTo>
                    <a:pt x="351" y="546"/>
                  </a:lnTo>
                  <a:lnTo>
                    <a:pt x="353" y="554"/>
                  </a:lnTo>
                  <a:lnTo>
                    <a:pt x="354" y="563"/>
                  </a:lnTo>
                  <a:lnTo>
                    <a:pt x="354" y="563"/>
                  </a:lnTo>
                  <a:lnTo>
                    <a:pt x="363" y="561"/>
                  </a:lnTo>
                  <a:lnTo>
                    <a:pt x="372" y="557"/>
                  </a:lnTo>
                  <a:lnTo>
                    <a:pt x="379" y="553"/>
                  </a:lnTo>
                  <a:lnTo>
                    <a:pt x="388" y="547"/>
                  </a:lnTo>
                  <a:lnTo>
                    <a:pt x="404" y="535"/>
                  </a:lnTo>
                  <a:lnTo>
                    <a:pt x="420" y="525"/>
                  </a:lnTo>
                  <a:lnTo>
                    <a:pt x="420" y="525"/>
                  </a:lnTo>
                  <a:close/>
                  <a:moveTo>
                    <a:pt x="430" y="628"/>
                  </a:moveTo>
                  <a:lnTo>
                    <a:pt x="430" y="628"/>
                  </a:lnTo>
                  <a:lnTo>
                    <a:pt x="433" y="628"/>
                  </a:lnTo>
                  <a:lnTo>
                    <a:pt x="435" y="625"/>
                  </a:lnTo>
                  <a:lnTo>
                    <a:pt x="435" y="623"/>
                  </a:lnTo>
                  <a:lnTo>
                    <a:pt x="434" y="620"/>
                  </a:lnTo>
                  <a:lnTo>
                    <a:pt x="432" y="618"/>
                  </a:lnTo>
                  <a:lnTo>
                    <a:pt x="429" y="615"/>
                  </a:lnTo>
                  <a:lnTo>
                    <a:pt x="425" y="614"/>
                  </a:lnTo>
                  <a:lnTo>
                    <a:pt x="421" y="614"/>
                  </a:lnTo>
                  <a:lnTo>
                    <a:pt x="421" y="614"/>
                  </a:lnTo>
                  <a:lnTo>
                    <a:pt x="414" y="619"/>
                  </a:lnTo>
                  <a:lnTo>
                    <a:pt x="405" y="625"/>
                  </a:lnTo>
                  <a:lnTo>
                    <a:pt x="389" y="639"/>
                  </a:lnTo>
                  <a:lnTo>
                    <a:pt x="381" y="646"/>
                  </a:lnTo>
                  <a:lnTo>
                    <a:pt x="373" y="650"/>
                  </a:lnTo>
                  <a:lnTo>
                    <a:pt x="366" y="653"/>
                  </a:lnTo>
                  <a:lnTo>
                    <a:pt x="361" y="653"/>
                  </a:lnTo>
                  <a:lnTo>
                    <a:pt x="357" y="652"/>
                  </a:lnTo>
                  <a:lnTo>
                    <a:pt x="357" y="652"/>
                  </a:lnTo>
                  <a:lnTo>
                    <a:pt x="368" y="643"/>
                  </a:lnTo>
                  <a:lnTo>
                    <a:pt x="378" y="634"/>
                  </a:lnTo>
                  <a:lnTo>
                    <a:pt x="389" y="625"/>
                  </a:lnTo>
                  <a:lnTo>
                    <a:pt x="400" y="617"/>
                  </a:lnTo>
                  <a:lnTo>
                    <a:pt x="400" y="617"/>
                  </a:lnTo>
                  <a:lnTo>
                    <a:pt x="399" y="606"/>
                  </a:lnTo>
                  <a:lnTo>
                    <a:pt x="399" y="599"/>
                  </a:lnTo>
                  <a:lnTo>
                    <a:pt x="399" y="595"/>
                  </a:lnTo>
                  <a:lnTo>
                    <a:pt x="400" y="592"/>
                  </a:lnTo>
                  <a:lnTo>
                    <a:pt x="400" y="592"/>
                  </a:lnTo>
                  <a:lnTo>
                    <a:pt x="391" y="598"/>
                  </a:lnTo>
                  <a:lnTo>
                    <a:pt x="384" y="604"/>
                  </a:lnTo>
                  <a:lnTo>
                    <a:pt x="367" y="621"/>
                  </a:lnTo>
                  <a:lnTo>
                    <a:pt x="358" y="630"/>
                  </a:lnTo>
                  <a:lnTo>
                    <a:pt x="348" y="636"/>
                  </a:lnTo>
                  <a:lnTo>
                    <a:pt x="344" y="638"/>
                  </a:lnTo>
                  <a:lnTo>
                    <a:pt x="339" y="640"/>
                  </a:lnTo>
                  <a:lnTo>
                    <a:pt x="334" y="641"/>
                  </a:lnTo>
                  <a:lnTo>
                    <a:pt x="329" y="641"/>
                  </a:lnTo>
                  <a:lnTo>
                    <a:pt x="329" y="641"/>
                  </a:lnTo>
                  <a:lnTo>
                    <a:pt x="344" y="626"/>
                  </a:lnTo>
                  <a:lnTo>
                    <a:pt x="360" y="613"/>
                  </a:lnTo>
                  <a:lnTo>
                    <a:pt x="374" y="596"/>
                  </a:lnTo>
                  <a:lnTo>
                    <a:pt x="382" y="589"/>
                  </a:lnTo>
                  <a:lnTo>
                    <a:pt x="388" y="579"/>
                  </a:lnTo>
                  <a:lnTo>
                    <a:pt x="388" y="579"/>
                  </a:lnTo>
                  <a:lnTo>
                    <a:pt x="382" y="579"/>
                  </a:lnTo>
                  <a:lnTo>
                    <a:pt x="377" y="578"/>
                  </a:lnTo>
                  <a:lnTo>
                    <a:pt x="372" y="578"/>
                  </a:lnTo>
                  <a:lnTo>
                    <a:pt x="367" y="578"/>
                  </a:lnTo>
                  <a:lnTo>
                    <a:pt x="367" y="578"/>
                  </a:lnTo>
                  <a:lnTo>
                    <a:pt x="366" y="580"/>
                  </a:lnTo>
                  <a:lnTo>
                    <a:pt x="364" y="581"/>
                  </a:lnTo>
                  <a:lnTo>
                    <a:pt x="361" y="583"/>
                  </a:lnTo>
                  <a:lnTo>
                    <a:pt x="357" y="584"/>
                  </a:lnTo>
                  <a:lnTo>
                    <a:pt x="352" y="585"/>
                  </a:lnTo>
                  <a:lnTo>
                    <a:pt x="352" y="585"/>
                  </a:lnTo>
                  <a:lnTo>
                    <a:pt x="348" y="588"/>
                  </a:lnTo>
                  <a:lnTo>
                    <a:pt x="345" y="593"/>
                  </a:lnTo>
                  <a:lnTo>
                    <a:pt x="338" y="604"/>
                  </a:lnTo>
                  <a:lnTo>
                    <a:pt x="330" y="617"/>
                  </a:lnTo>
                  <a:lnTo>
                    <a:pt x="322" y="628"/>
                  </a:lnTo>
                  <a:lnTo>
                    <a:pt x="322" y="628"/>
                  </a:lnTo>
                  <a:lnTo>
                    <a:pt x="315" y="634"/>
                  </a:lnTo>
                  <a:lnTo>
                    <a:pt x="310" y="639"/>
                  </a:lnTo>
                  <a:lnTo>
                    <a:pt x="307" y="643"/>
                  </a:lnTo>
                  <a:lnTo>
                    <a:pt x="306" y="646"/>
                  </a:lnTo>
                  <a:lnTo>
                    <a:pt x="306" y="649"/>
                  </a:lnTo>
                  <a:lnTo>
                    <a:pt x="306" y="654"/>
                  </a:lnTo>
                  <a:lnTo>
                    <a:pt x="306" y="654"/>
                  </a:lnTo>
                  <a:lnTo>
                    <a:pt x="310" y="653"/>
                  </a:lnTo>
                  <a:lnTo>
                    <a:pt x="313" y="653"/>
                  </a:lnTo>
                  <a:lnTo>
                    <a:pt x="318" y="655"/>
                  </a:lnTo>
                  <a:lnTo>
                    <a:pt x="323" y="656"/>
                  </a:lnTo>
                  <a:lnTo>
                    <a:pt x="326" y="656"/>
                  </a:lnTo>
                  <a:lnTo>
                    <a:pt x="329" y="656"/>
                  </a:lnTo>
                  <a:lnTo>
                    <a:pt x="329" y="656"/>
                  </a:lnTo>
                  <a:lnTo>
                    <a:pt x="331" y="662"/>
                  </a:lnTo>
                  <a:lnTo>
                    <a:pt x="331" y="666"/>
                  </a:lnTo>
                  <a:lnTo>
                    <a:pt x="331" y="670"/>
                  </a:lnTo>
                  <a:lnTo>
                    <a:pt x="334" y="674"/>
                  </a:lnTo>
                  <a:lnTo>
                    <a:pt x="334" y="674"/>
                  </a:lnTo>
                  <a:lnTo>
                    <a:pt x="358" y="666"/>
                  </a:lnTo>
                  <a:lnTo>
                    <a:pt x="383" y="658"/>
                  </a:lnTo>
                  <a:lnTo>
                    <a:pt x="407" y="650"/>
                  </a:lnTo>
                  <a:lnTo>
                    <a:pt x="429" y="641"/>
                  </a:lnTo>
                  <a:lnTo>
                    <a:pt x="429" y="641"/>
                  </a:lnTo>
                  <a:lnTo>
                    <a:pt x="429" y="633"/>
                  </a:lnTo>
                  <a:lnTo>
                    <a:pt x="430" y="628"/>
                  </a:lnTo>
                  <a:lnTo>
                    <a:pt x="430" y="628"/>
                  </a:lnTo>
                  <a:close/>
                  <a:moveTo>
                    <a:pt x="434" y="768"/>
                  </a:moveTo>
                  <a:lnTo>
                    <a:pt x="434" y="768"/>
                  </a:lnTo>
                  <a:lnTo>
                    <a:pt x="434" y="765"/>
                  </a:lnTo>
                  <a:lnTo>
                    <a:pt x="433" y="762"/>
                  </a:lnTo>
                  <a:lnTo>
                    <a:pt x="432" y="760"/>
                  </a:lnTo>
                  <a:lnTo>
                    <a:pt x="430" y="757"/>
                  </a:lnTo>
                  <a:lnTo>
                    <a:pt x="430" y="757"/>
                  </a:lnTo>
                  <a:lnTo>
                    <a:pt x="424" y="761"/>
                  </a:lnTo>
                  <a:lnTo>
                    <a:pt x="417" y="764"/>
                  </a:lnTo>
                  <a:lnTo>
                    <a:pt x="408" y="766"/>
                  </a:lnTo>
                  <a:lnTo>
                    <a:pt x="401" y="766"/>
                  </a:lnTo>
                  <a:lnTo>
                    <a:pt x="394" y="764"/>
                  </a:lnTo>
                  <a:lnTo>
                    <a:pt x="392" y="761"/>
                  </a:lnTo>
                  <a:lnTo>
                    <a:pt x="390" y="759"/>
                  </a:lnTo>
                  <a:lnTo>
                    <a:pt x="389" y="756"/>
                  </a:lnTo>
                  <a:lnTo>
                    <a:pt x="389" y="753"/>
                  </a:lnTo>
                  <a:lnTo>
                    <a:pt x="390" y="749"/>
                  </a:lnTo>
                  <a:lnTo>
                    <a:pt x="393" y="743"/>
                  </a:lnTo>
                  <a:lnTo>
                    <a:pt x="393" y="743"/>
                  </a:lnTo>
                  <a:lnTo>
                    <a:pt x="382" y="746"/>
                  </a:lnTo>
                  <a:lnTo>
                    <a:pt x="372" y="750"/>
                  </a:lnTo>
                  <a:lnTo>
                    <a:pt x="362" y="755"/>
                  </a:lnTo>
                  <a:lnTo>
                    <a:pt x="354" y="760"/>
                  </a:lnTo>
                  <a:lnTo>
                    <a:pt x="347" y="768"/>
                  </a:lnTo>
                  <a:lnTo>
                    <a:pt x="341" y="776"/>
                  </a:lnTo>
                  <a:lnTo>
                    <a:pt x="337" y="787"/>
                  </a:lnTo>
                  <a:lnTo>
                    <a:pt x="332" y="799"/>
                  </a:lnTo>
                  <a:lnTo>
                    <a:pt x="332" y="799"/>
                  </a:lnTo>
                  <a:lnTo>
                    <a:pt x="359" y="795"/>
                  </a:lnTo>
                  <a:lnTo>
                    <a:pt x="385" y="788"/>
                  </a:lnTo>
                  <a:lnTo>
                    <a:pt x="398" y="784"/>
                  </a:lnTo>
                  <a:lnTo>
                    <a:pt x="409" y="780"/>
                  </a:lnTo>
                  <a:lnTo>
                    <a:pt x="422" y="774"/>
                  </a:lnTo>
                  <a:lnTo>
                    <a:pt x="434" y="768"/>
                  </a:lnTo>
                  <a:lnTo>
                    <a:pt x="434" y="768"/>
                  </a:lnTo>
                  <a:close/>
                  <a:moveTo>
                    <a:pt x="316" y="700"/>
                  </a:moveTo>
                  <a:lnTo>
                    <a:pt x="316" y="700"/>
                  </a:lnTo>
                  <a:lnTo>
                    <a:pt x="329" y="708"/>
                  </a:lnTo>
                  <a:lnTo>
                    <a:pt x="342" y="715"/>
                  </a:lnTo>
                  <a:lnTo>
                    <a:pt x="354" y="724"/>
                  </a:lnTo>
                  <a:lnTo>
                    <a:pt x="367" y="731"/>
                  </a:lnTo>
                  <a:lnTo>
                    <a:pt x="367" y="731"/>
                  </a:lnTo>
                  <a:lnTo>
                    <a:pt x="382" y="713"/>
                  </a:lnTo>
                  <a:lnTo>
                    <a:pt x="395" y="696"/>
                  </a:lnTo>
                  <a:lnTo>
                    <a:pt x="423" y="660"/>
                  </a:lnTo>
                  <a:lnTo>
                    <a:pt x="423" y="660"/>
                  </a:lnTo>
                  <a:lnTo>
                    <a:pt x="393" y="667"/>
                  </a:lnTo>
                  <a:lnTo>
                    <a:pt x="366" y="676"/>
                  </a:lnTo>
                  <a:lnTo>
                    <a:pt x="352" y="681"/>
                  </a:lnTo>
                  <a:lnTo>
                    <a:pt x="339" y="686"/>
                  </a:lnTo>
                  <a:lnTo>
                    <a:pt x="327" y="693"/>
                  </a:lnTo>
                  <a:lnTo>
                    <a:pt x="316" y="700"/>
                  </a:lnTo>
                  <a:lnTo>
                    <a:pt x="316" y="700"/>
                  </a:lnTo>
                  <a:close/>
                  <a:moveTo>
                    <a:pt x="246" y="345"/>
                  </a:moveTo>
                  <a:lnTo>
                    <a:pt x="246" y="345"/>
                  </a:lnTo>
                  <a:lnTo>
                    <a:pt x="239" y="353"/>
                  </a:lnTo>
                  <a:lnTo>
                    <a:pt x="231" y="360"/>
                  </a:lnTo>
                  <a:lnTo>
                    <a:pt x="222" y="365"/>
                  </a:lnTo>
                  <a:lnTo>
                    <a:pt x="212" y="371"/>
                  </a:lnTo>
                  <a:lnTo>
                    <a:pt x="193" y="380"/>
                  </a:lnTo>
                  <a:lnTo>
                    <a:pt x="183" y="386"/>
                  </a:lnTo>
                  <a:lnTo>
                    <a:pt x="174" y="391"/>
                  </a:lnTo>
                  <a:lnTo>
                    <a:pt x="174" y="391"/>
                  </a:lnTo>
                  <a:lnTo>
                    <a:pt x="195" y="416"/>
                  </a:lnTo>
                  <a:lnTo>
                    <a:pt x="204" y="429"/>
                  </a:lnTo>
                  <a:lnTo>
                    <a:pt x="208" y="437"/>
                  </a:lnTo>
                  <a:lnTo>
                    <a:pt x="211" y="444"/>
                  </a:lnTo>
                  <a:lnTo>
                    <a:pt x="211" y="444"/>
                  </a:lnTo>
                  <a:lnTo>
                    <a:pt x="213" y="446"/>
                  </a:lnTo>
                  <a:lnTo>
                    <a:pt x="216" y="446"/>
                  </a:lnTo>
                  <a:lnTo>
                    <a:pt x="219" y="443"/>
                  </a:lnTo>
                  <a:lnTo>
                    <a:pt x="223" y="441"/>
                  </a:lnTo>
                  <a:lnTo>
                    <a:pt x="225" y="441"/>
                  </a:lnTo>
                  <a:lnTo>
                    <a:pt x="227" y="443"/>
                  </a:lnTo>
                  <a:lnTo>
                    <a:pt x="227" y="443"/>
                  </a:lnTo>
                  <a:lnTo>
                    <a:pt x="236" y="453"/>
                  </a:lnTo>
                  <a:lnTo>
                    <a:pt x="240" y="457"/>
                  </a:lnTo>
                  <a:lnTo>
                    <a:pt x="246" y="461"/>
                  </a:lnTo>
                  <a:lnTo>
                    <a:pt x="246" y="461"/>
                  </a:lnTo>
                  <a:lnTo>
                    <a:pt x="262" y="455"/>
                  </a:lnTo>
                  <a:lnTo>
                    <a:pt x="277" y="450"/>
                  </a:lnTo>
                  <a:lnTo>
                    <a:pt x="292" y="442"/>
                  </a:lnTo>
                  <a:lnTo>
                    <a:pt x="306" y="435"/>
                  </a:lnTo>
                  <a:lnTo>
                    <a:pt x="318" y="426"/>
                  </a:lnTo>
                  <a:lnTo>
                    <a:pt x="331" y="417"/>
                  </a:lnTo>
                  <a:lnTo>
                    <a:pt x="343" y="407"/>
                  </a:lnTo>
                  <a:lnTo>
                    <a:pt x="354" y="396"/>
                  </a:lnTo>
                  <a:lnTo>
                    <a:pt x="354" y="396"/>
                  </a:lnTo>
                  <a:lnTo>
                    <a:pt x="246" y="345"/>
                  </a:lnTo>
                  <a:lnTo>
                    <a:pt x="246" y="345"/>
                  </a:lnTo>
                  <a:close/>
                  <a:moveTo>
                    <a:pt x="295" y="547"/>
                  </a:moveTo>
                  <a:lnTo>
                    <a:pt x="295" y="547"/>
                  </a:lnTo>
                  <a:lnTo>
                    <a:pt x="293" y="545"/>
                  </a:lnTo>
                  <a:lnTo>
                    <a:pt x="292" y="542"/>
                  </a:lnTo>
                  <a:lnTo>
                    <a:pt x="289" y="534"/>
                  </a:lnTo>
                  <a:lnTo>
                    <a:pt x="286" y="517"/>
                  </a:lnTo>
                  <a:lnTo>
                    <a:pt x="284" y="510"/>
                  </a:lnTo>
                  <a:lnTo>
                    <a:pt x="281" y="503"/>
                  </a:lnTo>
                  <a:lnTo>
                    <a:pt x="279" y="501"/>
                  </a:lnTo>
                  <a:lnTo>
                    <a:pt x="276" y="500"/>
                  </a:lnTo>
                  <a:lnTo>
                    <a:pt x="272" y="499"/>
                  </a:lnTo>
                  <a:lnTo>
                    <a:pt x="268" y="500"/>
                  </a:lnTo>
                  <a:lnTo>
                    <a:pt x="268" y="500"/>
                  </a:lnTo>
                  <a:lnTo>
                    <a:pt x="265" y="507"/>
                  </a:lnTo>
                  <a:lnTo>
                    <a:pt x="261" y="514"/>
                  </a:lnTo>
                  <a:lnTo>
                    <a:pt x="256" y="519"/>
                  </a:lnTo>
                  <a:lnTo>
                    <a:pt x="251" y="525"/>
                  </a:lnTo>
                  <a:lnTo>
                    <a:pt x="239" y="534"/>
                  </a:lnTo>
                  <a:lnTo>
                    <a:pt x="227" y="544"/>
                  </a:lnTo>
                  <a:lnTo>
                    <a:pt x="227" y="544"/>
                  </a:lnTo>
                  <a:lnTo>
                    <a:pt x="230" y="535"/>
                  </a:lnTo>
                  <a:lnTo>
                    <a:pt x="234" y="529"/>
                  </a:lnTo>
                  <a:lnTo>
                    <a:pt x="238" y="523"/>
                  </a:lnTo>
                  <a:lnTo>
                    <a:pt x="242" y="516"/>
                  </a:lnTo>
                  <a:lnTo>
                    <a:pt x="254" y="507"/>
                  </a:lnTo>
                  <a:lnTo>
                    <a:pt x="267" y="498"/>
                  </a:lnTo>
                  <a:lnTo>
                    <a:pt x="267" y="498"/>
                  </a:lnTo>
                  <a:lnTo>
                    <a:pt x="250" y="496"/>
                  </a:lnTo>
                  <a:lnTo>
                    <a:pt x="245" y="495"/>
                  </a:lnTo>
                  <a:lnTo>
                    <a:pt x="238" y="493"/>
                  </a:lnTo>
                  <a:lnTo>
                    <a:pt x="238" y="493"/>
                  </a:lnTo>
                  <a:lnTo>
                    <a:pt x="228" y="501"/>
                  </a:lnTo>
                  <a:lnTo>
                    <a:pt x="220" y="511"/>
                  </a:lnTo>
                  <a:lnTo>
                    <a:pt x="204" y="530"/>
                  </a:lnTo>
                  <a:lnTo>
                    <a:pt x="188" y="549"/>
                  </a:lnTo>
                  <a:lnTo>
                    <a:pt x="178" y="559"/>
                  </a:lnTo>
                  <a:lnTo>
                    <a:pt x="169" y="568"/>
                  </a:lnTo>
                  <a:lnTo>
                    <a:pt x="169" y="568"/>
                  </a:lnTo>
                  <a:lnTo>
                    <a:pt x="172" y="578"/>
                  </a:lnTo>
                  <a:lnTo>
                    <a:pt x="173" y="587"/>
                  </a:lnTo>
                  <a:lnTo>
                    <a:pt x="173" y="587"/>
                  </a:lnTo>
                  <a:lnTo>
                    <a:pt x="179" y="586"/>
                  </a:lnTo>
                  <a:lnTo>
                    <a:pt x="186" y="584"/>
                  </a:lnTo>
                  <a:lnTo>
                    <a:pt x="191" y="579"/>
                  </a:lnTo>
                  <a:lnTo>
                    <a:pt x="196" y="575"/>
                  </a:lnTo>
                  <a:lnTo>
                    <a:pt x="202" y="570"/>
                  </a:lnTo>
                  <a:lnTo>
                    <a:pt x="207" y="567"/>
                  </a:lnTo>
                  <a:lnTo>
                    <a:pt x="212" y="563"/>
                  </a:lnTo>
                  <a:lnTo>
                    <a:pt x="219" y="562"/>
                  </a:lnTo>
                  <a:lnTo>
                    <a:pt x="219" y="562"/>
                  </a:lnTo>
                  <a:lnTo>
                    <a:pt x="217" y="568"/>
                  </a:lnTo>
                  <a:lnTo>
                    <a:pt x="213" y="572"/>
                  </a:lnTo>
                  <a:lnTo>
                    <a:pt x="206" y="579"/>
                  </a:lnTo>
                  <a:lnTo>
                    <a:pt x="197" y="587"/>
                  </a:lnTo>
                  <a:lnTo>
                    <a:pt x="194" y="591"/>
                  </a:lnTo>
                  <a:lnTo>
                    <a:pt x="192" y="595"/>
                  </a:lnTo>
                  <a:lnTo>
                    <a:pt x="192" y="595"/>
                  </a:lnTo>
                  <a:lnTo>
                    <a:pt x="195" y="595"/>
                  </a:lnTo>
                  <a:lnTo>
                    <a:pt x="198" y="596"/>
                  </a:lnTo>
                  <a:lnTo>
                    <a:pt x="200" y="599"/>
                  </a:lnTo>
                  <a:lnTo>
                    <a:pt x="201" y="601"/>
                  </a:lnTo>
                  <a:lnTo>
                    <a:pt x="201" y="601"/>
                  </a:lnTo>
                  <a:lnTo>
                    <a:pt x="235" y="593"/>
                  </a:lnTo>
                  <a:lnTo>
                    <a:pt x="267" y="585"/>
                  </a:lnTo>
                  <a:lnTo>
                    <a:pt x="298" y="574"/>
                  </a:lnTo>
                  <a:lnTo>
                    <a:pt x="329" y="563"/>
                  </a:lnTo>
                  <a:lnTo>
                    <a:pt x="329" y="563"/>
                  </a:lnTo>
                  <a:lnTo>
                    <a:pt x="332" y="555"/>
                  </a:lnTo>
                  <a:lnTo>
                    <a:pt x="333" y="550"/>
                  </a:lnTo>
                  <a:lnTo>
                    <a:pt x="336" y="546"/>
                  </a:lnTo>
                  <a:lnTo>
                    <a:pt x="336" y="546"/>
                  </a:lnTo>
                  <a:lnTo>
                    <a:pt x="316" y="547"/>
                  </a:lnTo>
                  <a:lnTo>
                    <a:pt x="306" y="548"/>
                  </a:lnTo>
                  <a:lnTo>
                    <a:pt x="295" y="547"/>
                  </a:lnTo>
                  <a:lnTo>
                    <a:pt x="295" y="547"/>
                  </a:lnTo>
                  <a:close/>
                  <a:moveTo>
                    <a:pt x="230" y="610"/>
                  </a:moveTo>
                  <a:lnTo>
                    <a:pt x="230" y="610"/>
                  </a:lnTo>
                  <a:lnTo>
                    <a:pt x="206" y="616"/>
                  </a:lnTo>
                  <a:lnTo>
                    <a:pt x="195" y="620"/>
                  </a:lnTo>
                  <a:lnTo>
                    <a:pt x="191" y="622"/>
                  </a:lnTo>
                  <a:lnTo>
                    <a:pt x="187" y="626"/>
                  </a:lnTo>
                  <a:lnTo>
                    <a:pt x="187" y="626"/>
                  </a:lnTo>
                  <a:lnTo>
                    <a:pt x="200" y="635"/>
                  </a:lnTo>
                  <a:lnTo>
                    <a:pt x="215" y="644"/>
                  </a:lnTo>
                  <a:lnTo>
                    <a:pt x="230" y="651"/>
                  </a:lnTo>
                  <a:lnTo>
                    <a:pt x="243" y="658"/>
                  </a:lnTo>
                  <a:lnTo>
                    <a:pt x="243" y="658"/>
                  </a:lnTo>
                  <a:lnTo>
                    <a:pt x="252" y="664"/>
                  </a:lnTo>
                  <a:lnTo>
                    <a:pt x="257" y="667"/>
                  </a:lnTo>
                  <a:lnTo>
                    <a:pt x="260" y="668"/>
                  </a:lnTo>
                  <a:lnTo>
                    <a:pt x="262" y="668"/>
                  </a:lnTo>
                  <a:lnTo>
                    <a:pt x="262" y="668"/>
                  </a:lnTo>
                  <a:lnTo>
                    <a:pt x="263" y="668"/>
                  </a:lnTo>
                  <a:lnTo>
                    <a:pt x="264" y="666"/>
                  </a:lnTo>
                  <a:lnTo>
                    <a:pt x="267" y="662"/>
                  </a:lnTo>
                  <a:lnTo>
                    <a:pt x="269" y="655"/>
                  </a:lnTo>
                  <a:lnTo>
                    <a:pt x="273" y="651"/>
                  </a:lnTo>
                  <a:lnTo>
                    <a:pt x="273" y="651"/>
                  </a:lnTo>
                  <a:lnTo>
                    <a:pt x="291" y="637"/>
                  </a:lnTo>
                  <a:lnTo>
                    <a:pt x="308" y="620"/>
                  </a:lnTo>
                  <a:lnTo>
                    <a:pt x="316" y="610"/>
                  </a:lnTo>
                  <a:lnTo>
                    <a:pt x="323" y="601"/>
                  </a:lnTo>
                  <a:lnTo>
                    <a:pt x="329" y="590"/>
                  </a:lnTo>
                  <a:lnTo>
                    <a:pt x="334" y="579"/>
                  </a:lnTo>
                  <a:lnTo>
                    <a:pt x="334" y="579"/>
                  </a:lnTo>
                  <a:lnTo>
                    <a:pt x="322" y="580"/>
                  </a:lnTo>
                  <a:lnTo>
                    <a:pt x="308" y="583"/>
                  </a:lnTo>
                  <a:lnTo>
                    <a:pt x="295" y="586"/>
                  </a:lnTo>
                  <a:lnTo>
                    <a:pt x="282" y="591"/>
                  </a:lnTo>
                  <a:lnTo>
                    <a:pt x="256" y="601"/>
                  </a:lnTo>
                  <a:lnTo>
                    <a:pt x="242" y="606"/>
                  </a:lnTo>
                  <a:lnTo>
                    <a:pt x="230" y="610"/>
                  </a:lnTo>
                  <a:lnTo>
                    <a:pt x="230" y="610"/>
                  </a:lnTo>
                  <a:close/>
                  <a:moveTo>
                    <a:pt x="286" y="660"/>
                  </a:moveTo>
                  <a:lnTo>
                    <a:pt x="286" y="660"/>
                  </a:lnTo>
                  <a:lnTo>
                    <a:pt x="282" y="666"/>
                  </a:lnTo>
                  <a:lnTo>
                    <a:pt x="277" y="673"/>
                  </a:lnTo>
                  <a:lnTo>
                    <a:pt x="265" y="683"/>
                  </a:lnTo>
                  <a:lnTo>
                    <a:pt x="258" y="690"/>
                  </a:lnTo>
                  <a:lnTo>
                    <a:pt x="254" y="696"/>
                  </a:lnTo>
                  <a:lnTo>
                    <a:pt x="251" y="702"/>
                  </a:lnTo>
                  <a:lnTo>
                    <a:pt x="249" y="710"/>
                  </a:lnTo>
                  <a:lnTo>
                    <a:pt x="249" y="710"/>
                  </a:lnTo>
                  <a:lnTo>
                    <a:pt x="266" y="702"/>
                  </a:lnTo>
                  <a:lnTo>
                    <a:pt x="285" y="695"/>
                  </a:lnTo>
                  <a:lnTo>
                    <a:pt x="294" y="690"/>
                  </a:lnTo>
                  <a:lnTo>
                    <a:pt x="301" y="684"/>
                  </a:lnTo>
                  <a:lnTo>
                    <a:pt x="308" y="678"/>
                  </a:lnTo>
                  <a:lnTo>
                    <a:pt x="313" y="670"/>
                  </a:lnTo>
                  <a:lnTo>
                    <a:pt x="313" y="670"/>
                  </a:lnTo>
                  <a:lnTo>
                    <a:pt x="304" y="669"/>
                  </a:lnTo>
                  <a:lnTo>
                    <a:pt x="298" y="668"/>
                  </a:lnTo>
                  <a:lnTo>
                    <a:pt x="292" y="665"/>
                  </a:lnTo>
                  <a:lnTo>
                    <a:pt x="288" y="663"/>
                  </a:lnTo>
                  <a:lnTo>
                    <a:pt x="286" y="660"/>
                  </a:lnTo>
                  <a:lnTo>
                    <a:pt x="286" y="660"/>
                  </a:lnTo>
                  <a:close/>
                  <a:moveTo>
                    <a:pt x="142" y="501"/>
                  </a:moveTo>
                  <a:lnTo>
                    <a:pt x="142" y="501"/>
                  </a:lnTo>
                  <a:lnTo>
                    <a:pt x="145" y="498"/>
                  </a:lnTo>
                  <a:lnTo>
                    <a:pt x="148" y="495"/>
                  </a:lnTo>
                  <a:lnTo>
                    <a:pt x="157" y="489"/>
                  </a:lnTo>
                  <a:lnTo>
                    <a:pt x="165" y="485"/>
                  </a:lnTo>
                  <a:lnTo>
                    <a:pt x="174" y="480"/>
                  </a:lnTo>
                  <a:lnTo>
                    <a:pt x="174" y="480"/>
                  </a:lnTo>
                  <a:lnTo>
                    <a:pt x="182" y="474"/>
                  </a:lnTo>
                  <a:lnTo>
                    <a:pt x="190" y="468"/>
                  </a:lnTo>
                  <a:lnTo>
                    <a:pt x="196" y="462"/>
                  </a:lnTo>
                  <a:lnTo>
                    <a:pt x="201" y="455"/>
                  </a:lnTo>
                  <a:lnTo>
                    <a:pt x="201" y="455"/>
                  </a:lnTo>
                  <a:lnTo>
                    <a:pt x="198" y="455"/>
                  </a:lnTo>
                  <a:lnTo>
                    <a:pt x="197" y="453"/>
                  </a:lnTo>
                  <a:lnTo>
                    <a:pt x="194" y="447"/>
                  </a:lnTo>
                  <a:lnTo>
                    <a:pt x="189" y="433"/>
                  </a:lnTo>
                  <a:lnTo>
                    <a:pt x="189" y="433"/>
                  </a:lnTo>
                  <a:lnTo>
                    <a:pt x="182" y="435"/>
                  </a:lnTo>
                  <a:lnTo>
                    <a:pt x="177" y="438"/>
                  </a:lnTo>
                  <a:lnTo>
                    <a:pt x="167" y="446"/>
                  </a:lnTo>
                  <a:lnTo>
                    <a:pt x="158" y="452"/>
                  </a:lnTo>
                  <a:lnTo>
                    <a:pt x="152" y="454"/>
                  </a:lnTo>
                  <a:lnTo>
                    <a:pt x="147" y="455"/>
                  </a:lnTo>
                  <a:lnTo>
                    <a:pt x="147" y="455"/>
                  </a:lnTo>
                  <a:lnTo>
                    <a:pt x="149" y="449"/>
                  </a:lnTo>
                  <a:lnTo>
                    <a:pt x="152" y="443"/>
                  </a:lnTo>
                  <a:lnTo>
                    <a:pt x="157" y="440"/>
                  </a:lnTo>
                  <a:lnTo>
                    <a:pt x="161" y="436"/>
                  </a:lnTo>
                  <a:lnTo>
                    <a:pt x="171" y="429"/>
                  </a:lnTo>
                  <a:lnTo>
                    <a:pt x="175" y="425"/>
                  </a:lnTo>
                  <a:lnTo>
                    <a:pt x="178" y="420"/>
                  </a:lnTo>
                  <a:lnTo>
                    <a:pt x="178" y="420"/>
                  </a:lnTo>
                  <a:lnTo>
                    <a:pt x="175" y="413"/>
                  </a:lnTo>
                  <a:lnTo>
                    <a:pt x="172" y="407"/>
                  </a:lnTo>
                  <a:lnTo>
                    <a:pt x="166" y="402"/>
                  </a:lnTo>
                  <a:lnTo>
                    <a:pt x="163" y="399"/>
                  </a:lnTo>
                  <a:lnTo>
                    <a:pt x="160" y="398"/>
                  </a:lnTo>
                  <a:lnTo>
                    <a:pt x="160" y="398"/>
                  </a:lnTo>
                  <a:lnTo>
                    <a:pt x="147" y="407"/>
                  </a:lnTo>
                  <a:lnTo>
                    <a:pt x="135" y="417"/>
                  </a:lnTo>
                  <a:lnTo>
                    <a:pt x="125" y="427"/>
                  </a:lnTo>
                  <a:lnTo>
                    <a:pt x="114" y="438"/>
                  </a:lnTo>
                  <a:lnTo>
                    <a:pt x="92" y="461"/>
                  </a:lnTo>
                  <a:lnTo>
                    <a:pt x="81" y="470"/>
                  </a:lnTo>
                  <a:lnTo>
                    <a:pt x="69" y="480"/>
                  </a:lnTo>
                  <a:lnTo>
                    <a:pt x="69" y="480"/>
                  </a:lnTo>
                  <a:lnTo>
                    <a:pt x="73" y="483"/>
                  </a:lnTo>
                  <a:lnTo>
                    <a:pt x="77" y="484"/>
                  </a:lnTo>
                  <a:lnTo>
                    <a:pt x="81" y="484"/>
                  </a:lnTo>
                  <a:lnTo>
                    <a:pt x="84" y="484"/>
                  </a:lnTo>
                  <a:lnTo>
                    <a:pt x="88" y="482"/>
                  </a:lnTo>
                  <a:lnTo>
                    <a:pt x="91" y="480"/>
                  </a:lnTo>
                  <a:lnTo>
                    <a:pt x="97" y="474"/>
                  </a:lnTo>
                  <a:lnTo>
                    <a:pt x="103" y="468"/>
                  </a:lnTo>
                  <a:lnTo>
                    <a:pt x="110" y="463"/>
                  </a:lnTo>
                  <a:lnTo>
                    <a:pt x="114" y="461"/>
                  </a:lnTo>
                  <a:lnTo>
                    <a:pt x="117" y="459"/>
                  </a:lnTo>
                  <a:lnTo>
                    <a:pt x="120" y="458"/>
                  </a:lnTo>
                  <a:lnTo>
                    <a:pt x="125" y="458"/>
                  </a:lnTo>
                  <a:lnTo>
                    <a:pt x="125" y="458"/>
                  </a:lnTo>
                  <a:lnTo>
                    <a:pt x="116" y="468"/>
                  </a:lnTo>
                  <a:lnTo>
                    <a:pt x="106" y="478"/>
                  </a:lnTo>
                  <a:lnTo>
                    <a:pt x="98" y="486"/>
                  </a:lnTo>
                  <a:lnTo>
                    <a:pt x="89" y="496"/>
                  </a:lnTo>
                  <a:lnTo>
                    <a:pt x="89" y="496"/>
                  </a:lnTo>
                  <a:lnTo>
                    <a:pt x="92" y="500"/>
                  </a:lnTo>
                  <a:lnTo>
                    <a:pt x="96" y="504"/>
                  </a:lnTo>
                  <a:lnTo>
                    <a:pt x="98" y="511"/>
                  </a:lnTo>
                  <a:lnTo>
                    <a:pt x="98" y="517"/>
                  </a:lnTo>
                  <a:lnTo>
                    <a:pt x="98" y="517"/>
                  </a:lnTo>
                  <a:lnTo>
                    <a:pt x="105" y="517"/>
                  </a:lnTo>
                  <a:lnTo>
                    <a:pt x="111" y="516"/>
                  </a:lnTo>
                  <a:lnTo>
                    <a:pt x="115" y="514"/>
                  </a:lnTo>
                  <a:lnTo>
                    <a:pt x="119" y="511"/>
                  </a:lnTo>
                  <a:lnTo>
                    <a:pt x="119" y="511"/>
                  </a:lnTo>
                  <a:lnTo>
                    <a:pt x="126" y="511"/>
                  </a:lnTo>
                  <a:lnTo>
                    <a:pt x="131" y="510"/>
                  </a:lnTo>
                  <a:lnTo>
                    <a:pt x="144" y="507"/>
                  </a:lnTo>
                  <a:lnTo>
                    <a:pt x="156" y="502"/>
                  </a:lnTo>
                  <a:lnTo>
                    <a:pt x="167" y="500"/>
                  </a:lnTo>
                  <a:lnTo>
                    <a:pt x="167" y="500"/>
                  </a:lnTo>
                  <a:lnTo>
                    <a:pt x="183" y="498"/>
                  </a:lnTo>
                  <a:lnTo>
                    <a:pt x="198" y="497"/>
                  </a:lnTo>
                  <a:lnTo>
                    <a:pt x="212" y="495"/>
                  </a:lnTo>
                  <a:lnTo>
                    <a:pt x="219" y="494"/>
                  </a:lnTo>
                  <a:lnTo>
                    <a:pt x="224" y="490"/>
                  </a:lnTo>
                  <a:lnTo>
                    <a:pt x="224" y="490"/>
                  </a:lnTo>
                  <a:lnTo>
                    <a:pt x="223" y="489"/>
                  </a:lnTo>
                  <a:lnTo>
                    <a:pt x="223" y="488"/>
                  </a:lnTo>
                  <a:lnTo>
                    <a:pt x="220" y="487"/>
                  </a:lnTo>
                  <a:lnTo>
                    <a:pt x="218" y="485"/>
                  </a:lnTo>
                  <a:lnTo>
                    <a:pt x="217" y="483"/>
                  </a:lnTo>
                  <a:lnTo>
                    <a:pt x="217" y="480"/>
                  </a:lnTo>
                  <a:lnTo>
                    <a:pt x="217" y="480"/>
                  </a:lnTo>
                  <a:lnTo>
                    <a:pt x="220" y="475"/>
                  </a:lnTo>
                  <a:lnTo>
                    <a:pt x="223" y="472"/>
                  </a:lnTo>
                  <a:lnTo>
                    <a:pt x="223" y="470"/>
                  </a:lnTo>
                  <a:lnTo>
                    <a:pt x="224" y="467"/>
                  </a:lnTo>
                  <a:lnTo>
                    <a:pt x="223" y="464"/>
                  </a:lnTo>
                  <a:lnTo>
                    <a:pt x="222" y="461"/>
                  </a:lnTo>
                  <a:lnTo>
                    <a:pt x="222" y="461"/>
                  </a:lnTo>
                  <a:lnTo>
                    <a:pt x="211" y="465"/>
                  </a:lnTo>
                  <a:lnTo>
                    <a:pt x="202" y="471"/>
                  </a:lnTo>
                  <a:lnTo>
                    <a:pt x="185" y="485"/>
                  </a:lnTo>
                  <a:lnTo>
                    <a:pt x="175" y="492"/>
                  </a:lnTo>
                  <a:lnTo>
                    <a:pt x="165" y="497"/>
                  </a:lnTo>
                  <a:lnTo>
                    <a:pt x="160" y="499"/>
                  </a:lnTo>
                  <a:lnTo>
                    <a:pt x="155" y="501"/>
                  </a:lnTo>
                  <a:lnTo>
                    <a:pt x="148" y="501"/>
                  </a:lnTo>
                  <a:lnTo>
                    <a:pt x="142" y="501"/>
                  </a:lnTo>
                  <a:lnTo>
                    <a:pt x="142" y="501"/>
                  </a:lnTo>
                  <a:close/>
                  <a:moveTo>
                    <a:pt x="135" y="523"/>
                  </a:moveTo>
                  <a:lnTo>
                    <a:pt x="135" y="523"/>
                  </a:lnTo>
                  <a:lnTo>
                    <a:pt x="124" y="533"/>
                  </a:lnTo>
                  <a:lnTo>
                    <a:pt x="112" y="545"/>
                  </a:lnTo>
                  <a:lnTo>
                    <a:pt x="107" y="552"/>
                  </a:lnTo>
                  <a:lnTo>
                    <a:pt x="103" y="558"/>
                  </a:lnTo>
                  <a:lnTo>
                    <a:pt x="99" y="567"/>
                  </a:lnTo>
                  <a:lnTo>
                    <a:pt x="96" y="574"/>
                  </a:lnTo>
                  <a:lnTo>
                    <a:pt x="96" y="574"/>
                  </a:lnTo>
                  <a:lnTo>
                    <a:pt x="111" y="586"/>
                  </a:lnTo>
                  <a:lnTo>
                    <a:pt x="127" y="595"/>
                  </a:lnTo>
                  <a:lnTo>
                    <a:pt x="127" y="595"/>
                  </a:lnTo>
                  <a:lnTo>
                    <a:pt x="135" y="585"/>
                  </a:lnTo>
                  <a:lnTo>
                    <a:pt x="144" y="574"/>
                  </a:lnTo>
                  <a:lnTo>
                    <a:pt x="165" y="555"/>
                  </a:lnTo>
                  <a:lnTo>
                    <a:pt x="176" y="545"/>
                  </a:lnTo>
                  <a:lnTo>
                    <a:pt x="186" y="535"/>
                  </a:lnTo>
                  <a:lnTo>
                    <a:pt x="194" y="524"/>
                  </a:lnTo>
                  <a:lnTo>
                    <a:pt x="203" y="512"/>
                  </a:lnTo>
                  <a:lnTo>
                    <a:pt x="203" y="512"/>
                  </a:lnTo>
                  <a:lnTo>
                    <a:pt x="169" y="519"/>
                  </a:lnTo>
                  <a:lnTo>
                    <a:pt x="152" y="523"/>
                  </a:lnTo>
                  <a:lnTo>
                    <a:pt x="135" y="523"/>
                  </a:lnTo>
                  <a:lnTo>
                    <a:pt x="135" y="523"/>
                  </a:lnTo>
                  <a:close/>
                  <a:moveTo>
                    <a:pt x="158" y="585"/>
                  </a:moveTo>
                  <a:lnTo>
                    <a:pt x="158" y="585"/>
                  </a:lnTo>
                  <a:lnTo>
                    <a:pt x="150" y="588"/>
                  </a:lnTo>
                  <a:lnTo>
                    <a:pt x="143" y="593"/>
                  </a:lnTo>
                  <a:lnTo>
                    <a:pt x="137" y="598"/>
                  </a:lnTo>
                  <a:lnTo>
                    <a:pt x="132" y="604"/>
                  </a:lnTo>
                  <a:lnTo>
                    <a:pt x="121" y="617"/>
                  </a:lnTo>
                  <a:lnTo>
                    <a:pt x="112" y="630"/>
                  </a:lnTo>
                  <a:lnTo>
                    <a:pt x="112" y="630"/>
                  </a:lnTo>
                  <a:lnTo>
                    <a:pt x="120" y="630"/>
                  </a:lnTo>
                  <a:lnTo>
                    <a:pt x="130" y="629"/>
                  </a:lnTo>
                  <a:lnTo>
                    <a:pt x="141" y="625"/>
                  </a:lnTo>
                  <a:lnTo>
                    <a:pt x="151" y="621"/>
                  </a:lnTo>
                  <a:lnTo>
                    <a:pt x="161" y="617"/>
                  </a:lnTo>
                  <a:lnTo>
                    <a:pt x="169" y="613"/>
                  </a:lnTo>
                  <a:lnTo>
                    <a:pt x="173" y="609"/>
                  </a:lnTo>
                  <a:lnTo>
                    <a:pt x="174" y="607"/>
                  </a:lnTo>
                  <a:lnTo>
                    <a:pt x="174" y="606"/>
                  </a:lnTo>
                  <a:lnTo>
                    <a:pt x="174" y="606"/>
                  </a:lnTo>
                  <a:lnTo>
                    <a:pt x="174" y="608"/>
                  </a:lnTo>
                  <a:lnTo>
                    <a:pt x="174" y="608"/>
                  </a:lnTo>
                  <a:lnTo>
                    <a:pt x="170" y="602"/>
                  </a:lnTo>
                  <a:lnTo>
                    <a:pt x="164" y="596"/>
                  </a:lnTo>
                  <a:lnTo>
                    <a:pt x="160" y="591"/>
                  </a:lnTo>
                  <a:lnTo>
                    <a:pt x="159" y="588"/>
                  </a:lnTo>
                  <a:lnTo>
                    <a:pt x="158" y="585"/>
                  </a:lnTo>
                  <a:lnTo>
                    <a:pt x="158" y="585"/>
                  </a:lnTo>
                  <a:close/>
                  <a:moveTo>
                    <a:pt x="82" y="516"/>
                  </a:moveTo>
                  <a:lnTo>
                    <a:pt x="82" y="516"/>
                  </a:lnTo>
                  <a:lnTo>
                    <a:pt x="81" y="510"/>
                  </a:lnTo>
                  <a:lnTo>
                    <a:pt x="79" y="505"/>
                  </a:lnTo>
                  <a:lnTo>
                    <a:pt x="76" y="501"/>
                  </a:lnTo>
                  <a:lnTo>
                    <a:pt x="72" y="499"/>
                  </a:lnTo>
                  <a:lnTo>
                    <a:pt x="68" y="497"/>
                  </a:lnTo>
                  <a:lnTo>
                    <a:pt x="64" y="496"/>
                  </a:lnTo>
                  <a:lnTo>
                    <a:pt x="53" y="495"/>
                  </a:lnTo>
                  <a:lnTo>
                    <a:pt x="53" y="495"/>
                  </a:lnTo>
                  <a:lnTo>
                    <a:pt x="50" y="500"/>
                  </a:lnTo>
                  <a:lnTo>
                    <a:pt x="46" y="504"/>
                  </a:lnTo>
                  <a:lnTo>
                    <a:pt x="37" y="515"/>
                  </a:lnTo>
                  <a:lnTo>
                    <a:pt x="33" y="519"/>
                  </a:lnTo>
                  <a:lnTo>
                    <a:pt x="29" y="525"/>
                  </a:lnTo>
                  <a:lnTo>
                    <a:pt x="27" y="531"/>
                  </a:lnTo>
                  <a:lnTo>
                    <a:pt x="27" y="538"/>
                  </a:lnTo>
                  <a:lnTo>
                    <a:pt x="27" y="538"/>
                  </a:lnTo>
                  <a:lnTo>
                    <a:pt x="56" y="529"/>
                  </a:lnTo>
                  <a:lnTo>
                    <a:pt x="70" y="524"/>
                  </a:lnTo>
                  <a:lnTo>
                    <a:pt x="76" y="519"/>
                  </a:lnTo>
                  <a:lnTo>
                    <a:pt x="82" y="516"/>
                  </a:lnTo>
                  <a:lnTo>
                    <a:pt x="82" y="51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Freeform 197"/>
            <p:cNvSpPr/>
            <p:nvPr/>
          </p:nvSpPr>
          <p:spPr bwMode="auto">
            <a:xfrm>
              <a:off x="6103938" y="1752600"/>
              <a:ext cx="11113" cy="11113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7" y="2"/>
                </a:cxn>
                <a:cxn ang="0">
                  <a:pos x="18" y="5"/>
                </a:cxn>
                <a:cxn ang="0">
                  <a:pos x="19" y="9"/>
                </a:cxn>
                <a:cxn ang="0">
                  <a:pos x="18" y="14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9" y="22"/>
                </a:cxn>
                <a:cxn ang="0">
                  <a:pos x="9" y="22"/>
                </a:cxn>
                <a:cxn ang="0">
                  <a:pos x="6" y="21"/>
                </a:cxn>
                <a:cxn ang="0">
                  <a:pos x="4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8"/>
                </a:cxn>
                <a:cxn ang="0">
                  <a:pos x="1" y="4"/>
                </a:cxn>
                <a:cxn ang="0">
                  <a:pos x="4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22">
                  <a:moveTo>
                    <a:pt x="8" y="0"/>
                  </a:moveTo>
                  <a:lnTo>
                    <a:pt x="8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18" y="5"/>
                  </a:lnTo>
                  <a:lnTo>
                    <a:pt x="19" y="9"/>
                  </a:lnTo>
                  <a:lnTo>
                    <a:pt x="18" y="14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6" y="21"/>
                  </a:lnTo>
                  <a:lnTo>
                    <a:pt x="4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8"/>
                  </a:lnTo>
                  <a:lnTo>
                    <a:pt x="1" y="4"/>
                  </a:lnTo>
                  <a:lnTo>
                    <a:pt x="4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4" name="Freeform 198"/>
            <p:cNvSpPr/>
            <p:nvPr/>
          </p:nvSpPr>
          <p:spPr bwMode="auto">
            <a:xfrm>
              <a:off x="6089651" y="1765300"/>
              <a:ext cx="34925" cy="14288"/>
            </a:xfrm>
            <a:custGeom>
              <a:avLst/>
              <a:gdLst/>
              <a:ahLst/>
              <a:cxnLst>
                <a:cxn ang="0">
                  <a:pos x="60" y="3"/>
                </a:cxn>
                <a:cxn ang="0">
                  <a:pos x="60" y="3"/>
                </a:cxn>
                <a:cxn ang="0">
                  <a:pos x="63" y="6"/>
                </a:cxn>
                <a:cxn ang="0">
                  <a:pos x="65" y="8"/>
                </a:cxn>
                <a:cxn ang="0">
                  <a:pos x="67" y="11"/>
                </a:cxn>
                <a:cxn ang="0">
                  <a:pos x="68" y="16"/>
                </a:cxn>
                <a:cxn ang="0">
                  <a:pos x="68" y="16"/>
                </a:cxn>
                <a:cxn ang="0">
                  <a:pos x="65" y="20"/>
                </a:cxn>
                <a:cxn ang="0">
                  <a:pos x="62" y="23"/>
                </a:cxn>
                <a:cxn ang="0">
                  <a:pos x="58" y="25"/>
                </a:cxn>
                <a:cxn ang="0">
                  <a:pos x="52" y="25"/>
                </a:cxn>
                <a:cxn ang="0">
                  <a:pos x="52" y="25"/>
                </a:cxn>
                <a:cxn ang="0">
                  <a:pos x="49" y="24"/>
                </a:cxn>
                <a:cxn ang="0">
                  <a:pos x="47" y="23"/>
                </a:cxn>
                <a:cxn ang="0">
                  <a:pos x="45" y="21"/>
                </a:cxn>
                <a:cxn ang="0">
                  <a:pos x="42" y="20"/>
                </a:cxn>
                <a:cxn ang="0">
                  <a:pos x="42" y="20"/>
                </a:cxn>
                <a:cxn ang="0">
                  <a:pos x="33" y="19"/>
                </a:cxn>
                <a:cxn ang="0">
                  <a:pos x="22" y="19"/>
                </a:cxn>
                <a:cxn ang="0">
                  <a:pos x="13" y="18"/>
                </a:cxn>
                <a:cxn ang="0">
                  <a:pos x="7" y="16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8" y="2"/>
                </a:cxn>
                <a:cxn ang="0">
                  <a:pos x="15" y="0"/>
                </a:cxn>
                <a:cxn ang="0">
                  <a:pos x="22" y="2"/>
                </a:cxn>
                <a:cxn ang="0">
                  <a:pos x="29" y="3"/>
                </a:cxn>
                <a:cxn ang="0">
                  <a:pos x="35" y="4"/>
                </a:cxn>
                <a:cxn ang="0">
                  <a:pos x="43" y="5"/>
                </a:cxn>
                <a:cxn ang="0">
                  <a:pos x="50" y="5"/>
                </a:cxn>
                <a:cxn ang="0">
                  <a:pos x="60" y="3"/>
                </a:cxn>
                <a:cxn ang="0">
                  <a:pos x="60" y="3"/>
                </a:cxn>
              </a:cxnLst>
              <a:rect l="0" t="0" r="r" b="b"/>
              <a:pathLst>
                <a:path w="68" h="25">
                  <a:moveTo>
                    <a:pt x="60" y="3"/>
                  </a:moveTo>
                  <a:lnTo>
                    <a:pt x="60" y="3"/>
                  </a:lnTo>
                  <a:lnTo>
                    <a:pt x="63" y="6"/>
                  </a:lnTo>
                  <a:lnTo>
                    <a:pt x="65" y="8"/>
                  </a:lnTo>
                  <a:lnTo>
                    <a:pt x="67" y="11"/>
                  </a:lnTo>
                  <a:lnTo>
                    <a:pt x="68" y="16"/>
                  </a:lnTo>
                  <a:lnTo>
                    <a:pt x="68" y="16"/>
                  </a:lnTo>
                  <a:lnTo>
                    <a:pt x="65" y="20"/>
                  </a:lnTo>
                  <a:lnTo>
                    <a:pt x="62" y="23"/>
                  </a:lnTo>
                  <a:lnTo>
                    <a:pt x="58" y="25"/>
                  </a:lnTo>
                  <a:lnTo>
                    <a:pt x="52" y="25"/>
                  </a:lnTo>
                  <a:lnTo>
                    <a:pt x="52" y="25"/>
                  </a:lnTo>
                  <a:lnTo>
                    <a:pt x="49" y="24"/>
                  </a:lnTo>
                  <a:lnTo>
                    <a:pt x="47" y="23"/>
                  </a:lnTo>
                  <a:lnTo>
                    <a:pt x="45" y="21"/>
                  </a:lnTo>
                  <a:lnTo>
                    <a:pt x="42" y="20"/>
                  </a:lnTo>
                  <a:lnTo>
                    <a:pt x="42" y="20"/>
                  </a:lnTo>
                  <a:lnTo>
                    <a:pt x="33" y="19"/>
                  </a:lnTo>
                  <a:lnTo>
                    <a:pt x="22" y="19"/>
                  </a:lnTo>
                  <a:lnTo>
                    <a:pt x="13" y="18"/>
                  </a:lnTo>
                  <a:lnTo>
                    <a:pt x="7" y="16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lnTo>
                    <a:pt x="8" y="2"/>
                  </a:lnTo>
                  <a:lnTo>
                    <a:pt x="15" y="0"/>
                  </a:lnTo>
                  <a:lnTo>
                    <a:pt x="22" y="2"/>
                  </a:lnTo>
                  <a:lnTo>
                    <a:pt x="29" y="3"/>
                  </a:lnTo>
                  <a:lnTo>
                    <a:pt x="35" y="4"/>
                  </a:lnTo>
                  <a:lnTo>
                    <a:pt x="43" y="5"/>
                  </a:lnTo>
                  <a:lnTo>
                    <a:pt x="50" y="5"/>
                  </a:lnTo>
                  <a:lnTo>
                    <a:pt x="60" y="3"/>
                  </a:lnTo>
                  <a:lnTo>
                    <a:pt x="60" y="3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5" name="Freeform 206"/>
            <p:cNvSpPr/>
            <p:nvPr/>
          </p:nvSpPr>
          <p:spPr bwMode="auto">
            <a:xfrm>
              <a:off x="6072188" y="1817688"/>
              <a:ext cx="49213" cy="39688"/>
            </a:xfrm>
            <a:custGeom>
              <a:avLst/>
              <a:gdLst/>
              <a:ahLst/>
              <a:cxnLst>
                <a:cxn ang="0">
                  <a:pos x="33" y="3"/>
                </a:cxn>
                <a:cxn ang="0">
                  <a:pos x="29" y="45"/>
                </a:cxn>
                <a:cxn ang="0">
                  <a:pos x="30" y="56"/>
                </a:cxn>
                <a:cxn ang="0">
                  <a:pos x="36" y="50"/>
                </a:cxn>
                <a:cxn ang="0">
                  <a:pos x="48" y="40"/>
                </a:cxn>
                <a:cxn ang="0">
                  <a:pos x="62" y="20"/>
                </a:cxn>
                <a:cxn ang="0">
                  <a:pos x="69" y="5"/>
                </a:cxn>
                <a:cxn ang="0">
                  <a:pos x="78" y="5"/>
                </a:cxn>
                <a:cxn ang="0">
                  <a:pos x="79" y="13"/>
                </a:cxn>
                <a:cxn ang="0">
                  <a:pos x="76" y="19"/>
                </a:cxn>
                <a:cxn ang="0">
                  <a:pos x="68" y="28"/>
                </a:cxn>
                <a:cxn ang="0">
                  <a:pos x="67" y="31"/>
                </a:cxn>
                <a:cxn ang="0">
                  <a:pos x="77" y="41"/>
                </a:cxn>
                <a:cxn ang="0">
                  <a:pos x="85" y="42"/>
                </a:cxn>
                <a:cxn ang="0">
                  <a:pos x="94" y="41"/>
                </a:cxn>
                <a:cxn ang="0">
                  <a:pos x="95" y="44"/>
                </a:cxn>
                <a:cxn ang="0">
                  <a:pos x="91" y="50"/>
                </a:cxn>
                <a:cxn ang="0">
                  <a:pos x="88" y="53"/>
                </a:cxn>
                <a:cxn ang="0">
                  <a:pos x="93" y="62"/>
                </a:cxn>
                <a:cxn ang="0">
                  <a:pos x="94" y="72"/>
                </a:cxn>
                <a:cxn ang="0">
                  <a:pos x="90" y="74"/>
                </a:cxn>
                <a:cxn ang="0">
                  <a:pos x="84" y="75"/>
                </a:cxn>
                <a:cxn ang="0">
                  <a:pos x="82" y="71"/>
                </a:cxn>
                <a:cxn ang="0">
                  <a:pos x="79" y="65"/>
                </a:cxn>
                <a:cxn ang="0">
                  <a:pos x="78" y="61"/>
                </a:cxn>
                <a:cxn ang="0">
                  <a:pos x="70" y="63"/>
                </a:cxn>
                <a:cxn ang="0">
                  <a:pos x="63" y="71"/>
                </a:cxn>
                <a:cxn ang="0">
                  <a:pos x="57" y="73"/>
                </a:cxn>
                <a:cxn ang="0">
                  <a:pos x="54" y="70"/>
                </a:cxn>
                <a:cxn ang="0">
                  <a:pos x="61" y="60"/>
                </a:cxn>
                <a:cxn ang="0">
                  <a:pos x="71" y="53"/>
                </a:cxn>
                <a:cxn ang="0">
                  <a:pos x="71" y="50"/>
                </a:cxn>
                <a:cxn ang="0">
                  <a:pos x="67" y="45"/>
                </a:cxn>
                <a:cxn ang="0">
                  <a:pos x="63" y="38"/>
                </a:cxn>
                <a:cxn ang="0">
                  <a:pos x="63" y="35"/>
                </a:cxn>
                <a:cxn ang="0">
                  <a:pos x="51" y="50"/>
                </a:cxn>
                <a:cxn ang="0">
                  <a:pos x="39" y="64"/>
                </a:cxn>
                <a:cxn ang="0">
                  <a:pos x="27" y="63"/>
                </a:cxn>
                <a:cxn ang="0">
                  <a:pos x="19" y="60"/>
                </a:cxn>
                <a:cxn ang="0">
                  <a:pos x="20" y="49"/>
                </a:cxn>
                <a:cxn ang="0">
                  <a:pos x="20" y="33"/>
                </a:cxn>
                <a:cxn ang="0">
                  <a:pos x="19" y="26"/>
                </a:cxn>
                <a:cxn ang="0">
                  <a:pos x="16" y="28"/>
                </a:cxn>
                <a:cxn ang="0">
                  <a:pos x="9" y="34"/>
                </a:cxn>
                <a:cxn ang="0">
                  <a:pos x="4" y="35"/>
                </a:cxn>
                <a:cxn ang="0">
                  <a:pos x="3" y="34"/>
                </a:cxn>
                <a:cxn ang="0">
                  <a:pos x="0" y="33"/>
                </a:cxn>
                <a:cxn ang="0">
                  <a:pos x="5" y="22"/>
                </a:cxn>
                <a:cxn ang="0">
                  <a:pos x="17" y="7"/>
                </a:cxn>
                <a:cxn ang="0">
                  <a:pos x="22" y="0"/>
                </a:cxn>
                <a:cxn ang="0">
                  <a:pos x="26" y="0"/>
                </a:cxn>
                <a:cxn ang="0">
                  <a:pos x="33" y="3"/>
                </a:cxn>
              </a:cxnLst>
              <a:rect l="0" t="0" r="r" b="b"/>
              <a:pathLst>
                <a:path w="95" h="75">
                  <a:moveTo>
                    <a:pt x="33" y="3"/>
                  </a:moveTo>
                  <a:lnTo>
                    <a:pt x="33" y="3"/>
                  </a:lnTo>
                  <a:lnTo>
                    <a:pt x="30" y="32"/>
                  </a:lnTo>
                  <a:lnTo>
                    <a:pt x="29" y="45"/>
                  </a:lnTo>
                  <a:lnTo>
                    <a:pt x="29" y="5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6" y="50"/>
                  </a:lnTo>
                  <a:lnTo>
                    <a:pt x="42" y="46"/>
                  </a:lnTo>
                  <a:lnTo>
                    <a:pt x="48" y="40"/>
                  </a:lnTo>
                  <a:lnTo>
                    <a:pt x="52" y="33"/>
                  </a:lnTo>
                  <a:lnTo>
                    <a:pt x="62" y="20"/>
                  </a:lnTo>
                  <a:lnTo>
                    <a:pt x="69" y="5"/>
                  </a:lnTo>
                  <a:lnTo>
                    <a:pt x="69" y="5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9" y="10"/>
                  </a:lnTo>
                  <a:lnTo>
                    <a:pt x="79" y="13"/>
                  </a:lnTo>
                  <a:lnTo>
                    <a:pt x="77" y="16"/>
                  </a:lnTo>
                  <a:lnTo>
                    <a:pt x="76" y="19"/>
                  </a:lnTo>
                  <a:lnTo>
                    <a:pt x="70" y="25"/>
                  </a:lnTo>
                  <a:lnTo>
                    <a:pt x="68" y="28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73" y="38"/>
                  </a:lnTo>
                  <a:lnTo>
                    <a:pt x="77" y="41"/>
                  </a:lnTo>
                  <a:lnTo>
                    <a:pt x="79" y="42"/>
                  </a:lnTo>
                  <a:lnTo>
                    <a:pt x="85" y="42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5" y="42"/>
                  </a:lnTo>
                  <a:lnTo>
                    <a:pt x="95" y="44"/>
                  </a:lnTo>
                  <a:lnTo>
                    <a:pt x="93" y="47"/>
                  </a:lnTo>
                  <a:lnTo>
                    <a:pt x="91" y="50"/>
                  </a:lnTo>
                  <a:lnTo>
                    <a:pt x="88" y="53"/>
                  </a:lnTo>
                  <a:lnTo>
                    <a:pt x="88" y="53"/>
                  </a:lnTo>
                  <a:lnTo>
                    <a:pt x="90" y="58"/>
                  </a:lnTo>
                  <a:lnTo>
                    <a:pt x="93" y="62"/>
                  </a:lnTo>
                  <a:lnTo>
                    <a:pt x="94" y="65"/>
                  </a:lnTo>
                  <a:lnTo>
                    <a:pt x="94" y="72"/>
                  </a:lnTo>
                  <a:lnTo>
                    <a:pt x="94" y="72"/>
                  </a:lnTo>
                  <a:lnTo>
                    <a:pt x="90" y="74"/>
                  </a:lnTo>
                  <a:lnTo>
                    <a:pt x="87" y="75"/>
                  </a:lnTo>
                  <a:lnTo>
                    <a:pt x="84" y="75"/>
                  </a:lnTo>
                  <a:lnTo>
                    <a:pt x="84" y="75"/>
                  </a:lnTo>
                  <a:lnTo>
                    <a:pt x="82" y="71"/>
                  </a:lnTo>
                  <a:lnTo>
                    <a:pt x="81" y="68"/>
                  </a:lnTo>
                  <a:lnTo>
                    <a:pt x="79" y="65"/>
                  </a:lnTo>
                  <a:lnTo>
                    <a:pt x="78" y="61"/>
                  </a:lnTo>
                  <a:lnTo>
                    <a:pt x="78" y="61"/>
                  </a:lnTo>
                  <a:lnTo>
                    <a:pt x="73" y="61"/>
                  </a:lnTo>
                  <a:lnTo>
                    <a:pt x="70" y="63"/>
                  </a:lnTo>
                  <a:lnTo>
                    <a:pt x="65" y="68"/>
                  </a:lnTo>
                  <a:lnTo>
                    <a:pt x="63" y="71"/>
                  </a:lnTo>
                  <a:lnTo>
                    <a:pt x="61" y="73"/>
                  </a:lnTo>
                  <a:lnTo>
                    <a:pt x="57" y="73"/>
                  </a:lnTo>
                  <a:lnTo>
                    <a:pt x="54" y="70"/>
                  </a:lnTo>
                  <a:lnTo>
                    <a:pt x="54" y="70"/>
                  </a:lnTo>
                  <a:lnTo>
                    <a:pt x="57" y="64"/>
                  </a:lnTo>
                  <a:lnTo>
                    <a:pt x="61" y="60"/>
                  </a:lnTo>
                  <a:lnTo>
                    <a:pt x="66" y="57"/>
                  </a:lnTo>
                  <a:lnTo>
                    <a:pt x="71" y="53"/>
                  </a:lnTo>
                  <a:lnTo>
                    <a:pt x="71" y="53"/>
                  </a:lnTo>
                  <a:lnTo>
                    <a:pt x="71" y="50"/>
                  </a:lnTo>
                  <a:lnTo>
                    <a:pt x="70" y="48"/>
                  </a:lnTo>
                  <a:lnTo>
                    <a:pt x="67" y="45"/>
                  </a:lnTo>
                  <a:lnTo>
                    <a:pt x="64" y="41"/>
                  </a:lnTo>
                  <a:lnTo>
                    <a:pt x="63" y="38"/>
                  </a:lnTo>
                  <a:lnTo>
                    <a:pt x="63" y="35"/>
                  </a:lnTo>
                  <a:lnTo>
                    <a:pt x="63" y="35"/>
                  </a:lnTo>
                  <a:lnTo>
                    <a:pt x="56" y="43"/>
                  </a:lnTo>
                  <a:lnTo>
                    <a:pt x="51" y="50"/>
                  </a:lnTo>
                  <a:lnTo>
                    <a:pt x="46" y="58"/>
                  </a:lnTo>
                  <a:lnTo>
                    <a:pt x="39" y="64"/>
                  </a:lnTo>
                  <a:lnTo>
                    <a:pt x="39" y="64"/>
                  </a:lnTo>
                  <a:lnTo>
                    <a:pt x="27" y="63"/>
                  </a:lnTo>
                  <a:lnTo>
                    <a:pt x="23" y="62"/>
                  </a:lnTo>
                  <a:lnTo>
                    <a:pt x="19" y="60"/>
                  </a:lnTo>
                  <a:lnTo>
                    <a:pt x="19" y="60"/>
                  </a:lnTo>
                  <a:lnTo>
                    <a:pt x="20" y="49"/>
                  </a:lnTo>
                  <a:lnTo>
                    <a:pt x="20" y="41"/>
                  </a:lnTo>
                  <a:lnTo>
                    <a:pt x="20" y="33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7" y="26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4"/>
                  </a:lnTo>
                  <a:lnTo>
                    <a:pt x="7" y="35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3" y="34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2" y="27"/>
                  </a:lnTo>
                  <a:lnTo>
                    <a:pt x="5" y="22"/>
                  </a:lnTo>
                  <a:lnTo>
                    <a:pt x="11" y="14"/>
                  </a:lnTo>
                  <a:lnTo>
                    <a:pt x="17" y="7"/>
                  </a:lnTo>
                  <a:lnTo>
                    <a:pt x="20" y="4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3" y="3"/>
                  </a:lnTo>
                  <a:lnTo>
                    <a:pt x="33" y="3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6" name="Freeform 213"/>
            <p:cNvSpPr/>
            <p:nvPr/>
          </p:nvSpPr>
          <p:spPr bwMode="auto">
            <a:xfrm>
              <a:off x="6073776" y="1895475"/>
              <a:ext cx="34925" cy="11113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0" y="7"/>
                </a:cxn>
                <a:cxn ang="0">
                  <a:pos x="2" y="5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8" y="0"/>
                </a:cxn>
                <a:cxn ang="0">
                  <a:pos x="27" y="0"/>
                </a:cxn>
                <a:cxn ang="0">
                  <a:pos x="44" y="1"/>
                </a:cxn>
                <a:cxn ang="0">
                  <a:pos x="52" y="1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63" y="3"/>
                </a:cxn>
                <a:cxn ang="0">
                  <a:pos x="65" y="5"/>
                </a:cxn>
                <a:cxn ang="0">
                  <a:pos x="66" y="9"/>
                </a:cxn>
                <a:cxn ang="0">
                  <a:pos x="65" y="12"/>
                </a:cxn>
                <a:cxn ang="0">
                  <a:pos x="63" y="15"/>
                </a:cxn>
                <a:cxn ang="0">
                  <a:pos x="60" y="17"/>
                </a:cxn>
                <a:cxn ang="0">
                  <a:pos x="56" y="19"/>
                </a:cxn>
                <a:cxn ang="0">
                  <a:pos x="49" y="19"/>
                </a:cxn>
                <a:cxn ang="0">
                  <a:pos x="49" y="19"/>
                </a:cxn>
                <a:cxn ang="0">
                  <a:pos x="47" y="18"/>
                </a:cxn>
                <a:cxn ang="0">
                  <a:pos x="44" y="17"/>
                </a:cxn>
                <a:cxn ang="0">
                  <a:pos x="41" y="15"/>
                </a:cxn>
                <a:cxn ang="0">
                  <a:pos x="37" y="12"/>
                </a:cxn>
                <a:cxn ang="0">
                  <a:pos x="37" y="12"/>
                </a:cxn>
                <a:cxn ang="0">
                  <a:pos x="32" y="12"/>
                </a:cxn>
                <a:cxn ang="0">
                  <a:pos x="26" y="12"/>
                </a:cxn>
                <a:cxn ang="0">
                  <a:pos x="13" y="14"/>
                </a:cxn>
                <a:cxn ang="0">
                  <a:pos x="7" y="14"/>
                </a:cxn>
                <a:cxn ang="0">
                  <a:pos x="3" y="12"/>
                </a:cxn>
                <a:cxn ang="0">
                  <a:pos x="1" y="10"/>
                </a:cxn>
                <a:cxn ang="0">
                  <a:pos x="0" y="9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66" h="19">
                  <a:moveTo>
                    <a:pt x="0" y="7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8" y="0"/>
                  </a:lnTo>
                  <a:lnTo>
                    <a:pt x="27" y="0"/>
                  </a:lnTo>
                  <a:lnTo>
                    <a:pt x="44" y="1"/>
                  </a:lnTo>
                  <a:lnTo>
                    <a:pt x="52" y="1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3" y="3"/>
                  </a:lnTo>
                  <a:lnTo>
                    <a:pt x="65" y="5"/>
                  </a:lnTo>
                  <a:lnTo>
                    <a:pt x="66" y="9"/>
                  </a:lnTo>
                  <a:lnTo>
                    <a:pt x="65" y="12"/>
                  </a:lnTo>
                  <a:lnTo>
                    <a:pt x="63" y="15"/>
                  </a:lnTo>
                  <a:lnTo>
                    <a:pt x="60" y="17"/>
                  </a:lnTo>
                  <a:lnTo>
                    <a:pt x="56" y="19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7" y="18"/>
                  </a:lnTo>
                  <a:lnTo>
                    <a:pt x="44" y="17"/>
                  </a:lnTo>
                  <a:lnTo>
                    <a:pt x="41" y="15"/>
                  </a:lnTo>
                  <a:lnTo>
                    <a:pt x="37" y="12"/>
                  </a:lnTo>
                  <a:lnTo>
                    <a:pt x="37" y="12"/>
                  </a:lnTo>
                  <a:lnTo>
                    <a:pt x="32" y="12"/>
                  </a:lnTo>
                  <a:lnTo>
                    <a:pt x="26" y="12"/>
                  </a:lnTo>
                  <a:lnTo>
                    <a:pt x="13" y="14"/>
                  </a:lnTo>
                  <a:lnTo>
                    <a:pt x="7" y="14"/>
                  </a:lnTo>
                  <a:lnTo>
                    <a:pt x="3" y="12"/>
                  </a:lnTo>
                  <a:lnTo>
                    <a:pt x="1" y="10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7" name="Freeform 221"/>
            <p:cNvSpPr/>
            <p:nvPr/>
          </p:nvSpPr>
          <p:spPr bwMode="auto">
            <a:xfrm>
              <a:off x="6075363" y="1908175"/>
              <a:ext cx="33338" cy="9525"/>
            </a:xfrm>
            <a:custGeom>
              <a:avLst/>
              <a:gdLst/>
              <a:ahLst/>
              <a:cxnLst>
                <a:cxn ang="0">
                  <a:pos x="60" y="2"/>
                </a:cxn>
                <a:cxn ang="0">
                  <a:pos x="60" y="2"/>
                </a:cxn>
                <a:cxn ang="0">
                  <a:pos x="61" y="6"/>
                </a:cxn>
                <a:cxn ang="0">
                  <a:pos x="62" y="8"/>
                </a:cxn>
                <a:cxn ang="0">
                  <a:pos x="63" y="11"/>
                </a:cxn>
                <a:cxn ang="0">
                  <a:pos x="63" y="11"/>
                </a:cxn>
                <a:cxn ang="0">
                  <a:pos x="61" y="13"/>
                </a:cxn>
                <a:cxn ang="0">
                  <a:pos x="58" y="15"/>
                </a:cxn>
                <a:cxn ang="0">
                  <a:pos x="53" y="16"/>
                </a:cxn>
                <a:cxn ang="0">
                  <a:pos x="47" y="17"/>
                </a:cxn>
                <a:cxn ang="0">
                  <a:pos x="40" y="16"/>
                </a:cxn>
                <a:cxn ang="0">
                  <a:pos x="24" y="14"/>
                </a:cxn>
                <a:cxn ang="0">
                  <a:pos x="15" y="14"/>
                </a:cxn>
                <a:cxn ang="0">
                  <a:pos x="5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9" y="1"/>
                </a:cxn>
                <a:cxn ang="0">
                  <a:pos x="17" y="0"/>
                </a:cxn>
                <a:cxn ang="0">
                  <a:pos x="25" y="0"/>
                </a:cxn>
                <a:cxn ang="0">
                  <a:pos x="32" y="0"/>
                </a:cxn>
                <a:cxn ang="0">
                  <a:pos x="46" y="1"/>
                </a:cxn>
                <a:cxn ang="0">
                  <a:pos x="60" y="2"/>
                </a:cxn>
                <a:cxn ang="0">
                  <a:pos x="60" y="2"/>
                </a:cxn>
              </a:cxnLst>
              <a:rect l="0" t="0" r="r" b="b"/>
              <a:pathLst>
                <a:path w="62" h="17">
                  <a:moveTo>
                    <a:pt x="60" y="2"/>
                  </a:moveTo>
                  <a:lnTo>
                    <a:pt x="60" y="2"/>
                  </a:lnTo>
                  <a:lnTo>
                    <a:pt x="61" y="6"/>
                  </a:lnTo>
                  <a:lnTo>
                    <a:pt x="62" y="8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1" y="13"/>
                  </a:lnTo>
                  <a:lnTo>
                    <a:pt x="58" y="15"/>
                  </a:lnTo>
                  <a:lnTo>
                    <a:pt x="53" y="16"/>
                  </a:lnTo>
                  <a:lnTo>
                    <a:pt x="47" y="17"/>
                  </a:lnTo>
                  <a:lnTo>
                    <a:pt x="40" y="16"/>
                  </a:lnTo>
                  <a:lnTo>
                    <a:pt x="24" y="14"/>
                  </a:lnTo>
                  <a:lnTo>
                    <a:pt x="15" y="14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0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9" y="1"/>
                  </a:lnTo>
                  <a:lnTo>
                    <a:pt x="17" y="0"/>
                  </a:lnTo>
                  <a:lnTo>
                    <a:pt x="25" y="0"/>
                  </a:lnTo>
                  <a:lnTo>
                    <a:pt x="32" y="0"/>
                  </a:lnTo>
                  <a:lnTo>
                    <a:pt x="46" y="1"/>
                  </a:lnTo>
                  <a:lnTo>
                    <a:pt x="60" y="2"/>
                  </a:lnTo>
                  <a:lnTo>
                    <a:pt x="60" y="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6336196" y="3770917"/>
            <a:ext cx="29771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博洋行书 7000" panose="02000600000000000000" pitchFamily="2" charset="-122"/>
              </a:rPr>
              <a:t>姓名：李玉聪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博洋行书 7000" panose="02000600000000000000" pitchFamily="2" charset="-122"/>
            </a:endParaRPr>
          </a:p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博洋行书 7000" panose="02000600000000000000" pitchFamily="2" charset="-122"/>
              </a:rPr>
              <a:t>班级：软件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博洋行书 7000" panose="02000600000000000000" pitchFamily="2" charset="-122"/>
              </a:rPr>
              <a:t>171</a:t>
            </a:r>
          </a:p>
          <a:p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博洋行书 7000" panose="02000600000000000000" pitchFamily="2" charset="-122"/>
            </a:endParaRPr>
          </a:p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博洋行书 7000" panose="02000600000000000000" pitchFamily="2" charset="-122"/>
              </a:rPr>
              <a:t>                                                                           2019.01.09 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博洋行书 7000" panose="02000600000000000000" pitchFamily="2" charset="-122"/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utoUpdateAnimBg="0"/>
      <p:bldP spid="7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ClrTx/>
              <a:buFont typeface="Wingdings" charset="0"/>
              <a:buChar char="!"/>
            </a:pPr>
            <a:r>
              <a:rPr lang="zh-CN" altLang="en-US" sz="60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</a:rPr>
              <a:t>双向循环链表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678" y="251302"/>
            <a:ext cx="7886700" cy="394811"/>
          </a:xfrm>
        </p:spPr>
        <p:txBody>
          <a:bodyPr>
            <a:normAutofit fontScale="90000"/>
          </a:bodyPr>
          <a:lstStyle/>
          <a:p>
            <a:pPr algn="l"/>
            <a:br>
              <a:rPr lang="zh-CN" altLang="en-US" dirty="0">
                <a:solidFill>
                  <a:schemeClr val="bg1"/>
                </a:solidFill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79877"/>
            <a:ext cx="7886700" cy="4078605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lnSpc>
                <a:spcPct val="90000"/>
              </a:lnSpc>
              <a:buNone/>
            </a:pPr>
            <a:endParaRPr lang="zh-CN" altLang="en-US" sz="30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itchFamily="2" charset="-122"/>
              <a:sym typeface="+mn-ea"/>
            </a:endParaRPr>
          </a:p>
          <a:p>
            <a:pPr eaLnBrk="1" fontAlgn="base" hangingPunct="1">
              <a:lnSpc>
                <a:spcPct val="90000"/>
              </a:lnSpc>
              <a:buClrTx/>
              <a:buFont typeface="Wingdings" charset="0"/>
              <a:buChar char="!"/>
            </a:pPr>
            <a:r>
              <a:rPr lang="zh-CN" altLang="en-US" sz="30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a typeface="宋体" pitchFamily="2" charset="-122"/>
                <a:sym typeface="+mn-ea"/>
              </a:rPr>
              <a:t>功能</a:t>
            </a:r>
            <a:r>
              <a:rPr lang="zh-CN" altLang="en-US" sz="30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sym typeface="+mn-ea"/>
              </a:rPr>
              <a:t>  :</a:t>
            </a:r>
          </a:p>
          <a:p>
            <a:pPr eaLnBrk="1" fontAlgn="base" hangingPunct="1">
              <a:lnSpc>
                <a:spcPct val="90000"/>
              </a:lnSpc>
            </a:pPr>
            <a:r>
              <a:rPr lang="en-US" altLang="zh-CN" sz="2400" dirty="0">
                <a:sym typeface="+mn-ea"/>
              </a:rPr>
              <a:t>1.</a:t>
            </a:r>
            <a:r>
              <a:rPr lang="zh-CN" altLang="zh-CN" sz="2400" dirty="0">
                <a:sym typeface="+mn-ea"/>
              </a:rPr>
              <a:t>建立一个空表。</a:t>
            </a:r>
            <a:endParaRPr lang="zh-CN" altLang="zh-CN" sz="2400" noProof="1">
              <a:sym typeface="+mn-ea"/>
            </a:endParaRPr>
          </a:p>
          <a:p>
            <a:pPr eaLnBrk="1" fontAlgn="base" hangingPunct="1"/>
            <a:r>
              <a:rPr lang="en-US" altLang="zh-CN" sz="2400" dirty="0">
                <a:sym typeface="+mn-ea"/>
              </a:rPr>
              <a:t>2.</a:t>
            </a:r>
            <a:r>
              <a:rPr lang="zh-CN" altLang="zh-CN" sz="2400" dirty="0">
                <a:sym typeface="+mn-ea"/>
              </a:rPr>
              <a:t>在第</a:t>
            </a:r>
            <a:r>
              <a:rPr lang="en-US" altLang="zh-CN" sz="2400" dirty="0">
                <a:sym typeface="+mn-ea"/>
              </a:rPr>
              <a:t>i</a:t>
            </a:r>
            <a:r>
              <a:rPr lang="zh-CN" altLang="zh-CN" sz="2400" dirty="0">
                <a:sym typeface="+mn-ea"/>
              </a:rPr>
              <a:t>个位置插入新的元素</a:t>
            </a:r>
            <a:r>
              <a:rPr lang="en-US" altLang="zh-CN" sz="2400" dirty="0">
                <a:sym typeface="+mn-ea"/>
              </a:rPr>
              <a:t>x</a:t>
            </a:r>
            <a:r>
              <a:rPr lang="zh-CN" altLang="zh-CN" sz="2400" dirty="0">
                <a:sym typeface="+mn-ea"/>
              </a:rPr>
              <a:t>。</a:t>
            </a:r>
            <a:endParaRPr lang="zh-CN" altLang="zh-CN" sz="2400" noProof="1">
              <a:sym typeface="+mn-ea"/>
            </a:endParaRPr>
          </a:p>
          <a:p>
            <a:pPr eaLnBrk="1" fontAlgn="base" hangingPunct="1"/>
            <a:r>
              <a:rPr lang="en-US" altLang="zh-CN" sz="2400" dirty="0">
                <a:sym typeface="+mn-ea"/>
              </a:rPr>
              <a:t>3.</a:t>
            </a:r>
            <a:r>
              <a:rPr lang="zh-CN" altLang="zh-CN" sz="2400" dirty="0">
                <a:sym typeface="+mn-ea"/>
              </a:rPr>
              <a:t>删除第</a:t>
            </a:r>
            <a:r>
              <a:rPr lang="en-US" altLang="zh-CN" sz="2400" dirty="0">
                <a:sym typeface="+mn-ea"/>
              </a:rPr>
              <a:t>i</a:t>
            </a:r>
            <a:r>
              <a:rPr lang="zh-CN" altLang="zh-CN" sz="2400" dirty="0">
                <a:sym typeface="+mn-ea"/>
              </a:rPr>
              <a:t>个位置上的元素。</a:t>
            </a:r>
            <a:endParaRPr lang="zh-CN" altLang="zh-CN" sz="2400" noProof="1">
              <a:sym typeface="+mn-ea"/>
            </a:endParaRPr>
          </a:p>
          <a:p>
            <a:pPr eaLnBrk="1" fontAlgn="base" hangingPunct="1"/>
            <a:r>
              <a:rPr lang="en-US" altLang="zh-CN" sz="2400" dirty="0">
                <a:sym typeface="+mn-ea"/>
              </a:rPr>
              <a:t>4.</a:t>
            </a:r>
            <a:r>
              <a:rPr lang="zh-CN" altLang="zh-CN" sz="2400" dirty="0">
                <a:sym typeface="+mn-ea"/>
              </a:rPr>
              <a:t>取第</a:t>
            </a:r>
            <a:r>
              <a:rPr lang="en-US" altLang="zh-CN" sz="2400" dirty="0">
                <a:sym typeface="+mn-ea"/>
              </a:rPr>
              <a:t>i</a:t>
            </a:r>
            <a:r>
              <a:rPr lang="zh-CN" altLang="zh-CN" sz="2400" dirty="0">
                <a:sym typeface="+mn-ea"/>
              </a:rPr>
              <a:t>个位置上的元素。</a:t>
            </a:r>
          </a:p>
          <a:p>
            <a:pPr eaLnBrk="1" fontAlgn="base" hangingPunct="1"/>
            <a:r>
              <a:rPr lang="en-US" altLang="zh-CN" sz="2400" dirty="0">
                <a:sym typeface="Arial" charset="0"/>
              </a:rPr>
              <a:t>5. </a:t>
            </a:r>
            <a:r>
              <a:rPr lang="zh-CN" altLang="zh-CN" sz="2400" dirty="0">
                <a:sym typeface="Arial" charset="0"/>
              </a:rPr>
              <a:t>返回元素</a:t>
            </a:r>
            <a:r>
              <a:rPr lang="en-US" altLang="zh-CN" sz="2400" dirty="0">
                <a:sym typeface="Arial" charset="0"/>
              </a:rPr>
              <a:t>x</a:t>
            </a:r>
            <a:r>
              <a:rPr lang="zh-CN" altLang="zh-CN" sz="2400" dirty="0">
                <a:sym typeface="Arial" charset="0"/>
              </a:rPr>
              <a:t>第一次出现在双向循环链表中的位置号。</a:t>
            </a:r>
            <a:endParaRPr lang="zh-CN" altLang="zh-CN" sz="2400" dirty="0"/>
          </a:p>
          <a:p>
            <a:pPr eaLnBrk="1" fontAlgn="base" hangingPunct="1"/>
            <a:r>
              <a:rPr lang="en-US" altLang="zh-CN" sz="2400" dirty="0">
                <a:sym typeface="Arial" charset="0"/>
              </a:rPr>
              <a:t>6.</a:t>
            </a:r>
            <a:r>
              <a:rPr lang="zh-CN" altLang="zh-CN" sz="2400" dirty="0">
                <a:sym typeface="Arial" charset="0"/>
              </a:rPr>
              <a:t>求双向循环链表的长度，即元素个数。</a:t>
            </a:r>
            <a:endParaRPr lang="en-US" altLang="zh-CN" sz="2400" dirty="0"/>
          </a:p>
          <a:p>
            <a:pPr eaLnBrk="1" fontAlgn="base" hangingPunct="1"/>
            <a:r>
              <a:rPr lang="en-US" altLang="zh-CN" sz="2400" dirty="0">
                <a:sym typeface="Arial" charset="0"/>
              </a:rPr>
              <a:t>7. </a:t>
            </a:r>
            <a:r>
              <a:rPr lang="zh-CN" altLang="zh-CN" sz="2400" dirty="0">
                <a:sym typeface="Arial" charset="0"/>
              </a:rPr>
              <a:t>输出双向循环链表中所有的元素值。</a:t>
            </a:r>
            <a:endParaRPr lang="en-US" altLang="zh-CN" sz="2400" dirty="0"/>
          </a:p>
          <a:p>
            <a:pPr eaLnBrk="1" fontAlgn="base" hangingPunct="1"/>
            <a:r>
              <a:rPr lang="en-US" altLang="zh-CN" sz="2400" dirty="0">
                <a:sym typeface="Arial" charset="0"/>
              </a:rPr>
              <a:t>8.</a:t>
            </a:r>
            <a:r>
              <a:rPr lang="zh-CN" altLang="zh-CN" sz="2400" dirty="0">
                <a:sym typeface="Arial" charset="0"/>
              </a:rPr>
              <a:t>实现双向循环链表的就地逆置。</a:t>
            </a:r>
            <a:endParaRPr lang="zh-CN" altLang="en-US" sz="2400" dirty="0"/>
          </a:p>
        </p:txBody>
      </p:sp>
    </p:spTree>
  </p:cSld>
  <p:clrMapOvr>
    <a:masterClrMapping/>
  </p:clrMapOvr>
  <p:transition advClick="0" advTm="0">
    <p:comb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525780"/>
          </a:xfrm>
        </p:spPr>
        <p:txBody>
          <a:bodyPr>
            <a:normAutofit fontScale="90000"/>
          </a:bodyPr>
          <a:lstStyle/>
          <a:p>
            <a:r>
              <a:rPr lang="zh-CN" altLang="en-US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ffectLst/>
              </a:rPr>
              <a:t>建立一个空表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767556"/>
            <a:ext cx="7886700" cy="3866198"/>
          </a:xfrm>
        </p:spPr>
        <p:txBody>
          <a:bodyPr/>
          <a:lstStyle/>
          <a:p>
            <a:pPr algn="l">
              <a:buClrTx/>
              <a:buFont typeface="Wingdings" charset="0"/>
              <a:buChar char="!"/>
            </a:pP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charset="0"/>
                <a:ea typeface="黑体" charset="0"/>
                <a:sym typeface="+mn-ea"/>
              </a:rPr>
              <a:t>主要代码</a:t>
            </a:r>
          </a:p>
          <a:p>
            <a:pPr marL="0" indent="0">
              <a:buNone/>
            </a:pPr>
            <a:r>
              <a:rPr lang="zh-CN" altLang="en-US" sz="24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宋体" charset="-122"/>
                <a:ea typeface="宋体" charset="-122"/>
                <a:sym typeface="+mn-ea"/>
              </a:rPr>
              <a:t>  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sym typeface="+mn-ea"/>
              </a:rPr>
              <a:t>public </a:t>
            </a:r>
            <a:r>
              <a:rPr lang="en-US" altLang="zh-CN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sym typeface="+mn-ea"/>
              </a:rPr>
              <a:t>nid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sym typeface="+mn-ea"/>
              </a:rPr>
              <a:t>(){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sym typeface="+mn-ea"/>
              </a:rPr>
              <a:t>  head=new Node();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sym typeface="+mn-ea"/>
              </a:rPr>
              <a:t>  head.prve=head;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sym typeface="+mn-ea"/>
              </a:rPr>
              <a:t>  head.next=head;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ea"/>
                <a:sym typeface="+mn-ea"/>
              </a:rPr>
              <a:t>  }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ffectLst/>
                <a:sym typeface="+mn-ea"/>
              </a:rPr>
              <a:t>在第</a:t>
            </a:r>
            <a:r>
              <a:rPr lang="en-US" altLang="zh-CN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ffectLst/>
                <a:sym typeface="+mn-ea"/>
              </a:rPr>
              <a:t>i</a:t>
            </a:r>
            <a:r>
              <a:rPr lang="zh-CN" altLang="zh-CN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ffectLst/>
                <a:sym typeface="+mn-ea"/>
              </a:rPr>
              <a:t>个位置插入新的元素</a:t>
            </a:r>
            <a:r>
              <a:rPr lang="en-US" altLang="zh-CN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ffectLst/>
                <a:sym typeface="+mn-ea"/>
              </a:rPr>
              <a:t>x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charset="0"/>
              <a:buChar char="!"/>
            </a:pPr>
            <a:r>
              <a:rPr lang="zh-CN" altLang="en-US" sz="2400" b="1">
                <a:latin typeface="Arial" charset="0"/>
                <a:ea typeface="黑体" pitchFamily="49" charset="-122"/>
              </a:rPr>
              <a:t>主要代码</a:t>
            </a:r>
          </a:p>
          <a:p>
            <a:pPr marL="0" indent="0">
              <a:buNone/>
            </a:pPr>
            <a:r>
              <a:rPr lang="zh-CN" altLang="en-US"/>
              <a:t>    </a:t>
            </a:r>
          </a:p>
          <a:p>
            <a:pPr marL="0" indent="0">
              <a:buNone/>
            </a:pPr>
            <a:r>
              <a:rPr lang="zh-CN" altLang="en-US"/>
              <a:t>    Node s=new Node(x);</a:t>
            </a:r>
          </a:p>
          <a:p>
            <a:pPr marL="0" indent="0">
              <a:buNone/>
            </a:pPr>
            <a:r>
              <a:rPr lang="zh-CN" altLang="en-US"/>
              <a:t>    p.prve.next =s;</a:t>
            </a:r>
          </a:p>
          <a:p>
            <a:pPr marL="0" indent="0">
              <a:buNone/>
            </a:pPr>
            <a:r>
              <a:rPr lang="zh-CN" altLang="en-US"/>
              <a:t>    s.prve=p.prve;</a:t>
            </a:r>
          </a:p>
          <a:p>
            <a:pPr marL="0" indent="0">
              <a:buNone/>
            </a:pPr>
            <a:r>
              <a:rPr lang="zh-CN" altLang="en-US"/>
              <a:t>    s.next=p;</a:t>
            </a:r>
          </a:p>
          <a:p>
            <a:pPr marL="0" indent="0">
              <a:buNone/>
            </a:pPr>
            <a:r>
              <a:rPr lang="zh-CN" altLang="en-US"/>
              <a:t>    p.prve=s;</a:t>
            </a:r>
          </a:p>
          <a:p>
            <a:pPr marL="0" indent="0">
              <a:buNone/>
            </a:pPr>
            <a:r>
              <a:rPr lang="zh-CN" altLang="en-US"/>
              <a:t> 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ffectLst/>
                <a:sym typeface="+mn-ea"/>
              </a:rPr>
              <a:t>删除第</a:t>
            </a:r>
            <a:r>
              <a:rPr lang="en-US" altLang="zh-CN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ffectLst/>
                <a:sym typeface="+mn-ea"/>
              </a:rPr>
              <a:t>i</a:t>
            </a:r>
            <a:r>
              <a:rPr lang="zh-CN" altLang="zh-CN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ffectLst/>
                <a:sym typeface="+mn-ea"/>
              </a:rPr>
              <a:t>个位置上的元素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r>
              <a:rPr lang="zh-CN" altLang="en-US" sz="2400">
                <a:latin typeface="黑体" charset="0"/>
                <a:ea typeface="黑体" charset="0"/>
              </a:rPr>
              <a:t>  p.prve.next=p.next ;</a:t>
            </a:r>
          </a:p>
          <a:p>
            <a:pPr marL="0" indent="0">
              <a:buNone/>
            </a:pPr>
            <a:r>
              <a:rPr lang="zh-CN" altLang="en-US" sz="2400">
                <a:latin typeface="黑体" charset="0"/>
                <a:ea typeface="黑体" charset="0"/>
              </a:rPr>
              <a:t>  p.next.prv</a:t>
            </a:r>
            <a:r>
              <a:rPr lang="en-US" altLang="zh-CN" sz="2400">
                <a:latin typeface="黑体" charset="0"/>
                <a:ea typeface="黑体" charset="0"/>
              </a:rPr>
              <a:t>e</a:t>
            </a:r>
            <a:r>
              <a:rPr lang="zh-CN" altLang="en-US" sz="2400">
                <a:latin typeface="黑体" charset="0"/>
                <a:ea typeface="黑体" charset="0"/>
              </a:rPr>
              <a:t>=p.prve;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8164" y="11272"/>
            <a:ext cx="7886700" cy="604361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ffectLst/>
                <a:ea typeface="宋体" charset="-122"/>
                <a:sym typeface="+mn-ea"/>
              </a:rPr>
              <a:t>取第i个位置上的元素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5790" y="544196"/>
            <a:ext cx="7886700" cy="4089559"/>
          </a:xfrm>
        </p:spPr>
        <p:txBody>
          <a:bodyPr>
            <a:no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>
                <a:latin typeface="黑体" charset="0"/>
                <a:ea typeface="黑体" charset="0"/>
                <a:sym typeface="+mn-ea"/>
              </a:rPr>
              <a:t>主要代码</a:t>
            </a:r>
          </a:p>
          <a:p>
            <a:pPr marL="0" indent="0">
              <a:buNone/>
            </a:pPr>
            <a:r>
              <a:rPr lang="zh-CN" altLang="en-US" sz="1500"/>
              <a:t> public Object get(int i) throws Exception{</a:t>
            </a:r>
          </a:p>
          <a:p>
            <a:pPr marL="0" indent="0">
              <a:buNone/>
            </a:pPr>
            <a:r>
              <a:rPr lang="zh-CN" altLang="en-US" sz="1500"/>
              <a:t>        Node p=head.next;</a:t>
            </a:r>
          </a:p>
          <a:p>
            <a:pPr marL="0" indent="0">
              <a:buNone/>
            </a:pPr>
            <a:r>
              <a:rPr lang="zh-CN" altLang="en-US" sz="1500"/>
              <a:t>        int j=0;</a:t>
            </a:r>
          </a:p>
          <a:p>
            <a:pPr marL="0" indent="0">
              <a:buNone/>
            </a:pPr>
            <a:r>
              <a:rPr lang="zh-CN" altLang="en-US" sz="1500"/>
              <a:t>       while(!p.equals(head)&amp;&amp;j&lt;i){</a:t>
            </a:r>
          </a:p>
          <a:p>
            <a:pPr marL="0" indent="0">
              <a:buNone/>
            </a:pPr>
            <a:r>
              <a:rPr lang="zh-CN" altLang="en-US" sz="1500"/>
              <a:t>    	   p=p.next ;</a:t>
            </a:r>
          </a:p>
          <a:p>
            <a:pPr marL="0" indent="0">
              <a:buNone/>
            </a:pPr>
            <a:r>
              <a:rPr lang="zh-CN" altLang="en-US" sz="1500"/>
              <a:t>    	   ++j;</a:t>
            </a:r>
          </a:p>
          <a:p>
            <a:pPr marL="0" indent="0">
              <a:buNone/>
            </a:pPr>
            <a:r>
              <a:rPr lang="zh-CN" altLang="en-US" sz="1500"/>
              <a:t>       }</a:t>
            </a:r>
          </a:p>
          <a:p>
            <a:pPr marL="0" indent="0">
              <a:buNone/>
            </a:pPr>
            <a:r>
              <a:rPr lang="zh-CN" altLang="en-US" sz="1500"/>
              <a:t>       if(j!=i){</a:t>
            </a:r>
          </a:p>
          <a:p>
            <a:pPr marL="0" indent="0">
              <a:buNone/>
            </a:pPr>
            <a:r>
              <a:rPr lang="zh-CN" altLang="en-US" sz="1500"/>
              <a:t>    	   throw new Exception ("查找位置不合法");</a:t>
            </a:r>
          </a:p>
          <a:p>
            <a:pPr marL="0" indent="0">
              <a:buNone/>
            </a:pPr>
            <a:r>
              <a:rPr lang="zh-CN" altLang="en-US" sz="1500"/>
              <a:t>       }</a:t>
            </a:r>
          </a:p>
          <a:p>
            <a:pPr marL="0" indent="0">
              <a:buNone/>
            </a:pPr>
            <a:r>
              <a:rPr lang="zh-CN" altLang="en-US" sz="1500"/>
              <a:t>    	  return p.data;</a:t>
            </a:r>
          </a:p>
          <a:p>
            <a:pPr marL="0" indent="0">
              <a:buNone/>
            </a:pPr>
            <a:r>
              <a:rPr lang="zh-CN" altLang="en-US" sz="1500"/>
              <a:t>    }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6248" y="171292"/>
            <a:ext cx="7886700" cy="432911"/>
          </a:xfrm>
        </p:spPr>
        <p:txBody>
          <a:bodyPr>
            <a:normAutofit fontScale="90000"/>
          </a:bodyPr>
          <a:lstStyle/>
          <a:p>
            <a:r>
              <a:rPr lang="zh-CN" altLang="zh-CN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sym typeface="Arial" charset="0"/>
              </a:rPr>
              <a:t>返回元素</a:t>
            </a:r>
            <a:r>
              <a:rPr lang="en-US" altLang="zh-CN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sym typeface="Arial" charset="0"/>
              </a:rPr>
              <a:t>x</a:t>
            </a:r>
            <a:r>
              <a:rPr lang="zh-CN" altLang="zh-CN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sym typeface="Arial" charset="0"/>
              </a:rPr>
              <a:t>第一次出现在双向循环链表中的位置号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67056"/>
            <a:ext cx="7886700" cy="4066699"/>
          </a:xfrm>
        </p:spPr>
        <p:txBody>
          <a:bodyPr>
            <a:normAutofit fontScale="25000" lnSpcReduction="10000"/>
          </a:bodyPr>
          <a:lstStyle/>
          <a:p>
            <a:pPr marL="257175" indent="-257175">
              <a:buFont typeface="Wingdings" charset="0"/>
              <a:buChar char="!"/>
            </a:pPr>
            <a:r>
              <a:rPr lang="zh-CN" altLang="en-US" sz="720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r>
              <a:rPr lang="zh-CN" altLang="en-US" sz="6600"/>
              <a:t> public int indexof(Object x){</a:t>
            </a:r>
          </a:p>
          <a:p>
            <a:pPr marL="0" indent="0">
              <a:buNone/>
            </a:pPr>
            <a:r>
              <a:rPr lang="zh-CN" altLang="en-US" sz="6600"/>
              <a:t>        Node p=head.next;</a:t>
            </a:r>
          </a:p>
          <a:p>
            <a:pPr marL="0" indent="0">
              <a:buNone/>
            </a:pPr>
            <a:r>
              <a:rPr lang="zh-CN" altLang="en-US" sz="6600"/>
              <a:t>        int j=0;</a:t>
            </a:r>
          </a:p>
          <a:p>
            <a:pPr marL="0" indent="0">
              <a:buNone/>
            </a:pPr>
            <a:r>
              <a:rPr lang="zh-CN" altLang="en-US" sz="6600"/>
              <a:t>      while(!p.equals(head)&amp;&amp;!p.data.equals(x)){</a:t>
            </a:r>
          </a:p>
          <a:p>
            <a:pPr marL="0" indent="0">
              <a:buNone/>
            </a:pPr>
            <a:r>
              <a:rPr lang="zh-CN" altLang="en-US" sz="6600"/>
              <a:t>    	  p=p.next ;</a:t>
            </a:r>
          </a:p>
          <a:p>
            <a:pPr marL="0" indent="0">
              <a:buNone/>
            </a:pPr>
            <a:r>
              <a:rPr lang="zh-CN" altLang="en-US" sz="6600"/>
              <a:t>    	  ++j;</a:t>
            </a:r>
          </a:p>
          <a:p>
            <a:pPr marL="0" indent="0">
              <a:buNone/>
            </a:pPr>
            <a:r>
              <a:rPr lang="zh-CN" altLang="en-US" sz="6600"/>
              <a:t>      }</a:t>
            </a:r>
          </a:p>
          <a:p>
            <a:pPr marL="0" indent="0">
              <a:buNone/>
            </a:pPr>
            <a:r>
              <a:rPr lang="zh-CN" altLang="en-US" sz="6600"/>
              <a:t>      if(!p.equals(head)){</a:t>
            </a:r>
          </a:p>
          <a:p>
            <a:pPr marL="0" indent="0">
              <a:buNone/>
            </a:pPr>
            <a:r>
              <a:rPr lang="zh-CN" altLang="en-US" sz="6600"/>
              <a:t>    	  return j;</a:t>
            </a:r>
          </a:p>
          <a:p>
            <a:pPr marL="0" indent="0">
              <a:buNone/>
            </a:pPr>
            <a:r>
              <a:rPr lang="zh-CN" altLang="en-US" sz="6600"/>
              <a:t>    	  }</a:t>
            </a:r>
          </a:p>
          <a:p>
            <a:pPr marL="0" indent="0">
              <a:buNone/>
            </a:pPr>
            <a:r>
              <a:rPr lang="zh-CN" altLang="en-US" sz="6600"/>
              <a:t>      else return -1;</a:t>
            </a:r>
          </a:p>
          <a:p>
            <a:pPr marL="0" indent="0">
              <a:buNone/>
            </a:pPr>
            <a:r>
              <a:rPr lang="zh-CN" altLang="en-US" sz="6600"/>
              <a:t>    }</a:t>
            </a:r>
          </a:p>
          <a:p>
            <a:pPr marL="0" indent="0">
              <a:buNone/>
            </a:pPr>
            <a:r>
              <a:rPr lang="zh-CN" altLang="en-US"/>
              <a:t>   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zh-CN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求双向循环链表的长度，即元素个数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zh-CN" altLang="en-US" sz="1500">
                <a:latin typeface="黑体" charset="0"/>
                <a:ea typeface="黑体" charset="0"/>
              </a:rPr>
              <a:t>public  int length(){</a:t>
            </a:r>
          </a:p>
          <a:p>
            <a:pPr marL="0" indent="0">
              <a:buNone/>
            </a:pPr>
            <a:r>
              <a:rPr lang="zh-CN" altLang="en-US" sz="1500">
                <a:latin typeface="黑体" charset="0"/>
                <a:ea typeface="黑体" charset="0"/>
              </a:rPr>
              <a:t>        Node p=head.next;</a:t>
            </a:r>
          </a:p>
          <a:p>
            <a:pPr marL="0" indent="0">
              <a:buNone/>
            </a:pPr>
            <a:r>
              <a:rPr lang="zh-CN" altLang="en-US" sz="1500">
                <a:latin typeface="黑体" charset="0"/>
                <a:ea typeface="黑体" charset="0"/>
              </a:rPr>
              <a:t>        int j=0;</a:t>
            </a:r>
          </a:p>
          <a:p>
            <a:pPr marL="0" indent="0">
              <a:buNone/>
            </a:pPr>
            <a:r>
              <a:rPr lang="zh-CN" altLang="en-US" sz="1500">
                <a:latin typeface="黑体" charset="0"/>
                <a:ea typeface="黑体" charset="0"/>
              </a:rPr>
              <a:t>        while(!p.equals(head)){</a:t>
            </a:r>
          </a:p>
          <a:p>
            <a:pPr marL="0" indent="0">
              <a:buNone/>
            </a:pPr>
            <a:r>
              <a:rPr lang="zh-CN" altLang="en-US" sz="1500">
                <a:latin typeface="黑体" charset="0"/>
                <a:ea typeface="黑体" charset="0"/>
              </a:rPr>
              <a:t>        	p=p.next ;</a:t>
            </a:r>
          </a:p>
          <a:p>
            <a:pPr marL="0" indent="0">
              <a:buNone/>
            </a:pPr>
            <a:r>
              <a:rPr lang="zh-CN" altLang="en-US" sz="1500">
                <a:latin typeface="黑体" charset="0"/>
                <a:ea typeface="黑体" charset="0"/>
              </a:rPr>
              <a:t>        	++j;</a:t>
            </a:r>
          </a:p>
          <a:p>
            <a:pPr marL="0" indent="0">
              <a:buNone/>
            </a:pPr>
            <a:r>
              <a:rPr lang="zh-CN" altLang="en-US" sz="1500">
                <a:latin typeface="黑体" charset="0"/>
                <a:ea typeface="黑体" charset="0"/>
              </a:rPr>
              <a:t>        }</a:t>
            </a:r>
          </a:p>
          <a:p>
            <a:pPr marL="0" indent="0">
              <a:buNone/>
            </a:pPr>
            <a:r>
              <a:rPr lang="zh-CN" altLang="en-US" sz="1500">
                <a:latin typeface="黑体" charset="0"/>
                <a:ea typeface="黑体" charset="0"/>
              </a:rPr>
              <a:t>        return j;</a:t>
            </a:r>
          </a:p>
          <a:p>
            <a:pPr marL="0" indent="0">
              <a:buNone/>
            </a:pPr>
            <a:r>
              <a:rPr lang="zh-CN" altLang="en-US" sz="1500">
                <a:latin typeface="黑体" charset="0"/>
                <a:ea typeface="黑体" charset="0"/>
              </a:rPr>
              <a:t>    }</a:t>
            </a:r>
          </a:p>
          <a:p>
            <a:pPr marL="0" indent="0">
              <a:buNone/>
            </a:pPr>
            <a:r>
              <a:rPr lang="zh-CN" altLang="en-US" sz="2400">
                <a:latin typeface="黑体" charset="0"/>
                <a:ea typeface="黑体" charset="0"/>
              </a:rPr>
              <a:t>    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678" y="171291"/>
            <a:ext cx="7886700" cy="456248"/>
          </a:xfrm>
        </p:spPr>
        <p:txBody>
          <a:bodyPr>
            <a:normAutofit fontScale="90000"/>
          </a:bodyPr>
          <a:lstStyle/>
          <a:p>
            <a:r>
              <a:rPr lang="zh-CN" altLang="zh-CN" sz="27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输出双向循环链表中所有的元素值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693738"/>
            <a:ext cx="7886700" cy="3940016"/>
          </a:xfrm>
        </p:spPr>
        <p:txBody>
          <a:bodyPr>
            <a:normAutofit fontScale="70000" lnSpcReduction="20000"/>
          </a:bodyPr>
          <a:lstStyle/>
          <a:p>
            <a:pPr marL="0" indent="0">
              <a:buFont typeface="Wingdings" charset="0"/>
              <a:buChar char="!"/>
            </a:pPr>
            <a:r>
              <a:rPr lang="zh-CN" altLang="en-US" sz="240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zh-CN" altLang="en-US">
                <a:latin typeface="黑体" charset="0"/>
                <a:ea typeface="黑体" charset="0"/>
              </a:rPr>
              <a:t>public void display(){</a:t>
            </a:r>
          </a:p>
          <a:p>
            <a:pPr marL="0" indent="0">
              <a:buNone/>
            </a:pPr>
            <a:r>
              <a:rPr lang="zh-CN" altLang="en-US">
                <a:latin typeface="黑体" charset="0"/>
                <a:ea typeface="黑体" charset="0"/>
              </a:rPr>
              <a:t>        Node p=head.next;</a:t>
            </a:r>
          </a:p>
          <a:p>
            <a:pPr marL="0" indent="0">
              <a:buNone/>
            </a:pPr>
            <a:r>
              <a:rPr lang="zh-CN" altLang="en-US">
                <a:latin typeface="黑体" charset="0"/>
                <a:ea typeface="黑体" charset="0"/>
              </a:rPr>
              <a:t>        while(!p.equals(head)){</a:t>
            </a:r>
          </a:p>
          <a:p>
            <a:pPr marL="0" indent="0">
              <a:buNone/>
            </a:pPr>
            <a:r>
              <a:rPr lang="zh-CN" altLang="en-US">
                <a:latin typeface="黑体" charset="0"/>
                <a:ea typeface="黑体" charset="0"/>
              </a:rPr>
              <a:t>        	System.out.print(p.data+" ");</a:t>
            </a:r>
          </a:p>
          <a:p>
            <a:pPr marL="0" indent="0">
              <a:buNone/>
            </a:pPr>
            <a:r>
              <a:rPr lang="zh-CN" altLang="en-US">
                <a:latin typeface="黑体" charset="0"/>
                <a:ea typeface="黑体" charset="0"/>
              </a:rPr>
              <a:t>        	p=p.next ;</a:t>
            </a:r>
          </a:p>
          <a:p>
            <a:pPr marL="0" indent="0">
              <a:buNone/>
            </a:pPr>
            <a:r>
              <a:rPr lang="zh-CN" altLang="en-US">
                <a:latin typeface="黑体" charset="0"/>
                <a:ea typeface="黑体" charset="0"/>
              </a:rPr>
              <a:t>        }</a:t>
            </a:r>
          </a:p>
          <a:p>
            <a:pPr marL="0" indent="0">
              <a:buNone/>
            </a:pPr>
            <a:r>
              <a:rPr lang="zh-CN" altLang="en-US">
                <a:latin typeface="黑体" charset="0"/>
                <a:ea typeface="黑体" charset="0"/>
              </a:rPr>
              <a:t>        System.out.println( );</a:t>
            </a:r>
          </a:p>
          <a:p>
            <a:pPr marL="0" indent="0">
              <a:buNone/>
            </a:pPr>
            <a:r>
              <a:rPr lang="zh-CN" altLang="en-US">
                <a:latin typeface="黑体" charset="0"/>
                <a:ea typeface="黑体" charset="0"/>
              </a:rPr>
              <a:t>    }</a:t>
            </a:r>
          </a:p>
          <a:p>
            <a:pPr marL="0" indent="0">
              <a:buNone/>
            </a:pPr>
            <a:r>
              <a:rPr lang="zh-CN" altLang="en-US" sz="2400">
                <a:latin typeface="黑体" charset="0"/>
                <a:ea typeface="黑体" charset="0"/>
              </a:rPr>
              <a:t>  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304" y="90805"/>
            <a:ext cx="7886700" cy="512445"/>
          </a:xfrm>
        </p:spPr>
        <p:txBody>
          <a:bodyPr>
            <a:normAutofit fontScale="90000"/>
          </a:bodyPr>
          <a:lstStyle/>
          <a:p>
            <a:r>
              <a:rPr lang="zh-CN" altLang="zh-CN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effectLst/>
                <a:sym typeface="Arial" charset="0"/>
              </a:rPr>
              <a:t>实现双向循环链表的就地逆置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43719"/>
            <a:ext cx="7886700" cy="4525804"/>
          </a:xfrm>
        </p:spPr>
        <p:txBody>
          <a:bodyPr>
            <a:normAutofit fontScale="32500" lnSpcReduction="20000"/>
          </a:bodyPr>
          <a:lstStyle/>
          <a:p>
            <a:pPr marL="0" indent="0">
              <a:buFont typeface="Wingdings" charset="0"/>
              <a:buChar char="!"/>
            </a:pPr>
            <a:r>
              <a:rPr lang="zh-CN" altLang="en-US" sz="60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r>
              <a:rPr lang="zh-CN" altLang="en-US" sz="2400" dirty="0">
                <a:latin typeface="黑体" charset="0"/>
                <a:ea typeface="黑体" charset="0"/>
              </a:rPr>
              <a:t> </a:t>
            </a:r>
            <a:r>
              <a:rPr lang="zh-CN" altLang="en-US" sz="5400" dirty="0">
                <a:latin typeface="黑体" charset="0"/>
                <a:ea typeface="黑体" charset="0"/>
              </a:rPr>
              <a:t>public void resever()  {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    Node p=head.next;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    Node q=p.next;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  while(!p.equals(head)){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	  Node s=q.next 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	  q.next=p;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	  p.prve=q;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	  p=q;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	  q=s;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  }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  q.next=p;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	  p.prve=q;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	  p=head;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	  this.display();</a:t>
            </a:r>
          </a:p>
          <a:p>
            <a:pPr marL="0" indent="0">
              <a:buNone/>
            </a:pPr>
            <a:r>
              <a:rPr lang="zh-CN" altLang="en-US" sz="5400" dirty="0">
                <a:latin typeface="黑体" charset="0"/>
                <a:ea typeface="黑体" charset="0"/>
              </a:rPr>
              <a:t>    }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15B4A58-6AC0-4A0C-A9A5-7F76A008397D}"/>
              </a:ext>
            </a:extLst>
          </p:cNvPr>
          <p:cNvSpPr/>
          <p:nvPr/>
        </p:nvSpPr>
        <p:spPr>
          <a:xfrm>
            <a:off x="809582" y="1348408"/>
            <a:ext cx="752483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Font typeface="Wingdings" charset="0"/>
              <a:buChar char="!"/>
            </a:pPr>
            <a:r>
              <a:rPr lang="zh-CN" altLang="en-US" sz="60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</a:rPr>
              <a:t>排序算法的实现</a:t>
            </a:r>
          </a:p>
        </p:txBody>
      </p:sp>
    </p:spTree>
  </p:cSld>
  <p:clrMapOvr>
    <a:masterClrMapping/>
  </p:clrMapOvr>
  <p:transition>
    <p:comb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058133D-491D-40C1-AD0D-2B1AC337E83F}"/>
              </a:ext>
            </a:extLst>
          </p:cNvPr>
          <p:cNvSpPr/>
          <p:nvPr/>
        </p:nvSpPr>
        <p:spPr>
          <a:xfrm>
            <a:off x="611560" y="520316"/>
            <a:ext cx="2779928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buFont typeface="Wingdings" charset="0"/>
              <a:buChar char="!"/>
            </a:pPr>
            <a:r>
              <a:rPr lang="zh-CN" altLang="en-US" sz="30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sym typeface="+mn-ea"/>
              </a:rPr>
              <a:t>功能及要求  :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7013D8-4BD0-45EE-B320-6934820E0E67}"/>
              </a:ext>
            </a:extLst>
          </p:cNvPr>
          <p:cNvSpPr/>
          <p:nvPr/>
        </p:nvSpPr>
        <p:spPr>
          <a:xfrm>
            <a:off x="791580" y="1292939"/>
            <a:ext cx="7056784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90000"/>
              </a:lnSpc>
            </a:pPr>
            <a:r>
              <a:rPr lang="zh-CN" altLang="en-US" sz="2400" dirty="0">
                <a:sym typeface="+mn-ea"/>
              </a:rPr>
              <a:t>        编程实现直接插入排序、希尔排序、改进的冒泡排序、快速排序、直接选择排序、堆排序、归并排序和链式基数排序。要求先输入</a:t>
            </a:r>
            <a:r>
              <a:rPr lang="en-US" altLang="zh-CN" sz="2400" dirty="0">
                <a:sym typeface="+mn-ea"/>
              </a:rPr>
              <a:t>10</a:t>
            </a:r>
            <a:r>
              <a:rPr lang="zh-CN" altLang="en-US" sz="2400" dirty="0">
                <a:sym typeface="+mn-ea"/>
              </a:rPr>
              <a:t>个整数，输出各种排序算法每一趟排序的结果；</a:t>
            </a:r>
            <a:endParaRPr lang="en-US" altLang="zh-CN" sz="2400" dirty="0">
              <a:sym typeface="+mn-ea"/>
            </a:endParaRPr>
          </a:p>
          <a:p>
            <a:pPr fontAlgn="base">
              <a:lnSpc>
                <a:spcPct val="90000"/>
              </a:lnSpc>
            </a:pPr>
            <a:r>
              <a:rPr lang="en-US" altLang="zh-CN" sz="2400" dirty="0">
                <a:sym typeface="+mn-ea"/>
              </a:rPr>
              <a:t>         </a:t>
            </a:r>
            <a:r>
              <a:rPr lang="zh-CN" altLang="en-US" sz="2400" dirty="0">
                <a:sym typeface="+mn-ea"/>
              </a:rPr>
              <a:t>随机产生</a:t>
            </a:r>
            <a:r>
              <a:rPr lang="en-US" altLang="zh-CN" sz="2400" dirty="0">
                <a:sym typeface="+mn-ea"/>
              </a:rPr>
              <a:t>3</a:t>
            </a:r>
            <a:r>
              <a:rPr lang="zh-CN" altLang="en-US" sz="2400" dirty="0">
                <a:sym typeface="+mn-ea"/>
              </a:rPr>
              <a:t>万个数，对其进行排序，观察其结果，并测试各排序算法的执行时间，比较执行效率。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4104963"/>
      </p:ext>
    </p:extLst>
  </p:cSld>
  <p:clrMapOvr>
    <a:masterClrMapping/>
  </p:clrMapOvr>
  <p:transition advClick="0" advTm="0">
    <p:comb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用插入法创建无序序列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 fontScale="850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//</a:t>
            </a:r>
            <a:r>
              <a:rPr lang="zh-CN" altLang="en-US" sz="1500" dirty="0">
                <a:latin typeface="黑体" charset="0"/>
                <a:ea typeface="黑体" charset="0"/>
              </a:rPr>
              <a:t>在当前顺序表的第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zh-CN" altLang="en-US" sz="1500" dirty="0">
                <a:latin typeface="黑体" charset="0"/>
                <a:ea typeface="黑体" charset="0"/>
              </a:rPr>
              <a:t>个节点之前插入一个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zh-CN" altLang="en-US" sz="1500" dirty="0">
                <a:latin typeface="黑体" charset="0"/>
                <a:ea typeface="黑体" charset="0"/>
              </a:rPr>
              <a:t>类型的结点</a:t>
            </a:r>
            <a:r>
              <a:rPr lang="en-US" altLang="zh-CN" sz="1500" dirty="0">
                <a:latin typeface="黑体" charset="0"/>
                <a:ea typeface="黑体" charset="0"/>
              </a:rPr>
              <a:t>x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public void insert(int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i,RecordNode</a:t>
            </a:r>
            <a:r>
              <a:rPr lang="en-US" altLang="zh-CN" sz="1500" dirty="0">
                <a:latin typeface="黑体" charset="0"/>
                <a:ea typeface="黑体" charset="0"/>
              </a:rPr>
              <a:t> x)throws Exception{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if(</a:t>
            </a:r>
            <a:r>
              <a:rPr lang="en-US" altLang="zh-CN" sz="1500" dirty="0" err="1">
                <a:latin typeface="黑体" charset="0"/>
                <a:ea typeface="黑体" charset="0"/>
              </a:rPr>
              <a:t>curlen</a:t>
            </a:r>
            <a:r>
              <a:rPr lang="en-US" altLang="zh-CN" sz="1500" dirty="0">
                <a:latin typeface="黑体" charset="0"/>
                <a:ea typeface="黑体" charset="0"/>
              </a:rPr>
              <a:t>==</a:t>
            </a:r>
            <a:r>
              <a:rPr lang="en-US" altLang="zh-CN" sz="1500" dirty="0" err="1">
                <a:latin typeface="黑体" charset="0"/>
                <a:ea typeface="黑体" charset="0"/>
              </a:rPr>
              <a:t>r.length</a:t>
            </a:r>
            <a:r>
              <a:rPr lang="en-US" altLang="zh-CN" sz="1500" dirty="0">
                <a:latin typeface="黑体" charset="0"/>
                <a:ea typeface="黑体" charset="0"/>
              </a:rPr>
              <a:t>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throw new Exception("</a:t>
            </a:r>
            <a:r>
              <a:rPr lang="zh-CN" altLang="en-US" sz="1500" dirty="0">
                <a:latin typeface="黑体" charset="0"/>
                <a:ea typeface="黑体" charset="0"/>
              </a:rPr>
              <a:t>顺序表已满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if(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&lt;0||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&gt;</a:t>
            </a:r>
            <a:r>
              <a:rPr lang="en-US" altLang="zh-CN" sz="1500" dirty="0" err="1">
                <a:latin typeface="黑体" charset="0"/>
                <a:ea typeface="黑体" charset="0"/>
              </a:rPr>
              <a:t>curlen</a:t>
            </a:r>
            <a:r>
              <a:rPr lang="en-US" altLang="zh-CN" sz="1500" dirty="0">
                <a:latin typeface="黑体" charset="0"/>
                <a:ea typeface="黑体" charset="0"/>
              </a:rPr>
              <a:t>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throw new Exception("</a:t>
            </a:r>
            <a:r>
              <a:rPr lang="zh-CN" altLang="en-US" sz="1500" dirty="0">
                <a:latin typeface="黑体" charset="0"/>
                <a:ea typeface="黑体" charset="0"/>
              </a:rPr>
              <a:t>插入的位置不合理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for(int j=</a:t>
            </a:r>
            <a:r>
              <a:rPr lang="en-US" altLang="zh-CN" sz="1500" dirty="0" err="1">
                <a:latin typeface="黑体" charset="0"/>
                <a:ea typeface="黑体" charset="0"/>
              </a:rPr>
              <a:t>curlen;j</a:t>
            </a:r>
            <a:r>
              <a:rPr lang="en-US" altLang="zh-CN" sz="1500" dirty="0">
                <a:latin typeface="黑体" charset="0"/>
                <a:ea typeface="黑体" charset="0"/>
              </a:rPr>
              <a:t>&gt;</a:t>
            </a:r>
            <a:r>
              <a:rPr lang="en-US" altLang="zh-CN" sz="1500" dirty="0" err="1">
                <a:latin typeface="黑体" charset="0"/>
                <a:ea typeface="黑体" charset="0"/>
              </a:rPr>
              <a:t>i;j</a:t>
            </a:r>
            <a:r>
              <a:rPr lang="en-US" altLang="zh-CN" sz="1500" dirty="0">
                <a:latin typeface="黑体" charset="0"/>
                <a:ea typeface="黑体" charset="0"/>
              </a:rPr>
              <a:t>--){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r[j]=r[j-1];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]=x;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this.curlen</a:t>
            </a:r>
            <a:r>
              <a:rPr lang="en-US" altLang="zh-CN" sz="1500" dirty="0">
                <a:latin typeface="黑体" charset="0"/>
                <a:ea typeface="黑体" charset="0"/>
              </a:rPr>
              <a:t>++;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</a:t>
            </a:r>
            <a:r>
              <a:rPr lang="zh-CN" altLang="en-US" sz="2400" dirty="0">
                <a:latin typeface="黑体" charset="0"/>
                <a:ea typeface="黑体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345663325"/>
      </p:ext>
    </p:extLst>
  </p:cSld>
  <p:clrMapOvr>
    <a:masterClrMapping/>
  </p:clrMapOvr>
  <p:transition advClick="0" advTm="0">
    <p:comb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直接插入排序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 fontScale="92500" lnSpcReduction="1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insertSort</a:t>
            </a:r>
            <a:r>
              <a:rPr lang="en-US" altLang="zh-CN" sz="1500" dirty="0">
                <a:latin typeface="黑体" charset="0"/>
                <a:ea typeface="黑体" charset="0"/>
              </a:rPr>
              <a:t>(){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 temp;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i,j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for(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=1;i&lt;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this.curlen;i</a:t>
            </a:r>
            <a:r>
              <a:rPr lang="en-US" altLang="zh-CN" sz="1500" dirty="0">
                <a:latin typeface="黑体" charset="0"/>
                <a:ea typeface="黑体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temp=r[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for(j=i-1;j&gt;=0&amp;&amp;</a:t>
            </a:r>
            <a:r>
              <a:rPr lang="en-US" altLang="zh-CN" sz="1500" dirty="0" err="1">
                <a:latin typeface="黑体" charset="0"/>
                <a:ea typeface="黑体" charset="0"/>
              </a:rPr>
              <a:t>temp.key.compareTo</a:t>
            </a:r>
            <a:r>
              <a:rPr lang="en-US" altLang="zh-CN" sz="1500" dirty="0">
                <a:latin typeface="黑体" charset="0"/>
                <a:ea typeface="黑体" charset="0"/>
              </a:rPr>
              <a:t>(r[j].key)&lt;0;j--){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r[j+1]=r[j];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r[j+1]=temp;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}</a:t>
            </a:r>
            <a:r>
              <a:rPr lang="zh-CN" altLang="en-US" sz="2400" dirty="0">
                <a:latin typeface="黑体" charset="0"/>
                <a:ea typeface="黑体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841646363"/>
      </p:ext>
    </p:extLst>
  </p:cSld>
  <p:clrMapOvr>
    <a:masterClrMapping/>
  </p:clrMapOvr>
  <p:transition advClick="0" advTm="0">
    <p:comb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希尔排序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 fontScale="775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shellSort</a:t>
            </a:r>
            <a:r>
              <a:rPr lang="en-US" altLang="zh-CN" sz="1500" dirty="0">
                <a:latin typeface="黑体" charset="0"/>
                <a:ea typeface="黑体" charset="0"/>
              </a:rPr>
              <a:t>(int[] d){ //d</a:t>
            </a:r>
            <a:r>
              <a:rPr lang="zh-CN" altLang="en-US" sz="1500" dirty="0">
                <a:latin typeface="黑体" charset="0"/>
                <a:ea typeface="黑体" charset="0"/>
              </a:rPr>
              <a:t>为增量数组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 temp;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i,j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//</a:t>
            </a:r>
            <a:r>
              <a:rPr lang="zh-CN" altLang="en-US" sz="1500" dirty="0">
                <a:latin typeface="黑体" charset="0"/>
                <a:ea typeface="黑体" charset="0"/>
              </a:rPr>
              <a:t>控制增量，增量减半，若干趟扫描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</a:t>
            </a:r>
            <a:r>
              <a:rPr lang="en-US" altLang="zh-CN" sz="1500" dirty="0">
                <a:latin typeface="黑体" charset="0"/>
                <a:ea typeface="黑体" charset="0"/>
              </a:rPr>
              <a:t>for(int k=0;k&lt;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d.length;k</a:t>
            </a:r>
            <a:r>
              <a:rPr lang="en-US" altLang="zh-CN" sz="1500" dirty="0">
                <a:latin typeface="黑体" charset="0"/>
                <a:ea typeface="黑体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int  dk=d[k];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for(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dk;i</a:t>
            </a:r>
            <a:r>
              <a:rPr lang="en-US" altLang="zh-CN" sz="1500" dirty="0">
                <a:latin typeface="黑体" charset="0"/>
                <a:ea typeface="黑体" charset="0"/>
              </a:rPr>
              <a:t>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this.curlen;i</a:t>
            </a:r>
            <a:r>
              <a:rPr lang="en-US" altLang="zh-CN" sz="1500" dirty="0">
                <a:latin typeface="黑体" charset="0"/>
                <a:ea typeface="黑体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temp=r[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for(j=</a:t>
            </a:r>
            <a:r>
              <a:rPr lang="en-US" altLang="zh-CN" sz="1500" dirty="0" err="1">
                <a:latin typeface="黑体" charset="0"/>
                <a:ea typeface="黑体" charset="0"/>
              </a:rPr>
              <a:t>i-dk;j</a:t>
            </a:r>
            <a:r>
              <a:rPr lang="en-US" altLang="zh-CN" sz="1500" dirty="0">
                <a:latin typeface="黑体" charset="0"/>
                <a:ea typeface="黑体" charset="0"/>
              </a:rPr>
              <a:t>&gt;=0&amp;&amp;</a:t>
            </a:r>
            <a:r>
              <a:rPr lang="en-US" altLang="zh-CN" sz="1500" dirty="0" err="1">
                <a:latin typeface="黑体" charset="0"/>
                <a:ea typeface="黑体" charset="0"/>
              </a:rPr>
              <a:t>temp.key.compareTo</a:t>
            </a:r>
            <a:r>
              <a:rPr lang="en-US" altLang="zh-CN" sz="1500" dirty="0">
                <a:latin typeface="黑体" charset="0"/>
                <a:ea typeface="黑体" charset="0"/>
              </a:rPr>
              <a:t>(r[j].key)&lt;0;j-=dk){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	r[</a:t>
            </a:r>
            <a:r>
              <a:rPr lang="en-US" altLang="zh-CN" sz="1500" dirty="0" err="1">
                <a:latin typeface="黑体" charset="0"/>
                <a:ea typeface="黑体" charset="0"/>
              </a:rPr>
              <a:t>j+dk</a:t>
            </a:r>
            <a:r>
              <a:rPr lang="en-US" altLang="zh-CN" sz="1500" dirty="0">
                <a:latin typeface="黑体" charset="0"/>
                <a:ea typeface="黑体" charset="0"/>
              </a:rPr>
              <a:t>]=r[j];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r[</a:t>
            </a:r>
            <a:r>
              <a:rPr lang="en-US" altLang="zh-CN" sz="1500" dirty="0" err="1">
                <a:latin typeface="黑体" charset="0"/>
                <a:ea typeface="黑体" charset="0"/>
              </a:rPr>
              <a:t>j+dk</a:t>
            </a:r>
            <a:r>
              <a:rPr lang="en-US" altLang="zh-CN" sz="1500" dirty="0">
                <a:latin typeface="黑体" charset="0"/>
                <a:ea typeface="黑体" charset="0"/>
              </a:rPr>
              <a:t>]=temp;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}</a:t>
            </a:r>
            <a:r>
              <a:rPr lang="zh-CN" altLang="en-US" sz="2400" dirty="0">
                <a:latin typeface="黑体" charset="0"/>
                <a:ea typeface="黑体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623128569"/>
      </p:ext>
    </p:extLst>
  </p:cSld>
  <p:clrMapOvr>
    <a:masterClrMapping/>
  </p:clrMapOvr>
  <p:transition advClick="0" advTm="0">
    <p:comb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改进的冒泡排序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 fontScale="775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bubbleSort</a:t>
            </a:r>
            <a:r>
              <a:rPr lang="en-US" altLang="zh-CN" sz="1500" dirty="0">
                <a:latin typeface="黑体" charset="0"/>
                <a:ea typeface="黑体" charset="0"/>
              </a:rPr>
              <a:t>(){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 temp;//</a:t>
            </a:r>
            <a:r>
              <a:rPr lang="zh-CN" altLang="en-US" sz="1500" dirty="0">
                <a:latin typeface="黑体" charset="0"/>
                <a:ea typeface="黑体" charset="0"/>
              </a:rPr>
              <a:t>辅助结点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boolean</a:t>
            </a:r>
            <a:r>
              <a:rPr lang="en-US" altLang="zh-CN" sz="1500" dirty="0">
                <a:latin typeface="黑体" charset="0"/>
                <a:ea typeface="黑体" charset="0"/>
              </a:rPr>
              <a:t> flag=true;//</a:t>
            </a:r>
            <a:r>
              <a:rPr lang="zh-CN" altLang="en-US" sz="1500" dirty="0">
                <a:latin typeface="黑体" charset="0"/>
                <a:ea typeface="黑体" charset="0"/>
              </a:rPr>
              <a:t>是否交换的标记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</a:t>
            </a:r>
            <a:r>
              <a:rPr lang="en-US" altLang="zh-CN" sz="1500" dirty="0">
                <a:latin typeface="黑体" charset="0"/>
                <a:ea typeface="黑体" charset="0"/>
              </a:rPr>
              <a:t>for(int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=1;i&lt;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this.curlen</a:t>
            </a:r>
            <a:r>
              <a:rPr lang="en-US" altLang="zh-CN" sz="1500" dirty="0">
                <a:latin typeface="黑体" charset="0"/>
                <a:ea typeface="黑体" charset="0"/>
              </a:rPr>
              <a:t>&amp;&amp;</a:t>
            </a:r>
            <a:r>
              <a:rPr lang="en-US" altLang="zh-CN" sz="1500" dirty="0" err="1">
                <a:latin typeface="黑体" charset="0"/>
                <a:ea typeface="黑体" charset="0"/>
              </a:rPr>
              <a:t>flag;i</a:t>
            </a:r>
            <a:r>
              <a:rPr lang="en-US" altLang="zh-CN" sz="1500" dirty="0">
                <a:latin typeface="黑体" charset="0"/>
                <a:ea typeface="黑体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flag=false;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for(int j=0;j&lt;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this.curlen-i;j</a:t>
            </a:r>
            <a:r>
              <a:rPr lang="en-US" altLang="zh-CN" sz="1500" dirty="0">
                <a:latin typeface="黑体" charset="0"/>
                <a:ea typeface="黑体" charset="0"/>
              </a:rPr>
              <a:t>++){//</a:t>
            </a:r>
            <a:r>
              <a:rPr lang="zh-CN" altLang="en-US" sz="1500" dirty="0">
                <a:latin typeface="黑体" charset="0"/>
                <a:ea typeface="黑体" charset="0"/>
              </a:rPr>
              <a:t>一次比较、交换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		</a:t>
            </a:r>
            <a:r>
              <a:rPr lang="en-US" altLang="zh-CN" sz="1500" dirty="0">
                <a:latin typeface="黑体" charset="0"/>
                <a:ea typeface="黑体" charset="0"/>
              </a:rPr>
              <a:t>if(r[j].</a:t>
            </a:r>
            <a:r>
              <a:rPr lang="en-US" altLang="zh-CN" sz="1500" dirty="0" err="1">
                <a:latin typeface="黑体" charset="0"/>
                <a:ea typeface="黑体" charset="0"/>
              </a:rPr>
              <a:t>key.compareTo</a:t>
            </a:r>
            <a:r>
              <a:rPr lang="en-US" altLang="zh-CN" sz="1500" dirty="0">
                <a:latin typeface="黑体" charset="0"/>
                <a:ea typeface="黑体" charset="0"/>
              </a:rPr>
              <a:t>(r[j+1].key)&gt;0){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	temp=r[j];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	r[j]=r[j+1];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	r[j+1]=temp;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	flag=true;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}</a:t>
            </a:r>
            <a:endParaRPr lang="zh-CN" altLang="en-US" sz="24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790570"/>
      </p:ext>
    </p:extLst>
  </p:cSld>
  <p:clrMapOvr>
    <a:masterClrMapping/>
  </p:clrMapOvr>
  <p:transition advClick="0" advTm="0">
    <p:comb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快速排序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592324"/>
            <a:ext cx="8731882" cy="4552764"/>
          </a:xfrm>
        </p:spPr>
        <p:txBody>
          <a:bodyPr>
            <a:normAutofit fontScale="625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                public int Partition(int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i,int</a:t>
            </a:r>
            <a:r>
              <a:rPr lang="en-US" altLang="zh-CN" sz="1500" dirty="0">
                <a:latin typeface="黑体" charset="0"/>
                <a:ea typeface="黑体" charset="0"/>
              </a:rPr>
              <a:t> j){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                            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 pivot=r[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while(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&lt;j){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while(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&lt;j&amp;&amp;</a:t>
            </a:r>
            <a:r>
              <a:rPr lang="en-US" altLang="zh-CN" sz="1500" dirty="0" err="1">
                <a:latin typeface="黑体" charset="0"/>
                <a:ea typeface="黑体" charset="0"/>
              </a:rPr>
              <a:t>pivot.key.compareTo</a:t>
            </a:r>
            <a:r>
              <a:rPr lang="en-US" altLang="zh-CN" sz="1500" dirty="0">
                <a:latin typeface="黑体" charset="0"/>
                <a:ea typeface="黑体" charset="0"/>
              </a:rPr>
              <a:t>(r[j].key)&lt;=0){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j--;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if(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&lt;j){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]=r[j];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++;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while(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&lt;j&amp;&amp;</a:t>
            </a:r>
            <a:r>
              <a:rPr lang="en-US" altLang="zh-CN" sz="1500" dirty="0" err="1">
                <a:latin typeface="黑体" charset="0"/>
                <a:ea typeface="黑体" charset="0"/>
              </a:rPr>
              <a:t>pivot.key.compareTo</a:t>
            </a:r>
            <a:r>
              <a:rPr lang="en-US" altLang="zh-CN" sz="1500" dirty="0">
                <a:latin typeface="黑体" charset="0"/>
                <a:ea typeface="黑体" charset="0"/>
              </a:rPr>
              <a:t>(r[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].key)&gt;0){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++;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if(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&lt;j){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r[j]=r[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j--;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            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]=pivot;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return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qSort</a:t>
            </a:r>
            <a:r>
              <a:rPr lang="en-US" altLang="zh-CN" sz="1500" dirty="0">
                <a:latin typeface="黑体" charset="0"/>
                <a:ea typeface="黑体" charset="0"/>
              </a:rPr>
              <a:t>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low,int</a:t>
            </a:r>
            <a:r>
              <a:rPr lang="en-US" altLang="zh-CN" sz="1500" dirty="0">
                <a:latin typeface="黑体" charset="0"/>
                <a:ea typeface="黑体" charset="0"/>
              </a:rPr>
              <a:t> high){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if(low&lt;high){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pivotloc</a:t>
            </a:r>
            <a:r>
              <a:rPr lang="en-US" altLang="zh-CN" sz="1500" dirty="0">
                <a:latin typeface="黑体" charset="0"/>
                <a:ea typeface="黑体" charset="0"/>
              </a:rPr>
              <a:t> =Partition(</a:t>
            </a:r>
            <a:r>
              <a:rPr lang="en-US" altLang="zh-CN" sz="1500" dirty="0" err="1">
                <a:latin typeface="黑体" charset="0"/>
                <a:ea typeface="黑体" charset="0"/>
              </a:rPr>
              <a:t>low,high</a:t>
            </a:r>
            <a:r>
              <a:rPr lang="en-US" altLang="zh-CN" sz="1500" dirty="0">
                <a:latin typeface="黑体" charset="0"/>
                <a:ea typeface="黑体" charset="0"/>
              </a:rPr>
              <a:t>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qSort</a:t>
            </a:r>
            <a:r>
              <a:rPr lang="en-US" altLang="zh-CN" sz="1500" dirty="0">
                <a:latin typeface="黑体" charset="0"/>
                <a:ea typeface="黑体" charset="0"/>
              </a:rPr>
              <a:t>(low,pivotloc-1);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qSort</a:t>
            </a:r>
            <a:r>
              <a:rPr lang="en-US" altLang="zh-CN" sz="1500" dirty="0">
                <a:latin typeface="黑体" charset="0"/>
                <a:ea typeface="黑体" charset="0"/>
              </a:rPr>
              <a:t>(pivotloc+1,high);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quickSort</a:t>
            </a:r>
            <a:r>
              <a:rPr lang="en-US" altLang="zh-CN" sz="1500" dirty="0">
                <a:latin typeface="黑体" charset="0"/>
                <a:ea typeface="黑体" charset="0"/>
              </a:rPr>
              <a:t>(){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qSort</a:t>
            </a:r>
            <a:r>
              <a:rPr lang="en-US" altLang="zh-CN" sz="1500" dirty="0">
                <a:latin typeface="黑体" charset="0"/>
                <a:ea typeface="黑体" charset="0"/>
              </a:rPr>
              <a:t>(0,this.curlen-1);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}</a:t>
            </a: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endParaRPr lang="zh-CN" altLang="en-US" sz="24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063411"/>
      </p:ext>
    </p:extLst>
  </p:cSld>
  <p:clrMapOvr>
    <a:masterClrMapping/>
  </p:clrMapOvr>
  <p:transition advClick="0" advTm="0">
    <p:comb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直接选择排序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556321"/>
            <a:ext cx="8191822" cy="4588768"/>
          </a:xfrm>
        </p:spPr>
        <p:txBody>
          <a:bodyPr>
            <a:normAutofit fontScale="92500" lnSpcReduction="1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selecrSort</a:t>
            </a:r>
            <a:r>
              <a:rPr lang="en-US" altLang="zh-CN" sz="1500" dirty="0">
                <a:latin typeface="黑体" charset="0"/>
                <a:ea typeface="黑体" charset="0"/>
              </a:rPr>
              <a:t>(){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 temp;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for(int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=0;i&lt;this.curlen-1;i++){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int min=1;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for(int j=i+1;j&lt;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this.curlen;j</a:t>
            </a:r>
            <a:r>
              <a:rPr lang="en-US" altLang="zh-CN" sz="1500" dirty="0">
                <a:latin typeface="黑体" charset="0"/>
                <a:ea typeface="黑体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if(r[j].</a:t>
            </a:r>
            <a:r>
              <a:rPr lang="en-US" altLang="zh-CN" sz="1500" dirty="0" err="1">
                <a:latin typeface="黑体" charset="0"/>
                <a:ea typeface="黑体" charset="0"/>
              </a:rPr>
              <a:t>key.compareTo</a:t>
            </a:r>
            <a:r>
              <a:rPr lang="en-US" altLang="zh-CN" sz="1500" dirty="0">
                <a:latin typeface="黑体" charset="0"/>
                <a:ea typeface="黑体" charset="0"/>
              </a:rPr>
              <a:t>(r[min].key)&lt;0){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	min=j;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if(min!=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temp=r[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]=r[min];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r[min]=temp;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}</a:t>
            </a:r>
            <a:endParaRPr lang="zh-CN" altLang="en-US" sz="24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77277"/>
      </p:ext>
    </p:extLst>
  </p:cSld>
  <p:clrMapOvr>
    <a:masterClrMapping/>
  </p:clrMapOvr>
  <p:transition advClick="0" advTm="0">
    <p:comb dir="vert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堆排序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516" y="520316"/>
            <a:ext cx="3636404" cy="4572508"/>
          </a:xfrm>
        </p:spPr>
        <p:txBody>
          <a:bodyPr>
            <a:normAutofit fontScale="550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sift(int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low,int</a:t>
            </a:r>
            <a:r>
              <a:rPr lang="en-US" altLang="zh-CN" sz="1500" dirty="0">
                <a:latin typeface="黑体" charset="0"/>
                <a:ea typeface="黑体" charset="0"/>
              </a:rPr>
              <a:t> high){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=low;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int j=2*i+1;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 temp=r[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while(j&lt;high){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if(j&lt;high-1&amp;&amp;r[j].</a:t>
            </a:r>
            <a:r>
              <a:rPr lang="en-US" altLang="zh-CN" sz="1500" dirty="0" err="1">
                <a:latin typeface="黑体" charset="0"/>
                <a:ea typeface="黑体" charset="0"/>
              </a:rPr>
              <a:t>key.compareTo</a:t>
            </a:r>
            <a:r>
              <a:rPr lang="en-US" altLang="zh-CN" sz="1500" dirty="0">
                <a:latin typeface="黑体" charset="0"/>
                <a:ea typeface="黑体" charset="0"/>
              </a:rPr>
              <a:t>(r[j+1].key)&gt;0){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j++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if(</a:t>
            </a:r>
            <a:r>
              <a:rPr lang="en-US" altLang="zh-CN" sz="1500" dirty="0" err="1">
                <a:latin typeface="黑体" charset="0"/>
                <a:ea typeface="黑体" charset="0"/>
              </a:rPr>
              <a:t>temp.key.compareTo</a:t>
            </a:r>
            <a:r>
              <a:rPr lang="en-US" altLang="zh-CN" sz="1500" dirty="0">
                <a:latin typeface="黑体" charset="0"/>
                <a:ea typeface="黑体" charset="0"/>
              </a:rPr>
              <a:t>(r[j].key)&gt;0){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]=r[j];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=j;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j=2*i+1;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else{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j=high+1;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]=temp;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}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FEC85AC-4C88-416A-9A6A-58B61CB5B62A}"/>
              </a:ext>
            </a:extLst>
          </p:cNvPr>
          <p:cNvSpPr txBox="1">
            <a:spLocks/>
          </p:cNvSpPr>
          <p:nvPr/>
        </p:nvSpPr>
        <p:spPr>
          <a:xfrm>
            <a:off x="5076058" y="520316"/>
            <a:ext cx="3439294" cy="444205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Font typeface="Arial" pitchFamily="34" charset="0"/>
              <a:buNone/>
            </a:pPr>
            <a:endParaRPr lang="en-US" altLang="zh-CN" sz="1500" dirty="0">
              <a:latin typeface="黑体" charset="0"/>
              <a:ea typeface="黑体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heapSort</a:t>
            </a:r>
            <a:r>
              <a:rPr lang="en-US" altLang="zh-CN" sz="1500" dirty="0">
                <a:latin typeface="黑体" charset="0"/>
                <a:ea typeface="黑体" charset="0"/>
              </a:rPr>
              <a:t>(){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int n=</a:t>
            </a:r>
            <a:r>
              <a:rPr lang="en-US" altLang="zh-CN" sz="1500" dirty="0" err="1">
                <a:latin typeface="黑体" charset="0"/>
                <a:ea typeface="黑体" charset="0"/>
              </a:rPr>
              <a:t>this.curlen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 temp;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for(int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=n/2-1;i&gt;=0;i--){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sift(</a:t>
            </a:r>
            <a:r>
              <a:rPr lang="en-US" altLang="zh-CN" sz="1500" dirty="0" err="1">
                <a:latin typeface="黑体" charset="0"/>
                <a:ea typeface="黑体" charset="0"/>
              </a:rPr>
              <a:t>i,n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for(int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=n-1;i&gt;0;i--){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temp=r[0];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r[0]=r[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]=temp;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sift(0,i);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Font typeface="Arial" pitchFamily="34" charset="0"/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}</a:t>
            </a:r>
            <a:endParaRPr lang="zh-CN" altLang="en-US" sz="24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391788"/>
      </p:ext>
    </p:extLst>
  </p:cSld>
  <p:clrMapOvr>
    <a:masterClrMapping/>
  </p:clrMapOvr>
  <p:transition advClick="0" advTm="0">
    <p:comb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归并排序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27" y="520316"/>
            <a:ext cx="3121914" cy="4624772"/>
          </a:xfrm>
        </p:spPr>
        <p:txBody>
          <a:bodyPr>
            <a:normAutofit fontScale="625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merge(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[] </a:t>
            </a:r>
            <a:r>
              <a:rPr lang="en-US" altLang="zh-CN" sz="1500" dirty="0" err="1">
                <a:latin typeface="黑体" charset="0"/>
                <a:ea typeface="黑体" charset="0"/>
              </a:rPr>
              <a:t>r,RecordNode</a:t>
            </a:r>
            <a:r>
              <a:rPr lang="en-US" altLang="zh-CN" sz="1500" dirty="0">
                <a:latin typeface="黑体" charset="0"/>
                <a:ea typeface="黑体" charset="0"/>
              </a:rPr>
              <a:t>[] </a:t>
            </a:r>
            <a:r>
              <a:rPr lang="en-US" altLang="zh-CN" sz="1500" dirty="0" err="1">
                <a:latin typeface="黑体" charset="0"/>
                <a:ea typeface="黑体" charset="0"/>
              </a:rPr>
              <a:t>order,int</a:t>
            </a:r>
            <a:r>
              <a:rPr lang="en-US" altLang="zh-CN" sz="1500" dirty="0">
                <a:latin typeface="黑体" charset="0"/>
                <a:ea typeface="黑体" charset="0"/>
              </a:rPr>
              <a:t> </a:t>
            </a:r>
            <a:r>
              <a:rPr lang="en-US" altLang="zh-CN" sz="1500" dirty="0" err="1">
                <a:latin typeface="黑体" charset="0"/>
                <a:ea typeface="黑体" charset="0"/>
              </a:rPr>
              <a:t>h,int</a:t>
            </a:r>
            <a:r>
              <a:rPr lang="en-US" altLang="zh-CN" sz="1500" dirty="0">
                <a:latin typeface="黑体" charset="0"/>
                <a:ea typeface="黑体" charset="0"/>
              </a:rPr>
              <a:t> </a:t>
            </a:r>
            <a:r>
              <a:rPr lang="en-US" altLang="zh-CN" sz="1500" dirty="0" err="1">
                <a:latin typeface="黑体" charset="0"/>
                <a:ea typeface="黑体" charset="0"/>
              </a:rPr>
              <a:t>m,int</a:t>
            </a:r>
            <a:r>
              <a:rPr lang="en-US" altLang="zh-CN" sz="1500" dirty="0">
                <a:latin typeface="黑体" charset="0"/>
                <a:ea typeface="黑体" charset="0"/>
              </a:rPr>
              <a:t> t){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h,j</a:t>
            </a:r>
            <a:r>
              <a:rPr lang="en-US" altLang="zh-CN" sz="1500" dirty="0">
                <a:latin typeface="黑体" charset="0"/>
                <a:ea typeface="黑体" charset="0"/>
              </a:rPr>
              <a:t>=m+1,k=h;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while(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&lt;=m&amp;&amp;j&lt;=t){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if(r[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].</a:t>
            </a:r>
            <a:r>
              <a:rPr lang="en-US" altLang="zh-CN" sz="1500" dirty="0" err="1">
                <a:latin typeface="黑体" charset="0"/>
                <a:ea typeface="黑体" charset="0"/>
              </a:rPr>
              <a:t>key.compareTo</a:t>
            </a:r>
            <a:r>
              <a:rPr lang="en-US" altLang="zh-CN" sz="1500" dirty="0">
                <a:latin typeface="黑体" charset="0"/>
                <a:ea typeface="黑体" charset="0"/>
              </a:rPr>
              <a:t>(r[j].key)&lt;=0){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order[k++]=r[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++];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}else{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order[k++]=r[</a:t>
            </a:r>
            <a:r>
              <a:rPr lang="en-US" altLang="zh-CN" sz="1500" dirty="0" err="1">
                <a:latin typeface="黑体" charset="0"/>
                <a:ea typeface="黑体" charset="0"/>
              </a:rPr>
              <a:t>j++</a:t>
            </a:r>
            <a:r>
              <a:rPr lang="en-US" altLang="zh-CN" sz="1500" dirty="0">
                <a:latin typeface="黑体" charset="0"/>
                <a:ea typeface="黑体" charset="0"/>
              </a:rPr>
              <a:t>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while(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&lt;=m){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order[k++]=r[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++];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while(j&lt;=t){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order[k++]=r[</a:t>
            </a:r>
            <a:r>
              <a:rPr lang="en-US" altLang="zh-CN" sz="1500" dirty="0" err="1">
                <a:latin typeface="黑体" charset="0"/>
                <a:ea typeface="黑体" charset="0"/>
              </a:rPr>
              <a:t>j++</a:t>
            </a:r>
            <a:r>
              <a:rPr lang="en-US" altLang="zh-CN" sz="1500" dirty="0">
                <a:latin typeface="黑体" charset="0"/>
                <a:ea typeface="黑体" charset="0"/>
              </a:rPr>
              <a:t>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}</a:t>
            </a:r>
            <a:endParaRPr lang="zh-CN" altLang="en-US" sz="2400" dirty="0">
              <a:latin typeface="黑体" charset="0"/>
              <a:ea typeface="黑体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E085EDC-A7DF-49BB-8E69-3EE71F510523}"/>
              </a:ext>
            </a:extLst>
          </p:cNvPr>
          <p:cNvSpPr txBox="1">
            <a:spLocks/>
          </p:cNvSpPr>
          <p:nvPr/>
        </p:nvSpPr>
        <p:spPr>
          <a:xfrm>
            <a:off x="2915816" y="592324"/>
            <a:ext cx="3024336" cy="4552764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  <a:endParaRPr lang="en-US" altLang="zh-CN" sz="24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public void </a:t>
            </a:r>
            <a:r>
              <a:rPr lang="en-US" altLang="zh-CN" sz="2400" dirty="0" err="1">
                <a:latin typeface="黑体" charset="0"/>
                <a:ea typeface="黑体" charset="0"/>
              </a:rPr>
              <a:t>mergepass</a:t>
            </a:r>
            <a:r>
              <a:rPr lang="en-US" altLang="zh-CN" sz="2400" dirty="0">
                <a:latin typeface="黑体" charset="0"/>
                <a:ea typeface="黑体" charset="0"/>
              </a:rPr>
              <a:t>(</a:t>
            </a:r>
            <a:r>
              <a:rPr lang="en-US" altLang="zh-CN" sz="24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2400" dirty="0">
                <a:latin typeface="黑体" charset="0"/>
                <a:ea typeface="黑体" charset="0"/>
              </a:rPr>
              <a:t>[]</a:t>
            </a:r>
            <a:r>
              <a:rPr lang="en-US" altLang="zh-CN" sz="2400" dirty="0" err="1">
                <a:latin typeface="黑体" charset="0"/>
                <a:ea typeface="黑体" charset="0"/>
              </a:rPr>
              <a:t>r,RecordNode</a:t>
            </a:r>
            <a:r>
              <a:rPr lang="en-US" altLang="zh-CN" sz="2400" dirty="0">
                <a:latin typeface="黑体" charset="0"/>
                <a:ea typeface="黑体" charset="0"/>
              </a:rPr>
              <a:t>[] </a:t>
            </a:r>
            <a:r>
              <a:rPr lang="en-US" altLang="zh-CN" sz="2400" dirty="0" err="1">
                <a:latin typeface="黑体" charset="0"/>
                <a:ea typeface="黑体" charset="0"/>
              </a:rPr>
              <a:t>order,int</a:t>
            </a:r>
            <a:r>
              <a:rPr lang="en-US" altLang="zh-CN" sz="2400" dirty="0">
                <a:latin typeface="黑体" charset="0"/>
                <a:ea typeface="黑体" charset="0"/>
              </a:rPr>
              <a:t> </a:t>
            </a:r>
            <a:r>
              <a:rPr lang="en-US" altLang="zh-CN" sz="2400" dirty="0" err="1">
                <a:latin typeface="黑体" charset="0"/>
                <a:ea typeface="黑体" charset="0"/>
              </a:rPr>
              <a:t>s,int</a:t>
            </a:r>
            <a:r>
              <a:rPr lang="en-US" altLang="zh-CN" sz="2400" dirty="0">
                <a:latin typeface="黑体" charset="0"/>
                <a:ea typeface="黑体" charset="0"/>
              </a:rPr>
              <a:t> n){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int p=0;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while(p+2*s-1&lt;=n-1){		merge(r,order,p,p+s-1,p+2*s-1);			p+=2*s;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	}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		if(p+s-1&lt;n-1){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			merge(r,order,p,p+s-1,n-1);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		}else{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			for(int 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=</a:t>
            </a:r>
            <a:r>
              <a:rPr lang="en-US" altLang="zh-CN" sz="2400" dirty="0" err="1">
                <a:latin typeface="黑体" charset="0"/>
                <a:ea typeface="黑体" charset="0"/>
              </a:rPr>
              <a:t>p;i</a:t>
            </a:r>
            <a:r>
              <a:rPr lang="en-US" altLang="zh-CN" sz="2400" dirty="0">
                <a:latin typeface="黑体" charset="0"/>
                <a:ea typeface="黑体" charset="0"/>
              </a:rPr>
              <a:t>&lt;=n-1;i++){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				order[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]=r[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];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			}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			}</a:t>
            </a:r>
            <a:endParaRPr lang="zh-CN" altLang="en-US" sz="2400" dirty="0">
              <a:latin typeface="黑体" charset="0"/>
              <a:ea typeface="黑体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45B2940-1F39-41E8-ACA0-A69F001FE83A}"/>
              </a:ext>
            </a:extLst>
          </p:cNvPr>
          <p:cNvSpPr txBox="1">
            <a:spLocks/>
          </p:cNvSpPr>
          <p:nvPr/>
        </p:nvSpPr>
        <p:spPr>
          <a:xfrm>
            <a:off x="6192181" y="520316"/>
            <a:ext cx="2941892" cy="462477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Font typeface="Arial" pitchFamily="34" charset="0"/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mergeSort</a:t>
            </a:r>
            <a:r>
              <a:rPr lang="en-US" altLang="zh-CN" sz="1500" dirty="0">
                <a:latin typeface="黑体" charset="0"/>
                <a:ea typeface="黑体" charset="0"/>
              </a:rPr>
              <a:t>(){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int s=1;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int n=</a:t>
            </a:r>
            <a:r>
              <a:rPr lang="en-US" altLang="zh-CN" sz="1500" dirty="0" err="1">
                <a:latin typeface="黑体" charset="0"/>
                <a:ea typeface="黑体" charset="0"/>
              </a:rPr>
              <a:t>this.curlen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[] temp=new 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[n];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while(s&lt;n){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mergepass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r,temp,s,n</a:t>
            </a:r>
            <a:r>
              <a:rPr lang="en-US" altLang="zh-CN" sz="1500" dirty="0">
                <a:latin typeface="黑体" charset="0"/>
                <a:ea typeface="黑体" charset="0"/>
              </a:rPr>
              <a:t>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s*=2;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mergepass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temp,r,s,n</a:t>
            </a:r>
            <a:r>
              <a:rPr lang="en-US" altLang="zh-CN" sz="1500" dirty="0">
                <a:latin typeface="黑体" charset="0"/>
                <a:ea typeface="黑体" charset="0"/>
              </a:rPr>
              <a:t>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s*=2;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} </a:t>
            </a:r>
            <a:endParaRPr lang="zh-CN" altLang="en-US" sz="24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871768"/>
      </p:ext>
    </p:extLst>
  </p:cSld>
  <p:clrMapOvr>
    <a:masterClrMapping/>
  </p:clrMapOvr>
  <p:transition advClick="0" advTm="0">
    <p:comb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时间比较</a:t>
            </a:r>
            <a:endParaRPr lang="zh-CN" altLang="en-US" b="1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77078" y="1240396"/>
            <a:ext cx="8229600" cy="3395520"/>
          </a:xfrm>
        </p:spPr>
        <p:txBody>
          <a:bodyPr>
            <a:normAutofit/>
          </a:bodyPr>
          <a:lstStyle/>
          <a:p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public void number()：输出各排序时间结果</a:t>
            </a:r>
          </a:p>
          <a:p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private static SqList createList(int[] d):插入随机数值</a:t>
            </a:r>
          </a:p>
          <a:p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public  long textSortTime(SqList L, int i):计算排序时间差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7764689"/>
      </p:ext>
    </p:extLst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随机产生三万个数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number() throws Exception{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for(int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=0;i&lt;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maxsize;i</a:t>
            </a:r>
            <a:r>
              <a:rPr lang="en-US" altLang="zh-CN" sz="1500" dirty="0">
                <a:latin typeface="黑体" charset="0"/>
                <a:ea typeface="黑体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d[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]=(int)(</a:t>
            </a:r>
            <a:r>
              <a:rPr lang="en-US" altLang="zh-CN" sz="1500" dirty="0" err="1">
                <a:latin typeface="黑体" charset="0"/>
                <a:ea typeface="黑体" charset="0"/>
              </a:rPr>
              <a:t>Math.random</a:t>
            </a:r>
            <a:r>
              <a:rPr lang="en-US" altLang="zh-CN" sz="1500" dirty="0">
                <a:latin typeface="黑体" charset="0"/>
                <a:ea typeface="黑体" charset="0"/>
              </a:rPr>
              <a:t>()*100);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}</a:t>
            </a:r>
            <a:r>
              <a:rPr lang="zh-CN" altLang="en-US" sz="2400" dirty="0">
                <a:latin typeface="黑体" charset="0"/>
                <a:ea typeface="黑体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820769829"/>
      </p:ext>
    </p:extLst>
  </p:cSld>
  <p:clrMapOvr>
    <a:masterClrMapping/>
  </p:clrMapOvr>
  <p:transition advClick="0" advTm="0">
    <p:comb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en-US" altLang="zh-CN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Main</a:t>
            </a:r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方法进行比较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 fontScale="625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static void main(String </a:t>
            </a:r>
            <a:r>
              <a:rPr lang="en-US" altLang="zh-CN" sz="1500" dirty="0" err="1">
                <a:latin typeface="黑体" charset="0"/>
                <a:ea typeface="黑体" charset="0"/>
              </a:rPr>
              <a:t>args</a:t>
            </a:r>
            <a:r>
              <a:rPr lang="en-US" altLang="zh-CN" sz="1500" dirty="0">
                <a:latin typeface="黑体" charset="0"/>
                <a:ea typeface="黑体" charset="0"/>
              </a:rPr>
              <a:t>[]) throws Exception{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SortFirst</a:t>
            </a:r>
            <a:r>
              <a:rPr lang="en-US" altLang="zh-CN" sz="1500" dirty="0">
                <a:latin typeface="黑体" charset="0"/>
                <a:ea typeface="黑体" charset="0"/>
              </a:rPr>
              <a:t> in=new </a:t>
            </a:r>
            <a:r>
              <a:rPr lang="en-US" altLang="zh-CN" sz="1500" dirty="0" err="1">
                <a:latin typeface="黑体" charset="0"/>
                <a:ea typeface="黑体" charset="0"/>
              </a:rPr>
              <a:t>SortFirst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in.number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in.textSortTime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in.createList</a:t>
            </a:r>
            <a:r>
              <a:rPr lang="en-US" altLang="zh-CN" sz="1500" dirty="0">
                <a:latin typeface="黑体" charset="0"/>
                <a:ea typeface="黑体" charset="0"/>
              </a:rPr>
              <a:t>(d));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private static </a:t>
            </a:r>
            <a:r>
              <a:rPr lang="en-US" altLang="zh-CN" sz="1500" dirty="0" err="1">
                <a:latin typeface="黑体" charset="0"/>
                <a:ea typeface="黑体" charset="0"/>
              </a:rPr>
              <a:t>SqList</a:t>
            </a:r>
            <a:r>
              <a:rPr lang="en-US" altLang="zh-CN" sz="1500" dirty="0">
                <a:latin typeface="黑体" charset="0"/>
                <a:ea typeface="黑体" charset="0"/>
              </a:rPr>
              <a:t> </a:t>
            </a:r>
            <a:r>
              <a:rPr lang="en-US" altLang="zh-CN" sz="1500" dirty="0" err="1">
                <a:latin typeface="黑体" charset="0"/>
                <a:ea typeface="黑体" charset="0"/>
              </a:rPr>
              <a:t>createList</a:t>
            </a:r>
            <a:r>
              <a:rPr lang="en-US" altLang="zh-CN" sz="1500" dirty="0">
                <a:latin typeface="黑体" charset="0"/>
                <a:ea typeface="黑体" charset="0"/>
              </a:rPr>
              <a:t>(int[] d)throws Exception{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SqList</a:t>
            </a:r>
            <a:r>
              <a:rPr lang="en-US" altLang="zh-CN" sz="1500" dirty="0">
                <a:latin typeface="黑体" charset="0"/>
                <a:ea typeface="黑体" charset="0"/>
              </a:rPr>
              <a:t> L=new </a:t>
            </a:r>
            <a:r>
              <a:rPr lang="en-US" altLang="zh-CN" sz="1500" dirty="0" err="1">
                <a:latin typeface="黑体" charset="0"/>
                <a:ea typeface="黑体" charset="0"/>
              </a:rPr>
              <a:t>SqList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maxsize</a:t>
            </a:r>
            <a:r>
              <a:rPr lang="en-US" altLang="zh-CN" sz="1500" dirty="0">
                <a:latin typeface="黑体" charset="0"/>
                <a:ea typeface="黑体" charset="0"/>
              </a:rPr>
              <a:t>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 r;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for(int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=0;i&lt;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d.length;i</a:t>
            </a:r>
            <a:r>
              <a:rPr lang="en-US" altLang="zh-CN" sz="1500" dirty="0">
                <a:latin typeface="黑体" charset="0"/>
                <a:ea typeface="黑体" charset="0"/>
              </a:rPr>
              <a:t>++){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r=new </a:t>
            </a:r>
            <a:r>
              <a:rPr lang="en-US" altLang="zh-CN" sz="1500" dirty="0" err="1">
                <a:latin typeface="黑体" charset="0"/>
                <a:ea typeface="黑体" charset="0"/>
              </a:rPr>
              <a:t>RecordNode</a:t>
            </a:r>
            <a:r>
              <a:rPr lang="en-US" altLang="zh-CN" sz="1500" dirty="0">
                <a:latin typeface="黑体" charset="0"/>
                <a:ea typeface="黑体" charset="0"/>
              </a:rPr>
              <a:t>(d[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</a:t>
            </a:r>
            <a:r>
              <a:rPr lang="en-US" altLang="zh-CN" sz="1500" dirty="0" err="1">
                <a:latin typeface="黑体" charset="0"/>
                <a:ea typeface="黑体" charset="0"/>
              </a:rPr>
              <a:t>L.insert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L.length</a:t>
            </a:r>
            <a:r>
              <a:rPr lang="en-US" altLang="zh-CN" sz="1500" dirty="0">
                <a:latin typeface="黑体" charset="0"/>
                <a:ea typeface="黑体" charset="0"/>
              </a:rPr>
              <a:t>(), r);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return L;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public 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textSortTime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SqList</a:t>
            </a:r>
            <a:r>
              <a:rPr lang="en-US" altLang="zh-CN" sz="1500" dirty="0">
                <a:latin typeface="黑体" charset="0"/>
                <a:ea typeface="黑体" charset="0"/>
              </a:rPr>
              <a:t> L) throws Exception{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long </a:t>
            </a:r>
            <a:r>
              <a:rPr lang="en-US" altLang="zh-CN" sz="1500" dirty="0" err="1">
                <a:latin typeface="黑体" charset="0"/>
                <a:ea typeface="黑体" charset="0"/>
              </a:rPr>
              <a:t>startTime,endTime,testTime</a:t>
            </a:r>
            <a:r>
              <a:rPr lang="en-US" altLang="zh-CN" sz="1500" dirty="0">
                <a:latin typeface="黑体" charset="0"/>
                <a:ea typeface="黑体" charset="0"/>
              </a:rPr>
              <a:t>=0;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}</a:t>
            </a:r>
            <a:r>
              <a:rPr lang="zh-CN" altLang="en-US" sz="2400" dirty="0">
                <a:latin typeface="黑体" charset="0"/>
                <a:ea typeface="黑体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468234484"/>
      </p:ext>
    </p:extLst>
  </p:cSld>
  <p:clrMapOvr>
    <a:masterClrMapping/>
  </p:clrMapOvr>
  <p:transition advClick="0" advTm="0">
    <p:comb dir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en-US" altLang="zh-CN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Main</a:t>
            </a:r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方法进行比较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4199414"/>
          </a:xfrm>
        </p:spPr>
        <p:txBody>
          <a:bodyPr>
            <a:normAutofit fontScale="625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endParaRPr lang="en-US" altLang="zh-CN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startTime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L.quickSort</a:t>
            </a:r>
            <a:r>
              <a:rPr lang="en-US" altLang="zh-CN" sz="1500" dirty="0">
                <a:latin typeface="黑体" charset="0"/>
                <a:ea typeface="黑体" charset="0"/>
              </a:rPr>
              <a:t>();//</a:t>
            </a:r>
            <a:r>
              <a:rPr lang="zh-CN" altLang="en-US" sz="1500" dirty="0">
                <a:latin typeface="黑体" charset="0"/>
                <a:ea typeface="黑体" charset="0"/>
              </a:rPr>
              <a:t>快速排序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endTime-startTime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快速排序的时间为：</a:t>
            </a:r>
            <a:r>
              <a:rPr lang="en-US" altLang="zh-CN" sz="1500" dirty="0">
                <a:latin typeface="黑体" charset="0"/>
                <a:ea typeface="黑体" charset="0"/>
              </a:rPr>
              <a:t>"+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+"</a:t>
            </a:r>
            <a:r>
              <a:rPr lang="zh-CN" altLang="en-US" sz="1500" dirty="0">
                <a:latin typeface="黑体" charset="0"/>
                <a:ea typeface="黑体" charset="0"/>
              </a:rPr>
              <a:t>毫秒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        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startTime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L.insertSort</a:t>
            </a:r>
            <a:r>
              <a:rPr lang="en-US" altLang="zh-CN" sz="1500" dirty="0">
                <a:latin typeface="黑体" charset="0"/>
                <a:ea typeface="黑体" charset="0"/>
              </a:rPr>
              <a:t>();//</a:t>
            </a:r>
            <a:r>
              <a:rPr lang="zh-CN" altLang="en-US" sz="1500" dirty="0">
                <a:latin typeface="黑体" charset="0"/>
                <a:ea typeface="黑体" charset="0"/>
              </a:rPr>
              <a:t>直接插入排序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endTime-startTime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直接插入排序的时间为：</a:t>
            </a:r>
            <a:r>
              <a:rPr lang="en-US" altLang="zh-CN" sz="1500" dirty="0">
                <a:latin typeface="黑体" charset="0"/>
                <a:ea typeface="黑体" charset="0"/>
              </a:rPr>
              <a:t>"+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+"</a:t>
            </a:r>
            <a:r>
              <a:rPr lang="zh-CN" altLang="en-US" sz="1500" dirty="0">
                <a:latin typeface="黑体" charset="0"/>
                <a:ea typeface="黑体" charset="0"/>
              </a:rPr>
              <a:t>毫秒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startTime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    	int []a={5,3,1};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L.shellSort</a:t>
            </a:r>
            <a:r>
              <a:rPr lang="en-US" altLang="zh-CN" sz="1500" dirty="0">
                <a:latin typeface="黑体" charset="0"/>
                <a:ea typeface="黑体" charset="0"/>
              </a:rPr>
              <a:t>(a);//</a:t>
            </a:r>
            <a:r>
              <a:rPr lang="zh-CN" altLang="en-US" sz="1500" dirty="0">
                <a:latin typeface="黑体" charset="0"/>
                <a:ea typeface="黑体" charset="0"/>
              </a:rPr>
              <a:t>希尔排序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endTime-startTime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希尔排序的时间为：</a:t>
            </a:r>
            <a:r>
              <a:rPr lang="en-US" altLang="zh-CN" sz="1500" dirty="0">
                <a:latin typeface="黑体" charset="0"/>
                <a:ea typeface="黑体" charset="0"/>
              </a:rPr>
              <a:t>"+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+"</a:t>
            </a:r>
            <a:r>
              <a:rPr lang="zh-CN" altLang="en-US" sz="1500" dirty="0">
                <a:latin typeface="黑体" charset="0"/>
                <a:ea typeface="黑体" charset="0"/>
              </a:rPr>
              <a:t>毫秒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startTime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L.bubbleSort</a:t>
            </a:r>
            <a:r>
              <a:rPr lang="en-US" altLang="zh-CN" sz="1500" dirty="0">
                <a:latin typeface="黑体" charset="0"/>
                <a:ea typeface="黑体" charset="0"/>
              </a:rPr>
              <a:t>();//</a:t>
            </a:r>
            <a:r>
              <a:rPr lang="zh-CN" altLang="en-US" sz="1500" dirty="0">
                <a:latin typeface="黑体" charset="0"/>
                <a:ea typeface="黑体" charset="0"/>
              </a:rPr>
              <a:t>冒泡排序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endTime-startTime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改进的冒泡排序的时间为：</a:t>
            </a:r>
            <a:r>
              <a:rPr lang="en-US" altLang="zh-CN" sz="1500" dirty="0">
                <a:latin typeface="黑体" charset="0"/>
                <a:ea typeface="黑体" charset="0"/>
              </a:rPr>
              <a:t>"+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+"</a:t>
            </a:r>
            <a:r>
              <a:rPr lang="zh-CN" altLang="en-US" sz="1500" dirty="0">
                <a:latin typeface="黑体" charset="0"/>
                <a:ea typeface="黑体" charset="0"/>
              </a:rPr>
              <a:t>毫秒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13919832"/>
      </p:ext>
    </p:extLst>
  </p:cSld>
  <p:clrMapOvr>
    <a:masterClrMapping/>
  </p:clrMapOvr>
  <p:transition advClick="0" advTm="0">
    <p:comb dir="vert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en-US" altLang="zh-CN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Main</a:t>
            </a:r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方法进行比较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 fontScale="700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startTime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L.selecrSort</a:t>
            </a:r>
            <a:r>
              <a:rPr lang="en-US" altLang="zh-CN" sz="1500" dirty="0">
                <a:latin typeface="黑体" charset="0"/>
                <a:ea typeface="黑体" charset="0"/>
              </a:rPr>
              <a:t>();//</a:t>
            </a:r>
            <a:r>
              <a:rPr lang="zh-CN" altLang="en-US" sz="1500" dirty="0">
                <a:latin typeface="黑体" charset="0"/>
                <a:ea typeface="黑体" charset="0"/>
              </a:rPr>
              <a:t>直接选择排序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endTime-startTime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直接选择排序的时间为：</a:t>
            </a:r>
            <a:r>
              <a:rPr lang="en-US" altLang="zh-CN" sz="1500" dirty="0">
                <a:latin typeface="黑体" charset="0"/>
                <a:ea typeface="黑体" charset="0"/>
              </a:rPr>
              <a:t>"+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+"</a:t>
            </a:r>
            <a:r>
              <a:rPr lang="zh-CN" altLang="en-US" sz="1500" dirty="0">
                <a:latin typeface="黑体" charset="0"/>
                <a:ea typeface="黑体" charset="0"/>
              </a:rPr>
              <a:t>毫秒</a:t>
            </a:r>
            <a:r>
              <a:rPr lang="en-US" altLang="zh-CN" sz="1500" dirty="0">
                <a:latin typeface="黑体" charset="0"/>
                <a:ea typeface="黑体" charset="0"/>
              </a:rPr>
              <a:t>")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startTime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L.heapSort</a:t>
            </a:r>
            <a:r>
              <a:rPr lang="en-US" altLang="zh-CN" sz="1500" dirty="0">
                <a:latin typeface="黑体" charset="0"/>
                <a:ea typeface="黑体" charset="0"/>
              </a:rPr>
              <a:t>();//</a:t>
            </a:r>
            <a:r>
              <a:rPr lang="zh-CN" altLang="en-US" sz="1500" dirty="0">
                <a:latin typeface="黑体" charset="0"/>
                <a:ea typeface="黑体" charset="0"/>
              </a:rPr>
              <a:t>堆排序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endTime-startTime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堆排序的时间为：</a:t>
            </a:r>
            <a:r>
              <a:rPr lang="en-US" altLang="zh-CN" sz="1500" dirty="0">
                <a:latin typeface="黑体" charset="0"/>
                <a:ea typeface="黑体" charset="0"/>
              </a:rPr>
              <a:t>"+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+"</a:t>
            </a:r>
            <a:r>
              <a:rPr lang="zh-CN" altLang="en-US" sz="1500" dirty="0">
                <a:latin typeface="黑体" charset="0"/>
                <a:ea typeface="黑体" charset="0"/>
              </a:rPr>
              <a:t>毫秒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startTime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L.mergeSort</a:t>
            </a:r>
            <a:r>
              <a:rPr lang="en-US" altLang="zh-CN" sz="1500" dirty="0">
                <a:latin typeface="黑体" charset="0"/>
                <a:ea typeface="黑体" charset="0"/>
              </a:rPr>
              <a:t>();//</a:t>
            </a:r>
            <a:r>
              <a:rPr lang="zh-CN" altLang="en-US" sz="1500" dirty="0">
                <a:latin typeface="黑体" charset="0"/>
                <a:ea typeface="黑体" charset="0"/>
              </a:rPr>
              <a:t>归并排序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System.currentTimeMillis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    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=</a:t>
            </a:r>
            <a:r>
              <a:rPr lang="en-US" altLang="zh-CN" sz="1500" dirty="0" err="1">
                <a:latin typeface="黑体" charset="0"/>
                <a:ea typeface="黑体" charset="0"/>
              </a:rPr>
              <a:t>endTime-startTime</a:t>
            </a:r>
            <a:r>
              <a:rPr lang="en-US" altLang="zh-CN" sz="1500" dirty="0">
                <a:latin typeface="黑体" charset="0"/>
                <a:ea typeface="黑体" charset="0"/>
              </a:rPr>
              <a:t>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归并排序的时间为：</a:t>
            </a:r>
            <a:r>
              <a:rPr lang="en-US" altLang="zh-CN" sz="1500" dirty="0">
                <a:latin typeface="黑体" charset="0"/>
                <a:ea typeface="黑体" charset="0"/>
              </a:rPr>
              <a:t>"+</a:t>
            </a:r>
            <a:r>
              <a:rPr lang="en-US" altLang="zh-CN" sz="1500" dirty="0" err="1">
                <a:latin typeface="黑体" charset="0"/>
                <a:ea typeface="黑体" charset="0"/>
              </a:rPr>
              <a:t>testTime</a:t>
            </a:r>
            <a:r>
              <a:rPr lang="en-US" altLang="zh-CN" sz="1500" dirty="0">
                <a:latin typeface="黑体" charset="0"/>
                <a:ea typeface="黑体" charset="0"/>
              </a:rPr>
              <a:t>+"</a:t>
            </a:r>
            <a:r>
              <a:rPr lang="zh-CN" altLang="en-US" sz="1500" dirty="0">
                <a:latin typeface="黑体" charset="0"/>
                <a:ea typeface="黑体" charset="0"/>
              </a:rPr>
              <a:t>毫秒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</p:txBody>
      </p:sp>
    </p:spTree>
    <p:extLst>
      <p:ext uri="{BB962C8B-B14F-4D97-AF65-F5344CB8AC3E}">
        <p14:creationId xmlns:p14="http://schemas.microsoft.com/office/powerpoint/2010/main" val="187484171"/>
      </p:ext>
    </p:extLst>
  </p:cSld>
  <p:clrMapOvr>
    <a:masterClrMapping/>
  </p:clrMapOvr>
  <p:transition advClick="0" advTm="0">
    <p:comb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15B4A58-6AC0-4A0C-A9A5-7F76A008397D}"/>
              </a:ext>
            </a:extLst>
          </p:cNvPr>
          <p:cNvSpPr/>
          <p:nvPr/>
        </p:nvSpPr>
        <p:spPr>
          <a:xfrm>
            <a:off x="809582" y="1348408"/>
            <a:ext cx="752483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Font typeface="Wingdings" charset="0"/>
              <a:buChar char="!"/>
            </a:pPr>
            <a:r>
              <a:rPr lang="zh-CN" altLang="en-US" sz="60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</a:rPr>
              <a:t>二叉树</a:t>
            </a:r>
          </a:p>
        </p:txBody>
      </p:sp>
    </p:spTree>
    <p:extLst>
      <p:ext uri="{BB962C8B-B14F-4D97-AF65-F5344CB8AC3E}">
        <p14:creationId xmlns:p14="http://schemas.microsoft.com/office/powerpoint/2010/main" val="4240982423"/>
      </p:ext>
    </p:extLst>
  </p:cSld>
  <p:clrMapOvr>
    <a:masterClrMapping/>
  </p:clrMapOvr>
  <p:transition>
    <p:comb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678" y="251302"/>
            <a:ext cx="7886700" cy="394811"/>
          </a:xfrm>
        </p:spPr>
        <p:txBody>
          <a:bodyPr>
            <a:normAutofit fontScale="90000"/>
          </a:bodyPr>
          <a:lstStyle/>
          <a:p>
            <a:pPr algn="l"/>
            <a:br>
              <a:rPr lang="zh-CN" altLang="en-US" dirty="0">
                <a:solidFill>
                  <a:schemeClr val="bg1"/>
                </a:solidFill>
              </a:rPr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79877"/>
            <a:ext cx="7886700" cy="4488911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90000"/>
              </a:lnSpc>
              <a:buNone/>
            </a:pPr>
            <a:endParaRPr lang="zh-CN" altLang="en-US" sz="30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宋体" pitchFamily="2" charset="-122"/>
              <a:sym typeface="+mn-ea"/>
            </a:endParaRPr>
          </a:p>
          <a:p>
            <a:pPr eaLnBrk="1" fontAlgn="base" hangingPunct="1">
              <a:lnSpc>
                <a:spcPct val="90000"/>
              </a:lnSpc>
              <a:buClrTx/>
              <a:buFont typeface="Wingdings" charset="0"/>
              <a:buChar char="!"/>
            </a:pPr>
            <a:r>
              <a:rPr lang="zh-CN" altLang="en-US" sz="30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ea typeface="宋体" pitchFamily="2" charset="-122"/>
                <a:sym typeface="+mn-ea"/>
              </a:rPr>
              <a:t>功能</a:t>
            </a:r>
            <a:r>
              <a:rPr lang="zh-CN" altLang="en-US" sz="30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  <a:sym typeface="+mn-ea"/>
              </a:rPr>
              <a:t>  :</a:t>
            </a:r>
          </a:p>
          <a:p>
            <a:pPr fontAlgn="base">
              <a:lnSpc>
                <a:spcPct val="90000"/>
              </a:lnSpc>
            </a:pPr>
            <a:r>
              <a:rPr lang="zh-CN" altLang="en-US" sz="2800" dirty="0">
                <a:sym typeface="+mn-ea"/>
              </a:rPr>
              <a:t>利用二叉树的先序和中序遍历结果创建一棵二叉链表存储的二叉树，并判断所给定的二叉树是不是完全二叉树，如果是，将存储结构转换为顺序存储；然后判断是不是堆，若不是，将其调整为堆，并输出结果检查调整后的结果是否正确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93708895"/>
      </p:ext>
    </p:extLst>
  </p:cSld>
  <p:clrMapOvr>
    <a:masterClrMapping/>
  </p:clrMapOvr>
  <p:transition advClick="0" advTm="0">
    <p:comb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创建二叉树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 fontScale="475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zh-CN" altLang="en-US" sz="2400" dirty="0">
                <a:latin typeface="黑体" charset="0"/>
                <a:ea typeface="黑体" charset="0"/>
              </a:rPr>
              <a:t>  </a:t>
            </a:r>
            <a:r>
              <a:rPr lang="en-US" altLang="zh-CN" sz="2400" dirty="0">
                <a:latin typeface="黑体" charset="0"/>
                <a:ea typeface="黑体" charset="0"/>
              </a:rPr>
              <a:t>static class </a:t>
            </a:r>
            <a:r>
              <a:rPr lang="en-US" altLang="zh-CN" sz="24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2400" dirty="0">
                <a:latin typeface="黑体" charset="0"/>
                <a:ea typeface="黑体" charset="0"/>
              </a:rPr>
              <a:t>&lt;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&gt; {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 data;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</a:t>
            </a:r>
            <a:r>
              <a:rPr lang="en-US" altLang="zh-CN" sz="24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2400" dirty="0">
                <a:latin typeface="黑体" charset="0"/>
                <a:ea typeface="黑体" charset="0"/>
              </a:rPr>
              <a:t>&lt;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&gt; </a:t>
            </a:r>
            <a:r>
              <a:rPr lang="en-US" altLang="zh-CN" sz="2400" dirty="0" err="1">
                <a:latin typeface="黑体" charset="0"/>
                <a:ea typeface="黑体" charset="0"/>
              </a:rPr>
              <a:t>lchild</a:t>
            </a:r>
            <a:r>
              <a:rPr lang="en-US" altLang="zh-CN" sz="2400" dirty="0">
                <a:latin typeface="黑体" charset="0"/>
                <a:ea typeface="黑体" charset="0"/>
              </a:rPr>
              <a:t>, </a:t>
            </a:r>
            <a:r>
              <a:rPr lang="en-US" altLang="zh-CN" sz="2400" dirty="0" err="1">
                <a:latin typeface="黑体" charset="0"/>
                <a:ea typeface="黑体" charset="0"/>
              </a:rPr>
              <a:t>rchild</a:t>
            </a:r>
            <a:r>
              <a:rPr lang="en-US" altLang="zh-CN" sz="2400" dirty="0">
                <a:latin typeface="黑体" charset="0"/>
                <a:ea typeface="黑体" charset="0"/>
              </a:rPr>
              <a:t>;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public </a:t>
            </a:r>
            <a:r>
              <a:rPr lang="en-US" altLang="zh-CN" sz="24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2400" dirty="0">
                <a:latin typeface="黑体" charset="0"/>
                <a:ea typeface="黑体" charset="0"/>
              </a:rPr>
              <a:t>(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 data, </a:t>
            </a:r>
            <a:r>
              <a:rPr lang="en-US" altLang="zh-CN" sz="24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2400" dirty="0">
                <a:latin typeface="黑体" charset="0"/>
                <a:ea typeface="黑体" charset="0"/>
              </a:rPr>
              <a:t>&lt;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&gt; </a:t>
            </a:r>
            <a:r>
              <a:rPr lang="en-US" altLang="zh-CN" sz="2400" dirty="0" err="1">
                <a:latin typeface="黑体" charset="0"/>
                <a:ea typeface="黑体" charset="0"/>
              </a:rPr>
              <a:t>lchild</a:t>
            </a:r>
            <a:r>
              <a:rPr lang="en-US" altLang="zh-CN" sz="2400" dirty="0">
                <a:latin typeface="黑体" charset="0"/>
                <a:ea typeface="黑体" charset="0"/>
              </a:rPr>
              <a:t>, </a:t>
            </a:r>
            <a:r>
              <a:rPr lang="en-US" altLang="zh-CN" sz="24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2400" dirty="0">
                <a:latin typeface="黑体" charset="0"/>
                <a:ea typeface="黑体" charset="0"/>
              </a:rPr>
              <a:t>&lt;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&gt; </a:t>
            </a:r>
            <a:r>
              <a:rPr lang="en-US" altLang="zh-CN" sz="2400" dirty="0" err="1">
                <a:latin typeface="黑体" charset="0"/>
                <a:ea typeface="黑体" charset="0"/>
              </a:rPr>
              <a:t>rchild</a:t>
            </a:r>
            <a:r>
              <a:rPr lang="en-US" altLang="zh-CN" sz="2400" dirty="0">
                <a:latin typeface="黑体" charset="0"/>
                <a:ea typeface="黑体" charset="0"/>
              </a:rPr>
              <a:t>) {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	</a:t>
            </a:r>
            <a:r>
              <a:rPr lang="en-US" altLang="zh-CN" sz="2400" dirty="0" err="1">
                <a:latin typeface="黑体" charset="0"/>
                <a:ea typeface="黑体" charset="0"/>
              </a:rPr>
              <a:t>this.data</a:t>
            </a:r>
            <a:r>
              <a:rPr lang="en-US" altLang="zh-CN" sz="2400" dirty="0">
                <a:latin typeface="黑体" charset="0"/>
                <a:ea typeface="黑体" charset="0"/>
              </a:rPr>
              <a:t> = data;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	</a:t>
            </a:r>
            <a:r>
              <a:rPr lang="en-US" altLang="zh-CN" sz="2400" dirty="0" err="1">
                <a:latin typeface="黑体" charset="0"/>
                <a:ea typeface="黑体" charset="0"/>
              </a:rPr>
              <a:t>this.lchild</a:t>
            </a:r>
            <a:r>
              <a:rPr lang="en-US" altLang="zh-CN" sz="2400" dirty="0">
                <a:latin typeface="黑体" charset="0"/>
                <a:ea typeface="黑体" charset="0"/>
              </a:rPr>
              <a:t> = </a:t>
            </a:r>
            <a:r>
              <a:rPr lang="en-US" altLang="zh-CN" sz="2400" dirty="0" err="1">
                <a:latin typeface="黑体" charset="0"/>
                <a:ea typeface="黑体" charset="0"/>
              </a:rPr>
              <a:t>lchild</a:t>
            </a:r>
            <a:r>
              <a:rPr lang="en-US" altLang="zh-CN" sz="2400" dirty="0">
                <a:latin typeface="黑体" charset="0"/>
                <a:ea typeface="黑体" charset="0"/>
              </a:rPr>
              <a:t>;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	</a:t>
            </a:r>
            <a:r>
              <a:rPr lang="en-US" altLang="zh-CN" sz="2400" dirty="0" err="1">
                <a:latin typeface="黑体" charset="0"/>
                <a:ea typeface="黑体" charset="0"/>
              </a:rPr>
              <a:t>this.rchild</a:t>
            </a:r>
            <a:r>
              <a:rPr lang="en-US" altLang="zh-CN" sz="2400" dirty="0">
                <a:latin typeface="黑体" charset="0"/>
                <a:ea typeface="黑体" charset="0"/>
              </a:rPr>
              <a:t> = </a:t>
            </a:r>
            <a:r>
              <a:rPr lang="en-US" altLang="zh-CN" sz="2400" dirty="0" err="1">
                <a:latin typeface="黑体" charset="0"/>
                <a:ea typeface="黑体" charset="0"/>
              </a:rPr>
              <a:t>rchild</a:t>
            </a:r>
            <a:r>
              <a:rPr lang="en-US" altLang="zh-CN" sz="2400" dirty="0">
                <a:latin typeface="黑体" charset="0"/>
                <a:ea typeface="黑体" charset="0"/>
              </a:rPr>
              <a:t>;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}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public </a:t>
            </a:r>
            <a:r>
              <a:rPr lang="en-US" altLang="zh-CN" sz="24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2400" dirty="0">
                <a:latin typeface="黑体" charset="0"/>
                <a:ea typeface="黑体" charset="0"/>
              </a:rPr>
              <a:t>(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 data) {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	this(data, null, null);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}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}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public </a:t>
            </a:r>
            <a:r>
              <a:rPr lang="en-US" altLang="zh-CN" sz="2400" dirty="0" err="1">
                <a:latin typeface="黑体" charset="0"/>
                <a:ea typeface="黑体" charset="0"/>
              </a:rPr>
              <a:t>MyBinaryAndHeap</a:t>
            </a:r>
            <a:r>
              <a:rPr lang="en-US" altLang="zh-CN" sz="2400" dirty="0">
                <a:latin typeface="黑体" charset="0"/>
                <a:ea typeface="黑体" charset="0"/>
              </a:rPr>
              <a:t>(</a:t>
            </a:r>
            <a:r>
              <a:rPr lang="en-US" altLang="zh-CN" sz="24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2400" dirty="0">
                <a:latin typeface="黑体" charset="0"/>
                <a:ea typeface="黑体" charset="0"/>
              </a:rPr>
              <a:t>&lt;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&gt; root) {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	</a:t>
            </a:r>
            <a:r>
              <a:rPr lang="en-US" altLang="zh-CN" sz="2400" dirty="0" err="1">
                <a:latin typeface="黑体" charset="0"/>
                <a:ea typeface="黑体" charset="0"/>
              </a:rPr>
              <a:t>this.root</a:t>
            </a:r>
            <a:r>
              <a:rPr lang="en-US" altLang="zh-CN" sz="2400" dirty="0">
                <a:latin typeface="黑体" charset="0"/>
                <a:ea typeface="黑体" charset="0"/>
              </a:rPr>
              <a:t> = root; </a:t>
            </a:r>
          </a:p>
          <a:p>
            <a:pPr marL="0" indent="0">
              <a:buNone/>
            </a:pPr>
            <a:r>
              <a:rPr lang="en-US" altLang="zh-CN" sz="2400" dirty="0">
                <a:latin typeface="黑体" charset="0"/>
                <a:ea typeface="黑体" charset="0"/>
              </a:rPr>
              <a:t> 	} </a:t>
            </a:r>
            <a:r>
              <a:rPr lang="zh-CN" altLang="en-US" sz="2400" dirty="0">
                <a:latin typeface="黑体" charset="0"/>
                <a:ea typeface="黑体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32064292"/>
      </p:ext>
    </p:extLst>
  </p:cSld>
  <p:clrMapOvr>
    <a:masterClrMapping/>
  </p:clrMapOvr>
  <p:transition advClick="0" advTm="0">
    <p:comb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先序中序创建二叉树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661353"/>
            <a:ext cx="9144000" cy="4483735"/>
          </a:xfrm>
        </p:spPr>
        <p:txBody>
          <a:bodyPr>
            <a:normAutofit fontScale="625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public </a:t>
            </a:r>
            <a:r>
              <a:rPr lang="en-US" altLang="zh-CN" sz="2400" dirty="0" err="1">
                <a:latin typeface="黑体" charset="0"/>
                <a:ea typeface="黑体" charset="0"/>
              </a:rPr>
              <a:t>MyBinaryAndHeap</a:t>
            </a:r>
            <a:r>
              <a:rPr lang="en-US" altLang="zh-CN" sz="2400" dirty="0">
                <a:latin typeface="黑体" charset="0"/>
                <a:ea typeface="黑体" charset="0"/>
              </a:rPr>
              <a:t>(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 </a:t>
            </a:r>
            <a:r>
              <a:rPr lang="en-US" altLang="zh-CN" sz="2400" dirty="0" err="1">
                <a:latin typeface="黑体" charset="0"/>
                <a:ea typeface="黑体" charset="0"/>
              </a:rPr>
              <a:t>preOrder</a:t>
            </a:r>
            <a:r>
              <a:rPr lang="en-US" altLang="zh-CN" sz="2400" dirty="0">
                <a:latin typeface="黑体" charset="0"/>
                <a:ea typeface="黑体" charset="0"/>
              </a:rPr>
              <a:t>[], 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 </a:t>
            </a:r>
            <a:r>
              <a:rPr lang="en-US" altLang="zh-CN" sz="2400" dirty="0" err="1">
                <a:latin typeface="黑体" charset="0"/>
                <a:ea typeface="黑体" charset="0"/>
              </a:rPr>
              <a:t>inOrder</a:t>
            </a:r>
            <a:r>
              <a:rPr lang="en-US" altLang="zh-CN" sz="2400" dirty="0">
                <a:latin typeface="黑体" charset="0"/>
                <a:ea typeface="黑体" charset="0"/>
              </a:rPr>
              <a:t>[], int </a:t>
            </a:r>
            <a:r>
              <a:rPr lang="en-US" altLang="zh-CN" sz="2400" dirty="0" err="1">
                <a:latin typeface="黑体" charset="0"/>
                <a:ea typeface="黑体" charset="0"/>
              </a:rPr>
              <a:t>preIndex</a:t>
            </a:r>
            <a:r>
              <a:rPr lang="en-US" altLang="zh-CN" sz="2400" dirty="0">
                <a:latin typeface="黑体" charset="0"/>
                <a:ea typeface="黑体" charset="0"/>
              </a:rPr>
              <a:t>, int </a:t>
            </a:r>
            <a:r>
              <a:rPr lang="en-US" altLang="zh-CN" sz="2400" dirty="0" err="1">
                <a:latin typeface="黑体" charset="0"/>
                <a:ea typeface="黑体" charset="0"/>
              </a:rPr>
              <a:t>inIndex</a:t>
            </a:r>
            <a:r>
              <a:rPr lang="en-US" altLang="zh-CN" sz="2400" dirty="0">
                <a:latin typeface="黑体" charset="0"/>
                <a:ea typeface="黑体" charset="0"/>
              </a:rPr>
              <a:t>, int count) { </a:t>
            </a:r>
          </a:p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 		if (count &gt; 0) {// </a:t>
            </a:r>
            <a:r>
              <a:rPr lang="zh-CN" altLang="en-US" sz="2400" dirty="0">
                <a:latin typeface="黑体" charset="0"/>
                <a:ea typeface="黑体" charset="0"/>
              </a:rPr>
              <a:t>先根和中根非空 </a:t>
            </a:r>
          </a:p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 			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 r = </a:t>
            </a:r>
            <a:r>
              <a:rPr lang="en-US" altLang="zh-CN" sz="2400" dirty="0" err="1">
                <a:latin typeface="黑体" charset="0"/>
                <a:ea typeface="黑体" charset="0"/>
              </a:rPr>
              <a:t>preOrder</a:t>
            </a:r>
            <a:r>
              <a:rPr lang="en-US" altLang="zh-CN" sz="2400" dirty="0">
                <a:latin typeface="黑体" charset="0"/>
                <a:ea typeface="黑体" charset="0"/>
              </a:rPr>
              <a:t>[</a:t>
            </a:r>
            <a:r>
              <a:rPr lang="en-US" altLang="zh-CN" sz="2400" dirty="0" err="1">
                <a:latin typeface="黑体" charset="0"/>
                <a:ea typeface="黑体" charset="0"/>
              </a:rPr>
              <a:t>preIndex</a:t>
            </a:r>
            <a:r>
              <a:rPr lang="en-US" altLang="zh-CN" sz="2400" dirty="0">
                <a:latin typeface="黑体" charset="0"/>
                <a:ea typeface="黑体" charset="0"/>
              </a:rPr>
              <a:t>];// </a:t>
            </a:r>
            <a:r>
              <a:rPr lang="zh-CN" altLang="en-US" sz="2400" dirty="0">
                <a:latin typeface="黑体" charset="0"/>
                <a:ea typeface="黑体" charset="0"/>
              </a:rPr>
              <a:t>取先根遍历中的第一个结点作为根结点 </a:t>
            </a:r>
          </a:p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 			</a:t>
            </a:r>
            <a:r>
              <a:rPr lang="en-US" altLang="zh-CN" sz="2400" dirty="0">
                <a:latin typeface="黑体" charset="0"/>
                <a:ea typeface="黑体" charset="0"/>
              </a:rPr>
              <a:t>int 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 = 0; </a:t>
            </a:r>
          </a:p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 			for (; 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 &lt; count; 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++)// </a:t>
            </a:r>
            <a:r>
              <a:rPr lang="zh-CN" altLang="en-US" sz="2400" dirty="0">
                <a:latin typeface="黑体" charset="0"/>
                <a:ea typeface="黑体" charset="0"/>
              </a:rPr>
              <a:t>寻找根结点在中根遍历中的序列 </a:t>
            </a:r>
          </a:p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 				</a:t>
            </a:r>
            <a:r>
              <a:rPr lang="en-US" altLang="zh-CN" sz="2400" dirty="0">
                <a:latin typeface="黑体" charset="0"/>
                <a:ea typeface="黑体" charset="0"/>
              </a:rPr>
              <a:t>if (</a:t>
            </a:r>
            <a:r>
              <a:rPr lang="en-US" altLang="zh-CN" sz="2400" dirty="0" err="1">
                <a:latin typeface="黑体" charset="0"/>
                <a:ea typeface="黑体" charset="0"/>
              </a:rPr>
              <a:t>r.compareTo</a:t>
            </a:r>
            <a:r>
              <a:rPr lang="en-US" altLang="zh-CN" sz="2400" dirty="0">
                <a:latin typeface="黑体" charset="0"/>
                <a:ea typeface="黑体" charset="0"/>
              </a:rPr>
              <a:t>(</a:t>
            </a:r>
            <a:r>
              <a:rPr lang="en-US" altLang="zh-CN" sz="2400" dirty="0" err="1">
                <a:latin typeface="黑体" charset="0"/>
                <a:ea typeface="黑体" charset="0"/>
              </a:rPr>
              <a:t>inOrder</a:t>
            </a:r>
            <a:r>
              <a:rPr lang="en-US" altLang="zh-CN" sz="2400" dirty="0">
                <a:latin typeface="黑体" charset="0"/>
                <a:ea typeface="黑体" charset="0"/>
              </a:rPr>
              <a:t>[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 + </a:t>
            </a:r>
            <a:r>
              <a:rPr lang="en-US" altLang="zh-CN" sz="2400" dirty="0" err="1">
                <a:latin typeface="黑体" charset="0"/>
                <a:ea typeface="黑体" charset="0"/>
              </a:rPr>
              <a:t>inIndex</a:t>
            </a:r>
            <a:r>
              <a:rPr lang="en-US" altLang="zh-CN" sz="2400" dirty="0">
                <a:latin typeface="黑体" charset="0"/>
                <a:ea typeface="黑体" charset="0"/>
              </a:rPr>
              <a:t>]) == 0) </a:t>
            </a:r>
          </a:p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 					break; </a:t>
            </a:r>
          </a:p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 			root = new </a:t>
            </a:r>
            <a:r>
              <a:rPr lang="en-US" altLang="zh-CN" sz="24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2400" dirty="0">
                <a:latin typeface="黑体" charset="0"/>
                <a:ea typeface="黑体" charset="0"/>
              </a:rPr>
              <a:t>&lt;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&gt;(r); </a:t>
            </a:r>
          </a:p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 			</a:t>
            </a:r>
            <a:r>
              <a:rPr lang="en-US" altLang="zh-CN" sz="2400" dirty="0" err="1">
                <a:latin typeface="黑体" charset="0"/>
                <a:ea typeface="黑体" charset="0"/>
              </a:rPr>
              <a:t>root.lchild</a:t>
            </a:r>
            <a:r>
              <a:rPr lang="en-US" altLang="zh-CN" sz="2400" dirty="0">
                <a:latin typeface="黑体" charset="0"/>
                <a:ea typeface="黑体" charset="0"/>
              </a:rPr>
              <a:t> = new </a:t>
            </a:r>
            <a:r>
              <a:rPr lang="en-US" altLang="zh-CN" sz="2400" dirty="0" err="1">
                <a:latin typeface="黑体" charset="0"/>
                <a:ea typeface="黑体" charset="0"/>
              </a:rPr>
              <a:t>MyBinaryAndHeap</a:t>
            </a:r>
            <a:r>
              <a:rPr lang="en-US" altLang="zh-CN" sz="2400" dirty="0">
                <a:latin typeface="黑体" charset="0"/>
                <a:ea typeface="黑体" charset="0"/>
              </a:rPr>
              <a:t>&lt;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&gt;(</a:t>
            </a:r>
            <a:r>
              <a:rPr lang="en-US" altLang="zh-CN" sz="2400" dirty="0" err="1">
                <a:latin typeface="黑体" charset="0"/>
                <a:ea typeface="黑体" charset="0"/>
              </a:rPr>
              <a:t>preOrder</a:t>
            </a:r>
            <a:r>
              <a:rPr lang="en-US" altLang="zh-CN" sz="2400" dirty="0">
                <a:latin typeface="黑体" charset="0"/>
                <a:ea typeface="黑体" charset="0"/>
              </a:rPr>
              <a:t>, </a:t>
            </a:r>
            <a:r>
              <a:rPr lang="en-US" altLang="zh-CN" sz="2400" dirty="0" err="1">
                <a:latin typeface="黑体" charset="0"/>
                <a:ea typeface="黑体" charset="0"/>
              </a:rPr>
              <a:t>inOrder</a:t>
            </a:r>
            <a:r>
              <a:rPr lang="en-US" altLang="zh-CN" sz="2400" dirty="0">
                <a:latin typeface="黑体" charset="0"/>
                <a:ea typeface="黑体" charset="0"/>
              </a:rPr>
              <a:t>, </a:t>
            </a:r>
            <a:r>
              <a:rPr lang="en-US" altLang="zh-CN" sz="2400" dirty="0" err="1">
                <a:latin typeface="黑体" charset="0"/>
                <a:ea typeface="黑体" charset="0"/>
              </a:rPr>
              <a:t>preIndex</a:t>
            </a:r>
            <a:r>
              <a:rPr lang="en-US" altLang="zh-CN" sz="2400" dirty="0">
                <a:latin typeface="黑体" charset="0"/>
                <a:ea typeface="黑体" charset="0"/>
              </a:rPr>
              <a:t> + 1, </a:t>
            </a:r>
            <a:r>
              <a:rPr lang="en-US" altLang="zh-CN" sz="2400" dirty="0" err="1">
                <a:latin typeface="黑体" charset="0"/>
                <a:ea typeface="黑体" charset="0"/>
              </a:rPr>
              <a:t>inIndex</a:t>
            </a:r>
            <a:r>
              <a:rPr lang="en-US" altLang="zh-CN" sz="2400" dirty="0">
                <a:latin typeface="黑体" charset="0"/>
                <a:ea typeface="黑体" charset="0"/>
              </a:rPr>
              <a:t>, 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).root; </a:t>
            </a:r>
          </a:p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 			// index+i+1</a:t>
            </a:r>
            <a:r>
              <a:rPr lang="zh-CN" altLang="en-US" sz="2400" dirty="0">
                <a:latin typeface="黑体" charset="0"/>
                <a:ea typeface="黑体" charset="0"/>
              </a:rPr>
              <a:t>中根遍历序列开始的位置，整个中根序列序列开始的位置，</a:t>
            </a:r>
            <a:r>
              <a:rPr lang="en-US" altLang="zh-CN" sz="2400" dirty="0">
                <a:latin typeface="黑体" charset="0"/>
                <a:ea typeface="黑体" charset="0"/>
              </a:rPr>
              <a:t>a</a:t>
            </a:r>
            <a:r>
              <a:rPr lang="zh-CN" altLang="en-US" sz="2400" dirty="0">
                <a:latin typeface="黑体" charset="0"/>
                <a:ea typeface="黑体" charset="0"/>
              </a:rPr>
              <a:t>左边结束之后</a:t>
            </a:r>
            <a:r>
              <a:rPr lang="en-US" altLang="zh-CN" sz="2400" dirty="0">
                <a:latin typeface="黑体" charset="0"/>
                <a:ea typeface="黑体" charset="0"/>
              </a:rPr>
              <a:t>preindex+i+1=3</a:t>
            </a:r>
            <a:r>
              <a:rPr lang="zh-CN" altLang="en-US" sz="2400" dirty="0">
                <a:latin typeface="黑体" charset="0"/>
                <a:ea typeface="黑体" charset="0"/>
              </a:rPr>
              <a:t>，也就是</a:t>
            </a:r>
            <a:r>
              <a:rPr lang="en-US" altLang="zh-CN" sz="2400" dirty="0">
                <a:latin typeface="黑体" charset="0"/>
                <a:ea typeface="黑体" charset="0"/>
              </a:rPr>
              <a:t>c</a:t>
            </a:r>
            <a:r>
              <a:rPr lang="zh-CN" altLang="en-US" sz="2400" dirty="0">
                <a:latin typeface="黑体" charset="0"/>
                <a:ea typeface="黑体" charset="0"/>
              </a:rPr>
              <a:t>的位置 </a:t>
            </a:r>
          </a:p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 			</a:t>
            </a:r>
            <a:r>
              <a:rPr lang="en-US" altLang="zh-CN" sz="2400" dirty="0" err="1">
                <a:latin typeface="黑体" charset="0"/>
                <a:ea typeface="黑体" charset="0"/>
              </a:rPr>
              <a:t>root.rchild</a:t>
            </a:r>
            <a:r>
              <a:rPr lang="en-US" altLang="zh-CN" sz="2400" dirty="0">
                <a:latin typeface="黑体" charset="0"/>
                <a:ea typeface="黑体" charset="0"/>
              </a:rPr>
              <a:t> = new </a:t>
            </a:r>
            <a:r>
              <a:rPr lang="en-US" altLang="zh-CN" sz="2400" dirty="0" err="1">
                <a:latin typeface="黑体" charset="0"/>
                <a:ea typeface="黑体" charset="0"/>
              </a:rPr>
              <a:t>MyBinaryAndHeap</a:t>
            </a:r>
            <a:r>
              <a:rPr lang="en-US" altLang="zh-CN" sz="2400" dirty="0">
                <a:latin typeface="黑体" charset="0"/>
                <a:ea typeface="黑体" charset="0"/>
              </a:rPr>
              <a:t>&lt;</a:t>
            </a:r>
            <a:r>
              <a:rPr lang="en-US" altLang="zh-CN" sz="24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2400" dirty="0">
                <a:latin typeface="黑体" charset="0"/>
                <a:ea typeface="黑体" charset="0"/>
              </a:rPr>
              <a:t>&gt;(</a:t>
            </a:r>
            <a:r>
              <a:rPr lang="en-US" altLang="zh-CN" sz="2400" dirty="0" err="1">
                <a:latin typeface="黑体" charset="0"/>
                <a:ea typeface="黑体" charset="0"/>
              </a:rPr>
              <a:t>preOrder</a:t>
            </a:r>
            <a:r>
              <a:rPr lang="en-US" altLang="zh-CN" sz="2400" dirty="0">
                <a:latin typeface="黑体" charset="0"/>
                <a:ea typeface="黑体" charset="0"/>
              </a:rPr>
              <a:t>, </a:t>
            </a:r>
            <a:r>
              <a:rPr lang="en-US" altLang="zh-CN" sz="2400" dirty="0" err="1">
                <a:latin typeface="黑体" charset="0"/>
                <a:ea typeface="黑体" charset="0"/>
              </a:rPr>
              <a:t>inOrder</a:t>
            </a:r>
            <a:r>
              <a:rPr lang="en-US" altLang="zh-CN" sz="2400" dirty="0">
                <a:latin typeface="黑体" charset="0"/>
                <a:ea typeface="黑体" charset="0"/>
              </a:rPr>
              <a:t>, </a:t>
            </a:r>
            <a:r>
              <a:rPr lang="en-US" altLang="zh-CN" sz="2400" dirty="0" err="1">
                <a:latin typeface="黑体" charset="0"/>
                <a:ea typeface="黑体" charset="0"/>
              </a:rPr>
              <a:t>preIndex</a:t>
            </a:r>
            <a:r>
              <a:rPr lang="en-US" altLang="zh-CN" sz="2400" dirty="0">
                <a:latin typeface="黑体" charset="0"/>
                <a:ea typeface="黑体" charset="0"/>
              </a:rPr>
              <a:t> + 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 + 1, </a:t>
            </a:r>
            <a:r>
              <a:rPr lang="en-US" altLang="zh-CN" sz="2400" dirty="0" err="1">
                <a:latin typeface="黑体" charset="0"/>
                <a:ea typeface="黑体" charset="0"/>
              </a:rPr>
              <a:t>inIndex</a:t>
            </a:r>
            <a:r>
              <a:rPr lang="en-US" altLang="zh-CN" sz="2400" dirty="0">
                <a:latin typeface="黑体" charset="0"/>
                <a:ea typeface="黑体" charset="0"/>
              </a:rPr>
              <a:t> + 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 + 1, </a:t>
            </a:r>
          </a:p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 					count - 1 - 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).root; </a:t>
            </a:r>
          </a:p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 			// </a:t>
            </a:r>
            <a:r>
              <a:rPr lang="en-US" altLang="zh-CN" sz="24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2400" dirty="0">
                <a:latin typeface="黑体" charset="0"/>
                <a:ea typeface="黑体" charset="0"/>
              </a:rPr>
              <a:t>(</a:t>
            </a:r>
            <a:r>
              <a:rPr lang="en-US" altLang="zh-CN" sz="2400" dirty="0" err="1">
                <a:latin typeface="黑体" charset="0"/>
                <a:ea typeface="黑体" charset="0"/>
              </a:rPr>
              <a:t>inIndex</a:t>
            </a:r>
            <a:r>
              <a:rPr lang="en-US" altLang="zh-CN" sz="2400" dirty="0">
                <a:latin typeface="黑体" charset="0"/>
                <a:ea typeface="黑体" charset="0"/>
              </a:rPr>
              <a:t> + </a:t>
            </a:r>
            <a:r>
              <a:rPr lang="en-US" altLang="zh-CN" sz="2400" dirty="0" err="1">
                <a:latin typeface="黑体" charset="0"/>
                <a:ea typeface="黑体" charset="0"/>
              </a:rPr>
              <a:t>i</a:t>
            </a:r>
            <a:r>
              <a:rPr lang="en-US" altLang="zh-CN" sz="2400" dirty="0">
                <a:latin typeface="黑体" charset="0"/>
                <a:ea typeface="黑体" charset="0"/>
              </a:rPr>
              <a:t> + 1); </a:t>
            </a:r>
          </a:p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 		} </a:t>
            </a:r>
          </a:p>
          <a:p>
            <a:pPr>
              <a:buClrTx/>
              <a:buFont typeface="Wingdings" charset="0"/>
              <a:buChar char="!"/>
            </a:pPr>
            <a:r>
              <a:rPr lang="en-US" altLang="zh-CN" sz="2400" dirty="0">
                <a:latin typeface="黑体" charset="0"/>
                <a:ea typeface="黑体" charset="0"/>
              </a:rPr>
              <a:t> 	} </a:t>
            </a:r>
            <a:endParaRPr lang="zh-CN" altLang="en-US" sz="24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3244776"/>
      </p:ext>
    </p:extLst>
  </p:cSld>
  <p:clrMapOvr>
    <a:masterClrMapping/>
  </p:clrMapOvr>
  <p:transition advClick="0" advTm="0">
    <p:comb dir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前序遍历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preTraverse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1500" dirty="0">
                <a:latin typeface="黑体" charset="0"/>
                <a:ea typeface="黑体" charset="0"/>
              </a:rPr>
              <a:t>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&gt; root)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if (root != null)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root.data</a:t>
            </a:r>
            <a:r>
              <a:rPr lang="en-US" altLang="zh-CN" sz="1500" dirty="0">
                <a:latin typeface="黑体" charset="0"/>
                <a:ea typeface="黑体" charset="0"/>
              </a:rPr>
              <a:t> + " 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preTraverse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root.lchild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preTraverse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root.rchild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} </a:t>
            </a:r>
            <a:r>
              <a:rPr lang="zh-CN" altLang="en-US" sz="2400" dirty="0">
                <a:latin typeface="黑体" charset="0"/>
                <a:ea typeface="黑体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764949447"/>
      </p:ext>
    </p:extLst>
  </p:cSld>
  <p:clrMapOvr>
    <a:masterClrMapping/>
  </p:clrMapOvr>
  <p:transition advClick="0" advTm="0">
    <p:comb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中序遍历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inTraverse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1500" dirty="0">
                <a:latin typeface="黑体" charset="0"/>
                <a:ea typeface="黑体" charset="0"/>
              </a:rPr>
              <a:t>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&gt; root)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if (root != null)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inTraverse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root.lchild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root.data</a:t>
            </a:r>
            <a:r>
              <a:rPr lang="en-US" altLang="zh-CN" sz="1500" dirty="0">
                <a:latin typeface="黑体" charset="0"/>
                <a:ea typeface="黑体" charset="0"/>
              </a:rPr>
              <a:t> + " 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inTraverse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root.rchild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} </a:t>
            </a:r>
            <a:r>
              <a:rPr lang="zh-CN" altLang="en-US" sz="2400" dirty="0">
                <a:latin typeface="黑体" charset="0"/>
                <a:ea typeface="黑体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034118642"/>
      </p:ext>
    </p:extLst>
  </p:cSld>
  <p:clrMapOvr>
    <a:masterClrMapping/>
  </p:clrMapOvr>
  <p:transition advClick="0" advTm="0">
    <p:comb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后序遍历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255718" cy="4199414"/>
          </a:xfrm>
        </p:spPr>
        <p:txBody>
          <a:bodyPr>
            <a:norm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</a:t>
            </a:r>
            <a:r>
              <a:rPr lang="en-US" altLang="zh-CN" sz="1500" dirty="0" err="1">
                <a:latin typeface="黑体" charset="0"/>
                <a:ea typeface="黑体" charset="0"/>
              </a:rPr>
              <a:t>postTraverse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1500" dirty="0">
                <a:latin typeface="黑体" charset="0"/>
                <a:ea typeface="黑体" charset="0"/>
              </a:rPr>
              <a:t>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&gt; root)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if (root != null)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postTraverse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root.lchild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postTraverse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root.rchild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root.data</a:t>
            </a:r>
            <a:r>
              <a:rPr lang="en-US" altLang="zh-CN" sz="1500" dirty="0">
                <a:latin typeface="黑体" charset="0"/>
                <a:ea typeface="黑体" charset="0"/>
              </a:rPr>
              <a:t> + " 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} </a:t>
            </a:r>
            <a:endParaRPr lang="zh-CN" altLang="en-US" sz="24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892769"/>
      </p:ext>
    </p:extLst>
  </p:cSld>
  <p:clrMapOvr>
    <a:masterClrMapping/>
  </p:clrMapOvr>
  <p:transition advClick="0" advTm="0">
    <p:comb dir="vert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判断是否为完全二叉树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524" y="520316"/>
            <a:ext cx="8227826" cy="4716524"/>
          </a:xfrm>
        </p:spPr>
        <p:txBody>
          <a:bodyPr>
            <a:normAutofit fontScale="700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public </a:t>
            </a:r>
            <a:r>
              <a:rPr lang="en-US" altLang="zh-CN" sz="1500" dirty="0" err="1">
                <a:latin typeface="黑体" charset="0"/>
                <a:ea typeface="黑体" charset="0"/>
              </a:rPr>
              <a:t>boolean</a:t>
            </a:r>
            <a:r>
              <a:rPr lang="en-US" altLang="zh-CN" sz="1500" dirty="0">
                <a:latin typeface="黑体" charset="0"/>
                <a:ea typeface="黑体" charset="0"/>
              </a:rPr>
              <a:t> </a:t>
            </a:r>
            <a:r>
              <a:rPr lang="en-US" altLang="zh-CN" sz="1500" dirty="0" err="1">
                <a:latin typeface="黑体" charset="0"/>
                <a:ea typeface="黑体" charset="0"/>
              </a:rPr>
              <a:t>isCompleteBinaryTree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1500" dirty="0">
                <a:latin typeface="黑体" charset="0"/>
                <a:ea typeface="黑体" charset="0"/>
              </a:rPr>
              <a:t>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&gt; root)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if (root == null)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return true;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Queue&lt;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1500" dirty="0">
                <a:latin typeface="黑体" charset="0"/>
                <a:ea typeface="黑体" charset="0"/>
              </a:rPr>
              <a:t>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&gt;&gt; queue = new LinkedList&lt;&gt;();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queue.add</a:t>
            </a:r>
            <a:r>
              <a:rPr lang="en-US" altLang="zh-CN" sz="1500" dirty="0">
                <a:latin typeface="黑体" charset="0"/>
                <a:ea typeface="黑体" charset="0"/>
              </a:rPr>
              <a:t>(root);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boolean</a:t>
            </a:r>
            <a:r>
              <a:rPr lang="en-US" altLang="zh-CN" sz="1500" dirty="0">
                <a:latin typeface="黑体" charset="0"/>
                <a:ea typeface="黑体" charset="0"/>
              </a:rPr>
              <a:t> </a:t>
            </a:r>
            <a:r>
              <a:rPr lang="en-US" altLang="zh-CN" sz="1500" dirty="0" err="1">
                <a:latin typeface="黑体" charset="0"/>
                <a:ea typeface="黑体" charset="0"/>
              </a:rPr>
              <a:t>shouldleaff</a:t>
            </a:r>
            <a:r>
              <a:rPr lang="en-US" altLang="zh-CN" sz="1500" dirty="0">
                <a:latin typeface="黑体" charset="0"/>
                <a:ea typeface="黑体" charset="0"/>
              </a:rPr>
              <a:t> = false;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int s = 0;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while (</a:t>
            </a:r>
            <a:r>
              <a:rPr lang="en-US" altLang="zh-CN" sz="1500" dirty="0" err="1">
                <a:latin typeface="黑体" charset="0"/>
                <a:ea typeface="黑体" charset="0"/>
              </a:rPr>
              <a:t>queue.size</a:t>
            </a:r>
            <a:r>
              <a:rPr lang="en-US" altLang="zh-CN" sz="1500" dirty="0">
                <a:latin typeface="黑体" charset="0"/>
                <a:ea typeface="黑体" charset="0"/>
              </a:rPr>
              <a:t>() &gt; 0)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BiTreeNode</a:t>
            </a:r>
            <a:r>
              <a:rPr lang="en-US" altLang="zh-CN" sz="1500" dirty="0">
                <a:latin typeface="黑体" charset="0"/>
                <a:ea typeface="黑体" charset="0"/>
              </a:rPr>
              <a:t>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&gt; node = </a:t>
            </a:r>
            <a:r>
              <a:rPr lang="en-US" altLang="zh-CN" sz="1500" dirty="0" err="1">
                <a:latin typeface="黑体" charset="0"/>
                <a:ea typeface="黑体" charset="0"/>
              </a:rPr>
              <a:t>queue.poll</a:t>
            </a:r>
            <a:r>
              <a:rPr lang="en-US" altLang="zh-CN" sz="1500" dirty="0">
                <a:latin typeface="黑体" charset="0"/>
                <a:ea typeface="黑体" charset="0"/>
              </a:rPr>
              <a:t>();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Arr.add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node.data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if (</a:t>
            </a:r>
            <a:r>
              <a:rPr lang="en-US" altLang="zh-CN" sz="1500" dirty="0" err="1">
                <a:latin typeface="黑体" charset="0"/>
                <a:ea typeface="黑体" charset="0"/>
              </a:rPr>
              <a:t>shouldleaff</a:t>
            </a:r>
            <a:r>
              <a:rPr lang="en-US" altLang="zh-CN" sz="1500" dirty="0">
                <a:latin typeface="黑体" charset="0"/>
                <a:ea typeface="黑体" charset="0"/>
              </a:rPr>
              <a:t> &amp;&amp; (</a:t>
            </a:r>
            <a:r>
              <a:rPr lang="en-US" altLang="zh-CN" sz="1500" dirty="0" err="1">
                <a:latin typeface="黑体" charset="0"/>
                <a:ea typeface="黑体" charset="0"/>
              </a:rPr>
              <a:t>node.lchild</a:t>
            </a:r>
            <a:r>
              <a:rPr lang="en-US" altLang="zh-CN" sz="1500" dirty="0">
                <a:latin typeface="黑体" charset="0"/>
                <a:ea typeface="黑体" charset="0"/>
              </a:rPr>
              <a:t> != null || </a:t>
            </a:r>
            <a:r>
              <a:rPr lang="en-US" altLang="zh-CN" sz="1500" dirty="0" err="1">
                <a:latin typeface="黑体" charset="0"/>
                <a:ea typeface="黑体" charset="0"/>
              </a:rPr>
              <a:t>node.rchild</a:t>
            </a:r>
            <a:r>
              <a:rPr lang="en-US" altLang="zh-CN" sz="1500" dirty="0">
                <a:latin typeface="黑体" charset="0"/>
                <a:ea typeface="黑体" charset="0"/>
              </a:rPr>
              <a:t> != null))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	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	return false; //2.2</a:t>
            </a:r>
            <a:r>
              <a:rPr lang="zh-CN" altLang="en-US" sz="1500" dirty="0">
                <a:latin typeface="黑体" charset="0"/>
                <a:ea typeface="黑体" charset="0"/>
              </a:rPr>
              <a:t>如果该节点左孩子为空，右孩子不为空，则一定不是完全二叉树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>
                <a:latin typeface="黑体" charset="0"/>
                <a:ea typeface="黑体" charset="0"/>
              </a:rPr>
              <a:t>if (</a:t>
            </a:r>
            <a:r>
              <a:rPr lang="en-US" altLang="zh-CN" sz="1500" dirty="0" err="1">
                <a:latin typeface="黑体" charset="0"/>
                <a:ea typeface="黑体" charset="0"/>
              </a:rPr>
              <a:t>node.lchild</a:t>
            </a:r>
            <a:r>
              <a:rPr lang="en-US" altLang="zh-CN" sz="1500" dirty="0">
                <a:latin typeface="黑体" charset="0"/>
                <a:ea typeface="黑体" charset="0"/>
              </a:rPr>
              <a:t> == null &amp;&amp; </a:t>
            </a:r>
            <a:r>
              <a:rPr lang="en-US" altLang="zh-CN" sz="1500" dirty="0" err="1">
                <a:latin typeface="黑体" charset="0"/>
                <a:ea typeface="黑体" charset="0"/>
              </a:rPr>
              <a:t>node.rchild</a:t>
            </a:r>
            <a:r>
              <a:rPr lang="en-US" altLang="zh-CN" sz="1500" dirty="0">
                <a:latin typeface="黑体" charset="0"/>
                <a:ea typeface="黑体" charset="0"/>
              </a:rPr>
              <a:t> != null)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	return false;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if (</a:t>
            </a:r>
            <a:r>
              <a:rPr lang="en-US" altLang="zh-CN" sz="1500" dirty="0" err="1">
                <a:latin typeface="黑体" charset="0"/>
                <a:ea typeface="黑体" charset="0"/>
              </a:rPr>
              <a:t>node.lchild</a:t>
            </a:r>
            <a:r>
              <a:rPr lang="en-US" altLang="zh-CN" sz="1500" dirty="0">
                <a:latin typeface="黑体" charset="0"/>
                <a:ea typeface="黑体" charset="0"/>
              </a:rPr>
              <a:t> != null)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queue.add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node.lchild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if (</a:t>
            </a:r>
            <a:r>
              <a:rPr lang="en-US" altLang="zh-CN" sz="1500" dirty="0" err="1">
                <a:latin typeface="黑体" charset="0"/>
                <a:ea typeface="黑体" charset="0"/>
              </a:rPr>
              <a:t>node.rchild</a:t>
            </a:r>
            <a:r>
              <a:rPr lang="en-US" altLang="zh-CN" sz="1500" dirty="0">
                <a:latin typeface="黑体" charset="0"/>
                <a:ea typeface="黑体" charset="0"/>
              </a:rPr>
              <a:t> != null)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queue.add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node.rchild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else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shouldleaff</a:t>
            </a:r>
            <a:r>
              <a:rPr lang="en-US" altLang="zh-CN" sz="1500" dirty="0">
                <a:latin typeface="黑体" charset="0"/>
                <a:ea typeface="黑体" charset="0"/>
              </a:rPr>
              <a:t> = true;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return true;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} </a:t>
            </a:r>
            <a:endParaRPr lang="zh-CN" altLang="en-US" sz="24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1629645"/>
      </p:ext>
    </p:extLst>
  </p:cSld>
  <p:clrMapOvr>
    <a:masterClrMapping/>
  </p:clrMapOvr>
  <p:transition advClick="0" advTm="0">
    <p:comb dir="vert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完全二叉树进行堆排序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661352"/>
            <a:ext cx="8407846" cy="4483735"/>
          </a:xfrm>
        </p:spPr>
        <p:txBody>
          <a:bodyPr>
            <a:normAutofit fontScale="550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void sift(int low, int high, 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[]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) { 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= low;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int j = 2 *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+ 1;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 temp =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while (j &lt; high)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if (j &lt; high - 1 &amp;&amp;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[j].</a:t>
            </a:r>
            <a:r>
              <a:rPr lang="en-US" altLang="zh-CN" sz="1500" dirty="0" err="1">
                <a:latin typeface="黑体" charset="0"/>
                <a:ea typeface="黑体" charset="0"/>
              </a:rPr>
              <a:t>compareTo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[j + 1]) &lt; 0) {// </a:t>
            </a:r>
            <a:r>
              <a:rPr lang="zh-CN" altLang="en-US" sz="1500" dirty="0">
                <a:latin typeface="黑体" charset="0"/>
                <a:ea typeface="黑体" charset="0"/>
              </a:rPr>
              <a:t>选出最小的子树左右 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 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j++</a:t>
            </a:r>
            <a:r>
              <a:rPr lang="en-US" altLang="zh-CN" sz="1500" dirty="0">
                <a:latin typeface="黑体" charset="0"/>
                <a:ea typeface="黑体" charset="0"/>
              </a:rPr>
              <a:t>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if (</a:t>
            </a:r>
            <a:r>
              <a:rPr lang="en-US" altLang="zh-CN" sz="1500" dirty="0" err="1">
                <a:latin typeface="黑体" charset="0"/>
                <a:ea typeface="黑体" charset="0"/>
              </a:rPr>
              <a:t>temp.compareTo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[j]) &lt; 0) {// </a:t>
            </a:r>
            <a:r>
              <a:rPr lang="zh-CN" altLang="en-US" sz="1500" dirty="0">
                <a:latin typeface="黑体" charset="0"/>
                <a:ea typeface="黑体" charset="0"/>
              </a:rPr>
              <a:t>左右子树比他小就换上去 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 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 =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[j];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	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= j;// </a:t>
            </a:r>
            <a:r>
              <a:rPr lang="zh-CN" altLang="en-US" sz="1500" dirty="0">
                <a:latin typeface="黑体" charset="0"/>
                <a:ea typeface="黑体" charset="0"/>
              </a:rPr>
              <a:t>每一次</a:t>
            </a:r>
            <a:r>
              <a:rPr lang="en-US" altLang="zh-CN" sz="1500" dirty="0">
                <a:latin typeface="黑体" charset="0"/>
                <a:ea typeface="黑体" charset="0"/>
              </a:rPr>
              <a:t>j</a:t>
            </a:r>
            <a:r>
              <a:rPr lang="zh-CN" altLang="en-US" sz="1500" dirty="0">
                <a:latin typeface="黑体" charset="0"/>
                <a:ea typeface="黑体" charset="0"/>
              </a:rPr>
              <a:t>给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zh-CN" altLang="en-US" sz="1500" dirty="0">
                <a:latin typeface="黑体" charset="0"/>
                <a:ea typeface="黑体" charset="0"/>
              </a:rPr>
              <a:t>从</a:t>
            </a:r>
            <a:r>
              <a:rPr lang="en-US" altLang="zh-CN" sz="1500" dirty="0">
                <a:latin typeface="黑体" charset="0"/>
                <a:ea typeface="黑体" charset="0"/>
              </a:rPr>
              <a:t>j</a:t>
            </a:r>
            <a:r>
              <a:rPr lang="zh-CN" altLang="en-US" sz="1500" dirty="0">
                <a:latin typeface="黑体" charset="0"/>
                <a:ea typeface="黑体" charset="0"/>
              </a:rPr>
              <a:t>开始 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 				</a:t>
            </a:r>
            <a:r>
              <a:rPr lang="en-US" altLang="zh-CN" sz="1500" dirty="0">
                <a:latin typeface="黑体" charset="0"/>
                <a:ea typeface="黑体" charset="0"/>
              </a:rPr>
              <a:t>j = 2 *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+ 1;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} else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	j = high + 1;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}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 = temp;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// </a:t>
            </a:r>
            <a:r>
              <a:rPr lang="zh-CN" altLang="en-US" sz="1500" dirty="0">
                <a:latin typeface="黑体" charset="0"/>
                <a:ea typeface="黑体" charset="0"/>
              </a:rPr>
              <a:t>堆排序算法 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 	</a:t>
            </a:r>
            <a:r>
              <a:rPr lang="en-US" altLang="zh-CN" sz="1500" dirty="0">
                <a:latin typeface="黑体" charset="0"/>
                <a:ea typeface="黑体" charset="0"/>
              </a:rPr>
              <a:t>public 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[] </a:t>
            </a:r>
            <a:r>
              <a:rPr lang="en-US" altLang="zh-CN" sz="1500" dirty="0" err="1">
                <a:latin typeface="黑体" charset="0"/>
                <a:ea typeface="黑体" charset="0"/>
              </a:rPr>
              <a:t>heapSort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[])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int n =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Arr.length</a:t>
            </a:r>
            <a:r>
              <a:rPr lang="en-US" altLang="zh-CN" sz="1500" dirty="0">
                <a:latin typeface="黑体" charset="0"/>
                <a:ea typeface="黑体" charset="0"/>
              </a:rPr>
              <a:t>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AnyType</a:t>
            </a:r>
            <a:r>
              <a:rPr lang="en-US" altLang="zh-CN" sz="1500" dirty="0">
                <a:latin typeface="黑体" charset="0"/>
                <a:ea typeface="黑体" charset="0"/>
              </a:rPr>
              <a:t> temp;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for 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= n / 2 - 1;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&gt;= 0;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--) {// </a:t>
            </a:r>
            <a:r>
              <a:rPr lang="zh-CN" altLang="en-US" sz="1500" dirty="0">
                <a:latin typeface="黑体" charset="0"/>
                <a:ea typeface="黑体" charset="0"/>
              </a:rPr>
              <a:t>非叶子结点</a:t>
            </a:r>
            <a:r>
              <a:rPr lang="en-US" altLang="zh-CN" sz="1500" dirty="0">
                <a:latin typeface="黑体" charset="0"/>
                <a:ea typeface="黑体" charset="0"/>
              </a:rPr>
              <a:t>n/2-1</a:t>
            </a:r>
            <a:r>
              <a:rPr lang="zh-CN" altLang="en-US" sz="1500" dirty="0">
                <a:latin typeface="黑体" charset="0"/>
                <a:ea typeface="黑体" charset="0"/>
              </a:rPr>
              <a:t>开始调整的根结点，得到一个初始堆 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>
                <a:latin typeface="黑体" charset="0"/>
                <a:ea typeface="黑体" charset="0"/>
              </a:rPr>
              <a:t>sift(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, n,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for 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= n - 1;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&gt; 0;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--)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temp =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[0];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[0] =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];// </a:t>
            </a:r>
            <a:r>
              <a:rPr lang="zh-CN" altLang="en-US" sz="1500" dirty="0">
                <a:latin typeface="黑体" charset="0"/>
                <a:ea typeface="黑体" charset="0"/>
              </a:rPr>
              <a:t>最后一个和第一个交换 </a:t>
            </a:r>
          </a:p>
          <a:p>
            <a:pPr marL="0" indent="0">
              <a:buNone/>
            </a:pPr>
            <a:r>
              <a:rPr lang="zh-CN" altLang="en-US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 = temp;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sift(0,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,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return </a:t>
            </a:r>
            <a:r>
              <a:rPr lang="en-US" altLang="zh-CN" sz="1500" dirty="0" err="1">
                <a:latin typeface="黑体" charset="0"/>
                <a:ea typeface="黑体" charset="0"/>
              </a:rPr>
              <a:t>Arr</a:t>
            </a:r>
            <a:r>
              <a:rPr lang="en-US" altLang="zh-CN" sz="1500" dirty="0">
                <a:latin typeface="黑体" charset="0"/>
                <a:ea typeface="黑体" charset="0"/>
              </a:rPr>
              <a:t>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} </a:t>
            </a:r>
          </a:p>
        </p:txBody>
      </p:sp>
    </p:spTree>
    <p:extLst>
      <p:ext uri="{BB962C8B-B14F-4D97-AF65-F5344CB8AC3E}">
        <p14:creationId xmlns:p14="http://schemas.microsoft.com/office/powerpoint/2010/main" val="706613788"/>
      </p:ext>
    </p:extLst>
  </p:cSld>
  <p:clrMapOvr>
    <a:masterClrMapping/>
  </p:clrMapOvr>
  <p:transition advClick="0" advTm="0">
    <p:comb dir="vert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en-US" altLang="zh-CN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Main</a:t>
            </a:r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方法测试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4199414"/>
          </a:xfrm>
        </p:spPr>
        <p:txBody>
          <a:bodyPr>
            <a:normAutofit fontScale="700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public static void main(String[] </a:t>
            </a:r>
            <a:r>
              <a:rPr lang="en-US" altLang="zh-CN" sz="1500" dirty="0" err="1">
                <a:latin typeface="黑体" charset="0"/>
                <a:ea typeface="黑体" charset="0"/>
              </a:rPr>
              <a:t>args</a:t>
            </a:r>
            <a:r>
              <a:rPr lang="en-US" altLang="zh-CN" sz="1500" dirty="0">
                <a:latin typeface="黑体" charset="0"/>
                <a:ea typeface="黑体" charset="0"/>
              </a:rPr>
              <a:t>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//String[] S1 = { "a", "b", "d", "c", "e", "f" };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//String[] S2 = { "d", "b", "a", "e", "c", "f" };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//String[] S3 = { "b", "x", "y", "d", "c" };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//String[] S4 = { "y", "x", "d", "b", "c" };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Scanner in=new Scanner(System.in);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请输入二叉树结点的个数：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int n=</a:t>
            </a:r>
            <a:r>
              <a:rPr lang="en-US" altLang="zh-CN" sz="1500" dirty="0" err="1">
                <a:latin typeface="黑体" charset="0"/>
                <a:ea typeface="黑体" charset="0"/>
              </a:rPr>
              <a:t>in.nextInt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请输入先序序列：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String[] S3=new String[n];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for(int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=0;i&lt;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n;i</a:t>
            </a:r>
            <a:r>
              <a:rPr lang="en-US" altLang="zh-CN" sz="1500" dirty="0">
                <a:latin typeface="黑体" charset="0"/>
                <a:ea typeface="黑体" charset="0"/>
              </a:rPr>
              <a:t>++) 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//S1[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</a:t>
            </a:r>
            <a:r>
              <a:rPr lang="en-US" altLang="zh-CN" sz="1500" dirty="0" err="1">
                <a:latin typeface="黑体" charset="0"/>
                <a:ea typeface="黑体" charset="0"/>
              </a:rPr>
              <a:t>in.nextInt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S3[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]=new String(</a:t>
            </a:r>
            <a:r>
              <a:rPr lang="en-US" altLang="zh-CN" sz="1500" dirty="0" err="1">
                <a:latin typeface="黑体" charset="0"/>
                <a:ea typeface="黑体" charset="0"/>
              </a:rPr>
              <a:t>in.next</a:t>
            </a:r>
            <a:r>
              <a:rPr lang="en-US" altLang="zh-CN" sz="1500" dirty="0">
                <a:latin typeface="黑体" charset="0"/>
                <a:ea typeface="黑体" charset="0"/>
              </a:rPr>
              <a:t>());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String[] S4=new String[n];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请输入中序序列：</a:t>
            </a:r>
            <a:r>
              <a:rPr lang="en-US" altLang="zh-CN" sz="1500" dirty="0">
                <a:latin typeface="黑体" charset="0"/>
                <a:ea typeface="黑体" charset="0"/>
              </a:rPr>
              <a:t>");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for(int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=0;i&lt;</a:t>
            </a:r>
            <a:r>
              <a:rPr lang="en-US" altLang="zh-CN" sz="1500" dirty="0" err="1">
                <a:latin typeface="黑体" charset="0"/>
                <a:ea typeface="黑体" charset="0"/>
              </a:rPr>
              <a:t>n;i</a:t>
            </a:r>
            <a:r>
              <a:rPr lang="en-US" altLang="zh-CN" sz="1500" dirty="0">
                <a:latin typeface="黑体" charset="0"/>
                <a:ea typeface="黑体" charset="0"/>
              </a:rPr>
              <a:t>++) 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//S1[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</a:t>
            </a:r>
            <a:r>
              <a:rPr lang="en-US" altLang="zh-CN" sz="1500" dirty="0" err="1">
                <a:latin typeface="黑体" charset="0"/>
                <a:ea typeface="黑体" charset="0"/>
              </a:rPr>
              <a:t>in.nextInt</a:t>
            </a:r>
            <a:r>
              <a:rPr lang="en-US" altLang="zh-CN" sz="1500" dirty="0">
                <a:latin typeface="黑体" charset="0"/>
                <a:ea typeface="黑体" charset="0"/>
              </a:rPr>
              <a:t>();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S4[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]=new String(</a:t>
            </a:r>
            <a:r>
              <a:rPr lang="en-US" altLang="zh-CN" sz="1500" dirty="0" err="1">
                <a:latin typeface="黑体" charset="0"/>
                <a:ea typeface="黑体" charset="0"/>
              </a:rPr>
              <a:t>in.next</a:t>
            </a:r>
            <a:r>
              <a:rPr lang="en-US" altLang="zh-CN" sz="1500" dirty="0">
                <a:latin typeface="黑体" charset="0"/>
                <a:ea typeface="黑体" charset="0"/>
              </a:rPr>
              <a:t>());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</a:t>
            </a:r>
            <a:endParaRPr lang="zh-CN" altLang="en-US" sz="2400" dirty="0">
              <a:latin typeface="黑体" charset="0"/>
              <a:ea typeface="黑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680661"/>
      </p:ext>
    </p:extLst>
  </p:cSld>
  <p:clrMapOvr>
    <a:masterClrMapping/>
  </p:clrMapOvr>
  <p:transition advClick="0" advTm="0">
    <p:comb dir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en-US" altLang="zh-CN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Main</a:t>
            </a:r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方法测试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945674"/>
            <a:ext cx="7886700" cy="3688080"/>
          </a:xfrm>
        </p:spPr>
        <p:txBody>
          <a:bodyPr>
            <a:normAutofit fontScale="775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MyBinaryAndHeap</a:t>
            </a:r>
            <a:r>
              <a:rPr lang="en-US" altLang="zh-CN" sz="1500" dirty="0">
                <a:latin typeface="黑体" charset="0"/>
                <a:ea typeface="黑体" charset="0"/>
              </a:rPr>
              <a:t>&lt;String&gt; T = new </a:t>
            </a:r>
            <a:r>
              <a:rPr lang="en-US" altLang="zh-CN" sz="1500" dirty="0" err="1">
                <a:latin typeface="黑体" charset="0"/>
                <a:ea typeface="黑体" charset="0"/>
              </a:rPr>
              <a:t>MyBinaryAndHeap</a:t>
            </a:r>
            <a:r>
              <a:rPr lang="en-US" altLang="zh-CN" sz="1500" dirty="0">
                <a:latin typeface="黑体" charset="0"/>
                <a:ea typeface="黑体" charset="0"/>
              </a:rPr>
              <a:t>&lt;String&gt;(S3, S4, 0, 0, S3.length);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//</a:t>
            </a:r>
            <a:r>
              <a:rPr lang="en-US" altLang="zh-CN" sz="1500" dirty="0" err="1">
                <a:latin typeface="黑体" charset="0"/>
                <a:ea typeface="黑体" charset="0"/>
              </a:rPr>
              <a:t>MyBinaryAndHeap</a:t>
            </a:r>
            <a:r>
              <a:rPr lang="en-US" altLang="zh-CN" sz="1500" dirty="0">
                <a:latin typeface="黑体" charset="0"/>
                <a:ea typeface="黑体" charset="0"/>
              </a:rPr>
              <a:t>&lt;String&gt; T = new </a:t>
            </a:r>
            <a:r>
              <a:rPr lang="en-US" altLang="zh-CN" sz="1500" dirty="0" err="1">
                <a:latin typeface="黑体" charset="0"/>
                <a:ea typeface="黑体" charset="0"/>
              </a:rPr>
              <a:t>MyBinaryAndHeap</a:t>
            </a:r>
            <a:r>
              <a:rPr lang="en-US" altLang="zh-CN" sz="1500" dirty="0">
                <a:latin typeface="黑体" charset="0"/>
                <a:ea typeface="黑体" charset="0"/>
              </a:rPr>
              <a:t>&lt;String&gt;(S1, S2, 0, 0, S1.length);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先序遍历：</a:t>
            </a:r>
            <a:r>
              <a:rPr lang="en-US" altLang="zh-CN" sz="1500" dirty="0">
                <a:latin typeface="黑体" charset="0"/>
                <a:ea typeface="黑体" charset="0"/>
              </a:rPr>
              <a:t>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T.preTraverse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T.root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中序遍历：</a:t>
            </a:r>
            <a:r>
              <a:rPr lang="en-US" altLang="zh-CN" sz="1500" dirty="0">
                <a:latin typeface="黑体" charset="0"/>
                <a:ea typeface="黑体" charset="0"/>
              </a:rPr>
              <a:t>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T.inTraverse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T.root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后序遍历：</a:t>
            </a:r>
            <a:r>
              <a:rPr lang="en-US" altLang="zh-CN" sz="1500" dirty="0">
                <a:latin typeface="黑体" charset="0"/>
                <a:ea typeface="黑体" charset="0"/>
              </a:rPr>
              <a:t>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T.postTraverse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T.root</a:t>
            </a:r>
            <a:r>
              <a:rPr lang="en-US" altLang="zh-CN" sz="1500" dirty="0">
                <a:latin typeface="黑体" charset="0"/>
                <a:ea typeface="黑体" charset="0"/>
              </a:rPr>
              <a:t>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是否为完全二叉树：</a:t>
            </a:r>
            <a:r>
              <a:rPr lang="en-US" altLang="zh-CN" sz="1500" dirty="0">
                <a:latin typeface="黑体" charset="0"/>
                <a:ea typeface="黑体" charset="0"/>
              </a:rPr>
              <a:t>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boolean</a:t>
            </a:r>
            <a:r>
              <a:rPr lang="en-US" altLang="zh-CN" sz="1500" dirty="0">
                <a:latin typeface="黑体" charset="0"/>
                <a:ea typeface="黑体" charset="0"/>
              </a:rPr>
              <a:t> t=</a:t>
            </a:r>
            <a:r>
              <a:rPr lang="en-US" altLang="zh-CN" sz="1500" dirty="0" err="1">
                <a:latin typeface="黑体" charset="0"/>
                <a:ea typeface="黑体" charset="0"/>
              </a:rPr>
              <a:t>T.isCompleteBinaryTree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T.root</a:t>
            </a:r>
            <a:r>
              <a:rPr lang="en-US" altLang="zh-CN" sz="1500" dirty="0">
                <a:latin typeface="黑体" charset="0"/>
                <a:ea typeface="黑体" charset="0"/>
              </a:rPr>
              <a:t>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(t);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boolean</a:t>
            </a:r>
            <a:r>
              <a:rPr lang="en-US" altLang="zh-CN" sz="1500" dirty="0">
                <a:latin typeface="黑体" charset="0"/>
                <a:ea typeface="黑体" charset="0"/>
              </a:rPr>
              <a:t> flag = true;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16537326"/>
      </p:ext>
    </p:extLst>
  </p:cSld>
  <p:clrMapOvr>
    <a:masterClrMapping/>
  </p:clrMapOvr>
  <p:transition advClick="0" advTm="0">
    <p:comb dir="vert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8154" y="182722"/>
            <a:ext cx="7886700" cy="478631"/>
          </a:xfrm>
        </p:spPr>
        <p:txBody>
          <a:bodyPr/>
          <a:lstStyle/>
          <a:p>
            <a:r>
              <a:rPr lang="en-US" altLang="zh-CN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Main</a:t>
            </a:r>
            <a:r>
              <a:rPr lang="zh-CN" altLang="en-US" sz="24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FF0000"/>
                </a:solidFill>
                <a:sym typeface="Arial" charset="0"/>
              </a:rPr>
              <a:t>方法测试</a:t>
            </a:r>
            <a:endParaRPr lang="zh-CN" altLang="zh-CN" sz="2400" dirty="0">
              <a:ln w="22225">
                <a:solidFill>
                  <a:srgbClr val="E6575D"/>
                </a:solidFill>
                <a:prstDash val="solid"/>
              </a:ln>
              <a:solidFill>
                <a:srgbClr val="FF0000"/>
              </a:solidFill>
              <a:sym typeface="Arial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448308"/>
            <a:ext cx="8407846" cy="4860540"/>
          </a:xfrm>
        </p:spPr>
        <p:txBody>
          <a:bodyPr>
            <a:normAutofit fontScale="62500" lnSpcReduction="20000"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sz="2400" dirty="0">
                <a:latin typeface="黑体" charset="0"/>
                <a:ea typeface="黑体" charset="0"/>
              </a:rPr>
              <a:t>主要代码</a:t>
            </a:r>
          </a:p>
          <a:p>
            <a:pPr marL="0" indent="0">
              <a:buNone/>
            </a:pPr>
            <a:endParaRPr lang="zh-CN" altLang="en-US" sz="15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if(t=true) 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for (String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: </a:t>
            </a:r>
            <a:r>
              <a:rPr lang="en-US" altLang="zh-CN" sz="1500" dirty="0" err="1">
                <a:latin typeface="黑体" charset="0"/>
                <a:ea typeface="黑体" charset="0"/>
              </a:rPr>
              <a:t>T.Arr</a:t>
            </a:r>
            <a:r>
              <a:rPr lang="en-US" altLang="zh-CN" sz="1500" dirty="0">
                <a:latin typeface="黑体" charset="0"/>
                <a:ea typeface="黑体" charset="0"/>
              </a:rPr>
              <a:t>) 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+ " 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是否为小顶堆：</a:t>
            </a:r>
            <a:r>
              <a:rPr lang="en-US" altLang="zh-CN" sz="1500" dirty="0">
                <a:latin typeface="黑体" charset="0"/>
                <a:ea typeface="黑体" charset="0"/>
              </a:rPr>
              <a:t>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for (int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= 0;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&lt; </a:t>
            </a:r>
            <a:r>
              <a:rPr lang="en-US" altLang="zh-CN" sz="1500" dirty="0" err="1">
                <a:latin typeface="黑体" charset="0"/>
                <a:ea typeface="黑体" charset="0"/>
              </a:rPr>
              <a:t>T.Arr.size</a:t>
            </a:r>
            <a:r>
              <a:rPr lang="en-US" altLang="zh-CN" sz="1500" dirty="0">
                <a:latin typeface="黑体" charset="0"/>
                <a:ea typeface="黑体" charset="0"/>
              </a:rPr>
              <a:t>(); 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++) {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if 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!= 0 &amp;&amp; </a:t>
            </a:r>
            <a:r>
              <a:rPr lang="en-US" altLang="zh-CN" sz="1500" dirty="0" err="1">
                <a:latin typeface="黑体" charset="0"/>
                <a:ea typeface="黑体" charset="0"/>
              </a:rPr>
              <a:t>T.Arr.get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).</a:t>
            </a:r>
            <a:r>
              <a:rPr lang="en-US" altLang="zh-CN" sz="1500" dirty="0" err="1">
                <a:latin typeface="黑体" charset="0"/>
                <a:ea typeface="黑体" charset="0"/>
              </a:rPr>
              <a:t>compareTo</a:t>
            </a:r>
            <a:r>
              <a:rPr lang="en-US" altLang="zh-CN" sz="1500" dirty="0">
                <a:latin typeface="黑体" charset="0"/>
                <a:ea typeface="黑体" charset="0"/>
              </a:rPr>
              <a:t>(</a:t>
            </a:r>
            <a:r>
              <a:rPr lang="en-US" altLang="zh-CN" sz="1500" dirty="0" err="1">
                <a:latin typeface="黑体" charset="0"/>
                <a:ea typeface="黑体" charset="0"/>
              </a:rPr>
              <a:t>T.Arr.get</a:t>
            </a:r>
            <a:r>
              <a:rPr lang="en-US" altLang="zh-CN" sz="1500" dirty="0">
                <a:latin typeface="黑体" charset="0"/>
                <a:ea typeface="黑体" charset="0"/>
              </a:rPr>
              <a:t>((</a:t>
            </a:r>
            <a:r>
              <a:rPr lang="en-US" altLang="zh-CN" sz="1500" dirty="0" err="1">
                <a:latin typeface="黑体" charset="0"/>
                <a:ea typeface="黑体" charset="0"/>
              </a:rPr>
              <a:t>i</a:t>
            </a:r>
            <a:r>
              <a:rPr lang="en-US" altLang="zh-CN" sz="1500" dirty="0">
                <a:latin typeface="黑体" charset="0"/>
                <a:ea typeface="黑体" charset="0"/>
              </a:rPr>
              <a:t> - 1) / 2)) &gt; 0)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flag = true;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else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		flag = false;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(flag);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String[] S = (String[]) </a:t>
            </a:r>
            <a:r>
              <a:rPr lang="en-US" altLang="zh-CN" sz="1500" dirty="0" err="1">
                <a:latin typeface="黑体" charset="0"/>
                <a:ea typeface="黑体" charset="0"/>
              </a:rPr>
              <a:t>T.Arr.toArray</a:t>
            </a:r>
            <a:r>
              <a:rPr lang="en-US" altLang="zh-CN" sz="1500" dirty="0">
                <a:latin typeface="黑体" charset="0"/>
                <a:ea typeface="黑体" charset="0"/>
              </a:rPr>
              <a:t>(new String[0]);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堆排序：</a:t>
            </a:r>
            <a:r>
              <a:rPr lang="en-US" altLang="zh-CN" sz="1500" dirty="0">
                <a:latin typeface="黑体" charset="0"/>
                <a:ea typeface="黑体" charset="0"/>
              </a:rPr>
              <a:t>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for (String j : </a:t>
            </a:r>
            <a:r>
              <a:rPr lang="en-US" altLang="zh-CN" sz="1500" dirty="0" err="1">
                <a:latin typeface="黑体" charset="0"/>
                <a:ea typeface="黑体" charset="0"/>
              </a:rPr>
              <a:t>T.heapSort</a:t>
            </a:r>
            <a:r>
              <a:rPr lang="en-US" altLang="zh-CN" sz="1500" dirty="0">
                <a:latin typeface="黑体" charset="0"/>
                <a:ea typeface="黑体" charset="0"/>
              </a:rPr>
              <a:t>(S)) 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</a:t>
            </a:r>
            <a:r>
              <a:rPr lang="en-US" altLang="zh-CN" sz="1500" dirty="0">
                <a:latin typeface="黑体" charset="0"/>
                <a:ea typeface="黑体" charset="0"/>
              </a:rPr>
              <a:t>(j + " ");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if(t=false) {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// else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 </a:t>
            </a:r>
            <a:r>
              <a:rPr lang="en-US" altLang="zh-CN" sz="1500" dirty="0" err="1">
                <a:latin typeface="黑体" charset="0"/>
                <a:ea typeface="黑体" charset="0"/>
              </a:rPr>
              <a:t>System.out.println</a:t>
            </a:r>
            <a:r>
              <a:rPr lang="en-US" altLang="zh-CN" sz="1500" dirty="0">
                <a:latin typeface="黑体" charset="0"/>
                <a:ea typeface="黑体" charset="0"/>
              </a:rPr>
              <a:t>("</a:t>
            </a:r>
            <a:r>
              <a:rPr lang="zh-CN" altLang="en-US" sz="1500" dirty="0">
                <a:latin typeface="黑体" charset="0"/>
                <a:ea typeface="黑体" charset="0"/>
              </a:rPr>
              <a:t>不能调整为堆</a:t>
            </a:r>
            <a:r>
              <a:rPr lang="en-US" altLang="zh-CN" sz="1500" dirty="0">
                <a:latin typeface="黑体" charset="0"/>
                <a:ea typeface="黑体" charset="0"/>
              </a:rPr>
              <a:t>");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				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       } 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   }</a:t>
            </a:r>
          </a:p>
          <a:p>
            <a:pPr marL="0" indent="0">
              <a:buNone/>
            </a:pPr>
            <a:r>
              <a:rPr lang="en-US" altLang="zh-CN" sz="1500" dirty="0">
                <a:latin typeface="黑体" charset="0"/>
                <a:ea typeface="黑体" charset="0"/>
              </a:rPr>
              <a:t> }</a:t>
            </a:r>
          </a:p>
          <a:p>
            <a:pPr marL="0" indent="0">
              <a:buNone/>
            </a:pPr>
            <a:r>
              <a:rPr lang="zh-CN" altLang="en-US" sz="2400" dirty="0">
                <a:latin typeface="黑体" charset="0"/>
                <a:ea typeface="黑体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163647322"/>
      </p:ext>
    </p:extLst>
  </p:cSld>
  <p:clrMapOvr>
    <a:masterClrMapping/>
  </p:clrMapOvr>
  <p:transition advClick="0" advTm="0">
    <p:comb dir="vert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15B4A58-6AC0-4A0C-A9A5-7F76A008397D}"/>
              </a:ext>
            </a:extLst>
          </p:cNvPr>
          <p:cNvSpPr/>
          <p:nvPr/>
        </p:nvSpPr>
        <p:spPr>
          <a:xfrm>
            <a:off x="809582" y="1348408"/>
            <a:ext cx="75248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Font typeface="Wingdings" charset="0"/>
              <a:buChar char="!"/>
            </a:pPr>
            <a:r>
              <a:rPr lang="zh-CN" altLang="en-US" sz="6000" dirty="0">
                <a:ln w="22225">
                  <a:solidFill>
                    <a:srgbClr val="E6575D"/>
                  </a:solidFill>
                  <a:prstDash val="solid"/>
                </a:ln>
                <a:solidFill>
                  <a:srgbClr val="E6575D"/>
                </a:solidFill>
              </a:rPr>
              <a:t>图的邻接矩阵和邻接表操作的实现</a:t>
            </a:r>
          </a:p>
        </p:txBody>
      </p:sp>
    </p:spTree>
    <p:extLst>
      <p:ext uri="{BB962C8B-B14F-4D97-AF65-F5344CB8AC3E}">
        <p14:creationId xmlns:p14="http://schemas.microsoft.com/office/powerpoint/2010/main" val="1150187970"/>
      </p:ext>
    </p:extLst>
  </p:cSld>
  <p:clrMapOvr>
    <a:masterClrMapping/>
  </p:clrMapOvr>
  <p:transition>
    <p:comb dir="vert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邻接矩阵存储结构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33367" y="813496"/>
            <a:ext cx="337346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1" b="1">
                <a:latin typeface="华文楷体" panose="02010600040101010101" charset="-122"/>
                <a:ea typeface="华文楷体" panose="02010600040101010101" charset="-122"/>
              </a:rPr>
              <a:t>操作实现：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71972" y="1833938"/>
            <a:ext cx="4061189" cy="2586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1"/>
              <a:t>1</a:t>
            </a:r>
            <a:r>
              <a:rPr lang="zh-CN" altLang="en-US" sz="1801"/>
              <a:t>、创建有向图无向图，有向网和无向网</a:t>
            </a:r>
          </a:p>
          <a:p>
            <a:r>
              <a:rPr lang="en-US" altLang="zh-CN" sz="1801"/>
              <a:t>2</a:t>
            </a:r>
            <a:r>
              <a:rPr lang="zh-CN" altLang="en-US" sz="1801"/>
              <a:t>、增加边</a:t>
            </a:r>
          </a:p>
          <a:p>
            <a:r>
              <a:rPr lang="en-US" altLang="zh-CN" sz="1801"/>
              <a:t>3</a:t>
            </a:r>
            <a:r>
              <a:rPr lang="zh-CN" altLang="en-US" sz="1801"/>
              <a:t>、删除边</a:t>
            </a:r>
          </a:p>
          <a:p>
            <a:r>
              <a:rPr lang="en-US" altLang="zh-CN" sz="1801"/>
              <a:t>4</a:t>
            </a:r>
            <a:r>
              <a:rPr lang="zh-CN" altLang="en-US" sz="1801"/>
              <a:t>、增加顶点</a:t>
            </a:r>
          </a:p>
          <a:p>
            <a:r>
              <a:rPr lang="en-US" altLang="zh-CN" sz="1801"/>
              <a:t>5</a:t>
            </a:r>
            <a:r>
              <a:rPr lang="zh-CN" altLang="en-US" sz="1801"/>
              <a:t>、删除顶点</a:t>
            </a:r>
          </a:p>
          <a:p>
            <a:r>
              <a:rPr lang="en-US" altLang="zh-CN" sz="1801"/>
              <a:t>6</a:t>
            </a:r>
            <a:r>
              <a:rPr lang="zh-CN" altLang="en-US" sz="1801"/>
              <a:t>、求各顶点的度</a:t>
            </a:r>
          </a:p>
          <a:p>
            <a:r>
              <a:rPr lang="en-US" altLang="zh-CN" sz="1801"/>
              <a:t>7</a:t>
            </a:r>
            <a:r>
              <a:rPr lang="zh-CN" altLang="en-US" sz="1801"/>
              <a:t>、判断图的连通性</a:t>
            </a:r>
          </a:p>
          <a:p>
            <a:r>
              <a:rPr lang="en-US" altLang="zh-CN" sz="1801"/>
              <a:t>8</a:t>
            </a:r>
            <a:r>
              <a:rPr lang="zh-CN" altLang="en-US" sz="1801"/>
              <a:t>、判断路径</a:t>
            </a:r>
          </a:p>
        </p:txBody>
      </p: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邻接矩阵存储结构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89920" y="898675"/>
            <a:ext cx="353581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1" b="1" dirty="0">
                <a:latin typeface="华文楷体" panose="02010600040101010101" charset="-122"/>
                <a:ea typeface="华文楷体" panose="02010600040101010101" charset="-122"/>
              </a:rPr>
              <a:t>图的存储结构表示：</a:t>
            </a:r>
          </a:p>
        </p:txBody>
      </p:sp>
      <p:graphicFrame>
        <p:nvGraphicFramePr>
          <p:cNvPr id="425" name="Group 152"/>
          <p:cNvGraphicFramePr>
            <a:graphicFrameLocks noGrp="1"/>
          </p:cNvGraphicFramePr>
          <p:nvPr/>
        </p:nvGraphicFramePr>
        <p:xfrm>
          <a:off x="661734" y="1950560"/>
          <a:ext cx="2916980" cy="388740"/>
        </p:xfrm>
        <a:graphic>
          <a:graphicData uri="http://schemas.openxmlformats.org/drawingml/2006/table">
            <a:tbl>
              <a:tblPr/>
              <a:tblGrid>
                <a:gridCol w="453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7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4" name="Group 152"/>
          <p:cNvGraphicFramePr>
            <a:graphicFrameLocks noGrp="1"/>
          </p:cNvGraphicFramePr>
          <p:nvPr/>
        </p:nvGraphicFramePr>
        <p:xfrm>
          <a:off x="661734" y="1396320"/>
          <a:ext cx="2916980" cy="388740"/>
        </p:xfrm>
        <a:graphic>
          <a:graphicData uri="http://schemas.openxmlformats.org/drawingml/2006/table">
            <a:tbl>
              <a:tblPr/>
              <a:tblGrid>
                <a:gridCol w="453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7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Group 154"/>
          <p:cNvGrpSpPr>
            <a:grpSpLocks noChangeAspect="1"/>
          </p:cNvGrpSpPr>
          <p:nvPr/>
        </p:nvGrpSpPr>
        <p:grpSpPr>
          <a:xfrm>
            <a:off x="5258298" y="2265840"/>
            <a:ext cx="3062756" cy="2475359"/>
            <a:chOff x="3334" y="1888"/>
            <a:chExt cx="2143" cy="1732"/>
          </a:xfrm>
        </p:grpSpPr>
        <p:sp>
          <p:nvSpPr>
            <p:cNvPr id="32816" name="AutoShape 153"/>
            <p:cNvSpPr>
              <a:spLocks noChangeAspect="1" noTextEdit="1"/>
            </p:cNvSpPr>
            <p:nvPr/>
          </p:nvSpPr>
          <p:spPr>
            <a:xfrm>
              <a:off x="3334" y="1888"/>
              <a:ext cx="2143" cy="17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endParaRPr lang="zh-CN" altLang="en-US" sz="1621"/>
            </a:p>
          </p:txBody>
        </p:sp>
        <p:grpSp>
          <p:nvGrpSpPr>
            <p:cNvPr id="32817" name="Group 355"/>
            <p:cNvGrpSpPr/>
            <p:nvPr/>
          </p:nvGrpSpPr>
          <p:grpSpPr>
            <a:xfrm>
              <a:off x="3334" y="1888"/>
              <a:ext cx="2052" cy="1087"/>
              <a:chOff x="3334" y="1888"/>
              <a:chExt cx="2052" cy="1087"/>
            </a:xfrm>
          </p:grpSpPr>
          <p:sp>
            <p:nvSpPr>
              <p:cNvPr id="33019" name="Rectangle 155"/>
              <p:cNvSpPr/>
              <p:nvPr/>
            </p:nvSpPr>
            <p:spPr>
              <a:xfrm>
                <a:off x="3449" y="189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020" name="Rectangle 156"/>
              <p:cNvSpPr/>
              <p:nvPr/>
            </p:nvSpPr>
            <p:spPr>
              <a:xfrm>
                <a:off x="3564" y="189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21" name="Rectangle 157"/>
              <p:cNvSpPr/>
              <p:nvPr/>
            </p:nvSpPr>
            <p:spPr>
              <a:xfrm>
                <a:off x="3789" y="189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3022" name="Rectangle 158"/>
              <p:cNvSpPr/>
              <p:nvPr/>
            </p:nvSpPr>
            <p:spPr>
              <a:xfrm>
                <a:off x="3905" y="189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23" name="Rectangle 159"/>
              <p:cNvSpPr/>
              <p:nvPr/>
            </p:nvSpPr>
            <p:spPr>
              <a:xfrm>
                <a:off x="4130" y="189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024" name="Rectangle 160"/>
              <p:cNvSpPr/>
              <p:nvPr/>
            </p:nvSpPr>
            <p:spPr>
              <a:xfrm>
                <a:off x="4245" y="189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25" name="Rectangle 161"/>
              <p:cNvSpPr/>
              <p:nvPr/>
            </p:nvSpPr>
            <p:spPr>
              <a:xfrm>
                <a:off x="4475" y="189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026" name="Rectangle 162"/>
              <p:cNvSpPr/>
              <p:nvPr/>
            </p:nvSpPr>
            <p:spPr>
              <a:xfrm>
                <a:off x="4590" y="189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27" name="Rectangle 163"/>
              <p:cNvSpPr/>
              <p:nvPr/>
            </p:nvSpPr>
            <p:spPr>
              <a:xfrm>
                <a:off x="4815" y="189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3028" name="Rectangle 164"/>
              <p:cNvSpPr/>
              <p:nvPr/>
            </p:nvSpPr>
            <p:spPr>
              <a:xfrm>
                <a:off x="4930" y="189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29" name="Rectangle 165"/>
              <p:cNvSpPr/>
              <p:nvPr/>
            </p:nvSpPr>
            <p:spPr>
              <a:xfrm>
                <a:off x="5156" y="189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030" name="Rectangle 166"/>
              <p:cNvSpPr/>
              <p:nvPr/>
            </p:nvSpPr>
            <p:spPr>
              <a:xfrm>
                <a:off x="5271" y="189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31" name="Rectangle 167"/>
              <p:cNvSpPr/>
              <p:nvPr/>
            </p:nvSpPr>
            <p:spPr>
              <a:xfrm>
                <a:off x="3334" y="188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32" name="Line 168"/>
              <p:cNvSpPr/>
              <p:nvPr/>
            </p:nvSpPr>
            <p:spPr>
              <a:xfrm>
                <a:off x="3334" y="188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33" name="Line 169"/>
              <p:cNvSpPr/>
              <p:nvPr/>
            </p:nvSpPr>
            <p:spPr>
              <a:xfrm>
                <a:off x="3334" y="188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34" name="Rectangle 170"/>
              <p:cNvSpPr/>
              <p:nvPr/>
            </p:nvSpPr>
            <p:spPr>
              <a:xfrm>
                <a:off x="3334" y="188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35" name="Line 171"/>
              <p:cNvSpPr/>
              <p:nvPr/>
            </p:nvSpPr>
            <p:spPr>
              <a:xfrm>
                <a:off x="3334" y="188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36" name="Line 172"/>
              <p:cNvSpPr/>
              <p:nvPr/>
            </p:nvSpPr>
            <p:spPr>
              <a:xfrm>
                <a:off x="3334" y="188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37" name="Rectangle 173"/>
              <p:cNvSpPr/>
              <p:nvPr/>
            </p:nvSpPr>
            <p:spPr>
              <a:xfrm>
                <a:off x="3339" y="1888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38" name="Line 174"/>
              <p:cNvSpPr/>
              <p:nvPr/>
            </p:nvSpPr>
            <p:spPr>
              <a:xfrm>
                <a:off x="3339" y="1888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39" name="Rectangle 175"/>
              <p:cNvSpPr/>
              <p:nvPr/>
            </p:nvSpPr>
            <p:spPr>
              <a:xfrm>
                <a:off x="3674" y="188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40" name="Line 176"/>
              <p:cNvSpPr/>
              <p:nvPr/>
            </p:nvSpPr>
            <p:spPr>
              <a:xfrm>
                <a:off x="3674" y="188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41" name="Line 177"/>
              <p:cNvSpPr/>
              <p:nvPr/>
            </p:nvSpPr>
            <p:spPr>
              <a:xfrm>
                <a:off x="3674" y="188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42" name="Rectangle 178"/>
              <p:cNvSpPr/>
              <p:nvPr/>
            </p:nvSpPr>
            <p:spPr>
              <a:xfrm>
                <a:off x="3679" y="1888"/>
                <a:ext cx="336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43" name="Line 179"/>
              <p:cNvSpPr/>
              <p:nvPr/>
            </p:nvSpPr>
            <p:spPr>
              <a:xfrm>
                <a:off x="3679" y="1888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44" name="Rectangle 180"/>
              <p:cNvSpPr/>
              <p:nvPr/>
            </p:nvSpPr>
            <p:spPr>
              <a:xfrm>
                <a:off x="4015" y="188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45" name="Line 181"/>
              <p:cNvSpPr/>
              <p:nvPr/>
            </p:nvSpPr>
            <p:spPr>
              <a:xfrm>
                <a:off x="4015" y="188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46" name="Line 182"/>
              <p:cNvSpPr/>
              <p:nvPr/>
            </p:nvSpPr>
            <p:spPr>
              <a:xfrm>
                <a:off x="4015" y="188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47" name="Rectangle 183"/>
              <p:cNvSpPr/>
              <p:nvPr/>
            </p:nvSpPr>
            <p:spPr>
              <a:xfrm>
                <a:off x="4020" y="1888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48" name="Line 184"/>
              <p:cNvSpPr/>
              <p:nvPr/>
            </p:nvSpPr>
            <p:spPr>
              <a:xfrm>
                <a:off x="4020" y="1888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49" name="Rectangle 185"/>
              <p:cNvSpPr/>
              <p:nvPr/>
            </p:nvSpPr>
            <p:spPr>
              <a:xfrm>
                <a:off x="4355" y="188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50" name="Line 186"/>
              <p:cNvSpPr/>
              <p:nvPr/>
            </p:nvSpPr>
            <p:spPr>
              <a:xfrm>
                <a:off x="4355" y="188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51" name="Line 187"/>
              <p:cNvSpPr/>
              <p:nvPr/>
            </p:nvSpPr>
            <p:spPr>
              <a:xfrm>
                <a:off x="4355" y="188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52" name="Rectangle 188"/>
              <p:cNvSpPr/>
              <p:nvPr/>
            </p:nvSpPr>
            <p:spPr>
              <a:xfrm>
                <a:off x="4360" y="1888"/>
                <a:ext cx="340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53" name="Line 189"/>
              <p:cNvSpPr/>
              <p:nvPr/>
            </p:nvSpPr>
            <p:spPr>
              <a:xfrm>
                <a:off x="4360" y="1888"/>
                <a:ext cx="340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54" name="Rectangle 190"/>
              <p:cNvSpPr/>
              <p:nvPr/>
            </p:nvSpPr>
            <p:spPr>
              <a:xfrm>
                <a:off x="4700" y="188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55" name="Line 191"/>
              <p:cNvSpPr/>
              <p:nvPr/>
            </p:nvSpPr>
            <p:spPr>
              <a:xfrm>
                <a:off x="4700" y="188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56" name="Line 192"/>
              <p:cNvSpPr/>
              <p:nvPr/>
            </p:nvSpPr>
            <p:spPr>
              <a:xfrm>
                <a:off x="4700" y="188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57" name="Rectangle 193"/>
              <p:cNvSpPr/>
              <p:nvPr/>
            </p:nvSpPr>
            <p:spPr>
              <a:xfrm>
                <a:off x="4705" y="1888"/>
                <a:ext cx="336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58" name="Line 194"/>
              <p:cNvSpPr/>
              <p:nvPr/>
            </p:nvSpPr>
            <p:spPr>
              <a:xfrm>
                <a:off x="4705" y="1888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59" name="Rectangle 195"/>
              <p:cNvSpPr/>
              <p:nvPr/>
            </p:nvSpPr>
            <p:spPr>
              <a:xfrm>
                <a:off x="5041" y="188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60" name="Line 196"/>
              <p:cNvSpPr/>
              <p:nvPr/>
            </p:nvSpPr>
            <p:spPr>
              <a:xfrm>
                <a:off x="5041" y="188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61" name="Line 197"/>
              <p:cNvSpPr/>
              <p:nvPr/>
            </p:nvSpPr>
            <p:spPr>
              <a:xfrm>
                <a:off x="5041" y="188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62" name="Rectangle 198"/>
              <p:cNvSpPr/>
              <p:nvPr/>
            </p:nvSpPr>
            <p:spPr>
              <a:xfrm>
                <a:off x="5046" y="1888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63" name="Line 199"/>
              <p:cNvSpPr/>
              <p:nvPr/>
            </p:nvSpPr>
            <p:spPr>
              <a:xfrm>
                <a:off x="5046" y="1888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64" name="Rectangle 200"/>
              <p:cNvSpPr/>
              <p:nvPr/>
            </p:nvSpPr>
            <p:spPr>
              <a:xfrm>
                <a:off x="5381" y="188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65" name="Line 201"/>
              <p:cNvSpPr/>
              <p:nvPr/>
            </p:nvSpPr>
            <p:spPr>
              <a:xfrm>
                <a:off x="5381" y="188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66" name="Line 202"/>
              <p:cNvSpPr/>
              <p:nvPr/>
            </p:nvSpPr>
            <p:spPr>
              <a:xfrm>
                <a:off x="5381" y="188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67" name="Rectangle 203"/>
              <p:cNvSpPr/>
              <p:nvPr/>
            </p:nvSpPr>
            <p:spPr>
              <a:xfrm>
                <a:off x="5381" y="188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68" name="Line 204"/>
              <p:cNvSpPr/>
              <p:nvPr/>
            </p:nvSpPr>
            <p:spPr>
              <a:xfrm>
                <a:off x="5381" y="188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69" name="Line 205"/>
              <p:cNvSpPr/>
              <p:nvPr/>
            </p:nvSpPr>
            <p:spPr>
              <a:xfrm>
                <a:off x="5381" y="188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70" name="Rectangle 206"/>
              <p:cNvSpPr/>
              <p:nvPr/>
            </p:nvSpPr>
            <p:spPr>
              <a:xfrm>
                <a:off x="3334" y="189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71" name="Line 207"/>
              <p:cNvSpPr/>
              <p:nvPr/>
            </p:nvSpPr>
            <p:spPr>
              <a:xfrm>
                <a:off x="3334" y="189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72" name="Rectangle 208"/>
              <p:cNvSpPr/>
              <p:nvPr/>
            </p:nvSpPr>
            <p:spPr>
              <a:xfrm>
                <a:off x="3674" y="189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73" name="Line 209"/>
              <p:cNvSpPr/>
              <p:nvPr/>
            </p:nvSpPr>
            <p:spPr>
              <a:xfrm>
                <a:off x="3674" y="189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74" name="Rectangle 210"/>
              <p:cNvSpPr/>
              <p:nvPr/>
            </p:nvSpPr>
            <p:spPr>
              <a:xfrm>
                <a:off x="4015" y="189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75" name="Line 211"/>
              <p:cNvSpPr/>
              <p:nvPr/>
            </p:nvSpPr>
            <p:spPr>
              <a:xfrm>
                <a:off x="4015" y="189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76" name="Rectangle 212"/>
              <p:cNvSpPr/>
              <p:nvPr/>
            </p:nvSpPr>
            <p:spPr>
              <a:xfrm>
                <a:off x="4355" y="189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77" name="Line 213"/>
              <p:cNvSpPr/>
              <p:nvPr/>
            </p:nvSpPr>
            <p:spPr>
              <a:xfrm>
                <a:off x="4355" y="189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78" name="Rectangle 214"/>
              <p:cNvSpPr/>
              <p:nvPr/>
            </p:nvSpPr>
            <p:spPr>
              <a:xfrm>
                <a:off x="4700" y="189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79" name="Line 215"/>
              <p:cNvSpPr/>
              <p:nvPr/>
            </p:nvSpPr>
            <p:spPr>
              <a:xfrm>
                <a:off x="4700" y="189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80" name="Rectangle 216"/>
              <p:cNvSpPr/>
              <p:nvPr/>
            </p:nvSpPr>
            <p:spPr>
              <a:xfrm>
                <a:off x="5041" y="189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81" name="Line 217"/>
              <p:cNvSpPr/>
              <p:nvPr/>
            </p:nvSpPr>
            <p:spPr>
              <a:xfrm>
                <a:off x="5041" y="189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82" name="Rectangle 218"/>
              <p:cNvSpPr/>
              <p:nvPr/>
            </p:nvSpPr>
            <p:spPr>
              <a:xfrm>
                <a:off x="5381" y="189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83" name="Line 219"/>
              <p:cNvSpPr/>
              <p:nvPr/>
            </p:nvSpPr>
            <p:spPr>
              <a:xfrm>
                <a:off x="5381" y="189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84" name="Rectangle 220"/>
              <p:cNvSpPr/>
              <p:nvPr/>
            </p:nvSpPr>
            <p:spPr>
              <a:xfrm>
                <a:off x="3449" y="216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3085" name="Rectangle 221"/>
              <p:cNvSpPr/>
              <p:nvPr/>
            </p:nvSpPr>
            <p:spPr>
              <a:xfrm>
                <a:off x="3564" y="216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86" name="Rectangle 222"/>
              <p:cNvSpPr/>
              <p:nvPr/>
            </p:nvSpPr>
            <p:spPr>
              <a:xfrm>
                <a:off x="3789" y="216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087" name="Rectangle 223"/>
              <p:cNvSpPr/>
              <p:nvPr/>
            </p:nvSpPr>
            <p:spPr>
              <a:xfrm>
                <a:off x="3905" y="216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88" name="Rectangle 224"/>
              <p:cNvSpPr/>
              <p:nvPr/>
            </p:nvSpPr>
            <p:spPr>
              <a:xfrm>
                <a:off x="4130" y="216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089" name="Rectangle 225"/>
              <p:cNvSpPr/>
              <p:nvPr/>
            </p:nvSpPr>
            <p:spPr>
              <a:xfrm>
                <a:off x="4245" y="216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90" name="Rectangle 226"/>
              <p:cNvSpPr/>
              <p:nvPr/>
            </p:nvSpPr>
            <p:spPr>
              <a:xfrm>
                <a:off x="4475" y="216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091" name="Rectangle 227"/>
              <p:cNvSpPr/>
              <p:nvPr/>
            </p:nvSpPr>
            <p:spPr>
              <a:xfrm>
                <a:off x="4590" y="216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92" name="Rectangle 228"/>
              <p:cNvSpPr/>
              <p:nvPr/>
            </p:nvSpPr>
            <p:spPr>
              <a:xfrm>
                <a:off x="4815" y="216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3093" name="Rectangle 229"/>
              <p:cNvSpPr/>
              <p:nvPr/>
            </p:nvSpPr>
            <p:spPr>
              <a:xfrm>
                <a:off x="4930" y="216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94" name="Rectangle 230"/>
              <p:cNvSpPr/>
              <p:nvPr/>
            </p:nvSpPr>
            <p:spPr>
              <a:xfrm>
                <a:off x="5156" y="216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3095" name="Rectangle 231"/>
              <p:cNvSpPr/>
              <p:nvPr/>
            </p:nvSpPr>
            <p:spPr>
              <a:xfrm>
                <a:off x="5271" y="2166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096" name="Rectangle 232"/>
              <p:cNvSpPr/>
              <p:nvPr/>
            </p:nvSpPr>
            <p:spPr>
              <a:xfrm>
                <a:off x="3334" y="215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97" name="Line 233"/>
              <p:cNvSpPr/>
              <p:nvPr/>
            </p:nvSpPr>
            <p:spPr>
              <a:xfrm>
                <a:off x="3334" y="215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98" name="Line 234"/>
              <p:cNvSpPr/>
              <p:nvPr/>
            </p:nvSpPr>
            <p:spPr>
              <a:xfrm>
                <a:off x="3334" y="215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99" name="Rectangle 235"/>
              <p:cNvSpPr/>
              <p:nvPr/>
            </p:nvSpPr>
            <p:spPr>
              <a:xfrm>
                <a:off x="3339" y="2157"/>
                <a:ext cx="33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00" name="Line 236"/>
              <p:cNvSpPr/>
              <p:nvPr/>
            </p:nvSpPr>
            <p:spPr>
              <a:xfrm>
                <a:off x="3339" y="2157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01" name="Rectangle 237"/>
              <p:cNvSpPr/>
              <p:nvPr/>
            </p:nvSpPr>
            <p:spPr>
              <a:xfrm>
                <a:off x="3674" y="215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02" name="Line 238"/>
              <p:cNvSpPr/>
              <p:nvPr/>
            </p:nvSpPr>
            <p:spPr>
              <a:xfrm>
                <a:off x="3674" y="215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03" name="Line 239"/>
              <p:cNvSpPr/>
              <p:nvPr/>
            </p:nvSpPr>
            <p:spPr>
              <a:xfrm>
                <a:off x="3674" y="215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04" name="Rectangle 240"/>
              <p:cNvSpPr/>
              <p:nvPr/>
            </p:nvSpPr>
            <p:spPr>
              <a:xfrm>
                <a:off x="3679" y="2157"/>
                <a:ext cx="336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05" name="Line 241"/>
              <p:cNvSpPr/>
              <p:nvPr/>
            </p:nvSpPr>
            <p:spPr>
              <a:xfrm>
                <a:off x="3679" y="2157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06" name="Rectangle 242"/>
              <p:cNvSpPr/>
              <p:nvPr/>
            </p:nvSpPr>
            <p:spPr>
              <a:xfrm>
                <a:off x="4015" y="215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07" name="Line 243"/>
              <p:cNvSpPr/>
              <p:nvPr/>
            </p:nvSpPr>
            <p:spPr>
              <a:xfrm>
                <a:off x="4015" y="215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08" name="Line 244"/>
              <p:cNvSpPr/>
              <p:nvPr/>
            </p:nvSpPr>
            <p:spPr>
              <a:xfrm>
                <a:off x="4015" y="215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09" name="Rectangle 245"/>
              <p:cNvSpPr/>
              <p:nvPr/>
            </p:nvSpPr>
            <p:spPr>
              <a:xfrm>
                <a:off x="4020" y="2157"/>
                <a:ext cx="33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10" name="Line 246"/>
              <p:cNvSpPr/>
              <p:nvPr/>
            </p:nvSpPr>
            <p:spPr>
              <a:xfrm>
                <a:off x="4020" y="2157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11" name="Rectangle 247"/>
              <p:cNvSpPr/>
              <p:nvPr/>
            </p:nvSpPr>
            <p:spPr>
              <a:xfrm>
                <a:off x="4355" y="215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12" name="Line 248"/>
              <p:cNvSpPr/>
              <p:nvPr/>
            </p:nvSpPr>
            <p:spPr>
              <a:xfrm>
                <a:off x="4355" y="215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13" name="Line 249"/>
              <p:cNvSpPr/>
              <p:nvPr/>
            </p:nvSpPr>
            <p:spPr>
              <a:xfrm>
                <a:off x="4355" y="215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14" name="Rectangle 250"/>
              <p:cNvSpPr/>
              <p:nvPr/>
            </p:nvSpPr>
            <p:spPr>
              <a:xfrm>
                <a:off x="4360" y="2157"/>
                <a:ext cx="340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15" name="Line 251"/>
              <p:cNvSpPr/>
              <p:nvPr/>
            </p:nvSpPr>
            <p:spPr>
              <a:xfrm>
                <a:off x="4360" y="2157"/>
                <a:ext cx="340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16" name="Rectangle 252"/>
              <p:cNvSpPr/>
              <p:nvPr/>
            </p:nvSpPr>
            <p:spPr>
              <a:xfrm>
                <a:off x="4700" y="215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17" name="Line 253"/>
              <p:cNvSpPr/>
              <p:nvPr/>
            </p:nvSpPr>
            <p:spPr>
              <a:xfrm>
                <a:off x="4700" y="215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18" name="Line 254"/>
              <p:cNvSpPr/>
              <p:nvPr/>
            </p:nvSpPr>
            <p:spPr>
              <a:xfrm>
                <a:off x="4700" y="215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19" name="Rectangle 255"/>
              <p:cNvSpPr/>
              <p:nvPr/>
            </p:nvSpPr>
            <p:spPr>
              <a:xfrm>
                <a:off x="4705" y="2157"/>
                <a:ext cx="336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20" name="Line 256"/>
              <p:cNvSpPr/>
              <p:nvPr/>
            </p:nvSpPr>
            <p:spPr>
              <a:xfrm>
                <a:off x="4705" y="2157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21" name="Rectangle 257"/>
              <p:cNvSpPr/>
              <p:nvPr/>
            </p:nvSpPr>
            <p:spPr>
              <a:xfrm>
                <a:off x="5041" y="215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22" name="Line 258"/>
              <p:cNvSpPr/>
              <p:nvPr/>
            </p:nvSpPr>
            <p:spPr>
              <a:xfrm>
                <a:off x="5041" y="215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23" name="Line 259"/>
              <p:cNvSpPr/>
              <p:nvPr/>
            </p:nvSpPr>
            <p:spPr>
              <a:xfrm>
                <a:off x="5041" y="215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24" name="Rectangle 260"/>
              <p:cNvSpPr/>
              <p:nvPr/>
            </p:nvSpPr>
            <p:spPr>
              <a:xfrm>
                <a:off x="5046" y="2157"/>
                <a:ext cx="33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25" name="Line 261"/>
              <p:cNvSpPr/>
              <p:nvPr/>
            </p:nvSpPr>
            <p:spPr>
              <a:xfrm>
                <a:off x="5046" y="2157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26" name="Rectangle 262"/>
              <p:cNvSpPr/>
              <p:nvPr/>
            </p:nvSpPr>
            <p:spPr>
              <a:xfrm>
                <a:off x="5381" y="215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27" name="Line 263"/>
              <p:cNvSpPr/>
              <p:nvPr/>
            </p:nvSpPr>
            <p:spPr>
              <a:xfrm>
                <a:off x="5381" y="215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28" name="Line 264"/>
              <p:cNvSpPr/>
              <p:nvPr/>
            </p:nvSpPr>
            <p:spPr>
              <a:xfrm>
                <a:off x="5381" y="215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29" name="Rectangle 265"/>
              <p:cNvSpPr/>
              <p:nvPr/>
            </p:nvSpPr>
            <p:spPr>
              <a:xfrm>
                <a:off x="3334" y="216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30" name="Line 266"/>
              <p:cNvSpPr/>
              <p:nvPr/>
            </p:nvSpPr>
            <p:spPr>
              <a:xfrm>
                <a:off x="3334" y="216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31" name="Rectangle 267"/>
              <p:cNvSpPr/>
              <p:nvPr/>
            </p:nvSpPr>
            <p:spPr>
              <a:xfrm>
                <a:off x="3674" y="216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32" name="Line 268"/>
              <p:cNvSpPr/>
              <p:nvPr/>
            </p:nvSpPr>
            <p:spPr>
              <a:xfrm>
                <a:off x="3674" y="216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33" name="Rectangle 269"/>
              <p:cNvSpPr/>
              <p:nvPr/>
            </p:nvSpPr>
            <p:spPr>
              <a:xfrm>
                <a:off x="4015" y="216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34" name="Line 270"/>
              <p:cNvSpPr/>
              <p:nvPr/>
            </p:nvSpPr>
            <p:spPr>
              <a:xfrm>
                <a:off x="4015" y="216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35" name="Rectangle 271"/>
              <p:cNvSpPr/>
              <p:nvPr/>
            </p:nvSpPr>
            <p:spPr>
              <a:xfrm>
                <a:off x="4355" y="216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36" name="Line 272"/>
              <p:cNvSpPr/>
              <p:nvPr/>
            </p:nvSpPr>
            <p:spPr>
              <a:xfrm>
                <a:off x="4355" y="216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37" name="Rectangle 273"/>
              <p:cNvSpPr/>
              <p:nvPr/>
            </p:nvSpPr>
            <p:spPr>
              <a:xfrm>
                <a:off x="4700" y="216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38" name="Line 274"/>
              <p:cNvSpPr/>
              <p:nvPr/>
            </p:nvSpPr>
            <p:spPr>
              <a:xfrm>
                <a:off x="4700" y="216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39" name="Rectangle 275"/>
              <p:cNvSpPr/>
              <p:nvPr/>
            </p:nvSpPr>
            <p:spPr>
              <a:xfrm>
                <a:off x="5041" y="216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40" name="Line 276"/>
              <p:cNvSpPr/>
              <p:nvPr/>
            </p:nvSpPr>
            <p:spPr>
              <a:xfrm>
                <a:off x="5041" y="216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41" name="Rectangle 277"/>
              <p:cNvSpPr/>
              <p:nvPr/>
            </p:nvSpPr>
            <p:spPr>
              <a:xfrm>
                <a:off x="5381" y="216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42" name="Line 278"/>
              <p:cNvSpPr/>
              <p:nvPr/>
            </p:nvSpPr>
            <p:spPr>
              <a:xfrm>
                <a:off x="5381" y="216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43" name="Rectangle 279"/>
              <p:cNvSpPr/>
              <p:nvPr/>
            </p:nvSpPr>
            <p:spPr>
              <a:xfrm>
                <a:off x="3449" y="2430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144" name="Rectangle 280"/>
              <p:cNvSpPr/>
              <p:nvPr/>
            </p:nvSpPr>
            <p:spPr>
              <a:xfrm>
                <a:off x="3564" y="2430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145" name="Rectangle 281"/>
              <p:cNvSpPr/>
              <p:nvPr/>
            </p:nvSpPr>
            <p:spPr>
              <a:xfrm>
                <a:off x="3789" y="2430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146" name="Rectangle 282"/>
              <p:cNvSpPr/>
              <p:nvPr/>
            </p:nvSpPr>
            <p:spPr>
              <a:xfrm>
                <a:off x="3905" y="2430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147" name="Rectangle 283"/>
              <p:cNvSpPr/>
              <p:nvPr/>
            </p:nvSpPr>
            <p:spPr>
              <a:xfrm>
                <a:off x="4130" y="2430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148" name="Rectangle 284"/>
              <p:cNvSpPr/>
              <p:nvPr/>
            </p:nvSpPr>
            <p:spPr>
              <a:xfrm>
                <a:off x="4245" y="2430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149" name="Rectangle 285"/>
              <p:cNvSpPr/>
              <p:nvPr/>
            </p:nvSpPr>
            <p:spPr>
              <a:xfrm>
                <a:off x="4475" y="2430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3150" name="Rectangle 286"/>
              <p:cNvSpPr/>
              <p:nvPr/>
            </p:nvSpPr>
            <p:spPr>
              <a:xfrm>
                <a:off x="4590" y="2430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151" name="Rectangle 287"/>
              <p:cNvSpPr/>
              <p:nvPr/>
            </p:nvSpPr>
            <p:spPr>
              <a:xfrm>
                <a:off x="4815" y="2430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152" name="Rectangle 288"/>
              <p:cNvSpPr/>
              <p:nvPr/>
            </p:nvSpPr>
            <p:spPr>
              <a:xfrm>
                <a:off x="4930" y="2430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153" name="Rectangle 289"/>
              <p:cNvSpPr/>
              <p:nvPr/>
            </p:nvSpPr>
            <p:spPr>
              <a:xfrm>
                <a:off x="5156" y="2430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3154" name="Rectangle 290"/>
              <p:cNvSpPr/>
              <p:nvPr/>
            </p:nvSpPr>
            <p:spPr>
              <a:xfrm>
                <a:off x="5271" y="2430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155" name="Rectangle 291"/>
              <p:cNvSpPr/>
              <p:nvPr/>
            </p:nvSpPr>
            <p:spPr>
              <a:xfrm>
                <a:off x="3334" y="242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56" name="Line 292"/>
              <p:cNvSpPr/>
              <p:nvPr/>
            </p:nvSpPr>
            <p:spPr>
              <a:xfrm>
                <a:off x="3334" y="242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57" name="Line 293"/>
              <p:cNvSpPr/>
              <p:nvPr/>
            </p:nvSpPr>
            <p:spPr>
              <a:xfrm>
                <a:off x="3334" y="242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58" name="Rectangle 294"/>
              <p:cNvSpPr/>
              <p:nvPr/>
            </p:nvSpPr>
            <p:spPr>
              <a:xfrm>
                <a:off x="3339" y="2425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59" name="Line 295"/>
              <p:cNvSpPr/>
              <p:nvPr/>
            </p:nvSpPr>
            <p:spPr>
              <a:xfrm>
                <a:off x="3339" y="2425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60" name="Rectangle 296"/>
              <p:cNvSpPr/>
              <p:nvPr/>
            </p:nvSpPr>
            <p:spPr>
              <a:xfrm>
                <a:off x="3674" y="242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61" name="Line 297"/>
              <p:cNvSpPr/>
              <p:nvPr/>
            </p:nvSpPr>
            <p:spPr>
              <a:xfrm>
                <a:off x="3674" y="242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62" name="Line 298"/>
              <p:cNvSpPr/>
              <p:nvPr/>
            </p:nvSpPr>
            <p:spPr>
              <a:xfrm>
                <a:off x="3674" y="242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63" name="Rectangle 299"/>
              <p:cNvSpPr/>
              <p:nvPr/>
            </p:nvSpPr>
            <p:spPr>
              <a:xfrm>
                <a:off x="3679" y="2425"/>
                <a:ext cx="336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64" name="Line 300"/>
              <p:cNvSpPr/>
              <p:nvPr/>
            </p:nvSpPr>
            <p:spPr>
              <a:xfrm>
                <a:off x="3679" y="2425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65" name="Rectangle 301"/>
              <p:cNvSpPr/>
              <p:nvPr/>
            </p:nvSpPr>
            <p:spPr>
              <a:xfrm>
                <a:off x="4015" y="242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66" name="Line 302"/>
              <p:cNvSpPr/>
              <p:nvPr/>
            </p:nvSpPr>
            <p:spPr>
              <a:xfrm>
                <a:off x="4015" y="242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67" name="Line 303"/>
              <p:cNvSpPr/>
              <p:nvPr/>
            </p:nvSpPr>
            <p:spPr>
              <a:xfrm>
                <a:off x="4015" y="242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68" name="Rectangle 304"/>
              <p:cNvSpPr/>
              <p:nvPr/>
            </p:nvSpPr>
            <p:spPr>
              <a:xfrm>
                <a:off x="4020" y="2425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69" name="Line 305"/>
              <p:cNvSpPr/>
              <p:nvPr/>
            </p:nvSpPr>
            <p:spPr>
              <a:xfrm>
                <a:off x="4020" y="2425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70" name="Rectangle 306"/>
              <p:cNvSpPr/>
              <p:nvPr/>
            </p:nvSpPr>
            <p:spPr>
              <a:xfrm>
                <a:off x="4355" y="242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71" name="Line 307"/>
              <p:cNvSpPr/>
              <p:nvPr/>
            </p:nvSpPr>
            <p:spPr>
              <a:xfrm>
                <a:off x="4355" y="242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72" name="Line 308"/>
              <p:cNvSpPr/>
              <p:nvPr/>
            </p:nvSpPr>
            <p:spPr>
              <a:xfrm>
                <a:off x="4355" y="242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73" name="Rectangle 309"/>
              <p:cNvSpPr/>
              <p:nvPr/>
            </p:nvSpPr>
            <p:spPr>
              <a:xfrm>
                <a:off x="4360" y="2425"/>
                <a:ext cx="340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74" name="Line 310"/>
              <p:cNvSpPr/>
              <p:nvPr/>
            </p:nvSpPr>
            <p:spPr>
              <a:xfrm>
                <a:off x="4360" y="2425"/>
                <a:ext cx="340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75" name="Rectangle 311"/>
              <p:cNvSpPr/>
              <p:nvPr/>
            </p:nvSpPr>
            <p:spPr>
              <a:xfrm>
                <a:off x="4700" y="242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76" name="Line 312"/>
              <p:cNvSpPr/>
              <p:nvPr/>
            </p:nvSpPr>
            <p:spPr>
              <a:xfrm>
                <a:off x="4700" y="242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77" name="Line 313"/>
              <p:cNvSpPr/>
              <p:nvPr/>
            </p:nvSpPr>
            <p:spPr>
              <a:xfrm>
                <a:off x="4700" y="242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78" name="Rectangle 314"/>
              <p:cNvSpPr/>
              <p:nvPr/>
            </p:nvSpPr>
            <p:spPr>
              <a:xfrm>
                <a:off x="4705" y="2425"/>
                <a:ext cx="336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79" name="Line 315"/>
              <p:cNvSpPr/>
              <p:nvPr/>
            </p:nvSpPr>
            <p:spPr>
              <a:xfrm>
                <a:off x="4705" y="2425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80" name="Rectangle 316"/>
              <p:cNvSpPr/>
              <p:nvPr/>
            </p:nvSpPr>
            <p:spPr>
              <a:xfrm>
                <a:off x="5041" y="242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81" name="Line 317"/>
              <p:cNvSpPr/>
              <p:nvPr/>
            </p:nvSpPr>
            <p:spPr>
              <a:xfrm>
                <a:off x="5041" y="242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82" name="Line 318"/>
              <p:cNvSpPr/>
              <p:nvPr/>
            </p:nvSpPr>
            <p:spPr>
              <a:xfrm>
                <a:off x="5041" y="242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83" name="Rectangle 319"/>
              <p:cNvSpPr/>
              <p:nvPr/>
            </p:nvSpPr>
            <p:spPr>
              <a:xfrm>
                <a:off x="5046" y="2425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84" name="Line 320"/>
              <p:cNvSpPr/>
              <p:nvPr/>
            </p:nvSpPr>
            <p:spPr>
              <a:xfrm>
                <a:off x="5046" y="2425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85" name="Rectangle 321"/>
              <p:cNvSpPr/>
              <p:nvPr/>
            </p:nvSpPr>
            <p:spPr>
              <a:xfrm>
                <a:off x="5381" y="242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86" name="Line 322"/>
              <p:cNvSpPr/>
              <p:nvPr/>
            </p:nvSpPr>
            <p:spPr>
              <a:xfrm>
                <a:off x="5381" y="242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87" name="Line 323"/>
              <p:cNvSpPr/>
              <p:nvPr/>
            </p:nvSpPr>
            <p:spPr>
              <a:xfrm>
                <a:off x="5381" y="242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88" name="Rectangle 324"/>
              <p:cNvSpPr/>
              <p:nvPr/>
            </p:nvSpPr>
            <p:spPr>
              <a:xfrm>
                <a:off x="3334" y="2430"/>
                <a:ext cx="5" cy="25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89" name="Line 325"/>
              <p:cNvSpPr/>
              <p:nvPr/>
            </p:nvSpPr>
            <p:spPr>
              <a:xfrm>
                <a:off x="3334" y="2430"/>
                <a:ext cx="0" cy="259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90" name="Rectangle 326"/>
              <p:cNvSpPr/>
              <p:nvPr/>
            </p:nvSpPr>
            <p:spPr>
              <a:xfrm>
                <a:off x="3674" y="2430"/>
                <a:ext cx="5" cy="25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91" name="Line 327"/>
              <p:cNvSpPr/>
              <p:nvPr/>
            </p:nvSpPr>
            <p:spPr>
              <a:xfrm>
                <a:off x="3674" y="2430"/>
                <a:ext cx="0" cy="259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92" name="Rectangle 328"/>
              <p:cNvSpPr/>
              <p:nvPr/>
            </p:nvSpPr>
            <p:spPr>
              <a:xfrm>
                <a:off x="4015" y="2430"/>
                <a:ext cx="5" cy="25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93" name="Line 329"/>
              <p:cNvSpPr/>
              <p:nvPr/>
            </p:nvSpPr>
            <p:spPr>
              <a:xfrm>
                <a:off x="4015" y="2430"/>
                <a:ext cx="0" cy="259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94" name="Rectangle 330"/>
              <p:cNvSpPr/>
              <p:nvPr/>
            </p:nvSpPr>
            <p:spPr>
              <a:xfrm>
                <a:off x="4355" y="2430"/>
                <a:ext cx="5" cy="25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95" name="Line 331"/>
              <p:cNvSpPr/>
              <p:nvPr/>
            </p:nvSpPr>
            <p:spPr>
              <a:xfrm>
                <a:off x="4355" y="2430"/>
                <a:ext cx="0" cy="259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96" name="Rectangle 332"/>
              <p:cNvSpPr/>
              <p:nvPr/>
            </p:nvSpPr>
            <p:spPr>
              <a:xfrm>
                <a:off x="4700" y="2430"/>
                <a:ext cx="5" cy="25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97" name="Line 333"/>
              <p:cNvSpPr/>
              <p:nvPr/>
            </p:nvSpPr>
            <p:spPr>
              <a:xfrm>
                <a:off x="4700" y="2430"/>
                <a:ext cx="0" cy="259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198" name="Rectangle 334"/>
              <p:cNvSpPr/>
              <p:nvPr/>
            </p:nvSpPr>
            <p:spPr>
              <a:xfrm>
                <a:off x="5041" y="2430"/>
                <a:ext cx="5" cy="25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199" name="Line 335"/>
              <p:cNvSpPr/>
              <p:nvPr/>
            </p:nvSpPr>
            <p:spPr>
              <a:xfrm>
                <a:off x="5041" y="2430"/>
                <a:ext cx="0" cy="259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200" name="Rectangle 336"/>
              <p:cNvSpPr/>
              <p:nvPr/>
            </p:nvSpPr>
            <p:spPr>
              <a:xfrm>
                <a:off x="5381" y="2430"/>
                <a:ext cx="5" cy="259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201" name="Line 337"/>
              <p:cNvSpPr/>
              <p:nvPr/>
            </p:nvSpPr>
            <p:spPr>
              <a:xfrm>
                <a:off x="5381" y="2430"/>
                <a:ext cx="0" cy="259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202" name="Rectangle 338"/>
              <p:cNvSpPr/>
              <p:nvPr/>
            </p:nvSpPr>
            <p:spPr>
              <a:xfrm>
                <a:off x="3449" y="2694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203" name="Rectangle 339"/>
              <p:cNvSpPr/>
              <p:nvPr/>
            </p:nvSpPr>
            <p:spPr>
              <a:xfrm>
                <a:off x="3564" y="2694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204" name="Rectangle 340"/>
              <p:cNvSpPr/>
              <p:nvPr/>
            </p:nvSpPr>
            <p:spPr>
              <a:xfrm>
                <a:off x="3789" y="2694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205" name="Rectangle 341"/>
              <p:cNvSpPr/>
              <p:nvPr/>
            </p:nvSpPr>
            <p:spPr>
              <a:xfrm>
                <a:off x="3905" y="2694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206" name="Rectangle 342"/>
              <p:cNvSpPr/>
              <p:nvPr/>
            </p:nvSpPr>
            <p:spPr>
              <a:xfrm>
                <a:off x="4130" y="2694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3207" name="Rectangle 343"/>
              <p:cNvSpPr/>
              <p:nvPr/>
            </p:nvSpPr>
            <p:spPr>
              <a:xfrm>
                <a:off x="4245" y="2694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208" name="Rectangle 344"/>
              <p:cNvSpPr/>
              <p:nvPr/>
            </p:nvSpPr>
            <p:spPr>
              <a:xfrm>
                <a:off x="4475" y="2694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209" name="Rectangle 345"/>
              <p:cNvSpPr/>
              <p:nvPr/>
            </p:nvSpPr>
            <p:spPr>
              <a:xfrm>
                <a:off x="4590" y="2694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210" name="Rectangle 346"/>
              <p:cNvSpPr/>
              <p:nvPr/>
            </p:nvSpPr>
            <p:spPr>
              <a:xfrm>
                <a:off x="4815" y="2694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3211" name="Rectangle 347"/>
              <p:cNvSpPr/>
              <p:nvPr/>
            </p:nvSpPr>
            <p:spPr>
              <a:xfrm>
                <a:off x="4930" y="2694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212" name="Rectangle 348"/>
              <p:cNvSpPr/>
              <p:nvPr/>
            </p:nvSpPr>
            <p:spPr>
              <a:xfrm>
                <a:off x="5156" y="2694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3213" name="Rectangle 349"/>
              <p:cNvSpPr/>
              <p:nvPr/>
            </p:nvSpPr>
            <p:spPr>
              <a:xfrm>
                <a:off x="5271" y="2694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3214" name="Rectangle 350"/>
              <p:cNvSpPr/>
              <p:nvPr/>
            </p:nvSpPr>
            <p:spPr>
              <a:xfrm>
                <a:off x="3334" y="2689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215" name="Line 351"/>
              <p:cNvSpPr/>
              <p:nvPr/>
            </p:nvSpPr>
            <p:spPr>
              <a:xfrm>
                <a:off x="3334" y="2689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216" name="Line 352"/>
              <p:cNvSpPr/>
              <p:nvPr/>
            </p:nvSpPr>
            <p:spPr>
              <a:xfrm>
                <a:off x="3334" y="2689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217" name="Rectangle 353"/>
              <p:cNvSpPr/>
              <p:nvPr/>
            </p:nvSpPr>
            <p:spPr>
              <a:xfrm>
                <a:off x="3339" y="2689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218" name="Line 354"/>
              <p:cNvSpPr/>
              <p:nvPr/>
            </p:nvSpPr>
            <p:spPr>
              <a:xfrm>
                <a:off x="3339" y="2689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32818" name="Group 556"/>
            <p:cNvGrpSpPr/>
            <p:nvPr/>
          </p:nvGrpSpPr>
          <p:grpSpPr>
            <a:xfrm>
              <a:off x="3334" y="2689"/>
              <a:ext cx="2052" cy="903"/>
              <a:chOff x="3334" y="2689"/>
              <a:chExt cx="2052" cy="903"/>
            </a:xfrm>
          </p:grpSpPr>
          <p:sp>
            <p:nvSpPr>
              <p:cNvPr id="32819" name="Rectangle 356"/>
              <p:cNvSpPr/>
              <p:nvPr/>
            </p:nvSpPr>
            <p:spPr>
              <a:xfrm>
                <a:off x="3674" y="2689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20" name="Line 357"/>
              <p:cNvSpPr/>
              <p:nvPr/>
            </p:nvSpPr>
            <p:spPr>
              <a:xfrm>
                <a:off x="3674" y="2689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1" name="Line 358"/>
              <p:cNvSpPr/>
              <p:nvPr/>
            </p:nvSpPr>
            <p:spPr>
              <a:xfrm>
                <a:off x="3674" y="2689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2" name="Rectangle 359"/>
              <p:cNvSpPr/>
              <p:nvPr/>
            </p:nvSpPr>
            <p:spPr>
              <a:xfrm>
                <a:off x="3679" y="2689"/>
                <a:ext cx="336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23" name="Line 360"/>
              <p:cNvSpPr/>
              <p:nvPr/>
            </p:nvSpPr>
            <p:spPr>
              <a:xfrm>
                <a:off x="3679" y="2689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4" name="Rectangle 361"/>
              <p:cNvSpPr/>
              <p:nvPr/>
            </p:nvSpPr>
            <p:spPr>
              <a:xfrm>
                <a:off x="4015" y="2689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25" name="Line 362"/>
              <p:cNvSpPr/>
              <p:nvPr/>
            </p:nvSpPr>
            <p:spPr>
              <a:xfrm>
                <a:off x="4015" y="2689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6" name="Line 363"/>
              <p:cNvSpPr/>
              <p:nvPr/>
            </p:nvSpPr>
            <p:spPr>
              <a:xfrm>
                <a:off x="4015" y="2689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7" name="Rectangle 364"/>
              <p:cNvSpPr/>
              <p:nvPr/>
            </p:nvSpPr>
            <p:spPr>
              <a:xfrm>
                <a:off x="4020" y="2689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28" name="Line 365"/>
              <p:cNvSpPr/>
              <p:nvPr/>
            </p:nvSpPr>
            <p:spPr>
              <a:xfrm>
                <a:off x="4020" y="2689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29" name="Rectangle 366"/>
              <p:cNvSpPr/>
              <p:nvPr/>
            </p:nvSpPr>
            <p:spPr>
              <a:xfrm>
                <a:off x="4355" y="2689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30" name="Line 367"/>
              <p:cNvSpPr/>
              <p:nvPr/>
            </p:nvSpPr>
            <p:spPr>
              <a:xfrm>
                <a:off x="4355" y="2689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31" name="Line 368"/>
              <p:cNvSpPr/>
              <p:nvPr/>
            </p:nvSpPr>
            <p:spPr>
              <a:xfrm>
                <a:off x="4355" y="2689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32" name="Rectangle 369"/>
              <p:cNvSpPr/>
              <p:nvPr/>
            </p:nvSpPr>
            <p:spPr>
              <a:xfrm>
                <a:off x="4360" y="2689"/>
                <a:ext cx="340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33" name="Line 370"/>
              <p:cNvSpPr/>
              <p:nvPr/>
            </p:nvSpPr>
            <p:spPr>
              <a:xfrm>
                <a:off x="4360" y="2689"/>
                <a:ext cx="340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34" name="Rectangle 371"/>
              <p:cNvSpPr/>
              <p:nvPr/>
            </p:nvSpPr>
            <p:spPr>
              <a:xfrm>
                <a:off x="4700" y="2689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35" name="Line 372"/>
              <p:cNvSpPr/>
              <p:nvPr/>
            </p:nvSpPr>
            <p:spPr>
              <a:xfrm>
                <a:off x="4700" y="2689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36" name="Line 373"/>
              <p:cNvSpPr/>
              <p:nvPr/>
            </p:nvSpPr>
            <p:spPr>
              <a:xfrm>
                <a:off x="4700" y="2689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37" name="Rectangle 374"/>
              <p:cNvSpPr/>
              <p:nvPr/>
            </p:nvSpPr>
            <p:spPr>
              <a:xfrm>
                <a:off x="4705" y="2689"/>
                <a:ext cx="336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38" name="Line 375"/>
              <p:cNvSpPr/>
              <p:nvPr/>
            </p:nvSpPr>
            <p:spPr>
              <a:xfrm>
                <a:off x="4705" y="2689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39" name="Rectangle 376"/>
              <p:cNvSpPr/>
              <p:nvPr/>
            </p:nvSpPr>
            <p:spPr>
              <a:xfrm>
                <a:off x="5041" y="2689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40" name="Line 377"/>
              <p:cNvSpPr/>
              <p:nvPr/>
            </p:nvSpPr>
            <p:spPr>
              <a:xfrm>
                <a:off x="5041" y="2689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41" name="Line 378"/>
              <p:cNvSpPr/>
              <p:nvPr/>
            </p:nvSpPr>
            <p:spPr>
              <a:xfrm>
                <a:off x="5041" y="2689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42" name="Rectangle 379"/>
              <p:cNvSpPr/>
              <p:nvPr/>
            </p:nvSpPr>
            <p:spPr>
              <a:xfrm>
                <a:off x="5046" y="2689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43" name="Line 380"/>
              <p:cNvSpPr/>
              <p:nvPr/>
            </p:nvSpPr>
            <p:spPr>
              <a:xfrm>
                <a:off x="5046" y="2689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44" name="Rectangle 381"/>
              <p:cNvSpPr/>
              <p:nvPr/>
            </p:nvSpPr>
            <p:spPr>
              <a:xfrm>
                <a:off x="5381" y="2689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45" name="Line 382"/>
              <p:cNvSpPr/>
              <p:nvPr/>
            </p:nvSpPr>
            <p:spPr>
              <a:xfrm>
                <a:off x="5381" y="2689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46" name="Line 383"/>
              <p:cNvSpPr/>
              <p:nvPr/>
            </p:nvSpPr>
            <p:spPr>
              <a:xfrm>
                <a:off x="5381" y="2689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47" name="Rectangle 384"/>
              <p:cNvSpPr/>
              <p:nvPr/>
            </p:nvSpPr>
            <p:spPr>
              <a:xfrm>
                <a:off x="3334" y="2694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48" name="Line 385"/>
              <p:cNvSpPr/>
              <p:nvPr/>
            </p:nvSpPr>
            <p:spPr>
              <a:xfrm>
                <a:off x="3334" y="2694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49" name="Rectangle 386"/>
              <p:cNvSpPr/>
              <p:nvPr/>
            </p:nvSpPr>
            <p:spPr>
              <a:xfrm>
                <a:off x="3674" y="2694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50" name="Line 387"/>
              <p:cNvSpPr/>
              <p:nvPr/>
            </p:nvSpPr>
            <p:spPr>
              <a:xfrm>
                <a:off x="3674" y="2694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51" name="Rectangle 388"/>
              <p:cNvSpPr/>
              <p:nvPr/>
            </p:nvSpPr>
            <p:spPr>
              <a:xfrm>
                <a:off x="4015" y="2694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52" name="Line 389"/>
              <p:cNvSpPr/>
              <p:nvPr/>
            </p:nvSpPr>
            <p:spPr>
              <a:xfrm>
                <a:off x="4015" y="2694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53" name="Rectangle 390"/>
              <p:cNvSpPr/>
              <p:nvPr/>
            </p:nvSpPr>
            <p:spPr>
              <a:xfrm>
                <a:off x="4355" y="2694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54" name="Line 391"/>
              <p:cNvSpPr/>
              <p:nvPr/>
            </p:nvSpPr>
            <p:spPr>
              <a:xfrm>
                <a:off x="4355" y="2694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55" name="Rectangle 392"/>
              <p:cNvSpPr/>
              <p:nvPr/>
            </p:nvSpPr>
            <p:spPr>
              <a:xfrm>
                <a:off x="4700" y="2694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56" name="Line 393"/>
              <p:cNvSpPr/>
              <p:nvPr/>
            </p:nvSpPr>
            <p:spPr>
              <a:xfrm>
                <a:off x="4700" y="2694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57" name="Rectangle 394"/>
              <p:cNvSpPr/>
              <p:nvPr/>
            </p:nvSpPr>
            <p:spPr>
              <a:xfrm>
                <a:off x="5041" y="2694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58" name="Line 395"/>
              <p:cNvSpPr/>
              <p:nvPr/>
            </p:nvSpPr>
            <p:spPr>
              <a:xfrm>
                <a:off x="5041" y="2694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59" name="Rectangle 396"/>
              <p:cNvSpPr/>
              <p:nvPr/>
            </p:nvSpPr>
            <p:spPr>
              <a:xfrm>
                <a:off x="5381" y="2694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60" name="Line 397"/>
              <p:cNvSpPr/>
              <p:nvPr/>
            </p:nvSpPr>
            <p:spPr>
              <a:xfrm>
                <a:off x="5381" y="2694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61" name="Rectangle 398"/>
              <p:cNvSpPr/>
              <p:nvPr/>
            </p:nvSpPr>
            <p:spPr>
              <a:xfrm>
                <a:off x="3449" y="296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2862" name="Rectangle 399"/>
              <p:cNvSpPr/>
              <p:nvPr/>
            </p:nvSpPr>
            <p:spPr>
              <a:xfrm>
                <a:off x="3564" y="296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863" name="Rectangle 400"/>
              <p:cNvSpPr/>
              <p:nvPr/>
            </p:nvSpPr>
            <p:spPr>
              <a:xfrm>
                <a:off x="3789" y="296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2864" name="Rectangle 401"/>
              <p:cNvSpPr/>
              <p:nvPr/>
            </p:nvSpPr>
            <p:spPr>
              <a:xfrm>
                <a:off x="3905" y="296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865" name="Rectangle 402"/>
              <p:cNvSpPr/>
              <p:nvPr/>
            </p:nvSpPr>
            <p:spPr>
              <a:xfrm>
                <a:off x="4130" y="296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2866" name="Rectangle 403"/>
              <p:cNvSpPr/>
              <p:nvPr/>
            </p:nvSpPr>
            <p:spPr>
              <a:xfrm>
                <a:off x="4245" y="296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867" name="Rectangle 404"/>
              <p:cNvSpPr/>
              <p:nvPr/>
            </p:nvSpPr>
            <p:spPr>
              <a:xfrm>
                <a:off x="4475" y="296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2868" name="Rectangle 405"/>
              <p:cNvSpPr/>
              <p:nvPr/>
            </p:nvSpPr>
            <p:spPr>
              <a:xfrm>
                <a:off x="4590" y="296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869" name="Rectangle 406"/>
              <p:cNvSpPr/>
              <p:nvPr/>
            </p:nvSpPr>
            <p:spPr>
              <a:xfrm>
                <a:off x="4815" y="296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2870" name="Rectangle 407"/>
              <p:cNvSpPr/>
              <p:nvPr/>
            </p:nvSpPr>
            <p:spPr>
              <a:xfrm>
                <a:off x="4930" y="296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871" name="Rectangle 408"/>
              <p:cNvSpPr/>
              <p:nvPr/>
            </p:nvSpPr>
            <p:spPr>
              <a:xfrm>
                <a:off x="5156" y="2963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2872" name="Rectangle 409"/>
              <p:cNvSpPr/>
              <p:nvPr/>
            </p:nvSpPr>
            <p:spPr>
              <a:xfrm>
                <a:off x="5271" y="2963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873" name="Rectangle 410"/>
              <p:cNvSpPr/>
              <p:nvPr/>
            </p:nvSpPr>
            <p:spPr>
              <a:xfrm>
                <a:off x="3334" y="295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74" name="Line 411"/>
              <p:cNvSpPr/>
              <p:nvPr/>
            </p:nvSpPr>
            <p:spPr>
              <a:xfrm>
                <a:off x="3334" y="295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75" name="Line 412"/>
              <p:cNvSpPr/>
              <p:nvPr/>
            </p:nvSpPr>
            <p:spPr>
              <a:xfrm>
                <a:off x="3334" y="295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76" name="Rectangle 413"/>
              <p:cNvSpPr/>
              <p:nvPr/>
            </p:nvSpPr>
            <p:spPr>
              <a:xfrm>
                <a:off x="3339" y="2958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77" name="Line 414"/>
              <p:cNvSpPr/>
              <p:nvPr/>
            </p:nvSpPr>
            <p:spPr>
              <a:xfrm>
                <a:off x="3339" y="2958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78" name="Rectangle 415"/>
              <p:cNvSpPr/>
              <p:nvPr/>
            </p:nvSpPr>
            <p:spPr>
              <a:xfrm>
                <a:off x="3674" y="295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79" name="Line 416"/>
              <p:cNvSpPr/>
              <p:nvPr/>
            </p:nvSpPr>
            <p:spPr>
              <a:xfrm>
                <a:off x="3674" y="295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80" name="Line 417"/>
              <p:cNvSpPr/>
              <p:nvPr/>
            </p:nvSpPr>
            <p:spPr>
              <a:xfrm>
                <a:off x="3674" y="295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81" name="Rectangle 418"/>
              <p:cNvSpPr/>
              <p:nvPr/>
            </p:nvSpPr>
            <p:spPr>
              <a:xfrm>
                <a:off x="3679" y="2958"/>
                <a:ext cx="336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82" name="Line 419"/>
              <p:cNvSpPr/>
              <p:nvPr/>
            </p:nvSpPr>
            <p:spPr>
              <a:xfrm>
                <a:off x="3679" y="2958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83" name="Rectangle 420"/>
              <p:cNvSpPr/>
              <p:nvPr/>
            </p:nvSpPr>
            <p:spPr>
              <a:xfrm>
                <a:off x="4015" y="295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84" name="Line 421"/>
              <p:cNvSpPr/>
              <p:nvPr/>
            </p:nvSpPr>
            <p:spPr>
              <a:xfrm>
                <a:off x="4015" y="295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85" name="Line 422"/>
              <p:cNvSpPr/>
              <p:nvPr/>
            </p:nvSpPr>
            <p:spPr>
              <a:xfrm>
                <a:off x="4015" y="295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86" name="Rectangle 423"/>
              <p:cNvSpPr/>
              <p:nvPr/>
            </p:nvSpPr>
            <p:spPr>
              <a:xfrm>
                <a:off x="4020" y="2958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87" name="Line 424"/>
              <p:cNvSpPr/>
              <p:nvPr/>
            </p:nvSpPr>
            <p:spPr>
              <a:xfrm>
                <a:off x="4020" y="2958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88" name="Rectangle 425"/>
              <p:cNvSpPr/>
              <p:nvPr/>
            </p:nvSpPr>
            <p:spPr>
              <a:xfrm>
                <a:off x="4355" y="295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89" name="Line 426"/>
              <p:cNvSpPr/>
              <p:nvPr/>
            </p:nvSpPr>
            <p:spPr>
              <a:xfrm>
                <a:off x="4355" y="295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90" name="Line 427"/>
              <p:cNvSpPr/>
              <p:nvPr/>
            </p:nvSpPr>
            <p:spPr>
              <a:xfrm>
                <a:off x="4355" y="295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91" name="Rectangle 428"/>
              <p:cNvSpPr/>
              <p:nvPr/>
            </p:nvSpPr>
            <p:spPr>
              <a:xfrm>
                <a:off x="4360" y="2958"/>
                <a:ext cx="340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92" name="Line 429"/>
              <p:cNvSpPr/>
              <p:nvPr/>
            </p:nvSpPr>
            <p:spPr>
              <a:xfrm>
                <a:off x="4360" y="2958"/>
                <a:ext cx="340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93" name="Rectangle 430"/>
              <p:cNvSpPr/>
              <p:nvPr/>
            </p:nvSpPr>
            <p:spPr>
              <a:xfrm>
                <a:off x="4700" y="295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94" name="Line 431"/>
              <p:cNvSpPr/>
              <p:nvPr/>
            </p:nvSpPr>
            <p:spPr>
              <a:xfrm>
                <a:off x="4700" y="295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95" name="Line 432"/>
              <p:cNvSpPr/>
              <p:nvPr/>
            </p:nvSpPr>
            <p:spPr>
              <a:xfrm>
                <a:off x="4700" y="295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96" name="Rectangle 433"/>
              <p:cNvSpPr/>
              <p:nvPr/>
            </p:nvSpPr>
            <p:spPr>
              <a:xfrm>
                <a:off x="4705" y="2958"/>
                <a:ext cx="336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97" name="Line 434"/>
              <p:cNvSpPr/>
              <p:nvPr/>
            </p:nvSpPr>
            <p:spPr>
              <a:xfrm>
                <a:off x="4705" y="2958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898" name="Rectangle 435"/>
              <p:cNvSpPr/>
              <p:nvPr/>
            </p:nvSpPr>
            <p:spPr>
              <a:xfrm>
                <a:off x="5041" y="295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899" name="Line 436"/>
              <p:cNvSpPr/>
              <p:nvPr/>
            </p:nvSpPr>
            <p:spPr>
              <a:xfrm>
                <a:off x="5041" y="295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00" name="Line 437"/>
              <p:cNvSpPr/>
              <p:nvPr/>
            </p:nvSpPr>
            <p:spPr>
              <a:xfrm>
                <a:off x="5041" y="295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01" name="Rectangle 438"/>
              <p:cNvSpPr/>
              <p:nvPr/>
            </p:nvSpPr>
            <p:spPr>
              <a:xfrm>
                <a:off x="5046" y="2958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02" name="Line 439"/>
              <p:cNvSpPr/>
              <p:nvPr/>
            </p:nvSpPr>
            <p:spPr>
              <a:xfrm>
                <a:off x="5046" y="2958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03" name="Rectangle 440"/>
              <p:cNvSpPr/>
              <p:nvPr/>
            </p:nvSpPr>
            <p:spPr>
              <a:xfrm>
                <a:off x="5381" y="2958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04" name="Line 441"/>
              <p:cNvSpPr/>
              <p:nvPr/>
            </p:nvSpPr>
            <p:spPr>
              <a:xfrm>
                <a:off x="5381" y="2958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05" name="Line 442"/>
              <p:cNvSpPr/>
              <p:nvPr/>
            </p:nvSpPr>
            <p:spPr>
              <a:xfrm>
                <a:off x="5381" y="2958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06" name="Rectangle 443"/>
              <p:cNvSpPr/>
              <p:nvPr/>
            </p:nvSpPr>
            <p:spPr>
              <a:xfrm>
                <a:off x="3334" y="296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07" name="Line 444"/>
              <p:cNvSpPr/>
              <p:nvPr/>
            </p:nvSpPr>
            <p:spPr>
              <a:xfrm>
                <a:off x="3334" y="296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08" name="Rectangle 445"/>
              <p:cNvSpPr/>
              <p:nvPr/>
            </p:nvSpPr>
            <p:spPr>
              <a:xfrm>
                <a:off x="3674" y="296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09" name="Line 446"/>
              <p:cNvSpPr/>
              <p:nvPr/>
            </p:nvSpPr>
            <p:spPr>
              <a:xfrm>
                <a:off x="3674" y="296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10" name="Rectangle 447"/>
              <p:cNvSpPr/>
              <p:nvPr/>
            </p:nvSpPr>
            <p:spPr>
              <a:xfrm>
                <a:off x="4015" y="296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11" name="Line 448"/>
              <p:cNvSpPr/>
              <p:nvPr/>
            </p:nvSpPr>
            <p:spPr>
              <a:xfrm>
                <a:off x="4015" y="296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12" name="Rectangle 449"/>
              <p:cNvSpPr/>
              <p:nvPr/>
            </p:nvSpPr>
            <p:spPr>
              <a:xfrm>
                <a:off x="4355" y="296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13" name="Line 450"/>
              <p:cNvSpPr/>
              <p:nvPr/>
            </p:nvSpPr>
            <p:spPr>
              <a:xfrm>
                <a:off x="4355" y="296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14" name="Rectangle 451"/>
              <p:cNvSpPr/>
              <p:nvPr/>
            </p:nvSpPr>
            <p:spPr>
              <a:xfrm>
                <a:off x="4700" y="296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15" name="Line 452"/>
              <p:cNvSpPr/>
              <p:nvPr/>
            </p:nvSpPr>
            <p:spPr>
              <a:xfrm>
                <a:off x="4700" y="296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16" name="Rectangle 453"/>
              <p:cNvSpPr/>
              <p:nvPr/>
            </p:nvSpPr>
            <p:spPr>
              <a:xfrm>
                <a:off x="5041" y="296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17" name="Line 454"/>
              <p:cNvSpPr/>
              <p:nvPr/>
            </p:nvSpPr>
            <p:spPr>
              <a:xfrm>
                <a:off x="5041" y="296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18" name="Rectangle 455"/>
              <p:cNvSpPr/>
              <p:nvPr/>
            </p:nvSpPr>
            <p:spPr>
              <a:xfrm>
                <a:off x="5381" y="2963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19" name="Line 456"/>
              <p:cNvSpPr/>
              <p:nvPr/>
            </p:nvSpPr>
            <p:spPr>
              <a:xfrm>
                <a:off x="5381" y="2963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20" name="Rectangle 457"/>
              <p:cNvSpPr/>
              <p:nvPr/>
            </p:nvSpPr>
            <p:spPr>
              <a:xfrm>
                <a:off x="3449" y="323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2921" name="Rectangle 458"/>
              <p:cNvSpPr/>
              <p:nvPr/>
            </p:nvSpPr>
            <p:spPr>
              <a:xfrm>
                <a:off x="3564" y="323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922" name="Rectangle 459"/>
              <p:cNvSpPr/>
              <p:nvPr/>
            </p:nvSpPr>
            <p:spPr>
              <a:xfrm>
                <a:off x="3789" y="323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2923" name="Rectangle 460"/>
              <p:cNvSpPr/>
              <p:nvPr/>
            </p:nvSpPr>
            <p:spPr>
              <a:xfrm>
                <a:off x="3905" y="323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924" name="Rectangle 461"/>
              <p:cNvSpPr/>
              <p:nvPr/>
            </p:nvSpPr>
            <p:spPr>
              <a:xfrm>
                <a:off x="4130" y="323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2925" name="Rectangle 462"/>
              <p:cNvSpPr/>
              <p:nvPr/>
            </p:nvSpPr>
            <p:spPr>
              <a:xfrm>
                <a:off x="4245" y="323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926" name="Rectangle 463"/>
              <p:cNvSpPr/>
              <p:nvPr/>
            </p:nvSpPr>
            <p:spPr>
              <a:xfrm>
                <a:off x="4475" y="323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1621" b="1" dirty="0"/>
              </a:p>
            </p:txBody>
          </p:sp>
          <p:sp>
            <p:nvSpPr>
              <p:cNvPr id="32927" name="Rectangle 464"/>
              <p:cNvSpPr/>
              <p:nvPr/>
            </p:nvSpPr>
            <p:spPr>
              <a:xfrm>
                <a:off x="4590" y="323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b="1" dirty="0">
                    <a:solidFill>
                      <a:srgbClr val="8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928" name="Rectangle 465"/>
              <p:cNvSpPr/>
              <p:nvPr/>
            </p:nvSpPr>
            <p:spPr>
              <a:xfrm>
                <a:off x="4815" y="323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2929" name="Rectangle 466"/>
              <p:cNvSpPr/>
              <p:nvPr/>
            </p:nvSpPr>
            <p:spPr>
              <a:xfrm>
                <a:off x="4930" y="323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930" name="Rectangle 467"/>
              <p:cNvSpPr/>
              <p:nvPr/>
            </p:nvSpPr>
            <p:spPr>
              <a:xfrm>
                <a:off x="5156" y="3231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sz="1621" b="1" dirty="0"/>
              </a:p>
            </p:txBody>
          </p:sp>
          <p:sp>
            <p:nvSpPr>
              <p:cNvPr id="32931" name="Rectangle 468"/>
              <p:cNvSpPr/>
              <p:nvPr/>
            </p:nvSpPr>
            <p:spPr>
              <a:xfrm>
                <a:off x="5271" y="3231"/>
                <a:ext cx="5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2611" dirty="0">
                    <a:solidFill>
                      <a:srgbClr val="00008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  <p:sp>
            <p:nvSpPr>
              <p:cNvPr id="32932" name="Rectangle 469"/>
              <p:cNvSpPr/>
              <p:nvPr/>
            </p:nvSpPr>
            <p:spPr>
              <a:xfrm>
                <a:off x="3334" y="322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33" name="Line 470"/>
              <p:cNvSpPr/>
              <p:nvPr/>
            </p:nvSpPr>
            <p:spPr>
              <a:xfrm>
                <a:off x="3334" y="322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4" name="Line 471"/>
              <p:cNvSpPr/>
              <p:nvPr/>
            </p:nvSpPr>
            <p:spPr>
              <a:xfrm>
                <a:off x="3334" y="322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5" name="Rectangle 472"/>
              <p:cNvSpPr/>
              <p:nvPr/>
            </p:nvSpPr>
            <p:spPr>
              <a:xfrm>
                <a:off x="3339" y="3227"/>
                <a:ext cx="33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36" name="Line 473"/>
              <p:cNvSpPr/>
              <p:nvPr/>
            </p:nvSpPr>
            <p:spPr>
              <a:xfrm>
                <a:off x="3339" y="3227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7" name="Rectangle 474"/>
              <p:cNvSpPr/>
              <p:nvPr/>
            </p:nvSpPr>
            <p:spPr>
              <a:xfrm>
                <a:off x="3674" y="322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38" name="Line 475"/>
              <p:cNvSpPr/>
              <p:nvPr/>
            </p:nvSpPr>
            <p:spPr>
              <a:xfrm>
                <a:off x="3674" y="322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39" name="Line 476"/>
              <p:cNvSpPr/>
              <p:nvPr/>
            </p:nvSpPr>
            <p:spPr>
              <a:xfrm>
                <a:off x="3674" y="322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0" name="Rectangle 477"/>
              <p:cNvSpPr/>
              <p:nvPr/>
            </p:nvSpPr>
            <p:spPr>
              <a:xfrm>
                <a:off x="3679" y="3227"/>
                <a:ext cx="336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41" name="Line 478"/>
              <p:cNvSpPr/>
              <p:nvPr/>
            </p:nvSpPr>
            <p:spPr>
              <a:xfrm>
                <a:off x="3679" y="3227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2" name="Rectangle 479"/>
              <p:cNvSpPr/>
              <p:nvPr/>
            </p:nvSpPr>
            <p:spPr>
              <a:xfrm>
                <a:off x="4015" y="322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43" name="Line 480"/>
              <p:cNvSpPr/>
              <p:nvPr/>
            </p:nvSpPr>
            <p:spPr>
              <a:xfrm>
                <a:off x="4015" y="322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4" name="Line 481"/>
              <p:cNvSpPr/>
              <p:nvPr/>
            </p:nvSpPr>
            <p:spPr>
              <a:xfrm>
                <a:off x="4015" y="322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5" name="Rectangle 482"/>
              <p:cNvSpPr/>
              <p:nvPr/>
            </p:nvSpPr>
            <p:spPr>
              <a:xfrm>
                <a:off x="4020" y="3227"/>
                <a:ext cx="33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46" name="Line 483"/>
              <p:cNvSpPr/>
              <p:nvPr/>
            </p:nvSpPr>
            <p:spPr>
              <a:xfrm>
                <a:off x="4020" y="3227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7" name="Rectangle 484"/>
              <p:cNvSpPr/>
              <p:nvPr/>
            </p:nvSpPr>
            <p:spPr>
              <a:xfrm>
                <a:off x="4355" y="322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48" name="Line 485"/>
              <p:cNvSpPr/>
              <p:nvPr/>
            </p:nvSpPr>
            <p:spPr>
              <a:xfrm>
                <a:off x="4355" y="322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49" name="Line 486"/>
              <p:cNvSpPr/>
              <p:nvPr/>
            </p:nvSpPr>
            <p:spPr>
              <a:xfrm>
                <a:off x="4355" y="322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0" name="Rectangle 487"/>
              <p:cNvSpPr/>
              <p:nvPr/>
            </p:nvSpPr>
            <p:spPr>
              <a:xfrm>
                <a:off x="4360" y="3227"/>
                <a:ext cx="340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51" name="Line 488"/>
              <p:cNvSpPr/>
              <p:nvPr/>
            </p:nvSpPr>
            <p:spPr>
              <a:xfrm>
                <a:off x="4360" y="3227"/>
                <a:ext cx="340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2" name="Rectangle 489"/>
              <p:cNvSpPr/>
              <p:nvPr/>
            </p:nvSpPr>
            <p:spPr>
              <a:xfrm>
                <a:off x="4700" y="322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53" name="Line 490"/>
              <p:cNvSpPr/>
              <p:nvPr/>
            </p:nvSpPr>
            <p:spPr>
              <a:xfrm>
                <a:off x="4700" y="322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4" name="Line 491"/>
              <p:cNvSpPr/>
              <p:nvPr/>
            </p:nvSpPr>
            <p:spPr>
              <a:xfrm>
                <a:off x="4700" y="322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5" name="Rectangle 492"/>
              <p:cNvSpPr/>
              <p:nvPr/>
            </p:nvSpPr>
            <p:spPr>
              <a:xfrm>
                <a:off x="4705" y="3227"/>
                <a:ext cx="336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56" name="Line 493"/>
              <p:cNvSpPr/>
              <p:nvPr/>
            </p:nvSpPr>
            <p:spPr>
              <a:xfrm>
                <a:off x="4705" y="3227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7" name="Rectangle 494"/>
              <p:cNvSpPr/>
              <p:nvPr/>
            </p:nvSpPr>
            <p:spPr>
              <a:xfrm>
                <a:off x="5041" y="322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58" name="Line 495"/>
              <p:cNvSpPr/>
              <p:nvPr/>
            </p:nvSpPr>
            <p:spPr>
              <a:xfrm>
                <a:off x="5041" y="322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59" name="Line 496"/>
              <p:cNvSpPr/>
              <p:nvPr/>
            </p:nvSpPr>
            <p:spPr>
              <a:xfrm>
                <a:off x="5041" y="322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0" name="Rectangle 497"/>
              <p:cNvSpPr/>
              <p:nvPr/>
            </p:nvSpPr>
            <p:spPr>
              <a:xfrm>
                <a:off x="5046" y="3227"/>
                <a:ext cx="33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61" name="Line 498"/>
              <p:cNvSpPr/>
              <p:nvPr/>
            </p:nvSpPr>
            <p:spPr>
              <a:xfrm>
                <a:off x="5046" y="3227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2" name="Rectangle 499"/>
              <p:cNvSpPr/>
              <p:nvPr/>
            </p:nvSpPr>
            <p:spPr>
              <a:xfrm>
                <a:off x="5381" y="3227"/>
                <a:ext cx="5" cy="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63" name="Line 500"/>
              <p:cNvSpPr/>
              <p:nvPr/>
            </p:nvSpPr>
            <p:spPr>
              <a:xfrm>
                <a:off x="5381" y="3227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4" name="Line 501"/>
              <p:cNvSpPr/>
              <p:nvPr/>
            </p:nvSpPr>
            <p:spPr>
              <a:xfrm>
                <a:off x="5381" y="3227"/>
                <a:ext cx="0" cy="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5" name="Rectangle 502"/>
              <p:cNvSpPr/>
              <p:nvPr/>
            </p:nvSpPr>
            <p:spPr>
              <a:xfrm>
                <a:off x="3334" y="323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66" name="Line 503"/>
              <p:cNvSpPr/>
              <p:nvPr/>
            </p:nvSpPr>
            <p:spPr>
              <a:xfrm>
                <a:off x="3334" y="323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7" name="Rectangle 504"/>
              <p:cNvSpPr/>
              <p:nvPr/>
            </p:nvSpPr>
            <p:spPr>
              <a:xfrm>
                <a:off x="3334" y="349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68" name="Line 505"/>
              <p:cNvSpPr/>
              <p:nvPr/>
            </p:nvSpPr>
            <p:spPr>
              <a:xfrm>
                <a:off x="3334" y="349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69" name="Line 506"/>
              <p:cNvSpPr/>
              <p:nvPr/>
            </p:nvSpPr>
            <p:spPr>
              <a:xfrm>
                <a:off x="3334" y="349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70" name="Rectangle 507"/>
              <p:cNvSpPr/>
              <p:nvPr/>
            </p:nvSpPr>
            <p:spPr>
              <a:xfrm>
                <a:off x="3334" y="349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71" name="Line 508"/>
              <p:cNvSpPr/>
              <p:nvPr/>
            </p:nvSpPr>
            <p:spPr>
              <a:xfrm>
                <a:off x="3334" y="349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72" name="Line 509"/>
              <p:cNvSpPr/>
              <p:nvPr/>
            </p:nvSpPr>
            <p:spPr>
              <a:xfrm>
                <a:off x="3334" y="349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73" name="Rectangle 510"/>
              <p:cNvSpPr/>
              <p:nvPr/>
            </p:nvSpPr>
            <p:spPr>
              <a:xfrm>
                <a:off x="3339" y="3495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74" name="Line 511"/>
              <p:cNvSpPr/>
              <p:nvPr/>
            </p:nvSpPr>
            <p:spPr>
              <a:xfrm>
                <a:off x="3339" y="3495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75" name="Rectangle 512"/>
              <p:cNvSpPr/>
              <p:nvPr/>
            </p:nvSpPr>
            <p:spPr>
              <a:xfrm>
                <a:off x="3674" y="323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76" name="Line 513"/>
              <p:cNvSpPr/>
              <p:nvPr/>
            </p:nvSpPr>
            <p:spPr>
              <a:xfrm>
                <a:off x="3674" y="323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77" name="Rectangle 514"/>
              <p:cNvSpPr/>
              <p:nvPr/>
            </p:nvSpPr>
            <p:spPr>
              <a:xfrm>
                <a:off x="3674" y="349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78" name="Line 515"/>
              <p:cNvSpPr/>
              <p:nvPr/>
            </p:nvSpPr>
            <p:spPr>
              <a:xfrm>
                <a:off x="3674" y="349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79" name="Line 516"/>
              <p:cNvSpPr/>
              <p:nvPr/>
            </p:nvSpPr>
            <p:spPr>
              <a:xfrm>
                <a:off x="3674" y="349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80" name="Rectangle 517"/>
              <p:cNvSpPr/>
              <p:nvPr/>
            </p:nvSpPr>
            <p:spPr>
              <a:xfrm>
                <a:off x="3679" y="3495"/>
                <a:ext cx="336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81" name="Line 518"/>
              <p:cNvSpPr/>
              <p:nvPr/>
            </p:nvSpPr>
            <p:spPr>
              <a:xfrm>
                <a:off x="3679" y="3495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82" name="Rectangle 519"/>
              <p:cNvSpPr/>
              <p:nvPr/>
            </p:nvSpPr>
            <p:spPr>
              <a:xfrm>
                <a:off x="4015" y="323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83" name="Line 520"/>
              <p:cNvSpPr/>
              <p:nvPr/>
            </p:nvSpPr>
            <p:spPr>
              <a:xfrm>
                <a:off x="4015" y="323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84" name="Rectangle 521"/>
              <p:cNvSpPr/>
              <p:nvPr/>
            </p:nvSpPr>
            <p:spPr>
              <a:xfrm>
                <a:off x="4015" y="349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85" name="Line 522"/>
              <p:cNvSpPr/>
              <p:nvPr/>
            </p:nvSpPr>
            <p:spPr>
              <a:xfrm>
                <a:off x="4015" y="349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86" name="Line 523"/>
              <p:cNvSpPr/>
              <p:nvPr/>
            </p:nvSpPr>
            <p:spPr>
              <a:xfrm>
                <a:off x="4015" y="349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87" name="Rectangle 524"/>
              <p:cNvSpPr/>
              <p:nvPr/>
            </p:nvSpPr>
            <p:spPr>
              <a:xfrm>
                <a:off x="4020" y="3495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88" name="Line 525"/>
              <p:cNvSpPr/>
              <p:nvPr/>
            </p:nvSpPr>
            <p:spPr>
              <a:xfrm>
                <a:off x="4020" y="3495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89" name="Rectangle 526"/>
              <p:cNvSpPr/>
              <p:nvPr/>
            </p:nvSpPr>
            <p:spPr>
              <a:xfrm>
                <a:off x="4355" y="323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90" name="Line 527"/>
              <p:cNvSpPr/>
              <p:nvPr/>
            </p:nvSpPr>
            <p:spPr>
              <a:xfrm>
                <a:off x="4355" y="323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91" name="Rectangle 528"/>
              <p:cNvSpPr/>
              <p:nvPr/>
            </p:nvSpPr>
            <p:spPr>
              <a:xfrm>
                <a:off x="4355" y="349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92" name="Line 529"/>
              <p:cNvSpPr/>
              <p:nvPr/>
            </p:nvSpPr>
            <p:spPr>
              <a:xfrm>
                <a:off x="4355" y="349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93" name="Line 530"/>
              <p:cNvSpPr/>
              <p:nvPr/>
            </p:nvSpPr>
            <p:spPr>
              <a:xfrm>
                <a:off x="4355" y="349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94" name="Rectangle 531"/>
              <p:cNvSpPr/>
              <p:nvPr/>
            </p:nvSpPr>
            <p:spPr>
              <a:xfrm>
                <a:off x="4360" y="3495"/>
                <a:ext cx="340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95" name="Line 532"/>
              <p:cNvSpPr/>
              <p:nvPr/>
            </p:nvSpPr>
            <p:spPr>
              <a:xfrm>
                <a:off x="4360" y="3495"/>
                <a:ext cx="340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96" name="Rectangle 533"/>
              <p:cNvSpPr/>
              <p:nvPr/>
            </p:nvSpPr>
            <p:spPr>
              <a:xfrm>
                <a:off x="4700" y="323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97" name="Line 534"/>
              <p:cNvSpPr/>
              <p:nvPr/>
            </p:nvSpPr>
            <p:spPr>
              <a:xfrm>
                <a:off x="4700" y="323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2998" name="Rectangle 535"/>
              <p:cNvSpPr/>
              <p:nvPr/>
            </p:nvSpPr>
            <p:spPr>
              <a:xfrm>
                <a:off x="4700" y="349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2999" name="Line 536"/>
              <p:cNvSpPr/>
              <p:nvPr/>
            </p:nvSpPr>
            <p:spPr>
              <a:xfrm>
                <a:off x="4700" y="349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00" name="Line 537"/>
              <p:cNvSpPr/>
              <p:nvPr/>
            </p:nvSpPr>
            <p:spPr>
              <a:xfrm>
                <a:off x="4700" y="349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01" name="Rectangle 538"/>
              <p:cNvSpPr/>
              <p:nvPr/>
            </p:nvSpPr>
            <p:spPr>
              <a:xfrm>
                <a:off x="4705" y="3495"/>
                <a:ext cx="336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02" name="Line 539"/>
              <p:cNvSpPr/>
              <p:nvPr/>
            </p:nvSpPr>
            <p:spPr>
              <a:xfrm>
                <a:off x="4705" y="3495"/>
                <a:ext cx="336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03" name="Rectangle 540"/>
              <p:cNvSpPr/>
              <p:nvPr/>
            </p:nvSpPr>
            <p:spPr>
              <a:xfrm>
                <a:off x="5041" y="323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04" name="Line 541"/>
              <p:cNvSpPr/>
              <p:nvPr/>
            </p:nvSpPr>
            <p:spPr>
              <a:xfrm>
                <a:off x="5041" y="323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05" name="Rectangle 542"/>
              <p:cNvSpPr/>
              <p:nvPr/>
            </p:nvSpPr>
            <p:spPr>
              <a:xfrm>
                <a:off x="5041" y="349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06" name="Line 543"/>
              <p:cNvSpPr/>
              <p:nvPr/>
            </p:nvSpPr>
            <p:spPr>
              <a:xfrm>
                <a:off x="5041" y="349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07" name="Line 544"/>
              <p:cNvSpPr/>
              <p:nvPr/>
            </p:nvSpPr>
            <p:spPr>
              <a:xfrm>
                <a:off x="5041" y="349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08" name="Rectangle 545"/>
              <p:cNvSpPr/>
              <p:nvPr/>
            </p:nvSpPr>
            <p:spPr>
              <a:xfrm>
                <a:off x="5046" y="3495"/>
                <a:ext cx="33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09" name="Line 546"/>
              <p:cNvSpPr/>
              <p:nvPr/>
            </p:nvSpPr>
            <p:spPr>
              <a:xfrm>
                <a:off x="5046" y="3495"/>
                <a:ext cx="33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10" name="Rectangle 547"/>
              <p:cNvSpPr/>
              <p:nvPr/>
            </p:nvSpPr>
            <p:spPr>
              <a:xfrm>
                <a:off x="5381" y="3231"/>
                <a:ext cx="5" cy="264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11" name="Line 548"/>
              <p:cNvSpPr/>
              <p:nvPr/>
            </p:nvSpPr>
            <p:spPr>
              <a:xfrm>
                <a:off x="5381" y="3231"/>
                <a:ext cx="0" cy="264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12" name="Rectangle 549"/>
              <p:cNvSpPr/>
              <p:nvPr/>
            </p:nvSpPr>
            <p:spPr>
              <a:xfrm>
                <a:off x="5381" y="349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13" name="Line 550"/>
              <p:cNvSpPr/>
              <p:nvPr/>
            </p:nvSpPr>
            <p:spPr>
              <a:xfrm>
                <a:off x="5381" y="349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14" name="Line 551"/>
              <p:cNvSpPr/>
              <p:nvPr/>
            </p:nvSpPr>
            <p:spPr>
              <a:xfrm>
                <a:off x="5381" y="349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15" name="Rectangle 552"/>
              <p:cNvSpPr/>
              <p:nvPr/>
            </p:nvSpPr>
            <p:spPr>
              <a:xfrm>
                <a:off x="5381" y="3495"/>
                <a:ext cx="5" cy="5"/>
              </a:xfrm>
              <a:prstGeom prst="rect">
                <a:avLst/>
              </a:prstGeom>
              <a:solidFill>
                <a:srgbClr val="000000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endParaRPr lang="zh-CN" altLang="en-US" sz="1621" b="1" dirty="0"/>
              </a:p>
            </p:txBody>
          </p:sp>
          <p:sp>
            <p:nvSpPr>
              <p:cNvPr id="33016" name="Line 553"/>
              <p:cNvSpPr/>
              <p:nvPr/>
            </p:nvSpPr>
            <p:spPr>
              <a:xfrm>
                <a:off x="5381" y="3495"/>
                <a:ext cx="5" cy="0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17" name="Line 554"/>
              <p:cNvSpPr/>
              <p:nvPr/>
            </p:nvSpPr>
            <p:spPr>
              <a:xfrm>
                <a:off x="5381" y="3495"/>
                <a:ext cx="0" cy="5"/>
              </a:xfrm>
              <a:prstGeom prst="line">
                <a:avLst/>
              </a:prstGeom>
              <a:ln w="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3018" name="Rectangle 555"/>
              <p:cNvSpPr/>
              <p:nvPr/>
            </p:nvSpPr>
            <p:spPr>
              <a:xfrm>
                <a:off x="3372" y="3514"/>
                <a:ext cx="16" cy="7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 b="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 b="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 b="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indent="0" eaLnBrk="1" hangingPunct="1">
                  <a:spcBef>
                    <a:spcPct val="0"/>
                  </a:spcBef>
                  <a:buClr>
                    <a:srgbClr val="000000"/>
                  </a:buClr>
                  <a:buNone/>
                </a:pPr>
                <a:r>
                  <a:rPr lang="en-US" altLang="zh-CN" sz="720" dirty="0">
                    <a:solidFill>
                      <a:srgbClr val="000000"/>
                    </a:solidFill>
                    <a:latin typeface="Times New Roman" panose="02020603050405020304" pitchFamily="18" charset="0"/>
                  </a:rPr>
                  <a:t> </a:t>
                </a:r>
                <a:endParaRPr lang="en-US" altLang="zh-CN" sz="1621" b="1" dirty="0"/>
              </a:p>
            </p:txBody>
          </p:sp>
        </p:grpSp>
      </p:grpSp>
      <p:graphicFrame>
        <p:nvGraphicFramePr>
          <p:cNvPr id="100504" name="Group 152"/>
          <p:cNvGraphicFramePr>
            <a:graphicFrameLocks noGrp="1"/>
          </p:cNvGraphicFramePr>
          <p:nvPr/>
        </p:nvGraphicFramePr>
        <p:xfrm>
          <a:off x="5258299" y="1712457"/>
          <a:ext cx="2916979" cy="388740"/>
        </p:xfrm>
        <a:graphic>
          <a:graphicData uri="http://schemas.openxmlformats.org/drawingml/2006/table">
            <a:tbl>
              <a:tblPr/>
              <a:tblGrid>
                <a:gridCol w="453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7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7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0503" name="Group 151"/>
          <p:cNvGraphicFramePr>
            <a:graphicFrameLocks noGrp="1"/>
          </p:cNvGraphicFramePr>
          <p:nvPr/>
        </p:nvGraphicFramePr>
        <p:xfrm>
          <a:off x="4540273" y="2266125"/>
          <a:ext cx="474491" cy="2235540"/>
        </p:xfrm>
        <a:graphic>
          <a:graphicData uri="http://schemas.openxmlformats.org/drawingml/2006/table">
            <a:tbl>
              <a:tblPr/>
              <a:tblGrid>
                <a:gridCol w="474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7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7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30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30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7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Group 27"/>
          <p:cNvGrpSpPr/>
          <p:nvPr/>
        </p:nvGrpSpPr>
        <p:grpSpPr>
          <a:xfrm>
            <a:off x="908126" y="2558252"/>
            <a:ext cx="2841232" cy="2096624"/>
            <a:chOff x="3026" y="240"/>
            <a:chExt cx="2397" cy="1920"/>
          </a:xfrm>
        </p:grpSpPr>
        <p:sp>
          <p:nvSpPr>
            <p:cNvPr id="33219" name="Oval 28"/>
            <p:cNvSpPr/>
            <p:nvPr/>
          </p:nvSpPr>
          <p:spPr>
            <a:xfrm>
              <a:off x="3650" y="273"/>
              <a:ext cx="287" cy="351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521" dirty="0">
                <a:latin typeface="Times New Roman" panose="02020603050405020304" pitchFamily="18" charset="0"/>
              </a:endParaRPr>
            </a:p>
          </p:txBody>
        </p:sp>
        <p:sp>
          <p:nvSpPr>
            <p:cNvPr id="33220" name="Oval 29"/>
            <p:cNvSpPr/>
            <p:nvPr/>
          </p:nvSpPr>
          <p:spPr>
            <a:xfrm>
              <a:off x="3026" y="1056"/>
              <a:ext cx="287" cy="336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521" dirty="0">
                <a:latin typeface="Times New Roman" panose="02020603050405020304" pitchFamily="18" charset="0"/>
              </a:endParaRPr>
            </a:p>
          </p:txBody>
        </p:sp>
        <p:sp>
          <p:nvSpPr>
            <p:cNvPr id="33221" name="Line 30"/>
            <p:cNvSpPr/>
            <p:nvPr/>
          </p:nvSpPr>
          <p:spPr>
            <a:xfrm flipH="1">
              <a:off x="3169" y="480"/>
              <a:ext cx="480" cy="576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2" name="Line 31"/>
            <p:cNvSpPr/>
            <p:nvPr/>
          </p:nvSpPr>
          <p:spPr>
            <a:xfrm>
              <a:off x="3938" y="432"/>
              <a:ext cx="863" cy="1392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3" name="Line 32"/>
            <p:cNvSpPr/>
            <p:nvPr/>
          </p:nvSpPr>
          <p:spPr>
            <a:xfrm>
              <a:off x="3314" y="1248"/>
              <a:ext cx="1487" cy="576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4" name="Line 33"/>
            <p:cNvSpPr/>
            <p:nvPr/>
          </p:nvSpPr>
          <p:spPr>
            <a:xfrm flipH="1">
              <a:off x="3882" y="480"/>
              <a:ext cx="775" cy="1392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5" name="Line 34"/>
            <p:cNvSpPr/>
            <p:nvPr/>
          </p:nvSpPr>
          <p:spPr>
            <a:xfrm>
              <a:off x="4945" y="432"/>
              <a:ext cx="384" cy="624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6" name="Line 35"/>
            <p:cNvSpPr/>
            <p:nvPr/>
          </p:nvSpPr>
          <p:spPr>
            <a:xfrm flipH="1">
              <a:off x="3930" y="1248"/>
              <a:ext cx="1255" cy="624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7" name="Line 36"/>
            <p:cNvSpPr/>
            <p:nvPr/>
          </p:nvSpPr>
          <p:spPr>
            <a:xfrm flipH="1">
              <a:off x="3793" y="609"/>
              <a:ext cx="1" cy="1215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8" name="Oval 37"/>
            <p:cNvSpPr/>
            <p:nvPr/>
          </p:nvSpPr>
          <p:spPr>
            <a:xfrm>
              <a:off x="4656" y="240"/>
              <a:ext cx="287" cy="336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521" dirty="0">
                <a:latin typeface="Times New Roman" panose="02020603050405020304" pitchFamily="18" charset="0"/>
              </a:endParaRPr>
            </a:p>
          </p:txBody>
        </p:sp>
        <p:sp>
          <p:nvSpPr>
            <p:cNvPr id="33229" name="Oval 38"/>
            <p:cNvSpPr/>
            <p:nvPr/>
          </p:nvSpPr>
          <p:spPr>
            <a:xfrm>
              <a:off x="5136" y="1008"/>
              <a:ext cx="287" cy="336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230" name="Oval 39"/>
            <p:cNvSpPr/>
            <p:nvPr/>
          </p:nvSpPr>
          <p:spPr>
            <a:xfrm>
              <a:off x="3648" y="1824"/>
              <a:ext cx="287" cy="336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2521" dirty="0">
                <a:latin typeface="Times New Roman" panose="02020603050405020304" pitchFamily="18" charset="0"/>
              </a:endParaRPr>
            </a:p>
          </p:txBody>
        </p:sp>
        <p:sp>
          <p:nvSpPr>
            <p:cNvPr id="33231" name="Oval 40"/>
            <p:cNvSpPr/>
            <p:nvPr/>
          </p:nvSpPr>
          <p:spPr>
            <a:xfrm>
              <a:off x="4704" y="1776"/>
              <a:ext cx="287" cy="336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52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邻接矩阵存储结构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44229" y="824929"/>
            <a:ext cx="337346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1" b="1" dirty="0">
                <a:latin typeface="华文楷体" panose="02010600040101010101" charset="-122"/>
                <a:ea typeface="华文楷体" panose="02010600040101010101" charset="-122"/>
              </a:rPr>
              <a:t>图的基本属性：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38425" y="1565250"/>
            <a:ext cx="7171109" cy="183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/>
              <a:t>private int vexNum,arcNum;</a:t>
            </a:r>
            <a:r>
              <a:rPr lang="en-US" altLang="zh-CN" sz="1621"/>
              <a:t>//</a:t>
            </a:r>
            <a:r>
              <a:rPr lang="zh-CN" altLang="en-US" sz="1621"/>
              <a:t>方法分别表示图的顶点数和边数</a:t>
            </a:r>
          </a:p>
          <a:p>
            <a:endParaRPr lang="zh-CN" altLang="en-US" sz="1621"/>
          </a:p>
          <a:p>
            <a:r>
              <a:rPr lang="zh-CN" altLang="en-US" sz="1621"/>
              <a:t>public Object[] vexs;</a:t>
            </a:r>
            <a:r>
              <a:rPr lang="en-US" altLang="zh-CN" sz="1621"/>
              <a:t>//</a:t>
            </a:r>
            <a:r>
              <a:rPr lang="zh-CN" altLang="en-US" sz="1621"/>
              <a:t>图的顶点</a:t>
            </a:r>
          </a:p>
          <a:p>
            <a:endParaRPr lang="zh-CN" altLang="en-US" sz="1621"/>
          </a:p>
          <a:p>
            <a:r>
              <a:rPr lang="zh-CN" altLang="en-US" sz="1621"/>
              <a:t>private int[][] arcs;</a:t>
            </a:r>
            <a:r>
              <a:rPr lang="en-US" altLang="zh-CN" sz="1621"/>
              <a:t>//</a:t>
            </a:r>
            <a:r>
              <a:rPr lang="zh-CN" altLang="en-US" sz="1621"/>
              <a:t>图的边关系，邻接矩阵</a:t>
            </a:r>
          </a:p>
          <a:p>
            <a:endParaRPr lang="zh-CN" altLang="en-US" sz="1621"/>
          </a:p>
          <a:p>
            <a:r>
              <a:rPr lang="zh-CN" altLang="en-US" sz="1621"/>
              <a:t>public GraphKind kind = null;</a:t>
            </a:r>
            <a:r>
              <a:rPr lang="en-US" altLang="zh-CN" sz="1621"/>
              <a:t>//</a:t>
            </a:r>
            <a:r>
              <a:rPr lang="zh-CN" altLang="en-US" sz="1621"/>
              <a:t>图的类型：有向图，无向图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邻接矩阵存储结构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22505" y="824929"/>
            <a:ext cx="337346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1" b="1">
                <a:latin typeface="华文楷体" panose="02010600040101010101" charset="-122"/>
                <a:ea typeface="华文楷体" panose="02010600040101010101" charset="-122"/>
              </a:rPr>
              <a:t>增加边的操作：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35524" y="1379455"/>
            <a:ext cx="3453497" cy="383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有向图（为例）：</a:t>
            </a:r>
          </a:p>
          <a:p>
            <a:endParaRPr lang="zh-CN" altLang="en-US" sz="1621" dirty="0"/>
          </a:p>
          <a:p>
            <a:r>
              <a:rPr lang="zh-CN" altLang="en-US" sz="1621" dirty="0"/>
              <a:t>思想：</a:t>
            </a:r>
          </a:p>
          <a:p>
            <a:r>
              <a:rPr lang="en-US" altLang="zh-CN" sz="1621" dirty="0"/>
              <a:t>1)</a:t>
            </a:r>
            <a:r>
              <a:rPr lang="zh-CN" altLang="en-US" sz="1621" dirty="0"/>
              <a:t>邻接矩阵中的值设为</a:t>
            </a:r>
            <a:r>
              <a:rPr lang="en-US" altLang="zh-CN" sz="1621" dirty="0"/>
              <a:t>1</a:t>
            </a:r>
            <a:r>
              <a:rPr lang="zh-CN" altLang="en-US" sz="1621" dirty="0"/>
              <a:t>，使边关系位置移动</a:t>
            </a:r>
          </a:p>
          <a:p>
            <a:r>
              <a:rPr lang="en-US" altLang="zh-CN" sz="1621" dirty="0"/>
              <a:t>2</a:t>
            </a:r>
            <a:r>
              <a:rPr lang="zh-CN" altLang="en-US" sz="1621" dirty="0"/>
              <a:t>）顶点数组移动位置，边数增</a:t>
            </a:r>
            <a:r>
              <a:rPr lang="en-US" altLang="zh-CN" sz="1621" dirty="0"/>
              <a:t>1</a:t>
            </a:r>
          </a:p>
          <a:p>
            <a:endParaRPr lang="en-US" altLang="zh-CN" sz="1621" dirty="0"/>
          </a:p>
          <a:p>
            <a:r>
              <a:rPr lang="zh-CN" altLang="en-US" sz="1621" dirty="0"/>
              <a:t>核心代码：</a:t>
            </a:r>
          </a:p>
          <a:p>
            <a:r>
              <a:rPr lang="zh-CN" altLang="en-US" sz="1621" dirty="0"/>
              <a:t>arcs[m][n]=1;</a:t>
            </a:r>
          </a:p>
          <a:p>
            <a:r>
              <a:rPr lang="zh-CN" altLang="en-US" sz="1621" dirty="0"/>
              <a:t>arcNum++;</a:t>
            </a:r>
          </a:p>
          <a:p>
            <a:endParaRPr lang="zh-CN" altLang="en-US" sz="1621" dirty="0"/>
          </a:p>
          <a:p>
            <a:r>
              <a:rPr lang="zh-CN" altLang="en-US" sz="1621" dirty="0"/>
              <a:t>异常：</a:t>
            </a:r>
          </a:p>
          <a:p>
            <a:r>
              <a:rPr lang="en-US" altLang="zh-CN" sz="1621" dirty="0"/>
              <a:t>1</a:t>
            </a:r>
            <a:r>
              <a:rPr lang="zh-CN" altLang="en-US" sz="1621" dirty="0"/>
              <a:t>）输入不存在的顶点元素</a:t>
            </a:r>
          </a:p>
          <a:p>
            <a:r>
              <a:rPr lang="en-US" altLang="zh-CN" sz="1621" dirty="0"/>
              <a:t>2</a:t>
            </a:r>
            <a:r>
              <a:rPr lang="zh-CN" altLang="en-US" sz="1621" dirty="0"/>
              <a:t>）增加的边已存在</a:t>
            </a:r>
          </a:p>
          <a:p>
            <a:endParaRPr lang="zh-CN" altLang="en-US" sz="1621" dirty="0"/>
          </a:p>
        </p:txBody>
      </p:sp>
      <p:sp>
        <p:nvSpPr>
          <p:cNvPr id="9" name="文本框 8"/>
          <p:cNvSpPr txBox="1"/>
          <p:nvPr/>
        </p:nvSpPr>
        <p:spPr>
          <a:xfrm>
            <a:off x="5084794" y="1290846"/>
            <a:ext cx="3017880" cy="383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无向图（为例）：</a:t>
            </a:r>
          </a:p>
          <a:p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思想：</a:t>
            </a:r>
            <a:endParaRPr lang="zh-CN" altLang="en-US" sz="1621" dirty="0"/>
          </a:p>
          <a:p>
            <a:r>
              <a:rPr lang="en-US" altLang="zh-CN" sz="1621" dirty="0">
                <a:sym typeface="+mn-ea"/>
              </a:rPr>
              <a:t>1)</a:t>
            </a:r>
            <a:r>
              <a:rPr lang="zh-CN" altLang="en-US" sz="1621" dirty="0">
                <a:sym typeface="+mn-ea"/>
              </a:rPr>
              <a:t>邻接矩阵中的值改为</a:t>
            </a:r>
            <a:r>
              <a:rPr lang="en-US" altLang="zh-CN" sz="1621" dirty="0">
                <a:sym typeface="+mn-ea"/>
              </a:rPr>
              <a:t>0</a:t>
            </a:r>
            <a:r>
              <a:rPr lang="zh-CN" altLang="en-US" sz="1621" dirty="0">
                <a:sym typeface="+mn-ea"/>
              </a:rPr>
              <a:t>，让二维数组前移</a:t>
            </a:r>
          </a:p>
          <a:p>
            <a:r>
              <a:rPr lang="en-US" altLang="zh-CN" sz="1621" dirty="0">
                <a:sym typeface="+mn-ea"/>
              </a:rPr>
              <a:t>2</a:t>
            </a:r>
            <a:r>
              <a:rPr lang="zh-CN" altLang="en-US" sz="1621" dirty="0">
                <a:sym typeface="+mn-ea"/>
              </a:rPr>
              <a:t>）顶点数组前移，边数减</a:t>
            </a:r>
            <a:r>
              <a:rPr lang="en-US" altLang="zh-CN" sz="1621" dirty="0">
                <a:sym typeface="+mn-ea"/>
              </a:rPr>
              <a:t>1</a:t>
            </a:r>
          </a:p>
          <a:p>
            <a:endParaRPr lang="en-US" altLang="zh-CN" sz="1621" dirty="0">
              <a:sym typeface="+mn-ea"/>
            </a:endParaRPr>
          </a:p>
          <a:p>
            <a:r>
              <a:rPr lang="zh-CN" altLang="en-US" sz="1621" dirty="0">
                <a:sym typeface="+mn-ea"/>
              </a:rPr>
              <a:t>核心代码：</a:t>
            </a:r>
          </a:p>
          <a:p>
            <a:r>
              <a:rPr lang="en-US" altLang="zh-CN" sz="1621" dirty="0">
                <a:sym typeface="+mn-ea"/>
              </a:rPr>
              <a:t>arcs[</a:t>
            </a:r>
            <a:r>
              <a:rPr lang="en-US" altLang="zh-CN" sz="1621" dirty="0" err="1">
                <a:sym typeface="+mn-ea"/>
              </a:rPr>
              <a:t>locateVex</a:t>
            </a:r>
            <a:r>
              <a:rPr lang="en-US" altLang="zh-CN" sz="1621" dirty="0">
                <a:sym typeface="+mn-ea"/>
              </a:rPr>
              <a:t>(w)][</a:t>
            </a:r>
            <a:r>
              <a:rPr lang="en-US" altLang="zh-CN" sz="1621" dirty="0" err="1">
                <a:sym typeface="+mn-ea"/>
              </a:rPr>
              <a:t>locateVex</a:t>
            </a:r>
            <a:r>
              <a:rPr lang="en-US" altLang="zh-CN" sz="1621" dirty="0">
                <a:sym typeface="+mn-ea"/>
              </a:rPr>
              <a:t>(v)]=0;</a:t>
            </a:r>
          </a:p>
          <a:p>
            <a:endParaRPr lang="zh-CN" altLang="en-US" sz="1621" dirty="0">
              <a:sym typeface="+mn-ea"/>
            </a:endParaRPr>
          </a:p>
          <a:p>
            <a:r>
              <a:rPr lang="zh-CN" altLang="en-US" sz="1621" dirty="0">
                <a:sym typeface="+mn-ea"/>
              </a:rPr>
              <a:t>异常：</a:t>
            </a:r>
            <a:endParaRPr lang="zh-CN" altLang="en-US" sz="1621" dirty="0"/>
          </a:p>
          <a:p>
            <a:r>
              <a:rPr lang="en-US" altLang="zh-CN" sz="1621" dirty="0">
                <a:sym typeface="+mn-ea"/>
              </a:rPr>
              <a:t>1</a:t>
            </a:r>
            <a:r>
              <a:rPr lang="zh-CN" altLang="en-US" sz="1621" dirty="0">
                <a:sym typeface="+mn-ea"/>
              </a:rPr>
              <a:t>）输入不存在的顶点元素</a:t>
            </a:r>
            <a:endParaRPr lang="zh-CN" altLang="en-US" sz="1621" dirty="0"/>
          </a:p>
          <a:p>
            <a:r>
              <a:rPr lang="en-US" altLang="zh-CN" sz="1621" dirty="0">
                <a:sym typeface="+mn-ea"/>
              </a:rPr>
              <a:t>2</a:t>
            </a:r>
            <a:r>
              <a:rPr lang="zh-CN" altLang="en-US" sz="1621" dirty="0">
                <a:sym typeface="+mn-ea"/>
              </a:rPr>
              <a:t>）要删除的边不存在</a:t>
            </a:r>
          </a:p>
          <a:p>
            <a:endParaRPr lang="en-US" altLang="zh-CN" sz="1621" dirty="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907003" y="824929"/>
            <a:ext cx="3373462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1" b="1">
                <a:latin typeface="华文楷体" panose="02010600040101010101" charset="-122"/>
                <a:ea typeface="华文楷体" panose="02010600040101010101" charset="-122"/>
              </a:rPr>
              <a:t>删除边的操作：</a:t>
            </a:r>
          </a:p>
        </p:txBody>
      </p: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9" grpId="0"/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增加边的操作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309302" y="641420"/>
            <a:ext cx="7832994" cy="458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public void addArc() throws Exception{</a:t>
            </a:r>
          </a:p>
          <a:p>
            <a:r>
              <a:rPr lang="zh-CN" altLang="en-US" sz="1621" dirty="0"/>
              <a:t> Scanner sc=new Scanner(System.in);</a:t>
            </a:r>
          </a:p>
          <a:p>
            <a:r>
              <a:rPr lang="zh-CN" altLang="en-US" sz="1621" dirty="0"/>
              <a:t>  System.out.println("请输入所加边的两个顶点");</a:t>
            </a:r>
          </a:p>
          <a:p>
            <a:r>
              <a:rPr lang="zh-CN" altLang="en-US" sz="1621" dirty="0"/>
              <a:t>  int i=locateVex(sc.next()); </a:t>
            </a:r>
          </a:p>
          <a:p>
            <a:r>
              <a:rPr lang="zh-CN" altLang="en-US" sz="1621" dirty="0"/>
              <a:t> int j=locateVex(sc.next());  	</a:t>
            </a:r>
          </a:p>
          <a:p>
            <a:r>
              <a:rPr lang="zh-CN" altLang="en-US" sz="1621" dirty="0"/>
              <a:t>if(i==-1||j==-1)</a:t>
            </a:r>
          </a:p>
          <a:p>
            <a:r>
              <a:rPr lang="zh-CN" altLang="en-US" sz="1621" dirty="0"/>
              <a:t>  throw new Exception("请输入图中存在的顶点");</a:t>
            </a:r>
          </a:p>
          <a:p>
            <a:r>
              <a:rPr lang="zh-CN" altLang="en-US" sz="1621" dirty="0"/>
              <a:t>  if(arcs[i][j]&gt;0)</a:t>
            </a:r>
          </a:p>
          <a:p>
            <a:r>
              <a:rPr lang="zh-CN" altLang="en-US" sz="1621" dirty="0"/>
              <a:t>  throw new Exception("已存在该边关系");</a:t>
            </a:r>
          </a:p>
          <a:p>
            <a:r>
              <a:rPr lang="zh-CN" altLang="en-US" sz="1621" dirty="0">
                <a:sym typeface="+mn-ea"/>
              </a:rPr>
              <a:t>switch(kind){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  case DG:</a:t>
            </a:r>
          </a:p>
          <a:p>
            <a:r>
              <a:rPr lang="en-US" altLang="zh-CN" sz="1621" dirty="0">
                <a:sym typeface="+mn-ea"/>
              </a:rPr>
              <a:t>	</a:t>
            </a:r>
            <a:r>
              <a:rPr lang="zh-CN" altLang="en-US" sz="1621" dirty="0">
                <a:sym typeface="+mn-ea"/>
              </a:rPr>
              <a:t>if(arcs[i][j]==0){arcs[i][j]=1;arcNum++;}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  	return;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 case UDG:</a:t>
            </a:r>
          </a:p>
          <a:p>
            <a:r>
              <a:rPr lang="zh-CN" altLang="en-US" sz="1621" dirty="0">
                <a:sym typeface="+mn-ea"/>
              </a:rPr>
              <a:t>  </a:t>
            </a:r>
            <a:r>
              <a:rPr lang="en-US" altLang="zh-CN" sz="1621" dirty="0">
                <a:sym typeface="+mn-ea"/>
              </a:rPr>
              <a:t>	</a:t>
            </a:r>
            <a:r>
              <a:rPr lang="zh-CN" altLang="en-US" sz="1621" dirty="0">
                <a:sym typeface="+mn-ea"/>
              </a:rPr>
              <a:t>if(arcs[i][j]==0){arcs[i][j]=arcs[j][i]=1;arcNum++;}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  	return;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  default: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  	break;}}</a:t>
            </a:r>
            <a:endParaRPr lang="zh-CN" altLang="en-US" sz="162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5F01B7-34E6-4A8E-A168-00467D583047}"/>
              </a:ext>
            </a:extLst>
          </p:cNvPr>
          <p:cNvSpPr/>
          <p:nvPr/>
        </p:nvSpPr>
        <p:spPr>
          <a:xfrm>
            <a:off x="95516" y="557558"/>
            <a:ext cx="1345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</a:t>
            </a:r>
          </a:p>
        </p:txBody>
      </p: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删除边的操作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546117" y="627129"/>
            <a:ext cx="6149523" cy="4332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public void deleteArc() throws Exception{</a:t>
            </a:r>
          </a:p>
          <a:p>
            <a:r>
              <a:rPr lang="zh-CN" altLang="en-US" sz="1621" dirty="0"/>
              <a:t>  int i=locateVex(sc.next());  		</a:t>
            </a:r>
          </a:p>
          <a:p>
            <a:r>
              <a:rPr lang="zh-CN" altLang="en-US" sz="1621" dirty="0"/>
              <a:t>int j=locateVex(sc.next());  	</a:t>
            </a:r>
          </a:p>
          <a:p>
            <a:r>
              <a:rPr lang="zh-CN" altLang="en-US" sz="1621" dirty="0"/>
              <a:t>if(i==-1||j==-1)</a:t>
            </a:r>
          </a:p>
          <a:p>
            <a:r>
              <a:rPr lang="zh-CN" altLang="en-US" sz="1621" dirty="0"/>
              <a:t>  	throw new Exception("请输入图中存在的顶点");</a:t>
            </a:r>
          </a:p>
          <a:p>
            <a:r>
              <a:rPr lang="zh-CN" altLang="en-US" sz="1621" dirty="0"/>
              <a:t>if(arcs[i][j]==0)</a:t>
            </a:r>
          </a:p>
          <a:p>
            <a:r>
              <a:rPr lang="zh-CN" altLang="en-US" sz="1621" dirty="0"/>
              <a:t>  	throw new Exception("不存在该边，请重新操作");</a:t>
            </a:r>
          </a:p>
          <a:p>
            <a:r>
              <a:rPr lang="zh-CN" altLang="en-US" sz="1621" dirty="0"/>
              <a:t>switch(kind){</a:t>
            </a:r>
          </a:p>
          <a:p>
            <a:r>
              <a:rPr lang="zh-CN" altLang="en-US" sz="1621" dirty="0"/>
              <a:t>  case DG:</a:t>
            </a:r>
          </a:p>
          <a:p>
            <a:r>
              <a:rPr lang="zh-CN" altLang="en-US" sz="1621" dirty="0"/>
              <a:t>  	if(arcs[i][j]==1){arcs[i][j]=0;arcNum--;}</a:t>
            </a:r>
          </a:p>
          <a:p>
            <a:r>
              <a:rPr lang="zh-CN" altLang="en-US" sz="1621" dirty="0"/>
              <a:t>  return;</a:t>
            </a:r>
          </a:p>
          <a:p>
            <a:r>
              <a:rPr lang="zh-CN" altLang="en-US" sz="1621" dirty="0"/>
              <a:t>  case UDG:</a:t>
            </a:r>
          </a:p>
          <a:p>
            <a:r>
              <a:rPr lang="zh-CN" altLang="en-US" sz="1621" dirty="0"/>
              <a:t>  </a:t>
            </a:r>
            <a:r>
              <a:rPr lang="en-US" altLang="zh-CN" sz="1621" dirty="0"/>
              <a:t>	</a:t>
            </a:r>
            <a:r>
              <a:rPr lang="zh-CN" altLang="en-US" sz="1621" dirty="0"/>
              <a:t>if(arcs[i][j]==1){arcs[i][j]=arcs[j][i]=0;arcNum--;}</a:t>
            </a:r>
          </a:p>
          <a:p>
            <a:r>
              <a:rPr lang="zh-CN" altLang="en-US" sz="1621" dirty="0"/>
              <a:t>  return;</a:t>
            </a:r>
          </a:p>
          <a:p>
            <a:r>
              <a:rPr lang="zh-CN" altLang="en-US" sz="1621" dirty="0"/>
              <a:t>  default:</a:t>
            </a:r>
          </a:p>
          <a:p>
            <a:r>
              <a:rPr lang="zh-CN" altLang="en-US" sz="1621" dirty="0"/>
              <a:t>  break;}	</a:t>
            </a:r>
          </a:p>
          <a:p>
            <a:r>
              <a:rPr lang="zh-CN" altLang="en-US" sz="1621" dirty="0"/>
              <a:t>  	}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1C993A-215F-459D-8056-750BFDECF70E}"/>
              </a:ext>
            </a:extLst>
          </p:cNvPr>
          <p:cNvSpPr/>
          <p:nvPr/>
        </p:nvSpPr>
        <p:spPr>
          <a:xfrm>
            <a:off x="143508" y="564703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增加顶点的操作：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62877" y="627129"/>
            <a:ext cx="7915431" cy="435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60" dirty="0"/>
              <a:t>public void addVex(){</a:t>
            </a:r>
          </a:p>
          <a:p>
            <a:r>
              <a:rPr lang="zh-CN" altLang="en-US" sz="1260" dirty="0"/>
              <a:t>  Object vexs2[]=new Object[vexNum+1];//数组的扩容 新建一个数组比原数组大一个</a:t>
            </a:r>
          </a:p>
          <a:p>
            <a:r>
              <a:rPr lang="zh-CN" altLang="en-US" sz="1260" dirty="0"/>
              <a:t>  vexs2[vexNum]=sc.next();</a:t>
            </a:r>
          </a:p>
          <a:p>
            <a:r>
              <a:rPr lang="zh-CN" altLang="en-US" sz="1260" dirty="0"/>
              <a:t>//复制数组arraycopy(源数组,源数组要复制的起始位置,目的数组,目的数组放置的起始位置,复制的长度)</a:t>
            </a:r>
          </a:p>
          <a:p>
            <a:r>
              <a:rPr lang="zh-CN" altLang="en-US" sz="1260" dirty="0"/>
              <a:t>  System.arraycopy(vexs, 0, vexs2, 0, vexNum);</a:t>
            </a:r>
          </a:p>
          <a:p>
            <a:r>
              <a:rPr lang="zh-CN" altLang="en-US" sz="1260" dirty="0"/>
              <a:t>  vexs=new Object[vexNum+1]; //复制数组arraycopy(源数组,源数组要复制的起始位置,目的数组,目的数组放置的起始位置,复制的长度)</a:t>
            </a:r>
          </a:p>
          <a:p>
            <a:r>
              <a:rPr lang="zh-CN" altLang="en-US" sz="1260" dirty="0"/>
              <a:t>System.arraycopy(vexs2, 0, vexs, 0, vexNum+1);//arcs2起到中间变量的作用</a:t>
            </a:r>
          </a:p>
          <a:p>
            <a:r>
              <a:rPr lang="zh-CN" altLang="en-US" sz="1260" dirty="0"/>
              <a:t>  int arcs2[][]=new int[vexNum+1][vexNum+1];</a:t>
            </a:r>
          </a:p>
          <a:p>
            <a:r>
              <a:rPr lang="zh-CN" altLang="en-US" sz="1260" dirty="0"/>
              <a:t>  </a:t>
            </a:r>
            <a:r>
              <a:rPr lang="en-US" altLang="zh-CN" sz="1260" dirty="0"/>
              <a:t>	</a:t>
            </a:r>
            <a:r>
              <a:rPr lang="zh-CN" altLang="en-US" sz="1260" dirty="0"/>
              <a:t>for(int i=0;i&lt;vexNum;i++){</a:t>
            </a:r>
          </a:p>
          <a:p>
            <a:r>
              <a:rPr lang="zh-CN" altLang="en-US" sz="1260" dirty="0"/>
              <a:t>  	for(int j=0;j&lt;vexNum;j++){</a:t>
            </a:r>
            <a:endParaRPr lang="zh-CN" altLang="en-US" sz="1260" dirty="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0"/>
              </a:gradFill>
            </a:endParaRPr>
          </a:p>
          <a:p>
            <a:r>
              <a:rPr lang="zh-CN" altLang="en-US" sz="1260" dirty="0"/>
              <a:t>  	arcs2[i][j]=arcs[i][j];//把数组arcs复制到arcs2里面来</a:t>
            </a:r>
          </a:p>
          <a:p>
            <a:r>
              <a:rPr lang="zh-CN" altLang="en-US" sz="1260" dirty="0"/>
              <a:t>  </a:t>
            </a:r>
            <a:r>
              <a:rPr lang="en-US" altLang="zh-CN" sz="1260" dirty="0"/>
              <a:t>	</a:t>
            </a:r>
            <a:r>
              <a:rPr lang="zh-CN" altLang="en-US" sz="1260" dirty="0"/>
              <a:t>}</a:t>
            </a:r>
          </a:p>
          <a:p>
            <a:r>
              <a:rPr lang="zh-CN" altLang="en-US" sz="1260" dirty="0"/>
              <a:t>  }</a:t>
            </a:r>
          </a:p>
          <a:p>
            <a:r>
              <a:rPr lang="zh-CN" altLang="en-US" sz="1260" dirty="0"/>
              <a:t>  vexNum++;</a:t>
            </a:r>
          </a:p>
          <a:p>
            <a:r>
              <a:rPr lang="zh-CN" altLang="en-US" sz="1260" dirty="0"/>
              <a:t>  </a:t>
            </a:r>
            <a:r>
              <a:rPr lang="en-US" altLang="zh-CN" sz="1260" dirty="0"/>
              <a:t>f</a:t>
            </a:r>
            <a:r>
              <a:rPr lang="zh-CN" altLang="en-US" sz="1260" dirty="0"/>
              <a:t>or(int i=0;i&lt;vexNum;i++){arcs2[vexNum-1][i]=0;arcs2[i][vexNum-1]=0;</a:t>
            </a:r>
          </a:p>
          <a:p>
            <a:r>
              <a:rPr lang="zh-CN" altLang="en-US" sz="1260" dirty="0"/>
              <a:t>  }arcs=new int[vexNum][vexNum];</a:t>
            </a:r>
          </a:p>
          <a:p>
            <a:r>
              <a:rPr lang="zh-CN" altLang="en-US" sz="1260" dirty="0"/>
              <a:t>  for(int i=0;i&lt;vexNum;i++){</a:t>
            </a:r>
          </a:p>
          <a:p>
            <a:r>
              <a:rPr lang="zh-CN" altLang="en-US" sz="1260" dirty="0"/>
              <a:t>  for(int j=0;j&lt;vexNum;j++){</a:t>
            </a:r>
          </a:p>
          <a:p>
            <a:r>
              <a:rPr lang="zh-CN" altLang="en-US" sz="1260" dirty="0"/>
              <a:t> arcs[i][j]=arcs2[i][j];//把arcs2的矩阵中的数据传给完成扩容后的arcs矩阵}</a:t>
            </a:r>
          </a:p>
          <a:p>
            <a:r>
              <a:rPr lang="zh-CN" altLang="en-US" sz="1260" dirty="0"/>
              <a:t>} 		</a:t>
            </a:r>
          </a:p>
          <a:p>
            <a:r>
              <a:rPr lang="zh-CN" altLang="en-US" sz="1260" dirty="0"/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924538" y="1962809"/>
            <a:ext cx="2369001" cy="30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异常判断：</a:t>
            </a:r>
          </a:p>
          <a:p>
            <a:r>
              <a:rPr lang="zh-CN" altLang="en-US" sz="1621" dirty="0"/>
              <a:t>Object m=sc.next();</a:t>
            </a:r>
          </a:p>
          <a:p>
            <a:r>
              <a:rPr lang="zh-CN" altLang="en-US" sz="1621" dirty="0"/>
              <a:t>  		for(int i=0;i&lt;vexNum;i++){</a:t>
            </a:r>
          </a:p>
          <a:p>
            <a:r>
              <a:rPr lang="zh-CN" altLang="en-US" sz="1621" dirty="0"/>
              <a:t>			if(vexs[i].equals(m))</a:t>
            </a:r>
          </a:p>
          <a:p>
            <a:r>
              <a:rPr lang="zh-CN" altLang="en-US" sz="1621" dirty="0"/>
              <a:t>			throw new Exception("已存在该点");</a:t>
            </a:r>
          </a:p>
          <a:p>
            <a:r>
              <a:rPr lang="zh-CN" altLang="en-US" sz="1621" dirty="0"/>
              <a:t>		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908B6B-EF30-4285-BFC5-A7675A1DCFAC}"/>
              </a:ext>
            </a:extLst>
          </p:cNvPr>
          <p:cNvSpPr/>
          <p:nvPr/>
        </p:nvSpPr>
        <p:spPr>
          <a:xfrm>
            <a:off x="-1" y="428808"/>
            <a:ext cx="13962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17671" y="86324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删除顶点的操作：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1708" y="607692"/>
            <a:ext cx="7915431" cy="435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60" dirty="0"/>
              <a:t>public void deleteVex() throws Exception{</a:t>
            </a:r>
          </a:p>
          <a:p>
            <a:r>
              <a:rPr lang="zh-CN" altLang="en-US" sz="1260" dirty="0"/>
              <a:t>int i=locateVex(sc.next());		</a:t>
            </a:r>
          </a:p>
          <a:p>
            <a:r>
              <a:rPr lang="zh-CN" altLang="en-US" sz="1260" dirty="0"/>
              <a:t>if(i==-1) throw new Exception("不存在该元素");</a:t>
            </a:r>
          </a:p>
          <a:p>
            <a:endParaRPr lang="zh-CN" altLang="en-US" sz="1260" dirty="0"/>
          </a:p>
          <a:p>
            <a:r>
              <a:rPr lang="zh-CN" altLang="en-US" sz="1260" dirty="0"/>
              <a:t>for(int n=0;n&lt;vexNum;n++){</a:t>
            </a:r>
          </a:p>
          <a:p>
            <a:r>
              <a:rPr lang="zh-CN" altLang="en-US" sz="1260" dirty="0"/>
              <a:t>deleteArc(i,n);//删除第i行的元素     deleteArc(n,i);//删除第i列的元素}</a:t>
            </a:r>
          </a:p>
          <a:p>
            <a:endParaRPr lang="zh-CN" altLang="en-US" sz="1260" dirty="0"/>
          </a:p>
          <a:p>
            <a:r>
              <a:rPr lang="zh-CN" altLang="en-US" sz="1260" dirty="0"/>
              <a:t>for(int j=i;j&lt;vexNum-1;j++){</a:t>
            </a:r>
          </a:p>
          <a:p>
            <a:r>
              <a:rPr lang="zh-CN" altLang="en-US" sz="1260" dirty="0"/>
              <a:t>vexs[j]=vexs[j+1];}</a:t>
            </a:r>
          </a:p>
          <a:p>
            <a:r>
              <a:rPr lang="zh-CN" altLang="en-US" sz="1260" dirty="0"/>
              <a:t>vexs[vexNum-1]=null;//最后一个结点置为空值</a:t>
            </a:r>
          </a:p>
          <a:p>
            <a:endParaRPr lang="zh-CN" altLang="en-US" sz="1260" dirty="0"/>
          </a:p>
          <a:p>
            <a:r>
              <a:rPr lang="zh-CN" altLang="en-US" sz="1260" dirty="0"/>
              <a:t>for(int k=0;k&lt;vexNum;k++){</a:t>
            </a:r>
          </a:p>
          <a:p>
            <a:r>
              <a:rPr lang="zh-CN" altLang="en-US" sz="1260" dirty="0"/>
              <a:t>for(int l=i;l&lt;vexNum-1;l++){</a:t>
            </a:r>
          </a:p>
          <a:p>
            <a:r>
              <a:rPr lang="en-US" altLang="zh-CN" sz="1260" dirty="0"/>
              <a:t>	</a:t>
            </a:r>
            <a:r>
              <a:rPr lang="zh-CN" altLang="en-US" sz="1260" dirty="0"/>
              <a:t>arcs[l][k]=arcs[l+1][k];}</a:t>
            </a:r>
          </a:p>
          <a:p>
            <a:r>
              <a:rPr lang="en-US" altLang="zh-CN" sz="1260" dirty="0"/>
              <a:t>	</a:t>
            </a:r>
            <a:r>
              <a:rPr lang="zh-CN" altLang="en-US" sz="1260" dirty="0"/>
              <a:t>arcs[vexNum-1][k]=0;//最后一列赋值为0}</a:t>
            </a:r>
          </a:p>
          <a:p>
            <a:endParaRPr lang="zh-CN" altLang="en-US" sz="1260" dirty="0"/>
          </a:p>
          <a:p>
            <a:r>
              <a:rPr lang="zh-CN" altLang="en-US" sz="1260" dirty="0"/>
              <a:t>for(int k=0;k&lt;vexNum;k++){</a:t>
            </a:r>
          </a:p>
          <a:p>
            <a:r>
              <a:rPr lang="zh-CN" altLang="en-US" sz="1260" dirty="0"/>
              <a:t>for(int l=i;l&lt;vexNum-1;l++){arcs[k][l]=arcs[k][l+1];//将刚才移动列以后的矩阵进行 行的移动}arcs[k][vexNum-1]=0;//最后一行赋值为0}</a:t>
            </a:r>
          </a:p>
          <a:p>
            <a:endParaRPr lang="zh-CN" altLang="en-US" sz="1260" dirty="0"/>
          </a:p>
          <a:p>
            <a:r>
              <a:rPr lang="zh-CN" altLang="en-US" sz="1260" dirty="0"/>
              <a:t>vexNum--;	</a:t>
            </a:r>
          </a:p>
          <a:p>
            <a:r>
              <a:rPr lang="zh-CN" altLang="en-US" sz="1260" dirty="0"/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508104" y="719112"/>
            <a:ext cx="2878962" cy="2806922"/>
          </a:xfrm>
          <a:prstGeom prst="rect">
            <a:avLst/>
          </a:prstGeom>
          <a:solidFill>
            <a:schemeClr val="bg2">
              <a:lumMod val="75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60" dirty="0"/>
              <a:t>public void deleteArc(int i,int j )</a:t>
            </a:r>
          </a:p>
          <a:p>
            <a:r>
              <a:rPr lang="zh-CN" altLang="en-US" sz="1260" dirty="0"/>
              <a:t>{switch(kind){</a:t>
            </a:r>
          </a:p>
          <a:p>
            <a:r>
              <a:rPr lang="zh-CN" altLang="en-US" sz="1260" dirty="0"/>
              <a:t>  case DG:</a:t>
            </a:r>
          </a:p>
          <a:p>
            <a:r>
              <a:rPr lang="zh-CN" altLang="en-US" sz="1260" dirty="0"/>
              <a:t>  </a:t>
            </a:r>
            <a:r>
              <a:rPr lang="en-US" altLang="zh-CN" sz="1260" dirty="0"/>
              <a:t>	</a:t>
            </a:r>
            <a:r>
              <a:rPr lang="zh-CN" altLang="en-US" sz="1260" dirty="0"/>
              <a:t>if(arcs[i][j]==1){</a:t>
            </a:r>
          </a:p>
          <a:p>
            <a:r>
              <a:rPr lang="zh-CN" altLang="en-US" sz="1260" dirty="0"/>
              <a:t>  	arcs[i][j]=0;</a:t>
            </a:r>
          </a:p>
          <a:p>
            <a:r>
              <a:rPr lang="zh-CN" altLang="en-US" sz="1260" dirty="0"/>
              <a:t>  	arcNum--;}  			return; 		case UDG:</a:t>
            </a:r>
          </a:p>
          <a:p>
            <a:r>
              <a:rPr lang="zh-CN" altLang="en-US" sz="1260" dirty="0"/>
              <a:t>  if(arcs[i][j]==1){</a:t>
            </a:r>
          </a:p>
          <a:p>
            <a:r>
              <a:rPr lang="zh-CN" altLang="en-US" sz="1260" dirty="0"/>
              <a:t>  </a:t>
            </a:r>
            <a:r>
              <a:rPr lang="en-US" altLang="zh-CN" sz="1260" dirty="0"/>
              <a:t>	</a:t>
            </a:r>
            <a:r>
              <a:rPr lang="zh-CN" altLang="en-US" sz="1260" dirty="0"/>
              <a:t>arcs[i][j]=arcs[j][i]=0;</a:t>
            </a:r>
          </a:p>
          <a:p>
            <a:r>
              <a:rPr lang="zh-CN" altLang="en-US" sz="1260" dirty="0"/>
              <a:t>  	arcNum--;}</a:t>
            </a:r>
          </a:p>
          <a:p>
            <a:r>
              <a:rPr lang="zh-CN" altLang="en-US" sz="1260" dirty="0"/>
              <a:t>  	return;</a:t>
            </a:r>
          </a:p>
          <a:p>
            <a:r>
              <a:rPr lang="zh-CN" altLang="en-US" sz="1260" dirty="0"/>
              <a:t>  default:</a:t>
            </a:r>
          </a:p>
          <a:p>
            <a:r>
              <a:rPr lang="zh-CN" altLang="en-US" sz="1260" dirty="0"/>
              <a:t>  break;}}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A5CE85-C53A-411F-8C94-8543A12F75CC}"/>
              </a:ext>
            </a:extLst>
          </p:cNvPr>
          <p:cNvSpPr/>
          <p:nvPr/>
        </p:nvSpPr>
        <p:spPr>
          <a:xfrm>
            <a:off x="-31102" y="423026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求顶点的度：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32006" y="791773"/>
            <a:ext cx="4778071" cy="416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60" dirty="0"/>
              <a:t>public void getDegree(int v) throws Exception{</a:t>
            </a:r>
          </a:p>
          <a:p>
            <a:r>
              <a:rPr lang="zh-CN" altLang="en-US" sz="1260" dirty="0"/>
              <a:t>switch(kind){</a:t>
            </a:r>
          </a:p>
          <a:p>
            <a:r>
              <a:rPr lang="zh-CN" altLang="en-US" sz="1260" dirty="0"/>
              <a:t>case DG://有向图中</a:t>
            </a:r>
          </a:p>
          <a:p>
            <a:r>
              <a:rPr lang="zh-CN" altLang="en-US" sz="1260" dirty="0"/>
              <a:t>	for(int i=0;i&lt;vexNum;i++){</a:t>
            </a:r>
          </a:p>
          <a:p>
            <a:r>
              <a:rPr lang="zh-CN" altLang="en-US" sz="1260" dirty="0"/>
              <a:t>	if(arcs[v][i]==1)//由v指向其他结点的边  出度+1</a:t>
            </a:r>
          </a:p>
          <a:p>
            <a:r>
              <a:rPr lang="zh-CN" altLang="en-US" sz="1260" dirty="0"/>
              <a:t>		outDegree++;}</a:t>
            </a:r>
          </a:p>
          <a:p>
            <a:r>
              <a:rPr lang="zh-CN" altLang="en-US" sz="1260" dirty="0"/>
              <a:t>	for(int j=0;j&lt;vexNum;j++){</a:t>
            </a:r>
          </a:p>
          <a:p>
            <a:r>
              <a:rPr lang="zh-CN" altLang="en-US" sz="1260" dirty="0"/>
              <a:t>	if(arcs[j][v]==1)//由其他结点指向v的边  入度+1</a:t>
            </a:r>
          </a:p>
          <a:p>
            <a:r>
              <a:rPr lang="zh-CN" altLang="en-US" sz="1260" dirty="0"/>
              <a:t>		inDegree++;}</a:t>
            </a:r>
          </a:p>
          <a:p>
            <a:r>
              <a:rPr lang="zh-CN" altLang="en-US" sz="1260" dirty="0"/>
              <a:t>System.out.println("顶点"+getVex(v)+"的入度为："+inDegree+" "+"出度为："+outDegree+" ");</a:t>
            </a:r>
          </a:p>
          <a:p>
            <a:r>
              <a:rPr lang="zh-CN" altLang="en-US" sz="1260" dirty="0"/>
              <a:t>	DEGREE=inDegree+outDegree;</a:t>
            </a:r>
          </a:p>
          <a:p>
            <a:r>
              <a:rPr lang="zh-CN" altLang="en-US" sz="1260" dirty="0"/>
              <a:t>System.out.println("顶点"+getVex(v)+"的度为："+DEGREE);break;</a:t>
            </a:r>
          </a:p>
          <a:p>
            <a:r>
              <a:rPr lang="zh-CN" altLang="en-US" sz="1260" dirty="0"/>
              <a:t>case UDG:</a:t>
            </a:r>
          </a:p>
          <a:p>
            <a:r>
              <a:rPr lang="zh-CN" altLang="en-US" sz="1260" dirty="0"/>
              <a:t>	for(int i=0;i&lt;vexNum;i++){</a:t>
            </a:r>
          </a:p>
          <a:p>
            <a:r>
              <a:rPr lang="zh-CN" altLang="en-US" sz="1260" dirty="0"/>
              <a:t>	if(arcs[v][i]==1)//只要存在边度自加1</a:t>
            </a:r>
          </a:p>
          <a:p>
            <a:r>
              <a:rPr lang="en-US" altLang="zh-CN" sz="1260" dirty="0"/>
              <a:t>	</a:t>
            </a:r>
            <a:r>
              <a:rPr lang="zh-CN" altLang="en-US" sz="1260" dirty="0"/>
              <a:t>Degree++;}</a:t>
            </a:r>
          </a:p>
          <a:p>
            <a:r>
              <a:rPr lang="zh-CN" altLang="en-US" sz="1260" dirty="0"/>
              <a:t>System.out.println("顶点"+getVex(v)+"度为"+Degree);default:</a:t>
            </a:r>
          </a:p>
          <a:p>
            <a:r>
              <a:rPr lang="zh-CN" altLang="en-US" sz="1260" dirty="0"/>
              <a:t>	break;</a:t>
            </a:r>
          </a:p>
          <a:p>
            <a:r>
              <a:rPr lang="zh-CN" altLang="en-US" sz="1260" dirty="0"/>
              <a:t>		}	</a:t>
            </a:r>
          </a:p>
          <a:p>
            <a:r>
              <a:rPr lang="zh-CN" altLang="en-US" sz="1260" dirty="0"/>
              <a:t>	}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520983" y="2147217"/>
            <a:ext cx="2919551" cy="2087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>
                <a:sym typeface="+mn-ea"/>
              </a:rPr>
              <a:t>public void getDegree() throws Exception{</a:t>
            </a:r>
          </a:p>
          <a:p>
            <a:r>
              <a:rPr lang="zh-CN" altLang="en-US" sz="1621" dirty="0">
                <a:sym typeface="+mn-ea"/>
              </a:rPr>
              <a:t>		for(int i=0;i&lt;vexNum;i++){</a:t>
            </a:r>
          </a:p>
          <a:p>
            <a:r>
              <a:rPr lang="zh-CN" altLang="en-US" sz="1621" dirty="0">
                <a:sym typeface="+mn-ea"/>
              </a:rPr>
              <a:t>			getDegree(i);</a:t>
            </a:r>
          </a:p>
          <a:p>
            <a:r>
              <a:rPr lang="zh-CN" altLang="en-US" sz="1621" dirty="0">
                <a:sym typeface="+mn-ea"/>
              </a:rPr>
              <a:t>		}</a:t>
            </a:r>
          </a:p>
          <a:p>
            <a:r>
              <a:rPr lang="zh-CN" altLang="en-US" sz="1621" dirty="0">
                <a:sym typeface="+mn-ea"/>
              </a:rPr>
              <a:t>	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580488" y="0"/>
            <a:ext cx="4778070" cy="109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思想：</a:t>
            </a:r>
          </a:p>
          <a:p>
            <a:r>
              <a:rPr lang="zh-CN" altLang="en-US" sz="1621" dirty="0"/>
              <a:t>有向图：每个点入度加上出度，循环所有的顶点，一次输出</a:t>
            </a:r>
          </a:p>
          <a:p>
            <a:r>
              <a:rPr lang="zh-CN" altLang="en-US" sz="1621" dirty="0"/>
              <a:t>无向图：只要找边的权值为</a:t>
            </a:r>
            <a:r>
              <a:rPr lang="en-US" altLang="zh-CN" sz="1621" dirty="0"/>
              <a:t>1</a:t>
            </a:r>
            <a:r>
              <a:rPr lang="zh-CN" altLang="en-US" sz="1621" dirty="0"/>
              <a:t>，则度就加</a:t>
            </a:r>
            <a:r>
              <a:rPr lang="en-US" altLang="zh-CN" sz="1621" dirty="0"/>
              <a:t>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4DEC0F-A577-4E15-8259-AE8C9201E128}"/>
              </a:ext>
            </a:extLst>
          </p:cNvPr>
          <p:cNvSpPr/>
          <p:nvPr/>
        </p:nvSpPr>
        <p:spPr>
          <a:xfrm>
            <a:off x="-117373" y="481520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/>
      <p:bldP spid="12" grpId="0" bldLvl="0"/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判断连通分量：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3688" y="915402"/>
            <a:ext cx="3030457" cy="84061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算法思想：</a:t>
            </a:r>
          </a:p>
          <a:p>
            <a:r>
              <a:rPr lang="zh-CN" altLang="en-US" sz="1621" dirty="0"/>
              <a:t>利用广度遍历，对顶点实现几次深度遍历即有几个连通分量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534772" y="459046"/>
            <a:ext cx="2579875" cy="383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>
                <a:sym typeface="+mn-ea"/>
              </a:rPr>
              <a:t>BFS(G,i);//广度优先遍历System.out.println(); }  }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		    //若连通分量大于1，就说明此图是非连通图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		    if(j&gt;1)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		    	System.out.println("该图是非连通图");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		    else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		    	System.out.println("该图是连通图");</a:t>
            </a:r>
            <a:endParaRPr lang="zh-CN" altLang="en-US" sz="1621" dirty="0"/>
          </a:p>
          <a:p>
            <a:r>
              <a:rPr lang="zh-CN" altLang="en-US" sz="1621" dirty="0">
                <a:sym typeface="+mn-ea"/>
              </a:rPr>
              <a:t>		}</a:t>
            </a:r>
            <a:endParaRPr lang="zh-CN" altLang="en-US" sz="1621" dirty="0"/>
          </a:p>
        </p:txBody>
      </p:sp>
      <p:sp>
        <p:nvSpPr>
          <p:cNvPr id="7" name="文本框 6"/>
          <p:cNvSpPr txBox="1"/>
          <p:nvPr/>
        </p:nvSpPr>
        <p:spPr>
          <a:xfrm>
            <a:off x="40036" y="1769403"/>
            <a:ext cx="3030457" cy="30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public void judge_BFS(IGraph G) throws Exception{</a:t>
            </a:r>
          </a:p>
          <a:p>
            <a:r>
              <a:rPr lang="zh-CN" altLang="en-US" sz="1621" dirty="0"/>
              <a:t>int j=0;</a:t>
            </a:r>
          </a:p>
          <a:p>
            <a:r>
              <a:rPr lang="zh-CN" altLang="en-US" sz="1621" dirty="0"/>
              <a:t>visited=new boolean[G.getVexNum()];</a:t>
            </a:r>
          </a:p>
          <a:p>
            <a:r>
              <a:rPr lang="zh-CN" altLang="en-US" sz="1621" dirty="0"/>
              <a:t>for(int i=0;i&lt;G.getVexNum();i++){</a:t>
            </a:r>
          </a:p>
          <a:p>
            <a:r>
              <a:rPr lang="zh-CN" altLang="en-US" sz="1621" dirty="0"/>
              <a:t>	visited[i]=false;}</a:t>
            </a:r>
          </a:p>
          <a:p>
            <a:endParaRPr lang="zh-CN" altLang="en-US" sz="1621" dirty="0"/>
          </a:p>
          <a:p>
            <a:r>
              <a:rPr lang="zh-CN" altLang="en-US" sz="1621" dirty="0"/>
              <a:t>for(int i=0;i&lt;G.getVexNum();i++){</a:t>
            </a:r>
          </a:p>
          <a:p>
            <a:r>
              <a:rPr lang="zh-CN" altLang="en-US" sz="1621" dirty="0"/>
              <a:t>	if(!visited[i]){</a:t>
            </a:r>
          </a:p>
          <a:p>
            <a:r>
              <a:rPr lang="zh-CN" altLang="en-US" sz="1621" dirty="0"/>
              <a:t> System.out.println("第"+ ++j+"个连通分量是：");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097285" y="-41551"/>
            <a:ext cx="3454935" cy="5330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public void BFS(IGraph G,int v) throws Exception{</a:t>
            </a:r>
          </a:p>
          <a:p>
            <a:r>
              <a:rPr lang="zh-CN" altLang="en-US" sz="1621" dirty="0"/>
              <a:t>visited[v]=true;</a:t>
            </a:r>
          </a:p>
          <a:p>
            <a:r>
              <a:rPr lang="zh-CN" altLang="en-US" sz="1621" dirty="0"/>
              <a:t>System.out.print(G.getVex(v).toString()+" ");</a:t>
            </a:r>
          </a:p>
          <a:p>
            <a:r>
              <a:rPr lang="zh-CN" altLang="en-US" sz="1621" dirty="0"/>
              <a:t>Queue Q=new LinkedList();//辅助队列Q</a:t>
            </a:r>
          </a:p>
          <a:p>
            <a:r>
              <a:rPr lang="zh-CN" altLang="en-US" sz="1621" dirty="0"/>
              <a:t>Q.offer(v);//v入队列</a:t>
            </a:r>
          </a:p>
          <a:p>
            <a:r>
              <a:rPr lang="zh-CN" altLang="en-US" sz="1621" dirty="0"/>
              <a:t>while(!Q.isEmpty()){</a:t>
            </a:r>
          </a:p>
          <a:p>
            <a:r>
              <a:rPr lang="zh-CN" altLang="en-US" sz="1621" dirty="0"/>
              <a:t>int u=(Integer)Q.poll();//队头的元素出队列并赋值给u</a:t>
            </a:r>
          </a:p>
          <a:p>
            <a:r>
              <a:rPr lang="zh-CN" altLang="en-US" sz="1621" dirty="0"/>
              <a:t>for(int w=G.firstAdjVex(u);w&gt;=0;w=G.nextAdjVex(u,w)){</a:t>
            </a:r>
          </a:p>
          <a:p>
            <a:r>
              <a:rPr lang="zh-CN" altLang="en-US" sz="1621" dirty="0"/>
              <a:t>if(!visited[w]){//w为u尚为访问的邻接顶点</a:t>
            </a:r>
          </a:p>
          <a:p>
            <a:r>
              <a:rPr lang="zh-CN" altLang="en-US" sz="1621" dirty="0"/>
              <a:t>visited[w]=true;</a:t>
            </a:r>
          </a:p>
          <a:p>
            <a:r>
              <a:rPr lang="zh-CN" altLang="en-US" sz="1621" dirty="0"/>
              <a:t>System.out.print(G.getVex(w).toString()+" ");</a:t>
            </a:r>
          </a:p>
          <a:p>
            <a:r>
              <a:rPr lang="zh-CN" altLang="en-US" sz="1621" dirty="0"/>
              <a:t>Q.offer(w);}}}</a:t>
            </a:r>
          </a:p>
          <a:p>
            <a:r>
              <a:rPr lang="zh-CN" altLang="en-US" sz="1621" dirty="0"/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2BFD8A-F023-4AD8-B188-ACD0BE1E9D19}"/>
              </a:ext>
            </a:extLst>
          </p:cNvPr>
          <p:cNvSpPr/>
          <p:nvPr/>
        </p:nvSpPr>
        <p:spPr>
          <a:xfrm>
            <a:off x="40036" y="523101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7" grpId="0"/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判断路径：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4319" y="783197"/>
            <a:ext cx="3015593" cy="4083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21" dirty="0"/>
              <a:t>public void Path(</a:t>
            </a:r>
            <a:r>
              <a:rPr lang="en-US" altLang="zh-CN" sz="1621" dirty="0" err="1"/>
              <a:t>IGraph</a:t>
            </a:r>
            <a:r>
              <a:rPr lang="en-US" altLang="zh-CN" sz="1621" dirty="0"/>
              <a:t> </a:t>
            </a:r>
            <a:r>
              <a:rPr lang="en-US" altLang="zh-CN" sz="1621" dirty="0" err="1"/>
              <a:t>G,int</a:t>
            </a:r>
            <a:r>
              <a:rPr lang="en-US" altLang="zh-CN" sz="1621" dirty="0"/>
              <a:t> </a:t>
            </a:r>
            <a:r>
              <a:rPr lang="en-US" altLang="zh-CN" sz="1621" dirty="0" err="1"/>
              <a:t>u,int</a:t>
            </a:r>
            <a:r>
              <a:rPr lang="en-US" altLang="zh-CN" sz="1621" dirty="0"/>
              <a:t> v) throws Exception{</a:t>
            </a:r>
          </a:p>
          <a:p>
            <a:r>
              <a:rPr lang="en-US" altLang="zh-CN" sz="1621" dirty="0"/>
              <a:t>find=</a:t>
            </a:r>
            <a:r>
              <a:rPr lang="en-US" altLang="zh-CN" sz="1621" dirty="0" err="1"/>
              <a:t>false;int</a:t>
            </a:r>
            <a:r>
              <a:rPr lang="en-US" altLang="zh-CN" sz="1621" dirty="0"/>
              <a:t> </a:t>
            </a:r>
            <a:r>
              <a:rPr lang="en-US" altLang="zh-CN" sz="1621" dirty="0" err="1"/>
              <a:t>i;int</a:t>
            </a:r>
            <a:r>
              <a:rPr lang="en-US" altLang="zh-CN" sz="1621" dirty="0"/>
              <a:t> path[]=new int[100];</a:t>
            </a:r>
          </a:p>
          <a:p>
            <a:r>
              <a:rPr lang="en-US" altLang="zh-CN" sz="1621" dirty="0"/>
              <a:t>	visited=new </a:t>
            </a:r>
            <a:r>
              <a:rPr lang="en-US" altLang="zh-CN" sz="1621" dirty="0" err="1"/>
              <a:t>boolean</a:t>
            </a:r>
            <a:r>
              <a:rPr lang="en-US" altLang="zh-CN" sz="1621" dirty="0"/>
              <a:t>[</a:t>
            </a:r>
            <a:r>
              <a:rPr lang="en-US" altLang="zh-CN" sz="1621" dirty="0" err="1"/>
              <a:t>G.getVexNum</a:t>
            </a:r>
            <a:r>
              <a:rPr lang="en-US" altLang="zh-CN" sz="1621" dirty="0"/>
              <a:t>()];</a:t>
            </a:r>
          </a:p>
          <a:p>
            <a:r>
              <a:rPr lang="en-US" altLang="zh-CN" sz="1621" dirty="0"/>
              <a:t>	for(</a:t>
            </a:r>
            <a:r>
              <a:rPr lang="en-US" altLang="zh-CN" sz="1621" dirty="0" err="1"/>
              <a:t>i</a:t>
            </a:r>
            <a:r>
              <a:rPr lang="en-US" altLang="zh-CN" sz="1621" dirty="0"/>
              <a:t>=0;i&lt;</a:t>
            </a:r>
            <a:r>
              <a:rPr lang="en-US" altLang="zh-CN" sz="1621" dirty="0" err="1"/>
              <a:t>G.getVexNum</a:t>
            </a:r>
            <a:r>
              <a:rPr lang="en-US" altLang="zh-CN" sz="1621" dirty="0"/>
              <a:t>();</a:t>
            </a:r>
            <a:r>
              <a:rPr lang="en-US" altLang="zh-CN" sz="1621" dirty="0" err="1"/>
              <a:t>i</a:t>
            </a:r>
            <a:r>
              <a:rPr lang="en-US" altLang="zh-CN" sz="1621" dirty="0"/>
              <a:t>++){</a:t>
            </a:r>
          </a:p>
          <a:p>
            <a:r>
              <a:rPr lang="en-US" altLang="zh-CN" sz="1621" dirty="0"/>
              <a:t>	visited[</a:t>
            </a:r>
            <a:r>
              <a:rPr lang="en-US" altLang="zh-CN" sz="1621" dirty="0" err="1"/>
              <a:t>i</a:t>
            </a:r>
            <a:r>
              <a:rPr lang="en-US" altLang="zh-CN" sz="1621" dirty="0"/>
              <a:t>]=false;}</a:t>
            </a:r>
          </a:p>
          <a:p>
            <a:r>
              <a:rPr lang="en-US" altLang="zh-CN" sz="1621" dirty="0"/>
              <a:t>	</a:t>
            </a:r>
            <a:r>
              <a:rPr lang="en-US" altLang="zh-CN" sz="1621" dirty="0" err="1"/>
              <a:t>FindPath</a:t>
            </a:r>
            <a:r>
              <a:rPr lang="en-US" altLang="zh-CN" sz="1621" dirty="0"/>
              <a:t>(G,u,v,path,-1);</a:t>
            </a:r>
          </a:p>
          <a:p>
            <a:endParaRPr lang="en-US" altLang="zh-CN" sz="1621" dirty="0"/>
          </a:p>
          <a:p>
            <a:endParaRPr lang="en-US" altLang="zh-CN" sz="1621" dirty="0"/>
          </a:p>
          <a:p>
            <a:r>
              <a:rPr lang="en-US" altLang="zh-CN" sz="1621" dirty="0"/>
              <a:t>	if(!find)</a:t>
            </a:r>
          </a:p>
          <a:p>
            <a:r>
              <a:rPr lang="en-US" altLang="zh-CN" sz="1621" dirty="0"/>
              <a:t>	</a:t>
            </a:r>
            <a:r>
              <a:rPr lang="en-US" altLang="zh-CN" sz="1621" dirty="0" err="1"/>
              <a:t>System.out.println</a:t>
            </a:r>
            <a:r>
              <a:rPr lang="en-US" altLang="zh-CN" sz="1621" dirty="0"/>
              <a:t>("</a:t>
            </a:r>
            <a:r>
              <a:rPr lang="en-US" altLang="zh-CN" sz="1621" dirty="0" err="1"/>
              <a:t>不存在简单路径</a:t>
            </a:r>
            <a:r>
              <a:rPr lang="en-US" altLang="zh-CN" sz="1621" dirty="0"/>
              <a:t>");}}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009345" y="373590"/>
            <a:ext cx="4823805" cy="4582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public void FindPath(IGraph G,int u,int v,int  path[],int d) throws Exception{</a:t>
            </a:r>
          </a:p>
          <a:p>
            <a:r>
              <a:rPr lang="zh-CN" altLang="en-US" sz="1621" dirty="0"/>
              <a:t>int w,i;</a:t>
            </a:r>
          </a:p>
          <a:p>
            <a:r>
              <a:rPr lang="zh-CN" altLang="en-US" sz="1621" dirty="0"/>
              <a:t>visited[u]=true;</a:t>
            </a:r>
          </a:p>
          <a:p>
            <a:r>
              <a:rPr lang="zh-CN" altLang="en-US" sz="1621" dirty="0"/>
              <a:t>d++;</a:t>
            </a:r>
          </a:p>
          <a:p>
            <a:r>
              <a:rPr lang="zh-CN" altLang="en-US" sz="1621" dirty="0"/>
              <a:t>path[d]=u;//记录所寻找的简单路径</a:t>
            </a:r>
          </a:p>
          <a:p>
            <a:r>
              <a:rPr lang="zh-CN" altLang="en-US" sz="1621" dirty="0"/>
              <a:t>	if(u==v){</a:t>
            </a:r>
          </a:p>
          <a:p>
            <a:r>
              <a:rPr lang="zh-CN" altLang="en-US" sz="1621" dirty="0"/>
              <a:t>	find=true;//find为是否找到简单路径的标志</a:t>
            </a:r>
          </a:p>
          <a:p>
            <a:r>
              <a:rPr lang="zh-CN" altLang="en-US" sz="1621" dirty="0"/>
              <a:t>	System.out.println("一条简单路径为：");</a:t>
            </a:r>
          </a:p>
          <a:p>
            <a:r>
              <a:rPr lang="zh-CN" altLang="en-US" sz="1621" dirty="0"/>
              <a:t>	for(i=0;i&lt;=d;i++){//输出简单路径</a:t>
            </a:r>
          </a:p>
          <a:p>
            <a:r>
              <a:rPr lang="zh-CN" altLang="en-US" sz="1621" dirty="0"/>
              <a:t>	System.out.print(G.getVex(path[i]).toString()+" ");}return;}</a:t>
            </a:r>
          </a:p>
          <a:p>
            <a:r>
              <a:rPr lang="zh-CN" altLang="en-US" sz="1621" dirty="0"/>
              <a:t>	w=G.firstAdjVex(u);</a:t>
            </a:r>
          </a:p>
          <a:p>
            <a:r>
              <a:rPr lang="zh-CN" altLang="en-US" sz="1621" dirty="0"/>
              <a:t>	while(w!=-1){// w不存在的情况下w=-1</a:t>
            </a:r>
          </a:p>
          <a:p>
            <a:r>
              <a:rPr lang="zh-CN" altLang="en-US" sz="1621" dirty="0"/>
              <a:t>	if(visited[w]==false)</a:t>
            </a:r>
          </a:p>
          <a:p>
            <a:r>
              <a:rPr lang="zh-CN" altLang="en-US" sz="1621" dirty="0"/>
              <a:t>	FindPath(G,w,v,path,d);</a:t>
            </a:r>
          </a:p>
          <a:p>
            <a:r>
              <a:rPr lang="zh-CN" altLang="en-US" sz="1621" dirty="0"/>
              <a:t>	w=G.nextAdjVex(u,w);}}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871B9E9-0C19-41F5-82C4-6DACC7E9E145}"/>
              </a:ext>
            </a:extLst>
          </p:cNvPr>
          <p:cNvSpPr/>
          <p:nvPr/>
        </p:nvSpPr>
        <p:spPr>
          <a:xfrm>
            <a:off x="296454" y="527643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586808" y="20581"/>
            <a:ext cx="7408926" cy="970135"/>
          </a:xfrm>
        </p:spPr>
        <p:txBody>
          <a:bodyPr/>
          <a:lstStyle/>
          <a:p>
            <a:r>
              <a:rPr lang="zh-CN" altLang="en-US" dirty="0">
                <a:solidFill>
                  <a:srgbClr val="E6575D"/>
                </a:solidFill>
              </a:rPr>
              <a:t>邻接表的储存结构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7537" y="867233"/>
            <a:ext cx="7408926" cy="3519240"/>
          </a:xfrm>
        </p:spPr>
        <p:txBody>
          <a:bodyPr/>
          <a:lstStyle/>
          <a:p>
            <a:r>
              <a:rPr lang="zh-CN" altLang="en-US" dirty="0">
                <a:solidFill>
                  <a:srgbClr val="E6575D"/>
                </a:solidFill>
              </a:rPr>
              <a:t>操作实现：</a:t>
            </a:r>
          </a:p>
          <a:p>
            <a:r>
              <a:rPr lang="en-US" altLang="zh-CN" sz="1801" dirty="0">
                <a:sym typeface="+mn-ea"/>
              </a:rPr>
              <a:t>1</a:t>
            </a:r>
            <a:r>
              <a:rPr lang="zh-CN" altLang="en-US" sz="1801" dirty="0">
                <a:sym typeface="+mn-ea"/>
              </a:rPr>
              <a:t>、创建有向图无向图，有向网和无向网</a:t>
            </a:r>
            <a:endParaRPr lang="zh-CN" altLang="en-US" sz="1801" dirty="0"/>
          </a:p>
          <a:p>
            <a:r>
              <a:rPr lang="en-US" altLang="zh-CN" sz="1801" dirty="0">
                <a:sym typeface="+mn-ea"/>
              </a:rPr>
              <a:t>2</a:t>
            </a:r>
            <a:r>
              <a:rPr lang="zh-CN" altLang="en-US" sz="1801" dirty="0">
                <a:sym typeface="+mn-ea"/>
              </a:rPr>
              <a:t>、增加边</a:t>
            </a:r>
            <a:endParaRPr lang="zh-CN" altLang="en-US" sz="1801" dirty="0"/>
          </a:p>
          <a:p>
            <a:r>
              <a:rPr lang="en-US" altLang="zh-CN" sz="1801" dirty="0">
                <a:sym typeface="+mn-ea"/>
              </a:rPr>
              <a:t>3</a:t>
            </a:r>
            <a:r>
              <a:rPr lang="zh-CN" altLang="en-US" sz="1801" dirty="0">
                <a:sym typeface="+mn-ea"/>
              </a:rPr>
              <a:t>、删除边</a:t>
            </a:r>
            <a:endParaRPr lang="zh-CN" altLang="en-US" sz="1801" dirty="0"/>
          </a:p>
          <a:p>
            <a:r>
              <a:rPr lang="en-US" altLang="zh-CN" sz="1801" dirty="0">
                <a:sym typeface="+mn-ea"/>
              </a:rPr>
              <a:t>4</a:t>
            </a:r>
            <a:r>
              <a:rPr lang="zh-CN" altLang="en-US" sz="1801" dirty="0">
                <a:sym typeface="+mn-ea"/>
              </a:rPr>
              <a:t>、增加顶点</a:t>
            </a:r>
            <a:endParaRPr lang="zh-CN" altLang="en-US" sz="1801" dirty="0"/>
          </a:p>
          <a:p>
            <a:r>
              <a:rPr lang="en-US" altLang="zh-CN" sz="1801" dirty="0">
                <a:sym typeface="+mn-ea"/>
              </a:rPr>
              <a:t>5</a:t>
            </a:r>
            <a:r>
              <a:rPr lang="zh-CN" altLang="en-US" sz="1801" dirty="0">
                <a:sym typeface="+mn-ea"/>
              </a:rPr>
              <a:t>、删除顶点</a:t>
            </a:r>
            <a:endParaRPr lang="zh-CN" altLang="en-US" sz="1801" dirty="0"/>
          </a:p>
          <a:p>
            <a:r>
              <a:rPr lang="en-US" altLang="zh-CN" sz="1801" dirty="0">
                <a:sym typeface="+mn-ea"/>
              </a:rPr>
              <a:t>6</a:t>
            </a:r>
            <a:r>
              <a:rPr lang="zh-CN" altLang="en-US" sz="1801" dirty="0">
                <a:sym typeface="+mn-ea"/>
              </a:rPr>
              <a:t>、求各顶点的度</a:t>
            </a:r>
            <a:endParaRPr lang="zh-CN" altLang="en-US" sz="1801" dirty="0"/>
          </a:p>
          <a:p>
            <a:r>
              <a:rPr lang="en-US" altLang="zh-CN" sz="1801" dirty="0">
                <a:sym typeface="+mn-ea"/>
              </a:rPr>
              <a:t>7</a:t>
            </a:r>
            <a:r>
              <a:rPr lang="zh-CN" altLang="en-US" sz="1801" dirty="0">
                <a:sym typeface="+mn-ea"/>
              </a:rPr>
              <a:t>、判断图的连通性</a:t>
            </a:r>
            <a:endParaRPr lang="zh-CN" altLang="en-US" sz="1801" dirty="0"/>
          </a:p>
          <a:p>
            <a:r>
              <a:rPr lang="en-US" altLang="zh-CN" sz="1801" dirty="0">
                <a:sym typeface="+mn-ea"/>
              </a:rPr>
              <a:t>8</a:t>
            </a:r>
            <a:r>
              <a:rPr lang="zh-CN" altLang="en-US" sz="1801" dirty="0">
                <a:sym typeface="+mn-ea"/>
              </a:rPr>
              <a:t>、判断路径</a:t>
            </a:r>
            <a:endParaRPr lang="zh-CN" altLang="en-US" sz="1801" dirty="0"/>
          </a:p>
          <a:p>
            <a:endParaRPr lang="zh-CN" altLang="en-US" sz="1801" dirty="0"/>
          </a:p>
        </p:txBody>
      </p:sp>
    </p:spTree>
  </p:cSld>
  <p:clrMapOvr>
    <a:masterClrMapping/>
  </p:clrMapOvr>
  <p:transition advClick="0" advTm="0">
    <p:comb dir="vert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535659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 eaLnBrk="1" hangingPunct="1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邻接表存储结构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89920" y="898675"/>
            <a:ext cx="3535818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1" b="1" dirty="0">
                <a:latin typeface="华文楷体" panose="02010600040101010101" charset="-122"/>
                <a:ea typeface="华文楷体" panose="02010600040101010101" charset="-122"/>
              </a:rPr>
              <a:t>图的存储结构表示：</a:t>
            </a:r>
          </a:p>
        </p:txBody>
      </p:sp>
      <p:graphicFrame>
        <p:nvGraphicFramePr>
          <p:cNvPr id="425" name="Group 152"/>
          <p:cNvGraphicFramePr>
            <a:graphicFrameLocks noGrp="1"/>
          </p:cNvGraphicFramePr>
          <p:nvPr/>
        </p:nvGraphicFramePr>
        <p:xfrm>
          <a:off x="661734" y="1950560"/>
          <a:ext cx="2916980" cy="388740"/>
        </p:xfrm>
        <a:graphic>
          <a:graphicData uri="http://schemas.openxmlformats.org/drawingml/2006/table">
            <a:tbl>
              <a:tblPr/>
              <a:tblGrid>
                <a:gridCol w="453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7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C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D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E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F</a:t>
                      </a:r>
                    </a:p>
                  </a:txBody>
                  <a:tcPr marL="82321" marR="82321" marT="41161" marB="4116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4" name="Group 152"/>
          <p:cNvGraphicFramePr>
            <a:graphicFrameLocks noGrp="1"/>
          </p:cNvGraphicFramePr>
          <p:nvPr/>
        </p:nvGraphicFramePr>
        <p:xfrm>
          <a:off x="661734" y="1396320"/>
          <a:ext cx="2916980" cy="388740"/>
        </p:xfrm>
        <a:graphic>
          <a:graphicData uri="http://schemas.openxmlformats.org/drawingml/2006/table">
            <a:tbl>
              <a:tblPr/>
              <a:tblGrid>
                <a:gridCol w="453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7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7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0504" name="Group 152"/>
          <p:cNvGraphicFramePr>
            <a:graphicFrameLocks noGrp="1"/>
          </p:cNvGraphicFramePr>
          <p:nvPr/>
        </p:nvGraphicFramePr>
        <p:xfrm>
          <a:off x="5103374" y="1729608"/>
          <a:ext cx="2916694" cy="388740"/>
        </p:xfrm>
        <a:graphic>
          <a:graphicData uri="http://schemas.openxmlformats.org/drawingml/2006/table">
            <a:tbl>
              <a:tblPr/>
              <a:tblGrid>
                <a:gridCol w="45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73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7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44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7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0503" name="Group 151"/>
          <p:cNvGraphicFramePr>
            <a:graphicFrameLocks noGrp="1"/>
          </p:cNvGraphicFramePr>
          <p:nvPr/>
        </p:nvGraphicFramePr>
        <p:xfrm>
          <a:off x="4540273" y="2266125"/>
          <a:ext cx="474491" cy="2235540"/>
        </p:xfrm>
        <a:graphic>
          <a:graphicData uri="http://schemas.openxmlformats.org/drawingml/2006/table">
            <a:tbl>
              <a:tblPr/>
              <a:tblGrid>
                <a:gridCol w="4744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74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73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30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30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72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altLang="zh-CN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L="82321" marR="82321" marT="41161" marB="41161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Group 27"/>
          <p:cNvGrpSpPr/>
          <p:nvPr/>
        </p:nvGrpSpPr>
        <p:grpSpPr>
          <a:xfrm>
            <a:off x="908126" y="2558252"/>
            <a:ext cx="2841232" cy="2096624"/>
            <a:chOff x="3026" y="240"/>
            <a:chExt cx="2397" cy="1920"/>
          </a:xfrm>
        </p:grpSpPr>
        <p:sp>
          <p:nvSpPr>
            <p:cNvPr id="33219" name="Oval 28"/>
            <p:cNvSpPr/>
            <p:nvPr/>
          </p:nvSpPr>
          <p:spPr>
            <a:xfrm>
              <a:off x="3650" y="273"/>
              <a:ext cx="287" cy="351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521" dirty="0">
                <a:latin typeface="Times New Roman" panose="02020603050405020304" pitchFamily="18" charset="0"/>
              </a:endParaRPr>
            </a:p>
          </p:txBody>
        </p:sp>
        <p:sp>
          <p:nvSpPr>
            <p:cNvPr id="33220" name="Oval 29"/>
            <p:cNvSpPr/>
            <p:nvPr/>
          </p:nvSpPr>
          <p:spPr>
            <a:xfrm>
              <a:off x="3026" y="1056"/>
              <a:ext cx="287" cy="336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  <a:endParaRPr lang="en-US" altLang="zh-CN" sz="2521" dirty="0">
                <a:latin typeface="Times New Roman" panose="02020603050405020304" pitchFamily="18" charset="0"/>
              </a:endParaRPr>
            </a:p>
          </p:txBody>
        </p:sp>
        <p:sp>
          <p:nvSpPr>
            <p:cNvPr id="33221" name="Line 30"/>
            <p:cNvSpPr/>
            <p:nvPr/>
          </p:nvSpPr>
          <p:spPr>
            <a:xfrm flipH="1">
              <a:off x="3169" y="480"/>
              <a:ext cx="480" cy="576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2" name="Line 31"/>
            <p:cNvSpPr/>
            <p:nvPr/>
          </p:nvSpPr>
          <p:spPr>
            <a:xfrm>
              <a:off x="3938" y="432"/>
              <a:ext cx="863" cy="1392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3" name="Line 32"/>
            <p:cNvSpPr/>
            <p:nvPr/>
          </p:nvSpPr>
          <p:spPr>
            <a:xfrm>
              <a:off x="3314" y="1248"/>
              <a:ext cx="1487" cy="576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4" name="Line 33"/>
            <p:cNvSpPr/>
            <p:nvPr/>
          </p:nvSpPr>
          <p:spPr>
            <a:xfrm flipH="1">
              <a:off x="3882" y="480"/>
              <a:ext cx="775" cy="1392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5" name="Line 34"/>
            <p:cNvSpPr/>
            <p:nvPr/>
          </p:nvSpPr>
          <p:spPr>
            <a:xfrm>
              <a:off x="4945" y="432"/>
              <a:ext cx="384" cy="624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6" name="Line 35"/>
            <p:cNvSpPr/>
            <p:nvPr/>
          </p:nvSpPr>
          <p:spPr>
            <a:xfrm flipH="1">
              <a:off x="3930" y="1248"/>
              <a:ext cx="1255" cy="624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7" name="Line 36"/>
            <p:cNvSpPr/>
            <p:nvPr/>
          </p:nvSpPr>
          <p:spPr>
            <a:xfrm flipH="1">
              <a:off x="3793" y="609"/>
              <a:ext cx="1" cy="1215"/>
            </a:xfrm>
            <a:prstGeom prst="line">
              <a:avLst/>
            </a:prstGeom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228" name="Oval 37"/>
            <p:cNvSpPr/>
            <p:nvPr/>
          </p:nvSpPr>
          <p:spPr>
            <a:xfrm>
              <a:off x="4656" y="240"/>
              <a:ext cx="287" cy="336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521" dirty="0">
                <a:latin typeface="Times New Roman" panose="02020603050405020304" pitchFamily="18" charset="0"/>
              </a:endParaRPr>
            </a:p>
          </p:txBody>
        </p:sp>
        <p:sp>
          <p:nvSpPr>
            <p:cNvPr id="33229" name="Oval 38"/>
            <p:cNvSpPr/>
            <p:nvPr/>
          </p:nvSpPr>
          <p:spPr>
            <a:xfrm>
              <a:off x="5136" y="1008"/>
              <a:ext cx="287" cy="336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3230" name="Oval 39"/>
            <p:cNvSpPr/>
            <p:nvPr/>
          </p:nvSpPr>
          <p:spPr>
            <a:xfrm>
              <a:off x="3648" y="1824"/>
              <a:ext cx="287" cy="336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  <a:endParaRPr lang="en-US" altLang="zh-CN" sz="2521" dirty="0">
                <a:latin typeface="Times New Roman" panose="02020603050405020304" pitchFamily="18" charset="0"/>
              </a:endParaRPr>
            </a:p>
          </p:txBody>
        </p:sp>
        <p:sp>
          <p:nvSpPr>
            <p:cNvPr id="33231" name="Oval 40"/>
            <p:cNvSpPr/>
            <p:nvPr/>
          </p:nvSpPr>
          <p:spPr>
            <a:xfrm>
              <a:off x="4704" y="1776"/>
              <a:ext cx="287" cy="336"/>
            </a:xfrm>
            <a:prstGeom prst="ellipse">
              <a:avLst/>
            </a:prstGeom>
            <a:solidFill>
              <a:srgbClr val="A7E2FF">
                <a:alpha val="50195"/>
              </a:srgbClr>
            </a:solidFill>
            <a:ln w="28575" cap="sq" cmpd="sng">
              <a:solidFill>
                <a:schemeClr val="tx2"/>
              </a:solidFill>
              <a:prstDash val="solid"/>
              <a:headEnd type="none" w="sm" len="sm"/>
              <a:tailEnd type="none" w="sm" len="sm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 b="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 b="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 b="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algn="ctr" eaLnBrk="1" hangingPunct="1">
                <a:spcBef>
                  <a:spcPct val="0"/>
                </a:spcBef>
                <a:buClr>
                  <a:srgbClr val="000000"/>
                </a:buClr>
                <a:buNone/>
              </a:pPr>
              <a:r>
                <a:rPr lang="en-US" altLang="zh-CN" sz="252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E</a:t>
              </a:r>
              <a:endParaRPr lang="en-US" altLang="zh-CN" sz="252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矩形 3"/>
          <p:cNvSpPr/>
          <p:nvPr/>
        </p:nvSpPr>
        <p:spPr>
          <a:xfrm>
            <a:off x="4540558" y="1729893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A</a:t>
            </a:r>
          </a:p>
        </p:txBody>
      </p:sp>
      <p:sp>
        <p:nvSpPr>
          <p:cNvPr id="6" name="矩形 5"/>
          <p:cNvSpPr/>
          <p:nvPr/>
        </p:nvSpPr>
        <p:spPr>
          <a:xfrm>
            <a:off x="5501546" y="1729893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B</a:t>
            </a:r>
          </a:p>
        </p:txBody>
      </p:sp>
      <p:sp>
        <p:nvSpPr>
          <p:cNvPr id="8" name="矩形 7"/>
          <p:cNvSpPr/>
          <p:nvPr/>
        </p:nvSpPr>
        <p:spPr>
          <a:xfrm>
            <a:off x="6471109" y="1729893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E</a:t>
            </a:r>
          </a:p>
        </p:txBody>
      </p:sp>
      <p:sp>
        <p:nvSpPr>
          <p:cNvPr id="9" name="矩形 8"/>
          <p:cNvSpPr/>
          <p:nvPr/>
        </p:nvSpPr>
        <p:spPr>
          <a:xfrm>
            <a:off x="4540558" y="2339300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B</a:t>
            </a:r>
          </a:p>
        </p:txBody>
      </p:sp>
      <p:sp>
        <p:nvSpPr>
          <p:cNvPr id="10" name="矩形 9"/>
          <p:cNvSpPr/>
          <p:nvPr/>
        </p:nvSpPr>
        <p:spPr>
          <a:xfrm>
            <a:off x="5501546" y="2339300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A</a:t>
            </a:r>
          </a:p>
        </p:txBody>
      </p:sp>
      <p:sp>
        <p:nvSpPr>
          <p:cNvPr id="11" name="矩形 10"/>
          <p:cNvSpPr/>
          <p:nvPr/>
        </p:nvSpPr>
        <p:spPr>
          <a:xfrm>
            <a:off x="6471109" y="2339300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E</a:t>
            </a:r>
          </a:p>
        </p:txBody>
      </p:sp>
      <p:cxnSp>
        <p:nvCxnSpPr>
          <p:cNvPr id="12" name="直接连接符 11"/>
          <p:cNvCxnSpPr>
            <a:stCxn id="4" idx="3"/>
            <a:endCxn id="6" idx="1"/>
          </p:cNvCxnSpPr>
          <p:nvPr/>
        </p:nvCxnSpPr>
        <p:spPr>
          <a:xfrm>
            <a:off x="5318038" y="1892249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6" idx="3"/>
            <a:endCxn id="8" idx="1"/>
          </p:cNvCxnSpPr>
          <p:nvPr/>
        </p:nvCxnSpPr>
        <p:spPr>
          <a:xfrm>
            <a:off x="6279026" y="1892249"/>
            <a:ext cx="1920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419520" y="2339300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F</a:t>
            </a:r>
          </a:p>
        </p:txBody>
      </p:sp>
      <p:sp>
        <p:nvSpPr>
          <p:cNvPr id="15" name="矩形 14"/>
          <p:cNvSpPr/>
          <p:nvPr/>
        </p:nvSpPr>
        <p:spPr>
          <a:xfrm>
            <a:off x="4540558" y="2961284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C</a:t>
            </a:r>
          </a:p>
        </p:txBody>
      </p:sp>
      <p:sp>
        <p:nvSpPr>
          <p:cNvPr id="16" name="矩形 15"/>
          <p:cNvSpPr/>
          <p:nvPr/>
        </p:nvSpPr>
        <p:spPr>
          <a:xfrm>
            <a:off x="6471109" y="2925269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F</a:t>
            </a:r>
          </a:p>
        </p:txBody>
      </p:sp>
      <p:sp>
        <p:nvSpPr>
          <p:cNvPr id="17" name="矩形 16"/>
          <p:cNvSpPr/>
          <p:nvPr/>
        </p:nvSpPr>
        <p:spPr>
          <a:xfrm>
            <a:off x="5501546" y="2946992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D</a:t>
            </a:r>
          </a:p>
        </p:txBody>
      </p:sp>
      <p:sp>
        <p:nvSpPr>
          <p:cNvPr id="18" name="矩形 17"/>
          <p:cNvSpPr/>
          <p:nvPr/>
        </p:nvSpPr>
        <p:spPr>
          <a:xfrm>
            <a:off x="4540558" y="3492372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D</a:t>
            </a:r>
          </a:p>
        </p:txBody>
      </p:sp>
      <p:sp>
        <p:nvSpPr>
          <p:cNvPr id="19" name="矩形 18"/>
          <p:cNvSpPr/>
          <p:nvPr/>
        </p:nvSpPr>
        <p:spPr>
          <a:xfrm>
            <a:off x="5501546" y="3492372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C</a:t>
            </a:r>
          </a:p>
        </p:txBody>
      </p:sp>
      <p:sp>
        <p:nvSpPr>
          <p:cNvPr id="20" name="矩形 19"/>
          <p:cNvSpPr/>
          <p:nvPr/>
        </p:nvSpPr>
        <p:spPr>
          <a:xfrm>
            <a:off x="6471109" y="3492372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F</a:t>
            </a:r>
          </a:p>
        </p:txBody>
      </p:sp>
      <p:sp>
        <p:nvSpPr>
          <p:cNvPr id="21" name="矩形 20"/>
          <p:cNvSpPr/>
          <p:nvPr/>
        </p:nvSpPr>
        <p:spPr>
          <a:xfrm>
            <a:off x="4540558" y="4016027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E</a:t>
            </a:r>
          </a:p>
        </p:txBody>
      </p:sp>
      <p:sp>
        <p:nvSpPr>
          <p:cNvPr id="22" name="矩形 21"/>
          <p:cNvSpPr/>
          <p:nvPr/>
        </p:nvSpPr>
        <p:spPr>
          <a:xfrm>
            <a:off x="6471109" y="4016027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B</a:t>
            </a:r>
          </a:p>
        </p:txBody>
      </p:sp>
      <p:sp>
        <p:nvSpPr>
          <p:cNvPr id="23" name="矩形 22"/>
          <p:cNvSpPr/>
          <p:nvPr/>
        </p:nvSpPr>
        <p:spPr>
          <a:xfrm>
            <a:off x="5501546" y="4016027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A</a:t>
            </a:r>
          </a:p>
        </p:txBody>
      </p:sp>
      <p:sp>
        <p:nvSpPr>
          <p:cNvPr id="24" name="矩形 23"/>
          <p:cNvSpPr/>
          <p:nvPr/>
        </p:nvSpPr>
        <p:spPr>
          <a:xfrm>
            <a:off x="4540558" y="4602567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F</a:t>
            </a:r>
          </a:p>
        </p:txBody>
      </p:sp>
      <p:sp>
        <p:nvSpPr>
          <p:cNvPr id="25" name="矩形 24"/>
          <p:cNvSpPr/>
          <p:nvPr/>
        </p:nvSpPr>
        <p:spPr>
          <a:xfrm>
            <a:off x="5501546" y="4602567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B</a:t>
            </a:r>
          </a:p>
        </p:txBody>
      </p:sp>
      <p:sp>
        <p:nvSpPr>
          <p:cNvPr id="26" name="矩形 25"/>
          <p:cNvSpPr/>
          <p:nvPr/>
        </p:nvSpPr>
        <p:spPr>
          <a:xfrm>
            <a:off x="6471109" y="4602567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C</a:t>
            </a:r>
          </a:p>
        </p:txBody>
      </p:sp>
      <p:sp>
        <p:nvSpPr>
          <p:cNvPr id="27" name="矩形 26"/>
          <p:cNvSpPr/>
          <p:nvPr/>
        </p:nvSpPr>
        <p:spPr>
          <a:xfrm>
            <a:off x="7419520" y="4602567"/>
            <a:ext cx="777480" cy="3241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21"/>
              <a:t>D</a:t>
            </a:r>
          </a:p>
        </p:txBody>
      </p:sp>
      <p:cxnSp>
        <p:nvCxnSpPr>
          <p:cNvPr id="28" name="直接连接符 27"/>
          <p:cNvCxnSpPr>
            <a:stCxn id="9" idx="3"/>
            <a:endCxn id="10" idx="1"/>
          </p:cNvCxnSpPr>
          <p:nvPr/>
        </p:nvCxnSpPr>
        <p:spPr>
          <a:xfrm>
            <a:off x="5318038" y="2501656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6287601" y="2501656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7236012" y="2501656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5318038" y="3134502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279026" y="3134502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5318038" y="3658729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6287601" y="3658729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5318038" y="4178383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6287601" y="4178383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5318038" y="4764923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6279026" y="4764923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7248589" y="4764923"/>
            <a:ext cx="1835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897090" y="20818"/>
            <a:ext cx="7408926" cy="857515"/>
          </a:xfrm>
        </p:spPr>
        <p:txBody>
          <a:bodyPr/>
          <a:lstStyle/>
          <a:p>
            <a:r>
              <a:rPr lang="zh-CN" altLang="en-US" dirty="0">
                <a:solidFill>
                  <a:srgbClr val="E6575D"/>
                </a:solidFill>
              </a:rPr>
              <a:t>邻接表                                  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63666" y="1461777"/>
            <a:ext cx="3332873" cy="3334887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21" dirty="0"/>
              <a:t>public void addArc(int v,int u){</a:t>
            </a:r>
          </a:p>
          <a:p>
            <a:r>
              <a:rPr lang="zh-CN" altLang="en-US" sz="1621" dirty="0"/>
              <a:t>		ArcNode arc=new ArcNode(u);</a:t>
            </a:r>
          </a:p>
          <a:p>
            <a:r>
              <a:rPr lang="zh-CN" altLang="en-US" sz="1621" dirty="0"/>
              <a:t>		arc.nextArc=vexs[v].firstArc;//将之前指向u的firstArc赋值给新插入结点的nextArc</a:t>
            </a:r>
          </a:p>
          <a:p>
            <a:r>
              <a:rPr lang="zh-CN" altLang="en-US" sz="1621" dirty="0"/>
              <a:t>		vexs[v].firstArc=arc;//再把新插入的结点地址传给重新赋值给firstArc</a:t>
            </a:r>
          </a:p>
          <a:p>
            <a:r>
              <a:rPr lang="zh-CN" altLang="en-US" sz="1621" dirty="0"/>
              <a:t>	</a:t>
            </a:r>
          </a:p>
          <a:p>
            <a:r>
              <a:rPr lang="zh-CN" altLang="en-US" sz="1621" dirty="0"/>
              <a:t>	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176263" y="966706"/>
            <a:ext cx="3357455" cy="358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/>
              <a:t>int i=locateVex(sc.next());</a:t>
            </a:r>
          </a:p>
          <a:p>
            <a:r>
              <a:rPr lang="zh-CN" altLang="en-US" sz="1621"/>
              <a:t>	int j=locateVex(sc.next());</a:t>
            </a:r>
          </a:p>
          <a:p>
            <a:r>
              <a:rPr lang="zh-CN" altLang="en-US" sz="1621"/>
              <a:t>	switch(kind){</a:t>
            </a:r>
          </a:p>
          <a:p>
            <a:r>
              <a:rPr lang="zh-CN" altLang="en-US" sz="1621"/>
              <a:t>	case DG:</a:t>
            </a:r>
          </a:p>
          <a:p>
            <a:r>
              <a:rPr lang="zh-CN" altLang="en-US" sz="1621"/>
              <a:t>	addArc(i,j);		arcNum++;</a:t>
            </a:r>
          </a:p>
          <a:p>
            <a:r>
              <a:rPr lang="zh-CN" altLang="en-US" sz="1621"/>
              <a:t>	break;</a:t>
            </a:r>
          </a:p>
          <a:p>
            <a:r>
              <a:rPr lang="zh-CN" altLang="en-US" sz="1621"/>
              <a:t>	case UDG:</a:t>
            </a:r>
          </a:p>
          <a:p>
            <a:r>
              <a:rPr lang="zh-CN" altLang="en-US" sz="1621"/>
              <a:t>	addArc(i,j);</a:t>
            </a:r>
          </a:p>
          <a:p>
            <a:r>
              <a:rPr lang="zh-CN" altLang="en-US" sz="1621"/>
              <a:t>	addArc(j,i);</a:t>
            </a:r>
          </a:p>
          <a:p>
            <a:r>
              <a:rPr lang="zh-CN" altLang="en-US" sz="1621"/>
              <a:t>	arcNum++;</a:t>
            </a:r>
          </a:p>
          <a:p>
            <a:r>
              <a:rPr lang="zh-CN" altLang="en-US" sz="1621"/>
              <a:t>	default:</a:t>
            </a:r>
          </a:p>
          <a:p>
            <a:r>
              <a:rPr lang="zh-CN" altLang="en-US" sz="1621"/>
              <a:t>	break;</a:t>
            </a:r>
          </a:p>
          <a:p>
            <a:r>
              <a:rPr lang="zh-CN" altLang="en-US" sz="1621"/>
              <a:t>		}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163666" y="781482"/>
            <a:ext cx="3053324" cy="34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b="1" dirty="0"/>
              <a:t>增加边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8F3309-52A5-4B46-A1C3-65BAF043F497}"/>
              </a:ext>
            </a:extLst>
          </p:cNvPr>
          <p:cNvSpPr/>
          <p:nvPr/>
        </p:nvSpPr>
        <p:spPr>
          <a:xfrm>
            <a:off x="610282" y="1111587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227519" y="50545"/>
            <a:ext cx="7408926" cy="857515"/>
          </a:xfrm>
        </p:spPr>
        <p:txBody>
          <a:bodyPr/>
          <a:lstStyle/>
          <a:p>
            <a:r>
              <a:rPr lang="zh-CN" altLang="en-US" dirty="0">
                <a:solidFill>
                  <a:srgbClr val="E6575D"/>
                </a:solidFill>
              </a:rPr>
              <a:t>邻接表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11954" y="868948"/>
            <a:ext cx="2810361" cy="34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/>
              <a:t>删除边</a:t>
            </a:r>
            <a:endParaRPr lang="en-US" altLang="zh-CN" sz="1621"/>
          </a:p>
        </p:txBody>
      </p:sp>
      <p:sp>
        <p:nvSpPr>
          <p:cNvPr id="6" name="文本框 5"/>
          <p:cNvSpPr txBox="1"/>
          <p:nvPr/>
        </p:nvSpPr>
        <p:spPr>
          <a:xfrm>
            <a:off x="867537" y="1200521"/>
            <a:ext cx="3621570" cy="3416320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40" dirty="0"/>
              <a:t>public void deleteArc(int v,int u){</a:t>
            </a:r>
          </a:p>
          <a:p>
            <a:r>
              <a:rPr lang="zh-CN" altLang="en-US" sz="1440" dirty="0"/>
              <a:t>		ArcNode q=vexs[v].firstArc;</a:t>
            </a:r>
          </a:p>
          <a:p>
            <a:r>
              <a:rPr lang="zh-CN" altLang="en-US" sz="1440" dirty="0"/>
              <a:t>		if(q.adjVex==u)</a:t>
            </a:r>
          </a:p>
          <a:p>
            <a:r>
              <a:rPr lang="zh-CN" altLang="en-US" sz="1440" dirty="0"/>
              <a:t>	vexs[v].firstArc=q.nextArc;</a:t>
            </a:r>
          </a:p>
          <a:p>
            <a:r>
              <a:rPr lang="zh-CN" altLang="en-US" sz="1440" dirty="0"/>
              <a:t>	while(q.nextArc!=null){</a:t>
            </a:r>
          </a:p>
          <a:p>
            <a:r>
              <a:rPr lang="zh-CN" altLang="en-US" sz="1440" dirty="0"/>
              <a:t>	if(q.nextArc.adjVex==u){</a:t>
            </a:r>
          </a:p>
          <a:p>
            <a:r>
              <a:rPr lang="zh-CN" altLang="en-US" sz="1440" dirty="0"/>
              <a:t>				q.nextArc=q.nextArc.nextArc;</a:t>
            </a:r>
          </a:p>
          <a:p>
            <a:r>
              <a:rPr lang="zh-CN" altLang="en-US" sz="1440" dirty="0"/>
              <a:t>				break;</a:t>
            </a:r>
          </a:p>
          <a:p>
            <a:r>
              <a:rPr lang="zh-CN" altLang="en-US" sz="1440" dirty="0"/>
              <a:t>	}</a:t>
            </a:r>
          </a:p>
          <a:p>
            <a:r>
              <a:rPr lang="zh-CN" altLang="en-US" sz="1440" dirty="0"/>
              <a:t>	q=q.nextArc;</a:t>
            </a:r>
          </a:p>
          <a:p>
            <a:r>
              <a:rPr lang="zh-CN" altLang="en-US" sz="1440" dirty="0"/>
              <a:t>		}	</a:t>
            </a:r>
          </a:p>
          <a:p>
            <a:r>
              <a:rPr lang="zh-CN" altLang="en-US" sz="1440" dirty="0"/>
              <a:t>	}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756080" y="1198234"/>
            <a:ext cx="3417481" cy="358431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21" dirty="0"/>
              <a:t>int c=locateVex(sc.next());</a:t>
            </a:r>
          </a:p>
          <a:p>
            <a:r>
              <a:rPr lang="zh-CN" altLang="en-US" sz="1621" dirty="0"/>
              <a:t>int d=locateVex(sc.next());</a:t>
            </a:r>
          </a:p>
          <a:p>
            <a:r>
              <a:rPr lang="zh-CN" altLang="en-US" sz="1621" dirty="0"/>
              <a:t>switch(kind){</a:t>
            </a:r>
          </a:p>
          <a:p>
            <a:r>
              <a:rPr lang="zh-CN" altLang="en-US" sz="1621" dirty="0"/>
              <a:t>case DG:</a:t>
            </a:r>
          </a:p>
          <a:p>
            <a:r>
              <a:rPr lang="zh-CN" altLang="en-US" sz="1621" dirty="0"/>
              <a:t>deleteArc(c,d);</a:t>
            </a:r>
          </a:p>
          <a:p>
            <a:r>
              <a:rPr lang="zh-CN" altLang="en-US" sz="1621" dirty="0"/>
              <a:t>arcNum--;</a:t>
            </a:r>
          </a:p>
          <a:p>
            <a:r>
              <a:rPr lang="zh-CN" altLang="en-US" sz="1621" dirty="0"/>
              <a:t>break;</a:t>
            </a:r>
          </a:p>
          <a:p>
            <a:r>
              <a:rPr lang="zh-CN" altLang="en-US" sz="1621" dirty="0"/>
              <a:t>case UDG:</a:t>
            </a:r>
          </a:p>
          <a:p>
            <a:r>
              <a:rPr lang="zh-CN" altLang="en-US" sz="1621" dirty="0"/>
              <a:t>deleteArc(c,d);</a:t>
            </a:r>
          </a:p>
          <a:p>
            <a:r>
              <a:rPr lang="zh-CN" altLang="en-US" sz="1621" dirty="0"/>
              <a:t>deleteArc(d,c);</a:t>
            </a:r>
          </a:p>
          <a:p>
            <a:r>
              <a:rPr lang="zh-CN" altLang="en-US" sz="1621" dirty="0"/>
              <a:t>arcNum--;</a:t>
            </a:r>
          </a:p>
          <a:p>
            <a:r>
              <a:rPr lang="zh-CN" altLang="en-US" sz="1621" dirty="0"/>
              <a:t>break;</a:t>
            </a:r>
          </a:p>
          <a:p>
            <a:r>
              <a:rPr lang="zh-CN" altLang="en-US" sz="1621" dirty="0"/>
              <a:t>default:</a:t>
            </a:r>
          </a:p>
          <a:p>
            <a:r>
              <a:rPr lang="zh-CN" altLang="en-US" sz="1621" dirty="0"/>
              <a:t>break;		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9DD036-07BA-4FDD-91FC-57B0F356CA18}"/>
              </a:ext>
            </a:extLst>
          </p:cNvPr>
          <p:cNvSpPr/>
          <p:nvPr/>
        </p:nvSpPr>
        <p:spPr>
          <a:xfrm>
            <a:off x="9229" y="606654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372153" y="41398"/>
            <a:ext cx="7408926" cy="857515"/>
          </a:xfrm>
        </p:spPr>
        <p:txBody>
          <a:bodyPr/>
          <a:lstStyle/>
          <a:p>
            <a:r>
              <a:rPr lang="zh-CN" altLang="en-US" dirty="0">
                <a:solidFill>
                  <a:srgbClr val="E6575D"/>
                </a:solidFill>
              </a:rPr>
              <a:t>邻接表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00695" y="771192"/>
            <a:ext cx="2893254" cy="34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/>
              <a:t>增加边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90404" y="1235394"/>
            <a:ext cx="3616425" cy="3334887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21" dirty="0"/>
              <a:t>public void addVex(){</a:t>
            </a:r>
          </a:p>
          <a:p>
            <a:r>
              <a:rPr lang="zh-CN" altLang="en-US" sz="1621" dirty="0"/>
              <a:t>System.out.println("请输入所加顶点");</a:t>
            </a:r>
          </a:p>
          <a:p>
            <a:r>
              <a:rPr lang="zh-CN" altLang="en-US" sz="1621" dirty="0"/>
              <a:t>Scanner sc=new Scanner(System.in);</a:t>
            </a:r>
          </a:p>
          <a:p>
            <a:r>
              <a:rPr lang="zh-CN" altLang="en-US" sz="1621" dirty="0"/>
              <a:t>VNode s=new VNode(sc.next());</a:t>
            </a:r>
          </a:p>
          <a:p>
            <a:r>
              <a:rPr lang="zh-CN" altLang="en-US" sz="1621" dirty="0"/>
              <a:t>VNode vexs2[]=new VNode[vexNum+1];</a:t>
            </a:r>
          </a:p>
          <a:p>
            <a:r>
              <a:rPr lang="zh-CN" altLang="en-US" sz="1621" dirty="0"/>
              <a:t>System.arraycopy(vexs, 0, vexs2, 0, vexNum);</a:t>
            </a:r>
          </a:p>
          <a:p>
            <a:r>
              <a:rPr lang="zh-CN" altLang="en-US" sz="1621" dirty="0"/>
              <a:t>vexs2[vexNum]=s;</a:t>
            </a:r>
          </a:p>
          <a:p>
            <a:r>
              <a:rPr lang="zh-CN" altLang="en-US" sz="1621" dirty="0"/>
              <a:t>vexs=new VNode[vexNum+1];</a:t>
            </a:r>
          </a:p>
          <a:p>
            <a:r>
              <a:rPr lang="en-US" altLang="zh-CN" sz="1621" dirty="0"/>
              <a:t>S</a:t>
            </a:r>
            <a:r>
              <a:rPr lang="zh-CN" altLang="en-US" sz="1621" dirty="0"/>
              <a:t>ystem.arraycopy(vexs2,0,vexs,0,vexNum+1);</a:t>
            </a:r>
          </a:p>
          <a:p>
            <a:r>
              <a:rPr lang="zh-CN" altLang="en-US" sz="1621" dirty="0"/>
              <a:t>		vexNum++;</a:t>
            </a:r>
          </a:p>
          <a:p>
            <a:r>
              <a:rPr lang="zh-CN" altLang="en-US" sz="1621" dirty="0"/>
              <a:t>	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634884" y="1200521"/>
            <a:ext cx="3641579" cy="30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执行结果</a:t>
            </a:r>
          </a:p>
          <a:p>
            <a:r>
              <a:rPr lang="zh-CN" altLang="en-US" sz="1621" dirty="0"/>
              <a:t>请输入所加顶点</a:t>
            </a:r>
          </a:p>
          <a:p>
            <a:r>
              <a:rPr lang="zh-CN" altLang="en-US" sz="1621" dirty="0"/>
              <a:t>F</a:t>
            </a:r>
          </a:p>
          <a:p>
            <a:r>
              <a:rPr lang="zh-CN" altLang="en-US" sz="1621" dirty="0"/>
              <a:t>A-&gt;C  B-&gt;E  B-&gt;D  C-&gt;E  C-&gt;A  D-&gt;B  E-&gt;C  E-&gt;B  </a:t>
            </a:r>
          </a:p>
          <a:p>
            <a:r>
              <a:rPr lang="zh-CN" altLang="en-US" sz="1621" dirty="0"/>
              <a:t>该图的存储结构：</a:t>
            </a:r>
          </a:p>
          <a:p>
            <a:r>
              <a:rPr lang="zh-CN" altLang="en-US" sz="1621" dirty="0"/>
              <a:t>A--&gt;C</a:t>
            </a:r>
          </a:p>
          <a:p>
            <a:r>
              <a:rPr lang="zh-CN" altLang="en-US" sz="1621" dirty="0"/>
              <a:t>B--&gt;E--&gt;D</a:t>
            </a:r>
          </a:p>
          <a:p>
            <a:r>
              <a:rPr lang="zh-CN" altLang="en-US" sz="1621" dirty="0"/>
              <a:t>C--&gt;E--&gt;A</a:t>
            </a:r>
          </a:p>
          <a:p>
            <a:r>
              <a:rPr lang="zh-CN" altLang="en-US" sz="1621" dirty="0"/>
              <a:t>D--&gt;B</a:t>
            </a:r>
          </a:p>
          <a:p>
            <a:r>
              <a:rPr lang="zh-CN" altLang="en-US" sz="1621" dirty="0"/>
              <a:t>E--&gt;C--&gt;B</a:t>
            </a:r>
          </a:p>
          <a:p>
            <a:r>
              <a:rPr lang="zh-CN" altLang="en-US" sz="1621" dirty="0"/>
              <a:t>F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712515B-B8F0-4180-9760-76392B8BE892}"/>
              </a:ext>
            </a:extLst>
          </p:cNvPr>
          <p:cNvSpPr/>
          <p:nvPr/>
        </p:nvSpPr>
        <p:spPr>
          <a:xfrm>
            <a:off x="179512" y="1001688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320131" y="-10052"/>
            <a:ext cx="7408926" cy="857515"/>
          </a:xfrm>
        </p:spPr>
        <p:txBody>
          <a:bodyPr/>
          <a:lstStyle/>
          <a:p>
            <a:r>
              <a:rPr lang="zh-CN" altLang="en-US" dirty="0">
                <a:solidFill>
                  <a:srgbClr val="E6575D"/>
                </a:solidFill>
              </a:rPr>
              <a:t>邻接表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05268" y="781482"/>
            <a:ext cx="1851660" cy="34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删除顶点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80729" y="1200521"/>
            <a:ext cx="3457499" cy="3859518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440" dirty="0"/>
              <a:t>public void deleteVex(){</a:t>
            </a:r>
          </a:p>
          <a:p>
            <a:r>
              <a:rPr lang="zh-CN" altLang="en-US" sz="1440" dirty="0"/>
              <a:t>System.out.println("请输入所删除顶点");</a:t>
            </a:r>
          </a:p>
          <a:p>
            <a:r>
              <a:rPr lang="zh-CN" altLang="en-US" sz="1440" dirty="0"/>
              <a:t>Scanner sc=new Scanner(System.in);</a:t>
            </a:r>
          </a:p>
          <a:p>
            <a:r>
              <a:rPr lang="zh-CN" altLang="en-US" sz="1440" dirty="0"/>
              <a:t>int n=locateVex(sc.next());</a:t>
            </a:r>
          </a:p>
          <a:p>
            <a:r>
              <a:rPr lang="zh-CN" altLang="en-US" sz="1440" dirty="0"/>
              <a:t>vexs[n]=null;</a:t>
            </a:r>
          </a:p>
          <a:p>
            <a:r>
              <a:rPr lang="zh-CN" altLang="en-US" sz="1440" dirty="0"/>
              <a:t>for(int j=n;j&lt;vexNum-1;j++){		vexs[j]=vexs[j+1];</a:t>
            </a:r>
          </a:p>
          <a:p>
            <a:r>
              <a:rPr lang="zh-CN" altLang="en-US" sz="1440" dirty="0"/>
              <a:t>		}</a:t>
            </a:r>
          </a:p>
          <a:p>
            <a:r>
              <a:rPr lang="zh-CN" altLang="en-US" sz="1440" dirty="0"/>
              <a:t>vexs[vexNum-1]=null;</a:t>
            </a:r>
          </a:p>
          <a:p>
            <a:r>
              <a:rPr lang="zh-CN" altLang="en-US" sz="1440" dirty="0"/>
              <a:t>for(int i=0;i&lt;vexNum-1;i++){</a:t>
            </a:r>
          </a:p>
          <a:p>
            <a:r>
              <a:rPr lang="zh-CN" altLang="en-US" sz="1440" dirty="0"/>
              <a:t>deleteArc(i,n);</a:t>
            </a:r>
          </a:p>
          <a:p>
            <a:r>
              <a:rPr lang="zh-CN" altLang="en-US" sz="1440" dirty="0"/>
              <a:t>ArcNode p=vexs[i].firstArc;</a:t>
            </a:r>
          </a:p>
          <a:p>
            <a:r>
              <a:rPr lang="zh-CN" altLang="en-US" sz="1440" dirty="0"/>
              <a:t>while(p!=null){</a:t>
            </a:r>
          </a:p>
          <a:p>
            <a:r>
              <a:rPr lang="zh-CN" altLang="en-US" sz="1440" dirty="0"/>
              <a:t>if(p.adjVex&gt;n){</a:t>
            </a:r>
          </a:p>
          <a:p>
            <a:r>
              <a:rPr lang="zh-CN" altLang="en-US" sz="1440" dirty="0"/>
              <a:t>p.adjVex--;</a:t>
            </a:r>
          </a:p>
          <a:p>
            <a:r>
              <a:rPr lang="zh-CN" altLang="en-US" sz="1440" dirty="0"/>
              <a:t>}</a:t>
            </a:r>
          </a:p>
          <a:p>
            <a:r>
              <a:rPr lang="zh-CN" altLang="en-US" sz="1440" dirty="0"/>
              <a:t>p=p.nextArc;</a:t>
            </a:r>
            <a:endParaRPr lang="zh-CN" altLang="en-US" sz="1621" dirty="0"/>
          </a:p>
        </p:txBody>
      </p:sp>
      <p:sp>
        <p:nvSpPr>
          <p:cNvPr id="6" name="文本框 5"/>
          <p:cNvSpPr txBox="1"/>
          <p:nvPr/>
        </p:nvSpPr>
        <p:spPr>
          <a:xfrm>
            <a:off x="4607444" y="1214241"/>
            <a:ext cx="3659301" cy="2586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 dirty="0"/>
              <a:t>请输入所删除顶点</a:t>
            </a:r>
          </a:p>
          <a:p>
            <a:r>
              <a:rPr lang="zh-CN" altLang="en-US" sz="1621" dirty="0"/>
              <a:t>F</a:t>
            </a:r>
          </a:p>
          <a:p>
            <a:r>
              <a:rPr lang="zh-CN" altLang="en-US" sz="1621" dirty="0"/>
              <a:t>A-&gt;C  B-&gt;E  B-&gt;D  C-&gt;E  C-&gt;A  D-&gt;B  E-&gt;C  E-&gt;B  </a:t>
            </a:r>
          </a:p>
          <a:p>
            <a:r>
              <a:rPr lang="zh-CN" altLang="en-US" sz="1621" dirty="0"/>
              <a:t>该图的存储结构：</a:t>
            </a:r>
          </a:p>
          <a:p>
            <a:r>
              <a:rPr lang="zh-CN" altLang="en-US" sz="1621" dirty="0"/>
              <a:t>A--&gt;C</a:t>
            </a:r>
          </a:p>
          <a:p>
            <a:r>
              <a:rPr lang="zh-CN" altLang="en-US" sz="1621" dirty="0"/>
              <a:t>B--&gt;E--&gt;D</a:t>
            </a:r>
          </a:p>
          <a:p>
            <a:r>
              <a:rPr lang="zh-CN" altLang="en-US" sz="1621" dirty="0"/>
              <a:t>C--&gt;E--&gt;A</a:t>
            </a:r>
          </a:p>
          <a:p>
            <a:r>
              <a:rPr lang="zh-CN" altLang="en-US" sz="1621" dirty="0"/>
              <a:t>D--&gt;B</a:t>
            </a:r>
          </a:p>
          <a:p>
            <a:r>
              <a:rPr lang="zh-CN" altLang="en-US" sz="1621" dirty="0"/>
              <a:t>E--&gt;C--&gt;B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3E0017-7231-4BC7-8657-3B71A2D5665F}"/>
              </a:ext>
            </a:extLst>
          </p:cNvPr>
          <p:cNvSpPr/>
          <p:nvPr/>
        </p:nvSpPr>
        <p:spPr>
          <a:xfrm>
            <a:off x="108085" y="977216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2268680" y="61979"/>
            <a:ext cx="7408926" cy="857515"/>
          </a:xfrm>
        </p:spPr>
        <p:txBody>
          <a:bodyPr/>
          <a:lstStyle/>
          <a:p>
            <a:r>
              <a:rPr lang="zh-CN" altLang="en-US" dirty="0">
                <a:solidFill>
                  <a:srgbClr val="E6575D"/>
                </a:solidFill>
              </a:rPr>
              <a:t>邻接表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66966" y="832933"/>
            <a:ext cx="1695020" cy="341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21"/>
              <a:t>求顶点的度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66966" y="1205061"/>
            <a:ext cx="3629573" cy="4083169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21" dirty="0"/>
              <a:t>有向</a:t>
            </a:r>
          </a:p>
          <a:p>
            <a:r>
              <a:rPr lang="zh-CN" altLang="en-US" sz="1621" dirty="0"/>
              <a:t>ArcNode p=vexs[v].firstArc;</a:t>
            </a:r>
          </a:p>
          <a:p>
            <a:r>
              <a:rPr lang="zh-CN" altLang="en-US" sz="1621" dirty="0"/>
              <a:t>while(p!=null){</a:t>
            </a:r>
          </a:p>
          <a:p>
            <a:r>
              <a:rPr lang="zh-CN" altLang="en-US" sz="1621" dirty="0"/>
              <a:t>p=p.nextArc;</a:t>
            </a:r>
          </a:p>
          <a:p>
            <a:r>
              <a:rPr lang="zh-CN" altLang="en-US" sz="1621" dirty="0"/>
              <a:t>out++;</a:t>
            </a:r>
          </a:p>
          <a:p>
            <a:r>
              <a:rPr lang="zh-CN" altLang="en-US" sz="1621" dirty="0"/>
              <a:t>}</a:t>
            </a:r>
          </a:p>
          <a:p>
            <a:r>
              <a:rPr lang="zh-CN" altLang="en-US" sz="1621" dirty="0"/>
              <a:t>for(int i=0;i&lt;vexNum;i++){</a:t>
            </a:r>
          </a:p>
          <a:p>
            <a:r>
              <a:rPr lang="zh-CN" altLang="en-US" sz="1621" dirty="0"/>
              <a:t>for(ArcNode ar=vexs[i].firstArc;ar!=null;ar=ar.nextArc){</a:t>
            </a:r>
          </a:p>
          <a:p>
            <a:r>
              <a:rPr lang="zh-CN" altLang="en-US" sz="1621" dirty="0"/>
              <a:t>if(ar.adjVex==v){</a:t>
            </a:r>
          </a:p>
          <a:p>
            <a:r>
              <a:rPr lang="zh-CN" altLang="en-US" sz="1621" dirty="0"/>
              <a:t>in++;</a:t>
            </a:r>
          </a:p>
          <a:p>
            <a:r>
              <a:rPr lang="zh-CN" altLang="en-US" sz="1621" dirty="0"/>
              <a:t>break;</a:t>
            </a:r>
          </a:p>
          <a:p>
            <a:r>
              <a:rPr lang="zh-CN" altLang="en-US" sz="1621" dirty="0"/>
              <a:t>}</a:t>
            </a:r>
          </a:p>
          <a:p>
            <a:r>
              <a:rPr lang="zh-CN" altLang="en-US" sz="1621" dirty="0"/>
              <a:t>				}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33213" y="1203951"/>
            <a:ext cx="3598703" cy="3584315"/>
          </a:xfrm>
          <a:prstGeom prst="rect">
            <a:avLst/>
          </a:prstGeom>
          <a:noFill/>
          <a:ln w="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21" dirty="0"/>
              <a:t>无向</a:t>
            </a:r>
          </a:p>
          <a:p>
            <a:r>
              <a:rPr lang="zh-CN" altLang="en-US" sz="1621" dirty="0"/>
              <a:t>ArcNode q=vexs[v].firstArc;</a:t>
            </a:r>
          </a:p>
          <a:p>
            <a:r>
              <a:rPr lang="zh-CN" altLang="en-US" sz="1621" dirty="0"/>
              <a:t>while(q!=null){</a:t>
            </a:r>
          </a:p>
          <a:p>
            <a:r>
              <a:rPr lang="zh-CN" altLang="en-US" sz="1621" dirty="0"/>
              <a:t>q=q.nextArc;</a:t>
            </a:r>
          </a:p>
          <a:p>
            <a:r>
              <a:rPr lang="zh-CN" altLang="en-US" sz="1621" dirty="0"/>
              <a:t>num++;</a:t>
            </a:r>
          </a:p>
          <a:p>
            <a:r>
              <a:rPr lang="zh-CN" altLang="en-US" sz="1621" dirty="0"/>
              <a:t>}System.out.println("顶点"+getVex(v)+"的度为:"+num);</a:t>
            </a:r>
          </a:p>
          <a:p>
            <a:r>
              <a:rPr lang="zh-CN" altLang="en-US" sz="1621" dirty="0"/>
              <a:t>break;</a:t>
            </a:r>
          </a:p>
          <a:p>
            <a:r>
              <a:rPr lang="zh-CN" altLang="en-US" sz="1621" dirty="0"/>
              <a:t>default:</a:t>
            </a:r>
          </a:p>
          <a:p>
            <a:r>
              <a:rPr lang="zh-CN" altLang="en-US" sz="1621" dirty="0"/>
              <a:t>break;</a:t>
            </a:r>
          </a:p>
          <a:p>
            <a:r>
              <a:rPr lang="zh-CN" altLang="en-US" sz="1621" dirty="0"/>
              <a:t>		</a:t>
            </a:r>
          </a:p>
          <a:p>
            <a:r>
              <a:rPr lang="zh-CN" altLang="en-US" sz="1621" dirty="0"/>
              <a:t>		}</a:t>
            </a:r>
          </a:p>
          <a:p>
            <a:endParaRPr lang="zh-CN" altLang="en-US" sz="1621" dirty="0"/>
          </a:p>
          <a:p>
            <a:endParaRPr lang="zh-CN" altLang="en-US" sz="162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2BD2E06-EC8E-4240-8AC2-3D68DD685B57}"/>
              </a:ext>
            </a:extLst>
          </p:cNvPr>
          <p:cNvSpPr/>
          <p:nvPr/>
        </p:nvSpPr>
        <p:spPr>
          <a:xfrm>
            <a:off x="78930" y="1003813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97898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转换：</a:t>
            </a:r>
            <a:endParaRPr lang="en-US" altLang="zh-CN" sz="2881" b="1" dirty="0">
              <a:solidFill>
                <a:srgbClr val="E6575D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0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邻接表到邻接矩阵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779912" y="105761"/>
            <a:ext cx="4623366" cy="513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60" b="1" dirty="0"/>
              <a:t>public</a:t>
            </a:r>
            <a:r>
              <a:rPr lang="en-US" altLang="zh-CN" sz="1260" dirty="0"/>
              <a:t> </a:t>
            </a:r>
            <a:r>
              <a:rPr lang="en-US" altLang="zh-CN" sz="1260" b="1" dirty="0"/>
              <a:t>class</a:t>
            </a:r>
            <a:r>
              <a:rPr lang="en-US" altLang="zh-CN" sz="1260" dirty="0"/>
              <a:t> </a:t>
            </a:r>
            <a:r>
              <a:rPr lang="en-US" altLang="zh-CN" sz="1260" dirty="0" err="1"/>
              <a:t>BothGraph</a:t>
            </a:r>
            <a:r>
              <a:rPr lang="en-US" altLang="zh-CN" sz="1260" dirty="0"/>
              <a:t> {		</a:t>
            </a:r>
          </a:p>
          <a:p>
            <a:r>
              <a:rPr lang="en-US" altLang="zh-CN" sz="1260" b="1" dirty="0"/>
              <a:t>public</a:t>
            </a:r>
            <a:r>
              <a:rPr lang="en-US" altLang="zh-CN" sz="1260" dirty="0"/>
              <a:t> </a:t>
            </a:r>
            <a:r>
              <a:rPr lang="en-US" altLang="zh-CN" sz="1260" dirty="0" err="1"/>
              <a:t>ALGraph</a:t>
            </a:r>
            <a:r>
              <a:rPr lang="en-US" altLang="zh-CN" sz="1260" dirty="0"/>
              <a:t> </a:t>
            </a:r>
            <a:r>
              <a:rPr lang="en-US" altLang="zh-CN" sz="1260" dirty="0" err="1"/>
              <a:t>convertMToAL</a:t>
            </a:r>
            <a:r>
              <a:rPr lang="en-US" altLang="zh-CN" sz="1260" dirty="0"/>
              <a:t>(</a:t>
            </a:r>
            <a:r>
              <a:rPr lang="en-US" altLang="zh-CN" sz="1260" dirty="0" err="1"/>
              <a:t>MGraph</a:t>
            </a:r>
            <a:r>
              <a:rPr lang="en-US" altLang="zh-CN" sz="1260" dirty="0"/>
              <a:t> G){		</a:t>
            </a:r>
          </a:p>
          <a:p>
            <a:r>
              <a:rPr lang="en-US" altLang="zh-CN" sz="1260" dirty="0" err="1"/>
              <a:t>ALGraph</a:t>
            </a:r>
            <a:r>
              <a:rPr lang="en-US" altLang="zh-CN" sz="1260" dirty="0"/>
              <a:t> G2=</a:t>
            </a:r>
            <a:r>
              <a:rPr lang="en-US" altLang="zh-CN" sz="1260" b="1" dirty="0"/>
              <a:t>new</a:t>
            </a:r>
            <a:r>
              <a:rPr lang="en-US" altLang="zh-CN" sz="1260" dirty="0"/>
              <a:t> </a:t>
            </a:r>
            <a:r>
              <a:rPr lang="en-US" altLang="zh-CN" sz="1260" dirty="0" err="1"/>
              <a:t>ALGraph</a:t>
            </a:r>
            <a:r>
              <a:rPr lang="en-US" altLang="zh-CN" sz="1260" dirty="0"/>
              <a:t>();</a:t>
            </a:r>
          </a:p>
          <a:p>
            <a:r>
              <a:rPr lang="en-US" altLang="zh-CN" sz="1260" dirty="0"/>
              <a:t>G2.setKind(</a:t>
            </a:r>
            <a:r>
              <a:rPr lang="en-US" altLang="zh-CN" sz="1260" dirty="0" err="1"/>
              <a:t>G.getKind</a:t>
            </a:r>
            <a:r>
              <a:rPr lang="en-US" altLang="zh-CN" sz="1260" dirty="0"/>
              <a:t>());//</a:t>
            </a:r>
            <a:r>
              <a:rPr lang="zh-CN" altLang="zh-CN" sz="1260" dirty="0"/>
              <a:t>得到图的种类标志 ： 无向图还是有向图</a:t>
            </a:r>
          </a:p>
          <a:p>
            <a:r>
              <a:rPr lang="en-US" altLang="zh-CN" sz="1260" dirty="0"/>
              <a:t>G2.setVexNum(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());//</a:t>
            </a:r>
            <a:r>
              <a:rPr lang="zh-CN" altLang="zh-CN" sz="1260" dirty="0"/>
              <a:t>获取邻接矩阵中结点的个数</a:t>
            </a:r>
          </a:p>
          <a:p>
            <a:r>
              <a:rPr lang="en-US" altLang="zh-CN" sz="1260" dirty="0"/>
              <a:t>G2.setArcNum(</a:t>
            </a:r>
            <a:r>
              <a:rPr lang="en-US" altLang="zh-CN" sz="1260" dirty="0" err="1"/>
              <a:t>G.getArcNum</a:t>
            </a:r>
            <a:r>
              <a:rPr lang="en-US" altLang="zh-CN" sz="1260" dirty="0"/>
              <a:t>());//</a:t>
            </a:r>
            <a:r>
              <a:rPr lang="zh-CN" altLang="zh-CN" sz="1260" dirty="0"/>
              <a:t>获取邻接矩阵中边的条数</a:t>
            </a:r>
          </a:p>
          <a:p>
            <a:r>
              <a:rPr lang="en-US" altLang="zh-CN" sz="1260" dirty="0"/>
              <a:t>Object a[]=</a:t>
            </a:r>
            <a:r>
              <a:rPr lang="en-US" altLang="zh-CN" sz="1260" dirty="0" err="1"/>
              <a:t>G.getVexs</a:t>
            </a:r>
            <a:r>
              <a:rPr lang="en-US" altLang="zh-CN" sz="1260" dirty="0"/>
              <a:t>();//</a:t>
            </a:r>
            <a:r>
              <a:rPr lang="zh-CN" altLang="zh-CN" sz="1260" dirty="0"/>
              <a:t>把获得的结点存放到数组</a:t>
            </a:r>
            <a:r>
              <a:rPr lang="en-US" altLang="zh-CN" sz="1260" dirty="0"/>
              <a:t>a[]</a:t>
            </a:r>
            <a:endParaRPr lang="zh-CN" altLang="zh-CN" sz="1260" dirty="0"/>
          </a:p>
          <a:p>
            <a:r>
              <a:rPr lang="en-US" altLang="zh-CN" sz="1260" dirty="0" err="1"/>
              <a:t>VNode</a:t>
            </a:r>
            <a:r>
              <a:rPr lang="en-US" altLang="zh-CN" sz="1260" dirty="0"/>
              <a:t> b[]=</a:t>
            </a:r>
            <a:r>
              <a:rPr lang="en-US" altLang="zh-CN" sz="1260" b="1" dirty="0"/>
              <a:t>new</a:t>
            </a:r>
            <a:r>
              <a:rPr lang="en-US" altLang="zh-CN" sz="1260" dirty="0"/>
              <a:t> </a:t>
            </a:r>
            <a:r>
              <a:rPr lang="en-US" altLang="zh-CN" sz="1260" dirty="0" err="1"/>
              <a:t>VNode</a:t>
            </a:r>
            <a:r>
              <a:rPr lang="en-US" altLang="zh-CN" sz="1260" dirty="0"/>
              <a:t>[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()];//</a:t>
            </a:r>
            <a:r>
              <a:rPr lang="zh-CN" altLang="zh-CN" sz="1260" dirty="0"/>
              <a:t>新建一个结点数目大小的数组</a:t>
            </a:r>
            <a:r>
              <a:rPr lang="en-US" altLang="zh-CN" sz="1260" dirty="0"/>
              <a:t>  </a:t>
            </a:r>
            <a:r>
              <a:rPr lang="zh-CN" altLang="zh-CN" sz="1260" dirty="0"/>
              <a:t>是顶点结点类的</a:t>
            </a:r>
          </a:p>
          <a:p>
            <a:r>
              <a:rPr lang="en-US" altLang="zh-CN" sz="1260" b="1" dirty="0"/>
              <a:t>for</a:t>
            </a:r>
            <a:r>
              <a:rPr lang="en-US" altLang="zh-CN" sz="1260" dirty="0"/>
              <a:t>(</a:t>
            </a:r>
            <a:r>
              <a:rPr lang="en-US" altLang="zh-CN" sz="1260" b="1" dirty="0" err="1"/>
              <a:t>int</a:t>
            </a:r>
            <a:r>
              <a:rPr lang="en-US" altLang="zh-CN" sz="1260" dirty="0"/>
              <a:t> i=0;i&lt;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();i++){</a:t>
            </a:r>
          </a:p>
          <a:p>
            <a:r>
              <a:rPr lang="en-US" altLang="zh-CN" sz="1260" dirty="0"/>
              <a:t>b[i]=</a:t>
            </a:r>
            <a:r>
              <a:rPr lang="en-US" altLang="zh-CN" sz="1260" b="1" dirty="0"/>
              <a:t>new</a:t>
            </a:r>
            <a:r>
              <a:rPr lang="en-US" altLang="zh-CN" sz="1260" dirty="0"/>
              <a:t> </a:t>
            </a:r>
            <a:r>
              <a:rPr lang="en-US" altLang="zh-CN" sz="1260" dirty="0" err="1"/>
              <a:t>VNode</a:t>
            </a:r>
            <a:r>
              <a:rPr lang="en-US" altLang="zh-CN" sz="1260" dirty="0"/>
              <a:t>(a[i]);</a:t>
            </a:r>
            <a:endParaRPr lang="zh-CN" altLang="zh-CN" sz="1260" dirty="0"/>
          </a:p>
          <a:p>
            <a:r>
              <a:rPr lang="en-US" altLang="zh-CN" sz="1260" dirty="0"/>
              <a:t>}</a:t>
            </a:r>
            <a:endParaRPr lang="zh-CN" altLang="zh-CN" sz="1260" dirty="0"/>
          </a:p>
          <a:p>
            <a:r>
              <a:rPr lang="en-US" altLang="zh-CN" sz="1260" dirty="0"/>
              <a:t>G2.setVexs(b);</a:t>
            </a:r>
            <a:endParaRPr lang="zh-CN" altLang="zh-CN" sz="1260" dirty="0"/>
          </a:p>
          <a:p>
            <a:r>
              <a:rPr lang="en-US" altLang="zh-CN" sz="1260" b="1" dirty="0" err="1"/>
              <a:t>int</a:t>
            </a:r>
            <a:r>
              <a:rPr lang="en-US" altLang="zh-CN" sz="1260" dirty="0"/>
              <a:t> c[][]=</a:t>
            </a:r>
            <a:r>
              <a:rPr lang="en-US" altLang="zh-CN" sz="1260" dirty="0" err="1"/>
              <a:t>G.getArcs</a:t>
            </a:r>
            <a:r>
              <a:rPr lang="en-US" altLang="zh-CN" sz="1260" dirty="0"/>
              <a:t>();//</a:t>
            </a:r>
            <a:r>
              <a:rPr lang="zh-CN" altLang="zh-CN" sz="1260" dirty="0"/>
              <a:t>把邻接矩阵中的边存放到二维数组</a:t>
            </a:r>
            <a:r>
              <a:rPr lang="en-US" altLang="zh-CN" sz="1260" dirty="0"/>
              <a:t>c</a:t>
            </a:r>
            <a:r>
              <a:rPr lang="zh-CN" altLang="zh-CN" sz="1260" dirty="0"/>
              <a:t>中</a:t>
            </a:r>
          </a:p>
          <a:p>
            <a:r>
              <a:rPr lang="en-US" altLang="zh-CN" sz="1260" b="1" dirty="0"/>
              <a:t>for</a:t>
            </a:r>
            <a:r>
              <a:rPr lang="en-US" altLang="zh-CN" sz="1260" dirty="0"/>
              <a:t>(</a:t>
            </a:r>
            <a:r>
              <a:rPr lang="en-US" altLang="zh-CN" sz="1260" b="1" dirty="0" err="1"/>
              <a:t>int</a:t>
            </a:r>
            <a:r>
              <a:rPr lang="en-US" altLang="zh-CN" sz="1260" dirty="0"/>
              <a:t> i=0;i&lt;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();i++){</a:t>
            </a:r>
            <a:endParaRPr lang="zh-CN" altLang="zh-CN" sz="1260" dirty="0"/>
          </a:p>
          <a:p>
            <a:r>
              <a:rPr lang="en-US" altLang="zh-CN" sz="1260" b="1" dirty="0"/>
              <a:t>for</a:t>
            </a:r>
            <a:r>
              <a:rPr lang="en-US" altLang="zh-CN" sz="1260" dirty="0"/>
              <a:t>(</a:t>
            </a:r>
            <a:r>
              <a:rPr lang="en-US" altLang="zh-CN" sz="1260" b="1" dirty="0" err="1"/>
              <a:t>int</a:t>
            </a:r>
            <a:r>
              <a:rPr lang="en-US" altLang="zh-CN" sz="1260" dirty="0"/>
              <a:t> j=0;j&lt;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();j++){</a:t>
            </a:r>
            <a:endParaRPr lang="zh-CN" altLang="zh-CN" sz="1260" dirty="0"/>
          </a:p>
          <a:p>
            <a:r>
              <a:rPr lang="en-US" altLang="zh-CN" sz="1260" b="1" dirty="0"/>
              <a:t>if</a:t>
            </a:r>
            <a:r>
              <a:rPr lang="en-US" altLang="zh-CN" sz="1260" dirty="0"/>
              <a:t>(c[i][j]==1){</a:t>
            </a:r>
          </a:p>
          <a:p>
            <a:r>
              <a:rPr lang="en-US" altLang="zh-CN" sz="1260" dirty="0"/>
              <a:t>G2.addArc(</a:t>
            </a:r>
            <a:r>
              <a:rPr lang="en-US" altLang="zh-CN" sz="1260" dirty="0" err="1"/>
              <a:t>i,j</a:t>
            </a:r>
            <a:r>
              <a:rPr lang="en-US" altLang="zh-CN" sz="1260" dirty="0"/>
              <a:t>);</a:t>
            </a:r>
            <a:endParaRPr lang="zh-CN" altLang="zh-CN" sz="1260" dirty="0"/>
          </a:p>
          <a:p>
            <a:r>
              <a:rPr lang="en-US" altLang="zh-CN" sz="1260" dirty="0"/>
              <a:t>}</a:t>
            </a:r>
            <a:endParaRPr lang="zh-CN" altLang="zh-CN" sz="1260" dirty="0"/>
          </a:p>
          <a:p>
            <a:r>
              <a:rPr lang="en-US" altLang="zh-CN" sz="1260" dirty="0"/>
              <a:t>}</a:t>
            </a:r>
            <a:endParaRPr lang="zh-CN" altLang="zh-CN" sz="1260" dirty="0"/>
          </a:p>
          <a:p>
            <a:r>
              <a:rPr lang="en-US" altLang="zh-CN" sz="1260" dirty="0"/>
              <a:t>}</a:t>
            </a:r>
            <a:endParaRPr lang="zh-CN" altLang="zh-CN" sz="1260" dirty="0"/>
          </a:p>
          <a:p>
            <a:r>
              <a:rPr lang="en-US" altLang="zh-CN" sz="1260" b="1" dirty="0"/>
              <a:t>return</a:t>
            </a:r>
            <a:r>
              <a:rPr lang="en-US" altLang="zh-CN" sz="1260" dirty="0"/>
              <a:t> G2;</a:t>
            </a:r>
          </a:p>
          <a:p>
            <a:r>
              <a:rPr lang="en-US" altLang="zh-CN" sz="1260" dirty="0"/>
              <a:t>}</a:t>
            </a:r>
            <a:endParaRPr lang="zh-CN" altLang="zh-CN" sz="1260" dirty="0"/>
          </a:p>
          <a:p>
            <a:endParaRPr lang="zh-CN" altLang="en-US" sz="126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38FD9D-E9C2-4D05-B681-EE1CD15DC824}"/>
              </a:ext>
            </a:extLst>
          </p:cNvPr>
          <p:cNvSpPr/>
          <p:nvPr/>
        </p:nvSpPr>
        <p:spPr>
          <a:xfrm>
            <a:off x="2323878" y="105761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矩形 40"/>
          <p:cNvSpPr/>
          <p:nvPr/>
        </p:nvSpPr>
        <p:spPr>
          <a:xfrm>
            <a:off x="553115" y="105761"/>
            <a:ext cx="8134955" cy="978986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转换：</a:t>
            </a:r>
            <a:endParaRPr lang="en-US" altLang="zh-CN" sz="2881" b="1" dirty="0">
              <a:solidFill>
                <a:srgbClr val="E6575D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2881" b="1" dirty="0">
                <a:solidFill>
                  <a:srgbClr val="E6575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邻接矩阵到邻接表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3902541" y="0"/>
            <a:ext cx="4623366" cy="552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60" b="1" dirty="0"/>
              <a:t>public</a:t>
            </a:r>
            <a:r>
              <a:rPr lang="en-US" altLang="zh-CN" sz="1260" dirty="0"/>
              <a:t> </a:t>
            </a:r>
            <a:r>
              <a:rPr lang="en-US" altLang="zh-CN" sz="1260" dirty="0" err="1"/>
              <a:t>MGraph</a:t>
            </a:r>
            <a:r>
              <a:rPr lang="en-US" altLang="zh-CN" sz="1260" dirty="0"/>
              <a:t> </a:t>
            </a:r>
            <a:r>
              <a:rPr lang="en-US" altLang="zh-CN" sz="1260" dirty="0" err="1"/>
              <a:t>convertALToM</a:t>
            </a:r>
            <a:r>
              <a:rPr lang="en-US" altLang="zh-CN" sz="1260" dirty="0"/>
              <a:t>(</a:t>
            </a:r>
            <a:r>
              <a:rPr lang="en-US" altLang="zh-CN" sz="1260" dirty="0" err="1"/>
              <a:t>ALGraph</a:t>
            </a:r>
            <a:r>
              <a:rPr lang="en-US" altLang="zh-CN" sz="1260" dirty="0"/>
              <a:t> g){</a:t>
            </a:r>
            <a:endParaRPr lang="zh-CN" altLang="zh-CN" sz="1260" dirty="0"/>
          </a:p>
          <a:p>
            <a:r>
              <a:rPr lang="en-US" altLang="zh-CN" sz="1260" dirty="0" err="1"/>
              <a:t>MGraph</a:t>
            </a:r>
            <a:r>
              <a:rPr lang="en-US" altLang="zh-CN" sz="1260" dirty="0"/>
              <a:t> G3=</a:t>
            </a:r>
            <a:r>
              <a:rPr lang="en-US" altLang="zh-CN" sz="1260" b="1" dirty="0"/>
              <a:t>new</a:t>
            </a:r>
            <a:r>
              <a:rPr lang="en-US" altLang="zh-CN" sz="1260" dirty="0"/>
              <a:t> </a:t>
            </a:r>
            <a:r>
              <a:rPr lang="en-US" altLang="zh-CN" sz="1260" dirty="0" err="1"/>
              <a:t>MGraph</a:t>
            </a:r>
            <a:r>
              <a:rPr lang="en-US" altLang="zh-CN" sz="1260" dirty="0"/>
              <a:t>();</a:t>
            </a:r>
            <a:endParaRPr lang="zh-CN" altLang="zh-CN" sz="1260" dirty="0"/>
          </a:p>
          <a:p>
            <a:r>
              <a:rPr lang="en-US" altLang="zh-CN" sz="1260" dirty="0"/>
              <a:t>G3.setKind(</a:t>
            </a:r>
            <a:r>
              <a:rPr lang="en-US" altLang="zh-CN" sz="1260" dirty="0" err="1"/>
              <a:t>g.getKind</a:t>
            </a:r>
            <a:r>
              <a:rPr lang="en-US" altLang="zh-CN" sz="1260" dirty="0"/>
              <a:t>());</a:t>
            </a:r>
            <a:endParaRPr lang="zh-CN" altLang="zh-CN" sz="1260" dirty="0"/>
          </a:p>
          <a:p>
            <a:r>
              <a:rPr lang="en-US" altLang="zh-CN" sz="1260" dirty="0"/>
              <a:t>G3.setVexNum(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());</a:t>
            </a:r>
            <a:endParaRPr lang="zh-CN" altLang="zh-CN" sz="1260" dirty="0"/>
          </a:p>
          <a:p>
            <a:r>
              <a:rPr lang="en-US" altLang="zh-CN" sz="1260" dirty="0"/>
              <a:t>G3.setArcNum(</a:t>
            </a:r>
            <a:r>
              <a:rPr lang="en-US" altLang="zh-CN" sz="1260" dirty="0" err="1"/>
              <a:t>g.getArcNum</a:t>
            </a:r>
            <a:r>
              <a:rPr lang="en-US" altLang="zh-CN" sz="1260" dirty="0"/>
              <a:t>());</a:t>
            </a:r>
            <a:endParaRPr lang="zh-CN" altLang="zh-CN" sz="1260" dirty="0"/>
          </a:p>
          <a:p>
            <a:r>
              <a:rPr lang="en-US" altLang="zh-CN" sz="1260" dirty="0" err="1"/>
              <a:t>VNode</a:t>
            </a:r>
            <a:r>
              <a:rPr lang="en-US" altLang="zh-CN" sz="1260" dirty="0"/>
              <a:t> a[]=</a:t>
            </a:r>
            <a:r>
              <a:rPr lang="en-US" altLang="zh-CN" sz="1260" dirty="0" err="1"/>
              <a:t>g.getVexs</a:t>
            </a:r>
            <a:r>
              <a:rPr lang="en-US" altLang="zh-CN" sz="1260" dirty="0"/>
              <a:t>();</a:t>
            </a:r>
            <a:endParaRPr lang="zh-CN" altLang="zh-CN" sz="1260" dirty="0"/>
          </a:p>
          <a:p>
            <a:r>
              <a:rPr lang="en-US" altLang="zh-CN" sz="1260" dirty="0"/>
              <a:t>Object b[]=</a:t>
            </a:r>
            <a:r>
              <a:rPr lang="en-US" altLang="zh-CN" sz="1260" b="1" dirty="0"/>
              <a:t>new</a:t>
            </a:r>
            <a:r>
              <a:rPr lang="en-US" altLang="zh-CN" sz="1260" dirty="0"/>
              <a:t> Object[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()];</a:t>
            </a:r>
            <a:endParaRPr lang="zh-CN" altLang="zh-CN" sz="1260" dirty="0"/>
          </a:p>
          <a:p>
            <a:r>
              <a:rPr lang="en-US" altLang="zh-CN" sz="1260" b="1" dirty="0"/>
              <a:t>for</a:t>
            </a:r>
            <a:r>
              <a:rPr lang="en-US" altLang="zh-CN" sz="1260" dirty="0"/>
              <a:t>(</a:t>
            </a:r>
            <a:r>
              <a:rPr lang="en-US" altLang="zh-CN" sz="1260" b="1" dirty="0" err="1"/>
              <a:t>int</a:t>
            </a:r>
            <a:r>
              <a:rPr lang="en-US" altLang="zh-CN" sz="1260" dirty="0"/>
              <a:t> i=0;i&lt;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();i++){</a:t>
            </a:r>
          </a:p>
          <a:p>
            <a:r>
              <a:rPr lang="en-US" altLang="zh-CN" sz="1260" dirty="0"/>
              <a:t>b[i]=a[i].data;</a:t>
            </a:r>
          </a:p>
          <a:p>
            <a:r>
              <a:rPr lang="en-US" altLang="zh-CN" sz="1260" dirty="0"/>
              <a:t>}</a:t>
            </a:r>
            <a:endParaRPr lang="zh-CN" altLang="zh-CN" sz="1260" dirty="0"/>
          </a:p>
          <a:p>
            <a:r>
              <a:rPr lang="en-US" altLang="zh-CN" sz="1260" dirty="0"/>
              <a:t>G3.setVexs(b);</a:t>
            </a:r>
            <a:endParaRPr lang="zh-CN" altLang="zh-CN" sz="1260" dirty="0"/>
          </a:p>
          <a:p>
            <a:r>
              <a:rPr lang="en-US" altLang="zh-CN" sz="1260" b="1" dirty="0" err="1"/>
              <a:t>int</a:t>
            </a:r>
            <a:r>
              <a:rPr lang="en-US" altLang="zh-CN" sz="1260" dirty="0"/>
              <a:t> c[][]=</a:t>
            </a:r>
            <a:r>
              <a:rPr lang="en-US" altLang="zh-CN" sz="1260" b="1" dirty="0"/>
              <a:t>new</a:t>
            </a:r>
            <a:r>
              <a:rPr lang="en-US" altLang="zh-CN" sz="1260" dirty="0"/>
              <a:t> </a:t>
            </a:r>
            <a:r>
              <a:rPr lang="en-US" altLang="zh-CN" sz="1260" b="1" dirty="0" err="1"/>
              <a:t>int</a:t>
            </a:r>
            <a:r>
              <a:rPr lang="en-US" altLang="zh-CN" sz="1260" dirty="0"/>
              <a:t>[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()][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()];</a:t>
            </a:r>
            <a:endParaRPr lang="zh-CN" altLang="zh-CN" sz="1260" dirty="0"/>
          </a:p>
          <a:p>
            <a:r>
              <a:rPr lang="en-US" altLang="zh-CN" sz="1260" b="1" dirty="0"/>
              <a:t>for</a:t>
            </a:r>
            <a:r>
              <a:rPr lang="en-US" altLang="zh-CN" sz="1260" dirty="0"/>
              <a:t>(</a:t>
            </a:r>
            <a:r>
              <a:rPr lang="en-US" altLang="zh-CN" sz="1260" b="1" dirty="0" err="1"/>
              <a:t>int</a:t>
            </a:r>
            <a:r>
              <a:rPr lang="en-US" altLang="zh-CN" sz="1260" dirty="0"/>
              <a:t> i=0;i&lt;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();i++){</a:t>
            </a:r>
            <a:endParaRPr lang="zh-CN" altLang="zh-CN" sz="1260" dirty="0"/>
          </a:p>
          <a:p>
            <a:r>
              <a:rPr lang="en-US" altLang="zh-CN" sz="1260" b="1" dirty="0"/>
              <a:t>for</a:t>
            </a:r>
            <a:r>
              <a:rPr lang="en-US" altLang="zh-CN" sz="1260" dirty="0"/>
              <a:t>(</a:t>
            </a:r>
            <a:r>
              <a:rPr lang="en-US" altLang="zh-CN" sz="1260" b="1" dirty="0" err="1"/>
              <a:t>int</a:t>
            </a:r>
            <a:r>
              <a:rPr lang="en-US" altLang="zh-CN" sz="1260" dirty="0"/>
              <a:t> j=0;j&lt;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();j++){</a:t>
            </a:r>
            <a:endParaRPr lang="zh-CN" altLang="zh-CN" sz="1260" dirty="0"/>
          </a:p>
          <a:p>
            <a:r>
              <a:rPr lang="en-US" altLang="zh-CN" sz="1260" dirty="0"/>
              <a:t>c[i][j]=0;</a:t>
            </a:r>
            <a:endParaRPr lang="zh-CN" altLang="zh-CN" sz="1260" dirty="0"/>
          </a:p>
          <a:p>
            <a:r>
              <a:rPr lang="en-US" altLang="zh-CN" sz="1260" dirty="0"/>
              <a:t>}</a:t>
            </a:r>
            <a:endParaRPr lang="zh-CN" altLang="zh-CN" sz="1260" dirty="0"/>
          </a:p>
          <a:p>
            <a:r>
              <a:rPr lang="en-US" altLang="zh-CN" sz="1260" dirty="0"/>
              <a:t>}</a:t>
            </a:r>
            <a:endParaRPr lang="zh-CN" altLang="zh-CN" sz="1260" dirty="0"/>
          </a:p>
          <a:p>
            <a:r>
              <a:rPr lang="en-US" altLang="zh-CN" sz="1260" b="1" dirty="0"/>
              <a:t>for</a:t>
            </a:r>
            <a:r>
              <a:rPr lang="en-US" altLang="zh-CN" sz="1260" dirty="0"/>
              <a:t>(</a:t>
            </a:r>
            <a:r>
              <a:rPr lang="en-US" altLang="zh-CN" sz="1260" b="1" dirty="0" err="1"/>
              <a:t>int</a:t>
            </a:r>
            <a:r>
              <a:rPr lang="en-US" altLang="zh-CN" sz="1260" dirty="0"/>
              <a:t> j=0;j&lt;</a:t>
            </a:r>
            <a:r>
              <a:rPr lang="en-US" altLang="zh-CN" sz="1260" dirty="0" err="1"/>
              <a:t>g.getVexNum</a:t>
            </a:r>
            <a:r>
              <a:rPr lang="en-US" altLang="zh-CN" sz="1260" dirty="0"/>
              <a:t>();j++){</a:t>
            </a:r>
            <a:endParaRPr lang="zh-CN" altLang="zh-CN" sz="1260" dirty="0"/>
          </a:p>
          <a:p>
            <a:r>
              <a:rPr lang="en-US" altLang="zh-CN" sz="1260" dirty="0" err="1"/>
              <a:t>ArcNode</a:t>
            </a:r>
            <a:r>
              <a:rPr lang="en-US" altLang="zh-CN" sz="1260" dirty="0"/>
              <a:t> p=a[j].</a:t>
            </a:r>
            <a:r>
              <a:rPr lang="en-US" altLang="zh-CN" sz="1260" dirty="0" err="1"/>
              <a:t>firstArc</a:t>
            </a:r>
            <a:r>
              <a:rPr lang="en-US" altLang="zh-CN" sz="1260" dirty="0"/>
              <a:t>;</a:t>
            </a:r>
            <a:endParaRPr lang="zh-CN" altLang="zh-CN" sz="1260" dirty="0"/>
          </a:p>
          <a:p>
            <a:r>
              <a:rPr lang="en-US" altLang="zh-CN" sz="1260" b="1" dirty="0"/>
              <a:t>while</a:t>
            </a:r>
            <a:r>
              <a:rPr lang="en-US" altLang="zh-CN" sz="1260" dirty="0"/>
              <a:t>(p!=</a:t>
            </a:r>
            <a:r>
              <a:rPr lang="en-US" altLang="zh-CN" sz="1260" b="1" dirty="0"/>
              <a:t>null</a:t>
            </a:r>
            <a:r>
              <a:rPr lang="en-US" altLang="zh-CN" sz="1260" dirty="0"/>
              <a:t>){</a:t>
            </a:r>
            <a:endParaRPr lang="zh-CN" altLang="zh-CN" sz="1260" dirty="0"/>
          </a:p>
          <a:p>
            <a:r>
              <a:rPr lang="en-US" altLang="zh-CN" sz="1260" dirty="0"/>
              <a:t>c[j][</a:t>
            </a:r>
            <a:r>
              <a:rPr lang="en-US" altLang="zh-CN" sz="1260" dirty="0" err="1"/>
              <a:t>p.adjVex</a:t>
            </a:r>
            <a:r>
              <a:rPr lang="en-US" altLang="zh-CN" sz="1260" dirty="0"/>
              <a:t>]=1;</a:t>
            </a:r>
            <a:endParaRPr lang="zh-CN" altLang="zh-CN" sz="1260" dirty="0"/>
          </a:p>
          <a:p>
            <a:r>
              <a:rPr lang="en-US" altLang="zh-CN" sz="1260" dirty="0"/>
              <a:t>p=</a:t>
            </a:r>
            <a:r>
              <a:rPr lang="en-US" altLang="zh-CN" sz="1260" dirty="0" err="1"/>
              <a:t>p.nextArc</a:t>
            </a:r>
            <a:r>
              <a:rPr lang="en-US" altLang="zh-CN" sz="1260" dirty="0"/>
              <a:t>;	</a:t>
            </a:r>
            <a:endParaRPr lang="zh-CN" altLang="zh-CN" sz="1260" dirty="0"/>
          </a:p>
          <a:p>
            <a:r>
              <a:rPr lang="en-US" altLang="zh-CN" sz="1260" dirty="0"/>
              <a:t>}</a:t>
            </a:r>
            <a:endParaRPr lang="zh-CN" altLang="zh-CN" sz="1260" dirty="0"/>
          </a:p>
          <a:p>
            <a:r>
              <a:rPr lang="en-US" altLang="zh-CN" sz="1260" dirty="0"/>
              <a:t>}</a:t>
            </a:r>
          </a:p>
          <a:p>
            <a:r>
              <a:rPr lang="zh-CN" altLang="zh-CN" sz="1260" dirty="0"/>
              <a:t> </a:t>
            </a:r>
            <a:r>
              <a:rPr lang="en-US" altLang="zh-CN" sz="1260" dirty="0"/>
              <a:t>G3.setArcs(c);</a:t>
            </a:r>
            <a:endParaRPr lang="zh-CN" altLang="zh-CN" sz="1260" dirty="0"/>
          </a:p>
          <a:p>
            <a:r>
              <a:rPr lang="en-US" altLang="zh-CN" sz="1260" b="1" dirty="0"/>
              <a:t>return</a:t>
            </a:r>
            <a:r>
              <a:rPr lang="en-US" altLang="zh-CN" sz="1260" dirty="0"/>
              <a:t> G3;</a:t>
            </a:r>
            <a:endParaRPr lang="zh-CN" altLang="zh-CN" sz="1260" dirty="0"/>
          </a:p>
          <a:p>
            <a:r>
              <a:rPr lang="en-US" altLang="zh-CN" sz="1260" dirty="0"/>
              <a:t>}</a:t>
            </a:r>
            <a:endParaRPr lang="zh-CN" altLang="zh-CN" sz="1260" dirty="0"/>
          </a:p>
          <a:p>
            <a:endParaRPr lang="zh-CN" altLang="en-US" sz="126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84D2C7-6FB0-47F5-9CEC-6489EF21C8A1}"/>
              </a:ext>
            </a:extLst>
          </p:cNvPr>
          <p:cNvSpPr/>
          <p:nvPr/>
        </p:nvSpPr>
        <p:spPr>
          <a:xfrm>
            <a:off x="2519772" y="0"/>
            <a:ext cx="15760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Tx/>
              <a:buFont typeface="Wingdings" charset="0"/>
              <a:buChar char="!"/>
            </a:pPr>
            <a:r>
              <a:rPr lang="zh-CN" altLang="en-US" dirty="0">
                <a:latin typeface="黑体" charset="0"/>
                <a:ea typeface="黑体" charset="0"/>
              </a:rPr>
              <a:t>主要代码：</a:t>
            </a:r>
          </a:p>
        </p:txBody>
      </p:sp>
    </p:spTree>
  </p:cSld>
  <p:clrMapOvr>
    <a:masterClrMapping/>
  </p:clrMapOvr>
  <p:transition advClick="0" advTm="0"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1\13e1b1eada54150ef5fc11fe8bb74598.png"/>
          <p:cNvPicPr>
            <a:picLocks noChangeAspect="1" noChangeArrowheads="1"/>
          </p:cNvPicPr>
          <p:nvPr/>
        </p:nvPicPr>
        <p:blipFill>
          <a:blip r:embed="rId2" cstate="screen">
            <a:lum bright="-4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07604" y="376300"/>
            <a:ext cx="4279900" cy="2806700"/>
          </a:xfrm>
          <a:prstGeom prst="rect">
            <a:avLst/>
          </a:prstGeom>
          <a:noFill/>
        </p:spPr>
      </p:pic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2740923" y="3560552"/>
            <a:ext cx="6084676" cy="493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/>
          <a:p>
            <a:r>
              <a:rPr lang="zh-CN" altLang="en-US" sz="8000" b="1" spc="225" dirty="0">
                <a:solidFill>
                  <a:schemeClr val="tx1">
                    <a:lumMod val="85000"/>
                    <a:lumOff val="1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谢谢观看</a:t>
            </a:r>
          </a:p>
        </p:txBody>
      </p:sp>
      <p:grpSp>
        <p:nvGrpSpPr>
          <p:cNvPr id="2" name="组合 60"/>
          <p:cNvGrpSpPr/>
          <p:nvPr/>
        </p:nvGrpSpPr>
        <p:grpSpPr>
          <a:xfrm rot="2750590">
            <a:off x="4867560" y="567138"/>
            <a:ext cx="2556284" cy="2306360"/>
            <a:chOff x="6072188" y="1752600"/>
            <a:chExt cx="982663" cy="84296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50" name="Freeform 124"/>
            <p:cNvSpPr>
              <a:spLocks noEditPoints="1"/>
            </p:cNvSpPr>
            <p:nvPr/>
          </p:nvSpPr>
          <p:spPr bwMode="auto">
            <a:xfrm>
              <a:off x="6553201" y="2081213"/>
              <a:ext cx="398463" cy="185738"/>
            </a:xfrm>
            <a:custGeom>
              <a:avLst/>
              <a:gdLst/>
              <a:ahLst/>
              <a:cxnLst>
                <a:cxn ang="0">
                  <a:pos x="733" y="155"/>
                </a:cxn>
                <a:cxn ang="0">
                  <a:pos x="635" y="216"/>
                </a:cxn>
                <a:cxn ang="0">
                  <a:pos x="475" y="305"/>
                </a:cxn>
                <a:cxn ang="0">
                  <a:pos x="398" y="351"/>
                </a:cxn>
                <a:cxn ang="0">
                  <a:pos x="349" y="338"/>
                </a:cxn>
                <a:cxn ang="0">
                  <a:pos x="185" y="273"/>
                </a:cxn>
                <a:cxn ang="0">
                  <a:pos x="73" y="218"/>
                </a:cxn>
                <a:cxn ang="0">
                  <a:pos x="3" y="177"/>
                </a:cxn>
                <a:cxn ang="0">
                  <a:pos x="20" y="142"/>
                </a:cxn>
                <a:cxn ang="0">
                  <a:pos x="221" y="49"/>
                </a:cxn>
                <a:cxn ang="0">
                  <a:pos x="364" y="1"/>
                </a:cxn>
                <a:cxn ang="0">
                  <a:pos x="400" y="5"/>
                </a:cxn>
                <a:cxn ang="0">
                  <a:pos x="419" y="4"/>
                </a:cxn>
                <a:cxn ang="0">
                  <a:pos x="479" y="33"/>
                </a:cxn>
                <a:cxn ang="0">
                  <a:pos x="651" y="81"/>
                </a:cxn>
                <a:cxn ang="0">
                  <a:pos x="750" y="129"/>
                </a:cxn>
                <a:cxn ang="0">
                  <a:pos x="440" y="308"/>
                </a:cxn>
                <a:cxn ang="0">
                  <a:pos x="634" y="200"/>
                </a:cxn>
                <a:cxn ang="0">
                  <a:pos x="726" y="138"/>
                </a:cxn>
                <a:cxn ang="0">
                  <a:pos x="675" y="149"/>
                </a:cxn>
                <a:cxn ang="0">
                  <a:pos x="363" y="327"/>
                </a:cxn>
                <a:cxn ang="0">
                  <a:pos x="422" y="321"/>
                </a:cxn>
                <a:cxn ang="0">
                  <a:pos x="581" y="95"/>
                </a:cxn>
                <a:cxn ang="0">
                  <a:pos x="471" y="165"/>
                </a:cxn>
                <a:cxn ang="0">
                  <a:pos x="349" y="235"/>
                </a:cxn>
                <a:cxn ang="0">
                  <a:pos x="281" y="274"/>
                </a:cxn>
                <a:cxn ang="0">
                  <a:pos x="272" y="286"/>
                </a:cxn>
                <a:cxn ang="0">
                  <a:pos x="301" y="297"/>
                </a:cxn>
                <a:cxn ang="0">
                  <a:pos x="347" y="319"/>
                </a:cxn>
                <a:cxn ang="0">
                  <a:pos x="406" y="282"/>
                </a:cxn>
                <a:cxn ang="0">
                  <a:pos x="612" y="166"/>
                </a:cxn>
                <a:cxn ang="0">
                  <a:pos x="701" y="114"/>
                </a:cxn>
                <a:cxn ang="0">
                  <a:pos x="613" y="87"/>
                </a:cxn>
                <a:cxn ang="0">
                  <a:pos x="440" y="96"/>
                </a:cxn>
                <a:cxn ang="0">
                  <a:pos x="304" y="162"/>
                </a:cxn>
                <a:cxn ang="0">
                  <a:pos x="186" y="255"/>
                </a:cxn>
                <a:cxn ang="0">
                  <a:pos x="251" y="274"/>
                </a:cxn>
                <a:cxn ang="0">
                  <a:pos x="500" y="131"/>
                </a:cxn>
                <a:cxn ang="0">
                  <a:pos x="503" y="58"/>
                </a:cxn>
                <a:cxn ang="0">
                  <a:pos x="292" y="79"/>
                </a:cxn>
                <a:cxn ang="0">
                  <a:pos x="190" y="123"/>
                </a:cxn>
                <a:cxn ang="0">
                  <a:pos x="72" y="198"/>
                </a:cxn>
                <a:cxn ang="0">
                  <a:pos x="146" y="235"/>
                </a:cxn>
                <a:cxn ang="0">
                  <a:pos x="349" y="126"/>
                </a:cxn>
                <a:cxn ang="0">
                  <a:pos x="468" y="65"/>
                </a:cxn>
                <a:cxn ang="0">
                  <a:pos x="462" y="45"/>
                </a:cxn>
                <a:cxn ang="0">
                  <a:pos x="293" y="41"/>
                </a:cxn>
                <a:cxn ang="0">
                  <a:pos x="255" y="52"/>
                </a:cxn>
                <a:cxn ang="0">
                  <a:pos x="153" y="92"/>
                </a:cxn>
                <a:cxn ang="0">
                  <a:pos x="96" y="122"/>
                </a:cxn>
                <a:cxn ang="0">
                  <a:pos x="34" y="152"/>
                </a:cxn>
                <a:cxn ang="0">
                  <a:pos x="36" y="178"/>
                </a:cxn>
                <a:cxn ang="0">
                  <a:pos x="225" y="89"/>
                </a:cxn>
                <a:cxn ang="0">
                  <a:pos x="383" y="18"/>
                </a:cxn>
                <a:cxn ang="0">
                  <a:pos x="307" y="38"/>
                </a:cxn>
              </a:cxnLst>
              <a:rect l="0" t="0" r="r" b="b"/>
              <a:pathLst>
                <a:path w="751" h="353">
                  <a:moveTo>
                    <a:pt x="749" y="152"/>
                  </a:moveTo>
                  <a:lnTo>
                    <a:pt x="749" y="152"/>
                  </a:lnTo>
                  <a:lnTo>
                    <a:pt x="744" y="154"/>
                  </a:lnTo>
                  <a:lnTo>
                    <a:pt x="741" y="156"/>
                  </a:lnTo>
                  <a:lnTo>
                    <a:pt x="737" y="156"/>
                  </a:lnTo>
                  <a:lnTo>
                    <a:pt x="733" y="155"/>
                  </a:lnTo>
                  <a:lnTo>
                    <a:pt x="733" y="155"/>
                  </a:lnTo>
                  <a:lnTo>
                    <a:pt x="723" y="165"/>
                  </a:lnTo>
                  <a:lnTo>
                    <a:pt x="712" y="172"/>
                  </a:lnTo>
                  <a:lnTo>
                    <a:pt x="699" y="180"/>
                  </a:lnTo>
                  <a:lnTo>
                    <a:pt x="687" y="187"/>
                  </a:lnTo>
                  <a:lnTo>
                    <a:pt x="661" y="201"/>
                  </a:lnTo>
                  <a:lnTo>
                    <a:pt x="635" y="216"/>
                  </a:lnTo>
                  <a:lnTo>
                    <a:pt x="635" y="216"/>
                  </a:lnTo>
                  <a:lnTo>
                    <a:pt x="615" y="227"/>
                  </a:lnTo>
                  <a:lnTo>
                    <a:pt x="596" y="237"/>
                  </a:lnTo>
                  <a:lnTo>
                    <a:pt x="555" y="259"/>
                  </a:lnTo>
                  <a:lnTo>
                    <a:pt x="515" y="280"/>
                  </a:lnTo>
                  <a:lnTo>
                    <a:pt x="494" y="292"/>
                  </a:lnTo>
                  <a:lnTo>
                    <a:pt x="475" y="305"/>
                  </a:lnTo>
                  <a:lnTo>
                    <a:pt x="475" y="305"/>
                  </a:lnTo>
                  <a:lnTo>
                    <a:pt x="458" y="317"/>
                  </a:lnTo>
                  <a:lnTo>
                    <a:pt x="438" y="329"/>
                  </a:lnTo>
                  <a:lnTo>
                    <a:pt x="438" y="329"/>
                  </a:lnTo>
                  <a:lnTo>
                    <a:pt x="424" y="338"/>
                  </a:lnTo>
                  <a:lnTo>
                    <a:pt x="411" y="346"/>
                  </a:lnTo>
                  <a:lnTo>
                    <a:pt x="405" y="349"/>
                  </a:lnTo>
                  <a:lnTo>
                    <a:pt x="398" y="351"/>
                  </a:lnTo>
                  <a:lnTo>
                    <a:pt x="393" y="353"/>
                  </a:lnTo>
                  <a:lnTo>
                    <a:pt x="388" y="353"/>
                  </a:lnTo>
                  <a:lnTo>
                    <a:pt x="388" y="353"/>
                  </a:lnTo>
                  <a:lnTo>
                    <a:pt x="378" y="351"/>
                  </a:lnTo>
                  <a:lnTo>
                    <a:pt x="368" y="347"/>
                  </a:lnTo>
                  <a:lnTo>
                    <a:pt x="358" y="343"/>
                  </a:lnTo>
                  <a:lnTo>
                    <a:pt x="349" y="338"/>
                  </a:lnTo>
                  <a:lnTo>
                    <a:pt x="330" y="328"/>
                  </a:lnTo>
                  <a:lnTo>
                    <a:pt x="320" y="323"/>
                  </a:lnTo>
                  <a:lnTo>
                    <a:pt x="309" y="319"/>
                  </a:lnTo>
                  <a:lnTo>
                    <a:pt x="309" y="319"/>
                  </a:lnTo>
                  <a:lnTo>
                    <a:pt x="260" y="301"/>
                  </a:lnTo>
                  <a:lnTo>
                    <a:pt x="210" y="282"/>
                  </a:lnTo>
                  <a:lnTo>
                    <a:pt x="185" y="273"/>
                  </a:lnTo>
                  <a:lnTo>
                    <a:pt x="160" y="261"/>
                  </a:lnTo>
                  <a:lnTo>
                    <a:pt x="138" y="249"/>
                  </a:lnTo>
                  <a:lnTo>
                    <a:pt x="115" y="235"/>
                  </a:lnTo>
                  <a:lnTo>
                    <a:pt x="115" y="235"/>
                  </a:lnTo>
                  <a:lnTo>
                    <a:pt x="104" y="231"/>
                  </a:lnTo>
                  <a:lnTo>
                    <a:pt x="93" y="228"/>
                  </a:lnTo>
                  <a:lnTo>
                    <a:pt x="73" y="218"/>
                  </a:lnTo>
                  <a:lnTo>
                    <a:pt x="54" y="207"/>
                  </a:lnTo>
                  <a:lnTo>
                    <a:pt x="36" y="195"/>
                  </a:lnTo>
                  <a:lnTo>
                    <a:pt x="36" y="195"/>
                  </a:lnTo>
                  <a:lnTo>
                    <a:pt x="20" y="189"/>
                  </a:lnTo>
                  <a:lnTo>
                    <a:pt x="14" y="186"/>
                  </a:lnTo>
                  <a:lnTo>
                    <a:pt x="8" y="182"/>
                  </a:lnTo>
                  <a:lnTo>
                    <a:pt x="3" y="177"/>
                  </a:lnTo>
                  <a:lnTo>
                    <a:pt x="1" y="173"/>
                  </a:lnTo>
                  <a:lnTo>
                    <a:pt x="0" y="167"/>
                  </a:lnTo>
                  <a:lnTo>
                    <a:pt x="2" y="160"/>
                  </a:lnTo>
                  <a:lnTo>
                    <a:pt x="2" y="160"/>
                  </a:lnTo>
                  <a:lnTo>
                    <a:pt x="6" y="154"/>
                  </a:lnTo>
                  <a:lnTo>
                    <a:pt x="13" y="147"/>
                  </a:lnTo>
                  <a:lnTo>
                    <a:pt x="20" y="142"/>
                  </a:lnTo>
                  <a:lnTo>
                    <a:pt x="29" y="136"/>
                  </a:lnTo>
                  <a:lnTo>
                    <a:pt x="47" y="126"/>
                  </a:lnTo>
                  <a:lnTo>
                    <a:pt x="63" y="117"/>
                  </a:lnTo>
                  <a:lnTo>
                    <a:pt x="63" y="117"/>
                  </a:lnTo>
                  <a:lnTo>
                    <a:pt x="124" y="90"/>
                  </a:lnTo>
                  <a:lnTo>
                    <a:pt x="188" y="62"/>
                  </a:lnTo>
                  <a:lnTo>
                    <a:pt x="221" y="49"/>
                  </a:lnTo>
                  <a:lnTo>
                    <a:pt x="255" y="36"/>
                  </a:lnTo>
                  <a:lnTo>
                    <a:pt x="289" y="24"/>
                  </a:lnTo>
                  <a:lnTo>
                    <a:pt x="322" y="13"/>
                  </a:lnTo>
                  <a:lnTo>
                    <a:pt x="322" y="13"/>
                  </a:lnTo>
                  <a:lnTo>
                    <a:pt x="340" y="7"/>
                  </a:lnTo>
                  <a:lnTo>
                    <a:pt x="356" y="3"/>
                  </a:lnTo>
                  <a:lnTo>
                    <a:pt x="364" y="1"/>
                  </a:lnTo>
                  <a:lnTo>
                    <a:pt x="371" y="0"/>
                  </a:lnTo>
                  <a:lnTo>
                    <a:pt x="380" y="0"/>
                  </a:lnTo>
                  <a:lnTo>
                    <a:pt x="390" y="1"/>
                  </a:lnTo>
                  <a:lnTo>
                    <a:pt x="390" y="1"/>
                  </a:lnTo>
                  <a:lnTo>
                    <a:pt x="394" y="2"/>
                  </a:lnTo>
                  <a:lnTo>
                    <a:pt x="397" y="3"/>
                  </a:lnTo>
                  <a:lnTo>
                    <a:pt x="400" y="5"/>
                  </a:lnTo>
                  <a:lnTo>
                    <a:pt x="403" y="6"/>
                  </a:lnTo>
                  <a:lnTo>
                    <a:pt x="403" y="6"/>
                  </a:lnTo>
                  <a:lnTo>
                    <a:pt x="409" y="6"/>
                  </a:lnTo>
                  <a:lnTo>
                    <a:pt x="413" y="5"/>
                  </a:lnTo>
                  <a:lnTo>
                    <a:pt x="417" y="4"/>
                  </a:lnTo>
                  <a:lnTo>
                    <a:pt x="419" y="4"/>
                  </a:lnTo>
                  <a:lnTo>
                    <a:pt x="419" y="4"/>
                  </a:lnTo>
                  <a:lnTo>
                    <a:pt x="422" y="5"/>
                  </a:lnTo>
                  <a:lnTo>
                    <a:pt x="422" y="6"/>
                  </a:lnTo>
                  <a:lnTo>
                    <a:pt x="422" y="6"/>
                  </a:lnTo>
                  <a:lnTo>
                    <a:pt x="436" y="14"/>
                  </a:lnTo>
                  <a:lnTo>
                    <a:pt x="449" y="21"/>
                  </a:lnTo>
                  <a:lnTo>
                    <a:pt x="464" y="28"/>
                  </a:lnTo>
                  <a:lnTo>
                    <a:pt x="479" y="33"/>
                  </a:lnTo>
                  <a:lnTo>
                    <a:pt x="509" y="43"/>
                  </a:lnTo>
                  <a:lnTo>
                    <a:pt x="540" y="52"/>
                  </a:lnTo>
                  <a:lnTo>
                    <a:pt x="540" y="52"/>
                  </a:lnTo>
                  <a:lnTo>
                    <a:pt x="570" y="61"/>
                  </a:lnTo>
                  <a:lnTo>
                    <a:pt x="599" y="68"/>
                  </a:lnTo>
                  <a:lnTo>
                    <a:pt x="599" y="68"/>
                  </a:lnTo>
                  <a:lnTo>
                    <a:pt x="651" y="81"/>
                  </a:lnTo>
                  <a:lnTo>
                    <a:pt x="697" y="95"/>
                  </a:lnTo>
                  <a:lnTo>
                    <a:pt x="697" y="95"/>
                  </a:lnTo>
                  <a:lnTo>
                    <a:pt x="721" y="102"/>
                  </a:lnTo>
                  <a:lnTo>
                    <a:pt x="742" y="111"/>
                  </a:lnTo>
                  <a:lnTo>
                    <a:pt x="742" y="111"/>
                  </a:lnTo>
                  <a:lnTo>
                    <a:pt x="746" y="120"/>
                  </a:lnTo>
                  <a:lnTo>
                    <a:pt x="750" y="129"/>
                  </a:lnTo>
                  <a:lnTo>
                    <a:pt x="751" y="135"/>
                  </a:lnTo>
                  <a:lnTo>
                    <a:pt x="751" y="140"/>
                  </a:lnTo>
                  <a:lnTo>
                    <a:pt x="751" y="145"/>
                  </a:lnTo>
                  <a:lnTo>
                    <a:pt x="749" y="152"/>
                  </a:lnTo>
                  <a:lnTo>
                    <a:pt x="749" y="152"/>
                  </a:lnTo>
                  <a:close/>
                  <a:moveTo>
                    <a:pt x="440" y="308"/>
                  </a:moveTo>
                  <a:lnTo>
                    <a:pt x="440" y="308"/>
                  </a:lnTo>
                  <a:lnTo>
                    <a:pt x="459" y="295"/>
                  </a:lnTo>
                  <a:lnTo>
                    <a:pt x="479" y="283"/>
                  </a:lnTo>
                  <a:lnTo>
                    <a:pt x="521" y="261"/>
                  </a:lnTo>
                  <a:lnTo>
                    <a:pt x="563" y="238"/>
                  </a:lnTo>
                  <a:lnTo>
                    <a:pt x="605" y="216"/>
                  </a:lnTo>
                  <a:lnTo>
                    <a:pt x="605" y="216"/>
                  </a:lnTo>
                  <a:lnTo>
                    <a:pt x="634" y="200"/>
                  </a:lnTo>
                  <a:lnTo>
                    <a:pt x="668" y="181"/>
                  </a:lnTo>
                  <a:lnTo>
                    <a:pt x="685" y="171"/>
                  </a:lnTo>
                  <a:lnTo>
                    <a:pt x="700" y="160"/>
                  </a:lnTo>
                  <a:lnTo>
                    <a:pt x="714" y="151"/>
                  </a:lnTo>
                  <a:lnTo>
                    <a:pt x="724" y="141"/>
                  </a:lnTo>
                  <a:lnTo>
                    <a:pt x="724" y="141"/>
                  </a:lnTo>
                  <a:lnTo>
                    <a:pt x="726" y="138"/>
                  </a:lnTo>
                  <a:lnTo>
                    <a:pt x="728" y="131"/>
                  </a:lnTo>
                  <a:lnTo>
                    <a:pt x="728" y="128"/>
                  </a:lnTo>
                  <a:lnTo>
                    <a:pt x="726" y="126"/>
                  </a:lnTo>
                  <a:lnTo>
                    <a:pt x="724" y="123"/>
                  </a:lnTo>
                  <a:lnTo>
                    <a:pt x="718" y="122"/>
                  </a:lnTo>
                  <a:lnTo>
                    <a:pt x="718" y="122"/>
                  </a:lnTo>
                  <a:lnTo>
                    <a:pt x="675" y="149"/>
                  </a:lnTo>
                  <a:lnTo>
                    <a:pt x="630" y="173"/>
                  </a:lnTo>
                  <a:lnTo>
                    <a:pt x="539" y="223"/>
                  </a:lnTo>
                  <a:lnTo>
                    <a:pt x="494" y="248"/>
                  </a:lnTo>
                  <a:lnTo>
                    <a:pt x="449" y="274"/>
                  </a:lnTo>
                  <a:lnTo>
                    <a:pt x="406" y="301"/>
                  </a:lnTo>
                  <a:lnTo>
                    <a:pt x="363" y="327"/>
                  </a:lnTo>
                  <a:lnTo>
                    <a:pt x="363" y="327"/>
                  </a:lnTo>
                  <a:lnTo>
                    <a:pt x="368" y="331"/>
                  </a:lnTo>
                  <a:lnTo>
                    <a:pt x="373" y="332"/>
                  </a:lnTo>
                  <a:lnTo>
                    <a:pt x="383" y="334"/>
                  </a:lnTo>
                  <a:lnTo>
                    <a:pt x="393" y="333"/>
                  </a:lnTo>
                  <a:lnTo>
                    <a:pt x="403" y="331"/>
                  </a:lnTo>
                  <a:lnTo>
                    <a:pt x="413" y="326"/>
                  </a:lnTo>
                  <a:lnTo>
                    <a:pt x="422" y="321"/>
                  </a:lnTo>
                  <a:lnTo>
                    <a:pt x="431" y="314"/>
                  </a:lnTo>
                  <a:lnTo>
                    <a:pt x="440" y="308"/>
                  </a:lnTo>
                  <a:lnTo>
                    <a:pt x="440" y="308"/>
                  </a:lnTo>
                  <a:close/>
                  <a:moveTo>
                    <a:pt x="602" y="87"/>
                  </a:moveTo>
                  <a:lnTo>
                    <a:pt x="602" y="87"/>
                  </a:lnTo>
                  <a:lnTo>
                    <a:pt x="592" y="90"/>
                  </a:lnTo>
                  <a:lnTo>
                    <a:pt x="581" y="95"/>
                  </a:lnTo>
                  <a:lnTo>
                    <a:pt x="570" y="101"/>
                  </a:lnTo>
                  <a:lnTo>
                    <a:pt x="561" y="109"/>
                  </a:lnTo>
                  <a:lnTo>
                    <a:pt x="540" y="125"/>
                  </a:lnTo>
                  <a:lnTo>
                    <a:pt x="531" y="131"/>
                  </a:lnTo>
                  <a:lnTo>
                    <a:pt x="521" y="138"/>
                  </a:lnTo>
                  <a:lnTo>
                    <a:pt x="521" y="138"/>
                  </a:lnTo>
                  <a:lnTo>
                    <a:pt x="471" y="165"/>
                  </a:lnTo>
                  <a:lnTo>
                    <a:pt x="419" y="190"/>
                  </a:lnTo>
                  <a:lnTo>
                    <a:pt x="419" y="190"/>
                  </a:lnTo>
                  <a:lnTo>
                    <a:pt x="401" y="201"/>
                  </a:lnTo>
                  <a:lnTo>
                    <a:pt x="384" y="213"/>
                  </a:lnTo>
                  <a:lnTo>
                    <a:pt x="367" y="225"/>
                  </a:lnTo>
                  <a:lnTo>
                    <a:pt x="349" y="235"/>
                  </a:lnTo>
                  <a:lnTo>
                    <a:pt x="349" y="235"/>
                  </a:lnTo>
                  <a:lnTo>
                    <a:pt x="332" y="244"/>
                  </a:lnTo>
                  <a:lnTo>
                    <a:pt x="316" y="252"/>
                  </a:lnTo>
                  <a:lnTo>
                    <a:pt x="301" y="261"/>
                  </a:lnTo>
                  <a:lnTo>
                    <a:pt x="293" y="266"/>
                  </a:lnTo>
                  <a:lnTo>
                    <a:pt x="287" y="273"/>
                  </a:lnTo>
                  <a:lnTo>
                    <a:pt x="287" y="273"/>
                  </a:lnTo>
                  <a:lnTo>
                    <a:pt x="281" y="274"/>
                  </a:lnTo>
                  <a:lnTo>
                    <a:pt x="276" y="275"/>
                  </a:lnTo>
                  <a:lnTo>
                    <a:pt x="274" y="276"/>
                  </a:lnTo>
                  <a:lnTo>
                    <a:pt x="272" y="277"/>
                  </a:lnTo>
                  <a:lnTo>
                    <a:pt x="271" y="279"/>
                  </a:lnTo>
                  <a:lnTo>
                    <a:pt x="271" y="281"/>
                  </a:lnTo>
                  <a:lnTo>
                    <a:pt x="271" y="281"/>
                  </a:lnTo>
                  <a:lnTo>
                    <a:pt x="272" y="286"/>
                  </a:lnTo>
                  <a:lnTo>
                    <a:pt x="274" y="288"/>
                  </a:lnTo>
                  <a:lnTo>
                    <a:pt x="276" y="290"/>
                  </a:lnTo>
                  <a:lnTo>
                    <a:pt x="279" y="291"/>
                  </a:lnTo>
                  <a:lnTo>
                    <a:pt x="287" y="292"/>
                  </a:lnTo>
                  <a:lnTo>
                    <a:pt x="294" y="294"/>
                  </a:lnTo>
                  <a:lnTo>
                    <a:pt x="294" y="294"/>
                  </a:lnTo>
                  <a:lnTo>
                    <a:pt x="301" y="297"/>
                  </a:lnTo>
                  <a:lnTo>
                    <a:pt x="307" y="301"/>
                  </a:lnTo>
                  <a:lnTo>
                    <a:pt x="320" y="309"/>
                  </a:lnTo>
                  <a:lnTo>
                    <a:pt x="327" y="313"/>
                  </a:lnTo>
                  <a:lnTo>
                    <a:pt x="334" y="317"/>
                  </a:lnTo>
                  <a:lnTo>
                    <a:pt x="340" y="319"/>
                  </a:lnTo>
                  <a:lnTo>
                    <a:pt x="347" y="319"/>
                  </a:lnTo>
                  <a:lnTo>
                    <a:pt x="347" y="319"/>
                  </a:lnTo>
                  <a:lnTo>
                    <a:pt x="351" y="318"/>
                  </a:lnTo>
                  <a:lnTo>
                    <a:pt x="355" y="316"/>
                  </a:lnTo>
                  <a:lnTo>
                    <a:pt x="364" y="309"/>
                  </a:lnTo>
                  <a:lnTo>
                    <a:pt x="373" y="302"/>
                  </a:lnTo>
                  <a:lnTo>
                    <a:pt x="383" y="295"/>
                  </a:lnTo>
                  <a:lnTo>
                    <a:pt x="383" y="295"/>
                  </a:lnTo>
                  <a:lnTo>
                    <a:pt x="406" y="282"/>
                  </a:lnTo>
                  <a:lnTo>
                    <a:pt x="430" y="270"/>
                  </a:lnTo>
                  <a:lnTo>
                    <a:pt x="483" y="241"/>
                  </a:lnTo>
                  <a:lnTo>
                    <a:pt x="483" y="241"/>
                  </a:lnTo>
                  <a:lnTo>
                    <a:pt x="533" y="211"/>
                  </a:lnTo>
                  <a:lnTo>
                    <a:pt x="581" y="182"/>
                  </a:lnTo>
                  <a:lnTo>
                    <a:pt x="581" y="182"/>
                  </a:lnTo>
                  <a:lnTo>
                    <a:pt x="612" y="166"/>
                  </a:lnTo>
                  <a:lnTo>
                    <a:pt x="643" y="150"/>
                  </a:lnTo>
                  <a:lnTo>
                    <a:pt x="673" y="134"/>
                  </a:lnTo>
                  <a:lnTo>
                    <a:pt x="686" y="125"/>
                  </a:lnTo>
                  <a:lnTo>
                    <a:pt x="699" y="116"/>
                  </a:lnTo>
                  <a:lnTo>
                    <a:pt x="699" y="116"/>
                  </a:lnTo>
                  <a:lnTo>
                    <a:pt x="700" y="115"/>
                  </a:lnTo>
                  <a:lnTo>
                    <a:pt x="701" y="114"/>
                  </a:lnTo>
                  <a:lnTo>
                    <a:pt x="701" y="114"/>
                  </a:lnTo>
                  <a:lnTo>
                    <a:pt x="689" y="112"/>
                  </a:lnTo>
                  <a:lnTo>
                    <a:pt x="676" y="108"/>
                  </a:lnTo>
                  <a:lnTo>
                    <a:pt x="651" y="98"/>
                  </a:lnTo>
                  <a:lnTo>
                    <a:pt x="638" y="93"/>
                  </a:lnTo>
                  <a:lnTo>
                    <a:pt x="625" y="90"/>
                  </a:lnTo>
                  <a:lnTo>
                    <a:pt x="613" y="87"/>
                  </a:lnTo>
                  <a:lnTo>
                    <a:pt x="602" y="87"/>
                  </a:lnTo>
                  <a:lnTo>
                    <a:pt x="602" y="87"/>
                  </a:lnTo>
                  <a:close/>
                  <a:moveTo>
                    <a:pt x="503" y="58"/>
                  </a:moveTo>
                  <a:lnTo>
                    <a:pt x="503" y="58"/>
                  </a:lnTo>
                  <a:lnTo>
                    <a:pt x="483" y="71"/>
                  </a:lnTo>
                  <a:lnTo>
                    <a:pt x="461" y="84"/>
                  </a:lnTo>
                  <a:lnTo>
                    <a:pt x="440" y="96"/>
                  </a:lnTo>
                  <a:lnTo>
                    <a:pt x="417" y="109"/>
                  </a:lnTo>
                  <a:lnTo>
                    <a:pt x="395" y="120"/>
                  </a:lnTo>
                  <a:lnTo>
                    <a:pt x="371" y="130"/>
                  </a:lnTo>
                  <a:lnTo>
                    <a:pt x="347" y="141"/>
                  </a:lnTo>
                  <a:lnTo>
                    <a:pt x="322" y="150"/>
                  </a:lnTo>
                  <a:lnTo>
                    <a:pt x="322" y="150"/>
                  </a:lnTo>
                  <a:lnTo>
                    <a:pt x="304" y="162"/>
                  </a:lnTo>
                  <a:lnTo>
                    <a:pt x="284" y="174"/>
                  </a:lnTo>
                  <a:lnTo>
                    <a:pt x="244" y="198"/>
                  </a:lnTo>
                  <a:lnTo>
                    <a:pt x="203" y="220"/>
                  </a:lnTo>
                  <a:lnTo>
                    <a:pt x="183" y="232"/>
                  </a:lnTo>
                  <a:lnTo>
                    <a:pt x="164" y="244"/>
                  </a:lnTo>
                  <a:lnTo>
                    <a:pt x="164" y="244"/>
                  </a:lnTo>
                  <a:lnTo>
                    <a:pt x="186" y="255"/>
                  </a:lnTo>
                  <a:lnTo>
                    <a:pt x="207" y="265"/>
                  </a:lnTo>
                  <a:lnTo>
                    <a:pt x="231" y="275"/>
                  </a:lnTo>
                  <a:lnTo>
                    <a:pt x="255" y="283"/>
                  </a:lnTo>
                  <a:lnTo>
                    <a:pt x="255" y="283"/>
                  </a:lnTo>
                  <a:lnTo>
                    <a:pt x="254" y="279"/>
                  </a:lnTo>
                  <a:lnTo>
                    <a:pt x="252" y="277"/>
                  </a:lnTo>
                  <a:lnTo>
                    <a:pt x="251" y="274"/>
                  </a:lnTo>
                  <a:lnTo>
                    <a:pt x="252" y="271"/>
                  </a:lnTo>
                  <a:lnTo>
                    <a:pt x="252" y="271"/>
                  </a:lnTo>
                  <a:lnTo>
                    <a:pt x="294" y="247"/>
                  </a:lnTo>
                  <a:lnTo>
                    <a:pt x="335" y="225"/>
                  </a:lnTo>
                  <a:lnTo>
                    <a:pt x="418" y="178"/>
                  </a:lnTo>
                  <a:lnTo>
                    <a:pt x="460" y="156"/>
                  </a:lnTo>
                  <a:lnTo>
                    <a:pt x="500" y="131"/>
                  </a:lnTo>
                  <a:lnTo>
                    <a:pt x="539" y="107"/>
                  </a:lnTo>
                  <a:lnTo>
                    <a:pt x="578" y="81"/>
                  </a:lnTo>
                  <a:lnTo>
                    <a:pt x="578" y="81"/>
                  </a:lnTo>
                  <a:lnTo>
                    <a:pt x="560" y="77"/>
                  </a:lnTo>
                  <a:lnTo>
                    <a:pt x="540" y="70"/>
                  </a:lnTo>
                  <a:lnTo>
                    <a:pt x="503" y="58"/>
                  </a:lnTo>
                  <a:lnTo>
                    <a:pt x="503" y="58"/>
                  </a:lnTo>
                  <a:close/>
                  <a:moveTo>
                    <a:pt x="408" y="28"/>
                  </a:moveTo>
                  <a:lnTo>
                    <a:pt x="408" y="28"/>
                  </a:lnTo>
                  <a:lnTo>
                    <a:pt x="378" y="40"/>
                  </a:lnTo>
                  <a:lnTo>
                    <a:pt x="349" y="53"/>
                  </a:lnTo>
                  <a:lnTo>
                    <a:pt x="321" y="66"/>
                  </a:lnTo>
                  <a:lnTo>
                    <a:pt x="292" y="79"/>
                  </a:lnTo>
                  <a:lnTo>
                    <a:pt x="292" y="79"/>
                  </a:lnTo>
                  <a:lnTo>
                    <a:pt x="270" y="87"/>
                  </a:lnTo>
                  <a:lnTo>
                    <a:pt x="248" y="95"/>
                  </a:lnTo>
                  <a:lnTo>
                    <a:pt x="226" y="104"/>
                  </a:lnTo>
                  <a:lnTo>
                    <a:pt x="204" y="112"/>
                  </a:lnTo>
                  <a:lnTo>
                    <a:pt x="204" y="112"/>
                  </a:lnTo>
                  <a:lnTo>
                    <a:pt x="198" y="117"/>
                  </a:lnTo>
                  <a:lnTo>
                    <a:pt x="190" y="123"/>
                  </a:lnTo>
                  <a:lnTo>
                    <a:pt x="184" y="128"/>
                  </a:lnTo>
                  <a:lnTo>
                    <a:pt x="176" y="132"/>
                  </a:lnTo>
                  <a:lnTo>
                    <a:pt x="176" y="132"/>
                  </a:lnTo>
                  <a:lnTo>
                    <a:pt x="119" y="161"/>
                  </a:lnTo>
                  <a:lnTo>
                    <a:pt x="63" y="190"/>
                  </a:lnTo>
                  <a:lnTo>
                    <a:pt x="63" y="190"/>
                  </a:lnTo>
                  <a:lnTo>
                    <a:pt x="72" y="198"/>
                  </a:lnTo>
                  <a:lnTo>
                    <a:pt x="81" y="204"/>
                  </a:lnTo>
                  <a:lnTo>
                    <a:pt x="92" y="210"/>
                  </a:lnTo>
                  <a:lnTo>
                    <a:pt x="103" y="215"/>
                  </a:lnTo>
                  <a:lnTo>
                    <a:pt x="125" y="225"/>
                  </a:lnTo>
                  <a:lnTo>
                    <a:pt x="136" y="230"/>
                  </a:lnTo>
                  <a:lnTo>
                    <a:pt x="146" y="235"/>
                  </a:lnTo>
                  <a:lnTo>
                    <a:pt x="146" y="235"/>
                  </a:lnTo>
                  <a:lnTo>
                    <a:pt x="173" y="221"/>
                  </a:lnTo>
                  <a:lnTo>
                    <a:pt x="200" y="206"/>
                  </a:lnTo>
                  <a:lnTo>
                    <a:pt x="252" y="174"/>
                  </a:lnTo>
                  <a:lnTo>
                    <a:pt x="279" y="159"/>
                  </a:lnTo>
                  <a:lnTo>
                    <a:pt x="306" y="144"/>
                  </a:lnTo>
                  <a:lnTo>
                    <a:pt x="334" y="132"/>
                  </a:lnTo>
                  <a:lnTo>
                    <a:pt x="349" y="126"/>
                  </a:lnTo>
                  <a:lnTo>
                    <a:pt x="363" y="122"/>
                  </a:lnTo>
                  <a:lnTo>
                    <a:pt x="363" y="122"/>
                  </a:lnTo>
                  <a:lnTo>
                    <a:pt x="378" y="113"/>
                  </a:lnTo>
                  <a:lnTo>
                    <a:pt x="393" y="105"/>
                  </a:lnTo>
                  <a:lnTo>
                    <a:pt x="423" y="89"/>
                  </a:lnTo>
                  <a:lnTo>
                    <a:pt x="454" y="72"/>
                  </a:lnTo>
                  <a:lnTo>
                    <a:pt x="468" y="65"/>
                  </a:lnTo>
                  <a:lnTo>
                    <a:pt x="483" y="55"/>
                  </a:lnTo>
                  <a:lnTo>
                    <a:pt x="483" y="55"/>
                  </a:lnTo>
                  <a:lnTo>
                    <a:pt x="484" y="53"/>
                  </a:lnTo>
                  <a:lnTo>
                    <a:pt x="484" y="52"/>
                  </a:lnTo>
                  <a:lnTo>
                    <a:pt x="484" y="50"/>
                  </a:lnTo>
                  <a:lnTo>
                    <a:pt x="484" y="50"/>
                  </a:lnTo>
                  <a:lnTo>
                    <a:pt x="462" y="45"/>
                  </a:lnTo>
                  <a:lnTo>
                    <a:pt x="444" y="39"/>
                  </a:lnTo>
                  <a:lnTo>
                    <a:pt x="426" y="33"/>
                  </a:lnTo>
                  <a:lnTo>
                    <a:pt x="408" y="28"/>
                  </a:lnTo>
                  <a:lnTo>
                    <a:pt x="408" y="28"/>
                  </a:lnTo>
                  <a:close/>
                  <a:moveTo>
                    <a:pt x="295" y="41"/>
                  </a:moveTo>
                  <a:lnTo>
                    <a:pt x="295" y="41"/>
                  </a:lnTo>
                  <a:lnTo>
                    <a:pt x="293" y="41"/>
                  </a:lnTo>
                  <a:lnTo>
                    <a:pt x="291" y="40"/>
                  </a:lnTo>
                  <a:lnTo>
                    <a:pt x="287" y="39"/>
                  </a:lnTo>
                  <a:lnTo>
                    <a:pt x="287" y="39"/>
                  </a:lnTo>
                  <a:lnTo>
                    <a:pt x="279" y="41"/>
                  </a:lnTo>
                  <a:lnTo>
                    <a:pt x="272" y="45"/>
                  </a:lnTo>
                  <a:lnTo>
                    <a:pt x="255" y="52"/>
                  </a:lnTo>
                  <a:lnTo>
                    <a:pt x="255" y="52"/>
                  </a:lnTo>
                  <a:lnTo>
                    <a:pt x="232" y="61"/>
                  </a:lnTo>
                  <a:lnTo>
                    <a:pt x="212" y="69"/>
                  </a:lnTo>
                  <a:lnTo>
                    <a:pt x="193" y="78"/>
                  </a:lnTo>
                  <a:lnTo>
                    <a:pt x="173" y="85"/>
                  </a:lnTo>
                  <a:lnTo>
                    <a:pt x="173" y="85"/>
                  </a:lnTo>
                  <a:lnTo>
                    <a:pt x="163" y="89"/>
                  </a:lnTo>
                  <a:lnTo>
                    <a:pt x="153" y="92"/>
                  </a:lnTo>
                  <a:lnTo>
                    <a:pt x="143" y="95"/>
                  </a:lnTo>
                  <a:lnTo>
                    <a:pt x="134" y="98"/>
                  </a:lnTo>
                  <a:lnTo>
                    <a:pt x="134" y="98"/>
                  </a:lnTo>
                  <a:lnTo>
                    <a:pt x="124" y="104"/>
                  </a:lnTo>
                  <a:lnTo>
                    <a:pt x="114" y="110"/>
                  </a:lnTo>
                  <a:lnTo>
                    <a:pt x="106" y="116"/>
                  </a:lnTo>
                  <a:lnTo>
                    <a:pt x="96" y="122"/>
                  </a:lnTo>
                  <a:lnTo>
                    <a:pt x="96" y="122"/>
                  </a:lnTo>
                  <a:lnTo>
                    <a:pt x="72" y="132"/>
                  </a:lnTo>
                  <a:lnTo>
                    <a:pt x="60" y="139"/>
                  </a:lnTo>
                  <a:lnTo>
                    <a:pt x="50" y="144"/>
                  </a:lnTo>
                  <a:lnTo>
                    <a:pt x="50" y="144"/>
                  </a:lnTo>
                  <a:lnTo>
                    <a:pt x="43" y="149"/>
                  </a:lnTo>
                  <a:lnTo>
                    <a:pt x="34" y="152"/>
                  </a:lnTo>
                  <a:lnTo>
                    <a:pt x="28" y="156"/>
                  </a:lnTo>
                  <a:lnTo>
                    <a:pt x="24" y="158"/>
                  </a:lnTo>
                  <a:lnTo>
                    <a:pt x="21" y="162"/>
                  </a:lnTo>
                  <a:lnTo>
                    <a:pt x="21" y="162"/>
                  </a:lnTo>
                  <a:lnTo>
                    <a:pt x="25" y="169"/>
                  </a:lnTo>
                  <a:lnTo>
                    <a:pt x="30" y="174"/>
                  </a:lnTo>
                  <a:lnTo>
                    <a:pt x="36" y="178"/>
                  </a:lnTo>
                  <a:lnTo>
                    <a:pt x="45" y="182"/>
                  </a:lnTo>
                  <a:lnTo>
                    <a:pt x="45" y="182"/>
                  </a:lnTo>
                  <a:lnTo>
                    <a:pt x="81" y="164"/>
                  </a:lnTo>
                  <a:lnTo>
                    <a:pt x="122" y="143"/>
                  </a:lnTo>
                  <a:lnTo>
                    <a:pt x="201" y="100"/>
                  </a:lnTo>
                  <a:lnTo>
                    <a:pt x="201" y="100"/>
                  </a:lnTo>
                  <a:lnTo>
                    <a:pt x="225" y="89"/>
                  </a:lnTo>
                  <a:lnTo>
                    <a:pt x="248" y="79"/>
                  </a:lnTo>
                  <a:lnTo>
                    <a:pt x="296" y="61"/>
                  </a:lnTo>
                  <a:lnTo>
                    <a:pt x="320" y="52"/>
                  </a:lnTo>
                  <a:lnTo>
                    <a:pt x="342" y="43"/>
                  </a:lnTo>
                  <a:lnTo>
                    <a:pt x="364" y="31"/>
                  </a:lnTo>
                  <a:lnTo>
                    <a:pt x="373" y="25"/>
                  </a:lnTo>
                  <a:lnTo>
                    <a:pt x="383" y="18"/>
                  </a:lnTo>
                  <a:lnTo>
                    <a:pt x="383" y="18"/>
                  </a:lnTo>
                  <a:lnTo>
                    <a:pt x="370" y="18"/>
                  </a:lnTo>
                  <a:lnTo>
                    <a:pt x="360" y="20"/>
                  </a:lnTo>
                  <a:lnTo>
                    <a:pt x="349" y="22"/>
                  </a:lnTo>
                  <a:lnTo>
                    <a:pt x="338" y="25"/>
                  </a:lnTo>
                  <a:lnTo>
                    <a:pt x="317" y="34"/>
                  </a:lnTo>
                  <a:lnTo>
                    <a:pt x="307" y="38"/>
                  </a:lnTo>
                  <a:lnTo>
                    <a:pt x="295" y="41"/>
                  </a:lnTo>
                  <a:lnTo>
                    <a:pt x="295" y="41"/>
                  </a:lnTo>
                  <a:close/>
                </a:path>
              </a:pathLst>
            </a:custGeom>
            <a:no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Freeform 125"/>
            <p:cNvSpPr/>
            <p:nvPr/>
          </p:nvSpPr>
          <p:spPr bwMode="auto">
            <a:xfrm>
              <a:off x="6373813" y="2325688"/>
              <a:ext cx="15875" cy="19050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0" y="38"/>
                </a:cxn>
                <a:cxn ang="0">
                  <a:pos x="0" y="32"/>
                </a:cxn>
                <a:cxn ang="0">
                  <a:pos x="4" y="26"/>
                </a:cxn>
                <a:cxn ang="0">
                  <a:pos x="7" y="21"/>
                </a:cxn>
                <a:cxn ang="0">
                  <a:pos x="12" y="15"/>
                </a:cxn>
                <a:cxn ang="0">
                  <a:pos x="23" y="7"/>
                </a:cxn>
                <a:cxn ang="0">
                  <a:pos x="32" y="0"/>
                </a:cxn>
                <a:cxn ang="0">
                  <a:pos x="32" y="0"/>
                </a:cxn>
                <a:cxn ang="0">
                  <a:pos x="31" y="7"/>
                </a:cxn>
                <a:cxn ang="0">
                  <a:pos x="29" y="13"/>
                </a:cxn>
                <a:cxn ang="0">
                  <a:pos x="26" y="17"/>
                </a:cxn>
                <a:cxn ang="0">
                  <a:pos x="22" y="23"/>
                </a:cxn>
                <a:cxn ang="0">
                  <a:pos x="11" y="31"/>
                </a:cxn>
                <a:cxn ang="0">
                  <a:pos x="0" y="38"/>
                </a:cxn>
                <a:cxn ang="0">
                  <a:pos x="0" y="38"/>
                </a:cxn>
              </a:cxnLst>
              <a:rect l="0" t="0" r="r" b="b"/>
              <a:pathLst>
                <a:path w="32" h="38">
                  <a:moveTo>
                    <a:pt x="0" y="38"/>
                  </a:moveTo>
                  <a:lnTo>
                    <a:pt x="0" y="38"/>
                  </a:lnTo>
                  <a:lnTo>
                    <a:pt x="0" y="32"/>
                  </a:lnTo>
                  <a:lnTo>
                    <a:pt x="4" y="26"/>
                  </a:lnTo>
                  <a:lnTo>
                    <a:pt x="7" y="21"/>
                  </a:lnTo>
                  <a:lnTo>
                    <a:pt x="12" y="15"/>
                  </a:lnTo>
                  <a:lnTo>
                    <a:pt x="23" y="7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31" y="7"/>
                  </a:lnTo>
                  <a:lnTo>
                    <a:pt x="29" y="13"/>
                  </a:lnTo>
                  <a:lnTo>
                    <a:pt x="26" y="17"/>
                  </a:lnTo>
                  <a:lnTo>
                    <a:pt x="22" y="23"/>
                  </a:lnTo>
                  <a:lnTo>
                    <a:pt x="11" y="31"/>
                  </a:lnTo>
                  <a:lnTo>
                    <a:pt x="0" y="38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2" name="Freeform 126"/>
            <p:cNvSpPr>
              <a:spLocks noEditPoints="1"/>
            </p:cNvSpPr>
            <p:nvPr/>
          </p:nvSpPr>
          <p:spPr bwMode="auto">
            <a:xfrm>
              <a:off x="6237288" y="2035175"/>
              <a:ext cx="817563" cy="560388"/>
            </a:xfrm>
            <a:custGeom>
              <a:avLst/>
              <a:gdLst/>
              <a:ahLst/>
              <a:cxnLst>
                <a:cxn ang="0">
                  <a:pos x="91" y="444"/>
                </a:cxn>
                <a:cxn ang="0">
                  <a:pos x="627" y="160"/>
                </a:cxn>
                <a:cxn ang="0">
                  <a:pos x="1233" y="59"/>
                </a:cxn>
                <a:cxn ang="0">
                  <a:pos x="1522" y="331"/>
                </a:cxn>
                <a:cxn ang="0">
                  <a:pos x="1023" y="693"/>
                </a:cxn>
                <a:cxn ang="0">
                  <a:pos x="734" y="978"/>
                </a:cxn>
                <a:cxn ang="0">
                  <a:pos x="458" y="947"/>
                </a:cxn>
                <a:cxn ang="0">
                  <a:pos x="44" y="670"/>
                </a:cxn>
                <a:cxn ang="0">
                  <a:pos x="1404" y="260"/>
                </a:cxn>
                <a:cxn ang="0">
                  <a:pos x="1033" y="662"/>
                </a:cxn>
                <a:cxn ang="0">
                  <a:pos x="1508" y="310"/>
                </a:cxn>
                <a:cxn ang="0">
                  <a:pos x="1513" y="172"/>
                </a:cxn>
                <a:cxn ang="0">
                  <a:pos x="1082" y="33"/>
                </a:cxn>
                <a:cxn ang="0">
                  <a:pos x="798" y="417"/>
                </a:cxn>
                <a:cxn ang="0">
                  <a:pos x="1519" y="172"/>
                </a:cxn>
                <a:cxn ang="0">
                  <a:pos x="873" y="810"/>
                </a:cxn>
                <a:cxn ang="0">
                  <a:pos x="836" y="624"/>
                </a:cxn>
                <a:cxn ang="0">
                  <a:pos x="854" y="662"/>
                </a:cxn>
                <a:cxn ang="0">
                  <a:pos x="782" y="603"/>
                </a:cxn>
                <a:cxn ang="0">
                  <a:pos x="705" y="720"/>
                </a:cxn>
                <a:cxn ang="0">
                  <a:pos x="828" y="779"/>
                </a:cxn>
                <a:cxn ang="0">
                  <a:pos x="601" y="867"/>
                </a:cxn>
                <a:cxn ang="0">
                  <a:pos x="545" y="584"/>
                </a:cxn>
                <a:cxn ang="0">
                  <a:pos x="556" y="690"/>
                </a:cxn>
                <a:cxn ang="0">
                  <a:pos x="697" y="704"/>
                </a:cxn>
                <a:cxn ang="0">
                  <a:pos x="601" y="702"/>
                </a:cxn>
                <a:cxn ang="0">
                  <a:pos x="537" y="841"/>
                </a:cxn>
                <a:cxn ang="0">
                  <a:pos x="664" y="775"/>
                </a:cxn>
                <a:cxn ang="0">
                  <a:pos x="589" y="877"/>
                </a:cxn>
                <a:cxn ang="0">
                  <a:pos x="488" y="818"/>
                </a:cxn>
                <a:cxn ang="0">
                  <a:pos x="326" y="777"/>
                </a:cxn>
                <a:cxn ang="0">
                  <a:pos x="227" y="667"/>
                </a:cxn>
                <a:cxn ang="0">
                  <a:pos x="119" y="605"/>
                </a:cxn>
                <a:cxn ang="0">
                  <a:pos x="626" y="1015"/>
                </a:cxn>
                <a:cxn ang="0">
                  <a:pos x="407" y="572"/>
                </a:cxn>
                <a:cxn ang="0">
                  <a:pos x="555" y="867"/>
                </a:cxn>
                <a:cxn ang="0">
                  <a:pos x="475" y="895"/>
                </a:cxn>
                <a:cxn ang="0">
                  <a:pos x="448" y="765"/>
                </a:cxn>
                <a:cxn ang="0">
                  <a:pos x="475" y="724"/>
                </a:cxn>
                <a:cxn ang="0">
                  <a:pos x="478" y="644"/>
                </a:cxn>
                <a:cxn ang="0">
                  <a:pos x="388" y="727"/>
                </a:cxn>
                <a:cxn ang="0">
                  <a:pos x="420" y="525"/>
                </a:cxn>
                <a:cxn ang="0">
                  <a:pos x="288" y="489"/>
                </a:cxn>
                <a:cxn ang="0">
                  <a:pos x="435" y="623"/>
                </a:cxn>
                <a:cxn ang="0">
                  <a:pos x="367" y="621"/>
                </a:cxn>
                <a:cxn ang="0">
                  <a:pos x="330" y="617"/>
                </a:cxn>
                <a:cxn ang="0">
                  <a:pos x="430" y="628"/>
                </a:cxn>
                <a:cxn ang="0">
                  <a:pos x="332" y="799"/>
                </a:cxn>
                <a:cxn ang="0">
                  <a:pos x="246" y="345"/>
                </a:cxn>
                <a:cxn ang="0">
                  <a:pos x="306" y="435"/>
                </a:cxn>
                <a:cxn ang="0">
                  <a:pos x="230" y="535"/>
                </a:cxn>
                <a:cxn ang="0">
                  <a:pos x="219" y="562"/>
                </a:cxn>
                <a:cxn ang="0">
                  <a:pos x="230" y="610"/>
                </a:cxn>
                <a:cxn ang="0">
                  <a:pos x="334" y="579"/>
                </a:cxn>
                <a:cxn ang="0">
                  <a:pos x="292" y="665"/>
                </a:cxn>
                <a:cxn ang="0">
                  <a:pos x="147" y="455"/>
                </a:cxn>
                <a:cxn ang="0">
                  <a:pos x="91" y="480"/>
                </a:cxn>
                <a:cxn ang="0">
                  <a:pos x="167" y="500"/>
                </a:cxn>
                <a:cxn ang="0">
                  <a:pos x="155" y="501"/>
                </a:cxn>
                <a:cxn ang="0">
                  <a:pos x="158" y="585"/>
                </a:cxn>
                <a:cxn ang="0">
                  <a:pos x="82" y="516"/>
                </a:cxn>
              </a:cxnLst>
              <a:rect l="0" t="0" r="r" b="b"/>
              <a:pathLst>
                <a:path w="1545" h="1058">
                  <a:moveTo>
                    <a:pt x="96" y="538"/>
                  </a:moveTo>
                  <a:lnTo>
                    <a:pt x="96" y="538"/>
                  </a:lnTo>
                  <a:lnTo>
                    <a:pt x="90" y="537"/>
                  </a:lnTo>
                  <a:lnTo>
                    <a:pt x="85" y="537"/>
                  </a:lnTo>
                  <a:lnTo>
                    <a:pt x="72" y="539"/>
                  </a:lnTo>
                  <a:lnTo>
                    <a:pt x="60" y="542"/>
                  </a:lnTo>
                  <a:lnTo>
                    <a:pt x="49" y="546"/>
                  </a:lnTo>
                  <a:lnTo>
                    <a:pt x="36" y="549"/>
                  </a:lnTo>
                  <a:lnTo>
                    <a:pt x="24" y="552"/>
                  </a:lnTo>
                  <a:lnTo>
                    <a:pt x="19" y="552"/>
                  </a:lnTo>
                  <a:lnTo>
                    <a:pt x="13" y="552"/>
                  </a:lnTo>
                  <a:lnTo>
                    <a:pt x="7" y="550"/>
                  </a:lnTo>
                  <a:lnTo>
                    <a:pt x="1" y="547"/>
                  </a:lnTo>
                  <a:lnTo>
                    <a:pt x="1" y="547"/>
                  </a:lnTo>
                  <a:lnTo>
                    <a:pt x="1" y="542"/>
                  </a:lnTo>
                  <a:lnTo>
                    <a:pt x="3" y="535"/>
                  </a:lnTo>
                  <a:lnTo>
                    <a:pt x="5" y="531"/>
                  </a:lnTo>
                  <a:lnTo>
                    <a:pt x="7" y="527"/>
                  </a:lnTo>
                  <a:lnTo>
                    <a:pt x="9" y="524"/>
                  </a:lnTo>
                  <a:lnTo>
                    <a:pt x="12" y="522"/>
                  </a:lnTo>
                  <a:lnTo>
                    <a:pt x="20" y="517"/>
                  </a:lnTo>
                  <a:lnTo>
                    <a:pt x="20" y="517"/>
                  </a:lnTo>
                  <a:lnTo>
                    <a:pt x="25" y="509"/>
                  </a:lnTo>
                  <a:lnTo>
                    <a:pt x="31" y="500"/>
                  </a:lnTo>
                  <a:lnTo>
                    <a:pt x="45" y="485"/>
                  </a:lnTo>
                  <a:lnTo>
                    <a:pt x="60" y="471"/>
                  </a:lnTo>
                  <a:lnTo>
                    <a:pt x="75" y="458"/>
                  </a:lnTo>
                  <a:lnTo>
                    <a:pt x="91" y="444"/>
                  </a:lnTo>
                  <a:lnTo>
                    <a:pt x="106" y="431"/>
                  </a:lnTo>
                  <a:lnTo>
                    <a:pt x="113" y="423"/>
                  </a:lnTo>
                  <a:lnTo>
                    <a:pt x="119" y="414"/>
                  </a:lnTo>
                  <a:lnTo>
                    <a:pt x="125" y="406"/>
                  </a:lnTo>
                  <a:lnTo>
                    <a:pt x="130" y="396"/>
                  </a:lnTo>
                  <a:lnTo>
                    <a:pt x="130" y="396"/>
                  </a:lnTo>
                  <a:lnTo>
                    <a:pt x="135" y="394"/>
                  </a:lnTo>
                  <a:lnTo>
                    <a:pt x="140" y="391"/>
                  </a:lnTo>
                  <a:lnTo>
                    <a:pt x="143" y="388"/>
                  </a:lnTo>
                  <a:lnTo>
                    <a:pt x="147" y="384"/>
                  </a:lnTo>
                  <a:lnTo>
                    <a:pt x="147" y="384"/>
                  </a:lnTo>
                  <a:lnTo>
                    <a:pt x="159" y="381"/>
                  </a:lnTo>
                  <a:lnTo>
                    <a:pt x="171" y="377"/>
                  </a:lnTo>
                  <a:lnTo>
                    <a:pt x="182" y="373"/>
                  </a:lnTo>
                  <a:lnTo>
                    <a:pt x="193" y="367"/>
                  </a:lnTo>
                  <a:lnTo>
                    <a:pt x="215" y="355"/>
                  </a:lnTo>
                  <a:lnTo>
                    <a:pt x="235" y="342"/>
                  </a:lnTo>
                  <a:lnTo>
                    <a:pt x="235" y="342"/>
                  </a:lnTo>
                  <a:lnTo>
                    <a:pt x="227" y="337"/>
                  </a:lnTo>
                  <a:lnTo>
                    <a:pt x="220" y="332"/>
                  </a:lnTo>
                  <a:lnTo>
                    <a:pt x="215" y="326"/>
                  </a:lnTo>
                  <a:lnTo>
                    <a:pt x="210" y="318"/>
                  </a:lnTo>
                  <a:lnTo>
                    <a:pt x="210" y="318"/>
                  </a:lnTo>
                  <a:lnTo>
                    <a:pt x="278" y="295"/>
                  </a:lnTo>
                  <a:lnTo>
                    <a:pt x="347" y="270"/>
                  </a:lnTo>
                  <a:lnTo>
                    <a:pt x="417" y="243"/>
                  </a:lnTo>
                  <a:lnTo>
                    <a:pt x="487" y="215"/>
                  </a:lnTo>
                  <a:lnTo>
                    <a:pt x="627" y="160"/>
                  </a:lnTo>
                  <a:lnTo>
                    <a:pt x="697" y="132"/>
                  </a:lnTo>
                  <a:lnTo>
                    <a:pt x="766" y="105"/>
                  </a:lnTo>
                  <a:lnTo>
                    <a:pt x="766" y="105"/>
                  </a:lnTo>
                  <a:lnTo>
                    <a:pt x="829" y="83"/>
                  </a:lnTo>
                  <a:lnTo>
                    <a:pt x="894" y="61"/>
                  </a:lnTo>
                  <a:lnTo>
                    <a:pt x="1026" y="19"/>
                  </a:lnTo>
                  <a:lnTo>
                    <a:pt x="1026" y="19"/>
                  </a:lnTo>
                  <a:lnTo>
                    <a:pt x="1052" y="13"/>
                  </a:lnTo>
                  <a:lnTo>
                    <a:pt x="1064" y="8"/>
                  </a:lnTo>
                  <a:lnTo>
                    <a:pt x="1069" y="4"/>
                  </a:lnTo>
                  <a:lnTo>
                    <a:pt x="1074" y="0"/>
                  </a:lnTo>
                  <a:lnTo>
                    <a:pt x="1074" y="0"/>
                  </a:lnTo>
                  <a:lnTo>
                    <a:pt x="1074" y="1"/>
                  </a:lnTo>
                  <a:lnTo>
                    <a:pt x="1075" y="2"/>
                  </a:lnTo>
                  <a:lnTo>
                    <a:pt x="1079" y="3"/>
                  </a:lnTo>
                  <a:lnTo>
                    <a:pt x="1081" y="4"/>
                  </a:lnTo>
                  <a:lnTo>
                    <a:pt x="1081" y="5"/>
                  </a:lnTo>
                  <a:lnTo>
                    <a:pt x="1081" y="8"/>
                  </a:lnTo>
                  <a:lnTo>
                    <a:pt x="1081" y="8"/>
                  </a:lnTo>
                  <a:lnTo>
                    <a:pt x="1084" y="4"/>
                  </a:lnTo>
                  <a:lnTo>
                    <a:pt x="1087" y="4"/>
                  </a:lnTo>
                  <a:lnTo>
                    <a:pt x="1099" y="3"/>
                  </a:lnTo>
                  <a:lnTo>
                    <a:pt x="1099" y="3"/>
                  </a:lnTo>
                  <a:lnTo>
                    <a:pt x="1109" y="10"/>
                  </a:lnTo>
                  <a:lnTo>
                    <a:pt x="1113" y="13"/>
                  </a:lnTo>
                  <a:lnTo>
                    <a:pt x="1116" y="18"/>
                  </a:lnTo>
                  <a:lnTo>
                    <a:pt x="1116" y="18"/>
                  </a:lnTo>
                  <a:lnTo>
                    <a:pt x="1233" y="59"/>
                  </a:lnTo>
                  <a:lnTo>
                    <a:pt x="1263" y="70"/>
                  </a:lnTo>
                  <a:lnTo>
                    <a:pt x="1291" y="78"/>
                  </a:lnTo>
                  <a:lnTo>
                    <a:pt x="1320" y="86"/>
                  </a:lnTo>
                  <a:lnTo>
                    <a:pt x="1346" y="92"/>
                  </a:lnTo>
                  <a:lnTo>
                    <a:pt x="1346" y="92"/>
                  </a:lnTo>
                  <a:lnTo>
                    <a:pt x="1391" y="110"/>
                  </a:lnTo>
                  <a:lnTo>
                    <a:pt x="1436" y="128"/>
                  </a:lnTo>
                  <a:lnTo>
                    <a:pt x="1460" y="136"/>
                  </a:lnTo>
                  <a:lnTo>
                    <a:pt x="1482" y="144"/>
                  </a:lnTo>
                  <a:lnTo>
                    <a:pt x="1506" y="151"/>
                  </a:lnTo>
                  <a:lnTo>
                    <a:pt x="1530" y="156"/>
                  </a:lnTo>
                  <a:lnTo>
                    <a:pt x="1530" y="156"/>
                  </a:lnTo>
                  <a:lnTo>
                    <a:pt x="1532" y="160"/>
                  </a:lnTo>
                  <a:lnTo>
                    <a:pt x="1534" y="161"/>
                  </a:lnTo>
                  <a:lnTo>
                    <a:pt x="1538" y="164"/>
                  </a:lnTo>
                  <a:lnTo>
                    <a:pt x="1542" y="167"/>
                  </a:lnTo>
                  <a:lnTo>
                    <a:pt x="1544" y="170"/>
                  </a:lnTo>
                  <a:lnTo>
                    <a:pt x="1545" y="172"/>
                  </a:lnTo>
                  <a:lnTo>
                    <a:pt x="1545" y="172"/>
                  </a:lnTo>
                  <a:lnTo>
                    <a:pt x="1539" y="211"/>
                  </a:lnTo>
                  <a:lnTo>
                    <a:pt x="1536" y="245"/>
                  </a:lnTo>
                  <a:lnTo>
                    <a:pt x="1533" y="280"/>
                  </a:lnTo>
                  <a:lnTo>
                    <a:pt x="1530" y="317"/>
                  </a:lnTo>
                  <a:lnTo>
                    <a:pt x="1530" y="317"/>
                  </a:lnTo>
                  <a:lnTo>
                    <a:pt x="1527" y="319"/>
                  </a:lnTo>
                  <a:lnTo>
                    <a:pt x="1525" y="322"/>
                  </a:lnTo>
                  <a:lnTo>
                    <a:pt x="1522" y="331"/>
                  </a:lnTo>
                  <a:lnTo>
                    <a:pt x="1522" y="331"/>
                  </a:lnTo>
                  <a:lnTo>
                    <a:pt x="1520" y="331"/>
                  </a:lnTo>
                  <a:lnTo>
                    <a:pt x="1518" y="331"/>
                  </a:lnTo>
                  <a:lnTo>
                    <a:pt x="1518" y="332"/>
                  </a:lnTo>
                  <a:lnTo>
                    <a:pt x="1519" y="333"/>
                  </a:lnTo>
                  <a:lnTo>
                    <a:pt x="1519" y="333"/>
                  </a:lnTo>
                  <a:lnTo>
                    <a:pt x="1510" y="335"/>
                  </a:lnTo>
                  <a:lnTo>
                    <a:pt x="1504" y="338"/>
                  </a:lnTo>
                  <a:lnTo>
                    <a:pt x="1496" y="344"/>
                  </a:lnTo>
                  <a:lnTo>
                    <a:pt x="1488" y="350"/>
                  </a:lnTo>
                  <a:lnTo>
                    <a:pt x="1488" y="350"/>
                  </a:lnTo>
                  <a:lnTo>
                    <a:pt x="1473" y="358"/>
                  </a:lnTo>
                  <a:lnTo>
                    <a:pt x="1458" y="366"/>
                  </a:lnTo>
                  <a:lnTo>
                    <a:pt x="1443" y="376"/>
                  </a:lnTo>
                  <a:lnTo>
                    <a:pt x="1429" y="386"/>
                  </a:lnTo>
                  <a:lnTo>
                    <a:pt x="1372" y="427"/>
                  </a:lnTo>
                  <a:lnTo>
                    <a:pt x="1372" y="427"/>
                  </a:lnTo>
                  <a:lnTo>
                    <a:pt x="1288" y="487"/>
                  </a:lnTo>
                  <a:lnTo>
                    <a:pt x="1204" y="549"/>
                  </a:lnTo>
                  <a:lnTo>
                    <a:pt x="1121" y="613"/>
                  </a:lnTo>
                  <a:lnTo>
                    <a:pt x="1040" y="678"/>
                  </a:lnTo>
                  <a:lnTo>
                    <a:pt x="1040" y="678"/>
                  </a:lnTo>
                  <a:lnTo>
                    <a:pt x="1036" y="685"/>
                  </a:lnTo>
                  <a:lnTo>
                    <a:pt x="1034" y="689"/>
                  </a:lnTo>
                  <a:lnTo>
                    <a:pt x="1031" y="692"/>
                  </a:lnTo>
                  <a:lnTo>
                    <a:pt x="1031" y="692"/>
                  </a:lnTo>
                  <a:lnTo>
                    <a:pt x="1028" y="693"/>
                  </a:lnTo>
                  <a:lnTo>
                    <a:pt x="1026" y="693"/>
                  </a:lnTo>
                  <a:lnTo>
                    <a:pt x="1023" y="693"/>
                  </a:lnTo>
                  <a:lnTo>
                    <a:pt x="1021" y="695"/>
                  </a:lnTo>
                  <a:lnTo>
                    <a:pt x="1021" y="695"/>
                  </a:lnTo>
                  <a:lnTo>
                    <a:pt x="964" y="745"/>
                  </a:lnTo>
                  <a:lnTo>
                    <a:pt x="906" y="795"/>
                  </a:lnTo>
                  <a:lnTo>
                    <a:pt x="906" y="795"/>
                  </a:lnTo>
                  <a:lnTo>
                    <a:pt x="888" y="812"/>
                  </a:lnTo>
                  <a:lnTo>
                    <a:pt x="878" y="820"/>
                  </a:lnTo>
                  <a:lnTo>
                    <a:pt x="871" y="830"/>
                  </a:lnTo>
                  <a:lnTo>
                    <a:pt x="871" y="830"/>
                  </a:lnTo>
                  <a:lnTo>
                    <a:pt x="861" y="833"/>
                  </a:lnTo>
                  <a:lnTo>
                    <a:pt x="852" y="837"/>
                  </a:lnTo>
                  <a:lnTo>
                    <a:pt x="843" y="842"/>
                  </a:lnTo>
                  <a:lnTo>
                    <a:pt x="834" y="846"/>
                  </a:lnTo>
                  <a:lnTo>
                    <a:pt x="819" y="858"/>
                  </a:lnTo>
                  <a:lnTo>
                    <a:pt x="806" y="871"/>
                  </a:lnTo>
                  <a:lnTo>
                    <a:pt x="794" y="885"/>
                  </a:lnTo>
                  <a:lnTo>
                    <a:pt x="782" y="900"/>
                  </a:lnTo>
                  <a:lnTo>
                    <a:pt x="770" y="917"/>
                  </a:lnTo>
                  <a:lnTo>
                    <a:pt x="760" y="934"/>
                  </a:lnTo>
                  <a:lnTo>
                    <a:pt x="760" y="934"/>
                  </a:lnTo>
                  <a:lnTo>
                    <a:pt x="751" y="944"/>
                  </a:lnTo>
                  <a:lnTo>
                    <a:pt x="745" y="955"/>
                  </a:lnTo>
                  <a:lnTo>
                    <a:pt x="745" y="955"/>
                  </a:lnTo>
                  <a:lnTo>
                    <a:pt x="742" y="961"/>
                  </a:lnTo>
                  <a:lnTo>
                    <a:pt x="740" y="967"/>
                  </a:lnTo>
                  <a:lnTo>
                    <a:pt x="738" y="973"/>
                  </a:lnTo>
                  <a:lnTo>
                    <a:pt x="734" y="978"/>
                  </a:lnTo>
                  <a:lnTo>
                    <a:pt x="734" y="978"/>
                  </a:lnTo>
                  <a:lnTo>
                    <a:pt x="727" y="983"/>
                  </a:lnTo>
                  <a:lnTo>
                    <a:pt x="718" y="987"/>
                  </a:lnTo>
                  <a:lnTo>
                    <a:pt x="707" y="992"/>
                  </a:lnTo>
                  <a:lnTo>
                    <a:pt x="695" y="998"/>
                  </a:lnTo>
                  <a:lnTo>
                    <a:pt x="695" y="998"/>
                  </a:lnTo>
                  <a:lnTo>
                    <a:pt x="672" y="1010"/>
                  </a:lnTo>
                  <a:lnTo>
                    <a:pt x="649" y="1020"/>
                  </a:lnTo>
                  <a:lnTo>
                    <a:pt x="649" y="1020"/>
                  </a:lnTo>
                  <a:lnTo>
                    <a:pt x="641" y="1025"/>
                  </a:lnTo>
                  <a:lnTo>
                    <a:pt x="632" y="1030"/>
                  </a:lnTo>
                  <a:lnTo>
                    <a:pt x="618" y="1040"/>
                  </a:lnTo>
                  <a:lnTo>
                    <a:pt x="604" y="1050"/>
                  </a:lnTo>
                  <a:lnTo>
                    <a:pt x="597" y="1055"/>
                  </a:lnTo>
                  <a:lnTo>
                    <a:pt x="588" y="1058"/>
                  </a:lnTo>
                  <a:lnTo>
                    <a:pt x="588" y="1058"/>
                  </a:lnTo>
                  <a:lnTo>
                    <a:pt x="560" y="1032"/>
                  </a:lnTo>
                  <a:lnTo>
                    <a:pt x="534" y="1008"/>
                  </a:lnTo>
                  <a:lnTo>
                    <a:pt x="520" y="996"/>
                  </a:lnTo>
                  <a:lnTo>
                    <a:pt x="506" y="986"/>
                  </a:lnTo>
                  <a:lnTo>
                    <a:pt x="491" y="977"/>
                  </a:lnTo>
                  <a:lnTo>
                    <a:pt x="477" y="969"/>
                  </a:lnTo>
                  <a:lnTo>
                    <a:pt x="477" y="969"/>
                  </a:lnTo>
                  <a:lnTo>
                    <a:pt x="476" y="967"/>
                  </a:lnTo>
                  <a:lnTo>
                    <a:pt x="476" y="965"/>
                  </a:lnTo>
                  <a:lnTo>
                    <a:pt x="475" y="963"/>
                  </a:lnTo>
                  <a:lnTo>
                    <a:pt x="475" y="961"/>
                  </a:lnTo>
                  <a:lnTo>
                    <a:pt x="475" y="961"/>
                  </a:lnTo>
                  <a:lnTo>
                    <a:pt x="458" y="947"/>
                  </a:lnTo>
                  <a:lnTo>
                    <a:pt x="439" y="934"/>
                  </a:lnTo>
                  <a:lnTo>
                    <a:pt x="400" y="909"/>
                  </a:lnTo>
                  <a:lnTo>
                    <a:pt x="400" y="909"/>
                  </a:lnTo>
                  <a:lnTo>
                    <a:pt x="361" y="883"/>
                  </a:lnTo>
                  <a:lnTo>
                    <a:pt x="321" y="856"/>
                  </a:lnTo>
                  <a:lnTo>
                    <a:pt x="321" y="856"/>
                  </a:lnTo>
                  <a:lnTo>
                    <a:pt x="308" y="847"/>
                  </a:lnTo>
                  <a:lnTo>
                    <a:pt x="295" y="840"/>
                  </a:lnTo>
                  <a:lnTo>
                    <a:pt x="283" y="832"/>
                  </a:lnTo>
                  <a:lnTo>
                    <a:pt x="272" y="823"/>
                  </a:lnTo>
                  <a:lnTo>
                    <a:pt x="272" y="823"/>
                  </a:lnTo>
                  <a:lnTo>
                    <a:pt x="266" y="820"/>
                  </a:lnTo>
                  <a:lnTo>
                    <a:pt x="262" y="820"/>
                  </a:lnTo>
                  <a:lnTo>
                    <a:pt x="257" y="820"/>
                  </a:lnTo>
                  <a:lnTo>
                    <a:pt x="257" y="820"/>
                  </a:lnTo>
                  <a:lnTo>
                    <a:pt x="252" y="813"/>
                  </a:lnTo>
                  <a:lnTo>
                    <a:pt x="250" y="810"/>
                  </a:lnTo>
                  <a:lnTo>
                    <a:pt x="247" y="805"/>
                  </a:lnTo>
                  <a:lnTo>
                    <a:pt x="247" y="805"/>
                  </a:lnTo>
                  <a:lnTo>
                    <a:pt x="227" y="795"/>
                  </a:lnTo>
                  <a:lnTo>
                    <a:pt x="207" y="783"/>
                  </a:lnTo>
                  <a:lnTo>
                    <a:pt x="170" y="757"/>
                  </a:lnTo>
                  <a:lnTo>
                    <a:pt x="132" y="730"/>
                  </a:lnTo>
                  <a:lnTo>
                    <a:pt x="95" y="705"/>
                  </a:lnTo>
                  <a:lnTo>
                    <a:pt x="95" y="705"/>
                  </a:lnTo>
                  <a:lnTo>
                    <a:pt x="70" y="686"/>
                  </a:lnTo>
                  <a:lnTo>
                    <a:pt x="57" y="678"/>
                  </a:lnTo>
                  <a:lnTo>
                    <a:pt x="44" y="670"/>
                  </a:lnTo>
                  <a:lnTo>
                    <a:pt x="44" y="670"/>
                  </a:lnTo>
                  <a:lnTo>
                    <a:pt x="39" y="668"/>
                  </a:lnTo>
                  <a:lnTo>
                    <a:pt x="34" y="667"/>
                  </a:lnTo>
                  <a:lnTo>
                    <a:pt x="28" y="666"/>
                  </a:lnTo>
                  <a:lnTo>
                    <a:pt x="23" y="663"/>
                  </a:lnTo>
                  <a:lnTo>
                    <a:pt x="23" y="663"/>
                  </a:lnTo>
                  <a:lnTo>
                    <a:pt x="18" y="659"/>
                  </a:lnTo>
                  <a:lnTo>
                    <a:pt x="13" y="653"/>
                  </a:lnTo>
                  <a:lnTo>
                    <a:pt x="8" y="649"/>
                  </a:lnTo>
                  <a:lnTo>
                    <a:pt x="5" y="647"/>
                  </a:lnTo>
                  <a:lnTo>
                    <a:pt x="1" y="646"/>
                  </a:lnTo>
                  <a:lnTo>
                    <a:pt x="1" y="646"/>
                  </a:lnTo>
                  <a:lnTo>
                    <a:pt x="0" y="639"/>
                  </a:lnTo>
                  <a:lnTo>
                    <a:pt x="1" y="634"/>
                  </a:lnTo>
                  <a:lnTo>
                    <a:pt x="4" y="629"/>
                  </a:lnTo>
                  <a:lnTo>
                    <a:pt x="9" y="622"/>
                  </a:lnTo>
                  <a:lnTo>
                    <a:pt x="9" y="622"/>
                  </a:lnTo>
                  <a:lnTo>
                    <a:pt x="13" y="618"/>
                  </a:lnTo>
                  <a:lnTo>
                    <a:pt x="19" y="613"/>
                  </a:lnTo>
                  <a:lnTo>
                    <a:pt x="31" y="603"/>
                  </a:lnTo>
                  <a:lnTo>
                    <a:pt x="60" y="584"/>
                  </a:lnTo>
                  <a:lnTo>
                    <a:pt x="60" y="584"/>
                  </a:lnTo>
                  <a:lnTo>
                    <a:pt x="72" y="574"/>
                  </a:lnTo>
                  <a:lnTo>
                    <a:pt x="81" y="563"/>
                  </a:lnTo>
                  <a:lnTo>
                    <a:pt x="88" y="552"/>
                  </a:lnTo>
                  <a:lnTo>
                    <a:pt x="96" y="538"/>
                  </a:lnTo>
                  <a:lnTo>
                    <a:pt x="96" y="538"/>
                  </a:lnTo>
                  <a:close/>
                  <a:moveTo>
                    <a:pt x="1404" y="260"/>
                  </a:moveTo>
                  <a:lnTo>
                    <a:pt x="1404" y="260"/>
                  </a:lnTo>
                  <a:lnTo>
                    <a:pt x="1379" y="273"/>
                  </a:lnTo>
                  <a:lnTo>
                    <a:pt x="1355" y="287"/>
                  </a:lnTo>
                  <a:lnTo>
                    <a:pt x="1331" y="302"/>
                  </a:lnTo>
                  <a:lnTo>
                    <a:pt x="1308" y="318"/>
                  </a:lnTo>
                  <a:lnTo>
                    <a:pt x="1262" y="350"/>
                  </a:lnTo>
                  <a:lnTo>
                    <a:pt x="1216" y="382"/>
                  </a:lnTo>
                  <a:lnTo>
                    <a:pt x="1216" y="382"/>
                  </a:lnTo>
                  <a:lnTo>
                    <a:pt x="1193" y="398"/>
                  </a:lnTo>
                  <a:lnTo>
                    <a:pt x="1171" y="414"/>
                  </a:lnTo>
                  <a:lnTo>
                    <a:pt x="1126" y="449"/>
                  </a:lnTo>
                  <a:lnTo>
                    <a:pt x="1082" y="483"/>
                  </a:lnTo>
                  <a:lnTo>
                    <a:pt x="1038" y="516"/>
                  </a:lnTo>
                  <a:lnTo>
                    <a:pt x="1038" y="516"/>
                  </a:lnTo>
                  <a:lnTo>
                    <a:pt x="1039" y="519"/>
                  </a:lnTo>
                  <a:lnTo>
                    <a:pt x="1040" y="522"/>
                  </a:lnTo>
                  <a:lnTo>
                    <a:pt x="1042" y="525"/>
                  </a:lnTo>
                  <a:lnTo>
                    <a:pt x="1042" y="528"/>
                  </a:lnTo>
                  <a:lnTo>
                    <a:pt x="1042" y="528"/>
                  </a:lnTo>
                  <a:lnTo>
                    <a:pt x="1039" y="534"/>
                  </a:lnTo>
                  <a:lnTo>
                    <a:pt x="1038" y="541"/>
                  </a:lnTo>
                  <a:lnTo>
                    <a:pt x="1036" y="555"/>
                  </a:lnTo>
                  <a:lnTo>
                    <a:pt x="1035" y="571"/>
                  </a:lnTo>
                  <a:lnTo>
                    <a:pt x="1035" y="589"/>
                  </a:lnTo>
                  <a:lnTo>
                    <a:pt x="1036" y="625"/>
                  </a:lnTo>
                  <a:lnTo>
                    <a:pt x="1035" y="644"/>
                  </a:lnTo>
                  <a:lnTo>
                    <a:pt x="1033" y="662"/>
                  </a:lnTo>
                  <a:lnTo>
                    <a:pt x="1033" y="662"/>
                  </a:lnTo>
                  <a:lnTo>
                    <a:pt x="1054" y="647"/>
                  </a:lnTo>
                  <a:lnTo>
                    <a:pt x="1076" y="631"/>
                  </a:lnTo>
                  <a:lnTo>
                    <a:pt x="1120" y="595"/>
                  </a:lnTo>
                  <a:lnTo>
                    <a:pt x="1120" y="595"/>
                  </a:lnTo>
                  <a:lnTo>
                    <a:pt x="1157" y="567"/>
                  </a:lnTo>
                  <a:lnTo>
                    <a:pt x="1194" y="539"/>
                  </a:lnTo>
                  <a:lnTo>
                    <a:pt x="1269" y="484"/>
                  </a:lnTo>
                  <a:lnTo>
                    <a:pt x="1269" y="484"/>
                  </a:lnTo>
                  <a:lnTo>
                    <a:pt x="1330" y="440"/>
                  </a:lnTo>
                  <a:lnTo>
                    <a:pt x="1388" y="396"/>
                  </a:lnTo>
                  <a:lnTo>
                    <a:pt x="1388" y="396"/>
                  </a:lnTo>
                  <a:lnTo>
                    <a:pt x="1418" y="373"/>
                  </a:lnTo>
                  <a:lnTo>
                    <a:pt x="1433" y="361"/>
                  </a:lnTo>
                  <a:lnTo>
                    <a:pt x="1447" y="350"/>
                  </a:lnTo>
                  <a:lnTo>
                    <a:pt x="1447" y="350"/>
                  </a:lnTo>
                  <a:lnTo>
                    <a:pt x="1459" y="344"/>
                  </a:lnTo>
                  <a:lnTo>
                    <a:pt x="1470" y="338"/>
                  </a:lnTo>
                  <a:lnTo>
                    <a:pt x="1480" y="333"/>
                  </a:lnTo>
                  <a:lnTo>
                    <a:pt x="1490" y="328"/>
                  </a:lnTo>
                  <a:lnTo>
                    <a:pt x="1490" y="328"/>
                  </a:lnTo>
                  <a:lnTo>
                    <a:pt x="1493" y="323"/>
                  </a:lnTo>
                  <a:lnTo>
                    <a:pt x="1497" y="318"/>
                  </a:lnTo>
                  <a:lnTo>
                    <a:pt x="1504" y="307"/>
                  </a:lnTo>
                  <a:lnTo>
                    <a:pt x="1504" y="307"/>
                  </a:lnTo>
                  <a:lnTo>
                    <a:pt x="1505" y="307"/>
                  </a:lnTo>
                  <a:lnTo>
                    <a:pt x="1506" y="308"/>
                  </a:lnTo>
                  <a:lnTo>
                    <a:pt x="1508" y="310"/>
                  </a:lnTo>
                  <a:lnTo>
                    <a:pt x="1508" y="310"/>
                  </a:lnTo>
                  <a:lnTo>
                    <a:pt x="1509" y="306"/>
                  </a:lnTo>
                  <a:lnTo>
                    <a:pt x="1509" y="305"/>
                  </a:lnTo>
                  <a:lnTo>
                    <a:pt x="1509" y="303"/>
                  </a:lnTo>
                  <a:lnTo>
                    <a:pt x="1511" y="301"/>
                  </a:lnTo>
                  <a:lnTo>
                    <a:pt x="1511" y="301"/>
                  </a:lnTo>
                  <a:lnTo>
                    <a:pt x="1513" y="299"/>
                  </a:lnTo>
                  <a:lnTo>
                    <a:pt x="1514" y="296"/>
                  </a:lnTo>
                  <a:lnTo>
                    <a:pt x="1517" y="291"/>
                  </a:lnTo>
                  <a:lnTo>
                    <a:pt x="1517" y="291"/>
                  </a:lnTo>
                  <a:lnTo>
                    <a:pt x="1520" y="278"/>
                  </a:lnTo>
                  <a:lnTo>
                    <a:pt x="1522" y="266"/>
                  </a:lnTo>
                  <a:lnTo>
                    <a:pt x="1523" y="252"/>
                  </a:lnTo>
                  <a:lnTo>
                    <a:pt x="1524" y="238"/>
                  </a:lnTo>
                  <a:lnTo>
                    <a:pt x="1525" y="211"/>
                  </a:lnTo>
                  <a:lnTo>
                    <a:pt x="1526" y="198"/>
                  </a:lnTo>
                  <a:lnTo>
                    <a:pt x="1529" y="186"/>
                  </a:lnTo>
                  <a:lnTo>
                    <a:pt x="1529" y="186"/>
                  </a:lnTo>
                  <a:lnTo>
                    <a:pt x="1528" y="185"/>
                  </a:lnTo>
                  <a:lnTo>
                    <a:pt x="1527" y="185"/>
                  </a:lnTo>
                  <a:lnTo>
                    <a:pt x="1527" y="185"/>
                  </a:lnTo>
                  <a:lnTo>
                    <a:pt x="1513" y="197"/>
                  </a:lnTo>
                  <a:lnTo>
                    <a:pt x="1499" y="209"/>
                  </a:lnTo>
                  <a:lnTo>
                    <a:pt x="1484" y="219"/>
                  </a:lnTo>
                  <a:lnTo>
                    <a:pt x="1469" y="227"/>
                  </a:lnTo>
                  <a:lnTo>
                    <a:pt x="1437" y="244"/>
                  </a:lnTo>
                  <a:lnTo>
                    <a:pt x="1404" y="260"/>
                  </a:lnTo>
                  <a:lnTo>
                    <a:pt x="1404" y="260"/>
                  </a:lnTo>
                  <a:close/>
                  <a:moveTo>
                    <a:pt x="1513" y="172"/>
                  </a:moveTo>
                  <a:lnTo>
                    <a:pt x="1513" y="172"/>
                  </a:lnTo>
                  <a:lnTo>
                    <a:pt x="1483" y="162"/>
                  </a:lnTo>
                  <a:lnTo>
                    <a:pt x="1453" y="151"/>
                  </a:lnTo>
                  <a:lnTo>
                    <a:pt x="1423" y="140"/>
                  </a:lnTo>
                  <a:lnTo>
                    <a:pt x="1392" y="130"/>
                  </a:lnTo>
                  <a:lnTo>
                    <a:pt x="1392" y="130"/>
                  </a:lnTo>
                  <a:lnTo>
                    <a:pt x="1372" y="123"/>
                  </a:lnTo>
                  <a:lnTo>
                    <a:pt x="1352" y="115"/>
                  </a:lnTo>
                  <a:lnTo>
                    <a:pt x="1330" y="105"/>
                  </a:lnTo>
                  <a:lnTo>
                    <a:pt x="1309" y="98"/>
                  </a:lnTo>
                  <a:lnTo>
                    <a:pt x="1309" y="98"/>
                  </a:lnTo>
                  <a:lnTo>
                    <a:pt x="1296" y="94"/>
                  </a:lnTo>
                  <a:lnTo>
                    <a:pt x="1283" y="92"/>
                  </a:lnTo>
                  <a:lnTo>
                    <a:pt x="1270" y="89"/>
                  </a:lnTo>
                  <a:lnTo>
                    <a:pt x="1257" y="86"/>
                  </a:lnTo>
                  <a:lnTo>
                    <a:pt x="1257" y="86"/>
                  </a:lnTo>
                  <a:lnTo>
                    <a:pt x="1233" y="77"/>
                  </a:lnTo>
                  <a:lnTo>
                    <a:pt x="1209" y="68"/>
                  </a:lnTo>
                  <a:lnTo>
                    <a:pt x="1209" y="68"/>
                  </a:lnTo>
                  <a:lnTo>
                    <a:pt x="1184" y="58"/>
                  </a:lnTo>
                  <a:lnTo>
                    <a:pt x="1158" y="48"/>
                  </a:lnTo>
                  <a:lnTo>
                    <a:pt x="1134" y="40"/>
                  </a:lnTo>
                  <a:lnTo>
                    <a:pt x="1122" y="37"/>
                  </a:lnTo>
                  <a:lnTo>
                    <a:pt x="1111" y="34"/>
                  </a:lnTo>
                  <a:lnTo>
                    <a:pt x="1111" y="34"/>
                  </a:lnTo>
                  <a:lnTo>
                    <a:pt x="1103" y="33"/>
                  </a:lnTo>
                  <a:lnTo>
                    <a:pt x="1096" y="32"/>
                  </a:lnTo>
                  <a:lnTo>
                    <a:pt x="1082" y="33"/>
                  </a:lnTo>
                  <a:lnTo>
                    <a:pt x="1070" y="32"/>
                  </a:lnTo>
                  <a:lnTo>
                    <a:pt x="1065" y="31"/>
                  </a:lnTo>
                  <a:lnTo>
                    <a:pt x="1058" y="29"/>
                  </a:lnTo>
                  <a:lnTo>
                    <a:pt x="1058" y="29"/>
                  </a:lnTo>
                  <a:lnTo>
                    <a:pt x="1013" y="41"/>
                  </a:lnTo>
                  <a:lnTo>
                    <a:pt x="969" y="54"/>
                  </a:lnTo>
                  <a:lnTo>
                    <a:pt x="927" y="66"/>
                  </a:lnTo>
                  <a:lnTo>
                    <a:pt x="885" y="80"/>
                  </a:lnTo>
                  <a:lnTo>
                    <a:pt x="802" y="109"/>
                  </a:lnTo>
                  <a:lnTo>
                    <a:pt x="722" y="139"/>
                  </a:lnTo>
                  <a:lnTo>
                    <a:pt x="561" y="202"/>
                  </a:lnTo>
                  <a:lnTo>
                    <a:pt x="480" y="234"/>
                  </a:lnTo>
                  <a:lnTo>
                    <a:pt x="397" y="265"/>
                  </a:lnTo>
                  <a:lnTo>
                    <a:pt x="397" y="265"/>
                  </a:lnTo>
                  <a:lnTo>
                    <a:pt x="409" y="273"/>
                  </a:lnTo>
                  <a:lnTo>
                    <a:pt x="422" y="280"/>
                  </a:lnTo>
                  <a:lnTo>
                    <a:pt x="436" y="285"/>
                  </a:lnTo>
                  <a:lnTo>
                    <a:pt x="450" y="290"/>
                  </a:lnTo>
                  <a:lnTo>
                    <a:pt x="450" y="290"/>
                  </a:lnTo>
                  <a:lnTo>
                    <a:pt x="506" y="311"/>
                  </a:lnTo>
                  <a:lnTo>
                    <a:pt x="561" y="331"/>
                  </a:lnTo>
                  <a:lnTo>
                    <a:pt x="561" y="331"/>
                  </a:lnTo>
                  <a:lnTo>
                    <a:pt x="610" y="348"/>
                  </a:lnTo>
                  <a:lnTo>
                    <a:pt x="657" y="365"/>
                  </a:lnTo>
                  <a:lnTo>
                    <a:pt x="705" y="381"/>
                  </a:lnTo>
                  <a:lnTo>
                    <a:pt x="752" y="398"/>
                  </a:lnTo>
                  <a:lnTo>
                    <a:pt x="752" y="398"/>
                  </a:lnTo>
                  <a:lnTo>
                    <a:pt x="798" y="417"/>
                  </a:lnTo>
                  <a:lnTo>
                    <a:pt x="843" y="436"/>
                  </a:lnTo>
                  <a:lnTo>
                    <a:pt x="843" y="436"/>
                  </a:lnTo>
                  <a:lnTo>
                    <a:pt x="877" y="451"/>
                  </a:lnTo>
                  <a:lnTo>
                    <a:pt x="908" y="466"/>
                  </a:lnTo>
                  <a:lnTo>
                    <a:pt x="908" y="466"/>
                  </a:lnTo>
                  <a:lnTo>
                    <a:pt x="943" y="484"/>
                  </a:lnTo>
                  <a:lnTo>
                    <a:pt x="960" y="493"/>
                  </a:lnTo>
                  <a:lnTo>
                    <a:pt x="978" y="500"/>
                  </a:lnTo>
                  <a:lnTo>
                    <a:pt x="978" y="500"/>
                  </a:lnTo>
                  <a:lnTo>
                    <a:pt x="989" y="503"/>
                  </a:lnTo>
                  <a:lnTo>
                    <a:pt x="999" y="507"/>
                  </a:lnTo>
                  <a:lnTo>
                    <a:pt x="1010" y="510"/>
                  </a:lnTo>
                  <a:lnTo>
                    <a:pt x="1021" y="511"/>
                  </a:lnTo>
                  <a:lnTo>
                    <a:pt x="1021" y="511"/>
                  </a:lnTo>
                  <a:lnTo>
                    <a:pt x="1078" y="466"/>
                  </a:lnTo>
                  <a:lnTo>
                    <a:pt x="1135" y="423"/>
                  </a:lnTo>
                  <a:lnTo>
                    <a:pt x="1253" y="336"/>
                  </a:lnTo>
                  <a:lnTo>
                    <a:pt x="1253" y="336"/>
                  </a:lnTo>
                  <a:lnTo>
                    <a:pt x="1285" y="314"/>
                  </a:lnTo>
                  <a:lnTo>
                    <a:pt x="1318" y="293"/>
                  </a:lnTo>
                  <a:lnTo>
                    <a:pt x="1354" y="273"/>
                  </a:lnTo>
                  <a:lnTo>
                    <a:pt x="1388" y="254"/>
                  </a:lnTo>
                  <a:lnTo>
                    <a:pt x="1423" y="235"/>
                  </a:lnTo>
                  <a:lnTo>
                    <a:pt x="1457" y="214"/>
                  </a:lnTo>
                  <a:lnTo>
                    <a:pt x="1489" y="194"/>
                  </a:lnTo>
                  <a:lnTo>
                    <a:pt x="1504" y="183"/>
                  </a:lnTo>
                  <a:lnTo>
                    <a:pt x="1519" y="172"/>
                  </a:lnTo>
                  <a:lnTo>
                    <a:pt x="1519" y="172"/>
                  </a:lnTo>
                  <a:lnTo>
                    <a:pt x="1518" y="171"/>
                  </a:lnTo>
                  <a:lnTo>
                    <a:pt x="1515" y="171"/>
                  </a:lnTo>
                  <a:lnTo>
                    <a:pt x="1514" y="171"/>
                  </a:lnTo>
                  <a:lnTo>
                    <a:pt x="1513" y="172"/>
                  </a:lnTo>
                  <a:lnTo>
                    <a:pt x="1513" y="172"/>
                  </a:lnTo>
                  <a:close/>
                  <a:moveTo>
                    <a:pt x="1015" y="678"/>
                  </a:moveTo>
                  <a:lnTo>
                    <a:pt x="1015" y="678"/>
                  </a:lnTo>
                  <a:lnTo>
                    <a:pt x="1018" y="663"/>
                  </a:lnTo>
                  <a:lnTo>
                    <a:pt x="1020" y="647"/>
                  </a:lnTo>
                  <a:lnTo>
                    <a:pt x="1021" y="630"/>
                  </a:lnTo>
                  <a:lnTo>
                    <a:pt x="1021" y="613"/>
                  </a:lnTo>
                  <a:lnTo>
                    <a:pt x="1021" y="576"/>
                  </a:lnTo>
                  <a:lnTo>
                    <a:pt x="1022" y="541"/>
                  </a:lnTo>
                  <a:lnTo>
                    <a:pt x="1022" y="541"/>
                  </a:lnTo>
                  <a:lnTo>
                    <a:pt x="1023" y="540"/>
                  </a:lnTo>
                  <a:lnTo>
                    <a:pt x="1023" y="540"/>
                  </a:lnTo>
                  <a:lnTo>
                    <a:pt x="1021" y="538"/>
                  </a:lnTo>
                  <a:lnTo>
                    <a:pt x="1015" y="533"/>
                  </a:lnTo>
                  <a:lnTo>
                    <a:pt x="1015" y="533"/>
                  </a:lnTo>
                  <a:lnTo>
                    <a:pt x="946" y="588"/>
                  </a:lnTo>
                  <a:lnTo>
                    <a:pt x="908" y="616"/>
                  </a:lnTo>
                  <a:lnTo>
                    <a:pt x="890" y="630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68" y="685"/>
                  </a:lnTo>
                  <a:lnTo>
                    <a:pt x="867" y="724"/>
                  </a:lnTo>
                  <a:lnTo>
                    <a:pt x="869" y="764"/>
                  </a:lnTo>
                  <a:lnTo>
                    <a:pt x="873" y="810"/>
                  </a:lnTo>
                  <a:lnTo>
                    <a:pt x="873" y="810"/>
                  </a:lnTo>
                  <a:lnTo>
                    <a:pt x="891" y="794"/>
                  </a:lnTo>
                  <a:lnTo>
                    <a:pt x="909" y="777"/>
                  </a:lnTo>
                  <a:lnTo>
                    <a:pt x="945" y="744"/>
                  </a:lnTo>
                  <a:lnTo>
                    <a:pt x="980" y="710"/>
                  </a:lnTo>
                  <a:lnTo>
                    <a:pt x="1015" y="678"/>
                  </a:lnTo>
                  <a:lnTo>
                    <a:pt x="1015" y="678"/>
                  </a:lnTo>
                  <a:close/>
                  <a:moveTo>
                    <a:pt x="368" y="277"/>
                  </a:moveTo>
                  <a:lnTo>
                    <a:pt x="368" y="277"/>
                  </a:lnTo>
                  <a:lnTo>
                    <a:pt x="337" y="288"/>
                  </a:lnTo>
                  <a:lnTo>
                    <a:pt x="307" y="300"/>
                  </a:lnTo>
                  <a:lnTo>
                    <a:pt x="276" y="312"/>
                  </a:lnTo>
                  <a:lnTo>
                    <a:pt x="260" y="317"/>
                  </a:lnTo>
                  <a:lnTo>
                    <a:pt x="241" y="322"/>
                  </a:lnTo>
                  <a:lnTo>
                    <a:pt x="241" y="322"/>
                  </a:lnTo>
                  <a:lnTo>
                    <a:pt x="389" y="397"/>
                  </a:lnTo>
                  <a:lnTo>
                    <a:pt x="539" y="473"/>
                  </a:lnTo>
                  <a:lnTo>
                    <a:pt x="539" y="473"/>
                  </a:lnTo>
                  <a:lnTo>
                    <a:pt x="576" y="492"/>
                  </a:lnTo>
                  <a:lnTo>
                    <a:pt x="615" y="509"/>
                  </a:lnTo>
                  <a:lnTo>
                    <a:pt x="693" y="541"/>
                  </a:lnTo>
                  <a:lnTo>
                    <a:pt x="731" y="559"/>
                  </a:lnTo>
                  <a:lnTo>
                    <a:pt x="750" y="568"/>
                  </a:lnTo>
                  <a:lnTo>
                    <a:pt x="768" y="577"/>
                  </a:lnTo>
                  <a:lnTo>
                    <a:pt x="785" y="588"/>
                  </a:lnTo>
                  <a:lnTo>
                    <a:pt x="802" y="600"/>
                  </a:lnTo>
                  <a:lnTo>
                    <a:pt x="819" y="611"/>
                  </a:lnTo>
                  <a:lnTo>
                    <a:pt x="836" y="624"/>
                  </a:lnTo>
                  <a:lnTo>
                    <a:pt x="836" y="624"/>
                  </a:lnTo>
                  <a:lnTo>
                    <a:pt x="843" y="625"/>
                  </a:lnTo>
                  <a:lnTo>
                    <a:pt x="849" y="626"/>
                  </a:lnTo>
                  <a:lnTo>
                    <a:pt x="856" y="629"/>
                  </a:lnTo>
                  <a:lnTo>
                    <a:pt x="859" y="631"/>
                  </a:lnTo>
                  <a:lnTo>
                    <a:pt x="862" y="633"/>
                  </a:lnTo>
                  <a:lnTo>
                    <a:pt x="862" y="633"/>
                  </a:lnTo>
                  <a:lnTo>
                    <a:pt x="879" y="619"/>
                  </a:lnTo>
                  <a:lnTo>
                    <a:pt x="897" y="605"/>
                  </a:lnTo>
                  <a:lnTo>
                    <a:pt x="932" y="579"/>
                  </a:lnTo>
                  <a:lnTo>
                    <a:pt x="967" y="553"/>
                  </a:lnTo>
                  <a:lnTo>
                    <a:pt x="984" y="539"/>
                  </a:lnTo>
                  <a:lnTo>
                    <a:pt x="1000" y="525"/>
                  </a:lnTo>
                  <a:lnTo>
                    <a:pt x="1000" y="525"/>
                  </a:lnTo>
                  <a:lnTo>
                    <a:pt x="924" y="489"/>
                  </a:lnTo>
                  <a:lnTo>
                    <a:pt x="846" y="456"/>
                  </a:lnTo>
                  <a:lnTo>
                    <a:pt x="768" y="424"/>
                  </a:lnTo>
                  <a:lnTo>
                    <a:pt x="688" y="393"/>
                  </a:lnTo>
                  <a:lnTo>
                    <a:pt x="609" y="364"/>
                  </a:lnTo>
                  <a:lnTo>
                    <a:pt x="528" y="334"/>
                  </a:lnTo>
                  <a:lnTo>
                    <a:pt x="368" y="277"/>
                  </a:lnTo>
                  <a:lnTo>
                    <a:pt x="368" y="277"/>
                  </a:lnTo>
                  <a:close/>
                  <a:moveTo>
                    <a:pt x="854" y="694"/>
                  </a:moveTo>
                  <a:lnTo>
                    <a:pt x="854" y="694"/>
                  </a:lnTo>
                  <a:lnTo>
                    <a:pt x="853" y="690"/>
                  </a:lnTo>
                  <a:lnTo>
                    <a:pt x="853" y="685"/>
                  </a:lnTo>
                  <a:lnTo>
                    <a:pt x="854" y="674"/>
                  </a:lnTo>
                  <a:lnTo>
                    <a:pt x="854" y="662"/>
                  </a:lnTo>
                  <a:lnTo>
                    <a:pt x="853" y="656"/>
                  </a:lnTo>
                  <a:lnTo>
                    <a:pt x="852" y="651"/>
                  </a:lnTo>
                  <a:lnTo>
                    <a:pt x="852" y="651"/>
                  </a:lnTo>
                  <a:lnTo>
                    <a:pt x="849" y="652"/>
                  </a:lnTo>
                  <a:lnTo>
                    <a:pt x="848" y="652"/>
                  </a:lnTo>
                  <a:lnTo>
                    <a:pt x="847" y="652"/>
                  </a:lnTo>
                  <a:lnTo>
                    <a:pt x="846" y="651"/>
                  </a:lnTo>
                  <a:lnTo>
                    <a:pt x="844" y="648"/>
                  </a:lnTo>
                  <a:lnTo>
                    <a:pt x="841" y="646"/>
                  </a:lnTo>
                  <a:lnTo>
                    <a:pt x="841" y="646"/>
                  </a:lnTo>
                  <a:lnTo>
                    <a:pt x="841" y="648"/>
                  </a:lnTo>
                  <a:lnTo>
                    <a:pt x="840" y="649"/>
                  </a:lnTo>
                  <a:lnTo>
                    <a:pt x="839" y="649"/>
                  </a:lnTo>
                  <a:lnTo>
                    <a:pt x="839" y="649"/>
                  </a:lnTo>
                  <a:lnTo>
                    <a:pt x="837" y="647"/>
                  </a:lnTo>
                  <a:lnTo>
                    <a:pt x="836" y="644"/>
                  </a:lnTo>
                  <a:lnTo>
                    <a:pt x="833" y="640"/>
                  </a:lnTo>
                  <a:lnTo>
                    <a:pt x="832" y="638"/>
                  </a:lnTo>
                  <a:lnTo>
                    <a:pt x="832" y="638"/>
                  </a:lnTo>
                  <a:lnTo>
                    <a:pt x="829" y="637"/>
                  </a:lnTo>
                  <a:lnTo>
                    <a:pt x="827" y="636"/>
                  </a:lnTo>
                  <a:lnTo>
                    <a:pt x="824" y="636"/>
                  </a:lnTo>
                  <a:lnTo>
                    <a:pt x="822" y="635"/>
                  </a:lnTo>
                  <a:lnTo>
                    <a:pt x="822" y="635"/>
                  </a:lnTo>
                  <a:lnTo>
                    <a:pt x="813" y="629"/>
                  </a:lnTo>
                  <a:lnTo>
                    <a:pt x="806" y="622"/>
                  </a:lnTo>
                  <a:lnTo>
                    <a:pt x="790" y="609"/>
                  </a:lnTo>
                  <a:lnTo>
                    <a:pt x="782" y="603"/>
                  </a:lnTo>
                  <a:lnTo>
                    <a:pt x="772" y="596"/>
                  </a:lnTo>
                  <a:lnTo>
                    <a:pt x="764" y="592"/>
                  </a:lnTo>
                  <a:lnTo>
                    <a:pt x="754" y="589"/>
                  </a:lnTo>
                  <a:lnTo>
                    <a:pt x="754" y="589"/>
                  </a:lnTo>
                  <a:lnTo>
                    <a:pt x="725" y="609"/>
                  </a:lnTo>
                  <a:lnTo>
                    <a:pt x="695" y="629"/>
                  </a:lnTo>
                  <a:lnTo>
                    <a:pt x="634" y="665"/>
                  </a:lnTo>
                  <a:lnTo>
                    <a:pt x="634" y="665"/>
                  </a:lnTo>
                  <a:lnTo>
                    <a:pt x="634" y="673"/>
                  </a:lnTo>
                  <a:lnTo>
                    <a:pt x="633" y="679"/>
                  </a:lnTo>
                  <a:lnTo>
                    <a:pt x="629" y="692"/>
                  </a:lnTo>
                  <a:lnTo>
                    <a:pt x="629" y="692"/>
                  </a:lnTo>
                  <a:lnTo>
                    <a:pt x="651" y="682"/>
                  </a:lnTo>
                  <a:lnTo>
                    <a:pt x="665" y="678"/>
                  </a:lnTo>
                  <a:lnTo>
                    <a:pt x="679" y="674"/>
                  </a:lnTo>
                  <a:lnTo>
                    <a:pt x="687" y="673"/>
                  </a:lnTo>
                  <a:lnTo>
                    <a:pt x="693" y="673"/>
                  </a:lnTo>
                  <a:lnTo>
                    <a:pt x="698" y="674"/>
                  </a:lnTo>
                  <a:lnTo>
                    <a:pt x="704" y="675"/>
                  </a:lnTo>
                  <a:lnTo>
                    <a:pt x="708" y="678"/>
                  </a:lnTo>
                  <a:lnTo>
                    <a:pt x="711" y="681"/>
                  </a:lnTo>
                  <a:lnTo>
                    <a:pt x="713" y="686"/>
                  </a:lnTo>
                  <a:lnTo>
                    <a:pt x="715" y="694"/>
                  </a:lnTo>
                  <a:lnTo>
                    <a:pt x="715" y="694"/>
                  </a:lnTo>
                  <a:lnTo>
                    <a:pt x="713" y="700"/>
                  </a:lnTo>
                  <a:lnTo>
                    <a:pt x="712" y="707"/>
                  </a:lnTo>
                  <a:lnTo>
                    <a:pt x="709" y="713"/>
                  </a:lnTo>
                  <a:lnTo>
                    <a:pt x="705" y="720"/>
                  </a:lnTo>
                  <a:lnTo>
                    <a:pt x="698" y="732"/>
                  </a:lnTo>
                  <a:lnTo>
                    <a:pt x="695" y="739"/>
                  </a:lnTo>
                  <a:lnTo>
                    <a:pt x="693" y="746"/>
                  </a:lnTo>
                  <a:lnTo>
                    <a:pt x="693" y="746"/>
                  </a:lnTo>
                  <a:lnTo>
                    <a:pt x="702" y="746"/>
                  </a:lnTo>
                  <a:lnTo>
                    <a:pt x="709" y="749"/>
                  </a:lnTo>
                  <a:lnTo>
                    <a:pt x="717" y="752"/>
                  </a:lnTo>
                  <a:lnTo>
                    <a:pt x="723" y="756"/>
                  </a:lnTo>
                  <a:lnTo>
                    <a:pt x="728" y="762"/>
                  </a:lnTo>
                  <a:lnTo>
                    <a:pt x="734" y="769"/>
                  </a:lnTo>
                  <a:lnTo>
                    <a:pt x="738" y="776"/>
                  </a:lnTo>
                  <a:lnTo>
                    <a:pt x="741" y="784"/>
                  </a:lnTo>
                  <a:lnTo>
                    <a:pt x="741" y="784"/>
                  </a:lnTo>
                  <a:lnTo>
                    <a:pt x="770" y="762"/>
                  </a:lnTo>
                  <a:lnTo>
                    <a:pt x="798" y="740"/>
                  </a:lnTo>
                  <a:lnTo>
                    <a:pt x="854" y="694"/>
                  </a:lnTo>
                  <a:lnTo>
                    <a:pt x="854" y="694"/>
                  </a:lnTo>
                  <a:close/>
                  <a:moveTo>
                    <a:pt x="852" y="721"/>
                  </a:moveTo>
                  <a:lnTo>
                    <a:pt x="852" y="721"/>
                  </a:lnTo>
                  <a:lnTo>
                    <a:pt x="844" y="724"/>
                  </a:lnTo>
                  <a:lnTo>
                    <a:pt x="837" y="728"/>
                  </a:lnTo>
                  <a:lnTo>
                    <a:pt x="823" y="738"/>
                  </a:lnTo>
                  <a:lnTo>
                    <a:pt x="811" y="749"/>
                  </a:lnTo>
                  <a:lnTo>
                    <a:pt x="800" y="761"/>
                  </a:lnTo>
                  <a:lnTo>
                    <a:pt x="800" y="761"/>
                  </a:lnTo>
                  <a:lnTo>
                    <a:pt x="808" y="765"/>
                  </a:lnTo>
                  <a:lnTo>
                    <a:pt x="815" y="769"/>
                  </a:lnTo>
                  <a:lnTo>
                    <a:pt x="828" y="779"/>
                  </a:lnTo>
                  <a:lnTo>
                    <a:pt x="842" y="787"/>
                  </a:lnTo>
                  <a:lnTo>
                    <a:pt x="848" y="790"/>
                  </a:lnTo>
                  <a:lnTo>
                    <a:pt x="855" y="794"/>
                  </a:lnTo>
                  <a:lnTo>
                    <a:pt x="855" y="794"/>
                  </a:lnTo>
                  <a:lnTo>
                    <a:pt x="853" y="758"/>
                  </a:lnTo>
                  <a:lnTo>
                    <a:pt x="852" y="740"/>
                  </a:lnTo>
                  <a:lnTo>
                    <a:pt x="852" y="721"/>
                  </a:lnTo>
                  <a:lnTo>
                    <a:pt x="852" y="721"/>
                  </a:lnTo>
                  <a:close/>
                  <a:moveTo>
                    <a:pt x="792" y="784"/>
                  </a:moveTo>
                  <a:lnTo>
                    <a:pt x="792" y="784"/>
                  </a:lnTo>
                  <a:lnTo>
                    <a:pt x="787" y="777"/>
                  </a:lnTo>
                  <a:lnTo>
                    <a:pt x="784" y="770"/>
                  </a:lnTo>
                  <a:lnTo>
                    <a:pt x="784" y="770"/>
                  </a:lnTo>
                  <a:lnTo>
                    <a:pt x="760" y="794"/>
                  </a:lnTo>
                  <a:lnTo>
                    <a:pt x="753" y="800"/>
                  </a:lnTo>
                  <a:lnTo>
                    <a:pt x="746" y="804"/>
                  </a:lnTo>
                  <a:lnTo>
                    <a:pt x="738" y="810"/>
                  </a:lnTo>
                  <a:lnTo>
                    <a:pt x="731" y="813"/>
                  </a:lnTo>
                  <a:lnTo>
                    <a:pt x="731" y="813"/>
                  </a:lnTo>
                  <a:lnTo>
                    <a:pt x="722" y="815"/>
                  </a:lnTo>
                  <a:lnTo>
                    <a:pt x="713" y="817"/>
                  </a:lnTo>
                  <a:lnTo>
                    <a:pt x="705" y="819"/>
                  </a:lnTo>
                  <a:lnTo>
                    <a:pt x="697" y="821"/>
                  </a:lnTo>
                  <a:lnTo>
                    <a:pt x="697" y="821"/>
                  </a:lnTo>
                  <a:lnTo>
                    <a:pt x="672" y="832"/>
                  </a:lnTo>
                  <a:lnTo>
                    <a:pt x="647" y="844"/>
                  </a:lnTo>
                  <a:lnTo>
                    <a:pt x="601" y="867"/>
                  </a:lnTo>
                  <a:lnTo>
                    <a:pt x="601" y="867"/>
                  </a:lnTo>
                  <a:lnTo>
                    <a:pt x="616" y="877"/>
                  </a:lnTo>
                  <a:lnTo>
                    <a:pt x="632" y="886"/>
                  </a:lnTo>
                  <a:lnTo>
                    <a:pt x="665" y="903"/>
                  </a:lnTo>
                  <a:lnTo>
                    <a:pt x="701" y="919"/>
                  </a:lnTo>
                  <a:lnTo>
                    <a:pt x="718" y="928"/>
                  </a:lnTo>
                  <a:lnTo>
                    <a:pt x="734" y="937"/>
                  </a:lnTo>
                  <a:lnTo>
                    <a:pt x="734" y="937"/>
                  </a:lnTo>
                  <a:lnTo>
                    <a:pt x="757" y="904"/>
                  </a:lnTo>
                  <a:lnTo>
                    <a:pt x="769" y="888"/>
                  </a:lnTo>
                  <a:lnTo>
                    <a:pt x="782" y="872"/>
                  </a:lnTo>
                  <a:lnTo>
                    <a:pt x="796" y="858"/>
                  </a:lnTo>
                  <a:lnTo>
                    <a:pt x="811" y="844"/>
                  </a:lnTo>
                  <a:lnTo>
                    <a:pt x="827" y="832"/>
                  </a:lnTo>
                  <a:lnTo>
                    <a:pt x="844" y="821"/>
                  </a:lnTo>
                  <a:lnTo>
                    <a:pt x="844" y="821"/>
                  </a:lnTo>
                  <a:lnTo>
                    <a:pt x="844" y="816"/>
                  </a:lnTo>
                  <a:lnTo>
                    <a:pt x="844" y="816"/>
                  </a:lnTo>
                  <a:lnTo>
                    <a:pt x="832" y="806"/>
                  </a:lnTo>
                  <a:lnTo>
                    <a:pt x="819" y="798"/>
                  </a:lnTo>
                  <a:lnTo>
                    <a:pt x="806" y="790"/>
                  </a:lnTo>
                  <a:lnTo>
                    <a:pt x="792" y="784"/>
                  </a:lnTo>
                  <a:lnTo>
                    <a:pt x="792" y="784"/>
                  </a:lnTo>
                  <a:close/>
                  <a:moveTo>
                    <a:pt x="629" y="532"/>
                  </a:moveTo>
                  <a:lnTo>
                    <a:pt x="629" y="532"/>
                  </a:lnTo>
                  <a:lnTo>
                    <a:pt x="614" y="543"/>
                  </a:lnTo>
                  <a:lnTo>
                    <a:pt x="597" y="554"/>
                  </a:lnTo>
                  <a:lnTo>
                    <a:pt x="563" y="573"/>
                  </a:lnTo>
                  <a:lnTo>
                    <a:pt x="545" y="584"/>
                  </a:lnTo>
                  <a:lnTo>
                    <a:pt x="528" y="593"/>
                  </a:lnTo>
                  <a:lnTo>
                    <a:pt x="512" y="605"/>
                  </a:lnTo>
                  <a:lnTo>
                    <a:pt x="498" y="617"/>
                  </a:lnTo>
                  <a:lnTo>
                    <a:pt x="498" y="617"/>
                  </a:lnTo>
                  <a:lnTo>
                    <a:pt x="491" y="620"/>
                  </a:lnTo>
                  <a:lnTo>
                    <a:pt x="483" y="623"/>
                  </a:lnTo>
                  <a:lnTo>
                    <a:pt x="480" y="625"/>
                  </a:lnTo>
                  <a:lnTo>
                    <a:pt x="477" y="628"/>
                  </a:lnTo>
                  <a:lnTo>
                    <a:pt x="476" y="630"/>
                  </a:lnTo>
                  <a:lnTo>
                    <a:pt x="477" y="633"/>
                  </a:lnTo>
                  <a:lnTo>
                    <a:pt x="477" y="633"/>
                  </a:lnTo>
                  <a:lnTo>
                    <a:pt x="506" y="625"/>
                  </a:lnTo>
                  <a:lnTo>
                    <a:pt x="521" y="623"/>
                  </a:lnTo>
                  <a:lnTo>
                    <a:pt x="537" y="621"/>
                  </a:lnTo>
                  <a:lnTo>
                    <a:pt x="537" y="621"/>
                  </a:lnTo>
                  <a:lnTo>
                    <a:pt x="542" y="626"/>
                  </a:lnTo>
                  <a:lnTo>
                    <a:pt x="546" y="633"/>
                  </a:lnTo>
                  <a:lnTo>
                    <a:pt x="549" y="639"/>
                  </a:lnTo>
                  <a:lnTo>
                    <a:pt x="550" y="647"/>
                  </a:lnTo>
                  <a:lnTo>
                    <a:pt x="550" y="653"/>
                  </a:lnTo>
                  <a:lnTo>
                    <a:pt x="548" y="661"/>
                  </a:lnTo>
                  <a:lnTo>
                    <a:pt x="544" y="667"/>
                  </a:lnTo>
                  <a:lnTo>
                    <a:pt x="540" y="674"/>
                  </a:lnTo>
                  <a:lnTo>
                    <a:pt x="540" y="674"/>
                  </a:lnTo>
                  <a:lnTo>
                    <a:pt x="551" y="681"/>
                  </a:lnTo>
                  <a:lnTo>
                    <a:pt x="554" y="685"/>
                  </a:lnTo>
                  <a:lnTo>
                    <a:pt x="556" y="690"/>
                  </a:lnTo>
                  <a:lnTo>
                    <a:pt x="556" y="690"/>
                  </a:lnTo>
                  <a:lnTo>
                    <a:pt x="573" y="683"/>
                  </a:lnTo>
                  <a:lnTo>
                    <a:pt x="588" y="677"/>
                  </a:lnTo>
                  <a:lnTo>
                    <a:pt x="596" y="673"/>
                  </a:lnTo>
                  <a:lnTo>
                    <a:pt x="602" y="668"/>
                  </a:lnTo>
                  <a:lnTo>
                    <a:pt x="609" y="663"/>
                  </a:lnTo>
                  <a:lnTo>
                    <a:pt x="613" y="656"/>
                  </a:lnTo>
                  <a:lnTo>
                    <a:pt x="613" y="656"/>
                  </a:lnTo>
                  <a:lnTo>
                    <a:pt x="620" y="655"/>
                  </a:lnTo>
                  <a:lnTo>
                    <a:pt x="628" y="654"/>
                  </a:lnTo>
                  <a:lnTo>
                    <a:pt x="628" y="654"/>
                  </a:lnTo>
                  <a:lnTo>
                    <a:pt x="641" y="645"/>
                  </a:lnTo>
                  <a:lnTo>
                    <a:pt x="655" y="636"/>
                  </a:lnTo>
                  <a:lnTo>
                    <a:pt x="685" y="618"/>
                  </a:lnTo>
                  <a:lnTo>
                    <a:pt x="712" y="601"/>
                  </a:lnTo>
                  <a:lnTo>
                    <a:pt x="726" y="591"/>
                  </a:lnTo>
                  <a:lnTo>
                    <a:pt x="739" y="581"/>
                  </a:lnTo>
                  <a:lnTo>
                    <a:pt x="739" y="581"/>
                  </a:lnTo>
                  <a:lnTo>
                    <a:pt x="684" y="556"/>
                  </a:lnTo>
                  <a:lnTo>
                    <a:pt x="629" y="532"/>
                  </a:lnTo>
                  <a:lnTo>
                    <a:pt x="629" y="532"/>
                  </a:lnTo>
                  <a:close/>
                  <a:moveTo>
                    <a:pt x="669" y="756"/>
                  </a:moveTo>
                  <a:lnTo>
                    <a:pt x="669" y="756"/>
                  </a:lnTo>
                  <a:lnTo>
                    <a:pt x="671" y="751"/>
                  </a:lnTo>
                  <a:lnTo>
                    <a:pt x="674" y="744"/>
                  </a:lnTo>
                  <a:lnTo>
                    <a:pt x="685" y="730"/>
                  </a:lnTo>
                  <a:lnTo>
                    <a:pt x="690" y="723"/>
                  </a:lnTo>
                  <a:lnTo>
                    <a:pt x="694" y="713"/>
                  </a:lnTo>
                  <a:lnTo>
                    <a:pt x="697" y="704"/>
                  </a:lnTo>
                  <a:lnTo>
                    <a:pt x="697" y="699"/>
                  </a:lnTo>
                  <a:lnTo>
                    <a:pt x="697" y="694"/>
                  </a:lnTo>
                  <a:lnTo>
                    <a:pt x="697" y="694"/>
                  </a:lnTo>
                  <a:lnTo>
                    <a:pt x="692" y="691"/>
                  </a:lnTo>
                  <a:lnTo>
                    <a:pt x="687" y="690"/>
                  </a:lnTo>
                  <a:lnTo>
                    <a:pt x="682" y="689"/>
                  </a:lnTo>
                  <a:lnTo>
                    <a:pt x="677" y="690"/>
                  </a:lnTo>
                  <a:lnTo>
                    <a:pt x="667" y="691"/>
                  </a:lnTo>
                  <a:lnTo>
                    <a:pt x="657" y="695"/>
                  </a:lnTo>
                  <a:lnTo>
                    <a:pt x="637" y="704"/>
                  </a:lnTo>
                  <a:lnTo>
                    <a:pt x="627" y="708"/>
                  </a:lnTo>
                  <a:lnTo>
                    <a:pt x="617" y="711"/>
                  </a:lnTo>
                  <a:lnTo>
                    <a:pt x="617" y="711"/>
                  </a:lnTo>
                  <a:lnTo>
                    <a:pt x="611" y="721"/>
                  </a:lnTo>
                  <a:lnTo>
                    <a:pt x="604" y="731"/>
                  </a:lnTo>
                  <a:lnTo>
                    <a:pt x="591" y="753"/>
                  </a:lnTo>
                  <a:lnTo>
                    <a:pt x="584" y="762"/>
                  </a:lnTo>
                  <a:lnTo>
                    <a:pt x="576" y="771"/>
                  </a:lnTo>
                  <a:lnTo>
                    <a:pt x="569" y="779"/>
                  </a:lnTo>
                  <a:lnTo>
                    <a:pt x="560" y="784"/>
                  </a:lnTo>
                  <a:lnTo>
                    <a:pt x="560" y="784"/>
                  </a:lnTo>
                  <a:lnTo>
                    <a:pt x="564" y="773"/>
                  </a:lnTo>
                  <a:lnTo>
                    <a:pt x="569" y="762"/>
                  </a:lnTo>
                  <a:lnTo>
                    <a:pt x="582" y="744"/>
                  </a:lnTo>
                  <a:lnTo>
                    <a:pt x="587" y="735"/>
                  </a:lnTo>
                  <a:lnTo>
                    <a:pt x="592" y="725"/>
                  </a:lnTo>
                  <a:lnTo>
                    <a:pt x="598" y="714"/>
                  </a:lnTo>
                  <a:lnTo>
                    <a:pt x="601" y="702"/>
                  </a:lnTo>
                  <a:lnTo>
                    <a:pt x="601" y="702"/>
                  </a:lnTo>
                  <a:lnTo>
                    <a:pt x="607" y="697"/>
                  </a:lnTo>
                  <a:lnTo>
                    <a:pt x="613" y="691"/>
                  </a:lnTo>
                  <a:lnTo>
                    <a:pt x="615" y="688"/>
                  </a:lnTo>
                  <a:lnTo>
                    <a:pt x="617" y="683"/>
                  </a:lnTo>
                  <a:lnTo>
                    <a:pt x="617" y="680"/>
                  </a:lnTo>
                  <a:lnTo>
                    <a:pt x="617" y="676"/>
                  </a:lnTo>
                  <a:lnTo>
                    <a:pt x="617" y="676"/>
                  </a:lnTo>
                  <a:lnTo>
                    <a:pt x="600" y="686"/>
                  </a:lnTo>
                  <a:lnTo>
                    <a:pt x="583" y="698"/>
                  </a:lnTo>
                  <a:lnTo>
                    <a:pt x="568" y="709"/>
                  </a:lnTo>
                  <a:lnTo>
                    <a:pt x="556" y="716"/>
                  </a:lnTo>
                  <a:lnTo>
                    <a:pt x="556" y="716"/>
                  </a:lnTo>
                  <a:lnTo>
                    <a:pt x="544" y="740"/>
                  </a:lnTo>
                  <a:lnTo>
                    <a:pt x="533" y="762"/>
                  </a:lnTo>
                  <a:lnTo>
                    <a:pt x="520" y="785"/>
                  </a:lnTo>
                  <a:lnTo>
                    <a:pt x="509" y="810"/>
                  </a:lnTo>
                  <a:lnTo>
                    <a:pt x="509" y="810"/>
                  </a:lnTo>
                  <a:lnTo>
                    <a:pt x="512" y="810"/>
                  </a:lnTo>
                  <a:lnTo>
                    <a:pt x="515" y="811"/>
                  </a:lnTo>
                  <a:lnTo>
                    <a:pt x="520" y="812"/>
                  </a:lnTo>
                  <a:lnTo>
                    <a:pt x="523" y="813"/>
                  </a:lnTo>
                  <a:lnTo>
                    <a:pt x="523" y="813"/>
                  </a:lnTo>
                  <a:lnTo>
                    <a:pt x="528" y="829"/>
                  </a:lnTo>
                  <a:lnTo>
                    <a:pt x="531" y="835"/>
                  </a:lnTo>
                  <a:lnTo>
                    <a:pt x="534" y="838"/>
                  </a:lnTo>
                  <a:lnTo>
                    <a:pt x="537" y="841"/>
                  </a:lnTo>
                  <a:lnTo>
                    <a:pt x="537" y="841"/>
                  </a:lnTo>
                  <a:lnTo>
                    <a:pt x="556" y="837"/>
                  </a:lnTo>
                  <a:lnTo>
                    <a:pt x="556" y="837"/>
                  </a:lnTo>
                  <a:lnTo>
                    <a:pt x="563" y="842"/>
                  </a:lnTo>
                  <a:lnTo>
                    <a:pt x="567" y="847"/>
                  </a:lnTo>
                  <a:lnTo>
                    <a:pt x="568" y="850"/>
                  </a:lnTo>
                  <a:lnTo>
                    <a:pt x="569" y="855"/>
                  </a:lnTo>
                  <a:lnTo>
                    <a:pt x="569" y="859"/>
                  </a:lnTo>
                  <a:lnTo>
                    <a:pt x="569" y="864"/>
                  </a:lnTo>
                  <a:lnTo>
                    <a:pt x="569" y="864"/>
                  </a:lnTo>
                  <a:lnTo>
                    <a:pt x="604" y="848"/>
                  </a:lnTo>
                  <a:lnTo>
                    <a:pt x="641" y="831"/>
                  </a:lnTo>
                  <a:lnTo>
                    <a:pt x="675" y="815"/>
                  </a:lnTo>
                  <a:lnTo>
                    <a:pt x="711" y="799"/>
                  </a:lnTo>
                  <a:lnTo>
                    <a:pt x="711" y="799"/>
                  </a:lnTo>
                  <a:lnTo>
                    <a:pt x="716" y="792"/>
                  </a:lnTo>
                  <a:lnTo>
                    <a:pt x="718" y="786"/>
                  </a:lnTo>
                  <a:lnTo>
                    <a:pt x="719" y="780"/>
                  </a:lnTo>
                  <a:lnTo>
                    <a:pt x="717" y="773"/>
                  </a:lnTo>
                  <a:lnTo>
                    <a:pt x="713" y="769"/>
                  </a:lnTo>
                  <a:lnTo>
                    <a:pt x="708" y="765"/>
                  </a:lnTo>
                  <a:lnTo>
                    <a:pt x="701" y="762"/>
                  </a:lnTo>
                  <a:lnTo>
                    <a:pt x="692" y="762"/>
                  </a:lnTo>
                  <a:lnTo>
                    <a:pt x="692" y="762"/>
                  </a:lnTo>
                  <a:lnTo>
                    <a:pt x="687" y="767"/>
                  </a:lnTo>
                  <a:lnTo>
                    <a:pt x="681" y="770"/>
                  </a:lnTo>
                  <a:lnTo>
                    <a:pt x="681" y="770"/>
                  </a:lnTo>
                  <a:lnTo>
                    <a:pt x="673" y="772"/>
                  </a:lnTo>
                  <a:lnTo>
                    <a:pt x="664" y="775"/>
                  </a:lnTo>
                  <a:lnTo>
                    <a:pt x="649" y="784"/>
                  </a:lnTo>
                  <a:lnTo>
                    <a:pt x="634" y="792"/>
                  </a:lnTo>
                  <a:lnTo>
                    <a:pt x="621" y="802"/>
                  </a:lnTo>
                  <a:lnTo>
                    <a:pt x="609" y="812"/>
                  </a:lnTo>
                  <a:lnTo>
                    <a:pt x="595" y="821"/>
                  </a:lnTo>
                  <a:lnTo>
                    <a:pt x="582" y="830"/>
                  </a:lnTo>
                  <a:lnTo>
                    <a:pt x="567" y="835"/>
                  </a:lnTo>
                  <a:lnTo>
                    <a:pt x="567" y="835"/>
                  </a:lnTo>
                  <a:lnTo>
                    <a:pt x="578" y="823"/>
                  </a:lnTo>
                  <a:lnTo>
                    <a:pt x="589" y="812"/>
                  </a:lnTo>
                  <a:lnTo>
                    <a:pt x="601" y="802"/>
                  </a:lnTo>
                  <a:lnTo>
                    <a:pt x="614" y="792"/>
                  </a:lnTo>
                  <a:lnTo>
                    <a:pt x="642" y="774"/>
                  </a:lnTo>
                  <a:lnTo>
                    <a:pt x="669" y="756"/>
                  </a:lnTo>
                  <a:lnTo>
                    <a:pt x="669" y="756"/>
                  </a:lnTo>
                  <a:close/>
                  <a:moveTo>
                    <a:pt x="715" y="948"/>
                  </a:moveTo>
                  <a:lnTo>
                    <a:pt x="715" y="948"/>
                  </a:lnTo>
                  <a:lnTo>
                    <a:pt x="697" y="935"/>
                  </a:lnTo>
                  <a:lnTo>
                    <a:pt x="678" y="924"/>
                  </a:lnTo>
                  <a:lnTo>
                    <a:pt x="659" y="913"/>
                  </a:lnTo>
                  <a:lnTo>
                    <a:pt x="639" y="904"/>
                  </a:lnTo>
                  <a:lnTo>
                    <a:pt x="639" y="904"/>
                  </a:lnTo>
                  <a:lnTo>
                    <a:pt x="627" y="897"/>
                  </a:lnTo>
                  <a:lnTo>
                    <a:pt x="616" y="890"/>
                  </a:lnTo>
                  <a:lnTo>
                    <a:pt x="605" y="883"/>
                  </a:lnTo>
                  <a:lnTo>
                    <a:pt x="596" y="878"/>
                  </a:lnTo>
                  <a:lnTo>
                    <a:pt x="596" y="878"/>
                  </a:lnTo>
                  <a:lnTo>
                    <a:pt x="589" y="877"/>
                  </a:lnTo>
                  <a:lnTo>
                    <a:pt x="584" y="876"/>
                  </a:lnTo>
                  <a:lnTo>
                    <a:pt x="580" y="876"/>
                  </a:lnTo>
                  <a:lnTo>
                    <a:pt x="575" y="878"/>
                  </a:lnTo>
                  <a:lnTo>
                    <a:pt x="567" y="882"/>
                  </a:lnTo>
                  <a:lnTo>
                    <a:pt x="556" y="888"/>
                  </a:lnTo>
                  <a:lnTo>
                    <a:pt x="556" y="888"/>
                  </a:lnTo>
                  <a:lnTo>
                    <a:pt x="527" y="900"/>
                  </a:lnTo>
                  <a:lnTo>
                    <a:pt x="512" y="906"/>
                  </a:lnTo>
                  <a:lnTo>
                    <a:pt x="496" y="910"/>
                  </a:lnTo>
                  <a:lnTo>
                    <a:pt x="489" y="911"/>
                  </a:lnTo>
                  <a:lnTo>
                    <a:pt x="481" y="912"/>
                  </a:lnTo>
                  <a:lnTo>
                    <a:pt x="474" y="913"/>
                  </a:lnTo>
                  <a:lnTo>
                    <a:pt x="467" y="912"/>
                  </a:lnTo>
                  <a:lnTo>
                    <a:pt x="461" y="910"/>
                  </a:lnTo>
                  <a:lnTo>
                    <a:pt x="455" y="908"/>
                  </a:lnTo>
                  <a:lnTo>
                    <a:pt x="450" y="904"/>
                  </a:lnTo>
                  <a:lnTo>
                    <a:pt x="446" y="898"/>
                  </a:lnTo>
                  <a:lnTo>
                    <a:pt x="446" y="898"/>
                  </a:lnTo>
                  <a:lnTo>
                    <a:pt x="449" y="893"/>
                  </a:lnTo>
                  <a:lnTo>
                    <a:pt x="451" y="888"/>
                  </a:lnTo>
                  <a:lnTo>
                    <a:pt x="451" y="881"/>
                  </a:lnTo>
                  <a:lnTo>
                    <a:pt x="450" y="875"/>
                  </a:lnTo>
                  <a:lnTo>
                    <a:pt x="450" y="875"/>
                  </a:lnTo>
                  <a:lnTo>
                    <a:pt x="461" y="862"/>
                  </a:lnTo>
                  <a:lnTo>
                    <a:pt x="470" y="848"/>
                  </a:lnTo>
                  <a:lnTo>
                    <a:pt x="479" y="833"/>
                  </a:lnTo>
                  <a:lnTo>
                    <a:pt x="488" y="818"/>
                  </a:lnTo>
                  <a:lnTo>
                    <a:pt x="488" y="818"/>
                  </a:lnTo>
                  <a:lnTo>
                    <a:pt x="479" y="815"/>
                  </a:lnTo>
                  <a:lnTo>
                    <a:pt x="472" y="811"/>
                  </a:lnTo>
                  <a:lnTo>
                    <a:pt x="459" y="801"/>
                  </a:lnTo>
                  <a:lnTo>
                    <a:pt x="452" y="796"/>
                  </a:lnTo>
                  <a:lnTo>
                    <a:pt x="446" y="792"/>
                  </a:lnTo>
                  <a:lnTo>
                    <a:pt x="438" y="789"/>
                  </a:lnTo>
                  <a:lnTo>
                    <a:pt x="430" y="788"/>
                  </a:lnTo>
                  <a:lnTo>
                    <a:pt x="430" y="788"/>
                  </a:lnTo>
                  <a:lnTo>
                    <a:pt x="427" y="788"/>
                  </a:lnTo>
                  <a:lnTo>
                    <a:pt x="422" y="789"/>
                  </a:lnTo>
                  <a:lnTo>
                    <a:pt x="415" y="792"/>
                  </a:lnTo>
                  <a:lnTo>
                    <a:pt x="405" y="797"/>
                  </a:lnTo>
                  <a:lnTo>
                    <a:pt x="397" y="800"/>
                  </a:lnTo>
                  <a:lnTo>
                    <a:pt x="397" y="800"/>
                  </a:lnTo>
                  <a:lnTo>
                    <a:pt x="382" y="803"/>
                  </a:lnTo>
                  <a:lnTo>
                    <a:pt x="367" y="807"/>
                  </a:lnTo>
                  <a:lnTo>
                    <a:pt x="367" y="807"/>
                  </a:lnTo>
                  <a:lnTo>
                    <a:pt x="351" y="812"/>
                  </a:lnTo>
                  <a:lnTo>
                    <a:pt x="344" y="814"/>
                  </a:lnTo>
                  <a:lnTo>
                    <a:pt x="338" y="814"/>
                  </a:lnTo>
                  <a:lnTo>
                    <a:pt x="331" y="814"/>
                  </a:lnTo>
                  <a:lnTo>
                    <a:pt x="326" y="812"/>
                  </a:lnTo>
                  <a:lnTo>
                    <a:pt x="321" y="808"/>
                  </a:lnTo>
                  <a:lnTo>
                    <a:pt x="315" y="802"/>
                  </a:lnTo>
                  <a:lnTo>
                    <a:pt x="315" y="802"/>
                  </a:lnTo>
                  <a:lnTo>
                    <a:pt x="317" y="792"/>
                  </a:lnTo>
                  <a:lnTo>
                    <a:pt x="322" y="785"/>
                  </a:lnTo>
                  <a:lnTo>
                    <a:pt x="326" y="777"/>
                  </a:lnTo>
                  <a:lnTo>
                    <a:pt x="331" y="770"/>
                  </a:lnTo>
                  <a:lnTo>
                    <a:pt x="343" y="757"/>
                  </a:lnTo>
                  <a:lnTo>
                    <a:pt x="356" y="745"/>
                  </a:lnTo>
                  <a:lnTo>
                    <a:pt x="356" y="745"/>
                  </a:lnTo>
                  <a:lnTo>
                    <a:pt x="342" y="735"/>
                  </a:lnTo>
                  <a:lnTo>
                    <a:pt x="329" y="724"/>
                  </a:lnTo>
                  <a:lnTo>
                    <a:pt x="322" y="719"/>
                  </a:lnTo>
                  <a:lnTo>
                    <a:pt x="314" y="714"/>
                  </a:lnTo>
                  <a:lnTo>
                    <a:pt x="306" y="711"/>
                  </a:lnTo>
                  <a:lnTo>
                    <a:pt x="297" y="708"/>
                  </a:lnTo>
                  <a:lnTo>
                    <a:pt x="297" y="708"/>
                  </a:lnTo>
                  <a:lnTo>
                    <a:pt x="291" y="712"/>
                  </a:lnTo>
                  <a:lnTo>
                    <a:pt x="284" y="715"/>
                  </a:lnTo>
                  <a:lnTo>
                    <a:pt x="278" y="717"/>
                  </a:lnTo>
                  <a:lnTo>
                    <a:pt x="269" y="720"/>
                  </a:lnTo>
                  <a:lnTo>
                    <a:pt x="253" y="724"/>
                  </a:lnTo>
                  <a:lnTo>
                    <a:pt x="235" y="727"/>
                  </a:lnTo>
                  <a:lnTo>
                    <a:pt x="235" y="727"/>
                  </a:lnTo>
                  <a:lnTo>
                    <a:pt x="230" y="720"/>
                  </a:lnTo>
                  <a:lnTo>
                    <a:pt x="227" y="713"/>
                  </a:lnTo>
                  <a:lnTo>
                    <a:pt x="228" y="707"/>
                  </a:lnTo>
                  <a:lnTo>
                    <a:pt x="231" y="700"/>
                  </a:lnTo>
                  <a:lnTo>
                    <a:pt x="234" y="695"/>
                  </a:lnTo>
                  <a:lnTo>
                    <a:pt x="239" y="689"/>
                  </a:lnTo>
                  <a:lnTo>
                    <a:pt x="249" y="678"/>
                  </a:lnTo>
                  <a:lnTo>
                    <a:pt x="249" y="678"/>
                  </a:lnTo>
                  <a:lnTo>
                    <a:pt x="237" y="674"/>
                  </a:lnTo>
                  <a:lnTo>
                    <a:pt x="227" y="667"/>
                  </a:lnTo>
                  <a:lnTo>
                    <a:pt x="206" y="651"/>
                  </a:lnTo>
                  <a:lnTo>
                    <a:pt x="196" y="645"/>
                  </a:lnTo>
                  <a:lnTo>
                    <a:pt x="186" y="638"/>
                  </a:lnTo>
                  <a:lnTo>
                    <a:pt x="180" y="636"/>
                  </a:lnTo>
                  <a:lnTo>
                    <a:pt x="174" y="634"/>
                  </a:lnTo>
                  <a:lnTo>
                    <a:pt x="169" y="633"/>
                  </a:lnTo>
                  <a:lnTo>
                    <a:pt x="162" y="633"/>
                  </a:lnTo>
                  <a:lnTo>
                    <a:pt x="162" y="633"/>
                  </a:lnTo>
                  <a:lnTo>
                    <a:pt x="158" y="634"/>
                  </a:lnTo>
                  <a:lnTo>
                    <a:pt x="154" y="636"/>
                  </a:lnTo>
                  <a:lnTo>
                    <a:pt x="150" y="638"/>
                  </a:lnTo>
                  <a:lnTo>
                    <a:pt x="146" y="640"/>
                  </a:lnTo>
                  <a:lnTo>
                    <a:pt x="146" y="640"/>
                  </a:lnTo>
                  <a:lnTo>
                    <a:pt x="136" y="643"/>
                  </a:lnTo>
                  <a:lnTo>
                    <a:pt x="127" y="644"/>
                  </a:lnTo>
                  <a:lnTo>
                    <a:pt x="116" y="645"/>
                  </a:lnTo>
                  <a:lnTo>
                    <a:pt x="105" y="647"/>
                  </a:lnTo>
                  <a:lnTo>
                    <a:pt x="105" y="647"/>
                  </a:lnTo>
                  <a:lnTo>
                    <a:pt x="102" y="645"/>
                  </a:lnTo>
                  <a:lnTo>
                    <a:pt x="100" y="643"/>
                  </a:lnTo>
                  <a:lnTo>
                    <a:pt x="98" y="639"/>
                  </a:lnTo>
                  <a:lnTo>
                    <a:pt x="98" y="636"/>
                  </a:lnTo>
                  <a:lnTo>
                    <a:pt x="98" y="631"/>
                  </a:lnTo>
                  <a:lnTo>
                    <a:pt x="100" y="624"/>
                  </a:lnTo>
                  <a:lnTo>
                    <a:pt x="104" y="618"/>
                  </a:lnTo>
                  <a:lnTo>
                    <a:pt x="110" y="613"/>
                  </a:lnTo>
                  <a:lnTo>
                    <a:pt x="119" y="605"/>
                  </a:lnTo>
                  <a:lnTo>
                    <a:pt x="119" y="605"/>
                  </a:lnTo>
                  <a:lnTo>
                    <a:pt x="113" y="600"/>
                  </a:lnTo>
                  <a:lnTo>
                    <a:pt x="106" y="595"/>
                  </a:lnTo>
                  <a:lnTo>
                    <a:pt x="99" y="593"/>
                  </a:lnTo>
                  <a:lnTo>
                    <a:pt x="92" y="593"/>
                  </a:lnTo>
                  <a:lnTo>
                    <a:pt x="86" y="593"/>
                  </a:lnTo>
                  <a:lnTo>
                    <a:pt x="80" y="595"/>
                  </a:lnTo>
                  <a:lnTo>
                    <a:pt x="73" y="598"/>
                  </a:lnTo>
                  <a:lnTo>
                    <a:pt x="67" y="601"/>
                  </a:lnTo>
                  <a:lnTo>
                    <a:pt x="55" y="609"/>
                  </a:lnTo>
                  <a:lnTo>
                    <a:pt x="43" y="619"/>
                  </a:lnTo>
                  <a:lnTo>
                    <a:pt x="23" y="640"/>
                  </a:lnTo>
                  <a:lnTo>
                    <a:pt x="23" y="640"/>
                  </a:lnTo>
                  <a:lnTo>
                    <a:pt x="94" y="690"/>
                  </a:lnTo>
                  <a:lnTo>
                    <a:pt x="164" y="739"/>
                  </a:lnTo>
                  <a:lnTo>
                    <a:pt x="310" y="835"/>
                  </a:lnTo>
                  <a:lnTo>
                    <a:pt x="382" y="883"/>
                  </a:lnTo>
                  <a:lnTo>
                    <a:pt x="452" y="932"/>
                  </a:lnTo>
                  <a:lnTo>
                    <a:pt x="488" y="957"/>
                  </a:lnTo>
                  <a:lnTo>
                    <a:pt x="521" y="983"/>
                  </a:lnTo>
                  <a:lnTo>
                    <a:pt x="554" y="1009"/>
                  </a:lnTo>
                  <a:lnTo>
                    <a:pt x="587" y="1034"/>
                  </a:lnTo>
                  <a:lnTo>
                    <a:pt x="587" y="1034"/>
                  </a:lnTo>
                  <a:lnTo>
                    <a:pt x="590" y="1035"/>
                  </a:lnTo>
                  <a:lnTo>
                    <a:pt x="594" y="1035"/>
                  </a:lnTo>
                  <a:lnTo>
                    <a:pt x="601" y="1033"/>
                  </a:lnTo>
                  <a:lnTo>
                    <a:pt x="606" y="1030"/>
                  </a:lnTo>
                  <a:lnTo>
                    <a:pt x="613" y="1026"/>
                  </a:lnTo>
                  <a:lnTo>
                    <a:pt x="626" y="1015"/>
                  </a:lnTo>
                  <a:lnTo>
                    <a:pt x="632" y="1010"/>
                  </a:lnTo>
                  <a:lnTo>
                    <a:pt x="640" y="1007"/>
                  </a:lnTo>
                  <a:lnTo>
                    <a:pt x="640" y="1007"/>
                  </a:lnTo>
                  <a:lnTo>
                    <a:pt x="664" y="997"/>
                  </a:lnTo>
                  <a:lnTo>
                    <a:pt x="685" y="986"/>
                  </a:lnTo>
                  <a:lnTo>
                    <a:pt x="703" y="976"/>
                  </a:lnTo>
                  <a:lnTo>
                    <a:pt x="710" y="969"/>
                  </a:lnTo>
                  <a:lnTo>
                    <a:pt x="717" y="964"/>
                  </a:lnTo>
                  <a:lnTo>
                    <a:pt x="717" y="964"/>
                  </a:lnTo>
                  <a:lnTo>
                    <a:pt x="715" y="961"/>
                  </a:lnTo>
                  <a:lnTo>
                    <a:pt x="713" y="956"/>
                  </a:lnTo>
                  <a:lnTo>
                    <a:pt x="713" y="952"/>
                  </a:lnTo>
                  <a:lnTo>
                    <a:pt x="715" y="948"/>
                  </a:lnTo>
                  <a:lnTo>
                    <a:pt x="715" y="948"/>
                  </a:lnTo>
                  <a:close/>
                  <a:moveTo>
                    <a:pt x="510" y="477"/>
                  </a:moveTo>
                  <a:lnTo>
                    <a:pt x="510" y="477"/>
                  </a:lnTo>
                  <a:lnTo>
                    <a:pt x="495" y="488"/>
                  </a:lnTo>
                  <a:lnTo>
                    <a:pt x="480" y="499"/>
                  </a:lnTo>
                  <a:lnTo>
                    <a:pt x="449" y="520"/>
                  </a:lnTo>
                  <a:lnTo>
                    <a:pt x="417" y="542"/>
                  </a:lnTo>
                  <a:lnTo>
                    <a:pt x="402" y="554"/>
                  </a:lnTo>
                  <a:lnTo>
                    <a:pt x="388" y="565"/>
                  </a:lnTo>
                  <a:lnTo>
                    <a:pt x="388" y="565"/>
                  </a:lnTo>
                  <a:lnTo>
                    <a:pt x="394" y="564"/>
                  </a:lnTo>
                  <a:lnTo>
                    <a:pt x="398" y="564"/>
                  </a:lnTo>
                  <a:lnTo>
                    <a:pt x="402" y="563"/>
                  </a:lnTo>
                  <a:lnTo>
                    <a:pt x="402" y="563"/>
                  </a:lnTo>
                  <a:lnTo>
                    <a:pt x="407" y="572"/>
                  </a:lnTo>
                  <a:lnTo>
                    <a:pt x="412" y="581"/>
                  </a:lnTo>
                  <a:lnTo>
                    <a:pt x="413" y="587"/>
                  </a:lnTo>
                  <a:lnTo>
                    <a:pt x="414" y="592"/>
                  </a:lnTo>
                  <a:lnTo>
                    <a:pt x="414" y="598"/>
                  </a:lnTo>
                  <a:lnTo>
                    <a:pt x="413" y="603"/>
                  </a:lnTo>
                  <a:lnTo>
                    <a:pt x="413" y="603"/>
                  </a:lnTo>
                  <a:lnTo>
                    <a:pt x="420" y="602"/>
                  </a:lnTo>
                  <a:lnTo>
                    <a:pt x="427" y="603"/>
                  </a:lnTo>
                  <a:lnTo>
                    <a:pt x="433" y="604"/>
                  </a:lnTo>
                  <a:lnTo>
                    <a:pt x="439" y="606"/>
                  </a:lnTo>
                  <a:lnTo>
                    <a:pt x="445" y="610"/>
                  </a:lnTo>
                  <a:lnTo>
                    <a:pt x="448" y="616"/>
                  </a:lnTo>
                  <a:lnTo>
                    <a:pt x="451" y="622"/>
                  </a:lnTo>
                  <a:lnTo>
                    <a:pt x="451" y="630"/>
                  </a:lnTo>
                  <a:lnTo>
                    <a:pt x="451" y="630"/>
                  </a:lnTo>
                  <a:lnTo>
                    <a:pt x="455" y="625"/>
                  </a:lnTo>
                  <a:lnTo>
                    <a:pt x="459" y="621"/>
                  </a:lnTo>
                  <a:lnTo>
                    <a:pt x="459" y="621"/>
                  </a:lnTo>
                  <a:lnTo>
                    <a:pt x="537" y="575"/>
                  </a:lnTo>
                  <a:lnTo>
                    <a:pt x="576" y="550"/>
                  </a:lnTo>
                  <a:lnTo>
                    <a:pt x="615" y="525"/>
                  </a:lnTo>
                  <a:lnTo>
                    <a:pt x="615" y="525"/>
                  </a:lnTo>
                  <a:lnTo>
                    <a:pt x="561" y="500"/>
                  </a:lnTo>
                  <a:lnTo>
                    <a:pt x="510" y="477"/>
                  </a:lnTo>
                  <a:lnTo>
                    <a:pt x="510" y="477"/>
                  </a:lnTo>
                  <a:close/>
                  <a:moveTo>
                    <a:pt x="556" y="867"/>
                  </a:moveTo>
                  <a:lnTo>
                    <a:pt x="556" y="867"/>
                  </a:lnTo>
                  <a:lnTo>
                    <a:pt x="555" y="867"/>
                  </a:lnTo>
                  <a:lnTo>
                    <a:pt x="554" y="865"/>
                  </a:lnTo>
                  <a:lnTo>
                    <a:pt x="553" y="861"/>
                  </a:lnTo>
                  <a:lnTo>
                    <a:pt x="553" y="857"/>
                  </a:lnTo>
                  <a:lnTo>
                    <a:pt x="552" y="855"/>
                  </a:lnTo>
                  <a:lnTo>
                    <a:pt x="550" y="853"/>
                  </a:lnTo>
                  <a:lnTo>
                    <a:pt x="550" y="853"/>
                  </a:lnTo>
                  <a:lnTo>
                    <a:pt x="542" y="855"/>
                  </a:lnTo>
                  <a:lnTo>
                    <a:pt x="536" y="853"/>
                  </a:lnTo>
                  <a:lnTo>
                    <a:pt x="529" y="852"/>
                  </a:lnTo>
                  <a:lnTo>
                    <a:pt x="523" y="849"/>
                  </a:lnTo>
                  <a:lnTo>
                    <a:pt x="519" y="845"/>
                  </a:lnTo>
                  <a:lnTo>
                    <a:pt x="514" y="840"/>
                  </a:lnTo>
                  <a:lnTo>
                    <a:pt x="511" y="834"/>
                  </a:lnTo>
                  <a:lnTo>
                    <a:pt x="510" y="827"/>
                  </a:lnTo>
                  <a:lnTo>
                    <a:pt x="510" y="827"/>
                  </a:lnTo>
                  <a:lnTo>
                    <a:pt x="505" y="829"/>
                  </a:lnTo>
                  <a:lnTo>
                    <a:pt x="500" y="831"/>
                  </a:lnTo>
                  <a:lnTo>
                    <a:pt x="496" y="834"/>
                  </a:lnTo>
                  <a:lnTo>
                    <a:pt x="493" y="838"/>
                  </a:lnTo>
                  <a:lnTo>
                    <a:pt x="488" y="847"/>
                  </a:lnTo>
                  <a:lnTo>
                    <a:pt x="482" y="856"/>
                  </a:lnTo>
                  <a:lnTo>
                    <a:pt x="482" y="856"/>
                  </a:lnTo>
                  <a:lnTo>
                    <a:pt x="476" y="864"/>
                  </a:lnTo>
                  <a:lnTo>
                    <a:pt x="472" y="874"/>
                  </a:lnTo>
                  <a:lnTo>
                    <a:pt x="467" y="883"/>
                  </a:lnTo>
                  <a:lnTo>
                    <a:pt x="464" y="894"/>
                  </a:lnTo>
                  <a:lnTo>
                    <a:pt x="464" y="894"/>
                  </a:lnTo>
                  <a:lnTo>
                    <a:pt x="475" y="895"/>
                  </a:lnTo>
                  <a:lnTo>
                    <a:pt x="487" y="894"/>
                  </a:lnTo>
                  <a:lnTo>
                    <a:pt x="498" y="892"/>
                  </a:lnTo>
                  <a:lnTo>
                    <a:pt x="511" y="889"/>
                  </a:lnTo>
                  <a:lnTo>
                    <a:pt x="524" y="885"/>
                  </a:lnTo>
                  <a:lnTo>
                    <a:pt x="536" y="879"/>
                  </a:lnTo>
                  <a:lnTo>
                    <a:pt x="546" y="874"/>
                  </a:lnTo>
                  <a:lnTo>
                    <a:pt x="556" y="867"/>
                  </a:lnTo>
                  <a:lnTo>
                    <a:pt x="556" y="867"/>
                  </a:lnTo>
                  <a:close/>
                  <a:moveTo>
                    <a:pt x="404" y="729"/>
                  </a:moveTo>
                  <a:lnTo>
                    <a:pt x="404" y="729"/>
                  </a:lnTo>
                  <a:lnTo>
                    <a:pt x="405" y="735"/>
                  </a:lnTo>
                  <a:lnTo>
                    <a:pt x="406" y="740"/>
                  </a:lnTo>
                  <a:lnTo>
                    <a:pt x="405" y="752"/>
                  </a:lnTo>
                  <a:lnTo>
                    <a:pt x="405" y="752"/>
                  </a:lnTo>
                  <a:lnTo>
                    <a:pt x="409" y="753"/>
                  </a:lnTo>
                  <a:lnTo>
                    <a:pt x="413" y="752"/>
                  </a:lnTo>
                  <a:lnTo>
                    <a:pt x="420" y="747"/>
                  </a:lnTo>
                  <a:lnTo>
                    <a:pt x="423" y="745"/>
                  </a:lnTo>
                  <a:lnTo>
                    <a:pt x="428" y="743"/>
                  </a:lnTo>
                  <a:lnTo>
                    <a:pt x="433" y="743"/>
                  </a:lnTo>
                  <a:lnTo>
                    <a:pt x="439" y="743"/>
                  </a:lnTo>
                  <a:lnTo>
                    <a:pt x="439" y="743"/>
                  </a:lnTo>
                  <a:lnTo>
                    <a:pt x="443" y="749"/>
                  </a:lnTo>
                  <a:lnTo>
                    <a:pt x="445" y="754"/>
                  </a:lnTo>
                  <a:lnTo>
                    <a:pt x="446" y="759"/>
                  </a:lnTo>
                  <a:lnTo>
                    <a:pt x="446" y="765"/>
                  </a:lnTo>
                  <a:lnTo>
                    <a:pt x="446" y="765"/>
                  </a:lnTo>
                  <a:lnTo>
                    <a:pt x="448" y="765"/>
                  </a:lnTo>
                  <a:lnTo>
                    <a:pt x="450" y="766"/>
                  </a:lnTo>
                  <a:lnTo>
                    <a:pt x="451" y="768"/>
                  </a:lnTo>
                  <a:lnTo>
                    <a:pt x="451" y="768"/>
                  </a:lnTo>
                  <a:lnTo>
                    <a:pt x="472" y="762"/>
                  </a:lnTo>
                  <a:lnTo>
                    <a:pt x="492" y="757"/>
                  </a:lnTo>
                  <a:lnTo>
                    <a:pt x="511" y="752"/>
                  </a:lnTo>
                  <a:lnTo>
                    <a:pt x="520" y="747"/>
                  </a:lnTo>
                  <a:lnTo>
                    <a:pt x="528" y="743"/>
                  </a:lnTo>
                  <a:lnTo>
                    <a:pt x="528" y="743"/>
                  </a:lnTo>
                  <a:lnTo>
                    <a:pt x="536" y="726"/>
                  </a:lnTo>
                  <a:lnTo>
                    <a:pt x="539" y="717"/>
                  </a:lnTo>
                  <a:lnTo>
                    <a:pt x="544" y="710"/>
                  </a:lnTo>
                  <a:lnTo>
                    <a:pt x="544" y="710"/>
                  </a:lnTo>
                  <a:lnTo>
                    <a:pt x="542" y="706"/>
                  </a:lnTo>
                  <a:lnTo>
                    <a:pt x="540" y="702"/>
                  </a:lnTo>
                  <a:lnTo>
                    <a:pt x="539" y="699"/>
                  </a:lnTo>
                  <a:lnTo>
                    <a:pt x="540" y="694"/>
                  </a:lnTo>
                  <a:lnTo>
                    <a:pt x="540" y="694"/>
                  </a:lnTo>
                  <a:lnTo>
                    <a:pt x="535" y="692"/>
                  </a:lnTo>
                  <a:lnTo>
                    <a:pt x="528" y="691"/>
                  </a:lnTo>
                  <a:lnTo>
                    <a:pt x="523" y="691"/>
                  </a:lnTo>
                  <a:lnTo>
                    <a:pt x="518" y="692"/>
                  </a:lnTo>
                  <a:lnTo>
                    <a:pt x="513" y="695"/>
                  </a:lnTo>
                  <a:lnTo>
                    <a:pt x="508" y="698"/>
                  </a:lnTo>
                  <a:lnTo>
                    <a:pt x="498" y="706"/>
                  </a:lnTo>
                  <a:lnTo>
                    <a:pt x="490" y="713"/>
                  </a:lnTo>
                  <a:lnTo>
                    <a:pt x="480" y="721"/>
                  </a:lnTo>
                  <a:lnTo>
                    <a:pt x="475" y="724"/>
                  </a:lnTo>
                  <a:lnTo>
                    <a:pt x="469" y="726"/>
                  </a:lnTo>
                  <a:lnTo>
                    <a:pt x="464" y="727"/>
                  </a:lnTo>
                  <a:lnTo>
                    <a:pt x="459" y="727"/>
                  </a:lnTo>
                  <a:lnTo>
                    <a:pt x="459" y="727"/>
                  </a:lnTo>
                  <a:lnTo>
                    <a:pt x="461" y="724"/>
                  </a:lnTo>
                  <a:lnTo>
                    <a:pt x="464" y="720"/>
                  </a:lnTo>
                  <a:lnTo>
                    <a:pt x="473" y="713"/>
                  </a:lnTo>
                  <a:lnTo>
                    <a:pt x="481" y="707"/>
                  </a:lnTo>
                  <a:lnTo>
                    <a:pt x="491" y="699"/>
                  </a:lnTo>
                  <a:lnTo>
                    <a:pt x="491" y="699"/>
                  </a:lnTo>
                  <a:lnTo>
                    <a:pt x="499" y="691"/>
                  </a:lnTo>
                  <a:lnTo>
                    <a:pt x="508" y="682"/>
                  </a:lnTo>
                  <a:lnTo>
                    <a:pt x="521" y="667"/>
                  </a:lnTo>
                  <a:lnTo>
                    <a:pt x="521" y="667"/>
                  </a:lnTo>
                  <a:lnTo>
                    <a:pt x="528" y="660"/>
                  </a:lnTo>
                  <a:lnTo>
                    <a:pt x="531" y="656"/>
                  </a:lnTo>
                  <a:lnTo>
                    <a:pt x="535" y="653"/>
                  </a:lnTo>
                  <a:lnTo>
                    <a:pt x="536" y="649"/>
                  </a:lnTo>
                  <a:lnTo>
                    <a:pt x="537" y="645"/>
                  </a:lnTo>
                  <a:lnTo>
                    <a:pt x="535" y="640"/>
                  </a:lnTo>
                  <a:lnTo>
                    <a:pt x="531" y="635"/>
                  </a:lnTo>
                  <a:lnTo>
                    <a:pt x="531" y="635"/>
                  </a:lnTo>
                  <a:lnTo>
                    <a:pt x="523" y="635"/>
                  </a:lnTo>
                  <a:lnTo>
                    <a:pt x="515" y="635"/>
                  </a:lnTo>
                  <a:lnTo>
                    <a:pt x="504" y="638"/>
                  </a:lnTo>
                  <a:lnTo>
                    <a:pt x="492" y="641"/>
                  </a:lnTo>
                  <a:lnTo>
                    <a:pt x="485" y="643"/>
                  </a:lnTo>
                  <a:lnTo>
                    <a:pt x="478" y="644"/>
                  </a:lnTo>
                  <a:lnTo>
                    <a:pt x="478" y="644"/>
                  </a:lnTo>
                  <a:lnTo>
                    <a:pt x="473" y="652"/>
                  </a:lnTo>
                  <a:lnTo>
                    <a:pt x="468" y="661"/>
                  </a:lnTo>
                  <a:lnTo>
                    <a:pt x="463" y="670"/>
                  </a:lnTo>
                  <a:lnTo>
                    <a:pt x="457" y="679"/>
                  </a:lnTo>
                  <a:lnTo>
                    <a:pt x="457" y="679"/>
                  </a:lnTo>
                  <a:lnTo>
                    <a:pt x="451" y="688"/>
                  </a:lnTo>
                  <a:lnTo>
                    <a:pt x="445" y="696"/>
                  </a:lnTo>
                  <a:lnTo>
                    <a:pt x="442" y="699"/>
                  </a:lnTo>
                  <a:lnTo>
                    <a:pt x="437" y="701"/>
                  </a:lnTo>
                  <a:lnTo>
                    <a:pt x="433" y="704"/>
                  </a:lnTo>
                  <a:lnTo>
                    <a:pt x="429" y="705"/>
                  </a:lnTo>
                  <a:lnTo>
                    <a:pt x="429" y="705"/>
                  </a:lnTo>
                  <a:lnTo>
                    <a:pt x="438" y="689"/>
                  </a:lnTo>
                  <a:lnTo>
                    <a:pt x="448" y="673"/>
                  </a:lnTo>
                  <a:lnTo>
                    <a:pt x="453" y="665"/>
                  </a:lnTo>
                  <a:lnTo>
                    <a:pt x="458" y="656"/>
                  </a:lnTo>
                  <a:lnTo>
                    <a:pt x="461" y="649"/>
                  </a:lnTo>
                  <a:lnTo>
                    <a:pt x="462" y="640"/>
                  </a:lnTo>
                  <a:lnTo>
                    <a:pt x="462" y="640"/>
                  </a:lnTo>
                  <a:lnTo>
                    <a:pt x="451" y="649"/>
                  </a:lnTo>
                  <a:lnTo>
                    <a:pt x="440" y="659"/>
                  </a:lnTo>
                  <a:lnTo>
                    <a:pt x="431" y="669"/>
                  </a:lnTo>
                  <a:lnTo>
                    <a:pt x="422" y="681"/>
                  </a:lnTo>
                  <a:lnTo>
                    <a:pt x="405" y="705"/>
                  </a:lnTo>
                  <a:lnTo>
                    <a:pt x="397" y="716"/>
                  </a:lnTo>
                  <a:lnTo>
                    <a:pt x="388" y="727"/>
                  </a:lnTo>
                  <a:lnTo>
                    <a:pt x="388" y="727"/>
                  </a:lnTo>
                  <a:lnTo>
                    <a:pt x="390" y="726"/>
                  </a:lnTo>
                  <a:lnTo>
                    <a:pt x="393" y="726"/>
                  </a:lnTo>
                  <a:lnTo>
                    <a:pt x="398" y="727"/>
                  </a:lnTo>
                  <a:lnTo>
                    <a:pt x="401" y="729"/>
                  </a:lnTo>
                  <a:lnTo>
                    <a:pt x="403" y="729"/>
                  </a:lnTo>
                  <a:lnTo>
                    <a:pt x="404" y="729"/>
                  </a:lnTo>
                  <a:lnTo>
                    <a:pt x="404" y="729"/>
                  </a:lnTo>
                  <a:close/>
                  <a:moveTo>
                    <a:pt x="450" y="783"/>
                  </a:moveTo>
                  <a:lnTo>
                    <a:pt x="450" y="783"/>
                  </a:lnTo>
                  <a:lnTo>
                    <a:pt x="457" y="785"/>
                  </a:lnTo>
                  <a:lnTo>
                    <a:pt x="462" y="788"/>
                  </a:lnTo>
                  <a:lnTo>
                    <a:pt x="472" y="795"/>
                  </a:lnTo>
                  <a:lnTo>
                    <a:pt x="482" y="802"/>
                  </a:lnTo>
                  <a:lnTo>
                    <a:pt x="489" y="804"/>
                  </a:lnTo>
                  <a:lnTo>
                    <a:pt x="496" y="805"/>
                  </a:lnTo>
                  <a:lnTo>
                    <a:pt x="496" y="805"/>
                  </a:lnTo>
                  <a:lnTo>
                    <a:pt x="497" y="800"/>
                  </a:lnTo>
                  <a:lnTo>
                    <a:pt x="499" y="794"/>
                  </a:lnTo>
                  <a:lnTo>
                    <a:pt x="505" y="785"/>
                  </a:lnTo>
                  <a:lnTo>
                    <a:pt x="510" y="775"/>
                  </a:lnTo>
                  <a:lnTo>
                    <a:pt x="512" y="770"/>
                  </a:lnTo>
                  <a:lnTo>
                    <a:pt x="514" y="765"/>
                  </a:lnTo>
                  <a:lnTo>
                    <a:pt x="514" y="765"/>
                  </a:lnTo>
                  <a:lnTo>
                    <a:pt x="482" y="772"/>
                  </a:lnTo>
                  <a:lnTo>
                    <a:pt x="466" y="776"/>
                  </a:lnTo>
                  <a:lnTo>
                    <a:pt x="450" y="783"/>
                  </a:lnTo>
                  <a:lnTo>
                    <a:pt x="450" y="783"/>
                  </a:lnTo>
                  <a:close/>
                  <a:moveTo>
                    <a:pt x="420" y="525"/>
                  </a:moveTo>
                  <a:lnTo>
                    <a:pt x="420" y="525"/>
                  </a:lnTo>
                  <a:lnTo>
                    <a:pt x="439" y="512"/>
                  </a:lnTo>
                  <a:lnTo>
                    <a:pt x="460" y="499"/>
                  </a:lnTo>
                  <a:lnTo>
                    <a:pt x="469" y="493"/>
                  </a:lnTo>
                  <a:lnTo>
                    <a:pt x="478" y="485"/>
                  </a:lnTo>
                  <a:lnTo>
                    <a:pt x="485" y="478"/>
                  </a:lnTo>
                  <a:lnTo>
                    <a:pt x="493" y="469"/>
                  </a:lnTo>
                  <a:lnTo>
                    <a:pt x="493" y="469"/>
                  </a:lnTo>
                  <a:lnTo>
                    <a:pt x="493" y="466"/>
                  </a:lnTo>
                  <a:lnTo>
                    <a:pt x="493" y="466"/>
                  </a:lnTo>
                  <a:lnTo>
                    <a:pt x="461" y="452"/>
                  </a:lnTo>
                  <a:lnTo>
                    <a:pt x="430" y="436"/>
                  </a:lnTo>
                  <a:lnTo>
                    <a:pt x="400" y="421"/>
                  </a:lnTo>
                  <a:lnTo>
                    <a:pt x="368" y="406"/>
                  </a:lnTo>
                  <a:lnTo>
                    <a:pt x="368" y="406"/>
                  </a:lnTo>
                  <a:lnTo>
                    <a:pt x="342" y="424"/>
                  </a:lnTo>
                  <a:lnTo>
                    <a:pt x="314" y="442"/>
                  </a:lnTo>
                  <a:lnTo>
                    <a:pt x="285" y="459"/>
                  </a:lnTo>
                  <a:lnTo>
                    <a:pt x="256" y="474"/>
                  </a:lnTo>
                  <a:lnTo>
                    <a:pt x="256" y="474"/>
                  </a:lnTo>
                  <a:lnTo>
                    <a:pt x="258" y="480"/>
                  </a:lnTo>
                  <a:lnTo>
                    <a:pt x="262" y="483"/>
                  </a:lnTo>
                  <a:lnTo>
                    <a:pt x="266" y="484"/>
                  </a:lnTo>
                  <a:lnTo>
                    <a:pt x="270" y="485"/>
                  </a:lnTo>
                  <a:lnTo>
                    <a:pt x="280" y="486"/>
                  </a:lnTo>
                  <a:lnTo>
                    <a:pt x="284" y="487"/>
                  </a:lnTo>
                  <a:lnTo>
                    <a:pt x="288" y="489"/>
                  </a:lnTo>
                  <a:lnTo>
                    <a:pt x="288" y="489"/>
                  </a:lnTo>
                  <a:lnTo>
                    <a:pt x="292" y="493"/>
                  </a:lnTo>
                  <a:lnTo>
                    <a:pt x="295" y="497"/>
                  </a:lnTo>
                  <a:lnTo>
                    <a:pt x="297" y="502"/>
                  </a:lnTo>
                  <a:lnTo>
                    <a:pt x="298" y="508"/>
                  </a:lnTo>
                  <a:lnTo>
                    <a:pt x="300" y="519"/>
                  </a:lnTo>
                  <a:lnTo>
                    <a:pt x="304" y="533"/>
                  </a:lnTo>
                  <a:lnTo>
                    <a:pt x="304" y="533"/>
                  </a:lnTo>
                  <a:lnTo>
                    <a:pt x="315" y="531"/>
                  </a:lnTo>
                  <a:lnTo>
                    <a:pt x="326" y="531"/>
                  </a:lnTo>
                  <a:lnTo>
                    <a:pt x="334" y="532"/>
                  </a:lnTo>
                  <a:lnTo>
                    <a:pt x="341" y="535"/>
                  </a:lnTo>
                  <a:lnTo>
                    <a:pt x="346" y="540"/>
                  </a:lnTo>
                  <a:lnTo>
                    <a:pt x="351" y="546"/>
                  </a:lnTo>
                  <a:lnTo>
                    <a:pt x="353" y="554"/>
                  </a:lnTo>
                  <a:lnTo>
                    <a:pt x="354" y="563"/>
                  </a:lnTo>
                  <a:lnTo>
                    <a:pt x="354" y="563"/>
                  </a:lnTo>
                  <a:lnTo>
                    <a:pt x="363" y="561"/>
                  </a:lnTo>
                  <a:lnTo>
                    <a:pt x="372" y="557"/>
                  </a:lnTo>
                  <a:lnTo>
                    <a:pt x="379" y="553"/>
                  </a:lnTo>
                  <a:lnTo>
                    <a:pt x="388" y="547"/>
                  </a:lnTo>
                  <a:lnTo>
                    <a:pt x="404" y="535"/>
                  </a:lnTo>
                  <a:lnTo>
                    <a:pt x="420" y="525"/>
                  </a:lnTo>
                  <a:lnTo>
                    <a:pt x="420" y="525"/>
                  </a:lnTo>
                  <a:close/>
                  <a:moveTo>
                    <a:pt x="430" y="628"/>
                  </a:moveTo>
                  <a:lnTo>
                    <a:pt x="430" y="628"/>
                  </a:lnTo>
                  <a:lnTo>
                    <a:pt x="433" y="628"/>
                  </a:lnTo>
                  <a:lnTo>
                    <a:pt x="435" y="625"/>
                  </a:lnTo>
                  <a:lnTo>
                    <a:pt x="435" y="623"/>
                  </a:lnTo>
                  <a:lnTo>
                    <a:pt x="434" y="620"/>
                  </a:lnTo>
                  <a:lnTo>
                    <a:pt x="432" y="618"/>
                  </a:lnTo>
                  <a:lnTo>
                    <a:pt x="429" y="615"/>
                  </a:lnTo>
                  <a:lnTo>
                    <a:pt x="425" y="614"/>
                  </a:lnTo>
                  <a:lnTo>
                    <a:pt x="421" y="614"/>
                  </a:lnTo>
                  <a:lnTo>
                    <a:pt x="421" y="614"/>
                  </a:lnTo>
                  <a:lnTo>
                    <a:pt x="414" y="619"/>
                  </a:lnTo>
                  <a:lnTo>
                    <a:pt x="405" y="625"/>
                  </a:lnTo>
                  <a:lnTo>
                    <a:pt x="389" y="639"/>
                  </a:lnTo>
                  <a:lnTo>
                    <a:pt x="381" y="646"/>
                  </a:lnTo>
                  <a:lnTo>
                    <a:pt x="373" y="650"/>
                  </a:lnTo>
                  <a:lnTo>
                    <a:pt x="366" y="653"/>
                  </a:lnTo>
                  <a:lnTo>
                    <a:pt x="361" y="653"/>
                  </a:lnTo>
                  <a:lnTo>
                    <a:pt x="357" y="652"/>
                  </a:lnTo>
                  <a:lnTo>
                    <a:pt x="357" y="652"/>
                  </a:lnTo>
                  <a:lnTo>
                    <a:pt x="368" y="643"/>
                  </a:lnTo>
                  <a:lnTo>
                    <a:pt x="378" y="634"/>
                  </a:lnTo>
                  <a:lnTo>
                    <a:pt x="389" y="625"/>
                  </a:lnTo>
                  <a:lnTo>
                    <a:pt x="400" y="617"/>
                  </a:lnTo>
                  <a:lnTo>
                    <a:pt x="400" y="617"/>
                  </a:lnTo>
                  <a:lnTo>
                    <a:pt x="399" y="606"/>
                  </a:lnTo>
                  <a:lnTo>
                    <a:pt x="399" y="599"/>
                  </a:lnTo>
                  <a:lnTo>
                    <a:pt x="399" y="595"/>
                  </a:lnTo>
                  <a:lnTo>
                    <a:pt x="400" y="592"/>
                  </a:lnTo>
                  <a:lnTo>
                    <a:pt x="400" y="592"/>
                  </a:lnTo>
                  <a:lnTo>
                    <a:pt x="391" y="598"/>
                  </a:lnTo>
                  <a:lnTo>
                    <a:pt x="384" y="604"/>
                  </a:lnTo>
                  <a:lnTo>
                    <a:pt x="367" y="621"/>
                  </a:lnTo>
                  <a:lnTo>
                    <a:pt x="358" y="630"/>
                  </a:lnTo>
                  <a:lnTo>
                    <a:pt x="348" y="636"/>
                  </a:lnTo>
                  <a:lnTo>
                    <a:pt x="344" y="638"/>
                  </a:lnTo>
                  <a:lnTo>
                    <a:pt x="339" y="640"/>
                  </a:lnTo>
                  <a:lnTo>
                    <a:pt x="334" y="641"/>
                  </a:lnTo>
                  <a:lnTo>
                    <a:pt x="329" y="641"/>
                  </a:lnTo>
                  <a:lnTo>
                    <a:pt x="329" y="641"/>
                  </a:lnTo>
                  <a:lnTo>
                    <a:pt x="344" y="626"/>
                  </a:lnTo>
                  <a:lnTo>
                    <a:pt x="360" y="613"/>
                  </a:lnTo>
                  <a:lnTo>
                    <a:pt x="374" y="596"/>
                  </a:lnTo>
                  <a:lnTo>
                    <a:pt x="382" y="589"/>
                  </a:lnTo>
                  <a:lnTo>
                    <a:pt x="388" y="579"/>
                  </a:lnTo>
                  <a:lnTo>
                    <a:pt x="388" y="579"/>
                  </a:lnTo>
                  <a:lnTo>
                    <a:pt x="382" y="579"/>
                  </a:lnTo>
                  <a:lnTo>
                    <a:pt x="377" y="578"/>
                  </a:lnTo>
                  <a:lnTo>
                    <a:pt x="372" y="578"/>
                  </a:lnTo>
                  <a:lnTo>
                    <a:pt x="367" y="578"/>
                  </a:lnTo>
                  <a:lnTo>
                    <a:pt x="367" y="578"/>
                  </a:lnTo>
                  <a:lnTo>
                    <a:pt x="366" y="580"/>
                  </a:lnTo>
                  <a:lnTo>
                    <a:pt x="364" y="581"/>
                  </a:lnTo>
                  <a:lnTo>
                    <a:pt x="361" y="583"/>
                  </a:lnTo>
                  <a:lnTo>
                    <a:pt x="357" y="584"/>
                  </a:lnTo>
                  <a:lnTo>
                    <a:pt x="352" y="585"/>
                  </a:lnTo>
                  <a:lnTo>
                    <a:pt x="352" y="585"/>
                  </a:lnTo>
                  <a:lnTo>
                    <a:pt x="348" y="588"/>
                  </a:lnTo>
                  <a:lnTo>
                    <a:pt x="345" y="593"/>
                  </a:lnTo>
                  <a:lnTo>
                    <a:pt x="338" y="604"/>
                  </a:lnTo>
                  <a:lnTo>
                    <a:pt x="330" y="617"/>
                  </a:lnTo>
                  <a:lnTo>
                    <a:pt x="322" y="628"/>
                  </a:lnTo>
                  <a:lnTo>
                    <a:pt x="322" y="628"/>
                  </a:lnTo>
                  <a:lnTo>
                    <a:pt x="315" y="634"/>
                  </a:lnTo>
                  <a:lnTo>
                    <a:pt x="310" y="639"/>
                  </a:lnTo>
                  <a:lnTo>
                    <a:pt x="307" y="643"/>
                  </a:lnTo>
                  <a:lnTo>
                    <a:pt x="306" y="646"/>
                  </a:lnTo>
                  <a:lnTo>
                    <a:pt x="306" y="649"/>
                  </a:lnTo>
                  <a:lnTo>
                    <a:pt x="306" y="654"/>
                  </a:lnTo>
                  <a:lnTo>
                    <a:pt x="306" y="654"/>
                  </a:lnTo>
                  <a:lnTo>
                    <a:pt x="310" y="653"/>
                  </a:lnTo>
                  <a:lnTo>
                    <a:pt x="313" y="653"/>
                  </a:lnTo>
                  <a:lnTo>
                    <a:pt x="318" y="655"/>
                  </a:lnTo>
                  <a:lnTo>
                    <a:pt x="323" y="656"/>
                  </a:lnTo>
                  <a:lnTo>
                    <a:pt x="326" y="656"/>
                  </a:lnTo>
                  <a:lnTo>
                    <a:pt x="329" y="656"/>
                  </a:lnTo>
                  <a:lnTo>
                    <a:pt x="329" y="656"/>
                  </a:lnTo>
                  <a:lnTo>
                    <a:pt x="331" y="662"/>
                  </a:lnTo>
                  <a:lnTo>
                    <a:pt x="331" y="666"/>
                  </a:lnTo>
                  <a:lnTo>
                    <a:pt x="331" y="670"/>
                  </a:lnTo>
                  <a:lnTo>
                    <a:pt x="334" y="674"/>
                  </a:lnTo>
                  <a:lnTo>
                    <a:pt x="334" y="674"/>
                  </a:lnTo>
                  <a:lnTo>
                    <a:pt x="358" y="666"/>
                  </a:lnTo>
                  <a:lnTo>
                    <a:pt x="383" y="658"/>
                  </a:lnTo>
                  <a:lnTo>
                    <a:pt x="407" y="650"/>
                  </a:lnTo>
                  <a:lnTo>
                    <a:pt x="429" y="641"/>
                  </a:lnTo>
                  <a:lnTo>
                    <a:pt x="429" y="641"/>
                  </a:lnTo>
                  <a:lnTo>
                    <a:pt x="429" y="633"/>
                  </a:lnTo>
                  <a:lnTo>
                    <a:pt x="430" y="628"/>
                  </a:lnTo>
                  <a:lnTo>
                    <a:pt x="430" y="628"/>
                  </a:lnTo>
                  <a:close/>
                  <a:moveTo>
                    <a:pt x="434" y="768"/>
                  </a:moveTo>
                  <a:lnTo>
                    <a:pt x="434" y="768"/>
                  </a:lnTo>
                  <a:lnTo>
                    <a:pt x="434" y="765"/>
                  </a:lnTo>
                  <a:lnTo>
                    <a:pt x="433" y="762"/>
                  </a:lnTo>
                  <a:lnTo>
                    <a:pt x="432" y="760"/>
                  </a:lnTo>
                  <a:lnTo>
                    <a:pt x="430" y="757"/>
                  </a:lnTo>
                  <a:lnTo>
                    <a:pt x="430" y="757"/>
                  </a:lnTo>
                  <a:lnTo>
                    <a:pt x="424" y="761"/>
                  </a:lnTo>
                  <a:lnTo>
                    <a:pt x="417" y="764"/>
                  </a:lnTo>
                  <a:lnTo>
                    <a:pt x="408" y="766"/>
                  </a:lnTo>
                  <a:lnTo>
                    <a:pt x="401" y="766"/>
                  </a:lnTo>
                  <a:lnTo>
                    <a:pt x="394" y="764"/>
                  </a:lnTo>
                  <a:lnTo>
                    <a:pt x="392" y="761"/>
                  </a:lnTo>
                  <a:lnTo>
                    <a:pt x="390" y="759"/>
                  </a:lnTo>
                  <a:lnTo>
                    <a:pt x="389" y="756"/>
                  </a:lnTo>
                  <a:lnTo>
                    <a:pt x="389" y="753"/>
                  </a:lnTo>
                  <a:lnTo>
                    <a:pt x="390" y="749"/>
                  </a:lnTo>
                  <a:lnTo>
                    <a:pt x="393" y="743"/>
                  </a:lnTo>
                  <a:lnTo>
                    <a:pt x="393" y="743"/>
                  </a:lnTo>
                  <a:lnTo>
                    <a:pt x="382" y="746"/>
                  </a:lnTo>
                  <a:lnTo>
                    <a:pt x="372" y="750"/>
                  </a:lnTo>
                  <a:lnTo>
                    <a:pt x="362" y="755"/>
                  </a:lnTo>
                  <a:lnTo>
                    <a:pt x="354" y="760"/>
                  </a:lnTo>
                  <a:lnTo>
                    <a:pt x="347" y="768"/>
                  </a:lnTo>
                  <a:lnTo>
                    <a:pt x="341" y="776"/>
                  </a:lnTo>
                  <a:lnTo>
                    <a:pt x="337" y="787"/>
                  </a:lnTo>
                  <a:lnTo>
                    <a:pt x="332" y="799"/>
                  </a:lnTo>
                  <a:lnTo>
                    <a:pt x="332" y="799"/>
                  </a:lnTo>
                  <a:lnTo>
                    <a:pt x="359" y="795"/>
                  </a:lnTo>
                  <a:lnTo>
                    <a:pt x="385" y="788"/>
                  </a:lnTo>
                  <a:lnTo>
                    <a:pt x="398" y="784"/>
                  </a:lnTo>
                  <a:lnTo>
                    <a:pt x="409" y="780"/>
                  </a:lnTo>
                  <a:lnTo>
                    <a:pt x="422" y="774"/>
                  </a:lnTo>
                  <a:lnTo>
                    <a:pt x="434" y="768"/>
                  </a:lnTo>
                  <a:lnTo>
                    <a:pt x="434" y="768"/>
                  </a:lnTo>
                  <a:close/>
                  <a:moveTo>
                    <a:pt x="316" y="700"/>
                  </a:moveTo>
                  <a:lnTo>
                    <a:pt x="316" y="700"/>
                  </a:lnTo>
                  <a:lnTo>
                    <a:pt x="329" y="708"/>
                  </a:lnTo>
                  <a:lnTo>
                    <a:pt x="342" y="715"/>
                  </a:lnTo>
                  <a:lnTo>
                    <a:pt x="354" y="724"/>
                  </a:lnTo>
                  <a:lnTo>
                    <a:pt x="367" y="731"/>
                  </a:lnTo>
                  <a:lnTo>
                    <a:pt x="367" y="731"/>
                  </a:lnTo>
                  <a:lnTo>
                    <a:pt x="382" y="713"/>
                  </a:lnTo>
                  <a:lnTo>
                    <a:pt x="395" y="696"/>
                  </a:lnTo>
                  <a:lnTo>
                    <a:pt x="423" y="660"/>
                  </a:lnTo>
                  <a:lnTo>
                    <a:pt x="423" y="660"/>
                  </a:lnTo>
                  <a:lnTo>
                    <a:pt x="393" y="667"/>
                  </a:lnTo>
                  <a:lnTo>
                    <a:pt x="366" y="676"/>
                  </a:lnTo>
                  <a:lnTo>
                    <a:pt x="352" y="681"/>
                  </a:lnTo>
                  <a:lnTo>
                    <a:pt x="339" y="686"/>
                  </a:lnTo>
                  <a:lnTo>
                    <a:pt x="327" y="693"/>
                  </a:lnTo>
                  <a:lnTo>
                    <a:pt x="316" y="700"/>
                  </a:lnTo>
                  <a:lnTo>
                    <a:pt x="316" y="700"/>
                  </a:lnTo>
                  <a:close/>
                  <a:moveTo>
                    <a:pt x="246" y="345"/>
                  </a:moveTo>
                  <a:lnTo>
                    <a:pt x="246" y="345"/>
                  </a:lnTo>
                  <a:lnTo>
                    <a:pt x="239" y="353"/>
                  </a:lnTo>
                  <a:lnTo>
                    <a:pt x="231" y="360"/>
                  </a:lnTo>
                  <a:lnTo>
                    <a:pt x="222" y="365"/>
                  </a:lnTo>
                  <a:lnTo>
                    <a:pt x="212" y="371"/>
                  </a:lnTo>
                  <a:lnTo>
                    <a:pt x="193" y="380"/>
                  </a:lnTo>
                  <a:lnTo>
                    <a:pt x="183" y="386"/>
                  </a:lnTo>
                  <a:lnTo>
                    <a:pt x="174" y="391"/>
                  </a:lnTo>
                  <a:lnTo>
                    <a:pt x="174" y="391"/>
                  </a:lnTo>
                  <a:lnTo>
                    <a:pt x="195" y="416"/>
                  </a:lnTo>
                  <a:lnTo>
                    <a:pt x="204" y="429"/>
                  </a:lnTo>
                  <a:lnTo>
                    <a:pt x="208" y="437"/>
                  </a:lnTo>
                  <a:lnTo>
                    <a:pt x="211" y="444"/>
                  </a:lnTo>
                  <a:lnTo>
                    <a:pt x="211" y="444"/>
                  </a:lnTo>
                  <a:lnTo>
                    <a:pt x="213" y="446"/>
                  </a:lnTo>
                  <a:lnTo>
                    <a:pt x="216" y="446"/>
                  </a:lnTo>
                  <a:lnTo>
                    <a:pt x="219" y="443"/>
                  </a:lnTo>
                  <a:lnTo>
                    <a:pt x="223" y="441"/>
                  </a:lnTo>
                  <a:lnTo>
                    <a:pt x="225" y="441"/>
                  </a:lnTo>
                  <a:lnTo>
                    <a:pt x="227" y="443"/>
                  </a:lnTo>
                  <a:lnTo>
                    <a:pt x="227" y="443"/>
                  </a:lnTo>
                  <a:lnTo>
                    <a:pt x="236" y="453"/>
                  </a:lnTo>
                  <a:lnTo>
                    <a:pt x="240" y="457"/>
                  </a:lnTo>
                  <a:lnTo>
                    <a:pt x="246" y="461"/>
                  </a:lnTo>
                  <a:lnTo>
                    <a:pt x="246" y="461"/>
                  </a:lnTo>
                  <a:lnTo>
                    <a:pt x="262" y="455"/>
                  </a:lnTo>
                  <a:lnTo>
                    <a:pt x="277" y="450"/>
                  </a:lnTo>
                  <a:lnTo>
                    <a:pt x="292" y="442"/>
                  </a:lnTo>
                  <a:lnTo>
                    <a:pt x="306" y="435"/>
                  </a:lnTo>
                  <a:lnTo>
                    <a:pt x="318" y="426"/>
                  </a:lnTo>
                  <a:lnTo>
                    <a:pt x="331" y="417"/>
                  </a:lnTo>
                  <a:lnTo>
                    <a:pt x="343" y="407"/>
                  </a:lnTo>
                  <a:lnTo>
                    <a:pt x="354" y="396"/>
                  </a:lnTo>
                  <a:lnTo>
                    <a:pt x="354" y="396"/>
                  </a:lnTo>
                  <a:lnTo>
                    <a:pt x="246" y="345"/>
                  </a:lnTo>
                  <a:lnTo>
                    <a:pt x="246" y="345"/>
                  </a:lnTo>
                  <a:close/>
                  <a:moveTo>
                    <a:pt x="295" y="547"/>
                  </a:moveTo>
                  <a:lnTo>
                    <a:pt x="295" y="547"/>
                  </a:lnTo>
                  <a:lnTo>
                    <a:pt x="293" y="545"/>
                  </a:lnTo>
                  <a:lnTo>
                    <a:pt x="292" y="542"/>
                  </a:lnTo>
                  <a:lnTo>
                    <a:pt x="289" y="534"/>
                  </a:lnTo>
                  <a:lnTo>
                    <a:pt x="286" y="517"/>
                  </a:lnTo>
                  <a:lnTo>
                    <a:pt x="284" y="510"/>
                  </a:lnTo>
                  <a:lnTo>
                    <a:pt x="281" y="503"/>
                  </a:lnTo>
                  <a:lnTo>
                    <a:pt x="279" y="501"/>
                  </a:lnTo>
                  <a:lnTo>
                    <a:pt x="276" y="500"/>
                  </a:lnTo>
                  <a:lnTo>
                    <a:pt x="272" y="499"/>
                  </a:lnTo>
                  <a:lnTo>
                    <a:pt x="268" y="500"/>
                  </a:lnTo>
                  <a:lnTo>
                    <a:pt x="268" y="500"/>
                  </a:lnTo>
                  <a:lnTo>
                    <a:pt x="265" y="507"/>
                  </a:lnTo>
                  <a:lnTo>
                    <a:pt x="261" y="514"/>
                  </a:lnTo>
                  <a:lnTo>
                    <a:pt x="256" y="519"/>
                  </a:lnTo>
                  <a:lnTo>
                    <a:pt x="251" y="525"/>
                  </a:lnTo>
                  <a:lnTo>
                    <a:pt x="239" y="534"/>
                  </a:lnTo>
                  <a:lnTo>
                    <a:pt x="227" y="544"/>
                  </a:lnTo>
                  <a:lnTo>
                    <a:pt x="227" y="544"/>
                  </a:lnTo>
                  <a:lnTo>
                    <a:pt x="230" y="535"/>
                  </a:lnTo>
                  <a:lnTo>
                    <a:pt x="234" y="529"/>
                  </a:lnTo>
                  <a:lnTo>
                    <a:pt x="238" y="523"/>
                  </a:lnTo>
                  <a:lnTo>
                    <a:pt x="242" y="516"/>
                  </a:lnTo>
                  <a:lnTo>
                    <a:pt x="254" y="507"/>
                  </a:lnTo>
                  <a:lnTo>
                    <a:pt x="267" y="498"/>
                  </a:lnTo>
                  <a:lnTo>
                    <a:pt x="267" y="498"/>
                  </a:lnTo>
                  <a:lnTo>
                    <a:pt x="250" y="496"/>
                  </a:lnTo>
                  <a:lnTo>
                    <a:pt x="245" y="495"/>
                  </a:lnTo>
                  <a:lnTo>
                    <a:pt x="238" y="493"/>
                  </a:lnTo>
                  <a:lnTo>
                    <a:pt x="238" y="493"/>
                  </a:lnTo>
                  <a:lnTo>
                    <a:pt x="228" y="501"/>
                  </a:lnTo>
                  <a:lnTo>
                    <a:pt x="220" y="511"/>
                  </a:lnTo>
                  <a:lnTo>
                    <a:pt x="204" y="530"/>
                  </a:lnTo>
                  <a:lnTo>
                    <a:pt x="188" y="549"/>
                  </a:lnTo>
                  <a:lnTo>
                    <a:pt x="178" y="559"/>
                  </a:lnTo>
                  <a:lnTo>
                    <a:pt x="169" y="568"/>
                  </a:lnTo>
                  <a:lnTo>
                    <a:pt x="169" y="568"/>
                  </a:lnTo>
                  <a:lnTo>
                    <a:pt x="172" y="578"/>
                  </a:lnTo>
                  <a:lnTo>
                    <a:pt x="173" y="587"/>
                  </a:lnTo>
                  <a:lnTo>
                    <a:pt x="173" y="587"/>
                  </a:lnTo>
                  <a:lnTo>
                    <a:pt x="179" y="586"/>
                  </a:lnTo>
                  <a:lnTo>
                    <a:pt x="186" y="584"/>
                  </a:lnTo>
                  <a:lnTo>
                    <a:pt x="191" y="579"/>
                  </a:lnTo>
                  <a:lnTo>
                    <a:pt x="196" y="575"/>
                  </a:lnTo>
                  <a:lnTo>
                    <a:pt x="202" y="570"/>
                  </a:lnTo>
                  <a:lnTo>
                    <a:pt x="207" y="567"/>
                  </a:lnTo>
                  <a:lnTo>
                    <a:pt x="212" y="563"/>
                  </a:lnTo>
                  <a:lnTo>
                    <a:pt x="219" y="562"/>
                  </a:lnTo>
                  <a:lnTo>
                    <a:pt x="219" y="562"/>
                  </a:lnTo>
                  <a:lnTo>
                    <a:pt x="217" y="568"/>
                  </a:lnTo>
                  <a:lnTo>
                    <a:pt x="213" y="572"/>
                  </a:lnTo>
                  <a:lnTo>
                    <a:pt x="206" y="579"/>
                  </a:lnTo>
                  <a:lnTo>
                    <a:pt x="197" y="587"/>
                  </a:lnTo>
                  <a:lnTo>
                    <a:pt x="194" y="591"/>
                  </a:lnTo>
                  <a:lnTo>
                    <a:pt x="192" y="595"/>
                  </a:lnTo>
                  <a:lnTo>
                    <a:pt x="192" y="595"/>
                  </a:lnTo>
                  <a:lnTo>
                    <a:pt x="195" y="595"/>
                  </a:lnTo>
                  <a:lnTo>
                    <a:pt x="198" y="596"/>
                  </a:lnTo>
                  <a:lnTo>
                    <a:pt x="200" y="599"/>
                  </a:lnTo>
                  <a:lnTo>
                    <a:pt x="201" y="601"/>
                  </a:lnTo>
                  <a:lnTo>
                    <a:pt x="201" y="601"/>
                  </a:lnTo>
                  <a:lnTo>
                    <a:pt x="235" y="593"/>
                  </a:lnTo>
                  <a:lnTo>
                    <a:pt x="267" y="585"/>
                  </a:lnTo>
                  <a:lnTo>
                    <a:pt x="298" y="574"/>
                  </a:lnTo>
                  <a:lnTo>
                    <a:pt x="329" y="563"/>
                  </a:lnTo>
                  <a:lnTo>
                    <a:pt x="329" y="563"/>
                  </a:lnTo>
                  <a:lnTo>
                    <a:pt x="332" y="555"/>
                  </a:lnTo>
                  <a:lnTo>
                    <a:pt x="333" y="550"/>
                  </a:lnTo>
                  <a:lnTo>
                    <a:pt x="336" y="546"/>
                  </a:lnTo>
                  <a:lnTo>
                    <a:pt x="336" y="546"/>
                  </a:lnTo>
                  <a:lnTo>
                    <a:pt x="316" y="547"/>
                  </a:lnTo>
                  <a:lnTo>
                    <a:pt x="306" y="548"/>
                  </a:lnTo>
                  <a:lnTo>
                    <a:pt x="295" y="547"/>
                  </a:lnTo>
                  <a:lnTo>
                    <a:pt x="295" y="547"/>
                  </a:lnTo>
                  <a:close/>
                  <a:moveTo>
                    <a:pt x="230" y="610"/>
                  </a:moveTo>
                  <a:lnTo>
                    <a:pt x="230" y="610"/>
                  </a:lnTo>
                  <a:lnTo>
                    <a:pt x="206" y="616"/>
                  </a:lnTo>
                  <a:lnTo>
                    <a:pt x="195" y="620"/>
                  </a:lnTo>
                  <a:lnTo>
                    <a:pt x="191" y="622"/>
                  </a:lnTo>
                  <a:lnTo>
                    <a:pt x="187" y="626"/>
                  </a:lnTo>
                  <a:lnTo>
                    <a:pt x="187" y="626"/>
                  </a:lnTo>
                  <a:lnTo>
                    <a:pt x="200" y="635"/>
                  </a:lnTo>
                  <a:lnTo>
                    <a:pt x="215" y="644"/>
                  </a:lnTo>
                  <a:lnTo>
                    <a:pt x="230" y="651"/>
                  </a:lnTo>
                  <a:lnTo>
                    <a:pt x="243" y="658"/>
                  </a:lnTo>
                  <a:lnTo>
                    <a:pt x="243" y="658"/>
                  </a:lnTo>
                  <a:lnTo>
                    <a:pt x="252" y="664"/>
                  </a:lnTo>
                  <a:lnTo>
                    <a:pt x="257" y="667"/>
                  </a:lnTo>
                  <a:lnTo>
                    <a:pt x="260" y="668"/>
                  </a:lnTo>
                  <a:lnTo>
                    <a:pt x="262" y="668"/>
                  </a:lnTo>
                  <a:lnTo>
                    <a:pt x="262" y="668"/>
                  </a:lnTo>
                  <a:lnTo>
                    <a:pt x="263" y="668"/>
                  </a:lnTo>
                  <a:lnTo>
                    <a:pt x="264" y="666"/>
                  </a:lnTo>
                  <a:lnTo>
                    <a:pt x="267" y="662"/>
                  </a:lnTo>
                  <a:lnTo>
                    <a:pt x="269" y="655"/>
                  </a:lnTo>
                  <a:lnTo>
                    <a:pt x="273" y="651"/>
                  </a:lnTo>
                  <a:lnTo>
                    <a:pt x="273" y="651"/>
                  </a:lnTo>
                  <a:lnTo>
                    <a:pt x="291" y="637"/>
                  </a:lnTo>
                  <a:lnTo>
                    <a:pt x="308" y="620"/>
                  </a:lnTo>
                  <a:lnTo>
                    <a:pt x="316" y="610"/>
                  </a:lnTo>
                  <a:lnTo>
                    <a:pt x="323" y="601"/>
                  </a:lnTo>
                  <a:lnTo>
                    <a:pt x="329" y="590"/>
                  </a:lnTo>
                  <a:lnTo>
                    <a:pt x="334" y="579"/>
                  </a:lnTo>
                  <a:lnTo>
                    <a:pt x="334" y="579"/>
                  </a:lnTo>
                  <a:lnTo>
                    <a:pt x="322" y="580"/>
                  </a:lnTo>
                  <a:lnTo>
                    <a:pt x="308" y="583"/>
                  </a:lnTo>
                  <a:lnTo>
                    <a:pt x="295" y="586"/>
                  </a:lnTo>
                  <a:lnTo>
                    <a:pt x="282" y="591"/>
                  </a:lnTo>
                  <a:lnTo>
                    <a:pt x="256" y="601"/>
                  </a:lnTo>
                  <a:lnTo>
                    <a:pt x="242" y="606"/>
                  </a:lnTo>
                  <a:lnTo>
                    <a:pt x="230" y="610"/>
                  </a:lnTo>
                  <a:lnTo>
                    <a:pt x="230" y="610"/>
                  </a:lnTo>
                  <a:close/>
                  <a:moveTo>
                    <a:pt x="286" y="660"/>
                  </a:moveTo>
                  <a:lnTo>
                    <a:pt x="286" y="660"/>
                  </a:lnTo>
                  <a:lnTo>
                    <a:pt x="282" y="666"/>
                  </a:lnTo>
                  <a:lnTo>
                    <a:pt x="277" y="673"/>
                  </a:lnTo>
                  <a:lnTo>
                    <a:pt x="265" y="683"/>
                  </a:lnTo>
                  <a:lnTo>
                    <a:pt x="258" y="690"/>
                  </a:lnTo>
                  <a:lnTo>
                    <a:pt x="254" y="696"/>
                  </a:lnTo>
                  <a:lnTo>
                    <a:pt x="251" y="702"/>
                  </a:lnTo>
                  <a:lnTo>
                    <a:pt x="249" y="710"/>
                  </a:lnTo>
                  <a:lnTo>
                    <a:pt x="249" y="710"/>
                  </a:lnTo>
                  <a:lnTo>
                    <a:pt x="266" y="702"/>
                  </a:lnTo>
                  <a:lnTo>
                    <a:pt x="285" y="695"/>
                  </a:lnTo>
                  <a:lnTo>
                    <a:pt x="294" y="690"/>
                  </a:lnTo>
                  <a:lnTo>
                    <a:pt x="301" y="684"/>
                  </a:lnTo>
                  <a:lnTo>
                    <a:pt x="308" y="678"/>
                  </a:lnTo>
                  <a:lnTo>
                    <a:pt x="313" y="670"/>
                  </a:lnTo>
                  <a:lnTo>
                    <a:pt x="313" y="670"/>
                  </a:lnTo>
                  <a:lnTo>
                    <a:pt x="304" y="669"/>
                  </a:lnTo>
                  <a:lnTo>
                    <a:pt x="298" y="668"/>
                  </a:lnTo>
                  <a:lnTo>
                    <a:pt x="292" y="665"/>
                  </a:lnTo>
                  <a:lnTo>
                    <a:pt x="288" y="663"/>
                  </a:lnTo>
                  <a:lnTo>
                    <a:pt x="286" y="660"/>
                  </a:lnTo>
                  <a:lnTo>
                    <a:pt x="286" y="660"/>
                  </a:lnTo>
                  <a:close/>
                  <a:moveTo>
                    <a:pt x="142" y="501"/>
                  </a:moveTo>
                  <a:lnTo>
                    <a:pt x="142" y="501"/>
                  </a:lnTo>
                  <a:lnTo>
                    <a:pt x="145" y="498"/>
                  </a:lnTo>
                  <a:lnTo>
                    <a:pt x="148" y="495"/>
                  </a:lnTo>
                  <a:lnTo>
                    <a:pt x="157" y="489"/>
                  </a:lnTo>
                  <a:lnTo>
                    <a:pt x="165" y="485"/>
                  </a:lnTo>
                  <a:lnTo>
                    <a:pt x="174" y="480"/>
                  </a:lnTo>
                  <a:lnTo>
                    <a:pt x="174" y="480"/>
                  </a:lnTo>
                  <a:lnTo>
                    <a:pt x="182" y="474"/>
                  </a:lnTo>
                  <a:lnTo>
                    <a:pt x="190" y="468"/>
                  </a:lnTo>
                  <a:lnTo>
                    <a:pt x="196" y="462"/>
                  </a:lnTo>
                  <a:lnTo>
                    <a:pt x="201" y="455"/>
                  </a:lnTo>
                  <a:lnTo>
                    <a:pt x="201" y="455"/>
                  </a:lnTo>
                  <a:lnTo>
                    <a:pt x="198" y="455"/>
                  </a:lnTo>
                  <a:lnTo>
                    <a:pt x="197" y="453"/>
                  </a:lnTo>
                  <a:lnTo>
                    <a:pt x="194" y="447"/>
                  </a:lnTo>
                  <a:lnTo>
                    <a:pt x="189" y="433"/>
                  </a:lnTo>
                  <a:lnTo>
                    <a:pt x="189" y="433"/>
                  </a:lnTo>
                  <a:lnTo>
                    <a:pt x="182" y="435"/>
                  </a:lnTo>
                  <a:lnTo>
                    <a:pt x="177" y="438"/>
                  </a:lnTo>
                  <a:lnTo>
                    <a:pt x="167" y="446"/>
                  </a:lnTo>
                  <a:lnTo>
                    <a:pt x="158" y="452"/>
                  </a:lnTo>
                  <a:lnTo>
                    <a:pt x="152" y="454"/>
                  </a:lnTo>
                  <a:lnTo>
                    <a:pt x="147" y="455"/>
                  </a:lnTo>
                  <a:lnTo>
                    <a:pt x="147" y="455"/>
                  </a:lnTo>
                  <a:lnTo>
                    <a:pt x="149" y="449"/>
                  </a:lnTo>
                  <a:lnTo>
                    <a:pt x="152" y="443"/>
                  </a:lnTo>
                  <a:lnTo>
                    <a:pt x="157" y="440"/>
                  </a:lnTo>
                  <a:lnTo>
                    <a:pt x="161" y="436"/>
                  </a:lnTo>
                  <a:lnTo>
                    <a:pt x="171" y="429"/>
                  </a:lnTo>
                  <a:lnTo>
                    <a:pt x="175" y="425"/>
                  </a:lnTo>
                  <a:lnTo>
                    <a:pt x="178" y="420"/>
                  </a:lnTo>
                  <a:lnTo>
                    <a:pt x="178" y="420"/>
                  </a:lnTo>
                  <a:lnTo>
                    <a:pt x="175" y="413"/>
                  </a:lnTo>
                  <a:lnTo>
                    <a:pt x="172" y="407"/>
                  </a:lnTo>
                  <a:lnTo>
                    <a:pt x="166" y="402"/>
                  </a:lnTo>
                  <a:lnTo>
                    <a:pt x="163" y="399"/>
                  </a:lnTo>
                  <a:lnTo>
                    <a:pt x="160" y="398"/>
                  </a:lnTo>
                  <a:lnTo>
                    <a:pt x="160" y="398"/>
                  </a:lnTo>
                  <a:lnTo>
                    <a:pt x="147" y="407"/>
                  </a:lnTo>
                  <a:lnTo>
                    <a:pt x="135" y="417"/>
                  </a:lnTo>
                  <a:lnTo>
                    <a:pt x="125" y="427"/>
                  </a:lnTo>
                  <a:lnTo>
                    <a:pt x="114" y="438"/>
                  </a:lnTo>
                  <a:lnTo>
                    <a:pt x="92" y="461"/>
                  </a:lnTo>
                  <a:lnTo>
                    <a:pt x="81" y="470"/>
                  </a:lnTo>
                  <a:lnTo>
                    <a:pt x="69" y="480"/>
                  </a:lnTo>
                  <a:lnTo>
                    <a:pt x="69" y="480"/>
                  </a:lnTo>
                  <a:lnTo>
                    <a:pt x="73" y="483"/>
                  </a:lnTo>
                  <a:lnTo>
                    <a:pt x="77" y="484"/>
                  </a:lnTo>
                  <a:lnTo>
                    <a:pt x="81" y="484"/>
                  </a:lnTo>
                  <a:lnTo>
                    <a:pt x="84" y="484"/>
                  </a:lnTo>
                  <a:lnTo>
                    <a:pt x="88" y="482"/>
                  </a:lnTo>
                  <a:lnTo>
                    <a:pt x="91" y="480"/>
                  </a:lnTo>
                  <a:lnTo>
                    <a:pt x="97" y="474"/>
                  </a:lnTo>
                  <a:lnTo>
                    <a:pt x="103" y="468"/>
                  </a:lnTo>
                  <a:lnTo>
                    <a:pt x="110" y="463"/>
                  </a:lnTo>
                  <a:lnTo>
                    <a:pt x="114" y="461"/>
                  </a:lnTo>
                  <a:lnTo>
                    <a:pt x="117" y="459"/>
                  </a:lnTo>
                  <a:lnTo>
                    <a:pt x="120" y="458"/>
                  </a:lnTo>
                  <a:lnTo>
                    <a:pt x="125" y="458"/>
                  </a:lnTo>
                  <a:lnTo>
                    <a:pt x="125" y="458"/>
                  </a:lnTo>
                  <a:lnTo>
                    <a:pt x="116" y="468"/>
                  </a:lnTo>
                  <a:lnTo>
                    <a:pt x="106" y="478"/>
                  </a:lnTo>
                  <a:lnTo>
                    <a:pt x="98" y="486"/>
                  </a:lnTo>
                  <a:lnTo>
                    <a:pt x="89" y="496"/>
                  </a:lnTo>
                  <a:lnTo>
                    <a:pt x="89" y="496"/>
                  </a:lnTo>
                  <a:lnTo>
                    <a:pt x="92" y="500"/>
                  </a:lnTo>
                  <a:lnTo>
                    <a:pt x="96" y="504"/>
                  </a:lnTo>
                  <a:lnTo>
                    <a:pt x="98" y="511"/>
                  </a:lnTo>
                  <a:lnTo>
                    <a:pt x="98" y="517"/>
                  </a:lnTo>
                  <a:lnTo>
                    <a:pt x="98" y="517"/>
                  </a:lnTo>
                  <a:lnTo>
                    <a:pt x="105" y="517"/>
                  </a:lnTo>
                  <a:lnTo>
                    <a:pt x="111" y="516"/>
                  </a:lnTo>
                  <a:lnTo>
                    <a:pt x="115" y="514"/>
                  </a:lnTo>
                  <a:lnTo>
                    <a:pt x="119" y="511"/>
                  </a:lnTo>
                  <a:lnTo>
                    <a:pt x="119" y="511"/>
                  </a:lnTo>
                  <a:lnTo>
                    <a:pt x="126" y="511"/>
                  </a:lnTo>
                  <a:lnTo>
                    <a:pt x="131" y="510"/>
                  </a:lnTo>
                  <a:lnTo>
                    <a:pt x="144" y="507"/>
                  </a:lnTo>
                  <a:lnTo>
                    <a:pt x="156" y="502"/>
                  </a:lnTo>
                  <a:lnTo>
                    <a:pt x="167" y="500"/>
                  </a:lnTo>
                  <a:lnTo>
                    <a:pt x="167" y="500"/>
                  </a:lnTo>
                  <a:lnTo>
                    <a:pt x="183" y="498"/>
                  </a:lnTo>
                  <a:lnTo>
                    <a:pt x="198" y="497"/>
                  </a:lnTo>
                  <a:lnTo>
                    <a:pt x="212" y="495"/>
                  </a:lnTo>
                  <a:lnTo>
                    <a:pt x="219" y="494"/>
                  </a:lnTo>
                  <a:lnTo>
                    <a:pt x="224" y="490"/>
                  </a:lnTo>
                  <a:lnTo>
                    <a:pt x="224" y="490"/>
                  </a:lnTo>
                  <a:lnTo>
                    <a:pt x="223" y="489"/>
                  </a:lnTo>
                  <a:lnTo>
                    <a:pt x="223" y="488"/>
                  </a:lnTo>
                  <a:lnTo>
                    <a:pt x="220" y="487"/>
                  </a:lnTo>
                  <a:lnTo>
                    <a:pt x="218" y="485"/>
                  </a:lnTo>
                  <a:lnTo>
                    <a:pt x="217" y="483"/>
                  </a:lnTo>
                  <a:lnTo>
                    <a:pt x="217" y="480"/>
                  </a:lnTo>
                  <a:lnTo>
                    <a:pt x="217" y="480"/>
                  </a:lnTo>
                  <a:lnTo>
                    <a:pt x="220" y="475"/>
                  </a:lnTo>
                  <a:lnTo>
                    <a:pt x="223" y="472"/>
                  </a:lnTo>
                  <a:lnTo>
                    <a:pt x="223" y="470"/>
                  </a:lnTo>
                  <a:lnTo>
                    <a:pt x="224" y="467"/>
                  </a:lnTo>
                  <a:lnTo>
                    <a:pt x="223" y="464"/>
                  </a:lnTo>
                  <a:lnTo>
                    <a:pt x="222" y="461"/>
                  </a:lnTo>
                  <a:lnTo>
                    <a:pt x="222" y="461"/>
                  </a:lnTo>
                  <a:lnTo>
                    <a:pt x="211" y="465"/>
                  </a:lnTo>
                  <a:lnTo>
                    <a:pt x="202" y="471"/>
                  </a:lnTo>
                  <a:lnTo>
                    <a:pt x="185" y="485"/>
                  </a:lnTo>
                  <a:lnTo>
                    <a:pt x="175" y="492"/>
                  </a:lnTo>
                  <a:lnTo>
                    <a:pt x="165" y="497"/>
                  </a:lnTo>
                  <a:lnTo>
                    <a:pt x="160" y="499"/>
                  </a:lnTo>
                  <a:lnTo>
                    <a:pt x="155" y="501"/>
                  </a:lnTo>
                  <a:lnTo>
                    <a:pt x="148" y="501"/>
                  </a:lnTo>
                  <a:lnTo>
                    <a:pt x="142" y="501"/>
                  </a:lnTo>
                  <a:lnTo>
                    <a:pt x="142" y="501"/>
                  </a:lnTo>
                  <a:close/>
                  <a:moveTo>
                    <a:pt x="135" y="523"/>
                  </a:moveTo>
                  <a:lnTo>
                    <a:pt x="135" y="523"/>
                  </a:lnTo>
                  <a:lnTo>
                    <a:pt x="124" y="533"/>
                  </a:lnTo>
                  <a:lnTo>
                    <a:pt x="112" y="545"/>
                  </a:lnTo>
                  <a:lnTo>
                    <a:pt x="107" y="552"/>
                  </a:lnTo>
                  <a:lnTo>
                    <a:pt x="103" y="558"/>
                  </a:lnTo>
                  <a:lnTo>
                    <a:pt x="99" y="567"/>
                  </a:lnTo>
                  <a:lnTo>
                    <a:pt x="96" y="574"/>
                  </a:lnTo>
                  <a:lnTo>
                    <a:pt x="96" y="574"/>
                  </a:lnTo>
                  <a:lnTo>
                    <a:pt x="111" y="586"/>
                  </a:lnTo>
                  <a:lnTo>
                    <a:pt x="127" y="595"/>
                  </a:lnTo>
                  <a:lnTo>
                    <a:pt x="127" y="595"/>
                  </a:lnTo>
                  <a:lnTo>
                    <a:pt x="135" y="585"/>
                  </a:lnTo>
                  <a:lnTo>
                    <a:pt x="144" y="574"/>
                  </a:lnTo>
                  <a:lnTo>
                    <a:pt x="165" y="555"/>
                  </a:lnTo>
                  <a:lnTo>
                    <a:pt x="176" y="545"/>
                  </a:lnTo>
                  <a:lnTo>
                    <a:pt x="186" y="535"/>
                  </a:lnTo>
                  <a:lnTo>
                    <a:pt x="194" y="524"/>
                  </a:lnTo>
                  <a:lnTo>
                    <a:pt x="203" y="512"/>
                  </a:lnTo>
                  <a:lnTo>
                    <a:pt x="203" y="512"/>
                  </a:lnTo>
                  <a:lnTo>
                    <a:pt x="169" y="519"/>
                  </a:lnTo>
                  <a:lnTo>
                    <a:pt x="152" y="523"/>
                  </a:lnTo>
                  <a:lnTo>
                    <a:pt x="135" y="523"/>
                  </a:lnTo>
                  <a:lnTo>
                    <a:pt x="135" y="523"/>
                  </a:lnTo>
                  <a:close/>
                  <a:moveTo>
                    <a:pt x="158" y="585"/>
                  </a:moveTo>
                  <a:lnTo>
                    <a:pt x="158" y="585"/>
                  </a:lnTo>
                  <a:lnTo>
                    <a:pt x="150" y="588"/>
                  </a:lnTo>
                  <a:lnTo>
                    <a:pt x="143" y="593"/>
                  </a:lnTo>
                  <a:lnTo>
                    <a:pt x="137" y="598"/>
                  </a:lnTo>
                  <a:lnTo>
                    <a:pt x="132" y="604"/>
                  </a:lnTo>
                  <a:lnTo>
                    <a:pt x="121" y="617"/>
                  </a:lnTo>
                  <a:lnTo>
                    <a:pt x="112" y="630"/>
                  </a:lnTo>
                  <a:lnTo>
                    <a:pt x="112" y="630"/>
                  </a:lnTo>
                  <a:lnTo>
                    <a:pt x="120" y="630"/>
                  </a:lnTo>
                  <a:lnTo>
                    <a:pt x="130" y="629"/>
                  </a:lnTo>
                  <a:lnTo>
                    <a:pt x="141" y="625"/>
                  </a:lnTo>
                  <a:lnTo>
                    <a:pt x="151" y="621"/>
                  </a:lnTo>
                  <a:lnTo>
                    <a:pt x="161" y="617"/>
                  </a:lnTo>
                  <a:lnTo>
                    <a:pt x="169" y="613"/>
                  </a:lnTo>
                  <a:lnTo>
                    <a:pt x="173" y="609"/>
                  </a:lnTo>
                  <a:lnTo>
                    <a:pt x="174" y="607"/>
                  </a:lnTo>
                  <a:lnTo>
                    <a:pt x="174" y="606"/>
                  </a:lnTo>
                  <a:lnTo>
                    <a:pt x="174" y="606"/>
                  </a:lnTo>
                  <a:lnTo>
                    <a:pt x="174" y="608"/>
                  </a:lnTo>
                  <a:lnTo>
                    <a:pt x="174" y="608"/>
                  </a:lnTo>
                  <a:lnTo>
                    <a:pt x="170" y="602"/>
                  </a:lnTo>
                  <a:lnTo>
                    <a:pt x="164" y="596"/>
                  </a:lnTo>
                  <a:lnTo>
                    <a:pt x="160" y="591"/>
                  </a:lnTo>
                  <a:lnTo>
                    <a:pt x="159" y="588"/>
                  </a:lnTo>
                  <a:lnTo>
                    <a:pt x="158" y="585"/>
                  </a:lnTo>
                  <a:lnTo>
                    <a:pt x="158" y="585"/>
                  </a:lnTo>
                  <a:close/>
                  <a:moveTo>
                    <a:pt x="82" y="516"/>
                  </a:moveTo>
                  <a:lnTo>
                    <a:pt x="82" y="516"/>
                  </a:lnTo>
                  <a:lnTo>
                    <a:pt x="81" y="510"/>
                  </a:lnTo>
                  <a:lnTo>
                    <a:pt x="79" y="505"/>
                  </a:lnTo>
                  <a:lnTo>
                    <a:pt x="76" y="501"/>
                  </a:lnTo>
                  <a:lnTo>
                    <a:pt x="72" y="499"/>
                  </a:lnTo>
                  <a:lnTo>
                    <a:pt x="68" y="497"/>
                  </a:lnTo>
                  <a:lnTo>
                    <a:pt x="64" y="496"/>
                  </a:lnTo>
                  <a:lnTo>
                    <a:pt x="53" y="495"/>
                  </a:lnTo>
                  <a:lnTo>
                    <a:pt x="53" y="495"/>
                  </a:lnTo>
                  <a:lnTo>
                    <a:pt x="50" y="500"/>
                  </a:lnTo>
                  <a:lnTo>
                    <a:pt x="46" y="504"/>
                  </a:lnTo>
                  <a:lnTo>
                    <a:pt x="37" y="515"/>
                  </a:lnTo>
                  <a:lnTo>
                    <a:pt x="33" y="519"/>
                  </a:lnTo>
                  <a:lnTo>
                    <a:pt x="29" y="525"/>
                  </a:lnTo>
                  <a:lnTo>
                    <a:pt x="27" y="531"/>
                  </a:lnTo>
                  <a:lnTo>
                    <a:pt x="27" y="538"/>
                  </a:lnTo>
                  <a:lnTo>
                    <a:pt x="27" y="538"/>
                  </a:lnTo>
                  <a:lnTo>
                    <a:pt x="56" y="529"/>
                  </a:lnTo>
                  <a:lnTo>
                    <a:pt x="70" y="524"/>
                  </a:lnTo>
                  <a:lnTo>
                    <a:pt x="76" y="519"/>
                  </a:lnTo>
                  <a:lnTo>
                    <a:pt x="82" y="516"/>
                  </a:lnTo>
                  <a:lnTo>
                    <a:pt x="82" y="516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Freeform 197"/>
            <p:cNvSpPr/>
            <p:nvPr/>
          </p:nvSpPr>
          <p:spPr bwMode="auto">
            <a:xfrm>
              <a:off x="6103938" y="1752600"/>
              <a:ext cx="11113" cy="11113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7" y="2"/>
                </a:cxn>
                <a:cxn ang="0">
                  <a:pos x="18" y="5"/>
                </a:cxn>
                <a:cxn ang="0">
                  <a:pos x="19" y="9"/>
                </a:cxn>
                <a:cxn ang="0">
                  <a:pos x="18" y="14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9" y="22"/>
                </a:cxn>
                <a:cxn ang="0">
                  <a:pos x="9" y="22"/>
                </a:cxn>
                <a:cxn ang="0">
                  <a:pos x="6" y="21"/>
                </a:cxn>
                <a:cxn ang="0">
                  <a:pos x="4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8"/>
                </a:cxn>
                <a:cxn ang="0">
                  <a:pos x="1" y="4"/>
                </a:cxn>
                <a:cxn ang="0">
                  <a:pos x="4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22">
                  <a:moveTo>
                    <a:pt x="8" y="0"/>
                  </a:moveTo>
                  <a:lnTo>
                    <a:pt x="8" y="0"/>
                  </a:lnTo>
                  <a:lnTo>
                    <a:pt x="14" y="0"/>
                  </a:lnTo>
                  <a:lnTo>
                    <a:pt x="17" y="2"/>
                  </a:lnTo>
                  <a:lnTo>
                    <a:pt x="18" y="5"/>
                  </a:lnTo>
                  <a:lnTo>
                    <a:pt x="19" y="9"/>
                  </a:lnTo>
                  <a:lnTo>
                    <a:pt x="18" y="14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6" y="21"/>
                  </a:lnTo>
                  <a:lnTo>
                    <a:pt x="4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8"/>
                  </a:lnTo>
                  <a:lnTo>
                    <a:pt x="1" y="4"/>
                  </a:lnTo>
                  <a:lnTo>
                    <a:pt x="4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4" name="Freeform 198"/>
            <p:cNvSpPr/>
            <p:nvPr/>
          </p:nvSpPr>
          <p:spPr bwMode="auto">
            <a:xfrm>
              <a:off x="6089651" y="1765300"/>
              <a:ext cx="34925" cy="14288"/>
            </a:xfrm>
            <a:custGeom>
              <a:avLst/>
              <a:gdLst/>
              <a:ahLst/>
              <a:cxnLst>
                <a:cxn ang="0">
                  <a:pos x="60" y="3"/>
                </a:cxn>
                <a:cxn ang="0">
                  <a:pos x="60" y="3"/>
                </a:cxn>
                <a:cxn ang="0">
                  <a:pos x="63" y="6"/>
                </a:cxn>
                <a:cxn ang="0">
                  <a:pos x="65" y="8"/>
                </a:cxn>
                <a:cxn ang="0">
                  <a:pos x="67" y="11"/>
                </a:cxn>
                <a:cxn ang="0">
                  <a:pos x="68" y="16"/>
                </a:cxn>
                <a:cxn ang="0">
                  <a:pos x="68" y="16"/>
                </a:cxn>
                <a:cxn ang="0">
                  <a:pos x="65" y="20"/>
                </a:cxn>
                <a:cxn ang="0">
                  <a:pos x="62" y="23"/>
                </a:cxn>
                <a:cxn ang="0">
                  <a:pos x="58" y="25"/>
                </a:cxn>
                <a:cxn ang="0">
                  <a:pos x="52" y="25"/>
                </a:cxn>
                <a:cxn ang="0">
                  <a:pos x="52" y="25"/>
                </a:cxn>
                <a:cxn ang="0">
                  <a:pos x="49" y="24"/>
                </a:cxn>
                <a:cxn ang="0">
                  <a:pos x="47" y="23"/>
                </a:cxn>
                <a:cxn ang="0">
                  <a:pos x="45" y="21"/>
                </a:cxn>
                <a:cxn ang="0">
                  <a:pos x="42" y="20"/>
                </a:cxn>
                <a:cxn ang="0">
                  <a:pos x="42" y="20"/>
                </a:cxn>
                <a:cxn ang="0">
                  <a:pos x="33" y="19"/>
                </a:cxn>
                <a:cxn ang="0">
                  <a:pos x="22" y="19"/>
                </a:cxn>
                <a:cxn ang="0">
                  <a:pos x="13" y="18"/>
                </a:cxn>
                <a:cxn ang="0">
                  <a:pos x="7" y="16"/>
                </a:cxn>
                <a:cxn ang="0">
                  <a:pos x="1" y="14"/>
                </a:cxn>
                <a:cxn ang="0">
                  <a:pos x="1" y="14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  <a:cxn ang="0">
                  <a:pos x="8" y="2"/>
                </a:cxn>
                <a:cxn ang="0">
                  <a:pos x="15" y="0"/>
                </a:cxn>
                <a:cxn ang="0">
                  <a:pos x="22" y="2"/>
                </a:cxn>
                <a:cxn ang="0">
                  <a:pos x="29" y="3"/>
                </a:cxn>
                <a:cxn ang="0">
                  <a:pos x="35" y="4"/>
                </a:cxn>
                <a:cxn ang="0">
                  <a:pos x="43" y="5"/>
                </a:cxn>
                <a:cxn ang="0">
                  <a:pos x="50" y="5"/>
                </a:cxn>
                <a:cxn ang="0">
                  <a:pos x="60" y="3"/>
                </a:cxn>
                <a:cxn ang="0">
                  <a:pos x="60" y="3"/>
                </a:cxn>
              </a:cxnLst>
              <a:rect l="0" t="0" r="r" b="b"/>
              <a:pathLst>
                <a:path w="68" h="25">
                  <a:moveTo>
                    <a:pt x="60" y="3"/>
                  </a:moveTo>
                  <a:lnTo>
                    <a:pt x="60" y="3"/>
                  </a:lnTo>
                  <a:lnTo>
                    <a:pt x="63" y="6"/>
                  </a:lnTo>
                  <a:lnTo>
                    <a:pt x="65" y="8"/>
                  </a:lnTo>
                  <a:lnTo>
                    <a:pt x="67" y="11"/>
                  </a:lnTo>
                  <a:lnTo>
                    <a:pt x="68" y="16"/>
                  </a:lnTo>
                  <a:lnTo>
                    <a:pt x="68" y="16"/>
                  </a:lnTo>
                  <a:lnTo>
                    <a:pt x="65" y="20"/>
                  </a:lnTo>
                  <a:lnTo>
                    <a:pt x="62" y="23"/>
                  </a:lnTo>
                  <a:lnTo>
                    <a:pt x="58" y="25"/>
                  </a:lnTo>
                  <a:lnTo>
                    <a:pt x="52" y="25"/>
                  </a:lnTo>
                  <a:lnTo>
                    <a:pt x="52" y="25"/>
                  </a:lnTo>
                  <a:lnTo>
                    <a:pt x="49" y="24"/>
                  </a:lnTo>
                  <a:lnTo>
                    <a:pt x="47" y="23"/>
                  </a:lnTo>
                  <a:lnTo>
                    <a:pt x="45" y="21"/>
                  </a:lnTo>
                  <a:lnTo>
                    <a:pt x="42" y="20"/>
                  </a:lnTo>
                  <a:lnTo>
                    <a:pt x="42" y="20"/>
                  </a:lnTo>
                  <a:lnTo>
                    <a:pt x="33" y="19"/>
                  </a:lnTo>
                  <a:lnTo>
                    <a:pt x="22" y="19"/>
                  </a:lnTo>
                  <a:lnTo>
                    <a:pt x="13" y="18"/>
                  </a:lnTo>
                  <a:lnTo>
                    <a:pt x="7" y="16"/>
                  </a:lnTo>
                  <a:lnTo>
                    <a:pt x="1" y="14"/>
                  </a:lnTo>
                  <a:lnTo>
                    <a:pt x="1" y="14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lnTo>
                    <a:pt x="8" y="2"/>
                  </a:lnTo>
                  <a:lnTo>
                    <a:pt x="15" y="0"/>
                  </a:lnTo>
                  <a:lnTo>
                    <a:pt x="22" y="2"/>
                  </a:lnTo>
                  <a:lnTo>
                    <a:pt x="29" y="3"/>
                  </a:lnTo>
                  <a:lnTo>
                    <a:pt x="35" y="4"/>
                  </a:lnTo>
                  <a:lnTo>
                    <a:pt x="43" y="5"/>
                  </a:lnTo>
                  <a:lnTo>
                    <a:pt x="50" y="5"/>
                  </a:lnTo>
                  <a:lnTo>
                    <a:pt x="60" y="3"/>
                  </a:lnTo>
                  <a:lnTo>
                    <a:pt x="60" y="3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5" name="Freeform 206"/>
            <p:cNvSpPr/>
            <p:nvPr/>
          </p:nvSpPr>
          <p:spPr bwMode="auto">
            <a:xfrm>
              <a:off x="6072188" y="1817688"/>
              <a:ext cx="49213" cy="39688"/>
            </a:xfrm>
            <a:custGeom>
              <a:avLst/>
              <a:gdLst/>
              <a:ahLst/>
              <a:cxnLst>
                <a:cxn ang="0">
                  <a:pos x="33" y="3"/>
                </a:cxn>
                <a:cxn ang="0">
                  <a:pos x="29" y="45"/>
                </a:cxn>
                <a:cxn ang="0">
                  <a:pos x="30" y="56"/>
                </a:cxn>
                <a:cxn ang="0">
                  <a:pos x="36" y="50"/>
                </a:cxn>
                <a:cxn ang="0">
                  <a:pos x="48" y="40"/>
                </a:cxn>
                <a:cxn ang="0">
                  <a:pos x="62" y="20"/>
                </a:cxn>
                <a:cxn ang="0">
                  <a:pos x="69" y="5"/>
                </a:cxn>
                <a:cxn ang="0">
                  <a:pos x="78" y="5"/>
                </a:cxn>
                <a:cxn ang="0">
                  <a:pos x="79" y="13"/>
                </a:cxn>
                <a:cxn ang="0">
                  <a:pos x="76" y="19"/>
                </a:cxn>
                <a:cxn ang="0">
                  <a:pos x="68" y="28"/>
                </a:cxn>
                <a:cxn ang="0">
                  <a:pos x="67" y="31"/>
                </a:cxn>
                <a:cxn ang="0">
                  <a:pos x="77" y="41"/>
                </a:cxn>
                <a:cxn ang="0">
                  <a:pos x="85" y="42"/>
                </a:cxn>
                <a:cxn ang="0">
                  <a:pos x="94" y="41"/>
                </a:cxn>
                <a:cxn ang="0">
                  <a:pos x="95" y="44"/>
                </a:cxn>
                <a:cxn ang="0">
                  <a:pos x="91" y="50"/>
                </a:cxn>
                <a:cxn ang="0">
                  <a:pos x="88" y="53"/>
                </a:cxn>
                <a:cxn ang="0">
                  <a:pos x="93" y="62"/>
                </a:cxn>
                <a:cxn ang="0">
                  <a:pos x="94" y="72"/>
                </a:cxn>
                <a:cxn ang="0">
                  <a:pos x="90" y="74"/>
                </a:cxn>
                <a:cxn ang="0">
                  <a:pos x="84" y="75"/>
                </a:cxn>
                <a:cxn ang="0">
                  <a:pos x="82" y="71"/>
                </a:cxn>
                <a:cxn ang="0">
                  <a:pos x="79" y="65"/>
                </a:cxn>
                <a:cxn ang="0">
                  <a:pos x="78" y="61"/>
                </a:cxn>
                <a:cxn ang="0">
                  <a:pos x="70" y="63"/>
                </a:cxn>
                <a:cxn ang="0">
                  <a:pos x="63" y="71"/>
                </a:cxn>
                <a:cxn ang="0">
                  <a:pos x="57" y="73"/>
                </a:cxn>
                <a:cxn ang="0">
                  <a:pos x="54" y="70"/>
                </a:cxn>
                <a:cxn ang="0">
                  <a:pos x="61" y="60"/>
                </a:cxn>
                <a:cxn ang="0">
                  <a:pos x="71" y="53"/>
                </a:cxn>
                <a:cxn ang="0">
                  <a:pos x="71" y="50"/>
                </a:cxn>
                <a:cxn ang="0">
                  <a:pos x="67" y="45"/>
                </a:cxn>
                <a:cxn ang="0">
                  <a:pos x="63" y="38"/>
                </a:cxn>
                <a:cxn ang="0">
                  <a:pos x="63" y="35"/>
                </a:cxn>
                <a:cxn ang="0">
                  <a:pos x="51" y="50"/>
                </a:cxn>
                <a:cxn ang="0">
                  <a:pos x="39" y="64"/>
                </a:cxn>
                <a:cxn ang="0">
                  <a:pos x="27" y="63"/>
                </a:cxn>
                <a:cxn ang="0">
                  <a:pos x="19" y="60"/>
                </a:cxn>
                <a:cxn ang="0">
                  <a:pos x="20" y="49"/>
                </a:cxn>
                <a:cxn ang="0">
                  <a:pos x="20" y="33"/>
                </a:cxn>
                <a:cxn ang="0">
                  <a:pos x="19" y="26"/>
                </a:cxn>
                <a:cxn ang="0">
                  <a:pos x="16" y="28"/>
                </a:cxn>
                <a:cxn ang="0">
                  <a:pos x="9" y="34"/>
                </a:cxn>
                <a:cxn ang="0">
                  <a:pos x="4" y="35"/>
                </a:cxn>
                <a:cxn ang="0">
                  <a:pos x="3" y="34"/>
                </a:cxn>
                <a:cxn ang="0">
                  <a:pos x="0" y="33"/>
                </a:cxn>
                <a:cxn ang="0">
                  <a:pos x="5" y="22"/>
                </a:cxn>
                <a:cxn ang="0">
                  <a:pos x="17" y="7"/>
                </a:cxn>
                <a:cxn ang="0">
                  <a:pos x="22" y="0"/>
                </a:cxn>
                <a:cxn ang="0">
                  <a:pos x="26" y="0"/>
                </a:cxn>
                <a:cxn ang="0">
                  <a:pos x="33" y="3"/>
                </a:cxn>
              </a:cxnLst>
              <a:rect l="0" t="0" r="r" b="b"/>
              <a:pathLst>
                <a:path w="95" h="75">
                  <a:moveTo>
                    <a:pt x="33" y="3"/>
                  </a:moveTo>
                  <a:lnTo>
                    <a:pt x="33" y="3"/>
                  </a:lnTo>
                  <a:lnTo>
                    <a:pt x="30" y="32"/>
                  </a:lnTo>
                  <a:lnTo>
                    <a:pt x="29" y="45"/>
                  </a:lnTo>
                  <a:lnTo>
                    <a:pt x="29" y="50"/>
                  </a:lnTo>
                  <a:lnTo>
                    <a:pt x="30" y="56"/>
                  </a:lnTo>
                  <a:lnTo>
                    <a:pt x="30" y="56"/>
                  </a:lnTo>
                  <a:lnTo>
                    <a:pt x="36" y="50"/>
                  </a:lnTo>
                  <a:lnTo>
                    <a:pt x="42" y="46"/>
                  </a:lnTo>
                  <a:lnTo>
                    <a:pt x="48" y="40"/>
                  </a:lnTo>
                  <a:lnTo>
                    <a:pt x="52" y="33"/>
                  </a:lnTo>
                  <a:lnTo>
                    <a:pt x="62" y="20"/>
                  </a:lnTo>
                  <a:lnTo>
                    <a:pt x="69" y="5"/>
                  </a:lnTo>
                  <a:lnTo>
                    <a:pt x="69" y="5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9" y="10"/>
                  </a:lnTo>
                  <a:lnTo>
                    <a:pt x="79" y="13"/>
                  </a:lnTo>
                  <a:lnTo>
                    <a:pt x="77" y="16"/>
                  </a:lnTo>
                  <a:lnTo>
                    <a:pt x="76" y="19"/>
                  </a:lnTo>
                  <a:lnTo>
                    <a:pt x="70" y="25"/>
                  </a:lnTo>
                  <a:lnTo>
                    <a:pt x="68" y="28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73" y="38"/>
                  </a:lnTo>
                  <a:lnTo>
                    <a:pt x="77" y="41"/>
                  </a:lnTo>
                  <a:lnTo>
                    <a:pt x="79" y="42"/>
                  </a:lnTo>
                  <a:lnTo>
                    <a:pt x="85" y="42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5" y="42"/>
                  </a:lnTo>
                  <a:lnTo>
                    <a:pt x="95" y="44"/>
                  </a:lnTo>
                  <a:lnTo>
                    <a:pt x="93" y="47"/>
                  </a:lnTo>
                  <a:lnTo>
                    <a:pt x="91" y="50"/>
                  </a:lnTo>
                  <a:lnTo>
                    <a:pt x="88" y="53"/>
                  </a:lnTo>
                  <a:lnTo>
                    <a:pt x="88" y="53"/>
                  </a:lnTo>
                  <a:lnTo>
                    <a:pt x="90" y="58"/>
                  </a:lnTo>
                  <a:lnTo>
                    <a:pt x="93" y="62"/>
                  </a:lnTo>
                  <a:lnTo>
                    <a:pt x="94" y="65"/>
                  </a:lnTo>
                  <a:lnTo>
                    <a:pt x="94" y="72"/>
                  </a:lnTo>
                  <a:lnTo>
                    <a:pt x="94" y="72"/>
                  </a:lnTo>
                  <a:lnTo>
                    <a:pt x="90" y="74"/>
                  </a:lnTo>
                  <a:lnTo>
                    <a:pt x="87" y="75"/>
                  </a:lnTo>
                  <a:lnTo>
                    <a:pt x="84" y="75"/>
                  </a:lnTo>
                  <a:lnTo>
                    <a:pt x="84" y="75"/>
                  </a:lnTo>
                  <a:lnTo>
                    <a:pt x="82" y="71"/>
                  </a:lnTo>
                  <a:lnTo>
                    <a:pt x="81" y="68"/>
                  </a:lnTo>
                  <a:lnTo>
                    <a:pt x="79" y="65"/>
                  </a:lnTo>
                  <a:lnTo>
                    <a:pt x="78" y="61"/>
                  </a:lnTo>
                  <a:lnTo>
                    <a:pt x="78" y="61"/>
                  </a:lnTo>
                  <a:lnTo>
                    <a:pt x="73" y="61"/>
                  </a:lnTo>
                  <a:lnTo>
                    <a:pt x="70" y="63"/>
                  </a:lnTo>
                  <a:lnTo>
                    <a:pt x="65" y="68"/>
                  </a:lnTo>
                  <a:lnTo>
                    <a:pt x="63" y="71"/>
                  </a:lnTo>
                  <a:lnTo>
                    <a:pt x="61" y="73"/>
                  </a:lnTo>
                  <a:lnTo>
                    <a:pt x="57" y="73"/>
                  </a:lnTo>
                  <a:lnTo>
                    <a:pt x="54" y="70"/>
                  </a:lnTo>
                  <a:lnTo>
                    <a:pt x="54" y="70"/>
                  </a:lnTo>
                  <a:lnTo>
                    <a:pt x="57" y="64"/>
                  </a:lnTo>
                  <a:lnTo>
                    <a:pt x="61" y="60"/>
                  </a:lnTo>
                  <a:lnTo>
                    <a:pt x="66" y="57"/>
                  </a:lnTo>
                  <a:lnTo>
                    <a:pt x="71" y="53"/>
                  </a:lnTo>
                  <a:lnTo>
                    <a:pt x="71" y="53"/>
                  </a:lnTo>
                  <a:lnTo>
                    <a:pt x="71" y="50"/>
                  </a:lnTo>
                  <a:lnTo>
                    <a:pt x="70" y="48"/>
                  </a:lnTo>
                  <a:lnTo>
                    <a:pt x="67" y="45"/>
                  </a:lnTo>
                  <a:lnTo>
                    <a:pt x="64" y="41"/>
                  </a:lnTo>
                  <a:lnTo>
                    <a:pt x="63" y="38"/>
                  </a:lnTo>
                  <a:lnTo>
                    <a:pt x="63" y="35"/>
                  </a:lnTo>
                  <a:lnTo>
                    <a:pt x="63" y="35"/>
                  </a:lnTo>
                  <a:lnTo>
                    <a:pt x="56" y="43"/>
                  </a:lnTo>
                  <a:lnTo>
                    <a:pt x="51" y="50"/>
                  </a:lnTo>
                  <a:lnTo>
                    <a:pt x="46" y="58"/>
                  </a:lnTo>
                  <a:lnTo>
                    <a:pt x="39" y="64"/>
                  </a:lnTo>
                  <a:lnTo>
                    <a:pt x="39" y="64"/>
                  </a:lnTo>
                  <a:lnTo>
                    <a:pt x="27" y="63"/>
                  </a:lnTo>
                  <a:lnTo>
                    <a:pt x="23" y="62"/>
                  </a:lnTo>
                  <a:lnTo>
                    <a:pt x="19" y="60"/>
                  </a:lnTo>
                  <a:lnTo>
                    <a:pt x="19" y="60"/>
                  </a:lnTo>
                  <a:lnTo>
                    <a:pt x="20" y="49"/>
                  </a:lnTo>
                  <a:lnTo>
                    <a:pt x="20" y="41"/>
                  </a:lnTo>
                  <a:lnTo>
                    <a:pt x="20" y="33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7" y="26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4"/>
                  </a:lnTo>
                  <a:lnTo>
                    <a:pt x="7" y="35"/>
                  </a:lnTo>
                  <a:lnTo>
                    <a:pt x="4" y="35"/>
                  </a:lnTo>
                  <a:lnTo>
                    <a:pt x="4" y="35"/>
                  </a:lnTo>
                  <a:lnTo>
                    <a:pt x="3" y="34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2" y="27"/>
                  </a:lnTo>
                  <a:lnTo>
                    <a:pt x="5" y="22"/>
                  </a:lnTo>
                  <a:lnTo>
                    <a:pt x="11" y="14"/>
                  </a:lnTo>
                  <a:lnTo>
                    <a:pt x="17" y="7"/>
                  </a:lnTo>
                  <a:lnTo>
                    <a:pt x="20" y="4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3" y="3"/>
                  </a:lnTo>
                  <a:lnTo>
                    <a:pt x="33" y="3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6" name="Freeform 213"/>
            <p:cNvSpPr/>
            <p:nvPr/>
          </p:nvSpPr>
          <p:spPr bwMode="auto">
            <a:xfrm>
              <a:off x="6073776" y="1895475"/>
              <a:ext cx="34925" cy="11113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0" y="7"/>
                </a:cxn>
                <a:cxn ang="0">
                  <a:pos x="2" y="5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8" y="0"/>
                </a:cxn>
                <a:cxn ang="0">
                  <a:pos x="27" y="0"/>
                </a:cxn>
                <a:cxn ang="0">
                  <a:pos x="44" y="1"/>
                </a:cxn>
                <a:cxn ang="0">
                  <a:pos x="52" y="1"/>
                </a:cxn>
                <a:cxn ang="0">
                  <a:pos x="60" y="0"/>
                </a:cxn>
                <a:cxn ang="0">
                  <a:pos x="60" y="0"/>
                </a:cxn>
                <a:cxn ang="0">
                  <a:pos x="63" y="3"/>
                </a:cxn>
                <a:cxn ang="0">
                  <a:pos x="65" y="5"/>
                </a:cxn>
                <a:cxn ang="0">
                  <a:pos x="66" y="9"/>
                </a:cxn>
                <a:cxn ang="0">
                  <a:pos x="65" y="12"/>
                </a:cxn>
                <a:cxn ang="0">
                  <a:pos x="63" y="15"/>
                </a:cxn>
                <a:cxn ang="0">
                  <a:pos x="60" y="17"/>
                </a:cxn>
                <a:cxn ang="0">
                  <a:pos x="56" y="19"/>
                </a:cxn>
                <a:cxn ang="0">
                  <a:pos x="49" y="19"/>
                </a:cxn>
                <a:cxn ang="0">
                  <a:pos x="49" y="19"/>
                </a:cxn>
                <a:cxn ang="0">
                  <a:pos x="47" y="18"/>
                </a:cxn>
                <a:cxn ang="0">
                  <a:pos x="44" y="17"/>
                </a:cxn>
                <a:cxn ang="0">
                  <a:pos x="41" y="15"/>
                </a:cxn>
                <a:cxn ang="0">
                  <a:pos x="37" y="12"/>
                </a:cxn>
                <a:cxn ang="0">
                  <a:pos x="37" y="12"/>
                </a:cxn>
                <a:cxn ang="0">
                  <a:pos x="32" y="12"/>
                </a:cxn>
                <a:cxn ang="0">
                  <a:pos x="26" y="12"/>
                </a:cxn>
                <a:cxn ang="0">
                  <a:pos x="13" y="14"/>
                </a:cxn>
                <a:cxn ang="0">
                  <a:pos x="7" y="14"/>
                </a:cxn>
                <a:cxn ang="0">
                  <a:pos x="3" y="12"/>
                </a:cxn>
                <a:cxn ang="0">
                  <a:pos x="1" y="10"/>
                </a:cxn>
                <a:cxn ang="0">
                  <a:pos x="0" y="9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66" h="19">
                  <a:moveTo>
                    <a:pt x="0" y="7"/>
                  </a:moveTo>
                  <a:lnTo>
                    <a:pt x="0" y="7"/>
                  </a:lnTo>
                  <a:lnTo>
                    <a:pt x="2" y="5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8" y="0"/>
                  </a:lnTo>
                  <a:lnTo>
                    <a:pt x="27" y="0"/>
                  </a:lnTo>
                  <a:lnTo>
                    <a:pt x="44" y="1"/>
                  </a:lnTo>
                  <a:lnTo>
                    <a:pt x="52" y="1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3" y="3"/>
                  </a:lnTo>
                  <a:lnTo>
                    <a:pt x="65" y="5"/>
                  </a:lnTo>
                  <a:lnTo>
                    <a:pt x="66" y="9"/>
                  </a:lnTo>
                  <a:lnTo>
                    <a:pt x="65" y="12"/>
                  </a:lnTo>
                  <a:lnTo>
                    <a:pt x="63" y="15"/>
                  </a:lnTo>
                  <a:lnTo>
                    <a:pt x="60" y="17"/>
                  </a:lnTo>
                  <a:lnTo>
                    <a:pt x="56" y="19"/>
                  </a:lnTo>
                  <a:lnTo>
                    <a:pt x="49" y="19"/>
                  </a:lnTo>
                  <a:lnTo>
                    <a:pt x="49" y="19"/>
                  </a:lnTo>
                  <a:lnTo>
                    <a:pt x="47" y="18"/>
                  </a:lnTo>
                  <a:lnTo>
                    <a:pt x="44" y="17"/>
                  </a:lnTo>
                  <a:lnTo>
                    <a:pt x="41" y="15"/>
                  </a:lnTo>
                  <a:lnTo>
                    <a:pt x="37" y="12"/>
                  </a:lnTo>
                  <a:lnTo>
                    <a:pt x="37" y="12"/>
                  </a:lnTo>
                  <a:lnTo>
                    <a:pt x="32" y="12"/>
                  </a:lnTo>
                  <a:lnTo>
                    <a:pt x="26" y="12"/>
                  </a:lnTo>
                  <a:lnTo>
                    <a:pt x="13" y="14"/>
                  </a:lnTo>
                  <a:lnTo>
                    <a:pt x="7" y="14"/>
                  </a:lnTo>
                  <a:lnTo>
                    <a:pt x="3" y="12"/>
                  </a:lnTo>
                  <a:lnTo>
                    <a:pt x="1" y="10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7" name="Freeform 221"/>
            <p:cNvSpPr/>
            <p:nvPr/>
          </p:nvSpPr>
          <p:spPr bwMode="auto">
            <a:xfrm>
              <a:off x="6075363" y="1908175"/>
              <a:ext cx="33338" cy="9525"/>
            </a:xfrm>
            <a:custGeom>
              <a:avLst/>
              <a:gdLst/>
              <a:ahLst/>
              <a:cxnLst>
                <a:cxn ang="0">
                  <a:pos x="60" y="2"/>
                </a:cxn>
                <a:cxn ang="0">
                  <a:pos x="60" y="2"/>
                </a:cxn>
                <a:cxn ang="0">
                  <a:pos x="61" y="6"/>
                </a:cxn>
                <a:cxn ang="0">
                  <a:pos x="62" y="8"/>
                </a:cxn>
                <a:cxn ang="0">
                  <a:pos x="63" y="11"/>
                </a:cxn>
                <a:cxn ang="0">
                  <a:pos x="63" y="11"/>
                </a:cxn>
                <a:cxn ang="0">
                  <a:pos x="61" y="13"/>
                </a:cxn>
                <a:cxn ang="0">
                  <a:pos x="58" y="15"/>
                </a:cxn>
                <a:cxn ang="0">
                  <a:pos x="53" y="16"/>
                </a:cxn>
                <a:cxn ang="0">
                  <a:pos x="47" y="17"/>
                </a:cxn>
                <a:cxn ang="0">
                  <a:pos x="40" y="16"/>
                </a:cxn>
                <a:cxn ang="0">
                  <a:pos x="24" y="14"/>
                </a:cxn>
                <a:cxn ang="0">
                  <a:pos x="15" y="14"/>
                </a:cxn>
                <a:cxn ang="0">
                  <a:pos x="5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0" y="3"/>
                </a:cxn>
                <a:cxn ang="0">
                  <a:pos x="0" y="3"/>
                </a:cxn>
                <a:cxn ang="0">
                  <a:pos x="9" y="1"/>
                </a:cxn>
                <a:cxn ang="0">
                  <a:pos x="17" y="0"/>
                </a:cxn>
                <a:cxn ang="0">
                  <a:pos x="25" y="0"/>
                </a:cxn>
                <a:cxn ang="0">
                  <a:pos x="32" y="0"/>
                </a:cxn>
                <a:cxn ang="0">
                  <a:pos x="46" y="1"/>
                </a:cxn>
                <a:cxn ang="0">
                  <a:pos x="60" y="2"/>
                </a:cxn>
                <a:cxn ang="0">
                  <a:pos x="60" y="2"/>
                </a:cxn>
              </a:cxnLst>
              <a:rect l="0" t="0" r="r" b="b"/>
              <a:pathLst>
                <a:path w="62" h="17">
                  <a:moveTo>
                    <a:pt x="60" y="2"/>
                  </a:moveTo>
                  <a:lnTo>
                    <a:pt x="60" y="2"/>
                  </a:lnTo>
                  <a:lnTo>
                    <a:pt x="61" y="6"/>
                  </a:lnTo>
                  <a:lnTo>
                    <a:pt x="62" y="8"/>
                  </a:lnTo>
                  <a:lnTo>
                    <a:pt x="63" y="11"/>
                  </a:lnTo>
                  <a:lnTo>
                    <a:pt x="63" y="11"/>
                  </a:lnTo>
                  <a:lnTo>
                    <a:pt x="61" y="13"/>
                  </a:lnTo>
                  <a:lnTo>
                    <a:pt x="58" y="15"/>
                  </a:lnTo>
                  <a:lnTo>
                    <a:pt x="53" y="16"/>
                  </a:lnTo>
                  <a:lnTo>
                    <a:pt x="47" y="17"/>
                  </a:lnTo>
                  <a:lnTo>
                    <a:pt x="40" y="16"/>
                  </a:lnTo>
                  <a:lnTo>
                    <a:pt x="24" y="14"/>
                  </a:lnTo>
                  <a:lnTo>
                    <a:pt x="15" y="14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0" y="8"/>
                  </a:lnTo>
                  <a:lnTo>
                    <a:pt x="0" y="3"/>
                  </a:lnTo>
                  <a:lnTo>
                    <a:pt x="0" y="3"/>
                  </a:lnTo>
                  <a:lnTo>
                    <a:pt x="9" y="1"/>
                  </a:lnTo>
                  <a:lnTo>
                    <a:pt x="17" y="0"/>
                  </a:lnTo>
                  <a:lnTo>
                    <a:pt x="25" y="0"/>
                  </a:lnTo>
                  <a:lnTo>
                    <a:pt x="32" y="0"/>
                  </a:lnTo>
                  <a:lnTo>
                    <a:pt x="46" y="1"/>
                  </a:lnTo>
                  <a:lnTo>
                    <a:pt x="60" y="2"/>
                  </a:lnTo>
                  <a:lnTo>
                    <a:pt x="60" y="2"/>
                  </a:lnTo>
                  <a:close/>
                </a:path>
              </a:pathLst>
            </a:custGeom>
            <a:grpFill/>
            <a:ln w="9525">
              <a:solidFill>
                <a:schemeClr val="tx1">
                  <a:lumMod val="75000"/>
                  <a:lumOff val="25000"/>
                </a:schemeClr>
              </a:solidFill>
              <a:rou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4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bldLvl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515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2965</Words>
  <Application>Microsoft Office PowerPoint</Application>
  <PresentationFormat>自定义</PresentationFormat>
  <Paragraphs>1186</Paragraphs>
  <Slides>60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60</vt:i4>
      </vt:variant>
    </vt:vector>
  </HeadingPairs>
  <TitlesOfParts>
    <vt:vector size="73" baseType="lpstr">
      <vt:lpstr>博洋行书 7000</vt:lpstr>
      <vt:lpstr>黑体</vt:lpstr>
      <vt:lpstr>华文楷体</vt:lpstr>
      <vt:lpstr>隶书</vt:lpstr>
      <vt:lpstr>宋体</vt:lpstr>
      <vt:lpstr>微软雅黑</vt:lpstr>
      <vt:lpstr>造字工房明黑（非商用）常规体</vt:lpstr>
      <vt:lpstr>Arial</vt:lpstr>
      <vt:lpstr>Calibri</vt:lpstr>
      <vt:lpstr>Tahoma</vt:lpstr>
      <vt:lpstr>Times New Roman</vt:lpstr>
      <vt:lpstr>Wingdings</vt:lpstr>
      <vt:lpstr>第一PPT，www.1ppt.com</vt:lpstr>
      <vt:lpstr>PowerPoint 演示文稿</vt:lpstr>
      <vt:lpstr>PowerPoint 演示文稿</vt:lpstr>
      <vt:lpstr> </vt:lpstr>
      <vt:lpstr>建立一个空表</vt:lpstr>
      <vt:lpstr>在第i个位置插入新的元素x</vt:lpstr>
      <vt:lpstr>删除第i个位置上的元素</vt:lpstr>
      <vt:lpstr>取第i个位置上的元素</vt:lpstr>
      <vt:lpstr>返回元素x第一次出现在双向循环链表中的位置号</vt:lpstr>
      <vt:lpstr>求双向循环链表的长度，即元素个数</vt:lpstr>
      <vt:lpstr>输出双向循环链表中所有的元素值</vt:lpstr>
      <vt:lpstr>实现双向循环链表的就地逆置</vt:lpstr>
      <vt:lpstr>PowerPoint 演示文稿</vt:lpstr>
      <vt:lpstr>PowerPoint 演示文稿</vt:lpstr>
      <vt:lpstr>用插入法创建无序序列</vt:lpstr>
      <vt:lpstr>直接插入排序</vt:lpstr>
      <vt:lpstr>希尔排序</vt:lpstr>
      <vt:lpstr>改进的冒泡排序</vt:lpstr>
      <vt:lpstr>快速排序</vt:lpstr>
      <vt:lpstr>直接选择排序</vt:lpstr>
      <vt:lpstr>堆排序</vt:lpstr>
      <vt:lpstr>归并排序</vt:lpstr>
      <vt:lpstr>时间比较</vt:lpstr>
      <vt:lpstr>随机产生三万个数</vt:lpstr>
      <vt:lpstr>Main方法进行比较</vt:lpstr>
      <vt:lpstr>Main方法进行比较</vt:lpstr>
      <vt:lpstr>Main方法进行比较</vt:lpstr>
      <vt:lpstr>PowerPoint 演示文稿</vt:lpstr>
      <vt:lpstr> </vt:lpstr>
      <vt:lpstr>创建二叉树</vt:lpstr>
      <vt:lpstr>先序中序创建二叉树</vt:lpstr>
      <vt:lpstr>前序遍历</vt:lpstr>
      <vt:lpstr>中序遍历</vt:lpstr>
      <vt:lpstr>后序遍历</vt:lpstr>
      <vt:lpstr>判断是否为完全二叉树</vt:lpstr>
      <vt:lpstr>完全二叉树进行堆排序</vt:lpstr>
      <vt:lpstr>Main方法测试</vt:lpstr>
      <vt:lpstr>Main方法测试</vt:lpstr>
      <vt:lpstr>Main方法测试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邻接表的储存结构</vt:lpstr>
      <vt:lpstr>PowerPoint 演示文稿</vt:lpstr>
      <vt:lpstr>邻接表                                  </vt:lpstr>
      <vt:lpstr>邻接表</vt:lpstr>
      <vt:lpstr>邻接表</vt:lpstr>
      <vt:lpstr>邻接表</vt:lpstr>
      <vt:lpstr>邻接表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手绘</dc:title>
  <dc:creator>第一PPT</dc:creator>
  <cp:keywords>www.1ppt.com</cp:keywords>
  <dc:description>第一PPT，www.1ppt.com</dc:description>
  <cp:lastModifiedBy>李玉聪</cp:lastModifiedBy>
  <cp:revision>333</cp:revision>
  <dcterms:created xsi:type="dcterms:W3CDTF">2017-03-25T02:22:21Z</dcterms:created>
  <dcterms:modified xsi:type="dcterms:W3CDTF">2019-01-09T11:44:52Z</dcterms:modified>
</cp:coreProperties>
</file>