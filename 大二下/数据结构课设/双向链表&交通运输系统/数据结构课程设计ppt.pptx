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6"/>
  </p:notesMasterIdLst>
  <p:sldIdLst>
    <p:sldId id="256" r:id="rId4"/>
    <p:sldId id="7544" r:id="rId5"/>
    <p:sldId id="7545" r:id="rId7"/>
    <p:sldId id="7569" r:id="rId8"/>
    <p:sldId id="7568" r:id="rId9"/>
    <p:sldId id="7570" r:id="rId10"/>
    <p:sldId id="7571" r:id="rId11"/>
    <p:sldId id="7572" r:id="rId12"/>
    <p:sldId id="7573" r:id="rId13"/>
    <p:sldId id="7574" r:id="rId14"/>
    <p:sldId id="7575" r:id="rId15"/>
    <p:sldId id="7576" r:id="rId16"/>
    <p:sldId id="7600" r:id="rId17"/>
    <p:sldId id="7577" r:id="rId18"/>
    <p:sldId id="7601" r:id="rId19"/>
    <p:sldId id="7602" r:id="rId20"/>
    <p:sldId id="7603" r:id="rId21"/>
    <p:sldId id="7604" r:id="rId22"/>
    <p:sldId id="7605" r:id="rId23"/>
    <p:sldId id="7606" r:id="rId24"/>
    <p:sldId id="7607" r:id="rId25"/>
    <p:sldId id="7608" r:id="rId26"/>
    <p:sldId id="7609" r:id="rId27"/>
    <p:sldId id="7610" r:id="rId28"/>
    <p:sldId id="7611" r:id="rId29"/>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1C73"/>
    <a:srgbClr val="EFEBEC"/>
    <a:srgbClr val="AAA4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02" autoAdjust="0"/>
    <p:restoredTop sz="94660"/>
  </p:normalViewPr>
  <p:slideViewPr>
    <p:cSldViewPr snapToGrid="0">
      <p:cViewPr varScale="1">
        <p:scale>
          <a:sx n="114" d="100"/>
          <a:sy n="114" d="100"/>
        </p:scale>
        <p:origin x="600" y="108"/>
      </p:cViewPr>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3" Type="http://schemas.openxmlformats.org/officeDocument/2006/relationships/tags" Target="tags/tag3.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BA215C-48DF-43BA-83E0-6965696AC13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CB959-00A9-49F9-B081-C6CDBAA363C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13AF1-8820-4C64-9198-6BD6D9A0A24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13AF1-8820-4C64-9198-6BD6D9A0A24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13AF1-8820-4C64-9198-6BD6D9A0A24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13AF1-8820-4C64-9198-6BD6D9A0A24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13AF1-8820-4C64-9198-6BD6D9A0A24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pic>
        <p:nvPicPr>
          <p:cNvPr id="8" name="图片 7"/>
          <p:cNvPicPr>
            <a:picLocks noChangeAspect="1"/>
          </p:cNvPicPr>
          <p:nvPr userDrawn="1"/>
        </p:nvPicPr>
        <p:blipFill rotWithShape="1">
          <a:blip r:embed="rId2">
            <a:extLst>
              <a:ext uri="{28A0092B-C50C-407E-A947-70E740481C1C}">
                <a14:useLocalDpi xmlns:a14="http://schemas.microsoft.com/office/drawing/2010/main" val="0"/>
              </a:ext>
            </a:extLst>
          </a:blip>
          <a:srcRect t="7110" b="12910"/>
          <a:stretch>
            <a:fillRect/>
          </a:stretch>
        </p:blipFill>
        <p:spPr>
          <a:xfrm>
            <a:off x="1735454" y="47169"/>
            <a:ext cx="1181591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椭圆 1"/>
          <p:cNvSpPr/>
          <p:nvPr userDrawn="1"/>
        </p:nvSpPr>
        <p:spPr>
          <a:xfrm>
            <a:off x="284376" y="360759"/>
            <a:ext cx="993209" cy="993209"/>
          </a:xfrm>
          <a:prstGeom prst="ellipse">
            <a:avLst/>
          </a:prstGeom>
          <a:noFill/>
          <a:ln>
            <a:solidFill>
              <a:srgbClr val="1C1C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userDrawn="1"/>
        </p:nvSpPr>
        <p:spPr>
          <a:xfrm>
            <a:off x="407824" y="672698"/>
            <a:ext cx="1569660" cy="369332"/>
          </a:xfrm>
          <a:prstGeom prst="rect">
            <a:avLst/>
          </a:prstGeom>
          <a:solidFill>
            <a:srgbClr val="EFEBEC"/>
          </a:solidFill>
        </p:spPr>
        <p:txBody>
          <a:bodyPr wrap="none" rtlCol="0">
            <a:spAutoFit/>
          </a:bodyPr>
          <a:lstStyle/>
          <a:p>
            <a:r>
              <a:rPr lang="zh-CN" altLang="en-US" dirty="0">
                <a:latin typeface="幼圆" panose="02010509060101010101" pitchFamily="49" charset="-122"/>
                <a:ea typeface="幼圆" panose="02010509060101010101" pitchFamily="49" charset="-122"/>
              </a:rPr>
              <a:t>点击添加标题</a:t>
            </a:r>
            <a:endParaRPr lang="zh-CN" altLang="en-US" dirty="0">
              <a:latin typeface="幼圆" panose="02010509060101010101" pitchFamily="49" charset="-122"/>
              <a:ea typeface="幼圆"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pic>
        <p:nvPicPr>
          <p:cNvPr id="8" name="图片 7"/>
          <p:cNvPicPr>
            <a:picLocks noChangeAspect="1"/>
          </p:cNvPicPr>
          <p:nvPr userDrawn="1"/>
        </p:nvPicPr>
        <p:blipFill rotWithShape="1">
          <a:blip r:embed="rId2">
            <a:extLst>
              <a:ext uri="{28A0092B-C50C-407E-A947-70E740481C1C}">
                <a14:useLocalDpi xmlns:a14="http://schemas.microsoft.com/office/drawing/2010/main" val="0"/>
              </a:ext>
            </a:extLst>
          </a:blip>
          <a:srcRect t="7110" b="12910"/>
          <a:stretch>
            <a:fillRect/>
          </a:stretch>
        </p:blipFill>
        <p:spPr>
          <a:xfrm>
            <a:off x="1735454" y="47169"/>
            <a:ext cx="11815912" cy="68580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4F45E4F-5698-48A2-BF2A-A235F7AF1BB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96E6F1-E71C-431D-886F-9EC9F3A069BF}"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椭圆 1"/>
          <p:cNvSpPr/>
          <p:nvPr userDrawn="1"/>
        </p:nvSpPr>
        <p:spPr>
          <a:xfrm>
            <a:off x="284376" y="360759"/>
            <a:ext cx="993209" cy="993209"/>
          </a:xfrm>
          <a:prstGeom prst="ellipse">
            <a:avLst/>
          </a:prstGeom>
          <a:noFill/>
          <a:ln>
            <a:solidFill>
              <a:srgbClr val="1C1C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userDrawn="1"/>
        </p:nvSpPr>
        <p:spPr>
          <a:xfrm>
            <a:off x="407824" y="672698"/>
            <a:ext cx="1569660" cy="369332"/>
          </a:xfrm>
          <a:prstGeom prst="rect">
            <a:avLst/>
          </a:prstGeom>
          <a:solidFill>
            <a:srgbClr val="EFEBEC"/>
          </a:solidFill>
        </p:spPr>
        <p:txBody>
          <a:bodyPr wrap="none" rtlCol="0">
            <a:spAutoFit/>
          </a:bodyPr>
          <a:lstStyle/>
          <a:p>
            <a:r>
              <a:rPr lang="zh-CN" altLang="en-US" dirty="0">
                <a:latin typeface="幼圆" panose="02010509060101010101" pitchFamily="49" charset="-122"/>
                <a:ea typeface="幼圆" panose="02010509060101010101" pitchFamily="49" charset="-122"/>
              </a:rPr>
              <a:t>点击添加标题</a:t>
            </a:r>
            <a:endParaRPr lang="zh-CN" altLang="en-US" dirty="0">
              <a:latin typeface="幼圆" panose="02010509060101010101" pitchFamily="49" charset="-122"/>
              <a:ea typeface="幼圆"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BEC"/>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45E4F-5698-48A2-BF2A-A235F7AF1BB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96E6F1-E71C-431D-886F-9EC9F3A069B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FEBEC"/>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45E4F-5698-48A2-BF2A-A235F7AF1BB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96E6F1-E71C-431D-886F-9EC9F3A069B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8.png"/><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microsoft.com/office/2007/relationships/hdphoto" Target="../media/image16.wdp"/><Relationship Id="rId3" Type="http://schemas.openxmlformats.org/officeDocument/2006/relationships/image" Target="../media/image15.png"/><Relationship Id="rId2" Type="http://schemas.microsoft.com/office/2007/relationships/hdphoto" Target="../media/image14.wdp"/><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70940" y="1604010"/>
            <a:ext cx="7599045" cy="1198880"/>
          </a:xfrm>
          <a:prstGeom prst="rect">
            <a:avLst/>
          </a:prstGeom>
          <a:noFill/>
        </p:spPr>
        <p:txBody>
          <a:bodyPr wrap="square" rtlCol="0">
            <a:spAutoFit/>
          </a:bodyPr>
          <a:lstStyle/>
          <a:p>
            <a:r>
              <a:rPr lang="zh-CN" altLang="en-US" sz="7200" b="1" dirty="0">
                <a:solidFill>
                  <a:srgbClr val="1C1C73"/>
                </a:solidFill>
                <a:latin typeface="幼圆" panose="02010509060101010101" pitchFamily="49" charset="-122"/>
                <a:ea typeface="幼圆" panose="02010509060101010101" pitchFamily="49" charset="-122"/>
              </a:rPr>
              <a:t>数据结构</a:t>
            </a:r>
            <a:r>
              <a:rPr lang="zh-CN" altLang="en-US" sz="7200" b="1" dirty="0">
                <a:solidFill>
                  <a:srgbClr val="1C1C73"/>
                </a:solidFill>
                <a:latin typeface="幼圆" panose="02010509060101010101" pitchFamily="49" charset="-122"/>
                <a:ea typeface="幼圆" panose="02010509060101010101" pitchFamily="49" charset="-122"/>
              </a:rPr>
              <a:t>课程设计</a:t>
            </a:r>
            <a:endParaRPr lang="zh-CN" altLang="en-US" sz="7200" b="1" dirty="0">
              <a:solidFill>
                <a:srgbClr val="1C1C73"/>
              </a:solidFill>
              <a:latin typeface="幼圆" panose="02010509060101010101" pitchFamily="49" charset="-122"/>
              <a:ea typeface="幼圆" panose="02010509060101010101" pitchFamily="49" charset="-122"/>
            </a:endParaRPr>
          </a:p>
        </p:txBody>
      </p:sp>
      <p:cxnSp>
        <p:nvCxnSpPr>
          <p:cNvPr id="11" name="直接连接符 10"/>
          <p:cNvCxnSpPr/>
          <p:nvPr/>
        </p:nvCxnSpPr>
        <p:spPr>
          <a:xfrm>
            <a:off x="1352551" y="3476169"/>
            <a:ext cx="3454400" cy="0"/>
          </a:xfrm>
          <a:prstGeom prst="line">
            <a:avLst/>
          </a:prstGeom>
          <a:ln w="12700">
            <a:solidFill>
              <a:srgbClr val="AAA4D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270358" y="3476169"/>
            <a:ext cx="1763729" cy="0"/>
          </a:xfrm>
          <a:prstGeom prst="line">
            <a:avLst/>
          </a:prstGeom>
          <a:ln w="101600">
            <a:solidFill>
              <a:srgbClr val="1C1C73"/>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1270635" y="3745230"/>
            <a:ext cx="2284095" cy="398780"/>
          </a:xfrm>
          <a:prstGeom prst="rect">
            <a:avLst/>
          </a:prstGeom>
          <a:solidFill>
            <a:srgbClr val="1C1C73"/>
          </a:solidFill>
        </p:spPr>
        <p:txBody>
          <a:bodyPr wrap="square" rtlCol="0">
            <a:spAutoFit/>
          </a:bodyPr>
          <a:lstStyle/>
          <a:p>
            <a:r>
              <a:rPr lang="zh-CN" altLang="en-US" sz="2000" dirty="0">
                <a:solidFill>
                  <a:schemeClr val="bg1"/>
                </a:solidFill>
                <a:latin typeface="幼圆" panose="02010509060101010101" pitchFamily="49" charset="-122"/>
                <a:ea typeface="幼圆" panose="02010509060101010101" pitchFamily="49" charset="-122"/>
              </a:rPr>
              <a:t>计科</a:t>
            </a:r>
            <a:r>
              <a:rPr lang="en-US" altLang="zh-CN" sz="2000" dirty="0">
                <a:solidFill>
                  <a:schemeClr val="bg1"/>
                </a:solidFill>
                <a:latin typeface="幼圆" panose="02010509060101010101" pitchFamily="49" charset="-122"/>
                <a:ea typeface="幼圆" panose="02010509060101010101" pitchFamily="49" charset="-122"/>
              </a:rPr>
              <a:t>212    </a:t>
            </a:r>
            <a:r>
              <a:rPr lang="zh-CN" altLang="en-US" sz="2000" dirty="0">
                <a:solidFill>
                  <a:schemeClr val="bg1"/>
                </a:solidFill>
                <a:latin typeface="幼圆" panose="02010509060101010101" pitchFamily="49" charset="-122"/>
                <a:ea typeface="幼圆" panose="02010509060101010101" pitchFamily="49" charset="-122"/>
              </a:rPr>
              <a:t>陈</a:t>
            </a:r>
            <a:r>
              <a:rPr lang="en-US" altLang="zh-CN" sz="2000" dirty="0">
                <a:solidFill>
                  <a:schemeClr val="bg1"/>
                </a:solidFill>
                <a:latin typeface="幼圆" panose="02010509060101010101" pitchFamily="49" charset="-122"/>
                <a:ea typeface="幼圆" panose="02010509060101010101" pitchFamily="49" charset="-122"/>
              </a:rPr>
              <a:t> </a:t>
            </a:r>
            <a:r>
              <a:rPr lang="zh-CN" altLang="en-US" sz="2000" dirty="0">
                <a:solidFill>
                  <a:schemeClr val="bg1"/>
                </a:solidFill>
                <a:latin typeface="幼圆" panose="02010509060101010101" pitchFamily="49" charset="-122"/>
                <a:ea typeface="幼圆" panose="02010509060101010101" pitchFamily="49" charset="-122"/>
              </a:rPr>
              <a:t>宇</a:t>
            </a:r>
            <a:endParaRPr lang="zh-CN" altLang="en-US" sz="2000" dirty="0">
              <a:solidFill>
                <a:schemeClr val="bg1"/>
              </a:solidFill>
              <a:latin typeface="幼圆" panose="02010509060101010101" pitchFamily="49" charset="-122"/>
              <a:ea typeface="幼圆"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split orient="vert"/>
      </p:transition>
    </mc:Choice>
    <mc:Fallback>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
          <p:cNvSpPr/>
          <p:nvPr/>
        </p:nvSpPr>
        <p:spPr bwMode="auto">
          <a:xfrm rot="10800000">
            <a:off x="726948" y="714474"/>
            <a:ext cx="95672" cy="672108"/>
          </a:xfrm>
          <a:prstGeom prst="rect">
            <a:avLst/>
          </a:prstGeom>
          <a:solidFill>
            <a:srgbClr val="AAA4D1"/>
          </a:solidFill>
          <a:ln w="19050">
            <a:noFill/>
            <a:round/>
          </a:ln>
        </p:spPr>
        <p:txBody>
          <a:bodyPr anchor="ctr"/>
          <a:lstStyle/>
          <a:p>
            <a:pPr algn="ctr"/>
            <a:endParaRPr sz="2400">
              <a:latin typeface="幼圆" panose="02010509060101010101" pitchFamily="49" charset="-122"/>
              <a:ea typeface="幼圆" panose="02010509060101010101" pitchFamily="49" charset="-122"/>
            </a:endParaRPr>
          </a:p>
        </p:txBody>
      </p:sp>
      <p:cxnSp>
        <p:nvCxnSpPr>
          <p:cNvPr id="7" name="Straight Connector 5"/>
          <p:cNvCxnSpPr/>
          <p:nvPr/>
        </p:nvCxnSpPr>
        <p:spPr>
          <a:xfrm>
            <a:off x="6170083" y="1590824"/>
            <a:ext cx="0" cy="39604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13"/>
          <p:cNvSpPr/>
          <p:nvPr/>
        </p:nvSpPr>
        <p:spPr bwMode="auto">
          <a:xfrm>
            <a:off x="3105057" y="2210101"/>
            <a:ext cx="2520280" cy="371568"/>
          </a:xfrm>
          <a:prstGeom prst="rect">
            <a:avLst/>
          </a:prstGeom>
          <a:solidFill>
            <a:srgbClr val="1C1C73"/>
          </a:solidFill>
          <a:ln w="19050">
            <a:noFill/>
            <a:round/>
          </a:ln>
        </p:spPr>
        <p:txBody>
          <a:bodyPr rot="0" spcFirstLastPara="0" vert="horz" wrap="none" lIns="121920" tIns="60960" rIns="121920" bIns="60960" anchor="ctr" anchorCtr="1" forceAA="0" compatLnSpc="1">
            <a:normAutofit fontScale="60000" lnSpcReduction="20000"/>
          </a:bodyPr>
          <a:lstStyle/>
          <a:p>
            <a:pPr algn="ctr"/>
            <a:r>
              <a:rPr lang="zh-CN" altLang="en-US" sz="2800" dirty="0">
                <a:solidFill>
                  <a:schemeClr val="bg1"/>
                </a:solidFill>
                <a:latin typeface="幼圆" panose="02010509060101010101" pitchFamily="49" charset="-122"/>
                <a:ea typeface="幼圆" panose="02010509060101010101" pitchFamily="49" charset="-122"/>
              </a:rPr>
              <a:t>双向循环链表</a:t>
            </a:r>
            <a:endParaRPr lang="zh-CN" altLang="en-US" sz="2800" dirty="0">
              <a:solidFill>
                <a:schemeClr val="bg1"/>
              </a:solidFill>
              <a:latin typeface="幼圆" panose="02010509060101010101" pitchFamily="49" charset="-122"/>
              <a:ea typeface="幼圆" panose="02010509060101010101" pitchFamily="49" charset="-122"/>
            </a:endParaRPr>
          </a:p>
        </p:txBody>
      </p:sp>
      <p:sp>
        <p:nvSpPr>
          <p:cNvPr id="11" name="Rectangle 17"/>
          <p:cNvSpPr/>
          <p:nvPr/>
        </p:nvSpPr>
        <p:spPr bwMode="auto">
          <a:xfrm>
            <a:off x="6714831" y="4658241"/>
            <a:ext cx="2520280" cy="371568"/>
          </a:xfrm>
          <a:prstGeom prst="rect">
            <a:avLst/>
          </a:prstGeom>
          <a:solidFill>
            <a:schemeClr val="tx1">
              <a:lumMod val="65000"/>
              <a:lumOff val="35000"/>
            </a:schemeClr>
          </a:solidFill>
          <a:ln w="19050">
            <a:noFill/>
            <a:round/>
          </a:ln>
        </p:spPr>
        <p:txBody>
          <a:bodyPr rot="0" spcFirstLastPara="0" vert="horz" wrap="none" lIns="121920" tIns="60960" rIns="121920" bIns="60960" anchor="ctr" anchorCtr="1" forceAA="0" compatLnSpc="1">
            <a:normAutofit fontScale="60000" lnSpcReduction="20000"/>
          </a:bodyPr>
          <a:lstStyle/>
          <a:p>
            <a:pPr lvl="0" algn="ctr"/>
            <a:r>
              <a:rPr lang="zh-CN" altLang="en-US" sz="2800" dirty="0">
                <a:solidFill>
                  <a:schemeClr val="bg1"/>
                </a:solidFill>
                <a:latin typeface="幼圆" panose="02010509060101010101" pitchFamily="49" charset="-122"/>
                <a:ea typeface="幼圆" panose="02010509060101010101" pitchFamily="49" charset="-122"/>
                <a:sym typeface="Arial" panose="020B0604020202020204" pitchFamily="34" charset="0"/>
              </a:rPr>
              <a:t>交通</a:t>
            </a:r>
            <a:r>
              <a:rPr lang="zh-CN" altLang="en-US" sz="2800" dirty="0">
                <a:solidFill>
                  <a:schemeClr val="bg1"/>
                </a:solidFill>
                <a:latin typeface="幼圆" panose="02010509060101010101" pitchFamily="49" charset="-122"/>
                <a:ea typeface="幼圆" panose="02010509060101010101" pitchFamily="49" charset="-122"/>
                <a:sym typeface="Arial" panose="020B0604020202020204" pitchFamily="34" charset="0"/>
              </a:rPr>
              <a:t>咨询系统</a:t>
            </a:r>
            <a:endParaRPr lang="zh-CN" altLang="en-US" sz="2800" dirty="0">
              <a:solidFill>
                <a:schemeClr val="bg1"/>
              </a:solidFill>
              <a:latin typeface="幼圆" panose="02010509060101010101" pitchFamily="49" charset="-122"/>
              <a:ea typeface="幼圆" panose="02010509060101010101" pitchFamily="49" charset="-122"/>
              <a:sym typeface="Arial" panose="020B0604020202020204" pitchFamily="34" charset="0"/>
            </a:endParaRPr>
          </a:p>
        </p:txBody>
      </p:sp>
      <p:sp>
        <p:nvSpPr>
          <p:cNvPr id="14" name="TextBox 20"/>
          <p:cNvSpPr txBox="1"/>
          <p:nvPr/>
        </p:nvSpPr>
        <p:spPr bwMode="auto">
          <a:xfrm>
            <a:off x="3105150" y="2489835"/>
            <a:ext cx="2520315" cy="2630805"/>
          </a:xfrm>
          <a:prstGeom prst="rect">
            <a:avLst/>
          </a:prstGeom>
          <a:noFill/>
          <a:ln w="9525">
            <a:noFill/>
            <a:miter lim="800000"/>
          </a:ln>
        </p:spPr>
        <p:txBody>
          <a:bodyPr wrap="square" lIns="0" tIns="0" rIns="0" bIns="0" anchor="ctr" anchorCtr="1">
            <a:noAutofit/>
            <a:scene3d>
              <a:camera prst="orthographicFront"/>
              <a:lightRig rig="threePt" dir="t"/>
            </a:scene3d>
            <a:sp3d>
              <a:bevelT w="0" h="0"/>
            </a:sp3d>
          </a:bodyPr>
          <a:lstStyle/>
          <a:p>
            <a:pPr algn="ctr">
              <a:lnSpc>
                <a:spcPct val="120000"/>
              </a:lnSpc>
              <a:defRPr/>
            </a:pPr>
            <a:endParaRPr lang="zh-CN" altLang="en-US" sz="1300" dirty="0">
              <a:latin typeface="幼圆" panose="02010509060101010101" pitchFamily="49" charset="-122"/>
              <a:ea typeface="幼圆" panose="02010509060101010101" pitchFamily="49" charset="-122"/>
            </a:endParaRPr>
          </a:p>
          <a:p>
            <a:pPr algn="l">
              <a:lnSpc>
                <a:spcPct val="120000"/>
              </a:lnSpc>
              <a:defRPr/>
            </a:pPr>
            <a:r>
              <a:rPr lang="zh-CN" altLang="en-US" sz="1300" dirty="0">
                <a:latin typeface="幼圆" panose="02010509060101010101" pitchFamily="49" charset="-122"/>
                <a:ea typeface="幼圆" panose="02010509060101010101" pitchFamily="49" charset="-122"/>
              </a:rPr>
              <a:t>1.建立一个空表。</a:t>
            </a:r>
            <a:endParaRPr lang="zh-CN" altLang="en-US" sz="1300" dirty="0">
              <a:latin typeface="幼圆" panose="02010509060101010101" pitchFamily="49" charset="-122"/>
              <a:ea typeface="幼圆" panose="02010509060101010101" pitchFamily="49" charset="-122"/>
            </a:endParaRPr>
          </a:p>
          <a:p>
            <a:pPr algn="l">
              <a:lnSpc>
                <a:spcPct val="120000"/>
              </a:lnSpc>
              <a:defRPr/>
            </a:pPr>
            <a:r>
              <a:rPr lang="zh-CN" altLang="en-US" sz="1300" dirty="0">
                <a:latin typeface="幼圆" panose="02010509060101010101" pitchFamily="49" charset="-122"/>
                <a:ea typeface="幼圆" panose="02010509060101010101" pitchFamily="49" charset="-122"/>
              </a:rPr>
              <a:t>2.在第i个位置插入新的元素x。</a:t>
            </a:r>
            <a:endParaRPr lang="zh-CN" altLang="en-US" sz="1300" dirty="0">
              <a:latin typeface="幼圆" panose="02010509060101010101" pitchFamily="49" charset="-122"/>
              <a:ea typeface="幼圆" panose="02010509060101010101" pitchFamily="49" charset="-122"/>
            </a:endParaRPr>
          </a:p>
          <a:p>
            <a:pPr algn="l">
              <a:lnSpc>
                <a:spcPct val="120000"/>
              </a:lnSpc>
              <a:defRPr/>
            </a:pPr>
            <a:r>
              <a:rPr lang="zh-CN" altLang="en-US" sz="1300" dirty="0">
                <a:latin typeface="幼圆" panose="02010509060101010101" pitchFamily="49" charset="-122"/>
                <a:ea typeface="幼圆" panose="02010509060101010101" pitchFamily="49" charset="-122"/>
              </a:rPr>
              <a:t>3.删除第i个位置上的元素。</a:t>
            </a:r>
            <a:endParaRPr lang="zh-CN" altLang="en-US" sz="1300" dirty="0">
              <a:latin typeface="幼圆" panose="02010509060101010101" pitchFamily="49" charset="-122"/>
              <a:ea typeface="幼圆" panose="02010509060101010101" pitchFamily="49" charset="-122"/>
            </a:endParaRPr>
          </a:p>
          <a:p>
            <a:pPr algn="l">
              <a:lnSpc>
                <a:spcPct val="120000"/>
              </a:lnSpc>
              <a:defRPr/>
            </a:pPr>
            <a:r>
              <a:rPr lang="zh-CN" altLang="en-US" sz="1300" dirty="0">
                <a:latin typeface="幼圆" panose="02010509060101010101" pitchFamily="49" charset="-122"/>
                <a:ea typeface="幼圆" panose="02010509060101010101" pitchFamily="49" charset="-122"/>
              </a:rPr>
              <a:t>4.取第i个位置上的元素。</a:t>
            </a:r>
            <a:endParaRPr lang="zh-CN" altLang="en-US" sz="1300" dirty="0">
              <a:latin typeface="幼圆" panose="02010509060101010101" pitchFamily="49" charset="-122"/>
              <a:ea typeface="幼圆" panose="02010509060101010101" pitchFamily="49" charset="-122"/>
            </a:endParaRPr>
          </a:p>
          <a:p>
            <a:pPr algn="l">
              <a:lnSpc>
                <a:spcPct val="120000"/>
              </a:lnSpc>
              <a:defRPr/>
            </a:pPr>
            <a:r>
              <a:rPr lang="zh-CN" altLang="en-US" sz="1300" dirty="0">
                <a:latin typeface="幼圆" panose="02010509060101010101" pitchFamily="49" charset="-122"/>
                <a:ea typeface="幼圆" panose="02010509060101010101" pitchFamily="49" charset="-122"/>
              </a:rPr>
              <a:t>5.返回元素x第一次出现在双向循环链表中的位置号。</a:t>
            </a:r>
            <a:endParaRPr lang="zh-CN" altLang="en-US" sz="1300" dirty="0">
              <a:latin typeface="幼圆" panose="02010509060101010101" pitchFamily="49" charset="-122"/>
              <a:ea typeface="幼圆" panose="02010509060101010101" pitchFamily="49" charset="-122"/>
            </a:endParaRPr>
          </a:p>
          <a:p>
            <a:pPr algn="l">
              <a:lnSpc>
                <a:spcPct val="120000"/>
              </a:lnSpc>
              <a:defRPr/>
            </a:pPr>
            <a:r>
              <a:rPr lang="zh-CN" altLang="en-US" sz="1300" dirty="0">
                <a:latin typeface="幼圆" panose="02010509060101010101" pitchFamily="49" charset="-122"/>
                <a:ea typeface="幼圆" panose="02010509060101010101" pitchFamily="49" charset="-122"/>
              </a:rPr>
              <a:t>6.求双向循环链表的长度，即元素个数。</a:t>
            </a:r>
            <a:endParaRPr lang="zh-CN" altLang="en-US" sz="1300" dirty="0">
              <a:latin typeface="幼圆" panose="02010509060101010101" pitchFamily="49" charset="-122"/>
              <a:ea typeface="幼圆" panose="02010509060101010101" pitchFamily="49" charset="-122"/>
            </a:endParaRPr>
          </a:p>
          <a:p>
            <a:pPr algn="l">
              <a:lnSpc>
                <a:spcPct val="120000"/>
              </a:lnSpc>
              <a:defRPr/>
            </a:pPr>
            <a:r>
              <a:rPr lang="zh-CN" altLang="en-US" sz="1300" dirty="0">
                <a:latin typeface="幼圆" panose="02010509060101010101" pitchFamily="49" charset="-122"/>
                <a:ea typeface="幼圆" panose="02010509060101010101" pitchFamily="49" charset="-122"/>
              </a:rPr>
              <a:t>7.输出双向循环链表中所有的元</a:t>
            </a:r>
            <a:r>
              <a:rPr lang="zh-CN" altLang="en-US" sz="1300" dirty="0">
                <a:latin typeface="幼圆" panose="02010509060101010101" pitchFamily="49" charset="-122"/>
                <a:ea typeface="幼圆" panose="02010509060101010101" pitchFamily="49" charset="-122"/>
              </a:rPr>
              <a:t>素值。</a:t>
            </a:r>
            <a:endParaRPr lang="zh-CN" altLang="en-US" sz="1300" dirty="0">
              <a:latin typeface="幼圆" panose="02010509060101010101" pitchFamily="49" charset="-122"/>
              <a:ea typeface="幼圆" panose="02010509060101010101" pitchFamily="49" charset="-122"/>
            </a:endParaRPr>
          </a:p>
          <a:p>
            <a:pPr algn="l">
              <a:lnSpc>
                <a:spcPct val="120000"/>
              </a:lnSpc>
              <a:defRPr/>
            </a:pPr>
            <a:r>
              <a:rPr lang="zh-CN" altLang="en-US" sz="1300" dirty="0">
                <a:latin typeface="幼圆" panose="02010509060101010101" pitchFamily="49" charset="-122"/>
                <a:ea typeface="幼圆" panose="02010509060101010101" pitchFamily="49" charset="-122"/>
              </a:rPr>
              <a:t>8.实现双向循环链表的就地逆置。</a:t>
            </a:r>
            <a:endParaRPr lang="zh-CN" altLang="en-US" sz="1300" dirty="0">
              <a:latin typeface="幼圆" panose="02010509060101010101" pitchFamily="49" charset="-122"/>
              <a:ea typeface="幼圆" panose="02010509060101010101" pitchFamily="49" charset="-122"/>
            </a:endParaRPr>
          </a:p>
        </p:txBody>
      </p:sp>
      <p:sp>
        <p:nvSpPr>
          <p:cNvPr id="18" name="TextBox 24"/>
          <p:cNvSpPr txBox="1"/>
          <p:nvPr/>
        </p:nvSpPr>
        <p:spPr bwMode="auto">
          <a:xfrm>
            <a:off x="6477635" y="2531745"/>
            <a:ext cx="2757170" cy="1522095"/>
          </a:xfrm>
          <a:prstGeom prst="rect">
            <a:avLst/>
          </a:prstGeom>
          <a:noFill/>
          <a:ln w="9525">
            <a:noFill/>
            <a:miter lim="800000"/>
          </a:ln>
        </p:spPr>
        <p:txBody>
          <a:bodyPr wrap="square" lIns="0" tIns="0" rIns="0" bIns="0" anchor="ctr" anchorCtr="1">
            <a:noAutofit/>
            <a:scene3d>
              <a:camera prst="orthographicFront"/>
              <a:lightRig rig="threePt" dir="t"/>
            </a:scene3d>
            <a:sp3d>
              <a:bevelT w="0" h="0"/>
            </a:sp3d>
          </a:bodyPr>
          <a:lstStyle/>
          <a:p>
            <a:pPr algn="l">
              <a:lnSpc>
                <a:spcPct val="120000"/>
              </a:lnSpc>
              <a:defRPr/>
            </a:pPr>
            <a:r>
              <a:rPr lang="en-US" altLang="zh-CN" sz="1400">
                <a:latin typeface="幼圆" panose="02010509060101010101" pitchFamily="49" charset="-122"/>
                <a:ea typeface="幼圆" panose="02010509060101010101" pitchFamily="49" charset="-122"/>
              </a:rPr>
              <a:t>     </a:t>
            </a:r>
            <a:r>
              <a:rPr lang="zh-CN" altLang="en-US" sz="1400">
                <a:latin typeface="幼圆" panose="02010509060101010101" pitchFamily="49" charset="-122"/>
                <a:ea typeface="幼圆" panose="02010509060101010101" pitchFamily="49" charset="-122"/>
              </a:rPr>
              <a:t>设计一个交通咨询系统，能让旅客咨询从任一个城市到另一城市之间的最短路径或最低花费或最少时间等问题。对于不同咨询要求，可输入城市间的路程或所需费用或所需时间。</a:t>
            </a:r>
            <a:endParaRPr lang="zh-CN" altLang="en-US" sz="1400">
              <a:latin typeface="幼圆" panose="02010509060101010101" pitchFamily="49" charset="-122"/>
              <a:ea typeface="幼圆" panose="02010509060101010101" pitchFamily="49" charset="-122"/>
            </a:endParaRPr>
          </a:p>
        </p:txBody>
      </p:sp>
      <p:sp>
        <p:nvSpPr>
          <p:cNvPr id="5" name="Rectangle 6"/>
          <p:cNvSpPr/>
          <p:nvPr/>
        </p:nvSpPr>
        <p:spPr>
          <a:xfrm>
            <a:off x="822325" y="650240"/>
            <a:ext cx="2923540" cy="798195"/>
          </a:xfrm>
          <a:prstGeom prst="rect">
            <a:avLst/>
          </a:prstGeom>
        </p:spPr>
        <p:txBody>
          <a:bodyPr wrap="none">
            <a:noAutofit/>
          </a:bodyPr>
          <a:lstStyle/>
          <a:p>
            <a:pPr algn="dist"/>
            <a:r>
              <a:rPr lang="en-US" altLang="zh-CN" sz="4700" b="1" spc="400" dirty="0">
                <a:solidFill>
                  <a:srgbClr val="1C1C73"/>
                </a:solidFill>
                <a:latin typeface="幼圆" panose="02010509060101010101" pitchFamily="49" charset="-122"/>
                <a:ea typeface="幼圆" panose="02010509060101010101" pitchFamily="49" charset="-122"/>
              </a:rPr>
              <a:t>Task</a:t>
            </a:r>
            <a:endParaRPr lang="en-US" altLang="zh-CN" sz="4700" b="1" spc="400" dirty="0">
              <a:solidFill>
                <a:srgbClr val="1C1C73"/>
              </a:solidFill>
              <a:latin typeface="幼圆" panose="02010509060101010101" pitchFamily="49" charset="-122"/>
              <a:ea typeface="幼圆" panose="02010509060101010101" pitchFamily="49" charset="-122"/>
            </a:endParaRPr>
          </a:p>
        </p:txBody>
      </p:sp>
      <p:cxnSp>
        <p:nvCxnSpPr>
          <p:cNvPr id="23" name="直接连接符 22"/>
          <p:cNvCxnSpPr/>
          <p:nvPr/>
        </p:nvCxnSpPr>
        <p:spPr>
          <a:xfrm>
            <a:off x="4792133" y="1049867"/>
            <a:ext cx="65362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1328400" y="1066800"/>
            <a:ext cx="0" cy="473846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822621" y="5805264"/>
            <a:ext cx="1050577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822620" y="3217334"/>
            <a:ext cx="0" cy="258793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900" decel="100000" fill="hold"/>
                                        <p:tgtEl>
                                          <p:spTgt spid="21"/>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par>
                                <p:cTn id="11" presetID="31" presetClass="entr" presetSubtype="0" fill="hold" grpId="1" nodeType="with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1000" fill="hold"/>
                                        <p:tgtEl>
                                          <p:spTgt spid="21"/>
                                        </p:tgtEl>
                                        <p:attrNameLst>
                                          <p:attrName>ppt_w</p:attrName>
                                        </p:attrNameLst>
                                      </p:cBhvr>
                                      <p:tavLst>
                                        <p:tav tm="0">
                                          <p:val>
                                            <p:fltVal val="0"/>
                                          </p:val>
                                        </p:tav>
                                        <p:tav tm="100000">
                                          <p:val>
                                            <p:strVal val="#ppt_w"/>
                                          </p:val>
                                        </p:tav>
                                      </p:tavLst>
                                    </p:anim>
                                    <p:anim calcmode="lin" valueType="num">
                                      <p:cBhvr>
                                        <p:cTn id="14" dur="1000" fill="hold"/>
                                        <p:tgtEl>
                                          <p:spTgt spid="21"/>
                                        </p:tgtEl>
                                        <p:attrNameLst>
                                          <p:attrName>ppt_h</p:attrName>
                                        </p:attrNameLst>
                                      </p:cBhvr>
                                      <p:tavLst>
                                        <p:tav tm="0">
                                          <p:val>
                                            <p:fltVal val="0"/>
                                          </p:val>
                                        </p:tav>
                                        <p:tav tm="100000">
                                          <p:val>
                                            <p:strVal val="#ppt_h"/>
                                          </p:val>
                                        </p:tav>
                                      </p:tavLst>
                                    </p:anim>
                                    <p:anim calcmode="lin" valueType="num">
                                      <p:cBhvr>
                                        <p:cTn id="15" dur="1000" fill="hold"/>
                                        <p:tgtEl>
                                          <p:spTgt spid="21"/>
                                        </p:tgtEl>
                                        <p:attrNameLst>
                                          <p:attrName>style.rotation</p:attrName>
                                        </p:attrNameLst>
                                      </p:cBhvr>
                                      <p:tavLst>
                                        <p:tav tm="0">
                                          <p:val>
                                            <p:fltVal val="90"/>
                                          </p:val>
                                        </p:tav>
                                        <p:tav tm="100000">
                                          <p:val>
                                            <p:fltVal val="0"/>
                                          </p:val>
                                        </p:tav>
                                      </p:tavLst>
                                    </p:anim>
                                    <p:animEffect transition="in" filter="fade">
                                      <p:cBhvr>
                                        <p:cTn id="16" dur="1000"/>
                                        <p:tgtEl>
                                          <p:spTgt spid="21"/>
                                        </p:tgtEl>
                                      </p:cBhvr>
                                    </p:animEffect>
                                  </p:childTnLst>
                                </p:cTn>
                              </p:par>
                              <p:par>
                                <p:cTn id="17" presetID="41" presetClass="entr" presetSubtype="0" fill="hold" grpId="0" nodeType="withEffect">
                                  <p:stCondLst>
                                    <p:cond delay="0"/>
                                  </p:stCondLst>
                                  <p:iterate type="lt">
                                    <p:tmPct val="10000"/>
                                  </p:iterate>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5"/>
                                        </p:tgtEl>
                                        <p:attrNameLst>
                                          <p:attrName>ppt_y</p:attrName>
                                        </p:attrNameLst>
                                      </p:cBhvr>
                                      <p:tavLst>
                                        <p:tav tm="0">
                                          <p:val>
                                            <p:strVal val="#ppt_y"/>
                                          </p:val>
                                        </p:tav>
                                        <p:tav tm="100000">
                                          <p:val>
                                            <p:strVal val="#ppt_y"/>
                                          </p:val>
                                        </p:tav>
                                      </p:tavLst>
                                    </p:anim>
                                    <p:anim calcmode="lin" valueType="num">
                                      <p:cBhvr>
                                        <p:cTn id="21"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5"/>
                                        </p:tgtEl>
                                      </p:cBhvr>
                                    </p:animEffect>
                                  </p:childTnLst>
                                </p:cTn>
                              </p:par>
                            </p:childTnLst>
                          </p:cTn>
                        </p:par>
                        <p:par>
                          <p:cTn id="24" fill="hold">
                            <p:stCondLst>
                              <p:cond delay="0"/>
                            </p:stCondLst>
                            <p:childTnLst>
                              <p:par>
                                <p:cTn id="25" presetID="22" presetClass="entr" presetSubtype="8"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250"/>
                                        <p:tgtEl>
                                          <p:spTgt spid="23"/>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up)">
                                      <p:cBhvr>
                                        <p:cTn id="31" dur="250"/>
                                        <p:tgtEl>
                                          <p:spTgt spid="25"/>
                                        </p:tgtEl>
                                      </p:cBhvr>
                                    </p:animEffect>
                                  </p:childTnLst>
                                </p:cTn>
                              </p:par>
                            </p:childTnLst>
                          </p:cTn>
                        </p:par>
                        <p:par>
                          <p:cTn id="32" fill="hold">
                            <p:stCondLst>
                              <p:cond delay="1000"/>
                            </p:stCondLst>
                            <p:childTnLst>
                              <p:par>
                                <p:cTn id="33" presetID="22" presetClass="entr" presetSubtype="2" fill="hold"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right)">
                                      <p:cBhvr>
                                        <p:cTn id="35" dur="250"/>
                                        <p:tgtEl>
                                          <p:spTgt spid="27"/>
                                        </p:tgtEl>
                                      </p:cBhvr>
                                    </p:animEffect>
                                  </p:childTnLst>
                                </p:cTn>
                              </p:par>
                            </p:childTnLst>
                          </p:cTn>
                        </p:par>
                        <p:par>
                          <p:cTn id="36" fill="hold">
                            <p:stCondLst>
                              <p:cond delay="1500"/>
                            </p:stCondLst>
                            <p:childTnLst>
                              <p:par>
                                <p:cTn id="37" presetID="22" presetClass="entr" presetSubtype="4" fill="hold"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down)">
                                      <p:cBhvr>
                                        <p:cTn id="39" dur="250"/>
                                        <p:tgtEl>
                                          <p:spTgt spid="29"/>
                                        </p:tgtEl>
                                      </p:cBhvr>
                                    </p:animEffect>
                                  </p:childTnLst>
                                </p:cTn>
                              </p:par>
                            </p:childTnLst>
                          </p:cTn>
                        </p:par>
                        <p:par>
                          <p:cTn id="40" fill="hold">
                            <p:stCondLst>
                              <p:cond delay="2000"/>
                            </p:stCondLst>
                            <p:childTnLst>
                              <p:par>
                                <p:cTn id="41" presetID="49" presetClass="entr" presetSubtype="0" decel="100000"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500" fill="hold"/>
                                        <p:tgtEl>
                                          <p:spTgt spid="7"/>
                                        </p:tgtEl>
                                        <p:attrNameLst>
                                          <p:attrName>ppt_w</p:attrName>
                                        </p:attrNameLst>
                                      </p:cBhvr>
                                      <p:tavLst>
                                        <p:tav tm="0">
                                          <p:val>
                                            <p:fltVal val="0"/>
                                          </p:val>
                                        </p:tav>
                                        <p:tav tm="100000">
                                          <p:val>
                                            <p:strVal val="#ppt_w"/>
                                          </p:val>
                                        </p:tav>
                                      </p:tavLst>
                                    </p:anim>
                                    <p:anim calcmode="lin" valueType="num">
                                      <p:cBhvr>
                                        <p:cTn id="44" dur="500" fill="hold"/>
                                        <p:tgtEl>
                                          <p:spTgt spid="7"/>
                                        </p:tgtEl>
                                        <p:attrNameLst>
                                          <p:attrName>ppt_h</p:attrName>
                                        </p:attrNameLst>
                                      </p:cBhvr>
                                      <p:tavLst>
                                        <p:tav tm="0">
                                          <p:val>
                                            <p:fltVal val="0"/>
                                          </p:val>
                                        </p:tav>
                                        <p:tav tm="100000">
                                          <p:val>
                                            <p:strVal val="#ppt_h"/>
                                          </p:val>
                                        </p:tav>
                                      </p:tavLst>
                                    </p:anim>
                                    <p:anim calcmode="lin" valueType="num">
                                      <p:cBhvr>
                                        <p:cTn id="45" dur="500" fill="hold"/>
                                        <p:tgtEl>
                                          <p:spTgt spid="7"/>
                                        </p:tgtEl>
                                        <p:attrNameLst>
                                          <p:attrName>style.rotation</p:attrName>
                                        </p:attrNameLst>
                                      </p:cBhvr>
                                      <p:tavLst>
                                        <p:tav tm="0">
                                          <p:val>
                                            <p:fltVal val="360"/>
                                          </p:val>
                                        </p:tav>
                                        <p:tav tm="100000">
                                          <p:val>
                                            <p:fltVal val="0"/>
                                          </p:val>
                                        </p:tav>
                                      </p:tavLst>
                                    </p:anim>
                                    <p:animEffect transition="in" filter="fade">
                                      <p:cBhvr>
                                        <p:cTn id="46" dur="500"/>
                                        <p:tgtEl>
                                          <p:spTgt spid="7"/>
                                        </p:tgtEl>
                                      </p:cBhvr>
                                    </p:animEffect>
                                  </p:childTnLst>
                                </p:cTn>
                              </p:par>
                            </p:childTnLst>
                          </p:cTn>
                        </p:par>
                        <p:par>
                          <p:cTn id="47" fill="hold">
                            <p:stCondLst>
                              <p:cond delay="2500"/>
                            </p:stCondLst>
                            <p:childTnLst>
                              <p:par>
                                <p:cTn id="48" presetID="22" presetClass="entr" presetSubtype="2" fill="hold" grpId="0" nodeType="after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right)">
                                      <p:cBhvr>
                                        <p:cTn id="50" dur="500"/>
                                        <p:tgtEl>
                                          <p:spTgt spid="8"/>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left)">
                                      <p:cBhvr>
                                        <p:cTn id="53" dur="500"/>
                                        <p:tgtEl>
                                          <p:spTgt spid="11"/>
                                        </p:tgtEl>
                                      </p:cBhvr>
                                    </p:animEffect>
                                  </p:childTnLst>
                                </p:cTn>
                              </p:par>
                            </p:childTnLst>
                          </p:cTn>
                        </p:par>
                        <p:par>
                          <p:cTn id="54" fill="hold">
                            <p:stCondLst>
                              <p:cond delay="3000"/>
                            </p:stCondLst>
                            <p:childTnLst>
                              <p:par>
                                <p:cTn id="55" presetID="47" presetClass="entr" presetSubtype="0" fill="hold" grpId="0"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anim calcmode="lin" valueType="num">
                                      <p:cBhvr>
                                        <p:cTn id="63" dur="500" fill="hold"/>
                                        <p:tgtEl>
                                          <p:spTgt spid="18"/>
                                        </p:tgtEl>
                                        <p:attrNameLst>
                                          <p:attrName>ppt_x</p:attrName>
                                        </p:attrNameLst>
                                      </p:cBhvr>
                                      <p:tavLst>
                                        <p:tav tm="0">
                                          <p:val>
                                            <p:strVal val="#ppt_x"/>
                                          </p:val>
                                        </p:tav>
                                        <p:tav tm="100000">
                                          <p:val>
                                            <p:strVal val="#ppt_x"/>
                                          </p:val>
                                        </p:tav>
                                      </p:tavLst>
                                    </p:anim>
                                    <p:anim calcmode="lin" valueType="num">
                                      <p:cBhvr>
                                        <p:cTn id="64"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8" grpId="0" bldLvl="0" animBg="1"/>
      <p:bldP spid="11" grpId="0" bldLvl="0" animBg="1"/>
      <p:bldP spid="14" grpId="0"/>
      <p:bldP spid="18"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2566026" y="2527753"/>
            <a:ext cx="1144701" cy="1380275"/>
            <a:chOff x="1630673" y="1381941"/>
            <a:chExt cx="858526" cy="1035206"/>
          </a:xfrm>
        </p:grpSpPr>
        <p:grpSp>
          <p:nvGrpSpPr>
            <p:cNvPr id="30" name="组合 41"/>
            <p:cNvGrpSpPr/>
            <p:nvPr/>
          </p:nvGrpSpPr>
          <p:grpSpPr bwMode="auto">
            <a:xfrm flipH="1">
              <a:off x="1630673" y="1381941"/>
              <a:ext cx="858526" cy="1035206"/>
              <a:chOff x="2433484" y="1400177"/>
              <a:chExt cx="3510116" cy="4395940"/>
            </a:xfrm>
          </p:grpSpPr>
          <p:sp>
            <p:nvSpPr>
              <p:cNvPr id="31" name="任意多边形 42"/>
              <p:cNvSpPr/>
              <p:nvPr/>
            </p:nvSpPr>
            <p:spPr>
              <a:xfrm rot="5124146">
                <a:off x="4131026" y="1764713"/>
                <a:ext cx="635433" cy="958096"/>
              </a:xfrm>
              <a:custGeom>
                <a:avLst/>
                <a:gdLst>
                  <a:gd name="connsiteX0" fmla="*/ 486697 w 486697"/>
                  <a:gd name="connsiteY0" fmla="*/ 796413 h 796413"/>
                  <a:gd name="connsiteX1" fmla="*/ 442452 w 486697"/>
                  <a:gd name="connsiteY1" fmla="*/ 634181 h 796413"/>
                  <a:gd name="connsiteX2" fmla="*/ 427704 w 486697"/>
                  <a:gd name="connsiteY2" fmla="*/ 162233 h 796413"/>
                  <a:gd name="connsiteX3" fmla="*/ 0 w 486697"/>
                  <a:gd name="connsiteY3" fmla="*/ 0 h 796413"/>
                  <a:gd name="connsiteX4" fmla="*/ 73742 w 486697"/>
                  <a:gd name="connsiteY4" fmla="*/ 589936 h 796413"/>
                  <a:gd name="connsiteX5" fmla="*/ 442452 w 486697"/>
                  <a:gd name="connsiteY5" fmla="*/ 663678 h 796413"/>
                  <a:gd name="connsiteX6" fmla="*/ 486697 w 486697"/>
                  <a:gd name="connsiteY6" fmla="*/ 796413 h 796413"/>
                  <a:gd name="connsiteX0-1" fmla="*/ 486697 w 486697"/>
                  <a:gd name="connsiteY0-2" fmla="*/ 817061 h 817061"/>
                  <a:gd name="connsiteX1-3" fmla="*/ 442452 w 486697"/>
                  <a:gd name="connsiteY1-4" fmla="*/ 654829 h 817061"/>
                  <a:gd name="connsiteX2-5" fmla="*/ 427704 w 486697"/>
                  <a:gd name="connsiteY2-6" fmla="*/ 182881 h 817061"/>
                  <a:gd name="connsiteX3-7" fmla="*/ 0 w 486697"/>
                  <a:gd name="connsiteY3-8" fmla="*/ 20648 h 817061"/>
                  <a:gd name="connsiteX4-9" fmla="*/ 73742 w 486697"/>
                  <a:gd name="connsiteY4-10" fmla="*/ 610584 h 817061"/>
                  <a:gd name="connsiteX5-11" fmla="*/ 442452 w 486697"/>
                  <a:gd name="connsiteY5-12" fmla="*/ 684326 h 817061"/>
                  <a:gd name="connsiteX6-13" fmla="*/ 486697 w 486697"/>
                  <a:gd name="connsiteY6-14" fmla="*/ 817061 h 817061"/>
                  <a:gd name="connsiteX0-15" fmla="*/ 486697 w 486697"/>
                  <a:gd name="connsiteY0-16" fmla="*/ 858184 h 858184"/>
                  <a:gd name="connsiteX1-17" fmla="*/ 442452 w 486697"/>
                  <a:gd name="connsiteY1-18" fmla="*/ 695952 h 858184"/>
                  <a:gd name="connsiteX2-19" fmla="*/ 427704 w 486697"/>
                  <a:gd name="connsiteY2-20" fmla="*/ 224004 h 858184"/>
                  <a:gd name="connsiteX3-21" fmla="*/ 76156 w 486697"/>
                  <a:gd name="connsiteY3-22" fmla="*/ 35385 h 858184"/>
                  <a:gd name="connsiteX4-23" fmla="*/ 0 w 486697"/>
                  <a:gd name="connsiteY4-24" fmla="*/ 61771 h 858184"/>
                  <a:gd name="connsiteX5-25" fmla="*/ 73742 w 486697"/>
                  <a:gd name="connsiteY5-26" fmla="*/ 651707 h 858184"/>
                  <a:gd name="connsiteX6-27" fmla="*/ 442452 w 486697"/>
                  <a:gd name="connsiteY6-28" fmla="*/ 725449 h 858184"/>
                  <a:gd name="connsiteX7" fmla="*/ 486697 w 486697"/>
                  <a:gd name="connsiteY7" fmla="*/ 858184 h 858184"/>
                  <a:gd name="connsiteX0-29" fmla="*/ 486697 w 486697"/>
                  <a:gd name="connsiteY0-30" fmla="*/ 858184 h 858184"/>
                  <a:gd name="connsiteX1-31" fmla="*/ 442452 w 486697"/>
                  <a:gd name="connsiteY1-32" fmla="*/ 695952 h 858184"/>
                  <a:gd name="connsiteX2-33" fmla="*/ 427704 w 486697"/>
                  <a:gd name="connsiteY2-34" fmla="*/ 224004 h 858184"/>
                  <a:gd name="connsiteX3-35" fmla="*/ 76156 w 486697"/>
                  <a:gd name="connsiteY3-36" fmla="*/ 35385 h 858184"/>
                  <a:gd name="connsiteX4-37" fmla="*/ 0 w 486697"/>
                  <a:gd name="connsiteY4-38" fmla="*/ 61771 h 858184"/>
                  <a:gd name="connsiteX5-39" fmla="*/ 73742 w 486697"/>
                  <a:gd name="connsiteY5-40" fmla="*/ 651707 h 858184"/>
                  <a:gd name="connsiteX6-41" fmla="*/ 442452 w 486697"/>
                  <a:gd name="connsiteY6-42" fmla="*/ 725449 h 858184"/>
                  <a:gd name="connsiteX7-43" fmla="*/ 486697 w 486697"/>
                  <a:gd name="connsiteY7-44" fmla="*/ 858184 h 858184"/>
                  <a:gd name="connsiteX0-45" fmla="*/ 486697 w 486697"/>
                  <a:gd name="connsiteY0-46" fmla="*/ 858184 h 858184"/>
                  <a:gd name="connsiteX1-47" fmla="*/ 442452 w 486697"/>
                  <a:gd name="connsiteY1-48" fmla="*/ 695952 h 858184"/>
                  <a:gd name="connsiteX2-49" fmla="*/ 427704 w 486697"/>
                  <a:gd name="connsiteY2-50" fmla="*/ 224004 h 858184"/>
                  <a:gd name="connsiteX3-51" fmla="*/ 76156 w 486697"/>
                  <a:gd name="connsiteY3-52" fmla="*/ 35385 h 858184"/>
                  <a:gd name="connsiteX4-53" fmla="*/ 0 w 486697"/>
                  <a:gd name="connsiteY4-54" fmla="*/ 61771 h 858184"/>
                  <a:gd name="connsiteX5-55" fmla="*/ 73742 w 486697"/>
                  <a:gd name="connsiteY5-56" fmla="*/ 651707 h 858184"/>
                  <a:gd name="connsiteX6-57" fmla="*/ 442452 w 486697"/>
                  <a:gd name="connsiteY6-58" fmla="*/ 725449 h 858184"/>
                  <a:gd name="connsiteX7-59" fmla="*/ 486697 w 486697"/>
                  <a:gd name="connsiteY7-60" fmla="*/ 858184 h 8581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43" y="connsiteY7-44"/>
                  </a:cxn>
                </a:cxnLst>
                <a:rect l="l" t="t" r="r" b="b"/>
                <a:pathLst>
                  <a:path w="486697" h="858184">
                    <a:moveTo>
                      <a:pt x="486697" y="858184"/>
                    </a:moveTo>
                    <a:lnTo>
                      <a:pt x="442452" y="695952"/>
                    </a:lnTo>
                    <a:cubicBezTo>
                      <a:pt x="432620" y="590255"/>
                      <a:pt x="488753" y="334098"/>
                      <a:pt x="427704" y="224004"/>
                    </a:cubicBezTo>
                    <a:cubicBezTo>
                      <a:pt x="366655" y="113910"/>
                      <a:pt x="147440" y="62424"/>
                      <a:pt x="76156" y="35385"/>
                    </a:cubicBezTo>
                    <a:cubicBezTo>
                      <a:pt x="4872" y="8346"/>
                      <a:pt x="6498" y="-39841"/>
                      <a:pt x="0" y="61771"/>
                    </a:cubicBezTo>
                    <a:cubicBezTo>
                      <a:pt x="24581" y="258416"/>
                      <a:pt x="-33966" y="551489"/>
                      <a:pt x="73742" y="651707"/>
                    </a:cubicBezTo>
                    <a:cubicBezTo>
                      <a:pt x="181450" y="751925"/>
                      <a:pt x="373626" y="691036"/>
                      <a:pt x="442452" y="725449"/>
                    </a:cubicBezTo>
                    <a:lnTo>
                      <a:pt x="486697" y="858184"/>
                    </a:lnTo>
                    <a:close/>
                  </a:path>
                </a:pathLst>
              </a:custGeom>
              <a:solidFill>
                <a:srgbClr val="1C1C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任意多边形 43"/>
              <p:cNvSpPr/>
              <p:nvPr/>
            </p:nvSpPr>
            <p:spPr>
              <a:xfrm rot="20871133">
                <a:off x="3296615" y="1400177"/>
                <a:ext cx="715690" cy="1258861"/>
              </a:xfrm>
              <a:custGeom>
                <a:avLst/>
                <a:gdLst>
                  <a:gd name="connsiteX0" fmla="*/ 486697 w 486697"/>
                  <a:gd name="connsiteY0" fmla="*/ 796413 h 796413"/>
                  <a:gd name="connsiteX1" fmla="*/ 442452 w 486697"/>
                  <a:gd name="connsiteY1" fmla="*/ 634181 h 796413"/>
                  <a:gd name="connsiteX2" fmla="*/ 427704 w 486697"/>
                  <a:gd name="connsiteY2" fmla="*/ 162233 h 796413"/>
                  <a:gd name="connsiteX3" fmla="*/ 0 w 486697"/>
                  <a:gd name="connsiteY3" fmla="*/ 0 h 796413"/>
                  <a:gd name="connsiteX4" fmla="*/ 73742 w 486697"/>
                  <a:gd name="connsiteY4" fmla="*/ 589936 h 796413"/>
                  <a:gd name="connsiteX5" fmla="*/ 442452 w 486697"/>
                  <a:gd name="connsiteY5" fmla="*/ 663678 h 796413"/>
                  <a:gd name="connsiteX6" fmla="*/ 486697 w 486697"/>
                  <a:gd name="connsiteY6" fmla="*/ 796413 h 796413"/>
                  <a:gd name="connsiteX0-1" fmla="*/ 486697 w 486697"/>
                  <a:gd name="connsiteY0-2" fmla="*/ 817061 h 817061"/>
                  <a:gd name="connsiteX1-3" fmla="*/ 442452 w 486697"/>
                  <a:gd name="connsiteY1-4" fmla="*/ 654829 h 817061"/>
                  <a:gd name="connsiteX2-5" fmla="*/ 427704 w 486697"/>
                  <a:gd name="connsiteY2-6" fmla="*/ 182881 h 817061"/>
                  <a:gd name="connsiteX3-7" fmla="*/ 0 w 486697"/>
                  <a:gd name="connsiteY3-8" fmla="*/ 20648 h 817061"/>
                  <a:gd name="connsiteX4-9" fmla="*/ 73742 w 486697"/>
                  <a:gd name="connsiteY4-10" fmla="*/ 610584 h 817061"/>
                  <a:gd name="connsiteX5-11" fmla="*/ 442452 w 486697"/>
                  <a:gd name="connsiteY5-12" fmla="*/ 684326 h 817061"/>
                  <a:gd name="connsiteX6-13" fmla="*/ 486697 w 486697"/>
                  <a:gd name="connsiteY6-14" fmla="*/ 817061 h 817061"/>
                  <a:gd name="connsiteX0-15" fmla="*/ 486697 w 486697"/>
                  <a:gd name="connsiteY0-16" fmla="*/ 858184 h 858184"/>
                  <a:gd name="connsiteX1-17" fmla="*/ 442452 w 486697"/>
                  <a:gd name="connsiteY1-18" fmla="*/ 695952 h 858184"/>
                  <a:gd name="connsiteX2-19" fmla="*/ 427704 w 486697"/>
                  <a:gd name="connsiteY2-20" fmla="*/ 224004 h 858184"/>
                  <a:gd name="connsiteX3-21" fmla="*/ 76156 w 486697"/>
                  <a:gd name="connsiteY3-22" fmla="*/ 35385 h 858184"/>
                  <a:gd name="connsiteX4-23" fmla="*/ 0 w 486697"/>
                  <a:gd name="connsiteY4-24" fmla="*/ 61771 h 858184"/>
                  <a:gd name="connsiteX5-25" fmla="*/ 73742 w 486697"/>
                  <a:gd name="connsiteY5-26" fmla="*/ 651707 h 858184"/>
                  <a:gd name="connsiteX6-27" fmla="*/ 442452 w 486697"/>
                  <a:gd name="connsiteY6-28" fmla="*/ 725449 h 858184"/>
                  <a:gd name="connsiteX7" fmla="*/ 486697 w 486697"/>
                  <a:gd name="connsiteY7" fmla="*/ 858184 h 858184"/>
                  <a:gd name="connsiteX0-29" fmla="*/ 486697 w 486697"/>
                  <a:gd name="connsiteY0-30" fmla="*/ 858184 h 858184"/>
                  <a:gd name="connsiteX1-31" fmla="*/ 442452 w 486697"/>
                  <a:gd name="connsiteY1-32" fmla="*/ 695952 h 858184"/>
                  <a:gd name="connsiteX2-33" fmla="*/ 427704 w 486697"/>
                  <a:gd name="connsiteY2-34" fmla="*/ 224004 h 858184"/>
                  <a:gd name="connsiteX3-35" fmla="*/ 76156 w 486697"/>
                  <a:gd name="connsiteY3-36" fmla="*/ 35385 h 858184"/>
                  <a:gd name="connsiteX4-37" fmla="*/ 0 w 486697"/>
                  <a:gd name="connsiteY4-38" fmla="*/ 61771 h 858184"/>
                  <a:gd name="connsiteX5-39" fmla="*/ 73742 w 486697"/>
                  <a:gd name="connsiteY5-40" fmla="*/ 651707 h 858184"/>
                  <a:gd name="connsiteX6-41" fmla="*/ 442452 w 486697"/>
                  <a:gd name="connsiteY6-42" fmla="*/ 725449 h 858184"/>
                  <a:gd name="connsiteX7-43" fmla="*/ 486697 w 486697"/>
                  <a:gd name="connsiteY7-44" fmla="*/ 858184 h 858184"/>
                  <a:gd name="connsiteX0-45" fmla="*/ 486697 w 486697"/>
                  <a:gd name="connsiteY0-46" fmla="*/ 858184 h 858184"/>
                  <a:gd name="connsiteX1-47" fmla="*/ 442452 w 486697"/>
                  <a:gd name="connsiteY1-48" fmla="*/ 695952 h 858184"/>
                  <a:gd name="connsiteX2-49" fmla="*/ 427704 w 486697"/>
                  <a:gd name="connsiteY2-50" fmla="*/ 224004 h 858184"/>
                  <a:gd name="connsiteX3-51" fmla="*/ 76156 w 486697"/>
                  <a:gd name="connsiteY3-52" fmla="*/ 35385 h 858184"/>
                  <a:gd name="connsiteX4-53" fmla="*/ 0 w 486697"/>
                  <a:gd name="connsiteY4-54" fmla="*/ 61771 h 858184"/>
                  <a:gd name="connsiteX5-55" fmla="*/ 73742 w 486697"/>
                  <a:gd name="connsiteY5-56" fmla="*/ 651707 h 858184"/>
                  <a:gd name="connsiteX6-57" fmla="*/ 442452 w 486697"/>
                  <a:gd name="connsiteY6-58" fmla="*/ 725449 h 858184"/>
                  <a:gd name="connsiteX7-59" fmla="*/ 486697 w 486697"/>
                  <a:gd name="connsiteY7-60" fmla="*/ 858184 h 8581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43" y="connsiteY7-44"/>
                  </a:cxn>
                </a:cxnLst>
                <a:rect l="l" t="t" r="r" b="b"/>
                <a:pathLst>
                  <a:path w="486697" h="858184">
                    <a:moveTo>
                      <a:pt x="486697" y="858184"/>
                    </a:moveTo>
                    <a:lnTo>
                      <a:pt x="442452" y="695952"/>
                    </a:lnTo>
                    <a:cubicBezTo>
                      <a:pt x="432620" y="590255"/>
                      <a:pt x="488753" y="334098"/>
                      <a:pt x="427704" y="224004"/>
                    </a:cubicBezTo>
                    <a:cubicBezTo>
                      <a:pt x="366655" y="113910"/>
                      <a:pt x="147440" y="62424"/>
                      <a:pt x="76156" y="35385"/>
                    </a:cubicBezTo>
                    <a:cubicBezTo>
                      <a:pt x="4872" y="8346"/>
                      <a:pt x="6498" y="-39841"/>
                      <a:pt x="0" y="61771"/>
                    </a:cubicBezTo>
                    <a:cubicBezTo>
                      <a:pt x="24581" y="258416"/>
                      <a:pt x="-33966" y="551489"/>
                      <a:pt x="73742" y="651707"/>
                    </a:cubicBezTo>
                    <a:cubicBezTo>
                      <a:pt x="181450" y="751925"/>
                      <a:pt x="373626" y="691036"/>
                      <a:pt x="442452" y="725449"/>
                    </a:cubicBezTo>
                    <a:lnTo>
                      <a:pt x="486697" y="858184"/>
                    </a:lnTo>
                    <a:close/>
                  </a:path>
                </a:pathLst>
              </a:custGeom>
              <a:solidFill>
                <a:srgbClr val="1C1C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任意多边形 44"/>
              <p:cNvSpPr/>
              <p:nvPr/>
            </p:nvSpPr>
            <p:spPr>
              <a:xfrm>
                <a:off x="2433484" y="2469237"/>
                <a:ext cx="3510116" cy="3326880"/>
              </a:xfrm>
              <a:custGeom>
                <a:avLst/>
                <a:gdLst>
                  <a:gd name="connsiteX0" fmla="*/ 2533998 w 3510116"/>
                  <a:gd name="connsiteY0" fmla="*/ 0 h 3326049"/>
                  <a:gd name="connsiteX1" fmla="*/ 2591623 w 3510116"/>
                  <a:gd name="connsiteY1" fmla="*/ 27759 h 3326049"/>
                  <a:gd name="connsiteX2" fmla="*/ 3510116 w 3510116"/>
                  <a:gd name="connsiteY2" fmla="*/ 1570991 h 3326049"/>
                  <a:gd name="connsiteX3" fmla="*/ 1755058 w 3510116"/>
                  <a:gd name="connsiteY3" fmla="*/ 3326049 h 3326049"/>
                  <a:gd name="connsiteX4" fmla="*/ 0 w 3510116"/>
                  <a:gd name="connsiteY4" fmla="*/ 1570991 h 3326049"/>
                  <a:gd name="connsiteX5" fmla="*/ 918493 w 3510116"/>
                  <a:gd name="connsiteY5" fmla="*/ 27759 h 3326049"/>
                  <a:gd name="connsiteX6" fmla="*/ 923961 w 3510116"/>
                  <a:gd name="connsiteY6" fmla="*/ 25125 h 3326049"/>
                  <a:gd name="connsiteX7" fmla="*/ 950966 w 3510116"/>
                  <a:gd name="connsiteY7" fmla="*/ 98910 h 3326049"/>
                  <a:gd name="connsiteX8" fmla="*/ 972537 w 3510116"/>
                  <a:gd name="connsiteY8" fmla="*/ 138652 h 3326049"/>
                  <a:gd name="connsiteX9" fmla="*/ 842536 w 3510116"/>
                  <a:gd name="connsiteY9" fmla="*/ 217629 h 3326049"/>
                  <a:gd name="connsiteX10" fmla="*/ 122959 w 3510116"/>
                  <a:gd name="connsiteY10" fmla="*/ 1570991 h 3326049"/>
                  <a:gd name="connsiteX11" fmla="*/ 1755058 w 3510116"/>
                  <a:gd name="connsiteY11" fmla="*/ 3203090 h 3326049"/>
                  <a:gd name="connsiteX12" fmla="*/ 3387157 w 3510116"/>
                  <a:gd name="connsiteY12" fmla="*/ 1570991 h 3326049"/>
                  <a:gd name="connsiteX13" fmla="*/ 2533013 w 3510116"/>
                  <a:gd name="connsiteY13" fmla="*/ 135878 h 3326049"/>
                  <a:gd name="connsiteX14" fmla="*/ 2491061 w 3510116"/>
                  <a:gd name="connsiteY14" fmla="*/ 115668 h 3326049"/>
                  <a:gd name="connsiteX15" fmla="*/ 2500156 w 3510116"/>
                  <a:gd name="connsiteY15" fmla="*/ 98910 h 3326049"/>
                  <a:gd name="connsiteX16" fmla="*/ 2528425 w 3510116"/>
                  <a:gd name="connsiteY16" fmla="*/ 21674 h 3326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10116" h="3326049">
                    <a:moveTo>
                      <a:pt x="2533998" y="0"/>
                    </a:moveTo>
                    <a:lnTo>
                      <a:pt x="2591623" y="27759"/>
                    </a:lnTo>
                    <a:cubicBezTo>
                      <a:pt x="3138719" y="324959"/>
                      <a:pt x="3510116" y="904603"/>
                      <a:pt x="3510116" y="1570991"/>
                    </a:cubicBezTo>
                    <a:cubicBezTo>
                      <a:pt x="3510116" y="2540283"/>
                      <a:pt x="2724350" y="3326049"/>
                      <a:pt x="1755058" y="3326049"/>
                    </a:cubicBezTo>
                    <a:cubicBezTo>
                      <a:pt x="785766" y="3326049"/>
                      <a:pt x="0" y="2540283"/>
                      <a:pt x="0" y="1570991"/>
                    </a:cubicBezTo>
                    <a:cubicBezTo>
                      <a:pt x="0" y="904603"/>
                      <a:pt x="371397" y="324959"/>
                      <a:pt x="918493" y="27759"/>
                    </a:cubicBezTo>
                    <a:lnTo>
                      <a:pt x="923961" y="25125"/>
                    </a:lnTo>
                    <a:lnTo>
                      <a:pt x="950966" y="98910"/>
                    </a:lnTo>
                    <a:lnTo>
                      <a:pt x="972537" y="138652"/>
                    </a:lnTo>
                    <a:lnTo>
                      <a:pt x="842536" y="217629"/>
                    </a:lnTo>
                    <a:cubicBezTo>
                      <a:pt x="408395" y="510929"/>
                      <a:pt x="122959" y="1007627"/>
                      <a:pt x="122959" y="1570991"/>
                    </a:cubicBezTo>
                    <a:cubicBezTo>
                      <a:pt x="122959" y="2472374"/>
                      <a:pt x="853675" y="3203090"/>
                      <a:pt x="1755058" y="3203090"/>
                    </a:cubicBezTo>
                    <a:cubicBezTo>
                      <a:pt x="2656441" y="3203090"/>
                      <a:pt x="3387157" y="2472374"/>
                      <a:pt x="3387157" y="1570991"/>
                    </a:cubicBezTo>
                    <a:cubicBezTo>
                      <a:pt x="3387157" y="951290"/>
                      <a:pt x="3041780" y="412256"/>
                      <a:pt x="2533013" y="135878"/>
                    </a:cubicBezTo>
                    <a:lnTo>
                      <a:pt x="2491061" y="115668"/>
                    </a:lnTo>
                    <a:lnTo>
                      <a:pt x="2500156" y="98910"/>
                    </a:lnTo>
                    <a:cubicBezTo>
                      <a:pt x="2510791" y="73767"/>
                      <a:pt x="2520238" y="47998"/>
                      <a:pt x="2528425" y="21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grpSp>
        <p:sp>
          <p:nvSpPr>
            <p:cNvPr id="14" name="文本框 13"/>
            <p:cNvSpPr txBox="1"/>
            <p:nvPr/>
          </p:nvSpPr>
          <p:spPr>
            <a:xfrm>
              <a:off x="1752439" y="1705364"/>
              <a:ext cx="683259" cy="622459"/>
            </a:xfrm>
            <a:prstGeom prst="rect">
              <a:avLst/>
            </a:prstGeom>
            <a:noFill/>
          </p:spPr>
          <p:txBody>
            <a:bodyPr wrap="square" rtlCol="0">
              <a:spAutoFit/>
            </a:bodyPr>
            <a:lstStyle/>
            <a:p>
              <a:r>
                <a:rPr lang="zh-CN" altLang="en-US" sz="4800" b="1" dirty="0">
                  <a:latin typeface="幼圆" panose="02010509060101010101" pitchFamily="49" charset="-122"/>
                  <a:ea typeface="幼圆" panose="02010509060101010101" pitchFamily="49" charset="-122"/>
                </a:rPr>
                <a:t>一</a:t>
              </a:r>
              <a:endParaRPr lang="zh-CN" altLang="en-US" sz="4800" b="1" dirty="0">
                <a:latin typeface="幼圆" panose="02010509060101010101" pitchFamily="49" charset="-122"/>
                <a:ea typeface="幼圆" panose="02010509060101010101" pitchFamily="49" charset="-122"/>
              </a:endParaRPr>
            </a:p>
          </p:txBody>
        </p:sp>
      </p:grpSp>
      <p:grpSp>
        <p:nvGrpSpPr>
          <p:cNvPr id="2" name="组合 1"/>
          <p:cNvGrpSpPr/>
          <p:nvPr/>
        </p:nvGrpSpPr>
        <p:grpSpPr>
          <a:xfrm>
            <a:off x="4776470" y="2573020"/>
            <a:ext cx="4752975" cy="1447800"/>
            <a:chOff x="6790" y="3949"/>
            <a:chExt cx="7485" cy="2280"/>
          </a:xfrm>
        </p:grpSpPr>
        <p:grpSp>
          <p:nvGrpSpPr>
            <p:cNvPr id="15" name="组合 14"/>
            <p:cNvGrpSpPr/>
            <p:nvPr/>
          </p:nvGrpSpPr>
          <p:grpSpPr>
            <a:xfrm>
              <a:off x="6790" y="3949"/>
              <a:ext cx="2182" cy="1140"/>
              <a:chOff x="4027898" y="1664569"/>
              <a:chExt cx="1039402" cy="542865"/>
            </a:xfrm>
          </p:grpSpPr>
          <p:cxnSp>
            <p:nvCxnSpPr>
              <p:cNvPr id="8" name="直接连接符 7"/>
              <p:cNvCxnSpPr/>
              <p:nvPr/>
            </p:nvCxnSpPr>
            <p:spPr>
              <a:xfrm>
                <a:off x="4027898" y="1900313"/>
                <a:ext cx="1039402" cy="0"/>
              </a:xfrm>
              <a:prstGeom prst="lin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256498" y="1664569"/>
                <a:ext cx="0" cy="542865"/>
              </a:xfrm>
              <a:prstGeom prst="line">
                <a:avLst/>
              </a:prstGeom>
              <a:ln w="28575">
                <a:solidFill>
                  <a:srgbClr val="AAA4D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12093" y="5089"/>
              <a:ext cx="2182" cy="1140"/>
              <a:chOff x="7799798" y="3378994"/>
              <a:chExt cx="1039402" cy="542865"/>
            </a:xfrm>
          </p:grpSpPr>
          <p:cxnSp>
            <p:nvCxnSpPr>
              <p:cNvPr id="27" name="直接连接符 26"/>
              <p:cNvCxnSpPr/>
              <p:nvPr/>
            </p:nvCxnSpPr>
            <p:spPr>
              <a:xfrm>
                <a:off x="7799798" y="3721894"/>
                <a:ext cx="1039402" cy="0"/>
              </a:xfrm>
              <a:prstGeom prst="line">
                <a:avLst/>
              </a:prstGeom>
              <a:ln w="28575">
                <a:solidFill>
                  <a:srgbClr val="AAA4D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606248" y="3378994"/>
                <a:ext cx="0" cy="542865"/>
              </a:xfrm>
              <a:prstGeom prst="lin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6" name="文本框 13"/>
            <p:cNvSpPr txBox="1">
              <a:spLocks noChangeArrowheads="1"/>
            </p:cNvSpPr>
            <p:nvPr/>
          </p:nvSpPr>
          <p:spPr bwMode="auto">
            <a:xfrm flipH="1">
              <a:off x="8204" y="4557"/>
              <a:ext cx="5325" cy="1190"/>
            </a:xfrm>
            <a:prstGeom prst="rect">
              <a:avLst/>
            </a:prstGeom>
            <a:noFill/>
            <a:ln w="9525">
              <a:noFill/>
              <a:miter lim="800000"/>
            </a:ln>
          </p:spPr>
          <p:txBody>
            <a:bodyPr wrap="square">
              <a:spAutoFit/>
            </a:bodyPr>
            <a:lstStyle/>
            <a:p>
              <a:pPr>
                <a:lnSpc>
                  <a:spcPct val="120000"/>
                </a:lnSpc>
                <a:spcBef>
                  <a:spcPct val="0"/>
                </a:spcBef>
              </a:pPr>
              <a:r>
                <a:rPr lang="zh-CN" altLang="en-US" sz="3600" b="1" dirty="0">
                  <a:solidFill>
                    <a:schemeClr val="tx1">
                      <a:lumMod val="95000"/>
                      <a:lumOff val="5000"/>
                    </a:schemeClr>
                  </a:solidFill>
                  <a:latin typeface="幼圆" panose="02010509060101010101" pitchFamily="49" charset="-122"/>
                  <a:ea typeface="幼圆" panose="02010509060101010101" pitchFamily="49" charset="-122"/>
                  <a:cs typeface="+mn-ea"/>
                  <a:sym typeface="+mn-lt"/>
                </a:rPr>
                <a:t>双向循环链表</a:t>
              </a:r>
              <a:endParaRPr lang="zh-CN" altLang="en-US" sz="3600" b="1" dirty="0">
                <a:solidFill>
                  <a:schemeClr val="tx1">
                    <a:lumMod val="95000"/>
                    <a:lumOff val="5000"/>
                  </a:schemeClr>
                </a:solidFill>
                <a:latin typeface="幼圆" panose="02010509060101010101" pitchFamily="49" charset="-122"/>
                <a:ea typeface="幼圆" panose="02010509060101010101" pitchFamily="49"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25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290">
                                          <p:stCondLst>
                                            <p:cond delay="0"/>
                                          </p:stCondLst>
                                        </p:cTn>
                                        <p:tgtEl>
                                          <p:spTgt spid="17"/>
                                        </p:tgtEl>
                                      </p:cBhvr>
                                    </p:animEffect>
                                    <p:anim calcmode="lin" valueType="num">
                                      <p:cBhvr>
                                        <p:cTn id="8" dur="911"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17"/>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17"/>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17"/>
                                        </p:tgtEl>
                                        <p:attrNameLst>
                                          <p:attrName>ppt_y</p:attrName>
                                        </p:attrNameLst>
                                      </p:cBhvr>
                                      <p:tavLst>
                                        <p:tav tm="0" fmla="#ppt_y-sin(pi*$)/81">
                                          <p:val>
                                            <p:fltVal val="0"/>
                                          </p:val>
                                        </p:tav>
                                        <p:tav tm="100000">
                                          <p:val>
                                            <p:fltVal val="1"/>
                                          </p:val>
                                        </p:tav>
                                      </p:tavLst>
                                    </p:anim>
                                    <p:animScale>
                                      <p:cBhvr>
                                        <p:cTn id="13" dur="13">
                                          <p:stCondLst>
                                            <p:cond delay="325"/>
                                          </p:stCondLst>
                                        </p:cTn>
                                        <p:tgtEl>
                                          <p:spTgt spid="17"/>
                                        </p:tgtEl>
                                      </p:cBhvr>
                                      <p:to x="100000" y="60000"/>
                                    </p:animScale>
                                    <p:animScale>
                                      <p:cBhvr>
                                        <p:cTn id="14" dur="83" decel="50000">
                                          <p:stCondLst>
                                            <p:cond delay="338"/>
                                          </p:stCondLst>
                                        </p:cTn>
                                        <p:tgtEl>
                                          <p:spTgt spid="17"/>
                                        </p:tgtEl>
                                      </p:cBhvr>
                                      <p:to x="100000" y="100000"/>
                                    </p:animScale>
                                    <p:animScale>
                                      <p:cBhvr>
                                        <p:cTn id="15" dur="13">
                                          <p:stCondLst>
                                            <p:cond delay="656"/>
                                          </p:stCondLst>
                                        </p:cTn>
                                        <p:tgtEl>
                                          <p:spTgt spid="17"/>
                                        </p:tgtEl>
                                      </p:cBhvr>
                                      <p:to x="100000" y="80000"/>
                                    </p:animScale>
                                    <p:animScale>
                                      <p:cBhvr>
                                        <p:cTn id="16" dur="83" decel="50000">
                                          <p:stCondLst>
                                            <p:cond delay="669"/>
                                          </p:stCondLst>
                                        </p:cTn>
                                        <p:tgtEl>
                                          <p:spTgt spid="17"/>
                                        </p:tgtEl>
                                      </p:cBhvr>
                                      <p:to x="100000" y="100000"/>
                                    </p:animScale>
                                    <p:animScale>
                                      <p:cBhvr>
                                        <p:cTn id="17" dur="13">
                                          <p:stCondLst>
                                            <p:cond delay="821"/>
                                          </p:stCondLst>
                                        </p:cTn>
                                        <p:tgtEl>
                                          <p:spTgt spid="17"/>
                                        </p:tgtEl>
                                      </p:cBhvr>
                                      <p:to x="100000" y="90000"/>
                                    </p:animScale>
                                    <p:animScale>
                                      <p:cBhvr>
                                        <p:cTn id="18" dur="83" decel="50000">
                                          <p:stCondLst>
                                            <p:cond delay="834"/>
                                          </p:stCondLst>
                                        </p:cTn>
                                        <p:tgtEl>
                                          <p:spTgt spid="17"/>
                                        </p:tgtEl>
                                      </p:cBhvr>
                                      <p:to x="100000" y="100000"/>
                                    </p:animScale>
                                    <p:animScale>
                                      <p:cBhvr>
                                        <p:cTn id="19" dur="13">
                                          <p:stCondLst>
                                            <p:cond delay="904"/>
                                          </p:stCondLst>
                                        </p:cTn>
                                        <p:tgtEl>
                                          <p:spTgt spid="17"/>
                                        </p:tgtEl>
                                      </p:cBhvr>
                                      <p:to x="100000" y="95000"/>
                                    </p:animScale>
                                    <p:animScale>
                                      <p:cBhvr>
                                        <p:cTn id="20" dur="83" decel="50000">
                                          <p:stCondLst>
                                            <p:cond delay="917"/>
                                          </p:stCondLst>
                                        </p:cTn>
                                        <p:tgtEl>
                                          <p:spTgt spid="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594485" y="2261870"/>
            <a:ext cx="736600" cy="2815590"/>
          </a:xfrm>
          <a:prstGeom prst="rect">
            <a:avLst/>
          </a:prstGeom>
          <a:noFill/>
        </p:spPr>
        <p:txBody>
          <a:bodyPr vert="eaVert" wrap="square" rtlCol="0">
            <a:spAutoFit/>
          </a:bodyPr>
          <a:p>
            <a:r>
              <a:rPr lang="zh-CN" altLang="en-US" sz="3600" b="1" i="1">
                <a:solidFill>
                  <a:schemeClr val="accent2">
                    <a:lumMod val="75000"/>
                  </a:schemeClr>
                </a:solidFill>
                <a:latin typeface="幼圆" panose="02010509060101010101" pitchFamily="49" charset="-122"/>
                <a:ea typeface="幼圆" panose="02010509060101010101" pitchFamily="49" charset="-122"/>
              </a:rPr>
              <a:t>模块划分</a:t>
            </a:r>
            <a:endParaRPr lang="zh-CN" altLang="en-US" sz="3600" b="1" i="1">
              <a:solidFill>
                <a:schemeClr val="accent2">
                  <a:lumMod val="75000"/>
                </a:schemeClr>
              </a:solidFill>
              <a:latin typeface="幼圆" panose="02010509060101010101" pitchFamily="49" charset="-122"/>
              <a:ea typeface="幼圆" panose="02010509060101010101" pitchFamily="49" charset="-122"/>
            </a:endParaRPr>
          </a:p>
        </p:txBody>
      </p:sp>
      <p:pic>
        <p:nvPicPr>
          <p:cNvPr id="5" name="图片 4"/>
          <p:cNvPicPr>
            <a:picLocks noChangeAspect="1"/>
          </p:cNvPicPr>
          <p:nvPr/>
        </p:nvPicPr>
        <p:blipFill>
          <a:blip r:embed="rId1"/>
          <a:stretch>
            <a:fillRect/>
          </a:stretch>
        </p:blipFill>
        <p:spPr>
          <a:xfrm>
            <a:off x="3388995" y="1056640"/>
            <a:ext cx="7165340" cy="47974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2802890" cy="521970"/>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1.</a:t>
            </a:r>
            <a:r>
              <a:rPr lang="zh-CN" altLang="en-US" sz="2800" b="1" i="1">
                <a:latin typeface="幼圆" panose="02010509060101010101" pitchFamily="49" charset="-122"/>
                <a:ea typeface="幼圆" panose="02010509060101010101" pitchFamily="49" charset="-122"/>
                <a:cs typeface="幼圆" panose="02010509060101010101" pitchFamily="49" charset="-122"/>
              </a:rPr>
              <a:t>建立一个空表</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11" name="文本框 10"/>
          <p:cNvSpPr txBox="1"/>
          <p:nvPr/>
        </p:nvSpPr>
        <p:spPr>
          <a:xfrm>
            <a:off x="702945" y="4077335"/>
            <a:ext cx="4572000" cy="2030095"/>
          </a:xfrm>
          <a:prstGeom prst="rect">
            <a:avLst/>
          </a:prstGeom>
          <a:noFill/>
        </p:spPr>
        <p:txBody>
          <a:bodyPr wrap="square" rtlCol="0">
            <a:spAutoFit/>
          </a:bodyPr>
          <a:p>
            <a:pPr marL="285750" indent="-285750">
              <a:buFont typeface="Arial" panose="020B0604020202020204" pitchFamily="34" charset="0"/>
              <a:buChar char="•"/>
            </a:pPr>
            <a:r>
              <a:rPr lang="zh-CN" altLang="en-US">
                <a:latin typeface="Consolas" panose="020B0609020204030204" charset="0"/>
                <a:ea typeface="幼圆" panose="02010509060101010101" pitchFamily="49" charset="-122"/>
                <a:cs typeface="Consolas" panose="020B0609020204030204" charset="0"/>
              </a:rPr>
              <a:t>public DoubleCircularLinkedList()</a:t>
            </a:r>
            <a:endParaRPr lang="zh-CN" altLang="en-US">
              <a:latin typeface="Consolas" panose="020B0609020204030204" charset="0"/>
              <a:ea typeface="幼圆" panose="02010509060101010101" pitchFamily="49" charset="-122"/>
              <a:cs typeface="Consolas" panose="020B0609020204030204" charset="0"/>
            </a:endParaRPr>
          </a:p>
          <a:p>
            <a:r>
              <a:rPr lang="en-US" altLang="zh-CN">
                <a:latin typeface="幼圆" panose="02010509060101010101" pitchFamily="49" charset="-122"/>
                <a:ea typeface="幼圆" panose="02010509060101010101" pitchFamily="49" charset="-122"/>
                <a:cs typeface="幼圆" panose="02010509060101010101" pitchFamily="49" charset="-122"/>
              </a:rPr>
              <a:t>    </a:t>
            </a:r>
            <a:r>
              <a:rPr lang="zh-CN" altLang="en-US">
                <a:latin typeface="幼圆" panose="02010509060101010101" pitchFamily="49" charset="-122"/>
                <a:ea typeface="幼圆" panose="02010509060101010101" pitchFamily="49" charset="-122"/>
                <a:cs typeface="幼圆" panose="02010509060101010101" pitchFamily="49" charset="-122"/>
              </a:rPr>
              <a:t>构造方法：创建链表。</a:t>
            </a:r>
            <a:endParaRPr lang="zh-CN" altLang="en-US">
              <a:latin typeface="幼圆" panose="02010509060101010101" pitchFamily="49" charset="-122"/>
              <a:ea typeface="幼圆" panose="02010509060101010101" pitchFamily="49" charset="-122"/>
              <a:cs typeface="幼圆" panose="02010509060101010101" pitchFamily="49" charset="-122"/>
            </a:endParaRPr>
          </a:p>
          <a:p>
            <a:pPr marL="285750" indent="-285750">
              <a:buFont typeface="Arial" panose="020B0604020202020204" pitchFamily="34" charset="0"/>
              <a:buChar char="•"/>
            </a:pPr>
            <a:r>
              <a:rPr lang="zh-CN" altLang="en-US">
                <a:latin typeface="Consolas" panose="020B0609020204030204" charset="0"/>
                <a:ea typeface="幼圆" panose="02010509060101010101" pitchFamily="49" charset="-122"/>
                <a:cs typeface="Consolas" panose="020B0609020204030204" charset="0"/>
              </a:rPr>
              <a:t>class Node&lt;T&gt;</a:t>
            </a:r>
            <a:endParaRPr lang="zh-CN" altLang="en-US">
              <a:latin typeface="Consolas" panose="020B0609020204030204" charset="0"/>
              <a:ea typeface="幼圆" panose="02010509060101010101" pitchFamily="49" charset="-122"/>
              <a:cs typeface="Consolas" panose="020B0609020204030204" charset="0"/>
            </a:endParaRPr>
          </a:p>
          <a:p>
            <a:pPr indent="0">
              <a:buFont typeface="Arial" panose="020B0604020202020204" pitchFamily="34" charset="0"/>
              <a:buNone/>
            </a:pPr>
            <a:r>
              <a:rPr lang="en-US" altLang="zh-CN">
                <a:latin typeface="幼圆" panose="02010509060101010101" pitchFamily="49" charset="-122"/>
                <a:ea typeface="幼圆" panose="02010509060101010101" pitchFamily="49" charset="-122"/>
                <a:cs typeface="幼圆" panose="02010509060101010101" pitchFamily="49" charset="-122"/>
              </a:rPr>
              <a:t>    </a:t>
            </a:r>
            <a:r>
              <a:rPr lang="zh-CN" altLang="en-US">
                <a:latin typeface="Times New Roman" panose="02020603050405020304" charset="0"/>
                <a:ea typeface="幼圆" panose="02010509060101010101" pitchFamily="49" charset="-122"/>
                <a:cs typeface="Times New Roman" panose="02020603050405020304" charset="0"/>
              </a:rPr>
              <a:t>pre、next、data</a:t>
            </a:r>
            <a:r>
              <a:rPr lang="zh-CN" altLang="en-US">
                <a:latin typeface="幼圆" panose="02010509060101010101" pitchFamily="49" charset="-122"/>
                <a:ea typeface="幼圆" panose="02010509060101010101" pitchFamily="49" charset="-122"/>
                <a:cs typeface="幼圆" panose="02010509060101010101" pitchFamily="49" charset="-122"/>
              </a:rPr>
              <a:t>分别存放该结点的前驱节点、后继结点、数值。</a:t>
            </a:r>
            <a:endParaRPr lang="zh-CN" altLang="en-US">
              <a:latin typeface="幼圆" panose="02010509060101010101" pitchFamily="49" charset="-122"/>
              <a:ea typeface="幼圆" panose="02010509060101010101" pitchFamily="49" charset="-122"/>
              <a:cs typeface="幼圆" panose="02010509060101010101" pitchFamily="49" charset="-122"/>
            </a:endParaRPr>
          </a:p>
          <a:p>
            <a:r>
              <a:rPr lang="en-US" altLang="zh-CN"/>
              <a:t>       </a:t>
            </a:r>
            <a:endParaRPr lang="en-US" altLang="zh-CN"/>
          </a:p>
          <a:p>
            <a:r>
              <a:rPr lang="en-US" altLang="zh-CN"/>
              <a:t>      </a:t>
            </a:r>
            <a:endParaRPr lang="zh-CN" altLang="en-US" i="1">
              <a:solidFill>
                <a:schemeClr val="bg1">
                  <a:lumMod val="50000"/>
                </a:schemeClr>
              </a:solidFill>
              <a:latin typeface="幼圆" panose="02010509060101010101" pitchFamily="49" charset="-122"/>
              <a:ea typeface="幼圆" panose="02010509060101010101" pitchFamily="49" charset="-122"/>
            </a:endParaRPr>
          </a:p>
        </p:txBody>
      </p:sp>
      <p:sp>
        <p:nvSpPr>
          <p:cNvPr id="100" name="文本框 99"/>
          <p:cNvSpPr txBox="1"/>
          <p:nvPr/>
        </p:nvSpPr>
        <p:spPr>
          <a:xfrm>
            <a:off x="6155690" y="732790"/>
            <a:ext cx="5818505" cy="5015865"/>
          </a:xfrm>
          <a:prstGeom prst="rect">
            <a:avLst/>
          </a:prstGeom>
          <a:noFill/>
          <a:ln w="9525">
            <a:noFill/>
          </a:ln>
        </p:spPr>
        <p:txBody>
          <a:bodyPr wrap="square">
            <a:spAutoFit/>
          </a:bodyPr>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Node&lt;T&gt; </a:t>
            </a:r>
            <a:r>
              <a:rPr lang="en-US" sz="1600" b="0">
                <a:solidFill>
                  <a:srgbClr val="0000C0"/>
                </a:solidFill>
                <a:latin typeface="Consolas" panose="020B0609020204030204" charset="0"/>
                <a:cs typeface="Consolas" panose="020B0609020204030204" charset="0"/>
              </a:rPr>
              <a:t>head</a:t>
            </a:r>
            <a:r>
              <a:rPr lang="en-US" sz="1600" b="0">
                <a:solidFill>
                  <a:srgbClr val="000000"/>
                </a:solidFill>
                <a:latin typeface="Consolas" panose="020B0609020204030204" charset="0"/>
                <a:cs typeface="Consolas" panose="020B0609020204030204" charset="0"/>
              </a:rPr>
              <a:t>;</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int</a:t>
            </a:r>
            <a:r>
              <a:rPr lang="en-US" sz="1600" b="0">
                <a:solidFill>
                  <a:srgbClr val="000000"/>
                </a:solidFill>
                <a:latin typeface="Consolas" panose="020B0609020204030204" charset="0"/>
                <a:cs typeface="Consolas" panose="020B0609020204030204" charset="0"/>
              </a:rPr>
              <a:t> </a:t>
            </a:r>
            <a:r>
              <a:rPr lang="en-US" sz="1600" b="0">
                <a:solidFill>
                  <a:srgbClr val="0000C0"/>
                </a:solidFill>
                <a:latin typeface="Consolas" panose="020B0609020204030204" charset="0"/>
                <a:cs typeface="Consolas" panose="020B0609020204030204" charset="0"/>
              </a:rPr>
              <a:t>size</a:t>
            </a:r>
            <a:r>
              <a:rPr lang="en-US" sz="1600" b="0">
                <a:solidFill>
                  <a:srgbClr val="000000"/>
                </a:solidFill>
                <a:latin typeface="Consolas" panose="020B0609020204030204" charset="0"/>
                <a:cs typeface="Consolas" panose="020B0609020204030204" charset="0"/>
              </a:rPr>
              <a:t>;</a:t>
            </a:r>
            <a:r>
              <a:rPr lang="en-US" sz="1600" b="0">
                <a:latin typeface="Consolas" panose="020B0609020204030204" charset="0"/>
                <a:cs typeface="Consolas" panose="020B0609020204030204" charset="0"/>
              </a:rPr>
              <a:t> </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static</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class</a:t>
            </a:r>
            <a:r>
              <a:rPr lang="en-US" sz="1600" b="0">
                <a:solidFill>
                  <a:srgbClr val="000000"/>
                </a:solidFill>
                <a:latin typeface="Consolas" panose="020B0609020204030204" charset="0"/>
                <a:cs typeface="Consolas" panose="020B0609020204030204" charset="0"/>
              </a:rPr>
              <a:t> Node&lt;T&gt; {	T </a:t>
            </a:r>
            <a:r>
              <a:rPr lang="en-US" sz="1600" b="0">
                <a:solidFill>
                  <a:srgbClr val="0000C0"/>
                </a:solidFill>
                <a:latin typeface="Consolas" panose="020B0609020204030204" charset="0"/>
                <a:cs typeface="Consolas" panose="020B0609020204030204" charset="0"/>
              </a:rPr>
              <a:t>data</a:t>
            </a:r>
            <a:r>
              <a:rPr lang="en-US" sz="1600" b="0">
                <a:solidFill>
                  <a:srgbClr val="000000"/>
                </a:solidFill>
                <a:latin typeface="Consolas" panose="020B0609020204030204" charset="0"/>
                <a:cs typeface="Consolas" panose="020B0609020204030204" charset="0"/>
              </a:rPr>
              <a:t>;	Node&lt;T&gt; </a:t>
            </a:r>
            <a:r>
              <a:rPr lang="en-US" sz="1600" b="0">
                <a:solidFill>
                  <a:srgbClr val="0000C0"/>
                </a:solidFill>
                <a:latin typeface="Consolas" panose="020B0609020204030204" charset="0"/>
                <a:cs typeface="Consolas" panose="020B0609020204030204" charset="0"/>
              </a:rPr>
              <a:t>next</a:t>
            </a:r>
            <a:r>
              <a:rPr lang="en-US" sz="1600" b="0">
                <a:solidFill>
                  <a:srgbClr val="000000"/>
                </a:solidFill>
                <a:latin typeface="Consolas" panose="020B0609020204030204" charset="0"/>
                <a:cs typeface="Consolas" panose="020B0609020204030204" charset="0"/>
              </a:rPr>
              <a:t>;	Node&lt;T&gt; </a:t>
            </a:r>
            <a:r>
              <a:rPr lang="en-US" sz="1600" b="0">
                <a:solidFill>
                  <a:srgbClr val="0000C0"/>
                </a:solidFill>
                <a:latin typeface="Consolas" panose="020B0609020204030204" charset="0"/>
                <a:cs typeface="Consolas" panose="020B0609020204030204" charset="0"/>
              </a:rPr>
              <a:t>pre</a:t>
            </a:r>
            <a:r>
              <a:rPr lang="en-US" sz="1600" b="0">
                <a:solidFill>
                  <a:srgbClr val="000000"/>
                </a:solidFill>
                <a:latin typeface="Consolas" panose="020B0609020204030204" charset="0"/>
                <a:cs typeface="Consolas" panose="020B0609020204030204" charset="0"/>
              </a:rPr>
              <a:t>;</a:t>
            </a:r>
            <a:r>
              <a:rPr lang="en-US" sz="1600" b="0">
                <a:latin typeface="Consolas" panose="020B0609020204030204" charset="0"/>
                <a:cs typeface="Consolas" panose="020B0609020204030204" charset="0"/>
              </a:rPr>
              <a:t> </a:t>
            </a:r>
            <a:r>
              <a:rPr lang="en-US" sz="1600" b="0">
                <a:solidFill>
                  <a:srgbClr val="000000"/>
                </a:solidFill>
                <a:latin typeface="Consolas" panose="020B0609020204030204" charset="0"/>
                <a:cs typeface="Consolas" panose="020B0609020204030204" charset="0"/>
              </a:rPr>
              <a:t>	Node(T </a:t>
            </a:r>
            <a:r>
              <a:rPr lang="en-US" sz="1600" b="0">
                <a:solidFill>
                  <a:srgbClr val="6A3E3E"/>
                </a:solidFill>
                <a:latin typeface="Consolas" panose="020B0609020204030204" charset="0"/>
                <a:cs typeface="Consolas" panose="020B0609020204030204" charset="0"/>
              </a:rPr>
              <a:t>data</a:t>
            </a:r>
            <a:r>
              <a:rPr lang="en-US" sz="1600" b="0">
                <a:solidFill>
                  <a:srgbClr val="000000"/>
                </a:solidFill>
                <a:latin typeface="Consolas" panose="020B0609020204030204" charset="0"/>
                <a:cs typeface="Consolas" panose="020B0609020204030204" charset="0"/>
              </a:rPr>
              <a:t>, Node&lt;T&gt; </a:t>
            </a:r>
            <a:r>
              <a:rPr lang="en-US" sz="1600" b="0">
                <a:solidFill>
                  <a:srgbClr val="6A3E3E"/>
                </a:solidFill>
                <a:latin typeface="Consolas" panose="020B0609020204030204" charset="0"/>
                <a:cs typeface="Consolas" panose="020B0609020204030204" charset="0"/>
              </a:rPr>
              <a:t>prev</a:t>
            </a:r>
            <a:r>
              <a:rPr lang="en-US" sz="1600" b="0">
                <a:solidFill>
                  <a:srgbClr val="000000"/>
                </a:solidFill>
                <a:latin typeface="Consolas" panose="020B0609020204030204" charset="0"/>
                <a:cs typeface="Consolas" panose="020B0609020204030204" charset="0"/>
              </a:rPr>
              <a:t>, Node&lt;T&gt; </a:t>
            </a:r>
            <a:r>
              <a:rPr lang="en-US" sz="1600" b="0">
                <a:solidFill>
                  <a:srgbClr val="6A3E3E"/>
                </a:solidFill>
                <a:latin typeface="Consolas" panose="020B0609020204030204" charset="0"/>
                <a:cs typeface="Consolas" panose="020B0609020204030204" charset="0"/>
              </a:rPr>
              <a:t>next</a:t>
            </a:r>
            <a:r>
              <a:rPr lang="en-US" sz="1600" b="0">
                <a:solidFill>
                  <a:srgbClr val="000000"/>
                </a:solidFill>
                <a:latin typeface="Consolas" panose="020B0609020204030204" charset="0"/>
                <a:cs typeface="Consolas" panose="020B0609020204030204" charset="0"/>
              </a:rPr>
              <a:t>) {		</a:t>
            </a:r>
            <a:r>
              <a:rPr lang="en-US" sz="1600" b="1">
                <a:solidFill>
                  <a:srgbClr val="7F0055"/>
                </a:solidFill>
                <a:latin typeface="Consolas" panose="020B0609020204030204" charset="0"/>
                <a:cs typeface="Consolas" panose="020B0609020204030204" charset="0"/>
              </a:rPr>
              <a:t>this</a:t>
            </a:r>
            <a:r>
              <a:rPr lang="en-US" sz="1600" b="0">
                <a:solidFill>
                  <a:srgbClr val="000000"/>
                </a:solidFill>
                <a:latin typeface="Consolas" panose="020B0609020204030204" charset="0"/>
                <a:cs typeface="Consolas" panose="020B0609020204030204" charset="0"/>
              </a:rPr>
              <a:t>.</a:t>
            </a:r>
            <a:r>
              <a:rPr lang="en-US" sz="1600" b="0">
                <a:solidFill>
                  <a:srgbClr val="0000C0"/>
                </a:solidFill>
                <a:latin typeface="Consolas" panose="020B0609020204030204" charset="0"/>
                <a:cs typeface="Consolas" panose="020B0609020204030204" charset="0"/>
              </a:rPr>
              <a:t>data</a:t>
            </a:r>
            <a:r>
              <a:rPr lang="en-US" sz="1600" b="0">
                <a:solidFill>
                  <a:srgbClr val="000000"/>
                </a:solidFill>
                <a:latin typeface="Consolas" panose="020B0609020204030204" charset="0"/>
                <a:cs typeface="Consolas" panose="020B0609020204030204" charset="0"/>
              </a:rPr>
              <a:t> = </a:t>
            </a:r>
            <a:r>
              <a:rPr lang="en-US" sz="1600" b="0">
                <a:solidFill>
                  <a:srgbClr val="6A3E3E"/>
                </a:solidFill>
                <a:latin typeface="Consolas" panose="020B0609020204030204" charset="0"/>
                <a:cs typeface="Consolas" panose="020B0609020204030204" charset="0"/>
              </a:rPr>
              <a:t>data</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this</a:t>
            </a:r>
            <a:r>
              <a:rPr lang="en-US" sz="1600" b="0">
                <a:solidFill>
                  <a:srgbClr val="000000"/>
                </a:solidFill>
                <a:latin typeface="Consolas" panose="020B0609020204030204" charset="0"/>
                <a:cs typeface="Consolas" panose="020B0609020204030204" charset="0"/>
              </a:rPr>
              <a:t>.</a:t>
            </a:r>
            <a:r>
              <a:rPr lang="en-US" sz="1600" b="0">
                <a:solidFill>
                  <a:srgbClr val="0000C0"/>
                </a:solidFill>
                <a:latin typeface="Consolas" panose="020B0609020204030204" charset="0"/>
                <a:cs typeface="Consolas" panose="020B0609020204030204" charset="0"/>
              </a:rPr>
              <a:t>next</a:t>
            </a:r>
            <a:r>
              <a:rPr lang="en-US" sz="1600" b="0">
                <a:solidFill>
                  <a:srgbClr val="000000"/>
                </a:solidFill>
                <a:latin typeface="Consolas" panose="020B0609020204030204" charset="0"/>
                <a:cs typeface="Consolas" panose="020B0609020204030204" charset="0"/>
              </a:rPr>
              <a:t> = </a:t>
            </a:r>
            <a:r>
              <a:rPr lang="en-US" sz="1600" b="0">
                <a:solidFill>
                  <a:srgbClr val="6A3E3E"/>
                </a:solidFill>
                <a:latin typeface="Consolas" panose="020B0609020204030204" charset="0"/>
                <a:cs typeface="Consolas" panose="020B0609020204030204" charset="0"/>
              </a:rPr>
              <a:t>next</a:t>
            </a:r>
            <a:r>
              <a:rPr lang="en-US" sz="1600" b="0">
                <a:solidFill>
                  <a:srgbClr val="000000"/>
                </a:solidFill>
                <a:latin typeface="Consolas" panose="020B0609020204030204" charset="0"/>
                <a:cs typeface="Consolas" panose="020B0609020204030204" charset="0"/>
              </a:rPr>
              <a:t>;		</a:t>
            </a:r>
            <a:r>
              <a:rPr lang="en-US" sz="1600" b="1" u="sng">
                <a:solidFill>
                  <a:srgbClr val="7F0055"/>
                </a:solidFill>
                <a:latin typeface="Consolas" panose="020B0609020204030204" charset="0"/>
                <a:cs typeface="Consolas" panose="020B0609020204030204" charset="0"/>
              </a:rPr>
              <a:t>this</a:t>
            </a:r>
            <a:r>
              <a:rPr lang="en-US" sz="1600" b="0" u="sng">
                <a:solidFill>
                  <a:srgbClr val="000000"/>
                </a:solidFill>
                <a:latin typeface="Consolas" panose="020B0609020204030204" charset="0"/>
                <a:cs typeface="Consolas" panose="020B0609020204030204" charset="0"/>
              </a:rPr>
              <a:t>.</a:t>
            </a:r>
            <a:r>
              <a:rPr lang="en-US" sz="1600" b="0" u="sng">
                <a:solidFill>
                  <a:srgbClr val="0000C0"/>
                </a:solidFill>
                <a:latin typeface="Consolas" panose="020B0609020204030204" charset="0"/>
                <a:cs typeface="Consolas" panose="020B0609020204030204" charset="0"/>
              </a:rPr>
              <a:t>pre</a:t>
            </a:r>
            <a:r>
              <a:rPr lang="en-US" sz="1600" b="0" u="sng">
                <a:solidFill>
                  <a:srgbClr val="000000"/>
                </a:solidFill>
                <a:latin typeface="Consolas" panose="020B0609020204030204" charset="0"/>
                <a:cs typeface="Consolas" panose="020B0609020204030204" charset="0"/>
              </a:rPr>
              <a:t> = </a:t>
            </a:r>
            <a:r>
              <a:rPr lang="en-US" sz="1600" b="0" u="sng">
                <a:solidFill>
                  <a:srgbClr val="0000C0"/>
                </a:solidFill>
                <a:latin typeface="Consolas" panose="020B0609020204030204" charset="0"/>
                <a:cs typeface="Consolas" panose="020B0609020204030204" charset="0"/>
              </a:rPr>
              <a:t>pre</a:t>
            </a:r>
            <a:r>
              <a:rPr lang="en-US" sz="1600" b="0">
                <a:solidFill>
                  <a:srgbClr val="000000"/>
                </a:solidFill>
                <a:latin typeface="Consolas" panose="020B0609020204030204" charset="0"/>
                <a:cs typeface="Consolas" panose="020B0609020204030204" charset="0"/>
              </a:rPr>
              <a:t>;	}}</a:t>
            </a:r>
            <a:r>
              <a:rPr lang="en-US" sz="1600" b="0">
                <a:latin typeface="Consolas" panose="020B0609020204030204" charset="0"/>
                <a:cs typeface="Consolas" panose="020B0609020204030204" charset="0"/>
              </a:rPr>
              <a:t> </a:t>
            </a:r>
            <a:r>
              <a:rPr lang="en-US" sz="1600" b="0">
                <a:solidFill>
                  <a:srgbClr val="000000"/>
                </a:solidFill>
                <a:latin typeface="Consolas" panose="020B0609020204030204" charset="0"/>
                <a:cs typeface="Consolas" panose="020B0609020204030204" charset="0"/>
              </a:rPr>
              <a:t>	</a:t>
            </a:r>
            <a:r>
              <a:rPr lang="zh-CN" sz="1600" b="0">
                <a:solidFill>
                  <a:srgbClr val="3F7F5F"/>
                </a:solidFill>
                <a:latin typeface="Consolas" panose="020B0609020204030204" charset="0"/>
                <a:cs typeface="Consolas" panose="020B0609020204030204" charset="0"/>
              </a:rPr>
              <a:t>// 1.建立一个空表</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public</a:t>
            </a:r>
            <a:r>
              <a:rPr lang="en-US" sz="1600" b="0">
                <a:solidFill>
                  <a:srgbClr val="000000"/>
                </a:solidFill>
                <a:latin typeface="Consolas" panose="020B0609020204030204" charset="0"/>
                <a:cs typeface="Consolas" panose="020B0609020204030204" charset="0"/>
              </a:rPr>
              <a:t> DoubleCircularLinkedList() {	</a:t>
            </a:r>
            <a:r>
              <a:rPr lang="en-US" sz="1600" b="0">
                <a:solidFill>
                  <a:srgbClr val="0000C0"/>
                </a:solidFill>
                <a:latin typeface="Consolas" panose="020B0609020204030204" charset="0"/>
                <a:cs typeface="Consolas" panose="020B0609020204030204" charset="0"/>
              </a:rPr>
              <a:t>head</a:t>
            </a:r>
            <a:r>
              <a:rPr lang="en-US" sz="1600" b="0">
                <a:solidFill>
                  <a:srgbClr val="000000"/>
                </a:solidFill>
                <a:latin typeface="Consolas" panose="020B0609020204030204" charset="0"/>
                <a:cs typeface="Consolas" panose="020B0609020204030204" charset="0"/>
              </a:rPr>
              <a:t> = </a:t>
            </a:r>
            <a:r>
              <a:rPr lang="en-US" sz="1600" b="1">
                <a:solidFill>
                  <a:srgbClr val="7F0055"/>
                </a:solidFill>
                <a:latin typeface="Consolas" panose="020B0609020204030204" charset="0"/>
                <a:cs typeface="Consolas" panose="020B0609020204030204" charset="0"/>
              </a:rPr>
              <a:t>new</a:t>
            </a:r>
            <a:r>
              <a:rPr lang="en-US" sz="1600" b="0">
                <a:solidFill>
                  <a:srgbClr val="000000"/>
                </a:solidFill>
                <a:latin typeface="Consolas" panose="020B0609020204030204" charset="0"/>
                <a:cs typeface="Consolas" panose="020B0609020204030204" charset="0"/>
              </a:rPr>
              <a:t> </a:t>
            </a:r>
            <a:r>
              <a:rPr lang="en-US" sz="1600" b="0" u="sng">
                <a:solidFill>
                  <a:srgbClr val="000000"/>
                </a:solidFill>
                <a:latin typeface="Consolas" panose="020B0609020204030204" charset="0"/>
                <a:cs typeface="Consolas" panose="020B0609020204030204" charset="0"/>
              </a:rPr>
              <a:t>Node</a:t>
            </a:r>
            <a:r>
              <a:rPr lang="en-US" sz="1600" b="0">
                <a:solidFill>
                  <a:srgbClr val="000000"/>
                </a:solidFill>
                <a:latin typeface="Consolas" panose="020B0609020204030204" charset="0"/>
                <a:cs typeface="Consolas" panose="020B0609020204030204" charset="0"/>
              </a:rPr>
              <a:t>&lt;T&gt;(</a:t>
            </a:r>
            <a:r>
              <a:rPr lang="en-US" sz="1600" b="1">
                <a:solidFill>
                  <a:srgbClr val="7F0055"/>
                </a:solidFill>
                <a:latin typeface="Consolas" panose="020B0609020204030204" charset="0"/>
                <a:cs typeface="Consolas" panose="020B0609020204030204" charset="0"/>
              </a:rPr>
              <a:t>null</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null</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null</a:t>
            </a:r>
            <a:r>
              <a:rPr lang="en-US" sz="1600" b="0">
                <a:solidFill>
                  <a:srgbClr val="000000"/>
                </a:solidFill>
                <a:latin typeface="Consolas" panose="020B0609020204030204" charset="0"/>
                <a:cs typeface="Consolas" panose="020B0609020204030204" charset="0"/>
              </a:rPr>
              <a:t>);	</a:t>
            </a:r>
            <a:r>
              <a:rPr lang="en-US" sz="1600" b="0">
                <a:solidFill>
                  <a:srgbClr val="0000C0"/>
                </a:solidFill>
                <a:latin typeface="Consolas" panose="020B0609020204030204" charset="0"/>
                <a:cs typeface="Consolas" panose="020B0609020204030204" charset="0"/>
              </a:rPr>
              <a:t>head</a:t>
            </a:r>
            <a:r>
              <a:rPr lang="en-US" sz="1600" b="0">
                <a:solidFill>
                  <a:srgbClr val="000000"/>
                </a:solidFill>
                <a:latin typeface="Consolas" panose="020B0609020204030204" charset="0"/>
                <a:cs typeface="Consolas" panose="020B0609020204030204" charset="0"/>
              </a:rPr>
              <a:t>.</a:t>
            </a:r>
            <a:r>
              <a:rPr lang="en-US" sz="1600" b="0">
                <a:solidFill>
                  <a:srgbClr val="0000C0"/>
                </a:solidFill>
                <a:latin typeface="Consolas" panose="020B0609020204030204" charset="0"/>
                <a:cs typeface="Consolas" panose="020B0609020204030204" charset="0"/>
              </a:rPr>
              <a:t>next</a:t>
            </a:r>
            <a:r>
              <a:rPr lang="en-US" sz="1600" b="0">
                <a:solidFill>
                  <a:srgbClr val="000000"/>
                </a:solidFill>
                <a:latin typeface="Consolas" panose="020B0609020204030204" charset="0"/>
                <a:cs typeface="Consolas" panose="020B0609020204030204" charset="0"/>
              </a:rPr>
              <a:t> = </a:t>
            </a:r>
            <a:r>
              <a:rPr lang="en-US" sz="1600" b="0">
                <a:solidFill>
                  <a:srgbClr val="0000C0"/>
                </a:solidFill>
                <a:latin typeface="Consolas" panose="020B0609020204030204" charset="0"/>
                <a:cs typeface="Consolas" panose="020B0609020204030204" charset="0"/>
              </a:rPr>
              <a:t>head</a:t>
            </a:r>
            <a:r>
              <a:rPr lang="en-US" sz="1600" b="0">
                <a:solidFill>
                  <a:srgbClr val="000000"/>
                </a:solidFill>
                <a:latin typeface="Consolas" panose="020B0609020204030204" charset="0"/>
                <a:cs typeface="Consolas" panose="020B0609020204030204" charset="0"/>
              </a:rPr>
              <a:t>.</a:t>
            </a:r>
            <a:r>
              <a:rPr lang="en-US" sz="1600" b="0">
                <a:solidFill>
                  <a:srgbClr val="0000C0"/>
                </a:solidFill>
                <a:latin typeface="Consolas" panose="020B0609020204030204" charset="0"/>
                <a:cs typeface="Consolas" panose="020B0609020204030204" charset="0"/>
              </a:rPr>
              <a:t>pre</a:t>
            </a:r>
            <a:r>
              <a:rPr lang="en-US" sz="1600" b="0">
                <a:solidFill>
                  <a:srgbClr val="000000"/>
                </a:solidFill>
                <a:latin typeface="Consolas" panose="020B0609020204030204" charset="0"/>
                <a:cs typeface="Consolas" panose="020B0609020204030204" charset="0"/>
              </a:rPr>
              <a:t> = </a:t>
            </a:r>
            <a:r>
              <a:rPr lang="en-US" sz="1600" b="0">
                <a:solidFill>
                  <a:srgbClr val="0000C0"/>
                </a:solidFill>
                <a:latin typeface="Consolas" panose="020B0609020204030204" charset="0"/>
                <a:cs typeface="Consolas" panose="020B0609020204030204" charset="0"/>
              </a:rPr>
              <a:t>head</a:t>
            </a:r>
            <a:r>
              <a:rPr lang="en-US" sz="1600" b="0">
                <a:solidFill>
                  <a:srgbClr val="000000"/>
                </a:solidFill>
                <a:latin typeface="Consolas" panose="020B0609020204030204" charset="0"/>
                <a:cs typeface="Consolas" panose="020B0609020204030204" charset="0"/>
              </a:rPr>
              <a:t>;}</a:t>
            </a:r>
            <a:endParaRPr lang="en-US" altLang="en-US" sz="1600" b="0">
              <a:solidFill>
                <a:srgbClr val="000000"/>
              </a:solidFill>
              <a:latin typeface="Consolas" panose="020B0609020204030204" charset="0"/>
              <a:cs typeface="Consolas" panose="020B0609020204030204" charset="0"/>
            </a:endParaRPr>
          </a:p>
        </p:txBody>
      </p:sp>
      <p:pic>
        <p:nvPicPr>
          <p:cNvPr id="2" name="图片 1"/>
          <p:cNvPicPr>
            <a:picLocks noChangeAspect="1"/>
          </p:cNvPicPr>
          <p:nvPr/>
        </p:nvPicPr>
        <p:blipFill>
          <a:blip r:embed="rId1"/>
          <a:stretch>
            <a:fillRect/>
          </a:stretch>
        </p:blipFill>
        <p:spPr>
          <a:xfrm>
            <a:off x="1885315" y="1856105"/>
            <a:ext cx="2717800" cy="1028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5163820" cy="521970"/>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2.</a:t>
            </a:r>
            <a:r>
              <a:rPr lang="zh-CN" altLang="en-US" sz="2800" b="1" i="1">
                <a:latin typeface="幼圆" panose="02010509060101010101" pitchFamily="49" charset="-122"/>
                <a:ea typeface="幼圆" panose="02010509060101010101" pitchFamily="49" charset="-122"/>
                <a:cs typeface="幼圆" panose="02010509060101010101" pitchFamily="49" charset="-122"/>
              </a:rPr>
              <a:t>在第i个位置插入新的元素x</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100" name="文本框 99"/>
          <p:cNvSpPr txBox="1"/>
          <p:nvPr/>
        </p:nvSpPr>
        <p:spPr>
          <a:xfrm>
            <a:off x="673100" y="2628900"/>
            <a:ext cx="5937250" cy="3415030"/>
          </a:xfrm>
          <a:prstGeom prst="rect">
            <a:avLst/>
          </a:prstGeom>
          <a:noFill/>
          <a:ln w="9525">
            <a:noFill/>
          </a:ln>
        </p:spPr>
        <p:txBody>
          <a:bodyPr wrap="square">
            <a:sp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a:t>
            </a:r>
            <a:r>
              <a:rPr lang="en-US" b="1">
                <a:solidFill>
                  <a:srgbClr val="7F0055"/>
                </a:solidFill>
                <a:latin typeface="Consolas" panose="020B0609020204030204" charset="0"/>
              </a:rPr>
              <a:t>void</a:t>
            </a:r>
            <a:r>
              <a:rPr lang="en-US" b="0">
                <a:solidFill>
                  <a:srgbClr val="000000"/>
                </a:solidFill>
                <a:latin typeface="Consolas" panose="020B0609020204030204" charset="0"/>
              </a:rPr>
              <a:t> add(</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T </a:t>
            </a:r>
            <a:r>
              <a:rPr lang="en-US" b="0">
                <a:solidFill>
                  <a:srgbClr val="6A3E3E"/>
                </a:solidFill>
                <a:latin typeface="Consolas" panose="020B0609020204030204" charset="0"/>
              </a:rPr>
              <a:t>x</a:t>
            </a:r>
            <a:r>
              <a:rPr lang="en-US" b="0">
                <a:solidFill>
                  <a:srgbClr val="000000"/>
                </a:solidFill>
                <a:latin typeface="Consolas" panose="020B0609020204030204" charset="0"/>
              </a:rPr>
              <a:t>) {	rangeCheckForAdd(</a:t>
            </a:r>
            <a:r>
              <a:rPr lang="en-US" b="0">
                <a:solidFill>
                  <a:srgbClr val="6A3E3E"/>
                </a:solidFill>
                <a:latin typeface="Consolas" panose="020B0609020204030204" charset="0"/>
              </a:rPr>
              <a:t>i</a:t>
            </a:r>
            <a:r>
              <a:rPr lang="en-US" b="0">
                <a:solidFill>
                  <a:srgbClr val="000000"/>
                </a:solidFill>
                <a:latin typeface="Consolas" panose="020B0609020204030204" charset="0"/>
              </a:rPr>
              <a:t>);	Node&lt;T&gt;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	</a:t>
            </a:r>
            <a:r>
              <a:rPr lang="en-US" b="1">
                <a:solidFill>
                  <a:srgbClr val="7F0055"/>
                </a:solidFill>
                <a:latin typeface="Consolas" panose="020B0609020204030204" charset="0"/>
              </a:rPr>
              <a:t>for</a:t>
            </a:r>
            <a:r>
              <a:rPr lang="en-US" b="0">
                <a:solidFill>
                  <a:srgbClr val="000000"/>
                </a:solidFill>
                <a:latin typeface="Consolas" panose="020B0609020204030204" charset="0"/>
              </a:rPr>
              <a:t> (</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n</a:t>
            </a:r>
            <a:r>
              <a:rPr lang="en-US" b="0">
                <a:solidFill>
                  <a:srgbClr val="000000"/>
                </a:solidFill>
                <a:latin typeface="Consolas" panose="020B0609020204030204" charset="0"/>
              </a:rPr>
              <a:t> = 0; </a:t>
            </a:r>
            <a:r>
              <a:rPr lang="en-US" b="0">
                <a:solidFill>
                  <a:srgbClr val="6A3E3E"/>
                </a:solidFill>
                <a:latin typeface="Consolas" panose="020B0609020204030204" charset="0"/>
              </a:rPr>
              <a:t>n</a:t>
            </a:r>
            <a:r>
              <a:rPr lang="en-US" b="0">
                <a:solidFill>
                  <a:srgbClr val="000000"/>
                </a:solidFill>
                <a:latin typeface="Consolas" panose="020B0609020204030204" charset="0"/>
              </a:rPr>
              <a:t> &lt; </a:t>
            </a:r>
            <a:r>
              <a:rPr lang="en-US" b="0">
                <a:solidFill>
                  <a:srgbClr val="6A3E3E"/>
                </a:solidFill>
                <a:latin typeface="Consolas" panose="020B0609020204030204" charset="0"/>
              </a:rPr>
              <a:t>i</a:t>
            </a:r>
            <a:r>
              <a:rPr lang="en-US" b="0">
                <a:solidFill>
                  <a:srgbClr val="000000"/>
                </a:solidFill>
                <a:latin typeface="Consolas" panose="020B0609020204030204" charset="0"/>
              </a:rPr>
              <a:t>; </a:t>
            </a:r>
            <a:r>
              <a:rPr lang="en-US" b="0">
                <a:solidFill>
                  <a:srgbClr val="6A3E3E"/>
                </a:solidFill>
                <a:latin typeface="Consolas" panose="020B0609020204030204" charset="0"/>
              </a:rPr>
              <a:t>n</a:t>
            </a:r>
            <a:r>
              <a:rPr lang="en-US" b="0">
                <a:solidFill>
                  <a:srgbClr val="000000"/>
                </a:solidFill>
                <a:latin typeface="Consolas" panose="020B0609020204030204" charset="0"/>
              </a:rPr>
              <a:t>++) </a:t>
            </a:r>
            <a:endParaRPr lang="en-US" b="0">
              <a:solidFill>
                <a:srgbClr val="000000"/>
              </a:solidFill>
              <a:latin typeface="Consolas" panose="020B0609020204030204" charset="0"/>
            </a:endParaRPr>
          </a:p>
          <a:p>
            <a:pPr indent="0"/>
            <a:r>
              <a:rPr lang="en-US" altLang="zh-CN" b="0">
                <a:solidFill>
                  <a:srgbClr val="3F7F5F"/>
                </a:solidFill>
                <a:cs typeface="Consolas" panose="020B0609020204030204" charset="0"/>
              </a:rPr>
              <a:t>   </a:t>
            </a:r>
            <a:r>
              <a:rPr lang="zh-CN" b="0">
                <a:solidFill>
                  <a:srgbClr val="3F7F5F"/>
                </a:solidFill>
                <a:cs typeface="Consolas" panose="020B0609020204030204" charset="0"/>
              </a:rPr>
              <a:t>// 找到index的前驱</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Node&lt;T&gt; </a:t>
            </a:r>
            <a:r>
              <a:rPr lang="en-US" b="0">
                <a:solidFill>
                  <a:srgbClr val="6A3E3E"/>
                </a:solidFill>
                <a:latin typeface="Consolas" panose="020B0609020204030204" charset="0"/>
              </a:rPr>
              <a:t>s</a:t>
            </a:r>
            <a:r>
              <a:rPr lang="en-US" b="0">
                <a:solidFill>
                  <a:srgbClr val="000000"/>
                </a:solidFill>
                <a:latin typeface="Consolas" panose="020B0609020204030204" charset="0"/>
              </a:rPr>
              <a:t> = </a:t>
            </a:r>
            <a:r>
              <a:rPr lang="en-US" b="1">
                <a:solidFill>
                  <a:srgbClr val="7F0055"/>
                </a:solidFill>
                <a:latin typeface="Consolas" panose="020B0609020204030204" charset="0"/>
              </a:rPr>
              <a:t>new</a:t>
            </a:r>
            <a:r>
              <a:rPr lang="en-US" b="0">
                <a:solidFill>
                  <a:srgbClr val="000000"/>
                </a:solidFill>
                <a:latin typeface="Consolas" panose="020B0609020204030204" charset="0"/>
              </a:rPr>
              <a:t> </a:t>
            </a:r>
            <a:r>
              <a:rPr lang="en-US" b="0" u="sng">
                <a:solidFill>
                  <a:srgbClr val="000000"/>
                </a:solidFill>
                <a:latin typeface="Consolas" panose="020B0609020204030204" charset="0"/>
              </a:rPr>
              <a:t>Node</a:t>
            </a:r>
            <a:r>
              <a:rPr lang="en-US" b="0">
                <a:solidFill>
                  <a:srgbClr val="000000"/>
                </a:solidFill>
                <a:latin typeface="Consolas" panose="020B0609020204030204" charset="0"/>
              </a:rPr>
              <a:t>&lt;T&gt;(</a:t>
            </a:r>
            <a:r>
              <a:rPr lang="en-US" b="0">
                <a:solidFill>
                  <a:srgbClr val="6A3E3E"/>
                </a:solidFill>
                <a:latin typeface="Consolas" panose="020B0609020204030204" charset="0"/>
              </a:rPr>
              <a:t>x</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0">
                <a:solidFill>
                  <a:srgbClr val="6A3E3E"/>
                </a:solidFill>
                <a:latin typeface="Consolas" panose="020B0609020204030204" charset="0"/>
              </a:rPr>
              <a:t>s</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a:t>
            </a:r>
            <a:r>
              <a:rPr lang="en-US" b="0">
                <a:solidFill>
                  <a:srgbClr val="0000C0"/>
                </a:solidFill>
                <a:latin typeface="Consolas" panose="020B0609020204030204" charset="0"/>
              </a:rPr>
              <a:t>pre</a:t>
            </a:r>
            <a:r>
              <a:rPr lang="en-US" b="0">
                <a:solidFill>
                  <a:srgbClr val="000000"/>
                </a:solidFill>
                <a:latin typeface="Consolas" panose="020B0609020204030204" charset="0"/>
              </a:rPr>
              <a:t> = </a:t>
            </a:r>
            <a:r>
              <a:rPr lang="en-US" b="0">
                <a:solidFill>
                  <a:srgbClr val="6A3E3E"/>
                </a:solidFill>
                <a:latin typeface="Consolas" panose="020B0609020204030204" charset="0"/>
              </a:rPr>
              <a:t>s</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 </a:t>
            </a:r>
            <a:r>
              <a:rPr lang="en-US" b="0">
                <a:solidFill>
                  <a:srgbClr val="6A3E3E"/>
                </a:solidFill>
                <a:latin typeface="Consolas" panose="020B0609020204030204" charset="0"/>
              </a:rPr>
              <a:t>s</a:t>
            </a:r>
            <a:r>
              <a:rPr lang="en-US" b="0">
                <a:solidFill>
                  <a:srgbClr val="000000"/>
                </a:solidFill>
                <a:latin typeface="Consolas" panose="020B0609020204030204" charset="0"/>
              </a:rPr>
              <a:t>;	++</a:t>
            </a:r>
            <a:r>
              <a:rPr lang="en-US" b="0">
                <a:solidFill>
                  <a:srgbClr val="0000C0"/>
                </a:solidFill>
                <a:latin typeface="Consolas" panose="020B0609020204030204" charset="0"/>
              </a:rPr>
              <a:t>size</a:t>
            </a:r>
            <a:r>
              <a:rPr lang="en-US" b="0">
                <a:solidFill>
                  <a:srgbClr val="000000"/>
                </a:solidFill>
                <a:latin typeface="Consolas" panose="020B0609020204030204" charset="0"/>
              </a:rPr>
              <a:t>;	</a:t>
            </a:r>
            <a:r>
              <a:rPr lang="en-US" b="1">
                <a:solidFill>
                  <a:srgbClr val="7F0055"/>
                </a:solidFill>
                <a:latin typeface="Consolas" panose="020B0609020204030204" charset="0"/>
              </a:rPr>
              <a:t>return</a:t>
            </a:r>
            <a:r>
              <a:rPr lang="en-US" b="0">
                <a:solidFill>
                  <a:srgbClr val="000000"/>
                </a:solidFill>
                <a:latin typeface="Consolas" panose="020B0609020204030204" charset="0"/>
              </a:rPr>
              <a:t>;}</a:t>
            </a:r>
            <a:endParaRPr lang="en-US" altLang="en-US" b="0">
              <a:solidFill>
                <a:srgbClr val="000000"/>
              </a:solidFill>
              <a:latin typeface="Consolas" panose="020B0609020204030204" charset="0"/>
            </a:endParaRPr>
          </a:p>
        </p:txBody>
      </p:sp>
      <p:pic>
        <p:nvPicPr>
          <p:cNvPr id="3" name="图片 2"/>
          <p:cNvPicPr>
            <a:picLocks noChangeAspect="1"/>
          </p:cNvPicPr>
          <p:nvPr/>
        </p:nvPicPr>
        <p:blipFill>
          <a:blip r:embed="rId1"/>
          <a:stretch>
            <a:fillRect/>
          </a:stretch>
        </p:blipFill>
        <p:spPr>
          <a:xfrm>
            <a:off x="5713730" y="1262380"/>
            <a:ext cx="5892800" cy="2559050"/>
          </a:xfrm>
          <a:prstGeom prst="rect">
            <a:avLst/>
          </a:prstGeom>
        </p:spPr>
      </p:pic>
      <p:sp>
        <p:nvSpPr>
          <p:cNvPr id="2" name="文本框 1"/>
          <p:cNvSpPr txBox="1"/>
          <p:nvPr/>
        </p:nvSpPr>
        <p:spPr>
          <a:xfrm>
            <a:off x="5612130" y="5799455"/>
            <a:ext cx="6096000" cy="645160"/>
          </a:xfrm>
          <a:prstGeom prst="rect">
            <a:avLst/>
          </a:prstGeom>
          <a:noFill/>
        </p:spPr>
        <p:txBody>
          <a:bodyPr wrap="square" rtlCol="0" anchor="t">
            <a:spAutoFit/>
          </a:bodyPr>
          <a:p>
            <a:r>
              <a:rPr lang="en-US" altLang="zh-CN">
                <a:sym typeface="+mn-ea"/>
              </a:rPr>
              <a:t> </a:t>
            </a:r>
            <a:r>
              <a:rPr lang="zh-CN" altLang="en-US" i="1">
                <a:solidFill>
                  <a:schemeClr val="bg1">
                    <a:lumMod val="50000"/>
                  </a:schemeClr>
                </a:solidFill>
                <a:latin typeface="幼圆" panose="02010509060101010101" pitchFamily="49" charset="-122"/>
                <a:ea typeface="幼圆" panose="02010509060101010101" pitchFamily="49" charset="-122"/>
                <a:sym typeface="+mn-ea"/>
              </a:rPr>
              <a:t>对于头结点来说，它的前驱是最后一个结点；对于最后一个结点来说，它的后继是头结点。</a:t>
            </a:r>
            <a:endParaRPr lang="zh-CN" altLang="en-US" i="1">
              <a:solidFill>
                <a:schemeClr val="bg1">
                  <a:lumMod val="50000"/>
                </a:schemeClr>
              </a:solidFill>
              <a:latin typeface="幼圆" panose="02010509060101010101" pitchFamily="49" charset="-122"/>
              <a:ea typeface="幼圆" panose="02010509060101010101" pitchFamily="49"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5163820" cy="521970"/>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3.</a:t>
            </a:r>
            <a:r>
              <a:rPr lang="zh-CN" altLang="en-US" sz="2800" b="1" i="1">
                <a:latin typeface="幼圆" panose="02010509060101010101" pitchFamily="49" charset="-122"/>
                <a:ea typeface="幼圆" panose="02010509060101010101" pitchFamily="49" charset="-122"/>
                <a:cs typeface="幼圆" panose="02010509060101010101" pitchFamily="49" charset="-122"/>
              </a:rPr>
              <a:t>删除第i个位置上的元素</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100" name="文本框 99"/>
          <p:cNvSpPr txBox="1"/>
          <p:nvPr/>
        </p:nvSpPr>
        <p:spPr>
          <a:xfrm>
            <a:off x="6426200" y="1471930"/>
            <a:ext cx="5514340" cy="4246245"/>
          </a:xfrm>
          <a:prstGeom prst="rect">
            <a:avLst/>
          </a:prstGeom>
          <a:noFill/>
          <a:ln w="9525">
            <a:noFill/>
          </a:ln>
        </p:spPr>
        <p:txBody>
          <a:bodyPr wrap="square">
            <a:sp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T remove(</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	rangeCheck(</a:t>
            </a:r>
            <a:r>
              <a:rPr lang="en-US" b="0">
                <a:solidFill>
                  <a:srgbClr val="6A3E3E"/>
                </a:solidFill>
                <a:latin typeface="Consolas" panose="020B0609020204030204" charset="0"/>
              </a:rPr>
              <a:t>i</a:t>
            </a:r>
            <a:r>
              <a:rPr lang="en-US" b="0">
                <a:solidFill>
                  <a:srgbClr val="000000"/>
                </a:solidFill>
                <a:latin typeface="Consolas" panose="020B0609020204030204" charset="0"/>
              </a:rPr>
              <a:t>);	Node&lt;T&gt;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	</a:t>
            </a:r>
            <a:r>
              <a:rPr lang="en-US" b="1">
                <a:solidFill>
                  <a:srgbClr val="7F0055"/>
                </a:solidFill>
                <a:latin typeface="Consolas" panose="020B0609020204030204" charset="0"/>
              </a:rPr>
              <a:t>for</a:t>
            </a:r>
            <a:r>
              <a:rPr lang="en-US" b="0">
                <a:solidFill>
                  <a:srgbClr val="000000"/>
                </a:solidFill>
                <a:latin typeface="Consolas" panose="020B0609020204030204" charset="0"/>
              </a:rPr>
              <a:t> (</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n</a:t>
            </a:r>
            <a:r>
              <a:rPr lang="en-US" b="0">
                <a:solidFill>
                  <a:srgbClr val="000000"/>
                </a:solidFill>
                <a:latin typeface="Consolas" panose="020B0609020204030204" charset="0"/>
              </a:rPr>
              <a:t> = 0; </a:t>
            </a:r>
            <a:r>
              <a:rPr lang="en-US" b="0">
                <a:solidFill>
                  <a:srgbClr val="6A3E3E"/>
                </a:solidFill>
                <a:latin typeface="Consolas" panose="020B0609020204030204" charset="0"/>
              </a:rPr>
              <a:t>n</a:t>
            </a:r>
            <a:r>
              <a:rPr lang="en-US" b="0">
                <a:solidFill>
                  <a:srgbClr val="000000"/>
                </a:solidFill>
                <a:latin typeface="Consolas" panose="020B0609020204030204" charset="0"/>
              </a:rPr>
              <a:t> &lt; </a:t>
            </a:r>
            <a:r>
              <a:rPr lang="en-US" b="0">
                <a:solidFill>
                  <a:srgbClr val="6A3E3E"/>
                </a:solidFill>
                <a:latin typeface="Consolas" panose="020B0609020204030204" charset="0"/>
              </a:rPr>
              <a:t>i</a:t>
            </a:r>
            <a:r>
              <a:rPr lang="en-US" b="0">
                <a:solidFill>
                  <a:srgbClr val="000000"/>
                </a:solidFill>
                <a:latin typeface="Consolas" panose="020B0609020204030204" charset="0"/>
              </a:rPr>
              <a:t>; </a:t>
            </a:r>
            <a:r>
              <a:rPr lang="en-US" b="0">
                <a:solidFill>
                  <a:srgbClr val="6A3E3E"/>
                </a:solidFill>
                <a:latin typeface="Consolas" panose="020B0609020204030204" charset="0"/>
              </a:rPr>
              <a:t>n</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Node&lt;T&gt; </a:t>
            </a:r>
            <a:r>
              <a:rPr lang="en-US" b="0">
                <a:solidFill>
                  <a:srgbClr val="6A3E3E"/>
                </a:solidFill>
                <a:latin typeface="Consolas" panose="020B0609020204030204" charset="0"/>
              </a:rPr>
              <a:t>q</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a:t>
            </a:r>
            <a:r>
              <a:rPr lang="zh-CN" b="0">
                <a:solidFill>
                  <a:srgbClr val="3F7F5F"/>
                </a:solidFill>
                <a:cs typeface="Consolas" panose="020B0609020204030204" charset="0"/>
              </a:rPr>
              <a:t>// q待删除结点</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 </a:t>
            </a:r>
            <a:r>
              <a:rPr lang="en-US" b="0">
                <a:solidFill>
                  <a:srgbClr val="6A3E3E"/>
                </a:solidFill>
                <a:latin typeface="Consolas" panose="020B0609020204030204" charset="0"/>
              </a:rPr>
              <a:t>q</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0">
                <a:solidFill>
                  <a:srgbClr val="6A3E3E"/>
                </a:solidFill>
                <a:latin typeface="Consolas" panose="020B0609020204030204" charset="0"/>
              </a:rPr>
              <a:t>q</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a:t>
            </a:r>
            <a:r>
              <a:rPr lang="en-US" b="0">
                <a:solidFill>
                  <a:srgbClr val="0000C0"/>
                </a:solidFill>
                <a:latin typeface="Consolas" panose="020B0609020204030204" charset="0"/>
              </a:rPr>
              <a:t>pre</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	T </a:t>
            </a:r>
            <a:r>
              <a:rPr lang="en-US" b="0">
                <a:solidFill>
                  <a:srgbClr val="6A3E3E"/>
                </a:solidFill>
                <a:latin typeface="Consolas" panose="020B0609020204030204" charset="0"/>
              </a:rPr>
              <a:t>value</a:t>
            </a:r>
            <a:r>
              <a:rPr lang="en-US" b="0">
                <a:solidFill>
                  <a:srgbClr val="000000"/>
                </a:solidFill>
                <a:latin typeface="Consolas" panose="020B0609020204030204" charset="0"/>
              </a:rPr>
              <a:t> = </a:t>
            </a:r>
            <a:r>
              <a:rPr lang="en-US" b="0">
                <a:solidFill>
                  <a:srgbClr val="6A3E3E"/>
                </a:solidFill>
                <a:latin typeface="Consolas" panose="020B0609020204030204" charset="0"/>
              </a:rPr>
              <a:t>q</a:t>
            </a:r>
            <a:r>
              <a:rPr lang="en-US" b="0">
                <a:solidFill>
                  <a:srgbClr val="000000"/>
                </a:solidFill>
                <a:latin typeface="Consolas" panose="020B0609020204030204" charset="0"/>
              </a:rPr>
              <a:t>.</a:t>
            </a:r>
            <a:r>
              <a:rPr lang="en-US" b="0">
                <a:solidFill>
                  <a:srgbClr val="0000C0"/>
                </a:solidFill>
                <a:latin typeface="Consolas" panose="020B0609020204030204" charset="0"/>
              </a:rPr>
              <a:t>data</a:t>
            </a:r>
            <a:r>
              <a:rPr lang="en-US" b="0">
                <a:solidFill>
                  <a:srgbClr val="000000"/>
                </a:solidFill>
                <a:latin typeface="Consolas" panose="020B0609020204030204" charset="0"/>
              </a:rPr>
              <a:t>;</a:t>
            </a:r>
            <a:r>
              <a:rPr lang="zh-CN" b="0">
                <a:solidFill>
                  <a:srgbClr val="3F7F5F"/>
                </a:solidFill>
                <a:cs typeface="Consolas" panose="020B0609020204030204" charset="0"/>
              </a:rPr>
              <a:t>// q指向待删除结点</a:t>
            </a:r>
            <a:r>
              <a:rPr lang="en-US" b="0">
                <a:solidFill>
                  <a:srgbClr val="000000"/>
                </a:solidFill>
                <a:latin typeface="Consolas" panose="020B0609020204030204" charset="0"/>
              </a:rPr>
              <a:t>	</a:t>
            </a:r>
            <a:r>
              <a:rPr lang="en-US" b="0">
                <a:solidFill>
                  <a:srgbClr val="6A3E3E"/>
                </a:solidFill>
                <a:latin typeface="Consolas" panose="020B0609020204030204" charset="0"/>
              </a:rPr>
              <a:t>q</a:t>
            </a:r>
            <a:r>
              <a:rPr lang="en-US" b="0">
                <a:solidFill>
                  <a:srgbClr val="000000"/>
                </a:solidFill>
                <a:latin typeface="Consolas" panose="020B0609020204030204" charset="0"/>
              </a:rPr>
              <a:t>.</a:t>
            </a:r>
            <a:r>
              <a:rPr lang="en-US" b="0">
                <a:solidFill>
                  <a:srgbClr val="0000C0"/>
                </a:solidFill>
                <a:latin typeface="Consolas" panose="020B0609020204030204" charset="0"/>
              </a:rPr>
              <a:t>data</a:t>
            </a:r>
            <a:r>
              <a:rPr lang="en-US" b="0">
                <a:solidFill>
                  <a:srgbClr val="000000"/>
                </a:solidFill>
                <a:latin typeface="Consolas" panose="020B0609020204030204" charset="0"/>
              </a:rPr>
              <a:t> = </a:t>
            </a:r>
            <a:r>
              <a:rPr lang="en-US" b="1">
                <a:solidFill>
                  <a:srgbClr val="7F0055"/>
                </a:solidFill>
                <a:latin typeface="Consolas" panose="020B0609020204030204" charset="0"/>
              </a:rPr>
              <a:t>null</a:t>
            </a:r>
            <a:r>
              <a:rPr lang="en-US" b="0">
                <a:solidFill>
                  <a:srgbClr val="000000"/>
                </a:solidFill>
                <a:latin typeface="Consolas" panose="020B0609020204030204" charset="0"/>
              </a:rPr>
              <a:t>;</a:t>
            </a:r>
            <a:r>
              <a:rPr lang="zh-CN" b="0">
                <a:solidFill>
                  <a:srgbClr val="3F7F5F"/>
                </a:solidFill>
                <a:cs typeface="Consolas" panose="020B0609020204030204" charset="0"/>
              </a:rPr>
              <a:t>// 帮助GC</a:t>
            </a:r>
            <a:r>
              <a:rPr lang="en-US" b="0">
                <a:solidFill>
                  <a:srgbClr val="000000"/>
                </a:solidFill>
                <a:latin typeface="Consolas" panose="020B0609020204030204" charset="0"/>
              </a:rPr>
              <a:t>	</a:t>
            </a:r>
            <a:r>
              <a:rPr lang="en-US" b="0">
                <a:solidFill>
                  <a:srgbClr val="6A3E3E"/>
                </a:solidFill>
                <a:latin typeface="Consolas" panose="020B0609020204030204" charset="0"/>
              </a:rPr>
              <a:t>q</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 </a:t>
            </a:r>
            <a:r>
              <a:rPr lang="en-US" b="1">
                <a:solidFill>
                  <a:srgbClr val="7F0055"/>
                </a:solidFill>
                <a:latin typeface="Consolas" panose="020B0609020204030204" charset="0"/>
              </a:rPr>
              <a:t>null</a:t>
            </a:r>
            <a:r>
              <a:rPr lang="en-US" b="0">
                <a:solidFill>
                  <a:srgbClr val="000000"/>
                </a:solidFill>
                <a:latin typeface="Consolas" panose="020B0609020204030204" charset="0"/>
              </a:rPr>
              <a:t>;	</a:t>
            </a:r>
            <a:r>
              <a:rPr lang="en-US" b="0">
                <a:solidFill>
                  <a:srgbClr val="6A3E3E"/>
                </a:solidFill>
                <a:latin typeface="Consolas" panose="020B0609020204030204" charset="0"/>
              </a:rPr>
              <a:t>q</a:t>
            </a:r>
            <a:r>
              <a:rPr lang="en-US" b="0">
                <a:solidFill>
                  <a:srgbClr val="000000"/>
                </a:solidFill>
                <a:latin typeface="Consolas" panose="020B0609020204030204" charset="0"/>
              </a:rPr>
              <a:t>.</a:t>
            </a:r>
            <a:r>
              <a:rPr lang="en-US" b="0">
                <a:solidFill>
                  <a:srgbClr val="0000C0"/>
                </a:solidFill>
                <a:latin typeface="Consolas" panose="020B0609020204030204" charset="0"/>
              </a:rPr>
              <a:t>pre</a:t>
            </a:r>
            <a:r>
              <a:rPr lang="en-US" b="0">
                <a:solidFill>
                  <a:srgbClr val="000000"/>
                </a:solidFill>
                <a:latin typeface="Consolas" panose="020B0609020204030204" charset="0"/>
              </a:rPr>
              <a:t> = </a:t>
            </a:r>
            <a:r>
              <a:rPr lang="en-US" b="1">
                <a:solidFill>
                  <a:srgbClr val="7F0055"/>
                </a:solidFill>
                <a:latin typeface="Consolas" panose="020B0609020204030204" charset="0"/>
              </a:rPr>
              <a:t>null</a:t>
            </a:r>
            <a:r>
              <a:rPr lang="en-US" b="0">
                <a:solidFill>
                  <a:srgbClr val="000000"/>
                </a:solidFill>
                <a:latin typeface="Consolas" panose="020B0609020204030204" charset="0"/>
              </a:rPr>
              <a:t>;	--</a:t>
            </a:r>
            <a:r>
              <a:rPr lang="en-US" b="0">
                <a:solidFill>
                  <a:srgbClr val="0000C0"/>
                </a:solidFill>
                <a:latin typeface="Consolas" panose="020B0609020204030204" charset="0"/>
              </a:rPr>
              <a:t>size</a:t>
            </a:r>
            <a:r>
              <a:rPr lang="en-US" b="0">
                <a:solidFill>
                  <a:srgbClr val="000000"/>
                </a:solidFill>
                <a:latin typeface="Consolas" panose="020B0609020204030204" charset="0"/>
              </a:rPr>
              <a:t>;	</a:t>
            </a:r>
            <a:r>
              <a:rPr lang="en-US" b="1">
                <a:solidFill>
                  <a:srgbClr val="7F0055"/>
                </a:solidFill>
                <a:latin typeface="Consolas" panose="020B0609020204030204" charset="0"/>
              </a:rPr>
              <a:t>return</a:t>
            </a:r>
            <a:r>
              <a:rPr lang="en-US" b="0">
                <a:solidFill>
                  <a:srgbClr val="000000"/>
                </a:solidFill>
                <a:latin typeface="Consolas" panose="020B0609020204030204" charset="0"/>
              </a:rPr>
              <a:t> </a:t>
            </a:r>
            <a:r>
              <a:rPr lang="en-US" b="0">
                <a:solidFill>
                  <a:srgbClr val="6A3E3E"/>
                </a:solidFill>
                <a:latin typeface="Consolas" panose="020B0609020204030204" charset="0"/>
              </a:rPr>
              <a:t>value</a:t>
            </a:r>
            <a:r>
              <a:rPr lang="en-US" b="0">
                <a:solidFill>
                  <a:srgbClr val="000000"/>
                </a:solidFill>
                <a:latin typeface="Consolas" panose="020B0609020204030204" charset="0"/>
              </a:rPr>
              <a:t>;	}</a:t>
            </a:r>
            <a:endParaRPr lang="en-US" altLang="en-US" b="0">
              <a:solidFill>
                <a:srgbClr val="000000"/>
              </a:solidFill>
              <a:latin typeface="Consolas" panose="020B0609020204030204" charset="0"/>
            </a:endParaRPr>
          </a:p>
        </p:txBody>
      </p:sp>
      <p:pic>
        <p:nvPicPr>
          <p:cNvPr id="3" name="图片 2"/>
          <p:cNvPicPr>
            <a:picLocks noChangeAspect="1"/>
          </p:cNvPicPr>
          <p:nvPr/>
        </p:nvPicPr>
        <p:blipFill>
          <a:blip r:embed="rId1"/>
          <a:stretch>
            <a:fillRect/>
          </a:stretch>
        </p:blipFill>
        <p:spPr>
          <a:xfrm>
            <a:off x="855345" y="2524125"/>
            <a:ext cx="5867400" cy="1809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5163820" cy="521970"/>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4.</a:t>
            </a:r>
            <a:r>
              <a:rPr lang="zh-CN" altLang="en-US" sz="2800" b="1" i="1">
                <a:latin typeface="幼圆" panose="02010509060101010101" pitchFamily="49" charset="-122"/>
                <a:ea typeface="幼圆" panose="02010509060101010101" pitchFamily="49" charset="-122"/>
                <a:cs typeface="幼圆" panose="02010509060101010101" pitchFamily="49" charset="-122"/>
              </a:rPr>
              <a:t>取第i个位置上的元素</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100" name="文本框 99"/>
          <p:cNvSpPr txBox="1"/>
          <p:nvPr/>
        </p:nvSpPr>
        <p:spPr>
          <a:xfrm>
            <a:off x="5219700" y="544830"/>
            <a:ext cx="5788660" cy="2068195"/>
          </a:xfrm>
          <a:prstGeom prst="rect">
            <a:avLst/>
          </a:prstGeom>
          <a:noFill/>
          <a:ln w="9525">
            <a:noFill/>
          </a:ln>
        </p:spPr>
        <p:txBody>
          <a:bodyPr>
            <a:no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T get(</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	rangeCheck(</a:t>
            </a:r>
            <a:r>
              <a:rPr lang="en-US" b="0">
                <a:solidFill>
                  <a:srgbClr val="6A3E3E"/>
                </a:solidFill>
                <a:latin typeface="Consolas" panose="020B0609020204030204" charset="0"/>
              </a:rPr>
              <a:t>i</a:t>
            </a:r>
            <a:r>
              <a:rPr lang="en-US" b="0">
                <a:solidFill>
                  <a:srgbClr val="000000"/>
                </a:solidFill>
                <a:latin typeface="Consolas" panose="020B0609020204030204" charset="0"/>
              </a:rPr>
              <a:t>);	Node&lt;T&gt;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1">
                <a:solidFill>
                  <a:srgbClr val="7F0055"/>
                </a:solidFill>
                <a:latin typeface="Consolas" panose="020B0609020204030204" charset="0"/>
              </a:rPr>
              <a:t>for</a:t>
            </a:r>
            <a:r>
              <a:rPr lang="en-US" b="0">
                <a:solidFill>
                  <a:srgbClr val="000000"/>
                </a:solidFill>
                <a:latin typeface="Consolas" panose="020B0609020204030204" charset="0"/>
              </a:rPr>
              <a:t> (</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n</a:t>
            </a:r>
            <a:r>
              <a:rPr lang="en-US" b="0">
                <a:solidFill>
                  <a:srgbClr val="000000"/>
                </a:solidFill>
                <a:latin typeface="Consolas" panose="020B0609020204030204" charset="0"/>
              </a:rPr>
              <a:t> = 0; </a:t>
            </a:r>
            <a:r>
              <a:rPr lang="en-US" b="0">
                <a:solidFill>
                  <a:srgbClr val="6A3E3E"/>
                </a:solidFill>
                <a:latin typeface="Consolas" panose="020B0609020204030204" charset="0"/>
              </a:rPr>
              <a:t>n</a:t>
            </a:r>
            <a:r>
              <a:rPr lang="en-US" b="0">
                <a:solidFill>
                  <a:srgbClr val="000000"/>
                </a:solidFill>
                <a:latin typeface="Consolas" panose="020B0609020204030204" charset="0"/>
              </a:rPr>
              <a:t> &lt; </a:t>
            </a:r>
            <a:r>
              <a:rPr lang="en-US" b="0">
                <a:solidFill>
                  <a:srgbClr val="6A3E3E"/>
                </a:solidFill>
                <a:latin typeface="Consolas" panose="020B0609020204030204" charset="0"/>
              </a:rPr>
              <a:t>i</a:t>
            </a:r>
            <a:r>
              <a:rPr lang="en-US" b="0">
                <a:solidFill>
                  <a:srgbClr val="000000"/>
                </a:solidFill>
                <a:latin typeface="Consolas" panose="020B0609020204030204" charset="0"/>
              </a:rPr>
              <a:t>; </a:t>
            </a:r>
            <a:r>
              <a:rPr lang="en-US" b="0">
                <a:solidFill>
                  <a:srgbClr val="6A3E3E"/>
                </a:solidFill>
                <a:latin typeface="Consolas" panose="020B0609020204030204" charset="0"/>
              </a:rPr>
              <a:t>n</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1">
                <a:solidFill>
                  <a:srgbClr val="7F0055"/>
                </a:solidFill>
                <a:latin typeface="Consolas" panose="020B0609020204030204" charset="0"/>
              </a:rPr>
              <a:t>return</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data</a:t>
            </a:r>
            <a:r>
              <a:rPr lang="en-US" b="0">
                <a:solidFill>
                  <a:srgbClr val="000000"/>
                </a:solidFill>
                <a:latin typeface="Consolas" panose="020B0609020204030204" charset="0"/>
              </a:rPr>
              <a:t>;	}</a:t>
            </a:r>
            <a:endParaRPr lang="en-US" altLang="en-US" b="0">
              <a:solidFill>
                <a:srgbClr val="000000"/>
              </a:solidFill>
              <a:latin typeface="Consolas" panose="020B0609020204030204" charset="0"/>
            </a:endParaRPr>
          </a:p>
        </p:txBody>
      </p:sp>
      <p:sp>
        <p:nvSpPr>
          <p:cNvPr id="2" name="文本框 1"/>
          <p:cNvSpPr txBox="1"/>
          <p:nvPr/>
        </p:nvSpPr>
        <p:spPr>
          <a:xfrm>
            <a:off x="629285" y="3703955"/>
            <a:ext cx="4173220" cy="1383665"/>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5.</a:t>
            </a:r>
            <a:r>
              <a:rPr lang="zh-CN" altLang="en-US" sz="2800" b="1" i="1">
                <a:latin typeface="幼圆" panose="02010509060101010101" pitchFamily="49" charset="-122"/>
                <a:ea typeface="幼圆" panose="02010509060101010101" pitchFamily="49" charset="-122"/>
                <a:cs typeface="幼圆" panose="02010509060101010101" pitchFamily="49" charset="-122"/>
              </a:rPr>
              <a:t>返回元素x第一次出现</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a:p>
            <a:r>
              <a:rPr lang="zh-CN" altLang="en-US" sz="2800" b="1" i="1">
                <a:latin typeface="幼圆" panose="02010509060101010101" pitchFamily="49" charset="-122"/>
                <a:ea typeface="幼圆" panose="02010509060101010101" pitchFamily="49" charset="-122"/>
                <a:cs typeface="幼圆" panose="02010509060101010101" pitchFamily="49" charset="-122"/>
              </a:rPr>
              <a:t>在双向循环链表中的位</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a:p>
            <a:r>
              <a:rPr lang="zh-CN" altLang="en-US" sz="2800" b="1" i="1">
                <a:latin typeface="幼圆" panose="02010509060101010101" pitchFamily="49" charset="-122"/>
                <a:ea typeface="幼圆" panose="02010509060101010101" pitchFamily="49" charset="-122"/>
                <a:cs typeface="幼圆" panose="02010509060101010101" pitchFamily="49" charset="-122"/>
              </a:rPr>
              <a:t>置号</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3" name="文本框 2"/>
          <p:cNvSpPr txBox="1"/>
          <p:nvPr/>
        </p:nvSpPr>
        <p:spPr>
          <a:xfrm>
            <a:off x="5219700" y="3573780"/>
            <a:ext cx="6475095" cy="2861310"/>
          </a:xfrm>
          <a:prstGeom prst="rect">
            <a:avLst/>
          </a:prstGeom>
          <a:noFill/>
          <a:ln w="9525">
            <a:noFill/>
          </a:ln>
        </p:spPr>
        <p:txBody>
          <a:bodyPr wrap="square">
            <a:sp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a:t>
            </a:r>
            <a:r>
              <a:rPr lang="en-US" b="1">
                <a:solidFill>
                  <a:srgbClr val="7F0055"/>
                </a:solidFill>
                <a:latin typeface="Consolas" panose="020B0609020204030204" charset="0"/>
              </a:rPr>
              <a:t>int</a:t>
            </a:r>
            <a:r>
              <a:rPr lang="en-US" b="0">
                <a:solidFill>
                  <a:srgbClr val="000000"/>
                </a:solidFill>
                <a:latin typeface="Consolas" panose="020B0609020204030204" charset="0"/>
              </a:rPr>
              <a:t> indexOf(T </a:t>
            </a:r>
            <a:r>
              <a:rPr lang="en-US" b="0">
                <a:solidFill>
                  <a:srgbClr val="6A3E3E"/>
                </a:solidFill>
                <a:latin typeface="Consolas" panose="020B0609020204030204" charset="0"/>
              </a:rPr>
              <a:t>x</a:t>
            </a:r>
            <a:r>
              <a:rPr lang="en-US" b="0">
                <a:solidFill>
                  <a:srgbClr val="000000"/>
                </a:solidFill>
                <a:latin typeface="Consolas" panose="020B0609020204030204" charset="0"/>
              </a:rPr>
              <a:t>) {	</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 0;	</a:t>
            </a:r>
            <a:r>
              <a:rPr lang="en-US" b="1">
                <a:solidFill>
                  <a:srgbClr val="7F0055"/>
                </a:solidFill>
                <a:latin typeface="Consolas" panose="020B0609020204030204" charset="0"/>
              </a:rPr>
              <a:t>for</a:t>
            </a:r>
            <a:r>
              <a:rPr lang="en-US" b="0">
                <a:solidFill>
                  <a:srgbClr val="000000"/>
                </a:solidFill>
                <a:latin typeface="Consolas" panose="020B0609020204030204" charset="0"/>
              </a:rPr>
              <a:t> (Node&lt;T&gt;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		</a:t>
            </a:r>
            <a:r>
              <a:rPr lang="en-US" b="1">
                <a:solidFill>
                  <a:srgbClr val="7F0055"/>
                </a:solidFill>
                <a:latin typeface="Consolas" panose="020B0609020204030204" charset="0"/>
              </a:rPr>
              <a:t>if</a:t>
            </a:r>
            <a:r>
              <a:rPr lang="en-US" b="0">
                <a:solidFill>
                  <a:srgbClr val="000000"/>
                </a:solidFill>
                <a:latin typeface="Consolas" panose="020B0609020204030204" charset="0"/>
              </a:rPr>
              <a:t> (</a:t>
            </a:r>
            <a:r>
              <a:rPr lang="en-US" b="0">
                <a:solidFill>
                  <a:srgbClr val="6A3E3E"/>
                </a:solidFill>
                <a:latin typeface="Consolas" panose="020B0609020204030204" charset="0"/>
              </a:rPr>
              <a:t>x</a:t>
            </a:r>
            <a:r>
              <a:rPr lang="en-US" b="0">
                <a:solidFill>
                  <a:srgbClr val="000000"/>
                </a:solidFill>
                <a:latin typeface="Consolas" panose="020B0609020204030204" charset="0"/>
              </a:rPr>
              <a:t>.equals(</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data</a:t>
            </a:r>
            <a:r>
              <a:rPr lang="en-US" b="0">
                <a:solidFill>
                  <a:srgbClr val="000000"/>
                </a:solidFill>
                <a:latin typeface="Consolas" panose="020B0609020204030204" charset="0"/>
              </a:rPr>
              <a:t>))			</a:t>
            </a:r>
            <a:r>
              <a:rPr lang="en-US" b="1">
                <a:solidFill>
                  <a:srgbClr val="7F0055"/>
                </a:solidFill>
                <a:latin typeface="Consolas" panose="020B0609020204030204" charset="0"/>
              </a:rPr>
              <a:t>return</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	</a:t>
            </a:r>
            <a:r>
              <a:rPr lang="en-US" b="1">
                <a:solidFill>
                  <a:srgbClr val="7F0055"/>
                </a:solidFill>
                <a:latin typeface="Consolas" panose="020B0609020204030204" charset="0"/>
              </a:rPr>
              <a:t>return</a:t>
            </a:r>
            <a:r>
              <a:rPr lang="en-US" b="0">
                <a:solidFill>
                  <a:srgbClr val="000000"/>
                </a:solidFill>
                <a:latin typeface="Consolas" panose="020B0609020204030204" charset="0"/>
              </a:rPr>
              <a:t> -1;}</a:t>
            </a:r>
            <a:endParaRPr lang="en-US" altLang="en-US" b="0">
              <a:solidFill>
                <a:srgbClr val="000000"/>
              </a:solidFill>
              <a:latin typeface="Consolas" panose="020B0609020204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5163820" cy="953135"/>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6.</a:t>
            </a:r>
            <a:r>
              <a:rPr lang="zh-CN" altLang="en-US" sz="2800" b="1" i="1">
                <a:latin typeface="幼圆" panose="02010509060101010101" pitchFamily="49" charset="-122"/>
                <a:ea typeface="幼圆" panose="02010509060101010101" pitchFamily="49" charset="-122"/>
                <a:cs typeface="幼圆" panose="02010509060101010101" pitchFamily="49" charset="-122"/>
              </a:rPr>
              <a:t>求双向循环链表的长度，即元素个数</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100" name="文本框 99"/>
          <p:cNvSpPr txBox="1"/>
          <p:nvPr/>
        </p:nvSpPr>
        <p:spPr>
          <a:xfrm>
            <a:off x="6139180" y="492760"/>
            <a:ext cx="5080000" cy="922020"/>
          </a:xfrm>
          <a:prstGeom prst="rect">
            <a:avLst/>
          </a:prstGeom>
          <a:noFill/>
          <a:ln w="9525">
            <a:noFill/>
          </a:ln>
        </p:spPr>
        <p:txBody>
          <a:bodyPr>
            <a:sp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a:t>
            </a:r>
            <a:r>
              <a:rPr lang="en-US" b="1">
                <a:solidFill>
                  <a:srgbClr val="7F0055"/>
                </a:solidFill>
                <a:latin typeface="Consolas" panose="020B0609020204030204" charset="0"/>
              </a:rPr>
              <a:t>int</a:t>
            </a:r>
            <a:r>
              <a:rPr lang="en-US" b="0">
                <a:solidFill>
                  <a:srgbClr val="000000"/>
                </a:solidFill>
                <a:latin typeface="Consolas" panose="020B0609020204030204" charset="0"/>
              </a:rPr>
              <a:t> size() {	</a:t>
            </a:r>
            <a:r>
              <a:rPr lang="en-US" b="1">
                <a:solidFill>
                  <a:srgbClr val="7F0055"/>
                </a:solidFill>
                <a:latin typeface="Consolas" panose="020B0609020204030204" charset="0"/>
              </a:rPr>
              <a:t>return</a:t>
            </a:r>
            <a:r>
              <a:rPr lang="en-US" b="0">
                <a:solidFill>
                  <a:srgbClr val="000000"/>
                </a:solidFill>
                <a:latin typeface="Consolas" panose="020B0609020204030204" charset="0"/>
              </a:rPr>
              <a:t> </a:t>
            </a:r>
            <a:r>
              <a:rPr lang="en-US" b="0">
                <a:solidFill>
                  <a:srgbClr val="0000C0"/>
                </a:solidFill>
                <a:latin typeface="Consolas" panose="020B0609020204030204" charset="0"/>
              </a:rPr>
              <a:t>size</a:t>
            </a:r>
            <a:r>
              <a:rPr lang="en-US" b="0">
                <a:solidFill>
                  <a:srgbClr val="000000"/>
                </a:solidFill>
                <a:latin typeface="Consolas" panose="020B0609020204030204" charset="0"/>
              </a:rPr>
              <a:t>;}</a:t>
            </a:r>
            <a:endParaRPr lang="en-US" altLang="en-US" b="0">
              <a:solidFill>
                <a:srgbClr val="000000"/>
              </a:solidFill>
              <a:latin typeface="Consolas" panose="020B0609020204030204" charset="0"/>
            </a:endParaRPr>
          </a:p>
        </p:txBody>
      </p:sp>
      <p:sp>
        <p:nvSpPr>
          <p:cNvPr id="2" name="文本框 1"/>
          <p:cNvSpPr txBox="1"/>
          <p:nvPr/>
        </p:nvSpPr>
        <p:spPr>
          <a:xfrm>
            <a:off x="629285" y="3642360"/>
            <a:ext cx="5163820" cy="953135"/>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7.</a:t>
            </a:r>
            <a:r>
              <a:rPr lang="zh-CN" altLang="en-US" sz="2800" b="1" i="1">
                <a:latin typeface="幼圆" panose="02010509060101010101" pitchFamily="49" charset="-122"/>
                <a:ea typeface="幼圆" panose="02010509060101010101" pitchFamily="49" charset="-122"/>
                <a:cs typeface="幼圆" panose="02010509060101010101" pitchFamily="49" charset="-122"/>
              </a:rPr>
              <a:t>输出双向循环链表中所有的元素值</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3" name="文本框 2"/>
          <p:cNvSpPr txBox="1"/>
          <p:nvPr/>
        </p:nvSpPr>
        <p:spPr>
          <a:xfrm>
            <a:off x="6139180" y="3642360"/>
            <a:ext cx="5795010" cy="2306955"/>
          </a:xfrm>
          <a:prstGeom prst="rect">
            <a:avLst/>
          </a:prstGeom>
          <a:noFill/>
          <a:ln w="9525">
            <a:noFill/>
          </a:ln>
        </p:spPr>
        <p:txBody>
          <a:bodyPr wrap="square">
            <a:sp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T display() {	Node&lt;T&gt;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1">
                <a:solidFill>
                  <a:srgbClr val="7F0055"/>
                </a:solidFill>
                <a:latin typeface="Consolas" panose="020B0609020204030204" charset="0"/>
              </a:rPr>
              <a:t>for</a:t>
            </a:r>
            <a:r>
              <a:rPr lang="en-US" b="0">
                <a:solidFill>
                  <a:srgbClr val="000000"/>
                </a:solidFill>
                <a:latin typeface="Consolas" panose="020B0609020204030204" charset="0"/>
              </a:rPr>
              <a:t> (</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 0; </a:t>
            </a:r>
            <a:r>
              <a:rPr lang="en-US" b="0">
                <a:solidFill>
                  <a:srgbClr val="6A3E3E"/>
                </a:solidFill>
                <a:latin typeface="Consolas" panose="020B0609020204030204" charset="0"/>
              </a:rPr>
              <a:t>i</a:t>
            </a:r>
            <a:r>
              <a:rPr lang="en-US" b="0">
                <a:solidFill>
                  <a:srgbClr val="000000"/>
                </a:solidFill>
                <a:latin typeface="Consolas" panose="020B0609020204030204" charset="0"/>
              </a:rPr>
              <a:t> &lt; </a:t>
            </a:r>
            <a:r>
              <a:rPr lang="en-US" b="0">
                <a:solidFill>
                  <a:srgbClr val="0000C0"/>
                </a:solidFill>
                <a:latin typeface="Consolas" panose="020B0609020204030204" charset="0"/>
              </a:rPr>
              <a:t>size</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a:t>
            </a:r>
            <a:endParaRPr lang="en-US" b="0">
              <a:solidFill>
                <a:srgbClr val="000000"/>
              </a:solidFill>
              <a:latin typeface="Consolas" panose="020B0609020204030204" charset="0"/>
            </a:endParaRPr>
          </a:p>
          <a:p>
            <a:pPr indent="0"/>
            <a:r>
              <a:rPr lang="en-US" b="0">
                <a:solidFill>
                  <a:srgbClr val="000000"/>
                </a:solidFill>
                <a:latin typeface="Consolas" panose="020B0609020204030204" charset="0"/>
              </a:rPr>
              <a:t>          System.</a:t>
            </a:r>
            <a:r>
              <a:rPr lang="en-US" b="1" i="1">
                <a:solidFill>
                  <a:srgbClr val="0000C0"/>
                </a:solidFill>
                <a:latin typeface="Consolas" panose="020B0609020204030204" charset="0"/>
              </a:rPr>
              <a:t>out</a:t>
            </a:r>
            <a:r>
              <a:rPr lang="en-US" b="0">
                <a:solidFill>
                  <a:srgbClr val="000000"/>
                </a:solidFill>
                <a:latin typeface="Consolas" panose="020B0609020204030204" charset="0"/>
              </a:rPr>
              <a:t>.print(</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data</a:t>
            </a:r>
            <a:r>
              <a:rPr lang="en-US" b="0">
                <a:solidFill>
                  <a:srgbClr val="000000"/>
                </a:solidFill>
                <a:latin typeface="Consolas" panose="020B0609020204030204" charset="0"/>
              </a:rPr>
              <a:t> + </a:t>
            </a:r>
            <a:r>
              <a:rPr lang="en-US" b="0">
                <a:solidFill>
                  <a:srgbClr val="2A00FF"/>
                </a:solidFill>
                <a:latin typeface="Consolas" panose="020B0609020204030204" charset="0"/>
              </a:rPr>
              <a:t>" "</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	</a:t>
            </a:r>
            <a:r>
              <a:rPr lang="en-US" b="1">
                <a:solidFill>
                  <a:srgbClr val="7F0055"/>
                </a:solidFill>
                <a:latin typeface="Consolas" panose="020B0609020204030204" charset="0"/>
              </a:rPr>
              <a:t>return</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data</a:t>
            </a:r>
            <a:r>
              <a:rPr lang="en-US" b="0">
                <a:solidFill>
                  <a:srgbClr val="000000"/>
                </a:solidFill>
                <a:latin typeface="Consolas" panose="020B0609020204030204" charset="0"/>
              </a:rPr>
              <a:t>;}</a:t>
            </a:r>
            <a:endParaRPr lang="en-US" altLang="en-US" b="0">
              <a:solidFill>
                <a:srgbClr val="000000"/>
              </a:solidFill>
              <a:latin typeface="Consolas" panose="020B0609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5989955" cy="521970"/>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8.</a:t>
            </a:r>
            <a:r>
              <a:rPr lang="zh-CN" altLang="en-US" sz="2800" b="1" i="1">
                <a:latin typeface="幼圆" panose="02010509060101010101" pitchFamily="49" charset="-122"/>
                <a:ea typeface="幼圆" panose="02010509060101010101" pitchFamily="49" charset="-122"/>
                <a:cs typeface="幼圆" panose="02010509060101010101" pitchFamily="49" charset="-122"/>
              </a:rPr>
              <a:t>实现双向循环链表的就地逆置</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2" name="文本框 1"/>
          <p:cNvSpPr txBox="1"/>
          <p:nvPr/>
        </p:nvSpPr>
        <p:spPr>
          <a:xfrm>
            <a:off x="726440" y="1577975"/>
            <a:ext cx="7298055" cy="4246245"/>
          </a:xfrm>
          <a:prstGeom prst="rect">
            <a:avLst/>
          </a:prstGeom>
          <a:noFill/>
          <a:ln w="9525">
            <a:noFill/>
          </a:ln>
        </p:spPr>
        <p:txBody>
          <a:bodyPr wrap="square">
            <a:sp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a:t>
            </a:r>
            <a:r>
              <a:rPr lang="en-US" b="1">
                <a:solidFill>
                  <a:srgbClr val="7F0055"/>
                </a:solidFill>
                <a:latin typeface="Consolas" panose="020B0609020204030204" charset="0"/>
              </a:rPr>
              <a:t>void</a:t>
            </a:r>
            <a:r>
              <a:rPr lang="en-US" b="0">
                <a:solidFill>
                  <a:srgbClr val="000000"/>
                </a:solidFill>
                <a:latin typeface="Consolas" panose="020B0609020204030204" charset="0"/>
              </a:rPr>
              <a:t> reverse() {		Node&lt;T&gt;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Node&lt;T&gt; </a:t>
            </a:r>
            <a:r>
              <a:rPr lang="en-US" b="0">
                <a:solidFill>
                  <a:srgbClr val="6A3E3E"/>
                </a:solidFill>
                <a:latin typeface="Consolas" panose="020B0609020204030204" charset="0"/>
              </a:rPr>
              <a:t>m</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0">
                <a:solidFill>
                  <a:srgbClr val="6A3E3E"/>
                </a:solidFill>
                <a:latin typeface="Consolas" panose="020B0609020204030204" charset="0"/>
              </a:rPr>
              <a:t>q</a:t>
            </a:r>
            <a:r>
              <a:rPr lang="en-US" b="0">
                <a:solidFill>
                  <a:srgbClr val="000000"/>
                </a:solidFill>
                <a:latin typeface="Consolas" panose="020B0609020204030204" charset="0"/>
              </a:rPr>
              <a:t>;		</a:t>
            </a:r>
            <a:r>
              <a:rPr lang="en-US" b="1">
                <a:solidFill>
                  <a:srgbClr val="7F0055"/>
                </a:solidFill>
                <a:latin typeface="Consolas" panose="020B0609020204030204" charset="0"/>
              </a:rPr>
              <a:t>while</a:t>
            </a:r>
            <a:r>
              <a:rPr lang="en-US" b="0">
                <a:solidFill>
                  <a:srgbClr val="000000"/>
                </a:solidFill>
                <a:latin typeface="Consolas" panose="020B0609020204030204" charset="0"/>
              </a:rPr>
              <a:t> (</a:t>
            </a:r>
            <a:r>
              <a:rPr lang="en-US" b="0">
                <a:solidFill>
                  <a:srgbClr val="6A3E3E"/>
                </a:solidFill>
                <a:latin typeface="Consolas" panose="020B0609020204030204" charset="0"/>
              </a:rPr>
              <a:t>m</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 {			</a:t>
            </a:r>
            <a:r>
              <a:rPr lang="en-US" b="0">
                <a:solidFill>
                  <a:srgbClr val="6A3E3E"/>
                </a:solidFill>
                <a:latin typeface="Consolas" panose="020B0609020204030204" charset="0"/>
              </a:rPr>
              <a:t>q</a:t>
            </a:r>
            <a:r>
              <a:rPr lang="en-US" b="0">
                <a:solidFill>
                  <a:srgbClr val="000000"/>
                </a:solidFill>
                <a:latin typeface="Consolas" panose="020B0609020204030204" charset="0"/>
              </a:rPr>
              <a:t> = </a:t>
            </a:r>
            <a:r>
              <a:rPr lang="en-US" b="0">
                <a:solidFill>
                  <a:srgbClr val="6A3E3E"/>
                </a:solidFill>
                <a:latin typeface="Consolas" panose="020B0609020204030204" charset="0"/>
              </a:rPr>
              <a:t>m</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0">
                <a:solidFill>
                  <a:srgbClr val="6A3E3E"/>
                </a:solidFill>
                <a:latin typeface="Consolas" panose="020B0609020204030204" charset="0"/>
              </a:rPr>
              <a:t>m</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			</a:t>
            </a:r>
            <a:r>
              <a:rPr lang="en-US" b="0">
                <a:solidFill>
                  <a:srgbClr val="6A3E3E"/>
                </a:solidFill>
                <a:latin typeface="Consolas" panose="020B0609020204030204" charset="0"/>
              </a:rPr>
              <a:t>m</a:t>
            </a:r>
            <a:r>
              <a:rPr lang="en-US" b="0">
                <a:solidFill>
                  <a:srgbClr val="000000"/>
                </a:solidFill>
                <a:latin typeface="Consolas" panose="020B0609020204030204" charset="0"/>
              </a:rPr>
              <a:t>.</a:t>
            </a:r>
            <a:r>
              <a:rPr lang="en-US" b="0">
                <a:solidFill>
                  <a:srgbClr val="0000C0"/>
                </a:solidFill>
                <a:latin typeface="Consolas" panose="020B0609020204030204" charset="0"/>
              </a:rPr>
              <a:t>pre</a:t>
            </a:r>
            <a:r>
              <a:rPr lang="en-US" b="0">
                <a:solidFill>
                  <a:srgbClr val="000000"/>
                </a:solidFill>
                <a:latin typeface="Consolas" panose="020B0609020204030204" charset="0"/>
              </a:rPr>
              <a:t> = </a:t>
            </a:r>
            <a:r>
              <a:rPr lang="en-US" b="0">
                <a:solidFill>
                  <a:srgbClr val="6A3E3E"/>
                </a:solidFill>
                <a:latin typeface="Consolas" panose="020B0609020204030204" charset="0"/>
              </a:rPr>
              <a:t>q</a:t>
            </a:r>
            <a:r>
              <a:rPr lang="en-US" b="0">
                <a:solidFill>
                  <a:srgbClr val="000000"/>
                </a:solidFill>
                <a:latin typeface="Consolas" panose="020B0609020204030204" charset="0"/>
              </a:rPr>
              <a:t>;			</a:t>
            </a:r>
            <a:r>
              <a:rPr lang="en-US" b="0">
                <a:solidFill>
                  <a:srgbClr val="6A3E3E"/>
                </a:solidFill>
                <a:latin typeface="Consolas" panose="020B0609020204030204" charset="0"/>
              </a:rPr>
              <a:t>p</a:t>
            </a:r>
            <a:r>
              <a:rPr lang="en-US" b="0">
                <a:solidFill>
                  <a:srgbClr val="000000"/>
                </a:solidFill>
                <a:latin typeface="Consolas" panose="020B0609020204030204" charset="0"/>
              </a:rPr>
              <a:t> = </a:t>
            </a:r>
            <a:r>
              <a:rPr lang="en-US" b="0">
                <a:solidFill>
                  <a:srgbClr val="6A3E3E"/>
                </a:solidFill>
                <a:latin typeface="Consolas" panose="020B0609020204030204" charset="0"/>
              </a:rPr>
              <a:t>m</a:t>
            </a:r>
            <a:r>
              <a:rPr lang="en-US" b="0">
                <a:solidFill>
                  <a:srgbClr val="000000"/>
                </a:solidFill>
                <a:latin typeface="Consolas" panose="020B0609020204030204" charset="0"/>
              </a:rPr>
              <a:t>;			</a:t>
            </a:r>
            <a:r>
              <a:rPr lang="en-US" b="0">
                <a:solidFill>
                  <a:srgbClr val="6A3E3E"/>
                </a:solidFill>
                <a:latin typeface="Consolas" panose="020B0609020204030204" charset="0"/>
              </a:rPr>
              <a:t>m</a:t>
            </a:r>
            <a:r>
              <a:rPr lang="en-US" b="0">
                <a:solidFill>
                  <a:srgbClr val="000000"/>
                </a:solidFill>
                <a:latin typeface="Consolas" panose="020B0609020204030204" charset="0"/>
              </a:rPr>
              <a:t> = </a:t>
            </a:r>
            <a:r>
              <a:rPr lang="en-US" b="0">
                <a:solidFill>
                  <a:srgbClr val="6A3E3E"/>
                </a:solidFill>
                <a:latin typeface="Consolas" panose="020B0609020204030204" charset="0"/>
              </a:rPr>
              <a:t>q</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a:t>
            </a:r>
            <a:r>
              <a:rPr lang="en-US" b="0">
                <a:solidFill>
                  <a:srgbClr val="0000C0"/>
                </a:solidFill>
                <a:latin typeface="Consolas" panose="020B0609020204030204" charset="0"/>
              </a:rPr>
              <a:t>pre</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pre</a:t>
            </a:r>
            <a:r>
              <a:rPr lang="en-US" b="0">
                <a:solidFill>
                  <a:srgbClr val="000000"/>
                </a:solidFill>
                <a:latin typeface="Consolas" panose="020B0609020204030204" charset="0"/>
              </a:rPr>
              <a:t> =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a:t>
            </a:r>
            <a:r>
              <a:rPr lang="en-US" b="0">
                <a:solidFill>
                  <a:srgbClr val="0000C0"/>
                </a:solidFill>
                <a:latin typeface="Consolas" panose="020B0609020204030204" charset="0"/>
              </a:rPr>
              <a:t>head</a:t>
            </a:r>
            <a:r>
              <a:rPr lang="en-US" b="0">
                <a:solidFill>
                  <a:srgbClr val="000000"/>
                </a:solidFill>
                <a:latin typeface="Consolas" panose="020B0609020204030204" charset="0"/>
              </a:rPr>
              <a:t>.</a:t>
            </a:r>
            <a:r>
              <a:rPr lang="en-US" b="0">
                <a:solidFill>
                  <a:srgbClr val="0000C0"/>
                </a:solidFill>
                <a:latin typeface="Consolas" panose="020B0609020204030204" charset="0"/>
              </a:rPr>
              <a:t>next</a:t>
            </a:r>
            <a:r>
              <a:rPr lang="en-US" b="0">
                <a:solidFill>
                  <a:srgbClr val="000000"/>
                </a:solidFill>
                <a:latin typeface="Consolas" panose="020B0609020204030204" charset="0"/>
              </a:rPr>
              <a:t> = </a:t>
            </a:r>
            <a:r>
              <a:rPr lang="en-US" b="0">
                <a:solidFill>
                  <a:srgbClr val="6A3E3E"/>
                </a:solidFill>
                <a:latin typeface="Consolas" panose="020B0609020204030204" charset="0"/>
              </a:rPr>
              <a:t>p</a:t>
            </a:r>
            <a:r>
              <a:rPr lang="en-US" b="0">
                <a:solidFill>
                  <a:srgbClr val="000000"/>
                </a:solidFill>
                <a:latin typeface="Consolas" panose="020B0609020204030204" charset="0"/>
              </a:rPr>
              <a:t>;	}</a:t>
            </a:r>
            <a:endParaRPr lang="en-US" altLang="en-US" b="0">
              <a:solidFill>
                <a:srgbClr val="000000"/>
              </a:solidFill>
              <a:latin typeface="Consolas" panose="020B0609020204030204" charset="0"/>
            </a:endParaRPr>
          </a:p>
        </p:txBody>
      </p:sp>
      <p:pic>
        <p:nvPicPr>
          <p:cNvPr id="3" name="图片 2"/>
          <p:cNvPicPr>
            <a:picLocks noChangeAspect="1"/>
          </p:cNvPicPr>
          <p:nvPr/>
        </p:nvPicPr>
        <p:blipFill>
          <a:blip r:embed="rId1"/>
          <a:stretch>
            <a:fillRect/>
          </a:stretch>
        </p:blipFill>
        <p:spPr>
          <a:xfrm>
            <a:off x="5668645" y="2371090"/>
            <a:ext cx="6229350" cy="1409700"/>
          </a:xfrm>
          <a:prstGeom prst="rect">
            <a:avLst/>
          </a:prstGeom>
        </p:spPr>
      </p:pic>
      <p:sp>
        <p:nvSpPr>
          <p:cNvPr id="4" name="文本框 3"/>
          <p:cNvSpPr txBox="1"/>
          <p:nvPr/>
        </p:nvSpPr>
        <p:spPr>
          <a:xfrm>
            <a:off x="8200390" y="2371090"/>
            <a:ext cx="337185" cy="370205"/>
          </a:xfrm>
          <a:prstGeom prst="rect">
            <a:avLst/>
          </a:prstGeom>
          <a:noFill/>
        </p:spPr>
        <p:txBody>
          <a:bodyPr wrap="square" rtlCol="0">
            <a:noAutofit/>
          </a:bodyPr>
          <a:p>
            <a:r>
              <a:rPr lang="en-US" altLang="zh-CN" b="1">
                <a:solidFill>
                  <a:srgbClr val="0070C0"/>
                </a:solidFill>
                <a:latin typeface="Times New Roman" panose="02020603050405020304" charset="0"/>
                <a:cs typeface="Times New Roman" panose="02020603050405020304" charset="0"/>
              </a:rPr>
              <a:t>p</a:t>
            </a:r>
            <a:endParaRPr lang="en-US" altLang="zh-CN" b="1">
              <a:solidFill>
                <a:srgbClr val="0070C0"/>
              </a:solidFill>
              <a:latin typeface="Times New Roman" panose="02020603050405020304" charset="0"/>
              <a:cs typeface="Times New Roman" panose="02020603050405020304" charset="0"/>
            </a:endParaRPr>
          </a:p>
        </p:txBody>
      </p:sp>
      <p:sp>
        <p:nvSpPr>
          <p:cNvPr id="6" name="文本框 5"/>
          <p:cNvSpPr txBox="1"/>
          <p:nvPr/>
        </p:nvSpPr>
        <p:spPr>
          <a:xfrm>
            <a:off x="9538335" y="2432050"/>
            <a:ext cx="337185" cy="370205"/>
          </a:xfrm>
          <a:prstGeom prst="rect">
            <a:avLst/>
          </a:prstGeom>
          <a:noFill/>
        </p:spPr>
        <p:txBody>
          <a:bodyPr wrap="square" rtlCol="0">
            <a:noAutofit/>
          </a:bodyPr>
          <a:p>
            <a:r>
              <a:rPr lang="en-US" altLang="zh-CN" b="1">
                <a:solidFill>
                  <a:srgbClr val="0070C0"/>
                </a:solidFill>
                <a:latin typeface="Times New Roman" panose="02020603050405020304" charset="0"/>
                <a:cs typeface="Times New Roman" panose="02020603050405020304" charset="0"/>
              </a:rPr>
              <a:t>m</a:t>
            </a:r>
            <a:endParaRPr lang="en-US" altLang="zh-CN" b="1">
              <a:solidFill>
                <a:srgbClr val="0070C0"/>
              </a:solidFill>
              <a:latin typeface="Times New Roman" panose="02020603050405020304" charset="0"/>
              <a:cs typeface="Times New Roman" panose="02020603050405020304" charset="0"/>
            </a:endParaRPr>
          </a:p>
        </p:txBody>
      </p:sp>
      <p:sp>
        <p:nvSpPr>
          <p:cNvPr id="7" name="文本框 6"/>
          <p:cNvSpPr txBox="1"/>
          <p:nvPr/>
        </p:nvSpPr>
        <p:spPr>
          <a:xfrm>
            <a:off x="10876280" y="2432050"/>
            <a:ext cx="337185" cy="370205"/>
          </a:xfrm>
          <a:prstGeom prst="rect">
            <a:avLst/>
          </a:prstGeom>
          <a:noFill/>
        </p:spPr>
        <p:txBody>
          <a:bodyPr wrap="square" rtlCol="0">
            <a:noAutofit/>
          </a:bodyPr>
          <a:p>
            <a:r>
              <a:rPr lang="en-US" altLang="zh-CN" b="1">
                <a:solidFill>
                  <a:srgbClr val="FF0000"/>
                </a:solidFill>
                <a:latin typeface="Times New Roman" panose="02020603050405020304" charset="0"/>
                <a:cs typeface="Times New Roman" panose="02020603050405020304" charset="0"/>
              </a:rPr>
              <a:t>q</a:t>
            </a:r>
            <a:endParaRPr lang="en-US" altLang="zh-CN" b="1">
              <a:solidFill>
                <a:srgbClr val="FF0000"/>
              </a:solidFill>
              <a:latin typeface="Times New Roman" panose="02020603050405020304" charset="0"/>
              <a:cs typeface="Times New Roman" panose="02020603050405020304" charset="0"/>
            </a:endParaRPr>
          </a:p>
        </p:txBody>
      </p:sp>
      <p:cxnSp>
        <p:nvCxnSpPr>
          <p:cNvPr id="10" name="直接连接符 9"/>
          <p:cNvCxnSpPr/>
          <p:nvPr/>
        </p:nvCxnSpPr>
        <p:spPr>
          <a:xfrm>
            <a:off x="10054590" y="2987040"/>
            <a:ext cx="12065" cy="5753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8426450" y="3562985"/>
            <a:ext cx="1645920" cy="635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flipV="1">
            <a:off x="8413750" y="3033395"/>
            <a:ext cx="6350" cy="54483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9422130" y="2411730"/>
            <a:ext cx="12065" cy="5753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9434195" y="2411730"/>
            <a:ext cx="1645920" cy="635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11075035" y="2406015"/>
            <a:ext cx="12065" cy="1593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875520" y="2418080"/>
            <a:ext cx="337185" cy="370205"/>
          </a:xfrm>
          <a:prstGeom prst="rect">
            <a:avLst/>
          </a:prstGeom>
          <a:noFill/>
        </p:spPr>
        <p:txBody>
          <a:bodyPr wrap="square" rtlCol="0">
            <a:noAutofit/>
          </a:bodyPr>
          <a:p>
            <a:r>
              <a:rPr lang="en-US" altLang="zh-CN" b="1">
                <a:solidFill>
                  <a:srgbClr val="00B050"/>
                </a:solidFill>
                <a:latin typeface="Times New Roman" panose="02020603050405020304" charset="0"/>
                <a:cs typeface="Times New Roman" panose="02020603050405020304" charset="0"/>
              </a:rPr>
              <a:t>p</a:t>
            </a:r>
            <a:endParaRPr lang="en-US" altLang="zh-CN" b="1">
              <a:solidFill>
                <a:srgbClr val="00B050"/>
              </a:solidFill>
              <a:latin typeface="Times New Roman" panose="02020603050405020304" charset="0"/>
              <a:cs typeface="Times New Roman" panose="02020603050405020304" charset="0"/>
            </a:endParaRPr>
          </a:p>
        </p:txBody>
      </p:sp>
      <p:sp>
        <p:nvSpPr>
          <p:cNvPr id="17" name="文本框 16"/>
          <p:cNvSpPr txBox="1"/>
          <p:nvPr/>
        </p:nvSpPr>
        <p:spPr>
          <a:xfrm>
            <a:off x="11087100" y="2432050"/>
            <a:ext cx="337185" cy="370205"/>
          </a:xfrm>
          <a:prstGeom prst="rect">
            <a:avLst/>
          </a:prstGeom>
          <a:noFill/>
        </p:spPr>
        <p:txBody>
          <a:bodyPr wrap="square" rtlCol="0">
            <a:noAutofit/>
          </a:bodyPr>
          <a:p>
            <a:r>
              <a:rPr lang="en-US" altLang="zh-CN" b="1">
                <a:solidFill>
                  <a:srgbClr val="00B050"/>
                </a:solidFill>
                <a:latin typeface="Times New Roman" panose="02020603050405020304" charset="0"/>
                <a:cs typeface="Times New Roman" panose="02020603050405020304" charset="0"/>
              </a:rPr>
              <a:t>m</a:t>
            </a:r>
            <a:endParaRPr lang="en-US" altLang="zh-CN" b="1">
              <a:solidFill>
                <a:srgbClr val="00B050"/>
              </a:solidFill>
              <a:latin typeface="Times New Roman" panose="02020603050405020304" charset="0"/>
              <a:cs typeface="Times New Roman" panose="02020603050405020304" charset="0"/>
            </a:endParaRPr>
          </a:p>
        </p:txBody>
      </p:sp>
      <p:sp>
        <p:nvSpPr>
          <p:cNvPr id="18" name="文本框 17"/>
          <p:cNvSpPr txBox="1"/>
          <p:nvPr/>
        </p:nvSpPr>
        <p:spPr>
          <a:xfrm>
            <a:off x="6811645" y="2392045"/>
            <a:ext cx="337185" cy="370205"/>
          </a:xfrm>
          <a:prstGeom prst="rect">
            <a:avLst/>
          </a:prstGeom>
          <a:noFill/>
        </p:spPr>
        <p:txBody>
          <a:bodyPr wrap="square" rtlCol="0">
            <a:noAutofit/>
          </a:bodyPr>
          <a:p>
            <a:r>
              <a:rPr lang="en-US" altLang="zh-CN" b="1">
                <a:solidFill>
                  <a:srgbClr val="00B050"/>
                </a:solidFill>
                <a:latin typeface="Times New Roman" panose="02020603050405020304" charset="0"/>
                <a:cs typeface="Times New Roman" panose="02020603050405020304" charset="0"/>
              </a:rPr>
              <a:t>q</a:t>
            </a:r>
            <a:endParaRPr lang="en-US" altLang="zh-CN" b="1">
              <a:solidFill>
                <a:srgbClr val="00B050"/>
              </a:solidFill>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2403475" cy="645160"/>
          </a:xfrm>
          <a:prstGeom prst="rect">
            <a:avLst/>
          </a:prstGeom>
          <a:noFill/>
        </p:spPr>
        <p:txBody>
          <a:bodyPr wrap="square" rtlCol="0">
            <a:spAutoFit/>
          </a:bodyPr>
          <a:p>
            <a:r>
              <a:rPr lang="zh-CN" altLang="en-US" sz="3600" b="1">
                <a:latin typeface="宋体" panose="02010600030101010101" pitchFamily="2" charset="-122"/>
                <a:ea typeface="宋体" panose="02010600030101010101" pitchFamily="2" charset="-122"/>
                <a:cs typeface="幼圆" panose="02010509060101010101" pitchFamily="49" charset="-122"/>
              </a:rPr>
              <a:t>整体测试</a:t>
            </a:r>
            <a:endParaRPr lang="zh-CN" altLang="en-US" sz="3600" b="1">
              <a:latin typeface="宋体" panose="02010600030101010101" pitchFamily="2" charset="-122"/>
              <a:ea typeface="宋体" panose="02010600030101010101" pitchFamily="2" charset="-122"/>
              <a:cs typeface="幼圆" panose="02010509060101010101" pitchFamily="49" charset="-122"/>
            </a:endParaRPr>
          </a:p>
        </p:txBody>
      </p:sp>
      <p:sp>
        <p:nvSpPr>
          <p:cNvPr id="2" name="文本框 1"/>
          <p:cNvSpPr txBox="1"/>
          <p:nvPr/>
        </p:nvSpPr>
        <p:spPr>
          <a:xfrm>
            <a:off x="94615" y="1311275"/>
            <a:ext cx="7967980" cy="4615815"/>
          </a:xfrm>
          <a:prstGeom prst="rect">
            <a:avLst/>
          </a:prstGeom>
          <a:noFill/>
          <a:ln w="9525">
            <a:noFill/>
          </a:ln>
        </p:spPr>
        <p:txBody>
          <a:bodyPr wrap="square">
            <a:spAutoFit/>
          </a:bodyPr>
          <a:p>
            <a:pPr indent="0"/>
            <a:r>
              <a:rPr lang="en-US" sz="1400" b="1">
                <a:solidFill>
                  <a:srgbClr val="7F0055"/>
                </a:solidFill>
                <a:latin typeface="Consolas" panose="020B0609020204030204" charset="0"/>
              </a:rPr>
              <a:t>public</a:t>
            </a:r>
            <a:r>
              <a:rPr lang="en-US" sz="1400" b="0">
                <a:solidFill>
                  <a:srgbClr val="000000"/>
                </a:solidFill>
                <a:latin typeface="Consolas" panose="020B0609020204030204" charset="0"/>
              </a:rPr>
              <a:t> </a:t>
            </a:r>
            <a:r>
              <a:rPr lang="en-US" sz="1400" b="1">
                <a:solidFill>
                  <a:srgbClr val="7F0055"/>
                </a:solidFill>
                <a:latin typeface="Consolas" panose="020B0609020204030204" charset="0"/>
              </a:rPr>
              <a:t>static</a:t>
            </a:r>
            <a:r>
              <a:rPr lang="en-US" sz="1400" b="0">
                <a:solidFill>
                  <a:srgbClr val="000000"/>
                </a:solidFill>
                <a:latin typeface="Consolas" panose="020B0609020204030204" charset="0"/>
              </a:rPr>
              <a:t> </a:t>
            </a:r>
            <a:r>
              <a:rPr lang="en-US" sz="1400" b="1">
                <a:solidFill>
                  <a:srgbClr val="7F0055"/>
                </a:solidFill>
                <a:latin typeface="Consolas" panose="020B0609020204030204" charset="0"/>
              </a:rPr>
              <a:t>void</a:t>
            </a:r>
            <a:r>
              <a:rPr lang="en-US" sz="1400" b="0">
                <a:solidFill>
                  <a:srgbClr val="000000"/>
                </a:solidFill>
                <a:latin typeface="Consolas" panose="020B0609020204030204" charset="0"/>
              </a:rPr>
              <a:t> main(String[] </a:t>
            </a:r>
            <a:r>
              <a:rPr lang="en-US" sz="1400" b="0">
                <a:solidFill>
                  <a:srgbClr val="6A3E3E"/>
                </a:solidFill>
                <a:latin typeface="Consolas" panose="020B0609020204030204" charset="0"/>
              </a:rPr>
              <a:t>args</a:t>
            </a:r>
            <a:r>
              <a:rPr lang="en-US" sz="1400" b="0">
                <a:solidFill>
                  <a:srgbClr val="000000"/>
                </a:solidFill>
                <a:latin typeface="Consolas" panose="020B0609020204030204" charset="0"/>
              </a:rPr>
              <a:t>) {     DoubleCircularLinkedList&lt;Integer&gt;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 = </a:t>
            </a:r>
            <a:r>
              <a:rPr lang="en-US" sz="1400" b="1">
                <a:solidFill>
                  <a:srgbClr val="7F0055"/>
                </a:solidFill>
                <a:latin typeface="Consolas" panose="020B0609020204030204" charset="0"/>
              </a:rPr>
              <a:t>new</a:t>
            </a:r>
            <a:r>
              <a:rPr lang="en-US" sz="1400" b="0">
                <a:solidFill>
                  <a:srgbClr val="000000"/>
                </a:solidFill>
                <a:latin typeface="Consolas" panose="020B0609020204030204" charset="0"/>
              </a:rPr>
              <a:t> DoubleCircularLinkedList&lt;&gt;();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.add(0, 10);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.add(1, 20);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.add(2, 30);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.add(3, 40);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.add(4, 50);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.display();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2A00FF"/>
                </a:solidFill>
                <a:latin typeface="Consolas" panose="020B0609020204030204" charset="0"/>
              </a:rPr>
              <a:t>"===========remove==========="</a:t>
            </a:r>
            <a:r>
              <a:rPr lang="en-US" sz="1400" b="0">
                <a:solidFill>
                  <a:srgbClr val="000000"/>
                </a:solidFill>
                <a:latin typeface="Consolas" panose="020B0609020204030204" charset="0"/>
              </a:rPr>
              <a:t>);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.remove(3);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.display();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.add(0, 60);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.add(2, 40);	</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.add(6, 80);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2A00FF"/>
                </a:solidFill>
                <a:latin typeface="Consolas" panose="020B0609020204030204" charset="0"/>
              </a:rPr>
              <a:t>"===========indexOf=========="</a:t>
            </a:r>
            <a:r>
              <a:rPr lang="en-US" sz="1400" b="0">
                <a:solidFill>
                  <a:srgbClr val="000000"/>
                </a:solidFill>
                <a:latin typeface="Consolas" panose="020B0609020204030204" charset="0"/>
              </a:rPr>
              <a:t>);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.indexOf(10));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.indexOf(30));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.indexOf(50));</a:t>
            </a:r>
            <a:endParaRPr lang="en-US" altLang="en-US" sz="1400" b="0">
              <a:solidFill>
                <a:srgbClr val="000000"/>
              </a:solidFill>
              <a:latin typeface="Consolas" panose="020B0609020204030204" charset="0"/>
            </a:endParaRPr>
          </a:p>
        </p:txBody>
      </p:sp>
      <p:sp>
        <p:nvSpPr>
          <p:cNvPr id="3" name="文本框 2"/>
          <p:cNvSpPr txBox="1"/>
          <p:nvPr/>
        </p:nvSpPr>
        <p:spPr>
          <a:xfrm>
            <a:off x="6604000" y="3511550"/>
            <a:ext cx="5544820" cy="2461260"/>
          </a:xfrm>
          <a:prstGeom prst="rect">
            <a:avLst/>
          </a:prstGeom>
          <a:noFill/>
          <a:ln w="9525">
            <a:noFill/>
          </a:ln>
        </p:spPr>
        <p:txBody>
          <a:bodyPr wrap="square">
            <a:spAutoFit/>
          </a:bodyPr>
          <a:p>
            <a:pPr indent="0"/>
            <a:r>
              <a:rPr lang="en-US" sz="1400" b="0">
                <a:solidFill>
                  <a:srgbClr val="000000"/>
                </a:solidFill>
                <a:latin typeface="Consolas" panose="020B0609020204030204" charset="0"/>
              </a:rPr>
              <a:t>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2A00FF"/>
                </a:solidFill>
                <a:latin typeface="Consolas" panose="020B0609020204030204" charset="0"/>
              </a:rPr>
              <a:t>"============size==========="</a:t>
            </a:r>
            <a:r>
              <a:rPr lang="en-US" sz="1400" b="0">
                <a:solidFill>
                  <a:srgbClr val="000000"/>
                </a:solidFill>
                <a:latin typeface="Consolas" panose="020B0609020204030204" charset="0"/>
              </a:rPr>
              <a:t>);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.size());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2A00FF"/>
                </a:solidFill>
                <a:latin typeface="Consolas" panose="020B0609020204030204" charset="0"/>
              </a:rPr>
              <a:t>"============get==========="</a:t>
            </a:r>
            <a:r>
              <a:rPr lang="en-US" sz="1400" b="0">
                <a:solidFill>
                  <a:srgbClr val="000000"/>
                </a:solidFill>
                <a:latin typeface="Consolas" panose="020B0609020204030204" charset="0"/>
              </a:rPr>
              <a:t>);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.get(0));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.get(3));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.get(6));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2A00FF"/>
                </a:solidFill>
                <a:latin typeface="Consolas" panose="020B0609020204030204" charset="0"/>
              </a:rPr>
              <a:t>"===========reverse========="</a:t>
            </a:r>
            <a:r>
              <a:rPr lang="en-US" sz="1400" b="0">
                <a:solidFill>
                  <a:srgbClr val="000000"/>
                </a:solidFill>
                <a:latin typeface="Consolas" panose="020B0609020204030204" charset="0"/>
              </a:rPr>
              <a:t>);</a:t>
            </a:r>
            <a:endParaRPr lang="en-US" sz="1400" b="0">
              <a:solidFill>
                <a:srgbClr val="000000"/>
              </a:solidFill>
              <a:latin typeface="Consolas" panose="020B0609020204030204" charset="0"/>
            </a:endParaRPr>
          </a:p>
          <a:p>
            <a:pPr indent="0"/>
            <a:r>
              <a:rPr lang="en-US" sz="1400" b="0">
                <a:solidFill>
                  <a:srgbClr val="6A3E3E"/>
                </a:solidFill>
                <a:latin typeface="Consolas" panose="020B0609020204030204" charset="0"/>
              </a:rPr>
              <a:t>   sl</a:t>
            </a:r>
            <a:r>
              <a:rPr lang="en-US" sz="1400" b="0">
                <a:solidFill>
                  <a:srgbClr val="000000"/>
                </a:solidFill>
                <a:latin typeface="Consolas" panose="020B0609020204030204" charset="0"/>
              </a:rPr>
              <a:t>.reverse();   System.</a:t>
            </a:r>
            <a:r>
              <a:rPr lang="en-US" sz="1400" b="1" i="1">
                <a:solidFill>
                  <a:srgbClr val="0000C0"/>
                </a:solidFill>
                <a:latin typeface="Consolas" panose="020B0609020204030204" charset="0"/>
              </a:rPr>
              <a:t>out</a:t>
            </a:r>
            <a:r>
              <a:rPr lang="en-US" sz="1400" b="0">
                <a:solidFill>
                  <a:srgbClr val="000000"/>
                </a:solidFill>
                <a:latin typeface="Consolas" panose="020B0609020204030204" charset="0"/>
              </a:rPr>
              <a:t>.println(</a:t>
            </a:r>
            <a:r>
              <a:rPr lang="en-US" sz="1400" b="0">
                <a:solidFill>
                  <a:srgbClr val="6A3E3E"/>
                </a:solidFill>
                <a:latin typeface="Consolas" panose="020B0609020204030204" charset="0"/>
              </a:rPr>
              <a:t>sl</a:t>
            </a:r>
            <a:r>
              <a:rPr lang="en-US" sz="1400" b="0">
                <a:solidFill>
                  <a:srgbClr val="000000"/>
                </a:solidFill>
                <a:latin typeface="Consolas" panose="020B0609020204030204" charset="0"/>
              </a:rPr>
              <a:t>);			}</a:t>
            </a:r>
            <a:endParaRPr lang="en-US" altLang="en-US" sz="1400" b="0">
              <a:solidFill>
                <a:srgbClr val="000000"/>
              </a:solidFill>
              <a:latin typeface="Consolas" panose="020B0609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2403475" cy="645160"/>
          </a:xfrm>
          <a:prstGeom prst="rect">
            <a:avLst/>
          </a:prstGeom>
          <a:noFill/>
        </p:spPr>
        <p:txBody>
          <a:bodyPr wrap="square" rtlCol="0">
            <a:spAutoFit/>
          </a:bodyPr>
          <a:p>
            <a:r>
              <a:rPr lang="zh-CN" altLang="en-US" sz="3600" b="1">
                <a:latin typeface="宋体" panose="02010600030101010101" pitchFamily="2" charset="-122"/>
                <a:ea typeface="宋体" panose="02010600030101010101" pitchFamily="2" charset="-122"/>
                <a:cs typeface="幼圆" panose="02010509060101010101" pitchFamily="49" charset="-122"/>
              </a:rPr>
              <a:t>测试结果</a:t>
            </a:r>
            <a:endParaRPr lang="zh-CN" altLang="en-US" sz="3600" b="1">
              <a:latin typeface="宋体" panose="02010600030101010101" pitchFamily="2" charset="-122"/>
              <a:ea typeface="宋体" panose="02010600030101010101" pitchFamily="2" charset="-122"/>
              <a:cs typeface="幼圆" panose="02010509060101010101" pitchFamily="49" charset="-122"/>
            </a:endParaRPr>
          </a:p>
        </p:txBody>
      </p:sp>
      <p:pic>
        <p:nvPicPr>
          <p:cNvPr id="2" name="图片 11"/>
          <p:cNvPicPr>
            <a:picLocks noChangeAspect="1"/>
          </p:cNvPicPr>
          <p:nvPr/>
        </p:nvPicPr>
        <p:blipFill>
          <a:blip r:embed="rId1"/>
          <a:stretch>
            <a:fillRect/>
          </a:stretch>
        </p:blipFill>
        <p:spPr>
          <a:xfrm>
            <a:off x="4314825" y="559435"/>
            <a:ext cx="5548630" cy="561086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2566026" y="2527753"/>
            <a:ext cx="1144701" cy="1380275"/>
            <a:chOff x="1630673" y="1381941"/>
            <a:chExt cx="858526" cy="1035206"/>
          </a:xfrm>
        </p:grpSpPr>
        <p:grpSp>
          <p:nvGrpSpPr>
            <p:cNvPr id="30" name="组合 41"/>
            <p:cNvGrpSpPr/>
            <p:nvPr/>
          </p:nvGrpSpPr>
          <p:grpSpPr bwMode="auto">
            <a:xfrm flipH="1">
              <a:off x="1630673" y="1381941"/>
              <a:ext cx="858526" cy="1035206"/>
              <a:chOff x="2433484" y="1400177"/>
              <a:chExt cx="3510116" cy="4395940"/>
            </a:xfrm>
          </p:grpSpPr>
          <p:sp>
            <p:nvSpPr>
              <p:cNvPr id="31" name="任意多边形 42"/>
              <p:cNvSpPr/>
              <p:nvPr/>
            </p:nvSpPr>
            <p:spPr>
              <a:xfrm rot="5124146">
                <a:off x="4131026" y="1764713"/>
                <a:ext cx="635433" cy="958096"/>
              </a:xfrm>
              <a:custGeom>
                <a:avLst/>
                <a:gdLst>
                  <a:gd name="connsiteX0" fmla="*/ 486697 w 486697"/>
                  <a:gd name="connsiteY0" fmla="*/ 796413 h 796413"/>
                  <a:gd name="connsiteX1" fmla="*/ 442452 w 486697"/>
                  <a:gd name="connsiteY1" fmla="*/ 634181 h 796413"/>
                  <a:gd name="connsiteX2" fmla="*/ 427704 w 486697"/>
                  <a:gd name="connsiteY2" fmla="*/ 162233 h 796413"/>
                  <a:gd name="connsiteX3" fmla="*/ 0 w 486697"/>
                  <a:gd name="connsiteY3" fmla="*/ 0 h 796413"/>
                  <a:gd name="connsiteX4" fmla="*/ 73742 w 486697"/>
                  <a:gd name="connsiteY4" fmla="*/ 589936 h 796413"/>
                  <a:gd name="connsiteX5" fmla="*/ 442452 w 486697"/>
                  <a:gd name="connsiteY5" fmla="*/ 663678 h 796413"/>
                  <a:gd name="connsiteX6" fmla="*/ 486697 w 486697"/>
                  <a:gd name="connsiteY6" fmla="*/ 796413 h 796413"/>
                  <a:gd name="connsiteX0-1" fmla="*/ 486697 w 486697"/>
                  <a:gd name="connsiteY0-2" fmla="*/ 817061 h 817061"/>
                  <a:gd name="connsiteX1-3" fmla="*/ 442452 w 486697"/>
                  <a:gd name="connsiteY1-4" fmla="*/ 654829 h 817061"/>
                  <a:gd name="connsiteX2-5" fmla="*/ 427704 w 486697"/>
                  <a:gd name="connsiteY2-6" fmla="*/ 182881 h 817061"/>
                  <a:gd name="connsiteX3-7" fmla="*/ 0 w 486697"/>
                  <a:gd name="connsiteY3-8" fmla="*/ 20648 h 817061"/>
                  <a:gd name="connsiteX4-9" fmla="*/ 73742 w 486697"/>
                  <a:gd name="connsiteY4-10" fmla="*/ 610584 h 817061"/>
                  <a:gd name="connsiteX5-11" fmla="*/ 442452 w 486697"/>
                  <a:gd name="connsiteY5-12" fmla="*/ 684326 h 817061"/>
                  <a:gd name="connsiteX6-13" fmla="*/ 486697 w 486697"/>
                  <a:gd name="connsiteY6-14" fmla="*/ 817061 h 817061"/>
                  <a:gd name="connsiteX0-15" fmla="*/ 486697 w 486697"/>
                  <a:gd name="connsiteY0-16" fmla="*/ 858184 h 858184"/>
                  <a:gd name="connsiteX1-17" fmla="*/ 442452 w 486697"/>
                  <a:gd name="connsiteY1-18" fmla="*/ 695952 h 858184"/>
                  <a:gd name="connsiteX2-19" fmla="*/ 427704 w 486697"/>
                  <a:gd name="connsiteY2-20" fmla="*/ 224004 h 858184"/>
                  <a:gd name="connsiteX3-21" fmla="*/ 76156 w 486697"/>
                  <a:gd name="connsiteY3-22" fmla="*/ 35385 h 858184"/>
                  <a:gd name="connsiteX4-23" fmla="*/ 0 w 486697"/>
                  <a:gd name="connsiteY4-24" fmla="*/ 61771 h 858184"/>
                  <a:gd name="connsiteX5-25" fmla="*/ 73742 w 486697"/>
                  <a:gd name="connsiteY5-26" fmla="*/ 651707 h 858184"/>
                  <a:gd name="connsiteX6-27" fmla="*/ 442452 w 486697"/>
                  <a:gd name="connsiteY6-28" fmla="*/ 725449 h 858184"/>
                  <a:gd name="connsiteX7" fmla="*/ 486697 w 486697"/>
                  <a:gd name="connsiteY7" fmla="*/ 858184 h 858184"/>
                  <a:gd name="connsiteX0-29" fmla="*/ 486697 w 486697"/>
                  <a:gd name="connsiteY0-30" fmla="*/ 858184 h 858184"/>
                  <a:gd name="connsiteX1-31" fmla="*/ 442452 w 486697"/>
                  <a:gd name="connsiteY1-32" fmla="*/ 695952 h 858184"/>
                  <a:gd name="connsiteX2-33" fmla="*/ 427704 w 486697"/>
                  <a:gd name="connsiteY2-34" fmla="*/ 224004 h 858184"/>
                  <a:gd name="connsiteX3-35" fmla="*/ 76156 w 486697"/>
                  <a:gd name="connsiteY3-36" fmla="*/ 35385 h 858184"/>
                  <a:gd name="connsiteX4-37" fmla="*/ 0 w 486697"/>
                  <a:gd name="connsiteY4-38" fmla="*/ 61771 h 858184"/>
                  <a:gd name="connsiteX5-39" fmla="*/ 73742 w 486697"/>
                  <a:gd name="connsiteY5-40" fmla="*/ 651707 h 858184"/>
                  <a:gd name="connsiteX6-41" fmla="*/ 442452 w 486697"/>
                  <a:gd name="connsiteY6-42" fmla="*/ 725449 h 858184"/>
                  <a:gd name="connsiteX7-43" fmla="*/ 486697 w 486697"/>
                  <a:gd name="connsiteY7-44" fmla="*/ 858184 h 858184"/>
                  <a:gd name="connsiteX0-45" fmla="*/ 486697 w 486697"/>
                  <a:gd name="connsiteY0-46" fmla="*/ 858184 h 858184"/>
                  <a:gd name="connsiteX1-47" fmla="*/ 442452 w 486697"/>
                  <a:gd name="connsiteY1-48" fmla="*/ 695952 h 858184"/>
                  <a:gd name="connsiteX2-49" fmla="*/ 427704 w 486697"/>
                  <a:gd name="connsiteY2-50" fmla="*/ 224004 h 858184"/>
                  <a:gd name="connsiteX3-51" fmla="*/ 76156 w 486697"/>
                  <a:gd name="connsiteY3-52" fmla="*/ 35385 h 858184"/>
                  <a:gd name="connsiteX4-53" fmla="*/ 0 w 486697"/>
                  <a:gd name="connsiteY4-54" fmla="*/ 61771 h 858184"/>
                  <a:gd name="connsiteX5-55" fmla="*/ 73742 w 486697"/>
                  <a:gd name="connsiteY5-56" fmla="*/ 651707 h 858184"/>
                  <a:gd name="connsiteX6-57" fmla="*/ 442452 w 486697"/>
                  <a:gd name="connsiteY6-58" fmla="*/ 725449 h 858184"/>
                  <a:gd name="connsiteX7-59" fmla="*/ 486697 w 486697"/>
                  <a:gd name="connsiteY7-60" fmla="*/ 858184 h 8581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43" y="connsiteY7-44"/>
                  </a:cxn>
                </a:cxnLst>
                <a:rect l="l" t="t" r="r" b="b"/>
                <a:pathLst>
                  <a:path w="486697" h="858184">
                    <a:moveTo>
                      <a:pt x="486697" y="858184"/>
                    </a:moveTo>
                    <a:lnTo>
                      <a:pt x="442452" y="695952"/>
                    </a:lnTo>
                    <a:cubicBezTo>
                      <a:pt x="432620" y="590255"/>
                      <a:pt x="488753" y="334098"/>
                      <a:pt x="427704" y="224004"/>
                    </a:cubicBezTo>
                    <a:cubicBezTo>
                      <a:pt x="366655" y="113910"/>
                      <a:pt x="147440" y="62424"/>
                      <a:pt x="76156" y="35385"/>
                    </a:cubicBezTo>
                    <a:cubicBezTo>
                      <a:pt x="4872" y="8346"/>
                      <a:pt x="6498" y="-39841"/>
                      <a:pt x="0" y="61771"/>
                    </a:cubicBezTo>
                    <a:cubicBezTo>
                      <a:pt x="24581" y="258416"/>
                      <a:pt x="-33966" y="551489"/>
                      <a:pt x="73742" y="651707"/>
                    </a:cubicBezTo>
                    <a:cubicBezTo>
                      <a:pt x="181450" y="751925"/>
                      <a:pt x="373626" y="691036"/>
                      <a:pt x="442452" y="725449"/>
                    </a:cubicBezTo>
                    <a:lnTo>
                      <a:pt x="486697" y="858184"/>
                    </a:lnTo>
                    <a:close/>
                  </a:path>
                </a:pathLst>
              </a:custGeom>
              <a:solidFill>
                <a:srgbClr val="1C1C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任意多边形 43"/>
              <p:cNvSpPr/>
              <p:nvPr/>
            </p:nvSpPr>
            <p:spPr>
              <a:xfrm rot="20871133">
                <a:off x="3296615" y="1400177"/>
                <a:ext cx="715690" cy="1258861"/>
              </a:xfrm>
              <a:custGeom>
                <a:avLst/>
                <a:gdLst>
                  <a:gd name="connsiteX0" fmla="*/ 486697 w 486697"/>
                  <a:gd name="connsiteY0" fmla="*/ 796413 h 796413"/>
                  <a:gd name="connsiteX1" fmla="*/ 442452 w 486697"/>
                  <a:gd name="connsiteY1" fmla="*/ 634181 h 796413"/>
                  <a:gd name="connsiteX2" fmla="*/ 427704 w 486697"/>
                  <a:gd name="connsiteY2" fmla="*/ 162233 h 796413"/>
                  <a:gd name="connsiteX3" fmla="*/ 0 w 486697"/>
                  <a:gd name="connsiteY3" fmla="*/ 0 h 796413"/>
                  <a:gd name="connsiteX4" fmla="*/ 73742 w 486697"/>
                  <a:gd name="connsiteY4" fmla="*/ 589936 h 796413"/>
                  <a:gd name="connsiteX5" fmla="*/ 442452 w 486697"/>
                  <a:gd name="connsiteY5" fmla="*/ 663678 h 796413"/>
                  <a:gd name="connsiteX6" fmla="*/ 486697 w 486697"/>
                  <a:gd name="connsiteY6" fmla="*/ 796413 h 796413"/>
                  <a:gd name="connsiteX0-1" fmla="*/ 486697 w 486697"/>
                  <a:gd name="connsiteY0-2" fmla="*/ 817061 h 817061"/>
                  <a:gd name="connsiteX1-3" fmla="*/ 442452 w 486697"/>
                  <a:gd name="connsiteY1-4" fmla="*/ 654829 h 817061"/>
                  <a:gd name="connsiteX2-5" fmla="*/ 427704 w 486697"/>
                  <a:gd name="connsiteY2-6" fmla="*/ 182881 h 817061"/>
                  <a:gd name="connsiteX3-7" fmla="*/ 0 w 486697"/>
                  <a:gd name="connsiteY3-8" fmla="*/ 20648 h 817061"/>
                  <a:gd name="connsiteX4-9" fmla="*/ 73742 w 486697"/>
                  <a:gd name="connsiteY4-10" fmla="*/ 610584 h 817061"/>
                  <a:gd name="connsiteX5-11" fmla="*/ 442452 w 486697"/>
                  <a:gd name="connsiteY5-12" fmla="*/ 684326 h 817061"/>
                  <a:gd name="connsiteX6-13" fmla="*/ 486697 w 486697"/>
                  <a:gd name="connsiteY6-14" fmla="*/ 817061 h 817061"/>
                  <a:gd name="connsiteX0-15" fmla="*/ 486697 w 486697"/>
                  <a:gd name="connsiteY0-16" fmla="*/ 858184 h 858184"/>
                  <a:gd name="connsiteX1-17" fmla="*/ 442452 w 486697"/>
                  <a:gd name="connsiteY1-18" fmla="*/ 695952 h 858184"/>
                  <a:gd name="connsiteX2-19" fmla="*/ 427704 w 486697"/>
                  <a:gd name="connsiteY2-20" fmla="*/ 224004 h 858184"/>
                  <a:gd name="connsiteX3-21" fmla="*/ 76156 w 486697"/>
                  <a:gd name="connsiteY3-22" fmla="*/ 35385 h 858184"/>
                  <a:gd name="connsiteX4-23" fmla="*/ 0 w 486697"/>
                  <a:gd name="connsiteY4-24" fmla="*/ 61771 h 858184"/>
                  <a:gd name="connsiteX5-25" fmla="*/ 73742 w 486697"/>
                  <a:gd name="connsiteY5-26" fmla="*/ 651707 h 858184"/>
                  <a:gd name="connsiteX6-27" fmla="*/ 442452 w 486697"/>
                  <a:gd name="connsiteY6-28" fmla="*/ 725449 h 858184"/>
                  <a:gd name="connsiteX7" fmla="*/ 486697 w 486697"/>
                  <a:gd name="connsiteY7" fmla="*/ 858184 h 858184"/>
                  <a:gd name="connsiteX0-29" fmla="*/ 486697 w 486697"/>
                  <a:gd name="connsiteY0-30" fmla="*/ 858184 h 858184"/>
                  <a:gd name="connsiteX1-31" fmla="*/ 442452 w 486697"/>
                  <a:gd name="connsiteY1-32" fmla="*/ 695952 h 858184"/>
                  <a:gd name="connsiteX2-33" fmla="*/ 427704 w 486697"/>
                  <a:gd name="connsiteY2-34" fmla="*/ 224004 h 858184"/>
                  <a:gd name="connsiteX3-35" fmla="*/ 76156 w 486697"/>
                  <a:gd name="connsiteY3-36" fmla="*/ 35385 h 858184"/>
                  <a:gd name="connsiteX4-37" fmla="*/ 0 w 486697"/>
                  <a:gd name="connsiteY4-38" fmla="*/ 61771 h 858184"/>
                  <a:gd name="connsiteX5-39" fmla="*/ 73742 w 486697"/>
                  <a:gd name="connsiteY5-40" fmla="*/ 651707 h 858184"/>
                  <a:gd name="connsiteX6-41" fmla="*/ 442452 w 486697"/>
                  <a:gd name="connsiteY6-42" fmla="*/ 725449 h 858184"/>
                  <a:gd name="connsiteX7-43" fmla="*/ 486697 w 486697"/>
                  <a:gd name="connsiteY7-44" fmla="*/ 858184 h 858184"/>
                  <a:gd name="connsiteX0-45" fmla="*/ 486697 w 486697"/>
                  <a:gd name="connsiteY0-46" fmla="*/ 858184 h 858184"/>
                  <a:gd name="connsiteX1-47" fmla="*/ 442452 w 486697"/>
                  <a:gd name="connsiteY1-48" fmla="*/ 695952 h 858184"/>
                  <a:gd name="connsiteX2-49" fmla="*/ 427704 w 486697"/>
                  <a:gd name="connsiteY2-50" fmla="*/ 224004 h 858184"/>
                  <a:gd name="connsiteX3-51" fmla="*/ 76156 w 486697"/>
                  <a:gd name="connsiteY3-52" fmla="*/ 35385 h 858184"/>
                  <a:gd name="connsiteX4-53" fmla="*/ 0 w 486697"/>
                  <a:gd name="connsiteY4-54" fmla="*/ 61771 h 858184"/>
                  <a:gd name="connsiteX5-55" fmla="*/ 73742 w 486697"/>
                  <a:gd name="connsiteY5-56" fmla="*/ 651707 h 858184"/>
                  <a:gd name="connsiteX6-57" fmla="*/ 442452 w 486697"/>
                  <a:gd name="connsiteY6-58" fmla="*/ 725449 h 858184"/>
                  <a:gd name="connsiteX7-59" fmla="*/ 486697 w 486697"/>
                  <a:gd name="connsiteY7-60" fmla="*/ 858184 h 8581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43" y="connsiteY7-44"/>
                  </a:cxn>
                </a:cxnLst>
                <a:rect l="l" t="t" r="r" b="b"/>
                <a:pathLst>
                  <a:path w="486697" h="858184">
                    <a:moveTo>
                      <a:pt x="486697" y="858184"/>
                    </a:moveTo>
                    <a:lnTo>
                      <a:pt x="442452" y="695952"/>
                    </a:lnTo>
                    <a:cubicBezTo>
                      <a:pt x="432620" y="590255"/>
                      <a:pt x="488753" y="334098"/>
                      <a:pt x="427704" y="224004"/>
                    </a:cubicBezTo>
                    <a:cubicBezTo>
                      <a:pt x="366655" y="113910"/>
                      <a:pt x="147440" y="62424"/>
                      <a:pt x="76156" y="35385"/>
                    </a:cubicBezTo>
                    <a:cubicBezTo>
                      <a:pt x="4872" y="8346"/>
                      <a:pt x="6498" y="-39841"/>
                      <a:pt x="0" y="61771"/>
                    </a:cubicBezTo>
                    <a:cubicBezTo>
                      <a:pt x="24581" y="258416"/>
                      <a:pt x="-33966" y="551489"/>
                      <a:pt x="73742" y="651707"/>
                    </a:cubicBezTo>
                    <a:cubicBezTo>
                      <a:pt x="181450" y="751925"/>
                      <a:pt x="373626" y="691036"/>
                      <a:pt x="442452" y="725449"/>
                    </a:cubicBezTo>
                    <a:lnTo>
                      <a:pt x="486697" y="858184"/>
                    </a:lnTo>
                    <a:close/>
                  </a:path>
                </a:pathLst>
              </a:custGeom>
              <a:solidFill>
                <a:srgbClr val="1C1C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任意多边形 44"/>
              <p:cNvSpPr/>
              <p:nvPr/>
            </p:nvSpPr>
            <p:spPr>
              <a:xfrm>
                <a:off x="2433484" y="2469237"/>
                <a:ext cx="3510116" cy="3326880"/>
              </a:xfrm>
              <a:custGeom>
                <a:avLst/>
                <a:gdLst>
                  <a:gd name="connsiteX0" fmla="*/ 2533998 w 3510116"/>
                  <a:gd name="connsiteY0" fmla="*/ 0 h 3326049"/>
                  <a:gd name="connsiteX1" fmla="*/ 2591623 w 3510116"/>
                  <a:gd name="connsiteY1" fmla="*/ 27759 h 3326049"/>
                  <a:gd name="connsiteX2" fmla="*/ 3510116 w 3510116"/>
                  <a:gd name="connsiteY2" fmla="*/ 1570991 h 3326049"/>
                  <a:gd name="connsiteX3" fmla="*/ 1755058 w 3510116"/>
                  <a:gd name="connsiteY3" fmla="*/ 3326049 h 3326049"/>
                  <a:gd name="connsiteX4" fmla="*/ 0 w 3510116"/>
                  <a:gd name="connsiteY4" fmla="*/ 1570991 h 3326049"/>
                  <a:gd name="connsiteX5" fmla="*/ 918493 w 3510116"/>
                  <a:gd name="connsiteY5" fmla="*/ 27759 h 3326049"/>
                  <a:gd name="connsiteX6" fmla="*/ 923961 w 3510116"/>
                  <a:gd name="connsiteY6" fmla="*/ 25125 h 3326049"/>
                  <a:gd name="connsiteX7" fmla="*/ 950966 w 3510116"/>
                  <a:gd name="connsiteY7" fmla="*/ 98910 h 3326049"/>
                  <a:gd name="connsiteX8" fmla="*/ 972537 w 3510116"/>
                  <a:gd name="connsiteY8" fmla="*/ 138652 h 3326049"/>
                  <a:gd name="connsiteX9" fmla="*/ 842536 w 3510116"/>
                  <a:gd name="connsiteY9" fmla="*/ 217629 h 3326049"/>
                  <a:gd name="connsiteX10" fmla="*/ 122959 w 3510116"/>
                  <a:gd name="connsiteY10" fmla="*/ 1570991 h 3326049"/>
                  <a:gd name="connsiteX11" fmla="*/ 1755058 w 3510116"/>
                  <a:gd name="connsiteY11" fmla="*/ 3203090 h 3326049"/>
                  <a:gd name="connsiteX12" fmla="*/ 3387157 w 3510116"/>
                  <a:gd name="connsiteY12" fmla="*/ 1570991 h 3326049"/>
                  <a:gd name="connsiteX13" fmla="*/ 2533013 w 3510116"/>
                  <a:gd name="connsiteY13" fmla="*/ 135878 h 3326049"/>
                  <a:gd name="connsiteX14" fmla="*/ 2491061 w 3510116"/>
                  <a:gd name="connsiteY14" fmla="*/ 115668 h 3326049"/>
                  <a:gd name="connsiteX15" fmla="*/ 2500156 w 3510116"/>
                  <a:gd name="connsiteY15" fmla="*/ 98910 h 3326049"/>
                  <a:gd name="connsiteX16" fmla="*/ 2528425 w 3510116"/>
                  <a:gd name="connsiteY16" fmla="*/ 21674 h 3326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10116" h="3326049">
                    <a:moveTo>
                      <a:pt x="2533998" y="0"/>
                    </a:moveTo>
                    <a:lnTo>
                      <a:pt x="2591623" y="27759"/>
                    </a:lnTo>
                    <a:cubicBezTo>
                      <a:pt x="3138719" y="324959"/>
                      <a:pt x="3510116" y="904603"/>
                      <a:pt x="3510116" y="1570991"/>
                    </a:cubicBezTo>
                    <a:cubicBezTo>
                      <a:pt x="3510116" y="2540283"/>
                      <a:pt x="2724350" y="3326049"/>
                      <a:pt x="1755058" y="3326049"/>
                    </a:cubicBezTo>
                    <a:cubicBezTo>
                      <a:pt x="785766" y="3326049"/>
                      <a:pt x="0" y="2540283"/>
                      <a:pt x="0" y="1570991"/>
                    </a:cubicBezTo>
                    <a:cubicBezTo>
                      <a:pt x="0" y="904603"/>
                      <a:pt x="371397" y="324959"/>
                      <a:pt x="918493" y="27759"/>
                    </a:cubicBezTo>
                    <a:lnTo>
                      <a:pt x="923961" y="25125"/>
                    </a:lnTo>
                    <a:lnTo>
                      <a:pt x="950966" y="98910"/>
                    </a:lnTo>
                    <a:lnTo>
                      <a:pt x="972537" y="138652"/>
                    </a:lnTo>
                    <a:lnTo>
                      <a:pt x="842536" y="217629"/>
                    </a:lnTo>
                    <a:cubicBezTo>
                      <a:pt x="408395" y="510929"/>
                      <a:pt x="122959" y="1007627"/>
                      <a:pt x="122959" y="1570991"/>
                    </a:cubicBezTo>
                    <a:cubicBezTo>
                      <a:pt x="122959" y="2472374"/>
                      <a:pt x="853675" y="3203090"/>
                      <a:pt x="1755058" y="3203090"/>
                    </a:cubicBezTo>
                    <a:cubicBezTo>
                      <a:pt x="2656441" y="3203090"/>
                      <a:pt x="3387157" y="2472374"/>
                      <a:pt x="3387157" y="1570991"/>
                    </a:cubicBezTo>
                    <a:cubicBezTo>
                      <a:pt x="3387157" y="951290"/>
                      <a:pt x="3041780" y="412256"/>
                      <a:pt x="2533013" y="135878"/>
                    </a:cubicBezTo>
                    <a:lnTo>
                      <a:pt x="2491061" y="115668"/>
                    </a:lnTo>
                    <a:lnTo>
                      <a:pt x="2500156" y="98910"/>
                    </a:lnTo>
                    <a:cubicBezTo>
                      <a:pt x="2510791" y="73767"/>
                      <a:pt x="2520238" y="47998"/>
                      <a:pt x="2528425" y="2167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grpSp>
        <p:sp>
          <p:nvSpPr>
            <p:cNvPr id="14" name="文本框 13"/>
            <p:cNvSpPr txBox="1"/>
            <p:nvPr/>
          </p:nvSpPr>
          <p:spPr>
            <a:xfrm>
              <a:off x="1752439" y="1705364"/>
              <a:ext cx="683259" cy="622459"/>
            </a:xfrm>
            <a:prstGeom prst="rect">
              <a:avLst/>
            </a:prstGeom>
            <a:noFill/>
            <a:ln>
              <a:noFill/>
            </a:ln>
          </p:spPr>
          <p:txBody>
            <a:bodyPr wrap="square" rtlCol="0">
              <a:spAutoFit/>
            </a:bodyPr>
            <a:lstStyle/>
            <a:p>
              <a:r>
                <a:rPr lang="zh-CN" altLang="en-US" sz="4800" b="1" dirty="0">
                  <a:latin typeface="幼圆" panose="02010509060101010101" pitchFamily="49" charset="-122"/>
                  <a:ea typeface="幼圆" panose="02010509060101010101" pitchFamily="49" charset="-122"/>
                </a:rPr>
                <a:t>二</a:t>
              </a:r>
              <a:endParaRPr lang="zh-CN" altLang="en-US" sz="4800" b="1" dirty="0">
                <a:latin typeface="幼圆" panose="02010509060101010101" pitchFamily="49" charset="-122"/>
                <a:ea typeface="幼圆" panose="02010509060101010101" pitchFamily="49" charset="-122"/>
              </a:endParaRPr>
            </a:p>
          </p:txBody>
        </p:sp>
      </p:grpSp>
      <p:grpSp>
        <p:nvGrpSpPr>
          <p:cNvPr id="2" name="组合 1"/>
          <p:cNvGrpSpPr/>
          <p:nvPr/>
        </p:nvGrpSpPr>
        <p:grpSpPr>
          <a:xfrm>
            <a:off x="4776470" y="2573020"/>
            <a:ext cx="4752975" cy="1447800"/>
            <a:chOff x="6790" y="3949"/>
            <a:chExt cx="7485" cy="2280"/>
          </a:xfrm>
        </p:grpSpPr>
        <p:grpSp>
          <p:nvGrpSpPr>
            <p:cNvPr id="15" name="组合 14"/>
            <p:cNvGrpSpPr/>
            <p:nvPr/>
          </p:nvGrpSpPr>
          <p:grpSpPr>
            <a:xfrm>
              <a:off x="6790" y="3949"/>
              <a:ext cx="2182" cy="1140"/>
              <a:chOff x="4027898" y="1664569"/>
              <a:chExt cx="1039402" cy="542865"/>
            </a:xfrm>
          </p:grpSpPr>
          <p:cxnSp>
            <p:nvCxnSpPr>
              <p:cNvPr id="8" name="直接连接符 7"/>
              <p:cNvCxnSpPr/>
              <p:nvPr/>
            </p:nvCxnSpPr>
            <p:spPr>
              <a:xfrm>
                <a:off x="4027898" y="1900313"/>
                <a:ext cx="1039402"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256498" y="1664569"/>
                <a:ext cx="0" cy="542865"/>
              </a:xfrm>
              <a:prstGeom prst="line">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12093" y="5089"/>
              <a:ext cx="2182" cy="1140"/>
              <a:chOff x="7799798" y="3378994"/>
              <a:chExt cx="1039402" cy="542865"/>
            </a:xfrm>
          </p:grpSpPr>
          <p:cxnSp>
            <p:nvCxnSpPr>
              <p:cNvPr id="27" name="直接连接符 26"/>
              <p:cNvCxnSpPr/>
              <p:nvPr/>
            </p:nvCxnSpPr>
            <p:spPr>
              <a:xfrm>
                <a:off x="7799798" y="3721894"/>
                <a:ext cx="1039402" cy="0"/>
              </a:xfrm>
              <a:prstGeom prst="line">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606248" y="3378994"/>
                <a:ext cx="0" cy="54286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6" name="文本框 13"/>
            <p:cNvSpPr txBox="1">
              <a:spLocks noChangeArrowheads="1"/>
            </p:cNvSpPr>
            <p:nvPr/>
          </p:nvSpPr>
          <p:spPr bwMode="auto">
            <a:xfrm flipH="1">
              <a:off x="8212" y="4531"/>
              <a:ext cx="5325" cy="1190"/>
            </a:xfrm>
            <a:prstGeom prst="rect">
              <a:avLst/>
            </a:prstGeom>
            <a:noFill/>
            <a:ln w="9525">
              <a:noFill/>
              <a:miter lim="800000"/>
            </a:ln>
          </p:spPr>
          <p:txBody>
            <a:bodyPr wrap="square">
              <a:spAutoFit/>
            </a:bodyPr>
            <a:lstStyle/>
            <a:p>
              <a:pPr>
                <a:lnSpc>
                  <a:spcPct val="120000"/>
                </a:lnSpc>
                <a:spcBef>
                  <a:spcPct val="0"/>
                </a:spcBef>
              </a:pPr>
              <a:r>
                <a:rPr lang="zh-CN" altLang="en-US" sz="3600" b="1" dirty="0">
                  <a:solidFill>
                    <a:schemeClr val="tx1">
                      <a:lumMod val="95000"/>
                      <a:lumOff val="5000"/>
                    </a:schemeClr>
                  </a:solidFill>
                  <a:latin typeface="幼圆" panose="02010509060101010101" pitchFamily="49" charset="-122"/>
                  <a:ea typeface="幼圆" panose="02010509060101010101" pitchFamily="49" charset="-122"/>
                  <a:cs typeface="+mn-ea"/>
                  <a:sym typeface="+mn-lt"/>
                </a:rPr>
                <a:t>交通</a:t>
              </a:r>
              <a:r>
                <a:rPr lang="zh-CN" altLang="en-US" sz="3600" b="1" dirty="0">
                  <a:solidFill>
                    <a:schemeClr val="tx1">
                      <a:lumMod val="95000"/>
                      <a:lumOff val="5000"/>
                    </a:schemeClr>
                  </a:solidFill>
                  <a:latin typeface="幼圆" panose="02010509060101010101" pitchFamily="49" charset="-122"/>
                  <a:ea typeface="幼圆" panose="02010509060101010101" pitchFamily="49" charset="-122"/>
                  <a:cs typeface="+mn-ea"/>
                  <a:sym typeface="+mn-lt"/>
                </a:rPr>
                <a:t>咨询系统</a:t>
              </a:r>
              <a:endParaRPr lang="zh-CN" altLang="en-US" sz="3600" b="1" dirty="0">
                <a:solidFill>
                  <a:schemeClr val="tx1">
                    <a:lumMod val="95000"/>
                    <a:lumOff val="5000"/>
                  </a:schemeClr>
                </a:solidFill>
                <a:latin typeface="幼圆" panose="02010509060101010101" pitchFamily="49" charset="-122"/>
                <a:ea typeface="幼圆" panose="02010509060101010101" pitchFamily="49" charset="-122"/>
                <a:cs typeface="+mn-ea"/>
                <a:sym typeface="+mn-lt"/>
              </a:endParaRPr>
            </a:p>
          </p:txBody>
        </p:sp>
      </p:grpSp>
      <p:sp>
        <p:nvSpPr>
          <p:cNvPr id="4" name="文本框 3"/>
          <p:cNvSpPr txBox="1"/>
          <p:nvPr/>
        </p:nvSpPr>
        <p:spPr>
          <a:xfrm>
            <a:off x="401320" y="6241415"/>
            <a:ext cx="10135870" cy="337185"/>
          </a:xfrm>
          <a:prstGeom prst="rect">
            <a:avLst/>
          </a:prstGeom>
          <a:noFill/>
        </p:spPr>
        <p:txBody>
          <a:bodyPr wrap="square" rtlCol="0">
            <a:spAutoFit/>
          </a:bodyPr>
          <a:p>
            <a:r>
              <a:rPr lang="zh-CN" altLang="en-US" sz="1600" b="1" i="1">
                <a:solidFill>
                  <a:schemeClr val="bg1">
                    <a:lumMod val="65000"/>
                  </a:schemeClr>
                </a:solidFill>
                <a:latin typeface="宋体" panose="02010600030101010101" pitchFamily="2" charset="-122"/>
                <a:ea typeface="宋体" panose="02010600030101010101" pitchFamily="2" charset="-122"/>
              </a:rPr>
              <a:t>注：最短路径、最低花费、最少时间均是图的最短路径问题，故该问题以最短路径为例进行展示</a:t>
            </a:r>
            <a:r>
              <a:rPr lang="en-US" altLang="zh-CN" sz="1600" b="1" i="1">
                <a:solidFill>
                  <a:schemeClr val="bg1">
                    <a:lumMod val="65000"/>
                  </a:schemeClr>
                </a:solidFill>
                <a:latin typeface="宋体" panose="02010600030101010101" pitchFamily="2" charset="-122"/>
                <a:ea typeface="宋体" panose="02010600030101010101" pitchFamily="2" charset="-122"/>
              </a:rPr>
              <a:t>......</a:t>
            </a:r>
            <a:endParaRPr lang="en-US" altLang="zh-CN" sz="1600" b="1" i="1">
              <a:solidFill>
                <a:schemeClr val="bg1">
                  <a:lumMod val="65000"/>
                </a:schemeClr>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290">
                                          <p:stCondLst>
                                            <p:cond delay="0"/>
                                          </p:stCondLst>
                                        </p:cTn>
                                        <p:tgtEl>
                                          <p:spTgt spid="17"/>
                                        </p:tgtEl>
                                      </p:cBhvr>
                                    </p:animEffect>
                                    <p:anim calcmode="lin" valueType="num">
                                      <p:cBhvr>
                                        <p:cTn id="8" dur="911"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17"/>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17"/>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17"/>
                                        </p:tgtEl>
                                        <p:attrNameLst>
                                          <p:attrName>ppt_y</p:attrName>
                                        </p:attrNameLst>
                                      </p:cBhvr>
                                      <p:tavLst>
                                        <p:tav tm="0" fmla="#ppt_y-sin(pi*$)/81">
                                          <p:val>
                                            <p:fltVal val="0"/>
                                          </p:val>
                                        </p:tav>
                                        <p:tav tm="100000">
                                          <p:val>
                                            <p:fltVal val="1"/>
                                          </p:val>
                                        </p:tav>
                                      </p:tavLst>
                                    </p:anim>
                                    <p:animScale>
                                      <p:cBhvr>
                                        <p:cTn id="13" dur="13">
                                          <p:stCondLst>
                                            <p:cond delay="325"/>
                                          </p:stCondLst>
                                        </p:cTn>
                                        <p:tgtEl>
                                          <p:spTgt spid="17"/>
                                        </p:tgtEl>
                                      </p:cBhvr>
                                      <p:to x="100000" y="60000"/>
                                    </p:animScale>
                                    <p:animScale>
                                      <p:cBhvr>
                                        <p:cTn id="14" dur="83" decel="50000">
                                          <p:stCondLst>
                                            <p:cond delay="338"/>
                                          </p:stCondLst>
                                        </p:cTn>
                                        <p:tgtEl>
                                          <p:spTgt spid="17"/>
                                        </p:tgtEl>
                                      </p:cBhvr>
                                      <p:to x="100000" y="100000"/>
                                    </p:animScale>
                                    <p:animScale>
                                      <p:cBhvr>
                                        <p:cTn id="15" dur="13">
                                          <p:stCondLst>
                                            <p:cond delay="656"/>
                                          </p:stCondLst>
                                        </p:cTn>
                                        <p:tgtEl>
                                          <p:spTgt spid="17"/>
                                        </p:tgtEl>
                                      </p:cBhvr>
                                      <p:to x="100000" y="80000"/>
                                    </p:animScale>
                                    <p:animScale>
                                      <p:cBhvr>
                                        <p:cTn id="16" dur="83" decel="50000">
                                          <p:stCondLst>
                                            <p:cond delay="669"/>
                                          </p:stCondLst>
                                        </p:cTn>
                                        <p:tgtEl>
                                          <p:spTgt spid="17"/>
                                        </p:tgtEl>
                                      </p:cBhvr>
                                      <p:to x="100000" y="100000"/>
                                    </p:animScale>
                                    <p:animScale>
                                      <p:cBhvr>
                                        <p:cTn id="17" dur="13">
                                          <p:stCondLst>
                                            <p:cond delay="821"/>
                                          </p:stCondLst>
                                        </p:cTn>
                                        <p:tgtEl>
                                          <p:spTgt spid="17"/>
                                        </p:tgtEl>
                                      </p:cBhvr>
                                      <p:to x="100000" y="90000"/>
                                    </p:animScale>
                                    <p:animScale>
                                      <p:cBhvr>
                                        <p:cTn id="18" dur="83" decel="50000">
                                          <p:stCondLst>
                                            <p:cond delay="834"/>
                                          </p:stCondLst>
                                        </p:cTn>
                                        <p:tgtEl>
                                          <p:spTgt spid="17"/>
                                        </p:tgtEl>
                                      </p:cBhvr>
                                      <p:to x="100000" y="100000"/>
                                    </p:animScale>
                                    <p:animScale>
                                      <p:cBhvr>
                                        <p:cTn id="19" dur="13">
                                          <p:stCondLst>
                                            <p:cond delay="904"/>
                                          </p:stCondLst>
                                        </p:cTn>
                                        <p:tgtEl>
                                          <p:spTgt spid="17"/>
                                        </p:tgtEl>
                                      </p:cBhvr>
                                      <p:to x="100000" y="95000"/>
                                    </p:animScale>
                                    <p:animScale>
                                      <p:cBhvr>
                                        <p:cTn id="20" dur="83" decel="50000">
                                          <p:stCondLst>
                                            <p:cond delay="917"/>
                                          </p:stCondLst>
                                        </p:cTn>
                                        <p:tgtEl>
                                          <p:spTgt spid="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0805160" y="548005"/>
            <a:ext cx="736600" cy="2815590"/>
          </a:xfrm>
          <a:prstGeom prst="rect">
            <a:avLst/>
          </a:prstGeom>
          <a:noFill/>
        </p:spPr>
        <p:txBody>
          <a:bodyPr vert="eaVert" wrap="square" rtlCol="0">
            <a:spAutoFit/>
          </a:bodyPr>
          <a:p>
            <a:r>
              <a:rPr lang="zh-CN" altLang="en-US" sz="3600" b="1" i="1">
                <a:solidFill>
                  <a:schemeClr val="accent3">
                    <a:lumMod val="75000"/>
                  </a:schemeClr>
                </a:solidFill>
                <a:effectLst/>
                <a:latin typeface="幼圆" panose="02010509060101010101" pitchFamily="49" charset="-122"/>
                <a:ea typeface="幼圆" panose="02010509060101010101" pitchFamily="49" charset="-122"/>
              </a:rPr>
              <a:t>模块划分</a:t>
            </a:r>
            <a:endParaRPr lang="zh-CN" altLang="en-US" sz="3600" b="1" i="1">
              <a:solidFill>
                <a:schemeClr val="accent3">
                  <a:lumMod val="75000"/>
                </a:schemeClr>
              </a:solidFill>
              <a:effectLst/>
              <a:latin typeface="幼圆" panose="02010509060101010101" pitchFamily="49" charset="-122"/>
              <a:ea typeface="幼圆" panose="02010509060101010101" pitchFamily="49" charset="-122"/>
            </a:endParaRPr>
          </a:p>
        </p:txBody>
      </p:sp>
      <p:pic>
        <p:nvPicPr>
          <p:cNvPr id="6" name="图片 5"/>
          <p:cNvPicPr>
            <a:picLocks noChangeAspect="1"/>
          </p:cNvPicPr>
          <p:nvPr>
            <p:custDataLst>
              <p:tags r:id="rId1"/>
            </p:custDataLst>
          </p:nvPr>
        </p:nvPicPr>
        <p:blipFill>
          <a:blip r:embed="rId2"/>
          <a:srcRect t="1496" b="2993"/>
          <a:stretch>
            <a:fillRect/>
          </a:stretch>
        </p:blipFill>
        <p:spPr>
          <a:xfrm>
            <a:off x="2040890" y="2369820"/>
            <a:ext cx="7926705" cy="23507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3462655" y="681355"/>
            <a:ext cx="5149850" cy="2952750"/>
          </a:xfrm>
          <a:prstGeom prst="rect">
            <a:avLst/>
          </a:prstGeom>
        </p:spPr>
      </p:pic>
      <p:graphicFrame>
        <p:nvGraphicFramePr>
          <p:cNvPr id="6" name="表格 5"/>
          <p:cNvGraphicFramePr/>
          <p:nvPr>
            <p:custDataLst>
              <p:tags r:id="rId2"/>
            </p:custDataLst>
          </p:nvPr>
        </p:nvGraphicFramePr>
        <p:xfrm>
          <a:off x="5438775" y="4292600"/>
          <a:ext cx="5427345" cy="1905000"/>
        </p:xfrm>
        <a:graphic>
          <a:graphicData uri="http://schemas.openxmlformats.org/drawingml/2006/table">
            <a:tbl>
              <a:tblPr firstRow="1" bandRow="1">
                <a:tableStyleId>{5940675A-B579-460E-94D1-54222C63F5DA}</a:tableStyleId>
              </a:tblPr>
              <a:tblGrid>
                <a:gridCol w="618490"/>
                <a:gridCol w="941070"/>
                <a:gridCol w="987425"/>
                <a:gridCol w="975995"/>
                <a:gridCol w="988060"/>
                <a:gridCol w="916305"/>
              </a:tblGrid>
              <a:tr h="317500">
                <a:tc>
                  <a:txBody>
                    <a:bodyPr/>
                    <a:p>
                      <a:pPr indent="0" algn="ctr">
                        <a:buNone/>
                      </a:pP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A</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B</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C</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D</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E</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cap="flat">
                      <a:noFill/>
                    </a:lnR>
                    <a:lnT cap="flat">
                      <a:noFill/>
                    </a:lnT>
                    <a:lnB w="12700" cap="flat" cmpd="sng">
                      <a:solidFill>
                        <a:srgbClr val="080000"/>
                      </a:solidFill>
                      <a:prstDash val="solid"/>
                      <a:headEnd type="none" w="med" len="med"/>
                      <a:tailEnd type="none" w="med" len="med"/>
                    </a:lnB>
                    <a:lnTlToBr>
                      <a:noFill/>
                    </a:lnTlToBr>
                    <a:lnBlToTr>
                      <a:noFill/>
                    </a:lnBlToTr>
                    <a:noFill/>
                  </a:tcPr>
                </a:tc>
              </a:tr>
              <a:tr h="317500">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A</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20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7</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7500">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B</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20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3</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10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12</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7500">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C</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7</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3</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15</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9</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7500">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D</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10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15</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7500">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E</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a:noFill/>
                    </a:lnL>
                    <a:lnR w="12700" cap="flat" cmpd="sng">
                      <a:solidFill>
                        <a:srgbClr val="080000"/>
                      </a:solidFill>
                      <a:prstDash val="solid"/>
                      <a:headEnd type="none" w="med" len="med"/>
                      <a:tailEnd type="none" w="med" len="med"/>
                    </a:lnR>
                    <a:lnT cap="flat">
                      <a:noFill/>
                    </a:lnT>
                    <a:lnB cap="flat">
                      <a:noFill/>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12</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9</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1">
                          <a:latin typeface="Times New Roman" panose="02020603050405020304" charset="0"/>
                          <a:ea typeface="宋体" panose="02010600030101010101" pitchFamily="2" charset="-122"/>
                          <a:cs typeface="Times New Roman" panose="02020603050405020304" charset="0"/>
                        </a:rPr>
                        <a:t>0</a:t>
                      </a:r>
                      <a:endParaRPr lang="en-US" altLang="en-US" sz="1800" b="1">
                        <a:latin typeface="Times New Roman" panose="02020603050405020304" charset="0"/>
                        <a:ea typeface="宋体" panose="02010600030101010101" pitchFamily="2" charset="-122"/>
                        <a:cs typeface="Times New Roman" panose="0202060305040502030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7" name="文本框 6"/>
          <p:cNvSpPr txBox="1"/>
          <p:nvPr/>
        </p:nvSpPr>
        <p:spPr>
          <a:xfrm>
            <a:off x="1107440" y="4565015"/>
            <a:ext cx="3848100" cy="460375"/>
          </a:xfrm>
          <a:prstGeom prst="rect">
            <a:avLst/>
          </a:prstGeom>
          <a:noFill/>
        </p:spPr>
        <p:txBody>
          <a:bodyPr wrap="square" rtlCol="0">
            <a:spAutoFit/>
          </a:bodyPr>
          <a:p>
            <a:r>
              <a:rPr lang="zh-CN" altLang="en-US" sz="2400" b="1">
                <a:latin typeface="幼圆" panose="02010509060101010101" pitchFamily="49" charset="-122"/>
                <a:ea typeface="幼圆" panose="02010509060101010101" pitchFamily="49" charset="-122"/>
              </a:rPr>
              <a:t>该加权无向图的存储结构</a:t>
            </a:r>
            <a:r>
              <a:rPr lang="zh-CN" altLang="en-US"/>
              <a:t>：</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5989955" cy="521970"/>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1.</a:t>
            </a:r>
            <a:r>
              <a:rPr lang="zh-CN" altLang="en-US" sz="2800" b="1" i="1">
                <a:latin typeface="幼圆" panose="02010509060101010101" pitchFamily="49" charset="-122"/>
                <a:ea typeface="幼圆" panose="02010509060101010101" pitchFamily="49" charset="-122"/>
                <a:cs typeface="幼圆" panose="02010509060101010101" pitchFamily="49" charset="-122"/>
              </a:rPr>
              <a:t>存储结构的实现</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100" name="文本框 99"/>
          <p:cNvSpPr txBox="1"/>
          <p:nvPr/>
        </p:nvSpPr>
        <p:spPr>
          <a:xfrm>
            <a:off x="358140" y="1210310"/>
            <a:ext cx="6062345" cy="5586095"/>
          </a:xfrm>
          <a:prstGeom prst="rect">
            <a:avLst/>
          </a:prstGeom>
          <a:noFill/>
          <a:ln w="9525">
            <a:noFill/>
          </a:ln>
        </p:spPr>
        <p:txBody>
          <a:bodyPr wrap="square">
            <a:noAutofit/>
          </a:bodyPr>
          <a:p>
            <a:pPr indent="0"/>
            <a:r>
              <a:rPr lang="en-US" sz="1600" b="1">
                <a:solidFill>
                  <a:srgbClr val="7F0055"/>
                </a:solidFill>
                <a:latin typeface="Consolas" panose="020B0609020204030204" charset="0"/>
                <a:cs typeface="Consolas" panose="020B0609020204030204" charset="0"/>
              </a:rPr>
              <a:t>public</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final</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static</a:t>
            </a:r>
            <a:r>
              <a:rPr lang="en-US" sz="1600" b="0">
                <a:solidFill>
                  <a:srgbClr val="000000"/>
                </a:solidFill>
                <a:latin typeface="Consolas" panose="020B0609020204030204" charset="0"/>
                <a:cs typeface="Consolas" panose="020B0609020204030204" charset="0"/>
              </a:rPr>
              <a:t> GraphKind </a:t>
            </a:r>
            <a:r>
              <a:rPr lang="en-US" sz="1600" b="1" i="1">
                <a:solidFill>
                  <a:srgbClr val="0000C0"/>
                </a:solidFill>
                <a:latin typeface="Consolas" panose="020B0609020204030204" charset="0"/>
                <a:cs typeface="Consolas" panose="020B0609020204030204" charset="0"/>
              </a:rPr>
              <a:t>graghKind</a:t>
            </a:r>
            <a:r>
              <a:rPr lang="en-US" sz="1600" b="0">
                <a:solidFill>
                  <a:srgbClr val="000000"/>
                </a:solidFill>
                <a:latin typeface="Consolas" panose="020B0609020204030204" charset="0"/>
                <a:cs typeface="Consolas" panose="020B0609020204030204" charset="0"/>
              </a:rPr>
              <a:t> = GraphKind.</a:t>
            </a:r>
            <a:r>
              <a:rPr lang="en-US" sz="1600" b="1" i="1">
                <a:solidFill>
                  <a:srgbClr val="0000C0"/>
                </a:solidFill>
                <a:latin typeface="Consolas" panose="020B0609020204030204" charset="0"/>
                <a:cs typeface="Consolas" panose="020B0609020204030204" charset="0"/>
              </a:rPr>
              <a:t>WeightedUnDirectedGraph</a:t>
            </a:r>
            <a:r>
              <a:rPr lang="en-US" sz="1600" b="0">
                <a:solidFill>
                  <a:srgbClr val="000000"/>
                </a:solidFill>
                <a:latin typeface="Consolas" panose="020B0609020204030204" charset="0"/>
                <a:cs typeface="Consolas" panose="020B0609020204030204" charset="0"/>
              </a:rPr>
              <a:t>;</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public</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final</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static</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double</a:t>
            </a:r>
            <a:r>
              <a:rPr lang="en-US" sz="1600" b="0">
                <a:solidFill>
                  <a:srgbClr val="000000"/>
                </a:solidFill>
                <a:latin typeface="Consolas" panose="020B0609020204030204" charset="0"/>
                <a:cs typeface="Consolas" panose="020B0609020204030204" charset="0"/>
              </a:rPr>
              <a:t> </a:t>
            </a:r>
            <a:r>
              <a:rPr lang="en-US" sz="1600" b="1" i="1">
                <a:solidFill>
                  <a:srgbClr val="0000C0"/>
                </a:solidFill>
                <a:latin typeface="Consolas" panose="020B0609020204030204" charset="0"/>
                <a:cs typeface="Consolas" panose="020B0609020204030204" charset="0"/>
              </a:rPr>
              <a:t>noEdge</a:t>
            </a:r>
            <a:r>
              <a:rPr lang="en-US" sz="1600" b="0">
                <a:solidFill>
                  <a:srgbClr val="000000"/>
                </a:solidFill>
                <a:latin typeface="Consolas" panose="020B0609020204030204" charset="0"/>
                <a:cs typeface="Consolas" panose="020B0609020204030204" charset="0"/>
              </a:rPr>
              <a:t> = Double.</a:t>
            </a:r>
            <a:r>
              <a:rPr lang="en-US" sz="1600" b="1" i="1">
                <a:solidFill>
                  <a:srgbClr val="0000C0"/>
                </a:solidFill>
                <a:latin typeface="Consolas" panose="020B0609020204030204" charset="0"/>
                <a:cs typeface="Consolas" panose="020B0609020204030204" charset="0"/>
              </a:rPr>
              <a:t>POSITIVE_INFINITY</a:t>
            </a:r>
            <a:r>
              <a:rPr lang="en-US" sz="1600" b="0">
                <a:solidFill>
                  <a:srgbClr val="000000"/>
                </a:solidFill>
                <a:latin typeface="Consolas" panose="020B0609020204030204" charset="0"/>
                <a:cs typeface="Consolas" panose="020B0609020204030204" charset="0"/>
              </a:rPr>
              <a:t>;</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Object[] </a:t>
            </a:r>
            <a:r>
              <a:rPr lang="en-US" sz="1600" b="0">
                <a:solidFill>
                  <a:srgbClr val="0000C0"/>
                </a:solidFill>
                <a:latin typeface="Consolas" panose="020B0609020204030204" charset="0"/>
                <a:cs typeface="Consolas" panose="020B0609020204030204" charset="0"/>
              </a:rPr>
              <a:t>vertices</a:t>
            </a:r>
            <a:r>
              <a:rPr lang="en-US" sz="1600" b="0">
                <a:solidFill>
                  <a:srgbClr val="000000"/>
                </a:solidFill>
                <a:latin typeface="Consolas" panose="020B0609020204030204" charset="0"/>
                <a:cs typeface="Consolas" panose="020B0609020204030204" charset="0"/>
              </a:rPr>
              <a:t>;</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ArrayList&lt;LinkedList&lt;Pair&gt;&gt; </a:t>
            </a:r>
            <a:r>
              <a:rPr lang="en-US" sz="1600" b="0">
                <a:solidFill>
                  <a:srgbClr val="0000C0"/>
                </a:solidFill>
                <a:latin typeface="Consolas" panose="020B0609020204030204" charset="0"/>
                <a:cs typeface="Consolas" panose="020B0609020204030204" charset="0"/>
              </a:rPr>
              <a:t>edges</a:t>
            </a:r>
            <a:r>
              <a:rPr lang="en-US" sz="1600" b="0">
                <a:solidFill>
                  <a:srgbClr val="000000"/>
                </a:solidFill>
                <a:latin typeface="Consolas" panose="020B0609020204030204" charset="0"/>
                <a:cs typeface="Consolas" panose="020B0609020204030204" charset="0"/>
              </a:rPr>
              <a:t>;</a:t>
            </a:r>
            <a:r>
              <a:rPr lang="zh-CN" sz="1600" b="0">
                <a:solidFill>
                  <a:srgbClr val="3F7F5F"/>
                </a:solidFill>
                <a:latin typeface="Consolas" panose="020B0609020204030204" charset="0"/>
                <a:cs typeface="Consolas" panose="020B0609020204030204" charset="0"/>
              </a:rPr>
              <a:t>// 表套表， 也可以使用数组</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int</a:t>
            </a:r>
            <a:r>
              <a:rPr lang="en-US" sz="1600" b="0">
                <a:solidFill>
                  <a:srgbClr val="000000"/>
                </a:solidFill>
                <a:latin typeface="Consolas" panose="020B0609020204030204" charset="0"/>
                <a:cs typeface="Consolas" panose="020B0609020204030204" charset="0"/>
              </a:rPr>
              <a:t> </a:t>
            </a:r>
            <a:r>
              <a:rPr lang="en-US" sz="1600" b="0">
                <a:solidFill>
                  <a:srgbClr val="0000C0"/>
                </a:solidFill>
                <a:latin typeface="Consolas" panose="020B0609020204030204" charset="0"/>
                <a:cs typeface="Consolas" panose="020B0609020204030204" charset="0"/>
              </a:rPr>
              <a:t>e</a:t>
            </a:r>
            <a:r>
              <a:rPr lang="en-US" sz="1600" b="0">
                <a:solidFill>
                  <a:srgbClr val="000000"/>
                </a:solidFill>
                <a:latin typeface="Consolas" panose="020B0609020204030204" charset="0"/>
                <a:cs typeface="Consolas" panose="020B0609020204030204" charset="0"/>
              </a:rPr>
              <a:t>;</a:t>
            </a:r>
            <a:r>
              <a:rPr lang="zh-CN" sz="1600" b="0">
                <a:solidFill>
                  <a:srgbClr val="3F7F5F"/>
                </a:solidFill>
                <a:latin typeface="Consolas" panose="020B0609020204030204" charset="0"/>
                <a:cs typeface="Consolas" panose="020B0609020204030204" charset="0"/>
              </a:rPr>
              <a:t>// 边</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final</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int</a:t>
            </a:r>
            <a:r>
              <a:rPr lang="en-US" sz="1600" b="0">
                <a:solidFill>
                  <a:srgbClr val="000000"/>
                </a:solidFill>
                <a:latin typeface="Consolas" panose="020B0609020204030204" charset="0"/>
                <a:cs typeface="Consolas" panose="020B0609020204030204" charset="0"/>
              </a:rPr>
              <a:t> </a:t>
            </a:r>
            <a:r>
              <a:rPr lang="en-US" sz="1600" b="0">
                <a:solidFill>
                  <a:srgbClr val="0000C0"/>
                </a:solidFill>
                <a:latin typeface="Consolas" panose="020B0609020204030204" charset="0"/>
                <a:cs typeface="Consolas" panose="020B0609020204030204" charset="0"/>
              </a:rPr>
              <a:t>n</a:t>
            </a:r>
            <a:r>
              <a:rPr lang="en-US" sz="1600" b="0">
                <a:solidFill>
                  <a:srgbClr val="000000"/>
                </a:solidFill>
                <a:latin typeface="Consolas" panose="020B0609020204030204" charset="0"/>
                <a:cs typeface="Consolas" panose="020B0609020204030204" charset="0"/>
              </a:rPr>
              <a:t>;</a:t>
            </a:r>
            <a:r>
              <a:rPr lang="zh-CN" sz="1600" b="0">
                <a:solidFill>
                  <a:srgbClr val="3F7F5F"/>
                </a:solidFill>
                <a:latin typeface="Consolas" panose="020B0609020204030204" charset="0"/>
                <a:cs typeface="Consolas" panose="020B0609020204030204" charset="0"/>
              </a:rPr>
              <a:t>// 顶点个数</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final</a:t>
            </a:r>
            <a:r>
              <a:rPr lang="en-US" sz="1600" b="0">
                <a:solidFill>
                  <a:srgbClr val="000000"/>
                </a:solidFill>
                <a:latin typeface="Consolas" panose="020B0609020204030204" charset="0"/>
                <a:cs typeface="Consolas" panose="020B0609020204030204" charset="0"/>
              </a:rPr>
              <a:t> Pair </a:t>
            </a:r>
            <a:r>
              <a:rPr lang="en-US" sz="1600" b="0">
                <a:solidFill>
                  <a:srgbClr val="0000C0"/>
                </a:solidFill>
                <a:latin typeface="Consolas" panose="020B0609020204030204" charset="0"/>
                <a:cs typeface="Consolas" panose="020B0609020204030204" charset="0"/>
              </a:rPr>
              <a:t>pair</a:t>
            </a:r>
            <a:r>
              <a:rPr lang="en-US" sz="1600" b="0">
                <a:solidFill>
                  <a:srgbClr val="000000"/>
                </a:solidFill>
                <a:latin typeface="Consolas" panose="020B0609020204030204" charset="0"/>
                <a:cs typeface="Consolas" panose="020B0609020204030204" charset="0"/>
              </a:rPr>
              <a:t> = </a:t>
            </a:r>
            <a:r>
              <a:rPr lang="en-US" sz="1600" b="1">
                <a:solidFill>
                  <a:srgbClr val="7F0055"/>
                </a:solidFill>
                <a:latin typeface="Consolas" panose="020B0609020204030204" charset="0"/>
                <a:cs typeface="Consolas" panose="020B0609020204030204" charset="0"/>
              </a:rPr>
              <a:t>new</a:t>
            </a:r>
            <a:r>
              <a:rPr lang="en-US" sz="1600" b="0">
                <a:solidFill>
                  <a:srgbClr val="000000"/>
                </a:solidFill>
                <a:latin typeface="Consolas" panose="020B0609020204030204" charset="0"/>
                <a:cs typeface="Consolas" panose="020B0609020204030204" charset="0"/>
              </a:rPr>
              <a:t> Pair();</a:t>
            </a:r>
            <a:r>
              <a:rPr lang="zh-CN" sz="1600" b="0">
                <a:solidFill>
                  <a:srgbClr val="3F7F5F"/>
                </a:solidFill>
                <a:latin typeface="Consolas" panose="020B0609020204030204" charset="0"/>
                <a:cs typeface="Consolas" panose="020B0609020204030204" charset="0"/>
              </a:rPr>
              <a:t>// 用于链表的indexOf和remove</a:t>
            </a:r>
            <a:r>
              <a:rPr lang="en-US" sz="1600" b="0">
                <a:latin typeface="Consolas" panose="020B0609020204030204" charset="0"/>
                <a:cs typeface="Consolas" panose="020B0609020204030204" charset="0"/>
              </a:rPr>
              <a:t> </a:t>
            </a:r>
            <a:endParaRPr lang="en-US" sz="1600" b="0">
              <a:solidFill>
                <a:srgbClr val="000000"/>
              </a:solidFill>
              <a:latin typeface="Consolas" panose="020B0609020204030204" charset="0"/>
              <a:cs typeface="Consolas" panose="020B0609020204030204" charset="0"/>
            </a:endParaRPr>
          </a:p>
          <a:p>
            <a:pPr indent="0"/>
            <a:r>
              <a:rPr lang="en-US" sz="1600" b="1">
                <a:solidFill>
                  <a:srgbClr val="7F0055"/>
                </a:solidFill>
                <a:latin typeface="Consolas" panose="020B0609020204030204" charset="0"/>
                <a:cs typeface="Consolas" panose="020B0609020204030204" charset="0"/>
              </a:rPr>
              <a:t>private</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static</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class</a:t>
            </a:r>
            <a:r>
              <a:rPr lang="en-US" sz="1600" b="0">
                <a:solidFill>
                  <a:srgbClr val="000000"/>
                </a:solidFill>
                <a:latin typeface="Consolas" panose="020B0609020204030204" charset="0"/>
                <a:cs typeface="Consolas" panose="020B0609020204030204" charset="0"/>
              </a:rPr>
              <a:t> Pair {	</a:t>
            </a:r>
            <a:r>
              <a:rPr lang="en-US" sz="1600" b="1">
                <a:solidFill>
                  <a:srgbClr val="7F0055"/>
                </a:solidFill>
                <a:latin typeface="Consolas" panose="020B0609020204030204" charset="0"/>
                <a:cs typeface="Consolas" panose="020B0609020204030204" charset="0"/>
              </a:rPr>
              <a:t>int</a:t>
            </a:r>
            <a:r>
              <a:rPr lang="en-US" sz="1600" b="0">
                <a:solidFill>
                  <a:srgbClr val="000000"/>
                </a:solidFill>
                <a:latin typeface="Consolas" panose="020B0609020204030204" charset="0"/>
                <a:cs typeface="Consolas" panose="020B0609020204030204" charset="0"/>
              </a:rPr>
              <a:t> </a:t>
            </a:r>
            <a:r>
              <a:rPr lang="en-US" sz="1600" b="0">
                <a:solidFill>
                  <a:srgbClr val="0000C0"/>
                </a:solidFill>
                <a:latin typeface="Consolas" panose="020B0609020204030204" charset="0"/>
                <a:cs typeface="Consolas" panose="020B0609020204030204" charset="0"/>
              </a:rPr>
              <a:t>vertex</a:t>
            </a:r>
            <a:r>
              <a:rPr lang="en-US" sz="1600" b="0">
                <a:solidFill>
                  <a:srgbClr val="000000"/>
                </a:solidFill>
                <a:latin typeface="Consolas" panose="020B0609020204030204" charset="0"/>
                <a:cs typeface="Consolas" panose="020B0609020204030204" charset="0"/>
              </a:rPr>
              <a:t>;</a:t>
            </a:r>
            <a:r>
              <a:rPr lang="zh-CN" sz="1600" b="0">
                <a:solidFill>
                  <a:srgbClr val="3F7F5F"/>
                </a:solidFill>
                <a:latin typeface="Consolas" panose="020B0609020204030204" charset="0"/>
                <a:cs typeface="Consolas" panose="020B0609020204030204" charset="0"/>
              </a:rPr>
              <a:t>// 邻接点</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double</a:t>
            </a:r>
            <a:r>
              <a:rPr lang="en-US" sz="1600" b="0">
                <a:solidFill>
                  <a:srgbClr val="000000"/>
                </a:solidFill>
                <a:latin typeface="Consolas" panose="020B0609020204030204" charset="0"/>
                <a:cs typeface="Consolas" panose="020B0609020204030204" charset="0"/>
              </a:rPr>
              <a:t> </a:t>
            </a:r>
            <a:r>
              <a:rPr lang="en-US" sz="1600" b="0">
                <a:solidFill>
                  <a:srgbClr val="0000C0"/>
                </a:solidFill>
                <a:latin typeface="Consolas" panose="020B0609020204030204" charset="0"/>
                <a:cs typeface="Consolas" panose="020B0609020204030204" charset="0"/>
              </a:rPr>
              <a:t>weight</a:t>
            </a:r>
            <a:r>
              <a:rPr lang="en-US" sz="1600" b="0">
                <a:solidFill>
                  <a:srgbClr val="000000"/>
                </a:solidFill>
                <a:latin typeface="Consolas" panose="020B0609020204030204" charset="0"/>
                <a:cs typeface="Consolas" panose="020B0609020204030204" charset="0"/>
              </a:rPr>
              <a:t>;</a:t>
            </a:r>
            <a:r>
              <a:rPr lang="zh-CN" sz="1600" b="0">
                <a:solidFill>
                  <a:srgbClr val="3F7F5F"/>
                </a:solidFill>
                <a:latin typeface="Consolas" panose="020B0609020204030204" charset="0"/>
                <a:cs typeface="Consolas" panose="020B0609020204030204" charset="0"/>
              </a:rPr>
              <a:t>// 权重</a:t>
            </a:r>
            <a:r>
              <a:rPr lang="en-US" sz="1600" b="0">
                <a:latin typeface="Consolas" panose="020B0609020204030204" charset="0"/>
                <a:cs typeface="Consolas" panose="020B0609020204030204" charset="0"/>
              </a:rPr>
              <a:t> </a:t>
            </a:r>
            <a:r>
              <a:rPr lang="en-US" sz="1600" b="0">
                <a:solidFill>
                  <a:srgbClr val="000000"/>
                </a:solidFill>
                <a:latin typeface="Consolas" panose="020B0609020204030204" charset="0"/>
                <a:cs typeface="Consolas" panose="020B0609020204030204" charset="0"/>
              </a:rPr>
              <a:t>	Pair(</a:t>
            </a:r>
            <a:r>
              <a:rPr lang="en-US" sz="1600" b="1">
                <a:solidFill>
                  <a:srgbClr val="7F0055"/>
                </a:solidFill>
                <a:latin typeface="Consolas" panose="020B0609020204030204" charset="0"/>
                <a:cs typeface="Consolas" panose="020B0609020204030204" charset="0"/>
              </a:rPr>
              <a:t>int</a:t>
            </a:r>
            <a:r>
              <a:rPr lang="en-US" sz="1600" b="0">
                <a:solidFill>
                  <a:srgbClr val="000000"/>
                </a:solidFill>
                <a:latin typeface="Consolas" panose="020B0609020204030204" charset="0"/>
                <a:cs typeface="Consolas" panose="020B0609020204030204" charset="0"/>
              </a:rPr>
              <a:t> </a:t>
            </a:r>
            <a:r>
              <a:rPr lang="en-US" sz="1600" b="0">
                <a:solidFill>
                  <a:srgbClr val="6A3E3E"/>
                </a:solidFill>
                <a:latin typeface="Consolas" panose="020B0609020204030204" charset="0"/>
                <a:cs typeface="Consolas" panose="020B0609020204030204" charset="0"/>
              </a:rPr>
              <a:t>v</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double</a:t>
            </a:r>
            <a:r>
              <a:rPr lang="en-US" sz="1600" b="0">
                <a:solidFill>
                  <a:srgbClr val="000000"/>
                </a:solidFill>
                <a:latin typeface="Consolas" panose="020B0609020204030204" charset="0"/>
                <a:cs typeface="Consolas" panose="020B0609020204030204" charset="0"/>
              </a:rPr>
              <a:t> </a:t>
            </a:r>
            <a:r>
              <a:rPr lang="en-US" sz="1600" b="0">
                <a:solidFill>
                  <a:srgbClr val="6A3E3E"/>
                </a:solidFill>
                <a:latin typeface="Consolas" panose="020B0609020204030204" charset="0"/>
                <a:cs typeface="Consolas" panose="020B0609020204030204" charset="0"/>
              </a:rPr>
              <a:t>w</a:t>
            </a:r>
            <a:r>
              <a:rPr lang="en-US" sz="1600" b="0">
                <a:solidFill>
                  <a:srgbClr val="000000"/>
                </a:solidFill>
                <a:latin typeface="Consolas" panose="020B0609020204030204" charset="0"/>
                <a:cs typeface="Consolas" panose="020B0609020204030204" charset="0"/>
              </a:rPr>
              <a:t>) {		</a:t>
            </a:r>
            <a:r>
              <a:rPr lang="en-US" sz="1600" b="0">
                <a:solidFill>
                  <a:srgbClr val="0000C0"/>
                </a:solidFill>
                <a:latin typeface="Consolas" panose="020B0609020204030204" charset="0"/>
                <a:cs typeface="Consolas" panose="020B0609020204030204" charset="0"/>
              </a:rPr>
              <a:t>vertex</a:t>
            </a:r>
            <a:r>
              <a:rPr lang="en-US" sz="1600" b="0">
                <a:solidFill>
                  <a:srgbClr val="000000"/>
                </a:solidFill>
                <a:latin typeface="Consolas" panose="020B0609020204030204" charset="0"/>
                <a:cs typeface="Consolas" panose="020B0609020204030204" charset="0"/>
              </a:rPr>
              <a:t> = </a:t>
            </a:r>
            <a:r>
              <a:rPr lang="en-US" sz="1600" b="0">
                <a:solidFill>
                  <a:srgbClr val="6A3E3E"/>
                </a:solidFill>
                <a:latin typeface="Consolas" panose="020B0609020204030204" charset="0"/>
                <a:cs typeface="Consolas" panose="020B0609020204030204" charset="0"/>
              </a:rPr>
              <a:t>v</a:t>
            </a:r>
            <a:r>
              <a:rPr lang="en-US" sz="1600" b="0">
                <a:solidFill>
                  <a:srgbClr val="000000"/>
                </a:solidFill>
                <a:latin typeface="Consolas" panose="020B0609020204030204" charset="0"/>
                <a:cs typeface="Consolas" panose="020B0609020204030204" charset="0"/>
              </a:rPr>
              <a:t>;		</a:t>
            </a:r>
            <a:r>
              <a:rPr lang="en-US" sz="1600" b="0">
                <a:solidFill>
                  <a:srgbClr val="0000C0"/>
                </a:solidFill>
                <a:latin typeface="Consolas" panose="020B0609020204030204" charset="0"/>
                <a:cs typeface="Consolas" panose="020B0609020204030204" charset="0"/>
              </a:rPr>
              <a:t>weight</a:t>
            </a:r>
            <a:r>
              <a:rPr lang="en-US" sz="1600" b="0">
                <a:solidFill>
                  <a:srgbClr val="000000"/>
                </a:solidFill>
                <a:latin typeface="Consolas" panose="020B0609020204030204" charset="0"/>
                <a:cs typeface="Consolas" panose="020B0609020204030204" charset="0"/>
              </a:rPr>
              <a:t> = </a:t>
            </a:r>
            <a:r>
              <a:rPr lang="en-US" sz="1600" b="0">
                <a:solidFill>
                  <a:srgbClr val="6A3E3E"/>
                </a:solidFill>
                <a:latin typeface="Consolas" panose="020B0609020204030204" charset="0"/>
                <a:cs typeface="Consolas" panose="020B0609020204030204" charset="0"/>
              </a:rPr>
              <a:t>w</a:t>
            </a:r>
            <a:r>
              <a:rPr lang="en-US" sz="1600" b="0">
                <a:solidFill>
                  <a:srgbClr val="000000"/>
                </a:solidFill>
                <a:latin typeface="Consolas" panose="020B0609020204030204" charset="0"/>
                <a:cs typeface="Consolas" panose="020B0609020204030204" charset="0"/>
              </a:rPr>
              <a:t>;	}</a:t>
            </a:r>
            <a:endParaRPr lang="en-US" sz="1600" b="0">
              <a:latin typeface="Consolas" panose="020B0609020204030204" charset="0"/>
              <a:cs typeface="Consolas" panose="020B0609020204030204" charset="0"/>
            </a:endParaRPr>
          </a:p>
          <a:p>
            <a:pPr indent="0"/>
            <a:r>
              <a:rPr lang="en-US" b="0">
                <a:latin typeface="Consolas" panose="020B0609020204030204" charset="0"/>
              </a:rPr>
              <a:t> </a:t>
            </a:r>
            <a:r>
              <a:rPr lang="en-US" b="0">
                <a:solidFill>
                  <a:srgbClr val="000000"/>
                </a:solidFill>
                <a:latin typeface="Consolas" panose="020B0609020204030204" charset="0"/>
              </a:rPr>
              <a:t>		</a:t>
            </a:r>
            <a:endParaRPr lang="en-US" altLang="en-US" b="0">
              <a:solidFill>
                <a:srgbClr val="000000"/>
              </a:solidFill>
              <a:latin typeface="Consolas" panose="020B0609020204030204" charset="0"/>
            </a:endParaRPr>
          </a:p>
        </p:txBody>
      </p:sp>
      <p:sp>
        <p:nvSpPr>
          <p:cNvPr id="2" name="文本框 1"/>
          <p:cNvSpPr txBox="1"/>
          <p:nvPr/>
        </p:nvSpPr>
        <p:spPr>
          <a:xfrm>
            <a:off x="6720205" y="1322705"/>
            <a:ext cx="5122545" cy="4583430"/>
          </a:xfrm>
          <a:prstGeom prst="rect">
            <a:avLst/>
          </a:prstGeom>
          <a:noFill/>
        </p:spPr>
        <p:txBody>
          <a:bodyPr wrap="square" rtlCol="0" anchor="t">
            <a:noAutofit/>
          </a:bodyPr>
          <a:p>
            <a:pPr indent="0"/>
            <a:r>
              <a:rPr lang="en-US" sz="1600">
                <a:solidFill>
                  <a:srgbClr val="000000"/>
                </a:solidFill>
                <a:latin typeface="Consolas" panose="020B0609020204030204" charset="0"/>
                <a:cs typeface="Consolas" panose="020B0609020204030204" charset="0"/>
                <a:sym typeface="+mn-ea"/>
              </a:rPr>
              <a:t>  Pair() {	   }</a:t>
            </a:r>
            <a:r>
              <a:rPr lang="en-US" sz="1600">
                <a:latin typeface="Consolas" panose="020B0609020204030204" charset="0"/>
                <a:cs typeface="Consolas" panose="020B0609020204030204" charset="0"/>
                <a:sym typeface="+mn-ea"/>
              </a:rPr>
              <a:t> </a:t>
            </a:r>
            <a:r>
              <a:rPr lang="en-US" sz="1600">
                <a:solidFill>
                  <a:srgbClr val="000000"/>
                </a:solidFill>
                <a:latin typeface="Consolas" panose="020B0609020204030204" charset="0"/>
                <a:cs typeface="Consolas" panose="020B0609020204030204" charset="0"/>
                <a:sym typeface="+mn-ea"/>
              </a:rPr>
              <a:t>  Pair setNode(</a:t>
            </a:r>
            <a:r>
              <a:rPr lang="en-US" sz="1600" b="1">
                <a:solidFill>
                  <a:srgbClr val="7F0055"/>
                </a:solidFill>
                <a:latin typeface="Consolas" panose="020B0609020204030204" charset="0"/>
                <a:cs typeface="Consolas" panose="020B0609020204030204" charset="0"/>
                <a:sym typeface="+mn-ea"/>
              </a:rPr>
              <a:t>int</a:t>
            </a:r>
            <a:r>
              <a:rPr lang="en-US" sz="1600">
                <a:solidFill>
                  <a:srgbClr val="000000"/>
                </a:solidFill>
                <a:latin typeface="Consolas" panose="020B0609020204030204" charset="0"/>
                <a:cs typeface="Consolas" panose="020B0609020204030204" charset="0"/>
                <a:sym typeface="+mn-ea"/>
              </a:rPr>
              <a:t> </a:t>
            </a:r>
            <a:r>
              <a:rPr lang="en-US" sz="1600">
                <a:solidFill>
                  <a:srgbClr val="6A3E3E"/>
                </a:solidFill>
                <a:latin typeface="Consolas" panose="020B0609020204030204" charset="0"/>
                <a:cs typeface="Consolas" panose="020B0609020204030204" charset="0"/>
                <a:sym typeface="+mn-ea"/>
              </a:rPr>
              <a:t>u</a:t>
            </a:r>
            <a:r>
              <a:rPr lang="en-US" sz="1600">
                <a:solidFill>
                  <a:srgbClr val="000000"/>
                </a:solidFill>
                <a:latin typeface="Consolas" panose="020B0609020204030204" charset="0"/>
                <a:cs typeface="Consolas" panose="020B0609020204030204" charset="0"/>
                <a:sym typeface="+mn-ea"/>
              </a:rPr>
              <a:t>) {	</a:t>
            </a:r>
            <a:r>
              <a:rPr lang="en-US" sz="1600">
                <a:solidFill>
                  <a:srgbClr val="0000C0"/>
                </a:solidFill>
                <a:latin typeface="Consolas" panose="020B0609020204030204" charset="0"/>
                <a:cs typeface="Consolas" panose="020B0609020204030204" charset="0"/>
                <a:sym typeface="+mn-ea"/>
              </a:rPr>
              <a:t>vertex</a:t>
            </a:r>
            <a:r>
              <a:rPr lang="en-US" sz="1600">
                <a:solidFill>
                  <a:srgbClr val="000000"/>
                </a:solidFill>
                <a:latin typeface="Consolas" panose="020B0609020204030204" charset="0"/>
                <a:cs typeface="Consolas" panose="020B0609020204030204" charset="0"/>
                <a:sym typeface="+mn-ea"/>
              </a:rPr>
              <a:t> = </a:t>
            </a:r>
            <a:r>
              <a:rPr lang="en-US" sz="1600">
                <a:solidFill>
                  <a:srgbClr val="6A3E3E"/>
                </a:solidFill>
                <a:latin typeface="Consolas" panose="020B0609020204030204" charset="0"/>
                <a:cs typeface="Consolas" panose="020B0609020204030204" charset="0"/>
                <a:sym typeface="+mn-ea"/>
              </a:rPr>
              <a:t>u</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return</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this</a:t>
            </a:r>
            <a:r>
              <a:rPr lang="en-US" sz="1600">
                <a:solidFill>
                  <a:srgbClr val="000000"/>
                </a:solidFill>
                <a:latin typeface="Consolas" panose="020B0609020204030204" charset="0"/>
                <a:cs typeface="Consolas" panose="020B0609020204030204" charset="0"/>
                <a:sym typeface="+mn-ea"/>
              </a:rPr>
              <a:t>;  }</a:t>
            </a:r>
            <a:r>
              <a:rPr lang="en-US" sz="1600">
                <a:latin typeface="Consolas" panose="020B0609020204030204" charset="0"/>
                <a:cs typeface="Consolas" panose="020B0609020204030204" charset="0"/>
                <a:sym typeface="+mn-ea"/>
              </a:rPr>
              <a:t> </a:t>
            </a:r>
            <a:endParaRPr lang="en-US" sz="1600">
              <a:solidFill>
                <a:srgbClr val="000000"/>
              </a:solidFill>
              <a:latin typeface="Consolas" panose="020B0609020204030204" charset="0"/>
              <a:cs typeface="Consolas" panose="020B0609020204030204" charset="0"/>
              <a:sym typeface="+mn-ea"/>
            </a:endParaRPr>
          </a:p>
          <a:p>
            <a:pPr indent="0"/>
            <a:r>
              <a:rPr lang="en-US" sz="1600" b="1">
                <a:solidFill>
                  <a:srgbClr val="7F0055"/>
                </a:solidFill>
                <a:latin typeface="Consolas" panose="020B0609020204030204" charset="0"/>
                <a:cs typeface="Consolas" panose="020B0609020204030204" charset="0"/>
                <a:sym typeface="+mn-ea"/>
              </a:rPr>
              <a:t>  public</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boolean</a:t>
            </a:r>
            <a:r>
              <a:rPr lang="en-US" sz="1600">
                <a:solidFill>
                  <a:srgbClr val="000000"/>
                </a:solidFill>
                <a:latin typeface="Consolas" panose="020B0609020204030204" charset="0"/>
                <a:cs typeface="Consolas" panose="020B0609020204030204" charset="0"/>
                <a:sym typeface="+mn-ea"/>
              </a:rPr>
              <a:t> equals(Object </a:t>
            </a:r>
            <a:r>
              <a:rPr lang="en-US" sz="1600">
                <a:solidFill>
                  <a:srgbClr val="6A3E3E"/>
                </a:solidFill>
                <a:latin typeface="Consolas" panose="020B0609020204030204" charset="0"/>
                <a:cs typeface="Consolas" panose="020B0609020204030204" charset="0"/>
                <a:sym typeface="+mn-ea"/>
              </a:rPr>
              <a:t>o</a:t>
            </a:r>
            <a:r>
              <a:rPr lang="en-US" sz="1600">
                <a:solidFill>
                  <a:srgbClr val="000000"/>
                </a:solidFill>
                <a:latin typeface="Consolas" panose="020B0609020204030204" charset="0"/>
                <a:cs typeface="Consolas" panose="020B0609020204030204" charset="0"/>
                <a:sym typeface="+mn-ea"/>
              </a:rPr>
              <a:t>) {</a:t>
            </a:r>
            <a:r>
              <a:rPr lang="zh-CN" sz="1600">
                <a:solidFill>
                  <a:srgbClr val="3F7F5F"/>
                </a:solidFill>
                <a:latin typeface="Consolas" panose="020B0609020204030204" charset="0"/>
                <a:cs typeface="Consolas" panose="020B0609020204030204" charset="0"/>
                <a:sym typeface="+mn-ea"/>
              </a:rPr>
              <a:t>// List的indexOf、remove要使用</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if</a:t>
            </a:r>
            <a:r>
              <a:rPr lang="en-US" sz="1600">
                <a:solidFill>
                  <a:srgbClr val="000000"/>
                </a:solidFill>
                <a:latin typeface="Consolas" panose="020B0609020204030204" charset="0"/>
                <a:cs typeface="Consolas" panose="020B0609020204030204" charset="0"/>
                <a:sym typeface="+mn-ea"/>
              </a:rPr>
              <a:t> (</a:t>
            </a:r>
            <a:r>
              <a:rPr lang="en-US" sz="1600">
                <a:solidFill>
                  <a:srgbClr val="6A3E3E"/>
                </a:solidFill>
                <a:latin typeface="Consolas" panose="020B0609020204030204" charset="0"/>
                <a:cs typeface="Consolas" panose="020B0609020204030204" charset="0"/>
                <a:sym typeface="+mn-ea"/>
              </a:rPr>
              <a:t>o</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instanceof</a:t>
            </a:r>
            <a:r>
              <a:rPr lang="en-US" sz="1600">
                <a:solidFill>
                  <a:srgbClr val="000000"/>
                </a:solidFill>
                <a:latin typeface="Consolas" panose="020B0609020204030204" charset="0"/>
                <a:cs typeface="Consolas" panose="020B0609020204030204" charset="0"/>
                <a:sym typeface="+mn-ea"/>
              </a:rPr>
              <a:t> Pair) </a:t>
            </a:r>
            <a:r>
              <a:rPr lang="zh-CN" sz="1600">
                <a:solidFill>
                  <a:srgbClr val="3F7F5F"/>
                </a:solidFill>
                <a:latin typeface="Consolas" panose="020B0609020204030204" charset="0"/>
                <a:cs typeface="Consolas" panose="020B0609020204030204" charset="0"/>
                <a:sym typeface="+mn-ea"/>
              </a:rPr>
              <a:t>// 左边是对象，右边是类；当对象是右边类或子类所创建对象时，返回true；否则，返回false。</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return</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this</a:t>
            </a:r>
            <a:r>
              <a:rPr lang="en-US" sz="1600">
                <a:solidFill>
                  <a:srgbClr val="000000"/>
                </a:solidFill>
                <a:latin typeface="Consolas" panose="020B0609020204030204" charset="0"/>
                <a:cs typeface="Consolas" panose="020B0609020204030204" charset="0"/>
                <a:sym typeface="+mn-ea"/>
              </a:rPr>
              <a:t>.</a:t>
            </a:r>
            <a:r>
              <a:rPr lang="en-US" sz="1600">
                <a:solidFill>
                  <a:srgbClr val="0000C0"/>
                </a:solidFill>
                <a:latin typeface="Consolas" panose="020B0609020204030204" charset="0"/>
                <a:cs typeface="Consolas" panose="020B0609020204030204" charset="0"/>
                <a:sym typeface="+mn-ea"/>
              </a:rPr>
              <a:t>vertex</a:t>
            </a:r>
            <a:r>
              <a:rPr lang="en-US" sz="1600">
                <a:solidFill>
                  <a:srgbClr val="000000"/>
                </a:solidFill>
                <a:latin typeface="Consolas" panose="020B0609020204030204" charset="0"/>
                <a:cs typeface="Consolas" panose="020B0609020204030204" charset="0"/>
                <a:sym typeface="+mn-ea"/>
              </a:rPr>
              <a:t> == ((Pair) </a:t>
            </a:r>
            <a:r>
              <a:rPr lang="en-US" sz="1600">
                <a:solidFill>
                  <a:srgbClr val="6A3E3E"/>
                </a:solidFill>
                <a:latin typeface="Consolas" panose="020B0609020204030204" charset="0"/>
                <a:cs typeface="Consolas" panose="020B0609020204030204" charset="0"/>
                <a:sym typeface="+mn-ea"/>
              </a:rPr>
              <a:t>o</a:t>
            </a:r>
            <a:r>
              <a:rPr lang="en-US" sz="1600">
                <a:solidFill>
                  <a:srgbClr val="000000"/>
                </a:solidFill>
                <a:latin typeface="Consolas" panose="020B0609020204030204" charset="0"/>
                <a:cs typeface="Consolas" panose="020B0609020204030204" charset="0"/>
                <a:sym typeface="+mn-ea"/>
              </a:rPr>
              <a:t>).</a:t>
            </a:r>
            <a:r>
              <a:rPr lang="en-US" sz="1600">
                <a:solidFill>
                  <a:srgbClr val="0000C0"/>
                </a:solidFill>
                <a:latin typeface="Consolas" panose="020B0609020204030204" charset="0"/>
                <a:cs typeface="Consolas" panose="020B0609020204030204" charset="0"/>
                <a:sym typeface="+mn-ea"/>
              </a:rPr>
              <a:t>vertex</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return</a:t>
            </a:r>
            <a:r>
              <a:rPr lang="en-US" sz="1600">
                <a:solidFill>
                  <a:srgbClr val="000000"/>
                </a:solidFill>
                <a:latin typeface="Consolas" panose="020B0609020204030204" charset="0"/>
                <a:cs typeface="Consolas" panose="020B0609020204030204" charset="0"/>
                <a:sym typeface="+mn-ea"/>
              </a:rPr>
              <a:t> </a:t>
            </a:r>
            <a:r>
              <a:rPr lang="en-US" sz="1600" b="1">
                <a:solidFill>
                  <a:srgbClr val="7F0055"/>
                </a:solidFill>
                <a:latin typeface="Consolas" panose="020B0609020204030204" charset="0"/>
                <a:cs typeface="Consolas" panose="020B0609020204030204" charset="0"/>
                <a:sym typeface="+mn-ea"/>
              </a:rPr>
              <a:t>false</a:t>
            </a:r>
            <a:r>
              <a:rPr lang="en-US" sz="1600">
                <a:solidFill>
                  <a:srgbClr val="000000"/>
                </a:solidFill>
                <a:latin typeface="Consolas" panose="020B0609020204030204" charset="0"/>
                <a:cs typeface="Consolas" panose="020B0609020204030204" charset="0"/>
                <a:sym typeface="+mn-ea"/>
              </a:rPr>
              <a:t>;  }</a:t>
            </a:r>
            <a:endParaRPr lang="en-US" sz="1600">
              <a:solidFill>
                <a:srgbClr val="000000"/>
              </a:solidFill>
              <a:latin typeface="Consolas" panose="020B0609020204030204" charset="0"/>
              <a:cs typeface="Consolas" panose="020B0609020204030204" charset="0"/>
              <a:sym typeface="+mn-ea"/>
            </a:endParaRPr>
          </a:p>
          <a:p>
            <a:pPr indent="0"/>
            <a:r>
              <a:rPr lang="en-US" altLang="en-US" sz="1600">
                <a:solidFill>
                  <a:srgbClr val="000000"/>
                </a:solidFill>
                <a:latin typeface="Consolas" panose="020B0609020204030204" charset="0"/>
                <a:cs typeface="Consolas" panose="020B0609020204030204" charset="0"/>
                <a:sym typeface="+mn-ea"/>
              </a:rPr>
              <a:t>}</a:t>
            </a:r>
            <a:endParaRPr lang="en-US" altLang="en-US" sz="1600">
              <a:solidFill>
                <a:srgbClr val="000000"/>
              </a:solidFill>
              <a:latin typeface="Consolas" panose="020B0609020204030204" charset="0"/>
              <a:cs typeface="Consolas" panose="020B0609020204030204"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233045" y="325120"/>
            <a:ext cx="7019290" cy="2584450"/>
          </a:xfrm>
          <a:prstGeom prst="rect">
            <a:avLst/>
          </a:prstGeom>
          <a:noFill/>
          <a:ln w="9525">
            <a:noFill/>
          </a:ln>
        </p:spPr>
        <p:txBody>
          <a:bodyPr wrap="square">
            <a:sp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LinkedListUnSymmetricWeightedUnDirectedGraph(T[] </a:t>
            </a:r>
            <a:r>
              <a:rPr lang="en-US" b="0">
                <a:solidFill>
                  <a:srgbClr val="6A3E3E"/>
                </a:solidFill>
                <a:latin typeface="Consolas" panose="020B0609020204030204" charset="0"/>
              </a:rPr>
              <a:t>data</a:t>
            </a:r>
            <a:r>
              <a:rPr lang="en-US" b="0">
                <a:solidFill>
                  <a:srgbClr val="000000"/>
                </a:solidFill>
                <a:latin typeface="Consolas" panose="020B0609020204030204" charset="0"/>
              </a:rPr>
              <a:t>) {	</a:t>
            </a:r>
            <a:r>
              <a:rPr lang="en-US" b="0">
                <a:solidFill>
                  <a:srgbClr val="0000C0"/>
                </a:solidFill>
                <a:latin typeface="Consolas" panose="020B0609020204030204" charset="0"/>
              </a:rPr>
              <a:t>n</a:t>
            </a:r>
            <a:r>
              <a:rPr lang="en-US" b="0">
                <a:solidFill>
                  <a:srgbClr val="000000"/>
                </a:solidFill>
                <a:latin typeface="Consolas" panose="020B0609020204030204" charset="0"/>
              </a:rPr>
              <a:t> = </a:t>
            </a:r>
            <a:r>
              <a:rPr lang="en-US" b="0">
                <a:solidFill>
                  <a:srgbClr val="6A3E3E"/>
                </a:solidFill>
                <a:latin typeface="Consolas" panose="020B0609020204030204" charset="0"/>
              </a:rPr>
              <a:t>data</a:t>
            </a:r>
            <a:r>
              <a:rPr lang="en-US" b="0">
                <a:solidFill>
                  <a:srgbClr val="000000"/>
                </a:solidFill>
                <a:latin typeface="Consolas" panose="020B0609020204030204" charset="0"/>
              </a:rPr>
              <a:t>.</a:t>
            </a:r>
            <a:r>
              <a:rPr lang="en-US" b="0">
                <a:solidFill>
                  <a:srgbClr val="0000C0"/>
                </a:solidFill>
                <a:latin typeface="Consolas" panose="020B0609020204030204" charset="0"/>
              </a:rPr>
              <a:t>length</a:t>
            </a:r>
            <a:r>
              <a:rPr lang="en-US" b="0">
                <a:solidFill>
                  <a:srgbClr val="000000"/>
                </a:solidFill>
                <a:latin typeface="Consolas" panose="020B0609020204030204" charset="0"/>
              </a:rPr>
              <a:t>;	</a:t>
            </a:r>
            <a:r>
              <a:rPr lang="en-US" b="0">
                <a:solidFill>
                  <a:srgbClr val="0000C0"/>
                </a:solidFill>
                <a:latin typeface="Consolas" panose="020B0609020204030204" charset="0"/>
              </a:rPr>
              <a:t>vertices</a:t>
            </a:r>
            <a:r>
              <a:rPr lang="en-US" b="0">
                <a:solidFill>
                  <a:srgbClr val="000000"/>
                </a:solidFill>
                <a:latin typeface="Consolas" panose="020B0609020204030204" charset="0"/>
              </a:rPr>
              <a:t> = </a:t>
            </a:r>
            <a:r>
              <a:rPr lang="en-US" b="1">
                <a:solidFill>
                  <a:srgbClr val="7F0055"/>
                </a:solidFill>
                <a:latin typeface="Consolas" panose="020B0609020204030204" charset="0"/>
              </a:rPr>
              <a:t>new</a:t>
            </a:r>
            <a:r>
              <a:rPr lang="en-US" b="0">
                <a:solidFill>
                  <a:srgbClr val="000000"/>
                </a:solidFill>
                <a:latin typeface="Consolas" panose="020B0609020204030204" charset="0"/>
              </a:rPr>
              <a:t> Object[</a:t>
            </a:r>
            <a:r>
              <a:rPr lang="en-US" b="0">
                <a:solidFill>
                  <a:srgbClr val="0000C0"/>
                </a:solidFill>
                <a:latin typeface="Consolas" panose="020B0609020204030204" charset="0"/>
              </a:rPr>
              <a:t>n</a:t>
            </a:r>
            <a:r>
              <a:rPr lang="en-US" b="0">
                <a:solidFill>
                  <a:srgbClr val="000000"/>
                </a:solidFill>
                <a:latin typeface="Consolas" panose="020B0609020204030204" charset="0"/>
              </a:rPr>
              <a:t>];	System.</a:t>
            </a:r>
            <a:r>
              <a:rPr lang="en-US" b="0" i="1">
                <a:solidFill>
                  <a:srgbClr val="000000"/>
                </a:solidFill>
                <a:latin typeface="Consolas" panose="020B0609020204030204" charset="0"/>
              </a:rPr>
              <a:t>arraycopy</a:t>
            </a:r>
            <a:r>
              <a:rPr lang="en-US" b="0">
                <a:solidFill>
                  <a:srgbClr val="000000"/>
                </a:solidFill>
                <a:latin typeface="Consolas" panose="020B0609020204030204" charset="0"/>
              </a:rPr>
              <a:t>(</a:t>
            </a:r>
            <a:r>
              <a:rPr lang="en-US" b="0">
                <a:solidFill>
                  <a:srgbClr val="6A3E3E"/>
                </a:solidFill>
                <a:latin typeface="Consolas" panose="020B0609020204030204" charset="0"/>
              </a:rPr>
              <a:t>data</a:t>
            </a:r>
            <a:r>
              <a:rPr lang="en-US" b="0">
                <a:solidFill>
                  <a:srgbClr val="000000"/>
                </a:solidFill>
                <a:latin typeface="Consolas" panose="020B0609020204030204" charset="0"/>
              </a:rPr>
              <a:t>, 0, </a:t>
            </a:r>
            <a:r>
              <a:rPr lang="en-US" b="0">
                <a:solidFill>
                  <a:srgbClr val="0000C0"/>
                </a:solidFill>
                <a:latin typeface="Consolas" panose="020B0609020204030204" charset="0"/>
              </a:rPr>
              <a:t>vertices</a:t>
            </a:r>
            <a:r>
              <a:rPr lang="en-US" b="0">
                <a:solidFill>
                  <a:srgbClr val="000000"/>
                </a:solidFill>
                <a:latin typeface="Consolas" panose="020B0609020204030204" charset="0"/>
              </a:rPr>
              <a:t>, 0, </a:t>
            </a:r>
            <a:r>
              <a:rPr lang="en-US" b="0">
                <a:solidFill>
                  <a:srgbClr val="0000C0"/>
                </a:solidFill>
                <a:latin typeface="Consolas" panose="020B0609020204030204" charset="0"/>
              </a:rPr>
              <a:t>n</a:t>
            </a:r>
            <a:r>
              <a:rPr lang="en-US" b="0">
                <a:solidFill>
                  <a:srgbClr val="000000"/>
                </a:solidFill>
                <a:latin typeface="Consolas" panose="020B0609020204030204" charset="0"/>
              </a:rPr>
              <a:t>);	</a:t>
            </a:r>
            <a:r>
              <a:rPr lang="en-US" b="0">
                <a:solidFill>
                  <a:srgbClr val="0000C0"/>
                </a:solidFill>
                <a:latin typeface="Consolas" panose="020B0609020204030204" charset="0"/>
              </a:rPr>
              <a:t>edges</a:t>
            </a:r>
            <a:r>
              <a:rPr lang="en-US" b="0">
                <a:solidFill>
                  <a:srgbClr val="000000"/>
                </a:solidFill>
                <a:latin typeface="Consolas" panose="020B0609020204030204" charset="0"/>
              </a:rPr>
              <a:t> = </a:t>
            </a:r>
            <a:r>
              <a:rPr lang="en-US" b="1">
                <a:solidFill>
                  <a:srgbClr val="7F0055"/>
                </a:solidFill>
                <a:latin typeface="Consolas" panose="020B0609020204030204" charset="0"/>
              </a:rPr>
              <a:t>new</a:t>
            </a:r>
            <a:r>
              <a:rPr lang="en-US" b="0">
                <a:solidFill>
                  <a:srgbClr val="000000"/>
                </a:solidFill>
                <a:latin typeface="Consolas" panose="020B0609020204030204" charset="0"/>
              </a:rPr>
              <a:t> ArrayList&lt;&gt;(</a:t>
            </a:r>
            <a:r>
              <a:rPr lang="en-US" b="0">
                <a:solidFill>
                  <a:srgbClr val="0000C0"/>
                </a:solidFill>
                <a:latin typeface="Consolas" panose="020B0609020204030204" charset="0"/>
              </a:rPr>
              <a:t>n</a:t>
            </a:r>
            <a:r>
              <a:rPr lang="en-US" b="0">
                <a:solidFill>
                  <a:srgbClr val="000000"/>
                </a:solidFill>
                <a:latin typeface="Consolas" panose="020B0609020204030204" charset="0"/>
              </a:rPr>
              <a:t>);	</a:t>
            </a:r>
            <a:r>
              <a:rPr lang="en-US" b="1">
                <a:solidFill>
                  <a:srgbClr val="7F0055"/>
                </a:solidFill>
                <a:latin typeface="Consolas" panose="020B0609020204030204" charset="0"/>
              </a:rPr>
              <a:t>for</a:t>
            </a:r>
            <a:r>
              <a:rPr lang="en-US" b="0">
                <a:solidFill>
                  <a:srgbClr val="000000"/>
                </a:solidFill>
                <a:latin typeface="Consolas" panose="020B0609020204030204" charset="0"/>
              </a:rPr>
              <a:t> (</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 0; </a:t>
            </a:r>
            <a:r>
              <a:rPr lang="en-US" b="0">
                <a:solidFill>
                  <a:srgbClr val="6A3E3E"/>
                </a:solidFill>
                <a:latin typeface="Consolas" panose="020B0609020204030204" charset="0"/>
              </a:rPr>
              <a:t>i</a:t>
            </a:r>
            <a:r>
              <a:rPr lang="en-US" b="0">
                <a:solidFill>
                  <a:srgbClr val="000000"/>
                </a:solidFill>
                <a:latin typeface="Consolas" panose="020B0609020204030204" charset="0"/>
              </a:rPr>
              <a:t> &lt; </a:t>
            </a:r>
            <a:r>
              <a:rPr lang="en-US" b="0">
                <a:solidFill>
                  <a:srgbClr val="0000C0"/>
                </a:solidFill>
                <a:latin typeface="Consolas" panose="020B0609020204030204" charset="0"/>
              </a:rPr>
              <a:t>n</a:t>
            </a:r>
            <a:r>
              <a:rPr lang="en-US" b="0">
                <a:solidFill>
                  <a:srgbClr val="000000"/>
                </a:solidFill>
                <a:latin typeface="Consolas" panose="020B0609020204030204" charset="0"/>
              </a:rPr>
              <a:t>; ++</a:t>
            </a:r>
            <a:r>
              <a:rPr lang="en-US" b="0">
                <a:solidFill>
                  <a:srgbClr val="6A3E3E"/>
                </a:solidFill>
                <a:latin typeface="Consolas" panose="020B0609020204030204" charset="0"/>
              </a:rPr>
              <a:t>i</a:t>
            </a:r>
            <a:r>
              <a:rPr lang="en-US" b="0">
                <a:solidFill>
                  <a:srgbClr val="000000"/>
                </a:solidFill>
                <a:latin typeface="Consolas" panose="020B0609020204030204" charset="0"/>
              </a:rPr>
              <a:t>)		</a:t>
            </a:r>
            <a:r>
              <a:rPr lang="en-US" b="0">
                <a:solidFill>
                  <a:srgbClr val="0000C0"/>
                </a:solidFill>
                <a:latin typeface="Consolas" panose="020B0609020204030204" charset="0"/>
              </a:rPr>
              <a:t>edges</a:t>
            </a:r>
            <a:r>
              <a:rPr lang="en-US" b="0">
                <a:solidFill>
                  <a:srgbClr val="000000"/>
                </a:solidFill>
                <a:latin typeface="Consolas" panose="020B0609020204030204" charset="0"/>
              </a:rPr>
              <a:t>.add(</a:t>
            </a:r>
            <a:r>
              <a:rPr lang="en-US" b="1">
                <a:solidFill>
                  <a:srgbClr val="7F0055"/>
                </a:solidFill>
                <a:latin typeface="Consolas" panose="020B0609020204030204" charset="0"/>
              </a:rPr>
              <a:t>new</a:t>
            </a:r>
            <a:r>
              <a:rPr lang="en-US" b="0">
                <a:solidFill>
                  <a:srgbClr val="000000"/>
                </a:solidFill>
                <a:latin typeface="Consolas" panose="020B0609020204030204" charset="0"/>
              </a:rPr>
              <a:t> LinkedList&lt;&gt;());}</a:t>
            </a:r>
            <a:endParaRPr lang="en-US" altLang="en-US" b="0">
              <a:solidFill>
                <a:srgbClr val="000000"/>
              </a:solidFill>
              <a:latin typeface="Consolas" panose="020B0609020204030204" charset="0"/>
            </a:endParaRPr>
          </a:p>
        </p:txBody>
      </p:sp>
      <p:sp>
        <p:nvSpPr>
          <p:cNvPr id="2" name="文本框 1"/>
          <p:cNvSpPr txBox="1"/>
          <p:nvPr/>
        </p:nvSpPr>
        <p:spPr>
          <a:xfrm>
            <a:off x="233045" y="2974975"/>
            <a:ext cx="7136765" cy="3692525"/>
          </a:xfrm>
          <a:prstGeom prst="rect">
            <a:avLst/>
          </a:prstGeom>
          <a:noFill/>
          <a:ln w="9525">
            <a:noFill/>
          </a:ln>
        </p:spPr>
        <p:txBody>
          <a:bodyPr wrap="square">
            <a:spAutoFit/>
          </a:bodyPr>
          <a:p>
            <a:pPr indent="0"/>
            <a:r>
              <a:rPr lang="en-US" b="1">
                <a:solidFill>
                  <a:srgbClr val="7F0055"/>
                </a:solidFill>
                <a:latin typeface="Consolas" panose="020B0609020204030204" charset="0"/>
              </a:rPr>
              <a:t>public</a:t>
            </a:r>
            <a:r>
              <a:rPr lang="en-US" b="0">
                <a:solidFill>
                  <a:srgbClr val="000000"/>
                </a:solidFill>
                <a:latin typeface="Consolas" panose="020B0609020204030204" charset="0"/>
              </a:rPr>
              <a:t> </a:t>
            </a:r>
            <a:r>
              <a:rPr lang="en-US" b="1">
                <a:solidFill>
                  <a:srgbClr val="7F0055"/>
                </a:solidFill>
                <a:latin typeface="Consolas" panose="020B0609020204030204" charset="0"/>
              </a:rPr>
              <a:t>void</a:t>
            </a:r>
            <a:r>
              <a:rPr lang="en-US" b="0">
                <a:solidFill>
                  <a:srgbClr val="000000"/>
                </a:solidFill>
                <a:latin typeface="Consolas" panose="020B0609020204030204" charset="0"/>
              </a:rPr>
              <a:t> addWeightedEdge(</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u</a:t>
            </a:r>
            <a:r>
              <a:rPr lang="en-US" b="0">
                <a:solidFill>
                  <a:srgbClr val="000000"/>
                </a:solidFill>
                <a:latin typeface="Consolas" panose="020B0609020204030204" charset="0"/>
              </a:rPr>
              <a:t>, </a:t>
            </a:r>
            <a:r>
              <a:rPr lang="en-US" b="1">
                <a:solidFill>
                  <a:srgbClr val="7F0055"/>
                </a:solidFill>
                <a:latin typeface="Consolas" panose="020B0609020204030204" charset="0"/>
              </a:rPr>
              <a:t>int</a:t>
            </a:r>
            <a:r>
              <a:rPr lang="en-US" b="0">
                <a:solidFill>
                  <a:srgbClr val="000000"/>
                </a:solidFill>
                <a:latin typeface="Consolas" panose="020B0609020204030204" charset="0"/>
              </a:rPr>
              <a:t> </a:t>
            </a:r>
            <a:r>
              <a:rPr lang="en-US" b="0">
                <a:solidFill>
                  <a:srgbClr val="6A3E3E"/>
                </a:solidFill>
                <a:latin typeface="Consolas" panose="020B0609020204030204" charset="0"/>
              </a:rPr>
              <a:t>v</a:t>
            </a:r>
            <a:r>
              <a:rPr lang="en-US" b="0">
                <a:solidFill>
                  <a:srgbClr val="000000"/>
                </a:solidFill>
                <a:latin typeface="Consolas" panose="020B0609020204030204" charset="0"/>
              </a:rPr>
              <a:t>, </a:t>
            </a:r>
            <a:r>
              <a:rPr lang="en-US" b="1">
                <a:solidFill>
                  <a:srgbClr val="7F0055"/>
                </a:solidFill>
                <a:latin typeface="Consolas" panose="020B0609020204030204" charset="0"/>
              </a:rPr>
              <a:t>double</a:t>
            </a:r>
            <a:r>
              <a:rPr lang="en-US" b="0">
                <a:solidFill>
                  <a:srgbClr val="000000"/>
                </a:solidFill>
                <a:latin typeface="Consolas" panose="020B0609020204030204" charset="0"/>
              </a:rPr>
              <a:t> </a:t>
            </a:r>
            <a:r>
              <a:rPr lang="en-US" b="0">
                <a:solidFill>
                  <a:srgbClr val="6A3E3E"/>
                </a:solidFill>
                <a:latin typeface="Consolas" panose="020B0609020204030204" charset="0"/>
              </a:rPr>
              <a:t>w</a:t>
            </a:r>
            <a:r>
              <a:rPr lang="en-US" b="0">
                <a:solidFill>
                  <a:srgbClr val="000000"/>
                </a:solidFill>
                <a:latin typeface="Consolas" panose="020B0609020204030204" charset="0"/>
              </a:rPr>
              <a:t>) {	rangeCheck(</a:t>
            </a:r>
            <a:r>
              <a:rPr lang="en-US" b="0">
                <a:solidFill>
                  <a:srgbClr val="6A3E3E"/>
                </a:solidFill>
                <a:latin typeface="Consolas" panose="020B0609020204030204" charset="0"/>
              </a:rPr>
              <a:t>u</a:t>
            </a:r>
            <a:r>
              <a:rPr lang="en-US" b="0">
                <a:solidFill>
                  <a:srgbClr val="000000"/>
                </a:solidFill>
                <a:latin typeface="Consolas" panose="020B0609020204030204" charset="0"/>
              </a:rPr>
              <a:t>);	rangeCheck(</a:t>
            </a:r>
            <a:r>
              <a:rPr lang="en-US" b="0">
                <a:solidFill>
                  <a:srgbClr val="6A3E3E"/>
                </a:solidFill>
                <a:latin typeface="Consolas" panose="020B0609020204030204" charset="0"/>
              </a:rPr>
              <a:t>v</a:t>
            </a:r>
            <a:r>
              <a:rPr lang="en-US" b="0">
                <a:solidFill>
                  <a:srgbClr val="000000"/>
                </a:solidFill>
                <a:latin typeface="Consolas" panose="020B0609020204030204" charset="0"/>
              </a:rPr>
              <a:t>);	</a:t>
            </a:r>
            <a:r>
              <a:rPr lang="en-US" b="1">
                <a:solidFill>
                  <a:srgbClr val="7F0055"/>
                </a:solidFill>
                <a:latin typeface="Consolas" panose="020B0609020204030204" charset="0"/>
              </a:rPr>
              <a:t>boolean</a:t>
            </a:r>
            <a:r>
              <a:rPr lang="en-US" b="0">
                <a:solidFill>
                  <a:srgbClr val="000000"/>
                </a:solidFill>
                <a:latin typeface="Consolas" panose="020B0609020204030204" charset="0"/>
              </a:rPr>
              <a:t> </a:t>
            </a:r>
            <a:r>
              <a:rPr lang="en-US" b="0">
                <a:solidFill>
                  <a:srgbClr val="6A3E3E"/>
                </a:solidFill>
                <a:latin typeface="Consolas" panose="020B0609020204030204" charset="0"/>
              </a:rPr>
              <a:t>flag</a:t>
            </a:r>
            <a:r>
              <a:rPr lang="en-US" b="0">
                <a:solidFill>
                  <a:srgbClr val="000000"/>
                </a:solidFill>
                <a:latin typeface="Consolas" panose="020B0609020204030204" charset="0"/>
              </a:rPr>
              <a:t> = </a:t>
            </a:r>
            <a:r>
              <a:rPr lang="en-US" b="1">
                <a:solidFill>
                  <a:srgbClr val="7F0055"/>
                </a:solidFill>
                <a:latin typeface="Consolas" panose="020B0609020204030204" charset="0"/>
              </a:rPr>
              <a:t>false</a:t>
            </a:r>
            <a:r>
              <a:rPr lang="en-US" b="0">
                <a:solidFill>
                  <a:srgbClr val="000000"/>
                </a:solidFill>
                <a:latin typeface="Consolas" panose="020B0609020204030204" charset="0"/>
              </a:rPr>
              <a:t>;	LinkedList&lt;Pair&gt; </a:t>
            </a:r>
            <a:r>
              <a:rPr lang="en-US" b="0">
                <a:solidFill>
                  <a:srgbClr val="6A3E3E"/>
                </a:solidFill>
                <a:latin typeface="Consolas" panose="020B0609020204030204" charset="0"/>
              </a:rPr>
              <a:t>list</a:t>
            </a:r>
            <a:r>
              <a:rPr lang="en-US" b="0">
                <a:solidFill>
                  <a:srgbClr val="000000"/>
                </a:solidFill>
                <a:latin typeface="Consolas" panose="020B0609020204030204" charset="0"/>
              </a:rPr>
              <a:t> = </a:t>
            </a:r>
            <a:r>
              <a:rPr lang="en-US" b="0">
                <a:solidFill>
                  <a:srgbClr val="0000C0"/>
                </a:solidFill>
                <a:latin typeface="Consolas" panose="020B0609020204030204" charset="0"/>
              </a:rPr>
              <a:t>edges</a:t>
            </a:r>
            <a:r>
              <a:rPr lang="en-US" b="0">
                <a:solidFill>
                  <a:srgbClr val="000000"/>
                </a:solidFill>
                <a:latin typeface="Consolas" panose="020B0609020204030204" charset="0"/>
              </a:rPr>
              <a:t>.get(</a:t>
            </a:r>
            <a:r>
              <a:rPr lang="en-US" b="0">
                <a:solidFill>
                  <a:srgbClr val="6A3E3E"/>
                </a:solidFill>
                <a:latin typeface="Consolas" panose="020B0609020204030204" charset="0"/>
              </a:rPr>
              <a:t>u</a:t>
            </a:r>
            <a:r>
              <a:rPr lang="en-US" b="0">
                <a:solidFill>
                  <a:srgbClr val="000000"/>
                </a:solidFill>
                <a:latin typeface="Consolas" panose="020B0609020204030204" charset="0"/>
              </a:rPr>
              <a:t>);	Iterator&lt;Pair&gt; </a:t>
            </a:r>
            <a:r>
              <a:rPr lang="en-US" b="0">
                <a:solidFill>
                  <a:srgbClr val="6A3E3E"/>
                </a:solidFill>
                <a:latin typeface="Consolas" panose="020B0609020204030204" charset="0"/>
              </a:rPr>
              <a:t>it</a:t>
            </a:r>
            <a:r>
              <a:rPr lang="en-US" b="0">
                <a:solidFill>
                  <a:srgbClr val="000000"/>
                </a:solidFill>
                <a:latin typeface="Consolas" panose="020B0609020204030204" charset="0"/>
              </a:rPr>
              <a:t> = </a:t>
            </a:r>
            <a:r>
              <a:rPr lang="en-US" b="0">
                <a:solidFill>
                  <a:srgbClr val="6A3E3E"/>
                </a:solidFill>
                <a:latin typeface="Consolas" panose="020B0609020204030204" charset="0"/>
              </a:rPr>
              <a:t>list</a:t>
            </a:r>
            <a:r>
              <a:rPr lang="en-US" b="0">
                <a:solidFill>
                  <a:srgbClr val="000000"/>
                </a:solidFill>
                <a:latin typeface="Consolas" panose="020B0609020204030204" charset="0"/>
              </a:rPr>
              <a:t>.iterator();	</a:t>
            </a:r>
            <a:r>
              <a:rPr lang="en-US" b="1">
                <a:solidFill>
                  <a:srgbClr val="7F0055"/>
                </a:solidFill>
                <a:latin typeface="Consolas" panose="020B0609020204030204" charset="0"/>
              </a:rPr>
              <a:t>while</a:t>
            </a:r>
            <a:r>
              <a:rPr lang="en-US" b="0">
                <a:solidFill>
                  <a:srgbClr val="000000"/>
                </a:solidFill>
                <a:latin typeface="Consolas" panose="020B0609020204030204" charset="0"/>
              </a:rPr>
              <a:t> (</a:t>
            </a:r>
            <a:r>
              <a:rPr lang="en-US" b="0">
                <a:solidFill>
                  <a:srgbClr val="6A3E3E"/>
                </a:solidFill>
                <a:latin typeface="Consolas" panose="020B0609020204030204" charset="0"/>
              </a:rPr>
              <a:t>it</a:t>
            </a:r>
            <a:r>
              <a:rPr lang="en-US" b="0">
                <a:solidFill>
                  <a:srgbClr val="000000"/>
                </a:solidFill>
                <a:latin typeface="Consolas" panose="020B0609020204030204" charset="0"/>
              </a:rPr>
              <a:t>.hasNext()) {		Pair </a:t>
            </a:r>
            <a:r>
              <a:rPr lang="en-US" b="0">
                <a:solidFill>
                  <a:srgbClr val="6A3E3E"/>
                </a:solidFill>
                <a:latin typeface="Consolas" panose="020B0609020204030204" charset="0"/>
              </a:rPr>
              <a:t>pair</a:t>
            </a:r>
            <a:r>
              <a:rPr lang="en-US" b="0">
                <a:solidFill>
                  <a:srgbClr val="000000"/>
                </a:solidFill>
                <a:latin typeface="Consolas" panose="020B0609020204030204" charset="0"/>
              </a:rPr>
              <a:t> = </a:t>
            </a:r>
            <a:r>
              <a:rPr lang="en-US" b="0">
                <a:solidFill>
                  <a:srgbClr val="6A3E3E"/>
                </a:solidFill>
                <a:latin typeface="Consolas" panose="020B0609020204030204" charset="0"/>
              </a:rPr>
              <a:t>it</a:t>
            </a:r>
            <a:r>
              <a:rPr lang="en-US" b="0">
                <a:solidFill>
                  <a:srgbClr val="000000"/>
                </a:solidFill>
                <a:latin typeface="Consolas" panose="020B0609020204030204" charset="0"/>
              </a:rPr>
              <a:t>.next();		</a:t>
            </a:r>
            <a:r>
              <a:rPr lang="en-US" b="1">
                <a:solidFill>
                  <a:srgbClr val="7F0055"/>
                </a:solidFill>
                <a:latin typeface="Consolas" panose="020B0609020204030204" charset="0"/>
              </a:rPr>
              <a:t>if</a:t>
            </a:r>
            <a:r>
              <a:rPr lang="en-US" b="0">
                <a:solidFill>
                  <a:srgbClr val="000000"/>
                </a:solidFill>
                <a:latin typeface="Consolas" panose="020B0609020204030204" charset="0"/>
              </a:rPr>
              <a:t> (</a:t>
            </a:r>
            <a:r>
              <a:rPr lang="en-US" b="0">
                <a:solidFill>
                  <a:srgbClr val="6A3E3E"/>
                </a:solidFill>
                <a:latin typeface="Consolas" panose="020B0609020204030204" charset="0"/>
              </a:rPr>
              <a:t>pair</a:t>
            </a:r>
            <a:r>
              <a:rPr lang="en-US" b="0">
                <a:solidFill>
                  <a:srgbClr val="000000"/>
                </a:solidFill>
                <a:latin typeface="Consolas" panose="020B0609020204030204" charset="0"/>
              </a:rPr>
              <a:t>.</a:t>
            </a:r>
            <a:r>
              <a:rPr lang="en-US" b="0">
                <a:solidFill>
                  <a:srgbClr val="0000C0"/>
                </a:solidFill>
                <a:latin typeface="Consolas" panose="020B0609020204030204" charset="0"/>
              </a:rPr>
              <a:t>vertex</a:t>
            </a:r>
            <a:r>
              <a:rPr lang="en-US" b="0">
                <a:solidFill>
                  <a:srgbClr val="000000"/>
                </a:solidFill>
                <a:latin typeface="Consolas" panose="020B0609020204030204" charset="0"/>
              </a:rPr>
              <a:t> == </a:t>
            </a:r>
            <a:r>
              <a:rPr lang="en-US" b="0">
                <a:solidFill>
                  <a:srgbClr val="6A3E3E"/>
                </a:solidFill>
                <a:latin typeface="Consolas" panose="020B0609020204030204" charset="0"/>
              </a:rPr>
              <a:t>v</a:t>
            </a:r>
            <a:r>
              <a:rPr lang="en-US" b="0">
                <a:solidFill>
                  <a:srgbClr val="000000"/>
                </a:solidFill>
                <a:latin typeface="Consolas" panose="020B0609020204030204" charset="0"/>
              </a:rPr>
              <a:t>) {</a:t>
            </a:r>
            <a:r>
              <a:rPr lang="zh-CN" b="0">
                <a:solidFill>
                  <a:srgbClr val="3F7F5F"/>
                </a:solidFill>
                <a:cs typeface="Consolas" panose="020B0609020204030204" charset="0"/>
              </a:rPr>
              <a:t>// 边存在，认为修改</a:t>
            </a:r>
            <a:r>
              <a:rPr lang="en-US" b="0">
                <a:solidFill>
                  <a:srgbClr val="000000"/>
                </a:solidFill>
                <a:latin typeface="Consolas" panose="020B0609020204030204" charset="0"/>
              </a:rPr>
              <a:t>			</a:t>
            </a:r>
            <a:r>
              <a:rPr lang="en-US" b="0">
                <a:solidFill>
                  <a:srgbClr val="6A3E3E"/>
                </a:solidFill>
                <a:latin typeface="Consolas" panose="020B0609020204030204" charset="0"/>
              </a:rPr>
              <a:t>pair</a:t>
            </a:r>
            <a:r>
              <a:rPr lang="en-US" b="0">
                <a:solidFill>
                  <a:srgbClr val="000000"/>
                </a:solidFill>
                <a:latin typeface="Consolas" panose="020B0609020204030204" charset="0"/>
              </a:rPr>
              <a:t>.</a:t>
            </a:r>
            <a:r>
              <a:rPr lang="en-US" b="0">
                <a:solidFill>
                  <a:srgbClr val="0000C0"/>
                </a:solidFill>
                <a:latin typeface="Consolas" panose="020B0609020204030204" charset="0"/>
              </a:rPr>
              <a:t>weight</a:t>
            </a:r>
            <a:r>
              <a:rPr lang="en-US" b="0">
                <a:solidFill>
                  <a:srgbClr val="000000"/>
                </a:solidFill>
                <a:latin typeface="Consolas" panose="020B0609020204030204" charset="0"/>
              </a:rPr>
              <a:t> = </a:t>
            </a:r>
            <a:r>
              <a:rPr lang="en-US" b="0">
                <a:solidFill>
                  <a:srgbClr val="6A3E3E"/>
                </a:solidFill>
                <a:latin typeface="Consolas" panose="020B0609020204030204" charset="0"/>
              </a:rPr>
              <a:t>w</a:t>
            </a:r>
            <a:r>
              <a:rPr lang="en-US" b="0">
                <a:solidFill>
                  <a:srgbClr val="000000"/>
                </a:solidFill>
                <a:latin typeface="Consolas" panose="020B0609020204030204" charset="0"/>
              </a:rPr>
              <a:t>;			</a:t>
            </a:r>
            <a:r>
              <a:rPr lang="en-US" b="0">
                <a:solidFill>
                  <a:srgbClr val="6A3E3E"/>
                </a:solidFill>
                <a:latin typeface="Consolas" panose="020B0609020204030204" charset="0"/>
              </a:rPr>
              <a:t>flag</a:t>
            </a:r>
            <a:r>
              <a:rPr lang="en-US" b="0">
                <a:solidFill>
                  <a:srgbClr val="000000"/>
                </a:solidFill>
                <a:latin typeface="Consolas" panose="020B0609020204030204" charset="0"/>
              </a:rPr>
              <a:t> = </a:t>
            </a:r>
            <a:r>
              <a:rPr lang="en-US" b="1">
                <a:solidFill>
                  <a:srgbClr val="7F0055"/>
                </a:solidFill>
                <a:latin typeface="Consolas" panose="020B0609020204030204" charset="0"/>
              </a:rPr>
              <a:t>true</a:t>
            </a:r>
            <a:r>
              <a:rPr lang="en-US" b="0">
                <a:solidFill>
                  <a:srgbClr val="000000"/>
                </a:solidFill>
                <a:latin typeface="Consolas" panose="020B0609020204030204" charset="0"/>
              </a:rPr>
              <a:t>;		}	}</a:t>
            </a:r>
            <a:endParaRPr lang="en-US" altLang="en-US" b="0">
              <a:solidFill>
                <a:srgbClr val="000000"/>
              </a:solidFill>
              <a:latin typeface="Consolas" panose="020B0609020204030204" charset="0"/>
            </a:endParaRPr>
          </a:p>
        </p:txBody>
      </p:sp>
      <p:sp>
        <p:nvSpPr>
          <p:cNvPr id="3" name="文本框 2"/>
          <p:cNvSpPr txBox="1"/>
          <p:nvPr/>
        </p:nvSpPr>
        <p:spPr>
          <a:xfrm>
            <a:off x="7558405" y="1699260"/>
            <a:ext cx="4531360" cy="5077460"/>
          </a:xfrm>
          <a:prstGeom prst="rect">
            <a:avLst/>
          </a:prstGeom>
          <a:noFill/>
          <a:ln w="9525">
            <a:noFill/>
          </a:ln>
        </p:spPr>
        <p:txBody>
          <a:bodyPr wrap="square">
            <a:spAutoFit/>
          </a:bodyPr>
          <a:p>
            <a:pPr indent="0"/>
            <a:r>
              <a:rPr lang="en-US" b="1">
                <a:solidFill>
                  <a:srgbClr val="7F0055"/>
                </a:solidFill>
                <a:latin typeface="Consolas" panose="020B0609020204030204" charset="0"/>
              </a:rPr>
              <a:t>  if</a:t>
            </a:r>
            <a:r>
              <a:rPr lang="en-US" b="0">
                <a:solidFill>
                  <a:srgbClr val="000000"/>
                </a:solidFill>
                <a:latin typeface="Consolas" panose="020B0609020204030204" charset="0"/>
              </a:rPr>
              <a:t> (!</a:t>
            </a:r>
            <a:r>
              <a:rPr lang="en-US" b="0">
                <a:solidFill>
                  <a:srgbClr val="6A3E3E"/>
                </a:solidFill>
                <a:latin typeface="Consolas" panose="020B0609020204030204" charset="0"/>
              </a:rPr>
              <a:t>flag</a:t>
            </a:r>
            <a:r>
              <a:rPr lang="en-US" b="0">
                <a:solidFill>
                  <a:srgbClr val="000000"/>
                </a:solidFill>
                <a:latin typeface="Consolas" panose="020B0609020204030204" charset="0"/>
              </a:rPr>
              <a:t>) {	LinkedList&lt;Pair&gt; </a:t>
            </a:r>
            <a:r>
              <a:rPr lang="en-US" b="0">
                <a:solidFill>
                  <a:srgbClr val="6A3E3E"/>
                </a:solidFill>
                <a:latin typeface="Consolas" panose="020B0609020204030204" charset="0"/>
              </a:rPr>
              <a:t>list1</a:t>
            </a:r>
            <a:r>
              <a:rPr lang="en-US" b="0">
                <a:solidFill>
                  <a:srgbClr val="000000"/>
                </a:solidFill>
                <a:latin typeface="Consolas" panose="020B0609020204030204" charset="0"/>
              </a:rPr>
              <a:t> = </a:t>
            </a:r>
            <a:r>
              <a:rPr lang="en-US" b="0">
                <a:solidFill>
                  <a:srgbClr val="0000C0"/>
                </a:solidFill>
                <a:latin typeface="Consolas" panose="020B0609020204030204" charset="0"/>
              </a:rPr>
              <a:t>edges</a:t>
            </a:r>
            <a:r>
              <a:rPr lang="en-US" b="0">
                <a:solidFill>
                  <a:srgbClr val="000000"/>
                </a:solidFill>
                <a:latin typeface="Consolas" panose="020B0609020204030204" charset="0"/>
              </a:rPr>
              <a:t>.get(</a:t>
            </a:r>
            <a:r>
              <a:rPr lang="en-US" b="0">
                <a:solidFill>
                  <a:srgbClr val="6A3E3E"/>
                </a:solidFill>
                <a:latin typeface="Consolas" panose="020B0609020204030204" charset="0"/>
              </a:rPr>
              <a:t>v</a:t>
            </a:r>
            <a:r>
              <a:rPr lang="en-US" b="0">
                <a:solidFill>
                  <a:srgbClr val="000000"/>
                </a:solidFill>
                <a:latin typeface="Consolas" panose="020B0609020204030204" charset="0"/>
              </a:rPr>
              <a:t>);	Iterator&lt;Pair&gt; </a:t>
            </a:r>
            <a:r>
              <a:rPr lang="en-US" b="0">
                <a:solidFill>
                  <a:srgbClr val="6A3E3E"/>
                </a:solidFill>
                <a:latin typeface="Consolas" panose="020B0609020204030204" charset="0"/>
              </a:rPr>
              <a:t>it1</a:t>
            </a:r>
            <a:r>
              <a:rPr lang="en-US" b="0">
                <a:solidFill>
                  <a:srgbClr val="000000"/>
                </a:solidFill>
                <a:latin typeface="Consolas" panose="020B0609020204030204" charset="0"/>
              </a:rPr>
              <a:t> = </a:t>
            </a:r>
            <a:r>
              <a:rPr lang="en-US" b="0">
                <a:solidFill>
                  <a:srgbClr val="6A3E3E"/>
                </a:solidFill>
                <a:latin typeface="Consolas" panose="020B0609020204030204" charset="0"/>
              </a:rPr>
              <a:t>list1</a:t>
            </a:r>
            <a:r>
              <a:rPr lang="en-US" b="0">
                <a:solidFill>
                  <a:srgbClr val="000000"/>
                </a:solidFill>
                <a:latin typeface="Consolas" panose="020B0609020204030204" charset="0"/>
              </a:rPr>
              <a:t>.iterator();	</a:t>
            </a:r>
            <a:r>
              <a:rPr lang="en-US" b="1">
                <a:solidFill>
                  <a:srgbClr val="7F0055"/>
                </a:solidFill>
                <a:latin typeface="Consolas" panose="020B0609020204030204" charset="0"/>
              </a:rPr>
              <a:t>while</a:t>
            </a:r>
            <a:r>
              <a:rPr lang="en-US" b="0">
                <a:solidFill>
                  <a:srgbClr val="000000"/>
                </a:solidFill>
                <a:latin typeface="Consolas" panose="020B0609020204030204" charset="0"/>
              </a:rPr>
              <a:t> (</a:t>
            </a:r>
            <a:r>
              <a:rPr lang="en-US" b="0">
                <a:solidFill>
                  <a:srgbClr val="6A3E3E"/>
                </a:solidFill>
                <a:latin typeface="Consolas" panose="020B0609020204030204" charset="0"/>
              </a:rPr>
              <a:t>it1</a:t>
            </a:r>
            <a:r>
              <a:rPr lang="en-US" b="0">
                <a:solidFill>
                  <a:srgbClr val="000000"/>
                </a:solidFill>
                <a:latin typeface="Consolas" panose="020B0609020204030204" charset="0"/>
              </a:rPr>
              <a:t>.hasNext()) {	  Pair </a:t>
            </a:r>
            <a:r>
              <a:rPr lang="en-US" b="0">
                <a:solidFill>
                  <a:srgbClr val="6A3E3E"/>
                </a:solidFill>
                <a:latin typeface="Consolas" panose="020B0609020204030204" charset="0"/>
              </a:rPr>
              <a:t>pair</a:t>
            </a:r>
            <a:r>
              <a:rPr lang="en-US" b="0">
                <a:solidFill>
                  <a:srgbClr val="000000"/>
                </a:solidFill>
                <a:latin typeface="Consolas" panose="020B0609020204030204" charset="0"/>
              </a:rPr>
              <a:t> = </a:t>
            </a:r>
            <a:r>
              <a:rPr lang="en-US" b="0">
                <a:solidFill>
                  <a:srgbClr val="6A3E3E"/>
                </a:solidFill>
                <a:latin typeface="Consolas" panose="020B0609020204030204" charset="0"/>
              </a:rPr>
              <a:t>it1</a:t>
            </a:r>
            <a:r>
              <a:rPr lang="en-US" b="0">
                <a:solidFill>
                  <a:srgbClr val="000000"/>
                </a:solidFill>
                <a:latin typeface="Consolas" panose="020B0609020204030204" charset="0"/>
              </a:rPr>
              <a:t>.next();	  </a:t>
            </a:r>
            <a:r>
              <a:rPr lang="en-US" b="1">
                <a:solidFill>
                  <a:srgbClr val="7F0055"/>
                </a:solidFill>
                <a:latin typeface="Consolas" panose="020B0609020204030204" charset="0"/>
              </a:rPr>
              <a:t>if</a:t>
            </a:r>
            <a:r>
              <a:rPr lang="en-US" b="0">
                <a:solidFill>
                  <a:srgbClr val="000000"/>
                </a:solidFill>
                <a:latin typeface="Consolas" panose="020B0609020204030204" charset="0"/>
              </a:rPr>
              <a:t> (</a:t>
            </a:r>
            <a:r>
              <a:rPr lang="en-US" b="0">
                <a:solidFill>
                  <a:srgbClr val="6A3E3E"/>
                </a:solidFill>
                <a:latin typeface="Consolas" panose="020B0609020204030204" charset="0"/>
              </a:rPr>
              <a:t>pair</a:t>
            </a:r>
            <a:r>
              <a:rPr lang="en-US" b="0">
                <a:solidFill>
                  <a:srgbClr val="000000"/>
                </a:solidFill>
                <a:latin typeface="Consolas" panose="020B0609020204030204" charset="0"/>
              </a:rPr>
              <a:t>.</a:t>
            </a:r>
            <a:r>
              <a:rPr lang="en-US" b="0">
                <a:solidFill>
                  <a:srgbClr val="0000C0"/>
                </a:solidFill>
                <a:latin typeface="Consolas" panose="020B0609020204030204" charset="0"/>
              </a:rPr>
              <a:t>vertex</a:t>
            </a:r>
            <a:r>
              <a:rPr lang="en-US" b="0">
                <a:solidFill>
                  <a:srgbClr val="000000"/>
                </a:solidFill>
                <a:latin typeface="Consolas" panose="020B0609020204030204" charset="0"/>
              </a:rPr>
              <a:t> == </a:t>
            </a:r>
            <a:r>
              <a:rPr lang="en-US" b="0">
                <a:solidFill>
                  <a:srgbClr val="6A3E3E"/>
                </a:solidFill>
                <a:latin typeface="Consolas" panose="020B0609020204030204" charset="0"/>
              </a:rPr>
              <a:t>u</a:t>
            </a:r>
            <a:r>
              <a:rPr lang="en-US" b="0">
                <a:solidFill>
                  <a:srgbClr val="000000"/>
                </a:solidFill>
                <a:latin typeface="Consolas" panose="020B0609020204030204" charset="0"/>
              </a:rPr>
              <a:t>) {		</a:t>
            </a:r>
            <a:r>
              <a:rPr lang="en-US" b="0">
                <a:solidFill>
                  <a:srgbClr val="6A3E3E"/>
                </a:solidFill>
                <a:latin typeface="Consolas" panose="020B0609020204030204" charset="0"/>
              </a:rPr>
              <a:t>pair</a:t>
            </a:r>
            <a:r>
              <a:rPr lang="en-US" b="0">
                <a:solidFill>
                  <a:srgbClr val="000000"/>
                </a:solidFill>
                <a:latin typeface="Consolas" panose="020B0609020204030204" charset="0"/>
              </a:rPr>
              <a:t>.</a:t>
            </a:r>
            <a:r>
              <a:rPr lang="en-US" b="0">
                <a:solidFill>
                  <a:srgbClr val="0000C0"/>
                </a:solidFill>
                <a:latin typeface="Consolas" panose="020B0609020204030204" charset="0"/>
              </a:rPr>
              <a:t>weight</a:t>
            </a:r>
            <a:r>
              <a:rPr lang="en-US" b="0">
                <a:solidFill>
                  <a:srgbClr val="000000"/>
                </a:solidFill>
                <a:latin typeface="Consolas" panose="020B0609020204030204" charset="0"/>
              </a:rPr>
              <a:t> = </a:t>
            </a:r>
            <a:r>
              <a:rPr lang="en-US" b="0">
                <a:solidFill>
                  <a:srgbClr val="6A3E3E"/>
                </a:solidFill>
                <a:latin typeface="Consolas" panose="020B0609020204030204" charset="0"/>
              </a:rPr>
              <a:t>w</a:t>
            </a:r>
            <a:r>
              <a:rPr lang="en-US" b="0">
                <a:solidFill>
                  <a:srgbClr val="000000"/>
                </a:solidFill>
                <a:latin typeface="Consolas" panose="020B0609020204030204" charset="0"/>
              </a:rPr>
              <a:t>;		</a:t>
            </a:r>
            <a:r>
              <a:rPr lang="en-US" b="0">
                <a:solidFill>
                  <a:srgbClr val="6A3E3E"/>
                </a:solidFill>
                <a:latin typeface="Consolas" panose="020B0609020204030204" charset="0"/>
              </a:rPr>
              <a:t>flag</a:t>
            </a:r>
            <a:r>
              <a:rPr lang="en-US" b="0">
                <a:solidFill>
                  <a:srgbClr val="000000"/>
                </a:solidFill>
                <a:latin typeface="Consolas" panose="020B0609020204030204" charset="0"/>
              </a:rPr>
              <a:t> = </a:t>
            </a:r>
            <a:r>
              <a:rPr lang="en-US" b="1">
                <a:solidFill>
                  <a:srgbClr val="7F0055"/>
                </a:solidFill>
                <a:latin typeface="Consolas" panose="020B0609020204030204" charset="0"/>
              </a:rPr>
              <a:t>true</a:t>
            </a:r>
            <a:r>
              <a:rPr lang="en-US" b="0">
                <a:solidFill>
                  <a:srgbClr val="000000"/>
                </a:solidFill>
                <a:latin typeface="Consolas" panose="020B0609020204030204" charset="0"/>
              </a:rPr>
              <a:t>;	  }	}   }</a:t>
            </a:r>
            <a:endParaRPr lang="en-US" b="0">
              <a:solidFill>
                <a:srgbClr val="000000"/>
              </a:solidFill>
              <a:latin typeface="Consolas" panose="020B0609020204030204" charset="0"/>
            </a:endParaRPr>
          </a:p>
          <a:p>
            <a:pPr indent="0"/>
            <a:r>
              <a:rPr lang="en-US" b="1">
                <a:solidFill>
                  <a:srgbClr val="7F0055"/>
                </a:solidFill>
                <a:latin typeface="Consolas" panose="020B0609020204030204" charset="0"/>
              </a:rPr>
              <a:t>  if</a:t>
            </a:r>
            <a:r>
              <a:rPr lang="en-US" b="0">
                <a:solidFill>
                  <a:srgbClr val="000000"/>
                </a:solidFill>
                <a:latin typeface="Consolas" panose="020B0609020204030204" charset="0"/>
              </a:rPr>
              <a:t> (!</a:t>
            </a:r>
            <a:r>
              <a:rPr lang="en-US" b="0">
                <a:solidFill>
                  <a:srgbClr val="6A3E3E"/>
                </a:solidFill>
                <a:latin typeface="Consolas" panose="020B0609020204030204" charset="0"/>
              </a:rPr>
              <a:t>flag</a:t>
            </a:r>
            <a:r>
              <a:rPr lang="en-US" b="0">
                <a:solidFill>
                  <a:srgbClr val="000000"/>
                </a:solidFill>
                <a:latin typeface="Consolas" panose="020B0609020204030204" charset="0"/>
              </a:rPr>
              <a:t>) {	</a:t>
            </a:r>
            <a:r>
              <a:rPr lang="en-US" b="0">
                <a:solidFill>
                  <a:srgbClr val="6A3E3E"/>
                </a:solidFill>
                <a:latin typeface="Consolas" panose="020B0609020204030204" charset="0"/>
              </a:rPr>
              <a:t>list</a:t>
            </a:r>
            <a:r>
              <a:rPr lang="en-US" b="0">
                <a:solidFill>
                  <a:srgbClr val="000000"/>
                </a:solidFill>
                <a:latin typeface="Consolas" panose="020B0609020204030204" charset="0"/>
              </a:rPr>
              <a:t>.add(</a:t>
            </a:r>
            <a:r>
              <a:rPr lang="en-US" b="1">
                <a:solidFill>
                  <a:srgbClr val="7F0055"/>
                </a:solidFill>
                <a:latin typeface="Consolas" panose="020B0609020204030204" charset="0"/>
              </a:rPr>
              <a:t>new</a:t>
            </a:r>
            <a:r>
              <a:rPr lang="en-US" b="0">
                <a:solidFill>
                  <a:srgbClr val="000000"/>
                </a:solidFill>
                <a:latin typeface="Consolas" panose="020B0609020204030204" charset="0"/>
              </a:rPr>
              <a:t> Pair(</a:t>
            </a:r>
            <a:r>
              <a:rPr lang="en-US" b="0">
                <a:solidFill>
                  <a:srgbClr val="6A3E3E"/>
                </a:solidFill>
                <a:latin typeface="Consolas" panose="020B0609020204030204" charset="0"/>
              </a:rPr>
              <a:t>v</a:t>
            </a:r>
            <a:r>
              <a:rPr lang="en-US" b="0">
                <a:solidFill>
                  <a:srgbClr val="000000"/>
                </a:solidFill>
                <a:latin typeface="Consolas" panose="020B0609020204030204" charset="0"/>
              </a:rPr>
              <a:t>, </a:t>
            </a:r>
            <a:r>
              <a:rPr lang="en-US" b="0">
                <a:solidFill>
                  <a:srgbClr val="6A3E3E"/>
                </a:solidFill>
                <a:latin typeface="Consolas" panose="020B0609020204030204" charset="0"/>
              </a:rPr>
              <a:t>w</a:t>
            </a:r>
            <a:r>
              <a:rPr lang="en-US" b="0">
                <a:solidFill>
                  <a:srgbClr val="000000"/>
                </a:solidFill>
                <a:latin typeface="Consolas" panose="020B0609020204030204" charset="0"/>
              </a:rPr>
              <a:t>));	++</a:t>
            </a:r>
            <a:r>
              <a:rPr lang="en-US" b="0">
                <a:solidFill>
                  <a:srgbClr val="0000C0"/>
                </a:solidFill>
                <a:latin typeface="Consolas" panose="020B0609020204030204" charset="0"/>
              </a:rPr>
              <a:t>e</a:t>
            </a:r>
            <a:r>
              <a:rPr lang="en-US" b="0">
                <a:solidFill>
                  <a:srgbClr val="000000"/>
                </a:solidFill>
                <a:latin typeface="Consolas" panose="020B0609020204030204" charset="0"/>
              </a:rPr>
              <a:t>;  }}</a:t>
            </a:r>
            <a:endParaRPr lang="en-US" altLang="en-US" b="0">
              <a:solidFill>
                <a:srgbClr val="000000"/>
              </a:solidFill>
              <a:latin typeface="Consolas" panose="020B0609020204030204" charset="0"/>
            </a:endParaRPr>
          </a:p>
        </p:txBody>
      </p:sp>
      <p:cxnSp>
        <p:nvCxnSpPr>
          <p:cNvPr id="4" name="直接箭头连接符 3"/>
          <p:cNvCxnSpPr/>
          <p:nvPr/>
        </p:nvCxnSpPr>
        <p:spPr>
          <a:xfrm flipV="1">
            <a:off x="6271260" y="3655060"/>
            <a:ext cx="1675765" cy="534035"/>
          </a:xfrm>
          <a:prstGeom prst="straightConnector1">
            <a:avLst/>
          </a:prstGeom>
          <a:ln w="1905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64210" y="198120"/>
            <a:ext cx="5989955" cy="521970"/>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2.F</a:t>
            </a:r>
            <a:r>
              <a:rPr lang="zh-CN" altLang="en-US" sz="2800" b="1" i="1">
                <a:latin typeface="幼圆" panose="02010509060101010101" pitchFamily="49" charset="-122"/>
                <a:ea typeface="幼圆" panose="02010509060101010101" pitchFamily="49" charset="-122"/>
                <a:cs typeface="幼圆" panose="02010509060101010101" pitchFamily="49" charset="-122"/>
              </a:rPr>
              <a:t>loyd算法</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5" name="文本框 4"/>
          <p:cNvSpPr txBox="1"/>
          <p:nvPr/>
        </p:nvSpPr>
        <p:spPr>
          <a:xfrm>
            <a:off x="482600" y="654050"/>
            <a:ext cx="11227435" cy="6159500"/>
          </a:xfrm>
          <a:prstGeom prst="rect">
            <a:avLst/>
          </a:prstGeom>
          <a:noFill/>
          <a:ln w="9525">
            <a:noFill/>
          </a:ln>
        </p:spPr>
        <p:txBody>
          <a:bodyPr>
            <a:noAutofit/>
          </a:bodyPr>
          <a:p>
            <a:pPr indent="0"/>
            <a:r>
              <a:rPr lang="en-US" sz="1400" b="1">
                <a:solidFill>
                  <a:srgbClr val="7F0055"/>
                </a:solidFill>
                <a:latin typeface="Consolas" panose="020B0609020204030204" charset="0"/>
                <a:cs typeface="Consolas" panose="020B0609020204030204" charset="0"/>
              </a:rPr>
              <a:t>public</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void</a:t>
            </a:r>
            <a:r>
              <a:rPr lang="en-US" sz="1400" b="0">
                <a:solidFill>
                  <a:srgbClr val="000000"/>
                </a:solidFill>
                <a:latin typeface="Consolas" panose="020B0609020204030204" charset="0"/>
                <a:cs typeface="Consolas" panose="020B0609020204030204" charset="0"/>
              </a:rPr>
              <a:t> floyd(</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op</a:t>
            </a:r>
            <a:r>
              <a:rPr lang="en-US" sz="1400" b="0">
                <a:solidFill>
                  <a:srgbClr val="000000"/>
                </a:solidFill>
                <a:latin typeface="Consolas" panose="020B0609020204030204" charset="0"/>
                <a:cs typeface="Consolas" panose="020B0609020204030204" charset="0"/>
              </a:rPr>
              <a:t>) {	</a:t>
            </a:r>
            <a:r>
              <a:rPr lang="en-US" sz="1400" b="1">
                <a:solidFill>
                  <a:srgbClr val="7F0055"/>
                </a:solidFill>
                <a:latin typeface="Consolas" panose="020B0609020204030204" charset="0"/>
                <a:cs typeface="Consolas" panose="020B0609020204030204" charset="0"/>
              </a:rPr>
              <a:t>if</a:t>
            </a:r>
            <a:r>
              <a:rPr lang="en-US" sz="1400" b="0">
                <a:solidFill>
                  <a:srgbClr val="000000"/>
                </a:solidFill>
                <a:latin typeface="Consolas" panose="020B0609020204030204" charset="0"/>
                <a:cs typeface="Consolas" panose="020B0609020204030204" charset="0"/>
              </a:rPr>
              <a:t> (</a:t>
            </a:r>
            <a:r>
              <a:rPr lang="en-US" sz="1400" b="0">
                <a:solidFill>
                  <a:srgbClr val="0000C0"/>
                </a:solidFill>
                <a:latin typeface="Consolas" panose="020B0609020204030204" charset="0"/>
                <a:cs typeface="Consolas" panose="020B0609020204030204" charset="0"/>
              </a:rPr>
              <a:t>graph</a:t>
            </a:r>
            <a:r>
              <a:rPr lang="en-US" sz="1400" b="0">
                <a:solidFill>
                  <a:srgbClr val="000000"/>
                </a:solidFill>
                <a:latin typeface="Consolas" panose="020B0609020204030204" charset="0"/>
                <a:cs typeface="Consolas" panose="020B0609020204030204" charset="0"/>
              </a:rPr>
              <a:t>.getGraphKind() != GraphKind.</a:t>
            </a:r>
            <a:r>
              <a:rPr lang="en-US" sz="1400" b="1" i="1">
                <a:solidFill>
                  <a:srgbClr val="0000C0"/>
                </a:solidFill>
                <a:latin typeface="Consolas" panose="020B0609020204030204" charset="0"/>
                <a:cs typeface="Consolas" panose="020B0609020204030204" charset="0"/>
              </a:rPr>
              <a:t>WeightedUnDirectedGraph</a:t>
            </a:r>
            <a:r>
              <a:rPr lang="en-US" sz="1400" b="0">
                <a:solidFill>
                  <a:srgbClr val="000000"/>
                </a:solidFill>
                <a:latin typeface="Consolas" panose="020B0609020204030204" charset="0"/>
                <a:cs typeface="Consolas" panose="020B0609020204030204" charset="0"/>
              </a:rPr>
              <a:t>) </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若图的种类不是加权无向图</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return</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double</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 = </a:t>
            </a:r>
            <a:r>
              <a:rPr lang="en-US" sz="1400" b="1">
                <a:solidFill>
                  <a:srgbClr val="7F0055"/>
                </a:solidFill>
                <a:latin typeface="Consolas" panose="020B0609020204030204" charset="0"/>
                <a:cs typeface="Consolas" panose="020B0609020204030204" charset="0"/>
              </a:rPr>
              <a:t>new</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double</a:t>
            </a:r>
            <a:r>
              <a:rPr lang="en-US" sz="1400" b="0">
                <a:solidFill>
                  <a:srgbClr val="000000"/>
                </a:solidFill>
                <a:latin typeface="Consolas" panose="020B0609020204030204" charset="0"/>
                <a:cs typeface="Consolas" panose="020B0609020204030204" charset="0"/>
              </a:rPr>
              <a:t>[</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a:t>
            </a:r>
            <a:r>
              <a:rPr lang="en-US" sz="1400" b="0">
                <a:solidFill>
                  <a:srgbClr val="3F7F5F"/>
                </a:solidFill>
                <a:latin typeface="Consolas" panose="020B0609020204030204" charset="0"/>
                <a:cs typeface="Consolas" panose="020B0609020204030204" charset="0"/>
              </a:rPr>
              <a:t>// distance</a:t>
            </a:r>
            <a:r>
              <a:rPr lang="zh-CN" sz="1400" b="0">
                <a:solidFill>
                  <a:srgbClr val="3F7F5F"/>
                </a:solidFill>
                <a:latin typeface="Consolas" panose="020B0609020204030204" charset="0"/>
                <a:cs typeface="Consolas" panose="020B0609020204030204" charset="0"/>
              </a:rPr>
              <a:t>指的是两个城市间的距离</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path</a:t>
            </a:r>
            <a:r>
              <a:rPr lang="en-US" sz="1400" b="0">
                <a:solidFill>
                  <a:srgbClr val="000000"/>
                </a:solidFill>
                <a:latin typeface="Consolas" panose="020B0609020204030204" charset="0"/>
                <a:cs typeface="Consolas" panose="020B0609020204030204" charset="0"/>
              </a:rPr>
              <a:t> = </a:t>
            </a:r>
            <a:r>
              <a:rPr lang="en-US" sz="1400" b="1">
                <a:solidFill>
                  <a:srgbClr val="7F0055"/>
                </a:solidFill>
                <a:latin typeface="Consolas" panose="020B0609020204030204" charset="0"/>
                <a:cs typeface="Consolas" panose="020B0609020204030204" charset="0"/>
              </a:rPr>
              <a:t>new</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a:t>
            </a:r>
            <a:r>
              <a:rPr lang="en-US" sz="1400" b="0">
                <a:solidFill>
                  <a:srgbClr val="3F7F5F"/>
                </a:solidFill>
                <a:latin typeface="Consolas" panose="020B0609020204030204" charset="0"/>
                <a:cs typeface="Consolas" panose="020B0609020204030204" charset="0"/>
              </a:rPr>
              <a:t>// path</a:t>
            </a:r>
            <a:r>
              <a:rPr lang="zh-CN" sz="1400" b="0">
                <a:solidFill>
                  <a:srgbClr val="3F7F5F"/>
                </a:solidFill>
                <a:latin typeface="Consolas" panose="020B0609020204030204" charset="0"/>
                <a:cs typeface="Consolas" panose="020B0609020204030204" charset="0"/>
              </a:rPr>
              <a:t>指的是两个城市间的最短路径中经过的那些城市</a:t>
            </a:r>
            <a:r>
              <a:rPr lang="en-US" sz="1400" b="0">
                <a:latin typeface="Consolas" panose="020B0609020204030204" charset="0"/>
                <a:cs typeface="Consolas" panose="020B0609020204030204" charset="0"/>
              </a:rPr>
              <a:t>         </a:t>
            </a:r>
            <a:r>
              <a:rPr lang="en-US" sz="1400">
                <a:solidFill>
                  <a:srgbClr val="3F7F5F"/>
                </a:solidFill>
                <a:latin typeface="Consolas" panose="020B0609020204030204" charset="0"/>
                <a:cs typeface="Consolas" panose="020B0609020204030204" charset="0"/>
                <a:sym typeface="+mn-ea"/>
              </a:rPr>
              <a:t>// </a:t>
            </a:r>
            <a:r>
              <a:rPr lang="zh-CN" sz="1400">
                <a:solidFill>
                  <a:srgbClr val="3F7F5F"/>
                </a:solidFill>
                <a:latin typeface="Consolas" panose="020B0609020204030204" charset="0"/>
                <a:cs typeface="Consolas" panose="020B0609020204030204" charset="0"/>
                <a:sym typeface="+mn-ea"/>
              </a:rPr>
              <a:t>初始化</a:t>
            </a:r>
            <a:r>
              <a:rPr lang="en-US" altLang="zh-CN" sz="1400">
                <a:solidFill>
                  <a:srgbClr val="3F7F5F"/>
                </a:solidFill>
                <a:latin typeface="Consolas" panose="020B0609020204030204" charset="0"/>
                <a:cs typeface="Consolas" panose="020B0609020204030204" charset="0"/>
                <a:sym typeface="+mn-ea"/>
              </a:rPr>
              <a:t>A</a:t>
            </a:r>
            <a:r>
              <a:rPr lang="zh-CN" altLang="en-US" sz="1400">
                <a:solidFill>
                  <a:srgbClr val="3F7F5F"/>
                </a:solidFill>
                <a:latin typeface="Consolas" panose="020B0609020204030204" charset="0"/>
                <a:cs typeface="Consolas" panose="020B0609020204030204" charset="0"/>
                <a:sym typeface="+mn-ea"/>
              </a:rPr>
              <a:t>到</a:t>
            </a:r>
            <a:r>
              <a:rPr lang="en-US" altLang="zh-CN" sz="1400">
                <a:solidFill>
                  <a:srgbClr val="3F7F5F"/>
                </a:solidFill>
                <a:latin typeface="Consolas" panose="020B0609020204030204" charset="0"/>
                <a:cs typeface="Consolas" panose="020B0609020204030204" charset="0"/>
                <a:sym typeface="+mn-ea"/>
              </a:rPr>
              <a:t>B</a:t>
            </a:r>
            <a:r>
              <a:rPr lang="zh-CN" sz="1400">
                <a:solidFill>
                  <a:srgbClr val="3F7F5F"/>
                </a:solidFill>
                <a:latin typeface="Consolas" panose="020B0609020204030204" charset="0"/>
                <a:cs typeface="Consolas" panose="020B0609020204030204" charset="0"/>
                <a:sym typeface="+mn-ea"/>
              </a:rPr>
              <a:t>时</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&lt; </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&lt; </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a:t>
            </a:r>
            <a:r>
              <a:rPr lang="en-US" sz="1400" b="0">
                <a:solidFill>
                  <a:srgbClr val="0000C0"/>
                </a:solidFill>
                <a:latin typeface="Consolas" panose="020B0609020204030204" charset="0"/>
                <a:cs typeface="Consolas" panose="020B0609020204030204" charset="0"/>
              </a:rPr>
              <a:t>graph</a:t>
            </a:r>
            <a:r>
              <a:rPr lang="en-US" sz="1400" b="0">
                <a:solidFill>
                  <a:srgbClr val="000000"/>
                </a:solidFill>
                <a:latin typeface="Consolas" panose="020B0609020204030204" charset="0"/>
                <a:cs typeface="Consolas" panose="020B0609020204030204" charset="0"/>
              </a:rPr>
              <a:t>.getWeight(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初始化</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path</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-1;</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两个城市在最短路径的前提下，中间不存在其他城市时</a:t>
            </a:r>
            <a:r>
              <a:rPr lang="en-US" sz="1400" b="0">
                <a:solidFill>
                  <a:srgbClr val="000000"/>
                </a:solidFill>
                <a:latin typeface="Consolas" panose="020B0609020204030204" charset="0"/>
                <a:cs typeface="Consolas" panose="020B0609020204030204" charset="0"/>
              </a:rPr>
              <a:t>		}	}</a:t>
            </a:r>
            <a:r>
              <a:rPr lang="en-US" sz="1400" b="0">
                <a:latin typeface="Consolas" panose="020B0609020204030204" charset="0"/>
                <a:cs typeface="Consolas" panose="020B0609020204030204" charset="0"/>
              </a:rPr>
              <a:t>         </a:t>
            </a:r>
            <a:r>
              <a:rPr lang="en-US" sz="1400">
                <a:solidFill>
                  <a:srgbClr val="3F7F5F"/>
                </a:solidFill>
                <a:latin typeface="Consolas" panose="020B0609020204030204" charset="0"/>
                <a:cs typeface="Consolas" panose="020B0609020204030204" charset="0"/>
                <a:sym typeface="+mn-ea"/>
              </a:rPr>
              <a:t>// </a:t>
            </a:r>
            <a:r>
              <a:rPr lang="zh-CN" sz="1400">
                <a:solidFill>
                  <a:srgbClr val="3F7F5F"/>
                </a:solidFill>
                <a:latin typeface="Consolas" panose="020B0609020204030204" charset="0"/>
                <a:cs typeface="Consolas" panose="020B0609020204030204" charset="0"/>
                <a:sym typeface="+mn-ea"/>
              </a:rPr>
              <a:t>初始化</a:t>
            </a:r>
            <a:r>
              <a:rPr lang="en-US" altLang="zh-CN" sz="1400">
                <a:solidFill>
                  <a:srgbClr val="3F7F5F"/>
                </a:solidFill>
                <a:latin typeface="Consolas" panose="020B0609020204030204" charset="0"/>
                <a:cs typeface="Consolas" panose="020B0609020204030204" charset="0"/>
                <a:sym typeface="+mn-ea"/>
              </a:rPr>
              <a:t>A</a:t>
            </a:r>
            <a:r>
              <a:rPr lang="zh-CN" altLang="en-US" sz="1400">
                <a:solidFill>
                  <a:srgbClr val="3F7F5F"/>
                </a:solidFill>
                <a:latin typeface="Consolas" panose="020B0609020204030204" charset="0"/>
                <a:cs typeface="Consolas" panose="020B0609020204030204" charset="0"/>
                <a:sym typeface="+mn-ea"/>
              </a:rPr>
              <a:t>到</a:t>
            </a:r>
            <a:r>
              <a:rPr lang="en-US" altLang="zh-CN" sz="1400">
                <a:solidFill>
                  <a:srgbClr val="3F7F5F"/>
                </a:solidFill>
                <a:latin typeface="Consolas" panose="020B0609020204030204" charset="0"/>
                <a:cs typeface="Consolas" panose="020B0609020204030204" charset="0"/>
                <a:sym typeface="+mn-ea"/>
              </a:rPr>
              <a:t>A</a:t>
            </a:r>
            <a:r>
              <a:rPr lang="zh-CN" sz="1400">
                <a:solidFill>
                  <a:srgbClr val="3F7F5F"/>
                </a:solidFill>
                <a:latin typeface="Consolas" panose="020B0609020204030204" charset="0"/>
                <a:cs typeface="Consolas" panose="020B0609020204030204" charset="0"/>
                <a:sym typeface="+mn-ea"/>
              </a:rPr>
              <a:t>时</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&lt; </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 0.0;	</a:t>
            </a:r>
            <a:r>
              <a:rPr lang="en-US" sz="1400" b="0">
                <a:solidFill>
                  <a:srgbClr val="3F7F5F"/>
                </a:solidFill>
                <a:latin typeface="Consolas" panose="020B0609020204030204" charset="0"/>
                <a:cs typeface="Consolas" panose="020B0609020204030204" charset="0"/>
              </a:rPr>
              <a:t>// </a:t>
            </a:r>
            <a:r>
              <a:rPr lang="zh-CN" altLang="en-US" sz="1400" b="0">
                <a:solidFill>
                  <a:srgbClr val="3F7F5F"/>
                </a:solidFill>
                <a:latin typeface="Consolas" panose="020B0609020204030204" charset="0"/>
                <a:cs typeface="Consolas" panose="020B0609020204030204" charset="0"/>
              </a:rPr>
              <a:t>核心代码：</a:t>
            </a:r>
            <a:r>
              <a:rPr lang="zh-CN" sz="1400" b="0">
                <a:solidFill>
                  <a:srgbClr val="3F7F5F"/>
                </a:solidFill>
                <a:latin typeface="Consolas" panose="020B0609020204030204" charset="0"/>
                <a:cs typeface="Consolas" panose="020B0609020204030204" charset="0"/>
              </a:rPr>
              <a:t>基于动态规划</a:t>
            </a:r>
            <a:r>
              <a:rPr lang="en-US" sz="1400" b="0">
                <a:solidFill>
                  <a:srgbClr val="3F7F5F"/>
                </a:solidFill>
                <a:latin typeface="Consolas" panose="020B0609020204030204" charset="0"/>
                <a:cs typeface="Consolas" panose="020B0609020204030204" charset="0"/>
              </a:rPr>
              <a:t>-&gt;floyd</a:t>
            </a:r>
            <a:r>
              <a:rPr lang="zh-CN" sz="1400" b="0">
                <a:solidFill>
                  <a:srgbClr val="3F7F5F"/>
                </a:solidFill>
                <a:latin typeface="Consolas" panose="020B0609020204030204" charset="0"/>
                <a:cs typeface="Consolas" panose="020B0609020204030204" charset="0"/>
              </a:rPr>
              <a:t>：</a:t>
            </a:r>
            <a:r>
              <a:rPr lang="en-US" sz="1400" b="0">
                <a:solidFill>
                  <a:srgbClr val="3F7F5F"/>
                </a:solidFill>
                <a:latin typeface="Consolas" panose="020B0609020204030204" charset="0"/>
                <a:cs typeface="Consolas" panose="020B0609020204030204" charset="0"/>
              </a:rPr>
              <a:t>n^3</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&lt; </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枚举中间城市</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&lt; </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起始城市</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&lt; </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结尾城市</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double</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tmp</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if</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tmp</a:t>
            </a:r>
            <a:r>
              <a:rPr lang="en-US" sz="1400" b="0">
                <a:solidFill>
                  <a:srgbClr val="000000"/>
                </a:solidFill>
                <a:latin typeface="Consolas" panose="020B0609020204030204" charset="0"/>
                <a:cs typeface="Consolas" panose="020B0609020204030204" charset="0"/>
              </a:rPr>
              <a:t> &lt;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tmp</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path</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a:t>
            </a:r>
            <a:endParaRPr lang="en-US" sz="1400" b="0">
              <a:solidFill>
                <a:srgbClr val="000000"/>
              </a:solidFill>
              <a:latin typeface="Consolas" panose="020B0609020204030204" charset="0"/>
              <a:cs typeface="Consolas" panose="020B0609020204030204" charset="0"/>
            </a:endParaRPr>
          </a:p>
          <a:p>
            <a:pPr indent="0"/>
            <a:r>
              <a:rPr lang="en-US" sz="1400" b="0">
                <a:solidFill>
                  <a:srgbClr val="000000"/>
                </a:solidFill>
                <a:latin typeface="Consolas" panose="020B0609020204030204" charset="0"/>
                <a:cs typeface="Consolas" panose="020B0609020204030204" charset="0"/>
              </a:rPr>
              <a:t>                                    </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若</a:t>
            </a:r>
            <a:r>
              <a:rPr lang="en-US" sz="1400" b="0" u="sng">
                <a:solidFill>
                  <a:srgbClr val="3F7F5F"/>
                </a:solidFill>
                <a:latin typeface="Consolas" panose="020B0609020204030204" charset="0"/>
                <a:cs typeface="Consolas" panose="020B0609020204030204" charset="0"/>
              </a:rPr>
              <a:t>tmp</a:t>
            </a:r>
            <a:r>
              <a:rPr lang="zh-CN" sz="1400" b="0">
                <a:solidFill>
                  <a:srgbClr val="3F7F5F"/>
                </a:solidFill>
                <a:latin typeface="Consolas" panose="020B0609020204030204" charset="0"/>
                <a:cs typeface="Consolas" panose="020B0609020204030204" charset="0"/>
              </a:rPr>
              <a:t>变小且小于</a:t>
            </a:r>
            <a:r>
              <a:rPr lang="en-US" sz="1400" b="0">
                <a:solidFill>
                  <a:srgbClr val="3F7F5F"/>
                </a:solidFill>
                <a:latin typeface="Consolas" panose="020B0609020204030204" charset="0"/>
                <a:cs typeface="Consolas" panose="020B0609020204030204" charset="0"/>
              </a:rPr>
              <a:t>i—&gt;j</a:t>
            </a:r>
            <a:r>
              <a:rPr lang="zh-CN" sz="1400" b="0">
                <a:solidFill>
                  <a:srgbClr val="3F7F5F"/>
                </a:solidFill>
                <a:latin typeface="Consolas" panose="020B0609020204030204" charset="0"/>
                <a:cs typeface="Consolas" panose="020B0609020204030204" charset="0"/>
              </a:rPr>
              <a:t>的</a:t>
            </a:r>
            <a:r>
              <a:rPr lang="en-US" sz="1400" b="0">
                <a:solidFill>
                  <a:srgbClr val="3F7F5F"/>
                </a:solidFill>
                <a:latin typeface="Consolas" panose="020B0609020204030204" charset="0"/>
                <a:cs typeface="Consolas" panose="020B0609020204030204" charset="0"/>
              </a:rPr>
              <a:t>distance</a:t>
            </a:r>
            <a:r>
              <a:rPr lang="zh-CN" sz="1400" b="0">
                <a:solidFill>
                  <a:srgbClr val="3F7F5F"/>
                </a:solidFill>
                <a:latin typeface="Consolas" panose="020B0609020204030204" charset="0"/>
                <a:cs typeface="Consolas" panose="020B0609020204030204" charset="0"/>
              </a:rPr>
              <a:t>，则把</a:t>
            </a:r>
            <a:r>
              <a:rPr lang="en-US" sz="1400" b="0">
                <a:solidFill>
                  <a:srgbClr val="3F7F5F"/>
                </a:solidFill>
                <a:latin typeface="Consolas" panose="020B0609020204030204" charset="0"/>
                <a:cs typeface="Consolas" panose="020B0609020204030204" charset="0"/>
              </a:rPr>
              <a:t>i—&gt;j</a:t>
            </a:r>
            <a:r>
              <a:rPr lang="zh-CN" sz="1400" b="0">
                <a:solidFill>
                  <a:srgbClr val="3F7F5F"/>
                </a:solidFill>
                <a:latin typeface="Consolas" panose="020B0609020204030204" charset="0"/>
                <a:cs typeface="Consolas" panose="020B0609020204030204" charset="0"/>
              </a:rPr>
              <a:t>的</a:t>
            </a:r>
            <a:r>
              <a:rPr lang="en-US" sz="1400" b="0">
                <a:solidFill>
                  <a:srgbClr val="3F7F5F"/>
                </a:solidFill>
                <a:latin typeface="Consolas" panose="020B0609020204030204" charset="0"/>
                <a:cs typeface="Consolas" panose="020B0609020204030204" charset="0"/>
              </a:rPr>
              <a:t>distance</a:t>
            </a:r>
            <a:r>
              <a:rPr lang="zh-CN" sz="1400" b="0">
                <a:solidFill>
                  <a:srgbClr val="3F7F5F"/>
                </a:solidFill>
                <a:latin typeface="Consolas" panose="020B0609020204030204" charset="0"/>
                <a:cs typeface="Consolas" panose="020B0609020204030204" charset="0"/>
              </a:rPr>
              <a:t>更新，再把</a:t>
            </a:r>
            <a:r>
              <a:rPr lang="en-US" sz="1400" b="0">
                <a:solidFill>
                  <a:srgbClr val="3F7F5F"/>
                </a:solidFill>
                <a:latin typeface="Consolas" panose="020B0609020204030204" charset="0"/>
                <a:cs typeface="Consolas" panose="020B0609020204030204" charset="0"/>
              </a:rPr>
              <a:t>i—&gt;j</a:t>
            </a:r>
            <a:r>
              <a:rPr lang="zh-CN" sz="1400" b="0">
                <a:solidFill>
                  <a:srgbClr val="3F7F5F"/>
                </a:solidFill>
                <a:latin typeface="Consolas" panose="020B0609020204030204" charset="0"/>
                <a:cs typeface="Consolas" panose="020B0609020204030204" charset="0"/>
              </a:rPr>
              <a:t>的</a:t>
            </a:r>
            <a:r>
              <a:rPr lang="en-US" sz="1400" b="0">
                <a:solidFill>
                  <a:srgbClr val="3F7F5F"/>
                </a:solidFill>
                <a:latin typeface="Consolas" panose="020B0609020204030204" charset="0"/>
                <a:cs typeface="Consolas" panose="020B0609020204030204" charset="0"/>
              </a:rPr>
              <a:t>path</a:t>
            </a:r>
            <a:r>
              <a:rPr lang="zh-CN" sz="1400" b="0">
                <a:solidFill>
                  <a:srgbClr val="3F7F5F"/>
                </a:solidFill>
                <a:latin typeface="Consolas" panose="020B0609020204030204" charset="0"/>
                <a:cs typeface="Consolas" panose="020B0609020204030204" charset="0"/>
              </a:rPr>
              <a:t>更新为</a:t>
            </a:r>
            <a:r>
              <a:rPr lang="en-US" sz="1400" b="0">
                <a:solidFill>
                  <a:srgbClr val="3F7F5F"/>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			}		}	}</a:t>
            </a:r>
            <a:endParaRPr lang="en-US" altLang="en-US" sz="1400" b="0">
              <a:solidFill>
                <a:srgbClr val="000000"/>
              </a:solidFill>
              <a:latin typeface="Consolas" panose="020B0609020204030204" charset="0"/>
              <a:cs typeface="Consolas" panose="020B0609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69290" y="920115"/>
            <a:ext cx="10582275" cy="5001260"/>
          </a:xfrm>
          <a:prstGeom prst="rect">
            <a:avLst/>
          </a:prstGeom>
          <a:noFill/>
          <a:ln w="9525">
            <a:noFill/>
          </a:ln>
        </p:spPr>
        <p:txBody>
          <a:bodyPr>
            <a:noAutofit/>
          </a:bodyPr>
          <a:p>
            <a:pPr indent="0"/>
            <a:r>
              <a:rPr lang="en-US" sz="1400" b="0">
                <a:solidFill>
                  <a:srgbClr val="3F7F5F"/>
                </a:solidFill>
                <a:latin typeface="Consolas" panose="020B0609020204030204" charset="0"/>
                <a:cs typeface="Consolas" panose="020B0609020204030204" charset="0"/>
              </a:rPr>
              <a:t>         // </a:t>
            </a:r>
            <a:r>
              <a:rPr lang="zh-CN" sz="1400" b="0">
                <a:solidFill>
                  <a:srgbClr val="3F7F5F"/>
                </a:solidFill>
                <a:latin typeface="Consolas" panose="020B0609020204030204" charset="0"/>
                <a:cs typeface="Consolas" panose="020B0609020204030204" charset="0"/>
              </a:rPr>
              <a:t>输出路径</a:t>
            </a:r>
            <a:endParaRPr lang="en-US" sz="1400" b="0">
              <a:solidFill>
                <a:srgbClr val="000000"/>
              </a:solidFill>
              <a:latin typeface="Consolas" panose="020B0609020204030204" charset="0"/>
              <a:cs typeface="Consolas" panose="020B0609020204030204" charset="0"/>
            </a:endParaRPr>
          </a:p>
          <a:p>
            <a:pPr indent="0"/>
            <a:r>
              <a:rPr lang="en-US" sz="1400" b="1">
                <a:solidFill>
                  <a:srgbClr val="7F0055"/>
                </a:solidFill>
                <a:latin typeface="Consolas" panose="020B0609020204030204" charset="0"/>
                <a:cs typeface="Consolas" panose="020B0609020204030204" charset="0"/>
              </a:rPr>
              <a:t>         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itoj</a:t>
            </a:r>
            <a:r>
              <a:rPr lang="en-US" sz="1400" b="0">
                <a:solidFill>
                  <a:srgbClr val="000000"/>
                </a:solidFill>
                <a:latin typeface="Consolas" panose="020B0609020204030204" charset="0"/>
                <a:cs typeface="Consolas" panose="020B0609020204030204" charset="0"/>
              </a:rPr>
              <a:t> = </a:t>
            </a:r>
            <a:r>
              <a:rPr lang="en-US" sz="1400" b="1">
                <a:solidFill>
                  <a:srgbClr val="7F0055"/>
                </a:solidFill>
                <a:latin typeface="Consolas" panose="020B0609020204030204" charset="0"/>
                <a:cs typeface="Consolas" panose="020B0609020204030204" charset="0"/>
              </a:rPr>
              <a:t>new</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该数组存的是最短路径</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&lt; </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&lt; </a:t>
            </a:r>
            <a:r>
              <a:rPr lang="en-US" sz="1400" b="0">
                <a:solidFill>
                  <a:srgbClr val="0000C0"/>
                </a:solidFill>
                <a:latin typeface="Consolas" panose="020B0609020204030204" charset="0"/>
                <a:cs typeface="Consolas" panose="020B0609020204030204" charset="0"/>
              </a:rPr>
              <a:t>n</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System.</a:t>
            </a:r>
            <a:r>
              <a:rPr lang="en-US" sz="1400" b="1" i="1">
                <a:solidFill>
                  <a:srgbClr val="0000C0"/>
                </a:solidFill>
                <a:latin typeface="Consolas" panose="020B0609020204030204" charset="0"/>
                <a:cs typeface="Consolas" panose="020B0609020204030204" charset="0"/>
              </a:rPr>
              <a:t>out</a:t>
            </a:r>
            <a:r>
              <a:rPr lang="en-US" sz="1400" b="0">
                <a:solidFill>
                  <a:srgbClr val="000000"/>
                </a:solidFill>
                <a:latin typeface="Consolas" panose="020B0609020204030204" charset="0"/>
                <a:cs typeface="Consolas" panose="020B0609020204030204" charset="0"/>
              </a:rPr>
              <a:t>.print(</a:t>
            </a:r>
            <a:r>
              <a:rPr lang="en-US" sz="1400" b="0">
                <a:solidFill>
                  <a:srgbClr val="0000C0"/>
                </a:solidFill>
                <a:latin typeface="Consolas" panose="020B0609020204030204" charset="0"/>
                <a:cs typeface="Consolas" panose="020B0609020204030204" charset="0"/>
              </a:rPr>
              <a:t>graph</a:t>
            </a:r>
            <a:r>
              <a:rPr lang="en-US" sz="1400" b="0">
                <a:solidFill>
                  <a:srgbClr val="000000"/>
                </a:solidFill>
                <a:latin typeface="Consolas" panose="020B0609020204030204" charset="0"/>
                <a:cs typeface="Consolas" panose="020B0609020204030204" charset="0"/>
              </a:rPr>
              <a:t>.getvertices(</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 </a:t>
            </a:r>
            <a:r>
              <a:rPr lang="en-US" sz="1400" b="0">
                <a:solidFill>
                  <a:srgbClr val="2A00FF"/>
                </a:solidFill>
                <a:latin typeface="Consolas" panose="020B0609020204030204" charset="0"/>
                <a:cs typeface="Consolas" panose="020B0609020204030204" charset="0"/>
              </a:rPr>
              <a:t>"—&gt;"</a:t>
            </a:r>
            <a:r>
              <a:rPr lang="en-US" sz="1400" b="0">
                <a:solidFill>
                  <a:srgbClr val="000000"/>
                </a:solidFill>
                <a:latin typeface="Consolas" panose="020B0609020204030204" charset="0"/>
                <a:cs typeface="Consolas" panose="020B0609020204030204" charset="0"/>
              </a:rPr>
              <a:t> + </a:t>
            </a:r>
            <a:r>
              <a:rPr lang="en-US" sz="1400" b="0">
                <a:solidFill>
                  <a:srgbClr val="0000C0"/>
                </a:solidFill>
                <a:latin typeface="Consolas" panose="020B0609020204030204" charset="0"/>
                <a:cs typeface="Consolas" panose="020B0609020204030204" charset="0"/>
              </a:rPr>
              <a:t>graph</a:t>
            </a:r>
            <a:r>
              <a:rPr lang="en-US" sz="1400" b="0">
                <a:solidFill>
                  <a:srgbClr val="000000"/>
                </a:solidFill>
                <a:latin typeface="Consolas" panose="020B0609020204030204" charset="0"/>
                <a:cs typeface="Consolas" panose="020B0609020204030204" charset="0"/>
              </a:rPr>
              <a:t>.getvertices(</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a:t>
            </a:r>
            <a:r>
              <a:rPr lang="en-US" sz="1400" b="0">
                <a:solidFill>
                  <a:srgbClr val="2A00FF"/>
                </a:solidFill>
                <a:latin typeface="Consolas" panose="020B0609020204030204" charset="0"/>
                <a:cs typeface="Consolas" panose="020B0609020204030204" charset="0"/>
              </a:rPr>
              <a:t>"</a:t>
            </a:r>
            <a:r>
              <a:rPr lang="zh-CN" sz="1400" b="0">
                <a:solidFill>
                  <a:srgbClr val="2A00FF"/>
                </a:solidFill>
                <a:latin typeface="Consolas" panose="020B0609020204030204" charset="0"/>
                <a:cs typeface="Consolas" panose="020B0609020204030204" charset="0"/>
              </a:rPr>
              <a:t>路径</a:t>
            </a:r>
            <a:r>
              <a:rPr lang="en-US" sz="1400" b="0">
                <a:solidFill>
                  <a:srgbClr val="2A00FF"/>
                </a:solidFill>
                <a:latin typeface="Consolas" panose="020B0609020204030204" charset="0"/>
                <a:cs typeface="Consolas" panose="020B0609020204030204" charset="0"/>
              </a:rPr>
              <a:t>:"</a:t>
            </a:r>
            <a:r>
              <a:rPr lang="en-US" sz="1400" b="0">
                <a:solidFill>
                  <a:srgbClr val="000000"/>
                </a:solidFill>
                <a:latin typeface="Consolas" panose="020B0609020204030204" charset="0"/>
                <a:cs typeface="Consolas" panose="020B0609020204030204" charset="0"/>
              </a:rPr>
              <a:t>);</a:t>
            </a:r>
            <a:endParaRPr lang="en-US" sz="1400" b="0">
              <a:solidFill>
                <a:srgbClr val="000000"/>
              </a:solidFill>
              <a:latin typeface="Consolas" panose="020B0609020204030204" charset="0"/>
              <a:cs typeface="Consolas" panose="020B0609020204030204" charset="0"/>
            </a:endParaRPr>
          </a:p>
          <a:p>
            <a:pPr indent="0"/>
            <a:r>
              <a:rPr lang="en-US" sz="1400" b="0">
                <a:solidFill>
                  <a:srgbClr val="000000"/>
                </a:solidFill>
                <a:latin typeface="Consolas" panose="020B0609020204030204" charset="0"/>
                <a:cs typeface="Consolas" panose="020B0609020204030204" charset="0"/>
              </a:rPr>
              <a:t>                        </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城市的名字用</a:t>
            </a:r>
            <a:r>
              <a:rPr lang="en-US" sz="1400" b="0" u="sng">
                <a:solidFill>
                  <a:srgbClr val="3F7F5F"/>
                </a:solidFill>
                <a:latin typeface="Consolas" panose="020B0609020204030204" charset="0"/>
                <a:cs typeface="Consolas" panose="020B0609020204030204" charset="0"/>
              </a:rPr>
              <a:t>getvertices</a:t>
            </a:r>
            <a:r>
              <a:rPr lang="en-US" sz="1400" b="0">
                <a:solidFill>
                  <a:srgbClr val="3F7F5F"/>
                </a:solidFill>
                <a:latin typeface="Consolas" panose="020B0609020204030204" charset="0"/>
                <a:cs typeface="Consolas" panose="020B0609020204030204" charset="0"/>
              </a:rPr>
              <a:t>()</a:t>
            </a:r>
            <a:r>
              <a:rPr lang="zh-CN" sz="1400" b="0">
                <a:solidFill>
                  <a:srgbClr val="3F7F5F"/>
                </a:solidFill>
                <a:latin typeface="Consolas" panose="020B0609020204030204" charset="0"/>
                <a:cs typeface="Consolas" panose="020B0609020204030204" charset="0"/>
              </a:rPr>
              <a:t>获取</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pos</a:t>
            </a:r>
            <a:r>
              <a:rPr lang="en-US" sz="1400" b="0">
                <a:solidFill>
                  <a:srgbClr val="000000"/>
                </a:solidFill>
                <a:latin typeface="Consolas" panose="020B0609020204030204" charset="0"/>
                <a:cs typeface="Consolas" panose="020B0609020204030204" charset="0"/>
              </a:rPr>
              <a:t> = rfindpath(</a:t>
            </a:r>
            <a:r>
              <a:rPr lang="en-US" sz="1400" b="0">
                <a:solidFill>
                  <a:srgbClr val="6A3E3E"/>
                </a:solidFill>
                <a:latin typeface="Consolas" panose="020B0609020204030204" charset="0"/>
                <a:cs typeface="Consolas" panose="020B0609020204030204" charset="0"/>
              </a:rPr>
              <a:t>itoj</a:t>
            </a:r>
            <a:r>
              <a:rPr lang="en-US" sz="1400" b="0">
                <a:solidFill>
                  <a:srgbClr val="000000"/>
                </a:solidFill>
                <a:latin typeface="Consolas" panose="020B0609020204030204" charset="0"/>
                <a:cs typeface="Consolas" panose="020B0609020204030204" charset="0"/>
              </a:rPr>
              <a:t>, 0, </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path</a:t>
            </a:r>
            <a:r>
              <a:rPr lang="en-US" sz="1400" b="0">
                <a:solidFill>
                  <a:srgbClr val="000000"/>
                </a:solidFill>
                <a:latin typeface="Consolas" panose="020B0609020204030204" charset="0"/>
                <a:cs typeface="Consolas" panose="020B0609020204030204" charset="0"/>
              </a:rPr>
              <a:t>);</a:t>
            </a:r>
            <a:endParaRPr lang="en-US" sz="1400" b="0">
              <a:solidFill>
                <a:srgbClr val="000000"/>
              </a:solidFill>
              <a:latin typeface="Consolas" panose="020B0609020204030204" charset="0"/>
              <a:cs typeface="Consolas" panose="020B0609020204030204" charset="0"/>
            </a:endParaRPr>
          </a:p>
          <a:p>
            <a:pPr indent="0"/>
            <a:r>
              <a:rPr lang="en-US" sz="1400" b="0">
                <a:solidFill>
                  <a:srgbClr val="000000"/>
                </a:solidFill>
                <a:latin typeface="Consolas" panose="020B0609020204030204" charset="0"/>
                <a:cs typeface="Consolas" panose="020B0609020204030204" charset="0"/>
              </a:rPr>
              <a:t>                         </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调用递归算法 </a:t>
            </a:r>
            <a:r>
              <a:rPr lang="en-US" sz="1400" b="0" u="sng">
                <a:solidFill>
                  <a:srgbClr val="3F7F5F"/>
                </a:solidFill>
                <a:latin typeface="Consolas" panose="020B0609020204030204" charset="0"/>
                <a:cs typeface="Consolas" panose="020B0609020204030204" charset="0"/>
              </a:rPr>
              <a:t>itoj</a:t>
            </a:r>
            <a:r>
              <a:rPr lang="en-US" sz="1400" b="0">
                <a:solidFill>
                  <a:srgbClr val="3F7F5F"/>
                </a:solidFill>
                <a:latin typeface="Consolas" panose="020B0609020204030204" charset="0"/>
                <a:cs typeface="Consolas" panose="020B0609020204030204" charset="0"/>
              </a:rPr>
              <a:t>:</a:t>
            </a:r>
            <a:r>
              <a:rPr lang="zh-CN" sz="1400" b="0">
                <a:solidFill>
                  <a:srgbClr val="3F7F5F"/>
                </a:solidFill>
                <a:latin typeface="Consolas" panose="020B0609020204030204" charset="0"/>
                <a:cs typeface="Consolas" panose="020B0609020204030204" charset="0"/>
              </a:rPr>
              <a:t>存的最短路径，</a:t>
            </a:r>
            <a:r>
              <a:rPr lang="en-US" sz="1400" b="0">
                <a:solidFill>
                  <a:srgbClr val="3F7F5F"/>
                </a:solidFill>
                <a:latin typeface="Consolas" panose="020B0609020204030204" charset="0"/>
                <a:cs typeface="Consolas" panose="020B0609020204030204" charset="0"/>
              </a:rPr>
              <a:t>0:</a:t>
            </a:r>
            <a:r>
              <a:rPr lang="zh-CN" altLang="en-US" sz="1400" b="0">
                <a:solidFill>
                  <a:srgbClr val="3F7F5F"/>
                </a:solidFill>
                <a:latin typeface="Consolas" panose="020B0609020204030204" charset="0"/>
                <a:cs typeface="Consolas" panose="020B0609020204030204" charset="0"/>
              </a:rPr>
              <a:t>是当前存到</a:t>
            </a:r>
            <a:r>
              <a:rPr lang="zh-CN" altLang="en-US" sz="1400" b="0">
                <a:solidFill>
                  <a:srgbClr val="3F7F5F"/>
                </a:solidFill>
                <a:latin typeface="Consolas" panose="020B0609020204030204" charset="0"/>
                <a:cs typeface="Consolas" panose="020B0609020204030204" charset="0"/>
              </a:rPr>
              <a:t>数组的第几个数</a:t>
            </a:r>
            <a:r>
              <a:rPr lang="zh-CN" sz="1400" b="0">
                <a:solidFill>
                  <a:srgbClr val="3F7F5F"/>
                </a:solidFill>
                <a:latin typeface="Consolas" panose="020B0609020204030204" charset="0"/>
                <a:cs typeface="Consolas" panose="020B0609020204030204" charset="0"/>
              </a:rPr>
              <a:t>，</a:t>
            </a:r>
            <a:r>
              <a:rPr lang="en-US" sz="1400" b="0">
                <a:solidFill>
                  <a:srgbClr val="3F7F5F"/>
                </a:solidFill>
                <a:latin typeface="Consolas" panose="020B0609020204030204" charset="0"/>
                <a:cs typeface="Consolas" panose="020B0609020204030204" charset="0"/>
              </a:rPr>
              <a:t>i:</a:t>
            </a:r>
            <a:r>
              <a:rPr lang="zh-CN" sz="1400" b="0">
                <a:solidFill>
                  <a:srgbClr val="3F7F5F"/>
                </a:solidFill>
                <a:latin typeface="Consolas" panose="020B0609020204030204" charset="0"/>
                <a:cs typeface="Consolas" panose="020B0609020204030204" charset="0"/>
              </a:rPr>
              <a:t>起始城市，</a:t>
            </a:r>
            <a:r>
              <a:rPr lang="en-US" sz="1400" b="0">
                <a:solidFill>
                  <a:srgbClr val="3F7F5F"/>
                </a:solidFill>
                <a:latin typeface="Consolas" panose="020B0609020204030204" charset="0"/>
                <a:cs typeface="Consolas" panose="020B0609020204030204" charset="0"/>
              </a:rPr>
              <a:t>j:</a:t>
            </a:r>
            <a:r>
              <a:rPr lang="zh-CN" sz="1400" b="0">
                <a:solidFill>
                  <a:srgbClr val="3F7F5F"/>
                </a:solidFill>
                <a:latin typeface="Consolas" panose="020B0609020204030204" charset="0"/>
                <a:cs typeface="Consolas" panose="020B0609020204030204" charset="0"/>
              </a:rPr>
              <a:t>结束城市</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for</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int</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 0; </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&lt; </a:t>
            </a:r>
            <a:r>
              <a:rPr lang="en-US" sz="1400" b="0">
                <a:solidFill>
                  <a:srgbClr val="6A3E3E"/>
                </a:solidFill>
                <a:latin typeface="Consolas" panose="020B0609020204030204" charset="0"/>
                <a:cs typeface="Consolas" panose="020B0609020204030204" charset="0"/>
              </a:rPr>
              <a:t>pos</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				</a:t>
            </a:r>
            <a:r>
              <a:rPr lang="en-US" sz="1400" b="1">
                <a:solidFill>
                  <a:srgbClr val="7F0055"/>
                </a:solidFill>
                <a:latin typeface="Consolas" panose="020B0609020204030204" charset="0"/>
                <a:cs typeface="Consolas" panose="020B0609020204030204" charset="0"/>
              </a:rPr>
              <a:t>if</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pos</a:t>
            </a:r>
            <a:r>
              <a:rPr lang="en-US" sz="1400" b="0">
                <a:solidFill>
                  <a:srgbClr val="000000"/>
                </a:solidFill>
                <a:latin typeface="Consolas" panose="020B0609020204030204" charset="0"/>
                <a:cs typeface="Consolas" panose="020B0609020204030204" charset="0"/>
              </a:rPr>
              <a:t> - 1)					System.</a:t>
            </a:r>
            <a:r>
              <a:rPr lang="en-US" sz="1400" b="1" i="1">
                <a:solidFill>
                  <a:srgbClr val="0000C0"/>
                </a:solidFill>
                <a:latin typeface="Consolas" panose="020B0609020204030204" charset="0"/>
                <a:cs typeface="Consolas" panose="020B0609020204030204" charset="0"/>
              </a:rPr>
              <a:t>out</a:t>
            </a:r>
            <a:r>
              <a:rPr lang="en-US" sz="1400" b="0">
                <a:solidFill>
                  <a:srgbClr val="000000"/>
                </a:solidFill>
                <a:latin typeface="Consolas" panose="020B0609020204030204" charset="0"/>
                <a:cs typeface="Consolas" panose="020B0609020204030204" charset="0"/>
              </a:rPr>
              <a:t>.print(</a:t>
            </a:r>
            <a:r>
              <a:rPr lang="en-US" sz="1400" b="0">
                <a:solidFill>
                  <a:srgbClr val="0000C0"/>
                </a:solidFill>
                <a:latin typeface="Consolas" panose="020B0609020204030204" charset="0"/>
                <a:cs typeface="Consolas" panose="020B0609020204030204" charset="0"/>
              </a:rPr>
              <a:t>graph</a:t>
            </a:r>
            <a:r>
              <a:rPr lang="en-US" sz="1400" b="0">
                <a:solidFill>
                  <a:srgbClr val="000000"/>
                </a:solidFill>
                <a:latin typeface="Consolas" panose="020B0609020204030204" charset="0"/>
                <a:cs typeface="Consolas" panose="020B0609020204030204" charset="0"/>
              </a:rPr>
              <a:t>.getvertices(</a:t>
            </a:r>
            <a:r>
              <a:rPr lang="en-US" sz="1400" b="0">
                <a:solidFill>
                  <a:srgbClr val="6A3E3E"/>
                </a:solidFill>
                <a:latin typeface="Consolas" panose="020B0609020204030204" charset="0"/>
                <a:cs typeface="Consolas" panose="020B0609020204030204" charset="0"/>
              </a:rPr>
              <a:t>itoj</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 </a:t>
            </a:r>
            <a:r>
              <a:rPr lang="en-US" sz="1400" b="0">
                <a:solidFill>
                  <a:srgbClr val="2A00FF"/>
                </a:solidFill>
                <a:latin typeface="Consolas" panose="020B0609020204030204" charset="0"/>
                <a:cs typeface="Consolas" panose="020B0609020204030204" charset="0"/>
              </a:rPr>
              <a:t>"-&gt;"</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else</a:t>
            </a:r>
            <a:r>
              <a:rPr lang="en-US" sz="1400" b="0">
                <a:solidFill>
                  <a:srgbClr val="000000"/>
                </a:solidFill>
                <a:latin typeface="Consolas" panose="020B0609020204030204" charset="0"/>
                <a:cs typeface="Consolas" panose="020B0609020204030204" charset="0"/>
              </a:rPr>
              <a:t>					System.</a:t>
            </a:r>
            <a:r>
              <a:rPr lang="en-US" sz="1400" b="1" i="1">
                <a:solidFill>
                  <a:srgbClr val="0000C0"/>
                </a:solidFill>
                <a:latin typeface="Consolas" panose="020B0609020204030204" charset="0"/>
                <a:cs typeface="Consolas" panose="020B0609020204030204" charset="0"/>
              </a:rPr>
              <a:t>out</a:t>
            </a:r>
            <a:r>
              <a:rPr lang="en-US" sz="1400" b="0">
                <a:solidFill>
                  <a:srgbClr val="000000"/>
                </a:solidFill>
                <a:latin typeface="Consolas" panose="020B0609020204030204" charset="0"/>
                <a:cs typeface="Consolas" panose="020B0609020204030204" charset="0"/>
              </a:rPr>
              <a:t>.print(</a:t>
            </a:r>
            <a:r>
              <a:rPr lang="en-US" sz="1400" b="0">
                <a:solidFill>
                  <a:srgbClr val="0000C0"/>
                </a:solidFill>
                <a:latin typeface="Consolas" panose="020B0609020204030204" charset="0"/>
                <a:cs typeface="Consolas" panose="020B0609020204030204" charset="0"/>
              </a:rPr>
              <a:t>graph</a:t>
            </a:r>
            <a:r>
              <a:rPr lang="en-US" sz="1400" b="0">
                <a:solidFill>
                  <a:srgbClr val="000000"/>
                </a:solidFill>
                <a:latin typeface="Consolas" panose="020B0609020204030204" charset="0"/>
                <a:cs typeface="Consolas" panose="020B0609020204030204" charset="0"/>
              </a:rPr>
              <a:t>.getvertices(</a:t>
            </a:r>
            <a:r>
              <a:rPr lang="en-US" sz="1400" b="0">
                <a:solidFill>
                  <a:srgbClr val="6A3E3E"/>
                </a:solidFill>
                <a:latin typeface="Consolas" panose="020B0609020204030204" charset="0"/>
                <a:cs typeface="Consolas" panose="020B0609020204030204" charset="0"/>
              </a:rPr>
              <a:t>itoj</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k</a:t>
            </a:r>
            <a:r>
              <a:rPr lang="en-US" sz="1400" b="0">
                <a:solidFill>
                  <a:srgbClr val="000000"/>
                </a:solidFill>
                <a:latin typeface="Consolas" panose="020B0609020204030204" charset="0"/>
                <a:cs typeface="Consolas" panose="020B0609020204030204" charset="0"/>
              </a:rPr>
              <a:t>]));			} </a:t>
            </a:r>
            <a:r>
              <a:rPr lang="en-US" sz="1400" b="0">
                <a:solidFill>
                  <a:srgbClr val="3F7F5F"/>
                </a:solidFill>
                <a:latin typeface="Consolas" panose="020B0609020204030204" charset="0"/>
                <a:cs typeface="Consolas" panose="020B0609020204030204" charset="0"/>
              </a:rPr>
              <a:t>// </a:t>
            </a:r>
            <a:r>
              <a:rPr lang="zh-CN" sz="1400" b="0">
                <a:solidFill>
                  <a:srgbClr val="3F7F5F"/>
                </a:solidFill>
                <a:latin typeface="Consolas" panose="020B0609020204030204" charset="0"/>
                <a:cs typeface="Consolas" panose="020B0609020204030204" charset="0"/>
              </a:rPr>
              <a:t>输出最短路径</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if</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op</a:t>
            </a:r>
            <a:r>
              <a:rPr lang="en-US" sz="1400" b="0">
                <a:solidFill>
                  <a:srgbClr val="000000"/>
                </a:solidFill>
                <a:latin typeface="Consolas" panose="020B0609020204030204" charset="0"/>
                <a:cs typeface="Consolas" panose="020B0609020204030204" charset="0"/>
              </a:rPr>
              <a:t> == 1)				System.</a:t>
            </a:r>
            <a:r>
              <a:rPr lang="en-US" sz="1400" b="1" i="1">
                <a:solidFill>
                  <a:srgbClr val="0000C0"/>
                </a:solidFill>
                <a:latin typeface="Consolas" panose="020B0609020204030204" charset="0"/>
                <a:cs typeface="Consolas" panose="020B0609020204030204" charset="0"/>
              </a:rPr>
              <a:t>out</a:t>
            </a:r>
            <a:r>
              <a:rPr lang="en-US" sz="1400" b="0">
                <a:solidFill>
                  <a:srgbClr val="000000"/>
                </a:solidFill>
                <a:latin typeface="Consolas" panose="020B0609020204030204" charset="0"/>
                <a:cs typeface="Consolas" panose="020B0609020204030204" charset="0"/>
              </a:rPr>
              <a:t>.println(</a:t>
            </a:r>
            <a:r>
              <a:rPr lang="en-US" sz="1400" b="0">
                <a:solidFill>
                  <a:srgbClr val="2A00FF"/>
                </a:solidFill>
                <a:latin typeface="Consolas" panose="020B0609020204030204" charset="0"/>
                <a:cs typeface="Consolas" panose="020B0609020204030204" charset="0"/>
              </a:rPr>
              <a:t>"  </a:t>
            </a:r>
            <a:r>
              <a:rPr lang="zh-CN" sz="1400" b="0">
                <a:solidFill>
                  <a:srgbClr val="2A00FF"/>
                </a:solidFill>
                <a:latin typeface="Consolas" panose="020B0609020204030204" charset="0"/>
                <a:cs typeface="Consolas" panose="020B0609020204030204" charset="0"/>
              </a:rPr>
              <a:t>最短路径距离：</a:t>
            </a:r>
            <a:r>
              <a:rPr lang="en-US" sz="1400" b="0">
                <a:solidFill>
                  <a:srgbClr val="2A00FF"/>
                </a:solidFill>
                <a:latin typeface="Consolas" panose="020B0609020204030204" charset="0"/>
                <a:cs typeface="Consolas" panose="020B0609020204030204" charset="0"/>
              </a:rPr>
              <a:t>"</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else</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if</a:t>
            </a:r>
            <a:r>
              <a:rPr lang="en-US" sz="1400" b="0">
                <a:solidFill>
                  <a:srgbClr val="000000"/>
                </a:solidFill>
                <a:latin typeface="Consolas" panose="020B0609020204030204" charset="0"/>
                <a:cs typeface="Consolas" panose="020B0609020204030204" charset="0"/>
              </a:rPr>
              <a:t> (</a:t>
            </a:r>
            <a:r>
              <a:rPr lang="en-US" sz="1400" b="0">
                <a:solidFill>
                  <a:srgbClr val="6A3E3E"/>
                </a:solidFill>
                <a:latin typeface="Consolas" panose="020B0609020204030204" charset="0"/>
                <a:cs typeface="Consolas" panose="020B0609020204030204" charset="0"/>
              </a:rPr>
              <a:t>op</a:t>
            </a:r>
            <a:r>
              <a:rPr lang="en-US" sz="1400" b="0">
                <a:solidFill>
                  <a:srgbClr val="000000"/>
                </a:solidFill>
                <a:latin typeface="Consolas" panose="020B0609020204030204" charset="0"/>
                <a:cs typeface="Consolas" panose="020B0609020204030204" charset="0"/>
              </a:rPr>
              <a:t> == 2)				System.</a:t>
            </a:r>
            <a:r>
              <a:rPr lang="en-US" sz="1400" b="1" i="1">
                <a:solidFill>
                  <a:srgbClr val="0000C0"/>
                </a:solidFill>
                <a:latin typeface="Consolas" panose="020B0609020204030204" charset="0"/>
                <a:cs typeface="Consolas" panose="020B0609020204030204" charset="0"/>
              </a:rPr>
              <a:t>out</a:t>
            </a:r>
            <a:r>
              <a:rPr lang="en-US" sz="1400" b="0">
                <a:solidFill>
                  <a:srgbClr val="000000"/>
                </a:solidFill>
                <a:latin typeface="Consolas" panose="020B0609020204030204" charset="0"/>
                <a:cs typeface="Consolas" panose="020B0609020204030204" charset="0"/>
              </a:rPr>
              <a:t>.println(</a:t>
            </a:r>
            <a:r>
              <a:rPr lang="en-US" sz="1400" b="0">
                <a:solidFill>
                  <a:srgbClr val="2A00FF"/>
                </a:solidFill>
                <a:latin typeface="Consolas" panose="020B0609020204030204" charset="0"/>
                <a:cs typeface="Consolas" panose="020B0609020204030204" charset="0"/>
              </a:rPr>
              <a:t>"  </a:t>
            </a:r>
            <a:r>
              <a:rPr lang="zh-CN" sz="1400" b="0">
                <a:solidFill>
                  <a:srgbClr val="2A00FF"/>
                </a:solidFill>
                <a:latin typeface="Consolas" panose="020B0609020204030204" charset="0"/>
                <a:cs typeface="Consolas" panose="020B0609020204030204" charset="0"/>
              </a:rPr>
              <a:t>最低花费：</a:t>
            </a:r>
            <a:r>
              <a:rPr lang="en-US" sz="1400" b="0">
                <a:solidFill>
                  <a:srgbClr val="2A00FF"/>
                </a:solidFill>
                <a:latin typeface="Consolas" panose="020B0609020204030204" charset="0"/>
                <a:cs typeface="Consolas" panose="020B0609020204030204" charset="0"/>
              </a:rPr>
              <a:t>"</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a:t>
            </a:r>
            <a:r>
              <a:rPr lang="en-US" sz="1400" b="1">
                <a:solidFill>
                  <a:srgbClr val="7F0055"/>
                </a:solidFill>
                <a:latin typeface="Consolas" panose="020B0609020204030204" charset="0"/>
                <a:cs typeface="Consolas" panose="020B0609020204030204" charset="0"/>
              </a:rPr>
              <a:t>else</a:t>
            </a:r>
            <a:r>
              <a:rPr lang="en-US" sz="1400" b="0">
                <a:solidFill>
                  <a:srgbClr val="000000"/>
                </a:solidFill>
                <a:latin typeface="Consolas" panose="020B0609020204030204" charset="0"/>
                <a:cs typeface="Consolas" panose="020B0609020204030204" charset="0"/>
              </a:rPr>
              <a:t>				System.</a:t>
            </a:r>
            <a:r>
              <a:rPr lang="en-US" sz="1400" b="1" i="1">
                <a:solidFill>
                  <a:srgbClr val="0000C0"/>
                </a:solidFill>
                <a:latin typeface="Consolas" panose="020B0609020204030204" charset="0"/>
                <a:cs typeface="Consolas" panose="020B0609020204030204" charset="0"/>
              </a:rPr>
              <a:t>out</a:t>
            </a:r>
            <a:r>
              <a:rPr lang="en-US" sz="1400" b="0">
                <a:solidFill>
                  <a:srgbClr val="000000"/>
                </a:solidFill>
                <a:latin typeface="Consolas" panose="020B0609020204030204" charset="0"/>
                <a:cs typeface="Consolas" panose="020B0609020204030204" charset="0"/>
              </a:rPr>
              <a:t>.println(</a:t>
            </a:r>
            <a:r>
              <a:rPr lang="en-US" sz="1400" b="0">
                <a:solidFill>
                  <a:srgbClr val="2A00FF"/>
                </a:solidFill>
                <a:latin typeface="Consolas" panose="020B0609020204030204" charset="0"/>
                <a:cs typeface="Consolas" panose="020B0609020204030204" charset="0"/>
              </a:rPr>
              <a:t>"  </a:t>
            </a:r>
            <a:r>
              <a:rPr lang="zh-CN" sz="1400" b="0">
                <a:solidFill>
                  <a:srgbClr val="2A00FF"/>
                </a:solidFill>
                <a:latin typeface="Consolas" panose="020B0609020204030204" charset="0"/>
                <a:cs typeface="Consolas" panose="020B0609020204030204" charset="0"/>
              </a:rPr>
              <a:t>最少时间：</a:t>
            </a:r>
            <a:r>
              <a:rPr lang="en-US" sz="1400" b="0">
                <a:solidFill>
                  <a:srgbClr val="2A00FF"/>
                </a:solidFill>
                <a:latin typeface="Consolas" panose="020B0609020204030204" charset="0"/>
                <a:cs typeface="Consolas" panose="020B0609020204030204" charset="0"/>
              </a:rPr>
              <a:t>"</a:t>
            </a:r>
            <a:r>
              <a:rPr lang="en-US" sz="1400" b="0">
                <a:solidFill>
                  <a:srgbClr val="000000"/>
                </a:solidFill>
                <a:latin typeface="Consolas" panose="020B0609020204030204" charset="0"/>
                <a:cs typeface="Consolas" panose="020B0609020204030204" charset="0"/>
              </a:rPr>
              <a:t> + </a:t>
            </a:r>
            <a:r>
              <a:rPr lang="en-US" sz="1400" b="0">
                <a:solidFill>
                  <a:srgbClr val="6A3E3E"/>
                </a:solidFill>
                <a:latin typeface="Consolas" panose="020B0609020204030204" charset="0"/>
                <a:cs typeface="Consolas" panose="020B0609020204030204" charset="0"/>
              </a:rPr>
              <a:t>distance</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i</a:t>
            </a:r>
            <a:r>
              <a:rPr lang="en-US" sz="1400" b="0">
                <a:solidFill>
                  <a:srgbClr val="000000"/>
                </a:solidFill>
                <a:latin typeface="Consolas" panose="020B0609020204030204" charset="0"/>
                <a:cs typeface="Consolas" panose="020B0609020204030204" charset="0"/>
              </a:rPr>
              <a:t>][</a:t>
            </a:r>
            <a:r>
              <a:rPr lang="en-US" sz="1400" b="0">
                <a:solidFill>
                  <a:srgbClr val="6A3E3E"/>
                </a:solidFill>
                <a:latin typeface="Consolas" panose="020B0609020204030204" charset="0"/>
                <a:cs typeface="Consolas" panose="020B0609020204030204" charset="0"/>
              </a:rPr>
              <a:t>j</a:t>
            </a:r>
            <a:r>
              <a:rPr lang="en-US" sz="1400" b="0">
                <a:solidFill>
                  <a:srgbClr val="000000"/>
                </a:solidFill>
                <a:latin typeface="Consolas" panose="020B0609020204030204" charset="0"/>
                <a:cs typeface="Consolas" panose="020B0609020204030204" charset="0"/>
              </a:rPr>
              <a:t>]);		}	}}</a:t>
            </a:r>
            <a:endParaRPr lang="en-US" altLang="en-US" sz="1400" b="0">
              <a:solidFill>
                <a:srgbClr val="000000"/>
              </a:solidFill>
              <a:latin typeface="Consolas" panose="020B0609020204030204" charset="0"/>
              <a:cs typeface="Consolas" panose="020B0609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49605" y="490855"/>
            <a:ext cx="5989955" cy="521970"/>
          </a:xfrm>
          <a:prstGeom prst="rect">
            <a:avLst/>
          </a:prstGeom>
          <a:noFill/>
        </p:spPr>
        <p:txBody>
          <a:bodyPr wrap="square" rtlCol="0">
            <a:spAutoFit/>
          </a:bodyPr>
          <a:p>
            <a:r>
              <a:rPr lang="en-US" altLang="zh-CN" sz="2800" b="1" i="1">
                <a:latin typeface="幼圆" panose="02010509060101010101" pitchFamily="49" charset="-122"/>
                <a:ea typeface="幼圆" panose="02010509060101010101" pitchFamily="49" charset="-122"/>
                <a:cs typeface="幼圆" panose="02010509060101010101" pitchFamily="49" charset="-122"/>
              </a:rPr>
              <a:t>3.</a:t>
            </a:r>
            <a:r>
              <a:rPr sz="2800" b="1" i="1">
                <a:latin typeface="幼圆" panose="02010509060101010101" pitchFamily="49" charset="-122"/>
                <a:ea typeface="幼圆" panose="02010509060101010101" pitchFamily="49" charset="-122"/>
                <a:cs typeface="幼圆" panose="02010509060101010101" pitchFamily="49" charset="-122"/>
              </a:rPr>
              <a:t>rfindpath</a:t>
            </a:r>
            <a:r>
              <a:rPr lang="zh-CN" sz="2800" b="1" i="1">
                <a:latin typeface="幼圆" panose="02010509060101010101" pitchFamily="49" charset="-122"/>
                <a:ea typeface="幼圆" panose="02010509060101010101" pitchFamily="49" charset="-122"/>
                <a:cs typeface="幼圆" panose="02010509060101010101" pitchFamily="49" charset="-122"/>
              </a:rPr>
              <a:t>方</a:t>
            </a:r>
            <a:r>
              <a:rPr lang="zh-CN" altLang="en-US" sz="2800" b="1" i="1">
                <a:latin typeface="幼圆" panose="02010509060101010101" pitchFamily="49" charset="-122"/>
                <a:ea typeface="幼圆" panose="02010509060101010101" pitchFamily="49" charset="-122"/>
                <a:cs typeface="幼圆" panose="02010509060101010101" pitchFamily="49" charset="-122"/>
              </a:rPr>
              <a:t>法</a:t>
            </a:r>
            <a:endParaRPr lang="zh-CN" altLang="en-US" sz="2800" b="1" i="1">
              <a:latin typeface="幼圆" panose="02010509060101010101" pitchFamily="49" charset="-122"/>
              <a:ea typeface="幼圆" panose="02010509060101010101" pitchFamily="49" charset="-122"/>
              <a:cs typeface="幼圆" panose="02010509060101010101" pitchFamily="49" charset="-122"/>
            </a:endParaRPr>
          </a:p>
        </p:txBody>
      </p:sp>
      <p:sp>
        <p:nvSpPr>
          <p:cNvPr id="100" name="文本框 99"/>
          <p:cNvSpPr txBox="1"/>
          <p:nvPr/>
        </p:nvSpPr>
        <p:spPr>
          <a:xfrm>
            <a:off x="1101725" y="1550670"/>
            <a:ext cx="9989185" cy="3692525"/>
          </a:xfrm>
          <a:prstGeom prst="rect">
            <a:avLst/>
          </a:prstGeom>
          <a:noFill/>
          <a:ln w="9525">
            <a:noFill/>
          </a:ln>
        </p:spPr>
        <p:txBody>
          <a:bodyPr wrap="square">
            <a:spAutoFit/>
          </a:bodyPr>
          <a:p>
            <a:pPr indent="0"/>
            <a:r>
              <a:rPr lang="en-US" b="1">
                <a:solidFill>
                  <a:srgbClr val="7F0055"/>
                </a:solidFill>
                <a:latin typeface="Consolas" panose="020B0609020204030204" charset="0"/>
                <a:cs typeface="Consolas" panose="020B0609020204030204" charset="0"/>
              </a:rPr>
              <a:t>private</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int</a:t>
            </a:r>
            <a:r>
              <a:rPr lang="en-US" b="0">
                <a:solidFill>
                  <a:srgbClr val="000000"/>
                </a:solidFill>
                <a:latin typeface="Consolas" panose="020B0609020204030204" charset="0"/>
                <a:cs typeface="Consolas" panose="020B0609020204030204" charset="0"/>
              </a:rPr>
              <a:t> rfindpath(</a:t>
            </a:r>
            <a:r>
              <a:rPr lang="en-US" b="1">
                <a:solidFill>
                  <a:srgbClr val="7F0055"/>
                </a:solidFill>
                <a:latin typeface="Consolas" panose="020B0609020204030204" charset="0"/>
                <a:cs typeface="Consolas" panose="020B0609020204030204" charset="0"/>
              </a:rPr>
              <a:t>int</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itojpath</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int</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pos</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int</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i</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int</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j</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int</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path</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int</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k</a:t>
            </a:r>
            <a:r>
              <a:rPr lang="en-US" b="0">
                <a:solidFill>
                  <a:srgbClr val="000000"/>
                </a:solidFill>
                <a:latin typeface="Consolas" panose="020B0609020204030204" charset="0"/>
                <a:cs typeface="Consolas" panose="020B0609020204030204" charset="0"/>
              </a:rPr>
              <a:t> = </a:t>
            </a:r>
            <a:r>
              <a:rPr lang="en-US" b="0">
                <a:solidFill>
                  <a:srgbClr val="6A3E3E"/>
                </a:solidFill>
                <a:latin typeface="Consolas" panose="020B0609020204030204" charset="0"/>
                <a:cs typeface="Consolas" panose="020B0609020204030204" charset="0"/>
              </a:rPr>
              <a:t>path</a:t>
            </a:r>
            <a:r>
              <a:rPr lang="en-US" b="0">
                <a:solidFill>
                  <a:srgbClr val="000000"/>
                </a:solidFill>
                <a:latin typeface="Consolas" panose="020B0609020204030204" charset="0"/>
                <a:cs typeface="Consolas" panose="020B0609020204030204" charset="0"/>
              </a:rPr>
              <a:t>[</a:t>
            </a:r>
            <a:r>
              <a:rPr lang="en-US" b="0">
                <a:solidFill>
                  <a:srgbClr val="6A3E3E"/>
                </a:solidFill>
                <a:latin typeface="Consolas" panose="020B0609020204030204" charset="0"/>
                <a:cs typeface="Consolas" panose="020B0609020204030204" charset="0"/>
              </a:rPr>
              <a:t>i</a:t>
            </a:r>
            <a:r>
              <a:rPr lang="en-US" b="0">
                <a:solidFill>
                  <a:srgbClr val="000000"/>
                </a:solidFill>
                <a:latin typeface="Consolas" panose="020B0609020204030204" charset="0"/>
                <a:cs typeface="Consolas" panose="020B0609020204030204" charset="0"/>
              </a:rPr>
              <a:t>][</a:t>
            </a:r>
            <a:r>
              <a:rPr lang="en-US" b="0">
                <a:solidFill>
                  <a:srgbClr val="6A3E3E"/>
                </a:solidFill>
                <a:latin typeface="Consolas" panose="020B0609020204030204" charset="0"/>
                <a:cs typeface="Consolas" panose="020B0609020204030204" charset="0"/>
              </a:rPr>
              <a:t>j</a:t>
            </a:r>
            <a:r>
              <a:rPr lang="en-US" b="0">
                <a:solidFill>
                  <a:srgbClr val="000000"/>
                </a:solidFill>
                <a:latin typeface="Consolas" panose="020B0609020204030204" charset="0"/>
                <a:cs typeface="Consolas" panose="020B0609020204030204" charset="0"/>
              </a:rPr>
              <a:t>];</a:t>
            </a:r>
            <a:r>
              <a:rPr lang="en-US" b="0">
                <a:solidFill>
                  <a:srgbClr val="3F7F5F"/>
                </a:solidFill>
                <a:latin typeface="Consolas" panose="020B0609020204030204" charset="0"/>
                <a:cs typeface="Consolas" panose="020B0609020204030204" charset="0"/>
              </a:rPr>
              <a:t>//k就是i与j的中间城市</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if</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k</a:t>
            </a:r>
            <a:r>
              <a:rPr lang="en-US" b="0">
                <a:solidFill>
                  <a:srgbClr val="000000"/>
                </a:solidFill>
                <a:latin typeface="Consolas" panose="020B0609020204030204" charset="0"/>
                <a:cs typeface="Consolas" panose="020B0609020204030204" charset="0"/>
              </a:rPr>
              <a:t> == -1) {</a:t>
            </a:r>
            <a:r>
              <a:rPr lang="en-US" b="0">
                <a:solidFill>
                  <a:srgbClr val="3F7F5F"/>
                </a:solidFill>
                <a:latin typeface="Consolas" panose="020B0609020204030204" charset="0"/>
                <a:cs typeface="Consolas" panose="020B0609020204030204" charset="0"/>
              </a:rPr>
              <a:t>// -1</a:t>
            </a:r>
            <a:r>
              <a:rPr lang="zh-CN" b="0">
                <a:solidFill>
                  <a:srgbClr val="3F7F5F"/>
                </a:solidFill>
                <a:latin typeface="Consolas" panose="020B0609020204030204" charset="0"/>
                <a:cs typeface="Consolas" panose="020B0609020204030204" charset="0"/>
              </a:rPr>
              <a:t>时无中间城市</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itojpath</a:t>
            </a:r>
            <a:r>
              <a:rPr lang="en-US" b="0">
                <a:solidFill>
                  <a:srgbClr val="000000"/>
                </a:solidFill>
                <a:latin typeface="Consolas" panose="020B0609020204030204" charset="0"/>
                <a:cs typeface="Consolas" panose="020B0609020204030204" charset="0"/>
              </a:rPr>
              <a:t>[</a:t>
            </a:r>
            <a:r>
              <a:rPr lang="en-US" b="0">
                <a:solidFill>
                  <a:srgbClr val="6A3E3E"/>
                </a:solidFill>
                <a:latin typeface="Consolas" panose="020B0609020204030204" charset="0"/>
                <a:cs typeface="Consolas" panose="020B0609020204030204" charset="0"/>
              </a:rPr>
              <a:t>pos</a:t>
            </a:r>
            <a:r>
              <a:rPr lang="en-US" b="0">
                <a:solidFill>
                  <a:srgbClr val="000000"/>
                </a:solidFill>
                <a:latin typeface="Consolas" panose="020B0609020204030204" charset="0"/>
                <a:cs typeface="Consolas" panose="020B0609020204030204" charset="0"/>
              </a:rPr>
              <a:t>++] = </a:t>
            </a:r>
            <a:r>
              <a:rPr lang="en-US" b="0">
                <a:solidFill>
                  <a:srgbClr val="6A3E3E"/>
                </a:solidFill>
                <a:latin typeface="Consolas" panose="020B0609020204030204" charset="0"/>
                <a:cs typeface="Consolas" panose="020B0609020204030204" charset="0"/>
              </a:rPr>
              <a:t>i</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itojpath</a:t>
            </a:r>
            <a:r>
              <a:rPr lang="en-US" b="0">
                <a:solidFill>
                  <a:srgbClr val="000000"/>
                </a:solidFill>
                <a:latin typeface="Consolas" panose="020B0609020204030204" charset="0"/>
                <a:cs typeface="Consolas" panose="020B0609020204030204" charset="0"/>
              </a:rPr>
              <a:t>[</a:t>
            </a:r>
            <a:r>
              <a:rPr lang="en-US" b="0">
                <a:solidFill>
                  <a:srgbClr val="6A3E3E"/>
                </a:solidFill>
                <a:latin typeface="Consolas" panose="020B0609020204030204" charset="0"/>
                <a:cs typeface="Consolas" panose="020B0609020204030204" charset="0"/>
              </a:rPr>
              <a:t>pos</a:t>
            </a:r>
            <a:r>
              <a:rPr lang="en-US" b="0">
                <a:solidFill>
                  <a:srgbClr val="000000"/>
                </a:solidFill>
                <a:latin typeface="Consolas" panose="020B0609020204030204" charset="0"/>
                <a:cs typeface="Consolas" panose="020B0609020204030204" charset="0"/>
              </a:rPr>
              <a:t>++] = </a:t>
            </a:r>
            <a:r>
              <a:rPr lang="en-US" b="0">
                <a:solidFill>
                  <a:srgbClr val="6A3E3E"/>
                </a:solidFill>
                <a:latin typeface="Consolas" panose="020B0609020204030204" charset="0"/>
                <a:cs typeface="Consolas" panose="020B0609020204030204" charset="0"/>
              </a:rPr>
              <a:t>j</a:t>
            </a:r>
            <a:r>
              <a:rPr lang="en-US" b="0">
                <a:solidFill>
                  <a:srgbClr val="000000"/>
                </a:solidFill>
                <a:latin typeface="Consolas" panose="020B0609020204030204" charset="0"/>
                <a:cs typeface="Consolas" panose="020B0609020204030204" charset="0"/>
              </a:rPr>
              <a:t>;	} </a:t>
            </a:r>
            <a:endParaRPr lang="en-US" b="0">
              <a:solidFill>
                <a:srgbClr val="000000"/>
              </a:solidFill>
              <a:latin typeface="Consolas" panose="020B0609020204030204" charset="0"/>
              <a:cs typeface="Consolas" panose="020B0609020204030204" charset="0"/>
            </a:endParaRPr>
          </a:p>
          <a:p>
            <a:pPr indent="0"/>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else</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int</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mid</a:t>
            </a:r>
            <a:r>
              <a:rPr lang="en-US" b="0">
                <a:solidFill>
                  <a:srgbClr val="000000"/>
                </a:solidFill>
                <a:latin typeface="Consolas" panose="020B0609020204030204" charset="0"/>
                <a:cs typeface="Consolas" panose="020B0609020204030204" charset="0"/>
              </a:rPr>
              <a:t> = rfindpath(</a:t>
            </a:r>
            <a:r>
              <a:rPr lang="en-US" b="0">
                <a:solidFill>
                  <a:srgbClr val="6A3E3E"/>
                </a:solidFill>
                <a:latin typeface="Consolas" panose="020B0609020204030204" charset="0"/>
                <a:cs typeface="Consolas" panose="020B0609020204030204" charset="0"/>
              </a:rPr>
              <a:t>itojpath</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pos</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i</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k</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path</a:t>
            </a:r>
            <a:r>
              <a:rPr lang="en-US" b="0">
                <a:solidFill>
                  <a:srgbClr val="000000"/>
                </a:solidFill>
                <a:latin typeface="Consolas" panose="020B0609020204030204" charset="0"/>
                <a:cs typeface="Consolas" panose="020B0609020204030204" charset="0"/>
              </a:rPr>
              <a:t>);</a:t>
            </a:r>
            <a:r>
              <a:rPr lang="en-US" b="0">
                <a:solidFill>
                  <a:srgbClr val="3F7F5F"/>
                </a:solidFill>
                <a:latin typeface="Consolas" panose="020B0609020204030204" charset="0"/>
                <a:cs typeface="Consolas" panose="020B0609020204030204" charset="0"/>
              </a:rPr>
              <a:t>// </a:t>
            </a:r>
            <a:r>
              <a:rPr lang="zh-CN" b="0">
                <a:solidFill>
                  <a:srgbClr val="3F7F5F"/>
                </a:solidFill>
                <a:latin typeface="Consolas" panose="020B0609020204030204" charset="0"/>
                <a:cs typeface="Consolas" panose="020B0609020204030204" charset="0"/>
              </a:rPr>
              <a:t>二分思想</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pos</a:t>
            </a:r>
            <a:r>
              <a:rPr lang="en-US" b="0">
                <a:solidFill>
                  <a:srgbClr val="000000"/>
                </a:solidFill>
                <a:latin typeface="Consolas" panose="020B0609020204030204" charset="0"/>
                <a:cs typeface="Consolas" panose="020B0609020204030204" charset="0"/>
              </a:rPr>
              <a:t> = rfindpath(</a:t>
            </a:r>
            <a:r>
              <a:rPr lang="en-US" b="0">
                <a:solidFill>
                  <a:srgbClr val="6A3E3E"/>
                </a:solidFill>
                <a:latin typeface="Consolas" panose="020B0609020204030204" charset="0"/>
                <a:cs typeface="Consolas" panose="020B0609020204030204" charset="0"/>
              </a:rPr>
              <a:t>itojpath</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mid</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k</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j</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path</a:t>
            </a:r>
            <a:r>
              <a:rPr lang="en-US" b="0">
                <a:solidFill>
                  <a:srgbClr val="000000"/>
                </a:solidFill>
                <a:latin typeface="Consolas" panose="020B0609020204030204" charset="0"/>
                <a:cs typeface="Consolas" panose="020B0609020204030204" charset="0"/>
              </a:rPr>
              <a:t>);</a:t>
            </a:r>
            <a:r>
              <a:rPr lang="en-US" b="0">
                <a:solidFill>
                  <a:srgbClr val="3F7F5F"/>
                </a:solidFill>
                <a:latin typeface="Consolas" panose="020B0609020204030204" charset="0"/>
                <a:cs typeface="Consolas" panose="020B0609020204030204" charset="0"/>
              </a:rPr>
              <a:t>// --mid</a:t>
            </a:r>
            <a:r>
              <a:rPr lang="zh-CN" b="0">
                <a:solidFill>
                  <a:srgbClr val="3F7F5F"/>
                </a:solidFill>
                <a:latin typeface="Consolas" panose="020B0609020204030204" charset="0"/>
                <a:cs typeface="Consolas" panose="020B0609020204030204" charset="0"/>
              </a:rPr>
              <a:t>：覆盖前面的</a:t>
            </a:r>
            <a:r>
              <a:rPr lang="en-US" b="0">
                <a:solidFill>
                  <a:srgbClr val="3F7F5F"/>
                </a:solidFill>
                <a:latin typeface="Consolas" panose="020B0609020204030204" charset="0"/>
                <a:cs typeface="Consolas" panose="020B0609020204030204" charset="0"/>
              </a:rPr>
              <a:t>k</a:t>
            </a:r>
            <a:r>
              <a:rPr lang="zh-CN" b="0">
                <a:solidFill>
                  <a:srgbClr val="3F7F5F"/>
                </a:solidFill>
                <a:latin typeface="Consolas" panose="020B0609020204030204" charset="0"/>
                <a:cs typeface="Consolas" panose="020B0609020204030204" charset="0"/>
              </a:rPr>
              <a:t>，否则有重复的顶点</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return</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pos</a:t>
            </a:r>
            <a:r>
              <a:rPr lang="en-US" b="0">
                <a:solidFill>
                  <a:srgbClr val="000000"/>
                </a:solidFill>
                <a:latin typeface="Consolas" panose="020B0609020204030204" charset="0"/>
                <a:cs typeface="Consolas" panose="020B0609020204030204" charset="0"/>
              </a:rPr>
              <a:t>;}</a:t>
            </a:r>
            <a:endParaRPr lang="en-US" altLang="en-US" b="0">
              <a:solidFill>
                <a:srgbClr val="000000"/>
              </a:solidFill>
              <a:latin typeface="Consolas" panose="020B0609020204030204" charset="0"/>
              <a:cs typeface="Consolas" panose="020B0609020204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629285" y="461645"/>
            <a:ext cx="2403475" cy="645160"/>
          </a:xfrm>
          <a:prstGeom prst="rect">
            <a:avLst/>
          </a:prstGeom>
          <a:noFill/>
        </p:spPr>
        <p:txBody>
          <a:bodyPr wrap="square" rtlCol="0">
            <a:spAutoFit/>
          </a:bodyPr>
          <a:p>
            <a:r>
              <a:rPr lang="zh-CN" altLang="en-US" sz="3600" b="1">
                <a:latin typeface="宋体" panose="02010600030101010101" pitchFamily="2" charset="-122"/>
                <a:ea typeface="宋体" panose="02010600030101010101" pitchFamily="2" charset="-122"/>
                <a:cs typeface="幼圆" panose="02010509060101010101" pitchFamily="49" charset="-122"/>
              </a:rPr>
              <a:t>整体测试</a:t>
            </a:r>
            <a:endParaRPr lang="zh-CN" altLang="en-US" sz="3600" b="1">
              <a:latin typeface="宋体" panose="02010600030101010101" pitchFamily="2" charset="-122"/>
              <a:ea typeface="宋体" panose="02010600030101010101" pitchFamily="2" charset="-122"/>
              <a:cs typeface="幼圆" panose="02010509060101010101" pitchFamily="49" charset="-122"/>
            </a:endParaRPr>
          </a:p>
        </p:txBody>
      </p:sp>
      <p:sp>
        <p:nvSpPr>
          <p:cNvPr id="100" name="文本框 99"/>
          <p:cNvSpPr txBox="1"/>
          <p:nvPr/>
        </p:nvSpPr>
        <p:spPr>
          <a:xfrm>
            <a:off x="514985" y="1216660"/>
            <a:ext cx="11322050" cy="5285105"/>
          </a:xfrm>
          <a:prstGeom prst="rect">
            <a:avLst/>
          </a:prstGeom>
          <a:noFill/>
          <a:ln w="9525">
            <a:noFill/>
          </a:ln>
        </p:spPr>
        <p:txBody>
          <a:bodyPr>
            <a:noAutofit/>
          </a:bodyPr>
          <a:p>
            <a:pPr indent="0"/>
            <a:r>
              <a:rPr lang="en-US" b="1">
                <a:solidFill>
                  <a:srgbClr val="7F0055"/>
                </a:solidFill>
                <a:latin typeface="Consolas" panose="020B0609020204030204" charset="0"/>
                <a:cs typeface="Consolas" panose="020B0609020204030204" charset="0"/>
              </a:rPr>
              <a:t>public</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static</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void</a:t>
            </a:r>
            <a:r>
              <a:rPr lang="en-US" b="0">
                <a:solidFill>
                  <a:srgbClr val="000000"/>
                </a:solidFill>
                <a:latin typeface="Consolas" panose="020B0609020204030204" charset="0"/>
                <a:cs typeface="Consolas" panose="020B0609020204030204" charset="0"/>
              </a:rPr>
              <a:t> main(String[] </a:t>
            </a:r>
            <a:r>
              <a:rPr lang="en-US" b="0">
                <a:solidFill>
                  <a:srgbClr val="6A3E3E"/>
                </a:solidFill>
                <a:latin typeface="Consolas" panose="020B0609020204030204" charset="0"/>
                <a:cs typeface="Consolas" panose="020B0609020204030204" charset="0"/>
              </a:rPr>
              <a:t>args</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boolean</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flag</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true</a:t>
            </a:r>
            <a:r>
              <a:rPr lang="en-US" b="0">
                <a:solidFill>
                  <a:srgbClr val="000000"/>
                </a:solidFill>
                <a:latin typeface="Consolas" panose="020B0609020204030204" charset="0"/>
                <a:cs typeface="Consolas" panose="020B0609020204030204" charset="0"/>
              </a:rPr>
              <a:t>;	Scanner </a:t>
            </a:r>
            <a:r>
              <a:rPr lang="en-US" b="0" u="sng">
                <a:solidFill>
                  <a:srgbClr val="6A3E3E"/>
                </a:solidFill>
                <a:latin typeface="Consolas" panose="020B0609020204030204" charset="0"/>
                <a:cs typeface="Consolas" panose="020B0609020204030204" charset="0"/>
              </a:rPr>
              <a:t>sc</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new</a:t>
            </a:r>
            <a:r>
              <a:rPr lang="en-US" b="0">
                <a:solidFill>
                  <a:srgbClr val="000000"/>
                </a:solidFill>
                <a:latin typeface="Consolas" panose="020B0609020204030204" charset="0"/>
                <a:cs typeface="Consolas" panose="020B0609020204030204" charset="0"/>
              </a:rPr>
              <a:t> Scanner(System.</a:t>
            </a:r>
            <a:r>
              <a:rPr lang="en-US" b="1" i="1">
                <a:solidFill>
                  <a:srgbClr val="0000C0"/>
                </a:solidFill>
                <a:latin typeface="Consolas" panose="020B0609020204030204" charset="0"/>
                <a:cs typeface="Consolas" panose="020B0609020204030204" charset="0"/>
              </a:rPr>
              <a:t>in</a:t>
            </a:r>
            <a:r>
              <a:rPr lang="en-US" b="0">
                <a:solidFill>
                  <a:srgbClr val="000000"/>
                </a:solidFill>
                <a:latin typeface="Consolas" panose="020B0609020204030204" charset="0"/>
                <a:cs typeface="Consolas" panose="020B0609020204030204" charset="0"/>
              </a:rPr>
              <a:t>);	Character[] </a:t>
            </a:r>
            <a:r>
              <a:rPr lang="en-US" b="0">
                <a:solidFill>
                  <a:srgbClr val="6A3E3E"/>
                </a:solidFill>
                <a:latin typeface="Consolas" panose="020B0609020204030204" charset="0"/>
                <a:cs typeface="Consolas" panose="020B0609020204030204" charset="0"/>
              </a:rPr>
              <a:t>weightedData</a:t>
            </a:r>
            <a:r>
              <a:rPr lang="en-US" b="0">
                <a:solidFill>
                  <a:srgbClr val="000000"/>
                </a:solidFill>
                <a:latin typeface="Consolas" panose="020B0609020204030204" charset="0"/>
                <a:cs typeface="Consolas" panose="020B0609020204030204" charset="0"/>
              </a:rPr>
              <a:t> = { </a:t>
            </a:r>
            <a:r>
              <a:rPr lang="en-US" b="0">
                <a:solidFill>
                  <a:srgbClr val="2A00FF"/>
                </a:solidFill>
                <a:latin typeface="Consolas" panose="020B0609020204030204" charset="0"/>
                <a:cs typeface="Consolas" panose="020B0609020204030204" charset="0"/>
              </a:rPr>
              <a:t>'A'</a:t>
            </a:r>
            <a:r>
              <a:rPr lang="en-US" b="0">
                <a:solidFill>
                  <a:srgbClr val="000000"/>
                </a:solidFill>
                <a:latin typeface="Consolas" panose="020B0609020204030204" charset="0"/>
                <a:cs typeface="Consolas" panose="020B0609020204030204" charset="0"/>
              </a:rPr>
              <a:t>, </a:t>
            </a:r>
            <a:r>
              <a:rPr lang="en-US" b="0">
                <a:solidFill>
                  <a:srgbClr val="2A00FF"/>
                </a:solidFill>
                <a:latin typeface="Consolas" panose="020B0609020204030204" charset="0"/>
                <a:cs typeface="Consolas" panose="020B0609020204030204" charset="0"/>
              </a:rPr>
              <a:t>'B'</a:t>
            </a:r>
            <a:r>
              <a:rPr lang="en-US" b="0">
                <a:solidFill>
                  <a:srgbClr val="000000"/>
                </a:solidFill>
                <a:latin typeface="Consolas" panose="020B0609020204030204" charset="0"/>
                <a:cs typeface="Consolas" panose="020B0609020204030204" charset="0"/>
              </a:rPr>
              <a:t>, </a:t>
            </a:r>
            <a:r>
              <a:rPr lang="en-US" b="0">
                <a:solidFill>
                  <a:srgbClr val="2A00FF"/>
                </a:solidFill>
                <a:latin typeface="Consolas" panose="020B0609020204030204" charset="0"/>
                <a:cs typeface="Consolas" panose="020B0609020204030204" charset="0"/>
              </a:rPr>
              <a:t>'C'</a:t>
            </a:r>
            <a:r>
              <a:rPr lang="en-US" b="0">
                <a:solidFill>
                  <a:srgbClr val="000000"/>
                </a:solidFill>
                <a:latin typeface="Consolas" panose="020B0609020204030204" charset="0"/>
                <a:cs typeface="Consolas" panose="020B0609020204030204" charset="0"/>
              </a:rPr>
              <a:t>, </a:t>
            </a:r>
            <a:r>
              <a:rPr lang="en-US" b="0">
                <a:solidFill>
                  <a:srgbClr val="2A00FF"/>
                </a:solidFill>
                <a:latin typeface="Consolas" panose="020B0609020204030204" charset="0"/>
                <a:cs typeface="Consolas" panose="020B0609020204030204" charset="0"/>
              </a:rPr>
              <a:t>'D'</a:t>
            </a:r>
            <a:r>
              <a:rPr lang="en-US" b="0">
                <a:solidFill>
                  <a:srgbClr val="000000"/>
                </a:solidFill>
                <a:latin typeface="Consolas" panose="020B0609020204030204" charset="0"/>
                <a:cs typeface="Consolas" panose="020B0609020204030204" charset="0"/>
              </a:rPr>
              <a:t>, </a:t>
            </a:r>
            <a:r>
              <a:rPr lang="en-US" b="0">
                <a:solidFill>
                  <a:srgbClr val="2A00FF"/>
                </a:solidFill>
                <a:latin typeface="Consolas" panose="020B0609020204030204" charset="0"/>
                <a:cs typeface="Consolas" panose="020B0609020204030204" charset="0"/>
              </a:rPr>
              <a:t>'E'</a:t>
            </a:r>
            <a:r>
              <a:rPr lang="en-US" b="0">
                <a:solidFill>
                  <a:srgbClr val="000000"/>
                </a:solidFill>
                <a:latin typeface="Consolas" panose="020B0609020204030204" charset="0"/>
                <a:cs typeface="Consolas" panose="020B0609020204030204" charset="0"/>
              </a:rPr>
              <a:t> };</a:t>
            </a:r>
            <a:r>
              <a:rPr lang="en-US" b="0">
                <a:solidFill>
                  <a:srgbClr val="3F7F5F"/>
                </a:solidFill>
                <a:latin typeface="Consolas" panose="020B0609020204030204" charset="0"/>
                <a:cs typeface="Consolas" panose="020B0609020204030204" charset="0"/>
              </a:rPr>
              <a:t>// </a:t>
            </a:r>
            <a:r>
              <a:rPr lang="zh-CN" b="0">
                <a:solidFill>
                  <a:srgbClr val="3F7F5F"/>
                </a:solidFill>
                <a:latin typeface="Consolas" panose="020B0609020204030204" charset="0"/>
                <a:cs typeface="Consolas" panose="020B0609020204030204" charset="0"/>
              </a:rPr>
              <a:t>城市名称</a:t>
            </a:r>
            <a:r>
              <a:rPr lang="en-US" b="0">
                <a:solidFill>
                  <a:srgbClr val="000000"/>
                </a:solidFill>
                <a:latin typeface="Consolas" panose="020B0609020204030204" charset="0"/>
                <a:cs typeface="Consolas" panose="020B0609020204030204" charset="0"/>
              </a:rPr>
              <a:t>		IGraph&lt;Character&gt; </a:t>
            </a:r>
            <a:r>
              <a:rPr lang="en-US" b="0">
                <a:solidFill>
                  <a:srgbClr val="6A3E3E"/>
                </a:solidFill>
                <a:latin typeface="Consolas" panose="020B0609020204030204" charset="0"/>
                <a:cs typeface="Consolas" panose="020B0609020204030204" charset="0"/>
              </a:rPr>
              <a:t>Graph1</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new</a:t>
            </a:r>
            <a:r>
              <a:rPr lang="en-US" b="0">
                <a:solidFill>
                  <a:srgbClr val="000000"/>
                </a:solidFill>
                <a:latin typeface="Consolas" panose="020B0609020204030204" charset="0"/>
                <a:cs typeface="Consolas" panose="020B0609020204030204" charset="0"/>
              </a:rPr>
              <a:t> LinkedListUnSymmetricWeightedUnDirectedGraph&lt;&gt;(</a:t>
            </a:r>
            <a:r>
              <a:rPr lang="en-US" b="0">
                <a:solidFill>
                  <a:srgbClr val="6A3E3E"/>
                </a:solidFill>
                <a:latin typeface="Consolas" panose="020B0609020204030204" charset="0"/>
                <a:cs typeface="Consolas" panose="020B0609020204030204" charset="0"/>
              </a:rPr>
              <a:t>weightedData</a:t>
            </a:r>
            <a:r>
              <a:rPr lang="en-US" b="0">
                <a:solidFill>
                  <a:srgbClr val="000000"/>
                </a:solidFill>
                <a:latin typeface="Consolas" panose="020B0609020204030204" charset="0"/>
                <a:cs typeface="Consolas" panose="020B0609020204030204" charset="0"/>
              </a:rPr>
              <a:t>);	IGraph&lt;Character&gt; </a:t>
            </a:r>
            <a:r>
              <a:rPr lang="en-US" b="0">
                <a:solidFill>
                  <a:srgbClr val="6A3E3E"/>
                </a:solidFill>
                <a:latin typeface="Consolas" panose="020B0609020204030204" charset="0"/>
                <a:cs typeface="Consolas" panose="020B0609020204030204" charset="0"/>
              </a:rPr>
              <a:t>Graph2</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new</a:t>
            </a:r>
            <a:r>
              <a:rPr lang="en-US" b="0">
                <a:solidFill>
                  <a:srgbClr val="000000"/>
                </a:solidFill>
                <a:latin typeface="Consolas" panose="020B0609020204030204" charset="0"/>
                <a:cs typeface="Consolas" panose="020B0609020204030204" charset="0"/>
              </a:rPr>
              <a:t> LinkedListUnSymmetricWeightedUnDirectedGraph&lt;&gt;(</a:t>
            </a:r>
            <a:r>
              <a:rPr lang="en-US" b="0">
                <a:solidFill>
                  <a:srgbClr val="6A3E3E"/>
                </a:solidFill>
                <a:latin typeface="Consolas" panose="020B0609020204030204" charset="0"/>
                <a:cs typeface="Consolas" panose="020B0609020204030204" charset="0"/>
              </a:rPr>
              <a:t>weightedData</a:t>
            </a:r>
            <a:r>
              <a:rPr lang="en-US" b="0">
                <a:solidFill>
                  <a:srgbClr val="000000"/>
                </a:solidFill>
                <a:latin typeface="Consolas" panose="020B0609020204030204" charset="0"/>
                <a:cs typeface="Consolas" panose="020B0609020204030204" charset="0"/>
              </a:rPr>
              <a:t>);	IGraph&lt;Character&gt; </a:t>
            </a:r>
            <a:r>
              <a:rPr lang="en-US" b="0">
                <a:solidFill>
                  <a:srgbClr val="6A3E3E"/>
                </a:solidFill>
                <a:latin typeface="Consolas" panose="020B0609020204030204" charset="0"/>
                <a:cs typeface="Consolas" panose="020B0609020204030204" charset="0"/>
              </a:rPr>
              <a:t>Graph3</a:t>
            </a:r>
            <a:r>
              <a:rPr lang="en-US" b="0">
                <a:solidFill>
                  <a:srgbClr val="000000"/>
                </a:solidFill>
                <a:latin typeface="Consolas" panose="020B0609020204030204" charset="0"/>
                <a:cs typeface="Consolas" panose="020B0609020204030204" charset="0"/>
              </a:rPr>
              <a:t> = </a:t>
            </a:r>
            <a:r>
              <a:rPr lang="en-US" b="1">
                <a:solidFill>
                  <a:srgbClr val="7F0055"/>
                </a:solidFill>
                <a:latin typeface="Consolas" panose="020B0609020204030204" charset="0"/>
                <a:cs typeface="Consolas" panose="020B0609020204030204" charset="0"/>
              </a:rPr>
              <a:t>new</a:t>
            </a:r>
            <a:r>
              <a:rPr lang="en-US" b="0">
                <a:solidFill>
                  <a:srgbClr val="000000"/>
                </a:solidFill>
                <a:latin typeface="Consolas" panose="020B0609020204030204" charset="0"/>
                <a:cs typeface="Consolas" panose="020B0609020204030204" charset="0"/>
              </a:rPr>
              <a:t> LinkedListUnSymmetricWeightedUnDirectedGraph&lt;&gt;(</a:t>
            </a:r>
            <a:r>
              <a:rPr lang="en-US" b="0">
                <a:solidFill>
                  <a:srgbClr val="6A3E3E"/>
                </a:solidFill>
                <a:latin typeface="Consolas" panose="020B0609020204030204" charset="0"/>
                <a:cs typeface="Consolas" panose="020B0609020204030204" charset="0"/>
              </a:rPr>
              <a:t>weightedData</a:t>
            </a:r>
            <a:r>
              <a:rPr lang="en-US" b="0">
                <a:solidFill>
                  <a:srgbClr val="000000"/>
                </a:solidFill>
                <a:latin typeface="Consolas" panose="020B0609020204030204" charset="0"/>
                <a:cs typeface="Consolas" panose="020B0609020204030204" charset="0"/>
              </a:rPr>
              <a:t>);	</a:t>
            </a:r>
            <a:r>
              <a:rPr lang="en-US" b="1">
                <a:solidFill>
                  <a:srgbClr val="7F0055"/>
                </a:solidFill>
                <a:latin typeface="Consolas" panose="020B0609020204030204" charset="0"/>
                <a:cs typeface="Consolas" panose="020B0609020204030204" charset="0"/>
              </a:rPr>
              <a:t>while</a:t>
            </a:r>
            <a:r>
              <a:rPr lang="en-US" b="0">
                <a:solidFill>
                  <a:srgbClr val="000000"/>
                </a:solidFill>
                <a:latin typeface="Consolas" panose="020B0609020204030204" charset="0"/>
                <a:cs typeface="Consolas" panose="020B0609020204030204" charset="0"/>
              </a:rPr>
              <a:t> (</a:t>
            </a:r>
            <a:r>
              <a:rPr lang="en-US" b="0">
                <a:solidFill>
                  <a:srgbClr val="6A3E3E"/>
                </a:solidFill>
                <a:latin typeface="Consolas" panose="020B0609020204030204" charset="0"/>
                <a:cs typeface="Consolas" panose="020B0609020204030204" charset="0"/>
              </a:rPr>
              <a:t>flag</a:t>
            </a:r>
            <a:r>
              <a:rPr lang="en-US" b="0">
                <a:solidFill>
                  <a:srgbClr val="000000"/>
                </a:solidFill>
                <a:latin typeface="Consolas" panose="020B0609020204030204" charset="0"/>
                <a:cs typeface="Consolas" panose="020B0609020204030204" charset="0"/>
              </a:rPr>
              <a:t>) {		System.</a:t>
            </a:r>
            <a:r>
              <a:rPr lang="en-US" b="1" i="1">
                <a:solidFill>
                  <a:srgbClr val="0000C0"/>
                </a:solidFill>
                <a:latin typeface="Consolas" panose="020B0609020204030204" charset="0"/>
                <a:cs typeface="Consolas" panose="020B0609020204030204" charset="0"/>
              </a:rPr>
              <a:t>out</a:t>
            </a:r>
            <a:r>
              <a:rPr lang="en-US" b="0">
                <a:solidFill>
                  <a:srgbClr val="000000"/>
                </a:solidFill>
                <a:latin typeface="Consolas" panose="020B0609020204030204" charset="0"/>
                <a:cs typeface="Consolas" panose="020B0609020204030204" charset="0"/>
              </a:rPr>
              <a:t>.println(</a:t>
            </a:r>
            <a:r>
              <a:rPr lang="en-US" b="0">
                <a:solidFill>
                  <a:srgbClr val="2A00FF"/>
                </a:solidFill>
                <a:latin typeface="Consolas" panose="020B0609020204030204" charset="0"/>
                <a:cs typeface="Consolas" panose="020B0609020204030204" charset="0"/>
              </a:rPr>
              <a:t>"</a:t>
            </a:r>
            <a:r>
              <a:rPr lang="zh-CN" b="0">
                <a:solidFill>
                  <a:srgbClr val="2A00FF"/>
                </a:solidFill>
                <a:latin typeface="Consolas" panose="020B0609020204030204" charset="0"/>
                <a:cs typeface="Consolas" panose="020B0609020204030204" charset="0"/>
              </a:rPr>
              <a:t>请输入你要进行的操作：</a:t>
            </a:r>
            <a:r>
              <a:rPr lang="en-US" b="0">
                <a:solidFill>
                  <a:srgbClr val="2A00FF"/>
                </a:solidFill>
                <a:latin typeface="Consolas" panose="020B0609020204030204" charset="0"/>
                <a:cs typeface="Consolas" panose="020B0609020204030204" charset="0"/>
              </a:rPr>
              <a:t>"</a:t>
            </a:r>
            <a:r>
              <a:rPr lang="en-US" b="0">
                <a:solidFill>
                  <a:srgbClr val="000000"/>
                </a:solidFill>
                <a:latin typeface="Consolas" panose="020B0609020204030204" charset="0"/>
                <a:cs typeface="Consolas" panose="020B0609020204030204" charset="0"/>
              </a:rPr>
              <a:t>);		System.</a:t>
            </a:r>
            <a:r>
              <a:rPr lang="en-US" b="1" i="1">
                <a:solidFill>
                  <a:srgbClr val="0000C0"/>
                </a:solidFill>
                <a:latin typeface="Consolas" panose="020B0609020204030204" charset="0"/>
                <a:cs typeface="Consolas" panose="020B0609020204030204" charset="0"/>
              </a:rPr>
              <a:t>out</a:t>
            </a:r>
            <a:r>
              <a:rPr lang="en-US" b="0">
                <a:solidFill>
                  <a:srgbClr val="000000"/>
                </a:solidFill>
                <a:latin typeface="Consolas" panose="020B0609020204030204" charset="0"/>
                <a:cs typeface="Consolas" panose="020B0609020204030204" charset="0"/>
              </a:rPr>
              <a:t>.println(</a:t>
            </a:r>
            <a:r>
              <a:rPr lang="en-US" b="0">
                <a:solidFill>
                  <a:srgbClr val="2A00FF"/>
                </a:solidFill>
                <a:latin typeface="Consolas" panose="020B0609020204030204" charset="0"/>
                <a:cs typeface="Consolas" panose="020B0609020204030204" charset="0"/>
              </a:rPr>
              <a:t>"1</a:t>
            </a:r>
            <a:r>
              <a:rPr lang="zh-CN" b="0">
                <a:solidFill>
                  <a:srgbClr val="2A00FF"/>
                </a:solidFill>
                <a:latin typeface="Consolas" panose="020B0609020204030204" charset="0"/>
                <a:cs typeface="Consolas" panose="020B0609020204030204" charset="0"/>
              </a:rPr>
              <a:t>、查询最短路径</a:t>
            </a:r>
            <a:r>
              <a:rPr lang="en-US" b="0">
                <a:solidFill>
                  <a:srgbClr val="2A00FF"/>
                </a:solidFill>
                <a:latin typeface="Consolas" panose="020B0609020204030204" charset="0"/>
                <a:cs typeface="Consolas" panose="020B0609020204030204" charset="0"/>
              </a:rPr>
              <a:t>"</a:t>
            </a:r>
            <a:r>
              <a:rPr lang="en-US" b="0">
                <a:solidFill>
                  <a:srgbClr val="000000"/>
                </a:solidFill>
                <a:latin typeface="Consolas" panose="020B0609020204030204" charset="0"/>
                <a:cs typeface="Consolas" panose="020B0609020204030204" charset="0"/>
              </a:rPr>
              <a:t>);		System.</a:t>
            </a:r>
            <a:r>
              <a:rPr lang="en-US" b="1" i="1">
                <a:solidFill>
                  <a:srgbClr val="0000C0"/>
                </a:solidFill>
                <a:latin typeface="Consolas" panose="020B0609020204030204" charset="0"/>
                <a:cs typeface="Consolas" panose="020B0609020204030204" charset="0"/>
              </a:rPr>
              <a:t>out</a:t>
            </a:r>
            <a:r>
              <a:rPr lang="en-US" b="0">
                <a:solidFill>
                  <a:srgbClr val="000000"/>
                </a:solidFill>
                <a:latin typeface="Consolas" panose="020B0609020204030204" charset="0"/>
                <a:cs typeface="Consolas" panose="020B0609020204030204" charset="0"/>
              </a:rPr>
              <a:t>.println(</a:t>
            </a:r>
            <a:r>
              <a:rPr lang="en-US" b="0">
                <a:solidFill>
                  <a:srgbClr val="2A00FF"/>
                </a:solidFill>
                <a:latin typeface="Consolas" panose="020B0609020204030204" charset="0"/>
                <a:cs typeface="Consolas" panose="020B0609020204030204" charset="0"/>
              </a:rPr>
              <a:t>"2</a:t>
            </a:r>
            <a:r>
              <a:rPr lang="zh-CN" b="0">
                <a:solidFill>
                  <a:srgbClr val="2A00FF"/>
                </a:solidFill>
                <a:latin typeface="Consolas" panose="020B0609020204030204" charset="0"/>
                <a:cs typeface="Consolas" panose="020B0609020204030204" charset="0"/>
              </a:rPr>
              <a:t>、查询最低花费</a:t>
            </a:r>
            <a:r>
              <a:rPr lang="en-US" b="0">
                <a:solidFill>
                  <a:srgbClr val="2A00FF"/>
                </a:solidFill>
                <a:latin typeface="Consolas" panose="020B0609020204030204" charset="0"/>
                <a:cs typeface="Consolas" panose="020B0609020204030204" charset="0"/>
              </a:rPr>
              <a:t>"</a:t>
            </a:r>
            <a:r>
              <a:rPr lang="en-US" b="0">
                <a:solidFill>
                  <a:srgbClr val="000000"/>
                </a:solidFill>
                <a:latin typeface="Consolas" panose="020B0609020204030204" charset="0"/>
                <a:cs typeface="Consolas" panose="020B0609020204030204" charset="0"/>
              </a:rPr>
              <a:t>);		System.</a:t>
            </a:r>
            <a:r>
              <a:rPr lang="en-US" b="1" i="1">
                <a:solidFill>
                  <a:srgbClr val="0000C0"/>
                </a:solidFill>
                <a:latin typeface="Consolas" panose="020B0609020204030204" charset="0"/>
                <a:cs typeface="Consolas" panose="020B0609020204030204" charset="0"/>
              </a:rPr>
              <a:t>out</a:t>
            </a:r>
            <a:r>
              <a:rPr lang="en-US" b="0">
                <a:solidFill>
                  <a:srgbClr val="000000"/>
                </a:solidFill>
                <a:latin typeface="Consolas" panose="020B0609020204030204" charset="0"/>
                <a:cs typeface="Consolas" panose="020B0609020204030204" charset="0"/>
              </a:rPr>
              <a:t>.println(</a:t>
            </a:r>
            <a:r>
              <a:rPr lang="en-US" b="0">
                <a:solidFill>
                  <a:srgbClr val="2A00FF"/>
                </a:solidFill>
                <a:latin typeface="Consolas" panose="020B0609020204030204" charset="0"/>
                <a:cs typeface="Consolas" panose="020B0609020204030204" charset="0"/>
              </a:rPr>
              <a:t>"3</a:t>
            </a:r>
            <a:r>
              <a:rPr lang="zh-CN" b="0">
                <a:solidFill>
                  <a:srgbClr val="2A00FF"/>
                </a:solidFill>
                <a:latin typeface="Consolas" panose="020B0609020204030204" charset="0"/>
                <a:cs typeface="Consolas" panose="020B0609020204030204" charset="0"/>
              </a:rPr>
              <a:t>、查询最少时间</a:t>
            </a:r>
            <a:r>
              <a:rPr lang="en-US" b="0">
                <a:solidFill>
                  <a:srgbClr val="2A00FF"/>
                </a:solidFill>
                <a:latin typeface="Consolas" panose="020B0609020204030204" charset="0"/>
                <a:cs typeface="Consolas" panose="020B0609020204030204" charset="0"/>
              </a:rPr>
              <a:t>"</a:t>
            </a:r>
            <a:r>
              <a:rPr lang="en-US" b="0">
                <a:solidFill>
                  <a:srgbClr val="000000"/>
                </a:solidFill>
                <a:latin typeface="Consolas" panose="020B0609020204030204" charset="0"/>
                <a:cs typeface="Consolas" panose="020B0609020204030204" charset="0"/>
              </a:rPr>
              <a:t>);		System.</a:t>
            </a:r>
            <a:r>
              <a:rPr lang="en-US" b="1" i="1">
                <a:solidFill>
                  <a:srgbClr val="0000C0"/>
                </a:solidFill>
                <a:latin typeface="Consolas" panose="020B0609020204030204" charset="0"/>
                <a:cs typeface="Consolas" panose="020B0609020204030204" charset="0"/>
              </a:rPr>
              <a:t>out</a:t>
            </a:r>
            <a:r>
              <a:rPr lang="en-US" b="0">
                <a:solidFill>
                  <a:srgbClr val="000000"/>
                </a:solidFill>
                <a:latin typeface="Consolas" panose="020B0609020204030204" charset="0"/>
                <a:cs typeface="Consolas" panose="020B0609020204030204" charset="0"/>
              </a:rPr>
              <a:t>.println(</a:t>
            </a:r>
            <a:r>
              <a:rPr lang="en-US" b="0">
                <a:solidFill>
                  <a:srgbClr val="2A00FF"/>
                </a:solidFill>
                <a:latin typeface="Consolas" panose="020B0609020204030204" charset="0"/>
                <a:cs typeface="Consolas" panose="020B0609020204030204" charset="0"/>
              </a:rPr>
              <a:t>"4</a:t>
            </a:r>
            <a:r>
              <a:rPr lang="zh-CN" b="0">
                <a:solidFill>
                  <a:srgbClr val="2A00FF"/>
                </a:solidFill>
                <a:latin typeface="Consolas" panose="020B0609020204030204" charset="0"/>
                <a:cs typeface="Consolas" panose="020B0609020204030204" charset="0"/>
              </a:rPr>
              <a:t>、结束</a:t>
            </a:r>
            <a:r>
              <a:rPr lang="en-US" b="0">
                <a:solidFill>
                  <a:srgbClr val="2A00FF"/>
                </a:solidFill>
                <a:latin typeface="Consolas" panose="020B0609020204030204" charset="0"/>
                <a:cs typeface="Consolas" panose="020B0609020204030204" charset="0"/>
              </a:rPr>
              <a:t>"</a:t>
            </a:r>
            <a:r>
              <a:rPr lang="en-US" b="0">
                <a:solidFill>
                  <a:srgbClr val="000000"/>
                </a:solidFill>
                <a:latin typeface="Consolas" panose="020B0609020204030204" charset="0"/>
                <a:cs typeface="Consolas" panose="020B0609020204030204" charset="0"/>
              </a:rPr>
              <a:t>);</a:t>
            </a:r>
            <a:endParaRPr lang="en-US" altLang="en-US" b="0">
              <a:solidFill>
                <a:srgbClr val="000000"/>
              </a:solidFill>
              <a:latin typeface="Consolas" panose="020B0609020204030204" charset="0"/>
              <a:cs typeface="Consolas" panose="020B060902020403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380365" y="56515"/>
            <a:ext cx="11623675" cy="6699250"/>
          </a:xfrm>
          <a:prstGeom prst="rect">
            <a:avLst/>
          </a:prstGeom>
          <a:noFill/>
          <a:ln w="9525">
            <a:noFill/>
          </a:ln>
        </p:spPr>
        <p:txBody>
          <a:bodyPr>
            <a:noAutofit/>
          </a:bodyPr>
          <a:p>
            <a:pPr indent="0"/>
            <a:r>
              <a:rPr lang="en-US" sz="1600" b="0">
                <a:solidFill>
                  <a:srgbClr val="3F7F5F"/>
                </a:solidFill>
                <a:latin typeface="Consolas" panose="020B0609020204030204" charset="0"/>
                <a:cs typeface="Consolas" panose="020B0609020204030204" charset="0"/>
              </a:rPr>
              <a:t>        // switch</a:t>
            </a:r>
            <a:r>
              <a:rPr lang="zh-CN" sz="1600" b="0">
                <a:solidFill>
                  <a:srgbClr val="3F7F5F"/>
                </a:solidFill>
                <a:latin typeface="Consolas" panose="020B0609020204030204" charset="0"/>
                <a:cs typeface="Consolas" panose="020B0609020204030204" charset="0"/>
              </a:rPr>
              <a:t>语句选择目录</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int</a:t>
            </a:r>
            <a:r>
              <a:rPr lang="en-US" sz="1600" b="0">
                <a:solidFill>
                  <a:srgbClr val="000000"/>
                </a:solidFill>
                <a:latin typeface="Consolas" panose="020B0609020204030204" charset="0"/>
                <a:cs typeface="Consolas" panose="020B0609020204030204" charset="0"/>
              </a:rPr>
              <a:t> </a:t>
            </a:r>
            <a:r>
              <a:rPr lang="en-US" sz="1600" b="0">
                <a:solidFill>
                  <a:srgbClr val="6A3E3E"/>
                </a:solidFill>
                <a:latin typeface="Consolas" panose="020B0609020204030204" charset="0"/>
                <a:cs typeface="Consolas" panose="020B0609020204030204" charset="0"/>
              </a:rPr>
              <a:t>op</a:t>
            </a:r>
            <a:r>
              <a:rPr lang="en-US" sz="1600" b="0">
                <a:solidFill>
                  <a:srgbClr val="000000"/>
                </a:solidFill>
                <a:latin typeface="Consolas" panose="020B0609020204030204" charset="0"/>
                <a:cs typeface="Consolas" panose="020B0609020204030204" charset="0"/>
              </a:rPr>
              <a:t> = </a:t>
            </a:r>
            <a:r>
              <a:rPr lang="en-US" sz="1600" b="0">
                <a:solidFill>
                  <a:srgbClr val="6A3E3E"/>
                </a:solidFill>
                <a:latin typeface="Consolas" panose="020B0609020204030204" charset="0"/>
                <a:cs typeface="Consolas" panose="020B0609020204030204" charset="0"/>
              </a:rPr>
              <a:t>sc</a:t>
            </a:r>
            <a:r>
              <a:rPr lang="en-US" sz="1600" b="0">
                <a:solidFill>
                  <a:srgbClr val="000000"/>
                </a:solidFill>
                <a:latin typeface="Consolas" panose="020B0609020204030204" charset="0"/>
                <a:cs typeface="Consolas" panose="020B0609020204030204" charset="0"/>
              </a:rPr>
              <a:t>.nextInt();	</a:t>
            </a:r>
            <a:r>
              <a:rPr lang="en-US" sz="1600" b="1">
                <a:solidFill>
                  <a:srgbClr val="7F0055"/>
                </a:solidFill>
                <a:latin typeface="Consolas" panose="020B0609020204030204" charset="0"/>
                <a:cs typeface="Consolas" panose="020B0609020204030204" charset="0"/>
              </a:rPr>
              <a:t>switch</a:t>
            </a:r>
            <a:r>
              <a:rPr lang="en-US" sz="1600" b="0">
                <a:solidFill>
                  <a:srgbClr val="000000"/>
                </a:solidFill>
                <a:latin typeface="Consolas" panose="020B0609020204030204" charset="0"/>
                <a:cs typeface="Consolas" panose="020B0609020204030204" charset="0"/>
              </a:rPr>
              <a:t> (</a:t>
            </a:r>
            <a:r>
              <a:rPr lang="en-US" sz="1600" b="0">
                <a:solidFill>
                  <a:srgbClr val="6A3E3E"/>
                </a:solidFill>
                <a:latin typeface="Consolas" panose="020B0609020204030204" charset="0"/>
                <a:cs typeface="Consolas" panose="020B0609020204030204" charset="0"/>
              </a:rPr>
              <a:t>op</a:t>
            </a:r>
            <a:r>
              <a:rPr lang="en-US" sz="1600" b="0">
                <a:solidFill>
                  <a:srgbClr val="000000"/>
                </a:solidFill>
                <a:latin typeface="Consolas" panose="020B0609020204030204" charset="0"/>
                <a:cs typeface="Consolas" panose="020B0609020204030204" charset="0"/>
              </a:rPr>
              <a:t>) {		</a:t>
            </a:r>
            <a:r>
              <a:rPr lang="en-US" sz="1600" b="1">
                <a:solidFill>
                  <a:srgbClr val="7F0055"/>
                </a:solidFill>
                <a:latin typeface="Consolas" panose="020B0609020204030204" charset="0"/>
                <a:cs typeface="Consolas" panose="020B0609020204030204" charset="0"/>
              </a:rPr>
              <a:t>case</a:t>
            </a:r>
            <a:r>
              <a:rPr lang="en-US" sz="1600" b="0">
                <a:solidFill>
                  <a:srgbClr val="000000"/>
                </a:solidFill>
                <a:latin typeface="Consolas" panose="020B0609020204030204" charset="0"/>
                <a:cs typeface="Consolas" panose="020B0609020204030204" charset="0"/>
              </a:rPr>
              <a:t> 1:		</a:t>
            </a:r>
            <a:r>
              <a:rPr lang="en-US" sz="1600" b="0">
                <a:solidFill>
                  <a:srgbClr val="6A3E3E"/>
                </a:solidFill>
                <a:latin typeface="Consolas" panose="020B0609020204030204" charset="0"/>
                <a:cs typeface="Consolas" panose="020B0609020204030204" charset="0"/>
              </a:rPr>
              <a:t>Graph1</a:t>
            </a:r>
            <a:r>
              <a:rPr lang="en-US" sz="1600" b="0">
                <a:solidFill>
                  <a:srgbClr val="000000"/>
                </a:solidFill>
                <a:latin typeface="Consolas" panose="020B0609020204030204" charset="0"/>
                <a:cs typeface="Consolas" panose="020B0609020204030204" charset="0"/>
              </a:rPr>
              <a:t>.addWeightedEdge(0, 1, 20.0);		</a:t>
            </a:r>
            <a:r>
              <a:rPr lang="en-US" sz="1600" b="0">
                <a:solidFill>
                  <a:srgbClr val="6A3E3E"/>
                </a:solidFill>
                <a:latin typeface="Consolas" panose="020B0609020204030204" charset="0"/>
                <a:cs typeface="Consolas" panose="020B0609020204030204" charset="0"/>
              </a:rPr>
              <a:t>Graph1</a:t>
            </a:r>
            <a:r>
              <a:rPr lang="en-US" sz="1600" b="0">
                <a:solidFill>
                  <a:srgbClr val="000000"/>
                </a:solidFill>
                <a:latin typeface="Consolas" panose="020B0609020204030204" charset="0"/>
                <a:cs typeface="Consolas" panose="020B0609020204030204" charset="0"/>
              </a:rPr>
              <a:t>.addWeightedEdge(0, 2, 7.0);		</a:t>
            </a:r>
            <a:r>
              <a:rPr lang="en-US" sz="1600" b="0">
                <a:solidFill>
                  <a:srgbClr val="6A3E3E"/>
                </a:solidFill>
                <a:latin typeface="Consolas" panose="020B0609020204030204" charset="0"/>
                <a:cs typeface="Consolas" panose="020B0609020204030204" charset="0"/>
              </a:rPr>
              <a:t>Graph1</a:t>
            </a:r>
            <a:r>
              <a:rPr lang="en-US" sz="1600" b="0">
                <a:solidFill>
                  <a:srgbClr val="000000"/>
                </a:solidFill>
                <a:latin typeface="Consolas" panose="020B0609020204030204" charset="0"/>
                <a:cs typeface="Consolas" panose="020B0609020204030204" charset="0"/>
              </a:rPr>
              <a:t>.addWeightedEdge(1, 2, 3.0);		</a:t>
            </a:r>
            <a:r>
              <a:rPr lang="en-US" sz="1600" b="0">
                <a:solidFill>
                  <a:srgbClr val="6A3E3E"/>
                </a:solidFill>
                <a:latin typeface="Consolas" panose="020B0609020204030204" charset="0"/>
                <a:cs typeface="Consolas" panose="020B0609020204030204" charset="0"/>
              </a:rPr>
              <a:t>Graph1</a:t>
            </a:r>
            <a:r>
              <a:rPr lang="en-US" sz="1600" b="0">
                <a:solidFill>
                  <a:srgbClr val="000000"/>
                </a:solidFill>
                <a:latin typeface="Consolas" panose="020B0609020204030204" charset="0"/>
                <a:cs typeface="Consolas" panose="020B0609020204030204" charset="0"/>
              </a:rPr>
              <a:t>.addWeightedEdge(1, 3, 10.0);		</a:t>
            </a:r>
            <a:r>
              <a:rPr lang="en-US" sz="1600" b="0">
                <a:solidFill>
                  <a:srgbClr val="6A3E3E"/>
                </a:solidFill>
                <a:latin typeface="Consolas" panose="020B0609020204030204" charset="0"/>
                <a:cs typeface="Consolas" panose="020B0609020204030204" charset="0"/>
              </a:rPr>
              <a:t>Graph1</a:t>
            </a:r>
            <a:r>
              <a:rPr lang="en-US" sz="1600" b="0">
                <a:solidFill>
                  <a:srgbClr val="000000"/>
                </a:solidFill>
                <a:latin typeface="Consolas" panose="020B0609020204030204" charset="0"/>
                <a:cs typeface="Consolas" panose="020B0609020204030204" charset="0"/>
              </a:rPr>
              <a:t>.addWeightedEdge(1, 4, 12.0);		</a:t>
            </a:r>
            <a:r>
              <a:rPr lang="en-US" sz="1600" b="0">
                <a:solidFill>
                  <a:srgbClr val="6A3E3E"/>
                </a:solidFill>
                <a:latin typeface="Consolas" panose="020B0609020204030204" charset="0"/>
                <a:cs typeface="Consolas" panose="020B0609020204030204" charset="0"/>
              </a:rPr>
              <a:t>Graph1</a:t>
            </a:r>
            <a:r>
              <a:rPr lang="en-US" sz="1600" b="0">
                <a:solidFill>
                  <a:srgbClr val="000000"/>
                </a:solidFill>
                <a:latin typeface="Consolas" panose="020B0609020204030204" charset="0"/>
                <a:cs typeface="Consolas" panose="020B0609020204030204" charset="0"/>
              </a:rPr>
              <a:t>.addWeightedEdge(2, 3, 15.0);		</a:t>
            </a:r>
            <a:r>
              <a:rPr lang="en-US" sz="1600" b="0">
                <a:solidFill>
                  <a:srgbClr val="6A3E3E"/>
                </a:solidFill>
                <a:latin typeface="Consolas" panose="020B0609020204030204" charset="0"/>
                <a:cs typeface="Consolas" panose="020B0609020204030204" charset="0"/>
              </a:rPr>
              <a:t>Graph1</a:t>
            </a:r>
            <a:r>
              <a:rPr lang="en-US" sz="1600" b="0">
                <a:solidFill>
                  <a:srgbClr val="000000"/>
                </a:solidFill>
                <a:latin typeface="Consolas" panose="020B0609020204030204" charset="0"/>
                <a:cs typeface="Consolas" panose="020B0609020204030204" charset="0"/>
              </a:rPr>
              <a:t>.addWeightedEdge(2, 4, 9.0);		Traffic_Consultation&lt;Character&gt; </a:t>
            </a:r>
            <a:r>
              <a:rPr lang="en-US" sz="1600" b="0">
                <a:solidFill>
                  <a:srgbClr val="6A3E3E"/>
                </a:solidFill>
                <a:latin typeface="Consolas" panose="020B0609020204030204" charset="0"/>
                <a:cs typeface="Consolas" panose="020B0609020204030204" charset="0"/>
              </a:rPr>
              <a:t>weightedPathAlg</a:t>
            </a:r>
            <a:r>
              <a:rPr lang="en-US" sz="1600" b="0">
                <a:solidFill>
                  <a:srgbClr val="000000"/>
                </a:solidFill>
                <a:latin typeface="Consolas" panose="020B0609020204030204" charset="0"/>
                <a:cs typeface="Consolas" panose="020B0609020204030204" charset="0"/>
              </a:rPr>
              <a:t> = </a:t>
            </a:r>
            <a:r>
              <a:rPr lang="en-US" sz="1600" b="1">
                <a:solidFill>
                  <a:srgbClr val="7F0055"/>
                </a:solidFill>
                <a:latin typeface="Consolas" panose="020B0609020204030204" charset="0"/>
                <a:cs typeface="Consolas" panose="020B0609020204030204" charset="0"/>
              </a:rPr>
              <a:t>new</a:t>
            </a:r>
            <a:r>
              <a:rPr lang="en-US" sz="1600" b="0">
                <a:solidFill>
                  <a:srgbClr val="000000"/>
                </a:solidFill>
                <a:latin typeface="Consolas" panose="020B0609020204030204" charset="0"/>
                <a:cs typeface="Consolas" panose="020B0609020204030204" charset="0"/>
              </a:rPr>
              <a:t> Traffic_Consultation&lt;&gt;(</a:t>
            </a:r>
            <a:r>
              <a:rPr lang="en-US" sz="1600" b="0">
                <a:solidFill>
                  <a:srgbClr val="6A3E3E"/>
                </a:solidFill>
                <a:latin typeface="Consolas" panose="020B0609020204030204" charset="0"/>
                <a:cs typeface="Consolas" panose="020B0609020204030204" charset="0"/>
              </a:rPr>
              <a:t>Graph1</a:t>
            </a:r>
            <a:r>
              <a:rPr lang="en-US" sz="1600" b="0">
                <a:solidFill>
                  <a:srgbClr val="000000"/>
                </a:solidFill>
                <a:latin typeface="Consolas" panose="020B0609020204030204" charset="0"/>
                <a:cs typeface="Consolas" panose="020B0609020204030204" charset="0"/>
              </a:rPr>
              <a:t>);		</a:t>
            </a:r>
            <a:r>
              <a:rPr lang="en-US" sz="1600" b="0">
                <a:solidFill>
                  <a:srgbClr val="6A3E3E"/>
                </a:solidFill>
                <a:latin typeface="Consolas" panose="020B0609020204030204" charset="0"/>
                <a:cs typeface="Consolas" panose="020B0609020204030204" charset="0"/>
              </a:rPr>
              <a:t>weightedPathAlg</a:t>
            </a:r>
            <a:r>
              <a:rPr lang="en-US" sz="1600" b="0">
                <a:solidFill>
                  <a:srgbClr val="000000"/>
                </a:solidFill>
                <a:latin typeface="Consolas" panose="020B0609020204030204" charset="0"/>
                <a:cs typeface="Consolas" panose="020B0609020204030204" charset="0"/>
              </a:rPr>
              <a:t>.floyd(1);</a:t>
            </a:r>
            <a:r>
              <a:rPr lang="en-US" sz="1600" b="0">
                <a:solidFill>
                  <a:srgbClr val="3F7F5F"/>
                </a:solidFill>
                <a:latin typeface="Consolas" panose="020B0609020204030204" charset="0"/>
                <a:cs typeface="Consolas" panose="020B0609020204030204" charset="0"/>
              </a:rPr>
              <a:t>// </a:t>
            </a:r>
            <a:r>
              <a:rPr lang="zh-CN" sz="1600" b="0">
                <a:solidFill>
                  <a:srgbClr val="3F7F5F"/>
                </a:solidFill>
                <a:latin typeface="Consolas" panose="020B0609020204030204" charset="0"/>
                <a:cs typeface="Consolas" panose="020B0609020204030204" charset="0"/>
              </a:rPr>
              <a:t>函数传入到</a:t>
            </a:r>
            <a:r>
              <a:rPr lang="en-US" sz="1600" b="0" u="sng">
                <a:solidFill>
                  <a:srgbClr val="3F7F5F"/>
                </a:solidFill>
                <a:latin typeface="Consolas" panose="020B0609020204030204" charset="0"/>
                <a:cs typeface="Consolas" panose="020B0609020204030204" charset="0"/>
              </a:rPr>
              <a:t>op</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break</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case</a:t>
            </a:r>
            <a:r>
              <a:rPr lang="en-US" sz="1600" b="0">
                <a:solidFill>
                  <a:srgbClr val="000000"/>
                </a:solidFill>
                <a:latin typeface="Consolas" panose="020B0609020204030204" charset="0"/>
                <a:cs typeface="Consolas" panose="020B0609020204030204" charset="0"/>
              </a:rPr>
              <a:t> 2:		</a:t>
            </a:r>
            <a:r>
              <a:rPr lang="en-US" sz="1600" b="0">
                <a:solidFill>
                  <a:srgbClr val="6A3E3E"/>
                </a:solidFill>
                <a:latin typeface="Consolas" panose="020B0609020204030204" charset="0"/>
                <a:cs typeface="Consolas" panose="020B0609020204030204" charset="0"/>
              </a:rPr>
              <a:t>Graph2</a:t>
            </a:r>
            <a:r>
              <a:rPr lang="en-US" sz="1600" b="0">
                <a:solidFill>
                  <a:srgbClr val="000000"/>
                </a:solidFill>
                <a:latin typeface="Consolas" panose="020B0609020204030204" charset="0"/>
                <a:cs typeface="Consolas" panose="020B0609020204030204" charset="0"/>
              </a:rPr>
              <a:t>.addWeightedEdge(0, 1, 100.0);		</a:t>
            </a:r>
            <a:r>
              <a:rPr lang="en-US" sz="1600" b="0">
                <a:solidFill>
                  <a:srgbClr val="6A3E3E"/>
                </a:solidFill>
                <a:latin typeface="Consolas" panose="020B0609020204030204" charset="0"/>
                <a:cs typeface="Consolas" panose="020B0609020204030204" charset="0"/>
              </a:rPr>
              <a:t>Graph2</a:t>
            </a:r>
            <a:r>
              <a:rPr lang="en-US" sz="1600" b="0">
                <a:solidFill>
                  <a:srgbClr val="000000"/>
                </a:solidFill>
                <a:latin typeface="Consolas" panose="020B0609020204030204" charset="0"/>
                <a:cs typeface="Consolas" panose="020B0609020204030204" charset="0"/>
              </a:rPr>
              <a:t>.addWeightedEdge(0, 2, 30.0);		</a:t>
            </a:r>
            <a:r>
              <a:rPr lang="en-US" sz="1600" b="0">
                <a:solidFill>
                  <a:srgbClr val="6A3E3E"/>
                </a:solidFill>
                <a:latin typeface="Consolas" panose="020B0609020204030204" charset="0"/>
                <a:cs typeface="Consolas" panose="020B0609020204030204" charset="0"/>
              </a:rPr>
              <a:t>Graph2</a:t>
            </a:r>
            <a:r>
              <a:rPr lang="en-US" sz="1600" b="0">
                <a:solidFill>
                  <a:srgbClr val="000000"/>
                </a:solidFill>
                <a:latin typeface="Consolas" panose="020B0609020204030204" charset="0"/>
                <a:cs typeface="Consolas" panose="020B0609020204030204" charset="0"/>
              </a:rPr>
              <a:t>.addWeightedEdge(1, 2, 10.0);		</a:t>
            </a:r>
            <a:r>
              <a:rPr lang="en-US" sz="1600" b="0">
                <a:solidFill>
                  <a:srgbClr val="6A3E3E"/>
                </a:solidFill>
                <a:latin typeface="Consolas" panose="020B0609020204030204" charset="0"/>
                <a:cs typeface="Consolas" panose="020B0609020204030204" charset="0"/>
              </a:rPr>
              <a:t>Graph2</a:t>
            </a:r>
            <a:r>
              <a:rPr lang="en-US" sz="1600" b="0">
                <a:solidFill>
                  <a:srgbClr val="000000"/>
                </a:solidFill>
                <a:latin typeface="Consolas" panose="020B0609020204030204" charset="0"/>
                <a:cs typeface="Consolas" panose="020B0609020204030204" charset="0"/>
              </a:rPr>
              <a:t>.addWeightedEdge(1, 3, 15.0);		</a:t>
            </a:r>
            <a:r>
              <a:rPr lang="en-US" sz="1600" b="0">
                <a:solidFill>
                  <a:srgbClr val="6A3E3E"/>
                </a:solidFill>
                <a:latin typeface="Consolas" panose="020B0609020204030204" charset="0"/>
                <a:cs typeface="Consolas" panose="020B0609020204030204" charset="0"/>
              </a:rPr>
              <a:t>Graph2</a:t>
            </a:r>
            <a:r>
              <a:rPr lang="en-US" sz="1600" b="0">
                <a:solidFill>
                  <a:srgbClr val="000000"/>
                </a:solidFill>
                <a:latin typeface="Consolas" panose="020B0609020204030204" charset="0"/>
                <a:cs typeface="Consolas" panose="020B0609020204030204" charset="0"/>
              </a:rPr>
              <a:t>.addWeightedEdge(1, 4, 17.0);		</a:t>
            </a:r>
            <a:r>
              <a:rPr lang="en-US" sz="1600" b="0">
                <a:solidFill>
                  <a:srgbClr val="6A3E3E"/>
                </a:solidFill>
                <a:latin typeface="Consolas" panose="020B0609020204030204" charset="0"/>
                <a:cs typeface="Consolas" panose="020B0609020204030204" charset="0"/>
              </a:rPr>
              <a:t>Graph2</a:t>
            </a:r>
            <a:r>
              <a:rPr lang="en-US" sz="1600" b="0">
                <a:solidFill>
                  <a:srgbClr val="000000"/>
                </a:solidFill>
                <a:latin typeface="Consolas" panose="020B0609020204030204" charset="0"/>
                <a:cs typeface="Consolas" panose="020B0609020204030204" charset="0"/>
              </a:rPr>
              <a:t>.addWeightedEdge(2, 3, 35.0);		</a:t>
            </a:r>
            <a:r>
              <a:rPr lang="en-US" sz="1600" b="0">
                <a:solidFill>
                  <a:srgbClr val="6A3E3E"/>
                </a:solidFill>
                <a:latin typeface="Consolas" panose="020B0609020204030204" charset="0"/>
                <a:cs typeface="Consolas" panose="020B0609020204030204" charset="0"/>
              </a:rPr>
              <a:t>Graph2</a:t>
            </a:r>
            <a:r>
              <a:rPr lang="en-US" sz="1600" b="0">
                <a:solidFill>
                  <a:srgbClr val="000000"/>
                </a:solidFill>
                <a:latin typeface="Consolas" panose="020B0609020204030204" charset="0"/>
                <a:cs typeface="Consolas" panose="020B0609020204030204" charset="0"/>
              </a:rPr>
              <a:t>.addWeightedEdge(2, 4, 22.0);		Traffic_Consultation&lt;Character&gt; </a:t>
            </a:r>
            <a:r>
              <a:rPr lang="en-US" sz="1600" b="0">
                <a:solidFill>
                  <a:srgbClr val="6A3E3E"/>
                </a:solidFill>
                <a:latin typeface="Consolas" panose="020B0609020204030204" charset="0"/>
                <a:cs typeface="Consolas" panose="020B0609020204030204" charset="0"/>
              </a:rPr>
              <a:t>weightedPathAlg1</a:t>
            </a:r>
            <a:r>
              <a:rPr lang="en-US" sz="1600" b="0">
                <a:solidFill>
                  <a:srgbClr val="000000"/>
                </a:solidFill>
                <a:latin typeface="Consolas" panose="020B0609020204030204" charset="0"/>
                <a:cs typeface="Consolas" panose="020B0609020204030204" charset="0"/>
              </a:rPr>
              <a:t> = </a:t>
            </a:r>
            <a:r>
              <a:rPr lang="en-US" sz="1600" b="1">
                <a:solidFill>
                  <a:srgbClr val="7F0055"/>
                </a:solidFill>
                <a:latin typeface="Consolas" panose="020B0609020204030204" charset="0"/>
                <a:cs typeface="Consolas" panose="020B0609020204030204" charset="0"/>
              </a:rPr>
              <a:t>new</a:t>
            </a:r>
            <a:r>
              <a:rPr lang="en-US" sz="1600" b="0">
                <a:solidFill>
                  <a:srgbClr val="000000"/>
                </a:solidFill>
                <a:latin typeface="Consolas" panose="020B0609020204030204" charset="0"/>
                <a:cs typeface="Consolas" panose="020B0609020204030204" charset="0"/>
              </a:rPr>
              <a:t> Traffic_Consultation&lt;&gt;(</a:t>
            </a:r>
            <a:r>
              <a:rPr lang="en-US" sz="1600" b="0">
                <a:solidFill>
                  <a:srgbClr val="6A3E3E"/>
                </a:solidFill>
                <a:latin typeface="Consolas" panose="020B0609020204030204" charset="0"/>
                <a:cs typeface="Consolas" panose="020B0609020204030204" charset="0"/>
              </a:rPr>
              <a:t>Graph2</a:t>
            </a:r>
            <a:r>
              <a:rPr lang="en-US" sz="1600" b="0">
                <a:solidFill>
                  <a:srgbClr val="000000"/>
                </a:solidFill>
                <a:latin typeface="Consolas" panose="020B0609020204030204" charset="0"/>
                <a:cs typeface="Consolas" panose="020B0609020204030204" charset="0"/>
              </a:rPr>
              <a:t>);		</a:t>
            </a:r>
            <a:r>
              <a:rPr lang="en-US" sz="1600" b="0">
                <a:solidFill>
                  <a:srgbClr val="6A3E3E"/>
                </a:solidFill>
                <a:latin typeface="Consolas" panose="020B0609020204030204" charset="0"/>
                <a:cs typeface="Consolas" panose="020B0609020204030204" charset="0"/>
              </a:rPr>
              <a:t>weightedPathAlg1</a:t>
            </a:r>
            <a:r>
              <a:rPr lang="en-US" sz="1600" b="0">
                <a:solidFill>
                  <a:srgbClr val="000000"/>
                </a:solidFill>
                <a:latin typeface="Consolas" panose="020B0609020204030204" charset="0"/>
                <a:cs typeface="Consolas" panose="020B0609020204030204" charset="0"/>
              </a:rPr>
              <a:t>.floyd(2);		</a:t>
            </a:r>
            <a:r>
              <a:rPr lang="en-US" sz="1600" b="1">
                <a:solidFill>
                  <a:srgbClr val="7F0055"/>
                </a:solidFill>
                <a:latin typeface="Consolas" panose="020B0609020204030204" charset="0"/>
                <a:cs typeface="Consolas" panose="020B0609020204030204" charset="0"/>
              </a:rPr>
              <a:t>break</a:t>
            </a:r>
            <a:r>
              <a:rPr lang="en-US" sz="1600" b="0">
                <a:solidFill>
                  <a:srgbClr val="000000"/>
                </a:solidFill>
                <a:latin typeface="Consolas" panose="020B0609020204030204" charset="0"/>
                <a:cs typeface="Consolas" panose="020B0609020204030204" charset="0"/>
              </a:rPr>
              <a:t>;</a:t>
            </a:r>
            <a:endParaRPr lang="en-US" altLang="en-US" sz="1600" b="0">
              <a:solidFill>
                <a:srgbClr val="000000"/>
              </a:solidFill>
              <a:latin typeface="Consolas" panose="020B0609020204030204" charset="0"/>
              <a:cs typeface="Consolas" panose="020B060902020403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253365" y="583565"/>
            <a:ext cx="11995785" cy="6274435"/>
          </a:xfrm>
          <a:prstGeom prst="rect">
            <a:avLst/>
          </a:prstGeom>
          <a:noFill/>
          <a:ln w="9525">
            <a:noFill/>
          </a:ln>
        </p:spPr>
        <p:txBody>
          <a:bodyPr>
            <a:noAutofit/>
          </a:bodyPr>
          <a:p>
            <a:pPr indent="0"/>
            <a:r>
              <a:rPr lang="en-US" sz="1600" b="1">
                <a:solidFill>
                  <a:srgbClr val="7F0055"/>
                </a:solidFill>
                <a:latin typeface="Consolas" panose="020B0609020204030204" charset="0"/>
                <a:cs typeface="Consolas" panose="020B0609020204030204" charset="0"/>
              </a:rPr>
              <a:t>                 case</a:t>
            </a:r>
            <a:r>
              <a:rPr lang="en-US" sz="1600" b="0">
                <a:solidFill>
                  <a:srgbClr val="000000"/>
                </a:solidFill>
                <a:latin typeface="Consolas" panose="020B0609020204030204" charset="0"/>
                <a:cs typeface="Consolas" panose="020B0609020204030204" charset="0"/>
              </a:rPr>
              <a:t> 3:		 </a:t>
            </a:r>
            <a:r>
              <a:rPr lang="en-US" sz="1600" b="0">
                <a:solidFill>
                  <a:srgbClr val="6A3E3E"/>
                </a:solidFill>
                <a:latin typeface="Consolas" panose="020B0609020204030204" charset="0"/>
                <a:cs typeface="Consolas" panose="020B0609020204030204" charset="0"/>
              </a:rPr>
              <a:t>Graph3</a:t>
            </a:r>
            <a:r>
              <a:rPr lang="en-US" sz="1600" b="0">
                <a:solidFill>
                  <a:srgbClr val="000000"/>
                </a:solidFill>
                <a:latin typeface="Consolas" panose="020B0609020204030204" charset="0"/>
                <a:cs typeface="Consolas" panose="020B0609020204030204" charset="0"/>
              </a:rPr>
              <a:t>.addWeightedEdge(0, 1, 6.0);		 </a:t>
            </a:r>
            <a:r>
              <a:rPr lang="en-US" sz="1600" b="0">
                <a:solidFill>
                  <a:srgbClr val="6A3E3E"/>
                </a:solidFill>
                <a:latin typeface="Consolas" panose="020B0609020204030204" charset="0"/>
                <a:cs typeface="Consolas" panose="020B0609020204030204" charset="0"/>
              </a:rPr>
              <a:t>Graph3</a:t>
            </a:r>
            <a:r>
              <a:rPr lang="en-US" sz="1600" b="0">
                <a:solidFill>
                  <a:srgbClr val="000000"/>
                </a:solidFill>
                <a:latin typeface="Consolas" panose="020B0609020204030204" charset="0"/>
                <a:cs typeface="Consolas" panose="020B0609020204030204" charset="0"/>
              </a:rPr>
              <a:t>.addWeightedEdge(0, 2, 5.0);		 </a:t>
            </a:r>
            <a:r>
              <a:rPr lang="en-US" sz="1600" b="0">
                <a:solidFill>
                  <a:srgbClr val="6A3E3E"/>
                </a:solidFill>
                <a:latin typeface="Consolas" panose="020B0609020204030204" charset="0"/>
                <a:cs typeface="Consolas" panose="020B0609020204030204" charset="0"/>
              </a:rPr>
              <a:t>Graph3</a:t>
            </a:r>
            <a:r>
              <a:rPr lang="en-US" sz="1600" b="0">
                <a:solidFill>
                  <a:srgbClr val="000000"/>
                </a:solidFill>
                <a:latin typeface="Consolas" panose="020B0609020204030204" charset="0"/>
                <a:cs typeface="Consolas" panose="020B0609020204030204" charset="0"/>
              </a:rPr>
              <a:t>.addWeightedEdge(1, 2, 1.0);		 </a:t>
            </a:r>
            <a:r>
              <a:rPr lang="en-US" sz="1600" b="0">
                <a:solidFill>
                  <a:srgbClr val="6A3E3E"/>
                </a:solidFill>
                <a:latin typeface="Consolas" panose="020B0609020204030204" charset="0"/>
                <a:cs typeface="Consolas" panose="020B0609020204030204" charset="0"/>
              </a:rPr>
              <a:t>Graph3</a:t>
            </a:r>
            <a:r>
              <a:rPr lang="en-US" sz="1600" b="0">
                <a:solidFill>
                  <a:srgbClr val="000000"/>
                </a:solidFill>
                <a:latin typeface="Consolas" panose="020B0609020204030204" charset="0"/>
                <a:cs typeface="Consolas" panose="020B0609020204030204" charset="0"/>
              </a:rPr>
              <a:t>.addWeightedEdge(1, 3, 2.0);		 </a:t>
            </a:r>
            <a:r>
              <a:rPr lang="en-US" sz="1600" b="0">
                <a:solidFill>
                  <a:srgbClr val="6A3E3E"/>
                </a:solidFill>
                <a:latin typeface="Consolas" panose="020B0609020204030204" charset="0"/>
                <a:cs typeface="Consolas" panose="020B0609020204030204" charset="0"/>
              </a:rPr>
              <a:t>Graph3</a:t>
            </a:r>
            <a:r>
              <a:rPr lang="en-US" sz="1600" b="0">
                <a:solidFill>
                  <a:srgbClr val="000000"/>
                </a:solidFill>
                <a:latin typeface="Consolas" panose="020B0609020204030204" charset="0"/>
                <a:cs typeface="Consolas" panose="020B0609020204030204" charset="0"/>
              </a:rPr>
              <a:t>.addWeightedEdge(1, 4, 7.0);		 </a:t>
            </a:r>
            <a:r>
              <a:rPr lang="en-US" sz="1600" b="0">
                <a:solidFill>
                  <a:srgbClr val="6A3E3E"/>
                </a:solidFill>
                <a:latin typeface="Consolas" panose="020B0609020204030204" charset="0"/>
                <a:cs typeface="Consolas" panose="020B0609020204030204" charset="0"/>
              </a:rPr>
              <a:t>Graph3</a:t>
            </a:r>
            <a:r>
              <a:rPr lang="en-US" sz="1600" b="0">
                <a:solidFill>
                  <a:srgbClr val="000000"/>
                </a:solidFill>
                <a:latin typeface="Consolas" panose="020B0609020204030204" charset="0"/>
                <a:cs typeface="Consolas" panose="020B0609020204030204" charset="0"/>
              </a:rPr>
              <a:t>.addWeightedEdge(2, 3, 6.0);		 </a:t>
            </a:r>
            <a:r>
              <a:rPr lang="en-US" sz="1600" b="0">
                <a:solidFill>
                  <a:srgbClr val="6A3E3E"/>
                </a:solidFill>
                <a:latin typeface="Consolas" panose="020B0609020204030204" charset="0"/>
                <a:cs typeface="Consolas" panose="020B0609020204030204" charset="0"/>
              </a:rPr>
              <a:t>Graph3</a:t>
            </a:r>
            <a:r>
              <a:rPr lang="en-US" sz="1600" b="0">
                <a:solidFill>
                  <a:srgbClr val="000000"/>
                </a:solidFill>
                <a:latin typeface="Consolas" panose="020B0609020204030204" charset="0"/>
                <a:cs typeface="Consolas" panose="020B0609020204030204" charset="0"/>
              </a:rPr>
              <a:t>.addWeightedEdge(2, 4, 4.0);		 Traffic_Consultation&lt;Character&gt; </a:t>
            </a:r>
            <a:r>
              <a:rPr lang="en-US" sz="1600" b="0">
                <a:solidFill>
                  <a:srgbClr val="6A3E3E"/>
                </a:solidFill>
                <a:latin typeface="Consolas" panose="020B0609020204030204" charset="0"/>
                <a:cs typeface="Consolas" panose="020B0609020204030204" charset="0"/>
              </a:rPr>
              <a:t>weightedPathAlg2</a:t>
            </a:r>
            <a:r>
              <a:rPr lang="en-US" sz="1600" b="0">
                <a:solidFill>
                  <a:srgbClr val="000000"/>
                </a:solidFill>
                <a:latin typeface="Consolas" panose="020B0609020204030204" charset="0"/>
                <a:cs typeface="Consolas" panose="020B0609020204030204" charset="0"/>
              </a:rPr>
              <a:t> = </a:t>
            </a:r>
            <a:r>
              <a:rPr lang="en-US" sz="1600" b="1">
                <a:solidFill>
                  <a:srgbClr val="7F0055"/>
                </a:solidFill>
                <a:latin typeface="Consolas" panose="020B0609020204030204" charset="0"/>
                <a:cs typeface="Consolas" panose="020B0609020204030204" charset="0"/>
              </a:rPr>
              <a:t>new</a:t>
            </a:r>
            <a:r>
              <a:rPr lang="en-US" sz="1600" b="0">
                <a:solidFill>
                  <a:srgbClr val="000000"/>
                </a:solidFill>
                <a:latin typeface="Consolas" panose="020B0609020204030204" charset="0"/>
                <a:cs typeface="Consolas" panose="020B0609020204030204" charset="0"/>
              </a:rPr>
              <a:t> Traffic_Consultation&lt;&gt;(</a:t>
            </a:r>
            <a:r>
              <a:rPr lang="en-US" sz="1600" b="0">
                <a:solidFill>
                  <a:srgbClr val="6A3E3E"/>
                </a:solidFill>
                <a:latin typeface="Consolas" panose="020B0609020204030204" charset="0"/>
                <a:cs typeface="Consolas" panose="020B0609020204030204" charset="0"/>
              </a:rPr>
              <a:t>Graph3</a:t>
            </a:r>
            <a:r>
              <a:rPr lang="en-US" sz="1600" b="0">
                <a:solidFill>
                  <a:srgbClr val="000000"/>
                </a:solidFill>
                <a:latin typeface="Consolas" panose="020B0609020204030204" charset="0"/>
                <a:cs typeface="Consolas" panose="020B0609020204030204" charset="0"/>
              </a:rPr>
              <a:t>);		 </a:t>
            </a:r>
            <a:r>
              <a:rPr lang="en-US" sz="1600" b="0">
                <a:solidFill>
                  <a:srgbClr val="6A3E3E"/>
                </a:solidFill>
                <a:latin typeface="Consolas" panose="020B0609020204030204" charset="0"/>
                <a:cs typeface="Consolas" panose="020B0609020204030204" charset="0"/>
              </a:rPr>
              <a:t>weightedPathAlg2</a:t>
            </a:r>
            <a:r>
              <a:rPr lang="en-US" sz="1600" b="0">
                <a:solidFill>
                  <a:srgbClr val="000000"/>
                </a:solidFill>
                <a:latin typeface="Consolas" panose="020B0609020204030204" charset="0"/>
                <a:cs typeface="Consolas" panose="020B0609020204030204" charset="0"/>
              </a:rPr>
              <a:t>.floyd(3);		 </a:t>
            </a:r>
            <a:r>
              <a:rPr lang="en-US" sz="1600" b="1">
                <a:solidFill>
                  <a:srgbClr val="7F0055"/>
                </a:solidFill>
                <a:latin typeface="Consolas" panose="020B0609020204030204" charset="0"/>
                <a:cs typeface="Consolas" panose="020B0609020204030204" charset="0"/>
              </a:rPr>
              <a:t>break</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case</a:t>
            </a:r>
            <a:r>
              <a:rPr lang="en-US" sz="1600" b="0">
                <a:solidFill>
                  <a:srgbClr val="000000"/>
                </a:solidFill>
                <a:latin typeface="Consolas" panose="020B0609020204030204" charset="0"/>
                <a:cs typeface="Consolas" panose="020B0609020204030204" charset="0"/>
              </a:rPr>
              <a:t> 4:		 </a:t>
            </a:r>
            <a:r>
              <a:rPr lang="en-US" sz="1600" b="0">
                <a:solidFill>
                  <a:srgbClr val="6A3E3E"/>
                </a:solidFill>
                <a:latin typeface="Consolas" panose="020B0609020204030204" charset="0"/>
                <a:cs typeface="Consolas" panose="020B0609020204030204" charset="0"/>
              </a:rPr>
              <a:t>flag</a:t>
            </a:r>
            <a:r>
              <a:rPr lang="en-US" sz="1600" b="0">
                <a:solidFill>
                  <a:srgbClr val="000000"/>
                </a:solidFill>
                <a:latin typeface="Consolas" panose="020B0609020204030204" charset="0"/>
                <a:cs typeface="Consolas" panose="020B0609020204030204" charset="0"/>
              </a:rPr>
              <a:t> = </a:t>
            </a:r>
            <a:r>
              <a:rPr lang="en-US" sz="1600" b="1">
                <a:solidFill>
                  <a:srgbClr val="7F0055"/>
                </a:solidFill>
                <a:latin typeface="Consolas" panose="020B0609020204030204" charset="0"/>
                <a:cs typeface="Consolas" panose="020B0609020204030204" charset="0"/>
              </a:rPr>
              <a:t>false</a:t>
            </a:r>
            <a:r>
              <a:rPr lang="en-US" sz="1600" b="0">
                <a:solidFill>
                  <a:srgbClr val="000000"/>
                </a:solidFill>
                <a:latin typeface="Consolas" panose="020B0609020204030204" charset="0"/>
                <a:cs typeface="Consolas" panose="020B0609020204030204" charset="0"/>
              </a:rPr>
              <a:t>;		 System.</a:t>
            </a:r>
            <a:r>
              <a:rPr lang="en-US" sz="1600" b="1" i="1">
                <a:solidFill>
                  <a:srgbClr val="0000C0"/>
                </a:solidFill>
                <a:latin typeface="Consolas" panose="020B0609020204030204" charset="0"/>
                <a:cs typeface="Consolas" panose="020B0609020204030204" charset="0"/>
              </a:rPr>
              <a:t>out</a:t>
            </a:r>
            <a:r>
              <a:rPr lang="en-US" sz="1600" b="0">
                <a:solidFill>
                  <a:srgbClr val="000000"/>
                </a:solidFill>
                <a:latin typeface="Consolas" panose="020B0609020204030204" charset="0"/>
                <a:cs typeface="Consolas" panose="020B0609020204030204" charset="0"/>
              </a:rPr>
              <a:t>.println(</a:t>
            </a:r>
            <a:r>
              <a:rPr lang="en-US" sz="1600" b="0">
                <a:solidFill>
                  <a:srgbClr val="2A00FF"/>
                </a:solidFill>
                <a:latin typeface="Consolas" panose="020B0609020204030204" charset="0"/>
                <a:cs typeface="Consolas" panose="020B0609020204030204" charset="0"/>
              </a:rPr>
              <a:t>"</a:t>
            </a:r>
            <a:r>
              <a:rPr lang="zh-CN" sz="1600" b="0">
                <a:solidFill>
                  <a:srgbClr val="2A00FF"/>
                </a:solidFill>
                <a:latin typeface="Consolas" panose="020B0609020204030204" charset="0"/>
                <a:cs typeface="Consolas" panose="020B0609020204030204" charset="0"/>
              </a:rPr>
              <a:t>查询结束</a:t>
            </a:r>
            <a:r>
              <a:rPr lang="en-US" sz="1600" b="0">
                <a:solidFill>
                  <a:srgbClr val="2A00FF"/>
                </a:solidFill>
                <a:latin typeface="Consolas" panose="020B0609020204030204" charset="0"/>
                <a:cs typeface="Consolas" panose="020B0609020204030204" charset="0"/>
              </a:rPr>
              <a:t>"</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break</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default</a:t>
            </a:r>
            <a:r>
              <a:rPr lang="en-US" sz="1600" b="0">
                <a:solidFill>
                  <a:srgbClr val="000000"/>
                </a:solidFill>
                <a:latin typeface="Consolas" panose="020B0609020204030204" charset="0"/>
                <a:cs typeface="Consolas" panose="020B0609020204030204" charset="0"/>
              </a:rPr>
              <a:t>:		 System.</a:t>
            </a:r>
            <a:r>
              <a:rPr lang="en-US" sz="1600" b="1" i="1">
                <a:solidFill>
                  <a:srgbClr val="0000C0"/>
                </a:solidFill>
                <a:latin typeface="Consolas" panose="020B0609020204030204" charset="0"/>
                <a:cs typeface="Consolas" panose="020B0609020204030204" charset="0"/>
              </a:rPr>
              <a:t>out</a:t>
            </a:r>
            <a:r>
              <a:rPr lang="en-US" sz="1600" b="0">
                <a:solidFill>
                  <a:srgbClr val="000000"/>
                </a:solidFill>
                <a:latin typeface="Consolas" panose="020B0609020204030204" charset="0"/>
                <a:cs typeface="Consolas" panose="020B0609020204030204" charset="0"/>
              </a:rPr>
              <a:t>.println(</a:t>
            </a:r>
            <a:r>
              <a:rPr lang="en-US" sz="1600" b="0">
                <a:solidFill>
                  <a:srgbClr val="2A00FF"/>
                </a:solidFill>
                <a:latin typeface="Consolas" panose="020B0609020204030204" charset="0"/>
                <a:cs typeface="Consolas" panose="020B0609020204030204" charset="0"/>
              </a:rPr>
              <a:t>"</a:t>
            </a:r>
            <a:r>
              <a:rPr lang="zh-CN" sz="1600" b="0">
                <a:solidFill>
                  <a:srgbClr val="2A00FF"/>
                </a:solidFill>
                <a:latin typeface="Consolas" panose="020B0609020204030204" charset="0"/>
                <a:cs typeface="Consolas" panose="020B0609020204030204" charset="0"/>
              </a:rPr>
              <a:t>输入有错误，请重新输入！</a:t>
            </a:r>
            <a:r>
              <a:rPr lang="en-US" sz="1600" b="0">
                <a:solidFill>
                  <a:srgbClr val="2A00FF"/>
                </a:solidFill>
                <a:latin typeface="Consolas" panose="020B0609020204030204" charset="0"/>
                <a:cs typeface="Consolas" panose="020B0609020204030204" charset="0"/>
              </a:rPr>
              <a:t>"</a:t>
            </a:r>
            <a:r>
              <a:rPr lang="en-US" sz="1600" b="0">
                <a:solidFill>
                  <a:srgbClr val="000000"/>
                </a:solidFill>
                <a:latin typeface="Consolas" panose="020B0609020204030204" charset="0"/>
                <a:cs typeface="Consolas" panose="020B0609020204030204" charset="0"/>
              </a:rPr>
              <a:t>);		 </a:t>
            </a:r>
            <a:r>
              <a:rPr lang="en-US" sz="1600" b="1">
                <a:solidFill>
                  <a:srgbClr val="7F0055"/>
                </a:solidFill>
                <a:latin typeface="Consolas" panose="020B0609020204030204" charset="0"/>
                <a:cs typeface="Consolas" panose="020B0609020204030204" charset="0"/>
              </a:rPr>
              <a:t>break</a:t>
            </a:r>
            <a:r>
              <a:rPr lang="en-US" sz="1600" b="0">
                <a:solidFill>
                  <a:srgbClr val="000000"/>
                </a:solidFill>
                <a:latin typeface="Consolas" panose="020B0609020204030204" charset="0"/>
                <a:cs typeface="Consolas" panose="020B0609020204030204" charset="0"/>
              </a:rPr>
              <a:t>;	 }      }   }}</a:t>
            </a:r>
            <a:endParaRPr lang="en-US" altLang="en-US" sz="1600" b="0">
              <a:solidFill>
                <a:srgbClr val="000000"/>
              </a:solidFill>
              <a:latin typeface="Consolas" panose="020B0609020204030204" charset="0"/>
              <a:cs typeface="Consolas" panose="020B0609020204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29285" y="461645"/>
            <a:ext cx="2403475" cy="645160"/>
          </a:xfrm>
          <a:prstGeom prst="rect">
            <a:avLst/>
          </a:prstGeom>
          <a:noFill/>
        </p:spPr>
        <p:txBody>
          <a:bodyPr wrap="square" rtlCol="0">
            <a:spAutoFit/>
          </a:bodyPr>
          <a:p>
            <a:r>
              <a:rPr lang="zh-CN" altLang="en-US" sz="3600" b="1">
                <a:latin typeface="宋体" panose="02010600030101010101" pitchFamily="2" charset="-122"/>
                <a:ea typeface="宋体" panose="02010600030101010101" pitchFamily="2" charset="-122"/>
                <a:cs typeface="幼圆" panose="02010509060101010101" pitchFamily="49" charset="-122"/>
              </a:rPr>
              <a:t>测试结果</a:t>
            </a:r>
            <a:endParaRPr lang="zh-CN" altLang="en-US" sz="3600" b="1">
              <a:latin typeface="宋体" panose="02010600030101010101" pitchFamily="2" charset="-122"/>
              <a:ea typeface="宋体" panose="02010600030101010101" pitchFamily="2" charset="-122"/>
              <a:cs typeface="幼圆" panose="02010509060101010101" pitchFamily="49" charset="-122"/>
            </a:endParaRPr>
          </a:p>
        </p:txBody>
      </p:sp>
      <p:pic>
        <p:nvPicPr>
          <p:cNvPr id="2" name="图片 -2147482617"/>
          <p:cNvPicPr>
            <a:picLocks noChangeAspect="1"/>
          </p:cNvPicPr>
          <p:nvPr/>
        </p:nvPicPr>
        <p:blipFill>
          <a:blip r:embed="rId1"/>
          <a:stretch>
            <a:fillRect/>
          </a:stretch>
        </p:blipFill>
        <p:spPr>
          <a:xfrm>
            <a:off x="234315" y="1429385"/>
            <a:ext cx="3694430" cy="5221605"/>
          </a:xfrm>
          <a:prstGeom prst="rect">
            <a:avLst/>
          </a:prstGeom>
          <a:noFill/>
          <a:ln w="9525">
            <a:noFill/>
          </a:ln>
        </p:spPr>
      </p:pic>
      <p:pic>
        <p:nvPicPr>
          <p:cNvPr id="3" name="图片 -2147482616"/>
          <p:cNvPicPr>
            <a:picLocks noChangeAspect="1"/>
          </p:cNvPicPr>
          <p:nvPr/>
        </p:nvPicPr>
        <p:blipFill>
          <a:blip r:embed="rId2"/>
          <a:stretch>
            <a:fillRect/>
          </a:stretch>
        </p:blipFill>
        <p:spPr>
          <a:xfrm>
            <a:off x="4521835" y="710565"/>
            <a:ext cx="3596005" cy="5437505"/>
          </a:xfrm>
          <a:prstGeom prst="rect">
            <a:avLst/>
          </a:prstGeom>
          <a:noFill/>
          <a:ln w="9525">
            <a:noFill/>
          </a:ln>
        </p:spPr>
      </p:pic>
      <p:pic>
        <p:nvPicPr>
          <p:cNvPr id="4" name="图片 -2147482614"/>
          <p:cNvPicPr>
            <a:picLocks noChangeAspect="1"/>
          </p:cNvPicPr>
          <p:nvPr/>
        </p:nvPicPr>
        <p:blipFill>
          <a:blip r:embed="rId3"/>
          <a:stretch>
            <a:fillRect/>
          </a:stretch>
        </p:blipFill>
        <p:spPr>
          <a:xfrm>
            <a:off x="8610600" y="161925"/>
            <a:ext cx="3388360" cy="56578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250">
        <p:split orient="vert"/>
      </p:transition>
    </mc:Choice>
    <mc:Fallback>
      <p:transition spd="slow">
        <p:split orient="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1">
            <a:extLst>
              <a:ext uri="{BEBA8EAE-BF5A-486C-A8C5-ECC9F3942E4B}">
                <a14:imgProps xmlns:a14="http://schemas.microsoft.com/office/drawing/2010/main">
                  <a14:imgLayer r:embed="rId2">
                    <a14:imgEffect>
                      <a14:backgroundRemoval t="10000" b="90000" l="750" r="96375">
                        <a14:foregroundMark x1="10375" y1="34375" x2="8625" y2="33250"/>
                        <a14:foregroundMark x1="88375" y1="35125" x2="96375" y2="32375"/>
                        <a14:foregroundMark x1="10625" y1="73000" x2="8625" y2="80875"/>
                        <a14:foregroundMark x1="17500" y1="41375" x2="7250" y2="83125"/>
                        <a14:foregroundMark x1="40250" y1="61750" x2="67375" y2="53750"/>
                        <a14:foregroundMark x1="67375" y1="53750" x2="35875" y2="65625"/>
                        <a14:foregroundMark x1="35875" y1="65625" x2="27875" y2="65625"/>
                        <a14:foregroundMark x1="6500" y1="81250" x2="750" y2="81250"/>
                      </a14:backgroundRemoval>
                    </a14:imgEffect>
                  </a14:imgLayer>
                </a14:imgProps>
              </a:ext>
            </a:extLst>
          </a:blip>
          <a:stretch>
            <a:fillRect/>
          </a:stretch>
        </p:blipFill>
        <p:spPr>
          <a:xfrm>
            <a:off x="562928" y="284798"/>
            <a:ext cx="1845945" cy="1626235"/>
          </a:xfrm>
          <a:prstGeom prst="rect">
            <a:avLst/>
          </a:prstGeom>
          <a:noFill/>
          <a:ln w="9525">
            <a:noFill/>
          </a:ln>
        </p:spPr>
      </p:pic>
      <p:sp>
        <p:nvSpPr>
          <p:cNvPr id="3" name="文本框 2"/>
          <p:cNvSpPr txBox="1"/>
          <p:nvPr/>
        </p:nvSpPr>
        <p:spPr>
          <a:xfrm>
            <a:off x="2459990" y="591185"/>
            <a:ext cx="2355850" cy="1014730"/>
          </a:xfrm>
          <a:prstGeom prst="rect">
            <a:avLst/>
          </a:prstGeom>
          <a:noFill/>
        </p:spPr>
        <p:txBody>
          <a:bodyPr wrap="square" rtlCol="0">
            <a:spAutoFit/>
          </a:bodyPr>
          <a:p>
            <a:r>
              <a:rPr lang="zh-CN" altLang="en-US" sz="6000" b="1">
                <a:effectLst>
                  <a:outerShdw blurRad="38100" dist="38100" dir="2700000" algn="tl">
                    <a:srgbClr val="000000">
                      <a:alpha val="43137"/>
                    </a:srgbClr>
                  </a:outerShdw>
                </a:effectLst>
                <a:latin typeface="华文新魏" panose="02010800040101010101" charset="-122"/>
                <a:ea typeface="华文新魏" panose="02010800040101010101" charset="-122"/>
              </a:rPr>
              <a:t>致谢</a:t>
            </a:r>
            <a:endParaRPr lang="zh-CN" altLang="en-US" sz="6000" b="1">
              <a:effectLst>
                <a:outerShdw blurRad="38100" dist="38100" dir="2700000" algn="tl">
                  <a:srgbClr val="000000">
                    <a:alpha val="43137"/>
                  </a:srgbClr>
                </a:outerShdw>
              </a:effectLst>
              <a:latin typeface="华文新魏" panose="02010800040101010101" charset="-122"/>
              <a:ea typeface="华文新魏" panose="02010800040101010101" charset="-122"/>
            </a:endParaRPr>
          </a:p>
        </p:txBody>
      </p:sp>
      <p:pic>
        <p:nvPicPr>
          <p:cNvPr id="4" name="图片 1" descr="卡通扁平化放大镜圆形图标素材免费下载 - 觅知网"/>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7262" y1="18810" x2="16786" y2="38690"/>
                        <a14:foregroundMark x1="16786" y1="38690" x2="26310" y2="62500"/>
                        <a14:foregroundMark x1="26310" y1="62500" x2="44048" y2="79881"/>
                        <a14:foregroundMark x1="44048" y1="79881" x2="69762" y2="66548"/>
                        <a14:foregroundMark x1="69762" y1="66548" x2="76071" y2="32857"/>
                        <a14:foregroundMark x1="76071" y1="32857" x2="57024" y2="23214"/>
                        <a14:foregroundMark x1="57024" y1="23214" x2="53214" y2="23214"/>
                        <a14:foregroundMark x1="64167" y1="37143" x2="43333" y2="63452"/>
                        <a14:foregroundMark x1="58095" y1="36071" x2="40357" y2="66548"/>
                        <a14:foregroundMark x1="50119" y1="29405" x2="31786" y2="57619"/>
                        <a14:foregroundMark x1="31786" y1="57619" x2="31310" y2="59762"/>
                        <a14:foregroundMark x1="36905" y1="24286" x2="22619" y2="45238"/>
                        <a14:foregroundMark x1="22619" y1="45238" x2="21429" y2="48810"/>
                        <a14:foregroundMark x1="42262" y1="28095" x2="46071" y2="52619"/>
                        <a14:foregroundMark x1="46071" y1="52619" x2="49524" y2="57976"/>
                        <a14:foregroundMark x1="48095" y1="28929" x2="29762" y2="42381"/>
                        <a14:foregroundMark x1="41548" y1="27381" x2="26310" y2="37738"/>
                        <a14:foregroundMark x1="26310" y1="37738" x2="25952" y2="38214"/>
                        <a14:foregroundMark x1="37143" y1="26905" x2="55714" y2="31190"/>
                        <a14:foregroundMark x1="55714" y1="31190" x2="60476" y2="51667"/>
                        <a14:foregroundMark x1="60476" y1="51667" x2="50952" y2="60000"/>
                        <a14:foregroundMark x1="60000" y1="28333" x2="45714" y2="25238"/>
                      </a14:backgroundRemoval>
                    </a14:imgEffect>
                  </a14:imgLayer>
                </a14:imgProps>
              </a:ext>
              <a:ext uri="{28A0092B-C50C-407E-A947-70E740481C1C}">
                <a14:useLocalDpi xmlns:a14="http://schemas.microsoft.com/office/drawing/2010/main" val="0"/>
              </a:ext>
            </a:extLst>
          </a:blip>
          <a:srcRect/>
          <a:stretch>
            <a:fillRect/>
          </a:stretch>
        </p:blipFill>
        <p:spPr bwMode="auto">
          <a:xfrm rot="5040000">
            <a:off x="10660380" y="5344160"/>
            <a:ext cx="1124585" cy="1124585"/>
          </a:xfrm>
          <a:prstGeom prst="rect">
            <a:avLst/>
          </a:prstGeom>
          <a:noFill/>
          <a:ln>
            <a:noFill/>
          </a:ln>
        </p:spPr>
      </p:pic>
      <p:sp>
        <p:nvSpPr>
          <p:cNvPr id="5" name="文本框 4"/>
          <p:cNvSpPr txBox="1"/>
          <p:nvPr/>
        </p:nvSpPr>
        <p:spPr>
          <a:xfrm>
            <a:off x="1967230" y="2374265"/>
            <a:ext cx="8058785" cy="2861310"/>
          </a:xfrm>
          <a:prstGeom prst="rect">
            <a:avLst/>
          </a:prstGeom>
          <a:noFill/>
        </p:spPr>
        <p:txBody>
          <a:bodyPr wrap="square" rtlCol="0">
            <a:spAutoFit/>
          </a:bodyPr>
          <a:p>
            <a:pPr algn="ctr"/>
            <a:r>
              <a:rPr lang="en-US" altLang="zh-CN"/>
              <a:t>       </a:t>
            </a:r>
            <a:r>
              <a:rPr lang="zh-CN" altLang="en-US">
                <a:sym typeface="+mn-ea"/>
              </a:rPr>
              <a:t>在疫情这个特殊时期</a:t>
            </a:r>
            <a:r>
              <a:rPr lang="en-US" altLang="zh-CN"/>
              <a:t> </a:t>
            </a:r>
            <a:r>
              <a:rPr lang="zh-CN" altLang="en-US"/>
              <a:t>：</a:t>
            </a:r>
            <a:r>
              <a:rPr lang="en-US" altLang="zh-CN"/>
              <a:t>   </a:t>
            </a:r>
            <a:endParaRPr lang="en-US" altLang="zh-CN"/>
          </a:p>
          <a:p>
            <a:pPr algn="ctr"/>
            <a:r>
              <a:rPr lang="en-US" altLang="zh-CN"/>
              <a:t>    </a:t>
            </a:r>
            <a:r>
              <a:rPr lang="zh-CN" altLang="en-US"/>
              <a:t>感谢学校为我们提供一次能将课本知识运用到实际工程应用中的机会。</a:t>
            </a:r>
            <a:r>
              <a:rPr lang="en-US" altLang="zh-CN"/>
              <a:t>     </a:t>
            </a:r>
            <a:endParaRPr lang="en-US" altLang="zh-CN"/>
          </a:p>
          <a:p>
            <a:pPr algn="ctr"/>
            <a:r>
              <a:rPr lang="en-US" altLang="zh-CN"/>
              <a:t>       </a:t>
            </a:r>
            <a:r>
              <a:rPr lang="zh-CN" altLang="en-US"/>
              <a:t>感谢老师们的悉心教导，使我们在获得知识的同时亦提升了自身独立解决问题的</a:t>
            </a:r>
            <a:r>
              <a:rPr lang="zh-CN" altLang="en-US"/>
              <a:t>能力。</a:t>
            </a:r>
            <a:endParaRPr lang="zh-CN" altLang="en-US"/>
          </a:p>
          <a:p>
            <a:pPr algn="ctr"/>
            <a:r>
              <a:rPr lang="en-US" altLang="zh-CN"/>
              <a:t>       </a:t>
            </a:r>
            <a:r>
              <a:rPr lang="zh-CN" altLang="en-US"/>
              <a:t>感谢小组成员们的陪伴与帮助，使我们的课设能顺利进行，增强了团结互助精神以及</a:t>
            </a:r>
            <a:r>
              <a:rPr lang="zh-CN" altLang="en-US"/>
              <a:t>集体意识。</a:t>
            </a:r>
            <a:endParaRPr lang="zh-CN" altLang="en-US"/>
          </a:p>
          <a:p>
            <a:pPr algn="ctr"/>
            <a:r>
              <a:rPr lang="en-US" altLang="zh-CN"/>
              <a:t>      </a:t>
            </a:r>
            <a:endParaRPr lang="en-US" altLang="zh-CN"/>
          </a:p>
          <a:p>
            <a:pPr algn="ctr"/>
            <a:endParaRPr lang="en-US" altLang="zh-CN"/>
          </a:p>
          <a:p>
            <a:pPr algn="ctr"/>
            <a:r>
              <a:rPr lang="en-US" altLang="zh-CN"/>
              <a:t>       </a:t>
            </a:r>
            <a:r>
              <a:rPr lang="zh-CN" altLang="en-US"/>
              <a:t>最后，向参与此次答辩的老师致以深深的谢意</a:t>
            </a:r>
            <a:endParaRPr lang="zh-CN" altLang="en-US"/>
          </a:p>
          <a:p>
            <a:pPr algn="ctr"/>
            <a:r>
              <a:rPr lang="en-US" altLang="zh-CN"/>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50">
        <p:split orient="vert"/>
      </p:transition>
    </mc:Choice>
    <mc:Fallback>
      <p:transition spd="slow">
        <p:split orient="vert"/>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2990,&quot;width&quot;:9630}"/>
</p:tagLst>
</file>

<file path=ppt/tags/tag2.xml><?xml version="1.0" encoding="utf-8"?>
<p:tagLst xmlns:p="http://schemas.openxmlformats.org/presentationml/2006/main">
  <p:tag name="KSO_WM_UNIT_TABLE_BEAUTIFY" val="smartTable{856bd994-c109-4268-9fb0-0d9c4305d889}"/>
  <p:tag name="TABLE_ENDDRAG_ORIGIN_RECT" val="362*131"/>
  <p:tag name="TABLE_ENDDRAG_RECT" val="570*351*362*131"/>
</p:tagLst>
</file>

<file path=ppt/tags/tag3.xml><?xml version="1.0" encoding="utf-8"?>
<p:tagLst xmlns:p="http://schemas.openxmlformats.org/presentationml/2006/main">
  <p:tag name="KSO_WPP_MARK_KEY" val="28c41c1d-7f28-4af1-ab25-f71b32eb3fc5"/>
  <p:tag name="COMMONDATA" val="eyJoZGlkIjoiYzNiMmUwMGRjMzFiNDAzMDJkMzJkMDE4YWU3YjEzMWUifQ=="/>
</p:tagLst>
</file>

<file path=ppt/theme/theme1.xml><?xml version="1.0" encoding="utf-8"?>
<a:theme xmlns:a="http://schemas.openxmlformats.org/drawingml/2006/main" name="千图海量PPT模板www.58pic.com​​">
  <a:themeElements>
    <a:clrScheme name="自定义 262">
      <a:dk1>
        <a:sysClr val="windowText" lastClr="000000"/>
      </a:dk1>
      <a:lt1>
        <a:sysClr val="window" lastClr="FFFFFF"/>
      </a:lt1>
      <a:dk2>
        <a:srgbClr val="44546A"/>
      </a:dk2>
      <a:lt2>
        <a:srgbClr val="E7E6E6"/>
      </a:lt2>
      <a:accent1>
        <a:srgbClr val="B8D5D7"/>
      </a:accent1>
      <a:accent2>
        <a:srgbClr val="A9A3D0"/>
      </a:accent2>
      <a:accent3>
        <a:srgbClr val="B8D5D7"/>
      </a:accent3>
      <a:accent4>
        <a:srgbClr val="A9A3D0"/>
      </a:accent4>
      <a:accent5>
        <a:srgbClr val="B8D5D7"/>
      </a:accent5>
      <a:accent6>
        <a:srgbClr val="A9A3D0"/>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千图海量PPT模板www.58pic.com​​">
  <a:themeElements>
    <a:clrScheme name="自定义 262">
      <a:dk1>
        <a:sysClr val="windowText" lastClr="000000"/>
      </a:dk1>
      <a:lt1>
        <a:sysClr val="window" lastClr="FFFFFF"/>
      </a:lt1>
      <a:dk2>
        <a:srgbClr val="44546A"/>
      </a:dk2>
      <a:lt2>
        <a:srgbClr val="E7E6E6"/>
      </a:lt2>
      <a:accent1>
        <a:srgbClr val="B8D5D7"/>
      </a:accent1>
      <a:accent2>
        <a:srgbClr val="A9A3D0"/>
      </a:accent2>
      <a:accent3>
        <a:srgbClr val="B8D5D7"/>
      </a:accent3>
      <a:accent4>
        <a:srgbClr val="A9A3D0"/>
      </a:accent4>
      <a:accent5>
        <a:srgbClr val="B8D5D7"/>
      </a:accent5>
      <a:accent6>
        <a:srgbClr val="A9A3D0"/>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8782</Words>
  <Application>WPS 演示</Application>
  <PresentationFormat>宽屏</PresentationFormat>
  <Paragraphs>506</Paragraphs>
  <Slides>25</Slides>
  <Notes>17</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25</vt:i4>
      </vt:variant>
    </vt:vector>
  </HeadingPairs>
  <TitlesOfParts>
    <vt:vector size="39" baseType="lpstr">
      <vt:lpstr>Arial</vt:lpstr>
      <vt:lpstr>宋体</vt:lpstr>
      <vt:lpstr>Wingdings</vt:lpstr>
      <vt:lpstr>幼圆</vt:lpstr>
      <vt:lpstr>Consolas</vt:lpstr>
      <vt:lpstr>Times New Roman</vt:lpstr>
      <vt:lpstr>微软雅黑</vt:lpstr>
      <vt:lpstr>Arial Unicode MS</vt:lpstr>
      <vt:lpstr>等线 Light</vt:lpstr>
      <vt:lpstr>等线</vt:lpstr>
      <vt:lpstr>华文新魏</vt:lpstr>
      <vt:lpstr>Calibri</vt:lpstr>
      <vt:lpstr>千图海量PPT模板www.58pic.com​​</vt:lpstr>
      <vt:lpstr>1_千图海量PPT模板www.58pic.com​​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dc:description>http://www.ypppt.com/</dc:description>
  <cp:lastModifiedBy>-[氐调]。</cp:lastModifiedBy>
  <cp:revision>32</cp:revision>
  <dcterms:created xsi:type="dcterms:W3CDTF">2018-05-16T09:32:00Z</dcterms:created>
  <dcterms:modified xsi:type="dcterms:W3CDTF">2023-01-10T04:47:50Z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3372E67297F24168B4C8EB32BC115F32</vt:lpwstr>
  </property>
  <property fmtid="{D5CDD505-2E9C-101B-9397-08002B2CF9AE}" pid="3" name="KSOProductBuildVer">
    <vt:lpwstr>2052-11.1.0.12763</vt:lpwstr>
  </property>
</Properties>
</file>