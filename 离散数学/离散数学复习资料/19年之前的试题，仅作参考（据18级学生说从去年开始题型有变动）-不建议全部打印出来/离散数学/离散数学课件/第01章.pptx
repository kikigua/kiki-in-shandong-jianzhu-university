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0" r:id="rId1"/>
  </p:sldMasterIdLst>
  <p:notesMasterIdLst>
    <p:notesMasterId r:id="rId114"/>
  </p:notesMasterIdLst>
  <p:handoutMasterIdLst>
    <p:handoutMasterId r:id="rId115"/>
  </p:handoutMasterIdLst>
  <p:sldIdLst>
    <p:sldId id="375" r:id="rId2"/>
    <p:sldId id="594" r:id="rId3"/>
    <p:sldId id="376" r:id="rId4"/>
    <p:sldId id="377" r:id="rId5"/>
    <p:sldId id="262" r:id="rId6"/>
    <p:sldId id="263" r:id="rId7"/>
    <p:sldId id="264" r:id="rId8"/>
    <p:sldId id="380" r:id="rId9"/>
    <p:sldId id="379" r:id="rId10"/>
    <p:sldId id="383" r:id="rId11"/>
    <p:sldId id="384" r:id="rId12"/>
    <p:sldId id="385" r:id="rId13"/>
    <p:sldId id="402" r:id="rId14"/>
    <p:sldId id="386" r:id="rId15"/>
    <p:sldId id="387" r:id="rId16"/>
    <p:sldId id="388" r:id="rId17"/>
    <p:sldId id="389" r:id="rId18"/>
    <p:sldId id="390" r:id="rId19"/>
    <p:sldId id="391" r:id="rId20"/>
    <p:sldId id="455" r:id="rId21"/>
    <p:sldId id="393" r:id="rId22"/>
    <p:sldId id="405" r:id="rId23"/>
    <p:sldId id="400" r:id="rId24"/>
    <p:sldId id="266" r:id="rId25"/>
    <p:sldId id="407" r:id="rId26"/>
    <p:sldId id="459" r:id="rId27"/>
    <p:sldId id="408" r:id="rId28"/>
    <p:sldId id="460" r:id="rId29"/>
    <p:sldId id="410" r:id="rId30"/>
    <p:sldId id="607" r:id="rId31"/>
    <p:sldId id="595" r:id="rId32"/>
    <p:sldId id="596" r:id="rId33"/>
    <p:sldId id="597" r:id="rId34"/>
    <p:sldId id="406" r:id="rId35"/>
    <p:sldId id="267" r:id="rId36"/>
    <p:sldId id="270" r:id="rId37"/>
    <p:sldId id="461" r:id="rId38"/>
    <p:sldId id="395" r:id="rId39"/>
    <p:sldId id="273" r:id="rId40"/>
    <p:sldId id="579" r:id="rId41"/>
    <p:sldId id="572" r:id="rId42"/>
    <p:sldId id="483" r:id="rId43"/>
    <p:sldId id="484" r:id="rId44"/>
    <p:sldId id="276" r:id="rId45"/>
    <p:sldId id="485" r:id="rId46"/>
    <p:sldId id="277" r:id="rId47"/>
    <p:sldId id="412" r:id="rId48"/>
    <p:sldId id="465" r:id="rId49"/>
    <p:sldId id="413" r:id="rId50"/>
    <p:sldId id="466" r:id="rId51"/>
    <p:sldId id="414" r:id="rId52"/>
    <p:sldId id="467" r:id="rId53"/>
    <p:sldId id="415" r:id="rId54"/>
    <p:sldId id="601" r:id="rId55"/>
    <p:sldId id="602" r:id="rId56"/>
    <p:sldId id="600" r:id="rId57"/>
    <p:sldId id="562" r:id="rId58"/>
    <p:sldId id="563" r:id="rId59"/>
    <p:sldId id="564" r:id="rId60"/>
    <p:sldId id="565" r:id="rId61"/>
    <p:sldId id="566" r:id="rId62"/>
    <p:sldId id="567" r:id="rId63"/>
    <p:sldId id="568" r:id="rId64"/>
    <p:sldId id="569" r:id="rId65"/>
    <p:sldId id="570" r:id="rId66"/>
    <p:sldId id="581" r:id="rId67"/>
    <p:sldId id="582" r:id="rId68"/>
    <p:sldId id="583" r:id="rId69"/>
    <p:sldId id="584" r:id="rId70"/>
    <p:sldId id="452" r:id="rId71"/>
    <p:sldId id="498" r:id="rId72"/>
    <p:sldId id="422" r:id="rId73"/>
    <p:sldId id="497" r:id="rId74"/>
    <p:sldId id="453" r:id="rId75"/>
    <p:sldId id="423" r:id="rId76"/>
    <p:sldId id="454" r:id="rId77"/>
    <p:sldId id="424" r:id="rId78"/>
    <p:sldId id="425" r:id="rId79"/>
    <p:sldId id="471" r:id="rId80"/>
    <p:sldId id="426" r:id="rId81"/>
    <p:sldId id="608" r:id="rId82"/>
    <p:sldId id="472" r:id="rId83"/>
    <p:sldId id="586" r:id="rId84"/>
    <p:sldId id="427" r:id="rId85"/>
    <p:sldId id="473" r:id="rId86"/>
    <p:sldId id="501" r:id="rId87"/>
    <p:sldId id="493" r:id="rId88"/>
    <p:sldId id="428" r:id="rId89"/>
    <p:sldId id="474" r:id="rId90"/>
    <p:sldId id="494" r:id="rId91"/>
    <p:sldId id="475" r:id="rId92"/>
    <p:sldId id="430" r:id="rId93"/>
    <p:sldId id="477" r:id="rId94"/>
    <p:sldId id="544" r:id="rId95"/>
    <p:sldId id="545" r:id="rId96"/>
    <p:sldId id="546" r:id="rId97"/>
    <p:sldId id="543" r:id="rId98"/>
    <p:sldId id="480" r:id="rId99"/>
    <p:sldId id="479" r:id="rId100"/>
    <p:sldId id="434" r:id="rId101"/>
    <p:sldId id="481" r:id="rId102"/>
    <p:sldId id="589" r:id="rId103"/>
    <p:sldId id="482" r:id="rId104"/>
    <p:sldId id="436" r:id="rId105"/>
    <p:sldId id="611" r:id="rId106"/>
    <p:sldId id="437" r:id="rId107"/>
    <p:sldId id="503" r:id="rId108"/>
    <p:sldId id="438" r:id="rId109"/>
    <p:sldId id="439" r:id="rId110"/>
    <p:sldId id="440" r:id="rId111"/>
    <p:sldId id="609" r:id="rId112"/>
    <p:sldId id="605" r:id="rId113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C330"/>
    <a:srgbClr val="009900"/>
    <a:srgbClr val="00CCFF"/>
    <a:srgbClr val="FFCCFF"/>
    <a:srgbClr val="FFCC99"/>
    <a:srgbClr val="FF0066"/>
    <a:srgbClr val="FF33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32" autoAdjust="0"/>
    <p:restoredTop sz="95487" autoAdjust="0"/>
  </p:normalViewPr>
  <p:slideViewPr>
    <p:cSldViewPr>
      <p:cViewPr>
        <p:scale>
          <a:sx n="60" d="100"/>
          <a:sy n="60" d="100"/>
        </p:scale>
        <p:origin x="-1596" y="-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2720"/>
    </p:cViewPr>
  </p:sorterViewPr>
  <p:notesViewPr>
    <p:cSldViewPr>
      <p:cViewPr varScale="1">
        <p:scale>
          <a:sx n="54" d="100"/>
          <a:sy n="54" d="100"/>
        </p:scale>
        <p:origin x="-1200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viewProps" Target="viewProps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slide" Target="slides/slide101.xml"/><Relationship Id="rId110" Type="http://schemas.openxmlformats.org/officeDocument/2006/relationships/slide" Target="slides/slide109.xml"/><Relationship Id="rId11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slide" Target="slides/slide112.xml"/><Relationship Id="rId11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notesMaster" Target="notesMasters/notesMaster1.xml"/><Relationship Id="rId119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416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1"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416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1"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416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1" sz="1200" b="0"/>
            </a:lvl1pPr>
          </a:lstStyle>
          <a:p>
            <a:pPr>
              <a:defRPr/>
            </a:pPr>
            <a:fld id="{5AD7AD30-CB3D-4CCA-8B7B-32E2436F3F3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8883686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1"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28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44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1044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1"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44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1" sz="1200" b="0"/>
            </a:lvl1pPr>
          </a:lstStyle>
          <a:p>
            <a:pPr>
              <a:defRPr/>
            </a:pPr>
            <a:fld id="{47E7ADEA-97DF-402E-AF7B-0970A7E107C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6372629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1728788"/>
            <a:ext cx="9009063" cy="1052512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9" y="2640"/>
                <a:ext cx="335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/>
            </a:p>
          </p:txBody>
        </p:sp>
      </p:grpSp>
      <p:sp>
        <p:nvSpPr>
          <p:cNvPr id="405516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1062038" y="1196975"/>
            <a:ext cx="7397750" cy="122396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</a:p>
        </p:txBody>
      </p:sp>
      <p:sp>
        <p:nvSpPr>
          <p:cNvPr id="405517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2924175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</a:p>
        </p:txBody>
      </p:sp>
      <p:sp>
        <p:nvSpPr>
          <p:cNvPr id="14" name="Rectangle 15"/>
          <p:cNvSpPr>
            <a:spLocks noGrp="1" noChangeArrowheads="1"/>
          </p:cNvSpPr>
          <p:nvPr>
            <p:ph type="ftr" sz="quarter" idx="10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52642078"/>
      </p:ext>
    </p:extLst>
  </p:cSld>
  <p:clrMapOvr>
    <a:masterClrMapping/>
  </p:clrMapOvr>
  <p:transition spd="slow">
    <p:pull dir="ru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DCCFEF-3015-4D62-B264-71501EB01ED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78013490"/>
      </p:ext>
    </p:extLst>
  </p:cSld>
  <p:clrMapOvr>
    <a:masterClrMapping/>
  </p:clrMapOvr>
  <p:transition spd="slow">
    <p:pull dir="ru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C82C69-1B54-4C40-AA42-C9FACEC3D23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01217675"/>
      </p:ext>
    </p:extLst>
  </p:cSld>
  <p:clrMapOvr>
    <a:masterClrMapping/>
  </p:clrMapOvr>
  <p:transition spd="slow">
    <p:pull dir="ru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27088" y="1628775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9488" y="1628775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60F55A-D7BE-4380-9D1A-BF6EF83C222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31918922"/>
      </p:ext>
    </p:extLst>
  </p:cSld>
  <p:clrMapOvr>
    <a:masterClrMapping/>
  </p:clrMapOvr>
  <p:transition spd="slow">
    <p:pull dir="ru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440E60-351A-4EFF-B78F-634890E704E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81269294"/>
      </p:ext>
    </p:extLst>
  </p:cSld>
  <p:clrMapOvr>
    <a:masterClrMapping/>
  </p:clrMapOvr>
  <p:transition spd="slow">
    <p:pull dir="r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D55D54-AAC8-44A7-A3B6-4764A522DB2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47796858"/>
      </p:ext>
    </p:extLst>
  </p:cSld>
  <p:clrMapOvr>
    <a:masterClrMapping/>
  </p:clrMapOvr>
  <p:transition spd="slow">
    <p:pull dir="r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1FF6FA-8A47-4F54-87EE-BAFBF3EF18F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71979276"/>
      </p:ext>
    </p:extLst>
  </p:cSld>
  <p:clrMapOvr>
    <a:masterClrMapping/>
  </p:clrMapOvr>
  <p:transition spd="slow">
    <p:pull dir="r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lnSpc>
                <a:spcPct val="130000"/>
              </a:lnSpc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lnSpc>
                <a:spcPct val="130000"/>
              </a:lnSpc>
              <a:defRPr sz="3200"/>
            </a:lvl1pPr>
            <a:lvl2pPr>
              <a:lnSpc>
                <a:spcPct val="130000"/>
              </a:lnSpc>
              <a:defRPr sz="2800"/>
            </a:lvl2pPr>
            <a:lvl3pPr>
              <a:lnSpc>
                <a:spcPct val="130000"/>
              </a:lnSpc>
              <a:defRPr sz="2400"/>
            </a:lvl3pPr>
            <a:lvl4pPr>
              <a:lnSpc>
                <a:spcPct val="130000"/>
              </a:lnSpc>
              <a:defRPr sz="2000"/>
            </a:lvl4pPr>
            <a:lvl5pPr>
              <a:lnSpc>
                <a:spcPct val="130000"/>
              </a:lnSpc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lnSpc>
                <a:spcPct val="130000"/>
              </a:lnSpc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lnSpc>
                <a:spcPct val="130000"/>
              </a:lnSpc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lnSpc>
                <a:spcPct val="130000"/>
              </a:lnSpc>
              <a:defRPr/>
            </a:lvl1pPr>
          </a:lstStyle>
          <a:p>
            <a:pPr>
              <a:defRPr/>
            </a:pPr>
            <a:fld id="{5724AC56-E586-4BCB-8C79-225BD2DED9E9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87967009"/>
      </p:ext>
    </p:extLst>
  </p:cSld>
  <p:clrMapOvr>
    <a:masterClrMapping/>
  </p:clrMapOvr>
  <p:transition spd="slow">
    <p:pull dir="r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lnSpc>
                <a:spcPct val="130000"/>
              </a:lnSpc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lnSpc>
                <a:spcPct val="130000"/>
              </a:lnSpc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lnSpc>
                <a:spcPct val="130000"/>
              </a:lnSpc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lnSpc>
                <a:spcPct val="130000"/>
              </a:lnSpc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lnSpc>
                <a:spcPct val="130000"/>
              </a:lnSpc>
              <a:defRPr/>
            </a:lvl1pPr>
          </a:lstStyle>
          <a:p>
            <a:pPr>
              <a:defRPr/>
            </a:pPr>
            <a:fld id="{E48FB836-952C-4138-A829-91C3E613BBCD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69903576"/>
      </p:ext>
    </p:extLst>
  </p:cSld>
  <p:clrMapOvr>
    <a:masterClrMapping/>
  </p:clrMapOvr>
  <p:transition spd="slow">
    <p:pull dir="r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30000"/>
              </a:lnSpc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lnSpc>
                <a:spcPct val="130000"/>
              </a:lnSpc>
              <a:defRPr/>
            </a:lvl1pPr>
            <a:lvl2pPr>
              <a:lnSpc>
                <a:spcPct val="130000"/>
              </a:lnSpc>
              <a:defRPr/>
            </a:lvl2pPr>
            <a:lvl3pPr>
              <a:lnSpc>
                <a:spcPct val="130000"/>
              </a:lnSpc>
              <a:defRPr/>
            </a:lvl3pPr>
            <a:lvl4pPr>
              <a:lnSpc>
                <a:spcPct val="130000"/>
              </a:lnSpc>
              <a:defRPr/>
            </a:lvl4pPr>
            <a:lvl5pPr>
              <a:lnSpc>
                <a:spcPct val="130000"/>
              </a:lnSpc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lnSpc>
                <a:spcPct val="130000"/>
              </a:lnSpc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lnSpc>
                <a:spcPct val="130000"/>
              </a:lnSpc>
              <a:defRPr/>
            </a:lvl1pPr>
          </a:lstStyle>
          <a:p>
            <a:pPr>
              <a:defRPr/>
            </a:pPr>
            <a:fld id="{4A4CC326-9B05-4E86-9DA6-301015C370AE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29776633"/>
      </p:ext>
    </p:extLst>
  </p:cSld>
  <p:clrMapOvr>
    <a:masterClrMapping/>
  </p:clrMapOvr>
  <p:transition spd="slow">
    <p:pull dir="r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56388" y="254843"/>
            <a:ext cx="1943100" cy="5529262"/>
          </a:xfrm>
        </p:spPr>
        <p:txBody>
          <a:bodyPr vert="eaVert"/>
          <a:lstStyle>
            <a:lvl1pPr>
              <a:lnSpc>
                <a:spcPct val="130000"/>
              </a:lnSpc>
              <a:spcBef>
                <a:spcPts val="0"/>
              </a:spcBef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27088" y="254843"/>
            <a:ext cx="5676900" cy="5529262"/>
          </a:xfrm>
        </p:spPr>
        <p:txBody>
          <a:bodyPr vert="eaVert"/>
          <a:lstStyle>
            <a:lvl1pPr>
              <a:lnSpc>
                <a:spcPct val="130000"/>
              </a:lnSpc>
              <a:spcBef>
                <a:spcPts val="0"/>
              </a:spcBef>
              <a:defRPr/>
            </a:lvl1pPr>
            <a:lvl2pPr>
              <a:lnSpc>
                <a:spcPct val="130000"/>
              </a:lnSpc>
              <a:spcBef>
                <a:spcPts val="0"/>
              </a:spcBef>
              <a:defRPr/>
            </a:lvl2pPr>
            <a:lvl3pPr>
              <a:lnSpc>
                <a:spcPct val="130000"/>
              </a:lnSpc>
              <a:spcBef>
                <a:spcPts val="0"/>
              </a:spcBef>
              <a:defRPr/>
            </a:lvl3pPr>
            <a:lvl4pPr>
              <a:lnSpc>
                <a:spcPct val="130000"/>
              </a:lnSpc>
              <a:spcBef>
                <a:spcPts val="0"/>
              </a:spcBef>
              <a:defRPr/>
            </a:lvl4pPr>
            <a:lvl5pPr>
              <a:lnSpc>
                <a:spcPct val="13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xfrm>
            <a:off x="3657600" y="6284168"/>
            <a:ext cx="2895600" cy="457200"/>
          </a:xfrm>
          <a:ln/>
        </p:spPr>
        <p:txBody>
          <a:bodyPr/>
          <a:lstStyle>
            <a:lvl1pPr>
              <a:lnSpc>
                <a:spcPct val="130000"/>
              </a:lnSpc>
              <a:spcBef>
                <a:spcPts val="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019925" y="6061918"/>
            <a:ext cx="1905000" cy="457200"/>
          </a:xfrm>
          <a:ln/>
        </p:spPr>
        <p:txBody>
          <a:bodyPr/>
          <a:lstStyle>
            <a:lvl1pPr>
              <a:lnSpc>
                <a:spcPct val="130000"/>
              </a:lnSpc>
              <a:spcBef>
                <a:spcPts val="0"/>
              </a:spcBef>
              <a:defRPr/>
            </a:lvl1pPr>
          </a:lstStyle>
          <a:p>
            <a:pPr>
              <a:defRPr/>
            </a:pPr>
            <a:fld id="{24D05828-8A21-49AC-AB05-10E0D0DA0753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86483336"/>
      </p:ext>
    </p:extLst>
  </p:cSld>
  <p:clrMapOvr>
    <a:masterClrMapping/>
  </p:clrMapOvr>
  <p:transition spd="slow">
    <p:pull dir="r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27088" y="214313"/>
            <a:ext cx="7772400" cy="5529262"/>
          </a:xfrm>
        </p:spPr>
        <p:txBody>
          <a:bodyPr/>
          <a:lstStyle>
            <a:lvl1pPr>
              <a:lnSpc>
                <a:spcPct val="130000"/>
              </a:lnSpc>
              <a:spcBef>
                <a:spcPts val="0"/>
              </a:spcBef>
              <a:defRPr/>
            </a:lvl1pPr>
            <a:lvl2pPr>
              <a:lnSpc>
                <a:spcPct val="130000"/>
              </a:lnSpc>
              <a:spcBef>
                <a:spcPts val="0"/>
              </a:spcBef>
              <a:defRPr/>
            </a:lvl2pPr>
            <a:lvl3pPr>
              <a:lnSpc>
                <a:spcPct val="130000"/>
              </a:lnSpc>
              <a:spcBef>
                <a:spcPts val="0"/>
              </a:spcBef>
              <a:defRPr/>
            </a:lvl3pPr>
            <a:lvl4pPr>
              <a:lnSpc>
                <a:spcPct val="130000"/>
              </a:lnSpc>
              <a:spcBef>
                <a:spcPts val="0"/>
              </a:spcBef>
              <a:defRPr/>
            </a:lvl4pPr>
            <a:lvl5pPr>
              <a:lnSpc>
                <a:spcPct val="13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lnSpc>
                <a:spcPct val="130000"/>
              </a:lnSpc>
              <a:spcBef>
                <a:spcPts val="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lnSpc>
                <a:spcPct val="130000"/>
              </a:lnSpc>
              <a:spcBef>
                <a:spcPts val="0"/>
              </a:spcBef>
              <a:defRPr/>
            </a:lvl1pPr>
          </a:lstStyle>
          <a:p>
            <a:pPr>
              <a:defRPr/>
            </a:pPr>
            <a:fld id="{7DDAE173-F58A-40CC-8210-2B2372F720E9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11731258"/>
      </p:ext>
    </p:extLst>
  </p:cSld>
  <p:clrMapOvr>
    <a:masterClrMapping/>
  </p:clrMapOvr>
  <p:transition spd="slow">
    <p:pull dir="r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15"/>
          <p:cNvGrpSpPr>
            <a:grpSpLocks/>
          </p:cNvGrpSpPr>
          <p:nvPr userDrawn="1"/>
        </p:nvGrpSpPr>
        <p:grpSpPr bwMode="auto">
          <a:xfrm>
            <a:off x="127000" y="431800"/>
            <a:ext cx="8542338" cy="1052513"/>
            <a:chOff x="80" y="624"/>
            <a:chExt cx="5381" cy="663"/>
          </a:xfrm>
        </p:grpSpPr>
        <p:sp>
          <p:nvSpPr>
            <p:cNvPr id="1034" name="Rectangle 3"/>
            <p:cNvSpPr>
              <a:spLocks noChangeArrowheads="1"/>
            </p:cNvSpPr>
            <p:nvPr/>
          </p:nvSpPr>
          <p:spPr bwMode="ltGray">
            <a:xfrm>
              <a:off x="504" y="692"/>
              <a:ext cx="207" cy="299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defRPr/>
              </a:pPr>
              <a:endParaRPr kumimoji="1" lang="zh-CN" altLang="zh-CN" b="0" smtClean="0">
                <a:latin typeface="Tahoma" pitchFamily="34" charset="0"/>
              </a:endParaRPr>
            </a:p>
          </p:txBody>
        </p:sp>
        <p:sp>
          <p:nvSpPr>
            <p:cNvPr id="1035" name="Rectangle 5"/>
            <p:cNvSpPr>
              <a:spLocks noChangeArrowheads="1"/>
            </p:cNvSpPr>
            <p:nvPr/>
          </p:nvSpPr>
          <p:spPr bwMode="ltGray">
            <a:xfrm>
              <a:off x="574" y="958"/>
              <a:ext cx="232" cy="299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defRPr/>
              </a:pPr>
              <a:endParaRPr kumimoji="1" lang="zh-CN" altLang="zh-CN" b="0" smtClean="0">
                <a:latin typeface="Tahoma" pitchFamily="34" charset="0"/>
              </a:endParaRPr>
            </a:p>
          </p:txBody>
        </p:sp>
        <p:sp>
          <p:nvSpPr>
            <p:cNvPr id="1036" name="Rectangle 7"/>
            <p:cNvSpPr>
              <a:spLocks noChangeArrowheads="1"/>
            </p:cNvSpPr>
            <p:nvPr/>
          </p:nvSpPr>
          <p:spPr bwMode="gray">
            <a:xfrm>
              <a:off x="480" y="624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defRPr/>
              </a:pPr>
              <a:endParaRPr kumimoji="1" lang="zh-CN" altLang="zh-CN" b="0" smtClean="0">
                <a:latin typeface="Tahoma" pitchFamily="34" charset="0"/>
              </a:endParaRPr>
            </a:p>
          </p:txBody>
        </p:sp>
        <p:sp>
          <p:nvSpPr>
            <p:cNvPr id="1037" name="Rectangle 2"/>
            <p:cNvSpPr>
              <a:spLocks noChangeArrowheads="1"/>
            </p:cNvSpPr>
            <p:nvPr userDrawn="1"/>
          </p:nvSpPr>
          <p:spPr bwMode="ltGray">
            <a:xfrm>
              <a:off x="263" y="692"/>
              <a:ext cx="276" cy="2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defRPr/>
              </a:pPr>
              <a:endParaRPr kumimoji="1" lang="zh-CN" altLang="zh-CN" b="0" smtClean="0">
                <a:latin typeface="Tahoma" pitchFamily="34" charset="0"/>
              </a:endParaRPr>
            </a:p>
          </p:txBody>
        </p:sp>
        <p:sp>
          <p:nvSpPr>
            <p:cNvPr id="1038" name="Rectangle 4"/>
            <p:cNvSpPr>
              <a:spLocks noChangeArrowheads="1"/>
            </p:cNvSpPr>
            <p:nvPr userDrawn="1"/>
          </p:nvSpPr>
          <p:spPr bwMode="ltGray">
            <a:xfrm>
              <a:off x="341" y="958"/>
              <a:ext cx="266" cy="29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defRPr/>
              </a:pPr>
              <a:endParaRPr kumimoji="1" lang="zh-CN" altLang="zh-CN" b="0" smtClean="0">
                <a:latin typeface="Tahoma" pitchFamily="34" charset="0"/>
              </a:endParaRPr>
            </a:p>
          </p:txBody>
        </p:sp>
        <p:sp>
          <p:nvSpPr>
            <p:cNvPr id="1039" name="Rectangle 6"/>
            <p:cNvSpPr>
              <a:spLocks noChangeArrowheads="1"/>
            </p:cNvSpPr>
            <p:nvPr userDrawn="1"/>
          </p:nvSpPr>
          <p:spPr bwMode="ltGray">
            <a:xfrm>
              <a:off x="80" y="912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defRPr/>
              </a:pPr>
              <a:endParaRPr kumimoji="1" lang="zh-CN" altLang="zh-CN" b="0" smtClean="0">
                <a:latin typeface="Tahoma" pitchFamily="34" charset="0"/>
              </a:endParaRPr>
            </a:p>
          </p:txBody>
        </p:sp>
        <p:sp>
          <p:nvSpPr>
            <p:cNvPr id="1040" name="Rectangle 8"/>
            <p:cNvSpPr>
              <a:spLocks noChangeArrowheads="1"/>
            </p:cNvSpPr>
            <p:nvPr userDrawn="1"/>
          </p:nvSpPr>
          <p:spPr bwMode="gray">
            <a:xfrm>
              <a:off x="279" y="1122"/>
              <a:ext cx="5182" cy="20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defRPr/>
              </a:pPr>
              <a:endParaRPr kumimoji="1" lang="zh-CN" altLang="zh-CN" b="0" smtClean="0">
                <a:latin typeface="Tahoma" pitchFamily="34" charset="0"/>
              </a:endParaRPr>
            </a:p>
          </p:txBody>
        </p:sp>
      </p:grpSp>
      <p:sp>
        <p:nvSpPr>
          <p:cNvPr id="1027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237412" cy="911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8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827088" y="1628775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404492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+mj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4493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9925" y="602138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+mj-lt"/>
              </a:defRPr>
            </a:lvl1pPr>
          </a:lstStyle>
          <a:p>
            <a:pPr>
              <a:defRPr/>
            </a:pPr>
            <a:fld id="{7DA86B38-A4A3-4378-BBE8-ECB339D8EC6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57" r:id="rId2"/>
    <p:sldLayoutId id="2147483758" r:id="rId3"/>
    <p:sldLayoutId id="2147483759" r:id="rId4"/>
    <p:sldLayoutId id="2147483760" r:id="rId5"/>
    <p:sldLayoutId id="2147483761" r:id="rId6"/>
    <p:sldLayoutId id="2147483762" r:id="rId7"/>
    <p:sldLayoutId id="2147483763" r:id="rId8"/>
    <p:sldLayoutId id="2147483764" r:id="rId9"/>
    <p:sldLayoutId id="2147483765" r:id="rId10"/>
    <p:sldLayoutId id="2147483766" r:id="rId11"/>
    <p:sldLayoutId id="2147483767" r:id="rId12"/>
  </p:sldLayoutIdLst>
  <p:transition spd="slow">
    <p:pull dir="ru"/>
  </p:transition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ahoma" pitchFamily="34" charset="0"/>
          <a:ea typeface="华文行楷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ahoma" pitchFamily="34" charset="0"/>
          <a:ea typeface="华文行楷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ahoma" pitchFamily="34" charset="0"/>
          <a:ea typeface="华文行楷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ahoma" pitchFamily="34" charset="0"/>
          <a:ea typeface="华文行楷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ahoma" pitchFamily="34" charset="0"/>
          <a:ea typeface="华文行楷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ahoma" pitchFamily="34" charset="0"/>
          <a:ea typeface="华文行楷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ahoma" pitchFamily="34" charset="0"/>
          <a:ea typeface="华文行楷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ahoma" pitchFamily="34" charset="0"/>
          <a:ea typeface="华文行楷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8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8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8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8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8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8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8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" Target="slide41.xml"/><Relationship Id="rId13" Type="http://schemas.openxmlformats.org/officeDocument/2006/relationships/slide" Target="slide72.xml"/><Relationship Id="rId3" Type="http://schemas.openxmlformats.org/officeDocument/2006/relationships/slide" Target="slide13.xml"/><Relationship Id="rId7" Type="http://schemas.openxmlformats.org/officeDocument/2006/relationships/slide" Target="slide34.xml"/><Relationship Id="rId12" Type="http://schemas.openxmlformats.org/officeDocument/2006/relationships/slide" Target="slide66.xml"/><Relationship Id="rId2" Type="http://schemas.openxmlformats.org/officeDocument/2006/relationships/slide" Target="slide7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6.xml"/><Relationship Id="rId11" Type="http://schemas.openxmlformats.org/officeDocument/2006/relationships/slide" Target="slide57.xml"/><Relationship Id="rId5" Type="http://schemas.openxmlformats.org/officeDocument/2006/relationships/slide" Target="slide22.xml"/><Relationship Id="rId10" Type="http://schemas.openxmlformats.org/officeDocument/2006/relationships/slide" Target="slide48.xml"/><Relationship Id="rId4" Type="http://schemas.openxmlformats.org/officeDocument/2006/relationships/slide" Target="slide18.xml"/><Relationship Id="rId9" Type="http://schemas.openxmlformats.org/officeDocument/2006/relationships/slide" Target="slide42.xml"/><Relationship Id="rId14" Type="http://schemas.openxmlformats.org/officeDocument/2006/relationships/slide" Target="slide9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emf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3.wmf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4.wmf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5.wmf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6.emf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62038" y="1270000"/>
            <a:ext cx="6965950" cy="1222375"/>
          </a:xfrm>
        </p:spPr>
        <p:txBody>
          <a:bodyPr/>
          <a:lstStyle/>
          <a:p>
            <a:pPr algn="ctr" eaLnBrk="1" hangingPunct="1"/>
            <a:r>
              <a:rPr lang="zh-CN" altLang="en-US" sz="8800" b="1" dirty="0" smtClean="0">
                <a:solidFill>
                  <a:schemeClr val="tx1"/>
                </a:solidFill>
                <a:ea typeface="楷体_GB2312" pitchFamily="49" charset="-122"/>
              </a:rPr>
              <a:t>离散数学</a:t>
            </a:r>
          </a:p>
        </p:txBody>
      </p:sp>
      <p:sp>
        <p:nvSpPr>
          <p:cNvPr id="3" name="矩形 2"/>
          <p:cNvSpPr/>
          <p:nvPr/>
        </p:nvSpPr>
        <p:spPr>
          <a:xfrm>
            <a:off x="971600" y="2924944"/>
            <a:ext cx="7272808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4000" b="0" kern="0" dirty="0">
                <a:solidFill>
                  <a:srgbClr val="333399"/>
                </a:solidFill>
                <a:latin typeface="华文行楷" pitchFamily="2" charset="-122"/>
                <a:ea typeface="华文行楷"/>
                <a:cs typeface="+mj-cs"/>
              </a:rPr>
              <a:t>课程基本</a:t>
            </a:r>
            <a:r>
              <a:rPr kumimoji="1" lang="zh-CN" altLang="en-US" sz="4000" b="0" kern="0" dirty="0" smtClean="0">
                <a:solidFill>
                  <a:srgbClr val="333399"/>
                </a:solidFill>
                <a:latin typeface="华文行楷" pitchFamily="2" charset="-122"/>
                <a:ea typeface="华文行楷"/>
                <a:cs typeface="+mj-cs"/>
              </a:rPr>
              <a:t>信息</a:t>
            </a:r>
            <a:endParaRPr kumimoji="1" lang="en-US" altLang="zh-CN" sz="4000" b="0" kern="0" dirty="0" smtClean="0">
              <a:solidFill>
                <a:srgbClr val="333399"/>
              </a:solidFill>
              <a:latin typeface="华文行楷" pitchFamily="2" charset="-122"/>
              <a:ea typeface="华文行楷"/>
              <a:cs typeface="+mj-cs"/>
            </a:endParaRPr>
          </a:p>
          <a:p>
            <a:pPr marL="342900" lvl="0" indent="-342900">
              <a:lnSpc>
                <a:spcPct val="120000"/>
              </a:lnSpc>
              <a:spcBef>
                <a:spcPct val="20000"/>
              </a:spcBef>
              <a:buClr>
                <a:srgbClr val="3333CC"/>
              </a:buClr>
              <a:buSzPct val="60000"/>
              <a:buFont typeface="Wingdings" pitchFamily="2" charset="2"/>
              <a:buChar char="n"/>
            </a:pPr>
            <a:r>
              <a:rPr lang="zh-CN" altLang="en-US" sz="2800" kern="0" dirty="0">
                <a:solidFill>
                  <a:srgbClr val="800000"/>
                </a:solidFill>
                <a:latin typeface="Verdana" pitchFamily="34" charset="0"/>
                <a:ea typeface="宋体"/>
              </a:rPr>
              <a:t>总学时：</a:t>
            </a:r>
            <a:r>
              <a:rPr lang="en-US" altLang="zh-CN" sz="2800" kern="0" dirty="0">
                <a:solidFill>
                  <a:srgbClr val="333300"/>
                </a:solidFill>
                <a:latin typeface="Verdana" pitchFamily="34" charset="0"/>
                <a:ea typeface="宋体"/>
              </a:rPr>
              <a:t>56</a:t>
            </a:r>
          </a:p>
          <a:p>
            <a:pPr marL="342900" lvl="0" indent="-342900">
              <a:lnSpc>
                <a:spcPct val="120000"/>
              </a:lnSpc>
              <a:spcBef>
                <a:spcPct val="20000"/>
              </a:spcBef>
              <a:buClr>
                <a:srgbClr val="3333CC"/>
              </a:buClr>
              <a:buSzPct val="60000"/>
              <a:buFont typeface="Wingdings" pitchFamily="2" charset="2"/>
              <a:buChar char="n"/>
            </a:pPr>
            <a:r>
              <a:rPr lang="zh-CN" altLang="en-US" sz="2800" kern="0" dirty="0">
                <a:solidFill>
                  <a:srgbClr val="800000"/>
                </a:solidFill>
                <a:latin typeface="Verdana" pitchFamily="34" charset="0"/>
                <a:ea typeface="宋体"/>
              </a:rPr>
              <a:t>期末成绩评定方式：</a:t>
            </a:r>
            <a:r>
              <a:rPr lang="zh-CN" altLang="en-US" sz="2800" kern="0" dirty="0">
                <a:solidFill>
                  <a:srgbClr val="333300"/>
                </a:solidFill>
                <a:latin typeface="Verdana" pitchFamily="34" charset="0"/>
                <a:ea typeface="宋体"/>
              </a:rPr>
              <a:t>由期末</a:t>
            </a:r>
            <a:r>
              <a:rPr lang="zh-CN" altLang="en-US" sz="2800" kern="0" dirty="0" smtClean="0">
                <a:solidFill>
                  <a:srgbClr val="333300"/>
                </a:solidFill>
                <a:latin typeface="Verdana" pitchFamily="34" charset="0"/>
                <a:ea typeface="宋体"/>
              </a:rPr>
              <a:t>考试成绩</a:t>
            </a:r>
            <a:r>
              <a:rPr lang="zh-CN" altLang="en-US" sz="2800" kern="0" dirty="0">
                <a:solidFill>
                  <a:srgbClr val="333300"/>
                </a:solidFill>
                <a:latin typeface="Verdana" pitchFamily="34" charset="0"/>
                <a:ea typeface="宋体"/>
              </a:rPr>
              <a:t>和平时成绩组成</a:t>
            </a:r>
          </a:p>
          <a:p>
            <a:endParaRPr lang="zh-CN" altLang="en-US" dirty="0"/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参考书</a:t>
            </a:r>
          </a:p>
        </p:txBody>
      </p:sp>
      <p:sp>
        <p:nvSpPr>
          <p:cNvPr id="614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zh-CN" altLang="en-US" dirty="0" smtClean="0">
                <a:latin typeface="楷体_GB2312" pitchFamily="49" charset="-122"/>
                <a:ea typeface="楷体_GB2312" pitchFamily="49" charset="-122"/>
              </a:rPr>
              <a:t>屈婉玲</a:t>
            </a:r>
            <a:r>
              <a:rPr lang="en-US" altLang="zh-CN" dirty="0" smtClean="0"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dirty="0" smtClean="0">
                <a:latin typeface="楷体_GB2312" pitchFamily="49" charset="-122"/>
                <a:ea typeface="楷体_GB2312" pitchFamily="49" charset="-122"/>
              </a:rPr>
              <a:t>耿素云   高等教育出版社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dirty="0" smtClean="0">
                <a:latin typeface="楷体_GB2312" pitchFamily="49" charset="-122"/>
                <a:ea typeface="楷体_GB2312" pitchFamily="49" charset="-122"/>
              </a:rPr>
              <a:t>李盘林   高等教育出版社（面向</a:t>
            </a:r>
            <a:r>
              <a:rPr lang="en-US" altLang="zh-CN" dirty="0" smtClean="0">
                <a:latin typeface="楷体_GB2312" pitchFamily="49" charset="-122"/>
                <a:ea typeface="楷体_GB2312" pitchFamily="49" charset="-122"/>
              </a:rPr>
              <a:t>21</a:t>
            </a:r>
            <a:r>
              <a:rPr lang="zh-CN" altLang="en-US" dirty="0" smtClean="0">
                <a:latin typeface="楷体_GB2312" pitchFamily="49" charset="-122"/>
                <a:ea typeface="楷体_GB2312" pitchFamily="49" charset="-122"/>
              </a:rPr>
              <a:t>世纪教材）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dirty="0" smtClean="0">
                <a:latin typeface="楷体_GB2312" pitchFamily="49" charset="-122"/>
                <a:ea typeface="楷体_GB2312" pitchFamily="49" charset="-122"/>
              </a:rPr>
              <a:t>徐秋亮   山东大学出版社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120887A-FF82-4A7C-9F55-3CE387DD1CE9}" type="slidenum">
              <a:rPr lang="en-US" altLang="zh-CN"/>
              <a:pPr>
                <a:defRPr/>
              </a:pPr>
              <a:t>2</a:t>
            </a:fld>
            <a:endParaRPr lang="en-US" altLang="zh-CN"/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95DBCD1-8B91-4793-8B2D-B98BA9BC6806}" type="slidenum">
              <a:rPr lang="en-US" altLang="zh-CN"/>
              <a:pPr>
                <a:defRPr/>
              </a:pPr>
              <a:t>3</a:t>
            </a:fld>
            <a:endParaRPr lang="en-US" altLang="zh-CN"/>
          </a:p>
        </p:txBody>
      </p:sp>
      <p:pic>
        <p:nvPicPr>
          <p:cNvPr id="7172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620713"/>
            <a:ext cx="7623175" cy="540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pull dir="r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DB9972D-74B0-43FA-8FEF-F4D0FFD72EE1}" type="slidenum">
              <a:rPr lang="en-US" altLang="zh-CN"/>
              <a:pPr>
                <a:defRPr/>
              </a:pPr>
              <a:t>4</a:t>
            </a:fld>
            <a:endParaRPr lang="en-US" altLang="zh-CN"/>
          </a:p>
        </p:txBody>
      </p:sp>
      <p:sp>
        <p:nvSpPr>
          <p:cNvPr id="8195" name="Text Box 8"/>
          <p:cNvSpPr txBox="1">
            <a:spLocks noChangeArrowheads="1"/>
          </p:cNvSpPr>
          <p:nvPr/>
        </p:nvSpPr>
        <p:spPr bwMode="auto">
          <a:xfrm>
            <a:off x="1979613" y="360363"/>
            <a:ext cx="50292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sz="4000">
                <a:latin typeface="华文行楷" pitchFamily="2" charset="-122"/>
                <a:ea typeface="华文行楷" pitchFamily="2" charset="-122"/>
              </a:rPr>
              <a:t>第一篇    数理逻辑</a:t>
            </a:r>
          </a:p>
        </p:txBody>
      </p:sp>
      <p:sp>
        <p:nvSpPr>
          <p:cNvPr id="306185" name="Text Box 9"/>
          <p:cNvSpPr txBox="1">
            <a:spLocks noChangeArrowheads="1"/>
          </p:cNvSpPr>
          <p:nvPr/>
        </p:nvSpPr>
        <p:spPr bwMode="auto">
          <a:xfrm>
            <a:off x="898525" y="1258888"/>
            <a:ext cx="7858125" cy="1797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3000"/>
              <a:t>逻辑学：</a:t>
            </a:r>
            <a:r>
              <a:rPr kumimoji="1" lang="zh-CN" altLang="en-US" sz="3000">
                <a:solidFill>
                  <a:schemeClr val="folHlink"/>
                </a:solidFill>
              </a:rPr>
              <a:t>研究思维形式及思维规律的科学</a:t>
            </a:r>
          </a:p>
          <a:p>
            <a:pPr algn="just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Char char="•"/>
            </a:pPr>
            <a:r>
              <a:rPr kumimoji="1" lang="zh-CN" altLang="en-US">
                <a:solidFill>
                  <a:schemeClr val="folHlink"/>
                </a:solidFill>
              </a:rPr>
              <a:t>       辨证逻辑</a:t>
            </a:r>
          </a:p>
          <a:p>
            <a:pPr algn="just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Char char="•"/>
            </a:pPr>
            <a:r>
              <a:rPr kumimoji="1" lang="zh-CN" altLang="en-US">
                <a:solidFill>
                  <a:schemeClr val="folHlink"/>
                </a:solidFill>
              </a:rPr>
              <a:t>       形式逻辑（思维的形式结构和规律）</a:t>
            </a:r>
          </a:p>
        </p:txBody>
      </p:sp>
      <p:sp>
        <p:nvSpPr>
          <p:cNvPr id="306186" name="Text Box 10"/>
          <p:cNvSpPr txBox="1">
            <a:spLocks noChangeArrowheads="1"/>
          </p:cNvSpPr>
          <p:nvPr/>
        </p:nvSpPr>
        <p:spPr bwMode="auto">
          <a:xfrm>
            <a:off x="898525" y="2924175"/>
            <a:ext cx="7778750" cy="2352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3000"/>
              <a:t>思维的形式结构：</a:t>
            </a:r>
            <a:endParaRPr kumimoji="1" lang="zh-CN" altLang="en-US" sz="3000">
              <a:solidFill>
                <a:schemeClr val="folHlink"/>
              </a:solidFill>
            </a:endParaRPr>
          </a:p>
          <a:p>
            <a:pPr algn="just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Char char="•"/>
            </a:pPr>
            <a:r>
              <a:rPr kumimoji="1" lang="zh-CN" altLang="en-US">
                <a:solidFill>
                  <a:schemeClr val="folHlink"/>
                </a:solidFill>
              </a:rPr>
              <a:t>       概念</a:t>
            </a:r>
          </a:p>
          <a:p>
            <a:pPr algn="just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Char char="•"/>
            </a:pPr>
            <a:r>
              <a:rPr kumimoji="1" lang="zh-CN" altLang="en-US">
                <a:solidFill>
                  <a:schemeClr val="folHlink"/>
                </a:solidFill>
              </a:rPr>
              <a:t>       判断</a:t>
            </a:r>
          </a:p>
          <a:p>
            <a:pPr algn="just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Char char="•"/>
            </a:pPr>
            <a:r>
              <a:rPr kumimoji="1" lang="zh-CN" altLang="en-US">
                <a:solidFill>
                  <a:schemeClr val="folHlink"/>
                </a:solidFill>
              </a:rPr>
              <a:t>       推理</a:t>
            </a:r>
          </a:p>
        </p:txBody>
      </p:sp>
      <p:sp>
        <p:nvSpPr>
          <p:cNvPr id="306187" name="Text Box 11"/>
          <p:cNvSpPr txBox="1">
            <a:spLocks noChangeArrowheads="1"/>
          </p:cNvSpPr>
          <p:nvPr/>
        </p:nvSpPr>
        <p:spPr bwMode="auto">
          <a:xfrm>
            <a:off x="898525" y="5157788"/>
            <a:ext cx="7923213" cy="1279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3000"/>
              <a:t>数理逻辑：用数学方法即通过引入符号研究推理的方法，又名为符号逻辑。</a:t>
            </a:r>
            <a:endParaRPr lang="zh-CN" altLang="en-US" sz="3000" b="0"/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6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6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6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6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6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6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6185" grpId="0" autoUpdateAnimBg="0"/>
      <p:bldP spid="306186" grpId="0" autoUpdateAnimBg="0"/>
      <p:bldP spid="306187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94672B3-13D0-473B-93C0-F67FD33F7C86}" type="slidenum">
              <a:rPr lang="en-US" altLang="zh-CN"/>
              <a:pPr>
                <a:defRPr/>
              </a:pPr>
              <a:t>5</a:t>
            </a:fld>
            <a:endParaRPr lang="en-US" altLang="zh-CN"/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>
          <a:xfrm>
            <a:off x="1079500" y="360363"/>
            <a:ext cx="6734175" cy="830262"/>
          </a:xfrm>
        </p:spPr>
        <p:txBody>
          <a:bodyPr>
            <a:spAutoFit/>
          </a:bodyPr>
          <a:lstStyle/>
          <a:p>
            <a:pPr algn="ctr" eaLnBrk="1" hangingPunct="1"/>
            <a:r>
              <a:rPr lang="en-US" altLang="zh-CN" sz="4800" dirty="0" smtClean="0">
                <a:solidFill>
                  <a:schemeClr val="tx1"/>
                </a:solidFill>
              </a:rPr>
              <a:t>  </a:t>
            </a:r>
            <a:r>
              <a:rPr lang="zh-CN" altLang="en-US" b="1" dirty="0" smtClean="0">
                <a:solidFill>
                  <a:schemeClr val="tx1"/>
                </a:solidFill>
                <a:latin typeface="华文行楷" pitchFamily="2" charset="-122"/>
              </a:rPr>
              <a:t>第一章	命题逻辑</a:t>
            </a:r>
            <a:endParaRPr lang="zh-CN" altLang="en-US" b="1" i="1" dirty="0" smtClean="0">
              <a:solidFill>
                <a:schemeClr val="tx1"/>
              </a:solidFill>
              <a:latin typeface="华文行楷" pitchFamily="2" charset="-122"/>
            </a:endParaRPr>
          </a:p>
        </p:txBody>
      </p:sp>
      <p:sp>
        <p:nvSpPr>
          <p:cNvPr id="100359" name="Rectangle 7"/>
          <p:cNvSpPr>
            <a:spLocks noChangeArrowheads="1"/>
          </p:cNvSpPr>
          <p:nvPr/>
        </p:nvSpPr>
        <p:spPr bwMode="auto">
          <a:xfrm>
            <a:off x="719138" y="2708275"/>
            <a:ext cx="7632700" cy="1241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3000" b="0"/>
              <a:t>        </a:t>
            </a:r>
            <a:r>
              <a:rPr lang="zh-CN" altLang="en-US"/>
              <a:t>命题逻辑是研究由命题为基本单位构成的前提和结论之间的</a:t>
            </a:r>
            <a:r>
              <a:rPr lang="zh-CN" altLang="en-US">
                <a:solidFill>
                  <a:schemeClr val="hlink"/>
                </a:solidFill>
                <a:ea typeface="楷体_GB2312" pitchFamily="49" charset="-122"/>
              </a:rPr>
              <a:t>可推导关系</a:t>
            </a:r>
            <a:r>
              <a:rPr lang="zh-CN" altLang="en-US"/>
              <a:t>。</a:t>
            </a:r>
          </a:p>
        </p:txBody>
      </p:sp>
      <p:sp>
        <p:nvSpPr>
          <p:cNvPr id="9221" name="Rectangle 10"/>
          <p:cNvSpPr>
            <a:spLocks noChangeArrowheads="1"/>
          </p:cNvSpPr>
          <p:nvPr/>
        </p:nvSpPr>
        <p:spPr bwMode="auto">
          <a:xfrm>
            <a:off x="719138" y="1557338"/>
            <a:ext cx="7561262" cy="120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fontAlgn="b" hangingPunct="1">
              <a:lnSpc>
                <a:spcPct val="13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b="0">
                <a:latin typeface="宋体" pitchFamily="2" charset="-122"/>
              </a:rPr>
              <a:t>    </a:t>
            </a:r>
            <a:r>
              <a:rPr lang="zh-CN" altLang="en-US"/>
              <a:t>命题逻辑与谓词逻辑构成数理逻辑的基础，而命题逻辑又是谓词逻辑的基础。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5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320BD4D-96D5-4E67-962E-F42531AFF4A1}" type="slidenum">
              <a:rPr lang="en-US" altLang="zh-CN"/>
              <a:pPr>
                <a:defRPr/>
              </a:pPr>
              <a:t>6</a:t>
            </a:fld>
            <a:endParaRPr lang="en-US" altLang="zh-CN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2663" y="1268413"/>
            <a:ext cx="7837487" cy="4894262"/>
          </a:xfrm>
        </p:spPr>
        <p:txBody>
          <a:bodyPr/>
          <a:lstStyle/>
          <a:p>
            <a:pPr lvl="1" algn="just" eaLnBrk="1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Font typeface="Wingdings" pitchFamily="2" charset="2"/>
              <a:buNone/>
            </a:pPr>
            <a:r>
              <a:rPr lang="en-US" altLang="zh-CN" sz="3000" smtClean="0">
                <a:hlinkClick r:id="rId2" action="ppaction://hlinksldjump"/>
              </a:rPr>
              <a:t>1.1  </a:t>
            </a:r>
            <a:r>
              <a:rPr lang="zh-CN" altLang="en-US" sz="3000" smtClean="0">
                <a:hlinkClick r:id="rId2" action="ppaction://hlinksldjump"/>
              </a:rPr>
              <a:t>命题及其表示方法</a:t>
            </a:r>
          </a:p>
          <a:p>
            <a:pPr lvl="1" algn="just" eaLnBrk="1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Font typeface="Wingdings" pitchFamily="2" charset="2"/>
              <a:buNone/>
            </a:pPr>
            <a:r>
              <a:rPr lang="en-US" altLang="zh-CN" sz="3000" smtClean="0">
                <a:hlinkClick r:id="rId3" action="ppaction://hlinksldjump"/>
              </a:rPr>
              <a:t>1.2  </a:t>
            </a:r>
            <a:r>
              <a:rPr lang="zh-CN" altLang="en-US" sz="3000" smtClean="0">
                <a:hlinkClick r:id="rId3" action="ppaction://hlinksldjump"/>
              </a:rPr>
              <a:t>联结词</a:t>
            </a:r>
            <a:endParaRPr lang="zh-CN" altLang="en-US" sz="3000" smtClean="0">
              <a:hlinkClick r:id="rId4" action="ppaction://hlinksldjump"/>
            </a:endParaRPr>
          </a:p>
          <a:p>
            <a:pPr lvl="1" algn="just" eaLnBrk="1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Font typeface="Wingdings" pitchFamily="2" charset="2"/>
              <a:buNone/>
            </a:pPr>
            <a:r>
              <a:rPr lang="en-US" altLang="zh-CN" sz="3000" smtClean="0">
                <a:hlinkClick r:id="rId5" action="ppaction://hlinksldjump"/>
              </a:rPr>
              <a:t>1.3  </a:t>
            </a:r>
            <a:r>
              <a:rPr lang="zh-CN" altLang="en-US" sz="3000" smtClean="0">
                <a:hlinkClick r:id="rId5" action="ppaction://hlinksldjump"/>
              </a:rPr>
              <a:t>命题公式与翻译</a:t>
            </a:r>
            <a:endParaRPr lang="zh-CN" altLang="en-US" sz="3000" smtClean="0">
              <a:hlinkClick r:id="rId6" action="ppaction://hlinksldjump"/>
            </a:endParaRPr>
          </a:p>
          <a:p>
            <a:pPr lvl="1" algn="just" eaLnBrk="1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Font typeface="Wingdings" pitchFamily="2" charset="2"/>
              <a:buNone/>
            </a:pPr>
            <a:r>
              <a:rPr lang="en-US" altLang="zh-CN" sz="3000" smtClean="0">
                <a:hlinkClick r:id="rId7" action="ppaction://hlinksldjump"/>
              </a:rPr>
              <a:t>1.4  </a:t>
            </a:r>
            <a:r>
              <a:rPr lang="zh-CN" altLang="en-US" sz="3000" smtClean="0">
                <a:hlinkClick r:id="rId7" action="ppaction://hlinksldjump"/>
              </a:rPr>
              <a:t>真值表与等价式</a:t>
            </a:r>
            <a:endParaRPr lang="zh-CN" altLang="en-US" sz="3000" smtClean="0">
              <a:hlinkClick r:id="rId8" action="ppaction://hlinksldjump"/>
            </a:endParaRPr>
          </a:p>
          <a:p>
            <a:pPr lvl="1" algn="just" eaLnBrk="1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Font typeface="Wingdings" pitchFamily="2" charset="2"/>
              <a:buNone/>
            </a:pPr>
            <a:r>
              <a:rPr lang="en-US" altLang="zh-CN" sz="3000" smtClean="0">
                <a:hlinkClick r:id="rId9" action="ppaction://hlinksldjump"/>
              </a:rPr>
              <a:t>1.5  </a:t>
            </a:r>
            <a:r>
              <a:rPr lang="zh-CN" altLang="en-US" sz="3000" smtClean="0">
                <a:hlinkClick r:id="rId9" action="ppaction://hlinksldjump"/>
              </a:rPr>
              <a:t>重言式与蕴含式</a:t>
            </a:r>
            <a:endParaRPr lang="zh-CN" altLang="en-US" sz="3000" smtClean="0">
              <a:hlinkClick r:id="rId10" action="ppaction://hlinksldjump"/>
            </a:endParaRPr>
          </a:p>
          <a:p>
            <a:pPr lvl="1" algn="just" eaLnBrk="1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Font typeface="Wingdings" pitchFamily="2" charset="2"/>
              <a:buNone/>
            </a:pPr>
            <a:r>
              <a:rPr lang="en-US" altLang="zh-CN" sz="3000" smtClean="0">
                <a:hlinkClick r:id="rId11" action="ppaction://hlinksldjump"/>
              </a:rPr>
              <a:t>1.6  </a:t>
            </a:r>
            <a:r>
              <a:rPr lang="zh-CN" altLang="en-US" sz="3000" smtClean="0">
                <a:hlinkClick r:id="rId11" action="ppaction://hlinksldjump"/>
              </a:rPr>
              <a:t>其他联结词</a:t>
            </a:r>
            <a:endParaRPr lang="zh-CN" altLang="en-US" sz="3000" smtClean="0">
              <a:hlinkClick r:id="rId12" action="ppaction://hlinksldjump"/>
            </a:endParaRPr>
          </a:p>
          <a:p>
            <a:pPr lvl="1" algn="just" eaLnBrk="1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Font typeface="Wingdings" pitchFamily="2" charset="2"/>
              <a:buNone/>
            </a:pPr>
            <a:r>
              <a:rPr lang="en-US" altLang="zh-CN" sz="3000" smtClean="0">
                <a:hlinkClick r:id="rId13" action="ppaction://hlinksldjump"/>
              </a:rPr>
              <a:t>1.7  </a:t>
            </a:r>
            <a:r>
              <a:rPr lang="zh-CN" altLang="en-US" sz="3000" smtClean="0">
                <a:hlinkClick r:id="rId13" action="ppaction://hlinksldjump"/>
              </a:rPr>
              <a:t>对偶与范式</a:t>
            </a:r>
          </a:p>
          <a:p>
            <a:pPr lvl="1" algn="just" eaLnBrk="1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Font typeface="Wingdings" pitchFamily="2" charset="2"/>
              <a:buNone/>
            </a:pPr>
            <a:r>
              <a:rPr lang="en-US" altLang="zh-CN" sz="3000" smtClean="0">
                <a:hlinkClick r:id="rId14" action="ppaction://hlinksldjump"/>
              </a:rPr>
              <a:t>1.8  </a:t>
            </a:r>
            <a:r>
              <a:rPr lang="zh-CN" altLang="en-US" sz="3000" smtClean="0">
                <a:hlinkClick r:id="rId14" action="ppaction://hlinksldjump"/>
              </a:rPr>
              <a:t>推理理论</a:t>
            </a:r>
            <a:endParaRPr lang="zh-CN" altLang="en-US" sz="3000" smtClean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079500" y="360363"/>
            <a:ext cx="6734175" cy="830262"/>
          </a:xfrm>
        </p:spPr>
        <p:txBody>
          <a:bodyPr>
            <a:spAutoFit/>
          </a:bodyPr>
          <a:lstStyle/>
          <a:p>
            <a:pPr algn="ctr" eaLnBrk="1" hangingPunct="1"/>
            <a:r>
              <a:rPr lang="en-US" altLang="zh-CN" sz="4800" dirty="0" smtClean="0">
                <a:solidFill>
                  <a:schemeClr val="tx1"/>
                </a:solidFill>
              </a:rPr>
              <a:t>  </a:t>
            </a:r>
            <a:r>
              <a:rPr lang="zh-CN" altLang="en-US" b="1" dirty="0" smtClean="0">
                <a:solidFill>
                  <a:schemeClr val="tx1"/>
                </a:solidFill>
                <a:latin typeface="华文行楷" pitchFamily="2" charset="-122"/>
              </a:rPr>
              <a:t>第一章	命题逻辑</a:t>
            </a:r>
            <a:endParaRPr lang="zh-CN" altLang="en-US" b="1" i="1" dirty="0" smtClean="0">
              <a:solidFill>
                <a:schemeClr val="tx1"/>
              </a:solidFill>
              <a:latin typeface="华文行楷" pitchFamily="2" charset="-122"/>
            </a:endParaRP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fld id="{E7B71C8B-7829-478F-B8E1-E83F9CBABDCE}" type="slidenum">
              <a:rPr lang="en-US" altLang="zh-CN"/>
              <a:pPr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t>7</a:t>
            </a:fld>
            <a:endParaRPr lang="en-US" altLang="zh-CN"/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1258888" y="333375"/>
            <a:ext cx="5976937" cy="792163"/>
          </a:xfrm>
        </p:spPr>
        <p:txBody>
          <a:bodyPr/>
          <a:lstStyle/>
          <a:p>
            <a:pPr algn="ctr" eaLnBrk="1" hangingPunct="1"/>
            <a:r>
              <a:rPr lang="en-US" altLang="zh-CN" sz="3600" b="1" smtClean="0">
                <a:solidFill>
                  <a:schemeClr val="tx1"/>
                </a:solidFill>
                <a:latin typeface="华文行楷" pitchFamily="2" charset="-122"/>
              </a:rPr>
              <a:t>1-1	 </a:t>
            </a:r>
            <a:r>
              <a:rPr lang="zh-CN" altLang="en-US" sz="3600" b="1" smtClean="0">
                <a:solidFill>
                  <a:schemeClr val="tx1"/>
                </a:solidFill>
                <a:latin typeface="华文行楷" pitchFamily="2" charset="-122"/>
              </a:rPr>
              <a:t>命题及其表示方法</a:t>
            </a:r>
            <a:endParaRPr lang="zh-CN" altLang="en-US" sz="3600" b="1" i="1" smtClean="0">
              <a:solidFill>
                <a:schemeClr val="tx1"/>
              </a:solidFill>
              <a:latin typeface="华文行楷" pitchFamily="2" charset="-122"/>
            </a:endParaRPr>
          </a:p>
        </p:txBody>
      </p:sp>
      <p:sp>
        <p:nvSpPr>
          <p:cNvPr id="105478" name="Rectangle 6"/>
          <p:cNvSpPr>
            <a:spLocks noChangeArrowheads="1"/>
          </p:cNvSpPr>
          <p:nvPr/>
        </p:nvSpPr>
        <p:spPr bwMode="auto">
          <a:xfrm>
            <a:off x="900113" y="4725144"/>
            <a:ext cx="4103687" cy="592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en-US" dirty="0">
                <a:solidFill>
                  <a:schemeClr val="hlink"/>
                </a:solidFill>
              </a:rPr>
              <a:t>例如：</a:t>
            </a:r>
            <a:r>
              <a:rPr lang="en-US" altLang="zh-CN" dirty="0"/>
              <a:t>1+2=3</a:t>
            </a:r>
            <a:r>
              <a:rPr lang="zh-CN" altLang="en-US" dirty="0"/>
              <a:t>。</a:t>
            </a:r>
          </a:p>
        </p:txBody>
      </p:sp>
      <p:sp>
        <p:nvSpPr>
          <p:cNvPr id="11269" name="Rectangle 8"/>
          <p:cNvSpPr>
            <a:spLocks noChangeArrowheads="1"/>
          </p:cNvSpPr>
          <p:nvPr/>
        </p:nvSpPr>
        <p:spPr bwMode="auto">
          <a:xfrm>
            <a:off x="900113" y="1557338"/>
            <a:ext cx="5759450" cy="65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en-US" sz="3200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</a:rPr>
              <a:t>一、命题的概念</a:t>
            </a:r>
            <a:r>
              <a:rPr lang="zh-CN" altLang="en-US"/>
              <a:t>        </a:t>
            </a:r>
          </a:p>
        </p:txBody>
      </p:sp>
      <p:sp>
        <p:nvSpPr>
          <p:cNvPr id="105482" name="Rectangle 10"/>
          <p:cNvSpPr>
            <a:spLocks noChangeArrowheads="1"/>
          </p:cNvSpPr>
          <p:nvPr/>
        </p:nvSpPr>
        <p:spPr bwMode="auto">
          <a:xfrm>
            <a:off x="957263" y="3284538"/>
            <a:ext cx="7561262" cy="11523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</a:pPr>
            <a:r>
              <a:rPr lang="en-US" altLang="zh-CN" dirty="0"/>
              <a:t>  </a:t>
            </a:r>
            <a:r>
              <a:rPr lang="zh-CN" altLang="en-US" dirty="0"/>
              <a:t>一个命题，总是具有一个“值”，称为真值。</a:t>
            </a:r>
          </a:p>
          <a:p>
            <a:pPr algn="just" eaLnBrk="1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 dirty="0"/>
              <a:t>  真值</a:t>
            </a:r>
            <a:r>
              <a:rPr lang="zh-CN" altLang="en-US" dirty="0" smtClean="0"/>
              <a:t>只有“真”</a:t>
            </a:r>
            <a:r>
              <a:rPr lang="zh-CN" altLang="en-US" dirty="0"/>
              <a:t>和“假”，记作</a:t>
            </a:r>
            <a:r>
              <a:rPr lang="en-US" altLang="zh-CN" dirty="0"/>
              <a:t>T(</a:t>
            </a:r>
            <a:r>
              <a:rPr lang="zh-CN" altLang="en-US" dirty="0"/>
              <a:t>真</a:t>
            </a:r>
            <a:r>
              <a:rPr lang="en-US" altLang="zh-CN" dirty="0"/>
              <a:t>)</a:t>
            </a:r>
            <a:r>
              <a:rPr lang="zh-CN" altLang="en-US" dirty="0"/>
              <a:t>和</a:t>
            </a:r>
            <a:r>
              <a:rPr lang="en-US" altLang="zh-CN" dirty="0"/>
              <a:t>F(</a:t>
            </a:r>
            <a:r>
              <a:rPr lang="zh-CN" altLang="en-US" dirty="0"/>
              <a:t>假</a:t>
            </a:r>
            <a:r>
              <a:rPr lang="en-US" altLang="zh-CN" dirty="0"/>
              <a:t>)</a:t>
            </a:r>
            <a:r>
              <a:rPr lang="zh-CN" altLang="en-US" dirty="0"/>
              <a:t>。</a:t>
            </a:r>
          </a:p>
        </p:txBody>
      </p:sp>
      <p:sp>
        <p:nvSpPr>
          <p:cNvPr id="105484" name="Rectangle 12"/>
          <p:cNvSpPr>
            <a:spLocks noChangeArrowheads="1"/>
          </p:cNvSpPr>
          <p:nvPr/>
        </p:nvSpPr>
        <p:spPr bwMode="auto">
          <a:xfrm>
            <a:off x="900113" y="2132013"/>
            <a:ext cx="7488237" cy="1152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/>
              <a:t>         </a:t>
            </a:r>
            <a:r>
              <a:rPr lang="zh-CN" altLang="en-US"/>
              <a:t>所谓命题，是指具有非真必假</a:t>
            </a:r>
            <a:r>
              <a:rPr lang="zh-CN" altLang="en-US">
                <a:solidFill>
                  <a:schemeClr val="hlink"/>
                </a:solidFill>
                <a:latin typeface="Tahoma" pitchFamily="34" charset="0"/>
              </a:rPr>
              <a:t>（不可兼）</a:t>
            </a:r>
            <a:r>
              <a:rPr lang="zh-CN" altLang="en-US"/>
              <a:t>的</a:t>
            </a:r>
            <a:r>
              <a:rPr lang="zh-CN" altLang="en-US" i="1" u="sng">
                <a:solidFill>
                  <a:schemeClr val="hlink"/>
                </a:solidFill>
              </a:rPr>
              <a:t>陈述句</a:t>
            </a:r>
            <a:r>
              <a:rPr lang="zh-CN" altLang="en-US"/>
              <a:t>。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8" grpId="0"/>
      <p:bldP spid="105482" grpId="0"/>
      <p:bldP spid="10548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EE29355-8E14-49C4-A56F-B753DFF8EB8F}" type="slidenum">
              <a:rPr lang="en-US" altLang="zh-CN"/>
              <a:pPr>
                <a:defRPr/>
              </a:pPr>
              <a:t>8</a:t>
            </a:fld>
            <a:endParaRPr lang="en-US" altLang="zh-CN"/>
          </a:p>
        </p:txBody>
      </p:sp>
      <p:sp>
        <p:nvSpPr>
          <p:cNvPr id="12291" name="Text Box 4"/>
          <p:cNvSpPr txBox="1">
            <a:spLocks noChangeArrowheads="1"/>
          </p:cNvSpPr>
          <p:nvPr/>
        </p:nvSpPr>
        <p:spPr bwMode="auto">
          <a:xfrm>
            <a:off x="719138" y="1471613"/>
            <a:ext cx="7416800" cy="410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buClrTx/>
              <a:buSzTx/>
              <a:buFontTx/>
              <a:buNone/>
            </a:pPr>
            <a:r>
              <a:rPr kumimoji="1" lang="zh-CN" altLang="en-US">
                <a:solidFill>
                  <a:schemeClr val="hlink"/>
                </a:solidFill>
              </a:rPr>
              <a:t>例</a:t>
            </a:r>
            <a:r>
              <a:rPr kumimoji="1" lang="zh-CN" altLang="en-US">
                <a:solidFill>
                  <a:srgbClr val="FF0066"/>
                </a:solidFill>
              </a:rPr>
              <a:t> </a:t>
            </a:r>
            <a:r>
              <a:rPr kumimoji="1" lang="zh-CN" altLang="en-US"/>
              <a:t>（</a:t>
            </a:r>
            <a:r>
              <a:rPr kumimoji="1" lang="en-US" altLang="zh-CN"/>
              <a:t>1</a:t>
            </a:r>
            <a:r>
              <a:rPr kumimoji="1" lang="zh-CN" altLang="en-US"/>
              <a:t>）人有五指。</a:t>
            </a:r>
          </a:p>
          <a:p>
            <a:pPr algn="just" eaLnBrk="1" hangingPunct="1">
              <a:buClrTx/>
              <a:buSzTx/>
              <a:buFontTx/>
              <a:buNone/>
            </a:pPr>
            <a:r>
              <a:rPr kumimoji="1" lang="zh-CN" altLang="en-US"/>
              <a:t>     （</a:t>
            </a:r>
            <a:r>
              <a:rPr kumimoji="1" lang="en-US" altLang="zh-CN"/>
              <a:t>2</a:t>
            </a:r>
            <a:r>
              <a:rPr kumimoji="1" lang="zh-CN" altLang="en-US"/>
              <a:t>）</a:t>
            </a:r>
            <a:r>
              <a:rPr kumimoji="1" lang="zh-CN" altLang="en-US">
                <a:latin typeface="Tahoma" pitchFamily="34" charset="0"/>
              </a:rPr>
              <a:t>一个偶数可表示成两个素数之和</a:t>
            </a:r>
            <a:r>
              <a:rPr kumimoji="1" lang="zh-CN" altLang="en-US" b="0">
                <a:latin typeface="Tahoma" pitchFamily="34" charset="0"/>
              </a:rPr>
              <a:t> </a:t>
            </a:r>
            <a:r>
              <a:rPr kumimoji="1" lang="zh-CN" altLang="en-US"/>
              <a:t>。</a:t>
            </a:r>
          </a:p>
          <a:p>
            <a:pPr algn="just" eaLnBrk="1" hangingPunct="1">
              <a:buClrTx/>
              <a:buSzTx/>
              <a:buFontTx/>
              <a:buNone/>
            </a:pPr>
            <a:r>
              <a:rPr kumimoji="1" lang="zh-CN" altLang="en-US"/>
              <a:t>     （</a:t>
            </a:r>
            <a:r>
              <a:rPr kumimoji="1" lang="en-US" altLang="zh-CN"/>
              <a:t>3</a:t>
            </a:r>
            <a:r>
              <a:rPr kumimoji="1" lang="zh-CN" altLang="en-US"/>
              <a:t>）我学英语，或者我学日语。</a:t>
            </a:r>
          </a:p>
          <a:p>
            <a:pPr algn="just" eaLnBrk="1" hangingPunct="1">
              <a:buClrTx/>
              <a:buSzTx/>
              <a:buFontTx/>
              <a:buNone/>
            </a:pPr>
            <a:r>
              <a:rPr kumimoji="1" lang="zh-CN" altLang="en-US"/>
              <a:t>     （</a:t>
            </a:r>
            <a:r>
              <a:rPr kumimoji="1" lang="en-US" altLang="zh-CN"/>
              <a:t>4</a:t>
            </a:r>
            <a:r>
              <a:rPr kumimoji="1" lang="zh-CN" altLang="en-US"/>
              <a:t>）</a:t>
            </a:r>
            <a:r>
              <a:rPr kumimoji="1" lang="en-US" altLang="zh-CN"/>
              <a:t>1</a:t>
            </a:r>
            <a:r>
              <a:rPr kumimoji="1" lang="zh-CN" altLang="en-US"/>
              <a:t>＋</a:t>
            </a:r>
            <a:r>
              <a:rPr kumimoji="1" lang="en-US" altLang="zh-CN"/>
              <a:t>101=110 </a:t>
            </a:r>
            <a:r>
              <a:rPr kumimoji="1" lang="en-US" altLang="zh-CN">
                <a:latin typeface="Courier New" pitchFamily="49" charset="0"/>
              </a:rPr>
              <a:t> </a:t>
            </a:r>
            <a:endParaRPr kumimoji="1" lang="en-US" altLang="zh-CN"/>
          </a:p>
          <a:p>
            <a:pPr algn="just" eaLnBrk="1" hangingPunct="1">
              <a:buClrTx/>
              <a:buSzTx/>
              <a:buFontTx/>
              <a:buNone/>
            </a:pPr>
            <a:r>
              <a:rPr kumimoji="1" lang="en-US" altLang="zh-CN"/>
              <a:t>     </a:t>
            </a:r>
            <a:r>
              <a:rPr kumimoji="1" lang="zh-CN" altLang="en-US"/>
              <a:t>（</a:t>
            </a:r>
            <a:r>
              <a:rPr kumimoji="1" lang="en-US" altLang="zh-CN"/>
              <a:t>5</a:t>
            </a:r>
            <a:r>
              <a:rPr kumimoji="1" lang="zh-CN" altLang="en-US"/>
              <a:t>）</a:t>
            </a:r>
            <a:r>
              <a:rPr kumimoji="1" lang="en-US" altLang="zh-CN"/>
              <a:t>x +1&gt;3</a:t>
            </a:r>
          </a:p>
          <a:p>
            <a:pPr algn="just" eaLnBrk="1" hangingPunct="1">
              <a:buClrTx/>
              <a:buSzTx/>
              <a:buFontTx/>
              <a:buNone/>
            </a:pPr>
            <a:r>
              <a:rPr kumimoji="1" lang="en-US" altLang="zh-CN"/>
              <a:t>     </a:t>
            </a:r>
            <a:r>
              <a:rPr kumimoji="1" lang="zh-CN" altLang="en-US"/>
              <a:t>（</a:t>
            </a:r>
            <a:r>
              <a:rPr kumimoji="1" lang="en-US" altLang="zh-CN"/>
              <a:t>6</a:t>
            </a:r>
            <a:r>
              <a:rPr kumimoji="1" lang="zh-CN" altLang="en-US"/>
              <a:t>）全体立正！</a:t>
            </a:r>
          </a:p>
          <a:p>
            <a:pPr algn="just" eaLnBrk="1" hangingPunct="1">
              <a:buClrTx/>
              <a:buSzTx/>
              <a:buFontTx/>
              <a:buNone/>
            </a:pPr>
            <a:r>
              <a:rPr kumimoji="1" lang="zh-CN" altLang="en-US"/>
              <a:t>     （</a:t>
            </a:r>
            <a:r>
              <a:rPr kumimoji="1" lang="en-US" altLang="zh-CN"/>
              <a:t>7</a:t>
            </a:r>
            <a:r>
              <a:rPr kumimoji="1" lang="zh-CN" altLang="en-US"/>
              <a:t>）</a:t>
            </a:r>
            <a:r>
              <a:rPr kumimoji="1" lang="en-US" altLang="zh-CN"/>
              <a:t>8</a:t>
            </a:r>
            <a:r>
              <a:rPr kumimoji="1" lang="zh-CN" altLang="en-US"/>
              <a:t>大于</a:t>
            </a:r>
            <a:r>
              <a:rPr kumimoji="1" lang="en-US" altLang="zh-CN"/>
              <a:t>12</a:t>
            </a:r>
            <a:r>
              <a:rPr kumimoji="1" lang="zh-CN" altLang="en-US"/>
              <a:t>吗？</a:t>
            </a:r>
            <a:r>
              <a:rPr kumimoji="1" lang="zh-CN" altLang="en-US" b="0"/>
              <a:t> </a:t>
            </a:r>
            <a:endParaRPr kumimoji="1" lang="zh-CN" altLang="en-US"/>
          </a:p>
          <a:p>
            <a:pPr algn="just" eaLnBrk="1" hangingPunct="1">
              <a:buClrTx/>
              <a:buSzTx/>
              <a:buFontTx/>
              <a:buNone/>
            </a:pPr>
            <a:r>
              <a:rPr kumimoji="1" lang="zh-CN" altLang="en-US"/>
              <a:t>     （</a:t>
            </a:r>
            <a:r>
              <a:rPr kumimoji="1" lang="en-US" altLang="zh-CN"/>
              <a:t>8</a:t>
            </a:r>
            <a:r>
              <a:rPr kumimoji="1" lang="zh-CN" altLang="en-US"/>
              <a:t>）这句话是假的。</a:t>
            </a:r>
          </a:p>
        </p:txBody>
      </p:sp>
      <p:sp>
        <p:nvSpPr>
          <p:cNvPr id="319494" name="Rectangle 6"/>
          <p:cNvSpPr>
            <a:spLocks noChangeArrowheads="1"/>
          </p:cNvSpPr>
          <p:nvPr/>
        </p:nvSpPr>
        <p:spPr bwMode="auto">
          <a:xfrm>
            <a:off x="7559675" y="1470025"/>
            <a:ext cx="5413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/>
              <a:t>是</a:t>
            </a:r>
          </a:p>
        </p:txBody>
      </p:sp>
      <p:sp>
        <p:nvSpPr>
          <p:cNvPr id="319496" name="Rectangle 8"/>
          <p:cNvSpPr>
            <a:spLocks noChangeArrowheads="1"/>
          </p:cNvSpPr>
          <p:nvPr/>
        </p:nvSpPr>
        <p:spPr bwMode="auto">
          <a:xfrm>
            <a:off x="7559675" y="1916113"/>
            <a:ext cx="5413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/>
              <a:t>是</a:t>
            </a:r>
          </a:p>
        </p:txBody>
      </p:sp>
      <p:sp>
        <p:nvSpPr>
          <p:cNvPr id="319498" name="Rectangle 10"/>
          <p:cNvSpPr>
            <a:spLocks noChangeArrowheads="1"/>
          </p:cNvSpPr>
          <p:nvPr/>
        </p:nvSpPr>
        <p:spPr bwMode="auto">
          <a:xfrm>
            <a:off x="7567613" y="2420938"/>
            <a:ext cx="5413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/>
              <a:t>是</a:t>
            </a:r>
          </a:p>
        </p:txBody>
      </p:sp>
      <p:sp>
        <p:nvSpPr>
          <p:cNvPr id="319499" name="Rectangle 11"/>
          <p:cNvSpPr>
            <a:spLocks noChangeArrowheads="1"/>
          </p:cNvSpPr>
          <p:nvPr/>
        </p:nvSpPr>
        <p:spPr bwMode="auto">
          <a:xfrm>
            <a:off x="7596188" y="2895600"/>
            <a:ext cx="5413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>
                <a:latin typeface="Tahoma" pitchFamily="34" charset="0"/>
              </a:rPr>
              <a:t>是</a:t>
            </a:r>
          </a:p>
        </p:txBody>
      </p:sp>
      <p:sp>
        <p:nvSpPr>
          <p:cNvPr id="319503" name="Rectangle 15"/>
          <p:cNvSpPr>
            <a:spLocks noChangeArrowheads="1"/>
          </p:cNvSpPr>
          <p:nvPr/>
        </p:nvSpPr>
        <p:spPr bwMode="auto">
          <a:xfrm>
            <a:off x="7308850" y="4941888"/>
            <a:ext cx="12604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/>
              <a:t>不是</a:t>
            </a:r>
          </a:p>
        </p:txBody>
      </p:sp>
      <p:sp>
        <p:nvSpPr>
          <p:cNvPr id="319505" name="Rectangle 17"/>
          <p:cNvSpPr>
            <a:spLocks noChangeArrowheads="1"/>
          </p:cNvSpPr>
          <p:nvPr/>
        </p:nvSpPr>
        <p:spPr bwMode="auto">
          <a:xfrm>
            <a:off x="7308850" y="3357563"/>
            <a:ext cx="12588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/>
              <a:t>不是</a:t>
            </a:r>
          </a:p>
        </p:txBody>
      </p:sp>
      <p:sp>
        <p:nvSpPr>
          <p:cNvPr id="319506" name="Rectangle 18"/>
          <p:cNvSpPr>
            <a:spLocks noChangeArrowheads="1"/>
          </p:cNvSpPr>
          <p:nvPr/>
        </p:nvSpPr>
        <p:spPr bwMode="auto">
          <a:xfrm>
            <a:off x="7308850" y="3903663"/>
            <a:ext cx="11890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/>
              <a:t>不是</a:t>
            </a:r>
          </a:p>
        </p:txBody>
      </p:sp>
      <p:sp>
        <p:nvSpPr>
          <p:cNvPr id="319507" name="Rectangle 19"/>
          <p:cNvSpPr>
            <a:spLocks noChangeArrowheads="1"/>
          </p:cNvSpPr>
          <p:nvPr/>
        </p:nvSpPr>
        <p:spPr bwMode="auto">
          <a:xfrm>
            <a:off x="7308850" y="4408488"/>
            <a:ext cx="12604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/>
              <a:t>不是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9494" grpId="0"/>
      <p:bldP spid="319496" grpId="0"/>
      <p:bldP spid="319498" grpId="0"/>
      <p:bldP spid="319499" grpId="0"/>
      <p:bldP spid="319503" grpId="0"/>
      <p:bldP spid="319505" grpId="0"/>
      <p:bldP spid="319506" grpId="0"/>
      <p:bldP spid="31950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3A4A34D-F36F-44E6-9CE1-C60F8CFCD99E}" type="slidenum">
              <a:rPr lang="en-US" altLang="zh-CN"/>
              <a:pPr>
                <a:defRPr/>
              </a:pPr>
              <a:t>9</a:t>
            </a:fld>
            <a:endParaRPr lang="en-US" altLang="zh-CN"/>
          </a:p>
        </p:txBody>
      </p:sp>
      <p:sp>
        <p:nvSpPr>
          <p:cNvPr id="13315" name="Text Box 4"/>
          <p:cNvSpPr txBox="1">
            <a:spLocks noChangeArrowheads="1"/>
          </p:cNvSpPr>
          <p:nvPr/>
        </p:nvSpPr>
        <p:spPr bwMode="auto">
          <a:xfrm>
            <a:off x="1187450" y="666750"/>
            <a:ext cx="756126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914400" indent="-45720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371600" indent="-4572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828800" indent="-4572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indent="-4572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80000"/>
              </a:spcBef>
              <a:buClrTx/>
              <a:buSzTx/>
              <a:buFontTx/>
              <a:buNone/>
            </a:pPr>
            <a:r>
              <a:rPr kumimoji="1" lang="zh-CN" altLang="en-US" sz="320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判断命题规则：</a:t>
            </a:r>
            <a:endParaRPr kumimoji="1" lang="zh-CN" altLang="en-US">
              <a:latin typeface="宋体" pitchFamily="2" charset="-122"/>
            </a:endParaRPr>
          </a:p>
        </p:txBody>
      </p:sp>
      <p:sp>
        <p:nvSpPr>
          <p:cNvPr id="318472" name="Rectangle 8"/>
          <p:cNvSpPr>
            <a:spLocks noChangeArrowheads="1"/>
          </p:cNvSpPr>
          <p:nvPr/>
        </p:nvSpPr>
        <p:spPr bwMode="auto">
          <a:xfrm>
            <a:off x="1130300" y="2476500"/>
            <a:ext cx="73437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>
                <a:latin typeface="宋体" pitchFamily="2" charset="-122"/>
              </a:rPr>
              <a:t>2.</a:t>
            </a:r>
            <a:r>
              <a:rPr kumimoji="1" lang="zh-CN" altLang="en-US">
                <a:latin typeface="宋体" pitchFamily="2" charset="-122"/>
              </a:rPr>
              <a:t>真值必须</a:t>
            </a:r>
            <a:r>
              <a:rPr kumimoji="1" lang="zh-CN" altLang="en-US" u="sng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唯一</a:t>
            </a:r>
            <a:r>
              <a:rPr kumimoji="1" lang="zh-CN" altLang="en-US">
                <a:latin typeface="宋体" pitchFamily="2" charset="-122"/>
              </a:rPr>
              <a:t>，与是否知道其真值无关。</a:t>
            </a:r>
          </a:p>
        </p:txBody>
      </p:sp>
      <p:sp>
        <p:nvSpPr>
          <p:cNvPr id="318474" name="Rectangle 10"/>
          <p:cNvSpPr>
            <a:spLocks noChangeArrowheads="1"/>
          </p:cNvSpPr>
          <p:nvPr/>
        </p:nvSpPr>
        <p:spPr bwMode="auto">
          <a:xfrm>
            <a:off x="1116013" y="3052763"/>
            <a:ext cx="74898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>
                <a:latin typeface="宋体" pitchFamily="2" charset="-122"/>
              </a:rPr>
              <a:t>3.</a:t>
            </a:r>
            <a:r>
              <a:rPr kumimoji="1" lang="zh-CN" altLang="en-US">
                <a:latin typeface="宋体" pitchFamily="2" charset="-122"/>
              </a:rPr>
              <a:t>命题的真值会因人因时因地因上下文而异。</a:t>
            </a:r>
          </a:p>
        </p:txBody>
      </p:sp>
      <p:sp>
        <p:nvSpPr>
          <p:cNvPr id="318478" name="Rectangle 14"/>
          <p:cNvSpPr>
            <a:spLocks noChangeArrowheads="1"/>
          </p:cNvSpPr>
          <p:nvPr/>
        </p:nvSpPr>
        <p:spPr bwMode="auto">
          <a:xfrm>
            <a:off x="1116013" y="4205288"/>
            <a:ext cx="51863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>
                <a:latin typeface="宋体" pitchFamily="2" charset="-122"/>
              </a:rPr>
              <a:t>5.</a:t>
            </a:r>
            <a:r>
              <a:rPr kumimoji="1" lang="zh-CN" altLang="en-US">
                <a:latin typeface="宋体" pitchFamily="2" charset="-122"/>
              </a:rPr>
              <a:t>变量含义不确定的不是命题。</a:t>
            </a:r>
          </a:p>
        </p:txBody>
      </p:sp>
      <p:sp>
        <p:nvSpPr>
          <p:cNvPr id="318482" name="Rectangle 18"/>
          <p:cNvSpPr>
            <a:spLocks noChangeArrowheads="1"/>
          </p:cNvSpPr>
          <p:nvPr/>
        </p:nvSpPr>
        <p:spPr bwMode="auto">
          <a:xfrm>
            <a:off x="1116013" y="3629025"/>
            <a:ext cx="71278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latin typeface="宋体" pitchFamily="2" charset="-122"/>
              </a:rPr>
              <a:t>4.</a:t>
            </a:r>
            <a:r>
              <a:rPr lang="zh-CN" altLang="en-US"/>
              <a:t>悖论不是命题。</a:t>
            </a:r>
          </a:p>
        </p:txBody>
      </p:sp>
      <p:sp>
        <p:nvSpPr>
          <p:cNvPr id="318483" name="Rectangle 19"/>
          <p:cNvSpPr>
            <a:spLocks noChangeArrowheads="1"/>
          </p:cNvSpPr>
          <p:nvPr/>
        </p:nvSpPr>
        <p:spPr bwMode="auto">
          <a:xfrm>
            <a:off x="1116013" y="1306513"/>
            <a:ext cx="7200900" cy="120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>
                <a:latin typeface="宋体" pitchFamily="2" charset="-122"/>
              </a:rPr>
              <a:t>1.</a:t>
            </a:r>
            <a:r>
              <a:rPr kumimoji="1" lang="zh-CN" altLang="en-US">
                <a:latin typeface="宋体" pitchFamily="2" charset="-122"/>
              </a:rPr>
              <a:t>只有</a:t>
            </a:r>
            <a:r>
              <a:rPr kumimoji="1" lang="zh-CN" altLang="en-US">
                <a:latin typeface="Tahoma" pitchFamily="34" charset="0"/>
              </a:rPr>
              <a:t>具有</a:t>
            </a:r>
            <a:r>
              <a:rPr kumimoji="1" lang="zh-CN" altLang="en-US" u="sng">
                <a:solidFill>
                  <a:srgbClr val="FF3300"/>
                </a:solidFill>
                <a:latin typeface="Tahoma" pitchFamily="34" charset="0"/>
              </a:rPr>
              <a:t>确定真值</a:t>
            </a:r>
            <a:r>
              <a:rPr kumimoji="1" lang="zh-CN" altLang="en-US">
                <a:latin typeface="Tahoma" pitchFamily="34" charset="0"/>
              </a:rPr>
              <a:t>的</a:t>
            </a:r>
            <a:r>
              <a:rPr kumimoji="1" lang="zh-CN" altLang="en-US" u="sng">
                <a:solidFill>
                  <a:srgbClr val="FF3300"/>
                </a:solidFill>
                <a:latin typeface="Tahoma" pitchFamily="34" charset="0"/>
              </a:rPr>
              <a:t>陈述句</a:t>
            </a:r>
            <a:r>
              <a:rPr kumimoji="1" lang="zh-CN" altLang="en-US">
                <a:latin typeface="Tahoma" pitchFamily="34" charset="0"/>
              </a:rPr>
              <a:t>才是命题，不是陈述句一定不是命题。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8472" grpId="0"/>
      <p:bldP spid="318474" grpId="0"/>
      <p:bldP spid="318478" grpId="0"/>
      <p:bldP spid="318482" grpId="0"/>
      <p:bldP spid="31848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4B8F7C-8375-48E0-9697-CC6574895099}" type="slidenum">
              <a:rPr lang="en-US" altLang="zh-CN"/>
              <a:pPr>
                <a:defRPr/>
              </a:pPr>
              <a:t>10</a:t>
            </a:fld>
            <a:endParaRPr lang="en-US" altLang="zh-CN"/>
          </a:p>
        </p:txBody>
      </p:sp>
      <p:sp>
        <p:nvSpPr>
          <p:cNvPr id="14339" name="Text Box 4"/>
          <p:cNvSpPr txBox="1">
            <a:spLocks noChangeArrowheads="1"/>
          </p:cNvSpPr>
          <p:nvPr/>
        </p:nvSpPr>
        <p:spPr bwMode="auto">
          <a:xfrm>
            <a:off x="719138" y="1484313"/>
            <a:ext cx="79168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1085850" indent="-45720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722438" indent="-4572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2359025" indent="-4572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995613" indent="-4572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3452813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910013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4367213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824413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/>
              <a:t>命题分类：原子命题、复合命题。</a:t>
            </a:r>
          </a:p>
        </p:txBody>
      </p:sp>
      <p:sp>
        <p:nvSpPr>
          <p:cNvPr id="409606" name="Rectangle 6"/>
          <p:cNvSpPr>
            <a:spLocks noChangeArrowheads="1"/>
          </p:cNvSpPr>
          <p:nvPr/>
        </p:nvSpPr>
        <p:spPr bwMode="auto">
          <a:xfrm>
            <a:off x="719138" y="4149725"/>
            <a:ext cx="7916862" cy="1160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>
                <a:solidFill>
                  <a:schemeClr val="hlink"/>
                </a:solidFill>
              </a:rPr>
              <a:t>例如：</a:t>
            </a:r>
            <a:r>
              <a:rPr kumimoji="1" lang="zh-CN" altLang="en-US"/>
              <a:t>（</a:t>
            </a:r>
            <a:r>
              <a:rPr kumimoji="1" lang="en-US" altLang="zh-CN"/>
              <a:t>1</a:t>
            </a:r>
            <a:r>
              <a:rPr kumimoji="1" lang="zh-CN" altLang="en-US"/>
              <a:t>）我看书，或者我听音乐。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/>
              <a:t>            （</a:t>
            </a:r>
            <a:r>
              <a:rPr kumimoji="1" lang="en-US" altLang="zh-CN"/>
              <a:t>2</a:t>
            </a:r>
            <a:r>
              <a:rPr kumimoji="1" lang="zh-CN" altLang="en-US"/>
              <a:t>）如果今天不下雨，那么我去看电影。</a:t>
            </a:r>
          </a:p>
        </p:txBody>
      </p:sp>
      <p:sp>
        <p:nvSpPr>
          <p:cNvPr id="409608" name="Rectangle 8"/>
          <p:cNvSpPr>
            <a:spLocks noChangeArrowheads="1"/>
          </p:cNvSpPr>
          <p:nvPr/>
        </p:nvSpPr>
        <p:spPr bwMode="auto">
          <a:xfrm>
            <a:off x="719138" y="2141538"/>
            <a:ext cx="79168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>
                <a:solidFill>
                  <a:schemeClr val="folHlink"/>
                </a:solidFill>
              </a:rPr>
              <a:t>原子命题：</a:t>
            </a:r>
            <a:r>
              <a:rPr kumimoji="1" lang="zh-CN" altLang="en-US"/>
              <a:t>不能分解为更简单的陈述句。</a:t>
            </a:r>
          </a:p>
        </p:txBody>
      </p:sp>
      <p:sp>
        <p:nvSpPr>
          <p:cNvPr id="409610" name="Rectangle 10"/>
          <p:cNvSpPr>
            <a:spLocks noChangeArrowheads="1"/>
          </p:cNvSpPr>
          <p:nvPr/>
        </p:nvSpPr>
        <p:spPr bwMode="auto">
          <a:xfrm>
            <a:off x="719138" y="2852738"/>
            <a:ext cx="7916862" cy="1160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>
                <a:solidFill>
                  <a:schemeClr val="folHlink"/>
                </a:solidFill>
              </a:rPr>
              <a:t>复合命题：</a:t>
            </a:r>
            <a:r>
              <a:rPr kumimoji="1" lang="zh-CN" altLang="en-US"/>
              <a:t>由联结词、标点符号和原子命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/>
              <a:t>                    题复合构成的。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06" grpId="0"/>
      <p:bldP spid="409608" grpId="0"/>
      <p:bldP spid="4096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4AD557D-1B41-4796-919D-9D993B4B1C2E}" type="slidenum">
              <a:rPr lang="en-US" altLang="zh-CN"/>
              <a:pPr>
                <a:defRPr/>
              </a:pPr>
              <a:t>11</a:t>
            </a:fld>
            <a:endParaRPr lang="en-US" altLang="zh-CN"/>
          </a:p>
        </p:txBody>
      </p:sp>
      <p:sp>
        <p:nvSpPr>
          <p:cNvPr id="15363" name="Rectangle 7"/>
          <p:cNvSpPr>
            <a:spLocks noChangeArrowheads="1"/>
          </p:cNvSpPr>
          <p:nvPr/>
        </p:nvSpPr>
        <p:spPr bwMode="auto">
          <a:xfrm>
            <a:off x="1331913" y="617538"/>
            <a:ext cx="417671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3200">
                <a:solidFill>
                  <a:schemeClr val="folHlink"/>
                </a:solidFill>
                <a:latin typeface="Tahoma" pitchFamily="34" charset="0"/>
                <a:ea typeface="楷体_GB2312" pitchFamily="49" charset="-122"/>
              </a:rPr>
              <a:t>二、命题的表示法</a:t>
            </a:r>
          </a:p>
        </p:txBody>
      </p:sp>
      <p:sp>
        <p:nvSpPr>
          <p:cNvPr id="410633" name="Rectangle 9"/>
          <p:cNvSpPr>
            <a:spLocks noChangeArrowheads="1"/>
          </p:cNvSpPr>
          <p:nvPr/>
        </p:nvSpPr>
        <p:spPr bwMode="auto">
          <a:xfrm>
            <a:off x="971550" y="1484313"/>
            <a:ext cx="7416800" cy="120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chemeClr val="hlink"/>
                </a:solidFill>
                <a:latin typeface="Tahoma" pitchFamily="34" charset="0"/>
              </a:rPr>
              <a:t>命题标识符：</a:t>
            </a:r>
            <a:r>
              <a:rPr lang="zh-CN" altLang="en-US">
                <a:latin typeface="Tahoma" pitchFamily="34" charset="0"/>
              </a:rPr>
              <a:t>大写字母、带下标的大写字母、数字等表示命题的符号。</a:t>
            </a:r>
          </a:p>
        </p:txBody>
      </p:sp>
      <p:sp>
        <p:nvSpPr>
          <p:cNvPr id="410634" name="Rectangle 10"/>
          <p:cNvSpPr>
            <a:spLocks noChangeArrowheads="1"/>
          </p:cNvSpPr>
          <p:nvPr/>
        </p:nvSpPr>
        <p:spPr bwMode="auto">
          <a:xfrm>
            <a:off x="971550" y="2708275"/>
            <a:ext cx="7489825" cy="120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>
                <a:solidFill>
                  <a:schemeClr val="hlink"/>
                </a:solidFill>
              </a:rPr>
              <a:t>例如：</a:t>
            </a:r>
            <a:r>
              <a:rPr kumimoji="1" lang="en-US" altLang="zh-CN"/>
              <a:t>P</a:t>
            </a:r>
            <a:r>
              <a:rPr kumimoji="1" lang="zh-CN" altLang="en-US"/>
              <a:t>：北京是中国首都。</a:t>
            </a:r>
          </a:p>
          <a:p>
            <a:pPr algn="just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/>
              <a:t>           </a:t>
            </a:r>
            <a:r>
              <a:rPr kumimoji="1" lang="en-US" altLang="zh-CN"/>
              <a:t>[2]</a:t>
            </a:r>
            <a:r>
              <a:rPr kumimoji="1" lang="zh-CN" altLang="en-US"/>
              <a:t>：</a:t>
            </a:r>
            <a:r>
              <a:rPr kumimoji="1" lang="zh-CN" altLang="en-US">
                <a:latin typeface="Tahoma" pitchFamily="34" charset="0"/>
              </a:rPr>
              <a:t>北京是中国首都。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633" grpId="0"/>
      <p:bldP spid="41063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2B4B7FD-3687-4992-AB07-C18967E46C60}" type="slidenum">
              <a:rPr lang="en-US" altLang="zh-CN"/>
              <a:pPr>
                <a:defRPr/>
              </a:pPr>
              <a:t>12</a:t>
            </a:fld>
            <a:endParaRPr lang="en-US" altLang="zh-CN"/>
          </a:p>
        </p:txBody>
      </p:sp>
      <p:sp>
        <p:nvSpPr>
          <p:cNvPr id="16387" name="Text Box 4"/>
          <p:cNvSpPr txBox="1">
            <a:spLocks noChangeArrowheads="1"/>
          </p:cNvSpPr>
          <p:nvPr/>
        </p:nvSpPr>
        <p:spPr bwMode="auto">
          <a:xfrm>
            <a:off x="719138" y="1546225"/>
            <a:ext cx="7632700" cy="175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Ins="0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>
                <a:latin typeface="宋体" pitchFamily="2" charset="-122"/>
              </a:rPr>
              <a:t>命题常量：表示一个确定的命题的命题标识符。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>
                <a:latin typeface="宋体" pitchFamily="2" charset="-122"/>
              </a:rPr>
              <a:t>命题变元：任意命题的位置标志。命题变元</a:t>
            </a:r>
            <a:r>
              <a:rPr kumimoji="1" lang="zh-CN" altLang="en-US">
                <a:solidFill>
                  <a:schemeClr val="hlink"/>
                </a:solidFill>
                <a:latin typeface="宋体" pitchFamily="2" charset="-122"/>
              </a:rPr>
              <a:t>不是</a:t>
            </a:r>
            <a:r>
              <a:rPr kumimoji="1" lang="zh-CN" altLang="en-US">
                <a:latin typeface="宋体" pitchFamily="2" charset="-122"/>
              </a:rPr>
              <a:t>命题。</a:t>
            </a:r>
          </a:p>
        </p:txBody>
      </p:sp>
      <p:sp>
        <p:nvSpPr>
          <p:cNvPr id="411653" name="Text Box 5"/>
          <p:cNvSpPr txBox="1">
            <a:spLocks noChangeArrowheads="1"/>
          </p:cNvSpPr>
          <p:nvPr/>
        </p:nvSpPr>
        <p:spPr bwMode="auto">
          <a:xfrm>
            <a:off x="719138" y="3933825"/>
            <a:ext cx="7850187" cy="120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Ins="0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>
                <a:latin typeface="宋体" pitchFamily="2" charset="-122"/>
              </a:rPr>
              <a:t>当命题变元</a:t>
            </a:r>
            <a:r>
              <a:rPr kumimoji="1" lang="en-US" altLang="zh-CN">
                <a:latin typeface="宋体" pitchFamily="2" charset="-122"/>
              </a:rPr>
              <a:t>P</a:t>
            </a:r>
            <a:r>
              <a:rPr kumimoji="1" lang="zh-CN" altLang="en-US">
                <a:latin typeface="宋体" pitchFamily="2" charset="-122"/>
              </a:rPr>
              <a:t>用一个特定的命题取代时，</a:t>
            </a:r>
            <a:r>
              <a:rPr kumimoji="1" lang="en-US" altLang="zh-CN">
                <a:latin typeface="宋体" pitchFamily="2" charset="-122"/>
              </a:rPr>
              <a:t>P</a:t>
            </a:r>
            <a:r>
              <a:rPr kumimoji="1" lang="zh-CN" altLang="en-US">
                <a:latin typeface="宋体" pitchFamily="2" charset="-122"/>
              </a:rPr>
              <a:t>才能确定真值，也称对</a:t>
            </a:r>
            <a:r>
              <a:rPr kumimoji="1" lang="en-US" altLang="zh-CN">
                <a:latin typeface="宋体" pitchFamily="2" charset="-122"/>
              </a:rPr>
              <a:t>P</a:t>
            </a:r>
            <a:r>
              <a:rPr kumimoji="1" lang="zh-CN" altLang="en-US">
                <a:latin typeface="宋体" pitchFamily="2" charset="-122"/>
              </a:rPr>
              <a:t>进行</a:t>
            </a:r>
            <a:r>
              <a:rPr kumimoji="1" lang="zh-CN" altLang="en-US">
                <a:solidFill>
                  <a:schemeClr val="hlink"/>
                </a:solidFill>
                <a:latin typeface="宋体" pitchFamily="2" charset="-122"/>
              </a:rPr>
              <a:t>指派</a:t>
            </a:r>
            <a:r>
              <a:rPr kumimoji="1" lang="zh-CN" altLang="en-US">
                <a:latin typeface="宋体" pitchFamily="2" charset="-122"/>
              </a:rPr>
              <a:t>。</a:t>
            </a:r>
          </a:p>
        </p:txBody>
      </p:sp>
      <p:sp>
        <p:nvSpPr>
          <p:cNvPr id="411656" name="Rectangle 8"/>
          <p:cNvSpPr>
            <a:spLocks noChangeArrowheads="1"/>
          </p:cNvSpPr>
          <p:nvPr/>
        </p:nvSpPr>
        <p:spPr bwMode="auto">
          <a:xfrm>
            <a:off x="719138" y="3284538"/>
            <a:ext cx="6985000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>
                <a:latin typeface="Tahoma" pitchFamily="34" charset="0"/>
              </a:rPr>
              <a:t>原子变元：命题变元表示原子命题。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1653" grpId="0"/>
      <p:bldP spid="41165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6DFC1-4628-48E2-B00F-C888325AE9D6}" type="slidenum">
              <a:rPr lang="en-US" altLang="zh-CN"/>
              <a:pPr>
                <a:defRPr/>
              </a:pPr>
              <a:t>13</a:t>
            </a:fld>
            <a:endParaRPr lang="en-US" altLang="zh-CN"/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>
          <a:xfrm>
            <a:off x="1331913" y="333375"/>
            <a:ext cx="6156325" cy="911225"/>
          </a:xfrm>
        </p:spPr>
        <p:txBody>
          <a:bodyPr/>
          <a:lstStyle/>
          <a:p>
            <a:pPr algn="just" eaLnBrk="1" hangingPunct="1"/>
            <a:r>
              <a:rPr kumimoji="1" lang="en-US" altLang="zh-CN" sz="3600" b="1" smtClean="0">
                <a:solidFill>
                  <a:schemeClr val="tx1"/>
                </a:solidFill>
                <a:latin typeface="华文行楷" pitchFamily="2" charset="-122"/>
              </a:rPr>
              <a:t>1-2  </a:t>
            </a:r>
            <a:r>
              <a:rPr kumimoji="1" lang="zh-CN" altLang="en-US" sz="3600" b="1" smtClean="0">
                <a:solidFill>
                  <a:schemeClr val="tx1"/>
                </a:solidFill>
                <a:latin typeface="华文行楷" pitchFamily="2" charset="-122"/>
              </a:rPr>
              <a:t>联结词</a:t>
            </a:r>
          </a:p>
        </p:txBody>
      </p:sp>
      <p:sp>
        <p:nvSpPr>
          <p:cNvPr id="17412" name="Rectangle 9"/>
          <p:cNvSpPr>
            <a:spLocks noChangeArrowheads="1"/>
          </p:cNvSpPr>
          <p:nvPr/>
        </p:nvSpPr>
        <p:spPr bwMode="auto">
          <a:xfrm>
            <a:off x="684213" y="1628775"/>
            <a:ext cx="7559675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/>
              <a:t>        </a:t>
            </a:r>
            <a:r>
              <a:rPr kumimoji="1" lang="zh-CN" altLang="en-US"/>
              <a:t>联结词是构成复合命题主要组成部分，其作用相当于初等数学中的实数集上定义的</a:t>
            </a:r>
            <a:r>
              <a:rPr kumimoji="1" lang="zh-CN" altLang="en-US">
                <a:solidFill>
                  <a:schemeClr val="hlink"/>
                </a:solidFill>
              </a:rPr>
              <a:t>＋、－、</a:t>
            </a:r>
            <a:r>
              <a:rPr kumimoji="1" lang="en-US" altLang="zh-CN">
                <a:solidFill>
                  <a:schemeClr val="hlink"/>
                </a:solidFill>
              </a:rPr>
              <a:t>×</a:t>
            </a:r>
            <a:r>
              <a:rPr kumimoji="1" lang="zh-CN" altLang="en-US">
                <a:solidFill>
                  <a:schemeClr val="hlink"/>
                </a:solidFill>
              </a:rPr>
              <a:t>、</a:t>
            </a:r>
            <a:r>
              <a:rPr kumimoji="1" lang="en-US" altLang="zh-CN">
                <a:solidFill>
                  <a:schemeClr val="hlink"/>
                </a:solidFill>
              </a:rPr>
              <a:t>÷</a:t>
            </a:r>
            <a:r>
              <a:rPr kumimoji="1" lang="zh-CN" altLang="en-US"/>
              <a:t>等运算符。</a:t>
            </a:r>
          </a:p>
        </p:txBody>
      </p:sp>
      <p:sp>
        <p:nvSpPr>
          <p:cNvPr id="436235" name="Rectangle 11"/>
          <p:cNvSpPr>
            <a:spLocks noChangeArrowheads="1"/>
          </p:cNvSpPr>
          <p:nvPr/>
        </p:nvSpPr>
        <p:spPr bwMode="auto">
          <a:xfrm>
            <a:off x="684213" y="3141663"/>
            <a:ext cx="74168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/>
              <a:t>        </a:t>
            </a:r>
            <a:r>
              <a:rPr kumimoji="1" lang="zh-CN" altLang="en-US"/>
              <a:t>需要思考的是逻辑联结词与日常自然用语中的有关联结词的</a:t>
            </a:r>
            <a:r>
              <a:rPr kumimoji="1" lang="zh-CN" altLang="en-US">
                <a:solidFill>
                  <a:schemeClr val="hlink"/>
                </a:solidFill>
              </a:rPr>
              <a:t>是不是一样？</a:t>
            </a:r>
            <a:r>
              <a:rPr kumimoji="1" lang="zh-CN" altLang="en-US"/>
              <a:t>　　</a:t>
            </a:r>
          </a:p>
        </p:txBody>
      </p:sp>
      <p:sp>
        <p:nvSpPr>
          <p:cNvPr id="436237" name="Rectangle 13"/>
          <p:cNvSpPr>
            <a:spLocks noChangeArrowheads="1"/>
          </p:cNvSpPr>
          <p:nvPr/>
        </p:nvSpPr>
        <p:spPr bwMode="auto">
          <a:xfrm>
            <a:off x="684213" y="4292600"/>
            <a:ext cx="7200900" cy="1160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/>
              <a:t>        </a:t>
            </a:r>
            <a:r>
              <a:rPr kumimoji="1" lang="zh-CN" altLang="en-US"/>
              <a:t>下面介绍五个常用的逻辑联结词：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/>
              <a:t>         ┐，∧，∨，→，</a:t>
            </a:r>
            <a:r>
              <a:rPr kumimoji="1" lang="zh-CN" altLang="en-US">
                <a:latin typeface="Arial Unicode MS" pitchFamily="34" charset="-122"/>
                <a:ea typeface="Arial Unicode MS" pitchFamily="34" charset="-122"/>
                <a:cs typeface="Arial Unicode MS" pitchFamily="34" charset="-122"/>
                <a:sym typeface="Symbol" pitchFamily="18" charset="2"/>
              </a:rPr>
              <a:t>⇄ </a:t>
            </a:r>
            <a:r>
              <a:rPr kumimoji="1" lang="en-US" altLang="zh-CN">
                <a:ea typeface="Arial Unicode MS" pitchFamily="34" charset="-122"/>
                <a:cs typeface="Arial Unicode MS" pitchFamily="34" charset="-122"/>
                <a:sym typeface="Symbol" pitchFamily="18" charset="2"/>
              </a:rPr>
              <a:t>(</a:t>
            </a:r>
            <a:r>
              <a:rPr kumimoji="1" lang="en-US" altLang="zh-CN">
                <a:cs typeface="Times New Roman" pitchFamily="18" charset="0"/>
              </a:rPr>
              <a:t>↔)</a:t>
            </a:r>
            <a:r>
              <a:rPr kumimoji="1" lang="zh-CN" altLang="en-US"/>
              <a:t>。</a:t>
            </a:r>
          </a:p>
        </p:txBody>
      </p:sp>
      <p:sp>
        <p:nvSpPr>
          <p:cNvPr id="17415" name="Rectangle 15"/>
          <p:cNvSpPr>
            <a:spLocks noChangeArrowheads="1"/>
          </p:cNvSpPr>
          <p:nvPr/>
        </p:nvSpPr>
        <p:spPr bwMode="auto">
          <a:xfrm>
            <a:off x="0" y="33480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6235" grpId="0"/>
      <p:bldP spid="43623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9EB58C3-D3A1-4655-813A-1B1DC17A3112}" type="slidenum">
              <a:rPr lang="en-US" altLang="zh-CN"/>
              <a:pPr>
                <a:defRPr/>
              </a:pPr>
              <a:t>14</a:t>
            </a:fld>
            <a:endParaRPr lang="en-US" altLang="zh-CN"/>
          </a:p>
        </p:txBody>
      </p:sp>
      <p:graphicFrame>
        <p:nvGraphicFramePr>
          <p:cNvPr id="412709" name="Group 37"/>
          <p:cNvGraphicFramePr>
            <a:graphicFrameLocks noGrp="1"/>
          </p:cNvGraphicFramePr>
          <p:nvPr/>
        </p:nvGraphicFramePr>
        <p:xfrm>
          <a:off x="3276600" y="1700213"/>
          <a:ext cx="2154238" cy="1871661"/>
        </p:xfrm>
        <a:graphic>
          <a:graphicData uri="http://schemas.openxmlformats.org/drawingml/2006/table">
            <a:tbl>
              <a:tblPr/>
              <a:tblGrid>
                <a:gridCol w="1003300"/>
                <a:gridCol w="1150938"/>
              </a:tblGrid>
              <a:tr h="62388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┐P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62388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62388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</a:tbl>
          </a:graphicData>
        </a:graphic>
      </p:graphicFrame>
      <p:sp>
        <p:nvSpPr>
          <p:cNvPr id="18449" name="Rectangle 25"/>
          <p:cNvSpPr>
            <a:spLocks noChangeArrowheads="1"/>
          </p:cNvSpPr>
          <p:nvPr/>
        </p:nvSpPr>
        <p:spPr bwMode="auto">
          <a:xfrm>
            <a:off x="1187450" y="617538"/>
            <a:ext cx="555307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3200">
                <a:ea typeface="楷体_GB2312" pitchFamily="49" charset="-122"/>
              </a:rPr>
              <a:t>（</a:t>
            </a:r>
            <a:r>
              <a:rPr kumimoji="1" lang="en-US" altLang="zh-CN" sz="3200">
                <a:ea typeface="楷体_GB2312" pitchFamily="49" charset="-122"/>
              </a:rPr>
              <a:t>1</a:t>
            </a:r>
            <a:r>
              <a:rPr kumimoji="1" lang="zh-CN" altLang="en-US" sz="3200">
                <a:ea typeface="楷体_GB2312" pitchFamily="49" charset="-122"/>
              </a:rPr>
              <a:t>）否定联结词┐</a:t>
            </a:r>
            <a:r>
              <a:rPr kumimoji="1" lang="en-US" altLang="zh-CN" sz="3200">
                <a:ea typeface="楷体_GB2312" pitchFamily="49" charset="-122"/>
              </a:rPr>
              <a:t>(</a:t>
            </a:r>
            <a:r>
              <a:rPr kumimoji="1" lang="zh-CN" altLang="en-US" sz="3200">
                <a:ea typeface="楷体_GB2312" pitchFamily="49" charset="-122"/>
              </a:rPr>
              <a:t>一元运算</a:t>
            </a:r>
            <a:r>
              <a:rPr kumimoji="1" lang="en-US" altLang="zh-CN" sz="3200">
                <a:ea typeface="楷体_GB2312" pitchFamily="49" charset="-122"/>
              </a:rPr>
              <a:t>)</a:t>
            </a:r>
          </a:p>
        </p:txBody>
      </p:sp>
      <p:sp>
        <p:nvSpPr>
          <p:cNvPr id="18450" name="Rectangle 38"/>
          <p:cNvSpPr>
            <a:spLocks noChangeArrowheads="1"/>
          </p:cNvSpPr>
          <p:nvPr/>
        </p:nvSpPr>
        <p:spPr bwMode="auto">
          <a:xfrm>
            <a:off x="1258888" y="3727450"/>
            <a:ext cx="6626225" cy="2149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3000" dirty="0">
                <a:solidFill>
                  <a:schemeClr val="hlink"/>
                </a:solidFill>
              </a:rPr>
              <a:t>例如：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sz="3000" dirty="0"/>
              <a:t>          </a:t>
            </a:r>
            <a:r>
              <a:rPr kumimoji="1" lang="zh-CN" altLang="en-US" sz="3000" dirty="0" smtClean="0"/>
              <a:t> </a:t>
            </a:r>
            <a:r>
              <a:rPr kumimoji="1" lang="en-US" altLang="zh-CN" sz="3000" dirty="0" smtClean="0"/>
              <a:t>P</a:t>
            </a:r>
            <a:r>
              <a:rPr kumimoji="1" lang="zh-CN" altLang="en-US" sz="3000" dirty="0"/>
              <a:t>：上海是一个大城市。</a:t>
            </a:r>
            <a:br>
              <a:rPr kumimoji="1" lang="zh-CN" altLang="en-US" sz="3000" dirty="0"/>
            </a:br>
            <a:r>
              <a:rPr kumimoji="1" lang="zh-CN" altLang="en-US" sz="3000" dirty="0"/>
              <a:t>     </a:t>
            </a:r>
            <a:r>
              <a:rPr kumimoji="1" lang="zh-CN" altLang="en-US" sz="3000" dirty="0" smtClean="0"/>
              <a:t>   </a:t>
            </a:r>
            <a:r>
              <a:rPr kumimoji="1" lang="zh-CN" altLang="en-US" sz="3000" dirty="0"/>
              <a:t>┐</a:t>
            </a:r>
            <a:r>
              <a:rPr kumimoji="1" lang="en-US" altLang="zh-CN" sz="3000" dirty="0"/>
              <a:t>P</a:t>
            </a:r>
            <a:r>
              <a:rPr kumimoji="1" lang="zh-CN" altLang="en-US" sz="3000" dirty="0"/>
              <a:t>：上海并不是一个大城市。</a:t>
            </a:r>
            <a:br>
              <a:rPr kumimoji="1" lang="zh-CN" altLang="en-US" sz="3000" dirty="0"/>
            </a:br>
            <a:r>
              <a:rPr kumimoji="1" lang="zh-CN" altLang="en-US" sz="3000" dirty="0"/>
              <a:t>                 上海是一个不大的城市。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6D76441-2A28-4346-882E-97BFC4674440}" type="slidenum">
              <a:rPr lang="en-US" altLang="zh-CN"/>
              <a:pPr>
                <a:defRPr/>
              </a:pPr>
              <a:t>15</a:t>
            </a:fld>
            <a:endParaRPr lang="en-US" altLang="zh-CN"/>
          </a:p>
        </p:txBody>
      </p:sp>
      <p:sp>
        <p:nvSpPr>
          <p:cNvPr id="413700" name="Text Box 4"/>
          <p:cNvSpPr txBox="1">
            <a:spLocks noChangeArrowheads="1"/>
          </p:cNvSpPr>
          <p:nvPr/>
        </p:nvSpPr>
        <p:spPr bwMode="auto">
          <a:xfrm>
            <a:off x="1042988" y="3933825"/>
            <a:ext cx="7307262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46800" bIns="46800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buClrTx/>
              <a:buSzTx/>
              <a:buFontTx/>
              <a:buNone/>
            </a:pPr>
            <a:r>
              <a:rPr kumimoji="1" lang="zh-CN" altLang="en-US">
                <a:solidFill>
                  <a:schemeClr val="hlink"/>
                </a:solidFill>
              </a:rPr>
              <a:t>例如：</a:t>
            </a:r>
            <a:r>
              <a:rPr kumimoji="1" lang="en-US" altLang="zh-CN"/>
              <a:t>P </a:t>
            </a:r>
            <a:r>
              <a:rPr kumimoji="1" lang="zh-CN" altLang="en-US"/>
              <a:t>：今天下雨。      </a:t>
            </a:r>
            <a:r>
              <a:rPr kumimoji="1" lang="en-US" altLang="zh-CN"/>
              <a:t>Q</a:t>
            </a:r>
            <a:r>
              <a:rPr kumimoji="1" lang="zh-CN" altLang="en-US"/>
              <a:t>：明天下雨。</a:t>
            </a:r>
          </a:p>
        </p:txBody>
      </p:sp>
      <p:graphicFrame>
        <p:nvGraphicFramePr>
          <p:cNvPr id="413748" name="Group 52"/>
          <p:cNvGraphicFramePr>
            <a:graphicFrameLocks noGrp="1"/>
          </p:cNvGraphicFramePr>
          <p:nvPr/>
        </p:nvGraphicFramePr>
        <p:xfrm>
          <a:off x="3060700" y="1341438"/>
          <a:ext cx="2590800" cy="2590800"/>
        </p:xfrm>
        <a:graphic>
          <a:graphicData uri="http://schemas.openxmlformats.org/drawingml/2006/table">
            <a:tbl>
              <a:tblPr/>
              <a:tblGrid>
                <a:gridCol w="685800"/>
                <a:gridCol w="838200"/>
                <a:gridCol w="1066800"/>
              </a:tblGrid>
              <a:tr h="3587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P∧Q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4730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4127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4286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4445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</a:tbl>
          </a:graphicData>
        </a:graphic>
      </p:graphicFrame>
      <p:sp>
        <p:nvSpPr>
          <p:cNvPr id="19486" name="Rectangle 32"/>
          <p:cNvSpPr>
            <a:spLocks noChangeArrowheads="1"/>
          </p:cNvSpPr>
          <p:nvPr/>
        </p:nvSpPr>
        <p:spPr bwMode="auto">
          <a:xfrm>
            <a:off x="1116013" y="552450"/>
            <a:ext cx="6302375" cy="725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buClrTx/>
              <a:buSzTx/>
              <a:buFontTx/>
              <a:buNone/>
            </a:pPr>
            <a:r>
              <a:rPr kumimoji="1" lang="zh-CN" altLang="en-US" sz="3200">
                <a:ea typeface="楷体_GB2312" pitchFamily="49" charset="-122"/>
              </a:rPr>
              <a:t>（</a:t>
            </a:r>
            <a:r>
              <a:rPr kumimoji="1" lang="en-US" altLang="zh-CN" sz="3200">
                <a:ea typeface="楷体_GB2312" pitchFamily="49" charset="-122"/>
              </a:rPr>
              <a:t>2</a:t>
            </a:r>
            <a:r>
              <a:rPr kumimoji="1" lang="zh-CN" altLang="en-US" sz="3200">
                <a:ea typeface="楷体_GB2312" pitchFamily="49" charset="-122"/>
              </a:rPr>
              <a:t>）合取联结词∧（二元运算）</a:t>
            </a:r>
            <a:r>
              <a:rPr kumimoji="1" lang="zh-CN" altLang="en-US" sz="3200">
                <a:solidFill>
                  <a:schemeClr val="folHlink"/>
                </a:solidFill>
              </a:rPr>
              <a:t>  </a:t>
            </a:r>
          </a:p>
        </p:txBody>
      </p:sp>
      <p:sp>
        <p:nvSpPr>
          <p:cNvPr id="413734" name="Rectangle 38"/>
          <p:cNvSpPr>
            <a:spLocks noChangeArrowheads="1"/>
          </p:cNvSpPr>
          <p:nvPr/>
        </p:nvSpPr>
        <p:spPr bwMode="auto">
          <a:xfrm>
            <a:off x="1044575" y="4652963"/>
            <a:ext cx="6696075" cy="1630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buClrTx/>
              <a:buSzTx/>
              <a:buFontTx/>
              <a:buNone/>
            </a:pPr>
            <a:r>
              <a:rPr kumimoji="1" lang="zh-CN" altLang="en-US"/>
              <a:t>上述命题的合取为：</a:t>
            </a:r>
          </a:p>
          <a:p>
            <a:pPr algn="just" eaLnBrk="1" hangingPunct="1">
              <a:lnSpc>
                <a:spcPct val="90000"/>
              </a:lnSpc>
              <a:spcBef>
                <a:spcPct val="40000"/>
              </a:spcBef>
              <a:buClrTx/>
              <a:buSzTx/>
              <a:buFontTx/>
              <a:buNone/>
            </a:pPr>
            <a:r>
              <a:rPr kumimoji="1" lang="zh-CN" altLang="en-US"/>
              <a:t>         </a:t>
            </a:r>
            <a:r>
              <a:rPr kumimoji="1" lang="en-US" altLang="zh-CN"/>
              <a:t>P∧Q</a:t>
            </a:r>
            <a:r>
              <a:rPr kumimoji="1" lang="zh-CN" altLang="en-US"/>
              <a:t>：今天下雨而且明天下雨。</a:t>
            </a:r>
          </a:p>
          <a:p>
            <a:pPr algn="just" eaLnBrk="1" hangingPunct="1">
              <a:lnSpc>
                <a:spcPct val="90000"/>
              </a:lnSpc>
              <a:spcBef>
                <a:spcPct val="40000"/>
              </a:spcBef>
              <a:buClrTx/>
              <a:buSzTx/>
              <a:buFontTx/>
              <a:buNone/>
            </a:pPr>
            <a:r>
              <a:rPr kumimoji="1" lang="zh-CN" altLang="en-US"/>
              <a:t>                       今天与明天都下雨。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3700" grpId="0"/>
      <p:bldP spid="41373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1988757-F922-4D62-8E3F-257AE2122E7D}" type="slidenum">
              <a:rPr lang="en-US" altLang="zh-CN"/>
              <a:pPr>
                <a:defRPr/>
              </a:pPr>
              <a:t>16</a:t>
            </a:fld>
            <a:endParaRPr lang="en-US" altLang="zh-CN"/>
          </a:p>
        </p:txBody>
      </p:sp>
      <p:sp>
        <p:nvSpPr>
          <p:cNvPr id="20483" name="Rectangle 6"/>
          <p:cNvSpPr>
            <a:spLocks noChangeArrowheads="1"/>
          </p:cNvSpPr>
          <p:nvPr/>
        </p:nvSpPr>
        <p:spPr bwMode="auto">
          <a:xfrm>
            <a:off x="827088" y="1557338"/>
            <a:ext cx="7704137" cy="1801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chemeClr val="hlink"/>
                </a:solidFill>
                <a:latin typeface="宋体" pitchFamily="2" charset="-122"/>
              </a:rPr>
              <a:t>例如</a:t>
            </a:r>
            <a:r>
              <a:rPr lang="zh-CN" altLang="en-US">
                <a:solidFill>
                  <a:schemeClr val="hlink"/>
                </a:solidFill>
                <a:latin typeface="宋体" pitchFamily="2" charset="-122"/>
                <a:sym typeface="Wingdings" pitchFamily="2" charset="2"/>
              </a:rPr>
              <a:t>：</a:t>
            </a:r>
            <a:r>
              <a:rPr lang="en-US" altLang="zh-CN">
                <a:latin typeface="宋体" pitchFamily="2" charset="-122"/>
                <a:sym typeface="Wingdings" pitchFamily="2" charset="2"/>
              </a:rPr>
              <a:t>(1)</a:t>
            </a:r>
            <a:r>
              <a:rPr lang="zh-CN" altLang="en-US">
                <a:latin typeface="宋体" pitchFamily="2" charset="-122"/>
              </a:rPr>
              <a:t>李文与李武是兄弟。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>
                <a:latin typeface="宋体" pitchFamily="2" charset="-122"/>
              </a:rPr>
              <a:t>      </a:t>
            </a:r>
            <a:r>
              <a:rPr lang="en-US" altLang="zh-CN">
                <a:latin typeface="宋体" pitchFamily="2" charset="-122"/>
              </a:rPr>
              <a:t>(2)</a:t>
            </a:r>
            <a:r>
              <a:rPr lang="zh-CN" altLang="en-US">
                <a:latin typeface="宋体" pitchFamily="2" charset="-122"/>
              </a:rPr>
              <a:t>王芳和陈兰是好朋友。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>
                <a:latin typeface="宋体" pitchFamily="2" charset="-122"/>
              </a:rPr>
              <a:t>      </a:t>
            </a:r>
            <a:r>
              <a:rPr lang="en-US" altLang="zh-CN">
                <a:latin typeface="宋体" pitchFamily="2" charset="-122"/>
              </a:rPr>
              <a:t>(3)</a:t>
            </a:r>
            <a:r>
              <a:rPr lang="zh-CN" altLang="en-US">
                <a:latin typeface="宋体" pitchFamily="2" charset="-122"/>
              </a:rPr>
              <a:t>我们去看电影与</a:t>
            </a:r>
            <a:r>
              <a:rPr lang="en-US" altLang="zh-CN">
                <a:latin typeface="宋体" pitchFamily="2" charset="-122"/>
              </a:rPr>
              <a:t>2+2=4</a:t>
            </a:r>
            <a:r>
              <a:rPr lang="zh-CN" altLang="en-US">
                <a:latin typeface="宋体" pitchFamily="2" charset="-122"/>
              </a:rPr>
              <a:t>。</a:t>
            </a:r>
          </a:p>
        </p:txBody>
      </p:sp>
      <p:sp>
        <p:nvSpPr>
          <p:cNvPr id="414729" name="Rectangle 9"/>
          <p:cNvSpPr>
            <a:spLocks noChangeArrowheads="1"/>
          </p:cNvSpPr>
          <p:nvPr/>
        </p:nvSpPr>
        <p:spPr bwMode="auto">
          <a:xfrm>
            <a:off x="827088" y="3500438"/>
            <a:ext cx="7705725" cy="11331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en-US" dirty="0" err="1">
                <a:latin typeface="宋体" pitchFamily="2" charset="-122"/>
              </a:rPr>
              <a:t>命题</a:t>
            </a:r>
            <a:r>
              <a:rPr lang="en-US" altLang="zh-CN" dirty="0">
                <a:latin typeface="宋体" pitchFamily="2" charset="-122"/>
              </a:rPr>
              <a:t>(1)</a:t>
            </a:r>
            <a:r>
              <a:rPr lang="zh-CN" altLang="en-US" dirty="0">
                <a:latin typeface="宋体" pitchFamily="2" charset="-122"/>
              </a:rPr>
              <a:t>和</a:t>
            </a:r>
            <a:r>
              <a:rPr lang="en-US" altLang="zh-CN" dirty="0">
                <a:latin typeface="宋体" pitchFamily="2" charset="-122"/>
              </a:rPr>
              <a:t>(2)</a:t>
            </a:r>
            <a:r>
              <a:rPr lang="zh-CN" altLang="en-US" dirty="0">
                <a:latin typeface="宋体" pitchFamily="2" charset="-122"/>
              </a:rPr>
              <a:t>分别有“和”及“与”字，可是它们都是简单命题而不是复合命题。</a:t>
            </a:r>
          </a:p>
        </p:txBody>
      </p:sp>
      <p:sp>
        <p:nvSpPr>
          <p:cNvPr id="414730" name="Rectangle 10"/>
          <p:cNvSpPr>
            <a:spLocks noChangeArrowheads="1"/>
          </p:cNvSpPr>
          <p:nvPr/>
        </p:nvSpPr>
        <p:spPr bwMode="auto">
          <a:xfrm>
            <a:off x="827088" y="4581525"/>
            <a:ext cx="7705725" cy="11523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kumimoji="1" lang="zh-CN" altLang="en-US" dirty="0"/>
              <a:t>命题</a:t>
            </a:r>
            <a:r>
              <a:rPr kumimoji="1" lang="en-US" altLang="zh-CN" dirty="0"/>
              <a:t>(3) </a:t>
            </a:r>
            <a:r>
              <a:rPr kumimoji="1" lang="zh-CN" altLang="en-US" dirty="0"/>
              <a:t>在自然语言中没有意义，但在数理逻辑中，</a:t>
            </a:r>
            <a:r>
              <a:rPr kumimoji="1" lang="en-US" altLang="zh-CN" dirty="0"/>
              <a:t>P</a:t>
            </a:r>
            <a:r>
              <a:rPr kumimoji="1" lang="zh-CN" altLang="en-US" dirty="0"/>
              <a:t>，</a:t>
            </a:r>
            <a:r>
              <a:rPr kumimoji="1" lang="en-US" altLang="zh-CN" dirty="0"/>
              <a:t>Q</a:t>
            </a:r>
            <a:r>
              <a:rPr kumimoji="1" lang="zh-CN" altLang="en-US" dirty="0"/>
              <a:t>分别取真值后，</a:t>
            </a:r>
            <a:r>
              <a:rPr kumimoji="1" lang="en-US" altLang="zh-CN" dirty="0"/>
              <a:t>P∧Q</a:t>
            </a:r>
            <a:r>
              <a:rPr kumimoji="1" lang="zh-CN" altLang="en-US" dirty="0"/>
              <a:t>真值也必确定。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4729" grpId="0"/>
      <p:bldP spid="41473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68F8D1F-ED9F-48E1-ADE2-088FE3A939B6}" type="slidenum">
              <a:rPr lang="en-US" altLang="zh-CN"/>
              <a:pPr>
                <a:defRPr/>
              </a:pPr>
              <a:t>17</a:t>
            </a:fld>
            <a:endParaRPr lang="en-US" altLang="zh-CN"/>
          </a:p>
        </p:txBody>
      </p:sp>
      <p:sp>
        <p:nvSpPr>
          <p:cNvPr id="21507" name="Rectangle 5"/>
          <p:cNvSpPr>
            <a:spLocks noChangeArrowheads="1"/>
          </p:cNvSpPr>
          <p:nvPr/>
        </p:nvSpPr>
        <p:spPr bwMode="auto">
          <a:xfrm>
            <a:off x="1116013" y="671513"/>
            <a:ext cx="6696075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sz="3200">
                <a:ea typeface="楷体_GB2312" pitchFamily="49" charset="-122"/>
              </a:rPr>
              <a:t>（</a:t>
            </a:r>
            <a:r>
              <a:rPr kumimoji="1" lang="en-US" altLang="zh-CN" sz="3200">
                <a:ea typeface="楷体_GB2312" pitchFamily="49" charset="-122"/>
              </a:rPr>
              <a:t>3</a:t>
            </a:r>
            <a:r>
              <a:rPr kumimoji="1" lang="zh-CN" altLang="en-US" sz="3200">
                <a:ea typeface="楷体_GB2312" pitchFamily="49" charset="-122"/>
              </a:rPr>
              <a:t>）析取联结词∨（二元运算）</a:t>
            </a:r>
          </a:p>
        </p:txBody>
      </p:sp>
      <p:graphicFrame>
        <p:nvGraphicFramePr>
          <p:cNvPr id="415792" name="Group 48"/>
          <p:cNvGraphicFramePr>
            <a:graphicFrameLocks noGrp="1"/>
          </p:cNvGraphicFramePr>
          <p:nvPr/>
        </p:nvGraphicFramePr>
        <p:xfrm>
          <a:off x="3203575" y="1417638"/>
          <a:ext cx="2590800" cy="2590800"/>
        </p:xfrm>
        <a:graphic>
          <a:graphicData uri="http://schemas.openxmlformats.org/drawingml/2006/table">
            <a:tbl>
              <a:tblPr/>
              <a:tblGrid>
                <a:gridCol w="685800"/>
                <a:gridCol w="838200"/>
                <a:gridCol w="1066800"/>
              </a:tblGrid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P∨Q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4905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4127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4286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4445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</a:tbl>
          </a:graphicData>
        </a:graphic>
      </p:graphicFrame>
      <p:sp>
        <p:nvSpPr>
          <p:cNvPr id="415777" name="Rectangle 33"/>
          <p:cNvSpPr>
            <a:spLocks noChangeArrowheads="1"/>
          </p:cNvSpPr>
          <p:nvPr/>
        </p:nvSpPr>
        <p:spPr bwMode="auto">
          <a:xfrm>
            <a:off x="1331913" y="4149725"/>
            <a:ext cx="720090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/>
              <a:t>        </a:t>
            </a:r>
            <a:r>
              <a:rPr kumimoji="1" lang="zh-CN" altLang="en-US">
                <a:latin typeface="宋体" pitchFamily="2" charset="-122"/>
              </a:rPr>
              <a:t>汉语中的“或”可表示“排斥或”，也可表示“可兼或”。 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577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68C791B-2048-4363-AD24-F165E88FE232}" type="slidenum">
              <a:rPr lang="en-US" altLang="zh-CN"/>
              <a:pPr>
                <a:defRPr/>
              </a:pPr>
              <a:t>18</a:t>
            </a:fld>
            <a:endParaRPr lang="en-US" altLang="zh-CN"/>
          </a:p>
        </p:txBody>
      </p:sp>
      <p:sp>
        <p:nvSpPr>
          <p:cNvPr id="22531" name="Text Box 4"/>
          <p:cNvSpPr txBox="1">
            <a:spLocks noChangeArrowheads="1"/>
          </p:cNvSpPr>
          <p:nvPr/>
        </p:nvSpPr>
        <p:spPr bwMode="auto">
          <a:xfrm>
            <a:off x="719138" y="1412875"/>
            <a:ext cx="7704137" cy="218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kumimoji="1" lang="zh-CN" altLang="en-US">
                <a:solidFill>
                  <a:schemeClr val="hlink"/>
                </a:solidFill>
              </a:rPr>
              <a:t>例如</a:t>
            </a:r>
            <a:r>
              <a:rPr kumimoji="1" lang="zh-CN" altLang="en-US">
                <a:solidFill>
                  <a:schemeClr val="hlink"/>
                </a:solidFill>
                <a:sym typeface="Wingdings" pitchFamily="2" charset="2"/>
              </a:rPr>
              <a:t>：</a:t>
            </a:r>
            <a:r>
              <a:rPr kumimoji="1" lang="en-US" altLang="zh-CN">
                <a:sym typeface="Wingdings" pitchFamily="2" charset="2"/>
              </a:rPr>
              <a:t>(1)</a:t>
            </a:r>
            <a:r>
              <a:rPr kumimoji="1" lang="zh-CN" altLang="en-US"/>
              <a:t>第一节课上数学课或英语课。</a:t>
            </a:r>
          </a:p>
          <a:p>
            <a:pPr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kumimoji="1" lang="zh-CN" altLang="en-US"/>
              <a:t>            </a:t>
            </a:r>
            <a:r>
              <a:rPr kumimoji="1" lang="en-US" altLang="zh-CN"/>
              <a:t>(2)</a:t>
            </a:r>
            <a:r>
              <a:rPr kumimoji="1" lang="zh-CN" altLang="en-US"/>
              <a:t>小王爱打球或爱跑步。 </a:t>
            </a:r>
          </a:p>
          <a:p>
            <a:pPr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kumimoji="1" lang="zh-CN" altLang="en-US"/>
              <a:t>            </a:t>
            </a:r>
            <a:r>
              <a:rPr kumimoji="1" lang="en-US" altLang="zh-CN"/>
              <a:t>(3)</a:t>
            </a:r>
            <a:r>
              <a:rPr lang="en-US" altLang="zh-CN"/>
              <a:t>2</a:t>
            </a:r>
            <a:r>
              <a:rPr lang="zh-CN" altLang="en-US"/>
              <a:t>小于</a:t>
            </a:r>
            <a:r>
              <a:rPr lang="en-US" altLang="zh-CN"/>
              <a:t>3</a:t>
            </a:r>
            <a:r>
              <a:rPr lang="zh-CN" altLang="en-US"/>
              <a:t>或者雪是黑的。</a:t>
            </a:r>
            <a:endParaRPr kumimoji="1" lang="zh-CN" altLang="en-US"/>
          </a:p>
          <a:p>
            <a:pPr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kumimoji="1" lang="zh-CN" altLang="en-US"/>
              <a:t>            </a:t>
            </a:r>
            <a:r>
              <a:rPr kumimoji="1" lang="en-US" altLang="zh-CN"/>
              <a:t>(4)</a:t>
            </a:r>
            <a:r>
              <a:rPr kumimoji="1" lang="zh-CN" altLang="en-US"/>
              <a:t>他昨天做了二十或三十道习题。</a:t>
            </a:r>
          </a:p>
        </p:txBody>
      </p:sp>
      <p:sp>
        <p:nvSpPr>
          <p:cNvPr id="416778" name="Rectangle 10"/>
          <p:cNvSpPr>
            <a:spLocks noChangeArrowheads="1"/>
          </p:cNvSpPr>
          <p:nvPr/>
        </p:nvSpPr>
        <p:spPr bwMode="auto">
          <a:xfrm>
            <a:off x="6731000" y="1412875"/>
            <a:ext cx="20891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/>
              <a:t>（排斥或）</a:t>
            </a:r>
          </a:p>
        </p:txBody>
      </p:sp>
      <p:sp>
        <p:nvSpPr>
          <p:cNvPr id="416780" name="Rectangle 12"/>
          <p:cNvSpPr>
            <a:spLocks noChangeArrowheads="1"/>
          </p:cNvSpPr>
          <p:nvPr/>
        </p:nvSpPr>
        <p:spPr bwMode="auto">
          <a:xfrm>
            <a:off x="6731000" y="1901825"/>
            <a:ext cx="19716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/>
              <a:t>（可兼或）</a:t>
            </a:r>
          </a:p>
        </p:txBody>
      </p:sp>
      <p:sp>
        <p:nvSpPr>
          <p:cNvPr id="416782" name="Rectangle 14"/>
          <p:cNvSpPr>
            <a:spLocks noChangeArrowheads="1"/>
          </p:cNvSpPr>
          <p:nvPr/>
        </p:nvSpPr>
        <p:spPr bwMode="auto">
          <a:xfrm>
            <a:off x="719138" y="3644900"/>
            <a:ext cx="68421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kumimoji="1" lang="zh-CN" altLang="en-US"/>
              <a:t>析取指的是“可兼或”。</a:t>
            </a:r>
          </a:p>
        </p:txBody>
      </p:sp>
      <p:sp>
        <p:nvSpPr>
          <p:cNvPr id="416784" name="Rectangle 16"/>
          <p:cNvSpPr>
            <a:spLocks noChangeArrowheads="1"/>
          </p:cNvSpPr>
          <p:nvPr/>
        </p:nvSpPr>
        <p:spPr bwMode="auto">
          <a:xfrm>
            <a:off x="719138" y="4221163"/>
            <a:ext cx="7158037" cy="1630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kumimoji="1" lang="en-US" altLang="zh-CN"/>
              <a:t>(1)</a:t>
            </a:r>
            <a:r>
              <a:rPr kumimoji="1" lang="zh-CN" altLang="en-US"/>
              <a:t>可表示为</a:t>
            </a:r>
            <a:r>
              <a:rPr kumimoji="1" lang="zh-CN" altLang="en-US">
                <a:sym typeface="Wingdings" pitchFamily="2" charset="2"/>
              </a:rPr>
              <a:t>：</a:t>
            </a:r>
            <a:r>
              <a:rPr kumimoji="1" lang="en-US" altLang="zh-CN">
                <a:sym typeface="Wingdings" pitchFamily="2" charset="2"/>
              </a:rPr>
              <a:t>(</a:t>
            </a:r>
            <a:r>
              <a:rPr kumimoji="1" lang="en-US" altLang="zh-CN"/>
              <a:t>┐P∧Q)∨(P∧ ┐Q)</a:t>
            </a:r>
          </a:p>
          <a:p>
            <a:pPr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kumimoji="1" lang="en-US" altLang="zh-CN"/>
              <a:t>(2)</a:t>
            </a:r>
            <a:r>
              <a:rPr kumimoji="1" lang="zh-CN" altLang="en-US"/>
              <a:t>和</a:t>
            </a:r>
            <a:r>
              <a:rPr kumimoji="1" lang="en-US" altLang="zh-CN"/>
              <a:t>(3)</a:t>
            </a:r>
            <a:r>
              <a:rPr kumimoji="1" lang="zh-CN" altLang="en-US"/>
              <a:t>可表示为： </a:t>
            </a:r>
            <a:r>
              <a:rPr kumimoji="1" lang="en-US" altLang="zh-CN"/>
              <a:t>P∨Q</a:t>
            </a:r>
          </a:p>
          <a:p>
            <a:pPr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kumimoji="1" lang="en-US" altLang="zh-CN"/>
              <a:t>(4)</a:t>
            </a:r>
            <a:r>
              <a:rPr kumimoji="1" lang="zh-CN" altLang="en-US"/>
              <a:t>是原子命题，不是复合命题。</a:t>
            </a:r>
          </a:p>
        </p:txBody>
      </p:sp>
      <p:sp>
        <p:nvSpPr>
          <p:cNvPr id="416790" name="Rectangle 22"/>
          <p:cNvSpPr>
            <a:spLocks noChangeArrowheads="1"/>
          </p:cNvSpPr>
          <p:nvPr/>
        </p:nvSpPr>
        <p:spPr bwMode="auto">
          <a:xfrm>
            <a:off x="6731000" y="2333625"/>
            <a:ext cx="19716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/>
              <a:t>（可兼或）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6778" grpId="0"/>
      <p:bldP spid="416780" grpId="0"/>
      <p:bldP spid="416782" grpId="0"/>
      <p:bldP spid="416784" grpId="0"/>
      <p:bldP spid="41679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74055EF-875C-49FC-B228-93BE5553E9D8}" type="slidenum">
              <a:rPr lang="en-US" altLang="zh-CN"/>
              <a:pPr>
                <a:defRPr/>
              </a:pPr>
              <a:t>19</a:t>
            </a:fld>
            <a:endParaRPr lang="en-US" altLang="zh-CN"/>
          </a:p>
        </p:txBody>
      </p:sp>
      <p:sp>
        <p:nvSpPr>
          <p:cNvPr id="23555" name="Rectangle 5"/>
          <p:cNvSpPr>
            <a:spLocks noChangeArrowheads="1"/>
          </p:cNvSpPr>
          <p:nvPr/>
        </p:nvSpPr>
        <p:spPr bwMode="auto">
          <a:xfrm>
            <a:off x="1042988" y="573088"/>
            <a:ext cx="625157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FFFFFF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sz="3200">
                <a:ea typeface="楷体_GB2312" pitchFamily="49" charset="-122"/>
              </a:rPr>
              <a:t>（</a:t>
            </a:r>
            <a:r>
              <a:rPr kumimoji="1" lang="en-US" altLang="zh-CN" sz="3200">
                <a:ea typeface="楷体_GB2312" pitchFamily="49" charset="-122"/>
              </a:rPr>
              <a:t>4</a:t>
            </a:r>
            <a:r>
              <a:rPr kumimoji="1" lang="zh-CN" altLang="en-US" sz="3200">
                <a:ea typeface="楷体_GB2312" pitchFamily="49" charset="-122"/>
              </a:rPr>
              <a:t>）条件联结词→（二元运算）</a:t>
            </a:r>
            <a:r>
              <a:rPr kumimoji="1" lang="zh-CN" altLang="en-US" sz="2400" b="0">
                <a:latin typeface="宋体" pitchFamily="2" charset="-122"/>
              </a:rPr>
              <a:t> </a:t>
            </a:r>
          </a:p>
        </p:txBody>
      </p:sp>
      <p:graphicFrame>
        <p:nvGraphicFramePr>
          <p:cNvPr id="417844" name="Group 52"/>
          <p:cNvGraphicFramePr>
            <a:graphicFrameLocks noGrp="1"/>
          </p:cNvGraphicFramePr>
          <p:nvPr/>
        </p:nvGraphicFramePr>
        <p:xfrm>
          <a:off x="2989263" y="1341438"/>
          <a:ext cx="2590800" cy="2590800"/>
        </p:xfrm>
        <a:graphic>
          <a:graphicData uri="http://schemas.openxmlformats.org/drawingml/2006/table">
            <a:tbl>
              <a:tblPr/>
              <a:tblGrid>
                <a:gridCol w="685800"/>
                <a:gridCol w="838200"/>
                <a:gridCol w="1066800"/>
              </a:tblGrid>
              <a:tr h="439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P→Q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4730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4127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4286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4445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</a:tbl>
          </a:graphicData>
        </a:graphic>
      </p:graphicFrame>
      <p:sp>
        <p:nvSpPr>
          <p:cNvPr id="417826" name="Rectangle 34"/>
          <p:cNvSpPr>
            <a:spLocks noChangeArrowheads="1"/>
          </p:cNvSpPr>
          <p:nvPr/>
        </p:nvSpPr>
        <p:spPr bwMode="auto">
          <a:xfrm>
            <a:off x="790575" y="4241800"/>
            <a:ext cx="7381875" cy="1716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FFFFFF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>
                <a:solidFill>
                  <a:schemeClr val="hlink"/>
                </a:solidFill>
              </a:rPr>
              <a:t>例如</a:t>
            </a:r>
            <a:r>
              <a:rPr kumimoji="1" lang="zh-CN" altLang="en-US">
                <a:solidFill>
                  <a:schemeClr val="hlink"/>
                </a:solidFill>
                <a:sym typeface="Wingdings" pitchFamily="2" charset="2"/>
              </a:rPr>
              <a:t>：</a:t>
            </a:r>
            <a:r>
              <a:rPr kumimoji="1" lang="en-US" altLang="zh-CN">
                <a:sym typeface="Wingdings" pitchFamily="2" charset="2"/>
              </a:rPr>
              <a:t>(1)</a:t>
            </a:r>
            <a:r>
              <a:rPr kumimoji="1" lang="zh-CN" altLang="en-US"/>
              <a:t>如果我饿了，那么我就吃饭。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/>
              <a:t>            </a:t>
            </a:r>
            <a:r>
              <a:rPr kumimoji="1" lang="en-US" altLang="zh-CN"/>
              <a:t>(2)</a:t>
            </a:r>
            <a:r>
              <a:rPr kumimoji="1" lang="zh-CN" altLang="en-US"/>
              <a:t>如果月亮从西边出来，则太阳也从西边出来。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782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DA886D1-DE16-4638-90E3-5C345ADE5524}" type="slidenum">
              <a:rPr lang="en-US" altLang="zh-CN"/>
              <a:pPr>
                <a:defRPr/>
              </a:pPr>
              <a:t>20</a:t>
            </a:fld>
            <a:endParaRPr lang="en-US" altLang="zh-CN"/>
          </a:p>
        </p:txBody>
      </p:sp>
      <p:sp>
        <p:nvSpPr>
          <p:cNvPr id="494597" name="Rectangle 5"/>
          <p:cNvSpPr>
            <a:spLocks noChangeArrowheads="1"/>
          </p:cNvSpPr>
          <p:nvPr/>
        </p:nvSpPr>
        <p:spPr bwMode="auto">
          <a:xfrm>
            <a:off x="900113" y="3141663"/>
            <a:ext cx="7272337" cy="59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dirty="0">
                <a:latin typeface="Tahoma" pitchFamily="34" charset="0"/>
              </a:rPr>
              <a:t>       </a:t>
            </a:r>
            <a:r>
              <a:rPr lang="zh-CN" altLang="en-US" dirty="0"/>
              <a:t>条件命题</a:t>
            </a:r>
            <a:r>
              <a:rPr lang="en-US" altLang="zh-CN" dirty="0"/>
              <a:t>P→Q</a:t>
            </a:r>
            <a:r>
              <a:rPr lang="zh-CN" altLang="en-US" dirty="0"/>
              <a:t>有多种方式陈述：        </a:t>
            </a:r>
          </a:p>
        </p:txBody>
      </p:sp>
      <p:sp>
        <p:nvSpPr>
          <p:cNvPr id="24580" name="Rectangle 6"/>
          <p:cNvSpPr>
            <a:spLocks noChangeArrowheads="1"/>
          </p:cNvSpPr>
          <p:nvPr/>
        </p:nvSpPr>
        <p:spPr bwMode="auto">
          <a:xfrm>
            <a:off x="827088" y="1484313"/>
            <a:ext cx="7359650" cy="17125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kumimoji="1" lang="en-US" altLang="zh-CN" dirty="0"/>
              <a:t>        </a:t>
            </a:r>
            <a:r>
              <a:rPr kumimoji="1" lang="zh-CN" altLang="en-US" dirty="0"/>
              <a:t>条件命题中，当前提为假时，结论不管真假，规定为“善意的推定”，条件命题的真值都取为</a:t>
            </a:r>
            <a:r>
              <a:rPr kumimoji="1" lang="en-US" altLang="zh-CN" dirty="0"/>
              <a:t>T </a:t>
            </a:r>
            <a:r>
              <a:rPr kumimoji="1" lang="zh-CN" altLang="en-US" dirty="0"/>
              <a:t>。</a:t>
            </a:r>
          </a:p>
        </p:txBody>
      </p:sp>
      <p:sp>
        <p:nvSpPr>
          <p:cNvPr id="494600" name="Rectangle 8"/>
          <p:cNvSpPr>
            <a:spLocks noChangeArrowheads="1"/>
          </p:cNvSpPr>
          <p:nvPr/>
        </p:nvSpPr>
        <p:spPr bwMode="auto">
          <a:xfrm>
            <a:off x="827088" y="3789363"/>
            <a:ext cx="7489825" cy="17125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dirty="0"/>
              <a:t>“</a:t>
            </a:r>
            <a:r>
              <a:rPr lang="zh-CN" altLang="en-US" dirty="0"/>
              <a:t>如果</a:t>
            </a:r>
            <a:r>
              <a:rPr lang="en-US" altLang="zh-CN" dirty="0"/>
              <a:t>P</a:t>
            </a:r>
            <a:r>
              <a:rPr lang="zh-CN" altLang="en-US" dirty="0"/>
              <a:t>，那么</a:t>
            </a:r>
            <a:r>
              <a:rPr lang="en-US" altLang="zh-CN" dirty="0"/>
              <a:t>Q”</a:t>
            </a:r>
            <a:r>
              <a:rPr lang="zh-CN" altLang="en-US" dirty="0"/>
              <a:t>；“</a:t>
            </a:r>
            <a:r>
              <a:rPr lang="en-US" altLang="zh-CN" dirty="0"/>
              <a:t>P</a:t>
            </a:r>
            <a:r>
              <a:rPr lang="zh-CN" altLang="en-US" dirty="0"/>
              <a:t>仅当</a:t>
            </a:r>
            <a:r>
              <a:rPr lang="en-US" altLang="zh-CN" dirty="0"/>
              <a:t>Q”</a:t>
            </a:r>
            <a:r>
              <a:rPr lang="zh-CN" altLang="en-US" dirty="0"/>
              <a:t>；“</a:t>
            </a:r>
            <a:r>
              <a:rPr lang="en-US" altLang="zh-CN" dirty="0"/>
              <a:t>Q</a:t>
            </a:r>
            <a:r>
              <a:rPr lang="zh-CN" altLang="en-US" dirty="0"/>
              <a:t>每当</a:t>
            </a:r>
            <a:r>
              <a:rPr lang="en-US" altLang="zh-CN" dirty="0"/>
              <a:t>P”</a:t>
            </a:r>
            <a:r>
              <a:rPr lang="zh-CN" altLang="en-US" dirty="0"/>
              <a:t>；“</a:t>
            </a:r>
            <a:r>
              <a:rPr lang="en-US" altLang="zh-CN" dirty="0"/>
              <a:t>P</a:t>
            </a:r>
            <a:r>
              <a:rPr lang="zh-CN" altLang="en-US" dirty="0"/>
              <a:t>是</a:t>
            </a:r>
            <a:r>
              <a:rPr lang="en-US" altLang="zh-CN" dirty="0"/>
              <a:t>Q</a:t>
            </a:r>
            <a:r>
              <a:rPr lang="zh-CN" altLang="en-US" dirty="0"/>
              <a:t>的充分条件”；“</a:t>
            </a:r>
            <a:r>
              <a:rPr lang="en-US" altLang="zh-CN" dirty="0"/>
              <a:t>Q</a:t>
            </a:r>
            <a:r>
              <a:rPr lang="zh-CN" altLang="en-US" dirty="0"/>
              <a:t>是</a:t>
            </a:r>
            <a:r>
              <a:rPr lang="en-US" altLang="zh-CN" dirty="0"/>
              <a:t>P</a:t>
            </a:r>
            <a:r>
              <a:rPr lang="zh-CN" altLang="en-US" dirty="0"/>
              <a:t>的必要条件”等。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4597" grpId="0"/>
      <p:bldP spid="49460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89739FA-337E-4529-B2F9-A06A4A9DC907}" type="slidenum">
              <a:rPr lang="en-US" altLang="zh-CN"/>
              <a:pPr>
                <a:defRPr/>
              </a:pPr>
              <a:t>21</a:t>
            </a:fld>
            <a:endParaRPr lang="en-US" altLang="zh-CN"/>
          </a:p>
        </p:txBody>
      </p:sp>
      <p:sp>
        <p:nvSpPr>
          <p:cNvPr id="25603" name="Rectangle 5"/>
          <p:cNvSpPr>
            <a:spLocks noChangeArrowheads="1"/>
          </p:cNvSpPr>
          <p:nvPr/>
        </p:nvSpPr>
        <p:spPr bwMode="auto">
          <a:xfrm>
            <a:off x="1187450" y="620713"/>
            <a:ext cx="695166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FFFFFF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3200" b="0" dirty="0">
                <a:ea typeface="楷体_GB2312" pitchFamily="49" charset="-122"/>
              </a:rPr>
              <a:t>（</a:t>
            </a:r>
            <a:r>
              <a:rPr kumimoji="1" lang="en-US" altLang="zh-CN" sz="3200" dirty="0">
                <a:ea typeface="楷体_GB2312" pitchFamily="49" charset="-122"/>
              </a:rPr>
              <a:t>5</a:t>
            </a:r>
            <a:r>
              <a:rPr kumimoji="1" lang="zh-CN" altLang="en-US" sz="3200" dirty="0">
                <a:ea typeface="楷体_GB2312" pitchFamily="49" charset="-122"/>
              </a:rPr>
              <a:t>）双条件联结词</a:t>
            </a:r>
            <a:r>
              <a:rPr kumimoji="1" lang="zh-CN" altLang="en-US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  <a:sym typeface="Symbol" pitchFamily="18" charset="2"/>
              </a:rPr>
              <a:t>⇄</a:t>
            </a:r>
            <a:r>
              <a:rPr kumimoji="1" lang="zh-CN" altLang="en-US" sz="3200" dirty="0"/>
              <a:t> </a:t>
            </a:r>
            <a:r>
              <a:rPr kumimoji="1" lang="zh-CN" altLang="en-US" sz="3200" dirty="0">
                <a:ea typeface="楷体_GB2312" pitchFamily="49" charset="-122"/>
              </a:rPr>
              <a:t>（二元运算）</a:t>
            </a:r>
          </a:p>
        </p:txBody>
      </p:sp>
      <p:graphicFrame>
        <p:nvGraphicFramePr>
          <p:cNvPr id="419907" name="Group 67"/>
          <p:cNvGraphicFramePr>
            <a:graphicFrameLocks noGrp="1"/>
          </p:cNvGraphicFramePr>
          <p:nvPr/>
        </p:nvGraphicFramePr>
        <p:xfrm>
          <a:off x="2268538" y="1484313"/>
          <a:ext cx="2633662" cy="2590800"/>
        </p:xfrm>
        <a:graphic>
          <a:graphicData uri="http://schemas.openxmlformats.org/drawingml/2006/table">
            <a:tbl>
              <a:tblPr/>
              <a:tblGrid>
                <a:gridCol w="685800"/>
                <a:gridCol w="825500"/>
                <a:gridCol w="1122362"/>
              </a:tblGrid>
              <a:tr h="4460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</a:t>
                      </a: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Arial Unicode MS" pitchFamily="34" charset="-122"/>
                          <a:cs typeface="Arial Unicode MS" pitchFamily="34" charset="-122"/>
                          <a:sym typeface="Symbol" pitchFamily="18" charset="2"/>
                        </a:rPr>
                        <a:t>⇄</a:t>
                      </a: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4730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4127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5048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4445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</a:tbl>
          </a:graphicData>
        </a:graphic>
      </p:graphicFrame>
      <p:sp>
        <p:nvSpPr>
          <p:cNvPr id="419881" name="Rectangle 41"/>
          <p:cNvSpPr>
            <a:spLocks noChangeArrowheads="1"/>
          </p:cNvSpPr>
          <p:nvPr/>
        </p:nvSpPr>
        <p:spPr bwMode="auto">
          <a:xfrm>
            <a:off x="1331913" y="4221163"/>
            <a:ext cx="6985000" cy="1801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FFFFFF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>
                <a:solidFill>
                  <a:schemeClr val="hlink"/>
                </a:solidFill>
              </a:rPr>
              <a:t>例如</a:t>
            </a:r>
            <a:r>
              <a:rPr kumimoji="1" lang="zh-CN" altLang="en-US">
                <a:solidFill>
                  <a:schemeClr val="hlink"/>
                </a:solidFill>
                <a:sym typeface="Wingdings" pitchFamily="2" charset="2"/>
              </a:rPr>
              <a:t>：</a:t>
            </a:r>
            <a:r>
              <a:rPr kumimoji="1" lang="en-US" altLang="zh-CN">
                <a:sym typeface="Wingdings" pitchFamily="2" charset="2"/>
              </a:rPr>
              <a:t>(1)</a:t>
            </a:r>
            <a:r>
              <a:rPr kumimoji="1" lang="en-US" altLang="zh-CN"/>
              <a:t>3&gt;2</a:t>
            </a:r>
            <a:r>
              <a:rPr kumimoji="1" lang="zh-CN" altLang="en-US"/>
              <a:t>当且仅当</a:t>
            </a:r>
            <a:r>
              <a:rPr kumimoji="1" lang="en-US" altLang="zh-CN"/>
              <a:t>0&lt;3-2</a:t>
            </a:r>
            <a:r>
              <a:rPr kumimoji="1" lang="zh-CN" altLang="en-US"/>
              <a:t>。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/>
              <a:t>            </a:t>
            </a:r>
            <a:r>
              <a:rPr kumimoji="1" lang="en-US" altLang="zh-CN"/>
              <a:t>(2)</a:t>
            </a:r>
            <a:r>
              <a:rPr kumimoji="1" lang="zh-CN" altLang="en-US"/>
              <a:t>燕子飞回南方，春天来了。  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/>
              <a:t>            </a:t>
            </a:r>
            <a:r>
              <a:rPr kumimoji="1" lang="en-US" altLang="zh-CN"/>
              <a:t>(3)2</a:t>
            </a:r>
            <a:r>
              <a:rPr kumimoji="1" lang="zh-CN" altLang="en-US"/>
              <a:t>＋</a:t>
            </a:r>
            <a:r>
              <a:rPr kumimoji="1" lang="en-US" altLang="zh-CN"/>
              <a:t>2=4</a:t>
            </a:r>
            <a:r>
              <a:rPr kumimoji="1" lang="zh-CN" altLang="en-US"/>
              <a:t>当且仅当雪是白的。</a:t>
            </a:r>
            <a:r>
              <a:rPr kumimoji="1" lang="zh-CN" altLang="en-US" sz="2400" b="0"/>
              <a:t>  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8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67348C1-E3F6-4409-A143-771231CDFDB2}" type="slidenum">
              <a:rPr lang="en-US" altLang="zh-CN"/>
              <a:pPr>
                <a:defRPr/>
              </a:pPr>
              <a:t>22</a:t>
            </a:fld>
            <a:endParaRPr lang="en-US" altLang="zh-CN"/>
          </a:p>
        </p:txBody>
      </p:sp>
      <p:sp>
        <p:nvSpPr>
          <p:cNvPr id="30723" name="Rectangle 9"/>
          <p:cNvSpPr>
            <a:spLocks noChangeArrowheads="1"/>
          </p:cNvSpPr>
          <p:nvPr/>
        </p:nvSpPr>
        <p:spPr bwMode="auto">
          <a:xfrm>
            <a:off x="719138" y="1773238"/>
            <a:ext cx="7916862" cy="120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0" dirty="0">
                <a:latin typeface="Tahoma" pitchFamily="34" charset="0"/>
              </a:rPr>
              <a:t>       </a:t>
            </a:r>
            <a:r>
              <a:rPr lang="zh-CN" altLang="en-US" dirty="0">
                <a:solidFill>
                  <a:schemeClr val="hlink"/>
                </a:solidFill>
                <a:latin typeface="Tahoma" pitchFamily="34" charset="0"/>
              </a:rPr>
              <a:t>命题公式（合式公式）</a:t>
            </a:r>
            <a:r>
              <a:rPr lang="zh-CN" altLang="en-US" dirty="0">
                <a:latin typeface="Tahoma" pitchFamily="34" charset="0"/>
              </a:rPr>
              <a:t>：</a:t>
            </a:r>
            <a:r>
              <a:rPr kumimoji="1" lang="zh-CN" altLang="en-US" dirty="0">
                <a:solidFill>
                  <a:srgbClr val="000000"/>
                </a:solidFill>
              </a:rPr>
              <a:t>由</a:t>
            </a:r>
            <a:r>
              <a:rPr kumimoji="1" lang="zh-CN" altLang="en-US" dirty="0">
                <a:solidFill>
                  <a:schemeClr val="hlink"/>
                </a:solidFill>
              </a:rPr>
              <a:t>命题变元</a:t>
            </a:r>
            <a:r>
              <a:rPr kumimoji="1" lang="zh-CN" altLang="en-US" dirty="0">
                <a:solidFill>
                  <a:srgbClr val="000000"/>
                </a:solidFill>
              </a:rPr>
              <a:t>和</a:t>
            </a:r>
            <a:r>
              <a:rPr kumimoji="1" lang="zh-CN" altLang="en-US" dirty="0">
                <a:solidFill>
                  <a:schemeClr val="hlink"/>
                </a:solidFill>
              </a:rPr>
              <a:t>联结词</a:t>
            </a:r>
            <a:r>
              <a:rPr kumimoji="1" lang="zh-CN" altLang="en-US" dirty="0"/>
              <a:t>组</a:t>
            </a:r>
            <a:r>
              <a:rPr kumimoji="1" lang="zh-CN" altLang="en-US" dirty="0">
                <a:solidFill>
                  <a:srgbClr val="000000"/>
                </a:solidFill>
              </a:rPr>
              <a:t>成的有意义的字符串。</a:t>
            </a:r>
          </a:p>
        </p:txBody>
      </p:sp>
      <p:sp>
        <p:nvSpPr>
          <p:cNvPr id="441354" name="Rectangle 10"/>
          <p:cNvSpPr>
            <a:spLocks noChangeArrowheads="1"/>
          </p:cNvSpPr>
          <p:nvPr/>
        </p:nvSpPr>
        <p:spPr bwMode="auto">
          <a:xfrm>
            <a:off x="719138" y="2914650"/>
            <a:ext cx="7916862" cy="2314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chemeClr val="hlink"/>
                </a:solidFill>
                <a:latin typeface="Tahoma" pitchFamily="34" charset="0"/>
              </a:rPr>
              <a:t>例如</a:t>
            </a:r>
            <a:r>
              <a:rPr lang="zh-CN" altLang="en-US">
                <a:solidFill>
                  <a:schemeClr val="hlink"/>
                </a:solidFill>
              </a:rPr>
              <a:t>：</a:t>
            </a:r>
            <a:r>
              <a:rPr lang="en-US" altLang="zh-CN"/>
              <a:t>P∧Q∨R</a:t>
            </a:r>
            <a:r>
              <a:rPr lang="zh-CN" altLang="en-US"/>
              <a:t>，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/>
              <a:t>            </a:t>
            </a:r>
            <a:r>
              <a:rPr lang="en-US" altLang="zh-CN"/>
              <a:t>P∨Q∨ </a:t>
            </a:r>
            <a:r>
              <a:rPr lang="zh-CN" altLang="en-US"/>
              <a:t>，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/>
              <a:t>            </a:t>
            </a:r>
            <a:r>
              <a:rPr lang="en-US" altLang="zh-CN"/>
              <a:t>((P→Q)→(∧Q)) 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/>
              <a:t>是不是合式公式呢？</a:t>
            </a:r>
          </a:p>
        </p:txBody>
      </p:sp>
      <p:sp>
        <p:nvSpPr>
          <p:cNvPr id="441355" name="Rectangle 11"/>
          <p:cNvSpPr>
            <a:spLocks noChangeArrowheads="1"/>
          </p:cNvSpPr>
          <p:nvPr/>
        </p:nvSpPr>
        <p:spPr bwMode="auto">
          <a:xfrm>
            <a:off x="719138" y="5178425"/>
            <a:ext cx="7916862" cy="120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latin typeface="Tahoma" pitchFamily="34" charset="0"/>
              </a:rPr>
              <a:t>       </a:t>
            </a:r>
            <a:r>
              <a:rPr lang="zh-CN" altLang="en-US">
                <a:solidFill>
                  <a:schemeClr val="hlink"/>
                </a:solidFill>
                <a:latin typeface="Tahoma" pitchFamily="34" charset="0"/>
              </a:rPr>
              <a:t>定义：</a:t>
            </a:r>
            <a:r>
              <a:rPr lang="zh-CN" altLang="en-US">
                <a:latin typeface="Tahoma" pitchFamily="34" charset="0"/>
              </a:rPr>
              <a:t>单个命题变元和命题常元称为原子命题公式，简称原子公式。</a:t>
            </a:r>
          </a:p>
        </p:txBody>
      </p:sp>
      <p:sp>
        <p:nvSpPr>
          <p:cNvPr id="30726" name="Rectangle 12"/>
          <p:cNvSpPr>
            <a:spLocks noChangeArrowheads="1"/>
          </p:cNvSpPr>
          <p:nvPr/>
        </p:nvSpPr>
        <p:spPr bwMode="auto">
          <a:xfrm>
            <a:off x="1331913" y="1341438"/>
            <a:ext cx="33115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dirty="0" smtClean="0">
                <a:solidFill>
                  <a:schemeClr val="folHlink"/>
                </a:solidFill>
                <a:ea typeface="楷体_GB2312" pitchFamily="49" charset="-122"/>
              </a:rPr>
              <a:t>一、</a:t>
            </a:r>
            <a:r>
              <a:rPr lang="zh-CN" altLang="en-US" sz="3200" dirty="0">
                <a:solidFill>
                  <a:schemeClr val="folHlink"/>
                </a:solidFill>
                <a:ea typeface="楷体_GB2312" pitchFamily="49" charset="-122"/>
              </a:rPr>
              <a:t>命题公式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1366838" y="555625"/>
            <a:ext cx="5653087" cy="641350"/>
          </a:xfrm>
          <a:noFill/>
        </p:spPr>
        <p:txBody>
          <a:bodyPr>
            <a:spAutoFit/>
          </a:bodyPr>
          <a:lstStyle/>
          <a:p>
            <a:pPr eaLnBrk="1" hangingPunct="1"/>
            <a:r>
              <a:rPr lang="en-US" altLang="zh-CN" sz="3600" b="1" dirty="0" smtClean="0">
                <a:solidFill>
                  <a:schemeClr val="tx1"/>
                </a:solidFill>
                <a:latin typeface="华文行楷" pitchFamily="2" charset="-122"/>
              </a:rPr>
              <a:t>1-3  </a:t>
            </a:r>
            <a:r>
              <a:rPr lang="zh-CN" altLang="en-US" sz="3600" b="1" dirty="0" smtClean="0">
                <a:solidFill>
                  <a:schemeClr val="tx1"/>
                </a:solidFill>
                <a:latin typeface="华文行楷" pitchFamily="2" charset="-122"/>
              </a:rPr>
              <a:t>命题公式与翻译</a:t>
            </a: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1354" grpId="0"/>
      <p:bldP spid="44135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lnSpc>
                <a:spcPct val="130000"/>
              </a:lnSpc>
              <a:spcBef>
                <a:spcPts val="0"/>
              </a:spcBef>
              <a:defRPr/>
            </a:pPr>
            <a:fld id="{B1DEF22E-AC22-4830-A7C7-70F144B8EB0A}" type="slidenum">
              <a:rPr lang="en-US" altLang="zh-CN"/>
              <a:pPr>
                <a:lnSpc>
                  <a:spcPct val="130000"/>
                </a:lnSpc>
                <a:spcBef>
                  <a:spcPts val="0"/>
                </a:spcBef>
                <a:defRPr/>
              </a:pPr>
              <a:t>23</a:t>
            </a:fld>
            <a:endParaRPr lang="en-US" altLang="zh-CN"/>
          </a:p>
        </p:txBody>
      </p:sp>
      <p:sp>
        <p:nvSpPr>
          <p:cNvPr id="433164" name="Rectangle 12"/>
          <p:cNvSpPr>
            <a:spLocks noChangeArrowheads="1"/>
          </p:cNvSpPr>
          <p:nvPr/>
        </p:nvSpPr>
        <p:spPr bwMode="auto">
          <a:xfrm>
            <a:off x="719138" y="3429794"/>
            <a:ext cx="7916862" cy="12126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/>
              <a:t>(3) </a:t>
            </a:r>
            <a:r>
              <a:rPr lang="zh-CN" altLang="en-US"/>
              <a:t>如果</a:t>
            </a:r>
            <a:r>
              <a:rPr lang="en-US" altLang="zh-CN"/>
              <a:t>A</a:t>
            </a:r>
            <a:r>
              <a:rPr lang="zh-CN" altLang="en-US"/>
              <a:t>和</a:t>
            </a:r>
            <a:r>
              <a:rPr lang="en-US" altLang="zh-CN"/>
              <a:t>B</a:t>
            </a:r>
            <a:r>
              <a:rPr lang="zh-CN" altLang="en-US"/>
              <a:t>是合式公式，那么</a:t>
            </a:r>
            <a:r>
              <a:rPr lang="en-US" altLang="zh-CN"/>
              <a:t>A∧B</a:t>
            </a:r>
            <a:r>
              <a:rPr lang="zh-CN" altLang="en-US"/>
              <a:t>，</a:t>
            </a:r>
            <a:r>
              <a:rPr lang="en-US" altLang="zh-CN"/>
              <a:t>A∨B</a:t>
            </a:r>
            <a:r>
              <a:rPr lang="zh-CN" altLang="en-US"/>
              <a:t>，</a:t>
            </a:r>
            <a:r>
              <a:rPr lang="en-US" altLang="zh-CN"/>
              <a:t>A→B</a:t>
            </a:r>
            <a:r>
              <a:rPr lang="zh-CN" altLang="en-US"/>
              <a:t>，</a:t>
            </a:r>
            <a:r>
              <a:rPr lang="en-US" altLang="zh-CN"/>
              <a:t>A</a:t>
            </a:r>
            <a:r>
              <a:rPr kumimoji="1" lang="en-US" altLang="zh-CN">
                <a:latin typeface="Arial Unicode MS" pitchFamily="34" charset="-122"/>
                <a:ea typeface="Arial Unicode MS" pitchFamily="34" charset="-122"/>
                <a:cs typeface="Arial Unicode MS" pitchFamily="34" charset="-122"/>
                <a:sym typeface="Symbol" pitchFamily="18" charset="2"/>
              </a:rPr>
              <a:t>⇄</a:t>
            </a:r>
            <a:r>
              <a:rPr lang="en-US" altLang="zh-CN"/>
              <a:t>B</a:t>
            </a:r>
            <a:r>
              <a:rPr lang="zh-CN" altLang="en-US"/>
              <a:t>都是合式公式。</a:t>
            </a:r>
          </a:p>
        </p:txBody>
      </p:sp>
      <p:sp>
        <p:nvSpPr>
          <p:cNvPr id="31748" name="Rectangle 5"/>
          <p:cNvSpPr>
            <a:spLocks noChangeArrowheads="1"/>
          </p:cNvSpPr>
          <p:nvPr/>
        </p:nvSpPr>
        <p:spPr bwMode="auto">
          <a:xfrm>
            <a:off x="719138" y="1124744"/>
            <a:ext cx="7916862" cy="12126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/>
              <a:t>         </a:t>
            </a:r>
            <a:r>
              <a:rPr lang="zh-CN" altLang="en-US">
                <a:solidFill>
                  <a:schemeClr val="hlink"/>
                </a:solidFill>
              </a:rPr>
              <a:t>定义</a:t>
            </a:r>
            <a:r>
              <a:rPr lang="en-US" altLang="zh-CN">
                <a:solidFill>
                  <a:schemeClr val="hlink"/>
                </a:solidFill>
              </a:rPr>
              <a:t>1-3.1</a:t>
            </a:r>
            <a:r>
              <a:rPr lang="en-US" altLang="zh-CN"/>
              <a:t>  </a:t>
            </a:r>
            <a:r>
              <a:rPr lang="zh-CN" altLang="en-US"/>
              <a:t>合式公式</a:t>
            </a:r>
            <a:r>
              <a:rPr lang="en-US" altLang="zh-CN"/>
              <a:t>(wff)</a:t>
            </a:r>
            <a:r>
              <a:rPr lang="zh-CN" altLang="en-US"/>
              <a:t>是由下列规则形成的字符串：</a:t>
            </a:r>
          </a:p>
        </p:txBody>
      </p:sp>
      <p:sp>
        <p:nvSpPr>
          <p:cNvPr id="433159" name="Rectangle 7"/>
          <p:cNvSpPr>
            <a:spLocks noChangeArrowheads="1"/>
          </p:cNvSpPr>
          <p:nvPr/>
        </p:nvSpPr>
        <p:spPr bwMode="auto">
          <a:xfrm>
            <a:off x="2484438" y="1693213"/>
            <a:ext cx="3024187" cy="5840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zh-CN" altLang="en-US" dirty="0">
                <a:solidFill>
                  <a:schemeClr val="hlink"/>
                </a:solidFill>
                <a:latin typeface="Tahoma" pitchFamily="34" charset="0"/>
              </a:rPr>
              <a:t>（递归式定义）</a:t>
            </a:r>
          </a:p>
        </p:txBody>
      </p:sp>
      <p:sp>
        <p:nvSpPr>
          <p:cNvPr id="433167" name="Rectangle 15"/>
          <p:cNvSpPr>
            <a:spLocks noChangeArrowheads="1"/>
          </p:cNvSpPr>
          <p:nvPr/>
        </p:nvSpPr>
        <p:spPr bwMode="auto">
          <a:xfrm>
            <a:off x="719138" y="2205831"/>
            <a:ext cx="7916862" cy="6524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/>
              <a:t>(1) </a:t>
            </a:r>
            <a:r>
              <a:rPr lang="zh-CN" altLang="en-US"/>
              <a:t>单个原子公式是合式公式。</a:t>
            </a:r>
          </a:p>
        </p:txBody>
      </p:sp>
      <p:sp>
        <p:nvSpPr>
          <p:cNvPr id="433169" name="Rectangle 17"/>
          <p:cNvSpPr>
            <a:spLocks noChangeArrowheads="1"/>
          </p:cNvSpPr>
          <p:nvPr/>
        </p:nvSpPr>
        <p:spPr bwMode="auto">
          <a:xfrm>
            <a:off x="719138" y="2780506"/>
            <a:ext cx="7239482" cy="6524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dirty="0"/>
              <a:t>(2) </a:t>
            </a:r>
            <a:r>
              <a:rPr lang="zh-CN" altLang="en-US" dirty="0"/>
              <a:t>如果</a:t>
            </a:r>
            <a:r>
              <a:rPr lang="en-US" altLang="zh-CN" dirty="0"/>
              <a:t>A</a:t>
            </a:r>
            <a:r>
              <a:rPr lang="zh-CN" altLang="en-US" dirty="0"/>
              <a:t>是合式公式，那么┐</a:t>
            </a:r>
            <a:r>
              <a:rPr lang="en-US" altLang="zh-CN" dirty="0"/>
              <a:t>A</a:t>
            </a:r>
            <a:r>
              <a:rPr lang="zh-CN" altLang="en-US" dirty="0"/>
              <a:t>是合式公式。</a:t>
            </a:r>
          </a:p>
        </p:txBody>
      </p:sp>
      <p:sp>
        <p:nvSpPr>
          <p:cNvPr id="433171" name="Rectangle 19"/>
          <p:cNvSpPr>
            <a:spLocks noChangeArrowheads="1"/>
          </p:cNvSpPr>
          <p:nvPr/>
        </p:nvSpPr>
        <p:spPr bwMode="auto">
          <a:xfrm>
            <a:off x="719138" y="4504431"/>
            <a:ext cx="7916862" cy="17727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dirty="0"/>
              <a:t>(4) </a:t>
            </a:r>
            <a:r>
              <a:rPr lang="zh-CN" altLang="en-US" dirty="0"/>
              <a:t>当且仅当能够</a:t>
            </a:r>
            <a:r>
              <a:rPr lang="zh-CN" altLang="en-US" u="sng" dirty="0">
                <a:solidFill>
                  <a:schemeClr val="hlink"/>
                </a:solidFill>
              </a:rPr>
              <a:t>有限次</a:t>
            </a:r>
            <a:r>
              <a:rPr lang="zh-CN" altLang="en-US" dirty="0"/>
              <a:t>地应用</a:t>
            </a:r>
            <a:r>
              <a:rPr lang="en-US" altLang="zh-CN" dirty="0"/>
              <a:t>(1)</a:t>
            </a:r>
            <a:r>
              <a:rPr lang="zh-CN" altLang="en-US" dirty="0"/>
              <a:t>，</a:t>
            </a:r>
            <a:r>
              <a:rPr lang="en-US" altLang="zh-CN" dirty="0"/>
              <a:t>(2)</a:t>
            </a:r>
            <a:r>
              <a:rPr lang="zh-CN" altLang="en-US" dirty="0"/>
              <a:t>，</a:t>
            </a:r>
            <a:r>
              <a:rPr lang="en-US" altLang="zh-CN" dirty="0"/>
              <a:t>(3)</a:t>
            </a:r>
            <a:r>
              <a:rPr lang="zh-CN" altLang="en-US" dirty="0"/>
              <a:t>所得到的包含命题变元，联结词和括号的符号串是合式公式。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3164" grpId="0"/>
      <p:bldP spid="433159" grpId="0"/>
      <p:bldP spid="433167" grpId="0"/>
      <p:bldP spid="433169" grpId="0"/>
      <p:bldP spid="43317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lnSpc>
                <a:spcPct val="130000"/>
              </a:lnSpc>
              <a:spcBef>
                <a:spcPts val="0"/>
              </a:spcBef>
              <a:defRPr/>
            </a:pPr>
            <a:fld id="{68FB4A05-1F81-4944-B001-CAED3EEE9E62}" type="slidenum">
              <a:rPr lang="en-US" altLang="zh-CN"/>
              <a:pPr>
                <a:lnSpc>
                  <a:spcPct val="130000"/>
                </a:lnSpc>
                <a:spcBef>
                  <a:spcPts val="0"/>
                </a:spcBef>
                <a:defRPr/>
              </a:pPr>
              <a:t>24</a:t>
            </a:fld>
            <a:endParaRPr lang="en-US" altLang="zh-CN"/>
          </a:p>
        </p:txBody>
      </p:sp>
      <p:sp>
        <p:nvSpPr>
          <p:cNvPr id="110605" name="Rectangle 13"/>
          <p:cNvSpPr>
            <a:spLocks noChangeArrowheads="1"/>
          </p:cNvSpPr>
          <p:nvPr/>
        </p:nvSpPr>
        <p:spPr bwMode="auto">
          <a:xfrm>
            <a:off x="719138" y="3068960"/>
            <a:ext cx="7916862" cy="6524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kumimoji="1" lang="zh-CN" altLang="en-US">
                <a:solidFill>
                  <a:schemeClr val="hlink"/>
                </a:solidFill>
              </a:rPr>
              <a:t>约定：</a:t>
            </a:r>
          </a:p>
        </p:txBody>
      </p:sp>
      <p:sp>
        <p:nvSpPr>
          <p:cNvPr id="32772" name="Text Box 5"/>
          <p:cNvSpPr txBox="1">
            <a:spLocks noChangeArrowheads="1"/>
          </p:cNvSpPr>
          <p:nvPr/>
        </p:nvSpPr>
        <p:spPr bwMode="auto">
          <a:xfrm>
            <a:off x="719138" y="1340768"/>
            <a:ext cx="7916862" cy="1114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kumimoji="1" lang="zh-CN" altLang="en-US">
                <a:solidFill>
                  <a:schemeClr val="hlink"/>
                </a:solidFill>
              </a:rPr>
              <a:t>例如：</a:t>
            </a:r>
            <a:r>
              <a:rPr kumimoji="1" lang="zh-CN" altLang="en-US"/>
              <a:t>下列公式是否合式公式</a:t>
            </a:r>
          </a:p>
          <a:p>
            <a:pPr algn="just" eaLnBrk="1" hangingPunct="1">
              <a:lnSpc>
                <a:spcPct val="13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kumimoji="1" lang="en-US" altLang="zh-CN" sz="2600"/>
              <a:t>(┐P)∨Q</a:t>
            </a:r>
            <a:r>
              <a:rPr kumimoji="1" lang="zh-CN" altLang="en-US" sz="2600"/>
              <a:t>，</a:t>
            </a:r>
            <a:r>
              <a:rPr kumimoji="1" lang="en-US" altLang="zh-CN" sz="2600"/>
              <a:t>(P→(Q∧R))</a:t>
            </a:r>
            <a:r>
              <a:rPr kumimoji="1" lang="zh-CN" altLang="en-US" sz="2600"/>
              <a:t>，</a:t>
            </a:r>
            <a:r>
              <a:rPr kumimoji="1" lang="en-US" altLang="zh-CN" sz="2600"/>
              <a:t>(P→Q</a:t>
            </a:r>
            <a:r>
              <a:rPr kumimoji="1" lang="zh-CN" altLang="en-US" sz="2600"/>
              <a:t>，</a:t>
            </a:r>
            <a:r>
              <a:rPr kumimoji="1" lang="en-US" altLang="zh-CN" sz="2600"/>
              <a:t>P→Q)</a:t>
            </a:r>
            <a:r>
              <a:rPr kumimoji="1" lang="zh-CN" altLang="en-US" sz="2600"/>
              <a:t>，</a:t>
            </a:r>
            <a:r>
              <a:rPr kumimoji="1" lang="en-US" altLang="zh-CN" sz="2600"/>
              <a:t>(∧R) </a:t>
            </a:r>
            <a:r>
              <a:rPr kumimoji="1" lang="zh-CN" altLang="en-US" sz="2600"/>
              <a:t>。</a:t>
            </a:r>
            <a:endParaRPr kumimoji="1" lang="zh-CN" altLang="en-US"/>
          </a:p>
        </p:txBody>
      </p:sp>
      <p:sp>
        <p:nvSpPr>
          <p:cNvPr id="110607" name="Rectangle 15"/>
          <p:cNvSpPr>
            <a:spLocks noChangeArrowheads="1"/>
          </p:cNvSpPr>
          <p:nvPr/>
        </p:nvSpPr>
        <p:spPr bwMode="auto">
          <a:xfrm>
            <a:off x="1619250" y="2550443"/>
            <a:ext cx="5234125" cy="59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kumimoji="1" lang="zh-CN" altLang="en-US"/>
              <a:t>前两个是合式公式，后两个不是</a:t>
            </a:r>
          </a:p>
        </p:txBody>
      </p:sp>
      <p:sp>
        <p:nvSpPr>
          <p:cNvPr id="110612" name="Rectangle 20"/>
          <p:cNvSpPr>
            <a:spLocks noChangeArrowheads="1"/>
          </p:cNvSpPr>
          <p:nvPr/>
        </p:nvSpPr>
        <p:spPr bwMode="auto">
          <a:xfrm>
            <a:off x="719138" y="3645222"/>
            <a:ext cx="7916862" cy="6524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kumimoji="1" lang="en-US" altLang="zh-CN"/>
              <a:t>(1)</a:t>
            </a:r>
            <a:r>
              <a:rPr kumimoji="1" lang="zh-CN" altLang="en-US"/>
              <a:t>最外层括号可以省略；</a:t>
            </a:r>
          </a:p>
        </p:txBody>
      </p:sp>
      <p:sp>
        <p:nvSpPr>
          <p:cNvPr id="110614" name="Rectangle 22"/>
          <p:cNvSpPr>
            <a:spLocks noChangeArrowheads="1"/>
          </p:cNvSpPr>
          <p:nvPr/>
        </p:nvSpPr>
        <p:spPr bwMode="auto">
          <a:xfrm>
            <a:off x="719138" y="4227835"/>
            <a:ext cx="8101012" cy="6524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kumimoji="1" lang="en-US" altLang="zh-CN"/>
              <a:t>(2)</a:t>
            </a:r>
            <a:r>
              <a:rPr kumimoji="1" lang="zh-CN" altLang="en-US"/>
              <a:t>联结词运算的优先次序为┐，∧，∨，→，</a:t>
            </a:r>
            <a:r>
              <a:rPr kumimoji="1" lang="zh-CN" altLang="en-US">
                <a:latin typeface="Arial Unicode MS" pitchFamily="34" charset="-122"/>
                <a:ea typeface="Arial Unicode MS" pitchFamily="34" charset="-122"/>
                <a:cs typeface="Arial Unicode MS" pitchFamily="34" charset="-122"/>
                <a:sym typeface="Symbol" pitchFamily="18" charset="2"/>
              </a:rPr>
              <a:t>⇄</a:t>
            </a:r>
            <a:r>
              <a:rPr kumimoji="1" lang="zh-CN" altLang="en-US"/>
              <a:t>；</a:t>
            </a:r>
          </a:p>
        </p:txBody>
      </p:sp>
      <p:sp>
        <p:nvSpPr>
          <p:cNvPr id="110616" name="Rectangle 24"/>
          <p:cNvSpPr>
            <a:spLocks noChangeArrowheads="1"/>
          </p:cNvSpPr>
          <p:nvPr/>
        </p:nvSpPr>
        <p:spPr bwMode="auto">
          <a:xfrm>
            <a:off x="719138" y="4854897"/>
            <a:ext cx="7916862" cy="12126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kumimoji="1" lang="en-US" altLang="zh-CN"/>
              <a:t>(3)</a:t>
            </a:r>
            <a:r>
              <a:rPr kumimoji="1" lang="zh-CN" altLang="en-US"/>
              <a:t>相同的联结词按从左至右次序计算时，圆括号可省略。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605" grpId="0"/>
      <p:bldP spid="110607" grpId="0"/>
      <p:bldP spid="110612" grpId="0"/>
      <p:bldP spid="110614" grpId="0"/>
      <p:bldP spid="11061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70C93E3-AA3A-44CE-9533-3A9B74EB1708}" type="slidenum">
              <a:rPr lang="en-US" altLang="zh-CN"/>
              <a:pPr>
                <a:defRPr/>
              </a:pPr>
              <a:t>25</a:t>
            </a:fld>
            <a:endParaRPr lang="en-US" altLang="zh-CN"/>
          </a:p>
        </p:txBody>
      </p:sp>
      <p:sp>
        <p:nvSpPr>
          <p:cNvPr id="33795" name="Rectangle 5"/>
          <p:cNvSpPr>
            <a:spLocks noChangeArrowheads="1"/>
          </p:cNvSpPr>
          <p:nvPr/>
        </p:nvSpPr>
        <p:spPr bwMode="auto">
          <a:xfrm>
            <a:off x="719138" y="1550988"/>
            <a:ext cx="7916862" cy="1373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chemeClr val="hlink"/>
                </a:solidFill>
              </a:rPr>
              <a:t>注意：</a:t>
            </a:r>
            <a:r>
              <a:rPr lang="zh-CN" altLang="en-US"/>
              <a:t>命题公式本身无真假值，仅当命题变元用确定命题代入时，才得到一个命题。命题的真值依赖于代换变元的那些命题的真值。 </a:t>
            </a:r>
          </a:p>
        </p:txBody>
      </p:sp>
      <p:sp>
        <p:nvSpPr>
          <p:cNvPr id="443399" name="Rectangle 7"/>
          <p:cNvSpPr>
            <a:spLocks noChangeArrowheads="1"/>
          </p:cNvSpPr>
          <p:nvPr/>
        </p:nvSpPr>
        <p:spPr bwMode="auto">
          <a:xfrm>
            <a:off x="719138" y="3283372"/>
            <a:ext cx="7916862" cy="1801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zh-CN" altLang="en-US" dirty="0">
                <a:solidFill>
                  <a:schemeClr val="hlink"/>
                </a:solidFill>
              </a:rPr>
              <a:t>例：</a:t>
            </a:r>
            <a:r>
              <a:rPr lang="en-US" altLang="zh-CN" dirty="0"/>
              <a:t>P∧Q</a:t>
            </a:r>
            <a:r>
              <a:rPr lang="zh-CN" altLang="en-US" dirty="0"/>
              <a:t>，</a:t>
            </a:r>
            <a:r>
              <a:rPr lang="en-US" altLang="zh-CN" dirty="0"/>
              <a:t>P</a:t>
            </a:r>
            <a:r>
              <a:rPr lang="zh-CN" altLang="en-US" dirty="0"/>
              <a:t>：</a:t>
            </a:r>
            <a:r>
              <a:rPr lang="en-US" altLang="zh-CN" dirty="0"/>
              <a:t>2+2=4;  Q</a:t>
            </a:r>
            <a:r>
              <a:rPr lang="zh-CN" altLang="en-US" dirty="0"/>
              <a:t>：雪是白的。</a:t>
            </a:r>
          </a:p>
          <a:p>
            <a:pPr eaLnBrk="1" hangingPunct="1">
              <a:lnSpc>
                <a:spcPct val="13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zh-CN" altLang="en-US" dirty="0"/>
              <a:t>        则</a:t>
            </a:r>
            <a:r>
              <a:rPr lang="en-US" altLang="zh-CN" dirty="0"/>
              <a:t>P∧Q </a:t>
            </a:r>
            <a:r>
              <a:rPr lang="zh-CN" altLang="en-US" dirty="0"/>
              <a:t>值为真。</a:t>
            </a:r>
          </a:p>
          <a:p>
            <a:pPr eaLnBrk="1" hangingPunct="1">
              <a:lnSpc>
                <a:spcPct val="13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zh-CN" altLang="en-US" dirty="0"/>
              <a:t>可将自然语言中的语句翻译成合式公式。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339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EEB4704-8179-4F0F-9CCE-34879A67D3C6}" type="slidenum">
              <a:rPr lang="en-US" altLang="zh-CN"/>
              <a:pPr>
                <a:defRPr/>
              </a:pPr>
              <a:t>26</a:t>
            </a:fld>
            <a:endParaRPr lang="en-US" altLang="zh-CN"/>
          </a:p>
        </p:txBody>
      </p:sp>
      <p:sp>
        <p:nvSpPr>
          <p:cNvPr id="34819" name="Rectangle 4"/>
          <p:cNvSpPr>
            <a:spLocks noChangeArrowheads="1"/>
          </p:cNvSpPr>
          <p:nvPr/>
        </p:nvSpPr>
        <p:spPr bwMode="auto">
          <a:xfrm>
            <a:off x="1331913" y="620713"/>
            <a:ext cx="45720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>
                <a:solidFill>
                  <a:schemeClr val="folHlink"/>
                </a:solidFill>
                <a:ea typeface="楷体_GB2312" pitchFamily="49" charset="-122"/>
              </a:rPr>
              <a:t>二、命题的翻译</a:t>
            </a:r>
          </a:p>
        </p:txBody>
      </p:sp>
      <p:sp>
        <p:nvSpPr>
          <p:cNvPr id="34820" name="Rectangle 6"/>
          <p:cNvSpPr>
            <a:spLocks noChangeArrowheads="1"/>
          </p:cNvSpPr>
          <p:nvPr/>
        </p:nvSpPr>
        <p:spPr bwMode="auto">
          <a:xfrm>
            <a:off x="719138" y="1435100"/>
            <a:ext cx="7916862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0"/>
              <a:t>        </a:t>
            </a:r>
            <a:r>
              <a:rPr lang="zh-CN" altLang="en-US"/>
              <a:t>把一个用文字叙述的命题相应地写成由命题标识符、联结词和圆括号表示的合式公式，称为</a:t>
            </a:r>
            <a:r>
              <a:rPr lang="zh-CN" altLang="en-US">
                <a:solidFill>
                  <a:schemeClr val="hlink"/>
                </a:solidFill>
              </a:rPr>
              <a:t>命题的符号化</a:t>
            </a:r>
            <a:r>
              <a:rPr lang="zh-CN" altLang="en-US"/>
              <a:t>。</a:t>
            </a:r>
          </a:p>
        </p:txBody>
      </p:sp>
      <p:sp>
        <p:nvSpPr>
          <p:cNvPr id="500744" name="Rectangle 8"/>
          <p:cNvSpPr>
            <a:spLocks noChangeArrowheads="1"/>
          </p:cNvSpPr>
          <p:nvPr/>
        </p:nvSpPr>
        <p:spPr bwMode="auto">
          <a:xfrm>
            <a:off x="719138" y="3140075"/>
            <a:ext cx="79168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/>
              <a:t>符号化应该</a:t>
            </a:r>
            <a:r>
              <a:rPr lang="zh-CN" altLang="en-US" u="sng">
                <a:solidFill>
                  <a:schemeClr val="hlink"/>
                </a:solidFill>
              </a:rPr>
              <a:t>注意</a:t>
            </a:r>
            <a:r>
              <a:rPr lang="zh-CN" altLang="en-US"/>
              <a:t>下列事项</a:t>
            </a:r>
            <a:r>
              <a:rPr lang="en-US" altLang="zh-CN"/>
              <a:t>:</a:t>
            </a:r>
          </a:p>
        </p:txBody>
      </p:sp>
      <p:sp>
        <p:nvSpPr>
          <p:cNvPr id="500746" name="Rectangle 10"/>
          <p:cNvSpPr>
            <a:spLocks noChangeArrowheads="1"/>
          </p:cNvSpPr>
          <p:nvPr/>
        </p:nvSpPr>
        <p:spPr bwMode="auto">
          <a:xfrm>
            <a:off x="719138" y="3744913"/>
            <a:ext cx="79168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/>
              <a:t>① </a:t>
            </a:r>
            <a:r>
              <a:rPr lang="zh-CN" altLang="en-US"/>
              <a:t>确定给定</a:t>
            </a:r>
            <a:r>
              <a:rPr lang="zh-CN" altLang="en-US" u="sng">
                <a:solidFill>
                  <a:schemeClr val="hlink"/>
                </a:solidFill>
              </a:rPr>
              <a:t>句子是否</a:t>
            </a:r>
            <a:r>
              <a:rPr lang="zh-CN" altLang="en-US"/>
              <a:t>为命题。</a:t>
            </a:r>
          </a:p>
        </p:txBody>
      </p:sp>
      <p:sp>
        <p:nvSpPr>
          <p:cNvPr id="500748" name="Rectangle 12"/>
          <p:cNvSpPr>
            <a:spLocks noChangeArrowheads="1"/>
          </p:cNvSpPr>
          <p:nvPr/>
        </p:nvSpPr>
        <p:spPr bwMode="auto">
          <a:xfrm>
            <a:off x="719138" y="4394200"/>
            <a:ext cx="79168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/>
              <a:t>② </a:t>
            </a:r>
            <a:r>
              <a:rPr lang="zh-CN" altLang="en-US"/>
              <a:t>句子中</a:t>
            </a:r>
            <a:r>
              <a:rPr lang="zh-CN" altLang="en-US" u="sng">
                <a:solidFill>
                  <a:schemeClr val="hlink"/>
                </a:solidFill>
              </a:rPr>
              <a:t>连词是否</a:t>
            </a:r>
            <a:r>
              <a:rPr lang="zh-CN" altLang="en-US"/>
              <a:t>为命题联结词。</a:t>
            </a:r>
          </a:p>
        </p:txBody>
      </p:sp>
      <p:sp>
        <p:nvSpPr>
          <p:cNvPr id="500750" name="Rectangle 14"/>
          <p:cNvSpPr>
            <a:spLocks noChangeArrowheads="1"/>
          </p:cNvSpPr>
          <p:nvPr/>
        </p:nvSpPr>
        <p:spPr bwMode="auto">
          <a:xfrm>
            <a:off x="719138" y="5070475"/>
            <a:ext cx="79168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/>
              <a:t>③ </a:t>
            </a:r>
            <a:r>
              <a:rPr lang="zh-CN" altLang="en-US"/>
              <a:t>要</a:t>
            </a:r>
            <a:r>
              <a:rPr lang="zh-CN" altLang="en-US" u="sng">
                <a:solidFill>
                  <a:schemeClr val="hlink"/>
                </a:solidFill>
              </a:rPr>
              <a:t>正确表示</a:t>
            </a:r>
            <a:r>
              <a:rPr lang="zh-CN" altLang="en-US"/>
              <a:t>原子命题和</a:t>
            </a:r>
            <a:r>
              <a:rPr lang="zh-CN" altLang="en-US" u="sng">
                <a:solidFill>
                  <a:schemeClr val="hlink"/>
                </a:solidFill>
              </a:rPr>
              <a:t>适当选择</a:t>
            </a:r>
            <a:r>
              <a:rPr lang="zh-CN" altLang="en-US"/>
              <a:t>命题联结词。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0744" grpId="0"/>
      <p:bldP spid="500746" grpId="0"/>
      <p:bldP spid="500748" grpId="0"/>
      <p:bldP spid="50075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07674F0-F18E-4B84-9C3B-E9E87A9CC417}" type="slidenum">
              <a:rPr lang="en-US" altLang="zh-CN"/>
              <a:pPr>
                <a:defRPr/>
              </a:pPr>
              <a:t>27</a:t>
            </a:fld>
            <a:endParaRPr lang="en-US" altLang="zh-CN"/>
          </a:p>
        </p:txBody>
      </p:sp>
      <p:sp>
        <p:nvSpPr>
          <p:cNvPr id="35843" name="Text Box 4"/>
          <p:cNvSpPr txBox="1">
            <a:spLocks noChangeArrowheads="1"/>
          </p:cNvSpPr>
          <p:nvPr/>
        </p:nvSpPr>
        <p:spPr bwMode="auto">
          <a:xfrm>
            <a:off x="719138" y="1268760"/>
            <a:ext cx="7916862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kumimoji="1" lang="zh-CN" altLang="en-US" dirty="0">
                <a:solidFill>
                  <a:schemeClr val="hlink"/>
                </a:solidFill>
              </a:rPr>
              <a:t>例</a:t>
            </a:r>
            <a:r>
              <a:rPr kumimoji="1" lang="en-US" altLang="zh-CN" dirty="0">
                <a:solidFill>
                  <a:schemeClr val="hlink"/>
                </a:solidFill>
              </a:rPr>
              <a:t>1</a:t>
            </a:r>
            <a:r>
              <a:rPr kumimoji="1" lang="zh-CN" altLang="en-US" dirty="0">
                <a:solidFill>
                  <a:schemeClr val="hlink"/>
                </a:solidFill>
              </a:rPr>
              <a:t>：</a:t>
            </a:r>
            <a:r>
              <a:rPr kumimoji="1" lang="zh-CN" altLang="en-US" dirty="0">
                <a:solidFill>
                  <a:srgbClr val="000000"/>
                </a:solidFill>
                <a:latin typeface="ˎ̥" charset="0"/>
                <a:cs typeface="Times New Roman" pitchFamily="18" charset="0"/>
              </a:rPr>
              <a:t>如果李明是体育爱好者但不是文艺爱好者，那么李明不是文体爱好者。</a:t>
            </a:r>
          </a:p>
        </p:txBody>
      </p:sp>
      <p:sp>
        <p:nvSpPr>
          <p:cNvPr id="444481" name="Rectangle 65"/>
          <p:cNvSpPr>
            <a:spLocks noChangeArrowheads="1"/>
          </p:cNvSpPr>
          <p:nvPr/>
        </p:nvSpPr>
        <p:spPr bwMode="auto">
          <a:xfrm>
            <a:off x="719138" y="2981895"/>
            <a:ext cx="79168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dirty="0">
                <a:solidFill>
                  <a:schemeClr val="hlink"/>
                </a:solidFill>
              </a:rPr>
              <a:t>例</a:t>
            </a:r>
            <a:r>
              <a:rPr kumimoji="1" lang="en-US" altLang="zh-CN" dirty="0">
                <a:solidFill>
                  <a:schemeClr val="hlink"/>
                </a:solidFill>
              </a:rPr>
              <a:t>2</a:t>
            </a:r>
            <a:r>
              <a:rPr kumimoji="1" lang="zh-CN" altLang="en-US" dirty="0">
                <a:solidFill>
                  <a:schemeClr val="hlink"/>
                </a:solidFill>
              </a:rPr>
              <a:t>：</a:t>
            </a:r>
            <a:r>
              <a:rPr kumimoji="1" lang="zh-CN" altLang="en-US" dirty="0"/>
              <a:t>今晚我在家里看电视或去体育场看球赛</a:t>
            </a:r>
          </a:p>
        </p:txBody>
      </p:sp>
      <p:graphicFrame>
        <p:nvGraphicFramePr>
          <p:cNvPr id="444696" name="Group 28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5955505"/>
              </p:ext>
            </p:extLst>
          </p:nvPr>
        </p:nvGraphicFramePr>
        <p:xfrm>
          <a:off x="2125663" y="3646512"/>
          <a:ext cx="2422525" cy="2590800"/>
        </p:xfrm>
        <a:graphic>
          <a:graphicData uri="http://schemas.openxmlformats.org/drawingml/2006/table">
            <a:tbl>
              <a:tblPr/>
              <a:tblGrid>
                <a:gridCol w="685800"/>
                <a:gridCol w="838200"/>
                <a:gridCol w="898525"/>
              </a:tblGrid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命题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</a:tbl>
          </a:graphicData>
        </a:graphic>
      </p:graphicFrame>
      <p:sp>
        <p:nvSpPr>
          <p:cNvPr id="444578" name="Rectangle 162"/>
          <p:cNvSpPr>
            <a:spLocks noChangeArrowheads="1"/>
          </p:cNvSpPr>
          <p:nvPr/>
        </p:nvSpPr>
        <p:spPr bwMode="auto">
          <a:xfrm>
            <a:off x="719138" y="2407220"/>
            <a:ext cx="79168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dirty="0">
                <a:solidFill>
                  <a:srgbClr val="000000"/>
                </a:solidFill>
                <a:cs typeface="Times New Roman" pitchFamily="18" charset="0"/>
              </a:rPr>
              <a:t>A</a:t>
            </a:r>
            <a:r>
              <a:rPr kumimoji="1" lang="en-US" altLang="zh-CN" dirty="0">
                <a:solidFill>
                  <a:srgbClr val="000000"/>
                </a:solidFill>
              </a:rPr>
              <a:t>∧</a:t>
            </a:r>
            <a:r>
              <a:rPr kumimoji="1" lang="en-US" altLang="zh-CN" dirty="0">
                <a:latin typeface="Tahoma" pitchFamily="34" charset="0"/>
              </a:rPr>
              <a:t>┐</a:t>
            </a:r>
            <a:r>
              <a:rPr kumimoji="1" lang="en-US" altLang="zh-CN" dirty="0">
                <a:solidFill>
                  <a:srgbClr val="000000"/>
                </a:solidFill>
                <a:cs typeface="Times New Roman" pitchFamily="18" charset="0"/>
              </a:rPr>
              <a:t>B→</a:t>
            </a:r>
            <a:r>
              <a:rPr kumimoji="1" lang="en-US" altLang="zh-CN" dirty="0"/>
              <a:t>┐</a:t>
            </a:r>
            <a:r>
              <a:rPr kumimoji="1" lang="en-US" altLang="zh-CN" dirty="0">
                <a:solidFill>
                  <a:srgbClr val="000000"/>
                </a:solidFill>
                <a:cs typeface="Times New Roman" pitchFamily="18" charset="0"/>
              </a:rPr>
              <a:t>C</a:t>
            </a:r>
            <a:r>
              <a:rPr kumimoji="1" lang="en-US" altLang="zh-CN" dirty="0"/>
              <a:t> </a:t>
            </a:r>
          </a:p>
        </p:txBody>
      </p:sp>
      <p:graphicFrame>
        <p:nvGraphicFramePr>
          <p:cNvPr id="444702" name="Group 28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1248033"/>
              </p:ext>
            </p:extLst>
          </p:nvPr>
        </p:nvGraphicFramePr>
        <p:xfrm>
          <a:off x="4538663" y="3646512"/>
          <a:ext cx="2841625" cy="2590800"/>
        </p:xfrm>
        <a:graphic>
          <a:graphicData uri="http://schemas.openxmlformats.org/drawingml/2006/table">
            <a:tbl>
              <a:tblPr/>
              <a:tblGrid>
                <a:gridCol w="1123950"/>
                <a:gridCol w="1717675"/>
              </a:tblGrid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 </a:t>
                      </a: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Arial Unicode MS" pitchFamily="34" charset="-122"/>
                          <a:ea typeface="Arial Unicode MS" pitchFamily="34" charset="-122"/>
                          <a:cs typeface="Arial Unicode MS" pitchFamily="34" charset="-122"/>
                        </a:rPr>
                        <a:t>⇄</a:t>
                      </a: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┐(P</a:t>
                      </a: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Arial Unicode MS" pitchFamily="34" charset="-122"/>
                          <a:ea typeface="Arial Unicode MS" pitchFamily="34" charset="-122"/>
                          <a:cs typeface="Arial Unicode MS" pitchFamily="34" charset="-122"/>
                        </a:rPr>
                        <a:t>⇄</a:t>
                      </a: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Q)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4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4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447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447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4481" grpId="0" autoUpdateAnimBg="0"/>
      <p:bldP spid="444578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365ECB4-5E35-4241-8F0E-CC7A8472246C}" type="slidenum">
              <a:rPr lang="en-US" altLang="zh-CN"/>
              <a:pPr>
                <a:defRPr/>
              </a:pPr>
              <a:t>28</a:t>
            </a:fld>
            <a:endParaRPr lang="en-US" altLang="zh-CN"/>
          </a:p>
        </p:txBody>
      </p:sp>
      <p:graphicFrame>
        <p:nvGraphicFramePr>
          <p:cNvPr id="501870" name="Group 110"/>
          <p:cNvGraphicFramePr>
            <a:graphicFrameLocks noGrp="1"/>
          </p:cNvGraphicFramePr>
          <p:nvPr/>
        </p:nvGraphicFramePr>
        <p:xfrm>
          <a:off x="3276600" y="2570163"/>
          <a:ext cx="2592388" cy="2590800"/>
        </p:xfrm>
        <a:graphic>
          <a:graphicData uri="http://schemas.openxmlformats.org/drawingml/2006/table">
            <a:tbl>
              <a:tblPr/>
              <a:tblGrid>
                <a:gridCol w="685800"/>
                <a:gridCol w="838200"/>
                <a:gridCol w="1068388"/>
              </a:tblGrid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命题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</a:tbl>
          </a:graphicData>
        </a:graphic>
      </p:graphicFrame>
      <p:sp>
        <p:nvSpPr>
          <p:cNvPr id="501799" name="Rectangle 39"/>
          <p:cNvSpPr>
            <a:spLocks noChangeArrowheads="1"/>
          </p:cNvSpPr>
          <p:nvPr/>
        </p:nvSpPr>
        <p:spPr bwMode="auto">
          <a:xfrm>
            <a:off x="1042988" y="1341438"/>
            <a:ext cx="4572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dirty="0">
                <a:solidFill>
                  <a:schemeClr val="hlink"/>
                </a:solidFill>
              </a:rPr>
              <a:t>例</a:t>
            </a:r>
            <a:r>
              <a:rPr kumimoji="1" lang="en-US" altLang="zh-CN" dirty="0">
                <a:solidFill>
                  <a:schemeClr val="hlink"/>
                </a:solidFill>
              </a:rPr>
              <a:t>3</a:t>
            </a:r>
            <a:r>
              <a:rPr kumimoji="1" lang="zh-CN" altLang="en-US" dirty="0">
                <a:solidFill>
                  <a:schemeClr val="hlink"/>
                </a:solidFill>
              </a:rPr>
              <a:t>：</a:t>
            </a:r>
            <a:r>
              <a:rPr kumimoji="1" lang="zh-CN" altLang="en-US" dirty="0"/>
              <a:t>虽聪明但不用功。</a:t>
            </a:r>
          </a:p>
        </p:txBody>
      </p:sp>
      <p:sp>
        <p:nvSpPr>
          <p:cNvPr id="501850" name="Rectangle 90"/>
          <p:cNvSpPr>
            <a:spLocks noChangeArrowheads="1"/>
          </p:cNvSpPr>
          <p:nvPr/>
        </p:nvSpPr>
        <p:spPr bwMode="auto">
          <a:xfrm>
            <a:off x="1085850" y="1960563"/>
            <a:ext cx="4572000" cy="1160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/>
              <a:t>P</a:t>
            </a:r>
            <a:r>
              <a:rPr kumimoji="1" lang="zh-CN" altLang="en-US"/>
              <a:t>：聪明 </a:t>
            </a:r>
            <a:r>
              <a:rPr kumimoji="1" lang="en-US" altLang="zh-CN"/>
              <a:t>Q</a:t>
            </a:r>
            <a:r>
              <a:rPr kumimoji="1" lang="zh-CN" altLang="en-US"/>
              <a:t>：用功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/>
              <a:t>P∧ ┐Q</a:t>
            </a:r>
          </a:p>
        </p:txBody>
      </p:sp>
      <p:graphicFrame>
        <p:nvGraphicFramePr>
          <p:cNvPr id="501923" name="Group 163"/>
          <p:cNvGraphicFramePr>
            <a:graphicFrameLocks noGrp="1"/>
          </p:cNvGraphicFramePr>
          <p:nvPr/>
        </p:nvGraphicFramePr>
        <p:xfrm>
          <a:off x="5867400" y="2570163"/>
          <a:ext cx="1570038" cy="2590800"/>
        </p:xfrm>
        <a:graphic>
          <a:graphicData uri="http://schemas.openxmlformats.org/drawingml/2006/table">
            <a:tbl>
              <a:tblPr/>
              <a:tblGrid>
                <a:gridCol w="1570038"/>
              </a:tblGrid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 </a:t>
                      </a: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∧</a:t>
                      </a: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┐Q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1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1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019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019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50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CDAC474-AE02-4CA3-91F0-AED4291DAD4E}" type="slidenum">
              <a:rPr lang="en-US" altLang="zh-CN"/>
              <a:pPr>
                <a:defRPr/>
              </a:pPr>
              <a:t>29</a:t>
            </a:fld>
            <a:endParaRPr lang="en-US" altLang="zh-CN"/>
          </a:p>
        </p:txBody>
      </p:sp>
      <p:sp>
        <p:nvSpPr>
          <p:cNvPr id="37891" name="Text Box 2"/>
          <p:cNvSpPr txBox="1">
            <a:spLocks noChangeArrowheads="1"/>
          </p:cNvSpPr>
          <p:nvPr/>
        </p:nvSpPr>
        <p:spPr bwMode="auto">
          <a:xfrm>
            <a:off x="719138" y="1685925"/>
            <a:ext cx="3168650" cy="11523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kumimoji="1" lang="zh-CN" altLang="en-US">
                <a:solidFill>
                  <a:schemeClr val="hlink"/>
                </a:solidFill>
              </a:rPr>
              <a:t>例</a:t>
            </a:r>
            <a:r>
              <a:rPr kumimoji="1" lang="en-US" altLang="zh-CN">
                <a:solidFill>
                  <a:schemeClr val="hlink"/>
                </a:solidFill>
              </a:rPr>
              <a:t>4</a:t>
            </a:r>
            <a:r>
              <a:rPr kumimoji="1" lang="zh-CN" altLang="en-US">
                <a:solidFill>
                  <a:schemeClr val="hlink"/>
                </a:solidFill>
              </a:rPr>
              <a:t>：</a:t>
            </a:r>
            <a:r>
              <a:rPr kumimoji="1" lang="zh-CN" altLang="en-US"/>
              <a:t> 今天我上班</a:t>
            </a:r>
            <a:r>
              <a:rPr kumimoji="1" lang="en-US" altLang="zh-CN"/>
              <a:t>, </a:t>
            </a:r>
            <a:r>
              <a:rPr kumimoji="1" lang="zh-CN" altLang="en-US"/>
              <a:t>除非今天我病了。</a:t>
            </a:r>
          </a:p>
        </p:txBody>
      </p:sp>
      <p:graphicFrame>
        <p:nvGraphicFramePr>
          <p:cNvPr id="445573" name="Group 133"/>
          <p:cNvGraphicFramePr>
            <a:graphicFrameLocks noGrp="1"/>
          </p:cNvGraphicFramePr>
          <p:nvPr/>
        </p:nvGraphicFramePr>
        <p:xfrm>
          <a:off x="3927475" y="1685925"/>
          <a:ext cx="2187575" cy="2655961"/>
        </p:xfrm>
        <a:graphic>
          <a:graphicData uri="http://schemas.openxmlformats.org/drawingml/2006/table">
            <a:tbl>
              <a:tblPr/>
              <a:tblGrid>
                <a:gridCol w="598488"/>
                <a:gridCol w="690562"/>
                <a:gridCol w="898525"/>
              </a:tblGrid>
              <a:tr h="51812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Q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命题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5571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54441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51812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51812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</a:tbl>
          </a:graphicData>
        </a:graphic>
      </p:graphicFrame>
      <p:sp>
        <p:nvSpPr>
          <p:cNvPr id="445553" name="Rectangle 113"/>
          <p:cNvSpPr>
            <a:spLocks noChangeArrowheads="1"/>
          </p:cNvSpPr>
          <p:nvPr/>
        </p:nvSpPr>
        <p:spPr bwMode="auto">
          <a:xfrm>
            <a:off x="719138" y="2792240"/>
            <a:ext cx="3059112" cy="2332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kumimoji="1" lang="en-US" altLang="zh-CN" dirty="0"/>
              <a:t>P</a:t>
            </a:r>
            <a:r>
              <a:rPr kumimoji="1" lang="zh-CN" altLang="en-US" dirty="0"/>
              <a:t>：今天我病</a:t>
            </a:r>
            <a:r>
              <a:rPr kumimoji="1" lang="zh-CN" altLang="en-US" dirty="0" smtClean="0"/>
              <a:t>了</a:t>
            </a:r>
            <a:endParaRPr kumimoji="1" lang="en-US" altLang="zh-CN" dirty="0" smtClean="0"/>
          </a:p>
          <a:p>
            <a:pPr eaLnBrk="1" hangingPunct="1">
              <a:lnSpc>
                <a:spcPct val="13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kumimoji="1" lang="en-US" altLang="zh-CN" dirty="0" smtClean="0"/>
              <a:t>Q</a:t>
            </a:r>
            <a:r>
              <a:rPr kumimoji="1" lang="zh-CN" altLang="en-US" dirty="0"/>
              <a:t>：今天我上班</a:t>
            </a:r>
          </a:p>
          <a:p>
            <a:pPr eaLnBrk="1" hangingPunct="1">
              <a:lnSpc>
                <a:spcPct val="13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kumimoji="1" lang="zh-CN" altLang="en-US" dirty="0"/>
              <a:t>┐</a:t>
            </a:r>
            <a:r>
              <a:rPr kumimoji="1" lang="en-US" altLang="zh-CN" dirty="0"/>
              <a:t>P→</a:t>
            </a:r>
            <a:r>
              <a:rPr kumimoji="1" lang="en-US" altLang="zh-CN" dirty="0" smtClean="0"/>
              <a:t>Q</a:t>
            </a:r>
          </a:p>
          <a:p>
            <a:pPr eaLnBrk="1" hangingPunct="1">
              <a:lnSpc>
                <a:spcPct val="130000"/>
              </a:lnSpc>
              <a:spcBef>
                <a:spcPts val="0"/>
              </a:spcBef>
              <a:buClrTx/>
              <a:buSzTx/>
              <a:buNone/>
            </a:pPr>
            <a:r>
              <a:rPr kumimoji="1" lang="zh-CN" altLang="en-US" dirty="0" smtClean="0"/>
              <a:t>┐</a:t>
            </a:r>
            <a:r>
              <a:rPr kumimoji="1" lang="en-US" altLang="zh-CN" dirty="0" smtClean="0"/>
              <a:t>Q→</a:t>
            </a:r>
            <a:r>
              <a:rPr kumimoji="1" lang="en-US" altLang="zh-CN" dirty="0"/>
              <a:t>P</a:t>
            </a:r>
          </a:p>
        </p:txBody>
      </p:sp>
      <p:graphicFrame>
        <p:nvGraphicFramePr>
          <p:cNvPr id="445646" name="Group 206"/>
          <p:cNvGraphicFramePr>
            <a:graphicFrameLocks noGrp="1"/>
          </p:cNvGraphicFramePr>
          <p:nvPr/>
        </p:nvGraphicFramePr>
        <p:xfrm>
          <a:off x="6113463" y="1697038"/>
          <a:ext cx="2297112" cy="2655961"/>
        </p:xfrm>
        <a:graphic>
          <a:graphicData uri="http://schemas.openxmlformats.org/drawingml/2006/table">
            <a:tbl>
              <a:tblPr/>
              <a:tblGrid>
                <a:gridCol w="904875"/>
                <a:gridCol w="1392237"/>
              </a:tblGrid>
              <a:tr h="51811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┐P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┐P</a:t>
                      </a: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→Q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5571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54441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51811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51811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5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456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456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555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1E24DE8-8DDC-46D2-95FA-A1C646766492}" type="slidenum">
              <a:rPr lang="en-US" altLang="zh-CN"/>
              <a:pPr>
                <a:defRPr/>
              </a:pPr>
              <a:t>30</a:t>
            </a:fld>
            <a:endParaRPr lang="en-US" altLang="zh-CN"/>
          </a:p>
        </p:txBody>
      </p:sp>
      <p:sp>
        <p:nvSpPr>
          <p:cNvPr id="26627" name="Rectangle 2"/>
          <p:cNvSpPr>
            <a:spLocks noChangeArrowheads="1"/>
          </p:cNvSpPr>
          <p:nvPr/>
        </p:nvSpPr>
        <p:spPr bwMode="auto">
          <a:xfrm>
            <a:off x="719138" y="1215702"/>
            <a:ext cx="7916862" cy="12126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dirty="0"/>
              <a:t>       </a:t>
            </a:r>
            <a:r>
              <a:rPr lang="zh-CN" altLang="en-US" dirty="0"/>
              <a:t>根据命题的符号表示法和联结词，给出一个命题，我们可以把它符号化。</a:t>
            </a:r>
          </a:p>
        </p:txBody>
      </p:sp>
      <p:sp>
        <p:nvSpPr>
          <p:cNvPr id="650243" name="Rectangle 3"/>
          <p:cNvSpPr>
            <a:spLocks noChangeArrowheads="1"/>
          </p:cNvSpPr>
          <p:nvPr/>
        </p:nvSpPr>
        <p:spPr bwMode="auto">
          <a:xfrm>
            <a:off x="719138" y="2367433"/>
            <a:ext cx="7916862" cy="3725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dirty="0">
                <a:solidFill>
                  <a:schemeClr val="hlink"/>
                </a:solidFill>
              </a:rPr>
              <a:t>练习：</a:t>
            </a:r>
            <a:r>
              <a:rPr lang="zh-CN" altLang="en-US" dirty="0"/>
              <a:t>把下列命题符号化</a:t>
            </a:r>
            <a:endParaRPr lang="zh-CN" altLang="en-US" dirty="0">
              <a:solidFill>
                <a:schemeClr val="hlink"/>
              </a:solidFill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dirty="0"/>
              <a:t>      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en-US" altLang="zh-CN" dirty="0"/>
              <a:t>2+3</a:t>
            </a:r>
            <a:r>
              <a:rPr lang="zh-CN" altLang="en-US" dirty="0"/>
              <a:t>不大于</a:t>
            </a:r>
            <a:r>
              <a:rPr lang="en-US" altLang="zh-CN" dirty="0"/>
              <a:t>1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dirty="0"/>
              <a:t>      </a:t>
            </a: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）天气炎热且正在下雨。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dirty="0"/>
              <a:t>      （</a:t>
            </a:r>
            <a:r>
              <a:rPr lang="en-US" altLang="zh-CN" dirty="0"/>
              <a:t>3</a:t>
            </a:r>
            <a:r>
              <a:rPr lang="zh-CN" altLang="en-US" dirty="0"/>
              <a:t>）气候很好或很热。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dirty="0"/>
              <a:t>      （</a:t>
            </a:r>
            <a:r>
              <a:rPr lang="en-US" altLang="zh-CN" dirty="0"/>
              <a:t>4</a:t>
            </a:r>
            <a:r>
              <a:rPr lang="zh-CN" altLang="en-US" dirty="0"/>
              <a:t>）如果</a:t>
            </a:r>
            <a:r>
              <a:rPr lang="en-US" altLang="zh-CN" dirty="0"/>
              <a:t>a</a:t>
            </a:r>
            <a:r>
              <a:rPr lang="zh-CN" altLang="en-US" dirty="0"/>
              <a:t>和</a:t>
            </a:r>
            <a:r>
              <a:rPr lang="en-US" altLang="zh-CN" dirty="0"/>
              <a:t>b</a:t>
            </a:r>
            <a:r>
              <a:rPr lang="zh-CN" altLang="en-US" dirty="0"/>
              <a:t>是偶数，则</a:t>
            </a:r>
            <a:r>
              <a:rPr lang="en-US" altLang="zh-CN" dirty="0" err="1"/>
              <a:t>a+b</a:t>
            </a:r>
            <a:r>
              <a:rPr lang="zh-CN" altLang="en-US" dirty="0"/>
              <a:t>是偶数。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dirty="0"/>
              <a:t>      （</a:t>
            </a:r>
            <a:r>
              <a:rPr lang="en-US" altLang="zh-CN" dirty="0"/>
              <a:t>5</a:t>
            </a:r>
            <a:r>
              <a:rPr lang="zh-CN" altLang="en-US" dirty="0"/>
              <a:t>）</a:t>
            </a:r>
            <a:r>
              <a:rPr lang="en-US" altLang="zh-CN" dirty="0"/>
              <a:t>n</a:t>
            </a:r>
            <a:r>
              <a:rPr lang="zh-CN" altLang="en-US" dirty="0"/>
              <a:t>是偶数当且仅当</a:t>
            </a:r>
            <a:r>
              <a:rPr lang="en-US" altLang="zh-CN" dirty="0">
                <a:ea typeface="ˎ̥" charset="0"/>
                <a:cs typeface="宋体" pitchFamily="2" charset="-122"/>
              </a:rPr>
              <a:t>n</a:t>
            </a:r>
            <a:r>
              <a:rPr lang="en-US" altLang="zh-CN" baseline="30000" dirty="0">
                <a:ea typeface="ˎ̥" charset="0"/>
                <a:cs typeface="宋体" pitchFamily="2" charset="-122"/>
              </a:rPr>
              <a:t>2</a:t>
            </a:r>
            <a:r>
              <a:rPr lang="en-US" altLang="zh-CN" dirty="0"/>
              <a:t> </a:t>
            </a:r>
            <a:r>
              <a:rPr lang="zh-CN" altLang="en-US" dirty="0"/>
              <a:t>是偶数。</a:t>
            </a:r>
          </a:p>
        </p:txBody>
      </p:sp>
    </p:spTree>
    <p:extLst>
      <p:ext uri="{BB962C8B-B14F-4D97-AF65-F5344CB8AC3E}">
        <p14:creationId xmlns:p14="http://schemas.microsoft.com/office/powerpoint/2010/main" val="1137562807"/>
      </p:ext>
    </p:extLst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024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B350910-A8D4-49B1-BE6F-DA40D4D073A1}" type="slidenum">
              <a:rPr lang="en-US" altLang="zh-CN"/>
              <a:pPr>
                <a:defRPr/>
              </a:pPr>
              <a:t>31</a:t>
            </a:fld>
            <a:endParaRPr lang="en-US" altLang="zh-CN"/>
          </a:p>
        </p:txBody>
      </p:sp>
      <p:sp>
        <p:nvSpPr>
          <p:cNvPr id="27651" name="Text Box 2"/>
          <p:cNvSpPr txBox="1">
            <a:spLocks noChangeArrowheads="1"/>
          </p:cNvSpPr>
          <p:nvPr/>
        </p:nvSpPr>
        <p:spPr bwMode="auto">
          <a:xfrm>
            <a:off x="900113" y="1484784"/>
            <a:ext cx="7632700" cy="45735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914400" indent="-45720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371600" indent="-4572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828800" indent="-4572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indent="-4572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ts val="0"/>
              </a:spcBef>
              <a:buClrTx/>
              <a:buSzTx/>
              <a:buFontTx/>
              <a:buAutoNum type="arabicPeriod"/>
            </a:pPr>
            <a:r>
              <a:rPr kumimoji="1" lang="zh-CN" altLang="en-US" dirty="0"/>
              <a:t>命题分为：原子命题、复合命题。</a:t>
            </a:r>
          </a:p>
          <a:p>
            <a:pPr eaLnBrk="1" hangingPunct="1">
              <a:lnSpc>
                <a:spcPct val="130000"/>
              </a:lnSpc>
              <a:spcBef>
                <a:spcPts val="0"/>
              </a:spcBef>
              <a:buClrTx/>
              <a:buSzTx/>
              <a:buFontTx/>
              <a:buAutoNum type="arabicPeriod"/>
            </a:pPr>
            <a:r>
              <a:rPr kumimoji="1" lang="zh-CN" altLang="en-US" dirty="0"/>
              <a:t>复合命题的真值，取决于原子命题的真值，与原子命题之间是否有关系无关，与复合命题本身内容、含义无关。</a:t>
            </a:r>
          </a:p>
          <a:p>
            <a:pPr eaLnBrk="1" hangingPunct="1">
              <a:lnSpc>
                <a:spcPct val="130000"/>
              </a:lnSpc>
              <a:spcBef>
                <a:spcPts val="0"/>
              </a:spcBef>
              <a:buClrTx/>
              <a:buSzTx/>
              <a:buFontTx/>
              <a:buAutoNum type="arabicPeriod"/>
            </a:pPr>
            <a:r>
              <a:rPr kumimoji="1" lang="zh-CN" altLang="en-US" dirty="0"/>
              <a:t>∧、∨</a:t>
            </a:r>
            <a:r>
              <a:rPr kumimoji="1" lang="zh-CN" altLang="en-US" dirty="0" smtClean="0"/>
              <a:t>、</a:t>
            </a:r>
            <a:r>
              <a:rPr kumimoji="1" lang="zh-CN" altLang="en-US" dirty="0" smtClean="0">
                <a:latin typeface="Arial Unicode MS" pitchFamily="34" charset="-122"/>
                <a:ea typeface="Arial Unicode MS" pitchFamily="34" charset="-122"/>
                <a:cs typeface="Arial Unicode MS" pitchFamily="34" charset="-122"/>
                <a:sym typeface="Symbol" pitchFamily="18" charset="2"/>
              </a:rPr>
              <a:t>⇄</a:t>
            </a:r>
            <a:r>
              <a:rPr kumimoji="1" lang="zh-CN" altLang="en-US" dirty="0" smtClean="0"/>
              <a:t>具有</a:t>
            </a:r>
            <a:r>
              <a:rPr kumimoji="1" lang="zh-CN" altLang="en-US" dirty="0"/>
              <a:t>对称性， ┐、→没有。</a:t>
            </a:r>
          </a:p>
          <a:p>
            <a:pPr eaLnBrk="1" hangingPunct="1">
              <a:lnSpc>
                <a:spcPct val="130000"/>
              </a:lnSpc>
              <a:spcBef>
                <a:spcPts val="0"/>
              </a:spcBef>
              <a:buClrTx/>
              <a:buSzTx/>
              <a:buFontTx/>
              <a:buAutoNum type="arabicPeriod"/>
            </a:pPr>
            <a:r>
              <a:rPr kumimoji="1" lang="zh-CN" altLang="en-US" dirty="0"/>
              <a:t>联结词具有运算和操作性，从已知命题得到新命题</a:t>
            </a:r>
            <a:r>
              <a:rPr kumimoji="1" lang="zh-CN" altLang="en-US" dirty="0" smtClean="0"/>
              <a:t>。</a:t>
            </a:r>
            <a:endParaRPr kumimoji="1" lang="en-US" altLang="zh-CN" dirty="0" smtClean="0"/>
          </a:p>
          <a:p>
            <a:pPr eaLnBrk="1" hangingPunct="1">
              <a:lnSpc>
                <a:spcPct val="130000"/>
              </a:lnSpc>
              <a:spcBef>
                <a:spcPts val="0"/>
              </a:spcBef>
              <a:buClrTx/>
              <a:buSzTx/>
              <a:buFontTx/>
              <a:buAutoNum type="arabicPeriod"/>
            </a:pPr>
            <a:r>
              <a:rPr kumimoji="1" lang="zh-CN" altLang="en-US" dirty="0" smtClean="0"/>
              <a:t>如何判断命题公式和翻译命题公式。</a:t>
            </a:r>
          </a:p>
        </p:txBody>
      </p:sp>
      <p:sp>
        <p:nvSpPr>
          <p:cNvPr id="27652" name="Rectangle 3"/>
          <p:cNvSpPr>
            <a:spLocks noChangeArrowheads="1"/>
          </p:cNvSpPr>
          <p:nvPr/>
        </p:nvSpPr>
        <p:spPr bwMode="auto">
          <a:xfrm>
            <a:off x="3492500" y="598488"/>
            <a:ext cx="17716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sz="4000">
                <a:solidFill>
                  <a:schemeClr val="folHlink"/>
                </a:solidFill>
                <a:ea typeface="华文行楷" pitchFamily="2" charset="-122"/>
              </a:rPr>
              <a:t>小结</a:t>
            </a:r>
          </a:p>
        </p:txBody>
      </p:sp>
    </p:spTree>
    <p:extLst>
      <p:ext uri="{BB962C8B-B14F-4D97-AF65-F5344CB8AC3E}">
        <p14:creationId xmlns:p14="http://schemas.microsoft.com/office/powerpoint/2010/main" val="3604752975"/>
      </p:ext>
    </p:extLst>
  </p:cSld>
  <p:clrMapOvr>
    <a:masterClrMapping/>
  </p:clrMapOvr>
  <p:transition spd="slow">
    <p:pull dir="ru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6D63B3B-D648-432D-9351-93D8CD2DF373}" type="slidenum">
              <a:rPr lang="en-US" altLang="zh-CN"/>
              <a:pPr>
                <a:defRPr/>
              </a:pPr>
              <a:t>32</a:t>
            </a:fld>
            <a:endParaRPr lang="en-US" altLang="zh-CN"/>
          </a:p>
        </p:txBody>
      </p:sp>
      <p:sp>
        <p:nvSpPr>
          <p:cNvPr id="28675" name="Rectangle 2"/>
          <p:cNvSpPr>
            <a:spLocks noChangeArrowheads="1"/>
          </p:cNvSpPr>
          <p:nvPr/>
        </p:nvSpPr>
        <p:spPr bwMode="auto">
          <a:xfrm>
            <a:off x="899592" y="1989138"/>
            <a:ext cx="7200900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3200" dirty="0">
                <a:latin typeface="Tahoma" pitchFamily="34" charset="0"/>
              </a:rPr>
              <a:t>作业：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3200" dirty="0">
                <a:latin typeface="Tahoma" pitchFamily="34" charset="0"/>
              </a:rPr>
              <a:t>        </a:t>
            </a:r>
            <a:r>
              <a:rPr lang="en-US" altLang="zh-CN" sz="3200" dirty="0"/>
              <a:t>P8 (1</a:t>
            </a:r>
            <a:r>
              <a:rPr lang="en-US" altLang="zh-CN" sz="3200" dirty="0" smtClean="0"/>
              <a:t>)</a:t>
            </a:r>
            <a:r>
              <a:rPr lang="zh-CN" altLang="en-US" sz="3200" dirty="0" smtClean="0"/>
              <a:t>，</a:t>
            </a:r>
            <a:r>
              <a:rPr lang="en-US" altLang="zh-CN" sz="3200" dirty="0" smtClean="0"/>
              <a:t>(3) </a:t>
            </a:r>
            <a:r>
              <a:rPr lang="zh-CN" altLang="en-US" sz="3200" dirty="0" smtClean="0"/>
              <a:t>，</a:t>
            </a:r>
            <a:r>
              <a:rPr lang="en-US" altLang="zh-CN" sz="3200" dirty="0" smtClean="0"/>
              <a:t>P12(5)</a:t>
            </a:r>
            <a:endParaRPr lang="en-US" altLang="en-US" sz="3200" dirty="0"/>
          </a:p>
        </p:txBody>
      </p:sp>
    </p:spTree>
    <p:extLst>
      <p:ext uri="{BB962C8B-B14F-4D97-AF65-F5344CB8AC3E}">
        <p14:creationId xmlns:p14="http://schemas.microsoft.com/office/powerpoint/2010/main" val="920501033"/>
      </p:ext>
    </p:extLst>
  </p:cSld>
  <p:clrMapOvr>
    <a:masterClrMapping/>
  </p:clrMapOvr>
  <p:transition spd="slow">
    <p:pull dir="ru"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B350910-A8D4-49B1-BE6F-DA40D4D073A1}" type="slidenum">
              <a:rPr lang="en-US" altLang="zh-CN"/>
              <a:pPr>
                <a:defRPr/>
              </a:pPr>
              <a:t>33</a:t>
            </a:fld>
            <a:endParaRPr lang="en-US" altLang="zh-CN"/>
          </a:p>
        </p:txBody>
      </p:sp>
      <p:sp>
        <p:nvSpPr>
          <p:cNvPr id="27651" name="Text Box 2"/>
          <p:cNvSpPr txBox="1">
            <a:spLocks noChangeArrowheads="1"/>
          </p:cNvSpPr>
          <p:nvPr/>
        </p:nvSpPr>
        <p:spPr bwMode="auto">
          <a:xfrm>
            <a:off x="900113" y="1484784"/>
            <a:ext cx="7632700" cy="2332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914400" indent="-45720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371600" indent="-4572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828800" indent="-4572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indent="-4572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ts val="0"/>
              </a:spcBef>
              <a:buClrTx/>
              <a:buSzTx/>
              <a:buFontTx/>
              <a:buAutoNum type="arabicPeriod"/>
            </a:pPr>
            <a:r>
              <a:rPr kumimoji="1" lang="zh-CN" altLang="en-US" dirty="0" smtClean="0"/>
              <a:t>命题</a:t>
            </a:r>
            <a:r>
              <a:rPr kumimoji="1" lang="en-US" altLang="zh-CN" dirty="0" smtClean="0"/>
              <a:t>——</a:t>
            </a:r>
            <a:r>
              <a:rPr kumimoji="1" lang="zh-CN" altLang="en-US" dirty="0" smtClean="0"/>
              <a:t>基本概念，判断是否是命题</a:t>
            </a:r>
            <a:endParaRPr kumimoji="1" lang="en-US" altLang="zh-CN" dirty="0" smtClean="0"/>
          </a:p>
          <a:p>
            <a:pPr eaLnBrk="1" hangingPunct="1">
              <a:lnSpc>
                <a:spcPct val="130000"/>
              </a:lnSpc>
              <a:spcBef>
                <a:spcPts val="0"/>
              </a:spcBef>
              <a:buClrTx/>
              <a:buSzTx/>
              <a:buFontTx/>
              <a:buAutoNum type="arabicPeriod"/>
            </a:pPr>
            <a:r>
              <a:rPr kumimoji="1" lang="zh-CN" altLang="en-US" dirty="0" smtClean="0"/>
              <a:t>联结词</a:t>
            </a:r>
            <a:r>
              <a:rPr kumimoji="1" lang="en-US" altLang="zh-CN" dirty="0" smtClean="0"/>
              <a:t>——</a:t>
            </a:r>
            <a:r>
              <a:rPr kumimoji="1" lang="zh-CN" altLang="en-US" dirty="0" smtClean="0"/>
              <a:t>否定，合取，析取，条件，双条件</a:t>
            </a:r>
            <a:endParaRPr kumimoji="1" lang="en-US" altLang="zh-CN" dirty="0" smtClean="0"/>
          </a:p>
          <a:p>
            <a:pPr eaLnBrk="1" hangingPunct="1">
              <a:lnSpc>
                <a:spcPct val="130000"/>
              </a:lnSpc>
              <a:spcBef>
                <a:spcPts val="0"/>
              </a:spcBef>
              <a:buClrTx/>
              <a:buSzTx/>
              <a:buFontTx/>
              <a:buAutoNum type="arabicPeriod"/>
            </a:pPr>
            <a:r>
              <a:rPr kumimoji="1" lang="zh-CN" altLang="en-US" dirty="0" smtClean="0"/>
              <a:t>命题</a:t>
            </a:r>
            <a:r>
              <a:rPr kumimoji="1" lang="zh-CN" altLang="en-US" dirty="0"/>
              <a:t>公式</a:t>
            </a:r>
            <a:r>
              <a:rPr kumimoji="1" lang="zh-CN" altLang="en-US" dirty="0" smtClean="0"/>
              <a:t>翻译</a:t>
            </a:r>
            <a:r>
              <a:rPr kumimoji="1" lang="en-US" altLang="zh-CN" dirty="0" smtClean="0"/>
              <a:t>——</a:t>
            </a:r>
            <a:r>
              <a:rPr kumimoji="1" lang="zh-CN" altLang="en-US" dirty="0" smtClean="0"/>
              <a:t>原子命题，找联结词。</a:t>
            </a:r>
          </a:p>
        </p:txBody>
      </p:sp>
      <p:sp>
        <p:nvSpPr>
          <p:cNvPr id="27652" name="Rectangle 3"/>
          <p:cNvSpPr>
            <a:spLocks noChangeArrowheads="1"/>
          </p:cNvSpPr>
          <p:nvPr/>
        </p:nvSpPr>
        <p:spPr bwMode="auto">
          <a:xfrm>
            <a:off x="3492500" y="598488"/>
            <a:ext cx="17716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sz="4000" dirty="0" smtClean="0">
                <a:solidFill>
                  <a:schemeClr val="folHlink"/>
                </a:solidFill>
                <a:ea typeface="华文行楷" pitchFamily="2" charset="-122"/>
              </a:rPr>
              <a:t>复习</a:t>
            </a:r>
            <a:endParaRPr kumimoji="1" lang="zh-CN" altLang="en-US" sz="4000" dirty="0">
              <a:solidFill>
                <a:schemeClr val="folHlink"/>
              </a:solidFill>
              <a:ea typeface="华文行楷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74682591"/>
      </p:ext>
    </p:extLst>
  </p:cSld>
  <p:clrMapOvr>
    <a:masterClrMapping/>
  </p:clrMapOvr>
  <p:transition spd="slow">
    <p:pull dir="ru"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EF4E01F-9F4F-4DCB-BB3D-B3B15F1DB47F}" type="slidenum">
              <a:rPr lang="en-US" altLang="zh-CN"/>
              <a:pPr>
                <a:defRPr/>
              </a:pPr>
              <a:t>34</a:t>
            </a:fld>
            <a:endParaRPr lang="en-US" altLang="zh-CN"/>
          </a:p>
        </p:txBody>
      </p:sp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>
          <a:xfrm>
            <a:off x="1403350" y="476250"/>
            <a:ext cx="6408738" cy="719138"/>
          </a:xfrm>
        </p:spPr>
        <p:txBody>
          <a:bodyPr/>
          <a:lstStyle/>
          <a:p>
            <a:pPr eaLnBrk="1" hangingPunct="1"/>
            <a:r>
              <a:rPr lang="en-US" altLang="zh-CN" sz="3600" b="1" smtClean="0">
                <a:solidFill>
                  <a:schemeClr val="tx1"/>
                </a:solidFill>
                <a:latin typeface="华文行楷" pitchFamily="2" charset="-122"/>
              </a:rPr>
              <a:t>1-4  </a:t>
            </a:r>
            <a:r>
              <a:rPr lang="zh-CN" altLang="en-US" sz="3600" b="1" smtClean="0">
                <a:solidFill>
                  <a:schemeClr val="tx1"/>
                </a:solidFill>
                <a:latin typeface="华文行楷" pitchFamily="2" charset="-122"/>
              </a:rPr>
              <a:t>真值表与等价式</a:t>
            </a:r>
          </a:p>
        </p:txBody>
      </p:sp>
      <p:graphicFrame>
        <p:nvGraphicFramePr>
          <p:cNvPr id="442750" name="Group 382"/>
          <p:cNvGraphicFramePr>
            <a:graphicFrameLocks noGrp="1"/>
          </p:cNvGraphicFramePr>
          <p:nvPr/>
        </p:nvGraphicFramePr>
        <p:xfrm>
          <a:off x="2484438" y="3789363"/>
          <a:ext cx="1366837" cy="2665485"/>
        </p:xfrm>
        <a:graphic>
          <a:graphicData uri="http://schemas.openxmlformats.org/drawingml/2006/table">
            <a:tbl>
              <a:tblPr/>
              <a:tblGrid>
                <a:gridCol w="685800"/>
                <a:gridCol w="681037"/>
              </a:tblGrid>
              <a:tr h="5761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Q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51812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51812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51812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53489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</a:tbl>
          </a:graphicData>
        </a:graphic>
      </p:graphicFrame>
      <p:sp>
        <p:nvSpPr>
          <p:cNvPr id="38936" name="Rectangle 139"/>
          <p:cNvSpPr>
            <a:spLocks noChangeArrowheads="1"/>
          </p:cNvSpPr>
          <p:nvPr/>
        </p:nvSpPr>
        <p:spPr bwMode="auto">
          <a:xfrm>
            <a:off x="611560" y="1209675"/>
            <a:ext cx="799269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sz="3200" dirty="0">
                <a:solidFill>
                  <a:schemeClr val="folHlink"/>
                </a:solidFill>
                <a:ea typeface="楷体_GB2312" pitchFamily="49" charset="-122"/>
              </a:rPr>
              <a:t>一、真值表</a:t>
            </a:r>
            <a:r>
              <a:rPr kumimoji="1" lang="zh-CN" altLang="en-US" dirty="0">
                <a:solidFill>
                  <a:schemeClr val="hlink"/>
                </a:solidFill>
              </a:rPr>
              <a:t>        </a:t>
            </a:r>
            <a:endParaRPr kumimoji="1" lang="zh-CN" altLang="en-US" dirty="0"/>
          </a:p>
        </p:txBody>
      </p:sp>
      <p:sp>
        <p:nvSpPr>
          <p:cNvPr id="442509" name="Rectangle 141"/>
          <p:cNvSpPr>
            <a:spLocks noChangeArrowheads="1"/>
          </p:cNvSpPr>
          <p:nvPr/>
        </p:nvSpPr>
        <p:spPr bwMode="auto">
          <a:xfrm>
            <a:off x="611560" y="3213100"/>
            <a:ext cx="480181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dirty="0">
                <a:solidFill>
                  <a:schemeClr val="hlink"/>
                </a:solidFill>
              </a:rPr>
              <a:t>例</a:t>
            </a:r>
            <a:r>
              <a:rPr kumimoji="1" lang="en-US" altLang="zh-CN" dirty="0">
                <a:solidFill>
                  <a:schemeClr val="hlink"/>
                </a:solidFill>
              </a:rPr>
              <a:t>1</a:t>
            </a:r>
            <a:r>
              <a:rPr kumimoji="1" lang="zh-CN" altLang="en-US" dirty="0">
                <a:solidFill>
                  <a:schemeClr val="hlink"/>
                </a:solidFill>
              </a:rPr>
              <a:t>：</a:t>
            </a:r>
            <a:r>
              <a:rPr kumimoji="1" lang="zh-CN" altLang="en-US" dirty="0"/>
              <a:t>构造┐</a:t>
            </a:r>
            <a:r>
              <a:rPr kumimoji="1" lang="en-US" altLang="zh-CN" dirty="0"/>
              <a:t>P</a:t>
            </a:r>
            <a:r>
              <a:rPr kumimoji="1" lang="en-US" altLang="en-US" dirty="0"/>
              <a:t>→</a:t>
            </a:r>
            <a:r>
              <a:rPr kumimoji="1" lang="en-US" altLang="zh-CN" dirty="0"/>
              <a:t>Q</a:t>
            </a:r>
            <a:r>
              <a:rPr kumimoji="1" lang="zh-CN" altLang="en-US" dirty="0"/>
              <a:t>的真值表</a:t>
            </a:r>
          </a:p>
        </p:txBody>
      </p:sp>
      <p:sp>
        <p:nvSpPr>
          <p:cNvPr id="442534" name="Rectangle 166"/>
          <p:cNvSpPr>
            <a:spLocks noChangeArrowheads="1"/>
          </p:cNvSpPr>
          <p:nvPr/>
        </p:nvSpPr>
        <p:spPr bwMode="auto">
          <a:xfrm>
            <a:off x="611560" y="1785938"/>
            <a:ext cx="7848228" cy="1373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dirty="0">
                <a:solidFill>
                  <a:schemeClr val="hlink"/>
                </a:solidFill>
              </a:rPr>
              <a:t>         </a:t>
            </a:r>
            <a:r>
              <a:rPr kumimoji="1" lang="zh-CN" altLang="en-US" dirty="0">
                <a:solidFill>
                  <a:schemeClr val="hlink"/>
                </a:solidFill>
              </a:rPr>
              <a:t>定义</a:t>
            </a:r>
            <a:r>
              <a:rPr kumimoji="1" lang="en-US" altLang="zh-CN" dirty="0">
                <a:solidFill>
                  <a:schemeClr val="hlink"/>
                </a:solidFill>
              </a:rPr>
              <a:t>1-4.1</a:t>
            </a:r>
            <a:r>
              <a:rPr kumimoji="1" lang="zh-CN" altLang="en-US" dirty="0">
                <a:solidFill>
                  <a:schemeClr val="hlink"/>
                </a:solidFill>
              </a:rPr>
              <a:t>：</a:t>
            </a:r>
            <a:r>
              <a:rPr kumimoji="1" lang="zh-CN" altLang="en-US" dirty="0"/>
              <a:t>对公式中命题变元的每一种可能的真值指派，以及由此确定出的命题公式的真值所列成的表，称为命题公式的真值表。</a:t>
            </a:r>
          </a:p>
        </p:txBody>
      </p:sp>
      <p:graphicFrame>
        <p:nvGraphicFramePr>
          <p:cNvPr id="442751" name="Group 383"/>
          <p:cNvGraphicFramePr>
            <a:graphicFrameLocks noGrp="1"/>
          </p:cNvGraphicFramePr>
          <p:nvPr/>
        </p:nvGraphicFramePr>
        <p:xfrm>
          <a:off x="3851275" y="3789363"/>
          <a:ext cx="820738" cy="2660723"/>
        </p:xfrm>
        <a:graphic>
          <a:graphicData uri="http://schemas.openxmlformats.org/drawingml/2006/table">
            <a:tbl>
              <a:tblPr/>
              <a:tblGrid>
                <a:gridCol w="820738"/>
              </a:tblGrid>
              <a:tr h="5761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┐P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51812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51812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51812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5301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42752" name="Group 384"/>
          <p:cNvGraphicFramePr>
            <a:graphicFrameLocks noGrp="1"/>
          </p:cNvGraphicFramePr>
          <p:nvPr/>
        </p:nvGraphicFramePr>
        <p:xfrm>
          <a:off x="4672013" y="3789363"/>
          <a:ext cx="1403350" cy="2660723"/>
        </p:xfrm>
        <a:graphic>
          <a:graphicData uri="http://schemas.openxmlformats.org/drawingml/2006/table">
            <a:tbl>
              <a:tblPr/>
              <a:tblGrid>
                <a:gridCol w="1403350"/>
              </a:tblGrid>
              <a:tr h="5761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┐P→Q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51812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51812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51812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5301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2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2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427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427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427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427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2509" grpId="0" autoUpdateAnimBg="0"/>
      <p:bldP spid="442534" grpId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982DFF1-C5F9-4966-BAF8-390344EC4A20}" type="slidenum">
              <a:rPr lang="en-US" altLang="zh-CN"/>
              <a:pPr>
                <a:defRPr/>
              </a:pPr>
              <a:t>35</a:t>
            </a:fld>
            <a:endParaRPr lang="en-US" altLang="zh-CN"/>
          </a:p>
        </p:txBody>
      </p:sp>
      <p:sp>
        <p:nvSpPr>
          <p:cNvPr id="39939" name="Text Box 5"/>
          <p:cNvSpPr txBox="1">
            <a:spLocks noChangeArrowheads="1"/>
          </p:cNvSpPr>
          <p:nvPr/>
        </p:nvSpPr>
        <p:spPr bwMode="auto">
          <a:xfrm>
            <a:off x="611561" y="1196975"/>
            <a:ext cx="8203828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dirty="0">
                <a:solidFill>
                  <a:schemeClr val="folHlink"/>
                </a:solidFill>
              </a:rPr>
              <a:t>        </a:t>
            </a:r>
            <a:r>
              <a:rPr kumimoji="1" lang="zh-CN" altLang="en-US" dirty="0">
                <a:solidFill>
                  <a:schemeClr val="folHlink"/>
                </a:solidFill>
              </a:rPr>
              <a:t>注：</a:t>
            </a:r>
            <a:r>
              <a:rPr kumimoji="1" lang="en-US" altLang="zh-CN" dirty="0">
                <a:solidFill>
                  <a:schemeClr val="hlink"/>
                </a:solidFill>
              </a:rPr>
              <a:t>n</a:t>
            </a:r>
            <a:r>
              <a:rPr kumimoji="1" lang="zh-CN" altLang="en-US" dirty="0"/>
              <a:t>个命题变元组成的命题公式，共有    种真值情况。        </a:t>
            </a:r>
          </a:p>
        </p:txBody>
      </p:sp>
      <p:graphicFrame>
        <p:nvGraphicFramePr>
          <p:cNvPr id="3994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0724207"/>
              </p:ext>
            </p:extLst>
          </p:nvPr>
        </p:nvGraphicFramePr>
        <p:xfrm>
          <a:off x="7697167" y="1198454"/>
          <a:ext cx="4032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24" name="Equation" r:id="rId3" imgW="161925" imgH="171408" progId="Equation.DSMT4">
                  <p:embed/>
                </p:oleObj>
              </mc:Choice>
              <mc:Fallback>
                <p:oleObj name="Equation" r:id="rId3" imgW="161925" imgH="171408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7167" y="1198454"/>
                        <a:ext cx="40322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693" name="Rectangle 77"/>
          <p:cNvSpPr>
            <a:spLocks noChangeArrowheads="1"/>
          </p:cNvSpPr>
          <p:nvPr/>
        </p:nvSpPr>
        <p:spPr bwMode="auto">
          <a:xfrm>
            <a:off x="611561" y="2103438"/>
            <a:ext cx="820382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zh-CN" altLang="en-US" dirty="0"/>
              <a:t>为方便构造真值表，特约定如下：</a:t>
            </a:r>
            <a:endParaRPr lang="zh-CN" altLang="en-US" sz="2600" dirty="0"/>
          </a:p>
        </p:txBody>
      </p:sp>
      <p:sp>
        <p:nvSpPr>
          <p:cNvPr id="111697" name="Rectangle 81"/>
          <p:cNvSpPr>
            <a:spLocks noChangeArrowheads="1"/>
          </p:cNvSpPr>
          <p:nvPr/>
        </p:nvSpPr>
        <p:spPr bwMode="auto">
          <a:xfrm>
            <a:off x="611561" y="2673350"/>
            <a:ext cx="8203828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zh-CN" sz="2600">
                <a:solidFill>
                  <a:schemeClr val="hlink"/>
                </a:solidFill>
              </a:rPr>
              <a:t>① </a:t>
            </a:r>
            <a:r>
              <a:rPr lang="zh-CN" altLang="en-US" sz="2600"/>
              <a:t>命题变元按字典序排列。</a:t>
            </a:r>
          </a:p>
        </p:txBody>
      </p:sp>
      <p:sp>
        <p:nvSpPr>
          <p:cNvPr id="111699" name="Rectangle 83"/>
          <p:cNvSpPr>
            <a:spLocks noChangeArrowheads="1"/>
          </p:cNvSpPr>
          <p:nvPr/>
        </p:nvSpPr>
        <p:spPr bwMode="auto">
          <a:xfrm>
            <a:off x="611561" y="3159125"/>
            <a:ext cx="8203828" cy="88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zh-CN" sz="2600">
                <a:solidFill>
                  <a:schemeClr val="hlink"/>
                </a:solidFill>
              </a:rPr>
              <a:t>② </a:t>
            </a:r>
            <a:r>
              <a:rPr lang="zh-CN" altLang="en-US" sz="2600"/>
              <a:t>对每个指派，以二进制数从小到大或从大到小顺序列出。</a:t>
            </a:r>
          </a:p>
        </p:txBody>
      </p:sp>
      <p:sp>
        <p:nvSpPr>
          <p:cNvPr id="111701" name="Rectangle 85"/>
          <p:cNvSpPr>
            <a:spLocks noChangeArrowheads="1"/>
          </p:cNvSpPr>
          <p:nvPr/>
        </p:nvSpPr>
        <p:spPr bwMode="auto">
          <a:xfrm>
            <a:off x="613148" y="4005263"/>
            <a:ext cx="8203827" cy="1281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>
                <a:solidFill>
                  <a:schemeClr val="hlink"/>
                </a:solidFill>
              </a:rPr>
              <a:t>③ </a:t>
            </a:r>
            <a:r>
              <a:rPr lang="zh-CN" altLang="en-US" sz="2600"/>
              <a:t>若公式较复杂，可先列出各子公式的真值</a:t>
            </a:r>
            <a:r>
              <a:rPr lang="en-US" altLang="zh-CN" sz="2600"/>
              <a:t>(</a:t>
            </a:r>
            <a:r>
              <a:rPr lang="zh-CN" altLang="en-US" sz="2600"/>
              <a:t>若有括号，则应从里层向外层展开</a:t>
            </a:r>
            <a:r>
              <a:rPr lang="en-US" altLang="zh-CN" sz="2600"/>
              <a:t>)</a:t>
            </a:r>
            <a:r>
              <a:rPr lang="zh-CN" altLang="en-US" sz="2600"/>
              <a:t>，最后列出所求公式的真值。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693" grpId="0"/>
      <p:bldP spid="111697" grpId="0"/>
      <p:bldP spid="111699" grpId="0"/>
      <p:bldP spid="11170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13A6798-47D4-41A1-9061-9759373F1193}" type="slidenum">
              <a:rPr lang="en-US" altLang="zh-CN"/>
              <a:pPr>
                <a:defRPr/>
              </a:pPr>
              <a:t>36</a:t>
            </a:fld>
            <a:endParaRPr lang="en-US" altLang="zh-CN"/>
          </a:p>
        </p:txBody>
      </p:sp>
      <p:sp>
        <p:nvSpPr>
          <p:cNvPr id="40963" name="Text Box 3"/>
          <p:cNvSpPr txBox="1">
            <a:spLocks noChangeArrowheads="1"/>
          </p:cNvSpPr>
          <p:nvPr/>
        </p:nvSpPr>
        <p:spPr bwMode="auto">
          <a:xfrm>
            <a:off x="1258888" y="617538"/>
            <a:ext cx="385127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609600" indent="-6096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1066800" indent="-60960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524000" indent="-609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981200" indent="-609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438400" indent="-609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895600" indent="-609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352800" indent="-609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810000" indent="-609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267200" indent="-609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sz="3200">
                <a:solidFill>
                  <a:schemeClr val="folHlink"/>
                </a:solidFill>
                <a:ea typeface="楷体_GB2312" pitchFamily="49" charset="-122"/>
              </a:rPr>
              <a:t>二、等价公式</a:t>
            </a:r>
          </a:p>
        </p:txBody>
      </p:sp>
      <p:graphicFrame>
        <p:nvGraphicFramePr>
          <p:cNvPr id="431441" name="Group 337"/>
          <p:cNvGraphicFramePr>
            <a:graphicFrameLocks noGrp="1"/>
          </p:cNvGraphicFramePr>
          <p:nvPr/>
        </p:nvGraphicFramePr>
        <p:xfrm>
          <a:off x="2124075" y="3933825"/>
          <a:ext cx="2185988" cy="2590800"/>
        </p:xfrm>
        <a:graphic>
          <a:graphicData uri="http://schemas.openxmlformats.org/drawingml/2006/table">
            <a:tbl>
              <a:tblPr/>
              <a:tblGrid>
                <a:gridCol w="576263"/>
                <a:gridCol w="576262"/>
                <a:gridCol w="1033463"/>
              </a:tblGrid>
              <a:tr h="5032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</a:t>
                      </a: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Arial Unicode MS" pitchFamily="34" charset="-122"/>
                          <a:ea typeface="Arial Unicode MS" pitchFamily="34" charset="-122"/>
                          <a:cs typeface="Arial Unicode MS" pitchFamily="34" charset="-122"/>
                        </a:rPr>
                        <a:t>⇄</a:t>
                      </a: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4476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31426" name="Group 322"/>
          <p:cNvGraphicFramePr>
            <a:graphicFrameLocks noGrp="1"/>
          </p:cNvGraphicFramePr>
          <p:nvPr/>
        </p:nvGraphicFramePr>
        <p:xfrm>
          <a:off x="2124075" y="1268413"/>
          <a:ext cx="2187575" cy="2590800"/>
        </p:xfrm>
        <a:graphic>
          <a:graphicData uri="http://schemas.openxmlformats.org/drawingml/2006/table">
            <a:tbl>
              <a:tblPr/>
              <a:tblGrid>
                <a:gridCol w="576263"/>
                <a:gridCol w="576262"/>
                <a:gridCol w="1035050"/>
              </a:tblGrid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P→Q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4556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4556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4556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4508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31383" name="Group 279"/>
          <p:cNvGraphicFramePr>
            <a:graphicFrameLocks noGrp="1"/>
          </p:cNvGraphicFramePr>
          <p:nvPr/>
        </p:nvGraphicFramePr>
        <p:xfrm>
          <a:off x="4298950" y="1268413"/>
          <a:ext cx="1392238" cy="2590800"/>
        </p:xfrm>
        <a:graphic>
          <a:graphicData uri="http://schemas.openxmlformats.org/drawingml/2006/table">
            <a:tbl>
              <a:tblPr/>
              <a:tblGrid>
                <a:gridCol w="1392238"/>
              </a:tblGrid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┐P∨Q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31425" name="Group 321"/>
          <p:cNvGraphicFramePr>
            <a:graphicFrameLocks noGrp="1"/>
          </p:cNvGraphicFramePr>
          <p:nvPr/>
        </p:nvGraphicFramePr>
        <p:xfrm>
          <a:off x="4284663" y="3933825"/>
          <a:ext cx="3433762" cy="2590800"/>
        </p:xfrm>
        <a:graphic>
          <a:graphicData uri="http://schemas.openxmlformats.org/drawingml/2006/table">
            <a:tbl>
              <a:tblPr/>
              <a:tblGrid>
                <a:gridCol w="3433762"/>
              </a:tblGrid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(P∧Q)∨(┐P∧┐Q)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13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13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314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314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314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314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A775EDE-C11D-4EB0-8AE7-61DF9A1B49C5}" type="slidenum">
              <a:rPr lang="en-US" altLang="zh-CN"/>
              <a:pPr>
                <a:defRPr/>
              </a:pPr>
              <a:t>37</a:t>
            </a:fld>
            <a:endParaRPr lang="en-US" altLang="zh-CN"/>
          </a:p>
        </p:txBody>
      </p:sp>
      <p:sp>
        <p:nvSpPr>
          <p:cNvPr id="502789" name="Rectangle 5"/>
          <p:cNvSpPr>
            <a:spLocks noChangeArrowheads="1"/>
          </p:cNvSpPr>
          <p:nvPr/>
        </p:nvSpPr>
        <p:spPr bwMode="auto">
          <a:xfrm>
            <a:off x="684213" y="3500438"/>
            <a:ext cx="6769100" cy="1801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dirty="0">
                <a:solidFill>
                  <a:schemeClr val="folHlink"/>
                </a:solidFill>
              </a:rPr>
              <a:t>注：</a:t>
            </a:r>
            <a:r>
              <a:rPr kumimoji="1" lang="zh-CN" altLang="en-US" dirty="0"/>
              <a:t>证明等价式的方法有两种：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dirty="0"/>
              <a:t>        </a:t>
            </a:r>
            <a:r>
              <a:rPr kumimoji="1" lang="en-US" altLang="zh-CN" dirty="0"/>
              <a:t>1. </a:t>
            </a:r>
            <a:r>
              <a:rPr kumimoji="1" lang="zh-CN" altLang="en-US" dirty="0"/>
              <a:t>真值表法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dirty="0"/>
              <a:t>        </a:t>
            </a:r>
            <a:r>
              <a:rPr kumimoji="1" lang="en-US" altLang="zh-CN" dirty="0"/>
              <a:t>2. </a:t>
            </a:r>
            <a:r>
              <a:rPr kumimoji="1" lang="zh-CN" altLang="en-US" dirty="0"/>
              <a:t>公式证明法</a:t>
            </a:r>
          </a:p>
        </p:txBody>
      </p:sp>
      <p:sp>
        <p:nvSpPr>
          <p:cNvPr id="41988" name="Text Box 6"/>
          <p:cNvSpPr txBox="1">
            <a:spLocks noChangeArrowheads="1"/>
          </p:cNvSpPr>
          <p:nvPr/>
        </p:nvSpPr>
        <p:spPr bwMode="auto">
          <a:xfrm>
            <a:off x="684213" y="1484313"/>
            <a:ext cx="7775575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dirty="0">
                <a:solidFill>
                  <a:schemeClr val="hlink"/>
                </a:solidFill>
              </a:rPr>
              <a:t>        </a:t>
            </a:r>
            <a:r>
              <a:rPr kumimoji="1" lang="zh-CN" altLang="en-US" dirty="0">
                <a:solidFill>
                  <a:schemeClr val="hlink"/>
                </a:solidFill>
              </a:rPr>
              <a:t>定义</a:t>
            </a:r>
            <a:r>
              <a:rPr kumimoji="1" lang="en-US" altLang="zh-CN" dirty="0">
                <a:solidFill>
                  <a:schemeClr val="hlink"/>
                </a:solidFill>
              </a:rPr>
              <a:t>1-4. 2</a:t>
            </a:r>
            <a:r>
              <a:rPr kumimoji="1" lang="en-US" altLang="zh-CN" dirty="0"/>
              <a:t>  A</a:t>
            </a:r>
            <a:r>
              <a:rPr kumimoji="1" lang="zh-CN" altLang="en-US" dirty="0"/>
              <a:t>，</a:t>
            </a:r>
            <a:r>
              <a:rPr kumimoji="1" lang="en-US" altLang="zh-CN" dirty="0"/>
              <a:t>B</a:t>
            </a:r>
            <a:r>
              <a:rPr kumimoji="1" lang="zh-CN" altLang="en-US" dirty="0"/>
              <a:t>为两命题公式，所有出现于</a:t>
            </a:r>
            <a:r>
              <a:rPr kumimoji="1" lang="en-US" altLang="zh-CN" dirty="0"/>
              <a:t>A</a:t>
            </a:r>
            <a:r>
              <a:rPr kumimoji="1" lang="zh-CN" altLang="en-US" dirty="0"/>
              <a:t>，</a:t>
            </a:r>
            <a:r>
              <a:rPr kumimoji="1" lang="en-US" altLang="zh-CN" dirty="0"/>
              <a:t>B</a:t>
            </a:r>
            <a:r>
              <a:rPr kumimoji="1" lang="zh-CN" altLang="en-US" dirty="0"/>
              <a:t>中的原子变元的任一组真值指派，</a:t>
            </a:r>
            <a:r>
              <a:rPr kumimoji="1" lang="en-US" altLang="zh-CN" dirty="0"/>
              <a:t>A</a:t>
            </a:r>
            <a:r>
              <a:rPr kumimoji="1" lang="zh-CN" altLang="en-US" dirty="0"/>
              <a:t>和</a:t>
            </a:r>
            <a:r>
              <a:rPr kumimoji="1" lang="en-US" altLang="zh-CN" dirty="0"/>
              <a:t>B</a:t>
            </a:r>
            <a:r>
              <a:rPr kumimoji="1" lang="zh-CN" altLang="en-US" dirty="0"/>
              <a:t>的真值都相同，则称</a:t>
            </a:r>
            <a:r>
              <a:rPr kumimoji="1" lang="en-US" altLang="zh-CN" dirty="0"/>
              <a:t>A</a:t>
            </a:r>
            <a:r>
              <a:rPr kumimoji="1" lang="zh-CN" altLang="en-US" dirty="0"/>
              <a:t>和</a:t>
            </a:r>
            <a:r>
              <a:rPr kumimoji="1" lang="en-US" altLang="zh-CN" dirty="0"/>
              <a:t>B</a:t>
            </a:r>
            <a:r>
              <a:rPr kumimoji="1" lang="zh-CN" altLang="en-US" dirty="0"/>
              <a:t>是</a:t>
            </a:r>
            <a:r>
              <a:rPr kumimoji="1" lang="zh-CN" altLang="en-US" dirty="0">
                <a:solidFill>
                  <a:schemeClr val="hlink"/>
                </a:solidFill>
              </a:rPr>
              <a:t>等价的或逻辑相等</a:t>
            </a:r>
            <a:r>
              <a:rPr kumimoji="1" lang="zh-CN" altLang="en-US" dirty="0"/>
              <a:t>，记为</a:t>
            </a:r>
            <a:r>
              <a:rPr kumimoji="1" lang="en-US" altLang="zh-CN" dirty="0">
                <a:solidFill>
                  <a:schemeClr val="hlink"/>
                </a:solidFill>
              </a:rPr>
              <a:t>A</a:t>
            </a:r>
            <a:r>
              <a:rPr kumimoji="1" lang="en-US" altLang="zh-CN" dirty="0">
                <a:solidFill>
                  <a:schemeClr val="hlink"/>
                </a:solidFill>
                <a:sym typeface="Symbol" pitchFamily="18" charset="2"/>
              </a:rPr>
              <a:t></a:t>
            </a:r>
            <a:r>
              <a:rPr kumimoji="1" lang="en-US" altLang="zh-CN" dirty="0">
                <a:solidFill>
                  <a:schemeClr val="hlink"/>
                </a:solidFill>
              </a:rPr>
              <a:t>B</a:t>
            </a:r>
            <a:r>
              <a:rPr kumimoji="1" lang="zh-CN" altLang="en-US" dirty="0"/>
              <a:t>。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278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C278CE0-88A2-43FB-9B95-FC0FCAC6E4F4}" type="slidenum">
              <a:rPr lang="en-US" altLang="zh-CN"/>
              <a:pPr>
                <a:defRPr/>
              </a:pPr>
              <a:t>38</a:t>
            </a:fld>
            <a:endParaRPr lang="en-US" altLang="zh-CN"/>
          </a:p>
        </p:txBody>
      </p:sp>
      <p:sp>
        <p:nvSpPr>
          <p:cNvPr id="421892" name="Text Box 4"/>
          <p:cNvSpPr txBox="1">
            <a:spLocks noChangeArrowheads="1"/>
          </p:cNvSpPr>
          <p:nvPr/>
        </p:nvSpPr>
        <p:spPr bwMode="auto">
          <a:xfrm>
            <a:off x="755650" y="1268413"/>
            <a:ext cx="7200900" cy="1074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914400" indent="-45720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371600" indent="-4572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828800" indent="-4572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indent="-4572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kumimoji="1" lang="en-US" altLang="zh-CN" dirty="0"/>
              <a:t>        </a:t>
            </a:r>
            <a:r>
              <a:rPr kumimoji="1" lang="zh-CN" altLang="en-US" dirty="0">
                <a:solidFill>
                  <a:schemeClr val="hlink"/>
                </a:solidFill>
              </a:rPr>
              <a:t>例</a:t>
            </a:r>
            <a:r>
              <a:rPr kumimoji="1" lang="en-US" altLang="zh-CN" dirty="0">
                <a:solidFill>
                  <a:schemeClr val="hlink"/>
                </a:solidFill>
              </a:rPr>
              <a:t>2</a:t>
            </a:r>
            <a:r>
              <a:rPr kumimoji="1" lang="zh-CN" altLang="en-US" dirty="0">
                <a:solidFill>
                  <a:schemeClr val="hlink"/>
                </a:solidFill>
              </a:rPr>
              <a:t>：</a:t>
            </a:r>
            <a:r>
              <a:rPr kumimoji="1" lang="zh-CN" altLang="en-US" dirty="0"/>
              <a:t>证明 </a:t>
            </a:r>
            <a:r>
              <a:rPr kumimoji="1" lang="en-US" altLang="zh-CN" dirty="0"/>
              <a:t>P</a:t>
            </a:r>
            <a:r>
              <a:rPr kumimoji="1" lang="en-US" altLang="zh-CN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⇄</a:t>
            </a:r>
            <a:r>
              <a:rPr kumimoji="1" lang="en-US" altLang="zh-CN" dirty="0"/>
              <a:t>Q </a:t>
            </a:r>
            <a:r>
              <a:rPr kumimoji="1" lang="en-US" altLang="zh-CN" dirty="0">
                <a:sym typeface="Symbol" pitchFamily="18" charset="2"/>
              </a:rPr>
              <a:t>(</a:t>
            </a:r>
            <a:r>
              <a:rPr kumimoji="1" lang="en-US" altLang="zh-CN" dirty="0"/>
              <a:t> P→Q)∧(Q→P)</a:t>
            </a:r>
          </a:p>
          <a:p>
            <a:pPr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kumimoji="1" lang="zh-CN" altLang="en-US" dirty="0"/>
              <a:t>证明：列出真值表</a:t>
            </a:r>
          </a:p>
        </p:txBody>
      </p:sp>
      <p:sp>
        <p:nvSpPr>
          <p:cNvPr id="421893" name="Text Box 5"/>
          <p:cNvSpPr txBox="1">
            <a:spLocks noChangeArrowheads="1"/>
          </p:cNvSpPr>
          <p:nvPr/>
        </p:nvSpPr>
        <p:spPr bwMode="auto">
          <a:xfrm>
            <a:off x="755650" y="5084763"/>
            <a:ext cx="7488238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/>
              <a:t>        </a:t>
            </a:r>
            <a:r>
              <a:rPr kumimoji="1" lang="zh-CN" altLang="en-US"/>
              <a:t>教材</a:t>
            </a:r>
            <a:r>
              <a:rPr kumimoji="1" lang="en-US" altLang="zh-CN"/>
              <a:t>P15</a:t>
            </a:r>
            <a:r>
              <a:rPr kumimoji="1" lang="zh-CN" altLang="en-US"/>
              <a:t>表</a:t>
            </a:r>
            <a:r>
              <a:rPr kumimoji="1" lang="en-US" altLang="zh-CN"/>
              <a:t>1-4.8</a:t>
            </a:r>
            <a:r>
              <a:rPr kumimoji="1" lang="zh-CN" altLang="en-US"/>
              <a:t>列出的命题定律，都可以用真值表予以验证。</a:t>
            </a:r>
          </a:p>
        </p:txBody>
      </p:sp>
      <p:graphicFrame>
        <p:nvGraphicFramePr>
          <p:cNvPr id="422144" name="Group 256"/>
          <p:cNvGraphicFramePr>
            <a:graphicFrameLocks noGrp="1"/>
          </p:cNvGraphicFramePr>
          <p:nvPr/>
        </p:nvGraphicFramePr>
        <p:xfrm>
          <a:off x="900113" y="2420938"/>
          <a:ext cx="4254500" cy="2595564"/>
        </p:xfrm>
        <a:graphic>
          <a:graphicData uri="http://schemas.openxmlformats.org/drawingml/2006/table">
            <a:tbl>
              <a:tblPr/>
              <a:tblGrid>
                <a:gridCol w="576262"/>
                <a:gridCol w="574675"/>
                <a:gridCol w="1035050"/>
                <a:gridCol w="1035050"/>
                <a:gridCol w="1033463"/>
              </a:tblGrid>
              <a:tr h="51828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Q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P→Q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Q→P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</a:t>
                      </a: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Arial Unicode MS" pitchFamily="34" charset="-122"/>
                          <a:ea typeface="Arial Unicode MS" pitchFamily="34" charset="-122"/>
                          <a:cs typeface="Arial Unicode MS" pitchFamily="34" charset="-122"/>
                        </a:rPr>
                        <a:t>⇄</a:t>
                      </a: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Q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51828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51828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 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51828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52241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</a:tbl>
          </a:graphicData>
        </a:graphic>
      </p:graphicFrame>
      <p:sp>
        <p:nvSpPr>
          <p:cNvPr id="43051" name="Rectangle 180"/>
          <p:cNvSpPr>
            <a:spLocks noChangeArrowheads="1"/>
          </p:cNvSpPr>
          <p:nvPr/>
        </p:nvSpPr>
        <p:spPr bwMode="auto">
          <a:xfrm>
            <a:off x="1187450" y="620713"/>
            <a:ext cx="2671763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3000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kumimoji="1" lang="zh-CN" altLang="en-US" sz="3000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</a:rPr>
              <a:t>、真值表法：</a:t>
            </a:r>
          </a:p>
        </p:txBody>
      </p:sp>
      <p:graphicFrame>
        <p:nvGraphicFramePr>
          <p:cNvPr id="422131" name="Group 243"/>
          <p:cNvGraphicFramePr>
            <a:graphicFrameLocks noGrp="1"/>
          </p:cNvGraphicFramePr>
          <p:nvPr/>
        </p:nvGraphicFramePr>
        <p:xfrm>
          <a:off x="5176838" y="2420938"/>
          <a:ext cx="2719387" cy="2595564"/>
        </p:xfrm>
        <a:graphic>
          <a:graphicData uri="http://schemas.openxmlformats.org/drawingml/2006/table">
            <a:tbl>
              <a:tblPr/>
              <a:tblGrid>
                <a:gridCol w="2719387"/>
              </a:tblGrid>
              <a:tr h="52241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(P→Q)∧(Q→P)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51828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51828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51828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51828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218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218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2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22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22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1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1892" grpId="0" autoUpdateAnimBg="0"/>
      <p:bldP spid="421893" grpId="0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15B4C6D-D455-4A1C-A6CB-F0E0DD317AAB}" type="slidenum">
              <a:rPr lang="en-US" altLang="zh-CN"/>
              <a:pPr>
                <a:defRPr/>
              </a:pPr>
              <a:t>39</a:t>
            </a:fld>
            <a:endParaRPr lang="en-US" altLang="zh-CN"/>
          </a:p>
        </p:txBody>
      </p:sp>
      <p:sp>
        <p:nvSpPr>
          <p:cNvPr id="44035" name="Text Box 5"/>
          <p:cNvSpPr txBox="1">
            <a:spLocks noChangeArrowheads="1"/>
          </p:cNvSpPr>
          <p:nvPr/>
        </p:nvSpPr>
        <p:spPr bwMode="auto">
          <a:xfrm>
            <a:off x="719138" y="1268413"/>
            <a:ext cx="7916862" cy="1373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>
                <a:solidFill>
                  <a:schemeClr val="hlink"/>
                </a:solidFill>
              </a:rPr>
              <a:t>        </a:t>
            </a:r>
            <a:r>
              <a:rPr kumimoji="1" lang="zh-CN" altLang="en-US">
                <a:solidFill>
                  <a:schemeClr val="hlink"/>
                </a:solidFill>
              </a:rPr>
              <a:t>定义</a:t>
            </a:r>
            <a:r>
              <a:rPr kumimoji="1" lang="en-US" altLang="zh-CN">
                <a:solidFill>
                  <a:schemeClr val="hlink"/>
                </a:solidFill>
              </a:rPr>
              <a:t>1-4.3</a:t>
            </a:r>
            <a:r>
              <a:rPr kumimoji="1" lang="zh-CN" altLang="en-US">
                <a:solidFill>
                  <a:schemeClr val="hlink"/>
                </a:solidFill>
              </a:rPr>
              <a:t>：</a:t>
            </a:r>
            <a:r>
              <a:rPr kumimoji="1" lang="zh-CN" altLang="en-US"/>
              <a:t>如果</a:t>
            </a:r>
            <a:r>
              <a:rPr kumimoji="1" lang="en-US" altLang="zh-CN"/>
              <a:t>X</a:t>
            </a:r>
            <a:r>
              <a:rPr kumimoji="1" lang="zh-CN" altLang="en-US"/>
              <a:t>是合式公式</a:t>
            </a:r>
            <a:r>
              <a:rPr kumimoji="1" lang="en-US" altLang="zh-CN"/>
              <a:t>A</a:t>
            </a:r>
            <a:r>
              <a:rPr kumimoji="1" lang="zh-CN" altLang="en-US"/>
              <a:t>的一部分，且</a:t>
            </a:r>
            <a:r>
              <a:rPr kumimoji="1" lang="en-US" altLang="zh-CN"/>
              <a:t>X</a:t>
            </a:r>
            <a:r>
              <a:rPr kumimoji="1" lang="zh-CN" altLang="en-US"/>
              <a:t>本身也是一个合式公式，则称</a:t>
            </a:r>
            <a:r>
              <a:rPr kumimoji="1" lang="en-US" altLang="zh-CN"/>
              <a:t>X</a:t>
            </a:r>
            <a:r>
              <a:rPr kumimoji="1" lang="zh-CN" altLang="en-US"/>
              <a:t>为公式</a:t>
            </a:r>
            <a:r>
              <a:rPr kumimoji="1" lang="en-US" altLang="zh-CN"/>
              <a:t>A</a:t>
            </a:r>
            <a:r>
              <a:rPr kumimoji="1" lang="zh-CN" altLang="en-US"/>
              <a:t>的子公式。</a:t>
            </a:r>
          </a:p>
        </p:txBody>
      </p:sp>
      <p:sp>
        <p:nvSpPr>
          <p:cNvPr id="118790" name="Text Box 6"/>
          <p:cNvSpPr txBox="1">
            <a:spLocks noChangeArrowheads="1"/>
          </p:cNvSpPr>
          <p:nvPr/>
        </p:nvSpPr>
        <p:spPr bwMode="auto">
          <a:xfrm>
            <a:off x="719138" y="4724400"/>
            <a:ext cx="7916862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/>
              <a:t>证明：∵</a:t>
            </a:r>
            <a:r>
              <a:rPr kumimoji="1" lang="en-US" altLang="zh-CN"/>
              <a:t>X</a:t>
            </a:r>
            <a:r>
              <a:rPr kumimoji="1" lang="zh-CN" altLang="en-US"/>
              <a:t>是</a:t>
            </a:r>
            <a:r>
              <a:rPr kumimoji="1" lang="en-US" altLang="zh-CN"/>
              <a:t>A</a:t>
            </a:r>
            <a:r>
              <a:rPr kumimoji="1" lang="zh-CN" altLang="en-US"/>
              <a:t>的一部分，在任意指派下</a:t>
            </a:r>
            <a:r>
              <a:rPr kumimoji="1" lang="en-US" altLang="zh-CN"/>
              <a:t>X</a:t>
            </a:r>
            <a:r>
              <a:rPr kumimoji="1" lang="zh-CN" altLang="en-US"/>
              <a:t>与</a:t>
            </a:r>
            <a:r>
              <a:rPr kumimoji="1" lang="en-US" altLang="zh-CN"/>
              <a:t>Y</a:t>
            </a:r>
            <a:r>
              <a:rPr kumimoji="1" lang="zh-CN" altLang="en-US"/>
              <a:t>真值相同，用</a:t>
            </a:r>
            <a:r>
              <a:rPr kumimoji="1" lang="en-US" altLang="zh-CN"/>
              <a:t>Y</a:t>
            </a:r>
            <a:r>
              <a:rPr kumimoji="1" lang="zh-CN" altLang="en-US"/>
              <a:t>置换</a:t>
            </a:r>
            <a:r>
              <a:rPr kumimoji="1" lang="en-US" altLang="zh-CN"/>
              <a:t>X</a:t>
            </a:r>
            <a:r>
              <a:rPr kumimoji="1" lang="zh-CN" altLang="en-US"/>
              <a:t>，得到的</a:t>
            </a:r>
            <a:r>
              <a:rPr kumimoji="1" lang="en-US" altLang="zh-CN"/>
              <a:t>B</a:t>
            </a:r>
            <a:r>
              <a:rPr kumimoji="1" lang="zh-CN" altLang="en-US"/>
              <a:t>与</a:t>
            </a:r>
            <a:r>
              <a:rPr kumimoji="1" lang="en-US" altLang="zh-CN"/>
              <a:t>A</a:t>
            </a:r>
            <a:r>
              <a:rPr kumimoji="1" lang="zh-CN" altLang="en-US"/>
              <a:t>等价，∴</a:t>
            </a:r>
            <a:r>
              <a:rPr kumimoji="1" lang="en-US" altLang="zh-CN"/>
              <a:t>A</a:t>
            </a:r>
            <a:r>
              <a:rPr kumimoji="1" lang="en-US" altLang="zh-CN">
                <a:sym typeface="Symbol" pitchFamily="18" charset="2"/>
              </a:rPr>
              <a:t></a:t>
            </a:r>
            <a:r>
              <a:rPr kumimoji="1" lang="en-US" altLang="zh-CN"/>
              <a:t>B</a:t>
            </a:r>
          </a:p>
        </p:txBody>
      </p:sp>
      <p:sp>
        <p:nvSpPr>
          <p:cNvPr id="44037" name="Rectangle 12"/>
          <p:cNvSpPr>
            <a:spLocks noChangeArrowheads="1"/>
          </p:cNvSpPr>
          <p:nvPr/>
        </p:nvSpPr>
        <p:spPr bwMode="auto">
          <a:xfrm>
            <a:off x="1187450" y="669925"/>
            <a:ext cx="316865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3000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kumimoji="1" lang="zh-CN" altLang="en-US" sz="3000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</a:rPr>
              <a:t>、公式证明法</a:t>
            </a:r>
          </a:p>
        </p:txBody>
      </p:sp>
      <p:sp>
        <p:nvSpPr>
          <p:cNvPr id="118798" name="Rectangle 14"/>
          <p:cNvSpPr>
            <a:spLocks noChangeArrowheads="1"/>
          </p:cNvSpPr>
          <p:nvPr/>
        </p:nvSpPr>
        <p:spPr bwMode="auto">
          <a:xfrm>
            <a:off x="719138" y="3208338"/>
            <a:ext cx="7916862" cy="1373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>
                <a:solidFill>
                  <a:schemeClr val="hlink"/>
                </a:solidFill>
              </a:rPr>
              <a:t>        </a:t>
            </a:r>
            <a:r>
              <a:rPr kumimoji="1" lang="zh-CN" altLang="en-US">
                <a:solidFill>
                  <a:schemeClr val="hlink"/>
                </a:solidFill>
              </a:rPr>
              <a:t>定理</a:t>
            </a:r>
            <a:r>
              <a:rPr kumimoji="1" lang="en-US" altLang="zh-CN">
                <a:solidFill>
                  <a:schemeClr val="hlink"/>
                </a:solidFill>
              </a:rPr>
              <a:t>1-4.1</a:t>
            </a:r>
            <a:r>
              <a:rPr kumimoji="1" lang="zh-CN" altLang="en-US">
                <a:solidFill>
                  <a:schemeClr val="hlink"/>
                </a:solidFill>
              </a:rPr>
              <a:t>：</a:t>
            </a:r>
            <a:r>
              <a:rPr kumimoji="1" lang="zh-CN" altLang="en-US"/>
              <a:t>设</a:t>
            </a:r>
            <a:r>
              <a:rPr kumimoji="1" lang="en-US" altLang="zh-CN"/>
              <a:t>X</a:t>
            </a:r>
            <a:r>
              <a:rPr kumimoji="1" lang="zh-CN" altLang="en-US"/>
              <a:t>是合式公式</a:t>
            </a:r>
            <a:r>
              <a:rPr kumimoji="1" lang="en-US" altLang="zh-CN"/>
              <a:t>A</a:t>
            </a:r>
            <a:r>
              <a:rPr kumimoji="1" lang="zh-CN" altLang="en-US"/>
              <a:t>的子公式，若</a:t>
            </a:r>
            <a:r>
              <a:rPr kumimoji="1" lang="en-US" altLang="zh-CN"/>
              <a:t>X</a:t>
            </a:r>
            <a:r>
              <a:rPr kumimoji="1" lang="en-US" altLang="zh-CN">
                <a:sym typeface="Symbol" pitchFamily="18" charset="2"/>
              </a:rPr>
              <a:t></a:t>
            </a:r>
            <a:r>
              <a:rPr kumimoji="1" lang="en-US" altLang="zh-CN"/>
              <a:t>Y</a:t>
            </a:r>
            <a:r>
              <a:rPr kumimoji="1" lang="zh-CN" altLang="en-US"/>
              <a:t>，如将</a:t>
            </a:r>
            <a:r>
              <a:rPr kumimoji="1" lang="en-US" altLang="zh-CN"/>
              <a:t>A</a:t>
            </a:r>
            <a:r>
              <a:rPr kumimoji="1" lang="zh-CN" altLang="en-US"/>
              <a:t>中的</a:t>
            </a:r>
            <a:r>
              <a:rPr kumimoji="1" lang="en-US" altLang="zh-CN"/>
              <a:t>X</a:t>
            </a:r>
            <a:r>
              <a:rPr kumimoji="1" lang="zh-CN" altLang="en-US"/>
              <a:t>用</a:t>
            </a:r>
            <a:r>
              <a:rPr kumimoji="1" lang="en-US" altLang="zh-CN"/>
              <a:t>Y</a:t>
            </a:r>
            <a:r>
              <a:rPr kumimoji="1" lang="zh-CN" altLang="en-US"/>
              <a:t>来置换，所得到的公式</a:t>
            </a:r>
            <a:r>
              <a:rPr kumimoji="1" lang="en-US" altLang="zh-CN"/>
              <a:t>B</a:t>
            </a:r>
            <a:r>
              <a:rPr kumimoji="1" lang="zh-CN" altLang="en-US"/>
              <a:t>与公式</a:t>
            </a:r>
            <a:r>
              <a:rPr kumimoji="1" lang="en-US" altLang="zh-CN"/>
              <a:t>A</a:t>
            </a:r>
            <a:r>
              <a:rPr kumimoji="1" lang="zh-CN" altLang="en-US"/>
              <a:t>等价，即</a:t>
            </a:r>
            <a:r>
              <a:rPr kumimoji="1" lang="en-US" altLang="zh-CN"/>
              <a:t>A</a:t>
            </a:r>
            <a:r>
              <a:rPr kumimoji="1" lang="en-US" altLang="zh-CN">
                <a:sym typeface="Symbol" pitchFamily="18" charset="2"/>
              </a:rPr>
              <a:t></a:t>
            </a:r>
            <a:r>
              <a:rPr kumimoji="1" lang="en-US" altLang="zh-CN"/>
              <a:t>B</a:t>
            </a:r>
            <a:r>
              <a:rPr kumimoji="1" lang="zh-CN" altLang="en-US"/>
              <a:t>，该置换称为等价置换。</a:t>
            </a:r>
          </a:p>
        </p:txBody>
      </p:sp>
      <p:sp>
        <p:nvSpPr>
          <p:cNvPr id="118800" name="Rectangle 16"/>
          <p:cNvSpPr>
            <a:spLocks noChangeArrowheads="1"/>
          </p:cNvSpPr>
          <p:nvPr/>
        </p:nvSpPr>
        <p:spPr bwMode="auto">
          <a:xfrm>
            <a:off x="719138" y="2565400"/>
            <a:ext cx="41052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>
                <a:solidFill>
                  <a:schemeClr val="hlink"/>
                </a:solidFill>
              </a:rPr>
              <a:t>例如：</a:t>
            </a:r>
            <a:r>
              <a:rPr kumimoji="1" lang="en-US" altLang="zh-CN"/>
              <a:t>Q→(P∨(P∧Q))</a:t>
            </a:r>
          </a:p>
        </p:txBody>
      </p:sp>
      <p:sp>
        <p:nvSpPr>
          <p:cNvPr id="118802" name="Rectangle 18"/>
          <p:cNvSpPr>
            <a:spLocks noChangeArrowheads="1"/>
          </p:cNvSpPr>
          <p:nvPr/>
        </p:nvSpPr>
        <p:spPr bwMode="auto">
          <a:xfrm>
            <a:off x="5435600" y="2565400"/>
            <a:ext cx="18478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/>
              <a:t>P∨(P∧Q)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790" grpId="0"/>
      <p:bldP spid="118798" grpId="0"/>
      <p:bldP spid="118800" grpId="0"/>
      <p:bldP spid="11880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719DFE5-6FCF-4632-9ED4-B1BDB9DDFEF2}" type="slidenum">
              <a:rPr lang="en-US" altLang="zh-CN"/>
              <a:pPr>
                <a:defRPr/>
              </a:pPr>
              <a:t>40</a:t>
            </a:fld>
            <a:endParaRPr lang="en-US" altLang="zh-CN"/>
          </a:p>
        </p:txBody>
      </p:sp>
      <p:sp>
        <p:nvSpPr>
          <p:cNvPr id="45059" name="Text Box 2"/>
          <p:cNvSpPr txBox="1">
            <a:spLocks noChangeArrowheads="1"/>
          </p:cNvSpPr>
          <p:nvPr/>
        </p:nvSpPr>
        <p:spPr bwMode="auto">
          <a:xfrm>
            <a:off x="719138" y="1470025"/>
            <a:ext cx="74517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96838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>
                <a:solidFill>
                  <a:schemeClr val="hlink"/>
                </a:solidFill>
              </a:rPr>
              <a:t>例</a:t>
            </a:r>
            <a:r>
              <a:rPr kumimoji="1" lang="en-US" altLang="zh-CN">
                <a:solidFill>
                  <a:schemeClr val="hlink"/>
                </a:solidFill>
              </a:rPr>
              <a:t>3</a:t>
            </a:r>
            <a:r>
              <a:rPr kumimoji="1" lang="zh-CN" altLang="en-US">
                <a:solidFill>
                  <a:schemeClr val="hlink"/>
                </a:solidFill>
              </a:rPr>
              <a:t>：</a:t>
            </a:r>
            <a:r>
              <a:rPr kumimoji="1" lang="zh-CN" altLang="en-US"/>
              <a:t>证明  </a:t>
            </a:r>
            <a:r>
              <a:rPr kumimoji="1" lang="en-US" altLang="zh-CN"/>
              <a:t>Q→(P∨(P∧Q)) </a:t>
            </a:r>
            <a:r>
              <a:rPr kumimoji="1" lang="en-US" altLang="zh-CN">
                <a:sym typeface="Symbol" pitchFamily="18" charset="2"/>
              </a:rPr>
              <a:t></a:t>
            </a:r>
            <a:r>
              <a:rPr kumimoji="1" lang="en-US" altLang="zh-CN"/>
              <a:t>Q→P</a:t>
            </a:r>
          </a:p>
        </p:txBody>
      </p:sp>
      <p:sp>
        <p:nvSpPr>
          <p:cNvPr id="656387" name="Text Box 3"/>
          <p:cNvSpPr txBox="1">
            <a:spLocks noChangeArrowheads="1"/>
          </p:cNvSpPr>
          <p:nvPr/>
        </p:nvSpPr>
        <p:spPr bwMode="auto">
          <a:xfrm>
            <a:off x="719138" y="2119313"/>
            <a:ext cx="74517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96838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/>
              <a:t>证明：∵</a:t>
            </a:r>
            <a:r>
              <a:rPr kumimoji="1" lang="en-US" altLang="zh-CN"/>
              <a:t>(P∨(P∧Q)) </a:t>
            </a:r>
            <a:r>
              <a:rPr kumimoji="1" lang="en-US" altLang="zh-CN">
                <a:sym typeface="Symbol" pitchFamily="18" charset="2"/>
              </a:rPr>
              <a:t></a:t>
            </a:r>
            <a:r>
              <a:rPr kumimoji="1" lang="en-US" altLang="zh-CN"/>
              <a:t>P </a:t>
            </a:r>
            <a:r>
              <a:rPr kumimoji="1" lang="zh-CN" altLang="en-US"/>
              <a:t>（ 吸收律）      </a:t>
            </a:r>
          </a:p>
        </p:txBody>
      </p:sp>
      <p:sp>
        <p:nvSpPr>
          <p:cNvPr id="656388" name="Text Box 4"/>
          <p:cNvSpPr txBox="1">
            <a:spLocks noChangeArrowheads="1"/>
          </p:cNvSpPr>
          <p:nvPr/>
        </p:nvSpPr>
        <p:spPr bwMode="auto">
          <a:xfrm>
            <a:off x="719138" y="3557588"/>
            <a:ext cx="7092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>
                <a:solidFill>
                  <a:schemeClr val="hlink"/>
                </a:solidFill>
              </a:rPr>
              <a:t>例</a:t>
            </a:r>
            <a:r>
              <a:rPr kumimoji="1" lang="en-US" altLang="zh-CN">
                <a:solidFill>
                  <a:schemeClr val="hlink"/>
                </a:solidFill>
              </a:rPr>
              <a:t>4</a:t>
            </a:r>
            <a:r>
              <a:rPr kumimoji="1" lang="zh-CN" altLang="en-US">
                <a:solidFill>
                  <a:schemeClr val="hlink"/>
                </a:solidFill>
              </a:rPr>
              <a:t>：</a:t>
            </a:r>
            <a:r>
              <a:rPr kumimoji="1" lang="zh-CN" altLang="en-US"/>
              <a:t>证明 </a:t>
            </a:r>
            <a:r>
              <a:rPr kumimoji="1" lang="en-US" altLang="zh-CN">
                <a:sym typeface="Wingdings" pitchFamily="2" charset="2"/>
              </a:rPr>
              <a:t>(P∧Q)∨(P∧</a:t>
            </a:r>
            <a:r>
              <a:rPr kumimoji="1" lang="en-US" altLang="zh-CN"/>
              <a:t>┐</a:t>
            </a:r>
            <a:r>
              <a:rPr kumimoji="1" lang="en-US" altLang="zh-CN">
                <a:sym typeface="Wingdings" pitchFamily="2" charset="2"/>
              </a:rPr>
              <a:t>Q)</a:t>
            </a:r>
            <a:r>
              <a:rPr kumimoji="1" lang="en-US" altLang="zh-CN">
                <a:sym typeface="Symbol" pitchFamily="18" charset="2"/>
              </a:rPr>
              <a:t></a:t>
            </a:r>
            <a:r>
              <a:rPr kumimoji="1" lang="en-US" altLang="zh-CN">
                <a:sym typeface="Wingdings" pitchFamily="2" charset="2"/>
              </a:rPr>
              <a:t>P</a:t>
            </a:r>
            <a:r>
              <a:rPr kumimoji="1" lang="en-US" altLang="zh-CN"/>
              <a:t>   </a:t>
            </a:r>
          </a:p>
        </p:txBody>
      </p:sp>
      <p:sp>
        <p:nvSpPr>
          <p:cNvPr id="656389" name="Text Box 5"/>
          <p:cNvSpPr txBox="1">
            <a:spLocks noChangeArrowheads="1"/>
          </p:cNvSpPr>
          <p:nvPr/>
        </p:nvSpPr>
        <p:spPr bwMode="auto">
          <a:xfrm>
            <a:off x="719138" y="4205288"/>
            <a:ext cx="73088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/>
              <a:t>证明：</a:t>
            </a:r>
            <a:r>
              <a:rPr kumimoji="1" lang="en-US" altLang="zh-CN"/>
              <a:t>(</a:t>
            </a:r>
            <a:r>
              <a:rPr kumimoji="1" lang="en-US" altLang="zh-CN">
                <a:sym typeface="Wingdings" pitchFamily="2" charset="2"/>
              </a:rPr>
              <a:t>P∧Q)∨(P∧</a:t>
            </a:r>
            <a:r>
              <a:rPr kumimoji="1" lang="en-US" altLang="zh-CN"/>
              <a:t>┐</a:t>
            </a:r>
            <a:r>
              <a:rPr kumimoji="1" lang="en-US" altLang="zh-CN">
                <a:sym typeface="Wingdings" pitchFamily="2" charset="2"/>
              </a:rPr>
              <a:t>Q)</a:t>
            </a:r>
            <a:r>
              <a:rPr kumimoji="1" lang="en-US" altLang="zh-CN">
                <a:sym typeface="Symbol" pitchFamily="18" charset="2"/>
              </a:rPr>
              <a:t></a:t>
            </a:r>
            <a:r>
              <a:rPr kumimoji="1" lang="en-US" altLang="zh-CN">
                <a:sym typeface="Wingdings" pitchFamily="2" charset="2"/>
              </a:rPr>
              <a:t>P∧(Q∨</a:t>
            </a:r>
            <a:r>
              <a:rPr kumimoji="1" lang="en-US" altLang="zh-CN"/>
              <a:t>┐</a:t>
            </a:r>
            <a:r>
              <a:rPr kumimoji="1" lang="en-US" altLang="zh-CN">
                <a:sym typeface="Wingdings" pitchFamily="2" charset="2"/>
              </a:rPr>
              <a:t>Q )                                             </a:t>
            </a:r>
          </a:p>
        </p:txBody>
      </p:sp>
      <p:sp>
        <p:nvSpPr>
          <p:cNvPr id="656390" name="Rectangle 6"/>
          <p:cNvSpPr>
            <a:spLocks noChangeArrowheads="1"/>
          </p:cNvSpPr>
          <p:nvPr/>
        </p:nvSpPr>
        <p:spPr bwMode="auto">
          <a:xfrm>
            <a:off x="4615542" y="4797425"/>
            <a:ext cx="13668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>
                <a:sym typeface="Symbol" pitchFamily="18" charset="2"/>
              </a:rPr>
              <a:t></a:t>
            </a:r>
            <a:r>
              <a:rPr kumimoji="1" lang="en-US" altLang="zh-CN"/>
              <a:t>P∧T</a:t>
            </a:r>
          </a:p>
        </p:txBody>
      </p:sp>
      <p:sp>
        <p:nvSpPr>
          <p:cNvPr id="656391" name="Rectangle 7"/>
          <p:cNvSpPr>
            <a:spLocks noChangeArrowheads="1"/>
          </p:cNvSpPr>
          <p:nvPr/>
        </p:nvSpPr>
        <p:spPr bwMode="auto">
          <a:xfrm>
            <a:off x="4629603" y="5343525"/>
            <a:ext cx="7731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>
                <a:sym typeface="Symbol" pitchFamily="18" charset="2"/>
              </a:rPr>
              <a:t></a:t>
            </a:r>
            <a:r>
              <a:rPr kumimoji="1" lang="en-US" altLang="zh-CN"/>
              <a:t>P</a:t>
            </a:r>
          </a:p>
        </p:txBody>
      </p:sp>
      <p:sp>
        <p:nvSpPr>
          <p:cNvPr id="656392" name="Rectangle 8"/>
          <p:cNvSpPr>
            <a:spLocks noChangeArrowheads="1"/>
          </p:cNvSpPr>
          <p:nvPr/>
        </p:nvSpPr>
        <p:spPr bwMode="auto">
          <a:xfrm>
            <a:off x="1979613" y="2838450"/>
            <a:ext cx="17637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/>
              <a:t>左</a:t>
            </a:r>
            <a:r>
              <a:rPr kumimoji="1" lang="zh-CN" altLang="en-US">
                <a:sym typeface="Symbol" pitchFamily="18" charset="2"/>
              </a:rPr>
              <a:t></a:t>
            </a:r>
            <a:r>
              <a:rPr kumimoji="1" lang="en-US" altLang="zh-CN"/>
              <a:t>Q→P</a:t>
            </a:r>
          </a:p>
        </p:txBody>
      </p:sp>
      <p:sp>
        <p:nvSpPr>
          <p:cNvPr id="656393" name="Rectangle 9"/>
          <p:cNvSpPr>
            <a:spLocks noChangeArrowheads="1"/>
          </p:cNvSpPr>
          <p:nvPr/>
        </p:nvSpPr>
        <p:spPr bwMode="auto">
          <a:xfrm>
            <a:off x="4200525" y="2809875"/>
            <a:ext cx="16271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/>
              <a:t>∴</a:t>
            </a:r>
            <a:r>
              <a:rPr kumimoji="1" lang="zh-CN" altLang="en-US"/>
              <a:t>左</a:t>
            </a:r>
            <a:r>
              <a:rPr kumimoji="1" lang="zh-CN" altLang="en-US">
                <a:sym typeface="Symbol" pitchFamily="18" charset="2"/>
              </a:rPr>
              <a:t></a:t>
            </a:r>
            <a:r>
              <a:rPr kumimoji="1" lang="zh-CN" altLang="en-US"/>
              <a:t>右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6387" grpId="0"/>
      <p:bldP spid="656388" grpId="0"/>
      <p:bldP spid="656389" grpId="0"/>
      <p:bldP spid="656390" grpId="0"/>
      <p:bldP spid="656391" grpId="0"/>
      <p:bldP spid="656392" grpId="0"/>
      <p:bldP spid="656393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DF24CB9-7D1C-4AEB-857E-4E2CA4EBDFC7}" type="slidenum">
              <a:rPr lang="en-US" altLang="zh-CN"/>
              <a:pPr>
                <a:defRPr/>
              </a:pPr>
              <a:t>41</a:t>
            </a:fld>
            <a:endParaRPr lang="en-US" altLang="zh-CN"/>
          </a:p>
        </p:txBody>
      </p:sp>
      <p:sp>
        <p:nvSpPr>
          <p:cNvPr id="46083" name="Text Box 2"/>
          <p:cNvSpPr txBox="1">
            <a:spLocks noChangeArrowheads="1"/>
          </p:cNvSpPr>
          <p:nvPr/>
        </p:nvSpPr>
        <p:spPr bwMode="auto">
          <a:xfrm>
            <a:off x="468313" y="1341438"/>
            <a:ext cx="8207375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dirty="0"/>
              <a:t>       </a:t>
            </a:r>
            <a:r>
              <a:rPr kumimoji="1" lang="zh-CN" altLang="en-US" dirty="0">
                <a:solidFill>
                  <a:schemeClr val="hlink"/>
                </a:solidFill>
              </a:rPr>
              <a:t>例</a:t>
            </a:r>
            <a:r>
              <a:rPr kumimoji="1" lang="en-US" altLang="zh-CN" dirty="0">
                <a:solidFill>
                  <a:schemeClr val="hlink"/>
                </a:solidFill>
              </a:rPr>
              <a:t>5</a:t>
            </a:r>
            <a:r>
              <a:rPr kumimoji="1" lang="zh-CN" altLang="en-US" dirty="0">
                <a:solidFill>
                  <a:schemeClr val="hlink"/>
                </a:solidFill>
              </a:rPr>
              <a:t>：</a:t>
            </a:r>
            <a:r>
              <a:rPr kumimoji="1" lang="zh-CN" altLang="en-US" dirty="0"/>
              <a:t>证明：</a:t>
            </a:r>
            <a:r>
              <a:rPr kumimoji="1" lang="en-US" altLang="zh-CN" dirty="0">
                <a:solidFill>
                  <a:srgbClr val="FF0000"/>
                </a:solidFill>
              </a:rPr>
              <a:t>(</a:t>
            </a:r>
            <a:r>
              <a:rPr kumimoji="1" lang="en-US" altLang="zh-CN" dirty="0"/>
              <a:t>(P∨Q)∧┐</a:t>
            </a:r>
            <a:r>
              <a:rPr kumimoji="1" lang="en-US" altLang="zh-CN" dirty="0">
                <a:solidFill>
                  <a:srgbClr val="21C330"/>
                </a:solidFill>
              </a:rPr>
              <a:t>(</a:t>
            </a:r>
            <a:r>
              <a:rPr kumimoji="1" lang="en-US" altLang="zh-CN" dirty="0"/>
              <a:t>┐P∧(┐Q∨┐R)</a:t>
            </a:r>
            <a:r>
              <a:rPr kumimoji="1" lang="en-US" altLang="zh-CN" dirty="0">
                <a:solidFill>
                  <a:srgbClr val="21C330"/>
                </a:solidFill>
              </a:rPr>
              <a:t>)</a:t>
            </a:r>
            <a:r>
              <a:rPr kumimoji="1" lang="en-US" altLang="zh-CN" dirty="0">
                <a:solidFill>
                  <a:srgbClr val="FF0000"/>
                </a:solidFill>
              </a:rPr>
              <a:t>)</a:t>
            </a:r>
            <a:r>
              <a:rPr kumimoji="1" lang="en-US" altLang="zh-CN" dirty="0"/>
              <a:t> ∨(┐P∧┐Q)∨(┐P∧┐R)</a:t>
            </a:r>
            <a:r>
              <a:rPr kumimoji="1" lang="en-US" altLang="zh-CN" dirty="0">
                <a:sym typeface="Symbol" pitchFamily="18" charset="2"/>
              </a:rPr>
              <a:t></a:t>
            </a:r>
            <a:r>
              <a:rPr kumimoji="1" lang="en-US" altLang="zh-CN" dirty="0"/>
              <a:t>T</a:t>
            </a:r>
          </a:p>
        </p:txBody>
      </p:sp>
      <p:sp>
        <p:nvSpPr>
          <p:cNvPr id="649219" name="Text Box 3"/>
          <p:cNvSpPr txBox="1">
            <a:spLocks noChangeArrowheads="1"/>
          </p:cNvSpPr>
          <p:nvPr/>
        </p:nvSpPr>
        <p:spPr bwMode="auto">
          <a:xfrm>
            <a:off x="468313" y="2408238"/>
            <a:ext cx="8424862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ts val="0"/>
              </a:spcBef>
              <a:buClrTx/>
              <a:buSzTx/>
              <a:buFontTx/>
              <a:buNone/>
            </a:pPr>
            <a:r>
              <a:rPr kumimoji="1" lang="zh-CN" altLang="en-US" dirty="0"/>
              <a:t>证明：左</a:t>
            </a:r>
            <a:r>
              <a:rPr kumimoji="1" lang="zh-CN" altLang="en-US" dirty="0">
                <a:sym typeface="Symbol" pitchFamily="18" charset="2"/>
              </a:rPr>
              <a:t></a:t>
            </a:r>
            <a:r>
              <a:rPr kumimoji="1" lang="en-US" altLang="zh-CN" dirty="0">
                <a:solidFill>
                  <a:srgbClr val="FF0000"/>
                </a:solidFill>
              </a:rPr>
              <a:t>(</a:t>
            </a:r>
            <a:r>
              <a:rPr kumimoji="1" lang="en-US" altLang="zh-CN" dirty="0"/>
              <a:t>(P∨Q)∧</a:t>
            </a:r>
            <a:r>
              <a:rPr kumimoji="1" lang="en-US" altLang="zh-CN" u="sng" dirty="0"/>
              <a:t>┐</a:t>
            </a:r>
            <a:r>
              <a:rPr kumimoji="1" lang="en-US" altLang="zh-CN" u="sng" dirty="0">
                <a:solidFill>
                  <a:srgbClr val="21C330"/>
                </a:solidFill>
              </a:rPr>
              <a:t>(</a:t>
            </a:r>
            <a:r>
              <a:rPr kumimoji="1" lang="en-US" altLang="zh-CN" u="sng" dirty="0"/>
              <a:t>┐P∧(┐Q∨┐R</a:t>
            </a:r>
            <a:r>
              <a:rPr kumimoji="1" lang="en-US" altLang="zh-CN" u="sng" dirty="0" smtClean="0"/>
              <a:t>)</a:t>
            </a:r>
            <a:r>
              <a:rPr kumimoji="1" lang="en-US" altLang="zh-CN" u="sng" dirty="0" smtClean="0">
                <a:solidFill>
                  <a:srgbClr val="21C330"/>
                </a:solidFill>
              </a:rPr>
              <a:t>)</a:t>
            </a:r>
            <a:r>
              <a:rPr kumimoji="1" lang="en-US" altLang="zh-CN" dirty="0" smtClean="0">
                <a:solidFill>
                  <a:srgbClr val="FF0000"/>
                </a:solidFill>
              </a:rPr>
              <a:t>)</a:t>
            </a:r>
          </a:p>
          <a:p>
            <a:pPr eaLnBrk="1" hangingPunct="1">
              <a:spcBef>
                <a:spcPts val="0"/>
              </a:spcBef>
              <a:buClrTx/>
              <a:buSzTx/>
              <a:buFontTx/>
              <a:buNone/>
            </a:pPr>
            <a:r>
              <a:rPr kumimoji="1" lang="en-US" altLang="zh-CN" dirty="0" smtClean="0"/>
              <a:t>                     ∨</a:t>
            </a:r>
            <a:r>
              <a:rPr kumimoji="1" lang="en-US" altLang="zh-CN" u="sng" dirty="0"/>
              <a:t>(┐P ∧┐Q)</a:t>
            </a:r>
            <a:r>
              <a:rPr kumimoji="1" lang="en-US" altLang="zh-CN" dirty="0"/>
              <a:t>∨</a:t>
            </a:r>
            <a:r>
              <a:rPr kumimoji="1" lang="en-US" altLang="zh-CN" u="sng" dirty="0"/>
              <a:t>(┐P∧ ┐R)</a:t>
            </a:r>
            <a:r>
              <a:rPr kumimoji="1" lang="en-US" altLang="zh-CN" dirty="0"/>
              <a:t> </a:t>
            </a:r>
          </a:p>
        </p:txBody>
      </p:sp>
      <p:sp>
        <p:nvSpPr>
          <p:cNvPr id="649220" name="Text Box 4"/>
          <p:cNvSpPr txBox="1">
            <a:spLocks noChangeArrowheads="1"/>
          </p:cNvSpPr>
          <p:nvPr/>
        </p:nvSpPr>
        <p:spPr bwMode="auto">
          <a:xfrm>
            <a:off x="1835150" y="3281363"/>
            <a:ext cx="6697663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ts val="0"/>
              </a:spcBef>
              <a:buClrTx/>
              <a:buSzTx/>
              <a:buFontTx/>
              <a:buNone/>
            </a:pPr>
            <a:r>
              <a:rPr kumimoji="1" lang="en-US" altLang="zh-CN" dirty="0">
                <a:sym typeface="Symbol" pitchFamily="18" charset="2"/>
              </a:rPr>
              <a:t></a:t>
            </a:r>
            <a:r>
              <a:rPr kumimoji="1" lang="en-US" altLang="zh-CN" dirty="0">
                <a:solidFill>
                  <a:srgbClr val="FF0000"/>
                </a:solidFill>
              </a:rPr>
              <a:t>(</a:t>
            </a:r>
            <a:r>
              <a:rPr kumimoji="1" lang="en-US" altLang="zh-CN" dirty="0"/>
              <a:t>(P∨Q)∧</a:t>
            </a:r>
            <a:r>
              <a:rPr kumimoji="1" lang="en-US" altLang="zh-CN" u="sng" dirty="0"/>
              <a:t>(P∨(Q∧R</a:t>
            </a:r>
            <a:r>
              <a:rPr kumimoji="1" lang="en-US" altLang="zh-CN" u="sng" dirty="0" smtClean="0"/>
              <a:t>))</a:t>
            </a:r>
            <a:r>
              <a:rPr kumimoji="1" lang="en-US" altLang="zh-CN" dirty="0" smtClean="0">
                <a:solidFill>
                  <a:srgbClr val="FF0000"/>
                </a:solidFill>
              </a:rPr>
              <a:t>)</a:t>
            </a:r>
          </a:p>
          <a:p>
            <a:pPr eaLnBrk="1" hangingPunct="1">
              <a:spcBef>
                <a:spcPts val="0"/>
              </a:spcBef>
              <a:buClrTx/>
              <a:buSzTx/>
              <a:buFontTx/>
              <a:buNone/>
            </a:pPr>
            <a:r>
              <a:rPr kumimoji="1" lang="en-US" altLang="zh-CN" dirty="0"/>
              <a:t> </a:t>
            </a:r>
            <a:r>
              <a:rPr kumimoji="1" lang="en-US" altLang="zh-CN" dirty="0" smtClean="0"/>
              <a:t>   ∨</a:t>
            </a:r>
            <a:r>
              <a:rPr kumimoji="1" lang="en-US" altLang="zh-CN" dirty="0">
                <a:solidFill>
                  <a:srgbClr val="FF0000"/>
                </a:solidFill>
              </a:rPr>
              <a:t>(</a:t>
            </a:r>
            <a:r>
              <a:rPr kumimoji="1" lang="en-US" altLang="zh-CN" u="sng" dirty="0"/>
              <a:t>┐(P∨Q))∨(┐(P∨R)</a:t>
            </a:r>
            <a:r>
              <a:rPr kumimoji="1" lang="en-US" altLang="zh-CN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649221" name="Text Box 5"/>
          <p:cNvSpPr txBox="1">
            <a:spLocks noChangeArrowheads="1"/>
          </p:cNvSpPr>
          <p:nvPr/>
        </p:nvSpPr>
        <p:spPr bwMode="auto">
          <a:xfrm>
            <a:off x="1835150" y="4221163"/>
            <a:ext cx="6624638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dirty="0">
                <a:sym typeface="Symbol" pitchFamily="18" charset="2"/>
              </a:rPr>
              <a:t></a:t>
            </a:r>
            <a:r>
              <a:rPr kumimoji="1" lang="en-US" altLang="zh-CN" dirty="0">
                <a:solidFill>
                  <a:srgbClr val="FF0000"/>
                </a:solidFill>
              </a:rPr>
              <a:t>(</a:t>
            </a:r>
            <a:r>
              <a:rPr kumimoji="1" lang="en-US" altLang="zh-CN" dirty="0"/>
              <a:t>(P∨Q)∧</a:t>
            </a:r>
            <a:r>
              <a:rPr kumimoji="1" lang="en-US" altLang="zh-CN" dirty="0">
                <a:solidFill>
                  <a:srgbClr val="21C330"/>
                </a:solidFill>
              </a:rPr>
              <a:t>(</a:t>
            </a:r>
            <a:r>
              <a:rPr kumimoji="1" lang="en-US" altLang="zh-CN" u="sng" dirty="0"/>
              <a:t>(P∨Q)∧(P∨R</a:t>
            </a:r>
            <a:r>
              <a:rPr kumimoji="1" lang="en-US" altLang="zh-CN" u="sng" dirty="0" smtClean="0"/>
              <a:t>)</a:t>
            </a:r>
            <a:r>
              <a:rPr kumimoji="1" lang="en-US" altLang="zh-CN" dirty="0" smtClean="0">
                <a:solidFill>
                  <a:srgbClr val="21C330"/>
                </a:solidFill>
              </a:rPr>
              <a:t>)</a:t>
            </a:r>
            <a:r>
              <a:rPr kumimoji="1" lang="en-US" altLang="zh-CN" dirty="0" smtClean="0">
                <a:solidFill>
                  <a:srgbClr val="FF0000"/>
                </a:solidFill>
              </a:rPr>
              <a:t>)</a:t>
            </a:r>
          </a:p>
          <a:p>
            <a:pPr eaLnBrk="1" hangingPunct="1">
              <a:spcBef>
                <a:spcPts val="0"/>
              </a:spcBef>
              <a:buClrTx/>
              <a:buSzTx/>
              <a:buFontTx/>
              <a:buNone/>
            </a:pPr>
            <a:r>
              <a:rPr kumimoji="1" lang="en-US" altLang="zh-CN" dirty="0"/>
              <a:t> </a:t>
            </a:r>
            <a:r>
              <a:rPr kumimoji="1" lang="en-US" altLang="zh-CN" dirty="0" smtClean="0"/>
              <a:t>   ∨</a:t>
            </a:r>
            <a:r>
              <a:rPr kumimoji="1" lang="en-US" altLang="zh-CN" u="sng" dirty="0" smtClean="0"/>
              <a:t>┐</a:t>
            </a:r>
            <a:r>
              <a:rPr kumimoji="1" lang="en-US" altLang="zh-CN" u="sng" dirty="0">
                <a:solidFill>
                  <a:srgbClr val="FF0000"/>
                </a:solidFill>
              </a:rPr>
              <a:t>(</a:t>
            </a:r>
            <a:r>
              <a:rPr kumimoji="1" lang="en-US" altLang="zh-CN" u="sng" dirty="0"/>
              <a:t>(P∨Q)∧(P∨R)</a:t>
            </a:r>
            <a:r>
              <a:rPr kumimoji="1" lang="en-US" altLang="zh-CN" u="sng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649222" name="Text Box 6"/>
          <p:cNvSpPr txBox="1">
            <a:spLocks noChangeArrowheads="1"/>
          </p:cNvSpPr>
          <p:nvPr/>
        </p:nvSpPr>
        <p:spPr bwMode="auto">
          <a:xfrm>
            <a:off x="1835150" y="5084763"/>
            <a:ext cx="6840538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dirty="0">
                <a:sym typeface="Symbol" pitchFamily="18" charset="2"/>
              </a:rPr>
              <a:t></a:t>
            </a:r>
            <a:r>
              <a:rPr kumimoji="1" lang="en-US" altLang="zh-CN" u="sng" dirty="0">
                <a:solidFill>
                  <a:srgbClr val="FF0000"/>
                </a:solidFill>
              </a:rPr>
              <a:t>(</a:t>
            </a:r>
            <a:r>
              <a:rPr kumimoji="1" lang="en-US" altLang="zh-CN" u="sng" dirty="0"/>
              <a:t>(P∨Q)∧(P∨R)</a:t>
            </a:r>
            <a:r>
              <a:rPr kumimoji="1" lang="en-US" altLang="zh-CN" u="sng" dirty="0">
                <a:solidFill>
                  <a:srgbClr val="FF0000"/>
                </a:solidFill>
              </a:rPr>
              <a:t>)</a:t>
            </a:r>
            <a:r>
              <a:rPr kumimoji="1" lang="en-US" altLang="zh-CN" dirty="0"/>
              <a:t>∨┐</a:t>
            </a:r>
            <a:r>
              <a:rPr kumimoji="1" lang="en-US" altLang="zh-CN" u="sng" dirty="0">
                <a:solidFill>
                  <a:srgbClr val="FF0000"/>
                </a:solidFill>
              </a:rPr>
              <a:t>(</a:t>
            </a:r>
            <a:r>
              <a:rPr kumimoji="1" lang="en-US" altLang="zh-CN" u="sng" dirty="0"/>
              <a:t>(P∨Q)∧(P∨R)</a:t>
            </a:r>
            <a:r>
              <a:rPr kumimoji="1" lang="en-US" altLang="zh-CN" u="sng" dirty="0">
                <a:solidFill>
                  <a:srgbClr val="FF0000"/>
                </a:solidFill>
              </a:rPr>
              <a:t>)</a:t>
            </a:r>
            <a:r>
              <a:rPr kumimoji="1" lang="en-US" altLang="zh-CN" dirty="0">
                <a:sym typeface="Symbol" pitchFamily="18" charset="2"/>
              </a:rPr>
              <a:t></a:t>
            </a:r>
            <a:r>
              <a:rPr kumimoji="1" lang="en-US" altLang="zh-CN" dirty="0"/>
              <a:t>T</a:t>
            </a:r>
          </a:p>
        </p:txBody>
      </p:sp>
      <p:sp>
        <p:nvSpPr>
          <p:cNvPr id="649223" name="Rectangle 7"/>
          <p:cNvSpPr>
            <a:spLocks noChangeArrowheads="1"/>
          </p:cNvSpPr>
          <p:nvPr/>
        </p:nvSpPr>
        <p:spPr bwMode="auto">
          <a:xfrm>
            <a:off x="539750" y="5919788"/>
            <a:ext cx="7916863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/>
              <a:t>        </a:t>
            </a:r>
            <a:r>
              <a:rPr kumimoji="1" lang="zh-CN" altLang="en-US" sz="2400">
                <a:solidFill>
                  <a:schemeClr val="folHlink"/>
                </a:solidFill>
              </a:rPr>
              <a:t>特例：</a:t>
            </a:r>
            <a:r>
              <a:rPr kumimoji="1" lang="zh-CN" altLang="en-US" sz="2400"/>
              <a:t>有一类公式不论命题变元作</a:t>
            </a:r>
            <a:r>
              <a:rPr kumimoji="1" lang="zh-CN" altLang="en-US" sz="2400">
                <a:solidFill>
                  <a:schemeClr val="hlink"/>
                </a:solidFill>
              </a:rPr>
              <a:t>何种</a:t>
            </a:r>
            <a:r>
              <a:rPr kumimoji="1" lang="zh-CN" altLang="en-US" sz="2400"/>
              <a:t>指派，其真值</a:t>
            </a:r>
            <a:r>
              <a:rPr kumimoji="1" lang="zh-CN" altLang="en-US" sz="2400">
                <a:solidFill>
                  <a:schemeClr val="hlink"/>
                </a:solidFill>
              </a:rPr>
              <a:t>永为真（假）</a:t>
            </a:r>
            <a:r>
              <a:rPr kumimoji="1" lang="zh-CN" altLang="en-US" sz="2400"/>
              <a:t>，这类公式记为</a:t>
            </a:r>
            <a:r>
              <a:rPr kumimoji="1" lang="en-US" altLang="zh-CN" sz="2400"/>
              <a:t>T(F)</a:t>
            </a:r>
            <a:r>
              <a:rPr kumimoji="1" lang="zh-CN" altLang="en-US" sz="2400"/>
              <a:t>。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49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49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49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49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49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49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9219" grpId="0" autoUpdateAnimBg="0"/>
      <p:bldP spid="649220" grpId="0" autoUpdateAnimBg="0"/>
      <p:bldP spid="649221" grpId="0" autoUpdateAnimBg="0"/>
      <p:bldP spid="649222" grpId="0"/>
      <p:bldP spid="649223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935F740-63E3-4B3B-93B9-B4DA8D599136}" type="slidenum">
              <a:rPr lang="en-US" altLang="zh-CN"/>
              <a:pPr>
                <a:defRPr/>
              </a:pPr>
              <a:t>42</a:t>
            </a:fld>
            <a:endParaRPr lang="en-US" altLang="zh-CN"/>
          </a:p>
        </p:txBody>
      </p:sp>
      <p:sp>
        <p:nvSpPr>
          <p:cNvPr id="50179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484188"/>
            <a:ext cx="7237412" cy="641350"/>
          </a:xfrm>
          <a:noFill/>
        </p:spPr>
        <p:txBody>
          <a:bodyPr>
            <a:spAutoFit/>
          </a:bodyPr>
          <a:lstStyle/>
          <a:p>
            <a:pPr eaLnBrk="1" hangingPunct="1"/>
            <a:r>
              <a:rPr kumimoji="1" lang="en-US" altLang="zh-CN" sz="3600" b="1" smtClean="0">
                <a:solidFill>
                  <a:schemeClr val="tx1"/>
                </a:solidFill>
                <a:latin typeface="华文行楷" pitchFamily="2" charset="-122"/>
              </a:rPr>
              <a:t>1-5   </a:t>
            </a:r>
            <a:r>
              <a:rPr kumimoji="1" lang="zh-CN" altLang="en-US" sz="3600" b="1" smtClean="0">
                <a:solidFill>
                  <a:schemeClr val="tx1"/>
                </a:solidFill>
                <a:latin typeface="华文行楷" pitchFamily="2" charset="-122"/>
              </a:rPr>
              <a:t>重言式与蕴含式</a:t>
            </a:r>
          </a:p>
        </p:txBody>
      </p:sp>
      <p:sp>
        <p:nvSpPr>
          <p:cNvPr id="50180" name="Rectangle 8"/>
          <p:cNvSpPr>
            <a:spLocks noChangeArrowheads="1"/>
          </p:cNvSpPr>
          <p:nvPr/>
        </p:nvSpPr>
        <p:spPr bwMode="auto">
          <a:xfrm>
            <a:off x="611188" y="2051050"/>
            <a:ext cx="78486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/>
              <a:t>          </a:t>
            </a:r>
            <a:r>
              <a:rPr kumimoji="1" lang="zh-CN" altLang="en-US">
                <a:solidFill>
                  <a:schemeClr val="hlink"/>
                </a:solidFill>
              </a:rPr>
              <a:t>定义</a:t>
            </a:r>
            <a:r>
              <a:rPr kumimoji="1" lang="en-US" altLang="zh-CN">
                <a:solidFill>
                  <a:schemeClr val="hlink"/>
                </a:solidFill>
              </a:rPr>
              <a:t>1-5.1</a:t>
            </a:r>
            <a:r>
              <a:rPr kumimoji="1" lang="zh-CN" altLang="en-US">
                <a:solidFill>
                  <a:schemeClr val="hlink"/>
                </a:solidFill>
              </a:rPr>
              <a:t>：</a:t>
            </a:r>
            <a:r>
              <a:rPr kumimoji="1" lang="zh-CN" altLang="en-US"/>
              <a:t>设</a:t>
            </a:r>
            <a:r>
              <a:rPr kumimoji="1" lang="en-US" altLang="zh-CN"/>
              <a:t>A</a:t>
            </a:r>
            <a:r>
              <a:rPr kumimoji="1" lang="zh-CN" altLang="en-US"/>
              <a:t>为一个命题公式，对</a:t>
            </a:r>
            <a:r>
              <a:rPr kumimoji="1" lang="en-US" altLang="zh-CN"/>
              <a:t>A</a:t>
            </a:r>
            <a:r>
              <a:rPr kumimoji="1" lang="zh-CN" altLang="en-US"/>
              <a:t>的分量</a:t>
            </a:r>
            <a:r>
              <a:rPr kumimoji="1" lang="zh-CN" altLang="en-US" u="sng"/>
              <a:t>所有可能的</a:t>
            </a:r>
            <a:r>
              <a:rPr kumimoji="1" lang="zh-CN" altLang="en-US"/>
              <a:t>指派：</a:t>
            </a:r>
          </a:p>
        </p:txBody>
      </p:sp>
      <p:sp>
        <p:nvSpPr>
          <p:cNvPr id="50181" name="Rectangle 9"/>
          <p:cNvSpPr>
            <a:spLocks noChangeArrowheads="1"/>
          </p:cNvSpPr>
          <p:nvPr/>
        </p:nvSpPr>
        <p:spPr bwMode="auto">
          <a:xfrm>
            <a:off x="1079500" y="1258888"/>
            <a:ext cx="42481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>
                <a:solidFill>
                  <a:schemeClr val="folHlink"/>
                </a:solidFill>
                <a:ea typeface="楷体_GB2312" pitchFamily="49" charset="-122"/>
              </a:rPr>
              <a:t>一、公式的分类和性质</a:t>
            </a:r>
          </a:p>
        </p:txBody>
      </p:sp>
      <p:sp>
        <p:nvSpPr>
          <p:cNvPr id="527370" name="Rectangle 10"/>
          <p:cNvSpPr>
            <a:spLocks noChangeArrowheads="1"/>
          </p:cNvSpPr>
          <p:nvPr/>
        </p:nvSpPr>
        <p:spPr bwMode="auto">
          <a:xfrm>
            <a:off x="611188" y="3059113"/>
            <a:ext cx="75311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/>
              <a:t>        ①</a:t>
            </a:r>
            <a:r>
              <a:rPr kumimoji="1" lang="zh-CN" altLang="en-US"/>
              <a:t>若</a:t>
            </a:r>
            <a:r>
              <a:rPr kumimoji="1" lang="en-US" altLang="zh-CN"/>
              <a:t>A</a:t>
            </a:r>
            <a:r>
              <a:rPr kumimoji="1" lang="zh-CN" altLang="en-US"/>
              <a:t>的真值皆为真，称</a:t>
            </a:r>
            <a:r>
              <a:rPr kumimoji="1" lang="en-US" altLang="zh-CN"/>
              <a:t>A</a:t>
            </a:r>
            <a:r>
              <a:rPr kumimoji="1" lang="zh-CN" altLang="en-US"/>
              <a:t>为</a:t>
            </a:r>
            <a:r>
              <a:rPr kumimoji="1" lang="zh-CN" altLang="en-US">
                <a:solidFill>
                  <a:schemeClr val="hlink"/>
                </a:solidFill>
              </a:rPr>
              <a:t>永真</a:t>
            </a:r>
            <a:r>
              <a:rPr kumimoji="1" lang="zh-CN" altLang="en-US"/>
              <a:t>式（重言式）；</a:t>
            </a:r>
          </a:p>
        </p:txBody>
      </p:sp>
      <p:sp>
        <p:nvSpPr>
          <p:cNvPr id="527371" name="Rectangle 11"/>
          <p:cNvSpPr>
            <a:spLocks noChangeArrowheads="1"/>
          </p:cNvSpPr>
          <p:nvPr/>
        </p:nvSpPr>
        <p:spPr bwMode="auto">
          <a:xfrm>
            <a:off x="611188" y="4149725"/>
            <a:ext cx="757555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/>
              <a:t>        ②</a:t>
            </a:r>
            <a:r>
              <a:rPr kumimoji="1" lang="zh-CN" altLang="en-US"/>
              <a:t>若</a:t>
            </a:r>
            <a:r>
              <a:rPr kumimoji="1" lang="en-US" altLang="zh-CN"/>
              <a:t>A</a:t>
            </a:r>
            <a:r>
              <a:rPr kumimoji="1" lang="zh-CN" altLang="en-US"/>
              <a:t>的真值皆为假，称</a:t>
            </a:r>
            <a:r>
              <a:rPr kumimoji="1" lang="en-US" altLang="zh-CN"/>
              <a:t>A</a:t>
            </a:r>
            <a:r>
              <a:rPr kumimoji="1" lang="zh-CN" altLang="en-US"/>
              <a:t>为</a:t>
            </a:r>
            <a:r>
              <a:rPr kumimoji="1" lang="zh-CN" altLang="en-US">
                <a:solidFill>
                  <a:schemeClr val="hlink"/>
                </a:solidFill>
              </a:rPr>
              <a:t>永假</a:t>
            </a:r>
            <a:r>
              <a:rPr kumimoji="1" lang="zh-CN" altLang="en-US"/>
              <a:t>式（矛盾式）；</a:t>
            </a:r>
          </a:p>
        </p:txBody>
      </p:sp>
      <p:sp>
        <p:nvSpPr>
          <p:cNvPr id="527372" name="Rectangle 12"/>
          <p:cNvSpPr>
            <a:spLocks noChangeArrowheads="1"/>
          </p:cNvSpPr>
          <p:nvPr/>
        </p:nvSpPr>
        <p:spPr bwMode="auto">
          <a:xfrm>
            <a:off x="611188" y="5219700"/>
            <a:ext cx="7699375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/>
              <a:t>        ③</a:t>
            </a:r>
            <a:r>
              <a:rPr kumimoji="1" lang="zh-CN" altLang="en-US"/>
              <a:t>若</a:t>
            </a:r>
            <a:r>
              <a:rPr kumimoji="1" lang="en-US" altLang="zh-CN"/>
              <a:t>A</a:t>
            </a:r>
            <a:r>
              <a:rPr kumimoji="1" lang="zh-CN" altLang="en-US"/>
              <a:t>的真值</a:t>
            </a:r>
            <a:r>
              <a:rPr kumimoji="1" lang="zh-CN" altLang="en-US" u="sng"/>
              <a:t>至少存在一个</a:t>
            </a:r>
            <a:r>
              <a:rPr kumimoji="1" lang="zh-CN" altLang="en-US"/>
              <a:t>为真，称</a:t>
            </a:r>
            <a:r>
              <a:rPr kumimoji="1" lang="en-US" altLang="zh-CN"/>
              <a:t>A</a:t>
            </a:r>
            <a:r>
              <a:rPr kumimoji="1" lang="zh-CN" altLang="en-US"/>
              <a:t>为</a:t>
            </a:r>
            <a:r>
              <a:rPr kumimoji="1" lang="zh-CN" altLang="en-US">
                <a:solidFill>
                  <a:schemeClr val="hlink"/>
                </a:solidFill>
              </a:rPr>
              <a:t>可满足</a:t>
            </a:r>
            <a:r>
              <a:rPr kumimoji="1" lang="zh-CN" altLang="en-US"/>
              <a:t>式。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7370" grpId="0"/>
      <p:bldP spid="527371" grpId="0"/>
      <p:bldP spid="52737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D62B32C-E4DD-4697-B5A6-940C81A06418}" type="slidenum">
              <a:rPr lang="en-US" altLang="zh-CN"/>
              <a:pPr>
                <a:defRPr/>
              </a:pPr>
              <a:t>43</a:t>
            </a:fld>
            <a:endParaRPr lang="en-US" altLang="zh-CN"/>
          </a:p>
        </p:txBody>
      </p:sp>
      <p:graphicFrame>
        <p:nvGraphicFramePr>
          <p:cNvPr id="528486" name="Group 102"/>
          <p:cNvGraphicFramePr>
            <a:graphicFrameLocks noGrp="1"/>
          </p:cNvGraphicFramePr>
          <p:nvPr/>
        </p:nvGraphicFramePr>
        <p:xfrm>
          <a:off x="1331913" y="3933825"/>
          <a:ext cx="3579812" cy="2590800"/>
        </p:xfrm>
        <a:graphic>
          <a:graphicData uri="http://schemas.openxmlformats.org/drawingml/2006/table">
            <a:tbl>
              <a:tblPr/>
              <a:tblGrid>
                <a:gridCol w="576262"/>
                <a:gridCol w="620713"/>
                <a:gridCol w="2382837"/>
              </a:tblGrid>
              <a:tr h="431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(P∧Q) ∧┐P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4810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431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4794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4175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28492" name="Group 108"/>
          <p:cNvGraphicFramePr>
            <a:graphicFrameLocks noGrp="1"/>
          </p:cNvGraphicFramePr>
          <p:nvPr/>
        </p:nvGraphicFramePr>
        <p:xfrm>
          <a:off x="1331913" y="1268413"/>
          <a:ext cx="5119687" cy="2590800"/>
        </p:xfrm>
        <a:graphic>
          <a:graphicData uri="http://schemas.openxmlformats.org/drawingml/2006/table">
            <a:tbl>
              <a:tblPr/>
              <a:tblGrid>
                <a:gridCol w="576262"/>
                <a:gridCol w="576263"/>
                <a:gridCol w="3967162"/>
              </a:tblGrid>
              <a:tr h="431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┐(P∧Q)</a:t>
                      </a: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Arial Unicode MS" pitchFamily="34" charset="-122"/>
                          <a:ea typeface="Arial Unicode MS" pitchFamily="34" charset="-122"/>
                          <a:cs typeface="Arial Unicode MS" pitchFamily="34" charset="-122"/>
                        </a:rPr>
                        <a:t>⇄</a:t>
                      </a: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(┐P∨ ┐ Q)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4810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4127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5048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4445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</a:tbl>
          </a:graphicData>
        </a:graphic>
      </p:graphicFrame>
      <p:sp>
        <p:nvSpPr>
          <p:cNvPr id="528451" name="Rectangle 67"/>
          <p:cNvSpPr>
            <a:spLocks noChangeArrowheads="1"/>
          </p:cNvSpPr>
          <p:nvPr/>
        </p:nvSpPr>
        <p:spPr bwMode="auto">
          <a:xfrm>
            <a:off x="6556375" y="1536700"/>
            <a:ext cx="12557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/>
              <a:t>永真式</a:t>
            </a:r>
          </a:p>
        </p:txBody>
      </p:sp>
      <p:sp>
        <p:nvSpPr>
          <p:cNvPr id="528452" name="Rectangle 68"/>
          <p:cNvSpPr>
            <a:spLocks noChangeArrowheads="1"/>
          </p:cNvSpPr>
          <p:nvPr/>
        </p:nvSpPr>
        <p:spPr bwMode="auto">
          <a:xfrm>
            <a:off x="5692775" y="4221163"/>
            <a:ext cx="12557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/>
              <a:t>永假式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8451" grpId="0"/>
      <p:bldP spid="528452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D35A655-35BE-4CFF-97B2-34D2721C1E51}" type="slidenum">
              <a:rPr lang="en-US" altLang="zh-CN"/>
              <a:pPr>
                <a:defRPr/>
              </a:pPr>
              <a:t>44</a:t>
            </a:fld>
            <a:endParaRPr lang="en-US" altLang="zh-CN"/>
          </a:p>
        </p:txBody>
      </p:sp>
      <p:sp>
        <p:nvSpPr>
          <p:cNvPr id="438281" name="Rectangle 9"/>
          <p:cNvSpPr>
            <a:spLocks noChangeArrowheads="1"/>
          </p:cNvSpPr>
          <p:nvPr/>
        </p:nvSpPr>
        <p:spPr bwMode="auto">
          <a:xfrm>
            <a:off x="684213" y="3213100"/>
            <a:ext cx="7561262" cy="115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/>
              <a:t>                                                      </a:t>
            </a:r>
            <a:r>
              <a:rPr kumimoji="1" lang="zh-CN" altLang="en-US"/>
              <a:t>则不论</a:t>
            </a:r>
            <a:r>
              <a:rPr kumimoji="1" lang="en-US" altLang="zh-CN"/>
              <a:t>A</a:t>
            </a:r>
            <a:r>
              <a:rPr kumimoji="1" lang="zh-CN" altLang="en-US"/>
              <a:t>和</a:t>
            </a:r>
            <a:r>
              <a:rPr kumimoji="1" lang="en-US" altLang="zh-CN"/>
              <a:t>B</a:t>
            </a:r>
            <a:r>
              <a:rPr kumimoji="1" lang="zh-CN" altLang="en-US"/>
              <a:t>的分量指派任何真值，</a:t>
            </a:r>
            <a:r>
              <a:rPr kumimoji="1" lang="zh-CN" altLang="en-US" u="sng">
                <a:solidFill>
                  <a:schemeClr val="hlink"/>
                </a:solidFill>
              </a:rPr>
              <a:t>总有</a:t>
            </a:r>
            <a:r>
              <a:rPr kumimoji="1" lang="en-US" altLang="zh-CN"/>
              <a:t>A</a:t>
            </a:r>
            <a:r>
              <a:rPr kumimoji="1" lang="zh-CN" altLang="en-US"/>
              <a:t>为</a:t>
            </a:r>
            <a:r>
              <a:rPr kumimoji="1" lang="en-US" altLang="zh-CN"/>
              <a:t>T</a:t>
            </a:r>
            <a:r>
              <a:rPr kumimoji="1" lang="zh-CN" altLang="en-US"/>
              <a:t>且</a:t>
            </a:r>
            <a:r>
              <a:rPr kumimoji="1" lang="en-US" altLang="zh-CN"/>
              <a:t>B</a:t>
            </a:r>
            <a:r>
              <a:rPr kumimoji="1" lang="zh-CN" altLang="en-US"/>
              <a:t>为</a:t>
            </a:r>
            <a:r>
              <a:rPr kumimoji="1" lang="en-US" altLang="zh-CN"/>
              <a:t>T</a:t>
            </a:r>
            <a:r>
              <a:rPr kumimoji="1" lang="zh-CN" altLang="en-US"/>
              <a:t>，</a:t>
            </a:r>
          </a:p>
        </p:txBody>
      </p:sp>
      <p:sp>
        <p:nvSpPr>
          <p:cNvPr id="52228" name="Text Box 2"/>
          <p:cNvSpPr txBox="1">
            <a:spLocks noChangeArrowheads="1"/>
          </p:cNvSpPr>
          <p:nvPr/>
        </p:nvSpPr>
        <p:spPr bwMode="auto">
          <a:xfrm>
            <a:off x="719138" y="1619250"/>
            <a:ext cx="7704137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>
                <a:solidFill>
                  <a:schemeClr val="hlink"/>
                </a:solidFill>
              </a:rPr>
              <a:t>        </a:t>
            </a:r>
            <a:r>
              <a:rPr kumimoji="1" lang="zh-CN" altLang="en-US">
                <a:solidFill>
                  <a:schemeClr val="hlink"/>
                </a:solidFill>
              </a:rPr>
              <a:t>定理</a:t>
            </a:r>
            <a:r>
              <a:rPr kumimoji="1" lang="en-US" altLang="zh-CN">
                <a:solidFill>
                  <a:schemeClr val="hlink"/>
                </a:solidFill>
              </a:rPr>
              <a:t>1-5. 1</a:t>
            </a:r>
            <a:r>
              <a:rPr kumimoji="1" lang="zh-CN" altLang="en-US">
                <a:solidFill>
                  <a:schemeClr val="hlink"/>
                </a:solidFill>
              </a:rPr>
              <a:t>：</a:t>
            </a:r>
            <a:r>
              <a:rPr kumimoji="1" lang="zh-CN" altLang="en-US"/>
              <a:t>任何两个</a:t>
            </a:r>
            <a:r>
              <a:rPr kumimoji="1" lang="zh-CN" altLang="en-US">
                <a:solidFill>
                  <a:schemeClr val="hlink"/>
                </a:solidFill>
              </a:rPr>
              <a:t>重言式</a:t>
            </a:r>
            <a:r>
              <a:rPr kumimoji="1" lang="zh-CN" altLang="en-US"/>
              <a:t>（矛盾式）的合取或析取，仍是一个</a:t>
            </a:r>
            <a:r>
              <a:rPr kumimoji="1" lang="zh-CN" altLang="en-US">
                <a:solidFill>
                  <a:schemeClr val="hlink"/>
                </a:solidFill>
              </a:rPr>
              <a:t>重言式</a:t>
            </a:r>
            <a:r>
              <a:rPr kumimoji="1" lang="zh-CN" altLang="en-US"/>
              <a:t>（矛盾式）。</a:t>
            </a:r>
          </a:p>
        </p:txBody>
      </p:sp>
      <p:sp>
        <p:nvSpPr>
          <p:cNvPr id="438276" name="Text Box 4"/>
          <p:cNvSpPr txBox="1">
            <a:spLocks noChangeArrowheads="1"/>
          </p:cNvSpPr>
          <p:nvPr/>
        </p:nvSpPr>
        <p:spPr bwMode="auto">
          <a:xfrm>
            <a:off x="719138" y="3279775"/>
            <a:ext cx="74882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zh-CN" altLang="en-US"/>
              <a:t>证明：设</a:t>
            </a:r>
            <a:r>
              <a:rPr kumimoji="1" lang="en-US" altLang="zh-CN"/>
              <a:t>A</a:t>
            </a:r>
            <a:r>
              <a:rPr kumimoji="1" lang="zh-CN" altLang="en-US"/>
              <a:t>和</a:t>
            </a:r>
            <a:r>
              <a:rPr kumimoji="1" lang="en-US" altLang="zh-CN"/>
              <a:t>B</a:t>
            </a:r>
            <a:r>
              <a:rPr kumimoji="1" lang="zh-CN" altLang="en-US"/>
              <a:t>为两个重言式，</a:t>
            </a:r>
          </a:p>
        </p:txBody>
      </p:sp>
      <p:sp>
        <p:nvSpPr>
          <p:cNvPr id="438283" name="Rectangle 11"/>
          <p:cNvSpPr>
            <a:spLocks noChangeArrowheads="1"/>
          </p:cNvSpPr>
          <p:nvPr/>
        </p:nvSpPr>
        <p:spPr bwMode="auto">
          <a:xfrm>
            <a:off x="719138" y="4422775"/>
            <a:ext cx="44402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zh-CN" altLang="en-US"/>
              <a:t>故</a:t>
            </a:r>
            <a:r>
              <a:rPr kumimoji="1" lang="en-US" altLang="zh-CN"/>
              <a:t>A∧B </a:t>
            </a:r>
            <a:r>
              <a:rPr kumimoji="1" lang="en-US" altLang="zh-CN">
                <a:sym typeface="Symbol" pitchFamily="18" charset="2"/>
              </a:rPr>
              <a:t></a:t>
            </a:r>
            <a:r>
              <a:rPr kumimoji="1" lang="en-US" altLang="zh-CN"/>
              <a:t>T</a:t>
            </a:r>
            <a:r>
              <a:rPr kumimoji="1" lang="zh-CN" altLang="en-US"/>
              <a:t>， </a:t>
            </a:r>
            <a:r>
              <a:rPr kumimoji="1" lang="en-US" altLang="zh-CN"/>
              <a:t>A∨B </a:t>
            </a:r>
            <a:r>
              <a:rPr kumimoji="1" lang="en-US" altLang="zh-CN">
                <a:sym typeface="Symbol" pitchFamily="18" charset="2"/>
              </a:rPr>
              <a:t></a:t>
            </a:r>
            <a:r>
              <a:rPr kumimoji="1" lang="en-US" altLang="zh-CN"/>
              <a:t>T</a:t>
            </a:r>
            <a:r>
              <a:rPr kumimoji="1" lang="zh-CN" altLang="en-US"/>
              <a:t>。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82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82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8281" grpId="0"/>
      <p:bldP spid="438276" grpId="0" autoUpdateAnimBg="0"/>
      <p:bldP spid="438283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85C0BD8-9709-49E9-BFED-450307CA0D42}" type="slidenum">
              <a:rPr lang="en-US" altLang="zh-CN"/>
              <a:pPr>
                <a:defRPr/>
              </a:pPr>
              <a:t>45</a:t>
            </a:fld>
            <a:endParaRPr lang="en-US" altLang="zh-CN"/>
          </a:p>
        </p:txBody>
      </p:sp>
      <p:sp>
        <p:nvSpPr>
          <p:cNvPr id="53251" name="Text Box 4"/>
          <p:cNvSpPr txBox="1">
            <a:spLocks noChangeArrowheads="1"/>
          </p:cNvSpPr>
          <p:nvPr/>
        </p:nvSpPr>
        <p:spPr bwMode="auto">
          <a:xfrm>
            <a:off x="719138" y="1557338"/>
            <a:ext cx="7705725" cy="1373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>
                <a:solidFill>
                  <a:schemeClr val="hlink"/>
                </a:solidFill>
              </a:rPr>
              <a:t>        </a:t>
            </a:r>
            <a:r>
              <a:rPr kumimoji="1" lang="zh-CN" altLang="en-US">
                <a:solidFill>
                  <a:schemeClr val="hlink"/>
                </a:solidFill>
              </a:rPr>
              <a:t>定理</a:t>
            </a:r>
            <a:r>
              <a:rPr kumimoji="1" lang="en-US" altLang="zh-CN">
                <a:solidFill>
                  <a:schemeClr val="hlink"/>
                </a:solidFill>
              </a:rPr>
              <a:t>1-5. 2</a:t>
            </a:r>
            <a:r>
              <a:rPr kumimoji="1" lang="zh-CN" altLang="en-US">
                <a:solidFill>
                  <a:schemeClr val="hlink"/>
                </a:solidFill>
              </a:rPr>
              <a:t>：</a:t>
            </a:r>
            <a:r>
              <a:rPr kumimoji="1" lang="zh-CN" altLang="en-US"/>
              <a:t>一个重言式（矛盾式），对同一分量都用任何合式公式</a:t>
            </a:r>
            <a:r>
              <a:rPr kumimoji="1" lang="zh-CN" altLang="en-US" u="sng">
                <a:solidFill>
                  <a:schemeClr val="hlink"/>
                </a:solidFill>
              </a:rPr>
              <a:t>置换</a:t>
            </a:r>
            <a:r>
              <a:rPr kumimoji="1" lang="zh-CN" altLang="en-US"/>
              <a:t>，其结果仍为一重言式（矛盾式）。    </a:t>
            </a:r>
          </a:p>
        </p:txBody>
      </p:sp>
      <p:sp>
        <p:nvSpPr>
          <p:cNvPr id="532485" name="Text Box 5"/>
          <p:cNvSpPr txBox="1">
            <a:spLocks noChangeArrowheads="1"/>
          </p:cNvSpPr>
          <p:nvPr/>
        </p:nvSpPr>
        <p:spPr bwMode="auto">
          <a:xfrm>
            <a:off x="719138" y="3279775"/>
            <a:ext cx="78486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zh-CN" altLang="en-US"/>
              <a:t>证明：由于重言式的真值与分量的</a:t>
            </a:r>
            <a:r>
              <a:rPr kumimoji="1" lang="zh-CN" altLang="en-US" u="sng">
                <a:solidFill>
                  <a:schemeClr val="hlink"/>
                </a:solidFill>
              </a:rPr>
              <a:t>指派无关</a:t>
            </a:r>
            <a:r>
              <a:rPr kumimoji="1" lang="zh-CN" altLang="en-US"/>
              <a:t>，故对同一分量以任何合式公式置换后，重言式的真值仍永为</a:t>
            </a:r>
            <a:r>
              <a:rPr kumimoji="1" lang="en-US" altLang="zh-CN"/>
              <a:t>T</a:t>
            </a:r>
            <a:r>
              <a:rPr kumimoji="1" lang="zh-CN" altLang="en-US"/>
              <a:t>。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24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24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485" grpId="0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F0B5972-8B59-4336-AF2C-AC0483070055}" type="slidenum">
              <a:rPr lang="en-US" altLang="zh-CN"/>
              <a:pPr>
                <a:defRPr/>
              </a:pPr>
              <a:t>46</a:t>
            </a:fld>
            <a:endParaRPr lang="en-US" altLang="zh-CN"/>
          </a:p>
        </p:txBody>
      </p:sp>
      <p:sp>
        <p:nvSpPr>
          <p:cNvPr id="54275" name="Text Box 4"/>
          <p:cNvSpPr txBox="1">
            <a:spLocks noChangeArrowheads="1"/>
          </p:cNvSpPr>
          <p:nvPr/>
        </p:nvSpPr>
        <p:spPr bwMode="auto">
          <a:xfrm>
            <a:off x="719138" y="1341438"/>
            <a:ext cx="7056437" cy="1289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>
                <a:solidFill>
                  <a:schemeClr val="hlink"/>
                </a:solidFill>
              </a:rPr>
              <a:t>例</a:t>
            </a:r>
            <a:r>
              <a:rPr kumimoji="1" lang="en-US" altLang="zh-CN">
                <a:solidFill>
                  <a:schemeClr val="hlink"/>
                </a:solidFill>
              </a:rPr>
              <a:t>1</a:t>
            </a:r>
            <a:r>
              <a:rPr kumimoji="1" lang="zh-CN" altLang="en-US">
                <a:solidFill>
                  <a:schemeClr val="hlink"/>
                </a:solidFill>
              </a:rPr>
              <a:t>：</a:t>
            </a:r>
            <a:r>
              <a:rPr kumimoji="1" lang="zh-CN" altLang="en-US"/>
              <a:t>证明</a:t>
            </a:r>
            <a:r>
              <a:rPr kumimoji="1" lang="en-US" altLang="zh-CN"/>
              <a:t>((P∨S)∧R) ∨ ┐((P∨S)∧R)</a:t>
            </a:r>
            <a:r>
              <a:rPr kumimoji="1" lang="zh-CN" altLang="en-US"/>
              <a:t>为重言式。</a:t>
            </a:r>
          </a:p>
        </p:txBody>
      </p:sp>
      <p:sp>
        <p:nvSpPr>
          <p:cNvPr id="123909" name="Text Box 5"/>
          <p:cNvSpPr txBox="1">
            <a:spLocks noChangeArrowheads="1"/>
          </p:cNvSpPr>
          <p:nvPr/>
        </p:nvSpPr>
        <p:spPr bwMode="auto">
          <a:xfrm>
            <a:off x="719138" y="3068638"/>
            <a:ext cx="7343775" cy="690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/>
              <a:t>证明：∵</a:t>
            </a:r>
            <a:r>
              <a:rPr kumimoji="1" lang="en-US" altLang="zh-CN"/>
              <a:t>P∨┐P</a:t>
            </a:r>
            <a:r>
              <a:rPr kumimoji="1" lang="en-US" altLang="zh-CN">
                <a:sym typeface="Symbol" pitchFamily="18" charset="2"/>
              </a:rPr>
              <a:t></a:t>
            </a:r>
            <a:r>
              <a:rPr kumimoji="1" lang="en-US" altLang="zh-CN"/>
              <a:t>T</a:t>
            </a:r>
            <a:r>
              <a:rPr kumimoji="1" lang="zh-CN" altLang="en-US"/>
              <a:t>，</a:t>
            </a:r>
          </a:p>
        </p:txBody>
      </p:sp>
      <p:sp>
        <p:nvSpPr>
          <p:cNvPr id="123911" name="Rectangle 7"/>
          <p:cNvSpPr>
            <a:spLocks noChangeArrowheads="1"/>
          </p:cNvSpPr>
          <p:nvPr/>
        </p:nvSpPr>
        <p:spPr bwMode="auto">
          <a:xfrm>
            <a:off x="719138" y="3933825"/>
            <a:ext cx="5092700" cy="690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>
                <a:latin typeface="宋体" pitchFamily="2" charset="-122"/>
              </a:rPr>
              <a:t>∴</a:t>
            </a:r>
            <a:r>
              <a:rPr kumimoji="1" lang="zh-CN" altLang="en-US"/>
              <a:t>用</a:t>
            </a:r>
            <a:r>
              <a:rPr kumimoji="1" lang="en-US" altLang="zh-CN"/>
              <a:t>(P∨S)∧R) </a:t>
            </a:r>
            <a:r>
              <a:rPr kumimoji="1" lang="zh-CN" altLang="en-US"/>
              <a:t>置换</a:t>
            </a:r>
            <a:r>
              <a:rPr kumimoji="1" lang="en-US" altLang="zh-CN"/>
              <a:t>P</a:t>
            </a:r>
            <a:r>
              <a:rPr kumimoji="1" lang="zh-CN" altLang="en-US"/>
              <a:t>，即得。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39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39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909" grpId="0" autoUpdateAnimBg="0"/>
      <p:bldP spid="12391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C018E38-3AB4-435B-B0B1-63949F80DE27}" type="slidenum">
              <a:rPr lang="en-US" altLang="zh-CN"/>
              <a:pPr>
                <a:defRPr/>
              </a:pPr>
              <a:t>47</a:t>
            </a:fld>
            <a:endParaRPr lang="en-US" altLang="zh-CN"/>
          </a:p>
        </p:txBody>
      </p:sp>
      <p:sp>
        <p:nvSpPr>
          <p:cNvPr id="55299" name="Rectangle 115"/>
          <p:cNvSpPr>
            <a:spLocks noChangeArrowheads="1"/>
          </p:cNvSpPr>
          <p:nvPr/>
        </p:nvSpPr>
        <p:spPr bwMode="auto">
          <a:xfrm>
            <a:off x="719138" y="1370013"/>
            <a:ext cx="7916862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>
                <a:solidFill>
                  <a:schemeClr val="hlink"/>
                </a:solidFill>
              </a:rPr>
              <a:t>       </a:t>
            </a:r>
            <a:r>
              <a:rPr kumimoji="1" lang="zh-CN" altLang="en-US">
                <a:solidFill>
                  <a:schemeClr val="hlink"/>
                </a:solidFill>
              </a:rPr>
              <a:t>定理</a:t>
            </a:r>
            <a:r>
              <a:rPr kumimoji="1" lang="en-US" altLang="zh-CN">
                <a:solidFill>
                  <a:schemeClr val="hlink"/>
                </a:solidFill>
              </a:rPr>
              <a:t>1-5. 3</a:t>
            </a:r>
            <a:r>
              <a:rPr kumimoji="1" lang="zh-CN" altLang="en-US">
                <a:solidFill>
                  <a:schemeClr val="hlink"/>
                </a:solidFill>
              </a:rPr>
              <a:t>：</a:t>
            </a:r>
            <a:r>
              <a:rPr kumimoji="1" lang="zh-CN" altLang="en-US"/>
              <a:t>设</a:t>
            </a:r>
            <a:r>
              <a:rPr kumimoji="1" lang="en-US" altLang="zh-CN"/>
              <a:t>A , B</a:t>
            </a:r>
            <a:r>
              <a:rPr kumimoji="1" lang="zh-CN" altLang="en-US"/>
              <a:t>为两个命题公式，</a:t>
            </a:r>
            <a:r>
              <a:rPr kumimoji="1" lang="en-US" altLang="zh-CN"/>
              <a:t>A</a:t>
            </a:r>
            <a:r>
              <a:rPr kumimoji="1" lang="en-US" altLang="zh-CN">
                <a:sym typeface="Symbol" pitchFamily="18" charset="2"/>
              </a:rPr>
              <a:t></a:t>
            </a:r>
            <a:r>
              <a:rPr kumimoji="1" lang="en-US" altLang="zh-CN"/>
              <a:t>B</a:t>
            </a:r>
            <a:r>
              <a:rPr kumimoji="1" lang="zh-CN" altLang="en-US"/>
              <a:t>当且仅当</a:t>
            </a:r>
            <a:r>
              <a:rPr kumimoji="1" lang="en-US" altLang="zh-CN"/>
              <a:t>A</a:t>
            </a:r>
            <a:r>
              <a:rPr kumimoji="1" lang="en-US" altLang="zh-CN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⇄</a:t>
            </a:r>
            <a:r>
              <a:rPr kumimoji="1" lang="en-US" altLang="zh-CN"/>
              <a:t>B</a:t>
            </a:r>
            <a:r>
              <a:rPr kumimoji="1" lang="zh-CN" altLang="en-US"/>
              <a:t>为一个重言式。</a:t>
            </a:r>
          </a:p>
        </p:txBody>
      </p:sp>
      <p:sp>
        <p:nvSpPr>
          <p:cNvPr id="55300" name="Text Box 4"/>
          <p:cNvSpPr txBox="1">
            <a:spLocks noChangeArrowheads="1"/>
          </p:cNvSpPr>
          <p:nvPr/>
        </p:nvSpPr>
        <p:spPr bwMode="auto">
          <a:xfrm>
            <a:off x="827088" y="692150"/>
            <a:ext cx="7058025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1077913" indent="-45720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714500" indent="-4572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2351088" indent="-4572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987675" indent="-4572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3444875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902075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4359275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816475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lvl="1" eaLnBrk="1" hangingPunct="1">
              <a:spcBef>
                <a:spcPct val="50000"/>
              </a:spcBef>
              <a:buClrTx/>
              <a:buSzTx/>
              <a:buFontTx/>
              <a:buAutoNum type="arabicPeriod"/>
            </a:pPr>
            <a:r>
              <a:rPr kumimoji="1" lang="zh-CN" altLang="en-US" sz="3000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</a:rPr>
              <a:t>双条件重言式（</a:t>
            </a:r>
            <a:r>
              <a:rPr lang="zh-CN" altLang="en-US" sz="3000">
                <a:solidFill>
                  <a:schemeClr val="folHlink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⇄</a:t>
            </a:r>
            <a:r>
              <a:rPr kumimoji="1" lang="zh-CN" altLang="en-US" sz="3000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</a:rPr>
              <a:t>和</a:t>
            </a:r>
            <a:r>
              <a:rPr kumimoji="1" lang="zh-CN" altLang="en-US" sz="3000">
                <a:solidFill>
                  <a:schemeClr val="folHlink"/>
                </a:solidFill>
                <a:sym typeface="Symbol" pitchFamily="18" charset="2"/>
              </a:rPr>
              <a:t></a:t>
            </a:r>
            <a:r>
              <a:rPr kumimoji="1" lang="zh-CN" altLang="en-US" sz="3000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</a:rPr>
              <a:t>联系）</a:t>
            </a:r>
          </a:p>
        </p:txBody>
      </p:sp>
      <p:graphicFrame>
        <p:nvGraphicFramePr>
          <p:cNvPr id="450698" name="Group 138"/>
          <p:cNvGraphicFramePr>
            <a:graphicFrameLocks noGrp="1"/>
          </p:cNvGraphicFramePr>
          <p:nvPr/>
        </p:nvGraphicFramePr>
        <p:xfrm>
          <a:off x="2700338" y="2347913"/>
          <a:ext cx="4002087" cy="1554378"/>
        </p:xfrm>
        <a:graphic>
          <a:graphicData uri="http://schemas.openxmlformats.org/drawingml/2006/table">
            <a:tbl>
              <a:tblPr/>
              <a:tblGrid>
                <a:gridCol w="1138237"/>
                <a:gridCol w="877888"/>
                <a:gridCol w="863600"/>
                <a:gridCol w="1122362"/>
              </a:tblGrid>
              <a:tr h="51805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</a:t>
                      </a: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Arial Unicode MS" pitchFamily="34" charset="-122"/>
                          <a:ea typeface="Arial Unicode MS" pitchFamily="34" charset="-122"/>
                          <a:cs typeface="Arial Unicode MS" pitchFamily="34" charset="-122"/>
                        </a:rPr>
                        <a:t>⇄</a:t>
                      </a: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51805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51805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</a:tbl>
          </a:graphicData>
        </a:graphic>
      </p:graphicFrame>
      <p:sp>
        <p:nvSpPr>
          <p:cNvPr id="450603" name="Text Box 43"/>
          <p:cNvSpPr txBox="1">
            <a:spLocks noChangeArrowheads="1"/>
          </p:cNvSpPr>
          <p:nvPr/>
        </p:nvSpPr>
        <p:spPr bwMode="auto">
          <a:xfrm>
            <a:off x="719138" y="4149725"/>
            <a:ext cx="7916862" cy="860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/>
              <a:t>证明：若</a:t>
            </a:r>
            <a:r>
              <a:rPr kumimoji="1" lang="en-US" altLang="zh-CN"/>
              <a:t>A</a:t>
            </a:r>
            <a:r>
              <a:rPr kumimoji="1" lang="en-US" altLang="zh-CN">
                <a:sym typeface="Symbol" pitchFamily="18" charset="2"/>
              </a:rPr>
              <a:t></a:t>
            </a:r>
            <a:r>
              <a:rPr kumimoji="1" lang="en-US" altLang="zh-CN"/>
              <a:t>B</a:t>
            </a:r>
            <a:r>
              <a:rPr kumimoji="1" lang="zh-CN" altLang="en-US"/>
              <a:t>，则</a:t>
            </a:r>
            <a:r>
              <a:rPr kumimoji="1" lang="en-US" altLang="zh-CN"/>
              <a:t>A</a:t>
            </a:r>
            <a:r>
              <a:rPr kumimoji="1" lang="zh-CN" altLang="en-US"/>
              <a:t>，</a:t>
            </a:r>
            <a:r>
              <a:rPr kumimoji="1" lang="en-US" altLang="zh-CN"/>
              <a:t>B</a:t>
            </a:r>
            <a:r>
              <a:rPr kumimoji="1" lang="zh-CN" altLang="en-US"/>
              <a:t>有</a:t>
            </a:r>
            <a:r>
              <a:rPr kumimoji="1" lang="zh-CN" altLang="en-US" u="sng">
                <a:solidFill>
                  <a:schemeClr val="hlink"/>
                </a:solidFill>
              </a:rPr>
              <a:t>相同的</a:t>
            </a:r>
            <a:r>
              <a:rPr kumimoji="1" lang="zh-CN" altLang="en-US"/>
              <a:t>真值，即</a:t>
            </a:r>
            <a:r>
              <a:rPr kumimoji="1" lang="en-US" altLang="zh-CN"/>
              <a:t>A</a:t>
            </a:r>
            <a:r>
              <a:rPr kumimoji="1" lang="en-US" altLang="zh-CN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⇄</a:t>
            </a:r>
            <a:r>
              <a:rPr kumimoji="1" lang="en-US" altLang="zh-CN"/>
              <a:t>B</a:t>
            </a:r>
            <a:r>
              <a:rPr kumimoji="1" lang="zh-CN" altLang="en-US"/>
              <a:t>永为</a:t>
            </a:r>
            <a:r>
              <a:rPr kumimoji="1" lang="en-US" altLang="zh-CN"/>
              <a:t>T</a:t>
            </a:r>
            <a:r>
              <a:rPr kumimoji="1" lang="zh-CN" altLang="en-US"/>
              <a:t>。</a:t>
            </a:r>
          </a:p>
        </p:txBody>
      </p:sp>
      <p:sp>
        <p:nvSpPr>
          <p:cNvPr id="450678" name="Rectangle 118"/>
          <p:cNvSpPr>
            <a:spLocks noChangeArrowheads="1"/>
          </p:cNvSpPr>
          <p:nvPr/>
        </p:nvSpPr>
        <p:spPr bwMode="auto">
          <a:xfrm>
            <a:off x="719138" y="5157788"/>
            <a:ext cx="7916862" cy="860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/>
              <a:t>反之，若</a:t>
            </a:r>
            <a:r>
              <a:rPr kumimoji="1" lang="en-US" altLang="zh-CN"/>
              <a:t>A</a:t>
            </a:r>
            <a:r>
              <a:rPr kumimoji="1" lang="en-US" altLang="zh-CN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⇄</a:t>
            </a:r>
            <a:r>
              <a:rPr kumimoji="1" lang="en-US" altLang="zh-CN"/>
              <a:t>B</a:t>
            </a:r>
            <a:r>
              <a:rPr kumimoji="1" lang="zh-CN" altLang="en-US"/>
              <a:t>为重言式，则</a:t>
            </a:r>
            <a:r>
              <a:rPr kumimoji="1" lang="en-US" altLang="zh-CN"/>
              <a:t>A</a:t>
            </a:r>
            <a:r>
              <a:rPr kumimoji="1" lang="en-US" altLang="zh-CN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⇄</a:t>
            </a:r>
            <a:r>
              <a:rPr kumimoji="1" lang="en-US" altLang="zh-CN"/>
              <a:t>B</a:t>
            </a:r>
            <a:r>
              <a:rPr kumimoji="1" lang="zh-CN" altLang="en-US"/>
              <a:t>永为</a:t>
            </a:r>
            <a:r>
              <a:rPr kumimoji="1" lang="en-US" altLang="zh-CN"/>
              <a:t>T</a:t>
            </a:r>
            <a:r>
              <a:rPr kumimoji="1" lang="zh-CN" altLang="en-US"/>
              <a:t>，故</a:t>
            </a:r>
            <a:r>
              <a:rPr kumimoji="1" lang="en-US" altLang="zh-CN"/>
              <a:t>A</a:t>
            </a:r>
            <a:r>
              <a:rPr kumimoji="1" lang="zh-CN" altLang="en-US"/>
              <a:t>、</a:t>
            </a:r>
            <a:r>
              <a:rPr kumimoji="1" lang="en-US" altLang="zh-CN"/>
              <a:t>B</a:t>
            </a:r>
            <a:r>
              <a:rPr kumimoji="1" lang="zh-CN" altLang="en-US"/>
              <a:t>的真值相同，</a:t>
            </a:r>
            <a:r>
              <a:rPr kumimoji="1" lang="en-US" altLang="zh-CN"/>
              <a:t>A</a:t>
            </a:r>
            <a:r>
              <a:rPr kumimoji="1" lang="en-US" altLang="zh-CN">
                <a:sym typeface="Symbol" pitchFamily="18" charset="2"/>
              </a:rPr>
              <a:t></a:t>
            </a:r>
            <a:r>
              <a:rPr kumimoji="1" lang="en-US" altLang="zh-CN"/>
              <a:t>B</a:t>
            </a:r>
            <a:r>
              <a:rPr kumimoji="1" lang="zh-CN" altLang="en-US"/>
              <a:t>。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03" grpId="0" autoUpdateAnimBg="0"/>
      <p:bldP spid="450678" grpId="0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E6593FE-A174-4879-8762-D3035B989703}" type="slidenum">
              <a:rPr lang="en-US" altLang="zh-CN"/>
              <a:pPr>
                <a:defRPr/>
              </a:pPr>
              <a:t>48</a:t>
            </a:fld>
            <a:endParaRPr lang="en-US" altLang="zh-CN"/>
          </a:p>
        </p:txBody>
      </p:sp>
      <p:sp>
        <p:nvSpPr>
          <p:cNvPr id="507914" name="Rectangle 10"/>
          <p:cNvSpPr>
            <a:spLocks noChangeArrowheads="1"/>
          </p:cNvSpPr>
          <p:nvPr/>
        </p:nvSpPr>
        <p:spPr bwMode="auto">
          <a:xfrm>
            <a:off x="719138" y="4581525"/>
            <a:ext cx="7488237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/>
              <a:t>证明：由上表可知：┐</a:t>
            </a:r>
            <a:r>
              <a:rPr kumimoji="1" lang="en-US" altLang="zh-CN"/>
              <a:t>(P∧Q)</a:t>
            </a:r>
            <a:r>
              <a:rPr kumimoji="1" lang="en-US" altLang="zh-CN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⇄</a:t>
            </a:r>
            <a:r>
              <a:rPr kumimoji="1" lang="en-US" altLang="zh-CN"/>
              <a:t>(┐P∨ ┐Q)</a:t>
            </a:r>
            <a:r>
              <a:rPr kumimoji="1" lang="zh-CN" altLang="en-US"/>
              <a:t>为重言式，由定理可得。</a:t>
            </a:r>
          </a:p>
        </p:txBody>
      </p:sp>
      <p:sp>
        <p:nvSpPr>
          <p:cNvPr id="56324" name="Rectangle 5"/>
          <p:cNvSpPr>
            <a:spLocks noChangeArrowheads="1"/>
          </p:cNvSpPr>
          <p:nvPr/>
        </p:nvSpPr>
        <p:spPr bwMode="auto">
          <a:xfrm>
            <a:off x="1187450" y="692150"/>
            <a:ext cx="7129463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>
                <a:solidFill>
                  <a:schemeClr val="hlink"/>
                </a:solidFill>
              </a:rPr>
              <a:t>例</a:t>
            </a:r>
            <a:r>
              <a:rPr kumimoji="1" lang="en-US" altLang="zh-CN">
                <a:solidFill>
                  <a:schemeClr val="hlink"/>
                </a:solidFill>
              </a:rPr>
              <a:t>2</a:t>
            </a:r>
            <a:r>
              <a:rPr kumimoji="1" lang="zh-CN" altLang="en-US">
                <a:solidFill>
                  <a:schemeClr val="hlink"/>
                </a:solidFill>
              </a:rPr>
              <a:t>：</a:t>
            </a:r>
            <a:r>
              <a:rPr kumimoji="1" lang="zh-CN" altLang="en-US"/>
              <a:t>证明┐</a:t>
            </a:r>
            <a:r>
              <a:rPr kumimoji="1" lang="en-US" altLang="zh-CN"/>
              <a:t>(P∧Q)</a:t>
            </a:r>
            <a:r>
              <a:rPr kumimoji="1" lang="en-US" altLang="zh-CN">
                <a:sym typeface="Symbol" pitchFamily="18" charset="2"/>
              </a:rPr>
              <a:t></a:t>
            </a:r>
            <a:r>
              <a:rPr kumimoji="1" lang="en-US" altLang="zh-CN"/>
              <a:t>(┐P∨┐Q)</a:t>
            </a:r>
          </a:p>
        </p:txBody>
      </p:sp>
      <p:graphicFrame>
        <p:nvGraphicFramePr>
          <p:cNvPr id="508318" name="Group 414"/>
          <p:cNvGraphicFramePr>
            <a:graphicFrameLocks noGrp="1"/>
          </p:cNvGraphicFramePr>
          <p:nvPr/>
        </p:nvGraphicFramePr>
        <p:xfrm>
          <a:off x="193675" y="1700213"/>
          <a:ext cx="8842375" cy="2305050"/>
        </p:xfrm>
        <a:graphic>
          <a:graphicData uri="http://schemas.openxmlformats.org/drawingml/2006/table">
            <a:tbl>
              <a:tblPr/>
              <a:tblGrid>
                <a:gridCol w="417513"/>
                <a:gridCol w="403225"/>
                <a:gridCol w="676275"/>
                <a:gridCol w="727075"/>
                <a:gridCol w="1525587"/>
                <a:gridCol w="912813"/>
                <a:gridCol w="1422400"/>
                <a:gridCol w="2757487"/>
              </a:tblGrid>
              <a:tr h="431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┐P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┐Q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┐P∨┐Q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P∧Q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┐(P∧Q)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┐(P∧Q)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Arial Unicode MS" pitchFamily="34" charset="-122"/>
                          <a:ea typeface="Arial Unicode MS" pitchFamily="34" charset="-122"/>
                          <a:cs typeface="Arial Unicode MS" pitchFamily="34" charset="-122"/>
                        </a:rPr>
                        <a:t>⇄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(┐P∨┐Q)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4762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431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360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3254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8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7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7914" grpId="0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3A0A1E0-51BF-4549-BCDF-37C929EE7277}" type="slidenum">
              <a:rPr lang="en-US" altLang="zh-CN"/>
              <a:pPr>
                <a:defRPr/>
              </a:pPr>
              <a:t>49</a:t>
            </a:fld>
            <a:endParaRPr lang="en-US" altLang="zh-CN"/>
          </a:p>
        </p:txBody>
      </p:sp>
      <p:sp>
        <p:nvSpPr>
          <p:cNvPr id="57347" name="Text Box 4"/>
          <p:cNvSpPr txBox="1">
            <a:spLocks noChangeArrowheads="1"/>
          </p:cNvSpPr>
          <p:nvPr/>
        </p:nvSpPr>
        <p:spPr bwMode="auto">
          <a:xfrm>
            <a:off x="1187450" y="692150"/>
            <a:ext cx="74168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82563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1077913" indent="-45720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714500" indent="-4572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2351088" indent="-4572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987675" indent="-4572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3444875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902075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4359275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816475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AutoNum type="arabicPeriod" startAt="2"/>
            </a:pPr>
            <a:r>
              <a:rPr kumimoji="1" lang="zh-CN" altLang="en-US" sz="3000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</a:rPr>
              <a:t>条件重言式</a:t>
            </a:r>
            <a:r>
              <a:rPr kumimoji="1" lang="en-US" altLang="zh-CN" sz="3000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kumimoji="1" lang="zh-CN" altLang="en-US" sz="3000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</a:rPr>
              <a:t>蕴含式</a:t>
            </a:r>
            <a:r>
              <a:rPr kumimoji="1" lang="en-US" altLang="zh-CN" sz="3000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</a:rPr>
              <a:t>)</a:t>
            </a:r>
          </a:p>
        </p:txBody>
      </p:sp>
      <p:sp>
        <p:nvSpPr>
          <p:cNvPr id="57348" name="Rectangle 52"/>
          <p:cNvSpPr>
            <a:spLocks noChangeArrowheads="1"/>
          </p:cNvSpPr>
          <p:nvPr/>
        </p:nvSpPr>
        <p:spPr bwMode="auto">
          <a:xfrm>
            <a:off x="719138" y="1484313"/>
            <a:ext cx="78486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>
                <a:solidFill>
                  <a:schemeClr val="hlink"/>
                </a:solidFill>
              </a:rPr>
              <a:t>       </a:t>
            </a:r>
            <a:r>
              <a:rPr kumimoji="1" lang="zh-CN" altLang="en-US">
                <a:solidFill>
                  <a:schemeClr val="hlink"/>
                </a:solidFill>
              </a:rPr>
              <a:t>定义：</a:t>
            </a:r>
            <a:r>
              <a:rPr kumimoji="1" lang="zh-CN" altLang="en-US"/>
              <a:t>若</a:t>
            </a:r>
            <a:r>
              <a:rPr kumimoji="1" lang="en-US" altLang="zh-CN"/>
              <a:t>P→Q</a:t>
            </a:r>
            <a:r>
              <a:rPr kumimoji="1" lang="zh-CN" altLang="en-US"/>
              <a:t>，则  </a:t>
            </a:r>
            <a:r>
              <a:rPr kumimoji="1" lang="en-US" altLang="zh-CN"/>
              <a:t>Q→P </a:t>
            </a:r>
            <a:r>
              <a:rPr kumimoji="1" lang="zh-CN" altLang="en-US"/>
              <a:t>称为</a:t>
            </a:r>
            <a:r>
              <a:rPr kumimoji="1" lang="zh-CN" altLang="en-US" u="sng">
                <a:solidFill>
                  <a:schemeClr val="hlink"/>
                </a:solidFill>
              </a:rPr>
              <a:t>逆换式</a:t>
            </a:r>
            <a:r>
              <a:rPr kumimoji="1" lang="zh-CN" altLang="en-US"/>
              <a:t>；┐</a:t>
            </a:r>
            <a:r>
              <a:rPr kumimoji="1" lang="en-US" altLang="zh-CN"/>
              <a:t>P→┐Q</a:t>
            </a:r>
            <a:r>
              <a:rPr kumimoji="1" lang="zh-CN" altLang="en-US"/>
              <a:t>称为</a:t>
            </a:r>
            <a:r>
              <a:rPr kumimoji="1" lang="zh-CN" altLang="en-US" u="sng">
                <a:solidFill>
                  <a:schemeClr val="hlink"/>
                </a:solidFill>
              </a:rPr>
              <a:t>反换式</a:t>
            </a:r>
            <a:r>
              <a:rPr kumimoji="1" lang="zh-CN" altLang="en-US"/>
              <a:t>；┐</a:t>
            </a:r>
            <a:r>
              <a:rPr kumimoji="1" lang="en-US" altLang="zh-CN"/>
              <a:t>Q→┐P</a:t>
            </a:r>
            <a:r>
              <a:rPr kumimoji="1" lang="zh-CN" altLang="en-US"/>
              <a:t>称为</a:t>
            </a:r>
            <a:r>
              <a:rPr kumimoji="1" lang="zh-CN" altLang="en-US" u="sng">
                <a:solidFill>
                  <a:schemeClr val="hlink"/>
                </a:solidFill>
              </a:rPr>
              <a:t>逆反式</a:t>
            </a:r>
            <a:r>
              <a:rPr kumimoji="1" lang="zh-CN" altLang="en-US"/>
              <a:t>。</a:t>
            </a:r>
          </a:p>
        </p:txBody>
      </p:sp>
      <p:sp>
        <p:nvSpPr>
          <p:cNvPr id="451638" name="Rectangle 54"/>
          <p:cNvSpPr>
            <a:spLocks noChangeArrowheads="1"/>
          </p:cNvSpPr>
          <p:nvPr/>
        </p:nvSpPr>
        <p:spPr bwMode="auto">
          <a:xfrm>
            <a:off x="719138" y="2781300"/>
            <a:ext cx="7920037" cy="1160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/>
              <a:t>由真值表可知：     </a:t>
            </a:r>
            <a:r>
              <a:rPr kumimoji="1" lang="en-US" altLang="zh-CN"/>
              <a:t>P→Q</a:t>
            </a:r>
            <a:r>
              <a:rPr kumimoji="1" lang="en-US" altLang="zh-CN">
                <a:sym typeface="Symbol" pitchFamily="18" charset="2"/>
              </a:rPr>
              <a:t></a:t>
            </a:r>
            <a:r>
              <a:rPr kumimoji="1" lang="en-US" altLang="zh-CN"/>
              <a:t>┐Q→┐P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/>
              <a:t>                                 Q→P</a:t>
            </a:r>
            <a:r>
              <a:rPr kumimoji="1" lang="en-US" altLang="zh-CN">
                <a:sym typeface="Symbol" pitchFamily="18" charset="2"/>
              </a:rPr>
              <a:t></a:t>
            </a:r>
            <a:r>
              <a:rPr kumimoji="1" lang="en-US" altLang="zh-CN"/>
              <a:t>┐P→┐Q</a:t>
            </a:r>
          </a:p>
        </p:txBody>
      </p:sp>
      <p:sp>
        <p:nvSpPr>
          <p:cNvPr id="451640" name="Rectangle 56"/>
          <p:cNvSpPr>
            <a:spLocks noChangeArrowheads="1"/>
          </p:cNvSpPr>
          <p:nvPr/>
        </p:nvSpPr>
        <p:spPr bwMode="auto">
          <a:xfrm>
            <a:off x="719138" y="4138613"/>
            <a:ext cx="7991475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>
                <a:solidFill>
                  <a:schemeClr val="hlink"/>
                </a:solidFill>
              </a:rPr>
              <a:t>       </a:t>
            </a:r>
            <a:r>
              <a:rPr kumimoji="1" lang="zh-CN" altLang="en-US">
                <a:solidFill>
                  <a:schemeClr val="hlink"/>
                </a:solidFill>
              </a:rPr>
              <a:t>定义</a:t>
            </a:r>
            <a:r>
              <a:rPr kumimoji="1" lang="en-US" altLang="zh-CN">
                <a:solidFill>
                  <a:schemeClr val="hlink"/>
                </a:solidFill>
              </a:rPr>
              <a:t>1-5. 3</a:t>
            </a:r>
            <a:r>
              <a:rPr kumimoji="1" lang="zh-CN" altLang="en-US">
                <a:solidFill>
                  <a:schemeClr val="hlink"/>
                </a:solidFill>
              </a:rPr>
              <a:t>：</a:t>
            </a:r>
            <a:r>
              <a:rPr kumimoji="1" lang="zh-CN" altLang="en-US"/>
              <a:t>当且仅当</a:t>
            </a:r>
            <a:r>
              <a:rPr kumimoji="1" lang="en-US" altLang="zh-CN"/>
              <a:t>P→Q </a:t>
            </a:r>
            <a:r>
              <a:rPr kumimoji="1" lang="zh-CN" altLang="en-US"/>
              <a:t>是一个重言式时称</a:t>
            </a:r>
            <a:r>
              <a:rPr kumimoji="1" lang="en-US" altLang="zh-CN"/>
              <a:t>P</a:t>
            </a:r>
            <a:r>
              <a:rPr kumimoji="1" lang="zh-CN" altLang="en-US"/>
              <a:t>蕴含</a:t>
            </a:r>
            <a:r>
              <a:rPr kumimoji="1" lang="en-US" altLang="zh-CN"/>
              <a:t>Q</a:t>
            </a:r>
            <a:r>
              <a:rPr kumimoji="1" lang="zh-CN" altLang="en-US"/>
              <a:t>，记为</a:t>
            </a:r>
            <a:r>
              <a:rPr kumimoji="1" lang="en-US" altLang="zh-CN"/>
              <a:t>P</a:t>
            </a:r>
            <a:r>
              <a:rPr kumimoji="1" lang="en-US" altLang="zh-CN">
                <a:sym typeface="Symbol" pitchFamily="18" charset="2"/>
              </a:rPr>
              <a:t></a:t>
            </a:r>
            <a:r>
              <a:rPr kumimoji="1" lang="en-US" altLang="zh-CN"/>
              <a:t>Q</a:t>
            </a:r>
            <a:r>
              <a:rPr kumimoji="1" lang="zh-CN" altLang="en-US"/>
              <a:t>。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1638" grpId="0"/>
      <p:bldP spid="451640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0C49651-E09F-41E1-9D7C-4286DFF44E8F}" type="slidenum">
              <a:rPr lang="en-US" altLang="zh-CN"/>
              <a:pPr>
                <a:defRPr/>
              </a:pPr>
              <a:t>50</a:t>
            </a:fld>
            <a:endParaRPr lang="en-US" altLang="zh-CN"/>
          </a:p>
        </p:txBody>
      </p:sp>
      <p:sp>
        <p:nvSpPr>
          <p:cNvPr id="508932" name="Text Box 4"/>
          <p:cNvSpPr txBox="1">
            <a:spLocks noChangeArrowheads="1"/>
          </p:cNvSpPr>
          <p:nvPr/>
        </p:nvSpPr>
        <p:spPr bwMode="auto">
          <a:xfrm>
            <a:off x="719138" y="4076700"/>
            <a:ext cx="7704137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>
                <a:solidFill>
                  <a:schemeClr val="hlink"/>
                </a:solidFill>
              </a:rPr>
              <a:t>方法</a:t>
            </a:r>
            <a:r>
              <a:rPr kumimoji="1" lang="en-US" altLang="zh-CN">
                <a:solidFill>
                  <a:schemeClr val="hlink"/>
                </a:solidFill>
              </a:rPr>
              <a:t>1</a:t>
            </a:r>
            <a:r>
              <a:rPr kumimoji="1" lang="zh-CN" altLang="en-US">
                <a:solidFill>
                  <a:schemeClr val="hlink"/>
                </a:solidFill>
              </a:rPr>
              <a:t>：</a:t>
            </a:r>
            <a:r>
              <a:rPr kumimoji="1" lang="zh-CN" altLang="en-US"/>
              <a:t>假使</a:t>
            </a:r>
            <a:r>
              <a:rPr kumimoji="1" lang="en-US" altLang="zh-CN"/>
              <a:t>P</a:t>
            </a:r>
            <a:r>
              <a:rPr kumimoji="1" lang="zh-CN" altLang="en-US"/>
              <a:t>为真的指派，若推出</a:t>
            </a:r>
            <a:r>
              <a:rPr kumimoji="1" lang="en-US" altLang="zh-CN"/>
              <a:t>Q</a:t>
            </a:r>
            <a:r>
              <a:rPr kumimoji="1" lang="zh-CN" altLang="en-US"/>
              <a:t>也为真，则</a:t>
            </a:r>
            <a:r>
              <a:rPr kumimoji="1" lang="en-US" altLang="zh-CN"/>
              <a:t>P→Q</a:t>
            </a:r>
            <a:r>
              <a:rPr kumimoji="1" lang="zh-CN" altLang="en-US"/>
              <a:t>为重言式。</a:t>
            </a:r>
          </a:p>
        </p:txBody>
      </p:sp>
      <p:graphicFrame>
        <p:nvGraphicFramePr>
          <p:cNvPr id="509036" name="Group 108"/>
          <p:cNvGraphicFramePr>
            <a:graphicFrameLocks noGrp="1"/>
          </p:cNvGraphicFramePr>
          <p:nvPr/>
        </p:nvGraphicFramePr>
        <p:xfrm>
          <a:off x="1692275" y="1341438"/>
          <a:ext cx="4387850" cy="2590800"/>
        </p:xfrm>
        <a:graphic>
          <a:graphicData uri="http://schemas.openxmlformats.org/drawingml/2006/table">
            <a:tbl>
              <a:tblPr/>
              <a:tblGrid>
                <a:gridCol w="647700"/>
                <a:gridCol w="647700"/>
                <a:gridCol w="1035050"/>
                <a:gridCol w="2057400"/>
              </a:tblGrid>
              <a:tr h="4667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P→Q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┐</a:t>
                      </a: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Q→ </a:t>
                      </a: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┐</a:t>
                      </a: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396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3778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4460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4333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</a:tbl>
          </a:graphicData>
        </a:graphic>
      </p:graphicFrame>
      <p:sp>
        <p:nvSpPr>
          <p:cNvPr id="58404" name="Rectangle 38"/>
          <p:cNvSpPr>
            <a:spLocks noChangeArrowheads="1"/>
          </p:cNvSpPr>
          <p:nvPr/>
        </p:nvSpPr>
        <p:spPr bwMode="auto">
          <a:xfrm>
            <a:off x="1331913" y="692150"/>
            <a:ext cx="33988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>
                <a:solidFill>
                  <a:schemeClr val="folHlink"/>
                </a:solidFill>
                <a:latin typeface="Tahoma" pitchFamily="34" charset="0"/>
              </a:rPr>
              <a:t>蕴含式的证明方法：</a:t>
            </a:r>
          </a:p>
        </p:txBody>
      </p:sp>
      <p:sp>
        <p:nvSpPr>
          <p:cNvPr id="509006" name="Rectangle 78"/>
          <p:cNvSpPr>
            <a:spLocks noChangeArrowheads="1"/>
          </p:cNvSpPr>
          <p:nvPr/>
        </p:nvSpPr>
        <p:spPr bwMode="auto">
          <a:xfrm>
            <a:off x="719138" y="5084763"/>
            <a:ext cx="7921625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>
                <a:solidFill>
                  <a:schemeClr val="hlink"/>
                </a:solidFill>
              </a:rPr>
              <a:t>方法</a:t>
            </a:r>
            <a:r>
              <a:rPr kumimoji="1" lang="en-US" altLang="zh-CN">
                <a:solidFill>
                  <a:schemeClr val="hlink"/>
                </a:solidFill>
              </a:rPr>
              <a:t>2</a:t>
            </a:r>
            <a:r>
              <a:rPr kumimoji="1" lang="zh-CN" altLang="en-US">
                <a:solidFill>
                  <a:schemeClr val="hlink"/>
                </a:solidFill>
              </a:rPr>
              <a:t>：</a:t>
            </a:r>
            <a:r>
              <a:rPr kumimoji="1" lang="zh-CN" altLang="en-US"/>
              <a:t>假使</a:t>
            </a:r>
            <a:r>
              <a:rPr kumimoji="1" lang="en-US" altLang="zh-CN"/>
              <a:t>Q</a:t>
            </a:r>
            <a:r>
              <a:rPr kumimoji="1" lang="zh-CN" altLang="en-US"/>
              <a:t>为假的指派，若推出</a:t>
            </a:r>
            <a:r>
              <a:rPr kumimoji="1" lang="en-US" altLang="zh-CN"/>
              <a:t>P</a:t>
            </a:r>
            <a:r>
              <a:rPr kumimoji="1" lang="zh-CN" altLang="en-US"/>
              <a:t>也为假，那么┐</a:t>
            </a:r>
            <a:r>
              <a:rPr kumimoji="1" lang="en-US" altLang="zh-CN"/>
              <a:t>Q→┐P</a:t>
            </a:r>
            <a:r>
              <a:rPr kumimoji="1" lang="zh-CN" altLang="en-US"/>
              <a:t>为重言式，则</a:t>
            </a:r>
            <a:r>
              <a:rPr kumimoji="1" lang="en-US" altLang="zh-CN"/>
              <a:t>P→Q</a:t>
            </a:r>
            <a:r>
              <a:rPr kumimoji="1" lang="zh-CN" altLang="en-US"/>
              <a:t>为重言式。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9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8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9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8932" grpId="0" autoUpdateAnimBg="0"/>
      <p:bldP spid="509006" grpId="0" autoUpdateAnimBg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11908B9-0C98-4398-8E73-AA4CE91FAD0E}" type="slidenum">
              <a:rPr lang="en-US" altLang="zh-CN"/>
              <a:pPr>
                <a:defRPr/>
              </a:pPr>
              <a:t>51</a:t>
            </a:fld>
            <a:endParaRPr lang="en-US" altLang="zh-CN"/>
          </a:p>
        </p:txBody>
      </p:sp>
      <p:sp>
        <p:nvSpPr>
          <p:cNvPr id="59395" name="Text Box 4"/>
          <p:cNvSpPr txBox="1">
            <a:spLocks noChangeArrowheads="1"/>
          </p:cNvSpPr>
          <p:nvPr/>
        </p:nvSpPr>
        <p:spPr bwMode="auto">
          <a:xfrm>
            <a:off x="1258888" y="692150"/>
            <a:ext cx="69850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82563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>
                <a:solidFill>
                  <a:schemeClr val="hlink"/>
                </a:solidFill>
              </a:rPr>
              <a:t>例</a:t>
            </a:r>
            <a:r>
              <a:rPr kumimoji="1" lang="en-US" altLang="zh-CN">
                <a:solidFill>
                  <a:schemeClr val="hlink"/>
                </a:solidFill>
              </a:rPr>
              <a:t>3</a:t>
            </a:r>
            <a:r>
              <a:rPr kumimoji="1" lang="zh-CN" altLang="en-US">
                <a:solidFill>
                  <a:schemeClr val="hlink"/>
                </a:solidFill>
              </a:rPr>
              <a:t>：</a:t>
            </a:r>
            <a:r>
              <a:rPr kumimoji="1" lang="zh-CN" altLang="en-US"/>
              <a:t>推证：┐</a:t>
            </a:r>
            <a:r>
              <a:rPr kumimoji="1" lang="en-US" altLang="zh-CN"/>
              <a:t>Q∧(P→Q)</a:t>
            </a:r>
            <a:r>
              <a:rPr kumimoji="1" lang="en-US" altLang="zh-CN">
                <a:sym typeface="Symbol" pitchFamily="18" charset="2"/>
              </a:rPr>
              <a:t></a:t>
            </a:r>
            <a:r>
              <a:rPr kumimoji="1" lang="en-US" altLang="zh-CN"/>
              <a:t>┐P</a:t>
            </a:r>
          </a:p>
        </p:txBody>
      </p:sp>
      <p:sp>
        <p:nvSpPr>
          <p:cNvPr id="452627" name="Rectangle 19"/>
          <p:cNvSpPr>
            <a:spLocks noChangeArrowheads="1"/>
          </p:cNvSpPr>
          <p:nvPr/>
        </p:nvSpPr>
        <p:spPr bwMode="auto">
          <a:xfrm>
            <a:off x="719138" y="1412875"/>
            <a:ext cx="7916862" cy="218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kumimoji="1" lang="zh-CN" altLang="en-US"/>
              <a:t>证法</a:t>
            </a:r>
            <a:r>
              <a:rPr kumimoji="1" lang="en-US" altLang="zh-CN"/>
              <a:t>1</a:t>
            </a:r>
            <a:r>
              <a:rPr kumimoji="1" lang="zh-CN" altLang="en-US"/>
              <a:t>：假定</a:t>
            </a:r>
            <a:r>
              <a:rPr kumimoji="1" lang="zh-CN" altLang="en-US" u="sng"/>
              <a:t>┐</a:t>
            </a:r>
            <a:r>
              <a:rPr kumimoji="1" lang="en-US" altLang="zh-CN" u="sng"/>
              <a:t>Q∧(P→Q)</a:t>
            </a:r>
            <a:r>
              <a:rPr kumimoji="1" lang="en-US" altLang="zh-CN"/>
              <a:t> </a:t>
            </a:r>
            <a:r>
              <a:rPr kumimoji="1" lang="zh-CN" altLang="en-US"/>
              <a:t>为</a:t>
            </a:r>
            <a:r>
              <a:rPr kumimoji="1" lang="en-US" altLang="zh-CN"/>
              <a:t>T</a:t>
            </a:r>
            <a:r>
              <a:rPr kumimoji="1" lang="zh-CN" altLang="en-US"/>
              <a:t>，</a:t>
            </a:r>
          </a:p>
          <a:p>
            <a:pPr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kumimoji="1" lang="zh-CN" altLang="en-US"/>
              <a:t>则┐</a:t>
            </a:r>
            <a:r>
              <a:rPr kumimoji="1" lang="en-US" altLang="zh-CN"/>
              <a:t>Q</a:t>
            </a:r>
            <a:r>
              <a:rPr kumimoji="1" lang="zh-CN" altLang="en-US"/>
              <a:t>为</a:t>
            </a:r>
            <a:r>
              <a:rPr kumimoji="1" lang="en-US" altLang="zh-CN"/>
              <a:t>T </a:t>
            </a:r>
            <a:r>
              <a:rPr kumimoji="1" lang="zh-CN" altLang="en-US"/>
              <a:t>且</a:t>
            </a:r>
            <a:r>
              <a:rPr kumimoji="1" lang="en-US" altLang="zh-CN"/>
              <a:t>(P→Q)</a:t>
            </a:r>
            <a:r>
              <a:rPr kumimoji="1" lang="zh-CN" altLang="en-US"/>
              <a:t>为</a:t>
            </a:r>
            <a:r>
              <a:rPr kumimoji="1" lang="en-US" altLang="zh-CN"/>
              <a:t>T</a:t>
            </a:r>
            <a:r>
              <a:rPr kumimoji="1" lang="zh-CN" altLang="en-US"/>
              <a:t>，</a:t>
            </a:r>
          </a:p>
          <a:p>
            <a:pPr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kumimoji="1" lang="zh-CN" altLang="en-US"/>
              <a:t>推出</a:t>
            </a:r>
            <a:r>
              <a:rPr kumimoji="1" lang="en-US" altLang="zh-CN"/>
              <a:t>Q</a:t>
            </a:r>
            <a:r>
              <a:rPr kumimoji="1" lang="zh-CN" altLang="en-US"/>
              <a:t>为</a:t>
            </a:r>
            <a:r>
              <a:rPr kumimoji="1" lang="en-US" altLang="zh-CN"/>
              <a:t>F</a:t>
            </a:r>
            <a:r>
              <a:rPr kumimoji="1" lang="zh-CN" altLang="en-US"/>
              <a:t>，由</a:t>
            </a:r>
            <a:r>
              <a:rPr kumimoji="1" lang="en-US" altLang="zh-CN"/>
              <a:t>P→Q</a:t>
            </a:r>
            <a:r>
              <a:rPr kumimoji="1" lang="zh-CN" altLang="en-US"/>
              <a:t>为</a:t>
            </a:r>
            <a:r>
              <a:rPr kumimoji="1" lang="en-US" altLang="zh-CN"/>
              <a:t>T</a:t>
            </a:r>
            <a:r>
              <a:rPr kumimoji="1" lang="zh-CN" altLang="en-US"/>
              <a:t>，</a:t>
            </a:r>
          </a:p>
          <a:p>
            <a:pPr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kumimoji="1" lang="zh-CN" altLang="en-US"/>
              <a:t>推出</a:t>
            </a:r>
            <a:r>
              <a:rPr kumimoji="1" lang="en-US" altLang="zh-CN"/>
              <a:t>P</a:t>
            </a:r>
            <a:r>
              <a:rPr kumimoji="1" lang="zh-CN" altLang="en-US"/>
              <a:t>为</a:t>
            </a:r>
            <a:r>
              <a:rPr kumimoji="1" lang="en-US" altLang="zh-CN"/>
              <a:t>F</a:t>
            </a:r>
            <a:r>
              <a:rPr kumimoji="1" lang="zh-CN" altLang="en-US"/>
              <a:t>，即</a:t>
            </a:r>
            <a:r>
              <a:rPr kumimoji="1" lang="zh-CN" altLang="en-US" u="sng"/>
              <a:t>┐</a:t>
            </a:r>
            <a:r>
              <a:rPr kumimoji="1" lang="en-US" altLang="zh-CN" u="sng"/>
              <a:t>P</a:t>
            </a:r>
            <a:r>
              <a:rPr kumimoji="1" lang="zh-CN" altLang="en-US"/>
              <a:t>为</a:t>
            </a:r>
            <a:r>
              <a:rPr kumimoji="1" lang="en-US" altLang="zh-CN"/>
              <a:t>T</a:t>
            </a:r>
            <a:r>
              <a:rPr kumimoji="1" lang="zh-CN" altLang="en-US"/>
              <a:t>。</a:t>
            </a:r>
          </a:p>
        </p:txBody>
      </p:sp>
      <p:sp>
        <p:nvSpPr>
          <p:cNvPr id="452629" name="Rectangle 21"/>
          <p:cNvSpPr>
            <a:spLocks noChangeArrowheads="1"/>
          </p:cNvSpPr>
          <p:nvPr/>
        </p:nvSpPr>
        <p:spPr bwMode="auto">
          <a:xfrm>
            <a:off x="719138" y="3644900"/>
            <a:ext cx="7916862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/>
              <a:t>证法</a:t>
            </a:r>
            <a:r>
              <a:rPr kumimoji="1" lang="en-US" altLang="zh-CN"/>
              <a:t>2</a:t>
            </a:r>
            <a:r>
              <a:rPr kumimoji="1" lang="zh-CN" altLang="en-US"/>
              <a:t>：假定</a:t>
            </a:r>
            <a:r>
              <a:rPr kumimoji="1" lang="zh-CN" altLang="en-US" u="sng"/>
              <a:t>┐</a:t>
            </a:r>
            <a:r>
              <a:rPr kumimoji="1" lang="en-US" altLang="zh-CN" u="sng"/>
              <a:t>P</a:t>
            </a:r>
            <a:r>
              <a:rPr kumimoji="1" lang="zh-CN" altLang="en-US"/>
              <a:t>为</a:t>
            </a:r>
            <a:r>
              <a:rPr kumimoji="1" lang="en-US" altLang="zh-CN"/>
              <a:t>F</a:t>
            </a:r>
            <a:r>
              <a:rPr kumimoji="1" lang="zh-CN" altLang="en-US"/>
              <a:t>，则</a:t>
            </a:r>
            <a:r>
              <a:rPr kumimoji="1" lang="en-US" altLang="zh-CN"/>
              <a:t>P</a:t>
            </a:r>
            <a:r>
              <a:rPr kumimoji="1" lang="zh-CN" altLang="en-US"/>
              <a:t>为</a:t>
            </a:r>
            <a:r>
              <a:rPr kumimoji="1" lang="en-US" altLang="zh-CN"/>
              <a:t>T</a:t>
            </a:r>
            <a:r>
              <a:rPr kumimoji="1" lang="zh-CN" altLang="en-US"/>
              <a:t>。</a:t>
            </a:r>
          </a:p>
        </p:txBody>
      </p:sp>
      <p:sp>
        <p:nvSpPr>
          <p:cNvPr id="452630" name="Rectangle 22"/>
          <p:cNvSpPr>
            <a:spLocks noChangeArrowheads="1"/>
          </p:cNvSpPr>
          <p:nvPr/>
        </p:nvSpPr>
        <p:spPr bwMode="auto">
          <a:xfrm>
            <a:off x="719138" y="5373688"/>
            <a:ext cx="7916862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>
                <a:solidFill>
                  <a:srgbClr val="000000"/>
                </a:solidFill>
              </a:rPr>
              <a:t>        </a:t>
            </a:r>
            <a:r>
              <a:rPr kumimoji="1" lang="en-US" altLang="zh-CN">
                <a:solidFill>
                  <a:schemeClr val="hlink"/>
                </a:solidFill>
              </a:rPr>
              <a:t>P21</a:t>
            </a:r>
            <a:r>
              <a:rPr kumimoji="1" lang="zh-CN" altLang="en-US">
                <a:solidFill>
                  <a:schemeClr val="hlink"/>
                </a:solidFill>
              </a:rPr>
              <a:t>表</a:t>
            </a:r>
            <a:r>
              <a:rPr kumimoji="1" lang="en-US" altLang="zh-CN">
                <a:solidFill>
                  <a:schemeClr val="hlink"/>
                </a:solidFill>
              </a:rPr>
              <a:t>1-5.2</a:t>
            </a:r>
            <a:r>
              <a:rPr kumimoji="1" lang="zh-CN" altLang="en-US">
                <a:solidFill>
                  <a:srgbClr val="000000"/>
                </a:solidFill>
              </a:rPr>
              <a:t>所列各蕴含式都可如上述推理方法证明。（记住）</a:t>
            </a:r>
          </a:p>
        </p:txBody>
      </p:sp>
      <p:sp>
        <p:nvSpPr>
          <p:cNvPr id="452632" name="Rectangle 24"/>
          <p:cNvSpPr>
            <a:spLocks noChangeArrowheads="1"/>
          </p:cNvSpPr>
          <p:nvPr/>
        </p:nvSpPr>
        <p:spPr bwMode="auto">
          <a:xfrm>
            <a:off x="719138" y="4235450"/>
            <a:ext cx="7916862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/>
              <a:t>若</a:t>
            </a:r>
            <a:r>
              <a:rPr kumimoji="1" lang="en-US" altLang="zh-CN"/>
              <a:t>Q</a:t>
            </a:r>
            <a:r>
              <a:rPr kumimoji="1" lang="zh-CN" altLang="en-US"/>
              <a:t>为</a:t>
            </a:r>
            <a:r>
              <a:rPr kumimoji="1" lang="en-US" altLang="zh-CN"/>
              <a:t>F</a:t>
            </a:r>
            <a:r>
              <a:rPr kumimoji="1" lang="zh-CN" altLang="en-US"/>
              <a:t>，则</a:t>
            </a:r>
            <a:r>
              <a:rPr kumimoji="1" lang="en-US" altLang="zh-CN"/>
              <a:t>P→Q</a:t>
            </a:r>
            <a:r>
              <a:rPr kumimoji="1" lang="zh-CN" altLang="en-US"/>
              <a:t>为</a:t>
            </a:r>
            <a:r>
              <a:rPr kumimoji="1" lang="en-US" altLang="zh-CN"/>
              <a:t>F</a:t>
            </a:r>
            <a:r>
              <a:rPr kumimoji="1" lang="zh-CN" altLang="en-US"/>
              <a:t>，即┐</a:t>
            </a:r>
            <a:r>
              <a:rPr kumimoji="1" lang="en-US" altLang="zh-CN"/>
              <a:t>Q∧(P→Q)</a:t>
            </a:r>
            <a:r>
              <a:rPr kumimoji="1" lang="zh-CN" altLang="en-US"/>
              <a:t>为</a:t>
            </a:r>
            <a:r>
              <a:rPr kumimoji="1" lang="en-US" altLang="zh-CN"/>
              <a:t>F</a:t>
            </a:r>
            <a:r>
              <a:rPr kumimoji="1" lang="zh-CN" altLang="en-US"/>
              <a:t>。</a:t>
            </a:r>
          </a:p>
        </p:txBody>
      </p:sp>
      <p:sp>
        <p:nvSpPr>
          <p:cNvPr id="452634" name="Rectangle 26"/>
          <p:cNvSpPr>
            <a:spLocks noChangeArrowheads="1"/>
          </p:cNvSpPr>
          <p:nvPr/>
        </p:nvSpPr>
        <p:spPr bwMode="auto">
          <a:xfrm>
            <a:off x="719138" y="4811713"/>
            <a:ext cx="7916862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/>
              <a:t>若</a:t>
            </a:r>
            <a:r>
              <a:rPr kumimoji="1" lang="en-US" altLang="zh-CN"/>
              <a:t>Q</a:t>
            </a:r>
            <a:r>
              <a:rPr kumimoji="1" lang="zh-CN" altLang="en-US"/>
              <a:t>为</a:t>
            </a:r>
            <a:r>
              <a:rPr kumimoji="1" lang="en-US" altLang="zh-CN"/>
              <a:t>T</a:t>
            </a:r>
            <a:r>
              <a:rPr kumimoji="1" lang="zh-CN" altLang="en-US"/>
              <a:t>，则┐</a:t>
            </a:r>
            <a:r>
              <a:rPr kumimoji="1" lang="en-US" altLang="zh-CN"/>
              <a:t>Q </a:t>
            </a:r>
            <a:r>
              <a:rPr kumimoji="1" lang="zh-CN" altLang="en-US"/>
              <a:t>为</a:t>
            </a:r>
            <a:r>
              <a:rPr kumimoji="1" lang="en-US" altLang="zh-CN"/>
              <a:t>F</a:t>
            </a:r>
            <a:r>
              <a:rPr kumimoji="1" lang="zh-CN" altLang="en-US"/>
              <a:t>，即</a:t>
            </a:r>
            <a:r>
              <a:rPr kumimoji="1" lang="zh-CN" altLang="en-US" u="sng"/>
              <a:t>┐</a:t>
            </a:r>
            <a:r>
              <a:rPr kumimoji="1" lang="en-US" altLang="zh-CN" u="sng"/>
              <a:t>Q∧(P→Q)</a:t>
            </a:r>
            <a:r>
              <a:rPr kumimoji="1" lang="zh-CN" altLang="en-US"/>
              <a:t>为</a:t>
            </a:r>
            <a:r>
              <a:rPr kumimoji="1" lang="en-US" altLang="zh-CN"/>
              <a:t>F</a:t>
            </a:r>
            <a:r>
              <a:rPr kumimoji="1" lang="zh-CN" altLang="en-US"/>
              <a:t>。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2627" grpId="0" build="allAtOnce"/>
      <p:bldP spid="452629" grpId="0"/>
      <p:bldP spid="452630" grpId="0"/>
      <p:bldP spid="452632" grpId="0"/>
      <p:bldP spid="452634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AB94566-CE85-4211-AA73-F0729BBFDA0A}" type="slidenum">
              <a:rPr lang="en-US" altLang="zh-CN"/>
              <a:pPr>
                <a:defRPr/>
              </a:pPr>
              <a:t>52</a:t>
            </a:fld>
            <a:endParaRPr lang="en-US" altLang="zh-CN"/>
          </a:p>
        </p:txBody>
      </p:sp>
      <p:sp>
        <p:nvSpPr>
          <p:cNvPr id="509956" name="Text Box 4"/>
          <p:cNvSpPr txBox="1">
            <a:spLocks noChangeArrowheads="1"/>
          </p:cNvSpPr>
          <p:nvPr/>
        </p:nvSpPr>
        <p:spPr bwMode="auto">
          <a:xfrm>
            <a:off x="719138" y="2320106"/>
            <a:ext cx="7916862" cy="604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dirty="0"/>
              <a:t>证明：</a:t>
            </a:r>
            <a:r>
              <a:rPr kumimoji="1" lang="en-US" altLang="zh-CN" dirty="0"/>
              <a:t>P</a:t>
            </a:r>
            <a:r>
              <a:rPr kumimoji="1" lang="en-US" altLang="zh-CN" dirty="0">
                <a:sym typeface="Symbol" pitchFamily="18" charset="2"/>
              </a:rPr>
              <a:t></a:t>
            </a:r>
            <a:r>
              <a:rPr kumimoji="1" lang="en-US" altLang="zh-CN" dirty="0"/>
              <a:t>Q</a:t>
            </a:r>
            <a:r>
              <a:rPr kumimoji="1" lang="zh-CN" altLang="en-US" dirty="0"/>
              <a:t>，则</a:t>
            </a:r>
            <a:r>
              <a:rPr kumimoji="1" lang="en-US" altLang="zh-CN" dirty="0"/>
              <a:t>P</a:t>
            </a:r>
            <a:r>
              <a:rPr kumimoji="1" lang="en-US" altLang="zh-CN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⇄</a:t>
            </a:r>
            <a:r>
              <a:rPr kumimoji="1" lang="en-US" altLang="zh-CN" dirty="0"/>
              <a:t>Q</a:t>
            </a:r>
            <a:r>
              <a:rPr kumimoji="1" lang="zh-CN" altLang="en-US" dirty="0"/>
              <a:t>为重言式，</a:t>
            </a:r>
          </a:p>
        </p:txBody>
      </p:sp>
      <p:sp>
        <p:nvSpPr>
          <p:cNvPr id="60420" name="Rectangle 18"/>
          <p:cNvSpPr>
            <a:spLocks noChangeArrowheads="1"/>
          </p:cNvSpPr>
          <p:nvPr/>
        </p:nvSpPr>
        <p:spPr bwMode="auto">
          <a:xfrm>
            <a:off x="719138" y="1341438"/>
            <a:ext cx="7916862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/>
              <a:t>        </a:t>
            </a:r>
            <a:r>
              <a:rPr kumimoji="1" lang="zh-CN" altLang="en-US">
                <a:solidFill>
                  <a:schemeClr val="hlink"/>
                </a:solidFill>
              </a:rPr>
              <a:t>定理</a:t>
            </a:r>
            <a:r>
              <a:rPr kumimoji="1" lang="en-US" altLang="zh-CN">
                <a:solidFill>
                  <a:schemeClr val="hlink"/>
                </a:solidFill>
              </a:rPr>
              <a:t>1-5. 4</a:t>
            </a:r>
            <a:r>
              <a:rPr kumimoji="1" lang="zh-CN" altLang="en-US">
                <a:solidFill>
                  <a:schemeClr val="hlink"/>
                </a:solidFill>
              </a:rPr>
              <a:t>：</a:t>
            </a:r>
            <a:r>
              <a:rPr kumimoji="1" lang="zh-CN" altLang="en-US"/>
              <a:t>设</a:t>
            </a:r>
            <a:r>
              <a:rPr kumimoji="1" lang="en-US" altLang="zh-CN"/>
              <a:t>P</a:t>
            </a:r>
            <a:r>
              <a:rPr kumimoji="1" lang="zh-CN" altLang="en-US"/>
              <a:t>，</a:t>
            </a:r>
            <a:r>
              <a:rPr kumimoji="1" lang="en-US" altLang="zh-CN"/>
              <a:t>Q</a:t>
            </a:r>
            <a:r>
              <a:rPr kumimoji="1" lang="zh-CN" altLang="en-US"/>
              <a:t>为任意两个命题公式，</a:t>
            </a:r>
            <a:r>
              <a:rPr kumimoji="1" lang="en-US" altLang="zh-CN"/>
              <a:t>P</a:t>
            </a:r>
            <a:r>
              <a:rPr kumimoji="1" lang="en-US" altLang="zh-CN">
                <a:sym typeface="Symbol" pitchFamily="18" charset="2"/>
              </a:rPr>
              <a:t></a:t>
            </a:r>
            <a:r>
              <a:rPr kumimoji="1" lang="en-US" altLang="zh-CN"/>
              <a:t>Q</a:t>
            </a:r>
            <a:r>
              <a:rPr kumimoji="1" lang="zh-CN" altLang="en-US"/>
              <a:t>的</a:t>
            </a:r>
            <a:r>
              <a:rPr kumimoji="1" lang="zh-CN" altLang="en-US" u="sng"/>
              <a:t>充分必要条件</a:t>
            </a:r>
            <a:r>
              <a:rPr kumimoji="1" lang="zh-CN" altLang="en-US"/>
              <a:t>是</a:t>
            </a:r>
            <a:r>
              <a:rPr kumimoji="1" lang="en-US" altLang="zh-CN"/>
              <a:t>P</a:t>
            </a:r>
            <a:r>
              <a:rPr kumimoji="1" lang="en-US" altLang="zh-CN">
                <a:sym typeface="Symbol" pitchFamily="18" charset="2"/>
              </a:rPr>
              <a:t></a:t>
            </a:r>
            <a:r>
              <a:rPr kumimoji="1" lang="en-US" altLang="zh-CN"/>
              <a:t>Q</a:t>
            </a:r>
            <a:r>
              <a:rPr kumimoji="1" lang="zh-CN" altLang="en-US"/>
              <a:t>且</a:t>
            </a:r>
            <a:r>
              <a:rPr kumimoji="1" lang="en-US" altLang="zh-CN"/>
              <a:t>Q</a:t>
            </a:r>
            <a:r>
              <a:rPr kumimoji="1" lang="en-US" altLang="zh-CN">
                <a:sym typeface="Symbol" pitchFamily="18" charset="2"/>
              </a:rPr>
              <a:t></a:t>
            </a:r>
            <a:r>
              <a:rPr kumimoji="1" lang="en-US" altLang="zh-CN"/>
              <a:t>P</a:t>
            </a:r>
            <a:r>
              <a:rPr kumimoji="1" lang="zh-CN" altLang="en-US"/>
              <a:t>。</a:t>
            </a:r>
          </a:p>
        </p:txBody>
      </p:sp>
      <p:sp>
        <p:nvSpPr>
          <p:cNvPr id="60421" name="Rectangle 20"/>
          <p:cNvSpPr>
            <a:spLocks noChangeArrowheads="1"/>
          </p:cNvSpPr>
          <p:nvPr/>
        </p:nvSpPr>
        <p:spPr bwMode="auto">
          <a:xfrm>
            <a:off x="1401763" y="692150"/>
            <a:ext cx="62658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914400" indent="-45720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371600" indent="-4572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828800" indent="-4572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indent="-4572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AutoNum type="arabicPeriod" startAt="3"/>
            </a:pPr>
            <a:r>
              <a:rPr kumimoji="1" lang="zh-CN" altLang="en-US">
                <a:solidFill>
                  <a:schemeClr val="folHlink"/>
                </a:solidFill>
              </a:rPr>
              <a:t>双条件重言式和蕴含式之间的关系</a:t>
            </a:r>
          </a:p>
        </p:txBody>
      </p:sp>
      <p:sp>
        <p:nvSpPr>
          <p:cNvPr id="509983" name="Rectangle 31"/>
          <p:cNvSpPr>
            <a:spLocks noChangeArrowheads="1"/>
          </p:cNvSpPr>
          <p:nvPr/>
        </p:nvSpPr>
        <p:spPr bwMode="auto">
          <a:xfrm>
            <a:off x="719138" y="2896171"/>
            <a:ext cx="7916862" cy="604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dirty="0"/>
              <a:t>∵P</a:t>
            </a:r>
            <a:r>
              <a:rPr kumimoji="1" lang="en-US" altLang="zh-CN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⇄</a:t>
            </a:r>
            <a:r>
              <a:rPr kumimoji="1" lang="en-US" altLang="zh-CN" dirty="0"/>
              <a:t>Q </a:t>
            </a:r>
            <a:r>
              <a:rPr kumimoji="1" lang="en-US" altLang="zh-CN" dirty="0">
                <a:sym typeface="Symbol" pitchFamily="18" charset="2"/>
              </a:rPr>
              <a:t></a:t>
            </a:r>
            <a:r>
              <a:rPr kumimoji="1" lang="en-US" altLang="zh-CN" dirty="0"/>
              <a:t>(P→Q)∧(Q→P)</a:t>
            </a:r>
            <a:r>
              <a:rPr kumimoji="1" lang="zh-CN" altLang="en-US" dirty="0"/>
              <a:t>，</a:t>
            </a:r>
          </a:p>
        </p:txBody>
      </p:sp>
      <p:sp>
        <p:nvSpPr>
          <p:cNvPr id="509985" name="Rectangle 33"/>
          <p:cNvSpPr>
            <a:spLocks noChangeArrowheads="1"/>
          </p:cNvSpPr>
          <p:nvPr/>
        </p:nvSpPr>
        <p:spPr bwMode="auto">
          <a:xfrm>
            <a:off x="719138" y="3400226"/>
            <a:ext cx="7916862" cy="604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dirty="0">
                <a:latin typeface="宋体" pitchFamily="2" charset="-122"/>
              </a:rPr>
              <a:t>∴</a:t>
            </a:r>
            <a:r>
              <a:rPr kumimoji="1" lang="en-US" altLang="zh-CN" dirty="0"/>
              <a:t> P→Q </a:t>
            </a:r>
            <a:r>
              <a:rPr kumimoji="1" lang="zh-CN" altLang="en-US" dirty="0"/>
              <a:t>为</a:t>
            </a:r>
            <a:r>
              <a:rPr kumimoji="1" lang="en-US" altLang="zh-CN" dirty="0"/>
              <a:t>T</a:t>
            </a:r>
            <a:r>
              <a:rPr kumimoji="1" lang="zh-CN" altLang="en-US" dirty="0"/>
              <a:t>，</a:t>
            </a:r>
            <a:r>
              <a:rPr kumimoji="1" lang="en-US" altLang="zh-CN" dirty="0"/>
              <a:t>Q→P</a:t>
            </a:r>
            <a:r>
              <a:rPr kumimoji="1" lang="zh-CN" altLang="en-US" dirty="0"/>
              <a:t>为</a:t>
            </a:r>
            <a:r>
              <a:rPr kumimoji="1" lang="en-US" altLang="zh-CN" dirty="0"/>
              <a:t>T</a:t>
            </a:r>
            <a:r>
              <a:rPr kumimoji="1" lang="zh-CN" altLang="en-US" dirty="0"/>
              <a:t>，</a:t>
            </a:r>
          </a:p>
        </p:txBody>
      </p:sp>
      <p:sp>
        <p:nvSpPr>
          <p:cNvPr id="509987" name="Rectangle 35"/>
          <p:cNvSpPr>
            <a:spLocks noChangeArrowheads="1"/>
          </p:cNvSpPr>
          <p:nvPr/>
        </p:nvSpPr>
        <p:spPr bwMode="auto">
          <a:xfrm>
            <a:off x="719138" y="3904283"/>
            <a:ext cx="7916862" cy="604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dirty="0"/>
              <a:t>即</a:t>
            </a:r>
            <a:r>
              <a:rPr kumimoji="1" lang="en-US" altLang="zh-CN" dirty="0"/>
              <a:t>P</a:t>
            </a:r>
            <a:r>
              <a:rPr kumimoji="1" lang="en-US" altLang="zh-CN" dirty="0">
                <a:sym typeface="Symbol" pitchFamily="18" charset="2"/>
              </a:rPr>
              <a:t></a:t>
            </a:r>
            <a:r>
              <a:rPr kumimoji="1" lang="en-US" altLang="zh-CN" dirty="0"/>
              <a:t> Q</a:t>
            </a:r>
            <a:r>
              <a:rPr kumimoji="1" lang="zh-CN" altLang="en-US" dirty="0"/>
              <a:t>，</a:t>
            </a:r>
            <a:r>
              <a:rPr kumimoji="1" lang="en-US" altLang="zh-CN" dirty="0"/>
              <a:t>Q</a:t>
            </a:r>
            <a:r>
              <a:rPr kumimoji="1" lang="en-US" altLang="zh-CN" dirty="0">
                <a:sym typeface="Symbol" pitchFamily="18" charset="2"/>
              </a:rPr>
              <a:t></a:t>
            </a:r>
            <a:r>
              <a:rPr kumimoji="1" lang="en-US" altLang="zh-CN" dirty="0"/>
              <a:t>P</a:t>
            </a:r>
            <a:r>
              <a:rPr kumimoji="1" lang="zh-CN" altLang="en-US" dirty="0"/>
              <a:t>。</a:t>
            </a:r>
          </a:p>
        </p:txBody>
      </p:sp>
      <p:sp>
        <p:nvSpPr>
          <p:cNvPr id="509989" name="Rectangle 37"/>
          <p:cNvSpPr>
            <a:spLocks noChangeArrowheads="1"/>
          </p:cNvSpPr>
          <p:nvPr/>
        </p:nvSpPr>
        <p:spPr bwMode="auto">
          <a:xfrm>
            <a:off x="719138" y="4422056"/>
            <a:ext cx="79168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dirty="0"/>
              <a:t>反之，</a:t>
            </a:r>
            <a:r>
              <a:rPr kumimoji="1" lang="en-US" altLang="zh-CN" dirty="0"/>
              <a:t>P</a:t>
            </a:r>
            <a:r>
              <a:rPr kumimoji="1" lang="en-US" altLang="zh-CN" dirty="0">
                <a:sym typeface="Symbol" pitchFamily="18" charset="2"/>
              </a:rPr>
              <a:t></a:t>
            </a:r>
            <a:r>
              <a:rPr kumimoji="1" lang="en-US" altLang="zh-CN" dirty="0"/>
              <a:t> Q</a:t>
            </a:r>
            <a:r>
              <a:rPr kumimoji="1" lang="zh-CN" altLang="en-US" dirty="0"/>
              <a:t>，</a:t>
            </a:r>
            <a:r>
              <a:rPr kumimoji="1" lang="en-US" altLang="zh-CN" dirty="0"/>
              <a:t>Q</a:t>
            </a:r>
            <a:r>
              <a:rPr kumimoji="1" lang="en-US" altLang="zh-CN" dirty="0">
                <a:sym typeface="Symbol" pitchFamily="18" charset="2"/>
              </a:rPr>
              <a:t></a:t>
            </a:r>
            <a:r>
              <a:rPr kumimoji="1" lang="en-US" altLang="zh-CN" dirty="0"/>
              <a:t>P</a:t>
            </a:r>
            <a:r>
              <a:rPr kumimoji="1" lang="zh-CN" altLang="en-US" dirty="0"/>
              <a:t>，</a:t>
            </a:r>
          </a:p>
        </p:txBody>
      </p:sp>
      <p:sp>
        <p:nvSpPr>
          <p:cNvPr id="509991" name="Rectangle 39"/>
          <p:cNvSpPr>
            <a:spLocks noChangeArrowheads="1"/>
          </p:cNvSpPr>
          <p:nvPr/>
        </p:nvSpPr>
        <p:spPr bwMode="auto">
          <a:xfrm>
            <a:off x="719138" y="5503863"/>
            <a:ext cx="22399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/>
              <a:t>则</a:t>
            </a:r>
            <a:r>
              <a:rPr kumimoji="1" lang="en-US" altLang="zh-CN"/>
              <a:t>P</a:t>
            </a:r>
            <a:r>
              <a:rPr kumimoji="1" lang="en-US" altLang="zh-CN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⇄</a:t>
            </a:r>
            <a:r>
              <a:rPr kumimoji="1" lang="en-US" altLang="zh-CN"/>
              <a:t>Q</a:t>
            </a:r>
            <a:r>
              <a:rPr kumimoji="1" lang="zh-CN" altLang="en-US"/>
              <a:t>为</a:t>
            </a:r>
            <a:r>
              <a:rPr kumimoji="1" lang="en-US" altLang="zh-CN"/>
              <a:t>T</a:t>
            </a:r>
            <a:r>
              <a:rPr kumimoji="1" lang="zh-CN" altLang="en-US"/>
              <a:t>，</a:t>
            </a:r>
          </a:p>
        </p:txBody>
      </p:sp>
      <p:sp>
        <p:nvSpPr>
          <p:cNvPr id="509993" name="Rectangle 41"/>
          <p:cNvSpPr>
            <a:spLocks noChangeArrowheads="1"/>
          </p:cNvSpPr>
          <p:nvPr/>
        </p:nvSpPr>
        <p:spPr bwMode="auto">
          <a:xfrm>
            <a:off x="2973388" y="5518150"/>
            <a:ext cx="40290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/>
              <a:t>P</a:t>
            </a:r>
            <a:r>
              <a:rPr kumimoji="1" lang="en-US" altLang="zh-CN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⇄</a:t>
            </a:r>
            <a:r>
              <a:rPr kumimoji="1" lang="en-US" altLang="zh-CN"/>
              <a:t>Q</a:t>
            </a:r>
            <a:r>
              <a:rPr kumimoji="1" lang="zh-CN" altLang="en-US"/>
              <a:t>是重言式， </a:t>
            </a:r>
            <a:r>
              <a:rPr kumimoji="1" lang="en-US" altLang="zh-CN"/>
              <a:t>P</a:t>
            </a:r>
            <a:r>
              <a:rPr kumimoji="1" lang="en-US" altLang="zh-CN">
                <a:sym typeface="Symbol" pitchFamily="18" charset="2"/>
              </a:rPr>
              <a:t></a:t>
            </a:r>
            <a:r>
              <a:rPr kumimoji="1" lang="en-US" altLang="zh-CN"/>
              <a:t>Q</a:t>
            </a:r>
            <a:r>
              <a:rPr kumimoji="1" lang="zh-CN" altLang="en-US"/>
              <a:t>。</a:t>
            </a:r>
          </a:p>
        </p:txBody>
      </p:sp>
      <p:sp>
        <p:nvSpPr>
          <p:cNvPr id="13" name="Rectangle 33"/>
          <p:cNvSpPr>
            <a:spLocks noChangeArrowheads="1"/>
          </p:cNvSpPr>
          <p:nvPr/>
        </p:nvSpPr>
        <p:spPr bwMode="auto">
          <a:xfrm>
            <a:off x="715100" y="4912394"/>
            <a:ext cx="7916862" cy="604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smtClean="0"/>
              <a:t>即</a:t>
            </a:r>
            <a:r>
              <a:rPr kumimoji="1" lang="en-US" altLang="zh-CN" smtClean="0"/>
              <a:t> </a:t>
            </a:r>
            <a:r>
              <a:rPr kumimoji="1" lang="en-US" altLang="zh-CN" dirty="0"/>
              <a:t>P→Q </a:t>
            </a:r>
            <a:r>
              <a:rPr kumimoji="1" lang="zh-CN" altLang="en-US" dirty="0"/>
              <a:t>为</a:t>
            </a:r>
            <a:r>
              <a:rPr kumimoji="1" lang="en-US" altLang="zh-CN" dirty="0"/>
              <a:t>T</a:t>
            </a:r>
            <a:r>
              <a:rPr kumimoji="1" lang="zh-CN" altLang="en-US" dirty="0"/>
              <a:t>，</a:t>
            </a:r>
            <a:r>
              <a:rPr kumimoji="1" lang="en-US" altLang="zh-CN" dirty="0"/>
              <a:t>Q→P</a:t>
            </a:r>
            <a:r>
              <a:rPr kumimoji="1" lang="zh-CN" altLang="en-US" dirty="0"/>
              <a:t>为</a:t>
            </a:r>
            <a:r>
              <a:rPr kumimoji="1" lang="en-US" altLang="zh-CN" dirty="0"/>
              <a:t>T</a:t>
            </a:r>
            <a:r>
              <a:rPr kumimoji="1" lang="zh-CN" altLang="en-US" dirty="0"/>
              <a:t>，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9956" grpId="0"/>
      <p:bldP spid="509983" grpId="0"/>
      <p:bldP spid="509985" grpId="0"/>
      <p:bldP spid="509987" grpId="0"/>
      <p:bldP spid="509989" grpId="0"/>
      <p:bldP spid="509991" grpId="0"/>
      <p:bldP spid="509993" grpId="0"/>
      <p:bldP spid="13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D935B24-6B2E-481D-B4B4-E15F7FC30DD3}" type="slidenum">
              <a:rPr lang="en-US" altLang="zh-CN"/>
              <a:pPr>
                <a:defRPr/>
              </a:pPr>
              <a:t>53</a:t>
            </a:fld>
            <a:endParaRPr lang="en-US" altLang="zh-CN"/>
          </a:p>
        </p:txBody>
      </p:sp>
      <p:sp>
        <p:nvSpPr>
          <p:cNvPr id="61443" name="Text Box 4"/>
          <p:cNvSpPr txBox="1">
            <a:spLocks noChangeArrowheads="1"/>
          </p:cNvSpPr>
          <p:nvPr/>
        </p:nvSpPr>
        <p:spPr bwMode="auto">
          <a:xfrm>
            <a:off x="719138" y="1268413"/>
            <a:ext cx="7916862" cy="1160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1169988" indent="-45720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806575" indent="-4572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2443163" indent="-4572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3079750" indent="-4572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353695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99415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445135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90855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kumimoji="1" lang="en-US" altLang="zh-CN"/>
              <a:t>       </a:t>
            </a:r>
            <a:r>
              <a:rPr kumimoji="1" lang="zh-CN" altLang="en-US"/>
              <a:t>设</a:t>
            </a:r>
            <a:r>
              <a:rPr kumimoji="1" lang="en-US" altLang="zh-CN"/>
              <a:t>A</a:t>
            </a:r>
            <a:r>
              <a:rPr kumimoji="1" lang="zh-CN" altLang="en-US"/>
              <a:t>、</a:t>
            </a:r>
            <a:r>
              <a:rPr kumimoji="1" lang="en-US" altLang="zh-CN"/>
              <a:t>B</a:t>
            </a:r>
            <a:r>
              <a:rPr kumimoji="1" lang="zh-CN" altLang="en-US"/>
              <a:t>、</a:t>
            </a:r>
            <a:r>
              <a:rPr kumimoji="1" lang="en-US" altLang="zh-CN"/>
              <a:t>C</a:t>
            </a:r>
            <a:r>
              <a:rPr kumimoji="1" lang="zh-CN" altLang="en-US"/>
              <a:t>为合式公式，</a:t>
            </a:r>
          </a:p>
          <a:p>
            <a:pPr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kumimoji="1" lang="zh-CN" altLang="en-US"/>
              <a:t>       </a:t>
            </a:r>
            <a:r>
              <a:rPr kumimoji="1" lang="en-US" altLang="zh-CN"/>
              <a:t>(1)</a:t>
            </a:r>
            <a:r>
              <a:rPr kumimoji="1" lang="zh-CN" altLang="en-US"/>
              <a:t>若</a:t>
            </a:r>
            <a:r>
              <a:rPr kumimoji="1" lang="en-US" altLang="zh-CN"/>
              <a:t>A</a:t>
            </a:r>
            <a:r>
              <a:rPr kumimoji="1" lang="en-US" altLang="zh-CN">
                <a:sym typeface="Symbol" pitchFamily="18" charset="2"/>
              </a:rPr>
              <a:t></a:t>
            </a:r>
            <a:r>
              <a:rPr kumimoji="1" lang="en-US" altLang="zh-CN"/>
              <a:t>B</a:t>
            </a:r>
            <a:r>
              <a:rPr kumimoji="1" lang="zh-CN" altLang="en-US"/>
              <a:t>且</a:t>
            </a:r>
            <a:r>
              <a:rPr kumimoji="1" lang="en-US" altLang="zh-CN"/>
              <a:t>A</a:t>
            </a:r>
            <a:r>
              <a:rPr kumimoji="1" lang="zh-CN" altLang="en-US"/>
              <a:t>是重言式，则</a:t>
            </a:r>
            <a:r>
              <a:rPr kumimoji="1" lang="en-US" altLang="zh-CN"/>
              <a:t>B</a:t>
            </a:r>
            <a:r>
              <a:rPr kumimoji="1" lang="zh-CN" altLang="en-US"/>
              <a:t>必是重言式。</a:t>
            </a:r>
          </a:p>
        </p:txBody>
      </p:sp>
      <p:sp>
        <p:nvSpPr>
          <p:cNvPr id="61444" name="Rectangle 7"/>
          <p:cNvSpPr>
            <a:spLocks noChangeArrowheads="1"/>
          </p:cNvSpPr>
          <p:nvPr/>
        </p:nvSpPr>
        <p:spPr bwMode="auto">
          <a:xfrm>
            <a:off x="1547813" y="669925"/>
            <a:ext cx="24272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914400" indent="-45720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371600" indent="-4572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828800" indent="-4572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indent="-4572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AutoNum type="arabicPeriod" startAt="4"/>
            </a:pPr>
            <a:r>
              <a:rPr kumimoji="1" lang="zh-CN" altLang="en-US">
                <a:solidFill>
                  <a:schemeClr val="folHlink"/>
                </a:solidFill>
              </a:rPr>
              <a:t>蕴含的性质</a:t>
            </a:r>
          </a:p>
        </p:txBody>
      </p:sp>
      <p:sp>
        <p:nvSpPr>
          <p:cNvPr id="453641" name="Rectangle 9"/>
          <p:cNvSpPr>
            <a:spLocks noChangeArrowheads="1"/>
          </p:cNvSpPr>
          <p:nvPr/>
        </p:nvSpPr>
        <p:spPr bwMode="auto">
          <a:xfrm>
            <a:off x="719138" y="2492375"/>
            <a:ext cx="7916862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/>
              <a:t>       (2)</a:t>
            </a:r>
            <a:r>
              <a:rPr kumimoji="1" lang="zh-CN" altLang="en-US"/>
              <a:t>若</a:t>
            </a:r>
            <a:r>
              <a:rPr kumimoji="1" lang="en-US" altLang="zh-CN"/>
              <a:t>A</a:t>
            </a:r>
            <a:r>
              <a:rPr kumimoji="1" lang="en-US" altLang="zh-CN">
                <a:sym typeface="Symbol" pitchFamily="18" charset="2"/>
              </a:rPr>
              <a:t></a:t>
            </a:r>
            <a:r>
              <a:rPr kumimoji="1" lang="en-US" altLang="zh-CN"/>
              <a:t>B</a:t>
            </a:r>
            <a:r>
              <a:rPr kumimoji="1" lang="zh-CN" altLang="en-US"/>
              <a:t>，</a:t>
            </a:r>
            <a:r>
              <a:rPr kumimoji="1" lang="en-US" altLang="zh-CN"/>
              <a:t>B</a:t>
            </a:r>
            <a:r>
              <a:rPr kumimoji="1" lang="en-US" altLang="zh-CN">
                <a:sym typeface="Symbol" pitchFamily="18" charset="2"/>
              </a:rPr>
              <a:t></a:t>
            </a:r>
            <a:r>
              <a:rPr kumimoji="1" lang="en-US" altLang="zh-CN"/>
              <a:t>C</a:t>
            </a:r>
            <a:r>
              <a:rPr kumimoji="1" lang="zh-CN" altLang="en-US"/>
              <a:t>，则</a:t>
            </a:r>
            <a:r>
              <a:rPr kumimoji="1" lang="en-US" altLang="zh-CN"/>
              <a:t>A</a:t>
            </a:r>
            <a:r>
              <a:rPr kumimoji="1" lang="en-US" altLang="zh-CN">
                <a:sym typeface="Symbol" pitchFamily="18" charset="2"/>
              </a:rPr>
              <a:t></a:t>
            </a:r>
            <a:r>
              <a:rPr kumimoji="1" lang="en-US" altLang="zh-CN"/>
              <a:t>C</a:t>
            </a:r>
            <a:r>
              <a:rPr kumimoji="1" lang="zh-CN" altLang="en-US"/>
              <a:t>，即蕴含关系是</a:t>
            </a:r>
            <a:r>
              <a:rPr kumimoji="1" lang="zh-CN" altLang="en-US" u="sng">
                <a:solidFill>
                  <a:schemeClr val="hlink"/>
                </a:solidFill>
              </a:rPr>
              <a:t>传递的</a:t>
            </a:r>
            <a:r>
              <a:rPr kumimoji="1" lang="zh-CN" altLang="en-US"/>
              <a:t>。</a:t>
            </a:r>
          </a:p>
        </p:txBody>
      </p:sp>
      <p:sp>
        <p:nvSpPr>
          <p:cNvPr id="453650" name="Rectangle 18"/>
          <p:cNvSpPr>
            <a:spLocks noChangeArrowheads="1"/>
          </p:cNvSpPr>
          <p:nvPr/>
        </p:nvSpPr>
        <p:spPr bwMode="auto">
          <a:xfrm>
            <a:off x="1331913" y="3500438"/>
            <a:ext cx="67691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/>
              <a:t>(3)</a:t>
            </a:r>
            <a:r>
              <a:rPr kumimoji="1" lang="zh-CN" altLang="en-US"/>
              <a:t>若</a:t>
            </a:r>
            <a:r>
              <a:rPr kumimoji="1" lang="en-US" altLang="zh-CN"/>
              <a:t>A</a:t>
            </a:r>
            <a:r>
              <a:rPr kumimoji="1" lang="en-US" altLang="zh-CN">
                <a:sym typeface="Symbol" pitchFamily="18" charset="2"/>
              </a:rPr>
              <a:t></a:t>
            </a:r>
            <a:r>
              <a:rPr kumimoji="1" lang="en-US" altLang="zh-CN"/>
              <a:t>B</a:t>
            </a:r>
            <a:r>
              <a:rPr kumimoji="1" lang="zh-CN" altLang="en-US"/>
              <a:t>，且</a:t>
            </a:r>
            <a:r>
              <a:rPr kumimoji="1" lang="en-US" altLang="zh-CN"/>
              <a:t>A</a:t>
            </a:r>
            <a:r>
              <a:rPr kumimoji="1" lang="en-US" altLang="zh-CN">
                <a:sym typeface="Symbol" pitchFamily="18" charset="2"/>
              </a:rPr>
              <a:t></a:t>
            </a:r>
            <a:r>
              <a:rPr kumimoji="1" lang="en-US" altLang="zh-CN"/>
              <a:t>C</a:t>
            </a:r>
            <a:r>
              <a:rPr kumimoji="1" lang="zh-CN" altLang="en-US"/>
              <a:t>，那么</a:t>
            </a:r>
            <a:r>
              <a:rPr kumimoji="1" lang="en-US" altLang="zh-CN"/>
              <a:t>A</a:t>
            </a:r>
            <a:r>
              <a:rPr kumimoji="1" lang="en-US" altLang="zh-CN">
                <a:sym typeface="Symbol" pitchFamily="18" charset="2"/>
              </a:rPr>
              <a:t></a:t>
            </a:r>
            <a:r>
              <a:rPr kumimoji="1" lang="en-US" altLang="zh-CN"/>
              <a:t>(B∧C)</a:t>
            </a:r>
            <a:r>
              <a:rPr kumimoji="1" lang="zh-CN" altLang="en-US"/>
              <a:t>。</a:t>
            </a:r>
          </a:p>
        </p:txBody>
      </p:sp>
      <p:sp>
        <p:nvSpPr>
          <p:cNvPr id="453651" name="Text Box 19"/>
          <p:cNvSpPr txBox="1">
            <a:spLocks noChangeArrowheads="1"/>
          </p:cNvSpPr>
          <p:nvPr/>
        </p:nvSpPr>
        <p:spPr bwMode="auto">
          <a:xfrm>
            <a:off x="1331913" y="4133850"/>
            <a:ext cx="64801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1077913" indent="-45720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714500" indent="-4572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2351088" indent="-4572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987675" indent="-4572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3444875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902075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4359275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816475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AutoNum type="arabicParenBoth" startAt="4"/>
            </a:pPr>
            <a:r>
              <a:rPr kumimoji="1" lang="zh-CN" altLang="en-US"/>
              <a:t>若</a:t>
            </a:r>
            <a:r>
              <a:rPr kumimoji="1" lang="en-US" altLang="zh-CN"/>
              <a:t>A</a:t>
            </a:r>
            <a:r>
              <a:rPr kumimoji="1" lang="en-US" altLang="zh-CN">
                <a:sym typeface="Symbol" pitchFamily="18" charset="2"/>
              </a:rPr>
              <a:t></a:t>
            </a:r>
            <a:r>
              <a:rPr kumimoji="1" lang="en-US" altLang="zh-CN"/>
              <a:t>B</a:t>
            </a:r>
            <a:r>
              <a:rPr kumimoji="1" lang="zh-CN" altLang="en-US"/>
              <a:t>且</a:t>
            </a:r>
            <a:r>
              <a:rPr kumimoji="1" lang="en-US" altLang="zh-CN"/>
              <a:t>C</a:t>
            </a:r>
            <a:r>
              <a:rPr kumimoji="1" lang="en-US" altLang="zh-CN">
                <a:sym typeface="Symbol" pitchFamily="18" charset="2"/>
              </a:rPr>
              <a:t></a:t>
            </a:r>
            <a:r>
              <a:rPr kumimoji="1" lang="en-US" altLang="zh-CN"/>
              <a:t>B</a:t>
            </a:r>
            <a:r>
              <a:rPr kumimoji="1" lang="zh-CN" altLang="en-US"/>
              <a:t>，则</a:t>
            </a:r>
            <a:r>
              <a:rPr kumimoji="1" lang="en-US" altLang="zh-CN"/>
              <a:t>A∨C</a:t>
            </a:r>
            <a:r>
              <a:rPr kumimoji="1" lang="en-US" altLang="zh-CN">
                <a:sym typeface="Symbol" pitchFamily="18" charset="2"/>
              </a:rPr>
              <a:t></a:t>
            </a:r>
            <a:r>
              <a:rPr kumimoji="1" lang="en-US" altLang="zh-CN"/>
              <a:t>B</a:t>
            </a:r>
            <a:r>
              <a:rPr kumimoji="1" lang="zh-CN" altLang="en-US"/>
              <a:t>。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3641" grpId="0"/>
      <p:bldP spid="453650" grpId="0"/>
      <p:bldP spid="453651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E17F76D-F4A3-4CE3-950D-826445546EFF}" type="slidenum">
              <a:rPr lang="en-US" altLang="zh-CN"/>
              <a:pPr>
                <a:defRPr/>
              </a:pPr>
              <a:t>54</a:t>
            </a:fld>
            <a:endParaRPr lang="en-US" altLang="zh-CN"/>
          </a:p>
        </p:txBody>
      </p:sp>
      <p:sp>
        <p:nvSpPr>
          <p:cNvPr id="47107" name="Text Box 2"/>
          <p:cNvSpPr txBox="1">
            <a:spLocks noChangeArrowheads="1"/>
          </p:cNvSpPr>
          <p:nvPr/>
        </p:nvSpPr>
        <p:spPr bwMode="auto">
          <a:xfrm>
            <a:off x="900113" y="1628775"/>
            <a:ext cx="7632700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914400" indent="-45720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371600" indent="-4572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828800" indent="-4572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indent="-4572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AutoNum type="arabicPeriod"/>
            </a:pPr>
            <a:r>
              <a:rPr kumimoji="1" lang="zh-CN" altLang="en-US" dirty="0" smtClean="0"/>
              <a:t>命题公式真值表</a:t>
            </a:r>
            <a:r>
              <a:rPr kumimoji="1" lang="zh-CN" altLang="en-US" dirty="0"/>
              <a:t>的</a:t>
            </a:r>
            <a:r>
              <a:rPr kumimoji="1" lang="zh-CN" altLang="en-US" dirty="0" smtClean="0"/>
              <a:t>构造</a:t>
            </a:r>
            <a:r>
              <a:rPr kumimoji="1" lang="zh-CN" altLang="en-US" dirty="0"/>
              <a:t>。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AutoNum type="arabicPeriod"/>
            </a:pPr>
            <a:r>
              <a:rPr kumimoji="1" lang="zh-CN" altLang="en-US" dirty="0" smtClean="0"/>
              <a:t>等价式的证明。</a:t>
            </a:r>
            <a:endParaRPr kumimoji="1" lang="en-US" altLang="zh-CN" dirty="0" smtClean="0"/>
          </a:p>
          <a:p>
            <a:pPr eaLnBrk="1" hangingPunct="1">
              <a:spcBef>
                <a:spcPct val="50000"/>
              </a:spcBef>
              <a:buClrTx/>
              <a:buSzTx/>
              <a:buFontTx/>
              <a:buAutoNum type="arabicPeriod"/>
            </a:pPr>
            <a:r>
              <a:rPr kumimoji="1" lang="zh-CN" altLang="en-US" dirty="0" smtClean="0"/>
              <a:t>重言式和蕴含式的证明。</a:t>
            </a:r>
            <a:endParaRPr kumimoji="1" lang="zh-CN" altLang="en-US" dirty="0"/>
          </a:p>
        </p:txBody>
      </p:sp>
      <p:sp>
        <p:nvSpPr>
          <p:cNvPr id="47108" name="Rectangle 3"/>
          <p:cNvSpPr>
            <a:spLocks noChangeArrowheads="1"/>
          </p:cNvSpPr>
          <p:nvPr/>
        </p:nvSpPr>
        <p:spPr bwMode="auto">
          <a:xfrm>
            <a:off x="3492500" y="598488"/>
            <a:ext cx="17716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sz="3600">
                <a:solidFill>
                  <a:schemeClr val="folHlink"/>
                </a:solidFill>
                <a:ea typeface="华文行楷" pitchFamily="2" charset="-122"/>
              </a:rPr>
              <a:t>小结</a:t>
            </a:r>
          </a:p>
        </p:txBody>
      </p:sp>
    </p:spTree>
    <p:extLst>
      <p:ext uri="{BB962C8B-B14F-4D97-AF65-F5344CB8AC3E}">
        <p14:creationId xmlns:p14="http://schemas.microsoft.com/office/powerpoint/2010/main" val="179866406"/>
      </p:ext>
    </p:extLst>
  </p:cSld>
  <p:clrMapOvr>
    <a:masterClrMapping/>
  </p:clrMapOvr>
  <p:transition spd="slow">
    <p:pull dir="ru"/>
  </p:transition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E569DD1-1AF0-4A51-813E-E869E52817FF}" type="slidenum">
              <a:rPr lang="en-US" altLang="zh-CN"/>
              <a:pPr>
                <a:defRPr/>
              </a:pPr>
              <a:t>55</a:t>
            </a:fld>
            <a:endParaRPr lang="en-US" altLang="zh-CN"/>
          </a:p>
        </p:txBody>
      </p:sp>
      <p:sp>
        <p:nvSpPr>
          <p:cNvPr id="48131" name="Rectangle 2"/>
          <p:cNvSpPr>
            <a:spLocks noChangeArrowheads="1"/>
          </p:cNvSpPr>
          <p:nvPr/>
        </p:nvSpPr>
        <p:spPr bwMode="auto">
          <a:xfrm>
            <a:off x="899592" y="1989138"/>
            <a:ext cx="7633221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3200" dirty="0">
                <a:latin typeface="Tahoma" pitchFamily="34" charset="0"/>
              </a:rPr>
              <a:t>作业：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3200" dirty="0" smtClean="0"/>
              <a:t>P17 </a:t>
            </a:r>
            <a:r>
              <a:rPr lang="en-US" altLang="zh-CN" sz="3200" dirty="0"/>
              <a:t>(1) d</a:t>
            </a:r>
            <a:r>
              <a:rPr lang="en-US" altLang="zh-CN" sz="3200" dirty="0" smtClean="0"/>
              <a:t>)</a:t>
            </a:r>
            <a:r>
              <a:rPr lang="zh-CN" altLang="en-US" sz="3200" dirty="0" smtClean="0"/>
              <a:t>，</a:t>
            </a:r>
            <a:r>
              <a:rPr lang="en-US" altLang="zh-CN" sz="3200" dirty="0"/>
              <a:t>P19 (7) </a:t>
            </a:r>
            <a:r>
              <a:rPr lang="en-US" altLang="zh-CN" sz="3200" dirty="0" smtClean="0"/>
              <a:t>e),h)</a:t>
            </a:r>
            <a:r>
              <a:rPr lang="zh-CN" altLang="en-US" sz="3200" dirty="0" smtClean="0"/>
              <a:t>，</a:t>
            </a:r>
            <a:r>
              <a:rPr lang="en-US" altLang="en-US" sz="3200" dirty="0" smtClean="0"/>
              <a:t>P23</a:t>
            </a:r>
            <a:r>
              <a:rPr lang="en-US" altLang="zh-CN" sz="3200" dirty="0" smtClean="0"/>
              <a:t> </a:t>
            </a:r>
            <a:r>
              <a:rPr lang="en-US" altLang="zh-CN" sz="3200" dirty="0"/>
              <a:t>(</a:t>
            </a:r>
            <a:r>
              <a:rPr lang="en-US" altLang="en-US" sz="3200" dirty="0"/>
              <a:t>1</a:t>
            </a:r>
            <a:r>
              <a:rPr lang="en-US" altLang="zh-CN" sz="3200" dirty="0"/>
              <a:t>) </a:t>
            </a:r>
            <a:r>
              <a:rPr lang="en-US" altLang="zh-CN" sz="3200" dirty="0" smtClean="0"/>
              <a:t>c),d</a:t>
            </a:r>
            <a:r>
              <a:rPr lang="en-US" altLang="zh-CN" sz="3200" dirty="0"/>
              <a:t>)</a:t>
            </a:r>
            <a:r>
              <a:rPr lang="zh-CN" altLang="en-US" sz="3200" dirty="0"/>
              <a:t>，</a:t>
            </a:r>
            <a:r>
              <a:rPr lang="en-US" altLang="zh-CN" sz="3200" dirty="0"/>
              <a:t>(</a:t>
            </a:r>
            <a:r>
              <a:rPr lang="en-US" altLang="en-US" sz="3200" dirty="0"/>
              <a:t>8</a:t>
            </a:r>
            <a:r>
              <a:rPr lang="en-US" altLang="zh-CN" sz="3200" dirty="0"/>
              <a:t>) </a:t>
            </a:r>
            <a:r>
              <a:rPr lang="en-US" altLang="zh-CN" sz="3200" dirty="0" smtClean="0"/>
              <a:t>e),f)</a:t>
            </a:r>
            <a:endParaRPr lang="en-US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53485460"/>
      </p:ext>
    </p:extLst>
  </p:cSld>
  <p:clrMapOvr>
    <a:masterClrMapping/>
  </p:clrMapOvr>
  <p:transition spd="slow">
    <p:pull dir="ru"/>
  </p:transition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A0884FA-BCCA-47AD-B82D-70AEF91AF09A}" type="slidenum">
              <a:rPr lang="en-US" altLang="zh-CN"/>
              <a:pPr>
                <a:defRPr/>
              </a:pPr>
              <a:t>56</a:t>
            </a:fld>
            <a:endParaRPr lang="en-US" altLang="zh-CN"/>
          </a:p>
        </p:txBody>
      </p:sp>
      <p:sp>
        <p:nvSpPr>
          <p:cNvPr id="491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 smtClean="0"/>
              <a:t>复习</a:t>
            </a:r>
          </a:p>
        </p:txBody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/>
              <a:t>真值表</a:t>
            </a:r>
          </a:p>
          <a:p>
            <a:pPr eaLnBrk="1" hangingPunct="1"/>
            <a:r>
              <a:rPr lang="zh-CN" altLang="en-US" dirty="0" smtClean="0"/>
              <a:t>等价式</a:t>
            </a:r>
            <a:endParaRPr lang="en-US" altLang="zh-CN" dirty="0" smtClean="0"/>
          </a:p>
          <a:p>
            <a:pPr eaLnBrk="1" hangingPunct="1"/>
            <a:r>
              <a:rPr lang="zh-CN" altLang="en-US" dirty="0" smtClean="0"/>
              <a:t>重言式</a:t>
            </a:r>
            <a:endParaRPr lang="en-US" altLang="zh-CN" dirty="0" smtClean="0"/>
          </a:p>
          <a:p>
            <a:pPr eaLnBrk="1" hangingPunct="1"/>
            <a:r>
              <a:rPr lang="zh-CN" altLang="en-US" dirty="0"/>
              <a:t>蕴含式</a:t>
            </a:r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56684613"/>
      </p:ext>
    </p:extLst>
  </p:cSld>
  <p:clrMapOvr>
    <a:masterClrMapping/>
  </p:clrMapOvr>
  <p:transition spd="slow">
    <p:pull dir="ru"/>
  </p:transition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96F2B21-64A6-4E34-A58F-3A6A90414637}" type="slidenum">
              <a:rPr lang="en-US" altLang="zh-CN"/>
              <a:pPr>
                <a:defRPr/>
              </a:pPr>
              <a:t>57</a:t>
            </a:fld>
            <a:endParaRPr lang="en-US" altLang="zh-CN"/>
          </a:p>
        </p:txBody>
      </p:sp>
      <p:sp>
        <p:nvSpPr>
          <p:cNvPr id="62467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484188"/>
            <a:ext cx="7237412" cy="64135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en-US" altLang="zh-CN" sz="3600" b="1" smtClean="0">
                <a:solidFill>
                  <a:schemeClr val="tx1"/>
                </a:solidFill>
                <a:latin typeface="华文行楷" pitchFamily="2" charset="-122"/>
              </a:rPr>
              <a:t>1-6   </a:t>
            </a:r>
            <a:r>
              <a:rPr kumimoji="1" lang="zh-CN" altLang="en-US" sz="3600" b="1" smtClean="0">
                <a:solidFill>
                  <a:schemeClr val="tx1"/>
                </a:solidFill>
                <a:latin typeface="华文行楷" pitchFamily="2" charset="-122"/>
              </a:rPr>
              <a:t>其他联结词</a:t>
            </a:r>
          </a:p>
        </p:txBody>
      </p:sp>
      <p:sp>
        <p:nvSpPr>
          <p:cNvPr id="631811" name="Text Box 3"/>
          <p:cNvSpPr txBox="1">
            <a:spLocks noChangeArrowheads="1"/>
          </p:cNvSpPr>
          <p:nvPr/>
        </p:nvSpPr>
        <p:spPr bwMode="auto">
          <a:xfrm>
            <a:off x="827088" y="2005013"/>
            <a:ext cx="7129462" cy="287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/>
              <a:t>(1)P↑Q</a:t>
            </a:r>
            <a:r>
              <a:rPr kumimoji="1" lang="en-US" altLang="zh-CN">
                <a:sym typeface="Symbol" pitchFamily="18" charset="2"/>
              </a:rPr>
              <a:t> </a:t>
            </a:r>
            <a:r>
              <a:rPr kumimoji="1" lang="en-US" altLang="zh-CN"/>
              <a:t>┐(P ∧ Q)</a:t>
            </a:r>
            <a:r>
              <a:rPr kumimoji="1" lang="zh-CN" altLang="en-US"/>
              <a:t>；与非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/>
              <a:t>(2)P↓Q</a:t>
            </a:r>
            <a:r>
              <a:rPr kumimoji="1" lang="en-US" altLang="zh-CN">
                <a:sym typeface="Symbol" pitchFamily="18" charset="2"/>
              </a:rPr>
              <a:t> </a:t>
            </a:r>
            <a:r>
              <a:rPr kumimoji="1" lang="en-US" altLang="zh-CN"/>
              <a:t>┐(P ∨ Q)</a:t>
            </a:r>
            <a:r>
              <a:rPr kumimoji="1" lang="zh-CN" altLang="en-US"/>
              <a:t>；或非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/>
              <a:t>(3)P</a:t>
            </a:r>
            <a:r>
              <a:rPr kumimoji="1" lang="en-US" altLang="zh-CN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    </a:t>
            </a:r>
            <a:r>
              <a:rPr kumimoji="1" lang="en-US" altLang="zh-CN"/>
              <a:t>Q</a:t>
            </a:r>
            <a:r>
              <a:rPr kumimoji="1" lang="en-US" altLang="zh-CN">
                <a:sym typeface="Symbol" pitchFamily="18" charset="2"/>
              </a:rPr>
              <a:t> </a:t>
            </a:r>
            <a:r>
              <a:rPr kumimoji="1" lang="en-US" altLang="zh-CN"/>
              <a:t>┐(P → Q)</a:t>
            </a:r>
            <a:r>
              <a:rPr kumimoji="1" lang="zh-CN" altLang="en-US"/>
              <a:t>；条件否定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/>
              <a:t>(4)P </a:t>
            </a:r>
            <a:r>
              <a:rPr kumimoji="1" lang="en-US" altLang="zh-CN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⊽ </a:t>
            </a:r>
            <a:r>
              <a:rPr kumimoji="1" lang="en-US" altLang="zh-CN"/>
              <a:t>Q</a:t>
            </a:r>
            <a:r>
              <a:rPr kumimoji="1" lang="en-US" altLang="zh-CN">
                <a:sym typeface="Symbol" pitchFamily="18" charset="2"/>
              </a:rPr>
              <a:t> </a:t>
            </a:r>
            <a:r>
              <a:rPr kumimoji="1" lang="en-US" altLang="zh-CN"/>
              <a:t>┐(P</a:t>
            </a:r>
            <a:r>
              <a:rPr kumimoji="1" lang="en-US" altLang="zh-CN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⇄</a:t>
            </a:r>
            <a:r>
              <a:rPr kumimoji="1" lang="en-US" altLang="zh-CN"/>
              <a:t>Q)</a:t>
            </a:r>
            <a:r>
              <a:rPr kumimoji="1" lang="zh-CN" altLang="en-US"/>
              <a:t>：双条件否定</a:t>
            </a:r>
            <a:r>
              <a:rPr kumimoji="1" lang="en-US" altLang="zh-CN"/>
              <a:t>(</a:t>
            </a:r>
            <a:r>
              <a:rPr kumimoji="1" lang="zh-CN" altLang="en-US"/>
              <a:t>不可析取或，异或</a:t>
            </a:r>
            <a:r>
              <a:rPr kumimoji="1" lang="en-US" altLang="zh-CN"/>
              <a:t>)</a:t>
            </a:r>
          </a:p>
        </p:txBody>
      </p:sp>
      <p:sp>
        <p:nvSpPr>
          <p:cNvPr id="62469" name="Rectangle 4"/>
          <p:cNvSpPr>
            <a:spLocks noChangeArrowheads="1"/>
          </p:cNvSpPr>
          <p:nvPr/>
        </p:nvSpPr>
        <p:spPr bwMode="auto">
          <a:xfrm>
            <a:off x="1042988" y="1289050"/>
            <a:ext cx="304006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sz="3200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</a:rPr>
              <a:t>一、其他联结词</a:t>
            </a:r>
          </a:p>
        </p:txBody>
      </p:sp>
      <p:graphicFrame>
        <p:nvGraphicFramePr>
          <p:cNvPr id="631814" name="Object 6"/>
          <p:cNvGraphicFramePr>
            <a:graphicFrameLocks noChangeAspect="1"/>
          </p:cNvGraphicFramePr>
          <p:nvPr/>
        </p:nvGraphicFramePr>
        <p:xfrm>
          <a:off x="1533525" y="3314700"/>
          <a:ext cx="431800" cy="354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50" name="Equation" r:id="rId3" imgW="431613" imgH="355446" progId="Equation.DSMT4">
                  <p:embed/>
                </p:oleObj>
              </mc:Choice>
              <mc:Fallback>
                <p:oleObj name="Equation" r:id="rId3" imgW="431613" imgH="355446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3525" y="3314700"/>
                        <a:ext cx="431800" cy="354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1811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0DF3F5C-D3A9-43A1-8E48-053A90226170}" type="slidenum">
              <a:rPr lang="en-US" altLang="zh-CN"/>
              <a:pPr>
                <a:defRPr/>
              </a:pPr>
              <a:t>58</a:t>
            </a:fld>
            <a:endParaRPr lang="en-US" altLang="zh-CN"/>
          </a:p>
        </p:txBody>
      </p:sp>
      <p:sp>
        <p:nvSpPr>
          <p:cNvPr id="63491" name="Text Box 2"/>
          <p:cNvSpPr txBox="1">
            <a:spLocks noChangeArrowheads="1"/>
          </p:cNvSpPr>
          <p:nvPr/>
        </p:nvSpPr>
        <p:spPr bwMode="auto">
          <a:xfrm>
            <a:off x="1330325" y="620713"/>
            <a:ext cx="468153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zh-CN" altLang="en-US" sz="3200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</a:rPr>
              <a:t>二、联结词的定义</a:t>
            </a:r>
          </a:p>
        </p:txBody>
      </p:sp>
      <p:graphicFrame>
        <p:nvGraphicFramePr>
          <p:cNvPr id="632883" name="Group 51"/>
          <p:cNvGraphicFramePr>
            <a:graphicFrameLocks noGrp="1"/>
          </p:cNvGraphicFramePr>
          <p:nvPr/>
        </p:nvGraphicFramePr>
        <p:xfrm>
          <a:off x="1403350" y="1716088"/>
          <a:ext cx="6273800" cy="2936876"/>
        </p:xfrm>
        <a:graphic>
          <a:graphicData uri="http://schemas.openxmlformats.org/drawingml/2006/table">
            <a:tbl>
              <a:tblPr/>
              <a:tblGrid>
                <a:gridCol w="957263"/>
                <a:gridCol w="955675"/>
                <a:gridCol w="1035050"/>
                <a:gridCol w="1035050"/>
                <a:gridCol w="1122362"/>
                <a:gridCol w="1168400"/>
              </a:tblGrid>
              <a:tr h="5762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P↑Q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P↓Q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</a:t>
                      </a: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Arial Unicode MS" pitchFamily="34" charset="-122"/>
                          <a:cs typeface="Arial Unicode MS" pitchFamily="34" charset="-122"/>
                        </a:rPr>
                        <a:t>     </a:t>
                      </a: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 </a:t>
                      </a: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Arial Unicode MS" pitchFamily="34" charset="-122"/>
                          <a:ea typeface="Arial Unicode MS" pitchFamily="34" charset="-122"/>
                          <a:cs typeface="Arial Unicode MS" pitchFamily="34" charset="-122"/>
                        </a:rPr>
                        <a:t>⊽ </a:t>
                      </a: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5905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5889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5905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5905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3536" name="Object 49"/>
          <p:cNvGraphicFramePr>
            <a:graphicFrameLocks noChangeAspect="1"/>
          </p:cNvGraphicFramePr>
          <p:nvPr/>
        </p:nvGraphicFramePr>
        <p:xfrm>
          <a:off x="5695950" y="1773238"/>
          <a:ext cx="431800" cy="354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16" name="Equation" r:id="rId3" imgW="431613" imgH="355446" progId="Equation.DSMT4">
                  <p:embed/>
                </p:oleObj>
              </mc:Choice>
              <mc:Fallback>
                <p:oleObj name="Equation" r:id="rId3" imgW="431613" imgH="355446" progId="Equation.DSMT4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5950" y="1773238"/>
                        <a:ext cx="431800" cy="354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ll dir="ru"/>
  </p:transition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92E6574-6F6C-4CF4-8BE6-2252EB69CB36}" type="slidenum">
              <a:rPr lang="en-US" altLang="zh-CN"/>
              <a:pPr>
                <a:defRPr/>
              </a:pPr>
              <a:t>59</a:t>
            </a:fld>
            <a:endParaRPr lang="en-US" altLang="zh-CN"/>
          </a:p>
        </p:txBody>
      </p:sp>
      <p:sp>
        <p:nvSpPr>
          <p:cNvPr id="64515" name="Rectangle 2"/>
          <p:cNvSpPr>
            <a:spLocks noChangeArrowheads="1"/>
          </p:cNvSpPr>
          <p:nvPr/>
        </p:nvSpPr>
        <p:spPr bwMode="auto">
          <a:xfrm>
            <a:off x="1331913" y="639763"/>
            <a:ext cx="58737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sz="3200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</a:rPr>
              <a:t>三、各联结词的性质（</a:t>
            </a:r>
            <a:r>
              <a:rPr kumimoji="1" lang="en-US" altLang="zh-CN" sz="3200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</a:rPr>
              <a:t>P24-26</a:t>
            </a:r>
            <a:r>
              <a:rPr kumimoji="1" lang="zh-CN" altLang="en-US" sz="3200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</a:p>
        </p:txBody>
      </p:sp>
      <p:sp>
        <p:nvSpPr>
          <p:cNvPr id="64516" name="Rectangle 3"/>
          <p:cNvSpPr>
            <a:spLocks noChangeArrowheads="1"/>
          </p:cNvSpPr>
          <p:nvPr/>
        </p:nvSpPr>
        <p:spPr bwMode="auto">
          <a:xfrm>
            <a:off x="900113" y="1414463"/>
            <a:ext cx="7343775" cy="5038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EC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33CC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 sz="3000">
                <a:solidFill>
                  <a:srgbClr val="0033CC"/>
                </a:solidFill>
              </a:rPr>
              <a:t>1</a:t>
            </a:r>
            <a:r>
              <a:rPr kumimoji="1" lang="zh-CN" altLang="en-US" sz="3000">
                <a:solidFill>
                  <a:srgbClr val="0033CC"/>
                </a:solidFill>
              </a:rPr>
              <a:t>）不可兼析取的性质</a:t>
            </a:r>
          </a:p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zh-CN" altLang="en-US">
                <a:solidFill>
                  <a:srgbClr val="000000"/>
                </a:solidFill>
              </a:rPr>
              <a:t>（</a:t>
            </a:r>
            <a:r>
              <a:rPr kumimoji="1" lang="en-US" altLang="zh-CN">
                <a:solidFill>
                  <a:srgbClr val="000000"/>
                </a:solidFill>
              </a:rPr>
              <a:t>1</a:t>
            </a:r>
            <a:r>
              <a:rPr kumimoji="1" lang="zh-CN" altLang="en-US">
                <a:solidFill>
                  <a:srgbClr val="000000"/>
                </a:solidFill>
              </a:rPr>
              <a:t>）交换律</a:t>
            </a:r>
          </a:p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zh-CN" altLang="en-US">
                <a:solidFill>
                  <a:srgbClr val="000000"/>
                </a:solidFill>
              </a:rPr>
              <a:t>（</a:t>
            </a:r>
            <a:r>
              <a:rPr kumimoji="1" lang="en-US" altLang="zh-CN">
                <a:solidFill>
                  <a:srgbClr val="000000"/>
                </a:solidFill>
              </a:rPr>
              <a:t>2</a:t>
            </a:r>
            <a:r>
              <a:rPr kumimoji="1" lang="zh-CN" altLang="en-US">
                <a:solidFill>
                  <a:srgbClr val="000000"/>
                </a:solidFill>
              </a:rPr>
              <a:t>）结合律</a:t>
            </a:r>
          </a:p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zh-CN" altLang="en-US">
                <a:solidFill>
                  <a:srgbClr val="000000"/>
                </a:solidFill>
              </a:rPr>
              <a:t>（</a:t>
            </a:r>
            <a:r>
              <a:rPr kumimoji="1" lang="en-US" altLang="zh-CN">
                <a:solidFill>
                  <a:srgbClr val="000000"/>
                </a:solidFill>
              </a:rPr>
              <a:t>3</a:t>
            </a:r>
            <a:r>
              <a:rPr kumimoji="1" lang="zh-CN" altLang="en-US">
                <a:solidFill>
                  <a:srgbClr val="000000"/>
                </a:solidFill>
              </a:rPr>
              <a:t>）分配律</a:t>
            </a:r>
          </a:p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zh-CN" altLang="en-US">
                <a:solidFill>
                  <a:srgbClr val="000000"/>
                </a:solidFill>
              </a:rPr>
              <a:t>（</a:t>
            </a:r>
            <a:r>
              <a:rPr kumimoji="1" lang="en-US" altLang="zh-CN">
                <a:solidFill>
                  <a:srgbClr val="000000"/>
                </a:solidFill>
              </a:rPr>
              <a:t>4</a:t>
            </a:r>
            <a:r>
              <a:rPr kumimoji="1" lang="zh-CN" altLang="en-US">
                <a:solidFill>
                  <a:srgbClr val="000000"/>
                </a:solidFill>
              </a:rPr>
              <a:t>）</a:t>
            </a:r>
            <a:r>
              <a:rPr kumimoji="1" lang="en-US" altLang="zh-CN">
                <a:solidFill>
                  <a:srgbClr val="000000"/>
                </a:solidFill>
              </a:rPr>
              <a:t>(P </a:t>
            </a:r>
            <a:r>
              <a:rPr kumimoji="1" lang="en-US" altLang="zh-CN">
                <a:solidFill>
                  <a:srgbClr val="00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⊽ </a:t>
            </a:r>
            <a:r>
              <a:rPr kumimoji="1" lang="en-US" altLang="zh-CN">
                <a:solidFill>
                  <a:srgbClr val="000000"/>
                </a:solidFill>
              </a:rPr>
              <a:t>Q) </a:t>
            </a:r>
            <a:r>
              <a:rPr kumimoji="1" lang="en-US" altLang="zh-CN">
                <a:solidFill>
                  <a:srgbClr val="000000"/>
                </a:solidFill>
                <a:sym typeface="Symbol" pitchFamily="18" charset="2"/>
              </a:rPr>
              <a:t></a:t>
            </a:r>
            <a:r>
              <a:rPr kumimoji="1" lang="en-US" altLang="zh-CN">
                <a:solidFill>
                  <a:srgbClr val="000000"/>
                </a:solidFill>
              </a:rPr>
              <a:t>(P∧┐Q) ∨(┐P∧ Q)</a:t>
            </a:r>
          </a:p>
          <a:p>
            <a:pPr eaLnBrk="1" hangingPunct="1">
              <a:spcBef>
                <a:spcPct val="50000"/>
              </a:spcBef>
              <a:buClr>
                <a:schemeClr val="hlink"/>
              </a:buClr>
              <a:buSzPct val="70000"/>
              <a:buFont typeface="Wingdings" pitchFamily="2" charset="2"/>
              <a:buNone/>
            </a:pPr>
            <a:r>
              <a:rPr lang="zh-CN" altLang="en-US">
                <a:solidFill>
                  <a:srgbClr val="000000"/>
                </a:solidFill>
              </a:rPr>
              <a:t>（</a:t>
            </a:r>
            <a:r>
              <a:rPr lang="en-US" altLang="zh-CN">
                <a:solidFill>
                  <a:srgbClr val="000000"/>
                </a:solidFill>
              </a:rPr>
              <a:t>5</a:t>
            </a:r>
            <a:r>
              <a:rPr lang="zh-CN" altLang="en-US">
                <a:solidFill>
                  <a:srgbClr val="000000"/>
                </a:solidFill>
              </a:rPr>
              <a:t>）</a:t>
            </a:r>
            <a:r>
              <a:rPr lang="en-US" altLang="zh-CN">
                <a:solidFill>
                  <a:srgbClr val="000000"/>
                </a:solidFill>
              </a:rPr>
              <a:t>(P </a:t>
            </a:r>
            <a:r>
              <a:rPr lang="en-US" altLang="zh-CN">
                <a:solidFill>
                  <a:srgbClr val="00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⊽ </a:t>
            </a:r>
            <a:r>
              <a:rPr lang="en-US" altLang="zh-CN">
                <a:solidFill>
                  <a:srgbClr val="000000"/>
                </a:solidFill>
              </a:rPr>
              <a:t>Q) </a:t>
            </a:r>
            <a:r>
              <a:rPr kumimoji="1" lang="en-US" altLang="zh-CN">
                <a:solidFill>
                  <a:srgbClr val="000000"/>
                </a:solidFill>
                <a:sym typeface="Symbol" pitchFamily="18" charset="2"/>
              </a:rPr>
              <a:t></a:t>
            </a:r>
            <a:r>
              <a:rPr lang="en-US" altLang="zh-CN">
                <a:solidFill>
                  <a:srgbClr val="000000"/>
                </a:solidFill>
              </a:rPr>
              <a:t> ┐(P</a:t>
            </a:r>
            <a:r>
              <a:rPr lang="en-US" altLang="zh-CN">
                <a:solidFill>
                  <a:srgbClr val="00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⇄</a:t>
            </a:r>
            <a:r>
              <a:rPr lang="en-US" altLang="zh-CN">
                <a:solidFill>
                  <a:srgbClr val="000000"/>
                </a:solidFill>
              </a:rPr>
              <a:t>Q)</a:t>
            </a:r>
          </a:p>
          <a:p>
            <a:pPr eaLnBrk="1" hangingPunct="1">
              <a:spcBef>
                <a:spcPct val="50000"/>
              </a:spcBef>
              <a:buClr>
                <a:schemeClr val="hlink"/>
              </a:buClr>
              <a:buSzPct val="70000"/>
              <a:buFont typeface="Wingdings" pitchFamily="2" charset="2"/>
              <a:buNone/>
            </a:pPr>
            <a:r>
              <a:rPr lang="zh-CN" altLang="en-US">
                <a:solidFill>
                  <a:srgbClr val="000000"/>
                </a:solidFill>
              </a:rPr>
              <a:t>（</a:t>
            </a:r>
            <a:r>
              <a:rPr lang="en-US" altLang="zh-CN">
                <a:solidFill>
                  <a:srgbClr val="000000"/>
                </a:solidFill>
              </a:rPr>
              <a:t>6</a:t>
            </a:r>
            <a:r>
              <a:rPr lang="zh-CN" altLang="en-US">
                <a:solidFill>
                  <a:srgbClr val="000000"/>
                </a:solidFill>
              </a:rPr>
              <a:t>） </a:t>
            </a:r>
            <a:r>
              <a:rPr lang="en-US" altLang="zh-CN">
                <a:solidFill>
                  <a:srgbClr val="000000"/>
                </a:solidFill>
              </a:rPr>
              <a:t>P </a:t>
            </a:r>
            <a:r>
              <a:rPr lang="en-US" altLang="zh-CN">
                <a:solidFill>
                  <a:srgbClr val="00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⊽ </a:t>
            </a:r>
            <a:r>
              <a:rPr lang="en-US" altLang="zh-CN">
                <a:solidFill>
                  <a:srgbClr val="000000"/>
                </a:solidFill>
              </a:rPr>
              <a:t>P </a:t>
            </a:r>
            <a:r>
              <a:rPr kumimoji="1" lang="en-US" altLang="zh-CN">
                <a:solidFill>
                  <a:srgbClr val="000000"/>
                </a:solidFill>
                <a:sym typeface="Symbol" pitchFamily="18" charset="2"/>
              </a:rPr>
              <a:t></a:t>
            </a:r>
            <a:r>
              <a:rPr lang="en-US" altLang="zh-CN">
                <a:solidFill>
                  <a:srgbClr val="000000"/>
                </a:solidFill>
              </a:rPr>
              <a:t> F</a:t>
            </a:r>
            <a:r>
              <a:rPr lang="zh-CN" altLang="en-US">
                <a:solidFill>
                  <a:srgbClr val="000000"/>
                </a:solidFill>
              </a:rPr>
              <a:t>，</a:t>
            </a:r>
            <a:r>
              <a:rPr lang="en-US" altLang="zh-CN">
                <a:solidFill>
                  <a:srgbClr val="000000"/>
                </a:solidFill>
              </a:rPr>
              <a:t>P</a:t>
            </a:r>
            <a:r>
              <a:rPr lang="en-US" altLang="zh-CN">
                <a:solidFill>
                  <a:srgbClr val="00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⊽</a:t>
            </a:r>
            <a:r>
              <a:rPr lang="en-US" altLang="zh-CN">
                <a:solidFill>
                  <a:srgbClr val="000000"/>
                </a:solidFill>
              </a:rPr>
              <a:t>┐P</a:t>
            </a:r>
            <a:r>
              <a:rPr kumimoji="1" lang="en-US" altLang="zh-CN">
                <a:solidFill>
                  <a:srgbClr val="000000"/>
                </a:solidFill>
                <a:sym typeface="Symbol" pitchFamily="18" charset="2"/>
              </a:rPr>
              <a:t>T</a:t>
            </a:r>
          </a:p>
          <a:p>
            <a:pPr eaLnBrk="1" hangingPunct="1">
              <a:spcBef>
                <a:spcPct val="50000"/>
              </a:spcBef>
              <a:buClr>
                <a:schemeClr val="hlink"/>
              </a:buClr>
              <a:buSzPct val="70000"/>
              <a:buFont typeface="Wingdings" pitchFamily="2" charset="2"/>
              <a:buNone/>
            </a:pPr>
            <a:r>
              <a:rPr lang="en-US" altLang="zh-CN">
                <a:solidFill>
                  <a:srgbClr val="000000"/>
                </a:solidFill>
              </a:rPr>
              <a:t>           F </a:t>
            </a:r>
            <a:r>
              <a:rPr lang="en-US" altLang="zh-CN">
                <a:solidFill>
                  <a:srgbClr val="00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⊽ </a:t>
            </a:r>
            <a:r>
              <a:rPr lang="en-US" altLang="zh-CN">
                <a:solidFill>
                  <a:srgbClr val="000000"/>
                </a:solidFill>
              </a:rPr>
              <a:t>P </a:t>
            </a:r>
            <a:r>
              <a:rPr kumimoji="1" lang="en-US" altLang="zh-CN">
                <a:solidFill>
                  <a:srgbClr val="000000"/>
                </a:solidFill>
                <a:sym typeface="Symbol" pitchFamily="18" charset="2"/>
              </a:rPr>
              <a:t></a:t>
            </a:r>
            <a:r>
              <a:rPr lang="en-US" altLang="zh-CN">
                <a:solidFill>
                  <a:srgbClr val="000000"/>
                </a:solidFill>
              </a:rPr>
              <a:t> P</a:t>
            </a:r>
            <a:r>
              <a:rPr lang="zh-CN" altLang="en-US">
                <a:solidFill>
                  <a:srgbClr val="000000"/>
                </a:solidFill>
              </a:rPr>
              <a:t>，</a:t>
            </a:r>
            <a:r>
              <a:rPr lang="en-US" altLang="zh-CN">
                <a:solidFill>
                  <a:srgbClr val="000000"/>
                </a:solidFill>
              </a:rPr>
              <a:t>T </a:t>
            </a:r>
            <a:r>
              <a:rPr lang="en-US" altLang="zh-CN">
                <a:solidFill>
                  <a:srgbClr val="00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⊽ </a:t>
            </a:r>
            <a:r>
              <a:rPr lang="en-US" altLang="zh-CN">
                <a:solidFill>
                  <a:srgbClr val="000000"/>
                </a:solidFill>
              </a:rPr>
              <a:t>P</a:t>
            </a:r>
            <a:r>
              <a:rPr kumimoji="1" lang="en-US" altLang="zh-CN">
                <a:solidFill>
                  <a:srgbClr val="000000"/>
                </a:solidFill>
                <a:sym typeface="Symbol" pitchFamily="18" charset="2"/>
              </a:rPr>
              <a:t></a:t>
            </a:r>
            <a:r>
              <a:rPr lang="en-US" altLang="zh-CN">
                <a:solidFill>
                  <a:srgbClr val="000000"/>
                </a:solidFill>
              </a:rPr>
              <a:t> ┐P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88FBB8D-27EF-4E56-BA2B-F25C75959E52}" type="slidenum">
              <a:rPr lang="en-US" altLang="zh-CN"/>
              <a:pPr>
                <a:defRPr/>
              </a:pPr>
              <a:t>60</a:t>
            </a:fld>
            <a:endParaRPr lang="en-US" altLang="zh-CN"/>
          </a:p>
        </p:txBody>
      </p:sp>
      <p:sp>
        <p:nvSpPr>
          <p:cNvPr id="65539" name="Rectangle 2"/>
          <p:cNvSpPr>
            <a:spLocks noChangeArrowheads="1"/>
          </p:cNvSpPr>
          <p:nvPr/>
        </p:nvSpPr>
        <p:spPr bwMode="auto">
          <a:xfrm>
            <a:off x="755650" y="1268413"/>
            <a:ext cx="7488238" cy="1373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EC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33CC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hlink"/>
              </a:buClr>
              <a:buSzPct val="70000"/>
              <a:buFont typeface="Wingdings" pitchFamily="2" charset="2"/>
              <a:buNone/>
            </a:pPr>
            <a:r>
              <a:rPr lang="en-US" altLang="zh-CN" dirty="0">
                <a:solidFill>
                  <a:srgbClr val="0033CC"/>
                </a:solidFill>
              </a:rPr>
              <a:t>        </a:t>
            </a:r>
            <a:r>
              <a:rPr lang="zh-CN" altLang="en-US" dirty="0">
                <a:solidFill>
                  <a:schemeClr val="hlink"/>
                </a:solidFill>
              </a:rPr>
              <a:t>定理</a:t>
            </a:r>
            <a:r>
              <a:rPr lang="en-US" altLang="zh-CN" dirty="0">
                <a:solidFill>
                  <a:schemeClr val="hlink"/>
                </a:solidFill>
              </a:rPr>
              <a:t>1-6.1</a:t>
            </a:r>
            <a:r>
              <a:rPr lang="zh-CN" altLang="en-US" dirty="0">
                <a:solidFill>
                  <a:schemeClr val="hlink"/>
                </a:solidFill>
              </a:rPr>
              <a:t>：</a:t>
            </a:r>
            <a:r>
              <a:rPr lang="zh-CN" altLang="en-US" dirty="0">
                <a:solidFill>
                  <a:srgbClr val="000000"/>
                </a:solidFill>
              </a:rPr>
              <a:t>设</a:t>
            </a:r>
            <a:r>
              <a:rPr lang="en-US" altLang="zh-CN" dirty="0">
                <a:solidFill>
                  <a:srgbClr val="000000"/>
                </a:solidFill>
              </a:rPr>
              <a:t>P</a:t>
            </a:r>
            <a:r>
              <a:rPr lang="zh-CN" altLang="en-US" dirty="0">
                <a:solidFill>
                  <a:srgbClr val="000000"/>
                </a:solidFill>
              </a:rPr>
              <a:t>，</a:t>
            </a:r>
            <a:r>
              <a:rPr lang="en-US" altLang="zh-CN" dirty="0">
                <a:solidFill>
                  <a:srgbClr val="000000"/>
                </a:solidFill>
              </a:rPr>
              <a:t>Q</a:t>
            </a:r>
            <a:r>
              <a:rPr lang="zh-CN" altLang="en-US" dirty="0">
                <a:solidFill>
                  <a:srgbClr val="000000"/>
                </a:solidFill>
              </a:rPr>
              <a:t>，</a:t>
            </a:r>
            <a:r>
              <a:rPr lang="en-US" altLang="zh-CN" dirty="0">
                <a:solidFill>
                  <a:srgbClr val="000000"/>
                </a:solidFill>
              </a:rPr>
              <a:t>R</a:t>
            </a:r>
            <a:r>
              <a:rPr lang="zh-CN" altLang="en-US" dirty="0">
                <a:solidFill>
                  <a:srgbClr val="000000"/>
                </a:solidFill>
              </a:rPr>
              <a:t>为命题公式。若   </a:t>
            </a:r>
            <a:r>
              <a:rPr lang="en-US" altLang="zh-CN" dirty="0">
                <a:solidFill>
                  <a:srgbClr val="000000"/>
                </a:solidFill>
              </a:rPr>
              <a:t>P </a:t>
            </a:r>
            <a:r>
              <a:rPr lang="en-US" altLang="zh-CN" dirty="0">
                <a:solidFill>
                  <a:srgbClr val="00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⊽ </a:t>
            </a:r>
            <a:r>
              <a:rPr lang="en-US" altLang="zh-CN" dirty="0">
                <a:solidFill>
                  <a:srgbClr val="000000"/>
                </a:solidFill>
              </a:rPr>
              <a:t>Q</a:t>
            </a:r>
            <a:r>
              <a:rPr kumimoji="1" lang="en-US" altLang="zh-CN" dirty="0">
                <a:solidFill>
                  <a:srgbClr val="000000"/>
                </a:solidFill>
                <a:sym typeface="Symbol" pitchFamily="18" charset="2"/>
              </a:rPr>
              <a:t></a:t>
            </a:r>
            <a:r>
              <a:rPr lang="en-US" altLang="zh-CN" dirty="0">
                <a:solidFill>
                  <a:srgbClr val="000000"/>
                </a:solidFill>
              </a:rPr>
              <a:t>R</a:t>
            </a:r>
            <a:r>
              <a:rPr lang="zh-CN" altLang="en-US" dirty="0">
                <a:solidFill>
                  <a:srgbClr val="000000"/>
                </a:solidFill>
              </a:rPr>
              <a:t>，则</a:t>
            </a:r>
            <a:r>
              <a:rPr lang="en-US" altLang="zh-CN" dirty="0">
                <a:solidFill>
                  <a:srgbClr val="000000"/>
                </a:solidFill>
              </a:rPr>
              <a:t>P </a:t>
            </a:r>
            <a:r>
              <a:rPr lang="en-US" altLang="zh-CN" dirty="0">
                <a:solidFill>
                  <a:srgbClr val="00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⊽ </a:t>
            </a:r>
            <a:r>
              <a:rPr lang="en-US" altLang="zh-CN" dirty="0">
                <a:solidFill>
                  <a:srgbClr val="000000"/>
                </a:solidFill>
              </a:rPr>
              <a:t>R</a:t>
            </a:r>
            <a:r>
              <a:rPr kumimoji="1" lang="en-US" altLang="zh-CN" dirty="0">
                <a:solidFill>
                  <a:srgbClr val="000000"/>
                </a:solidFill>
                <a:sym typeface="Symbol" pitchFamily="18" charset="2"/>
              </a:rPr>
              <a:t></a:t>
            </a:r>
            <a:r>
              <a:rPr lang="en-US" altLang="zh-CN" dirty="0">
                <a:solidFill>
                  <a:srgbClr val="000000"/>
                </a:solidFill>
              </a:rPr>
              <a:t>Q</a:t>
            </a:r>
            <a:r>
              <a:rPr lang="zh-CN" altLang="en-US" dirty="0">
                <a:solidFill>
                  <a:srgbClr val="000000"/>
                </a:solidFill>
              </a:rPr>
              <a:t>，</a:t>
            </a:r>
            <a:r>
              <a:rPr lang="en-US" altLang="zh-CN" dirty="0">
                <a:solidFill>
                  <a:srgbClr val="000000"/>
                </a:solidFill>
              </a:rPr>
              <a:t>Q </a:t>
            </a:r>
            <a:r>
              <a:rPr lang="en-US" altLang="zh-CN" dirty="0">
                <a:solidFill>
                  <a:srgbClr val="00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⊽ </a:t>
            </a:r>
            <a:r>
              <a:rPr lang="en-US" altLang="zh-CN" dirty="0">
                <a:solidFill>
                  <a:srgbClr val="000000"/>
                </a:solidFill>
              </a:rPr>
              <a:t>R</a:t>
            </a:r>
            <a:r>
              <a:rPr kumimoji="1" lang="en-US" altLang="zh-CN" dirty="0">
                <a:solidFill>
                  <a:srgbClr val="000000"/>
                </a:solidFill>
                <a:sym typeface="Symbol" pitchFamily="18" charset="2"/>
              </a:rPr>
              <a:t></a:t>
            </a:r>
            <a:r>
              <a:rPr lang="en-US" altLang="zh-CN" dirty="0">
                <a:solidFill>
                  <a:srgbClr val="000000"/>
                </a:solidFill>
              </a:rPr>
              <a:t>P</a:t>
            </a:r>
            <a:r>
              <a:rPr lang="zh-CN" altLang="en-US" dirty="0">
                <a:solidFill>
                  <a:srgbClr val="000000"/>
                </a:solidFill>
              </a:rPr>
              <a:t>且</a:t>
            </a:r>
            <a:r>
              <a:rPr lang="en-US" altLang="zh-CN" dirty="0">
                <a:solidFill>
                  <a:srgbClr val="000000"/>
                </a:solidFill>
              </a:rPr>
              <a:t>P </a:t>
            </a:r>
            <a:r>
              <a:rPr lang="en-US" altLang="zh-CN" dirty="0">
                <a:solidFill>
                  <a:srgbClr val="00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⊽ </a:t>
            </a:r>
            <a:r>
              <a:rPr lang="en-US" altLang="zh-CN" dirty="0">
                <a:solidFill>
                  <a:srgbClr val="000000"/>
                </a:solidFill>
              </a:rPr>
              <a:t>Q </a:t>
            </a:r>
            <a:r>
              <a:rPr lang="en-US" altLang="zh-CN" dirty="0">
                <a:solidFill>
                  <a:srgbClr val="00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⊽ </a:t>
            </a:r>
            <a:r>
              <a:rPr lang="en-US" altLang="zh-CN" dirty="0">
                <a:solidFill>
                  <a:srgbClr val="000000"/>
                </a:solidFill>
              </a:rPr>
              <a:t>R</a:t>
            </a:r>
            <a:r>
              <a:rPr lang="zh-CN" altLang="en-US" dirty="0">
                <a:solidFill>
                  <a:srgbClr val="000000"/>
                </a:solidFill>
              </a:rPr>
              <a:t>为一</a:t>
            </a:r>
            <a:r>
              <a:rPr lang="zh-CN" altLang="en-US" u="sng" dirty="0">
                <a:solidFill>
                  <a:schemeClr val="hlink"/>
                </a:solidFill>
              </a:rPr>
              <a:t>矛盾式</a:t>
            </a:r>
            <a:r>
              <a:rPr lang="zh-CN" altLang="en-US" dirty="0">
                <a:solidFill>
                  <a:srgbClr val="000000"/>
                </a:solidFill>
              </a:rPr>
              <a:t>。</a:t>
            </a:r>
          </a:p>
        </p:txBody>
      </p:sp>
      <p:sp>
        <p:nvSpPr>
          <p:cNvPr id="634889" name="Rectangle 9"/>
          <p:cNvSpPr>
            <a:spLocks noChangeArrowheads="1"/>
          </p:cNvSpPr>
          <p:nvPr/>
        </p:nvSpPr>
        <p:spPr bwMode="auto">
          <a:xfrm>
            <a:off x="741363" y="2997200"/>
            <a:ext cx="7416800" cy="1160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hlink"/>
              </a:buClr>
              <a:buSzPct val="70000"/>
              <a:buFont typeface="Wingdings" pitchFamily="2" charset="2"/>
              <a:buNone/>
            </a:pPr>
            <a:r>
              <a:rPr lang="zh-CN" altLang="en-US">
                <a:solidFill>
                  <a:srgbClr val="000000"/>
                </a:solidFill>
              </a:rPr>
              <a:t>证明：若　</a:t>
            </a:r>
            <a:r>
              <a:rPr lang="en-US" altLang="zh-CN">
                <a:solidFill>
                  <a:srgbClr val="000000"/>
                </a:solidFill>
              </a:rPr>
              <a:t>P </a:t>
            </a:r>
            <a:r>
              <a:rPr lang="en-US" altLang="zh-CN">
                <a:solidFill>
                  <a:srgbClr val="00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⊽ </a:t>
            </a:r>
            <a:r>
              <a:rPr lang="en-US" altLang="zh-CN">
                <a:solidFill>
                  <a:srgbClr val="000000"/>
                </a:solidFill>
              </a:rPr>
              <a:t>Q</a:t>
            </a:r>
            <a:r>
              <a:rPr kumimoji="1" lang="en-US" altLang="zh-CN">
                <a:solidFill>
                  <a:srgbClr val="000000"/>
                </a:solidFill>
                <a:sym typeface="Symbol" pitchFamily="18" charset="2"/>
              </a:rPr>
              <a:t></a:t>
            </a:r>
            <a:r>
              <a:rPr lang="en-US" altLang="zh-CN">
                <a:solidFill>
                  <a:srgbClr val="000000"/>
                </a:solidFill>
              </a:rPr>
              <a:t>R</a:t>
            </a:r>
            <a:r>
              <a:rPr lang="zh-CN" altLang="en-US">
                <a:solidFill>
                  <a:srgbClr val="000000"/>
                </a:solidFill>
              </a:rPr>
              <a:t>，</a:t>
            </a:r>
          </a:p>
          <a:p>
            <a:pPr eaLnBrk="1" hangingPunct="1">
              <a:spcBef>
                <a:spcPct val="50000"/>
              </a:spcBef>
              <a:buClr>
                <a:schemeClr val="hlink"/>
              </a:buClr>
              <a:buSzPct val="70000"/>
              <a:buFont typeface="Wingdings" pitchFamily="2" charset="2"/>
              <a:buNone/>
            </a:pPr>
            <a:r>
              <a:rPr lang="zh-CN" altLang="en-US">
                <a:solidFill>
                  <a:srgbClr val="000000"/>
                </a:solidFill>
              </a:rPr>
              <a:t>　　　则　</a:t>
            </a:r>
            <a:r>
              <a:rPr lang="en-US" altLang="zh-CN">
                <a:solidFill>
                  <a:srgbClr val="000000"/>
                </a:solidFill>
              </a:rPr>
              <a:t>P </a:t>
            </a:r>
            <a:r>
              <a:rPr lang="en-US" altLang="zh-CN">
                <a:solidFill>
                  <a:srgbClr val="00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⊽ </a:t>
            </a:r>
            <a:r>
              <a:rPr lang="en-US" altLang="zh-CN">
                <a:solidFill>
                  <a:srgbClr val="000000"/>
                </a:solidFill>
              </a:rPr>
              <a:t>R</a:t>
            </a:r>
            <a:r>
              <a:rPr kumimoji="1" lang="en-US" altLang="zh-CN">
                <a:solidFill>
                  <a:srgbClr val="000000"/>
                </a:solidFill>
                <a:sym typeface="Symbol" pitchFamily="18" charset="2"/>
              </a:rPr>
              <a:t></a:t>
            </a:r>
            <a:r>
              <a:rPr lang="en-US" altLang="zh-CN">
                <a:solidFill>
                  <a:srgbClr val="000000"/>
                </a:solidFill>
              </a:rPr>
              <a:t>P </a:t>
            </a:r>
            <a:r>
              <a:rPr lang="en-US" altLang="zh-CN">
                <a:solidFill>
                  <a:srgbClr val="00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⊽</a:t>
            </a:r>
            <a:r>
              <a:rPr lang="en-US" altLang="zh-CN">
                <a:solidFill>
                  <a:srgbClr val="000000"/>
                </a:solidFill>
              </a:rPr>
              <a:t> P </a:t>
            </a:r>
            <a:r>
              <a:rPr lang="en-US" altLang="zh-CN">
                <a:solidFill>
                  <a:srgbClr val="00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⊽ </a:t>
            </a:r>
            <a:r>
              <a:rPr lang="en-US" altLang="zh-CN">
                <a:solidFill>
                  <a:srgbClr val="000000"/>
                </a:solidFill>
              </a:rPr>
              <a:t>Q</a:t>
            </a:r>
            <a:r>
              <a:rPr kumimoji="1" lang="en-US" altLang="zh-CN">
                <a:solidFill>
                  <a:srgbClr val="000000"/>
                </a:solidFill>
                <a:sym typeface="Symbol" pitchFamily="18" charset="2"/>
              </a:rPr>
              <a:t></a:t>
            </a:r>
            <a:r>
              <a:rPr lang="en-US" altLang="zh-CN">
                <a:solidFill>
                  <a:srgbClr val="000000"/>
                </a:solidFill>
              </a:rPr>
              <a:t>F </a:t>
            </a:r>
            <a:r>
              <a:rPr lang="en-US" altLang="zh-CN">
                <a:solidFill>
                  <a:srgbClr val="00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⊽ </a:t>
            </a:r>
            <a:r>
              <a:rPr lang="en-US" altLang="zh-CN">
                <a:solidFill>
                  <a:srgbClr val="000000"/>
                </a:solidFill>
              </a:rPr>
              <a:t>Q</a:t>
            </a:r>
            <a:r>
              <a:rPr kumimoji="1" lang="en-US" altLang="zh-CN">
                <a:solidFill>
                  <a:srgbClr val="000000"/>
                </a:solidFill>
                <a:sym typeface="Symbol" pitchFamily="18" charset="2"/>
              </a:rPr>
              <a:t></a:t>
            </a:r>
            <a:r>
              <a:rPr lang="en-US" altLang="zh-CN">
                <a:solidFill>
                  <a:srgbClr val="000000"/>
                </a:solidFill>
              </a:rPr>
              <a:t>Q</a:t>
            </a:r>
            <a:r>
              <a:rPr lang="zh-CN" altLang="en-US">
                <a:solidFill>
                  <a:srgbClr val="000000"/>
                </a:solidFill>
              </a:rPr>
              <a:t>　</a:t>
            </a:r>
          </a:p>
        </p:txBody>
      </p:sp>
      <p:sp>
        <p:nvSpPr>
          <p:cNvPr id="634896" name="Rectangle 16"/>
          <p:cNvSpPr>
            <a:spLocks noChangeArrowheads="1"/>
          </p:cNvSpPr>
          <p:nvPr/>
        </p:nvSpPr>
        <p:spPr bwMode="auto">
          <a:xfrm>
            <a:off x="1028700" y="4337050"/>
            <a:ext cx="72009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hlink"/>
              </a:buClr>
              <a:buSzPct val="70000"/>
              <a:buFont typeface="Wingdings" pitchFamily="2" charset="2"/>
              <a:buNone/>
            </a:pPr>
            <a:r>
              <a:rPr lang="zh-CN" altLang="en-US" dirty="0">
                <a:solidFill>
                  <a:srgbClr val="000000"/>
                </a:solidFill>
              </a:rPr>
              <a:t>　　　　</a:t>
            </a:r>
            <a:r>
              <a:rPr lang="en-US" altLang="zh-CN" dirty="0">
                <a:solidFill>
                  <a:srgbClr val="000000"/>
                </a:solidFill>
              </a:rPr>
              <a:t>Q </a:t>
            </a:r>
            <a:r>
              <a:rPr lang="en-US" altLang="zh-CN" dirty="0">
                <a:solidFill>
                  <a:srgbClr val="00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⊽ </a:t>
            </a:r>
            <a:r>
              <a:rPr lang="en-US" altLang="zh-CN" dirty="0">
                <a:solidFill>
                  <a:srgbClr val="000000"/>
                </a:solidFill>
              </a:rPr>
              <a:t>R</a:t>
            </a:r>
            <a:r>
              <a:rPr kumimoji="1" lang="en-US" altLang="zh-CN" dirty="0">
                <a:solidFill>
                  <a:srgbClr val="000000"/>
                </a:solidFill>
                <a:sym typeface="Symbol" pitchFamily="18" charset="2"/>
              </a:rPr>
              <a:t></a:t>
            </a:r>
            <a:r>
              <a:rPr lang="en-US" altLang="zh-CN" dirty="0">
                <a:solidFill>
                  <a:srgbClr val="000000"/>
                </a:solidFill>
              </a:rPr>
              <a:t>Q </a:t>
            </a:r>
            <a:r>
              <a:rPr lang="en-US" altLang="zh-CN" dirty="0">
                <a:solidFill>
                  <a:srgbClr val="00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⊽ </a:t>
            </a:r>
            <a:r>
              <a:rPr lang="en-US" altLang="zh-CN" dirty="0">
                <a:solidFill>
                  <a:srgbClr val="000000"/>
                </a:solidFill>
              </a:rPr>
              <a:t>P </a:t>
            </a:r>
            <a:r>
              <a:rPr lang="en-US" altLang="zh-CN" dirty="0">
                <a:solidFill>
                  <a:srgbClr val="00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⊽ </a:t>
            </a:r>
            <a:r>
              <a:rPr lang="en-US" altLang="zh-CN" dirty="0">
                <a:solidFill>
                  <a:srgbClr val="000000"/>
                </a:solidFill>
              </a:rPr>
              <a:t>Q</a:t>
            </a:r>
            <a:r>
              <a:rPr kumimoji="1" lang="en-US" altLang="zh-CN" dirty="0">
                <a:solidFill>
                  <a:srgbClr val="000000"/>
                </a:solidFill>
                <a:sym typeface="Symbol" pitchFamily="18" charset="2"/>
              </a:rPr>
              <a:t></a:t>
            </a:r>
            <a:r>
              <a:rPr lang="en-US" altLang="zh-CN" dirty="0">
                <a:solidFill>
                  <a:srgbClr val="000000"/>
                </a:solidFill>
              </a:rPr>
              <a:t>F </a:t>
            </a:r>
            <a:r>
              <a:rPr lang="en-US" altLang="zh-CN" dirty="0">
                <a:solidFill>
                  <a:srgbClr val="00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⊽ </a:t>
            </a:r>
            <a:r>
              <a:rPr lang="en-US" altLang="zh-CN" dirty="0">
                <a:solidFill>
                  <a:srgbClr val="000000"/>
                </a:solidFill>
              </a:rPr>
              <a:t>P</a:t>
            </a:r>
            <a:r>
              <a:rPr kumimoji="1" lang="en-US" altLang="zh-CN" dirty="0">
                <a:solidFill>
                  <a:srgbClr val="000000"/>
                </a:solidFill>
                <a:sym typeface="Symbol" pitchFamily="18" charset="2"/>
              </a:rPr>
              <a:t></a:t>
            </a:r>
            <a:r>
              <a:rPr lang="en-US" altLang="zh-CN" dirty="0">
                <a:solidFill>
                  <a:srgbClr val="000000"/>
                </a:solidFill>
              </a:rPr>
              <a:t>P</a:t>
            </a:r>
            <a:r>
              <a:rPr lang="zh-CN" altLang="en-US" dirty="0">
                <a:solidFill>
                  <a:srgbClr val="000000"/>
                </a:solidFill>
              </a:rPr>
              <a:t>　　　　　</a:t>
            </a:r>
          </a:p>
        </p:txBody>
      </p:sp>
      <p:sp>
        <p:nvSpPr>
          <p:cNvPr id="634902" name="Rectangle 22"/>
          <p:cNvSpPr>
            <a:spLocks noChangeArrowheads="1"/>
          </p:cNvSpPr>
          <p:nvPr/>
        </p:nvSpPr>
        <p:spPr bwMode="auto">
          <a:xfrm>
            <a:off x="2484438" y="5095875"/>
            <a:ext cx="35956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hlink"/>
              </a:buClr>
              <a:buSzPct val="70000"/>
              <a:buFont typeface="Wingdings" pitchFamily="2" charset="2"/>
              <a:buNone/>
            </a:pPr>
            <a:r>
              <a:rPr lang="en-US" altLang="zh-CN" dirty="0">
                <a:solidFill>
                  <a:srgbClr val="000000"/>
                </a:solidFill>
              </a:rPr>
              <a:t>P </a:t>
            </a:r>
            <a:r>
              <a:rPr lang="en-US" altLang="zh-CN" dirty="0">
                <a:solidFill>
                  <a:srgbClr val="00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⊽ </a:t>
            </a:r>
            <a:r>
              <a:rPr lang="en-US" altLang="zh-CN" dirty="0">
                <a:solidFill>
                  <a:srgbClr val="000000"/>
                </a:solidFill>
              </a:rPr>
              <a:t>Q </a:t>
            </a:r>
            <a:r>
              <a:rPr lang="en-US" altLang="zh-CN" dirty="0">
                <a:solidFill>
                  <a:srgbClr val="00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⊽ </a:t>
            </a:r>
            <a:r>
              <a:rPr lang="en-US" altLang="zh-CN" dirty="0">
                <a:solidFill>
                  <a:srgbClr val="000000"/>
                </a:solidFill>
              </a:rPr>
              <a:t>R</a:t>
            </a:r>
            <a:r>
              <a:rPr kumimoji="1" lang="en-US" altLang="zh-CN" dirty="0">
                <a:solidFill>
                  <a:srgbClr val="000000"/>
                </a:solidFill>
                <a:sym typeface="Symbol" pitchFamily="18" charset="2"/>
              </a:rPr>
              <a:t></a:t>
            </a:r>
            <a:r>
              <a:rPr lang="en-US" altLang="zh-CN" dirty="0">
                <a:solidFill>
                  <a:srgbClr val="000000"/>
                </a:solidFill>
              </a:rPr>
              <a:t>R </a:t>
            </a:r>
            <a:r>
              <a:rPr lang="en-US" altLang="zh-CN" dirty="0">
                <a:solidFill>
                  <a:srgbClr val="00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⊽ </a:t>
            </a:r>
            <a:r>
              <a:rPr lang="en-US" altLang="zh-CN" dirty="0">
                <a:solidFill>
                  <a:srgbClr val="000000"/>
                </a:solidFill>
              </a:rPr>
              <a:t>R</a:t>
            </a:r>
            <a:r>
              <a:rPr kumimoji="1" lang="en-US" altLang="zh-CN" dirty="0">
                <a:solidFill>
                  <a:srgbClr val="000000"/>
                </a:solidFill>
                <a:sym typeface="Symbol" pitchFamily="18" charset="2"/>
              </a:rPr>
              <a:t></a:t>
            </a:r>
            <a:r>
              <a:rPr lang="en-US" altLang="zh-CN" dirty="0">
                <a:solidFill>
                  <a:srgbClr val="000000"/>
                </a:solidFill>
              </a:rPr>
              <a:t>F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889" grpId="0"/>
      <p:bldP spid="634896" grpId="0"/>
      <p:bldP spid="634902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728A7C6-7516-48FE-B0D6-A3DE2CCDABB5}" type="slidenum">
              <a:rPr lang="en-US" altLang="zh-CN"/>
              <a:pPr>
                <a:defRPr/>
              </a:pPr>
              <a:t>61</a:t>
            </a:fld>
            <a:endParaRPr lang="en-US" altLang="zh-CN"/>
          </a:p>
        </p:txBody>
      </p:sp>
      <p:sp>
        <p:nvSpPr>
          <p:cNvPr id="66563" name="Rectangle 2"/>
          <p:cNvSpPr>
            <a:spLocks noChangeArrowheads="1"/>
          </p:cNvSpPr>
          <p:nvPr/>
        </p:nvSpPr>
        <p:spPr bwMode="auto">
          <a:xfrm>
            <a:off x="719138" y="1628775"/>
            <a:ext cx="7777162" cy="3084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EC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33CC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hlink"/>
              </a:buClr>
              <a:buSzPct val="70000"/>
              <a:buFont typeface="Wingdings" pitchFamily="2" charset="2"/>
              <a:buNone/>
            </a:pPr>
            <a:r>
              <a:rPr lang="en-US" altLang="zh-CN">
                <a:solidFill>
                  <a:srgbClr val="000000"/>
                </a:solidFill>
              </a:rPr>
              <a:t>(1)P↑P</a:t>
            </a:r>
            <a:r>
              <a:rPr kumimoji="1" lang="en-US" altLang="zh-CN">
                <a:solidFill>
                  <a:srgbClr val="000000"/>
                </a:solidFill>
                <a:sym typeface="Symbol" pitchFamily="18" charset="2"/>
              </a:rPr>
              <a:t></a:t>
            </a:r>
            <a:r>
              <a:rPr lang="en-US" altLang="zh-CN">
                <a:solidFill>
                  <a:srgbClr val="000000"/>
                </a:solidFill>
              </a:rPr>
              <a:t>┐(P∧P)</a:t>
            </a:r>
            <a:r>
              <a:rPr kumimoji="1" lang="en-US" altLang="zh-CN">
                <a:solidFill>
                  <a:srgbClr val="000000"/>
                </a:solidFill>
                <a:sym typeface="Symbol" pitchFamily="18" charset="2"/>
              </a:rPr>
              <a:t></a:t>
            </a:r>
            <a:r>
              <a:rPr lang="en-US" altLang="zh-CN">
                <a:solidFill>
                  <a:srgbClr val="000000"/>
                </a:solidFill>
              </a:rPr>
              <a:t>┐P</a:t>
            </a:r>
          </a:p>
          <a:p>
            <a:pPr eaLnBrk="1" hangingPunct="1">
              <a:spcBef>
                <a:spcPct val="50000"/>
              </a:spcBef>
              <a:buClr>
                <a:schemeClr val="hlink"/>
              </a:buClr>
              <a:buSzPct val="70000"/>
              <a:buFont typeface="Wingdings" pitchFamily="2" charset="2"/>
              <a:buNone/>
            </a:pPr>
            <a:r>
              <a:rPr lang="en-US" altLang="zh-CN">
                <a:solidFill>
                  <a:srgbClr val="000000"/>
                </a:solidFill>
              </a:rPr>
              <a:t>(2)(P↑Q)↑(P↑Q)</a:t>
            </a:r>
            <a:r>
              <a:rPr kumimoji="1" lang="en-US" altLang="zh-CN">
                <a:solidFill>
                  <a:srgbClr val="000000"/>
                </a:solidFill>
                <a:sym typeface="Symbol" pitchFamily="18" charset="2"/>
              </a:rPr>
              <a:t></a:t>
            </a:r>
            <a:r>
              <a:rPr lang="en-US" altLang="zh-CN">
                <a:solidFill>
                  <a:srgbClr val="000000"/>
                </a:solidFill>
              </a:rPr>
              <a:t>┐(P↑Q)</a:t>
            </a:r>
            <a:r>
              <a:rPr kumimoji="1" lang="en-US" altLang="zh-CN">
                <a:solidFill>
                  <a:srgbClr val="000000"/>
                </a:solidFill>
                <a:sym typeface="Symbol" pitchFamily="18" charset="2"/>
              </a:rPr>
              <a:t></a:t>
            </a:r>
            <a:r>
              <a:rPr lang="en-US" altLang="zh-CN">
                <a:solidFill>
                  <a:srgbClr val="000000"/>
                </a:solidFill>
              </a:rPr>
              <a:t>P∧Q</a:t>
            </a:r>
          </a:p>
          <a:p>
            <a:pPr eaLnBrk="1" hangingPunct="1">
              <a:spcBef>
                <a:spcPct val="50000"/>
              </a:spcBef>
              <a:buClr>
                <a:schemeClr val="hlink"/>
              </a:buClr>
              <a:buSzPct val="70000"/>
              <a:buFont typeface="Wingdings" pitchFamily="2" charset="2"/>
              <a:buNone/>
            </a:pPr>
            <a:r>
              <a:rPr lang="en-US" altLang="zh-CN">
                <a:solidFill>
                  <a:srgbClr val="000000"/>
                </a:solidFill>
              </a:rPr>
              <a:t>(3)(P↑P)↑(Q↑Q)</a:t>
            </a:r>
            <a:r>
              <a:rPr kumimoji="1" lang="en-US" altLang="zh-CN">
                <a:solidFill>
                  <a:srgbClr val="000000"/>
                </a:solidFill>
                <a:sym typeface="Symbol" pitchFamily="18" charset="2"/>
              </a:rPr>
              <a:t></a:t>
            </a:r>
            <a:r>
              <a:rPr lang="en-US" altLang="zh-CN">
                <a:solidFill>
                  <a:srgbClr val="000000"/>
                </a:solidFill>
              </a:rPr>
              <a:t>┐P↑┐Q</a:t>
            </a:r>
          </a:p>
          <a:p>
            <a:pPr eaLnBrk="1" hangingPunct="1">
              <a:spcBef>
                <a:spcPct val="50000"/>
              </a:spcBef>
              <a:buClr>
                <a:schemeClr val="hlink"/>
              </a:buClr>
              <a:buSzPct val="70000"/>
              <a:buFont typeface="Wingdings" pitchFamily="2" charset="2"/>
              <a:buNone/>
            </a:pPr>
            <a:r>
              <a:rPr lang="en-US" altLang="zh-CN">
                <a:solidFill>
                  <a:srgbClr val="000000"/>
                </a:solidFill>
              </a:rPr>
              <a:t>                                 </a:t>
            </a:r>
            <a:r>
              <a:rPr kumimoji="1" lang="en-US" altLang="zh-CN">
                <a:solidFill>
                  <a:srgbClr val="000000"/>
                </a:solidFill>
                <a:sym typeface="Symbol" pitchFamily="18" charset="2"/>
              </a:rPr>
              <a:t></a:t>
            </a:r>
            <a:r>
              <a:rPr lang="en-US" altLang="zh-CN">
                <a:solidFill>
                  <a:srgbClr val="000000"/>
                </a:solidFill>
              </a:rPr>
              <a:t>┐(┐P∧┐Q) </a:t>
            </a:r>
          </a:p>
          <a:p>
            <a:pPr eaLnBrk="1" hangingPunct="1">
              <a:spcBef>
                <a:spcPct val="50000"/>
              </a:spcBef>
              <a:buClr>
                <a:schemeClr val="hlink"/>
              </a:buClr>
              <a:buSzPct val="70000"/>
              <a:buFont typeface="Wingdings" pitchFamily="2" charset="2"/>
              <a:buNone/>
            </a:pPr>
            <a:r>
              <a:rPr lang="en-US" altLang="zh-CN">
                <a:solidFill>
                  <a:srgbClr val="000000"/>
                </a:solidFill>
              </a:rPr>
              <a:t>                                 </a:t>
            </a:r>
            <a:r>
              <a:rPr kumimoji="1" lang="en-US" altLang="zh-CN">
                <a:solidFill>
                  <a:srgbClr val="000000"/>
                </a:solidFill>
                <a:sym typeface="Symbol" pitchFamily="18" charset="2"/>
              </a:rPr>
              <a:t></a:t>
            </a:r>
            <a:r>
              <a:rPr lang="en-US" altLang="zh-CN">
                <a:solidFill>
                  <a:srgbClr val="000000"/>
                </a:solidFill>
              </a:rPr>
              <a:t>P∨Q</a:t>
            </a:r>
          </a:p>
        </p:txBody>
      </p:sp>
      <p:sp>
        <p:nvSpPr>
          <p:cNvPr id="66564" name="Rectangle 3"/>
          <p:cNvSpPr>
            <a:spLocks noChangeArrowheads="1"/>
          </p:cNvSpPr>
          <p:nvPr/>
        </p:nvSpPr>
        <p:spPr bwMode="auto">
          <a:xfrm>
            <a:off x="1258888" y="671513"/>
            <a:ext cx="2670175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hlink"/>
              </a:buClr>
              <a:buSzPct val="70000"/>
              <a:buFont typeface="Wingdings" pitchFamily="2" charset="2"/>
              <a:buNone/>
            </a:pPr>
            <a:r>
              <a:rPr lang="en-US" altLang="zh-CN" sz="3000">
                <a:solidFill>
                  <a:srgbClr val="0033CC"/>
                </a:solidFill>
              </a:rPr>
              <a:t>2</a:t>
            </a:r>
            <a:r>
              <a:rPr lang="zh-CN" altLang="en-US" sz="3000">
                <a:solidFill>
                  <a:srgbClr val="0033CC"/>
                </a:solidFill>
              </a:rPr>
              <a:t>）与非的性质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7535580-66AD-4E36-AE69-F57F6856A0A7}" type="slidenum">
              <a:rPr lang="en-US" altLang="zh-CN"/>
              <a:pPr>
                <a:defRPr/>
              </a:pPr>
              <a:t>62</a:t>
            </a:fld>
            <a:endParaRPr lang="en-US" altLang="zh-CN"/>
          </a:p>
        </p:txBody>
      </p:sp>
      <p:sp>
        <p:nvSpPr>
          <p:cNvPr id="67587" name="Rectangle 2"/>
          <p:cNvSpPr>
            <a:spLocks noRot="1" noChangeArrowheads="1"/>
          </p:cNvSpPr>
          <p:nvPr/>
        </p:nvSpPr>
        <p:spPr bwMode="auto">
          <a:xfrm>
            <a:off x="719138" y="1700213"/>
            <a:ext cx="6840537" cy="1944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E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>
                <a:solidFill>
                  <a:srgbClr val="000000"/>
                </a:solidFill>
              </a:rPr>
              <a:t>(1)P↓P</a:t>
            </a:r>
            <a:r>
              <a:rPr kumimoji="1" lang="en-US" altLang="zh-CN">
                <a:solidFill>
                  <a:srgbClr val="000000"/>
                </a:solidFill>
                <a:sym typeface="Symbol" pitchFamily="18" charset="2"/>
              </a:rPr>
              <a:t></a:t>
            </a:r>
            <a:r>
              <a:rPr lang="en-US" altLang="zh-CN">
                <a:solidFill>
                  <a:srgbClr val="000000"/>
                </a:solidFill>
              </a:rPr>
              <a:t>┐(P∨P)</a:t>
            </a:r>
            <a:r>
              <a:rPr kumimoji="1" lang="en-US" altLang="zh-CN">
                <a:solidFill>
                  <a:srgbClr val="000000"/>
                </a:solidFill>
                <a:sym typeface="Symbol" pitchFamily="18" charset="2"/>
              </a:rPr>
              <a:t></a:t>
            </a:r>
            <a:r>
              <a:rPr lang="en-US" altLang="zh-CN">
                <a:solidFill>
                  <a:srgbClr val="000000"/>
                </a:solidFill>
              </a:rPr>
              <a:t>┐P</a:t>
            </a:r>
          </a:p>
          <a:p>
            <a:pPr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>
                <a:solidFill>
                  <a:srgbClr val="000000"/>
                </a:solidFill>
              </a:rPr>
              <a:t>(2)(P↓Q)↓(P↓Q)</a:t>
            </a:r>
            <a:r>
              <a:rPr kumimoji="1" lang="en-US" altLang="zh-CN">
                <a:solidFill>
                  <a:srgbClr val="000000"/>
                </a:solidFill>
                <a:sym typeface="Symbol" pitchFamily="18" charset="2"/>
              </a:rPr>
              <a:t></a:t>
            </a:r>
            <a:r>
              <a:rPr lang="en-US" altLang="zh-CN">
                <a:solidFill>
                  <a:srgbClr val="000000"/>
                </a:solidFill>
              </a:rPr>
              <a:t>┐(P↓Q)</a:t>
            </a:r>
            <a:r>
              <a:rPr kumimoji="1" lang="en-US" altLang="zh-CN">
                <a:solidFill>
                  <a:srgbClr val="000000"/>
                </a:solidFill>
                <a:sym typeface="Symbol" pitchFamily="18" charset="2"/>
              </a:rPr>
              <a:t></a:t>
            </a:r>
            <a:r>
              <a:rPr lang="en-US" altLang="zh-CN">
                <a:solidFill>
                  <a:srgbClr val="000000"/>
                </a:solidFill>
              </a:rPr>
              <a:t>P∨Q</a:t>
            </a:r>
          </a:p>
          <a:p>
            <a:pPr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>
                <a:solidFill>
                  <a:srgbClr val="000000"/>
                </a:solidFill>
              </a:rPr>
              <a:t>(3)(P↓P)↓(Q↓Q)</a:t>
            </a:r>
            <a:r>
              <a:rPr kumimoji="1" lang="en-US" altLang="zh-CN">
                <a:solidFill>
                  <a:srgbClr val="000000"/>
                </a:solidFill>
                <a:sym typeface="Symbol" pitchFamily="18" charset="2"/>
              </a:rPr>
              <a:t></a:t>
            </a:r>
            <a:r>
              <a:rPr lang="en-US" altLang="zh-CN">
                <a:solidFill>
                  <a:srgbClr val="000000"/>
                </a:solidFill>
              </a:rPr>
              <a:t>┐P↓┐Q</a:t>
            </a:r>
            <a:r>
              <a:rPr kumimoji="1" lang="en-US" altLang="zh-CN">
                <a:solidFill>
                  <a:srgbClr val="000000"/>
                </a:solidFill>
                <a:sym typeface="Symbol" pitchFamily="18" charset="2"/>
              </a:rPr>
              <a:t></a:t>
            </a:r>
            <a:r>
              <a:rPr lang="en-US" altLang="zh-CN">
                <a:solidFill>
                  <a:srgbClr val="000000"/>
                </a:solidFill>
              </a:rPr>
              <a:t>P∧Q</a:t>
            </a:r>
          </a:p>
        </p:txBody>
      </p:sp>
      <p:sp>
        <p:nvSpPr>
          <p:cNvPr id="67588" name="Rectangle 3"/>
          <p:cNvSpPr>
            <a:spLocks noChangeArrowheads="1"/>
          </p:cNvSpPr>
          <p:nvPr/>
        </p:nvSpPr>
        <p:spPr bwMode="auto">
          <a:xfrm>
            <a:off x="1293813" y="668338"/>
            <a:ext cx="2670175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 sz="3000">
                <a:solidFill>
                  <a:srgbClr val="0033CC"/>
                </a:solidFill>
              </a:rPr>
              <a:t>3</a:t>
            </a:r>
            <a:r>
              <a:rPr lang="zh-CN" altLang="en-US" sz="3000">
                <a:solidFill>
                  <a:srgbClr val="0033CC"/>
                </a:solidFill>
              </a:rPr>
              <a:t>）或非的性质</a:t>
            </a:r>
          </a:p>
        </p:txBody>
      </p:sp>
      <p:grpSp>
        <p:nvGrpSpPr>
          <p:cNvPr id="636936" name="Group 8"/>
          <p:cNvGrpSpPr>
            <a:grpSpLocks/>
          </p:cNvGrpSpPr>
          <p:nvPr/>
        </p:nvGrpSpPr>
        <p:grpSpPr bwMode="auto">
          <a:xfrm>
            <a:off x="719138" y="3860800"/>
            <a:ext cx="7056437" cy="976313"/>
            <a:chOff x="453" y="2432"/>
            <a:chExt cx="4445" cy="615"/>
          </a:xfrm>
        </p:grpSpPr>
        <p:sp>
          <p:nvSpPr>
            <p:cNvPr id="67590" name="Rectangle 5"/>
            <p:cNvSpPr>
              <a:spLocks noChangeArrowheads="1"/>
            </p:cNvSpPr>
            <p:nvPr/>
          </p:nvSpPr>
          <p:spPr bwMode="auto">
            <a:xfrm>
              <a:off x="453" y="2432"/>
              <a:ext cx="4445" cy="6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3000">
                  <a:solidFill>
                    <a:schemeClr val="hlink"/>
                  </a:solidFill>
                  <a:latin typeface="Tahoma" pitchFamily="34" charset="0"/>
                </a:rPr>
                <a:t>注意：</a:t>
              </a:r>
              <a:r>
                <a:rPr lang="zh-CN" altLang="en-US">
                  <a:solidFill>
                    <a:srgbClr val="000000"/>
                  </a:solidFill>
                </a:rPr>
                <a:t>对于包含</a:t>
              </a:r>
              <a:r>
                <a:rPr lang="zh-CN" altLang="en-US">
                  <a:solidFill>
                    <a:srgbClr val="000000"/>
                  </a:solidFill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rPr>
                <a:t>⊽</a:t>
              </a:r>
              <a:r>
                <a:rPr lang="zh-CN" altLang="en-US">
                  <a:solidFill>
                    <a:srgbClr val="000000"/>
                  </a:solidFill>
                </a:rPr>
                <a:t>，</a:t>
              </a:r>
              <a:r>
                <a:rPr kumimoji="1" lang="zh-CN" altLang="en-US"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rPr>
                <a:t>    </a:t>
              </a:r>
              <a:r>
                <a:rPr lang="zh-CN" altLang="en-US">
                  <a:solidFill>
                    <a:srgbClr val="000000"/>
                  </a:solidFill>
                </a:rPr>
                <a:t>，↑，↓的复合命题，其合式公式类似于定义</a:t>
              </a:r>
              <a:r>
                <a:rPr lang="en-US" altLang="zh-CN">
                  <a:solidFill>
                    <a:srgbClr val="000000"/>
                  </a:solidFill>
                </a:rPr>
                <a:t>1-3.1</a:t>
              </a:r>
              <a:r>
                <a:rPr lang="zh-CN" altLang="en-US">
                  <a:solidFill>
                    <a:srgbClr val="000000"/>
                  </a:solidFill>
                </a:rPr>
                <a:t>。</a:t>
              </a:r>
            </a:p>
          </p:txBody>
        </p:sp>
        <p:graphicFrame>
          <p:nvGraphicFramePr>
            <p:cNvPr id="67591" name="Object 7"/>
            <p:cNvGraphicFramePr>
              <a:graphicFrameLocks noChangeAspect="1"/>
            </p:cNvGraphicFramePr>
            <p:nvPr/>
          </p:nvGraphicFramePr>
          <p:xfrm>
            <a:off x="2472" y="2541"/>
            <a:ext cx="227" cy="1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671" name="Equation" r:id="rId3" imgW="711200" imgH="368300" progId="Equation.DSMT4">
                    <p:embed/>
                  </p:oleObj>
                </mc:Choice>
                <mc:Fallback>
                  <p:oleObj name="Equation" r:id="rId3" imgW="711200" imgH="368300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72" y="2541"/>
                          <a:ext cx="227" cy="1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5FEDE7-3E2B-40C1-AD37-3E7F6A690203}" type="slidenum">
              <a:rPr lang="en-US" altLang="zh-CN"/>
              <a:pPr>
                <a:defRPr/>
              </a:pPr>
              <a:t>63</a:t>
            </a:fld>
            <a:endParaRPr lang="en-US" altLang="zh-CN"/>
          </a:p>
        </p:txBody>
      </p:sp>
      <p:sp>
        <p:nvSpPr>
          <p:cNvPr id="637954" name="Text Box 2"/>
          <p:cNvSpPr txBox="1">
            <a:spLocks noChangeArrowheads="1"/>
          </p:cNvSpPr>
          <p:nvPr/>
        </p:nvSpPr>
        <p:spPr bwMode="auto">
          <a:xfrm>
            <a:off x="3995738" y="2606675"/>
            <a:ext cx="4640262" cy="2314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/>
              <a:t>        </a:t>
            </a:r>
            <a:r>
              <a:rPr kumimoji="1" lang="zh-CN" altLang="en-US"/>
              <a:t>含有</a:t>
            </a:r>
            <a:r>
              <a:rPr kumimoji="1" lang="en-US" altLang="zh-CN"/>
              <a:t>n </a:t>
            </a:r>
            <a:r>
              <a:rPr kumimoji="1" lang="zh-CN" altLang="en-US"/>
              <a:t>个命题变元的命题公式，按真值表是否相同去分类，共可以构成 </a:t>
            </a:r>
            <a:r>
              <a:rPr kumimoji="1" lang="zh-CN" altLang="en-US" u="sng">
                <a:solidFill>
                  <a:schemeClr val="hlink"/>
                </a:solidFill>
              </a:rPr>
              <a:t>      </a:t>
            </a:r>
            <a:r>
              <a:rPr kumimoji="1" lang="zh-CN" altLang="en-US"/>
              <a:t>个不同的真值表。 </a:t>
            </a:r>
          </a:p>
        </p:txBody>
      </p:sp>
      <p:graphicFrame>
        <p:nvGraphicFramePr>
          <p:cNvPr id="637955" name="Object 3"/>
          <p:cNvGraphicFramePr>
            <a:graphicFrameLocks noChangeAspect="1"/>
          </p:cNvGraphicFramePr>
          <p:nvPr/>
        </p:nvGraphicFramePr>
        <p:xfrm>
          <a:off x="7423150" y="3716338"/>
          <a:ext cx="581025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20" name="Equation" r:id="rId3" imgW="257191" imgH="247529" progId="Equation.DSMT4">
                  <p:embed/>
                </p:oleObj>
              </mc:Choice>
              <mc:Fallback>
                <p:oleObj name="Equation" r:id="rId3" imgW="257191" imgH="247529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23150" y="3716338"/>
                        <a:ext cx="581025" cy="554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13" name="Rectangle 4"/>
          <p:cNvSpPr>
            <a:spLocks noChangeArrowheads="1"/>
          </p:cNvSpPr>
          <p:nvPr/>
        </p:nvSpPr>
        <p:spPr bwMode="auto">
          <a:xfrm>
            <a:off x="1258888" y="620713"/>
            <a:ext cx="42640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sz="3200">
                <a:solidFill>
                  <a:schemeClr val="folHlink"/>
                </a:solidFill>
                <a:ea typeface="楷体_GB2312" pitchFamily="49" charset="-122"/>
              </a:rPr>
              <a:t>四、联结词功能完全组</a:t>
            </a:r>
          </a:p>
        </p:txBody>
      </p:sp>
      <p:sp>
        <p:nvSpPr>
          <p:cNvPr id="68614" name="Text Box 5"/>
          <p:cNvSpPr txBox="1">
            <a:spLocks noChangeArrowheads="1"/>
          </p:cNvSpPr>
          <p:nvPr/>
        </p:nvSpPr>
        <p:spPr bwMode="auto">
          <a:xfrm>
            <a:off x="719138" y="1268413"/>
            <a:ext cx="7916862" cy="120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altLang="zh-CN" i="1">
                <a:solidFill>
                  <a:schemeClr val="hlink"/>
                </a:solidFill>
                <a:latin typeface="Arial" pitchFamily="34" charset="0"/>
              </a:rPr>
              <a:t>       2</a:t>
            </a:r>
            <a:r>
              <a:rPr lang="zh-CN" altLang="en-US" i="1">
                <a:solidFill>
                  <a:schemeClr val="hlink"/>
                </a:solidFill>
                <a:latin typeface="Arial" pitchFamily="34" charset="0"/>
              </a:rPr>
              <a:t>个命题变元可组成多少个不等价（不同的真值表）的命题公式？</a:t>
            </a:r>
          </a:p>
        </p:txBody>
      </p:sp>
      <p:graphicFrame>
        <p:nvGraphicFramePr>
          <p:cNvPr id="638004" name="Group 52"/>
          <p:cNvGraphicFramePr>
            <a:graphicFrameLocks noGrp="1"/>
          </p:cNvGraphicFramePr>
          <p:nvPr/>
        </p:nvGraphicFramePr>
        <p:xfrm>
          <a:off x="827088" y="2565400"/>
          <a:ext cx="3081337" cy="2952751"/>
        </p:xfrm>
        <a:graphic>
          <a:graphicData uri="http://schemas.openxmlformats.org/drawingml/2006/table">
            <a:tbl>
              <a:tblPr/>
              <a:tblGrid>
                <a:gridCol w="957262"/>
                <a:gridCol w="955675"/>
                <a:gridCol w="1168400"/>
              </a:tblGrid>
              <a:tr h="592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1" lang="zh-CN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5905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5889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5905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5905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7954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B65FCFF-370A-47F3-B465-A299FA719D72}" type="slidenum">
              <a:rPr lang="en-US" altLang="zh-CN"/>
              <a:pPr>
                <a:defRPr/>
              </a:pPr>
              <a:t>64</a:t>
            </a:fld>
            <a:endParaRPr lang="en-US" altLang="zh-CN"/>
          </a:p>
        </p:txBody>
      </p:sp>
      <p:sp>
        <p:nvSpPr>
          <p:cNvPr id="638978" name="Rectangle 2"/>
          <p:cNvSpPr>
            <a:spLocks noChangeArrowheads="1"/>
          </p:cNvSpPr>
          <p:nvPr/>
        </p:nvSpPr>
        <p:spPr bwMode="auto">
          <a:xfrm>
            <a:off x="719138" y="3506788"/>
            <a:ext cx="7916862" cy="2443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/>
              <a:t>        P</a:t>
            </a:r>
            <a:r>
              <a:rPr kumimoji="1" lang="en-US" altLang="zh-CN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⇄</a:t>
            </a:r>
            <a:r>
              <a:rPr kumimoji="1" lang="en-US" altLang="zh-CN"/>
              <a:t>Q</a:t>
            </a:r>
            <a:r>
              <a:rPr kumimoji="1" lang="en-US" altLang="zh-CN">
                <a:sym typeface="Symbol" pitchFamily="18" charset="2"/>
              </a:rPr>
              <a:t></a:t>
            </a:r>
            <a:r>
              <a:rPr kumimoji="1" lang="en-US" altLang="zh-CN"/>
              <a:t>(P→Q)∧(Q→P)</a:t>
            </a:r>
          </a:p>
          <a:p>
            <a:pPr algn="just" eaLnBrk="1" hangingPunct="1">
              <a:lnSpc>
                <a:spcPct val="130000"/>
              </a:lnSpc>
              <a:spcBef>
                <a:spcPct val="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/>
              <a:t>        P→Q</a:t>
            </a:r>
            <a:r>
              <a:rPr kumimoji="1" lang="en-US" altLang="zh-CN">
                <a:sym typeface="Symbol" pitchFamily="18" charset="2"/>
              </a:rPr>
              <a:t></a:t>
            </a:r>
            <a:r>
              <a:rPr kumimoji="1" lang="en-US" altLang="zh-CN"/>
              <a:t>┐P∨Q</a:t>
            </a:r>
          </a:p>
          <a:p>
            <a:pPr algn="just" eaLnBrk="1" hangingPunct="1">
              <a:lnSpc>
                <a:spcPct val="130000"/>
              </a:lnSpc>
              <a:spcBef>
                <a:spcPct val="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/>
              <a:t>        P∧Q</a:t>
            </a:r>
            <a:r>
              <a:rPr kumimoji="1" lang="en-US" altLang="zh-CN">
                <a:sym typeface="Symbol" pitchFamily="18" charset="2"/>
              </a:rPr>
              <a:t></a:t>
            </a:r>
            <a:r>
              <a:rPr kumimoji="1" lang="en-US" altLang="zh-CN"/>
              <a:t>┐(┐P∨┐Q)</a:t>
            </a:r>
          </a:p>
          <a:p>
            <a:pPr algn="just" eaLnBrk="1" hangingPunct="1">
              <a:lnSpc>
                <a:spcPct val="130000"/>
              </a:lnSpc>
              <a:spcBef>
                <a:spcPct val="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/>
              <a:t>        P∨Q</a:t>
            </a:r>
            <a:r>
              <a:rPr kumimoji="1" lang="en-US" altLang="zh-CN">
                <a:sym typeface="Symbol" pitchFamily="18" charset="2"/>
              </a:rPr>
              <a:t></a:t>
            </a:r>
            <a:r>
              <a:rPr kumimoji="1" lang="en-US" altLang="zh-CN"/>
              <a:t>┐(┐P∧┐Q)</a:t>
            </a:r>
          </a:p>
        </p:txBody>
      </p:sp>
      <p:sp>
        <p:nvSpPr>
          <p:cNvPr id="638979" name="Rectangle 3"/>
          <p:cNvSpPr>
            <a:spLocks noChangeArrowheads="1"/>
          </p:cNvSpPr>
          <p:nvPr/>
        </p:nvSpPr>
        <p:spPr bwMode="auto">
          <a:xfrm>
            <a:off x="719138" y="1185863"/>
            <a:ext cx="7916862" cy="2314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/>
              <a:t>        </a:t>
            </a:r>
            <a:r>
              <a:rPr kumimoji="1" lang="zh-CN" altLang="en-US"/>
              <a:t>见</a:t>
            </a:r>
            <a:r>
              <a:rPr kumimoji="1" lang="en-US" altLang="zh-CN"/>
              <a:t>P27</a:t>
            </a:r>
            <a:r>
              <a:rPr kumimoji="1" lang="zh-CN" altLang="en-US"/>
              <a:t>表</a:t>
            </a:r>
            <a:r>
              <a:rPr kumimoji="1" lang="en-US" altLang="zh-CN"/>
              <a:t>1-6.5</a:t>
            </a:r>
            <a:r>
              <a:rPr kumimoji="1" lang="zh-CN" altLang="en-US"/>
              <a:t>可知，由所学的</a:t>
            </a:r>
            <a:r>
              <a:rPr kumimoji="1" lang="en-US" altLang="zh-CN"/>
              <a:t>9</a:t>
            </a:r>
            <a:r>
              <a:rPr kumimoji="1" lang="zh-CN" altLang="en-US"/>
              <a:t>个联结词能够描述所有的公式，但能否减少呢？</a:t>
            </a:r>
          </a:p>
          <a:p>
            <a:pPr algn="just" eaLnBrk="1" hangingPunct="1">
              <a:lnSpc>
                <a:spcPct val="130000"/>
              </a:lnSpc>
              <a:spcBef>
                <a:spcPct val="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zh-CN" altLang="en-US"/>
              <a:t>        根据定义可知：</a:t>
            </a:r>
            <a:r>
              <a:rPr kumimoji="1" lang="zh-CN" altLang="en-US" u="sng"/>
              <a:t>扩充的</a:t>
            </a:r>
            <a:r>
              <a:rPr kumimoji="1" lang="en-US" altLang="zh-CN" u="sng"/>
              <a:t>4</a:t>
            </a:r>
            <a:r>
              <a:rPr kumimoji="1" lang="zh-CN" altLang="en-US" u="sng"/>
              <a:t>个</a:t>
            </a:r>
            <a:r>
              <a:rPr kumimoji="1" lang="zh-CN" altLang="en-US"/>
              <a:t>联结词可用前面介绍的</a:t>
            </a:r>
            <a:r>
              <a:rPr kumimoji="1" lang="en-US" altLang="zh-CN" u="sng"/>
              <a:t>5</a:t>
            </a:r>
            <a:r>
              <a:rPr kumimoji="1" lang="zh-CN" altLang="en-US" u="sng"/>
              <a:t>个</a:t>
            </a:r>
            <a:r>
              <a:rPr kumimoji="1" lang="zh-CN" altLang="en-US"/>
              <a:t>联结词描述，而又有下列命题公式。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8978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DCA02AC-4E42-4B0C-B461-FD6806543C50}" type="slidenum">
              <a:rPr lang="en-US" altLang="zh-CN"/>
              <a:pPr>
                <a:defRPr/>
              </a:pPr>
              <a:t>65</a:t>
            </a:fld>
            <a:endParaRPr lang="en-US" altLang="zh-CN"/>
          </a:p>
        </p:txBody>
      </p:sp>
      <p:sp>
        <p:nvSpPr>
          <p:cNvPr id="70659" name="Text Box 2"/>
          <p:cNvSpPr txBox="1">
            <a:spLocks noChangeArrowheads="1"/>
          </p:cNvSpPr>
          <p:nvPr/>
        </p:nvSpPr>
        <p:spPr bwMode="auto">
          <a:xfrm>
            <a:off x="358775" y="1474788"/>
            <a:ext cx="82772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zh-CN" altLang="en-US">
                <a:solidFill>
                  <a:schemeClr val="hlink"/>
                </a:solidFill>
              </a:rPr>
              <a:t>定义：</a:t>
            </a:r>
            <a:r>
              <a:rPr kumimoji="1" lang="zh-CN" altLang="en-US"/>
              <a:t>联结词功能完全组</a:t>
            </a:r>
            <a:r>
              <a:rPr kumimoji="1" lang="en-US" altLang="zh-CN"/>
              <a:t>G</a:t>
            </a:r>
            <a:r>
              <a:rPr kumimoji="1" lang="zh-CN" altLang="en-US"/>
              <a:t>，满足下列两个条件：</a:t>
            </a:r>
          </a:p>
        </p:txBody>
      </p:sp>
      <p:sp>
        <p:nvSpPr>
          <p:cNvPr id="640003" name="Rectangle 3"/>
          <p:cNvSpPr>
            <a:spLocks noChangeArrowheads="1"/>
          </p:cNvSpPr>
          <p:nvPr/>
        </p:nvSpPr>
        <p:spPr bwMode="auto">
          <a:xfrm>
            <a:off x="358775" y="3933825"/>
            <a:ext cx="8277225" cy="120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zh-CN" altLang="en-US"/>
              <a:t>如常见的联结词功能完全组</a:t>
            </a:r>
          </a:p>
          <a:p>
            <a:pPr algn="just" eaLnBrk="1" hangingPunct="1">
              <a:lnSpc>
                <a:spcPct val="130000"/>
              </a:lnSpc>
              <a:spcBef>
                <a:spcPct val="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/>
              <a:t>{┐, ∨},  {┐, ∧},  {┐, →} ,  {↑},   {↓}</a:t>
            </a:r>
          </a:p>
        </p:txBody>
      </p:sp>
      <p:sp>
        <p:nvSpPr>
          <p:cNvPr id="640004" name="Rectangle 4"/>
          <p:cNvSpPr>
            <a:spLocks noChangeArrowheads="1"/>
          </p:cNvSpPr>
          <p:nvPr/>
        </p:nvSpPr>
        <p:spPr bwMode="auto">
          <a:xfrm>
            <a:off x="358775" y="2060575"/>
            <a:ext cx="8277225" cy="120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zh-CN" altLang="en-US"/>
              <a:t>（</a:t>
            </a:r>
            <a:r>
              <a:rPr kumimoji="1" lang="en-US" altLang="zh-CN"/>
              <a:t>1</a:t>
            </a:r>
            <a:r>
              <a:rPr kumimoji="1" lang="zh-CN" altLang="en-US"/>
              <a:t>）</a:t>
            </a:r>
            <a:r>
              <a:rPr kumimoji="1" lang="en-US" altLang="zh-CN"/>
              <a:t>G</a:t>
            </a:r>
            <a:r>
              <a:rPr kumimoji="1" lang="zh-CN" altLang="en-US"/>
              <a:t>中联结词构成的公式能</a:t>
            </a:r>
            <a:r>
              <a:rPr kumimoji="1" lang="zh-CN" altLang="en-US" u="sng">
                <a:solidFill>
                  <a:schemeClr val="hlink"/>
                </a:solidFill>
              </a:rPr>
              <a:t>等价表示</a:t>
            </a:r>
            <a:r>
              <a:rPr kumimoji="1" lang="zh-CN" altLang="en-US"/>
              <a:t>任意命题公式；</a:t>
            </a:r>
          </a:p>
        </p:txBody>
      </p:sp>
      <p:sp>
        <p:nvSpPr>
          <p:cNvPr id="640005" name="Rectangle 5"/>
          <p:cNvSpPr>
            <a:spLocks noChangeArrowheads="1"/>
          </p:cNvSpPr>
          <p:nvPr/>
        </p:nvSpPr>
        <p:spPr bwMode="auto">
          <a:xfrm>
            <a:off x="358775" y="3271838"/>
            <a:ext cx="8277225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zh-CN" altLang="en-US"/>
              <a:t>（</a:t>
            </a:r>
            <a:r>
              <a:rPr kumimoji="1" lang="en-US" altLang="zh-CN"/>
              <a:t>2</a:t>
            </a:r>
            <a:r>
              <a:rPr kumimoji="1" lang="zh-CN" altLang="en-US"/>
              <a:t>）</a:t>
            </a:r>
            <a:r>
              <a:rPr kumimoji="1" lang="en-US" altLang="zh-CN"/>
              <a:t>G</a:t>
            </a:r>
            <a:r>
              <a:rPr kumimoji="1" lang="zh-CN" altLang="en-US"/>
              <a:t>中</a:t>
            </a:r>
            <a:r>
              <a:rPr kumimoji="1" lang="zh-CN" altLang="en-US" u="sng">
                <a:solidFill>
                  <a:schemeClr val="hlink"/>
                </a:solidFill>
              </a:rPr>
              <a:t>任一</a:t>
            </a:r>
            <a:r>
              <a:rPr kumimoji="1" lang="zh-CN" altLang="en-US"/>
              <a:t>联结词</a:t>
            </a:r>
            <a:r>
              <a:rPr kumimoji="1" lang="zh-CN" altLang="en-US" u="sng">
                <a:solidFill>
                  <a:schemeClr val="hlink"/>
                </a:solidFill>
              </a:rPr>
              <a:t>不能用其余</a:t>
            </a:r>
            <a:r>
              <a:rPr kumimoji="1" lang="zh-CN" altLang="en-US"/>
              <a:t>联结词等价表示。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0003" grpId="0"/>
      <p:bldP spid="640004" grpId="0"/>
      <p:bldP spid="640005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AC3CF8E-B925-4958-BA9E-29352F1C84B4}" type="slidenum">
              <a:rPr lang="en-US" altLang="zh-CN"/>
              <a:pPr>
                <a:defRPr/>
              </a:pPr>
              <a:t>66</a:t>
            </a:fld>
            <a:endParaRPr lang="en-US" altLang="zh-CN"/>
          </a:p>
        </p:txBody>
      </p:sp>
      <p:sp>
        <p:nvSpPr>
          <p:cNvPr id="71683" name="Rectangle 2"/>
          <p:cNvSpPr>
            <a:spLocks noGrp="1" noChangeArrowheads="1"/>
          </p:cNvSpPr>
          <p:nvPr>
            <p:ph type="title"/>
          </p:nvPr>
        </p:nvSpPr>
        <p:spPr>
          <a:xfrm>
            <a:off x="1366838" y="555625"/>
            <a:ext cx="5510212" cy="641350"/>
          </a:xfrm>
          <a:noFill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en-US" altLang="zh-CN" sz="3600" b="1" smtClean="0">
                <a:solidFill>
                  <a:schemeClr val="tx1"/>
                </a:solidFill>
                <a:latin typeface="华文行楷" pitchFamily="2" charset="-122"/>
              </a:rPr>
              <a:t>1-7   </a:t>
            </a:r>
            <a:r>
              <a:rPr kumimoji="1" lang="zh-CN" altLang="en-US" sz="3600" b="1" smtClean="0">
                <a:solidFill>
                  <a:schemeClr val="tx1"/>
                </a:solidFill>
                <a:latin typeface="华文行楷" pitchFamily="2" charset="-122"/>
              </a:rPr>
              <a:t>对偶与范式</a:t>
            </a:r>
          </a:p>
        </p:txBody>
      </p:sp>
      <p:sp>
        <p:nvSpPr>
          <p:cNvPr id="71684" name="Rectangle 3"/>
          <p:cNvSpPr>
            <a:spLocks noChangeArrowheads="1"/>
          </p:cNvSpPr>
          <p:nvPr/>
        </p:nvSpPr>
        <p:spPr bwMode="auto">
          <a:xfrm>
            <a:off x="719138" y="1408113"/>
            <a:ext cx="7916862" cy="1862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zh-CN" altLang="en-US" sz="3200">
                <a:solidFill>
                  <a:schemeClr val="folHlink"/>
                </a:solidFill>
                <a:ea typeface="楷体_GB2312" pitchFamily="49" charset="-122"/>
              </a:rPr>
              <a:t>一、对偶</a:t>
            </a:r>
          </a:p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>
                <a:sym typeface="Wingdings" pitchFamily="2" charset="2"/>
              </a:rPr>
              <a:t>P∧(Q∨R)</a:t>
            </a:r>
            <a:r>
              <a:rPr kumimoji="1" lang="en-US" altLang="zh-CN">
                <a:sym typeface="Symbol" pitchFamily="18" charset="2"/>
              </a:rPr>
              <a:t></a:t>
            </a:r>
            <a:r>
              <a:rPr kumimoji="1" lang="en-US" altLang="zh-CN"/>
              <a:t>(</a:t>
            </a:r>
            <a:r>
              <a:rPr kumimoji="1" lang="en-US" altLang="zh-CN">
                <a:sym typeface="Wingdings" pitchFamily="2" charset="2"/>
              </a:rPr>
              <a:t>P∧Q)∨(P∧R)</a:t>
            </a:r>
          </a:p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>
                <a:sym typeface="Wingdings" pitchFamily="2" charset="2"/>
              </a:rPr>
              <a:t>P∨(Q∧R)</a:t>
            </a:r>
            <a:r>
              <a:rPr kumimoji="1" lang="en-US" altLang="zh-CN">
                <a:sym typeface="Symbol" pitchFamily="18" charset="2"/>
              </a:rPr>
              <a:t></a:t>
            </a:r>
            <a:r>
              <a:rPr kumimoji="1" lang="en-US" altLang="zh-CN"/>
              <a:t>(</a:t>
            </a:r>
            <a:r>
              <a:rPr kumimoji="1" lang="en-US" altLang="zh-CN">
                <a:sym typeface="Wingdings" pitchFamily="2" charset="2"/>
              </a:rPr>
              <a:t>P∨Q)∧(P∨R)</a:t>
            </a:r>
          </a:p>
        </p:txBody>
      </p:sp>
      <p:sp>
        <p:nvSpPr>
          <p:cNvPr id="658436" name="Rectangle 4"/>
          <p:cNvSpPr>
            <a:spLocks noChangeArrowheads="1"/>
          </p:cNvSpPr>
          <p:nvPr/>
        </p:nvSpPr>
        <p:spPr bwMode="auto">
          <a:xfrm>
            <a:off x="719138" y="3644900"/>
            <a:ext cx="7916862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>
                <a:solidFill>
                  <a:schemeClr val="hlink"/>
                </a:solidFill>
              </a:rPr>
              <a:t>        </a:t>
            </a:r>
            <a:r>
              <a:rPr kumimoji="1" lang="zh-CN" altLang="en-US">
                <a:solidFill>
                  <a:schemeClr val="hlink"/>
                </a:solidFill>
              </a:rPr>
              <a:t>定义</a:t>
            </a:r>
            <a:r>
              <a:rPr kumimoji="1" lang="en-US" altLang="zh-CN">
                <a:solidFill>
                  <a:schemeClr val="hlink"/>
                </a:solidFill>
              </a:rPr>
              <a:t>1-7. 1</a:t>
            </a:r>
            <a:r>
              <a:rPr kumimoji="1" lang="zh-CN" altLang="en-US">
                <a:solidFill>
                  <a:schemeClr val="hlink"/>
                </a:solidFill>
              </a:rPr>
              <a:t>：</a:t>
            </a:r>
            <a:r>
              <a:rPr kumimoji="1" lang="zh-CN" altLang="en-US"/>
              <a:t>在给定的仅含有┐，∧，∨的命题公式中，将∨换成∧，将∧换成∨，</a:t>
            </a:r>
            <a:r>
              <a:rPr kumimoji="1" lang="en-US" altLang="zh-CN"/>
              <a:t>T</a:t>
            </a:r>
            <a:r>
              <a:rPr kumimoji="1" lang="zh-CN" altLang="en-US"/>
              <a:t>和</a:t>
            </a:r>
            <a:r>
              <a:rPr kumimoji="1" lang="en-US" altLang="zh-CN"/>
              <a:t>F</a:t>
            </a:r>
            <a:r>
              <a:rPr kumimoji="1" lang="zh-CN" altLang="en-US"/>
              <a:t>互换，所得公式</a:t>
            </a:r>
            <a:r>
              <a:rPr kumimoji="1" lang="en-US" altLang="zh-CN"/>
              <a:t>A</a:t>
            </a:r>
            <a:r>
              <a:rPr kumimoji="1" lang="en-US" altLang="zh-CN">
                <a:cs typeface="Times New Roman" pitchFamily="18" charset="0"/>
              </a:rPr>
              <a:t>*</a:t>
            </a:r>
            <a:r>
              <a:rPr kumimoji="1" lang="zh-CN" altLang="en-US"/>
              <a:t>称为</a:t>
            </a:r>
            <a:r>
              <a:rPr kumimoji="1" lang="en-US" altLang="zh-CN"/>
              <a:t>A</a:t>
            </a:r>
            <a:r>
              <a:rPr kumimoji="1" lang="zh-CN" altLang="en-US"/>
              <a:t>的对偶式。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8436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4B4E053-13EE-4415-B6E8-30F04CE9900A}" type="slidenum">
              <a:rPr lang="en-US" altLang="zh-CN"/>
              <a:pPr>
                <a:defRPr/>
              </a:pPr>
              <a:t>67</a:t>
            </a:fld>
            <a:endParaRPr lang="en-US" altLang="zh-CN"/>
          </a:p>
        </p:txBody>
      </p:sp>
      <p:sp>
        <p:nvSpPr>
          <p:cNvPr id="72707" name="Rectangle 2"/>
          <p:cNvSpPr>
            <a:spLocks noChangeArrowheads="1"/>
          </p:cNvSpPr>
          <p:nvPr/>
        </p:nvSpPr>
        <p:spPr bwMode="auto">
          <a:xfrm>
            <a:off x="719138" y="1196975"/>
            <a:ext cx="7916862" cy="2527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>
                <a:solidFill>
                  <a:schemeClr val="hlink"/>
                </a:solidFill>
              </a:rPr>
              <a:t>         </a:t>
            </a:r>
            <a:r>
              <a:rPr kumimoji="1" lang="zh-CN" altLang="en-US">
                <a:solidFill>
                  <a:schemeClr val="hlink"/>
                </a:solidFill>
              </a:rPr>
              <a:t>定理</a:t>
            </a:r>
            <a:r>
              <a:rPr kumimoji="1" lang="en-US" altLang="zh-CN">
                <a:solidFill>
                  <a:schemeClr val="hlink"/>
                </a:solidFill>
              </a:rPr>
              <a:t>1-7. 1</a:t>
            </a:r>
            <a:r>
              <a:rPr kumimoji="1" lang="zh-CN" altLang="en-US">
                <a:solidFill>
                  <a:schemeClr val="hlink"/>
                </a:solidFill>
              </a:rPr>
              <a:t>（对偶定理）：</a:t>
            </a:r>
            <a:r>
              <a:rPr kumimoji="1" lang="zh-CN" altLang="en-US"/>
              <a:t>设</a:t>
            </a:r>
            <a:r>
              <a:rPr kumimoji="1" lang="en-US" altLang="zh-CN"/>
              <a:t>A</a:t>
            </a:r>
            <a:r>
              <a:rPr kumimoji="1" lang="zh-CN" altLang="en-US"/>
              <a:t>和</a:t>
            </a:r>
            <a:r>
              <a:rPr kumimoji="1" lang="en-US" altLang="zh-CN"/>
              <a:t>A*</a:t>
            </a:r>
            <a:r>
              <a:rPr kumimoji="1" lang="zh-CN" altLang="en-US"/>
              <a:t>互为对偶式，</a:t>
            </a:r>
            <a:r>
              <a:rPr kumimoji="1" lang="en-US" altLang="zh-CN"/>
              <a:t>P</a:t>
            </a:r>
            <a:r>
              <a:rPr kumimoji="1" lang="en-US" altLang="zh-CN" baseline="-25000"/>
              <a:t>1</a:t>
            </a:r>
            <a:r>
              <a:rPr kumimoji="1" lang="en-US" altLang="zh-CN"/>
              <a:t>, P</a:t>
            </a:r>
            <a:r>
              <a:rPr kumimoji="1" lang="en-US" altLang="zh-CN" baseline="-25000"/>
              <a:t>2</a:t>
            </a:r>
            <a:r>
              <a:rPr kumimoji="1" lang="en-US" altLang="zh-CN"/>
              <a:t>, …, P</a:t>
            </a:r>
            <a:r>
              <a:rPr kumimoji="1" lang="en-US" altLang="zh-CN" baseline="-25000"/>
              <a:t>n</a:t>
            </a:r>
            <a:r>
              <a:rPr kumimoji="1" lang="zh-CN" altLang="en-US"/>
              <a:t>是出现在</a:t>
            </a:r>
            <a:r>
              <a:rPr kumimoji="1" lang="en-US" altLang="zh-CN"/>
              <a:t>A</a:t>
            </a:r>
            <a:r>
              <a:rPr kumimoji="1" lang="zh-CN" altLang="en-US"/>
              <a:t>和</a:t>
            </a:r>
            <a:r>
              <a:rPr kumimoji="1" lang="en-US" altLang="zh-CN"/>
              <a:t>A*</a:t>
            </a:r>
            <a:r>
              <a:rPr kumimoji="1" lang="zh-CN" altLang="en-US"/>
              <a:t>中的原子变元，则</a:t>
            </a:r>
          </a:p>
          <a:p>
            <a:pPr algn="just" eaLnBrk="1" hangingPunct="1"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zh-CN" altLang="en-US"/>
              <a:t>①┐</a:t>
            </a:r>
            <a:r>
              <a:rPr kumimoji="1" lang="en-US" altLang="zh-CN"/>
              <a:t>A(P</a:t>
            </a:r>
            <a:r>
              <a:rPr kumimoji="1" lang="en-US" altLang="zh-CN" baseline="-25000"/>
              <a:t>1</a:t>
            </a:r>
            <a:r>
              <a:rPr kumimoji="1" lang="en-US" altLang="zh-CN"/>
              <a:t>, P</a:t>
            </a:r>
            <a:r>
              <a:rPr kumimoji="1" lang="en-US" altLang="zh-CN" baseline="-25000"/>
              <a:t>2</a:t>
            </a:r>
            <a:r>
              <a:rPr kumimoji="1" lang="en-US" altLang="zh-CN"/>
              <a:t>, …, P</a:t>
            </a:r>
            <a:r>
              <a:rPr kumimoji="1" lang="en-US" altLang="zh-CN" baseline="-25000"/>
              <a:t>n</a:t>
            </a:r>
            <a:r>
              <a:rPr kumimoji="1" lang="en-US" altLang="zh-CN"/>
              <a:t>)</a:t>
            </a:r>
            <a:r>
              <a:rPr kumimoji="1" lang="en-US" altLang="zh-CN">
                <a:sym typeface="Symbol" pitchFamily="18" charset="2"/>
              </a:rPr>
              <a:t></a:t>
            </a:r>
            <a:r>
              <a:rPr kumimoji="1" lang="en-US" altLang="zh-CN"/>
              <a:t>A*(┐P</a:t>
            </a:r>
            <a:r>
              <a:rPr kumimoji="1" lang="en-US" altLang="zh-CN" baseline="-25000"/>
              <a:t>1</a:t>
            </a:r>
            <a:r>
              <a:rPr kumimoji="1" lang="en-US" altLang="zh-CN"/>
              <a:t>, ┐P</a:t>
            </a:r>
            <a:r>
              <a:rPr kumimoji="1" lang="en-US" altLang="zh-CN" baseline="-25000"/>
              <a:t>2</a:t>
            </a:r>
            <a:r>
              <a:rPr kumimoji="1" lang="en-US" altLang="zh-CN"/>
              <a:t>, …, ┐P</a:t>
            </a:r>
            <a:r>
              <a:rPr kumimoji="1" lang="en-US" altLang="zh-CN" baseline="-25000"/>
              <a:t>n</a:t>
            </a:r>
            <a:r>
              <a:rPr kumimoji="1" lang="en-US" altLang="zh-CN"/>
              <a:t>)</a:t>
            </a:r>
          </a:p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/>
              <a:t>②A(┐P</a:t>
            </a:r>
            <a:r>
              <a:rPr kumimoji="1" lang="en-US" altLang="zh-CN" baseline="-25000"/>
              <a:t>1</a:t>
            </a:r>
            <a:r>
              <a:rPr kumimoji="1" lang="en-US" altLang="zh-CN"/>
              <a:t>, ┐P</a:t>
            </a:r>
            <a:r>
              <a:rPr kumimoji="1" lang="en-US" altLang="zh-CN" baseline="-25000"/>
              <a:t>2</a:t>
            </a:r>
            <a:r>
              <a:rPr kumimoji="1" lang="en-US" altLang="zh-CN"/>
              <a:t>, …, ┐P</a:t>
            </a:r>
            <a:r>
              <a:rPr kumimoji="1" lang="en-US" altLang="zh-CN" baseline="-25000"/>
              <a:t>n</a:t>
            </a:r>
            <a:r>
              <a:rPr kumimoji="1" lang="en-US" altLang="zh-CN"/>
              <a:t>)</a:t>
            </a:r>
            <a:r>
              <a:rPr kumimoji="1" lang="en-US" altLang="zh-CN">
                <a:sym typeface="Symbol" pitchFamily="18" charset="2"/>
              </a:rPr>
              <a:t></a:t>
            </a:r>
            <a:r>
              <a:rPr kumimoji="1" lang="en-US" altLang="zh-CN"/>
              <a:t>┐A*(P</a:t>
            </a:r>
            <a:r>
              <a:rPr kumimoji="1" lang="en-US" altLang="zh-CN" baseline="-25000"/>
              <a:t>1</a:t>
            </a:r>
            <a:r>
              <a:rPr kumimoji="1" lang="en-US" altLang="zh-CN"/>
              <a:t>, P</a:t>
            </a:r>
            <a:r>
              <a:rPr kumimoji="1" lang="en-US" altLang="zh-CN" baseline="-25000"/>
              <a:t>2</a:t>
            </a:r>
            <a:r>
              <a:rPr kumimoji="1" lang="en-US" altLang="zh-CN"/>
              <a:t>, …, P</a:t>
            </a:r>
            <a:r>
              <a:rPr kumimoji="1" lang="en-US" altLang="zh-CN" baseline="-25000"/>
              <a:t>n</a:t>
            </a:r>
            <a:r>
              <a:rPr kumimoji="1" lang="en-US" altLang="zh-CN"/>
              <a:t>)</a:t>
            </a:r>
          </a:p>
        </p:txBody>
      </p:sp>
      <p:sp>
        <p:nvSpPr>
          <p:cNvPr id="659459" name="Rectangle 3"/>
          <p:cNvSpPr>
            <a:spLocks noChangeArrowheads="1"/>
          </p:cNvSpPr>
          <p:nvPr/>
        </p:nvSpPr>
        <p:spPr bwMode="auto">
          <a:xfrm>
            <a:off x="719138" y="3860800"/>
            <a:ext cx="7916862" cy="1160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/>
              <a:t> P∧Q</a:t>
            </a:r>
            <a:r>
              <a:rPr kumimoji="1" lang="en-US" altLang="zh-CN">
                <a:sym typeface="Symbol" pitchFamily="18" charset="2"/>
              </a:rPr>
              <a:t></a:t>
            </a:r>
            <a:r>
              <a:rPr kumimoji="1" lang="en-US" altLang="zh-CN"/>
              <a:t>┐(┐P∨┐Q)</a:t>
            </a:r>
          </a:p>
          <a:p>
            <a:pPr algn="ctr"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/>
              <a:t> P∨Q</a:t>
            </a:r>
            <a:r>
              <a:rPr kumimoji="1" lang="en-US" altLang="zh-CN">
                <a:sym typeface="Symbol" pitchFamily="18" charset="2"/>
              </a:rPr>
              <a:t></a:t>
            </a:r>
            <a:r>
              <a:rPr kumimoji="1" lang="en-US" altLang="zh-CN"/>
              <a:t>┐(┐P∧┐Q)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9459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9E2C1E7-9AE6-44A9-B925-00E8E28D30FC}" type="slidenum">
              <a:rPr lang="en-US" altLang="zh-CN"/>
              <a:pPr>
                <a:defRPr/>
              </a:pPr>
              <a:t>68</a:t>
            </a:fld>
            <a:endParaRPr lang="en-US" altLang="zh-CN"/>
          </a:p>
        </p:txBody>
      </p:sp>
      <p:sp>
        <p:nvSpPr>
          <p:cNvPr id="73731" name="Rectangle 2"/>
          <p:cNvSpPr>
            <a:spLocks noChangeArrowheads="1"/>
          </p:cNvSpPr>
          <p:nvPr/>
        </p:nvSpPr>
        <p:spPr bwMode="auto">
          <a:xfrm>
            <a:off x="719138" y="1268413"/>
            <a:ext cx="7916862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>
                <a:solidFill>
                  <a:schemeClr val="hlink"/>
                </a:solidFill>
              </a:rPr>
              <a:t>        </a:t>
            </a:r>
            <a:r>
              <a:rPr kumimoji="1" lang="zh-CN" altLang="en-US">
                <a:solidFill>
                  <a:schemeClr val="hlink"/>
                </a:solidFill>
              </a:rPr>
              <a:t>定理</a:t>
            </a:r>
            <a:r>
              <a:rPr kumimoji="1" lang="en-US" altLang="zh-CN">
                <a:solidFill>
                  <a:schemeClr val="hlink"/>
                </a:solidFill>
              </a:rPr>
              <a:t>1-7. 2</a:t>
            </a:r>
            <a:r>
              <a:rPr kumimoji="1" lang="zh-CN" altLang="en-US">
                <a:solidFill>
                  <a:schemeClr val="hlink"/>
                </a:solidFill>
              </a:rPr>
              <a:t>：</a:t>
            </a:r>
            <a:r>
              <a:rPr kumimoji="1" lang="zh-CN" altLang="en-US"/>
              <a:t>设</a:t>
            </a:r>
            <a:r>
              <a:rPr kumimoji="1" lang="en-US" altLang="zh-CN"/>
              <a:t>P</a:t>
            </a:r>
            <a:r>
              <a:rPr kumimoji="1" lang="en-US" altLang="zh-CN" baseline="-25000"/>
              <a:t>1</a:t>
            </a:r>
            <a:r>
              <a:rPr kumimoji="1" lang="en-US" altLang="zh-CN"/>
              <a:t>, P</a:t>
            </a:r>
            <a:r>
              <a:rPr kumimoji="1" lang="en-US" altLang="zh-CN" baseline="-25000"/>
              <a:t>2</a:t>
            </a:r>
            <a:r>
              <a:rPr kumimoji="1" lang="en-US" altLang="zh-CN"/>
              <a:t>, …, P</a:t>
            </a:r>
            <a:r>
              <a:rPr kumimoji="1" lang="en-US" altLang="zh-CN" baseline="-25000"/>
              <a:t>n</a:t>
            </a:r>
            <a:r>
              <a:rPr kumimoji="1" lang="zh-CN" altLang="en-US"/>
              <a:t>是出现在公式</a:t>
            </a:r>
            <a:r>
              <a:rPr kumimoji="1" lang="en-US" altLang="zh-CN"/>
              <a:t>A</a:t>
            </a:r>
            <a:r>
              <a:rPr kumimoji="1" lang="zh-CN" altLang="en-US"/>
              <a:t>和</a:t>
            </a:r>
            <a:r>
              <a:rPr kumimoji="1" lang="en-US" altLang="zh-CN"/>
              <a:t>B</a:t>
            </a:r>
            <a:r>
              <a:rPr kumimoji="1" lang="zh-CN" altLang="en-US"/>
              <a:t>中的所有原子变元，如果</a:t>
            </a:r>
            <a:r>
              <a:rPr kumimoji="1" lang="en-US" altLang="zh-CN"/>
              <a:t>A</a:t>
            </a:r>
            <a:r>
              <a:rPr kumimoji="1" lang="en-US" altLang="zh-CN">
                <a:sym typeface="Symbol" pitchFamily="18" charset="2"/>
              </a:rPr>
              <a:t></a:t>
            </a:r>
            <a:r>
              <a:rPr kumimoji="1" lang="en-US" altLang="zh-CN"/>
              <a:t>B,</a:t>
            </a:r>
            <a:r>
              <a:rPr kumimoji="1" lang="zh-CN" altLang="en-US"/>
              <a:t>则</a:t>
            </a:r>
            <a:r>
              <a:rPr kumimoji="1" lang="en-US" altLang="zh-CN"/>
              <a:t>A*</a:t>
            </a:r>
            <a:r>
              <a:rPr kumimoji="1" lang="en-US" altLang="zh-CN">
                <a:sym typeface="Symbol" pitchFamily="18" charset="2"/>
              </a:rPr>
              <a:t></a:t>
            </a:r>
            <a:r>
              <a:rPr kumimoji="1" lang="en-US" altLang="zh-CN"/>
              <a:t>B*</a:t>
            </a:r>
            <a:r>
              <a:rPr kumimoji="1" lang="zh-CN" altLang="en-US"/>
              <a:t>。</a:t>
            </a:r>
          </a:p>
        </p:txBody>
      </p:sp>
      <p:sp>
        <p:nvSpPr>
          <p:cNvPr id="660483" name="Rectangle 3"/>
          <p:cNvSpPr>
            <a:spLocks noChangeArrowheads="1"/>
          </p:cNvSpPr>
          <p:nvPr/>
        </p:nvSpPr>
        <p:spPr bwMode="auto">
          <a:xfrm>
            <a:off x="719138" y="2295525"/>
            <a:ext cx="79168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zh-CN" altLang="en-US"/>
              <a:t>证明：设</a:t>
            </a:r>
            <a:r>
              <a:rPr kumimoji="1" lang="en-US" altLang="zh-CN"/>
              <a:t>A(P</a:t>
            </a:r>
            <a:r>
              <a:rPr kumimoji="1" lang="en-US" altLang="zh-CN" baseline="-25000"/>
              <a:t>1</a:t>
            </a:r>
            <a:r>
              <a:rPr kumimoji="1" lang="en-US" altLang="zh-CN"/>
              <a:t>, P</a:t>
            </a:r>
            <a:r>
              <a:rPr kumimoji="1" lang="en-US" altLang="zh-CN" baseline="-25000"/>
              <a:t>2</a:t>
            </a:r>
            <a:r>
              <a:rPr kumimoji="1" lang="en-US" altLang="zh-CN"/>
              <a:t>, …, P</a:t>
            </a:r>
            <a:r>
              <a:rPr kumimoji="1" lang="en-US" altLang="zh-CN" baseline="-25000"/>
              <a:t>n</a:t>
            </a:r>
            <a:r>
              <a:rPr kumimoji="1" lang="en-US" altLang="zh-CN"/>
              <a:t>)</a:t>
            </a:r>
            <a:r>
              <a:rPr kumimoji="1" lang="en-US" altLang="zh-CN">
                <a:sym typeface="Symbol" pitchFamily="18" charset="2"/>
              </a:rPr>
              <a:t></a:t>
            </a:r>
            <a:r>
              <a:rPr kumimoji="1" lang="en-US" altLang="zh-CN"/>
              <a:t>B(P</a:t>
            </a:r>
            <a:r>
              <a:rPr kumimoji="1" lang="en-US" altLang="zh-CN" baseline="-25000"/>
              <a:t>1</a:t>
            </a:r>
            <a:r>
              <a:rPr kumimoji="1" lang="en-US" altLang="zh-CN"/>
              <a:t>, P</a:t>
            </a:r>
            <a:r>
              <a:rPr kumimoji="1" lang="en-US" altLang="zh-CN" baseline="-25000"/>
              <a:t>2</a:t>
            </a:r>
            <a:r>
              <a:rPr kumimoji="1" lang="en-US" altLang="zh-CN"/>
              <a:t>, …, P</a:t>
            </a:r>
            <a:r>
              <a:rPr kumimoji="1" lang="en-US" altLang="zh-CN" baseline="-25000"/>
              <a:t>n</a:t>
            </a:r>
            <a:r>
              <a:rPr kumimoji="1" lang="en-US" altLang="zh-CN"/>
              <a:t>)</a:t>
            </a:r>
          </a:p>
        </p:txBody>
      </p:sp>
      <p:sp>
        <p:nvSpPr>
          <p:cNvPr id="660484" name="Rectangle 4"/>
          <p:cNvSpPr>
            <a:spLocks noChangeArrowheads="1"/>
          </p:cNvSpPr>
          <p:nvPr/>
        </p:nvSpPr>
        <p:spPr bwMode="auto">
          <a:xfrm>
            <a:off x="719138" y="2924175"/>
            <a:ext cx="79168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/>
              <a:t>            ┐A(P</a:t>
            </a:r>
            <a:r>
              <a:rPr kumimoji="1" lang="en-US" altLang="zh-CN" baseline="-25000"/>
              <a:t>1</a:t>
            </a:r>
            <a:r>
              <a:rPr kumimoji="1" lang="en-US" altLang="zh-CN"/>
              <a:t>, P</a:t>
            </a:r>
            <a:r>
              <a:rPr kumimoji="1" lang="en-US" altLang="zh-CN" baseline="-25000"/>
              <a:t>2</a:t>
            </a:r>
            <a:r>
              <a:rPr kumimoji="1" lang="en-US" altLang="zh-CN"/>
              <a:t>, …, P</a:t>
            </a:r>
            <a:r>
              <a:rPr kumimoji="1" lang="en-US" altLang="zh-CN" baseline="-25000"/>
              <a:t>n</a:t>
            </a:r>
            <a:r>
              <a:rPr kumimoji="1" lang="en-US" altLang="zh-CN"/>
              <a:t>)</a:t>
            </a:r>
            <a:r>
              <a:rPr kumimoji="1" lang="en-US" altLang="zh-CN">
                <a:sym typeface="Symbol" pitchFamily="18" charset="2"/>
              </a:rPr>
              <a:t></a:t>
            </a:r>
            <a:r>
              <a:rPr kumimoji="1" lang="en-US" altLang="zh-CN"/>
              <a:t>┐B(P</a:t>
            </a:r>
            <a:r>
              <a:rPr kumimoji="1" lang="en-US" altLang="zh-CN" baseline="-25000"/>
              <a:t>1</a:t>
            </a:r>
            <a:r>
              <a:rPr kumimoji="1" lang="en-US" altLang="zh-CN"/>
              <a:t>, P</a:t>
            </a:r>
            <a:r>
              <a:rPr kumimoji="1" lang="en-US" altLang="zh-CN" baseline="-25000"/>
              <a:t>2</a:t>
            </a:r>
            <a:r>
              <a:rPr kumimoji="1" lang="en-US" altLang="zh-CN"/>
              <a:t>, …, P</a:t>
            </a:r>
            <a:r>
              <a:rPr kumimoji="1" lang="en-US" altLang="zh-CN" baseline="-25000"/>
              <a:t>n</a:t>
            </a:r>
            <a:r>
              <a:rPr kumimoji="1" lang="en-US" altLang="zh-CN"/>
              <a:t>)</a:t>
            </a:r>
          </a:p>
        </p:txBody>
      </p:sp>
      <p:sp>
        <p:nvSpPr>
          <p:cNvPr id="660485" name="Rectangle 5"/>
          <p:cNvSpPr>
            <a:spLocks noChangeArrowheads="1"/>
          </p:cNvSpPr>
          <p:nvPr/>
        </p:nvSpPr>
        <p:spPr bwMode="auto">
          <a:xfrm>
            <a:off x="719138" y="3557588"/>
            <a:ext cx="81740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/>
              <a:t>            ┐A(P</a:t>
            </a:r>
            <a:r>
              <a:rPr kumimoji="1" lang="en-US" altLang="zh-CN" baseline="-25000"/>
              <a:t>1</a:t>
            </a:r>
            <a:r>
              <a:rPr kumimoji="1" lang="en-US" altLang="zh-CN"/>
              <a:t>, P</a:t>
            </a:r>
            <a:r>
              <a:rPr kumimoji="1" lang="en-US" altLang="zh-CN" baseline="-25000"/>
              <a:t>2</a:t>
            </a:r>
            <a:r>
              <a:rPr kumimoji="1" lang="en-US" altLang="zh-CN"/>
              <a:t>, …, P</a:t>
            </a:r>
            <a:r>
              <a:rPr kumimoji="1" lang="en-US" altLang="zh-CN" baseline="-25000"/>
              <a:t>n</a:t>
            </a:r>
            <a:r>
              <a:rPr kumimoji="1" lang="en-US" altLang="zh-CN"/>
              <a:t>)</a:t>
            </a:r>
            <a:r>
              <a:rPr kumimoji="1" lang="en-US" altLang="zh-CN">
                <a:sym typeface="Symbol" pitchFamily="18" charset="2"/>
              </a:rPr>
              <a:t></a:t>
            </a:r>
            <a:r>
              <a:rPr kumimoji="1" lang="en-US" altLang="zh-CN"/>
              <a:t>A*(┐P</a:t>
            </a:r>
            <a:r>
              <a:rPr kumimoji="1" lang="en-US" altLang="zh-CN" baseline="-25000"/>
              <a:t>1</a:t>
            </a:r>
            <a:r>
              <a:rPr kumimoji="1" lang="en-US" altLang="zh-CN"/>
              <a:t>, ┐P</a:t>
            </a:r>
            <a:r>
              <a:rPr kumimoji="1" lang="en-US" altLang="zh-CN" baseline="-25000"/>
              <a:t>2</a:t>
            </a:r>
            <a:r>
              <a:rPr kumimoji="1" lang="en-US" altLang="zh-CN"/>
              <a:t>, …, ┐P</a:t>
            </a:r>
            <a:r>
              <a:rPr kumimoji="1" lang="en-US" altLang="zh-CN" baseline="-25000"/>
              <a:t>n</a:t>
            </a:r>
            <a:r>
              <a:rPr kumimoji="1" lang="en-US" altLang="zh-CN"/>
              <a:t>)</a:t>
            </a:r>
          </a:p>
        </p:txBody>
      </p:sp>
      <p:sp>
        <p:nvSpPr>
          <p:cNvPr id="660486" name="Rectangle 6"/>
          <p:cNvSpPr>
            <a:spLocks noChangeArrowheads="1"/>
          </p:cNvSpPr>
          <p:nvPr/>
        </p:nvSpPr>
        <p:spPr bwMode="auto">
          <a:xfrm>
            <a:off x="719138" y="4205288"/>
            <a:ext cx="81740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/>
              <a:t>            ┐B(P</a:t>
            </a:r>
            <a:r>
              <a:rPr kumimoji="1" lang="en-US" altLang="zh-CN" baseline="-25000"/>
              <a:t>1</a:t>
            </a:r>
            <a:r>
              <a:rPr kumimoji="1" lang="en-US" altLang="zh-CN"/>
              <a:t>, P</a:t>
            </a:r>
            <a:r>
              <a:rPr kumimoji="1" lang="en-US" altLang="zh-CN" baseline="-25000"/>
              <a:t>2</a:t>
            </a:r>
            <a:r>
              <a:rPr kumimoji="1" lang="en-US" altLang="zh-CN"/>
              <a:t>, …, P</a:t>
            </a:r>
            <a:r>
              <a:rPr kumimoji="1" lang="en-US" altLang="zh-CN" baseline="-25000"/>
              <a:t>n</a:t>
            </a:r>
            <a:r>
              <a:rPr kumimoji="1" lang="en-US" altLang="zh-CN"/>
              <a:t>)</a:t>
            </a:r>
            <a:r>
              <a:rPr kumimoji="1" lang="en-US" altLang="zh-CN">
                <a:sym typeface="Symbol" pitchFamily="18" charset="2"/>
              </a:rPr>
              <a:t></a:t>
            </a:r>
            <a:r>
              <a:rPr kumimoji="1" lang="en-US" altLang="zh-CN"/>
              <a:t>B*(┐P</a:t>
            </a:r>
            <a:r>
              <a:rPr kumimoji="1" lang="en-US" altLang="zh-CN" baseline="-25000"/>
              <a:t>1</a:t>
            </a:r>
            <a:r>
              <a:rPr kumimoji="1" lang="en-US" altLang="zh-CN"/>
              <a:t>, ┐P</a:t>
            </a:r>
            <a:r>
              <a:rPr kumimoji="1" lang="en-US" altLang="zh-CN" baseline="-25000"/>
              <a:t>2</a:t>
            </a:r>
            <a:r>
              <a:rPr kumimoji="1" lang="en-US" altLang="zh-CN"/>
              <a:t>, …, ┐P</a:t>
            </a:r>
            <a:r>
              <a:rPr kumimoji="1" lang="en-US" altLang="zh-CN" baseline="-25000"/>
              <a:t>n</a:t>
            </a:r>
            <a:r>
              <a:rPr kumimoji="1" lang="en-US" altLang="zh-CN"/>
              <a:t>)</a:t>
            </a:r>
          </a:p>
        </p:txBody>
      </p:sp>
      <p:sp>
        <p:nvSpPr>
          <p:cNvPr id="660487" name="Rectangle 7"/>
          <p:cNvSpPr>
            <a:spLocks noChangeArrowheads="1"/>
          </p:cNvSpPr>
          <p:nvPr/>
        </p:nvSpPr>
        <p:spPr bwMode="auto">
          <a:xfrm>
            <a:off x="719138" y="4854575"/>
            <a:ext cx="81740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/>
              <a:t>  A*(┐P</a:t>
            </a:r>
            <a:r>
              <a:rPr kumimoji="1" lang="en-US" altLang="zh-CN" baseline="-25000"/>
              <a:t>1</a:t>
            </a:r>
            <a:r>
              <a:rPr kumimoji="1" lang="en-US" altLang="zh-CN"/>
              <a:t>, ┐P</a:t>
            </a:r>
            <a:r>
              <a:rPr kumimoji="1" lang="en-US" altLang="zh-CN" baseline="-25000"/>
              <a:t>2</a:t>
            </a:r>
            <a:r>
              <a:rPr kumimoji="1" lang="en-US" altLang="zh-CN"/>
              <a:t>, …, ┐P</a:t>
            </a:r>
            <a:r>
              <a:rPr kumimoji="1" lang="en-US" altLang="zh-CN" baseline="-25000"/>
              <a:t>n</a:t>
            </a:r>
            <a:r>
              <a:rPr kumimoji="1" lang="en-US" altLang="zh-CN"/>
              <a:t>)</a:t>
            </a:r>
            <a:r>
              <a:rPr kumimoji="1" lang="en-US" altLang="zh-CN">
                <a:sym typeface="Symbol" pitchFamily="18" charset="2"/>
              </a:rPr>
              <a:t></a:t>
            </a:r>
            <a:r>
              <a:rPr kumimoji="1" lang="en-US" altLang="zh-CN"/>
              <a:t>B*(┐P</a:t>
            </a:r>
            <a:r>
              <a:rPr kumimoji="1" lang="en-US" altLang="zh-CN" baseline="-25000"/>
              <a:t>1</a:t>
            </a:r>
            <a:r>
              <a:rPr kumimoji="1" lang="en-US" altLang="zh-CN"/>
              <a:t>, ┐P</a:t>
            </a:r>
            <a:r>
              <a:rPr kumimoji="1" lang="en-US" altLang="zh-CN" baseline="-25000"/>
              <a:t>2</a:t>
            </a:r>
            <a:r>
              <a:rPr kumimoji="1" lang="en-US" altLang="zh-CN"/>
              <a:t>, …, ┐P</a:t>
            </a:r>
            <a:r>
              <a:rPr kumimoji="1" lang="en-US" altLang="zh-CN" baseline="-25000"/>
              <a:t>n</a:t>
            </a:r>
            <a:r>
              <a:rPr kumimoji="1" lang="en-US" altLang="zh-CN"/>
              <a:t>)</a:t>
            </a:r>
          </a:p>
        </p:txBody>
      </p:sp>
      <p:sp>
        <p:nvSpPr>
          <p:cNvPr id="660488" name="Rectangle 8"/>
          <p:cNvSpPr>
            <a:spLocks noChangeArrowheads="1"/>
          </p:cNvSpPr>
          <p:nvPr/>
        </p:nvSpPr>
        <p:spPr bwMode="auto">
          <a:xfrm>
            <a:off x="719138" y="5502275"/>
            <a:ext cx="79168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/>
              <a:t>       ∴   A*(P</a:t>
            </a:r>
            <a:r>
              <a:rPr kumimoji="1" lang="en-US" altLang="zh-CN" baseline="-25000"/>
              <a:t>1</a:t>
            </a:r>
            <a:r>
              <a:rPr kumimoji="1" lang="en-US" altLang="zh-CN"/>
              <a:t>, P</a:t>
            </a:r>
            <a:r>
              <a:rPr kumimoji="1" lang="en-US" altLang="zh-CN" baseline="-25000"/>
              <a:t>2</a:t>
            </a:r>
            <a:r>
              <a:rPr kumimoji="1" lang="en-US" altLang="zh-CN"/>
              <a:t>, …, P</a:t>
            </a:r>
            <a:r>
              <a:rPr kumimoji="1" lang="en-US" altLang="zh-CN" baseline="-25000"/>
              <a:t>n</a:t>
            </a:r>
            <a:r>
              <a:rPr kumimoji="1" lang="en-US" altLang="zh-CN"/>
              <a:t>)</a:t>
            </a:r>
            <a:r>
              <a:rPr kumimoji="1" lang="en-US" altLang="zh-CN">
                <a:sym typeface="Symbol" pitchFamily="18" charset="2"/>
              </a:rPr>
              <a:t></a:t>
            </a:r>
            <a:r>
              <a:rPr kumimoji="1" lang="en-US" altLang="zh-CN"/>
              <a:t>B* (P</a:t>
            </a:r>
            <a:r>
              <a:rPr kumimoji="1" lang="en-US" altLang="zh-CN" baseline="-25000"/>
              <a:t>1</a:t>
            </a:r>
            <a:r>
              <a:rPr kumimoji="1" lang="en-US" altLang="zh-CN"/>
              <a:t>, P</a:t>
            </a:r>
            <a:r>
              <a:rPr kumimoji="1" lang="en-US" altLang="zh-CN" baseline="-25000"/>
              <a:t>2</a:t>
            </a:r>
            <a:r>
              <a:rPr kumimoji="1" lang="en-US" altLang="zh-CN"/>
              <a:t>, …, P</a:t>
            </a:r>
            <a:r>
              <a:rPr kumimoji="1" lang="en-US" altLang="zh-CN" baseline="-25000"/>
              <a:t>n</a:t>
            </a:r>
            <a:r>
              <a:rPr kumimoji="1" lang="en-US" altLang="zh-CN"/>
              <a:t>)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0483" grpId="0"/>
      <p:bldP spid="660484" grpId="0"/>
      <p:bldP spid="660485" grpId="0"/>
      <p:bldP spid="660486" grpId="0"/>
      <p:bldP spid="660487" grpId="0"/>
      <p:bldP spid="660488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9AF9B42-C084-47C8-9FA7-63D67A82861E}" type="slidenum">
              <a:rPr lang="en-US" altLang="zh-CN"/>
              <a:pPr>
                <a:defRPr/>
              </a:pPr>
              <a:t>69</a:t>
            </a:fld>
            <a:endParaRPr lang="en-US" altLang="zh-CN"/>
          </a:p>
        </p:txBody>
      </p:sp>
      <p:sp>
        <p:nvSpPr>
          <p:cNvPr id="74755" name="Text Box 2"/>
          <p:cNvSpPr txBox="1">
            <a:spLocks noChangeArrowheads="1"/>
          </p:cNvSpPr>
          <p:nvPr/>
        </p:nvSpPr>
        <p:spPr bwMode="auto">
          <a:xfrm>
            <a:off x="719138" y="1484313"/>
            <a:ext cx="7916862" cy="120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zh-CN" altLang="en-US">
                <a:solidFill>
                  <a:schemeClr val="hlink"/>
                </a:solidFill>
              </a:rPr>
              <a:t>例</a:t>
            </a:r>
            <a:r>
              <a:rPr kumimoji="1" lang="en-US" altLang="zh-CN">
                <a:solidFill>
                  <a:schemeClr val="hlink"/>
                </a:solidFill>
              </a:rPr>
              <a:t>1</a:t>
            </a:r>
            <a:r>
              <a:rPr kumimoji="1" lang="zh-CN" altLang="en-US">
                <a:solidFill>
                  <a:schemeClr val="hlink"/>
                </a:solidFill>
              </a:rPr>
              <a:t>：</a:t>
            </a:r>
            <a:r>
              <a:rPr kumimoji="1" lang="en-US" altLang="zh-CN"/>
              <a:t>A(P, Q, R)</a:t>
            </a:r>
            <a:r>
              <a:rPr kumimoji="1" lang="zh-CN" altLang="en-US"/>
              <a:t>是</a:t>
            </a:r>
            <a:r>
              <a:rPr kumimoji="1" lang="en-US" altLang="zh-CN"/>
              <a:t>P↑(Q∧┐(R↓P))</a:t>
            </a:r>
            <a:r>
              <a:rPr kumimoji="1" lang="zh-CN" altLang="en-US">
                <a:solidFill>
                  <a:srgbClr val="000000"/>
                </a:solidFill>
              </a:rPr>
              <a:t>，求它的对偶式</a:t>
            </a:r>
            <a:r>
              <a:rPr kumimoji="1" lang="en-US" altLang="zh-CN">
                <a:solidFill>
                  <a:srgbClr val="000000"/>
                </a:solidFill>
              </a:rPr>
              <a:t>A</a:t>
            </a:r>
            <a:r>
              <a:rPr kumimoji="1" lang="en-US" altLang="zh-CN">
                <a:solidFill>
                  <a:srgbClr val="000000"/>
                </a:solidFill>
                <a:cs typeface="Times New Roman" pitchFamily="18" charset="0"/>
              </a:rPr>
              <a:t>*</a:t>
            </a:r>
            <a:r>
              <a:rPr kumimoji="1" lang="en-US" altLang="zh-CN">
                <a:solidFill>
                  <a:srgbClr val="000000"/>
                </a:solidFill>
              </a:rPr>
              <a:t>(P, Q, R)</a:t>
            </a:r>
            <a:r>
              <a:rPr kumimoji="1" lang="zh-CN" altLang="en-US">
                <a:solidFill>
                  <a:srgbClr val="000000"/>
                </a:solidFill>
              </a:rPr>
              <a:t>（只含有</a:t>
            </a:r>
            <a:r>
              <a:rPr kumimoji="1" lang="zh-CN" altLang="en-US"/>
              <a:t>∧，</a:t>
            </a:r>
            <a:r>
              <a:rPr kumimoji="1" lang="zh-CN" altLang="en-US">
                <a:latin typeface="Tahoma" pitchFamily="34" charset="0"/>
              </a:rPr>
              <a:t>∨和</a:t>
            </a:r>
            <a:r>
              <a:rPr kumimoji="1" lang="zh-CN" altLang="en-US"/>
              <a:t>┐的公式</a:t>
            </a:r>
            <a:r>
              <a:rPr kumimoji="1" lang="zh-CN" altLang="en-US">
                <a:solidFill>
                  <a:srgbClr val="000000"/>
                </a:solidFill>
              </a:rPr>
              <a:t>）。</a:t>
            </a:r>
          </a:p>
        </p:txBody>
      </p:sp>
      <p:sp>
        <p:nvSpPr>
          <p:cNvPr id="661507" name="Rectangle 3"/>
          <p:cNvSpPr>
            <a:spLocks noChangeArrowheads="1"/>
          </p:cNvSpPr>
          <p:nvPr/>
        </p:nvSpPr>
        <p:spPr bwMode="auto">
          <a:xfrm>
            <a:off x="719138" y="2730500"/>
            <a:ext cx="7916862" cy="120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zh-CN" altLang="en-US"/>
              <a:t>解：由前面的知：</a:t>
            </a:r>
          </a:p>
          <a:p>
            <a:pPr algn="just" eaLnBrk="1" hangingPunct="1">
              <a:lnSpc>
                <a:spcPct val="130000"/>
              </a:lnSpc>
              <a:spcBef>
                <a:spcPct val="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/>
              <a:t>A</a:t>
            </a:r>
            <a:r>
              <a:rPr kumimoji="1" lang="en-US" altLang="zh-CN">
                <a:latin typeface="宋体" pitchFamily="2" charset="-122"/>
              </a:rPr>
              <a:t>﹡</a:t>
            </a:r>
            <a:r>
              <a:rPr kumimoji="1" lang="en-US" altLang="zh-CN"/>
              <a:t>(P, Q, R)</a:t>
            </a:r>
            <a:r>
              <a:rPr kumimoji="1" lang="zh-CN" altLang="en-US"/>
              <a:t>是</a:t>
            </a:r>
            <a:r>
              <a:rPr kumimoji="1" lang="en-US" altLang="zh-CN"/>
              <a:t>P↓(Q∨┐(R↑P)) </a:t>
            </a:r>
          </a:p>
        </p:txBody>
      </p:sp>
      <p:sp>
        <p:nvSpPr>
          <p:cNvPr id="661508" name="Rectangle 4"/>
          <p:cNvSpPr>
            <a:spLocks noChangeArrowheads="1"/>
          </p:cNvSpPr>
          <p:nvPr/>
        </p:nvSpPr>
        <p:spPr bwMode="auto">
          <a:xfrm>
            <a:off x="719138" y="3989388"/>
            <a:ext cx="79168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/>
              <a:t>P↑(Q∧┐(R↓P))</a:t>
            </a:r>
            <a:r>
              <a:rPr kumimoji="1" lang="en-US" altLang="zh-CN">
                <a:sym typeface="Symbol" pitchFamily="18" charset="2"/>
              </a:rPr>
              <a:t></a:t>
            </a:r>
            <a:r>
              <a:rPr kumimoji="1" lang="en-US" altLang="zh-CN"/>
              <a:t>┐(P∧(Q∧(R∨P))) </a:t>
            </a:r>
          </a:p>
        </p:txBody>
      </p:sp>
      <p:sp>
        <p:nvSpPr>
          <p:cNvPr id="661509" name="Rectangle 5"/>
          <p:cNvSpPr>
            <a:spLocks noChangeArrowheads="1"/>
          </p:cNvSpPr>
          <p:nvPr/>
        </p:nvSpPr>
        <p:spPr bwMode="auto">
          <a:xfrm>
            <a:off x="719138" y="4638675"/>
            <a:ext cx="79168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/>
              <a:t>P↓(Q∨┐(R↑P))</a:t>
            </a:r>
            <a:r>
              <a:rPr kumimoji="1" lang="en-US" altLang="zh-CN">
                <a:sym typeface="Symbol" pitchFamily="18" charset="2"/>
              </a:rPr>
              <a:t></a:t>
            </a:r>
            <a:r>
              <a:rPr kumimoji="1" lang="en-US" altLang="zh-CN"/>
              <a:t>┐(P∨(Q∨(R∧P)))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1507" grpId="0"/>
      <p:bldP spid="661508" grpId="0"/>
      <p:bldP spid="661509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FAF20BA-6124-4814-A90A-FBCB1BFF0353}" type="slidenum">
              <a:rPr lang="en-US" altLang="zh-CN"/>
              <a:pPr>
                <a:defRPr/>
              </a:pPr>
              <a:t>70</a:t>
            </a:fld>
            <a:endParaRPr lang="en-US" altLang="zh-CN"/>
          </a:p>
        </p:txBody>
      </p:sp>
      <p:sp>
        <p:nvSpPr>
          <p:cNvPr id="78851" name="Rectangle 5"/>
          <p:cNvSpPr>
            <a:spLocks noChangeArrowheads="1"/>
          </p:cNvSpPr>
          <p:nvPr/>
        </p:nvSpPr>
        <p:spPr bwMode="auto">
          <a:xfrm>
            <a:off x="719138" y="1624013"/>
            <a:ext cx="7916862" cy="1373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/>
              <a:t>        </a:t>
            </a:r>
            <a:r>
              <a:rPr kumimoji="1" lang="zh-CN" altLang="en-US"/>
              <a:t>同一命题公式可以有多种相互等价的表达形式，为了把命题公式规范化，需要讨论公式的标准型。</a:t>
            </a:r>
          </a:p>
        </p:txBody>
      </p:sp>
      <p:sp>
        <p:nvSpPr>
          <p:cNvPr id="78852" name="Rectangle 9"/>
          <p:cNvSpPr>
            <a:spLocks noChangeArrowheads="1"/>
          </p:cNvSpPr>
          <p:nvPr/>
        </p:nvSpPr>
        <p:spPr bwMode="auto">
          <a:xfrm>
            <a:off x="1366838" y="577850"/>
            <a:ext cx="50768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zh-CN" altLang="en-US" sz="3200">
                <a:solidFill>
                  <a:schemeClr val="folHlink"/>
                </a:solidFill>
                <a:ea typeface="楷体_GB2312" pitchFamily="49" charset="-122"/>
              </a:rPr>
              <a:t>二、公式的标准型</a:t>
            </a:r>
            <a:r>
              <a:rPr kumimoji="1" lang="en-US" altLang="zh-CN" sz="3200">
                <a:solidFill>
                  <a:schemeClr val="folHlink"/>
                </a:solidFill>
                <a:ea typeface="楷体_GB2312" pitchFamily="49" charset="-122"/>
              </a:rPr>
              <a:t>——</a:t>
            </a:r>
            <a:r>
              <a:rPr kumimoji="1" lang="zh-CN" altLang="en-US" sz="3200">
                <a:solidFill>
                  <a:schemeClr val="folHlink"/>
                </a:solidFill>
                <a:ea typeface="楷体_GB2312" pitchFamily="49" charset="-122"/>
              </a:rPr>
              <a:t>范式</a:t>
            </a:r>
          </a:p>
        </p:txBody>
      </p:sp>
      <p:sp>
        <p:nvSpPr>
          <p:cNvPr id="491537" name="Rectangle 17"/>
          <p:cNvSpPr>
            <a:spLocks noChangeArrowheads="1"/>
          </p:cNvSpPr>
          <p:nvPr/>
        </p:nvSpPr>
        <p:spPr bwMode="auto">
          <a:xfrm>
            <a:off x="719138" y="3429000"/>
            <a:ext cx="79168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zh-CN" altLang="en-US">
                <a:solidFill>
                  <a:schemeClr val="hlink"/>
                </a:solidFill>
              </a:rPr>
              <a:t>例</a:t>
            </a:r>
            <a:r>
              <a:rPr kumimoji="1" lang="en-US" altLang="zh-CN">
                <a:solidFill>
                  <a:schemeClr val="hlink"/>
                </a:solidFill>
              </a:rPr>
              <a:t>1</a:t>
            </a:r>
            <a:r>
              <a:rPr kumimoji="1" lang="zh-CN" altLang="en-US">
                <a:solidFill>
                  <a:schemeClr val="hlink"/>
                </a:solidFill>
                <a:sym typeface="Wingdings" pitchFamily="2" charset="2"/>
              </a:rPr>
              <a:t>：</a:t>
            </a:r>
            <a:r>
              <a:rPr kumimoji="1" lang="en-US" altLang="zh-CN"/>
              <a:t>P</a:t>
            </a:r>
            <a:r>
              <a:rPr kumimoji="1" lang="en-US" altLang="zh-CN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⇄</a:t>
            </a:r>
            <a:r>
              <a:rPr kumimoji="1" lang="en-US" altLang="zh-CN"/>
              <a:t>Q</a:t>
            </a:r>
            <a:r>
              <a:rPr kumimoji="1" lang="en-US" altLang="zh-CN">
                <a:sym typeface="Symbol" pitchFamily="18" charset="2"/>
              </a:rPr>
              <a:t></a:t>
            </a:r>
            <a:r>
              <a:rPr kumimoji="1" lang="en-US" altLang="zh-CN">
                <a:solidFill>
                  <a:srgbClr val="000000"/>
                </a:solidFill>
              </a:rPr>
              <a:t>(┐P∧┐Q)∨(P∧Q)</a:t>
            </a:r>
          </a:p>
        </p:txBody>
      </p:sp>
      <p:sp>
        <p:nvSpPr>
          <p:cNvPr id="491541" name="Rectangle 21"/>
          <p:cNvSpPr>
            <a:spLocks noChangeArrowheads="1"/>
          </p:cNvSpPr>
          <p:nvPr/>
        </p:nvSpPr>
        <p:spPr bwMode="auto">
          <a:xfrm>
            <a:off x="2411413" y="4221163"/>
            <a:ext cx="30908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>
                <a:solidFill>
                  <a:srgbClr val="000000"/>
                </a:solidFill>
                <a:sym typeface="Symbol" pitchFamily="18" charset="2"/>
              </a:rPr>
              <a:t></a:t>
            </a:r>
            <a:r>
              <a:rPr kumimoji="1" lang="en-US" altLang="zh-CN">
                <a:solidFill>
                  <a:srgbClr val="000000"/>
                </a:solidFill>
              </a:rPr>
              <a:t>(P</a:t>
            </a:r>
            <a:r>
              <a:rPr kumimoji="1" lang="en-US" altLang="zh-CN"/>
              <a:t>→</a:t>
            </a:r>
            <a:r>
              <a:rPr kumimoji="1" lang="en-US" altLang="zh-CN">
                <a:solidFill>
                  <a:srgbClr val="000000"/>
                </a:solidFill>
              </a:rPr>
              <a:t>Q)∧(Q</a:t>
            </a:r>
            <a:r>
              <a:rPr kumimoji="1" lang="en-US" altLang="zh-CN"/>
              <a:t>→</a:t>
            </a:r>
            <a:r>
              <a:rPr kumimoji="1" lang="en-US" altLang="zh-CN">
                <a:solidFill>
                  <a:srgbClr val="000000"/>
                </a:solidFill>
              </a:rPr>
              <a:t>P)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37" grpId="0"/>
      <p:bldP spid="491541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78AF9A5-E7B4-4A31-8EE4-824563D74AB8}" type="slidenum">
              <a:rPr lang="en-US" altLang="zh-CN"/>
              <a:pPr>
                <a:defRPr/>
              </a:pPr>
              <a:t>71</a:t>
            </a:fld>
            <a:endParaRPr lang="en-US" altLang="zh-CN"/>
          </a:p>
        </p:txBody>
      </p:sp>
      <p:sp>
        <p:nvSpPr>
          <p:cNvPr id="79875" name="Rectangle 4"/>
          <p:cNvSpPr>
            <a:spLocks noChangeArrowheads="1"/>
          </p:cNvSpPr>
          <p:nvPr/>
        </p:nvSpPr>
        <p:spPr bwMode="auto">
          <a:xfrm>
            <a:off x="719138" y="1484313"/>
            <a:ext cx="7916862" cy="1617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 sz="3000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kumimoji="1" lang="zh-CN" altLang="en-US" sz="3000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</a:rPr>
              <a:t>、范式</a:t>
            </a:r>
          </a:p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zh-CN" altLang="en-US">
                <a:solidFill>
                  <a:schemeClr val="hlink"/>
                </a:solidFill>
              </a:rPr>
              <a:t>         定义</a:t>
            </a:r>
            <a:r>
              <a:rPr kumimoji="1" lang="en-US" altLang="zh-CN">
                <a:solidFill>
                  <a:schemeClr val="hlink"/>
                </a:solidFill>
              </a:rPr>
              <a:t>1-7. 2</a:t>
            </a:r>
            <a:r>
              <a:rPr kumimoji="1" lang="zh-CN" altLang="en-US">
                <a:solidFill>
                  <a:schemeClr val="hlink"/>
                </a:solidFill>
              </a:rPr>
              <a:t>：</a:t>
            </a:r>
            <a:r>
              <a:rPr kumimoji="1" lang="zh-CN" altLang="en-US"/>
              <a:t>一个命题公式称为合取范式，当且仅当它具有</a:t>
            </a:r>
          </a:p>
        </p:txBody>
      </p:sp>
      <p:sp>
        <p:nvSpPr>
          <p:cNvPr id="548869" name="Rectangle 5"/>
          <p:cNvSpPr>
            <a:spLocks noChangeArrowheads="1"/>
          </p:cNvSpPr>
          <p:nvPr/>
        </p:nvSpPr>
        <p:spPr bwMode="auto">
          <a:xfrm>
            <a:off x="719138" y="3341688"/>
            <a:ext cx="79168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/>
              <a:t>A</a:t>
            </a:r>
            <a:r>
              <a:rPr kumimoji="1" lang="en-US" altLang="zh-CN" baseline="-25000"/>
              <a:t>1</a:t>
            </a:r>
            <a:r>
              <a:rPr kumimoji="1" lang="en-US" altLang="zh-CN"/>
              <a:t>∧A</a:t>
            </a:r>
            <a:r>
              <a:rPr kumimoji="1" lang="en-US" altLang="zh-CN" baseline="-25000"/>
              <a:t>2</a:t>
            </a:r>
            <a:r>
              <a:rPr kumimoji="1" lang="en-US" altLang="zh-CN"/>
              <a:t>∧…∧A</a:t>
            </a:r>
            <a:r>
              <a:rPr kumimoji="1" lang="en-US" altLang="zh-CN" baseline="-25000"/>
              <a:t>n</a:t>
            </a:r>
          </a:p>
        </p:txBody>
      </p:sp>
      <p:sp>
        <p:nvSpPr>
          <p:cNvPr id="548870" name="Rectangle 6"/>
          <p:cNvSpPr>
            <a:spLocks noChangeArrowheads="1"/>
          </p:cNvSpPr>
          <p:nvPr/>
        </p:nvSpPr>
        <p:spPr bwMode="auto">
          <a:xfrm>
            <a:off x="719138" y="4183063"/>
            <a:ext cx="7916862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zh-CN" altLang="en-US"/>
              <a:t>其中</a:t>
            </a:r>
            <a:r>
              <a:rPr kumimoji="1" lang="en-US" altLang="zh-CN"/>
              <a:t>A</a:t>
            </a:r>
            <a:r>
              <a:rPr kumimoji="1" lang="en-US" altLang="zh-CN" baseline="-25000"/>
              <a:t>1</a:t>
            </a:r>
            <a:r>
              <a:rPr kumimoji="1" lang="zh-CN" altLang="en-US"/>
              <a:t>，</a:t>
            </a:r>
            <a:r>
              <a:rPr kumimoji="1" lang="en-US" altLang="zh-CN"/>
              <a:t>A</a:t>
            </a:r>
            <a:r>
              <a:rPr kumimoji="1" lang="en-US" altLang="zh-CN" baseline="-25000"/>
              <a:t>2</a:t>
            </a:r>
            <a:r>
              <a:rPr kumimoji="1" lang="zh-CN" altLang="en-US"/>
              <a:t>，</a:t>
            </a:r>
            <a:r>
              <a:rPr kumimoji="1" lang="en-US" altLang="zh-CN"/>
              <a:t>…</a:t>
            </a:r>
            <a:r>
              <a:rPr kumimoji="1" lang="zh-CN" altLang="en-US"/>
              <a:t>，</a:t>
            </a:r>
            <a:r>
              <a:rPr kumimoji="1" lang="en-US" altLang="zh-CN"/>
              <a:t>A</a:t>
            </a:r>
            <a:r>
              <a:rPr kumimoji="1" lang="en-US" altLang="zh-CN" baseline="-25000"/>
              <a:t>n</a:t>
            </a:r>
            <a:r>
              <a:rPr kumimoji="1" lang="zh-CN" altLang="en-US"/>
              <a:t>都是由</a:t>
            </a:r>
            <a:r>
              <a:rPr kumimoji="1" lang="zh-CN" altLang="en-US" u="sng">
                <a:solidFill>
                  <a:schemeClr val="hlink"/>
                </a:solidFill>
              </a:rPr>
              <a:t>命题变元</a:t>
            </a:r>
            <a:r>
              <a:rPr kumimoji="1" lang="en-US" altLang="zh-CN" u="sng">
                <a:solidFill>
                  <a:schemeClr val="hlink"/>
                </a:solidFill>
              </a:rPr>
              <a:t>P</a:t>
            </a:r>
            <a:r>
              <a:rPr kumimoji="1" lang="zh-CN" altLang="en-US"/>
              <a:t>或</a:t>
            </a:r>
            <a:r>
              <a:rPr kumimoji="1" lang="zh-CN" altLang="en-US" u="sng">
                <a:solidFill>
                  <a:schemeClr val="hlink"/>
                </a:solidFill>
              </a:rPr>
              <a:t>其否定┐</a:t>
            </a:r>
            <a:r>
              <a:rPr kumimoji="1" lang="en-US" altLang="zh-CN" u="sng">
                <a:solidFill>
                  <a:schemeClr val="hlink"/>
                </a:solidFill>
              </a:rPr>
              <a:t>P</a:t>
            </a:r>
            <a:r>
              <a:rPr kumimoji="1" lang="zh-CN" altLang="en-US"/>
              <a:t>所组成的析取式</a:t>
            </a:r>
            <a:r>
              <a:rPr kumimoji="1" lang="zh-CN" altLang="en-US" u="sng"/>
              <a:t>（</a:t>
            </a:r>
            <a:r>
              <a:rPr kumimoji="1" lang="en-US" altLang="zh-CN" u="sng"/>
              <a:t>P ∨ ┐Q</a:t>
            </a:r>
            <a:r>
              <a:rPr kumimoji="1" lang="zh-CN" altLang="en-US" u="sng"/>
              <a:t>）</a:t>
            </a:r>
            <a:r>
              <a:rPr kumimoji="1" lang="zh-CN" altLang="en-US"/>
              <a:t>。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8869" grpId="0"/>
      <p:bldP spid="548870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D840864-B24D-4B38-B6FB-51A696218279}" type="slidenum">
              <a:rPr lang="en-US" altLang="zh-CN"/>
              <a:pPr>
                <a:defRPr/>
              </a:pPr>
              <a:t>72</a:t>
            </a:fld>
            <a:endParaRPr lang="en-US" altLang="zh-CN"/>
          </a:p>
        </p:txBody>
      </p:sp>
      <p:sp>
        <p:nvSpPr>
          <p:cNvPr id="80899" name="Text Box 2"/>
          <p:cNvSpPr txBox="1">
            <a:spLocks noChangeArrowheads="1"/>
          </p:cNvSpPr>
          <p:nvPr/>
        </p:nvSpPr>
        <p:spPr bwMode="auto">
          <a:xfrm>
            <a:off x="719138" y="1619250"/>
            <a:ext cx="7916862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/>
              <a:t>        </a:t>
            </a:r>
            <a:r>
              <a:rPr kumimoji="1" lang="zh-CN" altLang="en-US">
                <a:solidFill>
                  <a:schemeClr val="hlink"/>
                </a:solidFill>
              </a:rPr>
              <a:t>定义</a:t>
            </a:r>
            <a:r>
              <a:rPr kumimoji="1" lang="en-US" altLang="zh-CN">
                <a:solidFill>
                  <a:schemeClr val="hlink"/>
                </a:solidFill>
              </a:rPr>
              <a:t>1-7. 3</a:t>
            </a:r>
            <a:r>
              <a:rPr kumimoji="1" lang="zh-CN" altLang="en-US">
                <a:solidFill>
                  <a:schemeClr val="hlink"/>
                </a:solidFill>
              </a:rPr>
              <a:t>：</a:t>
            </a:r>
            <a:r>
              <a:rPr kumimoji="1" lang="zh-CN" altLang="en-US"/>
              <a:t>一个命题公式称为析取范式，当且仅当它具有</a:t>
            </a:r>
          </a:p>
        </p:txBody>
      </p:sp>
      <p:sp>
        <p:nvSpPr>
          <p:cNvPr id="460808" name="Rectangle 8"/>
          <p:cNvSpPr>
            <a:spLocks noChangeArrowheads="1"/>
          </p:cNvSpPr>
          <p:nvPr/>
        </p:nvSpPr>
        <p:spPr bwMode="auto">
          <a:xfrm>
            <a:off x="719138" y="2755900"/>
            <a:ext cx="79168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/>
              <a:t>A</a:t>
            </a:r>
            <a:r>
              <a:rPr kumimoji="1" lang="en-US" altLang="zh-CN" baseline="-25000"/>
              <a:t>1</a:t>
            </a:r>
            <a:r>
              <a:rPr kumimoji="1" lang="en-US" altLang="zh-CN"/>
              <a:t>∨A</a:t>
            </a:r>
            <a:r>
              <a:rPr kumimoji="1" lang="en-US" altLang="zh-CN" baseline="-25000"/>
              <a:t>2</a:t>
            </a:r>
            <a:r>
              <a:rPr kumimoji="1" lang="en-US" altLang="zh-CN"/>
              <a:t>∨…∨A</a:t>
            </a:r>
            <a:r>
              <a:rPr kumimoji="1" lang="en-US" altLang="zh-CN" baseline="-25000"/>
              <a:t>n</a:t>
            </a:r>
            <a:endParaRPr kumimoji="1" lang="en-US" altLang="zh-CN"/>
          </a:p>
        </p:txBody>
      </p:sp>
      <p:sp>
        <p:nvSpPr>
          <p:cNvPr id="460810" name="Rectangle 10"/>
          <p:cNvSpPr>
            <a:spLocks noChangeArrowheads="1"/>
          </p:cNvSpPr>
          <p:nvPr/>
        </p:nvSpPr>
        <p:spPr bwMode="auto">
          <a:xfrm>
            <a:off x="719138" y="3562350"/>
            <a:ext cx="7916862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/>
              <a:t>其中</a:t>
            </a:r>
            <a:r>
              <a:rPr kumimoji="1" lang="en-US" altLang="zh-CN"/>
              <a:t>A</a:t>
            </a:r>
            <a:r>
              <a:rPr kumimoji="1" lang="en-US" altLang="zh-CN" baseline="-25000"/>
              <a:t>1</a:t>
            </a:r>
            <a:r>
              <a:rPr kumimoji="1" lang="zh-CN" altLang="en-US"/>
              <a:t>，</a:t>
            </a:r>
            <a:r>
              <a:rPr kumimoji="1" lang="en-US" altLang="zh-CN"/>
              <a:t>A</a:t>
            </a:r>
            <a:r>
              <a:rPr kumimoji="1" lang="en-US" altLang="zh-CN" baseline="-25000"/>
              <a:t>2</a:t>
            </a:r>
            <a:r>
              <a:rPr kumimoji="1" lang="zh-CN" altLang="en-US"/>
              <a:t>，</a:t>
            </a:r>
            <a:r>
              <a:rPr kumimoji="1" lang="en-US" altLang="zh-CN"/>
              <a:t>…</a:t>
            </a:r>
            <a:r>
              <a:rPr kumimoji="1" lang="zh-CN" altLang="en-US"/>
              <a:t>，</a:t>
            </a:r>
            <a:r>
              <a:rPr kumimoji="1" lang="en-US" altLang="zh-CN"/>
              <a:t>A</a:t>
            </a:r>
            <a:r>
              <a:rPr kumimoji="1" lang="en-US" altLang="zh-CN" baseline="-25000"/>
              <a:t>n</a:t>
            </a:r>
            <a:r>
              <a:rPr kumimoji="1" lang="zh-CN" altLang="en-US"/>
              <a:t>都是由</a:t>
            </a:r>
            <a:r>
              <a:rPr kumimoji="1" lang="zh-CN" altLang="en-US" u="sng">
                <a:solidFill>
                  <a:schemeClr val="hlink"/>
                </a:solidFill>
              </a:rPr>
              <a:t>命题变元</a:t>
            </a:r>
            <a:r>
              <a:rPr kumimoji="1" lang="en-US" altLang="zh-CN" u="sng">
                <a:solidFill>
                  <a:schemeClr val="hlink"/>
                </a:solidFill>
              </a:rPr>
              <a:t>P</a:t>
            </a:r>
            <a:r>
              <a:rPr kumimoji="1" lang="zh-CN" altLang="en-US"/>
              <a:t>或</a:t>
            </a:r>
            <a:r>
              <a:rPr kumimoji="1" lang="zh-CN" altLang="en-US" u="sng">
                <a:solidFill>
                  <a:schemeClr val="hlink"/>
                </a:solidFill>
              </a:rPr>
              <a:t>其否定┐</a:t>
            </a:r>
            <a:r>
              <a:rPr kumimoji="1" lang="en-US" altLang="zh-CN" u="sng">
                <a:solidFill>
                  <a:schemeClr val="hlink"/>
                </a:solidFill>
              </a:rPr>
              <a:t>P</a:t>
            </a:r>
            <a:r>
              <a:rPr kumimoji="1" lang="zh-CN" altLang="en-US"/>
              <a:t>所组成的合取式</a:t>
            </a:r>
            <a:r>
              <a:rPr kumimoji="1" lang="zh-CN" altLang="en-US" u="sng"/>
              <a:t>（</a:t>
            </a:r>
            <a:r>
              <a:rPr kumimoji="1" lang="en-US" altLang="zh-CN" u="sng"/>
              <a:t>P ∧┐Q</a:t>
            </a:r>
            <a:r>
              <a:rPr kumimoji="1" lang="zh-CN" altLang="en-US" u="sng"/>
              <a:t>）</a:t>
            </a:r>
            <a:r>
              <a:rPr kumimoji="1" lang="zh-CN" altLang="en-US"/>
              <a:t>。</a:t>
            </a:r>
          </a:p>
        </p:txBody>
      </p:sp>
      <p:sp>
        <p:nvSpPr>
          <p:cNvPr id="460811" name="Rectangle 11"/>
          <p:cNvSpPr>
            <a:spLocks noChangeArrowheads="1"/>
          </p:cNvSpPr>
          <p:nvPr/>
        </p:nvSpPr>
        <p:spPr bwMode="auto">
          <a:xfrm>
            <a:off x="719138" y="4570413"/>
            <a:ext cx="7916862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chemeClr val="hlink"/>
                </a:solidFill>
              </a:rPr>
              <a:t>注意：</a:t>
            </a:r>
            <a:r>
              <a:rPr lang="zh-CN" altLang="en-US"/>
              <a:t>一个命题变元或其否定既可以是合取式，也可以是析取式。</a:t>
            </a:r>
            <a:r>
              <a:rPr lang="zh-CN" altLang="en-US">
                <a:solidFill>
                  <a:schemeClr val="hlink"/>
                </a:solidFill>
              </a:rPr>
              <a:t>如</a:t>
            </a:r>
            <a:r>
              <a:rPr lang="en-US" altLang="zh-CN" u="sng"/>
              <a:t>P</a:t>
            </a:r>
            <a:r>
              <a:rPr lang="zh-CN" altLang="en-US" u="sng"/>
              <a:t>，</a:t>
            </a:r>
            <a:r>
              <a:rPr kumimoji="1" lang="zh-CN" altLang="en-US" u="sng"/>
              <a:t>┐</a:t>
            </a:r>
            <a:r>
              <a:rPr lang="en-US" altLang="zh-CN" u="sng"/>
              <a:t>Q</a:t>
            </a:r>
            <a:r>
              <a:rPr lang="zh-CN" altLang="en-US"/>
              <a:t>等。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08" grpId="0"/>
      <p:bldP spid="460810" grpId="0"/>
      <p:bldP spid="460811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BA3058E-0917-48A1-AF6E-5B3E5A6E7C03}" type="slidenum">
              <a:rPr lang="en-US" altLang="zh-CN"/>
              <a:pPr>
                <a:defRPr/>
              </a:pPr>
              <a:t>73</a:t>
            </a:fld>
            <a:endParaRPr lang="en-US" altLang="zh-CN"/>
          </a:p>
        </p:txBody>
      </p:sp>
      <p:sp>
        <p:nvSpPr>
          <p:cNvPr id="81923" name="Rectangle 4"/>
          <p:cNvSpPr>
            <a:spLocks noChangeArrowheads="1"/>
          </p:cNvSpPr>
          <p:nvPr/>
        </p:nvSpPr>
        <p:spPr bwMode="auto">
          <a:xfrm>
            <a:off x="719138" y="1349375"/>
            <a:ext cx="7916862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>
                <a:latin typeface="宋体" pitchFamily="2" charset="-122"/>
              </a:rPr>
              <a:t>    </a:t>
            </a:r>
            <a:r>
              <a:rPr kumimoji="1" lang="zh-CN" altLang="en-US">
                <a:latin typeface="宋体" pitchFamily="2" charset="-122"/>
              </a:rPr>
              <a:t>是否任何一个命题公式都能求得它的合取范式或析取范式呢？</a:t>
            </a:r>
          </a:p>
        </p:txBody>
      </p:sp>
      <p:sp>
        <p:nvSpPr>
          <p:cNvPr id="547847" name="Rectangle 7"/>
          <p:cNvSpPr>
            <a:spLocks noChangeArrowheads="1"/>
          </p:cNvSpPr>
          <p:nvPr/>
        </p:nvSpPr>
        <p:spPr bwMode="auto">
          <a:xfrm>
            <a:off x="719138" y="2439988"/>
            <a:ext cx="79168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/>
              <a:t>求范式算法：</a:t>
            </a:r>
          </a:p>
        </p:txBody>
      </p:sp>
      <p:sp>
        <p:nvSpPr>
          <p:cNvPr id="547849" name="Rectangle 9"/>
          <p:cNvSpPr>
            <a:spLocks noChangeArrowheads="1"/>
          </p:cNvSpPr>
          <p:nvPr/>
        </p:nvSpPr>
        <p:spPr bwMode="auto">
          <a:xfrm>
            <a:off x="719138" y="3078163"/>
            <a:ext cx="7916862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/>
              <a:t>①</a:t>
            </a:r>
            <a:r>
              <a:rPr lang="zh-CN" altLang="en-US"/>
              <a:t>使用命题定律，消去公式中除</a:t>
            </a:r>
            <a:r>
              <a:rPr kumimoji="1" lang="zh-CN" altLang="en-US"/>
              <a:t>┐，∧</a:t>
            </a:r>
            <a:r>
              <a:rPr lang="zh-CN" altLang="en-US"/>
              <a:t>和</a:t>
            </a:r>
            <a:r>
              <a:rPr kumimoji="1" lang="zh-CN" altLang="en-US"/>
              <a:t>∨</a:t>
            </a:r>
            <a:r>
              <a:rPr lang="zh-CN" altLang="en-US"/>
              <a:t>以外的所出现联结词；</a:t>
            </a:r>
          </a:p>
        </p:txBody>
      </p:sp>
      <p:sp>
        <p:nvSpPr>
          <p:cNvPr id="547851" name="Rectangle 11"/>
          <p:cNvSpPr>
            <a:spLocks noChangeArrowheads="1"/>
          </p:cNvSpPr>
          <p:nvPr/>
        </p:nvSpPr>
        <p:spPr bwMode="auto">
          <a:xfrm>
            <a:off x="719138" y="4167188"/>
            <a:ext cx="7916862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/>
              <a:t>②</a:t>
            </a:r>
            <a:r>
              <a:rPr lang="zh-CN" altLang="en-US"/>
              <a:t>使用德</a:t>
            </a:r>
            <a:r>
              <a:rPr lang="en-US" altLang="zh-CN"/>
              <a:t>·</a:t>
            </a:r>
            <a:r>
              <a:rPr lang="zh-CN" altLang="en-US"/>
              <a:t>摩根律将公式中出现的联结词</a:t>
            </a:r>
            <a:r>
              <a:rPr kumimoji="1" lang="zh-CN" altLang="en-US"/>
              <a:t>┐</a:t>
            </a:r>
            <a:r>
              <a:rPr lang="zh-CN" altLang="en-US"/>
              <a:t>都移到命题变元之前；</a:t>
            </a:r>
          </a:p>
        </p:txBody>
      </p:sp>
      <p:sp>
        <p:nvSpPr>
          <p:cNvPr id="547853" name="Rectangle 13"/>
          <p:cNvSpPr>
            <a:spLocks noChangeArrowheads="1"/>
          </p:cNvSpPr>
          <p:nvPr/>
        </p:nvSpPr>
        <p:spPr bwMode="auto">
          <a:xfrm>
            <a:off x="719138" y="5291138"/>
            <a:ext cx="7916862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/>
              <a:t>③</a:t>
            </a:r>
            <a:r>
              <a:rPr lang="zh-CN" altLang="en-US"/>
              <a:t>利用结合律、分配律等将公式化成析取范式或合取范式。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7847" grpId="0"/>
      <p:bldP spid="547849" grpId="0"/>
      <p:bldP spid="547851" grpId="0"/>
      <p:bldP spid="547853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5B2A139-9F62-437E-9722-6153CF82167C}" type="slidenum">
              <a:rPr lang="en-US" altLang="zh-CN"/>
              <a:pPr>
                <a:defRPr/>
              </a:pPr>
              <a:t>74</a:t>
            </a:fld>
            <a:endParaRPr lang="en-US" altLang="zh-CN"/>
          </a:p>
        </p:txBody>
      </p:sp>
      <p:sp>
        <p:nvSpPr>
          <p:cNvPr id="82947" name="Rectangle 5"/>
          <p:cNvSpPr>
            <a:spLocks noChangeArrowheads="1"/>
          </p:cNvSpPr>
          <p:nvPr/>
        </p:nvSpPr>
        <p:spPr bwMode="auto">
          <a:xfrm>
            <a:off x="719138" y="1541463"/>
            <a:ext cx="79168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zh-CN" altLang="en-US">
                <a:solidFill>
                  <a:schemeClr val="hlink"/>
                </a:solidFill>
              </a:rPr>
              <a:t>例</a:t>
            </a:r>
            <a:r>
              <a:rPr kumimoji="1" lang="en-US" altLang="zh-CN">
                <a:solidFill>
                  <a:schemeClr val="hlink"/>
                </a:solidFill>
              </a:rPr>
              <a:t>2</a:t>
            </a:r>
            <a:r>
              <a:rPr kumimoji="1" lang="zh-CN" altLang="en-US">
                <a:solidFill>
                  <a:schemeClr val="hlink"/>
                </a:solidFill>
              </a:rPr>
              <a:t>：</a:t>
            </a:r>
            <a:r>
              <a:rPr kumimoji="1" lang="zh-CN" altLang="en-US"/>
              <a:t>求</a:t>
            </a:r>
            <a:r>
              <a:rPr kumimoji="1" lang="en-US" altLang="zh-CN"/>
              <a:t>(P∧(Q</a:t>
            </a:r>
            <a:r>
              <a:rPr kumimoji="1" lang="en-US" altLang="zh-CN">
                <a:latin typeface="Tahoma" pitchFamily="34" charset="0"/>
              </a:rPr>
              <a:t>→</a:t>
            </a:r>
            <a:r>
              <a:rPr kumimoji="1" lang="en-US" altLang="zh-CN"/>
              <a:t>R))</a:t>
            </a:r>
            <a:r>
              <a:rPr kumimoji="1" lang="en-US" altLang="zh-CN">
                <a:latin typeface="Tahoma" pitchFamily="34" charset="0"/>
              </a:rPr>
              <a:t>→</a:t>
            </a:r>
            <a:r>
              <a:rPr kumimoji="1" lang="en-US" altLang="zh-CN"/>
              <a:t>S</a:t>
            </a:r>
            <a:r>
              <a:rPr kumimoji="1" lang="zh-CN" altLang="en-US"/>
              <a:t>的析取范式和合取范式。</a:t>
            </a:r>
          </a:p>
        </p:txBody>
      </p:sp>
      <p:sp>
        <p:nvSpPr>
          <p:cNvPr id="492553" name="Rectangle 9"/>
          <p:cNvSpPr>
            <a:spLocks noChangeArrowheads="1"/>
          </p:cNvSpPr>
          <p:nvPr/>
        </p:nvSpPr>
        <p:spPr bwMode="auto">
          <a:xfrm>
            <a:off x="719138" y="2349500"/>
            <a:ext cx="79168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zh-CN" altLang="en-US"/>
              <a:t>解：公式</a:t>
            </a:r>
            <a:r>
              <a:rPr kumimoji="1" lang="zh-CN" altLang="en-US">
                <a:sym typeface="Symbol" pitchFamily="18" charset="2"/>
              </a:rPr>
              <a:t></a:t>
            </a:r>
            <a:r>
              <a:rPr kumimoji="1" lang="zh-CN" altLang="en-US"/>
              <a:t>┐</a:t>
            </a:r>
            <a:r>
              <a:rPr kumimoji="1" lang="en-US" altLang="zh-CN"/>
              <a:t>(P∧(┐Q∨R))∨S</a:t>
            </a:r>
          </a:p>
        </p:txBody>
      </p:sp>
      <p:sp>
        <p:nvSpPr>
          <p:cNvPr id="492554" name="Rectangle 10"/>
          <p:cNvSpPr>
            <a:spLocks noChangeArrowheads="1"/>
          </p:cNvSpPr>
          <p:nvPr/>
        </p:nvSpPr>
        <p:spPr bwMode="auto">
          <a:xfrm>
            <a:off x="719138" y="3068638"/>
            <a:ext cx="79168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/>
              <a:t>                </a:t>
            </a:r>
            <a:r>
              <a:rPr kumimoji="1" lang="en-US" altLang="zh-CN">
                <a:sym typeface="Symbol" pitchFamily="18" charset="2"/>
              </a:rPr>
              <a:t></a:t>
            </a:r>
            <a:r>
              <a:rPr kumimoji="1" lang="en-US" altLang="zh-CN"/>
              <a:t>(┐P∨(Q∧┐R))∨S</a:t>
            </a:r>
          </a:p>
        </p:txBody>
      </p:sp>
      <p:sp>
        <p:nvSpPr>
          <p:cNvPr id="492555" name="Rectangle 11"/>
          <p:cNvSpPr>
            <a:spLocks noChangeArrowheads="1"/>
          </p:cNvSpPr>
          <p:nvPr/>
        </p:nvSpPr>
        <p:spPr bwMode="auto">
          <a:xfrm>
            <a:off x="719138" y="3860800"/>
            <a:ext cx="79168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/>
              <a:t>                </a:t>
            </a:r>
            <a:r>
              <a:rPr kumimoji="1" lang="en-US" altLang="zh-CN">
                <a:sym typeface="Symbol" pitchFamily="18" charset="2"/>
              </a:rPr>
              <a:t></a:t>
            </a:r>
            <a:r>
              <a:rPr kumimoji="1" lang="en-US" altLang="zh-CN"/>
              <a:t>┐P∨(Q∧┐R)∨S ——</a:t>
            </a:r>
            <a:r>
              <a:rPr kumimoji="1" lang="zh-CN" altLang="en-US"/>
              <a:t>析取范式</a:t>
            </a:r>
          </a:p>
        </p:txBody>
      </p:sp>
      <p:sp>
        <p:nvSpPr>
          <p:cNvPr id="492556" name="Rectangle 12"/>
          <p:cNvSpPr>
            <a:spLocks noChangeArrowheads="1"/>
          </p:cNvSpPr>
          <p:nvPr/>
        </p:nvSpPr>
        <p:spPr bwMode="auto">
          <a:xfrm>
            <a:off x="719138" y="4610100"/>
            <a:ext cx="7916862" cy="1160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/>
              <a:t>                </a:t>
            </a:r>
            <a:r>
              <a:rPr kumimoji="1" lang="en-US" altLang="zh-CN">
                <a:sym typeface="Symbol" pitchFamily="18" charset="2"/>
              </a:rPr>
              <a:t>(</a:t>
            </a:r>
            <a:r>
              <a:rPr kumimoji="1" lang="en-US" altLang="zh-CN"/>
              <a:t>┐P∨S∨Q)∧</a:t>
            </a:r>
            <a:r>
              <a:rPr kumimoji="1" lang="en-US" altLang="zh-CN">
                <a:sym typeface="Symbol" pitchFamily="18" charset="2"/>
              </a:rPr>
              <a:t>(</a:t>
            </a:r>
            <a:r>
              <a:rPr kumimoji="1" lang="en-US" altLang="zh-CN"/>
              <a:t>┐P∨S∨┐R)</a:t>
            </a:r>
          </a:p>
          <a:p>
            <a:pPr algn="just"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/>
              <a:t>                     ——</a:t>
            </a:r>
            <a:r>
              <a:rPr kumimoji="1" lang="zh-CN" altLang="en-US"/>
              <a:t>合取范式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2553" grpId="0"/>
      <p:bldP spid="492554" grpId="0"/>
      <p:bldP spid="492555" grpId="0"/>
      <p:bldP spid="492556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62AC798-1B56-4568-9FE4-7CDF62B7E448}" type="slidenum">
              <a:rPr lang="en-US" altLang="zh-CN"/>
              <a:pPr>
                <a:defRPr/>
              </a:pPr>
              <a:t>75</a:t>
            </a:fld>
            <a:endParaRPr lang="en-US" altLang="zh-CN"/>
          </a:p>
        </p:txBody>
      </p:sp>
      <p:sp>
        <p:nvSpPr>
          <p:cNvPr id="83971" name="Text Box 2"/>
          <p:cNvSpPr txBox="1">
            <a:spLocks noChangeArrowheads="1"/>
          </p:cNvSpPr>
          <p:nvPr/>
        </p:nvSpPr>
        <p:spPr bwMode="auto">
          <a:xfrm>
            <a:off x="719138" y="1557338"/>
            <a:ext cx="79168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zh-CN" altLang="en-US"/>
              <a:t>利用范式对公式进行</a:t>
            </a:r>
            <a:r>
              <a:rPr kumimoji="1" lang="zh-CN" altLang="en-US" u="sng"/>
              <a:t>判断</a:t>
            </a:r>
            <a:r>
              <a:rPr kumimoji="1" lang="zh-CN" altLang="en-US"/>
              <a:t>。</a:t>
            </a:r>
          </a:p>
        </p:txBody>
      </p:sp>
      <p:sp>
        <p:nvSpPr>
          <p:cNvPr id="83972" name="Rectangle 6"/>
          <p:cNvSpPr>
            <a:spLocks noChangeArrowheads="1"/>
          </p:cNvSpPr>
          <p:nvPr/>
        </p:nvSpPr>
        <p:spPr bwMode="auto">
          <a:xfrm>
            <a:off x="1323975" y="644525"/>
            <a:ext cx="2671763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 sz="3000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kumimoji="1" lang="zh-CN" altLang="en-US" sz="3000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</a:rPr>
              <a:t>、范式的应用</a:t>
            </a:r>
          </a:p>
        </p:txBody>
      </p:sp>
      <p:sp>
        <p:nvSpPr>
          <p:cNvPr id="461832" name="Rectangle 8"/>
          <p:cNvSpPr>
            <a:spLocks noChangeArrowheads="1"/>
          </p:cNvSpPr>
          <p:nvPr/>
        </p:nvSpPr>
        <p:spPr bwMode="auto">
          <a:xfrm>
            <a:off x="719138" y="2271713"/>
            <a:ext cx="7916862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/>
              <a:t>(1)</a:t>
            </a:r>
            <a:r>
              <a:rPr kumimoji="1" lang="zh-CN" altLang="en-US"/>
              <a:t>公式</a:t>
            </a:r>
            <a:r>
              <a:rPr kumimoji="1" lang="en-US" altLang="zh-CN"/>
              <a:t>A</a:t>
            </a:r>
            <a:r>
              <a:rPr kumimoji="1" lang="zh-CN" altLang="en-US"/>
              <a:t>为</a:t>
            </a:r>
            <a:r>
              <a:rPr kumimoji="1" lang="zh-CN" altLang="en-US" u="sng">
                <a:solidFill>
                  <a:schemeClr val="hlink"/>
                </a:solidFill>
              </a:rPr>
              <a:t>永假式</a:t>
            </a:r>
            <a:r>
              <a:rPr kumimoji="1" lang="zh-CN" altLang="en-US" u="sng"/>
              <a:t>的充要条件</a:t>
            </a:r>
            <a:r>
              <a:rPr kumimoji="1" lang="zh-CN" altLang="en-US"/>
              <a:t>是</a:t>
            </a:r>
            <a:r>
              <a:rPr kumimoji="1" lang="en-US" altLang="zh-CN"/>
              <a:t>A</a:t>
            </a:r>
            <a:r>
              <a:rPr kumimoji="1" lang="zh-CN" altLang="en-US"/>
              <a:t>的</a:t>
            </a:r>
            <a:r>
              <a:rPr kumimoji="1" lang="zh-CN" altLang="en-US" u="sng">
                <a:solidFill>
                  <a:schemeClr val="hlink"/>
                </a:solidFill>
              </a:rPr>
              <a:t>析取</a:t>
            </a:r>
            <a:r>
              <a:rPr kumimoji="1" lang="zh-CN" altLang="en-US"/>
              <a:t>范式中每个合取式中至少包含一个命题变元及其否定。</a:t>
            </a:r>
          </a:p>
        </p:txBody>
      </p:sp>
      <p:sp>
        <p:nvSpPr>
          <p:cNvPr id="461834" name="Rectangle 10"/>
          <p:cNvSpPr>
            <a:spLocks noChangeArrowheads="1"/>
          </p:cNvSpPr>
          <p:nvPr/>
        </p:nvSpPr>
        <p:spPr bwMode="auto">
          <a:xfrm>
            <a:off x="719138" y="3500438"/>
            <a:ext cx="7916862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/>
              <a:t>(2)</a:t>
            </a:r>
            <a:r>
              <a:rPr kumimoji="1" lang="zh-CN" altLang="en-US"/>
              <a:t>公式</a:t>
            </a:r>
            <a:r>
              <a:rPr kumimoji="1" lang="en-US" altLang="zh-CN"/>
              <a:t>A</a:t>
            </a:r>
            <a:r>
              <a:rPr kumimoji="1" lang="zh-CN" altLang="en-US"/>
              <a:t>为</a:t>
            </a:r>
            <a:r>
              <a:rPr kumimoji="1" lang="zh-CN" altLang="en-US" u="sng">
                <a:solidFill>
                  <a:schemeClr val="hlink"/>
                </a:solidFill>
              </a:rPr>
              <a:t>永真式</a:t>
            </a:r>
            <a:r>
              <a:rPr kumimoji="1" lang="zh-CN" altLang="en-US" u="sng"/>
              <a:t>的充要条件</a:t>
            </a:r>
            <a:r>
              <a:rPr kumimoji="1" lang="zh-CN" altLang="en-US"/>
              <a:t>是</a:t>
            </a:r>
            <a:r>
              <a:rPr kumimoji="1" lang="en-US" altLang="zh-CN"/>
              <a:t>A</a:t>
            </a:r>
            <a:r>
              <a:rPr kumimoji="1" lang="zh-CN" altLang="en-US"/>
              <a:t>的</a:t>
            </a:r>
            <a:r>
              <a:rPr kumimoji="1" lang="zh-CN" altLang="en-US" u="sng">
                <a:solidFill>
                  <a:schemeClr val="hlink"/>
                </a:solidFill>
              </a:rPr>
              <a:t>合取</a:t>
            </a:r>
            <a:r>
              <a:rPr kumimoji="1" lang="zh-CN" altLang="en-US"/>
              <a:t>范式中每个析取式至少包含一个命题变元及其否定。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1832" grpId="0"/>
      <p:bldP spid="461834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82732B2-8E9B-485F-BC13-7DFD5EF56756}" type="slidenum">
              <a:rPr lang="en-US" altLang="zh-CN"/>
              <a:pPr>
                <a:defRPr/>
              </a:pPr>
              <a:t>76</a:t>
            </a:fld>
            <a:endParaRPr lang="en-US" altLang="zh-CN"/>
          </a:p>
        </p:txBody>
      </p:sp>
      <p:sp>
        <p:nvSpPr>
          <p:cNvPr id="84995" name="Rectangle 5"/>
          <p:cNvSpPr>
            <a:spLocks noChangeArrowheads="1"/>
          </p:cNvSpPr>
          <p:nvPr/>
        </p:nvSpPr>
        <p:spPr bwMode="auto">
          <a:xfrm>
            <a:off x="1189038" y="1254125"/>
            <a:ext cx="6696075" cy="1074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/>
              <a:t>(1)P∨(Q→R)∨┐(P∨R)</a:t>
            </a:r>
          </a:p>
          <a:p>
            <a:pPr algn="just" eaLnBrk="1" hangingPunct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/>
              <a:t>(2)(P→Q)→P</a:t>
            </a:r>
          </a:p>
        </p:txBody>
      </p:sp>
      <p:sp>
        <p:nvSpPr>
          <p:cNvPr id="493575" name="Rectangle 7"/>
          <p:cNvSpPr>
            <a:spLocks noChangeArrowheads="1"/>
          </p:cNvSpPr>
          <p:nvPr/>
        </p:nvSpPr>
        <p:spPr bwMode="auto">
          <a:xfrm>
            <a:off x="719138" y="2478088"/>
            <a:ext cx="7916862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zh-CN" altLang="en-US"/>
              <a:t>解</a:t>
            </a:r>
            <a:r>
              <a:rPr kumimoji="1" lang="zh-CN" altLang="en-US">
                <a:sym typeface="Wingdings" pitchFamily="2" charset="2"/>
              </a:rPr>
              <a:t>：</a:t>
            </a:r>
            <a:r>
              <a:rPr kumimoji="1" lang="en-US" altLang="zh-CN">
                <a:sym typeface="Wingdings" pitchFamily="2" charset="2"/>
              </a:rPr>
              <a:t>(</a:t>
            </a:r>
            <a:r>
              <a:rPr kumimoji="1" lang="en-US" altLang="zh-CN"/>
              <a:t>1)</a:t>
            </a:r>
            <a:r>
              <a:rPr kumimoji="1" lang="en-US" altLang="zh-CN">
                <a:sym typeface="Symbol" pitchFamily="18" charset="2"/>
              </a:rPr>
              <a:t></a:t>
            </a:r>
            <a:r>
              <a:rPr kumimoji="1" lang="en-US" altLang="zh-CN"/>
              <a:t>P∨(┐Q∨R)∨(┐P∧┐R)</a:t>
            </a:r>
          </a:p>
        </p:txBody>
      </p:sp>
      <p:sp>
        <p:nvSpPr>
          <p:cNvPr id="493577" name="Rectangle 9"/>
          <p:cNvSpPr>
            <a:spLocks noChangeArrowheads="1"/>
          </p:cNvSpPr>
          <p:nvPr/>
        </p:nvSpPr>
        <p:spPr bwMode="auto">
          <a:xfrm>
            <a:off x="1474788" y="4276725"/>
            <a:ext cx="65532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/>
              <a:t>(2)</a:t>
            </a:r>
            <a:r>
              <a:rPr kumimoji="1" lang="en-US" altLang="zh-CN">
                <a:sym typeface="Symbol" pitchFamily="18" charset="2"/>
              </a:rPr>
              <a:t></a:t>
            </a:r>
            <a:r>
              <a:rPr kumimoji="1" lang="en-US" altLang="zh-CN"/>
              <a:t>┐(┐P∨Q)∨P</a:t>
            </a:r>
          </a:p>
        </p:txBody>
      </p:sp>
      <p:sp>
        <p:nvSpPr>
          <p:cNvPr id="84998" name="Rectangle 11"/>
          <p:cNvSpPr>
            <a:spLocks noChangeArrowheads="1"/>
          </p:cNvSpPr>
          <p:nvPr/>
        </p:nvSpPr>
        <p:spPr bwMode="auto">
          <a:xfrm>
            <a:off x="1187450" y="642938"/>
            <a:ext cx="50053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>
                <a:solidFill>
                  <a:schemeClr val="hlink"/>
                </a:solidFill>
              </a:rPr>
              <a:t>例</a:t>
            </a:r>
            <a:r>
              <a:rPr kumimoji="1" lang="en-US" altLang="zh-CN">
                <a:solidFill>
                  <a:schemeClr val="hlink"/>
                </a:solidFill>
              </a:rPr>
              <a:t>3</a:t>
            </a:r>
            <a:r>
              <a:rPr kumimoji="1" lang="zh-CN" altLang="en-US">
                <a:solidFill>
                  <a:schemeClr val="hlink"/>
                </a:solidFill>
              </a:rPr>
              <a:t>：</a:t>
            </a:r>
            <a:r>
              <a:rPr kumimoji="1" lang="zh-CN" altLang="en-US"/>
              <a:t>判断下列公式为何种公式</a:t>
            </a:r>
          </a:p>
        </p:txBody>
      </p:sp>
      <p:sp>
        <p:nvSpPr>
          <p:cNvPr id="493581" name="Rectangle 13"/>
          <p:cNvSpPr>
            <a:spLocks noChangeArrowheads="1"/>
          </p:cNvSpPr>
          <p:nvPr/>
        </p:nvSpPr>
        <p:spPr bwMode="auto">
          <a:xfrm>
            <a:off x="1835150" y="3113088"/>
            <a:ext cx="69373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>
                <a:sym typeface="Symbol" pitchFamily="18" charset="2"/>
              </a:rPr>
              <a:t>(</a:t>
            </a:r>
            <a:r>
              <a:rPr kumimoji="1" lang="en-US" altLang="zh-CN"/>
              <a:t>P∨┐Q∨R∨┐P)∧(P∨┐Q∨R∨┐R)</a:t>
            </a:r>
          </a:p>
        </p:txBody>
      </p:sp>
      <p:sp>
        <p:nvSpPr>
          <p:cNvPr id="493583" name="Rectangle 15"/>
          <p:cNvSpPr>
            <a:spLocks noChangeArrowheads="1"/>
          </p:cNvSpPr>
          <p:nvPr/>
        </p:nvSpPr>
        <p:spPr bwMode="auto">
          <a:xfrm>
            <a:off x="2124075" y="3703638"/>
            <a:ext cx="1966913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/>
              <a:t>——</a:t>
            </a:r>
            <a:r>
              <a:rPr kumimoji="1" lang="zh-CN" altLang="en-US"/>
              <a:t>永真式</a:t>
            </a:r>
          </a:p>
        </p:txBody>
      </p:sp>
      <p:sp>
        <p:nvSpPr>
          <p:cNvPr id="493585" name="Rectangle 17"/>
          <p:cNvSpPr>
            <a:spLocks noChangeArrowheads="1"/>
          </p:cNvSpPr>
          <p:nvPr/>
        </p:nvSpPr>
        <p:spPr bwMode="auto">
          <a:xfrm>
            <a:off x="1863725" y="4926013"/>
            <a:ext cx="5545138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>
                <a:sym typeface="Symbol" pitchFamily="18" charset="2"/>
              </a:rPr>
              <a:t></a:t>
            </a:r>
            <a:r>
              <a:rPr kumimoji="1" lang="en-US" altLang="zh-CN"/>
              <a:t>(P∧┐Q)∨P</a:t>
            </a:r>
          </a:p>
        </p:txBody>
      </p:sp>
      <p:sp>
        <p:nvSpPr>
          <p:cNvPr id="493587" name="Rectangle 19"/>
          <p:cNvSpPr>
            <a:spLocks noChangeArrowheads="1"/>
          </p:cNvSpPr>
          <p:nvPr/>
        </p:nvSpPr>
        <p:spPr bwMode="auto">
          <a:xfrm>
            <a:off x="1879600" y="5546725"/>
            <a:ext cx="3389313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>
                <a:sym typeface="Symbol" pitchFamily="18" charset="2"/>
              </a:rPr>
              <a:t></a:t>
            </a:r>
            <a:r>
              <a:rPr kumimoji="1" lang="en-US" altLang="zh-CN"/>
              <a:t>(P∨P)∧(┐Q∨P)</a:t>
            </a:r>
          </a:p>
        </p:txBody>
      </p:sp>
      <p:sp>
        <p:nvSpPr>
          <p:cNvPr id="493589" name="Rectangle 21"/>
          <p:cNvSpPr>
            <a:spLocks noChangeArrowheads="1"/>
          </p:cNvSpPr>
          <p:nvPr/>
        </p:nvSpPr>
        <p:spPr bwMode="auto">
          <a:xfrm>
            <a:off x="5522913" y="5537200"/>
            <a:ext cx="23241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/>
              <a:t>——</a:t>
            </a:r>
            <a:r>
              <a:rPr kumimoji="1" lang="zh-CN" altLang="en-US"/>
              <a:t>可满足式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3575" grpId="0"/>
      <p:bldP spid="493577" grpId="0"/>
      <p:bldP spid="493581" grpId="0"/>
      <p:bldP spid="493583" grpId="0"/>
      <p:bldP spid="493585" grpId="0"/>
      <p:bldP spid="493587" grpId="0"/>
      <p:bldP spid="493589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3F90017-C552-40B8-A513-11AB2A917702}" type="slidenum">
              <a:rPr lang="en-US" altLang="zh-CN"/>
              <a:pPr>
                <a:defRPr/>
              </a:pPr>
              <a:t>77</a:t>
            </a:fld>
            <a:endParaRPr lang="en-US" altLang="zh-CN"/>
          </a:p>
        </p:txBody>
      </p:sp>
      <p:sp>
        <p:nvSpPr>
          <p:cNvPr id="86019" name="Text Box 2"/>
          <p:cNvSpPr txBox="1">
            <a:spLocks noChangeArrowheads="1"/>
          </p:cNvSpPr>
          <p:nvPr/>
        </p:nvSpPr>
        <p:spPr bwMode="auto">
          <a:xfrm>
            <a:off x="719138" y="1773238"/>
            <a:ext cx="4824412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82563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/>
              <a:t>P∨(Q∧R)</a:t>
            </a:r>
          </a:p>
        </p:txBody>
      </p:sp>
      <p:sp>
        <p:nvSpPr>
          <p:cNvPr id="86020" name="Rectangle 4"/>
          <p:cNvSpPr>
            <a:spLocks noChangeArrowheads="1"/>
          </p:cNvSpPr>
          <p:nvPr/>
        </p:nvSpPr>
        <p:spPr bwMode="auto">
          <a:xfrm>
            <a:off x="1258888" y="693738"/>
            <a:ext cx="3236912" cy="503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 sz="3000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kumimoji="1" lang="zh-CN" altLang="en-US" sz="3000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</a:rPr>
              <a:t>、范式不唯一性</a:t>
            </a:r>
          </a:p>
        </p:txBody>
      </p:sp>
      <p:sp>
        <p:nvSpPr>
          <p:cNvPr id="462856" name="Rectangle 8"/>
          <p:cNvSpPr>
            <a:spLocks noChangeArrowheads="1"/>
          </p:cNvSpPr>
          <p:nvPr/>
        </p:nvSpPr>
        <p:spPr bwMode="auto">
          <a:xfrm>
            <a:off x="719138" y="2449513"/>
            <a:ext cx="45720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>
                <a:sym typeface="Symbol" pitchFamily="18" charset="2"/>
              </a:rPr>
              <a:t></a:t>
            </a:r>
            <a:r>
              <a:rPr kumimoji="1" lang="en-US" altLang="zh-CN"/>
              <a:t>(P∨Q)∧(P∨R)</a:t>
            </a:r>
          </a:p>
        </p:txBody>
      </p:sp>
      <p:sp>
        <p:nvSpPr>
          <p:cNvPr id="462858" name="Rectangle 10"/>
          <p:cNvSpPr>
            <a:spLocks noChangeArrowheads="1"/>
          </p:cNvSpPr>
          <p:nvPr/>
        </p:nvSpPr>
        <p:spPr bwMode="auto">
          <a:xfrm>
            <a:off x="719138" y="3168650"/>
            <a:ext cx="5945187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>
                <a:sym typeface="Symbol" pitchFamily="18" charset="2"/>
              </a:rPr>
              <a:t></a:t>
            </a:r>
            <a:r>
              <a:rPr kumimoji="1" lang="en-US" altLang="zh-CN"/>
              <a:t>(P∧P)∨(P∧R)∨(Q∧P)∨(Q∧R)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2856" grpId="0"/>
      <p:bldP spid="462858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233D820-FA1E-4913-B25C-7E63AC391104}" type="slidenum">
              <a:rPr lang="en-US" altLang="zh-CN"/>
              <a:pPr>
                <a:defRPr/>
              </a:pPr>
              <a:t>78</a:t>
            </a:fld>
            <a:endParaRPr lang="en-US" altLang="zh-CN"/>
          </a:p>
        </p:txBody>
      </p:sp>
      <p:sp>
        <p:nvSpPr>
          <p:cNvPr id="87043" name="Rectangle 4"/>
          <p:cNvSpPr>
            <a:spLocks noChangeArrowheads="1"/>
          </p:cNvSpPr>
          <p:nvPr/>
        </p:nvSpPr>
        <p:spPr bwMode="auto">
          <a:xfrm>
            <a:off x="1339850" y="617538"/>
            <a:ext cx="34480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3200">
                <a:solidFill>
                  <a:schemeClr val="folHlink"/>
                </a:solidFill>
                <a:ea typeface="楷体_GB2312" pitchFamily="49" charset="-122"/>
              </a:rPr>
              <a:t>三、公式的主范式</a:t>
            </a:r>
          </a:p>
        </p:txBody>
      </p:sp>
      <p:sp>
        <p:nvSpPr>
          <p:cNvPr id="87044" name="Rectangle 8"/>
          <p:cNvSpPr>
            <a:spLocks noChangeArrowheads="1"/>
          </p:cNvSpPr>
          <p:nvPr/>
        </p:nvSpPr>
        <p:spPr bwMode="auto">
          <a:xfrm>
            <a:off x="719138" y="1412875"/>
            <a:ext cx="7916862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 sz="3000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kumimoji="1" lang="zh-CN" altLang="en-US" sz="3000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</a:rPr>
              <a:t>、主析取范式</a:t>
            </a:r>
          </a:p>
        </p:txBody>
      </p:sp>
      <p:sp>
        <p:nvSpPr>
          <p:cNvPr id="463882" name="Rectangle 10"/>
          <p:cNvSpPr>
            <a:spLocks noChangeArrowheads="1"/>
          </p:cNvSpPr>
          <p:nvPr/>
        </p:nvSpPr>
        <p:spPr bwMode="auto">
          <a:xfrm>
            <a:off x="719138" y="2724150"/>
            <a:ext cx="7916862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ts val="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 dirty="0">
                <a:solidFill>
                  <a:schemeClr val="hlink"/>
                </a:solidFill>
              </a:rPr>
              <a:t>        </a:t>
            </a:r>
            <a:r>
              <a:rPr kumimoji="1" lang="zh-CN" altLang="en-US" dirty="0">
                <a:solidFill>
                  <a:schemeClr val="hlink"/>
                </a:solidFill>
              </a:rPr>
              <a:t>定义</a:t>
            </a:r>
            <a:r>
              <a:rPr kumimoji="1" lang="en-US" altLang="zh-CN" dirty="0">
                <a:solidFill>
                  <a:schemeClr val="hlink"/>
                </a:solidFill>
              </a:rPr>
              <a:t>1-7. 4</a:t>
            </a:r>
            <a:r>
              <a:rPr kumimoji="1" lang="zh-CN" altLang="en-US" dirty="0">
                <a:solidFill>
                  <a:schemeClr val="hlink"/>
                </a:solidFill>
              </a:rPr>
              <a:t>：</a:t>
            </a:r>
            <a:r>
              <a:rPr kumimoji="1" lang="zh-CN" altLang="en-US" dirty="0"/>
              <a:t>在含有</a:t>
            </a:r>
            <a:r>
              <a:rPr kumimoji="1" lang="en-US" altLang="zh-CN" dirty="0"/>
              <a:t>n</a:t>
            </a:r>
            <a:r>
              <a:rPr kumimoji="1" lang="zh-CN" altLang="en-US" dirty="0"/>
              <a:t>个命题变元的合取式中，若每个命题变元与其否定</a:t>
            </a:r>
            <a:r>
              <a:rPr kumimoji="1" lang="zh-CN" altLang="en-US" u="sng" dirty="0"/>
              <a:t>不同时存在</a:t>
            </a:r>
            <a:r>
              <a:rPr kumimoji="1" lang="zh-CN" altLang="en-US" dirty="0"/>
              <a:t>，但二者之一必须出现一次</a:t>
            </a:r>
            <a:r>
              <a:rPr kumimoji="1" lang="zh-CN" altLang="en-US" u="sng" dirty="0"/>
              <a:t>且仅</a:t>
            </a:r>
            <a:r>
              <a:rPr kumimoji="1" lang="zh-CN" altLang="en-US" dirty="0"/>
              <a:t>一次，则称该合取式为小项。</a:t>
            </a:r>
          </a:p>
        </p:txBody>
      </p:sp>
      <p:sp>
        <p:nvSpPr>
          <p:cNvPr id="463884" name="Rectangle 12"/>
          <p:cNvSpPr>
            <a:spLocks noChangeArrowheads="1"/>
          </p:cNvSpPr>
          <p:nvPr/>
        </p:nvSpPr>
        <p:spPr bwMode="auto">
          <a:xfrm>
            <a:off x="719138" y="2060575"/>
            <a:ext cx="79168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/>
              <a:t>(1)</a:t>
            </a:r>
            <a:r>
              <a:rPr kumimoji="1" lang="zh-CN" altLang="en-US"/>
              <a:t>小项的概念</a:t>
            </a:r>
          </a:p>
        </p:txBody>
      </p:sp>
      <p:sp>
        <p:nvSpPr>
          <p:cNvPr id="463885" name="Rectangle 13"/>
          <p:cNvSpPr>
            <a:spLocks noChangeArrowheads="1"/>
          </p:cNvSpPr>
          <p:nvPr/>
        </p:nvSpPr>
        <p:spPr bwMode="auto">
          <a:xfrm>
            <a:off x="719138" y="4565650"/>
            <a:ext cx="71278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zh-CN" altLang="en-US">
                <a:solidFill>
                  <a:schemeClr val="hlink"/>
                </a:solidFill>
              </a:rPr>
              <a:t>例：</a:t>
            </a:r>
            <a:r>
              <a:rPr kumimoji="1" lang="zh-CN" altLang="en-US"/>
              <a:t> </a:t>
            </a:r>
            <a:r>
              <a:rPr kumimoji="1" lang="en-US" altLang="zh-CN"/>
              <a:t>P∧Q</a:t>
            </a:r>
            <a:r>
              <a:rPr kumimoji="1" lang="zh-CN" altLang="en-US"/>
              <a:t>，┐</a:t>
            </a:r>
            <a:r>
              <a:rPr kumimoji="1" lang="en-US" altLang="zh-CN"/>
              <a:t>P∧Q</a:t>
            </a:r>
            <a:r>
              <a:rPr kumimoji="1" lang="zh-CN" altLang="en-US"/>
              <a:t>，</a:t>
            </a:r>
            <a:r>
              <a:rPr kumimoji="1" lang="en-US" altLang="zh-CN"/>
              <a:t>P∧┐Q</a:t>
            </a:r>
            <a:r>
              <a:rPr kumimoji="1" lang="zh-CN" altLang="en-US"/>
              <a:t>，┐</a:t>
            </a:r>
            <a:r>
              <a:rPr kumimoji="1" lang="en-US" altLang="zh-CN"/>
              <a:t>P∧┐Q</a:t>
            </a:r>
          </a:p>
        </p:txBody>
      </p:sp>
      <p:sp>
        <p:nvSpPr>
          <p:cNvPr id="463886" name="Rectangle 14"/>
          <p:cNvSpPr>
            <a:spLocks noChangeArrowheads="1"/>
          </p:cNvSpPr>
          <p:nvPr/>
        </p:nvSpPr>
        <p:spPr bwMode="auto">
          <a:xfrm>
            <a:off x="719138" y="5157788"/>
            <a:ext cx="50260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>
                <a:solidFill>
                  <a:schemeClr val="hlink"/>
                </a:solidFill>
              </a:rPr>
              <a:t>问题：</a:t>
            </a:r>
            <a:r>
              <a:rPr kumimoji="1" lang="en-US" altLang="zh-CN"/>
              <a:t>n</a:t>
            </a:r>
            <a:r>
              <a:rPr kumimoji="1" lang="zh-CN" altLang="en-US"/>
              <a:t>个变元可有多少小项？</a:t>
            </a:r>
          </a:p>
        </p:txBody>
      </p:sp>
      <p:sp>
        <p:nvSpPr>
          <p:cNvPr id="463887" name="Rectangle 15"/>
          <p:cNvSpPr>
            <a:spLocks noChangeArrowheads="1"/>
          </p:cNvSpPr>
          <p:nvPr/>
        </p:nvSpPr>
        <p:spPr bwMode="auto">
          <a:xfrm>
            <a:off x="755650" y="5734050"/>
            <a:ext cx="28082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>
                <a:solidFill>
                  <a:schemeClr val="hlink"/>
                </a:solidFill>
              </a:rPr>
              <a:t>2</a:t>
            </a:r>
            <a:r>
              <a:rPr kumimoji="1" lang="en-US" altLang="zh-CN" baseline="30000">
                <a:solidFill>
                  <a:schemeClr val="hlink"/>
                </a:solidFill>
              </a:rPr>
              <a:t>n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3882" grpId="0"/>
      <p:bldP spid="463884" grpId="0"/>
      <p:bldP spid="463885" grpId="0"/>
      <p:bldP spid="463886" grpId="0"/>
      <p:bldP spid="463887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5455831-C45E-4BDC-A9E3-326ED6F26C42}" type="slidenum">
              <a:rPr lang="en-US" altLang="zh-CN"/>
              <a:pPr>
                <a:defRPr/>
              </a:pPr>
              <a:t>79</a:t>
            </a:fld>
            <a:endParaRPr lang="en-US" altLang="zh-CN"/>
          </a:p>
        </p:txBody>
      </p:sp>
      <p:sp>
        <p:nvSpPr>
          <p:cNvPr id="88067" name="Rectangle 5"/>
          <p:cNvSpPr>
            <a:spLocks noChangeArrowheads="1"/>
          </p:cNvSpPr>
          <p:nvPr/>
        </p:nvSpPr>
        <p:spPr bwMode="auto">
          <a:xfrm>
            <a:off x="971550" y="1341438"/>
            <a:ext cx="7488238" cy="1630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zh-CN" altLang="en-US">
                <a:solidFill>
                  <a:schemeClr val="hlink"/>
                </a:solidFill>
              </a:rPr>
              <a:t>下标表示法：</a:t>
            </a:r>
            <a:r>
              <a:rPr kumimoji="1" lang="zh-CN" altLang="en-US"/>
              <a:t>命题变元按字典顺序排列，命题</a:t>
            </a:r>
            <a:r>
              <a:rPr kumimoji="1" lang="zh-CN" altLang="en-US" u="sng"/>
              <a:t>变元</a:t>
            </a:r>
            <a:r>
              <a:rPr kumimoji="1" lang="zh-CN" altLang="en-US"/>
              <a:t>对应</a:t>
            </a:r>
            <a:r>
              <a:rPr kumimoji="1" lang="en-US" altLang="zh-CN" u="sng">
                <a:solidFill>
                  <a:schemeClr val="hlink"/>
                </a:solidFill>
              </a:rPr>
              <a:t>1</a:t>
            </a:r>
            <a:r>
              <a:rPr kumimoji="1" lang="zh-CN" altLang="en-US"/>
              <a:t>，变元的</a:t>
            </a:r>
            <a:r>
              <a:rPr kumimoji="1" lang="zh-CN" altLang="en-US" u="sng"/>
              <a:t>否定</a:t>
            </a:r>
            <a:r>
              <a:rPr kumimoji="1" lang="zh-CN" altLang="en-US"/>
              <a:t>对应</a:t>
            </a:r>
            <a:r>
              <a:rPr kumimoji="1" lang="en-US" altLang="zh-CN" u="sng">
                <a:solidFill>
                  <a:schemeClr val="hlink"/>
                </a:solidFill>
              </a:rPr>
              <a:t>0</a:t>
            </a:r>
            <a:r>
              <a:rPr kumimoji="1" lang="zh-CN" altLang="en-US"/>
              <a:t>。对小项依二进制编码（或用十进制编码）。</a:t>
            </a:r>
          </a:p>
        </p:txBody>
      </p:sp>
      <p:sp>
        <p:nvSpPr>
          <p:cNvPr id="515078" name="Rectangle 6"/>
          <p:cNvSpPr>
            <a:spLocks noChangeArrowheads="1"/>
          </p:cNvSpPr>
          <p:nvPr/>
        </p:nvSpPr>
        <p:spPr bwMode="auto">
          <a:xfrm>
            <a:off x="1035050" y="3284538"/>
            <a:ext cx="18732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zh-CN" altLang="en-US">
                <a:solidFill>
                  <a:schemeClr val="hlink"/>
                </a:solidFill>
              </a:rPr>
              <a:t>例：</a:t>
            </a:r>
            <a:r>
              <a:rPr kumimoji="1" lang="en-US" altLang="zh-CN"/>
              <a:t>P∧Q</a:t>
            </a:r>
            <a:endParaRPr kumimoji="1" lang="en-US" altLang="zh-CN">
              <a:solidFill>
                <a:schemeClr val="hlink"/>
              </a:solidFill>
            </a:endParaRPr>
          </a:p>
        </p:txBody>
      </p:sp>
      <p:sp>
        <p:nvSpPr>
          <p:cNvPr id="515080" name="Rectangle 8"/>
          <p:cNvSpPr>
            <a:spLocks noChangeArrowheads="1"/>
          </p:cNvSpPr>
          <p:nvPr/>
        </p:nvSpPr>
        <p:spPr bwMode="auto">
          <a:xfrm>
            <a:off x="1720850" y="3933825"/>
            <a:ext cx="1403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/>
              <a:t>P∧┐Q</a:t>
            </a:r>
          </a:p>
        </p:txBody>
      </p:sp>
      <p:sp>
        <p:nvSpPr>
          <p:cNvPr id="515082" name="Rectangle 10"/>
          <p:cNvSpPr>
            <a:spLocks noChangeArrowheads="1"/>
          </p:cNvSpPr>
          <p:nvPr/>
        </p:nvSpPr>
        <p:spPr bwMode="auto">
          <a:xfrm>
            <a:off x="4059238" y="3298825"/>
            <a:ext cx="1377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>
                <a:solidFill>
                  <a:schemeClr val="hlink"/>
                </a:solidFill>
              </a:rPr>
              <a:t>m</a:t>
            </a:r>
            <a:r>
              <a:rPr kumimoji="1" lang="en-US" altLang="zh-CN" baseline="-25000">
                <a:solidFill>
                  <a:schemeClr val="hlink"/>
                </a:solidFill>
              </a:rPr>
              <a:t>11</a:t>
            </a:r>
            <a:r>
              <a:rPr kumimoji="1" lang="en-US" altLang="zh-CN">
                <a:solidFill>
                  <a:schemeClr val="hlink"/>
                </a:solidFill>
              </a:rPr>
              <a:t>(m</a:t>
            </a:r>
            <a:r>
              <a:rPr kumimoji="1" lang="en-US" altLang="zh-CN" baseline="-25000">
                <a:solidFill>
                  <a:schemeClr val="hlink"/>
                </a:solidFill>
              </a:rPr>
              <a:t>3</a:t>
            </a:r>
            <a:r>
              <a:rPr kumimoji="1" lang="en-US" altLang="zh-CN">
                <a:solidFill>
                  <a:schemeClr val="hlink"/>
                </a:solidFill>
              </a:rPr>
              <a:t>)</a:t>
            </a:r>
          </a:p>
        </p:txBody>
      </p:sp>
      <p:sp>
        <p:nvSpPr>
          <p:cNvPr id="515084" name="Rectangle 12"/>
          <p:cNvSpPr>
            <a:spLocks noChangeArrowheads="1"/>
          </p:cNvSpPr>
          <p:nvPr/>
        </p:nvSpPr>
        <p:spPr bwMode="auto">
          <a:xfrm>
            <a:off x="1755775" y="5229225"/>
            <a:ext cx="17494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/>
              <a:t>┐P∧┐Q</a:t>
            </a:r>
            <a:endParaRPr kumimoji="1" lang="en-US" altLang="zh-CN">
              <a:solidFill>
                <a:schemeClr val="hlink"/>
              </a:solidFill>
            </a:endParaRPr>
          </a:p>
        </p:txBody>
      </p:sp>
      <p:sp>
        <p:nvSpPr>
          <p:cNvPr id="515086" name="Rectangle 14"/>
          <p:cNvSpPr>
            <a:spLocks noChangeArrowheads="1"/>
          </p:cNvSpPr>
          <p:nvPr/>
        </p:nvSpPr>
        <p:spPr bwMode="auto">
          <a:xfrm>
            <a:off x="4059238" y="3917950"/>
            <a:ext cx="1377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>
                <a:solidFill>
                  <a:schemeClr val="hlink"/>
                </a:solidFill>
              </a:rPr>
              <a:t>m</a:t>
            </a:r>
            <a:r>
              <a:rPr kumimoji="1" lang="en-US" altLang="zh-CN" baseline="-25000">
                <a:solidFill>
                  <a:schemeClr val="hlink"/>
                </a:solidFill>
              </a:rPr>
              <a:t>10</a:t>
            </a:r>
            <a:r>
              <a:rPr kumimoji="1" lang="en-US" altLang="zh-CN">
                <a:solidFill>
                  <a:schemeClr val="hlink"/>
                </a:solidFill>
              </a:rPr>
              <a:t>(m</a:t>
            </a:r>
            <a:r>
              <a:rPr kumimoji="1" lang="en-US" altLang="zh-CN" baseline="-25000">
                <a:solidFill>
                  <a:schemeClr val="hlink"/>
                </a:solidFill>
              </a:rPr>
              <a:t>2</a:t>
            </a:r>
            <a:r>
              <a:rPr kumimoji="1" lang="en-US" altLang="zh-CN">
                <a:solidFill>
                  <a:schemeClr val="hlink"/>
                </a:solidFill>
              </a:rPr>
              <a:t>)</a:t>
            </a:r>
          </a:p>
        </p:txBody>
      </p:sp>
      <p:sp>
        <p:nvSpPr>
          <p:cNvPr id="515088" name="Rectangle 16"/>
          <p:cNvSpPr>
            <a:spLocks noChangeArrowheads="1"/>
          </p:cNvSpPr>
          <p:nvPr/>
        </p:nvSpPr>
        <p:spPr bwMode="auto">
          <a:xfrm>
            <a:off x="1803400" y="4581525"/>
            <a:ext cx="13922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/>
              <a:t>┐P∧Q</a:t>
            </a:r>
          </a:p>
        </p:txBody>
      </p:sp>
      <p:sp>
        <p:nvSpPr>
          <p:cNvPr id="515090" name="Rectangle 18"/>
          <p:cNvSpPr>
            <a:spLocks noChangeArrowheads="1"/>
          </p:cNvSpPr>
          <p:nvPr/>
        </p:nvSpPr>
        <p:spPr bwMode="auto">
          <a:xfrm>
            <a:off x="4073525" y="4565650"/>
            <a:ext cx="1377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>
                <a:solidFill>
                  <a:schemeClr val="hlink"/>
                </a:solidFill>
              </a:rPr>
              <a:t>m</a:t>
            </a:r>
            <a:r>
              <a:rPr kumimoji="1" lang="en-US" altLang="zh-CN" baseline="-25000">
                <a:solidFill>
                  <a:schemeClr val="hlink"/>
                </a:solidFill>
              </a:rPr>
              <a:t>01</a:t>
            </a:r>
            <a:r>
              <a:rPr kumimoji="1" lang="en-US" altLang="zh-CN">
                <a:solidFill>
                  <a:schemeClr val="hlink"/>
                </a:solidFill>
              </a:rPr>
              <a:t>(m</a:t>
            </a:r>
            <a:r>
              <a:rPr kumimoji="1" lang="en-US" altLang="zh-CN" baseline="-25000">
                <a:solidFill>
                  <a:schemeClr val="hlink"/>
                </a:solidFill>
              </a:rPr>
              <a:t>1</a:t>
            </a:r>
            <a:r>
              <a:rPr kumimoji="1" lang="en-US" altLang="zh-CN">
                <a:solidFill>
                  <a:schemeClr val="hlink"/>
                </a:solidFill>
              </a:rPr>
              <a:t>)</a:t>
            </a:r>
          </a:p>
        </p:txBody>
      </p:sp>
      <p:sp>
        <p:nvSpPr>
          <p:cNvPr id="515092" name="Rectangle 20"/>
          <p:cNvSpPr>
            <a:spLocks noChangeArrowheads="1"/>
          </p:cNvSpPr>
          <p:nvPr/>
        </p:nvSpPr>
        <p:spPr bwMode="auto">
          <a:xfrm>
            <a:off x="4073525" y="5214938"/>
            <a:ext cx="1377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>
                <a:solidFill>
                  <a:schemeClr val="hlink"/>
                </a:solidFill>
              </a:rPr>
              <a:t>m</a:t>
            </a:r>
            <a:r>
              <a:rPr kumimoji="1" lang="en-US" altLang="zh-CN" baseline="-25000">
                <a:solidFill>
                  <a:schemeClr val="hlink"/>
                </a:solidFill>
              </a:rPr>
              <a:t>00</a:t>
            </a:r>
            <a:r>
              <a:rPr kumimoji="1" lang="en-US" altLang="zh-CN">
                <a:solidFill>
                  <a:schemeClr val="hlink"/>
                </a:solidFill>
              </a:rPr>
              <a:t>(m</a:t>
            </a:r>
            <a:r>
              <a:rPr kumimoji="1" lang="en-US" altLang="zh-CN" baseline="-25000">
                <a:solidFill>
                  <a:schemeClr val="hlink"/>
                </a:solidFill>
              </a:rPr>
              <a:t>0</a:t>
            </a:r>
            <a:r>
              <a:rPr kumimoji="1" lang="en-US" altLang="zh-CN">
                <a:solidFill>
                  <a:schemeClr val="hlink"/>
                </a:solidFill>
              </a:rPr>
              <a:t>)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5078" grpId="0"/>
      <p:bldP spid="515080" grpId="0"/>
      <p:bldP spid="515082" grpId="0"/>
      <p:bldP spid="515084" grpId="0"/>
      <p:bldP spid="515086" grpId="0"/>
      <p:bldP spid="515088" grpId="0"/>
      <p:bldP spid="515090" grpId="0"/>
      <p:bldP spid="515092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BBC3D30-C30B-4D3E-BB0F-67C1C714D7E7}" type="slidenum">
              <a:rPr lang="en-US" altLang="zh-CN"/>
              <a:pPr>
                <a:defRPr/>
              </a:pPr>
              <a:t>80</a:t>
            </a:fld>
            <a:endParaRPr lang="en-US" altLang="zh-CN"/>
          </a:p>
        </p:txBody>
      </p:sp>
      <p:sp>
        <p:nvSpPr>
          <p:cNvPr id="464898" name="Text Box 2"/>
          <p:cNvSpPr txBox="1">
            <a:spLocks noChangeArrowheads="1"/>
          </p:cNvSpPr>
          <p:nvPr/>
        </p:nvSpPr>
        <p:spPr bwMode="auto">
          <a:xfrm>
            <a:off x="719138" y="1412875"/>
            <a:ext cx="7916862" cy="1031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en-US" sz="2400" dirty="0"/>
              <a:t>①</a:t>
            </a:r>
            <a:r>
              <a:rPr kumimoji="1" lang="zh-CN" altLang="en-US" dirty="0"/>
              <a:t>每一小项当其真值指派与编码相同时，其值为</a:t>
            </a:r>
            <a:r>
              <a:rPr kumimoji="1" lang="en-US" altLang="zh-CN" dirty="0"/>
              <a:t>T</a:t>
            </a:r>
            <a:r>
              <a:rPr kumimoji="1" lang="zh-CN" altLang="en-US" dirty="0"/>
              <a:t>；</a:t>
            </a:r>
          </a:p>
        </p:txBody>
      </p:sp>
      <p:sp>
        <p:nvSpPr>
          <p:cNvPr id="89092" name="Rectangle 4"/>
          <p:cNvSpPr>
            <a:spLocks noChangeArrowheads="1"/>
          </p:cNvSpPr>
          <p:nvPr/>
        </p:nvSpPr>
        <p:spPr bwMode="auto">
          <a:xfrm>
            <a:off x="1187450" y="692150"/>
            <a:ext cx="25685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/>
              <a:t>(2)</a:t>
            </a:r>
            <a:r>
              <a:rPr kumimoji="1" lang="zh-CN" altLang="en-US"/>
              <a:t>小项的性质</a:t>
            </a:r>
          </a:p>
        </p:txBody>
      </p:sp>
      <p:sp>
        <p:nvSpPr>
          <p:cNvPr id="464902" name="Rectangle 6"/>
          <p:cNvSpPr>
            <a:spLocks noChangeArrowheads="1"/>
          </p:cNvSpPr>
          <p:nvPr/>
        </p:nvSpPr>
        <p:spPr bwMode="auto">
          <a:xfrm>
            <a:off x="719138" y="2652415"/>
            <a:ext cx="79168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en-US" sz="2400" dirty="0"/>
              <a:t>②</a:t>
            </a:r>
            <a:r>
              <a:rPr kumimoji="1" lang="zh-CN" altLang="en-US" dirty="0"/>
              <a:t>任意两个小项合取为假；</a:t>
            </a:r>
          </a:p>
        </p:txBody>
      </p:sp>
      <p:sp>
        <p:nvSpPr>
          <p:cNvPr id="464904" name="Rectangle 8"/>
          <p:cNvSpPr>
            <a:spLocks noChangeArrowheads="1"/>
          </p:cNvSpPr>
          <p:nvPr/>
        </p:nvSpPr>
        <p:spPr bwMode="auto">
          <a:xfrm>
            <a:off x="719138" y="3933528"/>
            <a:ext cx="79168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en-US" sz="2400"/>
              <a:t>③</a:t>
            </a:r>
            <a:r>
              <a:rPr kumimoji="1" lang="zh-CN" altLang="en-US"/>
              <a:t>全体小项的析取值永为真；</a:t>
            </a:r>
          </a:p>
        </p:txBody>
      </p:sp>
      <p:sp>
        <p:nvSpPr>
          <p:cNvPr id="464906" name="Rectangle 10"/>
          <p:cNvSpPr>
            <a:spLocks noChangeArrowheads="1"/>
          </p:cNvSpPr>
          <p:nvPr/>
        </p:nvSpPr>
        <p:spPr bwMode="auto">
          <a:xfrm>
            <a:off x="719138" y="4581228"/>
            <a:ext cx="79168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/>
              <a:t>(P∧Q)</a:t>
            </a:r>
            <a:r>
              <a:rPr kumimoji="1" lang="en-US" altLang="zh-CN">
                <a:latin typeface="Tahoma" pitchFamily="34" charset="0"/>
              </a:rPr>
              <a:t>∨</a:t>
            </a:r>
            <a:r>
              <a:rPr kumimoji="1" lang="en-US" altLang="zh-CN"/>
              <a:t>(┐P∧Q)</a:t>
            </a:r>
            <a:r>
              <a:rPr kumimoji="1" lang="en-US" altLang="zh-CN">
                <a:latin typeface="Tahoma" pitchFamily="34" charset="0"/>
              </a:rPr>
              <a:t>∨</a:t>
            </a:r>
            <a:r>
              <a:rPr kumimoji="1" lang="en-US" altLang="zh-CN"/>
              <a:t>(P∧┐Q)∨(┐P∧┐Q)</a:t>
            </a:r>
          </a:p>
        </p:txBody>
      </p:sp>
      <p:sp>
        <p:nvSpPr>
          <p:cNvPr id="464908" name="Rectangle 12"/>
          <p:cNvSpPr>
            <a:spLocks noChangeArrowheads="1"/>
          </p:cNvSpPr>
          <p:nvPr/>
        </p:nvSpPr>
        <p:spPr bwMode="auto">
          <a:xfrm>
            <a:off x="719138" y="1988840"/>
            <a:ext cx="79168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dirty="0"/>
              <a:t>P∧Q   m</a:t>
            </a:r>
            <a:r>
              <a:rPr kumimoji="1" lang="en-US" altLang="zh-CN" baseline="-25000" dirty="0"/>
              <a:t>11</a:t>
            </a:r>
            <a:r>
              <a:rPr kumimoji="1" lang="en-US" altLang="zh-CN" dirty="0"/>
              <a:t>(m</a:t>
            </a:r>
            <a:r>
              <a:rPr kumimoji="1" lang="en-US" altLang="zh-CN" baseline="-25000" dirty="0"/>
              <a:t>3</a:t>
            </a:r>
            <a:r>
              <a:rPr kumimoji="1" lang="en-US" altLang="zh-CN" dirty="0"/>
              <a:t>)      ┐P∧Q   m</a:t>
            </a:r>
            <a:r>
              <a:rPr kumimoji="1" lang="en-US" altLang="zh-CN" baseline="-25000" dirty="0"/>
              <a:t>01</a:t>
            </a:r>
            <a:r>
              <a:rPr kumimoji="1" lang="en-US" altLang="zh-CN" dirty="0"/>
              <a:t>(m</a:t>
            </a:r>
            <a:r>
              <a:rPr kumimoji="1" lang="en-US" altLang="zh-CN" baseline="-25000" dirty="0"/>
              <a:t>1</a:t>
            </a:r>
            <a:r>
              <a:rPr kumimoji="1" lang="en-US" altLang="zh-CN" dirty="0"/>
              <a:t>) </a:t>
            </a:r>
          </a:p>
        </p:txBody>
      </p:sp>
      <p:sp>
        <p:nvSpPr>
          <p:cNvPr id="464910" name="Rectangle 14"/>
          <p:cNvSpPr>
            <a:spLocks noChangeArrowheads="1"/>
          </p:cNvSpPr>
          <p:nvPr/>
        </p:nvSpPr>
        <p:spPr bwMode="auto">
          <a:xfrm>
            <a:off x="719138" y="3285828"/>
            <a:ext cx="79168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/>
              <a:t>(P∧Q)</a:t>
            </a:r>
            <a:r>
              <a:rPr kumimoji="1" lang="en-US" altLang="zh-CN">
                <a:latin typeface="Tahoma" pitchFamily="34" charset="0"/>
              </a:rPr>
              <a:t>∧</a:t>
            </a:r>
            <a:r>
              <a:rPr kumimoji="1" lang="en-US" altLang="zh-CN"/>
              <a:t>(┐P∧Q)</a:t>
            </a:r>
            <a:endParaRPr kumimoji="1" lang="en-US" altLang="zh-CN">
              <a:sym typeface="Symbol" pitchFamily="18" charset="2"/>
            </a:endParaRP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4898" grpId="0"/>
      <p:bldP spid="464902" grpId="0"/>
      <p:bldP spid="464904" grpId="0"/>
      <p:bldP spid="464906" grpId="0"/>
      <p:bldP spid="464908" grpId="0"/>
      <p:bldP spid="464910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DE6E6F8-A053-4E41-A821-635459CA5E91}" type="slidenum">
              <a:rPr lang="en-US" altLang="zh-CN"/>
              <a:pPr>
                <a:defRPr/>
              </a:pPr>
              <a:t>81</a:t>
            </a:fld>
            <a:endParaRPr lang="en-US" altLang="zh-CN"/>
          </a:p>
        </p:txBody>
      </p:sp>
      <p:sp>
        <p:nvSpPr>
          <p:cNvPr id="1085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 smtClean="0"/>
              <a:t>复习</a:t>
            </a:r>
          </a:p>
        </p:txBody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088" y="1628775"/>
            <a:ext cx="8066087" cy="4114800"/>
          </a:xfrm>
        </p:spPr>
        <p:txBody>
          <a:bodyPr/>
          <a:lstStyle/>
          <a:p>
            <a:pPr eaLnBrk="1" hangingPunct="1"/>
            <a:r>
              <a:rPr lang="zh-CN" altLang="en-US" dirty="0" smtClean="0"/>
              <a:t>与</a:t>
            </a:r>
            <a:r>
              <a:rPr lang="zh-CN" altLang="en-US" dirty="0"/>
              <a:t>非、或非、条件否定、异或。</a:t>
            </a:r>
          </a:p>
          <a:p>
            <a:pPr eaLnBrk="1" hangingPunct="1"/>
            <a:r>
              <a:rPr lang="zh-CN" altLang="en-US" dirty="0"/>
              <a:t>对偶式</a:t>
            </a:r>
            <a:endParaRPr lang="en-US" altLang="zh-CN" dirty="0" smtClean="0"/>
          </a:p>
          <a:p>
            <a:pPr eaLnBrk="1" hangingPunct="1"/>
            <a:r>
              <a:rPr lang="zh-CN" altLang="en-US" dirty="0" smtClean="0"/>
              <a:t>范式：合取和析取</a:t>
            </a:r>
          </a:p>
          <a:p>
            <a:pPr eaLnBrk="1" hangingPunct="1"/>
            <a:r>
              <a:rPr lang="zh-CN" altLang="en-US" dirty="0" smtClean="0"/>
              <a:t>主析取范式：</a:t>
            </a:r>
            <a:r>
              <a:rPr lang="zh-CN" altLang="en-US" dirty="0"/>
              <a:t>合取式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小项</a:t>
            </a:r>
          </a:p>
        </p:txBody>
      </p:sp>
    </p:spTree>
    <p:extLst>
      <p:ext uri="{BB962C8B-B14F-4D97-AF65-F5344CB8AC3E}">
        <p14:creationId xmlns:p14="http://schemas.microsoft.com/office/powerpoint/2010/main" val="1420004190"/>
      </p:ext>
    </p:extLst>
  </p:cSld>
  <p:clrMapOvr>
    <a:masterClrMapping/>
  </p:clrMapOvr>
  <p:transition spd="slow">
    <p:pull dir="ru"/>
  </p:transition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9867300-0A0A-44A6-A06C-BEBD238E70D4}" type="slidenum">
              <a:rPr lang="en-US" altLang="zh-CN"/>
              <a:pPr>
                <a:defRPr/>
              </a:pPr>
              <a:t>82</a:t>
            </a:fld>
            <a:endParaRPr lang="en-US" altLang="zh-CN"/>
          </a:p>
        </p:txBody>
      </p:sp>
      <p:sp>
        <p:nvSpPr>
          <p:cNvPr id="516104" name="Rectangle 8"/>
          <p:cNvSpPr>
            <a:spLocks noChangeArrowheads="1"/>
          </p:cNvSpPr>
          <p:nvPr/>
        </p:nvSpPr>
        <p:spPr bwMode="auto">
          <a:xfrm>
            <a:off x="719138" y="1403350"/>
            <a:ext cx="7916862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>
                <a:solidFill>
                  <a:schemeClr val="hlink"/>
                </a:solidFill>
              </a:rPr>
              <a:t>        </a:t>
            </a:r>
            <a:r>
              <a:rPr kumimoji="1" lang="zh-CN" altLang="en-US">
                <a:solidFill>
                  <a:schemeClr val="hlink"/>
                </a:solidFill>
              </a:rPr>
              <a:t>定义</a:t>
            </a:r>
            <a:r>
              <a:rPr kumimoji="1" lang="en-US" altLang="zh-CN">
                <a:solidFill>
                  <a:schemeClr val="hlink"/>
                </a:solidFill>
              </a:rPr>
              <a:t>1-7.5</a:t>
            </a:r>
            <a:r>
              <a:rPr kumimoji="1" lang="zh-CN" altLang="en-US">
                <a:solidFill>
                  <a:schemeClr val="hlink"/>
                </a:solidFill>
              </a:rPr>
              <a:t>：</a:t>
            </a:r>
            <a:r>
              <a:rPr kumimoji="1" lang="zh-CN" altLang="en-US"/>
              <a:t>在给定公式的析取范式中，其</a:t>
            </a:r>
            <a:r>
              <a:rPr kumimoji="1" lang="zh-CN" altLang="en-US" u="sng"/>
              <a:t>合取式</a:t>
            </a:r>
            <a:r>
              <a:rPr kumimoji="1" lang="zh-CN" altLang="en-US"/>
              <a:t>都是</a:t>
            </a:r>
            <a:r>
              <a:rPr kumimoji="1" lang="zh-CN" altLang="en-US" u="sng"/>
              <a:t>小项</a:t>
            </a:r>
            <a:r>
              <a:rPr kumimoji="1" lang="zh-CN" altLang="en-US"/>
              <a:t>，则称该范式为主析取范式。</a:t>
            </a:r>
          </a:p>
        </p:txBody>
      </p:sp>
      <p:sp>
        <p:nvSpPr>
          <p:cNvPr id="90116" name="Rectangle 10"/>
          <p:cNvSpPr>
            <a:spLocks noChangeArrowheads="1"/>
          </p:cNvSpPr>
          <p:nvPr/>
        </p:nvSpPr>
        <p:spPr bwMode="auto">
          <a:xfrm>
            <a:off x="1116013" y="646113"/>
            <a:ext cx="35798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>
                <a:latin typeface="宋体" pitchFamily="2" charset="-122"/>
              </a:rPr>
              <a:t>(3)</a:t>
            </a:r>
            <a:r>
              <a:rPr kumimoji="1" lang="zh-CN" altLang="en-US">
                <a:latin typeface="宋体" pitchFamily="2" charset="-122"/>
              </a:rPr>
              <a:t>主析取范式的定义</a:t>
            </a:r>
          </a:p>
        </p:txBody>
      </p:sp>
      <p:sp>
        <p:nvSpPr>
          <p:cNvPr id="516110" name="Rectangle 14"/>
          <p:cNvSpPr>
            <a:spLocks noChangeArrowheads="1"/>
          </p:cNvSpPr>
          <p:nvPr/>
        </p:nvSpPr>
        <p:spPr bwMode="auto">
          <a:xfrm>
            <a:off x="719138" y="2549525"/>
            <a:ext cx="79168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>
                <a:solidFill>
                  <a:schemeClr val="hlink"/>
                </a:solidFill>
              </a:rPr>
              <a:t>例如： </a:t>
            </a:r>
            <a:r>
              <a:rPr kumimoji="1" lang="en-US" altLang="zh-CN"/>
              <a:t>(P∧Q∧R)∨(┐P∧Q∧┐R)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6104" grpId="0"/>
      <p:bldP spid="516110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F187227-BC08-427E-BE9A-8B0B9154D902}" type="slidenum">
              <a:rPr lang="en-US" altLang="zh-CN"/>
              <a:pPr>
                <a:defRPr/>
              </a:pPr>
              <a:t>83</a:t>
            </a:fld>
            <a:endParaRPr lang="en-US" altLang="zh-CN"/>
          </a:p>
        </p:txBody>
      </p:sp>
      <p:sp>
        <p:nvSpPr>
          <p:cNvPr id="663554" name="Rectangle 2"/>
          <p:cNvSpPr>
            <a:spLocks noChangeArrowheads="1"/>
          </p:cNvSpPr>
          <p:nvPr/>
        </p:nvSpPr>
        <p:spPr bwMode="auto">
          <a:xfrm>
            <a:off x="719138" y="2170113"/>
            <a:ext cx="7916862" cy="1373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dirty="0">
                <a:solidFill>
                  <a:schemeClr val="hlink"/>
                </a:solidFill>
              </a:rPr>
              <a:t>       </a:t>
            </a:r>
            <a:r>
              <a:rPr kumimoji="1" lang="zh-CN" altLang="en-US" dirty="0">
                <a:solidFill>
                  <a:schemeClr val="hlink"/>
                </a:solidFill>
              </a:rPr>
              <a:t>定理</a:t>
            </a:r>
            <a:r>
              <a:rPr kumimoji="1" lang="en-US" altLang="zh-CN" dirty="0">
                <a:solidFill>
                  <a:schemeClr val="hlink"/>
                </a:solidFill>
              </a:rPr>
              <a:t>1-7.3</a:t>
            </a:r>
            <a:r>
              <a:rPr kumimoji="1" lang="zh-CN" altLang="en-US" dirty="0">
                <a:solidFill>
                  <a:schemeClr val="hlink"/>
                </a:solidFill>
              </a:rPr>
              <a:t>：</a:t>
            </a:r>
            <a:r>
              <a:rPr kumimoji="1" lang="zh-CN" altLang="en-US" dirty="0"/>
              <a:t>在真值表中，一个公式的真值为</a:t>
            </a:r>
            <a:r>
              <a:rPr kumimoji="1" lang="en-US" altLang="zh-CN" dirty="0"/>
              <a:t>T</a:t>
            </a:r>
            <a:r>
              <a:rPr kumimoji="1" lang="zh-CN" altLang="en-US" dirty="0"/>
              <a:t>的指派所对应的小项的析取，即为此公式的主析取范式。</a:t>
            </a:r>
          </a:p>
        </p:txBody>
      </p:sp>
      <p:sp>
        <p:nvSpPr>
          <p:cNvPr id="91140" name="Rectangle 4"/>
          <p:cNvSpPr>
            <a:spLocks noChangeArrowheads="1"/>
          </p:cNvSpPr>
          <p:nvPr/>
        </p:nvSpPr>
        <p:spPr bwMode="auto">
          <a:xfrm>
            <a:off x="1116013" y="646113"/>
            <a:ext cx="63357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en-US">
                <a:latin typeface="宋体" pitchFamily="2" charset="-122"/>
              </a:rPr>
              <a:t>(4) 主析取范式的求解方法 </a:t>
            </a:r>
            <a:endParaRPr kumimoji="1" lang="zh-CN" altLang="en-US">
              <a:latin typeface="宋体" pitchFamily="2" charset="-122"/>
            </a:endParaRPr>
          </a:p>
        </p:txBody>
      </p:sp>
      <p:sp>
        <p:nvSpPr>
          <p:cNvPr id="663559" name="Rectangle 7"/>
          <p:cNvSpPr>
            <a:spLocks noChangeArrowheads="1"/>
          </p:cNvSpPr>
          <p:nvPr/>
        </p:nvSpPr>
        <p:spPr bwMode="auto">
          <a:xfrm>
            <a:off x="719138" y="1484313"/>
            <a:ext cx="79168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en-US" sz="2400"/>
              <a:t>①</a:t>
            </a:r>
            <a:r>
              <a:rPr kumimoji="1" lang="zh-CN" altLang="en-US"/>
              <a:t>真值表法</a:t>
            </a:r>
            <a:r>
              <a:rPr kumimoji="1" lang="zh-CN" altLang="en-US">
                <a:solidFill>
                  <a:schemeClr val="hlink"/>
                </a:solidFill>
              </a:rPr>
              <a:t>        </a:t>
            </a:r>
          </a:p>
        </p:txBody>
      </p:sp>
      <p:sp>
        <p:nvSpPr>
          <p:cNvPr id="663560" name="Rectangle 8"/>
          <p:cNvSpPr>
            <a:spLocks noChangeArrowheads="1"/>
          </p:cNvSpPr>
          <p:nvPr/>
        </p:nvSpPr>
        <p:spPr bwMode="auto">
          <a:xfrm>
            <a:off x="3262313" y="3038475"/>
            <a:ext cx="5181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/>
              <a:t>——</a:t>
            </a:r>
            <a:r>
              <a:rPr kumimoji="1" lang="zh-CN" altLang="en-US"/>
              <a:t>永假式有没有主析取范式？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3554" grpId="0"/>
      <p:bldP spid="663559" grpId="0"/>
      <p:bldP spid="663560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D681CB8-843F-4440-9444-1BA748302AE4}" type="slidenum">
              <a:rPr lang="en-US" altLang="zh-CN"/>
              <a:pPr>
                <a:defRPr/>
              </a:pPr>
              <a:t>84</a:t>
            </a:fld>
            <a:endParaRPr lang="en-US" altLang="zh-CN"/>
          </a:p>
        </p:txBody>
      </p:sp>
      <p:sp>
        <p:nvSpPr>
          <p:cNvPr id="465949" name="Text Box 29"/>
          <p:cNvSpPr txBox="1">
            <a:spLocks noChangeArrowheads="1"/>
          </p:cNvSpPr>
          <p:nvPr/>
        </p:nvSpPr>
        <p:spPr bwMode="auto">
          <a:xfrm>
            <a:off x="1403350" y="4437063"/>
            <a:ext cx="6553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/>
              <a:t>P→Q</a:t>
            </a:r>
            <a:r>
              <a:rPr kumimoji="1" lang="en-US" altLang="zh-CN">
                <a:sym typeface="Symbol" pitchFamily="18" charset="2"/>
              </a:rPr>
              <a:t></a:t>
            </a:r>
            <a:r>
              <a:rPr kumimoji="1" lang="en-US" altLang="zh-CN"/>
              <a:t>(┐P∧┐Q)∨(┐P∧Q)∨(P∧Q)</a:t>
            </a:r>
          </a:p>
        </p:txBody>
      </p:sp>
      <p:graphicFrame>
        <p:nvGraphicFramePr>
          <p:cNvPr id="465959" name="Group 39"/>
          <p:cNvGraphicFramePr>
            <a:graphicFrameLocks noGrp="1"/>
          </p:cNvGraphicFramePr>
          <p:nvPr/>
        </p:nvGraphicFramePr>
        <p:xfrm>
          <a:off x="2411413" y="1489075"/>
          <a:ext cx="2438400" cy="2590800"/>
        </p:xfrm>
        <a:graphic>
          <a:graphicData uri="http://schemas.openxmlformats.org/drawingml/2006/table">
            <a:tbl>
              <a:tblPr/>
              <a:tblGrid>
                <a:gridCol w="609600"/>
                <a:gridCol w="746125"/>
                <a:gridCol w="1082675"/>
              </a:tblGrid>
              <a:tr h="431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P→Q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4191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406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4635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4508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</a:tbl>
          </a:graphicData>
        </a:graphic>
      </p:graphicFrame>
      <p:sp>
        <p:nvSpPr>
          <p:cNvPr id="92190" name="Rectangle 43"/>
          <p:cNvSpPr>
            <a:spLocks noChangeArrowheads="1"/>
          </p:cNvSpPr>
          <p:nvPr/>
        </p:nvSpPr>
        <p:spPr bwMode="auto">
          <a:xfrm>
            <a:off x="755650" y="1577975"/>
            <a:ext cx="16557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dirty="0" smtClean="0">
                <a:solidFill>
                  <a:schemeClr val="hlink"/>
                </a:solidFill>
              </a:rPr>
              <a:t>例</a:t>
            </a:r>
            <a:r>
              <a:rPr kumimoji="1" lang="en-US" altLang="zh-CN" dirty="0" smtClean="0">
                <a:solidFill>
                  <a:schemeClr val="hlink"/>
                </a:solidFill>
              </a:rPr>
              <a:t>1</a:t>
            </a:r>
            <a:r>
              <a:rPr kumimoji="1" lang="zh-CN" altLang="en-US" dirty="0" smtClean="0">
                <a:solidFill>
                  <a:schemeClr val="hlink"/>
                </a:solidFill>
              </a:rPr>
              <a:t>：</a:t>
            </a:r>
            <a:endParaRPr kumimoji="1" lang="zh-CN" altLang="en-US" dirty="0">
              <a:solidFill>
                <a:schemeClr val="hlink"/>
              </a:solidFill>
            </a:endParaRP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5949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0114F14-D863-413A-873B-419A2BB9E967}" type="slidenum">
              <a:rPr lang="en-US" altLang="zh-CN"/>
              <a:pPr>
                <a:defRPr/>
              </a:pPr>
              <a:t>85</a:t>
            </a:fld>
            <a:endParaRPr lang="en-US" altLang="zh-CN"/>
          </a:p>
        </p:txBody>
      </p:sp>
      <p:sp>
        <p:nvSpPr>
          <p:cNvPr id="93187" name="Text Box 4"/>
          <p:cNvSpPr txBox="1">
            <a:spLocks noChangeArrowheads="1"/>
          </p:cNvSpPr>
          <p:nvPr/>
        </p:nvSpPr>
        <p:spPr bwMode="auto">
          <a:xfrm>
            <a:off x="1116013" y="692150"/>
            <a:ext cx="54721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82563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en-US" sz="2400"/>
              <a:t>②</a:t>
            </a:r>
            <a:r>
              <a:rPr kumimoji="1" lang="zh-CN" altLang="en-US"/>
              <a:t>等价公式法</a:t>
            </a:r>
          </a:p>
        </p:txBody>
      </p:sp>
      <p:sp>
        <p:nvSpPr>
          <p:cNvPr id="517126" name="Rectangle 6"/>
          <p:cNvSpPr>
            <a:spLocks noChangeArrowheads="1"/>
          </p:cNvSpPr>
          <p:nvPr/>
        </p:nvSpPr>
        <p:spPr bwMode="auto">
          <a:xfrm>
            <a:off x="719138" y="1685925"/>
            <a:ext cx="79168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/>
              <a:t>a) </a:t>
            </a:r>
            <a:r>
              <a:rPr kumimoji="1" lang="zh-CN" altLang="en-US"/>
              <a:t>划为析取式 ；</a:t>
            </a:r>
          </a:p>
        </p:txBody>
      </p:sp>
      <p:sp>
        <p:nvSpPr>
          <p:cNvPr id="517128" name="Rectangle 8"/>
          <p:cNvSpPr>
            <a:spLocks noChangeArrowheads="1"/>
          </p:cNvSpPr>
          <p:nvPr/>
        </p:nvSpPr>
        <p:spPr bwMode="auto">
          <a:xfrm>
            <a:off x="719138" y="2405063"/>
            <a:ext cx="79168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/>
              <a:t>b) </a:t>
            </a:r>
            <a:r>
              <a:rPr kumimoji="1" lang="zh-CN" altLang="en-US"/>
              <a:t>删除永假的合取式；</a:t>
            </a:r>
          </a:p>
        </p:txBody>
      </p:sp>
      <p:sp>
        <p:nvSpPr>
          <p:cNvPr id="517130" name="Rectangle 10"/>
          <p:cNvSpPr>
            <a:spLocks noChangeArrowheads="1"/>
          </p:cNvSpPr>
          <p:nvPr/>
        </p:nvSpPr>
        <p:spPr bwMode="auto">
          <a:xfrm>
            <a:off x="719138" y="3140968"/>
            <a:ext cx="79168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 dirty="0"/>
              <a:t>c) </a:t>
            </a:r>
            <a:r>
              <a:rPr kumimoji="1" lang="zh-CN" altLang="en-US" dirty="0"/>
              <a:t>化简重复出现的变元（幂等律）；</a:t>
            </a:r>
          </a:p>
        </p:txBody>
      </p:sp>
      <p:sp>
        <p:nvSpPr>
          <p:cNvPr id="517132" name="Rectangle 12"/>
          <p:cNvSpPr>
            <a:spLocks noChangeArrowheads="1"/>
          </p:cNvSpPr>
          <p:nvPr/>
        </p:nvSpPr>
        <p:spPr bwMode="auto">
          <a:xfrm>
            <a:off x="719138" y="3917950"/>
            <a:ext cx="79168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/>
              <a:t>d) </a:t>
            </a:r>
            <a:r>
              <a:rPr kumimoji="1" lang="zh-CN" altLang="en-US"/>
              <a:t>补进未出现的变元（同一律）。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7126" grpId="0"/>
      <p:bldP spid="517128" grpId="0"/>
      <p:bldP spid="517130" grpId="0"/>
      <p:bldP spid="517132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72B86F2-1FCF-465E-A6D3-CB6EE8A72D8F}" type="slidenum">
              <a:rPr lang="en-US" altLang="zh-CN"/>
              <a:pPr>
                <a:defRPr/>
              </a:pPr>
              <a:t>86</a:t>
            </a:fld>
            <a:endParaRPr lang="en-US" altLang="zh-CN"/>
          </a:p>
        </p:txBody>
      </p:sp>
      <p:sp>
        <p:nvSpPr>
          <p:cNvPr id="94211" name="Text Box 4"/>
          <p:cNvSpPr txBox="1">
            <a:spLocks noChangeArrowheads="1"/>
          </p:cNvSpPr>
          <p:nvPr/>
        </p:nvSpPr>
        <p:spPr bwMode="auto">
          <a:xfrm>
            <a:off x="684213" y="1541463"/>
            <a:ext cx="35290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/>
              <a:t>P→Q</a:t>
            </a:r>
            <a:r>
              <a:rPr kumimoji="1" lang="en-US" altLang="zh-CN">
                <a:sym typeface="Symbol" pitchFamily="18" charset="2"/>
              </a:rPr>
              <a:t></a:t>
            </a:r>
            <a:r>
              <a:rPr kumimoji="1" lang="en-US" altLang="zh-CN"/>
              <a:t>┐P∨Q</a:t>
            </a:r>
          </a:p>
        </p:txBody>
      </p:sp>
      <p:graphicFrame>
        <p:nvGraphicFramePr>
          <p:cNvPr id="551941" name="Group 5"/>
          <p:cNvGraphicFramePr>
            <a:graphicFrameLocks noGrp="1"/>
          </p:cNvGraphicFramePr>
          <p:nvPr/>
        </p:nvGraphicFramePr>
        <p:xfrm>
          <a:off x="6021388" y="1268413"/>
          <a:ext cx="2438400" cy="2590800"/>
        </p:xfrm>
        <a:graphic>
          <a:graphicData uri="http://schemas.openxmlformats.org/drawingml/2006/table">
            <a:tbl>
              <a:tblPr/>
              <a:tblGrid>
                <a:gridCol w="609600"/>
                <a:gridCol w="746125"/>
                <a:gridCol w="1082675"/>
              </a:tblGrid>
              <a:tr h="431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P→Q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4191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406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4635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4508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</a:tbl>
          </a:graphicData>
        </a:graphic>
      </p:graphicFrame>
      <p:sp>
        <p:nvSpPr>
          <p:cNvPr id="551967" name="Rectangle 31"/>
          <p:cNvSpPr>
            <a:spLocks noChangeArrowheads="1"/>
          </p:cNvSpPr>
          <p:nvPr/>
        </p:nvSpPr>
        <p:spPr bwMode="auto">
          <a:xfrm>
            <a:off x="1604963" y="4537075"/>
            <a:ext cx="56086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>
                <a:sym typeface="Symbol" pitchFamily="18" charset="2"/>
              </a:rPr>
              <a:t></a:t>
            </a:r>
            <a:r>
              <a:rPr kumimoji="1" lang="en-US" altLang="zh-CN"/>
              <a:t>(┐P∧┐Q)∨(┐P∧Q)∨(P∧Q)</a:t>
            </a:r>
          </a:p>
        </p:txBody>
      </p:sp>
      <p:sp>
        <p:nvSpPr>
          <p:cNvPr id="551968" name="Rectangle 32"/>
          <p:cNvSpPr>
            <a:spLocks noChangeArrowheads="1"/>
          </p:cNvSpPr>
          <p:nvPr/>
        </p:nvSpPr>
        <p:spPr bwMode="auto">
          <a:xfrm>
            <a:off x="1547813" y="2057400"/>
            <a:ext cx="3230562" cy="120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>
                <a:sym typeface="Symbol" pitchFamily="18" charset="2"/>
              </a:rPr>
              <a:t>(</a:t>
            </a:r>
            <a:r>
              <a:rPr kumimoji="1" lang="en-US" altLang="zh-CN"/>
              <a:t>┐P∧(┐Q∨Q))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/>
              <a:t>    ∨(Q∧(┐P∨P))</a:t>
            </a:r>
          </a:p>
        </p:txBody>
      </p:sp>
      <p:sp>
        <p:nvSpPr>
          <p:cNvPr id="551969" name="Rectangle 33"/>
          <p:cNvSpPr>
            <a:spLocks noChangeArrowheads="1"/>
          </p:cNvSpPr>
          <p:nvPr/>
        </p:nvSpPr>
        <p:spPr bwMode="auto">
          <a:xfrm>
            <a:off x="1562100" y="3227388"/>
            <a:ext cx="4537075" cy="1160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>
                <a:sym typeface="Symbol" pitchFamily="18" charset="2"/>
              </a:rPr>
              <a:t>(</a:t>
            </a:r>
            <a:r>
              <a:rPr kumimoji="1" lang="en-US" altLang="zh-CN"/>
              <a:t>(┐P∧┐Q)∨(┐P∧Q))</a:t>
            </a:r>
          </a:p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/>
              <a:t>    ∨((┐P∧Q)∨(P∧Q))</a:t>
            </a:r>
          </a:p>
        </p:txBody>
      </p:sp>
      <p:sp>
        <p:nvSpPr>
          <p:cNvPr id="551971" name="Rectangle 35"/>
          <p:cNvSpPr>
            <a:spLocks noChangeArrowheads="1"/>
          </p:cNvSpPr>
          <p:nvPr/>
        </p:nvSpPr>
        <p:spPr bwMode="auto">
          <a:xfrm>
            <a:off x="1619250" y="5229225"/>
            <a:ext cx="28844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>
                <a:sym typeface="Symbol" pitchFamily="18" charset="2"/>
              </a:rPr>
              <a:t>m</a:t>
            </a:r>
            <a:r>
              <a:rPr kumimoji="1" lang="en-US" altLang="zh-CN" baseline="-25000">
                <a:sym typeface="Symbol" pitchFamily="18" charset="2"/>
              </a:rPr>
              <a:t>00</a:t>
            </a:r>
            <a:r>
              <a:rPr kumimoji="1" lang="en-US" altLang="zh-CN"/>
              <a:t>∨m</a:t>
            </a:r>
            <a:r>
              <a:rPr kumimoji="1" lang="en-US" altLang="zh-CN" baseline="-25000"/>
              <a:t>01</a:t>
            </a:r>
            <a:r>
              <a:rPr kumimoji="1" lang="en-US" altLang="zh-CN"/>
              <a:t>∨m</a:t>
            </a:r>
            <a:r>
              <a:rPr kumimoji="1" lang="en-US" altLang="zh-CN" baseline="-25000"/>
              <a:t>11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1967" grpId="0"/>
      <p:bldP spid="551968" grpId="0"/>
      <p:bldP spid="551969" grpId="0"/>
      <p:bldP spid="551971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23FFC76-AE0D-4E88-B028-341456986500}" type="slidenum">
              <a:rPr lang="en-US" altLang="zh-CN"/>
              <a:pPr>
                <a:defRPr/>
              </a:pPr>
              <a:t>87</a:t>
            </a:fld>
            <a:endParaRPr lang="en-US" altLang="zh-CN"/>
          </a:p>
        </p:txBody>
      </p:sp>
      <p:sp>
        <p:nvSpPr>
          <p:cNvPr id="95235" name="Rectangle 5"/>
          <p:cNvSpPr>
            <a:spLocks noChangeArrowheads="1"/>
          </p:cNvSpPr>
          <p:nvPr/>
        </p:nvSpPr>
        <p:spPr bwMode="auto">
          <a:xfrm>
            <a:off x="719138" y="1700213"/>
            <a:ext cx="7916862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zh-CN" altLang="en-US">
                <a:solidFill>
                  <a:schemeClr val="hlink"/>
                </a:solidFill>
              </a:rPr>
              <a:t>注意：</a:t>
            </a:r>
            <a:r>
              <a:rPr kumimoji="1" lang="zh-CN" altLang="en-US"/>
              <a:t>任意含</a:t>
            </a:r>
            <a:r>
              <a:rPr kumimoji="1" lang="en-US" altLang="zh-CN"/>
              <a:t>n</a:t>
            </a:r>
            <a:r>
              <a:rPr kumimoji="1" lang="zh-CN" altLang="en-US"/>
              <a:t>个命题变元的非永假命题公式，其主析取范式是唯一的。 </a:t>
            </a:r>
          </a:p>
        </p:txBody>
      </p:sp>
      <p:sp>
        <p:nvSpPr>
          <p:cNvPr id="542727" name="Rectangle 7"/>
          <p:cNvSpPr>
            <a:spLocks noChangeArrowheads="1"/>
          </p:cNvSpPr>
          <p:nvPr/>
        </p:nvSpPr>
        <p:spPr bwMode="auto">
          <a:xfrm>
            <a:off x="719138" y="2636912"/>
            <a:ext cx="7916862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/>
              <a:t>主析取范式唯一性说明，如果公式的主析取范式相同，则证明两个公式的等价。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27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C8426FE-A91F-45E5-9DFC-9AEDA5E0376B}" type="slidenum">
              <a:rPr lang="en-US" altLang="zh-CN"/>
              <a:pPr>
                <a:defRPr/>
              </a:pPr>
              <a:t>88</a:t>
            </a:fld>
            <a:endParaRPr lang="en-US" altLang="zh-CN"/>
          </a:p>
        </p:txBody>
      </p:sp>
      <p:sp>
        <p:nvSpPr>
          <p:cNvPr id="96259" name="Text Box 2"/>
          <p:cNvSpPr txBox="1">
            <a:spLocks noChangeArrowheads="1"/>
          </p:cNvSpPr>
          <p:nvPr/>
        </p:nvSpPr>
        <p:spPr bwMode="auto">
          <a:xfrm>
            <a:off x="719138" y="1470025"/>
            <a:ext cx="79168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/>
              <a:t>(1)</a:t>
            </a:r>
            <a:r>
              <a:rPr kumimoji="1" lang="en-US" altLang="zh-CN">
                <a:cs typeface="Times New Roman" pitchFamily="18" charset="0"/>
              </a:rPr>
              <a:t>  </a:t>
            </a:r>
            <a:r>
              <a:rPr kumimoji="1" lang="zh-CN" altLang="en-US"/>
              <a:t>大项的概念</a:t>
            </a:r>
            <a:r>
              <a:rPr kumimoji="1" lang="zh-CN" altLang="en-US">
                <a:solidFill>
                  <a:schemeClr val="hlink"/>
                </a:solidFill>
              </a:rPr>
              <a:t>         </a:t>
            </a:r>
            <a:endParaRPr kumimoji="1" lang="zh-CN" altLang="en-US"/>
          </a:p>
        </p:txBody>
      </p:sp>
      <p:sp>
        <p:nvSpPr>
          <p:cNvPr id="96260" name="Rectangle 4"/>
          <p:cNvSpPr>
            <a:spLocks noChangeArrowheads="1"/>
          </p:cNvSpPr>
          <p:nvPr/>
        </p:nvSpPr>
        <p:spPr bwMode="auto">
          <a:xfrm>
            <a:off x="1187450" y="644525"/>
            <a:ext cx="2671763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3000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kumimoji="1" lang="zh-CN" altLang="en-US" sz="3000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</a:rPr>
              <a:t>、主合取范式</a:t>
            </a:r>
          </a:p>
        </p:txBody>
      </p:sp>
      <p:sp>
        <p:nvSpPr>
          <p:cNvPr id="466950" name="Rectangle 6"/>
          <p:cNvSpPr>
            <a:spLocks noChangeArrowheads="1"/>
          </p:cNvSpPr>
          <p:nvPr/>
        </p:nvSpPr>
        <p:spPr bwMode="auto">
          <a:xfrm>
            <a:off x="719138" y="2033389"/>
            <a:ext cx="7916862" cy="197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ts val="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 dirty="0">
                <a:solidFill>
                  <a:schemeClr val="hlink"/>
                </a:solidFill>
              </a:rPr>
              <a:t>        </a:t>
            </a:r>
            <a:r>
              <a:rPr kumimoji="1" lang="zh-CN" altLang="en-US" dirty="0">
                <a:solidFill>
                  <a:schemeClr val="hlink"/>
                </a:solidFill>
              </a:rPr>
              <a:t>定义</a:t>
            </a:r>
            <a:r>
              <a:rPr kumimoji="1" lang="en-US" altLang="zh-CN" dirty="0">
                <a:solidFill>
                  <a:schemeClr val="hlink"/>
                </a:solidFill>
              </a:rPr>
              <a:t>1-7.6</a:t>
            </a:r>
            <a:r>
              <a:rPr kumimoji="1" lang="zh-CN" altLang="en-US" dirty="0">
                <a:solidFill>
                  <a:schemeClr val="hlink"/>
                </a:solidFill>
              </a:rPr>
              <a:t>：</a:t>
            </a:r>
            <a:r>
              <a:rPr kumimoji="1" lang="zh-CN" altLang="en-US" dirty="0"/>
              <a:t>在含有</a:t>
            </a:r>
            <a:r>
              <a:rPr kumimoji="1" lang="en-US" altLang="zh-CN" dirty="0"/>
              <a:t>n</a:t>
            </a:r>
            <a:r>
              <a:rPr kumimoji="1" lang="zh-CN" altLang="en-US" dirty="0"/>
              <a:t>个命题变元的析取式中，若每个命题变元与其否定</a:t>
            </a:r>
            <a:r>
              <a:rPr kumimoji="1" lang="zh-CN" altLang="en-US" u="sng" dirty="0"/>
              <a:t>不同时存在</a:t>
            </a:r>
            <a:r>
              <a:rPr kumimoji="1" lang="zh-CN" altLang="en-US" dirty="0"/>
              <a:t>，但二者之一必须出现一次</a:t>
            </a:r>
            <a:r>
              <a:rPr kumimoji="1" lang="zh-CN" altLang="en-US" u="sng" dirty="0"/>
              <a:t>且仅</a:t>
            </a:r>
            <a:r>
              <a:rPr kumimoji="1" lang="zh-CN" altLang="en-US" dirty="0"/>
              <a:t>一次，则称该析取式为大项。 </a:t>
            </a:r>
          </a:p>
        </p:txBody>
      </p:sp>
      <p:sp>
        <p:nvSpPr>
          <p:cNvPr id="466952" name="Rectangle 8"/>
          <p:cNvSpPr>
            <a:spLocks noChangeArrowheads="1"/>
          </p:cNvSpPr>
          <p:nvPr/>
        </p:nvSpPr>
        <p:spPr bwMode="auto">
          <a:xfrm>
            <a:off x="719138" y="3845917"/>
            <a:ext cx="79168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zh-CN" altLang="en-US"/>
              <a:t>例：</a:t>
            </a:r>
            <a:r>
              <a:rPr kumimoji="1" lang="en-US" altLang="zh-CN"/>
              <a:t>P∨Q</a:t>
            </a:r>
            <a:r>
              <a:rPr kumimoji="1" lang="zh-CN" altLang="en-US"/>
              <a:t>，┐</a:t>
            </a:r>
            <a:r>
              <a:rPr kumimoji="1" lang="en-US" altLang="zh-CN"/>
              <a:t>P∨Q</a:t>
            </a:r>
            <a:r>
              <a:rPr kumimoji="1" lang="zh-CN" altLang="en-US"/>
              <a:t>，</a:t>
            </a:r>
            <a:r>
              <a:rPr kumimoji="1" lang="en-US" altLang="zh-CN"/>
              <a:t>P∨┐Q</a:t>
            </a:r>
            <a:r>
              <a:rPr kumimoji="1" lang="zh-CN" altLang="en-US"/>
              <a:t>，┐</a:t>
            </a:r>
            <a:r>
              <a:rPr kumimoji="1" lang="en-US" altLang="zh-CN"/>
              <a:t>P∨┐Q</a:t>
            </a:r>
          </a:p>
        </p:txBody>
      </p:sp>
      <p:sp>
        <p:nvSpPr>
          <p:cNvPr id="466954" name="Rectangle 10"/>
          <p:cNvSpPr>
            <a:spLocks noChangeArrowheads="1"/>
          </p:cNvSpPr>
          <p:nvPr/>
        </p:nvSpPr>
        <p:spPr bwMode="auto">
          <a:xfrm>
            <a:off x="719138" y="4638080"/>
            <a:ext cx="79168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/>
              <a:t>n</a:t>
            </a:r>
            <a:r>
              <a:rPr kumimoji="1" lang="zh-CN" altLang="en-US"/>
              <a:t>个变元可有多少大项？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6950" grpId="0"/>
      <p:bldP spid="466952" grpId="0"/>
      <p:bldP spid="466954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E766DF-5316-48AF-9C45-979B21C0D791}" type="slidenum">
              <a:rPr lang="en-US" altLang="zh-CN"/>
              <a:pPr>
                <a:defRPr/>
              </a:pPr>
              <a:t>89</a:t>
            </a:fld>
            <a:endParaRPr lang="en-US" altLang="zh-CN"/>
          </a:p>
        </p:txBody>
      </p:sp>
      <p:sp>
        <p:nvSpPr>
          <p:cNvPr id="97283" name="Rectangle 5"/>
          <p:cNvSpPr>
            <a:spLocks noChangeArrowheads="1"/>
          </p:cNvSpPr>
          <p:nvPr/>
        </p:nvSpPr>
        <p:spPr bwMode="auto">
          <a:xfrm>
            <a:off x="755650" y="1412776"/>
            <a:ext cx="7777163" cy="17125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ts val="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zh-CN" altLang="en-US" dirty="0">
                <a:solidFill>
                  <a:schemeClr val="hlink"/>
                </a:solidFill>
              </a:rPr>
              <a:t>下标表示法：</a:t>
            </a:r>
            <a:r>
              <a:rPr kumimoji="1" lang="zh-CN" altLang="en-US" dirty="0"/>
              <a:t>命题变元按字典顺序排列，</a:t>
            </a:r>
            <a:r>
              <a:rPr kumimoji="1" lang="zh-CN" altLang="en-US" u="sng" dirty="0"/>
              <a:t>命题变元</a:t>
            </a:r>
            <a:r>
              <a:rPr kumimoji="1" lang="zh-CN" altLang="en-US" dirty="0"/>
              <a:t>对应</a:t>
            </a:r>
            <a:r>
              <a:rPr kumimoji="1" lang="en-US" altLang="zh-CN" u="sng" dirty="0">
                <a:solidFill>
                  <a:schemeClr val="hlink"/>
                </a:solidFill>
              </a:rPr>
              <a:t>0</a:t>
            </a:r>
            <a:r>
              <a:rPr kumimoji="1" lang="zh-CN" altLang="en-US" dirty="0"/>
              <a:t>，变元的</a:t>
            </a:r>
            <a:r>
              <a:rPr kumimoji="1" lang="zh-CN" altLang="en-US" u="sng" dirty="0"/>
              <a:t>否定</a:t>
            </a:r>
            <a:r>
              <a:rPr kumimoji="1" lang="zh-CN" altLang="en-US" dirty="0"/>
              <a:t>对应</a:t>
            </a:r>
            <a:r>
              <a:rPr kumimoji="1" lang="en-US" altLang="zh-CN" u="sng" dirty="0">
                <a:solidFill>
                  <a:schemeClr val="hlink"/>
                </a:solidFill>
              </a:rPr>
              <a:t>1</a:t>
            </a:r>
            <a:r>
              <a:rPr kumimoji="1" lang="zh-CN" altLang="en-US" dirty="0"/>
              <a:t>。对大项依二进制编码（或用十进制编码）。 </a:t>
            </a:r>
          </a:p>
        </p:txBody>
      </p:sp>
      <p:sp>
        <p:nvSpPr>
          <p:cNvPr id="518151" name="Rectangle 7"/>
          <p:cNvSpPr>
            <a:spLocks noChangeArrowheads="1"/>
          </p:cNvSpPr>
          <p:nvPr/>
        </p:nvSpPr>
        <p:spPr bwMode="auto">
          <a:xfrm>
            <a:off x="900113" y="3197225"/>
            <a:ext cx="18002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zh-CN" altLang="en-US">
                <a:solidFill>
                  <a:schemeClr val="hlink"/>
                </a:solidFill>
              </a:rPr>
              <a:t>例：</a:t>
            </a:r>
            <a:r>
              <a:rPr kumimoji="1" lang="en-US" altLang="zh-CN"/>
              <a:t>P∨Q</a:t>
            </a:r>
          </a:p>
        </p:txBody>
      </p:sp>
      <p:sp>
        <p:nvSpPr>
          <p:cNvPr id="518153" name="Rectangle 9"/>
          <p:cNvSpPr>
            <a:spLocks noChangeArrowheads="1"/>
          </p:cNvSpPr>
          <p:nvPr/>
        </p:nvSpPr>
        <p:spPr bwMode="auto">
          <a:xfrm>
            <a:off x="1619250" y="3889375"/>
            <a:ext cx="15128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/>
              <a:t>P∨┐Q</a:t>
            </a:r>
          </a:p>
        </p:txBody>
      </p:sp>
      <p:sp>
        <p:nvSpPr>
          <p:cNvPr id="518155" name="Rectangle 11"/>
          <p:cNvSpPr>
            <a:spLocks noChangeArrowheads="1"/>
          </p:cNvSpPr>
          <p:nvPr/>
        </p:nvSpPr>
        <p:spPr bwMode="auto">
          <a:xfrm>
            <a:off x="1655763" y="4638675"/>
            <a:ext cx="15478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/>
              <a:t>┐P∨Q</a:t>
            </a:r>
          </a:p>
        </p:txBody>
      </p:sp>
      <p:sp>
        <p:nvSpPr>
          <p:cNvPr id="518157" name="Rectangle 13"/>
          <p:cNvSpPr>
            <a:spLocks noChangeArrowheads="1"/>
          </p:cNvSpPr>
          <p:nvPr/>
        </p:nvSpPr>
        <p:spPr bwMode="auto">
          <a:xfrm>
            <a:off x="1598613" y="5359400"/>
            <a:ext cx="17494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/>
              <a:t>┐P∨┐Q</a:t>
            </a:r>
          </a:p>
        </p:txBody>
      </p:sp>
      <p:sp>
        <p:nvSpPr>
          <p:cNvPr id="518159" name="Rectangle 15"/>
          <p:cNvSpPr>
            <a:spLocks noChangeArrowheads="1"/>
          </p:cNvSpPr>
          <p:nvPr/>
        </p:nvSpPr>
        <p:spPr bwMode="auto">
          <a:xfrm>
            <a:off x="3825875" y="3198813"/>
            <a:ext cx="14541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/>
              <a:t>M</a:t>
            </a:r>
            <a:r>
              <a:rPr kumimoji="1" lang="en-US" altLang="zh-CN" baseline="-25000"/>
              <a:t>00</a:t>
            </a:r>
            <a:r>
              <a:rPr kumimoji="1" lang="en-US" altLang="zh-CN"/>
              <a:t>(M</a:t>
            </a:r>
            <a:r>
              <a:rPr kumimoji="1" lang="en-US" altLang="zh-CN" baseline="-25000"/>
              <a:t>0</a:t>
            </a:r>
            <a:r>
              <a:rPr kumimoji="1" lang="en-US" altLang="zh-CN"/>
              <a:t>)</a:t>
            </a:r>
          </a:p>
        </p:txBody>
      </p:sp>
      <p:sp>
        <p:nvSpPr>
          <p:cNvPr id="518161" name="Rectangle 17"/>
          <p:cNvSpPr>
            <a:spLocks noChangeArrowheads="1"/>
          </p:cNvSpPr>
          <p:nvPr/>
        </p:nvSpPr>
        <p:spPr bwMode="auto">
          <a:xfrm>
            <a:off x="3838575" y="3903663"/>
            <a:ext cx="14541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/>
              <a:t>M</a:t>
            </a:r>
            <a:r>
              <a:rPr kumimoji="1" lang="en-US" altLang="zh-CN" baseline="-25000"/>
              <a:t>01</a:t>
            </a:r>
            <a:r>
              <a:rPr kumimoji="1" lang="en-US" altLang="zh-CN"/>
              <a:t>(M</a:t>
            </a:r>
            <a:r>
              <a:rPr kumimoji="1" lang="en-US" altLang="zh-CN" baseline="-25000"/>
              <a:t>1</a:t>
            </a:r>
            <a:r>
              <a:rPr kumimoji="1" lang="en-US" altLang="zh-CN"/>
              <a:t>)</a:t>
            </a:r>
          </a:p>
        </p:txBody>
      </p:sp>
      <p:sp>
        <p:nvSpPr>
          <p:cNvPr id="518163" name="Rectangle 19"/>
          <p:cNvSpPr>
            <a:spLocks noChangeArrowheads="1"/>
          </p:cNvSpPr>
          <p:nvPr/>
        </p:nvSpPr>
        <p:spPr bwMode="auto">
          <a:xfrm>
            <a:off x="3825875" y="4610100"/>
            <a:ext cx="14541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/>
              <a:t>M</a:t>
            </a:r>
            <a:r>
              <a:rPr kumimoji="1" lang="en-US" altLang="zh-CN" baseline="-25000"/>
              <a:t>10</a:t>
            </a:r>
            <a:r>
              <a:rPr kumimoji="1" lang="en-US" altLang="zh-CN"/>
              <a:t>(M</a:t>
            </a:r>
            <a:r>
              <a:rPr kumimoji="1" lang="en-US" altLang="zh-CN" baseline="-25000"/>
              <a:t>2</a:t>
            </a:r>
            <a:r>
              <a:rPr kumimoji="1" lang="en-US" altLang="zh-CN"/>
              <a:t>)</a:t>
            </a:r>
          </a:p>
        </p:txBody>
      </p:sp>
      <p:sp>
        <p:nvSpPr>
          <p:cNvPr id="518165" name="Rectangle 21"/>
          <p:cNvSpPr>
            <a:spLocks noChangeArrowheads="1"/>
          </p:cNvSpPr>
          <p:nvPr/>
        </p:nvSpPr>
        <p:spPr bwMode="auto">
          <a:xfrm>
            <a:off x="3825875" y="5359400"/>
            <a:ext cx="14541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/>
              <a:t>M</a:t>
            </a:r>
            <a:r>
              <a:rPr kumimoji="1" lang="en-US" altLang="zh-CN" baseline="-25000"/>
              <a:t>11</a:t>
            </a:r>
            <a:r>
              <a:rPr kumimoji="1" lang="en-US" altLang="zh-CN"/>
              <a:t>(M</a:t>
            </a:r>
            <a:r>
              <a:rPr kumimoji="1" lang="en-US" altLang="zh-CN" baseline="-25000"/>
              <a:t>3</a:t>
            </a:r>
            <a:r>
              <a:rPr kumimoji="1" lang="en-US" altLang="zh-CN"/>
              <a:t>)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8151" grpId="0"/>
      <p:bldP spid="518153" grpId="0"/>
      <p:bldP spid="518155" grpId="0"/>
      <p:bldP spid="518157" grpId="0"/>
      <p:bldP spid="518159" grpId="0"/>
      <p:bldP spid="518161" grpId="0"/>
      <p:bldP spid="518163" grpId="0"/>
      <p:bldP spid="518165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44E2FE0-0366-4629-845A-BD12960B9D95}" type="slidenum">
              <a:rPr lang="en-US" altLang="zh-CN"/>
              <a:pPr>
                <a:defRPr/>
              </a:pPr>
              <a:t>90</a:t>
            </a:fld>
            <a:endParaRPr lang="en-US" altLang="zh-CN"/>
          </a:p>
        </p:txBody>
      </p:sp>
      <p:sp>
        <p:nvSpPr>
          <p:cNvPr id="543748" name="Rectangle 4"/>
          <p:cNvSpPr>
            <a:spLocks noChangeArrowheads="1"/>
          </p:cNvSpPr>
          <p:nvPr/>
        </p:nvSpPr>
        <p:spPr bwMode="auto">
          <a:xfrm>
            <a:off x="719138" y="1412875"/>
            <a:ext cx="7916862" cy="120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en-US" sz="2400"/>
              <a:t>①</a:t>
            </a:r>
            <a:r>
              <a:rPr kumimoji="1" lang="zh-CN" altLang="en-US"/>
              <a:t>每一大项当其真值指派与编码相同时，其值为</a:t>
            </a:r>
            <a:r>
              <a:rPr kumimoji="1" lang="en-US" altLang="zh-CN"/>
              <a:t>F</a:t>
            </a:r>
            <a:r>
              <a:rPr kumimoji="1" lang="zh-CN" altLang="en-US"/>
              <a:t>；</a:t>
            </a:r>
          </a:p>
        </p:txBody>
      </p:sp>
      <p:sp>
        <p:nvSpPr>
          <p:cNvPr id="98308" name="Rectangle 6"/>
          <p:cNvSpPr>
            <a:spLocks noChangeArrowheads="1"/>
          </p:cNvSpPr>
          <p:nvPr/>
        </p:nvSpPr>
        <p:spPr bwMode="auto">
          <a:xfrm>
            <a:off x="1403350" y="692150"/>
            <a:ext cx="24749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/>
              <a:t> (2)</a:t>
            </a:r>
            <a:r>
              <a:rPr kumimoji="1" lang="zh-CN" altLang="en-US"/>
              <a:t>大项的性质</a:t>
            </a:r>
          </a:p>
        </p:txBody>
      </p:sp>
      <p:sp>
        <p:nvSpPr>
          <p:cNvPr id="543752" name="Rectangle 8"/>
          <p:cNvSpPr>
            <a:spLocks noChangeArrowheads="1"/>
          </p:cNvSpPr>
          <p:nvPr/>
        </p:nvSpPr>
        <p:spPr bwMode="auto">
          <a:xfrm>
            <a:off x="719138" y="2390899"/>
            <a:ext cx="7916862" cy="433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lnSpc>
                <a:spcPct val="80000"/>
              </a:lnSpc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en-US" sz="2400"/>
              <a:t>②</a:t>
            </a:r>
            <a:r>
              <a:rPr kumimoji="1" lang="zh-CN" altLang="en-US"/>
              <a:t>任意两个大项析取为真；</a:t>
            </a:r>
          </a:p>
        </p:txBody>
      </p:sp>
      <p:sp>
        <p:nvSpPr>
          <p:cNvPr id="543754" name="Rectangle 10"/>
          <p:cNvSpPr>
            <a:spLocks noChangeArrowheads="1"/>
          </p:cNvSpPr>
          <p:nvPr/>
        </p:nvSpPr>
        <p:spPr bwMode="auto">
          <a:xfrm>
            <a:off x="719138" y="3211636"/>
            <a:ext cx="7916862" cy="433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en-US" sz="2400"/>
              <a:t>③</a:t>
            </a:r>
            <a:r>
              <a:rPr kumimoji="1" lang="zh-CN" altLang="en-US"/>
              <a:t>全体大项的合取值永为假。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3748" grpId="0"/>
      <p:bldP spid="543752" grpId="0"/>
      <p:bldP spid="543754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AFDAD77-9463-4456-B5B7-0C6CFE37A859}" type="slidenum">
              <a:rPr lang="en-US" altLang="zh-CN"/>
              <a:pPr>
                <a:defRPr/>
              </a:pPr>
              <a:t>91</a:t>
            </a:fld>
            <a:endParaRPr lang="en-US" altLang="zh-CN"/>
          </a:p>
        </p:txBody>
      </p:sp>
      <p:sp>
        <p:nvSpPr>
          <p:cNvPr id="100355" name="Rectangle 5"/>
          <p:cNvSpPr>
            <a:spLocks noChangeArrowheads="1"/>
          </p:cNvSpPr>
          <p:nvPr/>
        </p:nvSpPr>
        <p:spPr bwMode="auto">
          <a:xfrm>
            <a:off x="1187450" y="620713"/>
            <a:ext cx="52562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/>
              <a:t>(4)</a:t>
            </a:r>
            <a:r>
              <a:rPr kumimoji="1" lang="zh-CN" altLang="en-US"/>
              <a:t>主合取范式的求法         </a:t>
            </a:r>
          </a:p>
        </p:txBody>
      </p:sp>
      <p:graphicFrame>
        <p:nvGraphicFramePr>
          <p:cNvPr id="519208" name="Group 40"/>
          <p:cNvGraphicFramePr>
            <a:graphicFrameLocks noGrp="1"/>
          </p:cNvGraphicFramePr>
          <p:nvPr/>
        </p:nvGraphicFramePr>
        <p:xfrm>
          <a:off x="611188" y="4005263"/>
          <a:ext cx="3257550" cy="2590800"/>
        </p:xfrm>
        <a:graphic>
          <a:graphicData uri="http://schemas.openxmlformats.org/drawingml/2006/table">
            <a:tbl>
              <a:tblPr/>
              <a:tblGrid>
                <a:gridCol w="598487"/>
                <a:gridCol w="663575"/>
                <a:gridCol w="1995488"/>
              </a:tblGrid>
              <a:tr h="3952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(P→Q)∧Q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3952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3952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3952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3952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</a:tbl>
          </a:graphicData>
        </a:graphic>
      </p:graphicFrame>
      <p:sp>
        <p:nvSpPr>
          <p:cNvPr id="519200" name="Text Box 32"/>
          <p:cNvSpPr txBox="1">
            <a:spLocks noChangeArrowheads="1"/>
          </p:cNvSpPr>
          <p:nvPr/>
        </p:nvSpPr>
        <p:spPr bwMode="auto">
          <a:xfrm>
            <a:off x="3851275" y="3505200"/>
            <a:ext cx="5219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/>
              <a:t>(P→Q)∧Q</a:t>
            </a:r>
            <a:r>
              <a:rPr kumimoji="1" lang="en-US" altLang="zh-CN">
                <a:sym typeface="Symbol" pitchFamily="18" charset="2"/>
              </a:rPr>
              <a:t></a:t>
            </a:r>
            <a:r>
              <a:rPr kumimoji="1" lang="en-US" altLang="zh-CN"/>
              <a:t>(┐P∨Q)∧(P∨Q)</a:t>
            </a:r>
            <a:endParaRPr kumimoji="1" lang="en-US" altLang="zh-CN" baseline="-25000"/>
          </a:p>
        </p:txBody>
      </p:sp>
      <p:sp>
        <p:nvSpPr>
          <p:cNvPr id="100383" name="Rectangle 44"/>
          <p:cNvSpPr>
            <a:spLocks noChangeArrowheads="1"/>
          </p:cNvSpPr>
          <p:nvPr/>
        </p:nvSpPr>
        <p:spPr bwMode="auto">
          <a:xfrm>
            <a:off x="719138" y="1340768"/>
            <a:ext cx="79168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en-US" sz="2400" dirty="0"/>
              <a:t>①</a:t>
            </a:r>
            <a:r>
              <a:rPr kumimoji="1" lang="zh-CN" altLang="en-US" dirty="0"/>
              <a:t>真值表法</a:t>
            </a:r>
            <a:r>
              <a:rPr kumimoji="1" lang="zh-CN" altLang="en-US" dirty="0">
                <a:solidFill>
                  <a:schemeClr val="hlink"/>
                </a:solidFill>
              </a:rPr>
              <a:t>        </a:t>
            </a:r>
          </a:p>
        </p:txBody>
      </p:sp>
      <p:sp>
        <p:nvSpPr>
          <p:cNvPr id="519214" name="Rectangle 46"/>
          <p:cNvSpPr>
            <a:spLocks noChangeArrowheads="1"/>
          </p:cNvSpPr>
          <p:nvPr/>
        </p:nvSpPr>
        <p:spPr bwMode="auto">
          <a:xfrm>
            <a:off x="719138" y="1728215"/>
            <a:ext cx="7916862" cy="17727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ts val="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 dirty="0" smtClean="0">
                <a:solidFill>
                  <a:schemeClr val="hlink"/>
                </a:solidFill>
              </a:rPr>
              <a:t>        </a:t>
            </a:r>
            <a:r>
              <a:rPr kumimoji="1" lang="zh-CN" altLang="en-US" dirty="0" smtClean="0">
                <a:solidFill>
                  <a:schemeClr val="hlink"/>
                </a:solidFill>
              </a:rPr>
              <a:t>定理</a:t>
            </a:r>
            <a:r>
              <a:rPr kumimoji="1" lang="en-US" altLang="zh-CN" dirty="0" smtClean="0">
                <a:solidFill>
                  <a:schemeClr val="hlink"/>
                </a:solidFill>
              </a:rPr>
              <a:t>1-7.4</a:t>
            </a:r>
            <a:r>
              <a:rPr kumimoji="1" lang="zh-CN" altLang="en-US" dirty="0" smtClean="0">
                <a:solidFill>
                  <a:schemeClr val="hlink"/>
                </a:solidFill>
              </a:rPr>
              <a:t>：</a:t>
            </a:r>
            <a:r>
              <a:rPr kumimoji="1" lang="zh-CN" altLang="en-US" dirty="0" smtClean="0"/>
              <a:t>在真值表中，一个公式的真值为</a:t>
            </a:r>
            <a:r>
              <a:rPr kumimoji="1" lang="en-US" altLang="zh-CN" dirty="0" smtClean="0"/>
              <a:t>F</a:t>
            </a:r>
            <a:r>
              <a:rPr kumimoji="1" lang="zh-CN" altLang="en-US" dirty="0" smtClean="0"/>
              <a:t>的指派所对应的大项的合取，即为此公式的主合取范式。</a:t>
            </a:r>
            <a:endParaRPr kumimoji="1" lang="zh-CN" altLang="en-US" dirty="0"/>
          </a:p>
        </p:txBody>
      </p:sp>
      <p:sp>
        <p:nvSpPr>
          <p:cNvPr id="519216" name="Rectangle 48"/>
          <p:cNvSpPr>
            <a:spLocks noChangeArrowheads="1"/>
          </p:cNvSpPr>
          <p:nvPr/>
        </p:nvSpPr>
        <p:spPr bwMode="auto">
          <a:xfrm>
            <a:off x="5580063" y="4205288"/>
            <a:ext cx="23764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>
                <a:sym typeface="Symbol" pitchFamily="18" charset="2"/>
              </a:rPr>
              <a:t></a:t>
            </a:r>
            <a:r>
              <a:rPr kumimoji="1" lang="en-US" altLang="zh-CN"/>
              <a:t>M</a:t>
            </a:r>
            <a:r>
              <a:rPr kumimoji="1" lang="en-US" altLang="zh-CN" baseline="-25000"/>
              <a:t>10</a:t>
            </a:r>
            <a:r>
              <a:rPr kumimoji="1" lang="en-US" altLang="zh-CN"/>
              <a:t>∧M</a:t>
            </a:r>
            <a:r>
              <a:rPr kumimoji="1" lang="en-US" altLang="zh-CN" baseline="-25000"/>
              <a:t>00</a:t>
            </a:r>
            <a:r>
              <a:rPr kumimoji="1" lang="en-US" altLang="zh-CN"/>
              <a:t>                    </a:t>
            </a:r>
          </a:p>
        </p:txBody>
      </p:sp>
      <p:sp>
        <p:nvSpPr>
          <p:cNvPr id="519218" name="Rectangle 50"/>
          <p:cNvSpPr>
            <a:spLocks noChangeArrowheads="1"/>
          </p:cNvSpPr>
          <p:nvPr/>
        </p:nvSpPr>
        <p:spPr bwMode="auto">
          <a:xfrm>
            <a:off x="5580063" y="4941888"/>
            <a:ext cx="18240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>
                <a:sym typeface="Symbol" pitchFamily="18" charset="2"/>
              </a:rPr>
              <a:t></a:t>
            </a:r>
            <a:r>
              <a:rPr kumimoji="1" lang="en-US" altLang="zh-CN"/>
              <a:t>M</a:t>
            </a:r>
            <a:r>
              <a:rPr kumimoji="1" lang="en-US" altLang="zh-CN" baseline="-25000"/>
              <a:t>2</a:t>
            </a:r>
            <a:r>
              <a:rPr kumimoji="1" lang="en-US" altLang="zh-CN"/>
              <a:t>∧M</a:t>
            </a:r>
            <a:r>
              <a:rPr kumimoji="1" lang="en-US" altLang="zh-CN" baseline="-25000"/>
              <a:t>0</a:t>
            </a:r>
          </a:p>
        </p:txBody>
      </p:sp>
      <p:sp>
        <p:nvSpPr>
          <p:cNvPr id="519220" name="Rectangle 52"/>
          <p:cNvSpPr>
            <a:spLocks noChangeArrowheads="1"/>
          </p:cNvSpPr>
          <p:nvPr/>
        </p:nvSpPr>
        <p:spPr bwMode="auto">
          <a:xfrm>
            <a:off x="611188" y="3357563"/>
            <a:ext cx="18335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dirty="0" smtClean="0">
                <a:solidFill>
                  <a:schemeClr val="hlink"/>
                </a:solidFill>
              </a:rPr>
              <a:t>例</a:t>
            </a:r>
            <a:r>
              <a:rPr kumimoji="1" lang="en-US" altLang="zh-CN" dirty="0" smtClean="0">
                <a:solidFill>
                  <a:schemeClr val="hlink"/>
                </a:solidFill>
              </a:rPr>
              <a:t>2</a:t>
            </a:r>
            <a:r>
              <a:rPr kumimoji="1" lang="zh-CN" altLang="en-US" dirty="0" smtClean="0">
                <a:solidFill>
                  <a:schemeClr val="hlink"/>
                </a:solidFill>
              </a:rPr>
              <a:t>：</a:t>
            </a:r>
            <a:endParaRPr kumimoji="1" lang="zh-CN" altLang="en-US" dirty="0">
              <a:solidFill>
                <a:schemeClr val="hlink"/>
              </a:solidFill>
            </a:endParaRP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9200" grpId="0"/>
      <p:bldP spid="519214" grpId="0"/>
      <p:bldP spid="519216" grpId="0"/>
      <p:bldP spid="519218" grpId="0"/>
      <p:bldP spid="519220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41E999C-9B58-4428-83D1-DCE1DC0B4471}" type="slidenum">
              <a:rPr lang="en-US" altLang="zh-CN"/>
              <a:pPr>
                <a:defRPr/>
              </a:pPr>
              <a:t>92</a:t>
            </a:fld>
            <a:endParaRPr lang="en-US" altLang="zh-CN"/>
          </a:p>
        </p:txBody>
      </p:sp>
      <p:sp>
        <p:nvSpPr>
          <p:cNvPr id="101379" name="Text Box 2"/>
          <p:cNvSpPr txBox="1">
            <a:spLocks noChangeArrowheads="1"/>
          </p:cNvSpPr>
          <p:nvPr/>
        </p:nvSpPr>
        <p:spPr bwMode="auto">
          <a:xfrm>
            <a:off x="1116013" y="692150"/>
            <a:ext cx="72009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82563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en-US" sz="2400"/>
              <a:t>②</a:t>
            </a:r>
            <a:r>
              <a:rPr kumimoji="1" lang="zh-CN" altLang="en-US"/>
              <a:t>公式法</a:t>
            </a:r>
          </a:p>
        </p:txBody>
      </p:sp>
      <p:sp>
        <p:nvSpPr>
          <p:cNvPr id="468996" name="Rectangle 4"/>
          <p:cNvSpPr>
            <a:spLocks noChangeArrowheads="1"/>
          </p:cNvSpPr>
          <p:nvPr/>
        </p:nvSpPr>
        <p:spPr bwMode="auto">
          <a:xfrm>
            <a:off x="719138" y="1600200"/>
            <a:ext cx="79168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>
                <a:sym typeface="Wingdings" pitchFamily="2" charset="2"/>
              </a:rPr>
              <a:t>a)</a:t>
            </a:r>
            <a:r>
              <a:rPr kumimoji="1" lang="en-US" altLang="zh-CN">
                <a:cs typeface="Times New Roman" pitchFamily="18" charset="0"/>
              </a:rPr>
              <a:t> </a:t>
            </a:r>
            <a:r>
              <a:rPr kumimoji="1" lang="zh-CN" altLang="en-US"/>
              <a:t>划为合取范式；</a:t>
            </a:r>
          </a:p>
        </p:txBody>
      </p:sp>
      <p:sp>
        <p:nvSpPr>
          <p:cNvPr id="468998" name="Rectangle 6"/>
          <p:cNvSpPr>
            <a:spLocks noChangeArrowheads="1"/>
          </p:cNvSpPr>
          <p:nvPr/>
        </p:nvSpPr>
        <p:spPr bwMode="auto">
          <a:xfrm>
            <a:off x="719138" y="2320925"/>
            <a:ext cx="79168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/>
              <a:t>b) </a:t>
            </a:r>
            <a:r>
              <a:rPr kumimoji="1" lang="zh-CN" altLang="en-US"/>
              <a:t>删除永真的简单析取式；</a:t>
            </a:r>
          </a:p>
        </p:txBody>
      </p:sp>
      <p:sp>
        <p:nvSpPr>
          <p:cNvPr id="469000" name="Rectangle 8"/>
          <p:cNvSpPr>
            <a:spLocks noChangeArrowheads="1"/>
          </p:cNvSpPr>
          <p:nvPr/>
        </p:nvSpPr>
        <p:spPr bwMode="auto">
          <a:xfrm>
            <a:off x="719138" y="3111500"/>
            <a:ext cx="79168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/>
              <a:t>c) </a:t>
            </a:r>
            <a:r>
              <a:rPr kumimoji="1" lang="zh-CN" altLang="en-US"/>
              <a:t>化简重复出现的变元（幂等律）；</a:t>
            </a:r>
          </a:p>
        </p:txBody>
      </p:sp>
      <p:sp>
        <p:nvSpPr>
          <p:cNvPr id="469002" name="Rectangle 10"/>
          <p:cNvSpPr>
            <a:spLocks noChangeArrowheads="1"/>
          </p:cNvSpPr>
          <p:nvPr/>
        </p:nvSpPr>
        <p:spPr bwMode="auto">
          <a:xfrm>
            <a:off x="719138" y="3846513"/>
            <a:ext cx="79168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/>
              <a:t>d) </a:t>
            </a:r>
            <a:r>
              <a:rPr kumimoji="1" lang="zh-CN" altLang="en-US"/>
              <a:t>补进未出现的变元（同一律）。 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8996" grpId="0"/>
      <p:bldP spid="468998" grpId="0"/>
      <p:bldP spid="469000" grpId="0"/>
      <p:bldP spid="469002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8AAF3EF-DBE5-4077-A61F-09E127C18E0D}" type="slidenum">
              <a:rPr lang="en-US" altLang="zh-CN"/>
              <a:pPr>
                <a:defRPr/>
              </a:pPr>
              <a:t>93</a:t>
            </a:fld>
            <a:endParaRPr lang="en-US" altLang="zh-CN"/>
          </a:p>
        </p:txBody>
      </p:sp>
      <p:sp>
        <p:nvSpPr>
          <p:cNvPr id="102403" name="Rectangle 5"/>
          <p:cNvSpPr>
            <a:spLocks noChangeArrowheads="1"/>
          </p:cNvSpPr>
          <p:nvPr/>
        </p:nvSpPr>
        <p:spPr bwMode="auto">
          <a:xfrm>
            <a:off x="1116013" y="692150"/>
            <a:ext cx="7272337" cy="1160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zh-CN" altLang="en-US">
                <a:solidFill>
                  <a:schemeClr val="hlink"/>
                </a:solidFill>
              </a:rPr>
              <a:t>例如</a:t>
            </a:r>
            <a:r>
              <a:rPr kumimoji="1" lang="en-US" altLang="zh-CN">
                <a:solidFill>
                  <a:schemeClr val="hlink"/>
                </a:solidFill>
              </a:rPr>
              <a:t>:</a:t>
            </a:r>
          </a:p>
          <a:p>
            <a:pPr algn="just"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/>
              <a:t>( P→Q)∧Q</a:t>
            </a:r>
            <a:r>
              <a:rPr kumimoji="1" lang="en-US" altLang="zh-CN">
                <a:sym typeface="Symbol" pitchFamily="18" charset="2"/>
              </a:rPr>
              <a:t></a:t>
            </a:r>
            <a:r>
              <a:rPr kumimoji="1" lang="en-US" altLang="zh-CN"/>
              <a:t>(┐P∨Q)∧Q</a:t>
            </a:r>
            <a:endParaRPr kumimoji="1" lang="en-US" altLang="zh-CN" baseline="-25000"/>
          </a:p>
        </p:txBody>
      </p:sp>
      <p:sp>
        <p:nvSpPr>
          <p:cNvPr id="521223" name="Rectangle 7"/>
          <p:cNvSpPr>
            <a:spLocks noChangeArrowheads="1"/>
          </p:cNvSpPr>
          <p:nvPr/>
        </p:nvSpPr>
        <p:spPr bwMode="auto">
          <a:xfrm>
            <a:off x="1114425" y="4724400"/>
            <a:ext cx="7489825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zh-CN" altLang="en-US">
                <a:solidFill>
                  <a:schemeClr val="hlink"/>
                </a:solidFill>
                <a:cs typeface="Times New Roman" pitchFamily="18" charset="0"/>
              </a:rPr>
              <a:t>注意：</a:t>
            </a:r>
            <a:r>
              <a:rPr kumimoji="1" lang="zh-CN" altLang="en-US">
                <a:cs typeface="Times New Roman" pitchFamily="18" charset="0"/>
              </a:rPr>
              <a:t>任意含</a:t>
            </a:r>
            <a:r>
              <a:rPr kumimoji="1" lang="en-US" altLang="zh-CN">
                <a:cs typeface="Times New Roman" pitchFamily="18" charset="0"/>
              </a:rPr>
              <a:t>n</a:t>
            </a:r>
            <a:r>
              <a:rPr kumimoji="1" lang="zh-CN" altLang="en-US">
                <a:cs typeface="Times New Roman" pitchFamily="18" charset="0"/>
              </a:rPr>
              <a:t>个命题变元的非永真命题公式，其主合取范式是唯一的。</a:t>
            </a:r>
            <a:r>
              <a:rPr kumimoji="1" lang="zh-CN" altLang="en-US"/>
              <a:t> </a:t>
            </a:r>
          </a:p>
        </p:txBody>
      </p:sp>
      <p:sp>
        <p:nvSpPr>
          <p:cNvPr id="521225" name="Rectangle 9"/>
          <p:cNvSpPr>
            <a:spLocks noChangeArrowheads="1"/>
          </p:cNvSpPr>
          <p:nvPr/>
        </p:nvSpPr>
        <p:spPr bwMode="auto">
          <a:xfrm>
            <a:off x="2924175" y="1930400"/>
            <a:ext cx="47434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>
                <a:sym typeface="Symbol" pitchFamily="18" charset="2"/>
              </a:rPr>
              <a:t></a:t>
            </a:r>
            <a:r>
              <a:rPr kumimoji="1" lang="en-US" altLang="zh-CN"/>
              <a:t>(┐P∨Q)∧(Q∨(P∧┐P))                    </a:t>
            </a:r>
            <a:endParaRPr kumimoji="1" lang="en-US" altLang="zh-CN" baseline="-25000"/>
          </a:p>
        </p:txBody>
      </p:sp>
      <p:sp>
        <p:nvSpPr>
          <p:cNvPr id="521227" name="Rectangle 11"/>
          <p:cNvSpPr>
            <a:spLocks noChangeArrowheads="1"/>
          </p:cNvSpPr>
          <p:nvPr/>
        </p:nvSpPr>
        <p:spPr bwMode="auto">
          <a:xfrm>
            <a:off x="2933700" y="2574925"/>
            <a:ext cx="54546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>
                <a:sym typeface="Symbol" pitchFamily="18" charset="2"/>
              </a:rPr>
              <a:t></a:t>
            </a:r>
            <a:r>
              <a:rPr kumimoji="1" lang="en-US" altLang="zh-CN"/>
              <a:t>(┐P∨Q)∧(P∨Q)∧(┐P∨Q)</a:t>
            </a:r>
            <a:endParaRPr kumimoji="1" lang="en-US" altLang="zh-CN" baseline="-25000"/>
          </a:p>
        </p:txBody>
      </p:sp>
      <p:sp>
        <p:nvSpPr>
          <p:cNvPr id="521229" name="Rectangle 13"/>
          <p:cNvSpPr>
            <a:spLocks noChangeArrowheads="1"/>
          </p:cNvSpPr>
          <p:nvPr/>
        </p:nvSpPr>
        <p:spPr bwMode="auto">
          <a:xfrm>
            <a:off x="2959100" y="3197225"/>
            <a:ext cx="34480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>
                <a:sym typeface="Symbol" pitchFamily="18" charset="2"/>
              </a:rPr>
              <a:t>(</a:t>
            </a:r>
            <a:r>
              <a:rPr kumimoji="1" lang="en-US" altLang="zh-CN"/>
              <a:t>┐P∨Q)∧(P∨Q)</a:t>
            </a:r>
            <a:endParaRPr kumimoji="1" lang="en-US" altLang="zh-CN" baseline="-25000"/>
          </a:p>
        </p:txBody>
      </p:sp>
      <p:sp>
        <p:nvSpPr>
          <p:cNvPr id="521231" name="Rectangle 15"/>
          <p:cNvSpPr>
            <a:spLocks noChangeArrowheads="1"/>
          </p:cNvSpPr>
          <p:nvPr/>
        </p:nvSpPr>
        <p:spPr bwMode="auto">
          <a:xfrm>
            <a:off x="2987675" y="3832225"/>
            <a:ext cx="18240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>
                <a:sym typeface="Symbol" pitchFamily="18" charset="2"/>
              </a:rPr>
              <a:t></a:t>
            </a:r>
            <a:r>
              <a:rPr kumimoji="1" lang="en-US" altLang="zh-CN"/>
              <a:t>M</a:t>
            </a:r>
            <a:r>
              <a:rPr kumimoji="1" lang="en-US" altLang="zh-CN" baseline="-25000"/>
              <a:t>2</a:t>
            </a:r>
            <a:r>
              <a:rPr kumimoji="1" lang="en-US" altLang="zh-CN"/>
              <a:t>∧M</a:t>
            </a:r>
            <a:r>
              <a:rPr kumimoji="1" lang="en-US" altLang="zh-CN" baseline="-25000"/>
              <a:t>0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1225" grpId="0"/>
      <p:bldP spid="521227" grpId="0"/>
      <p:bldP spid="521229" grpId="0"/>
      <p:bldP spid="521231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1942064-3B99-406C-8177-DF51B0F5328A}" type="slidenum">
              <a:rPr lang="en-US" altLang="zh-CN"/>
              <a:pPr>
                <a:defRPr/>
              </a:pPr>
              <a:t>94</a:t>
            </a:fld>
            <a:endParaRPr lang="en-US" altLang="zh-CN"/>
          </a:p>
        </p:txBody>
      </p:sp>
      <p:sp>
        <p:nvSpPr>
          <p:cNvPr id="103427" name="Rectangle 3"/>
          <p:cNvSpPr>
            <a:spLocks noChangeArrowheads="1"/>
          </p:cNvSpPr>
          <p:nvPr/>
        </p:nvSpPr>
        <p:spPr bwMode="auto">
          <a:xfrm>
            <a:off x="1187450" y="647700"/>
            <a:ext cx="6880225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3000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kumimoji="1" lang="zh-CN" altLang="en-US" sz="3000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</a:rPr>
              <a:t>、主析取范式与主合取范式之间的关系</a:t>
            </a:r>
          </a:p>
        </p:txBody>
      </p:sp>
      <p:sp>
        <p:nvSpPr>
          <p:cNvPr id="611332" name="Rectangle 4"/>
          <p:cNvSpPr>
            <a:spLocks noChangeArrowheads="1"/>
          </p:cNvSpPr>
          <p:nvPr/>
        </p:nvSpPr>
        <p:spPr bwMode="auto">
          <a:xfrm>
            <a:off x="719138" y="4149725"/>
            <a:ext cx="79168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zh-CN" altLang="en-US">
                <a:solidFill>
                  <a:schemeClr val="hlink"/>
                </a:solidFill>
              </a:rPr>
              <a:t>例如：</a:t>
            </a:r>
            <a:r>
              <a:rPr kumimoji="1" lang="en-US" altLang="zh-CN"/>
              <a:t>(P→Q)∧Q </a:t>
            </a:r>
            <a:r>
              <a:rPr kumimoji="1" lang="en-US" altLang="zh-CN">
                <a:sym typeface="Symbol" pitchFamily="18" charset="2"/>
              </a:rPr>
              <a:t></a:t>
            </a:r>
            <a:r>
              <a:rPr kumimoji="1" lang="en-US" altLang="zh-CN"/>
              <a:t> m</a:t>
            </a:r>
            <a:r>
              <a:rPr kumimoji="1" lang="en-US" altLang="zh-CN" baseline="-25000"/>
              <a:t>1</a:t>
            </a:r>
            <a:r>
              <a:rPr kumimoji="1" lang="en-US" altLang="zh-CN"/>
              <a:t>∨m</a:t>
            </a:r>
            <a:r>
              <a:rPr kumimoji="1" lang="en-US" altLang="zh-CN" baseline="-25000"/>
              <a:t>3</a:t>
            </a:r>
            <a:r>
              <a:rPr kumimoji="1" lang="en-US" altLang="zh-CN"/>
              <a:t>,        </a:t>
            </a:r>
            <a:endParaRPr kumimoji="1" lang="en-US" altLang="zh-CN">
              <a:latin typeface="宋体" pitchFamily="2" charset="-122"/>
            </a:endParaRPr>
          </a:p>
        </p:txBody>
      </p:sp>
      <p:sp>
        <p:nvSpPr>
          <p:cNvPr id="611333" name="Rectangle 5"/>
          <p:cNvSpPr>
            <a:spLocks noChangeArrowheads="1"/>
          </p:cNvSpPr>
          <p:nvPr/>
        </p:nvSpPr>
        <p:spPr bwMode="auto">
          <a:xfrm>
            <a:off x="719138" y="1700213"/>
            <a:ext cx="79168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zh-CN" altLang="en-US"/>
              <a:t>由主析取范式求主合取范式</a:t>
            </a:r>
            <a:r>
              <a:rPr kumimoji="1" lang="en-US" altLang="zh-CN"/>
              <a:t>:</a:t>
            </a:r>
          </a:p>
        </p:txBody>
      </p:sp>
      <p:sp>
        <p:nvSpPr>
          <p:cNvPr id="611334" name="Rectangle 6"/>
          <p:cNvSpPr>
            <a:spLocks noChangeArrowheads="1"/>
          </p:cNvSpPr>
          <p:nvPr/>
        </p:nvSpPr>
        <p:spPr bwMode="auto">
          <a:xfrm>
            <a:off x="719138" y="2290763"/>
            <a:ext cx="79168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/>
              <a:t>1)</a:t>
            </a:r>
            <a:r>
              <a:rPr kumimoji="1" lang="zh-CN" altLang="en-US"/>
              <a:t>求出主析取范式中没有的小项；</a:t>
            </a:r>
          </a:p>
        </p:txBody>
      </p:sp>
      <p:sp>
        <p:nvSpPr>
          <p:cNvPr id="611335" name="Rectangle 7"/>
          <p:cNvSpPr>
            <a:spLocks noChangeArrowheads="1"/>
          </p:cNvSpPr>
          <p:nvPr/>
        </p:nvSpPr>
        <p:spPr bwMode="auto">
          <a:xfrm>
            <a:off x="719138" y="2895600"/>
            <a:ext cx="79168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/>
              <a:t>2)</a:t>
            </a:r>
            <a:r>
              <a:rPr kumimoji="1" lang="zh-CN" altLang="en-US"/>
              <a:t>对</a:t>
            </a:r>
            <a:r>
              <a:rPr kumimoji="1" lang="en-US" altLang="zh-CN"/>
              <a:t>1)</a:t>
            </a:r>
            <a:r>
              <a:rPr kumimoji="1" lang="zh-CN" altLang="en-US"/>
              <a:t>中的小项，换成大项；</a:t>
            </a:r>
          </a:p>
        </p:txBody>
      </p:sp>
      <p:sp>
        <p:nvSpPr>
          <p:cNvPr id="611336" name="Rectangle 8"/>
          <p:cNvSpPr>
            <a:spLocks noChangeArrowheads="1"/>
          </p:cNvSpPr>
          <p:nvPr/>
        </p:nvSpPr>
        <p:spPr bwMode="auto">
          <a:xfrm>
            <a:off x="719138" y="3503613"/>
            <a:ext cx="79168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/>
              <a:t>3)</a:t>
            </a:r>
            <a:r>
              <a:rPr kumimoji="1" lang="zh-CN" altLang="en-US"/>
              <a:t>写出</a:t>
            </a:r>
            <a:r>
              <a:rPr kumimoji="1" lang="en-US" altLang="zh-CN"/>
              <a:t>2)</a:t>
            </a:r>
            <a:r>
              <a:rPr kumimoji="1" lang="zh-CN" altLang="en-US"/>
              <a:t>中大项的合取，即为该式的主合取范式。</a:t>
            </a:r>
          </a:p>
        </p:txBody>
      </p:sp>
      <p:sp>
        <p:nvSpPr>
          <p:cNvPr id="611337" name="Rectangle 9"/>
          <p:cNvSpPr>
            <a:spLocks noChangeArrowheads="1"/>
          </p:cNvSpPr>
          <p:nvPr/>
        </p:nvSpPr>
        <p:spPr bwMode="auto">
          <a:xfrm>
            <a:off x="1476375" y="4797425"/>
            <a:ext cx="42608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zh-CN" altLang="en-US"/>
              <a:t>则</a:t>
            </a:r>
            <a:r>
              <a:rPr kumimoji="1" lang="en-US" altLang="zh-CN"/>
              <a:t>(P→Q)∧Q </a:t>
            </a:r>
            <a:r>
              <a:rPr kumimoji="1" lang="en-US" altLang="zh-CN">
                <a:sym typeface="Symbol" pitchFamily="18" charset="2"/>
              </a:rPr>
              <a:t></a:t>
            </a:r>
            <a:r>
              <a:rPr kumimoji="1" lang="en-US" altLang="zh-CN"/>
              <a:t> M</a:t>
            </a:r>
            <a:r>
              <a:rPr kumimoji="1" lang="en-US" altLang="zh-CN" baseline="-25000"/>
              <a:t>0</a:t>
            </a:r>
            <a:r>
              <a:rPr kumimoji="1" lang="en-US" altLang="zh-CN"/>
              <a:t>∧M</a:t>
            </a:r>
            <a:r>
              <a:rPr kumimoji="1" lang="en-US" altLang="zh-CN" baseline="-25000"/>
              <a:t>2</a:t>
            </a:r>
            <a:r>
              <a:rPr kumimoji="1" lang="en-US" altLang="zh-CN">
                <a:latin typeface="宋体" pitchFamily="2" charset="-122"/>
              </a:rPr>
              <a:t> 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1332" grpId="0"/>
      <p:bldP spid="611333" grpId="0"/>
      <p:bldP spid="611334" grpId="0"/>
      <p:bldP spid="611335" grpId="0"/>
      <p:bldP spid="611336" grpId="0"/>
      <p:bldP spid="611337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CD2DFCB-FB04-4493-92CA-7A3257E73AAB}" type="slidenum">
              <a:rPr lang="en-US" altLang="zh-CN"/>
              <a:pPr>
                <a:defRPr/>
              </a:pPr>
              <a:t>95</a:t>
            </a:fld>
            <a:endParaRPr lang="en-US" altLang="zh-CN"/>
          </a:p>
        </p:txBody>
      </p:sp>
      <p:sp>
        <p:nvSpPr>
          <p:cNvPr id="104451" name="Text Box 2"/>
          <p:cNvSpPr txBox="1">
            <a:spLocks noChangeArrowheads="1"/>
          </p:cNvSpPr>
          <p:nvPr/>
        </p:nvSpPr>
        <p:spPr bwMode="auto">
          <a:xfrm>
            <a:off x="719138" y="1427163"/>
            <a:ext cx="79168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/>
              <a:t>(1)</a:t>
            </a:r>
            <a:r>
              <a:rPr kumimoji="1" lang="zh-CN" altLang="en-US"/>
              <a:t>用以</a:t>
            </a:r>
            <a:r>
              <a:rPr kumimoji="1" lang="zh-CN" altLang="en-US" u="sng"/>
              <a:t>判定</a:t>
            </a:r>
            <a:r>
              <a:rPr kumimoji="1" lang="zh-CN" altLang="en-US"/>
              <a:t>公式类型</a:t>
            </a:r>
          </a:p>
        </p:txBody>
      </p:sp>
      <p:sp>
        <p:nvSpPr>
          <p:cNvPr id="104452" name="Rectangle 3"/>
          <p:cNvSpPr>
            <a:spLocks noChangeArrowheads="1"/>
          </p:cNvSpPr>
          <p:nvPr/>
        </p:nvSpPr>
        <p:spPr bwMode="auto">
          <a:xfrm>
            <a:off x="1258888" y="606425"/>
            <a:ext cx="305435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 sz="3000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</a:rPr>
              <a:t>4</a:t>
            </a:r>
            <a:r>
              <a:rPr kumimoji="1" lang="zh-CN" altLang="en-US" sz="3000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</a:rPr>
              <a:t>、主范式的应用</a:t>
            </a:r>
          </a:p>
        </p:txBody>
      </p:sp>
      <p:sp>
        <p:nvSpPr>
          <p:cNvPr id="104453" name="Rectangle 4"/>
          <p:cNvSpPr>
            <a:spLocks noChangeArrowheads="1"/>
          </p:cNvSpPr>
          <p:nvPr/>
        </p:nvSpPr>
        <p:spPr bwMode="auto">
          <a:xfrm>
            <a:off x="719138" y="2060575"/>
            <a:ext cx="79168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zh-CN" altLang="en-US"/>
              <a:t>设</a:t>
            </a:r>
            <a:r>
              <a:rPr kumimoji="1" lang="en-US" altLang="zh-CN"/>
              <a:t>A</a:t>
            </a:r>
            <a:r>
              <a:rPr kumimoji="1" lang="zh-CN" altLang="en-US"/>
              <a:t>为含</a:t>
            </a:r>
            <a:r>
              <a:rPr kumimoji="1" lang="en-US" altLang="zh-CN"/>
              <a:t>n</a:t>
            </a:r>
            <a:r>
              <a:rPr kumimoji="1" lang="zh-CN" altLang="en-US"/>
              <a:t>个变元的主范式：</a:t>
            </a:r>
          </a:p>
        </p:txBody>
      </p:sp>
      <p:sp>
        <p:nvSpPr>
          <p:cNvPr id="612357" name="Rectangle 5"/>
          <p:cNvSpPr>
            <a:spLocks noChangeArrowheads="1"/>
          </p:cNvSpPr>
          <p:nvPr/>
        </p:nvSpPr>
        <p:spPr bwMode="auto">
          <a:xfrm>
            <a:off x="719138" y="2698750"/>
            <a:ext cx="7916862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en-US" sz="2400"/>
              <a:t>①</a:t>
            </a:r>
            <a:r>
              <a:rPr kumimoji="1" lang="zh-CN" altLang="en-US"/>
              <a:t>若</a:t>
            </a:r>
            <a:r>
              <a:rPr kumimoji="1" lang="en-US" altLang="zh-CN"/>
              <a:t>A</a:t>
            </a:r>
            <a:r>
              <a:rPr kumimoji="1" lang="en-US" altLang="zh-CN">
                <a:sym typeface="Symbol" pitchFamily="18" charset="2"/>
              </a:rPr>
              <a:t></a:t>
            </a:r>
            <a:r>
              <a:rPr kumimoji="1" lang="en-US" altLang="zh-CN"/>
              <a:t>T</a:t>
            </a:r>
            <a:r>
              <a:rPr kumimoji="1" lang="zh-CN" altLang="en-US"/>
              <a:t>，或可化为与其等价的含</a:t>
            </a:r>
            <a:r>
              <a:rPr kumimoji="1" lang="en-US" altLang="zh-CN">
                <a:solidFill>
                  <a:schemeClr val="hlink"/>
                </a:solidFill>
              </a:rPr>
              <a:t>2</a:t>
            </a:r>
            <a:r>
              <a:rPr kumimoji="1" lang="en-US" altLang="zh-CN" baseline="30000">
                <a:solidFill>
                  <a:schemeClr val="hlink"/>
                </a:solidFill>
              </a:rPr>
              <a:t>n</a:t>
            </a:r>
            <a:r>
              <a:rPr kumimoji="1" lang="zh-CN" altLang="en-US"/>
              <a:t>个小项的主析取范式，则</a:t>
            </a:r>
            <a:r>
              <a:rPr kumimoji="1" lang="en-US" altLang="zh-CN"/>
              <a:t>A</a:t>
            </a:r>
            <a:r>
              <a:rPr kumimoji="1" lang="zh-CN" altLang="en-US"/>
              <a:t>为永真式。</a:t>
            </a:r>
          </a:p>
        </p:txBody>
      </p:sp>
      <p:sp>
        <p:nvSpPr>
          <p:cNvPr id="612358" name="Rectangle 6"/>
          <p:cNvSpPr>
            <a:spLocks noChangeArrowheads="1"/>
          </p:cNvSpPr>
          <p:nvPr/>
        </p:nvSpPr>
        <p:spPr bwMode="auto">
          <a:xfrm>
            <a:off x="719138" y="3779838"/>
            <a:ext cx="7916862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en-US" sz="2400"/>
              <a:t>②</a:t>
            </a:r>
            <a:r>
              <a:rPr kumimoji="1" lang="zh-CN" altLang="en-US"/>
              <a:t>若</a:t>
            </a:r>
            <a:r>
              <a:rPr kumimoji="1" lang="en-US" altLang="zh-CN"/>
              <a:t>A</a:t>
            </a:r>
            <a:r>
              <a:rPr kumimoji="1" lang="en-US" altLang="zh-CN">
                <a:sym typeface="Symbol" pitchFamily="18" charset="2"/>
              </a:rPr>
              <a:t></a:t>
            </a:r>
            <a:r>
              <a:rPr kumimoji="1" lang="en-US" altLang="zh-CN"/>
              <a:t>F</a:t>
            </a:r>
            <a:r>
              <a:rPr kumimoji="1" lang="zh-CN" altLang="en-US"/>
              <a:t>，或可化为与其等价的含</a:t>
            </a:r>
            <a:r>
              <a:rPr kumimoji="1" lang="en-US" altLang="zh-CN">
                <a:solidFill>
                  <a:schemeClr val="hlink"/>
                </a:solidFill>
              </a:rPr>
              <a:t>2</a:t>
            </a:r>
            <a:r>
              <a:rPr kumimoji="1" lang="en-US" altLang="zh-CN" baseline="30000">
                <a:solidFill>
                  <a:schemeClr val="hlink"/>
                </a:solidFill>
              </a:rPr>
              <a:t>n</a:t>
            </a:r>
            <a:r>
              <a:rPr kumimoji="1" lang="zh-CN" altLang="en-US"/>
              <a:t>个大项的主合取范式，则</a:t>
            </a:r>
            <a:r>
              <a:rPr kumimoji="1" lang="en-US" altLang="zh-CN"/>
              <a:t>A</a:t>
            </a:r>
            <a:r>
              <a:rPr kumimoji="1" lang="zh-CN" altLang="en-US"/>
              <a:t>为永假式。</a:t>
            </a:r>
          </a:p>
        </p:txBody>
      </p:sp>
      <p:sp>
        <p:nvSpPr>
          <p:cNvPr id="612359" name="Rectangle 7"/>
          <p:cNvSpPr>
            <a:spLocks noChangeArrowheads="1"/>
          </p:cNvSpPr>
          <p:nvPr/>
        </p:nvSpPr>
        <p:spPr bwMode="auto">
          <a:xfrm>
            <a:off x="719138" y="4859338"/>
            <a:ext cx="7916862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en-US" sz="2400"/>
              <a:t>③</a:t>
            </a:r>
            <a:r>
              <a:rPr kumimoji="1" lang="zh-CN" altLang="en-US"/>
              <a:t>若</a:t>
            </a:r>
            <a:r>
              <a:rPr kumimoji="1" lang="en-US" altLang="zh-CN"/>
              <a:t>A</a:t>
            </a:r>
            <a:r>
              <a:rPr kumimoji="1" lang="zh-CN" altLang="en-US"/>
              <a:t>不与</a:t>
            </a:r>
            <a:r>
              <a:rPr kumimoji="1" lang="en-US" altLang="zh-CN"/>
              <a:t>F</a:t>
            </a:r>
            <a:r>
              <a:rPr kumimoji="1" lang="zh-CN" altLang="en-US"/>
              <a:t>等价，且又不含</a:t>
            </a:r>
            <a:r>
              <a:rPr kumimoji="1" lang="en-US" altLang="zh-CN">
                <a:solidFill>
                  <a:schemeClr val="hlink"/>
                </a:solidFill>
              </a:rPr>
              <a:t>2</a:t>
            </a:r>
            <a:r>
              <a:rPr kumimoji="1" lang="en-US" altLang="zh-CN" baseline="30000">
                <a:solidFill>
                  <a:schemeClr val="hlink"/>
                </a:solidFill>
              </a:rPr>
              <a:t>n</a:t>
            </a:r>
            <a:r>
              <a:rPr kumimoji="1" lang="zh-CN" altLang="en-US"/>
              <a:t>个大项，则</a:t>
            </a:r>
            <a:r>
              <a:rPr kumimoji="1" lang="en-US" altLang="zh-CN"/>
              <a:t>A</a:t>
            </a:r>
            <a:r>
              <a:rPr kumimoji="1" lang="zh-CN" altLang="en-US"/>
              <a:t>为可满足式。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2357" grpId="0"/>
      <p:bldP spid="612358" grpId="0"/>
      <p:bldP spid="612359" grpId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36D40CD-0C34-4FC8-B315-CB815D81231C}" type="slidenum">
              <a:rPr lang="en-US" altLang="zh-CN"/>
              <a:pPr>
                <a:defRPr/>
              </a:pPr>
              <a:t>96</a:t>
            </a:fld>
            <a:endParaRPr lang="en-US" altLang="zh-CN"/>
          </a:p>
        </p:txBody>
      </p:sp>
      <p:sp>
        <p:nvSpPr>
          <p:cNvPr id="105475" name="Rectangle 2"/>
          <p:cNvSpPr>
            <a:spLocks noChangeArrowheads="1"/>
          </p:cNvSpPr>
          <p:nvPr/>
        </p:nvSpPr>
        <p:spPr bwMode="auto">
          <a:xfrm>
            <a:off x="719138" y="1484313"/>
            <a:ext cx="79168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zh-CN" altLang="en-US">
                <a:solidFill>
                  <a:schemeClr val="hlink"/>
                </a:solidFill>
              </a:rPr>
              <a:t>例：</a:t>
            </a:r>
            <a:r>
              <a:rPr kumimoji="1" lang="zh-CN" altLang="en-US"/>
              <a:t>判断下列公式为何类公式</a:t>
            </a:r>
            <a:r>
              <a:rPr kumimoji="1" lang="en-US" altLang="zh-CN">
                <a:sym typeface="Wingdings" pitchFamily="2" charset="2"/>
              </a:rPr>
              <a:t>(P→Q)∧Q</a:t>
            </a:r>
            <a:r>
              <a:rPr kumimoji="1" lang="zh-CN" altLang="en-US">
                <a:sym typeface="Wingdings" pitchFamily="2" charset="2"/>
              </a:rPr>
              <a:t>？</a:t>
            </a:r>
          </a:p>
        </p:txBody>
      </p:sp>
      <p:sp>
        <p:nvSpPr>
          <p:cNvPr id="613379" name="Rectangle 3"/>
          <p:cNvSpPr>
            <a:spLocks noChangeArrowheads="1"/>
          </p:cNvSpPr>
          <p:nvPr/>
        </p:nvSpPr>
        <p:spPr bwMode="auto">
          <a:xfrm>
            <a:off x="719138" y="3501008"/>
            <a:ext cx="79168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/>
              <a:t>(2)</a:t>
            </a:r>
            <a:r>
              <a:rPr kumimoji="1" lang="zh-CN" altLang="en-US" u="sng"/>
              <a:t>证明</a:t>
            </a:r>
            <a:r>
              <a:rPr kumimoji="1" lang="zh-CN" altLang="en-US"/>
              <a:t>等价式成立        </a:t>
            </a:r>
          </a:p>
        </p:txBody>
      </p:sp>
      <p:sp>
        <p:nvSpPr>
          <p:cNvPr id="613380" name="Rectangle 4"/>
          <p:cNvSpPr>
            <a:spLocks noChangeArrowheads="1"/>
          </p:cNvSpPr>
          <p:nvPr/>
        </p:nvSpPr>
        <p:spPr bwMode="auto">
          <a:xfrm>
            <a:off x="719138" y="2060575"/>
            <a:ext cx="7916862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>
                <a:sym typeface="Wingdings" pitchFamily="2" charset="2"/>
              </a:rPr>
              <a:t>        (P→Q)∧Q</a:t>
            </a:r>
            <a:r>
              <a:rPr kumimoji="1" lang="en-US" altLang="zh-CN">
                <a:sym typeface="Symbol" pitchFamily="18" charset="2"/>
              </a:rPr>
              <a:t></a:t>
            </a:r>
            <a:r>
              <a:rPr kumimoji="1" lang="en-US" altLang="zh-CN">
                <a:sym typeface="Wingdings" pitchFamily="2" charset="2"/>
              </a:rPr>
              <a:t>M</a:t>
            </a:r>
            <a:r>
              <a:rPr kumimoji="1" lang="en-US" altLang="zh-CN" baseline="-25000">
                <a:sym typeface="Wingdings" pitchFamily="2" charset="2"/>
              </a:rPr>
              <a:t>0</a:t>
            </a:r>
            <a:r>
              <a:rPr kumimoji="1" lang="en-US" altLang="zh-CN">
                <a:sym typeface="Wingdings" pitchFamily="2" charset="2"/>
              </a:rPr>
              <a:t>∧M</a:t>
            </a:r>
            <a:r>
              <a:rPr kumimoji="1" lang="en-US" altLang="zh-CN" baseline="-25000">
                <a:sym typeface="Wingdings" pitchFamily="2" charset="2"/>
              </a:rPr>
              <a:t>2</a:t>
            </a:r>
            <a:r>
              <a:rPr kumimoji="1" lang="en-US" altLang="zh-CN">
                <a:sym typeface="Symbol" pitchFamily="18" charset="2"/>
              </a:rPr>
              <a:t></a:t>
            </a:r>
            <a:r>
              <a:rPr kumimoji="1" lang="en-US" altLang="zh-CN">
                <a:sym typeface="Wingdings" pitchFamily="2" charset="2"/>
              </a:rPr>
              <a:t>m</a:t>
            </a:r>
            <a:r>
              <a:rPr kumimoji="1" lang="en-US" altLang="zh-CN" baseline="-25000">
                <a:sym typeface="Wingdings" pitchFamily="2" charset="2"/>
              </a:rPr>
              <a:t>1</a:t>
            </a:r>
            <a:r>
              <a:rPr kumimoji="1" lang="en-US" altLang="zh-CN">
                <a:sym typeface="Wingdings" pitchFamily="2" charset="2"/>
              </a:rPr>
              <a:t>∨m</a:t>
            </a:r>
            <a:r>
              <a:rPr kumimoji="1" lang="en-US" altLang="zh-CN" baseline="-25000">
                <a:sym typeface="Wingdings" pitchFamily="2" charset="2"/>
              </a:rPr>
              <a:t>3</a:t>
            </a:r>
            <a:r>
              <a:rPr kumimoji="1" lang="zh-CN" altLang="en-US">
                <a:sym typeface="Wingdings" pitchFamily="2" charset="2"/>
              </a:rPr>
              <a:t>；</a:t>
            </a:r>
          </a:p>
          <a:p>
            <a:pPr eaLnBrk="1" hangingPunct="1">
              <a:spcBef>
                <a:spcPct val="4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zh-CN" altLang="en-US">
                <a:sym typeface="Wingdings" pitchFamily="2" charset="2"/>
              </a:rPr>
              <a:t>大小项数目均不到</a:t>
            </a:r>
            <a:r>
              <a:rPr kumimoji="1" lang="en-US" altLang="zh-CN">
                <a:sym typeface="Wingdings" pitchFamily="2" charset="2"/>
              </a:rPr>
              <a:t>4</a:t>
            </a:r>
            <a:r>
              <a:rPr kumimoji="1" lang="zh-CN" altLang="en-US">
                <a:sym typeface="Wingdings" pitchFamily="2" charset="2"/>
              </a:rPr>
              <a:t>，故为可满足式。</a:t>
            </a:r>
          </a:p>
        </p:txBody>
      </p:sp>
      <p:sp>
        <p:nvSpPr>
          <p:cNvPr id="613381" name="Rectangle 5"/>
          <p:cNvSpPr>
            <a:spLocks noChangeArrowheads="1"/>
          </p:cNvSpPr>
          <p:nvPr/>
        </p:nvSpPr>
        <p:spPr bwMode="auto">
          <a:xfrm>
            <a:off x="719138" y="4123308"/>
            <a:ext cx="7916862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4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/>
              <a:t>        </a:t>
            </a:r>
            <a:r>
              <a:rPr kumimoji="1" lang="zh-CN" altLang="en-US"/>
              <a:t>分别求出两个给定公式的主范式，若范式相同，则给定的两公式等价。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3379" grpId="0"/>
      <p:bldP spid="613380" grpId="0"/>
      <p:bldP spid="613381" grpId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71365E0-AB09-4096-A92A-F7BD05976ED6}" type="slidenum">
              <a:rPr lang="en-US" altLang="zh-CN"/>
              <a:pPr>
                <a:defRPr/>
              </a:pPr>
              <a:t>97</a:t>
            </a:fld>
            <a:endParaRPr lang="en-US" altLang="zh-CN"/>
          </a:p>
        </p:txBody>
      </p:sp>
      <p:sp>
        <p:nvSpPr>
          <p:cNvPr id="106499" name="Rectangle 7"/>
          <p:cNvSpPr>
            <a:spLocks noChangeArrowheads="1"/>
          </p:cNvSpPr>
          <p:nvPr/>
        </p:nvSpPr>
        <p:spPr bwMode="auto">
          <a:xfrm>
            <a:off x="1403350" y="593725"/>
            <a:ext cx="10001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3200">
                <a:solidFill>
                  <a:schemeClr val="folHlink"/>
                </a:solidFill>
                <a:ea typeface="楷体_GB2312" pitchFamily="49" charset="-122"/>
              </a:rPr>
              <a:t>范式</a:t>
            </a:r>
          </a:p>
        </p:txBody>
      </p:sp>
      <p:sp>
        <p:nvSpPr>
          <p:cNvPr id="106500" name="Rectangle 9"/>
          <p:cNvSpPr>
            <a:spLocks noChangeArrowheads="1"/>
          </p:cNvSpPr>
          <p:nvPr/>
        </p:nvSpPr>
        <p:spPr bwMode="auto">
          <a:xfrm>
            <a:off x="611188" y="1268413"/>
            <a:ext cx="7993062" cy="406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dirty="0"/>
              <a:t>范式分析取范式和合取范式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dirty="0"/>
              <a:t>主析取范式和主合取范式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00" dirty="0"/>
              <a:t>P      Q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00" dirty="0"/>
              <a:t>T      </a:t>
            </a:r>
            <a:r>
              <a:rPr kumimoji="1" lang="en-US" altLang="zh-CN" sz="2600" dirty="0" err="1"/>
              <a:t>T</a:t>
            </a:r>
            <a:r>
              <a:rPr kumimoji="1" lang="en-US" altLang="zh-CN" sz="2600" dirty="0"/>
              <a:t>      </a:t>
            </a:r>
            <a:r>
              <a:rPr kumimoji="1" lang="en-US" altLang="zh-CN" sz="2600" dirty="0">
                <a:solidFill>
                  <a:srgbClr val="FF3300"/>
                </a:solidFill>
              </a:rPr>
              <a:t>P∧Q</a:t>
            </a:r>
            <a:r>
              <a:rPr kumimoji="1" lang="en-US" altLang="zh-CN" sz="2600" dirty="0"/>
              <a:t>      m</a:t>
            </a:r>
            <a:r>
              <a:rPr kumimoji="1" lang="en-US" altLang="zh-CN" sz="2600" baseline="-25000" dirty="0"/>
              <a:t>11</a:t>
            </a:r>
            <a:r>
              <a:rPr kumimoji="1" lang="zh-CN" altLang="en-US" sz="2600" dirty="0"/>
              <a:t>（</a:t>
            </a:r>
            <a:r>
              <a:rPr kumimoji="1" lang="en-US" altLang="zh-CN" sz="2600" dirty="0"/>
              <a:t>m</a:t>
            </a:r>
            <a:r>
              <a:rPr kumimoji="1" lang="en-US" altLang="zh-CN" sz="2600" baseline="-25000" dirty="0"/>
              <a:t>3</a:t>
            </a:r>
            <a:r>
              <a:rPr kumimoji="1" lang="zh-CN" altLang="en-US" sz="2600" dirty="0"/>
              <a:t>） </a:t>
            </a:r>
            <a:r>
              <a:rPr kumimoji="1" lang="zh-CN" altLang="en-US" sz="2600" dirty="0">
                <a:solidFill>
                  <a:srgbClr val="FF3300"/>
                </a:solidFill>
              </a:rPr>
              <a:t>┐</a:t>
            </a:r>
            <a:r>
              <a:rPr kumimoji="1" lang="en-US" altLang="zh-CN" sz="2600" dirty="0">
                <a:solidFill>
                  <a:srgbClr val="FF3300"/>
                </a:solidFill>
              </a:rPr>
              <a:t>P∨┐Q</a:t>
            </a:r>
            <a:r>
              <a:rPr kumimoji="1" lang="en-US" altLang="zh-CN" sz="2600" dirty="0"/>
              <a:t>   M</a:t>
            </a:r>
            <a:r>
              <a:rPr kumimoji="1" lang="en-US" altLang="zh-CN" sz="2600" baseline="-25000" dirty="0"/>
              <a:t>11</a:t>
            </a:r>
            <a:r>
              <a:rPr kumimoji="1" lang="zh-CN" altLang="en-US" sz="2600" dirty="0"/>
              <a:t>（</a:t>
            </a:r>
            <a:r>
              <a:rPr kumimoji="1" lang="en-US" altLang="zh-CN" sz="2600" dirty="0"/>
              <a:t>M</a:t>
            </a:r>
            <a:r>
              <a:rPr kumimoji="1" lang="en-US" altLang="zh-CN" sz="2600" baseline="-25000" dirty="0"/>
              <a:t>3</a:t>
            </a:r>
            <a:r>
              <a:rPr kumimoji="1" lang="zh-CN" altLang="en-US" sz="2600" dirty="0"/>
              <a:t>）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00" dirty="0"/>
              <a:t>T      F      </a:t>
            </a:r>
            <a:r>
              <a:rPr kumimoji="1" lang="en-US" altLang="zh-CN" sz="2600" dirty="0">
                <a:solidFill>
                  <a:srgbClr val="FF3300"/>
                </a:solidFill>
              </a:rPr>
              <a:t>P∧┐Q</a:t>
            </a:r>
            <a:r>
              <a:rPr kumimoji="1" lang="en-US" altLang="zh-CN" sz="2600" dirty="0"/>
              <a:t>  m</a:t>
            </a:r>
            <a:r>
              <a:rPr kumimoji="1" lang="en-US" altLang="zh-CN" sz="2600" baseline="-25000" dirty="0"/>
              <a:t>10</a:t>
            </a:r>
            <a:r>
              <a:rPr kumimoji="1" lang="zh-CN" altLang="en-US" sz="2600" dirty="0"/>
              <a:t>（</a:t>
            </a:r>
            <a:r>
              <a:rPr kumimoji="1" lang="en-US" altLang="zh-CN" sz="2600" dirty="0"/>
              <a:t>m</a:t>
            </a:r>
            <a:r>
              <a:rPr kumimoji="1" lang="en-US" altLang="zh-CN" sz="2600" baseline="-25000" dirty="0"/>
              <a:t>2</a:t>
            </a:r>
            <a:r>
              <a:rPr kumimoji="1" lang="zh-CN" altLang="en-US" sz="2600" dirty="0"/>
              <a:t>） </a:t>
            </a:r>
            <a:r>
              <a:rPr kumimoji="1" lang="zh-CN" altLang="en-US" sz="2600" dirty="0">
                <a:solidFill>
                  <a:srgbClr val="FF3300"/>
                </a:solidFill>
              </a:rPr>
              <a:t>┐</a:t>
            </a:r>
            <a:r>
              <a:rPr kumimoji="1" lang="en-US" altLang="zh-CN" sz="2600" dirty="0">
                <a:solidFill>
                  <a:srgbClr val="FF3300"/>
                </a:solidFill>
              </a:rPr>
              <a:t>P∨Q</a:t>
            </a:r>
            <a:r>
              <a:rPr kumimoji="1" lang="en-US" altLang="zh-CN" sz="2600" dirty="0"/>
              <a:t>       M</a:t>
            </a:r>
            <a:r>
              <a:rPr kumimoji="1" lang="en-US" altLang="zh-CN" sz="2600" baseline="-25000" dirty="0"/>
              <a:t>10</a:t>
            </a:r>
            <a:r>
              <a:rPr kumimoji="1" lang="zh-CN" altLang="en-US" sz="2600" dirty="0"/>
              <a:t>（</a:t>
            </a:r>
            <a:r>
              <a:rPr kumimoji="1" lang="en-US" altLang="zh-CN" sz="2600" dirty="0"/>
              <a:t>M</a:t>
            </a:r>
            <a:r>
              <a:rPr kumimoji="1" lang="en-US" altLang="zh-CN" sz="2600" baseline="-25000" dirty="0"/>
              <a:t>2</a:t>
            </a:r>
            <a:r>
              <a:rPr kumimoji="1" lang="zh-CN" altLang="en-US" sz="2600" dirty="0"/>
              <a:t>）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00" dirty="0"/>
              <a:t>F      T  </a:t>
            </a:r>
            <a:r>
              <a:rPr kumimoji="1" lang="en-US" altLang="zh-CN" sz="2600" dirty="0">
                <a:solidFill>
                  <a:srgbClr val="FF3300"/>
                </a:solidFill>
              </a:rPr>
              <a:t>┐P∧Q</a:t>
            </a:r>
            <a:r>
              <a:rPr kumimoji="1" lang="en-US" altLang="zh-CN" sz="2600" dirty="0"/>
              <a:t>      m</a:t>
            </a:r>
            <a:r>
              <a:rPr kumimoji="1" lang="en-US" altLang="zh-CN" sz="2600" baseline="-25000" dirty="0"/>
              <a:t>01</a:t>
            </a:r>
            <a:r>
              <a:rPr kumimoji="1" lang="zh-CN" altLang="en-US" sz="2600" dirty="0"/>
              <a:t>（</a:t>
            </a:r>
            <a:r>
              <a:rPr kumimoji="1" lang="en-US" altLang="zh-CN" sz="2600" dirty="0"/>
              <a:t>m</a:t>
            </a:r>
            <a:r>
              <a:rPr kumimoji="1" lang="en-US" altLang="zh-CN" sz="2600" baseline="-25000" dirty="0"/>
              <a:t>1</a:t>
            </a:r>
            <a:r>
              <a:rPr kumimoji="1" lang="zh-CN" altLang="en-US" sz="2600" dirty="0"/>
              <a:t>）     </a:t>
            </a:r>
            <a:r>
              <a:rPr kumimoji="1" lang="en-US" altLang="zh-CN" sz="2600" dirty="0">
                <a:solidFill>
                  <a:srgbClr val="FF3300"/>
                </a:solidFill>
              </a:rPr>
              <a:t>P∨┐Q</a:t>
            </a:r>
            <a:r>
              <a:rPr kumimoji="1" lang="en-US" altLang="zh-CN" sz="2600" dirty="0"/>
              <a:t>   M</a:t>
            </a:r>
            <a:r>
              <a:rPr kumimoji="1" lang="en-US" altLang="zh-CN" sz="2600" baseline="-25000" dirty="0"/>
              <a:t>01</a:t>
            </a:r>
            <a:r>
              <a:rPr kumimoji="1" lang="zh-CN" altLang="en-US" sz="2600" dirty="0"/>
              <a:t>（</a:t>
            </a:r>
            <a:r>
              <a:rPr kumimoji="1" lang="en-US" altLang="zh-CN" sz="2600" dirty="0"/>
              <a:t>M</a:t>
            </a:r>
            <a:r>
              <a:rPr kumimoji="1" lang="en-US" altLang="zh-CN" sz="2600" baseline="-25000" dirty="0"/>
              <a:t>1</a:t>
            </a:r>
            <a:r>
              <a:rPr kumimoji="1" lang="zh-CN" altLang="en-US" sz="2600" dirty="0"/>
              <a:t>）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600" dirty="0"/>
              <a:t>F      </a:t>
            </a:r>
            <a:r>
              <a:rPr kumimoji="1" lang="en-US" altLang="zh-CN" sz="2600" dirty="0" err="1"/>
              <a:t>F</a:t>
            </a:r>
            <a:r>
              <a:rPr kumimoji="1" lang="en-US" altLang="zh-CN" sz="2600" dirty="0"/>
              <a:t>  </a:t>
            </a:r>
            <a:r>
              <a:rPr kumimoji="1" lang="en-US" altLang="zh-CN" sz="2600" dirty="0">
                <a:solidFill>
                  <a:srgbClr val="FF3300"/>
                </a:solidFill>
              </a:rPr>
              <a:t>┐P∧┐Q</a:t>
            </a:r>
            <a:r>
              <a:rPr kumimoji="1" lang="en-US" altLang="zh-CN" sz="2600" dirty="0"/>
              <a:t>  m</a:t>
            </a:r>
            <a:r>
              <a:rPr kumimoji="1" lang="en-US" altLang="zh-CN" sz="2600" baseline="-25000" dirty="0"/>
              <a:t>00</a:t>
            </a:r>
            <a:r>
              <a:rPr kumimoji="1" lang="zh-CN" altLang="en-US" sz="2600" dirty="0"/>
              <a:t>（</a:t>
            </a:r>
            <a:r>
              <a:rPr kumimoji="1" lang="en-US" altLang="zh-CN" sz="2600" dirty="0"/>
              <a:t>m</a:t>
            </a:r>
            <a:r>
              <a:rPr kumimoji="1" lang="en-US" altLang="zh-CN" sz="2600" baseline="-25000" dirty="0"/>
              <a:t>0</a:t>
            </a:r>
            <a:r>
              <a:rPr kumimoji="1" lang="zh-CN" altLang="en-US" sz="2600" dirty="0"/>
              <a:t>）     </a:t>
            </a:r>
            <a:r>
              <a:rPr kumimoji="1" lang="en-US" altLang="zh-CN" sz="2600" dirty="0">
                <a:solidFill>
                  <a:srgbClr val="FF3300"/>
                </a:solidFill>
              </a:rPr>
              <a:t>P∨Q</a:t>
            </a:r>
            <a:r>
              <a:rPr kumimoji="1" lang="en-US" altLang="zh-CN" sz="2600" dirty="0"/>
              <a:t>       M</a:t>
            </a:r>
            <a:r>
              <a:rPr kumimoji="1" lang="en-US" altLang="zh-CN" sz="2600" baseline="-25000" dirty="0"/>
              <a:t>00</a:t>
            </a:r>
            <a:r>
              <a:rPr kumimoji="1" lang="zh-CN" altLang="en-US" sz="2600" dirty="0"/>
              <a:t>（</a:t>
            </a:r>
            <a:r>
              <a:rPr kumimoji="1" lang="en-US" altLang="zh-CN" sz="2600" dirty="0"/>
              <a:t>M</a:t>
            </a:r>
            <a:r>
              <a:rPr kumimoji="1" lang="en-US" altLang="zh-CN" sz="2600" baseline="-25000" dirty="0"/>
              <a:t>0</a:t>
            </a:r>
            <a:r>
              <a:rPr kumimoji="1" lang="zh-CN" altLang="en-US" sz="2600" dirty="0"/>
              <a:t>）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4301094-FF98-4577-8F8C-257BF5E2D77F}" type="slidenum">
              <a:rPr lang="en-US" altLang="zh-CN"/>
              <a:pPr>
                <a:defRPr/>
              </a:pPr>
              <a:t>98</a:t>
            </a:fld>
            <a:endParaRPr lang="en-US" altLang="zh-CN"/>
          </a:p>
        </p:txBody>
      </p:sp>
      <p:sp>
        <p:nvSpPr>
          <p:cNvPr id="109571" name="Rectangle 2"/>
          <p:cNvSpPr>
            <a:spLocks noGrp="1" noChangeArrowheads="1"/>
          </p:cNvSpPr>
          <p:nvPr>
            <p:ph type="title"/>
          </p:nvPr>
        </p:nvSpPr>
        <p:spPr>
          <a:xfrm>
            <a:off x="1438275" y="555625"/>
            <a:ext cx="5078413" cy="641350"/>
          </a:xfrm>
          <a:noFill/>
        </p:spPr>
        <p:txBody>
          <a:bodyPr>
            <a:spAutoFit/>
          </a:bodyPr>
          <a:lstStyle/>
          <a:p>
            <a:pPr eaLnBrk="1" hangingPunct="1"/>
            <a:r>
              <a:rPr kumimoji="1" lang="en-US" altLang="zh-CN" sz="3600" b="1" smtClean="0">
                <a:solidFill>
                  <a:schemeClr val="tx1"/>
                </a:solidFill>
                <a:latin typeface="华文行楷" pitchFamily="2" charset="-122"/>
              </a:rPr>
              <a:t>1-8  </a:t>
            </a:r>
            <a:r>
              <a:rPr kumimoji="1" lang="zh-CN" altLang="en-US" sz="3600" b="1" smtClean="0">
                <a:solidFill>
                  <a:schemeClr val="tx1"/>
                </a:solidFill>
                <a:latin typeface="华文行楷" pitchFamily="2" charset="-122"/>
              </a:rPr>
              <a:t>推理理论</a:t>
            </a:r>
          </a:p>
        </p:txBody>
      </p:sp>
      <p:sp>
        <p:nvSpPr>
          <p:cNvPr id="109572" name="Text Box 4"/>
          <p:cNvSpPr txBox="1">
            <a:spLocks noChangeArrowheads="1"/>
          </p:cNvSpPr>
          <p:nvPr/>
        </p:nvSpPr>
        <p:spPr bwMode="auto">
          <a:xfrm>
            <a:off x="719138" y="1412875"/>
            <a:ext cx="7916862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/>
              <a:t>        </a:t>
            </a:r>
            <a:r>
              <a:rPr kumimoji="1" lang="zh-CN" altLang="en-US"/>
              <a:t>在逻辑学中，把从</a:t>
            </a:r>
            <a:r>
              <a:rPr kumimoji="1" lang="zh-CN" altLang="en-US" u="sng"/>
              <a:t>前提出发</a:t>
            </a:r>
            <a:r>
              <a:rPr kumimoji="1" lang="zh-CN" altLang="en-US"/>
              <a:t>，依据公认的推理</a:t>
            </a:r>
            <a:r>
              <a:rPr kumimoji="1" lang="zh-CN" altLang="en-US" u="sng"/>
              <a:t>规则</a:t>
            </a:r>
            <a:r>
              <a:rPr kumimoji="1" lang="zh-CN" altLang="en-US"/>
              <a:t>，推导出一个</a:t>
            </a:r>
            <a:r>
              <a:rPr kumimoji="1" lang="zh-CN" altLang="en-US" u="sng"/>
              <a:t>结论</a:t>
            </a:r>
            <a:r>
              <a:rPr kumimoji="1" lang="zh-CN" altLang="en-US"/>
              <a:t>，这一过程称为</a:t>
            </a:r>
            <a:r>
              <a:rPr kumimoji="1" lang="zh-CN" altLang="en-US" u="sng">
                <a:solidFill>
                  <a:schemeClr val="hlink"/>
                </a:solidFill>
              </a:rPr>
              <a:t>有效推理或形式证明</a:t>
            </a:r>
            <a:r>
              <a:rPr kumimoji="1" lang="zh-CN" altLang="en-US"/>
              <a:t>。所得的结论叫</a:t>
            </a:r>
            <a:r>
              <a:rPr kumimoji="1" lang="zh-CN" altLang="en-US" u="sng"/>
              <a:t>有效结论</a:t>
            </a:r>
            <a:r>
              <a:rPr kumimoji="1" lang="zh-CN" altLang="en-US"/>
              <a:t>。        </a:t>
            </a:r>
            <a:endParaRPr kumimoji="1" lang="zh-CN" altLang="en-US">
              <a:latin typeface="宋体" pitchFamily="2" charset="-122"/>
            </a:endParaRP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C2CD3C3-A994-4201-8744-41887F654636}" type="slidenum">
              <a:rPr lang="en-US" altLang="zh-CN"/>
              <a:pPr>
                <a:defRPr/>
              </a:pPr>
              <a:t>99</a:t>
            </a:fld>
            <a:endParaRPr lang="en-US" altLang="zh-CN"/>
          </a:p>
        </p:txBody>
      </p:sp>
      <p:sp>
        <p:nvSpPr>
          <p:cNvPr id="110595" name="Rectangle 5"/>
          <p:cNvSpPr>
            <a:spLocks noChangeArrowheads="1"/>
          </p:cNvSpPr>
          <p:nvPr/>
        </p:nvSpPr>
        <p:spPr bwMode="auto">
          <a:xfrm>
            <a:off x="719138" y="1341438"/>
            <a:ext cx="7916862" cy="1373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>
                <a:solidFill>
                  <a:schemeClr val="hlink"/>
                </a:solidFill>
              </a:rPr>
              <a:t>         </a:t>
            </a:r>
            <a:r>
              <a:rPr kumimoji="1" lang="zh-CN" altLang="en-US">
                <a:solidFill>
                  <a:schemeClr val="hlink"/>
                </a:solidFill>
              </a:rPr>
              <a:t>定义</a:t>
            </a:r>
            <a:r>
              <a:rPr kumimoji="1" lang="en-US" altLang="zh-CN">
                <a:solidFill>
                  <a:schemeClr val="hlink"/>
                </a:solidFill>
              </a:rPr>
              <a:t>1-8. 1</a:t>
            </a:r>
            <a:r>
              <a:rPr kumimoji="1" lang="zh-CN" altLang="en-US">
                <a:solidFill>
                  <a:schemeClr val="hlink"/>
                </a:solidFill>
              </a:rPr>
              <a:t>：</a:t>
            </a:r>
            <a:r>
              <a:rPr kumimoji="1" lang="zh-CN" altLang="en-US"/>
              <a:t>设</a:t>
            </a:r>
            <a:r>
              <a:rPr kumimoji="1" lang="en-US" altLang="zh-CN"/>
              <a:t>A</a:t>
            </a:r>
            <a:r>
              <a:rPr kumimoji="1" lang="zh-CN" altLang="en-US"/>
              <a:t>和</a:t>
            </a:r>
            <a:r>
              <a:rPr kumimoji="1" lang="en-US" altLang="zh-CN"/>
              <a:t>C</a:t>
            </a:r>
            <a:r>
              <a:rPr kumimoji="1" lang="zh-CN" altLang="en-US"/>
              <a:t>是两个命题公式，当且仅当</a:t>
            </a:r>
            <a:r>
              <a:rPr kumimoji="1" lang="en-US" altLang="zh-CN"/>
              <a:t>A→C</a:t>
            </a:r>
            <a:r>
              <a:rPr kumimoji="1" lang="zh-CN" altLang="en-US"/>
              <a:t>为一重言式，即</a:t>
            </a:r>
            <a:r>
              <a:rPr kumimoji="1" lang="en-US" altLang="zh-CN"/>
              <a:t>A</a:t>
            </a:r>
            <a:r>
              <a:rPr kumimoji="1" lang="en-US" altLang="zh-CN">
                <a:sym typeface="Symbol" pitchFamily="18" charset="2"/>
              </a:rPr>
              <a:t></a:t>
            </a:r>
            <a:r>
              <a:rPr kumimoji="1" lang="en-US" altLang="zh-CN"/>
              <a:t>C</a:t>
            </a:r>
            <a:r>
              <a:rPr kumimoji="1" lang="zh-CN" altLang="en-US"/>
              <a:t>，称</a:t>
            </a:r>
            <a:r>
              <a:rPr kumimoji="1" lang="en-US" altLang="zh-CN"/>
              <a:t>C</a:t>
            </a:r>
            <a:r>
              <a:rPr kumimoji="1" lang="zh-CN" altLang="en-US"/>
              <a:t>是</a:t>
            </a:r>
            <a:r>
              <a:rPr kumimoji="1" lang="en-US" altLang="zh-CN"/>
              <a:t>A</a:t>
            </a:r>
            <a:r>
              <a:rPr kumimoji="1" lang="zh-CN" altLang="en-US"/>
              <a:t>的</a:t>
            </a:r>
            <a:r>
              <a:rPr kumimoji="1" lang="zh-CN" altLang="en-US">
                <a:solidFill>
                  <a:schemeClr val="hlink"/>
                </a:solidFill>
              </a:rPr>
              <a:t>有效结论</a:t>
            </a:r>
            <a:r>
              <a:rPr kumimoji="1" lang="zh-CN" altLang="en-US"/>
              <a:t>。</a:t>
            </a:r>
            <a:endParaRPr kumimoji="1" lang="zh-CN" altLang="en-US">
              <a:cs typeface="Times New Roman" pitchFamily="18" charset="0"/>
            </a:endParaRPr>
          </a:p>
        </p:txBody>
      </p:sp>
      <p:sp>
        <p:nvSpPr>
          <p:cNvPr id="523271" name="Rectangle 7"/>
          <p:cNvSpPr>
            <a:spLocks noChangeArrowheads="1"/>
          </p:cNvSpPr>
          <p:nvPr/>
        </p:nvSpPr>
        <p:spPr bwMode="auto">
          <a:xfrm>
            <a:off x="719138" y="2854325"/>
            <a:ext cx="79168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zh-CN" altLang="en-US"/>
              <a:t>这个定义可</a:t>
            </a:r>
            <a:r>
              <a:rPr kumimoji="1" lang="zh-CN" altLang="en-US" u="sng"/>
              <a:t>推广</a:t>
            </a:r>
            <a:r>
              <a:rPr kumimoji="1" lang="zh-CN" altLang="en-US"/>
              <a:t>到有</a:t>
            </a:r>
            <a:r>
              <a:rPr kumimoji="1" lang="en-US" altLang="zh-CN"/>
              <a:t>n</a:t>
            </a:r>
            <a:r>
              <a:rPr kumimoji="1" lang="zh-CN" altLang="en-US"/>
              <a:t>个前提的情况。</a:t>
            </a:r>
          </a:p>
        </p:txBody>
      </p:sp>
      <p:sp>
        <p:nvSpPr>
          <p:cNvPr id="523273" name="Rectangle 9"/>
          <p:cNvSpPr>
            <a:spLocks noChangeArrowheads="1"/>
          </p:cNvSpPr>
          <p:nvPr/>
        </p:nvSpPr>
        <p:spPr bwMode="auto">
          <a:xfrm>
            <a:off x="719138" y="3571875"/>
            <a:ext cx="7916862" cy="1801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zh-CN" altLang="en-US"/>
              <a:t>设</a:t>
            </a:r>
            <a:r>
              <a:rPr kumimoji="1" lang="en-US" altLang="zh-CN"/>
              <a:t>H</a:t>
            </a:r>
            <a:r>
              <a:rPr kumimoji="1" lang="en-US" altLang="zh-CN" baseline="-25000"/>
              <a:t>1</a:t>
            </a:r>
            <a:r>
              <a:rPr kumimoji="1" lang="zh-CN" altLang="en-US"/>
              <a:t>，</a:t>
            </a:r>
            <a:r>
              <a:rPr kumimoji="1" lang="en-US" altLang="zh-CN"/>
              <a:t>H</a:t>
            </a:r>
            <a:r>
              <a:rPr kumimoji="1" lang="en-US" altLang="zh-CN" baseline="-25000"/>
              <a:t>2</a:t>
            </a:r>
            <a:r>
              <a:rPr kumimoji="1" lang="zh-CN" altLang="en-US"/>
              <a:t>，</a:t>
            </a:r>
            <a:r>
              <a:rPr kumimoji="1" lang="en-US" altLang="zh-CN"/>
              <a:t>…</a:t>
            </a:r>
            <a:r>
              <a:rPr kumimoji="1" lang="zh-CN" altLang="en-US"/>
              <a:t>，</a:t>
            </a:r>
            <a:r>
              <a:rPr kumimoji="1" lang="en-US" altLang="zh-CN"/>
              <a:t>H</a:t>
            </a:r>
            <a:r>
              <a:rPr kumimoji="1" lang="en-US" altLang="zh-CN" baseline="-25000"/>
              <a:t>n</a:t>
            </a:r>
            <a:r>
              <a:rPr kumimoji="1" lang="zh-CN" altLang="en-US"/>
              <a:t>，</a:t>
            </a:r>
            <a:r>
              <a:rPr kumimoji="1" lang="en-US" altLang="zh-CN"/>
              <a:t>C</a:t>
            </a:r>
            <a:r>
              <a:rPr kumimoji="1" lang="zh-CN" altLang="en-US"/>
              <a:t>是命题公式，当且仅当</a:t>
            </a:r>
          </a:p>
          <a:p>
            <a:pPr algn="ctr"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/>
              <a:t>H</a:t>
            </a:r>
            <a:r>
              <a:rPr kumimoji="1" lang="en-US" altLang="zh-CN" baseline="-25000"/>
              <a:t>1</a:t>
            </a:r>
            <a:r>
              <a:rPr kumimoji="1" lang="en-US" altLang="zh-CN"/>
              <a:t>∧H</a:t>
            </a:r>
            <a:r>
              <a:rPr kumimoji="1" lang="en-US" altLang="zh-CN" baseline="-25000"/>
              <a:t>2</a:t>
            </a:r>
            <a:r>
              <a:rPr kumimoji="1" lang="en-US" altLang="zh-CN"/>
              <a:t>∧…∧H</a:t>
            </a:r>
            <a:r>
              <a:rPr kumimoji="1" lang="en-US" altLang="zh-CN" baseline="-25000"/>
              <a:t>n</a:t>
            </a:r>
            <a:r>
              <a:rPr kumimoji="1" lang="en-US" altLang="zh-CN">
                <a:sym typeface="Symbol" pitchFamily="18" charset="2"/>
              </a:rPr>
              <a:t></a:t>
            </a:r>
            <a:r>
              <a:rPr kumimoji="1" lang="en-US" altLang="zh-CN"/>
              <a:t>C</a:t>
            </a:r>
          </a:p>
          <a:p>
            <a:pPr algn="just"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zh-CN" altLang="en-US">
                <a:cs typeface="Times New Roman" pitchFamily="18" charset="0"/>
              </a:rPr>
              <a:t>称</a:t>
            </a:r>
            <a:r>
              <a:rPr kumimoji="1" lang="en-US" altLang="zh-CN">
                <a:cs typeface="Times New Roman" pitchFamily="18" charset="0"/>
              </a:rPr>
              <a:t>C</a:t>
            </a:r>
            <a:r>
              <a:rPr kumimoji="1" lang="zh-CN" altLang="en-US">
                <a:cs typeface="Times New Roman" pitchFamily="18" charset="0"/>
              </a:rPr>
              <a:t>是一组前提</a:t>
            </a:r>
            <a:r>
              <a:rPr kumimoji="1" lang="en-US" altLang="zh-CN">
                <a:cs typeface="Times New Roman" pitchFamily="18" charset="0"/>
              </a:rPr>
              <a:t>H</a:t>
            </a:r>
            <a:r>
              <a:rPr kumimoji="1" lang="en-US" altLang="zh-CN" baseline="-25000">
                <a:cs typeface="Times New Roman" pitchFamily="18" charset="0"/>
              </a:rPr>
              <a:t>1</a:t>
            </a:r>
            <a:r>
              <a:rPr kumimoji="1" lang="zh-CN" altLang="en-US">
                <a:cs typeface="Times New Roman" pitchFamily="18" charset="0"/>
              </a:rPr>
              <a:t>，</a:t>
            </a:r>
            <a:r>
              <a:rPr kumimoji="1" lang="en-US" altLang="zh-CN">
                <a:cs typeface="Times New Roman" pitchFamily="18" charset="0"/>
              </a:rPr>
              <a:t>H</a:t>
            </a:r>
            <a:r>
              <a:rPr kumimoji="1" lang="en-US" altLang="zh-CN" baseline="-25000">
                <a:cs typeface="Times New Roman" pitchFamily="18" charset="0"/>
              </a:rPr>
              <a:t>2</a:t>
            </a:r>
            <a:r>
              <a:rPr kumimoji="1" lang="zh-CN" altLang="en-US">
                <a:cs typeface="Times New Roman" pitchFamily="18" charset="0"/>
              </a:rPr>
              <a:t>，</a:t>
            </a:r>
            <a:r>
              <a:rPr kumimoji="1" lang="en-US" altLang="zh-CN">
                <a:cs typeface="Times New Roman" pitchFamily="18" charset="0"/>
              </a:rPr>
              <a:t>…</a:t>
            </a:r>
            <a:r>
              <a:rPr kumimoji="1" lang="zh-CN" altLang="en-US">
                <a:cs typeface="Times New Roman" pitchFamily="18" charset="0"/>
              </a:rPr>
              <a:t>，</a:t>
            </a:r>
            <a:r>
              <a:rPr kumimoji="1" lang="en-US" altLang="zh-CN">
                <a:cs typeface="Times New Roman" pitchFamily="18" charset="0"/>
              </a:rPr>
              <a:t>H</a:t>
            </a:r>
            <a:r>
              <a:rPr kumimoji="1" lang="en-US" altLang="zh-CN" baseline="-25000">
                <a:cs typeface="Times New Roman" pitchFamily="18" charset="0"/>
              </a:rPr>
              <a:t>n</a:t>
            </a:r>
            <a:r>
              <a:rPr kumimoji="1" lang="zh-CN" altLang="en-US">
                <a:cs typeface="Times New Roman" pitchFamily="18" charset="0"/>
              </a:rPr>
              <a:t>的有效结论。</a:t>
            </a:r>
          </a:p>
        </p:txBody>
      </p:sp>
      <p:sp>
        <p:nvSpPr>
          <p:cNvPr id="110598" name="Rectangle 11"/>
          <p:cNvSpPr>
            <a:spLocks noChangeArrowheads="1"/>
          </p:cNvSpPr>
          <p:nvPr/>
        </p:nvSpPr>
        <p:spPr bwMode="auto">
          <a:xfrm>
            <a:off x="1187450" y="546100"/>
            <a:ext cx="26320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3200">
                <a:solidFill>
                  <a:schemeClr val="folHlink"/>
                </a:solidFill>
                <a:ea typeface="楷体_GB2312" pitchFamily="49" charset="-122"/>
              </a:rPr>
              <a:t>一、基本定义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3271" grpId="0"/>
      <p:bldP spid="523273" grpId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1E05A3F-5C3B-4F04-BCB0-D15E689C65C8}" type="slidenum">
              <a:rPr lang="en-US" altLang="zh-CN"/>
              <a:pPr>
                <a:defRPr/>
              </a:pPr>
              <a:t>100</a:t>
            </a:fld>
            <a:endParaRPr lang="en-US" altLang="zh-CN"/>
          </a:p>
        </p:txBody>
      </p:sp>
      <p:sp>
        <p:nvSpPr>
          <p:cNvPr id="473090" name="Text Box 2"/>
          <p:cNvSpPr txBox="1">
            <a:spLocks noChangeArrowheads="1"/>
          </p:cNvSpPr>
          <p:nvPr/>
        </p:nvSpPr>
        <p:spPr bwMode="auto">
          <a:xfrm>
            <a:off x="719138" y="2474913"/>
            <a:ext cx="79168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/>
              <a:t>(1)</a:t>
            </a:r>
            <a:r>
              <a:rPr kumimoji="1" lang="en-US" altLang="zh-CN">
                <a:cs typeface="Times New Roman" pitchFamily="18" charset="0"/>
              </a:rPr>
              <a:t> </a:t>
            </a:r>
            <a:r>
              <a:rPr kumimoji="1" lang="zh-CN" altLang="en-US"/>
              <a:t>真值表法        </a:t>
            </a:r>
          </a:p>
        </p:txBody>
      </p:sp>
      <p:sp>
        <p:nvSpPr>
          <p:cNvPr id="111620" name="Rectangle 37"/>
          <p:cNvSpPr>
            <a:spLocks noChangeArrowheads="1"/>
          </p:cNvSpPr>
          <p:nvPr/>
        </p:nvSpPr>
        <p:spPr bwMode="auto">
          <a:xfrm>
            <a:off x="1403350" y="617538"/>
            <a:ext cx="263207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3200">
                <a:solidFill>
                  <a:schemeClr val="folHlink"/>
                </a:solidFill>
                <a:ea typeface="楷体_GB2312" pitchFamily="49" charset="-122"/>
              </a:rPr>
              <a:t>二、论证方法</a:t>
            </a:r>
          </a:p>
        </p:txBody>
      </p:sp>
      <p:sp>
        <p:nvSpPr>
          <p:cNvPr id="111621" name="Rectangle 39"/>
          <p:cNvSpPr>
            <a:spLocks noChangeArrowheads="1"/>
          </p:cNvSpPr>
          <p:nvPr/>
        </p:nvSpPr>
        <p:spPr bwMode="auto">
          <a:xfrm>
            <a:off x="719138" y="1392238"/>
            <a:ext cx="7916862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/>
              <a:t>        </a:t>
            </a:r>
            <a:r>
              <a:rPr kumimoji="1" lang="zh-CN" altLang="en-US"/>
              <a:t>判断有效结论的过程就是论证过程，</a:t>
            </a:r>
            <a:r>
              <a:rPr kumimoji="1" lang="zh-CN" altLang="en-US">
                <a:solidFill>
                  <a:schemeClr val="hlink"/>
                </a:solidFill>
              </a:rPr>
              <a:t>论证方法</a:t>
            </a:r>
            <a:r>
              <a:rPr kumimoji="1" lang="zh-CN" altLang="en-US"/>
              <a:t>基本分为</a:t>
            </a:r>
          </a:p>
        </p:txBody>
      </p:sp>
      <p:sp>
        <p:nvSpPr>
          <p:cNvPr id="473129" name="Rectangle 41"/>
          <p:cNvSpPr>
            <a:spLocks noChangeArrowheads="1"/>
          </p:cNvSpPr>
          <p:nvPr/>
        </p:nvSpPr>
        <p:spPr bwMode="auto">
          <a:xfrm>
            <a:off x="719138" y="3208338"/>
            <a:ext cx="7916862" cy="17727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dirty="0"/>
              <a:t>        </a:t>
            </a:r>
            <a:r>
              <a:rPr kumimoji="1" lang="zh-CN" altLang="en-US" dirty="0"/>
              <a:t>设</a:t>
            </a:r>
            <a:r>
              <a:rPr kumimoji="1" lang="en-US" altLang="zh-CN" dirty="0"/>
              <a:t>P</a:t>
            </a:r>
            <a:r>
              <a:rPr kumimoji="1" lang="en-US" altLang="zh-CN" baseline="-25000" dirty="0"/>
              <a:t>1</a:t>
            </a:r>
            <a:r>
              <a:rPr kumimoji="1" lang="zh-CN" altLang="en-US" dirty="0"/>
              <a:t>，</a:t>
            </a:r>
            <a:r>
              <a:rPr kumimoji="1" lang="en-US" altLang="zh-CN" dirty="0"/>
              <a:t>…</a:t>
            </a:r>
            <a:r>
              <a:rPr kumimoji="1" lang="zh-CN" altLang="en-US" dirty="0"/>
              <a:t>，</a:t>
            </a:r>
            <a:r>
              <a:rPr kumimoji="1" lang="en-US" altLang="zh-CN" dirty="0"/>
              <a:t>P</a:t>
            </a:r>
            <a:r>
              <a:rPr kumimoji="1" lang="en-US" altLang="zh-CN" baseline="-25000" dirty="0"/>
              <a:t>m</a:t>
            </a:r>
            <a:r>
              <a:rPr kumimoji="1" lang="zh-CN" altLang="en-US" dirty="0"/>
              <a:t>是出现于前提</a:t>
            </a:r>
            <a:r>
              <a:rPr kumimoji="1" lang="en-US" altLang="zh-CN" dirty="0"/>
              <a:t>H</a:t>
            </a:r>
            <a:r>
              <a:rPr kumimoji="1" lang="en-US" altLang="zh-CN" baseline="-25000" dirty="0"/>
              <a:t>1</a:t>
            </a:r>
            <a:r>
              <a:rPr kumimoji="1" lang="zh-CN" altLang="en-US" dirty="0"/>
              <a:t>，</a:t>
            </a:r>
            <a:r>
              <a:rPr kumimoji="1" lang="en-US" altLang="zh-CN" dirty="0"/>
              <a:t>…</a:t>
            </a:r>
            <a:r>
              <a:rPr kumimoji="1" lang="zh-CN" altLang="en-US" dirty="0"/>
              <a:t>，</a:t>
            </a:r>
            <a:r>
              <a:rPr kumimoji="1" lang="en-US" altLang="zh-CN" dirty="0" err="1"/>
              <a:t>H</a:t>
            </a:r>
            <a:r>
              <a:rPr kumimoji="1" lang="en-US" altLang="zh-CN" baseline="-25000" dirty="0" err="1"/>
              <a:t>n</a:t>
            </a:r>
            <a:r>
              <a:rPr kumimoji="1" lang="zh-CN" altLang="en-US" dirty="0"/>
              <a:t>和结论</a:t>
            </a:r>
            <a:r>
              <a:rPr kumimoji="1" lang="en-US" altLang="zh-CN" dirty="0"/>
              <a:t>C</a:t>
            </a:r>
            <a:r>
              <a:rPr kumimoji="1" lang="zh-CN" altLang="en-US" dirty="0"/>
              <a:t>中的全部命题变元，列出这个真值表，即可看出</a:t>
            </a:r>
            <a:r>
              <a:rPr kumimoji="1" lang="en-US" altLang="zh-CN" dirty="0"/>
              <a:t>H</a:t>
            </a:r>
            <a:r>
              <a:rPr kumimoji="1" lang="en-US" altLang="zh-CN" baseline="-25000" dirty="0"/>
              <a:t>1</a:t>
            </a:r>
            <a:r>
              <a:rPr kumimoji="1" lang="en-US" altLang="zh-CN" dirty="0"/>
              <a:t>∧H</a:t>
            </a:r>
            <a:r>
              <a:rPr kumimoji="1" lang="en-US" altLang="zh-CN" baseline="-25000" dirty="0"/>
              <a:t>2</a:t>
            </a:r>
            <a:r>
              <a:rPr kumimoji="1" lang="en-US" altLang="zh-CN" dirty="0"/>
              <a:t>∧…∧</a:t>
            </a:r>
            <a:r>
              <a:rPr kumimoji="1" lang="en-US" altLang="zh-CN" dirty="0" err="1"/>
              <a:t>H</a:t>
            </a:r>
            <a:r>
              <a:rPr kumimoji="1" lang="en-US" altLang="zh-CN" baseline="-25000" dirty="0" err="1"/>
              <a:t>n</a:t>
            </a:r>
            <a:r>
              <a:rPr kumimoji="1" lang="en-US" altLang="zh-CN" dirty="0" err="1">
                <a:sym typeface="Symbol" pitchFamily="18" charset="2"/>
              </a:rPr>
              <a:t></a:t>
            </a:r>
            <a:r>
              <a:rPr kumimoji="1" lang="en-US" altLang="zh-CN" dirty="0" err="1"/>
              <a:t>C</a:t>
            </a:r>
            <a:r>
              <a:rPr kumimoji="1" lang="zh-CN" altLang="en-US" dirty="0"/>
              <a:t>是否成立。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3090" grpId="0"/>
      <p:bldP spid="473129" grpId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9E20B19-DB2D-4D4F-88AD-5440508895B7}" type="slidenum">
              <a:rPr lang="en-US" altLang="zh-CN"/>
              <a:pPr>
                <a:defRPr/>
              </a:pPr>
              <a:t>101</a:t>
            </a:fld>
            <a:endParaRPr lang="en-US" altLang="zh-CN"/>
          </a:p>
        </p:txBody>
      </p:sp>
      <p:sp>
        <p:nvSpPr>
          <p:cNvPr id="112643" name="Rectangle 5"/>
          <p:cNvSpPr>
            <a:spLocks noChangeArrowheads="1"/>
          </p:cNvSpPr>
          <p:nvPr/>
        </p:nvSpPr>
        <p:spPr bwMode="auto">
          <a:xfrm>
            <a:off x="1187450" y="692150"/>
            <a:ext cx="7345363" cy="1563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zh-CN" altLang="en-US">
                <a:solidFill>
                  <a:schemeClr val="hlink"/>
                </a:solidFill>
              </a:rPr>
              <a:t>例</a:t>
            </a:r>
            <a:r>
              <a:rPr kumimoji="1" lang="en-US" altLang="zh-CN">
                <a:solidFill>
                  <a:schemeClr val="hlink"/>
                </a:solidFill>
              </a:rPr>
              <a:t>1</a:t>
            </a:r>
            <a:r>
              <a:rPr kumimoji="1" lang="zh-CN" altLang="en-US">
                <a:solidFill>
                  <a:schemeClr val="hlink"/>
                </a:solidFill>
              </a:rPr>
              <a:t>：</a:t>
            </a:r>
            <a:r>
              <a:rPr kumimoji="1" lang="zh-CN" altLang="en-US"/>
              <a:t>一份统计报表的错误，或者是材料不可靠，或是因计算错误，这份报表有错不是材料不可靠，所以这份报表是由于计算有错误。 </a:t>
            </a:r>
          </a:p>
        </p:txBody>
      </p:sp>
      <p:graphicFrame>
        <p:nvGraphicFramePr>
          <p:cNvPr id="525465" name="Group 153"/>
          <p:cNvGraphicFramePr>
            <a:graphicFrameLocks noGrp="1"/>
          </p:cNvGraphicFramePr>
          <p:nvPr/>
        </p:nvGraphicFramePr>
        <p:xfrm>
          <a:off x="827088" y="3578225"/>
          <a:ext cx="7734300" cy="2590800"/>
        </p:xfrm>
        <a:graphic>
          <a:graphicData uri="http://schemas.openxmlformats.org/drawingml/2006/table">
            <a:tbl>
              <a:tblPr/>
              <a:tblGrid>
                <a:gridCol w="420687"/>
                <a:gridCol w="460375"/>
                <a:gridCol w="758825"/>
                <a:gridCol w="1035050"/>
                <a:gridCol w="2220913"/>
                <a:gridCol w="2838450"/>
              </a:tblGrid>
              <a:tr h="5048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┐P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P∨Q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(P∨Q)</a:t>
                      </a: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∧</a:t>
                      </a: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┐P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(P∨Q)</a:t>
                      </a: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∧</a:t>
                      </a: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┐P</a:t>
                      </a: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→Q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4857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3952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3952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3952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</a:tbl>
          </a:graphicData>
        </a:graphic>
      </p:graphicFrame>
      <p:sp>
        <p:nvSpPr>
          <p:cNvPr id="525350" name="Text Box 38"/>
          <p:cNvSpPr txBox="1">
            <a:spLocks noChangeArrowheads="1"/>
          </p:cNvSpPr>
          <p:nvPr/>
        </p:nvSpPr>
        <p:spPr bwMode="auto">
          <a:xfrm>
            <a:off x="1258888" y="2909888"/>
            <a:ext cx="36718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/>
              <a:t>┐P∧(P∨Q)</a:t>
            </a:r>
            <a:r>
              <a:rPr kumimoji="1" lang="en-US" altLang="zh-CN">
                <a:sym typeface="Symbol" pitchFamily="18" charset="2"/>
              </a:rPr>
              <a:t></a:t>
            </a:r>
            <a:r>
              <a:rPr kumimoji="1" lang="en-US" altLang="zh-CN"/>
              <a:t>Q</a:t>
            </a:r>
          </a:p>
        </p:txBody>
      </p:sp>
      <p:sp>
        <p:nvSpPr>
          <p:cNvPr id="525363" name="Rectangle 51"/>
          <p:cNvSpPr>
            <a:spLocks noChangeArrowheads="1"/>
          </p:cNvSpPr>
          <p:nvPr/>
        </p:nvSpPr>
        <p:spPr bwMode="auto">
          <a:xfrm>
            <a:off x="1233488" y="2333625"/>
            <a:ext cx="54991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zh-CN" altLang="en-US"/>
              <a:t>解：</a:t>
            </a:r>
            <a:r>
              <a:rPr kumimoji="1" lang="en-US" altLang="zh-CN"/>
              <a:t>P</a:t>
            </a:r>
            <a:r>
              <a:rPr kumimoji="1" lang="zh-CN" altLang="en-US"/>
              <a:t>：材料不可靠  </a:t>
            </a:r>
            <a:r>
              <a:rPr kumimoji="1" lang="en-US" altLang="zh-CN"/>
              <a:t>Q</a:t>
            </a:r>
            <a:r>
              <a:rPr kumimoji="1" lang="zh-CN" altLang="en-US"/>
              <a:t>：计算错误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5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5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5350" grpId="0" autoUpdateAnimBg="0"/>
      <p:bldP spid="525363" grpId="0" autoUpdateAnimBg="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7687157-B704-4D49-8B85-246251156E3B}" type="slidenum">
              <a:rPr lang="en-US" altLang="zh-CN"/>
              <a:pPr>
                <a:defRPr/>
              </a:pPr>
              <a:t>102</a:t>
            </a:fld>
            <a:endParaRPr lang="en-US" altLang="zh-CN"/>
          </a:p>
        </p:txBody>
      </p:sp>
      <p:sp>
        <p:nvSpPr>
          <p:cNvPr id="113667" name="Text Box 2"/>
          <p:cNvSpPr txBox="1">
            <a:spLocks noChangeArrowheads="1"/>
          </p:cNvSpPr>
          <p:nvPr/>
        </p:nvSpPr>
        <p:spPr bwMode="auto">
          <a:xfrm>
            <a:off x="719138" y="1512888"/>
            <a:ext cx="7916862" cy="1108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zh-CN" altLang="en-US">
                <a:solidFill>
                  <a:schemeClr val="hlink"/>
                </a:solidFill>
              </a:rPr>
              <a:t>例</a:t>
            </a:r>
            <a:r>
              <a:rPr kumimoji="1" lang="en-US" altLang="zh-CN">
                <a:solidFill>
                  <a:schemeClr val="hlink"/>
                </a:solidFill>
              </a:rPr>
              <a:t>2</a:t>
            </a:r>
            <a:r>
              <a:rPr kumimoji="1" lang="zh-CN" altLang="en-US">
                <a:solidFill>
                  <a:schemeClr val="hlink"/>
                </a:solidFill>
              </a:rPr>
              <a:t>：</a:t>
            </a:r>
            <a:r>
              <a:rPr kumimoji="1" lang="zh-CN" altLang="en-US"/>
              <a:t>如果今天我病了，那么我没来上课。今天我病了。所以今天我没来上课。</a:t>
            </a:r>
            <a:r>
              <a:rPr kumimoji="1" lang="zh-CN" altLang="en-US" sz="3000" b="0">
                <a:latin typeface="Tahoma" pitchFamily="34" charset="0"/>
              </a:rPr>
              <a:t> </a:t>
            </a:r>
          </a:p>
        </p:txBody>
      </p:sp>
      <p:sp>
        <p:nvSpPr>
          <p:cNvPr id="667651" name="Rectangle 3"/>
          <p:cNvSpPr>
            <a:spLocks noChangeArrowheads="1"/>
          </p:cNvSpPr>
          <p:nvPr/>
        </p:nvSpPr>
        <p:spPr bwMode="auto">
          <a:xfrm>
            <a:off x="719138" y="2708920"/>
            <a:ext cx="7916862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zh-CN" altLang="en-US" dirty="0"/>
              <a:t>解：</a:t>
            </a:r>
            <a:r>
              <a:rPr kumimoji="1" lang="en-US" altLang="zh-CN" dirty="0"/>
              <a:t>P</a:t>
            </a:r>
            <a:r>
              <a:rPr kumimoji="1" lang="zh-CN" altLang="en-US" dirty="0"/>
              <a:t>：今天我病了，</a:t>
            </a:r>
            <a:r>
              <a:rPr kumimoji="1" lang="en-US" altLang="zh-CN" dirty="0"/>
              <a:t>Q</a:t>
            </a:r>
            <a:r>
              <a:rPr kumimoji="1" lang="zh-CN" altLang="en-US" dirty="0"/>
              <a:t>：我没来上课</a:t>
            </a:r>
          </a:p>
        </p:txBody>
      </p:sp>
      <p:sp>
        <p:nvSpPr>
          <p:cNvPr id="667652" name="Rectangle 4"/>
          <p:cNvSpPr>
            <a:spLocks noChangeArrowheads="1"/>
          </p:cNvSpPr>
          <p:nvPr/>
        </p:nvSpPr>
        <p:spPr bwMode="auto">
          <a:xfrm>
            <a:off x="719138" y="3599507"/>
            <a:ext cx="7916862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>
                <a:cs typeface="Times New Roman" pitchFamily="18" charset="0"/>
              </a:rPr>
              <a:t>((P→Q)</a:t>
            </a:r>
            <a:r>
              <a:rPr kumimoji="1" lang="en-US" altLang="zh-CN"/>
              <a:t>∧</a:t>
            </a:r>
            <a:r>
              <a:rPr kumimoji="1" lang="en-US" altLang="zh-CN">
                <a:cs typeface="Times New Roman" pitchFamily="18" charset="0"/>
              </a:rPr>
              <a:t>P)→Q</a:t>
            </a:r>
            <a:r>
              <a:rPr kumimoji="1" lang="en-US" altLang="zh-CN" sz="3000" b="0">
                <a:latin typeface="Tahoma" pitchFamily="34" charset="0"/>
              </a:rPr>
              <a:t> 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7651" grpId="0"/>
      <p:bldP spid="667652" grpId="0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8BCB182-094A-4968-A0C0-A6ED72517A02}" type="slidenum">
              <a:rPr lang="en-US" altLang="zh-CN"/>
              <a:pPr>
                <a:defRPr/>
              </a:pPr>
              <a:t>103</a:t>
            </a:fld>
            <a:endParaRPr lang="en-US" altLang="zh-CN"/>
          </a:p>
        </p:txBody>
      </p:sp>
      <p:sp>
        <p:nvSpPr>
          <p:cNvPr id="114691" name="Rectangle 5"/>
          <p:cNvSpPr>
            <a:spLocks noChangeArrowheads="1"/>
          </p:cNvSpPr>
          <p:nvPr/>
        </p:nvSpPr>
        <p:spPr bwMode="auto">
          <a:xfrm>
            <a:off x="719138" y="1316038"/>
            <a:ext cx="7916862" cy="1031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/>
              <a:t>        </a:t>
            </a:r>
            <a:r>
              <a:rPr kumimoji="1" lang="zh-CN" altLang="en-US"/>
              <a:t>由一组前提、公认的推理规则，利用已知的等价或蕴含公式，推出有效的结论。</a:t>
            </a:r>
          </a:p>
        </p:txBody>
      </p:sp>
      <p:sp>
        <p:nvSpPr>
          <p:cNvPr id="114692" name="Rectangle 7"/>
          <p:cNvSpPr>
            <a:spLocks noChangeArrowheads="1"/>
          </p:cNvSpPr>
          <p:nvPr/>
        </p:nvSpPr>
        <p:spPr bwMode="auto">
          <a:xfrm>
            <a:off x="1258888" y="692150"/>
            <a:ext cx="23860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/>
              <a:t>(2)</a:t>
            </a:r>
            <a:r>
              <a:rPr kumimoji="1" lang="zh-CN" altLang="en-US"/>
              <a:t>直接证法：</a:t>
            </a:r>
          </a:p>
        </p:txBody>
      </p:sp>
      <p:sp>
        <p:nvSpPr>
          <p:cNvPr id="526345" name="Rectangle 9"/>
          <p:cNvSpPr>
            <a:spLocks noChangeArrowheads="1"/>
          </p:cNvSpPr>
          <p:nvPr/>
        </p:nvSpPr>
        <p:spPr bwMode="auto">
          <a:xfrm>
            <a:off x="719138" y="2468563"/>
            <a:ext cx="7916862" cy="1031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/>
              <a:t>        P</a:t>
            </a:r>
            <a:r>
              <a:rPr kumimoji="1" lang="zh-CN" altLang="en-US"/>
              <a:t>规则：前提在推导中的任何时候都可引入使用。常用的蕴含式和等价式见表</a:t>
            </a:r>
            <a:r>
              <a:rPr kumimoji="1" lang="en-US" altLang="zh-CN"/>
              <a:t>P43</a:t>
            </a:r>
            <a:r>
              <a:rPr kumimoji="1" lang="zh-CN" altLang="en-US"/>
              <a:t>。</a:t>
            </a:r>
          </a:p>
        </p:txBody>
      </p:sp>
      <p:sp>
        <p:nvSpPr>
          <p:cNvPr id="526347" name="Rectangle 11"/>
          <p:cNvSpPr>
            <a:spLocks noChangeArrowheads="1"/>
          </p:cNvSpPr>
          <p:nvPr/>
        </p:nvSpPr>
        <p:spPr bwMode="auto">
          <a:xfrm>
            <a:off x="719138" y="3716338"/>
            <a:ext cx="7916862" cy="1031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/>
              <a:t>        T</a:t>
            </a:r>
            <a:r>
              <a:rPr kumimoji="1" lang="zh-CN" altLang="en-US"/>
              <a:t>规则：前面已导出的有效结论可作为后续推导引入。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6345" grpId="0"/>
      <p:bldP spid="526347" grpId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88CB9F5-07D3-4D47-9BA7-08D210C098BD}" type="slidenum">
              <a:rPr lang="en-US" altLang="zh-CN"/>
              <a:pPr>
                <a:defRPr/>
              </a:pPr>
              <a:t>104</a:t>
            </a:fld>
            <a:endParaRPr lang="en-US" altLang="zh-CN"/>
          </a:p>
        </p:txBody>
      </p:sp>
      <p:sp>
        <p:nvSpPr>
          <p:cNvPr id="115715" name="Text Box 2"/>
          <p:cNvSpPr txBox="1">
            <a:spLocks noChangeArrowheads="1"/>
          </p:cNvSpPr>
          <p:nvPr/>
        </p:nvSpPr>
        <p:spPr bwMode="auto">
          <a:xfrm>
            <a:off x="900113" y="692150"/>
            <a:ext cx="79200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82563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zh-CN" altLang="en-US">
                <a:solidFill>
                  <a:schemeClr val="hlink"/>
                </a:solidFill>
              </a:rPr>
              <a:t>例</a:t>
            </a:r>
            <a:r>
              <a:rPr kumimoji="1" lang="en-US" altLang="zh-CN">
                <a:solidFill>
                  <a:schemeClr val="hlink"/>
                </a:solidFill>
              </a:rPr>
              <a:t>3</a:t>
            </a:r>
            <a:r>
              <a:rPr kumimoji="1" lang="zh-CN" altLang="en-US">
                <a:solidFill>
                  <a:schemeClr val="hlink"/>
                </a:solidFill>
              </a:rPr>
              <a:t>：</a:t>
            </a:r>
            <a:r>
              <a:rPr kumimoji="1" lang="zh-CN" altLang="en-US"/>
              <a:t>证明</a:t>
            </a:r>
            <a:r>
              <a:rPr kumimoji="1" lang="en-US" altLang="zh-CN"/>
              <a:t>( P∨Q)∧(P→R)∧(Q→S)</a:t>
            </a:r>
            <a:r>
              <a:rPr kumimoji="1" lang="en-US" altLang="zh-CN">
                <a:latin typeface="Arial" pitchFamily="34" charset="0"/>
                <a:sym typeface="Symbol" pitchFamily="18" charset="2"/>
              </a:rPr>
              <a:t></a:t>
            </a:r>
            <a:r>
              <a:rPr kumimoji="1" lang="en-US" altLang="zh-CN"/>
              <a:t>S∨R</a:t>
            </a:r>
          </a:p>
        </p:txBody>
      </p:sp>
      <p:sp>
        <p:nvSpPr>
          <p:cNvPr id="475140" name="Rectangle 4"/>
          <p:cNvSpPr>
            <a:spLocks noChangeArrowheads="1"/>
          </p:cNvSpPr>
          <p:nvPr/>
        </p:nvSpPr>
        <p:spPr bwMode="auto">
          <a:xfrm>
            <a:off x="719138" y="1438275"/>
            <a:ext cx="79168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 dirty="0"/>
              <a:t>(1)</a:t>
            </a:r>
            <a:r>
              <a:rPr kumimoji="1" lang="en-US" altLang="zh-CN" dirty="0">
                <a:cs typeface="Times New Roman" pitchFamily="18" charset="0"/>
              </a:rPr>
              <a:t>    </a:t>
            </a:r>
            <a:r>
              <a:rPr kumimoji="1" lang="en-US" altLang="zh-CN" dirty="0"/>
              <a:t>P∨Q </a:t>
            </a:r>
            <a:r>
              <a:rPr kumimoji="1" lang="en-US" altLang="zh-CN" dirty="0" smtClean="0"/>
              <a:t>		P</a:t>
            </a:r>
            <a:endParaRPr kumimoji="1" lang="en-US" altLang="zh-CN" dirty="0"/>
          </a:p>
        </p:txBody>
      </p:sp>
      <p:sp>
        <p:nvSpPr>
          <p:cNvPr id="475142" name="Rectangle 6"/>
          <p:cNvSpPr>
            <a:spLocks noChangeArrowheads="1"/>
          </p:cNvSpPr>
          <p:nvPr/>
        </p:nvSpPr>
        <p:spPr bwMode="auto">
          <a:xfrm>
            <a:off x="719138" y="1978025"/>
            <a:ext cx="79168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 dirty="0"/>
              <a:t>(2)</a:t>
            </a:r>
            <a:r>
              <a:rPr kumimoji="1" lang="en-US" altLang="zh-CN" dirty="0">
                <a:cs typeface="Times New Roman" pitchFamily="18" charset="0"/>
              </a:rPr>
              <a:t>    </a:t>
            </a:r>
            <a:r>
              <a:rPr kumimoji="1" lang="en-US" altLang="zh-CN" dirty="0"/>
              <a:t>┐P→Q </a:t>
            </a:r>
            <a:r>
              <a:rPr kumimoji="1" lang="en-US" altLang="zh-CN" dirty="0" smtClean="0"/>
              <a:t>	T(1)E</a:t>
            </a:r>
            <a:endParaRPr kumimoji="1" lang="en-US" altLang="zh-CN" dirty="0"/>
          </a:p>
        </p:txBody>
      </p:sp>
      <p:sp>
        <p:nvSpPr>
          <p:cNvPr id="475144" name="Rectangle 8"/>
          <p:cNvSpPr>
            <a:spLocks noChangeArrowheads="1"/>
          </p:cNvSpPr>
          <p:nvPr/>
        </p:nvSpPr>
        <p:spPr bwMode="auto">
          <a:xfrm>
            <a:off x="719138" y="2517775"/>
            <a:ext cx="79168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 dirty="0"/>
              <a:t>(3)</a:t>
            </a:r>
            <a:r>
              <a:rPr kumimoji="1" lang="en-US" altLang="zh-CN" dirty="0">
                <a:cs typeface="Times New Roman" pitchFamily="18" charset="0"/>
              </a:rPr>
              <a:t>    </a:t>
            </a:r>
            <a:r>
              <a:rPr kumimoji="1" lang="en-US" altLang="zh-CN" dirty="0"/>
              <a:t>Q→</a:t>
            </a:r>
            <a:r>
              <a:rPr kumimoji="1" lang="en-US" altLang="zh-CN" dirty="0" smtClean="0"/>
              <a:t>S		P</a:t>
            </a:r>
            <a:endParaRPr kumimoji="1" lang="en-US" altLang="zh-CN" dirty="0"/>
          </a:p>
        </p:txBody>
      </p:sp>
      <p:sp>
        <p:nvSpPr>
          <p:cNvPr id="475146" name="Rectangle 10"/>
          <p:cNvSpPr>
            <a:spLocks noChangeArrowheads="1"/>
          </p:cNvSpPr>
          <p:nvPr/>
        </p:nvSpPr>
        <p:spPr bwMode="auto">
          <a:xfrm>
            <a:off x="719138" y="3057525"/>
            <a:ext cx="79168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 dirty="0"/>
              <a:t>(4)</a:t>
            </a:r>
            <a:r>
              <a:rPr kumimoji="1" lang="en-US" altLang="zh-CN" dirty="0">
                <a:cs typeface="Times New Roman" pitchFamily="18" charset="0"/>
              </a:rPr>
              <a:t>    </a:t>
            </a:r>
            <a:r>
              <a:rPr kumimoji="1" lang="en-US" altLang="zh-CN" dirty="0"/>
              <a:t>┐P→</a:t>
            </a:r>
            <a:r>
              <a:rPr kumimoji="1" lang="en-US" altLang="zh-CN" dirty="0" smtClean="0"/>
              <a:t>S		T(2</a:t>
            </a:r>
            <a:r>
              <a:rPr kumimoji="1" lang="en-US" altLang="zh-CN" dirty="0"/>
              <a:t>)(3)I</a:t>
            </a:r>
          </a:p>
        </p:txBody>
      </p:sp>
      <p:sp>
        <p:nvSpPr>
          <p:cNvPr id="475148" name="Rectangle 12"/>
          <p:cNvSpPr>
            <a:spLocks noChangeArrowheads="1"/>
          </p:cNvSpPr>
          <p:nvPr/>
        </p:nvSpPr>
        <p:spPr bwMode="auto">
          <a:xfrm>
            <a:off x="719138" y="3598863"/>
            <a:ext cx="79168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 dirty="0"/>
              <a:t>(5)</a:t>
            </a:r>
            <a:r>
              <a:rPr kumimoji="1" lang="en-US" altLang="zh-CN" dirty="0">
                <a:cs typeface="Times New Roman" pitchFamily="18" charset="0"/>
              </a:rPr>
              <a:t>    </a:t>
            </a:r>
            <a:r>
              <a:rPr kumimoji="1" lang="en-US" altLang="zh-CN" dirty="0"/>
              <a:t>┐S→P </a:t>
            </a:r>
            <a:r>
              <a:rPr kumimoji="1" lang="en-US" altLang="zh-CN" dirty="0" smtClean="0"/>
              <a:t>	T(4)E</a:t>
            </a:r>
            <a:endParaRPr kumimoji="1" lang="en-US" altLang="zh-CN" dirty="0"/>
          </a:p>
        </p:txBody>
      </p:sp>
      <p:sp>
        <p:nvSpPr>
          <p:cNvPr id="475150" name="Rectangle 14"/>
          <p:cNvSpPr>
            <a:spLocks noChangeArrowheads="1"/>
          </p:cNvSpPr>
          <p:nvPr/>
        </p:nvSpPr>
        <p:spPr bwMode="auto">
          <a:xfrm>
            <a:off x="719138" y="4138613"/>
            <a:ext cx="79168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 dirty="0"/>
              <a:t>(6)</a:t>
            </a:r>
            <a:r>
              <a:rPr kumimoji="1" lang="en-US" altLang="zh-CN" dirty="0">
                <a:cs typeface="Times New Roman" pitchFamily="18" charset="0"/>
              </a:rPr>
              <a:t>    </a:t>
            </a:r>
            <a:r>
              <a:rPr kumimoji="1" lang="en-US" altLang="zh-CN" dirty="0"/>
              <a:t>P→</a:t>
            </a:r>
            <a:r>
              <a:rPr kumimoji="1" lang="en-US" altLang="zh-CN" dirty="0" smtClean="0"/>
              <a:t>R		P</a:t>
            </a:r>
            <a:endParaRPr kumimoji="1" lang="en-US" altLang="zh-CN" dirty="0"/>
          </a:p>
        </p:txBody>
      </p:sp>
      <p:sp>
        <p:nvSpPr>
          <p:cNvPr id="475152" name="Rectangle 16"/>
          <p:cNvSpPr>
            <a:spLocks noChangeArrowheads="1"/>
          </p:cNvSpPr>
          <p:nvPr/>
        </p:nvSpPr>
        <p:spPr bwMode="auto">
          <a:xfrm>
            <a:off x="719138" y="4678363"/>
            <a:ext cx="79168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 dirty="0"/>
              <a:t>(7)</a:t>
            </a:r>
            <a:r>
              <a:rPr kumimoji="1" lang="en-US" altLang="zh-CN" dirty="0">
                <a:cs typeface="Times New Roman" pitchFamily="18" charset="0"/>
              </a:rPr>
              <a:t>    </a:t>
            </a:r>
            <a:r>
              <a:rPr kumimoji="1" lang="en-US" altLang="zh-CN" dirty="0"/>
              <a:t>┐S→</a:t>
            </a:r>
            <a:r>
              <a:rPr kumimoji="1" lang="en-US" altLang="zh-CN" dirty="0" smtClean="0"/>
              <a:t>R	T(5</a:t>
            </a:r>
            <a:r>
              <a:rPr kumimoji="1" lang="en-US" altLang="zh-CN" dirty="0"/>
              <a:t>)(6)I</a:t>
            </a:r>
          </a:p>
        </p:txBody>
      </p:sp>
      <p:sp>
        <p:nvSpPr>
          <p:cNvPr id="475154" name="Rectangle 18"/>
          <p:cNvSpPr>
            <a:spLocks noChangeArrowheads="1"/>
          </p:cNvSpPr>
          <p:nvPr/>
        </p:nvSpPr>
        <p:spPr bwMode="auto">
          <a:xfrm>
            <a:off x="719138" y="5218113"/>
            <a:ext cx="7021214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 dirty="0"/>
              <a:t>(8)</a:t>
            </a:r>
            <a:r>
              <a:rPr kumimoji="1" lang="en-US" altLang="zh-CN" dirty="0">
                <a:cs typeface="Times New Roman" pitchFamily="18" charset="0"/>
              </a:rPr>
              <a:t>    </a:t>
            </a:r>
            <a:r>
              <a:rPr kumimoji="1" lang="en-US" altLang="zh-CN" dirty="0"/>
              <a:t>S∨R </a:t>
            </a:r>
            <a:r>
              <a:rPr kumimoji="1" lang="en-US" altLang="zh-CN" dirty="0" smtClean="0"/>
              <a:t>		T(7)E</a:t>
            </a:r>
            <a:endParaRPr kumimoji="1" lang="en-US" altLang="zh-CN" dirty="0"/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5140" grpId="0"/>
      <p:bldP spid="475142" grpId="0"/>
      <p:bldP spid="475144" grpId="0"/>
      <p:bldP spid="475146" grpId="0"/>
      <p:bldP spid="475148" grpId="0"/>
      <p:bldP spid="475150" grpId="0"/>
      <p:bldP spid="475152" grpId="0"/>
      <p:bldP spid="475154" grpId="0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0FEFD13-E2AA-4259-8143-540D6BFAEF0B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105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21859" name="Text Box 2"/>
          <p:cNvSpPr txBox="1">
            <a:spLocks noChangeArrowheads="1"/>
          </p:cNvSpPr>
          <p:nvPr/>
        </p:nvSpPr>
        <p:spPr bwMode="auto">
          <a:xfrm>
            <a:off x="719138" y="1484313"/>
            <a:ext cx="7916862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FFCF01"/>
              </a:buClr>
              <a:buSzPct val="80000"/>
              <a:buFont typeface="Wingdings" pitchFamily="2" charset="2"/>
              <a:buNone/>
            </a:pPr>
            <a:r>
              <a:rPr kumimoji="1" lang="zh-CN" altLang="en-US" dirty="0">
                <a:solidFill>
                  <a:srgbClr val="000000"/>
                </a:solidFill>
              </a:rPr>
              <a:t>主</a:t>
            </a:r>
            <a:r>
              <a:rPr kumimoji="1" lang="zh-CN" altLang="en-US" dirty="0" smtClean="0">
                <a:solidFill>
                  <a:srgbClr val="000000"/>
                </a:solidFill>
              </a:rPr>
              <a:t>范式的定义，小项，大项。</a:t>
            </a:r>
            <a:endParaRPr kumimoji="1" lang="en-US" altLang="zh-CN" dirty="0" smtClean="0">
              <a:solidFill>
                <a:srgbClr val="000000"/>
              </a:solidFill>
            </a:endParaRPr>
          </a:p>
          <a:p>
            <a:pPr eaLnBrk="1" hangingPunct="1">
              <a:spcBef>
                <a:spcPct val="50000"/>
              </a:spcBef>
              <a:buClr>
                <a:srgbClr val="FFCF01"/>
              </a:buClr>
              <a:buSzPct val="80000"/>
              <a:buFont typeface="Wingdings" pitchFamily="2" charset="2"/>
              <a:buNone/>
            </a:pPr>
            <a:r>
              <a:rPr kumimoji="1" lang="zh-CN" altLang="en-US" dirty="0">
                <a:solidFill>
                  <a:srgbClr val="000000"/>
                </a:solidFill>
              </a:rPr>
              <a:t>主</a:t>
            </a:r>
            <a:r>
              <a:rPr kumimoji="1" lang="zh-CN" altLang="en-US" dirty="0" smtClean="0">
                <a:solidFill>
                  <a:srgbClr val="000000"/>
                </a:solidFill>
              </a:rPr>
              <a:t>范式的求解，真值表，公式法。</a:t>
            </a:r>
            <a:endParaRPr kumimoji="1" lang="en-US" altLang="zh-CN" dirty="0" smtClean="0">
              <a:solidFill>
                <a:srgbClr val="000000"/>
              </a:solidFill>
            </a:endParaRPr>
          </a:p>
          <a:p>
            <a:pPr eaLnBrk="1" hangingPunct="1">
              <a:spcBef>
                <a:spcPct val="50000"/>
              </a:spcBef>
              <a:buClr>
                <a:srgbClr val="FFCF01"/>
              </a:buClr>
              <a:buSzPct val="80000"/>
              <a:buFont typeface="Wingdings" pitchFamily="2" charset="2"/>
              <a:buNone/>
            </a:pPr>
            <a:r>
              <a:rPr kumimoji="1" lang="zh-CN" altLang="en-US" dirty="0" smtClean="0">
                <a:solidFill>
                  <a:srgbClr val="000000"/>
                </a:solidFill>
              </a:rPr>
              <a:t>推理</a:t>
            </a:r>
            <a:r>
              <a:rPr kumimoji="1" lang="zh-CN" altLang="en-US" dirty="0">
                <a:solidFill>
                  <a:srgbClr val="000000"/>
                </a:solidFill>
              </a:rPr>
              <a:t>理论：</a:t>
            </a:r>
          </a:p>
          <a:p>
            <a:pPr eaLnBrk="1" hangingPunct="1">
              <a:spcBef>
                <a:spcPct val="50000"/>
              </a:spcBef>
              <a:buClr>
                <a:srgbClr val="FFCF01"/>
              </a:buClr>
              <a:buSzPct val="80000"/>
              <a:buFont typeface="Wingdings" pitchFamily="2" charset="2"/>
              <a:buNone/>
            </a:pPr>
            <a:r>
              <a:rPr kumimoji="1" lang="zh-CN" altLang="en-US" dirty="0">
                <a:solidFill>
                  <a:srgbClr val="000000"/>
                </a:solidFill>
              </a:rPr>
              <a:t> </a:t>
            </a:r>
            <a:r>
              <a:rPr kumimoji="1" lang="en-US" altLang="zh-CN" dirty="0">
                <a:solidFill>
                  <a:srgbClr val="000000"/>
                </a:solidFill>
              </a:rPr>
              <a:t>1</a:t>
            </a:r>
            <a:r>
              <a:rPr kumimoji="1" lang="zh-CN" altLang="en-US" dirty="0">
                <a:solidFill>
                  <a:srgbClr val="000000"/>
                </a:solidFill>
              </a:rPr>
              <a:t>、真值表法：</a:t>
            </a:r>
          </a:p>
          <a:p>
            <a:pPr eaLnBrk="1" hangingPunct="1">
              <a:spcBef>
                <a:spcPct val="50000"/>
              </a:spcBef>
              <a:buClr>
                <a:srgbClr val="FFCF01"/>
              </a:buClr>
              <a:buSzPct val="80000"/>
              <a:buFont typeface="Wingdings" pitchFamily="2" charset="2"/>
              <a:buNone/>
            </a:pPr>
            <a:r>
              <a:rPr kumimoji="1" lang="zh-CN" altLang="en-US" dirty="0">
                <a:solidFill>
                  <a:srgbClr val="000000"/>
                </a:solidFill>
              </a:rPr>
              <a:t> </a:t>
            </a:r>
            <a:r>
              <a:rPr kumimoji="1" lang="en-US" altLang="zh-CN" dirty="0">
                <a:solidFill>
                  <a:srgbClr val="000000"/>
                </a:solidFill>
              </a:rPr>
              <a:t>2</a:t>
            </a:r>
            <a:r>
              <a:rPr kumimoji="1" lang="zh-CN" altLang="en-US" dirty="0">
                <a:solidFill>
                  <a:srgbClr val="000000"/>
                </a:solidFill>
              </a:rPr>
              <a:t>、直接证法：</a:t>
            </a:r>
            <a:r>
              <a:rPr kumimoji="1" lang="en-US" altLang="zh-CN" dirty="0">
                <a:solidFill>
                  <a:srgbClr val="000000"/>
                </a:solidFill>
              </a:rPr>
              <a:t>P</a:t>
            </a:r>
            <a:r>
              <a:rPr kumimoji="1" lang="zh-CN" altLang="en-US" dirty="0">
                <a:solidFill>
                  <a:srgbClr val="000000"/>
                </a:solidFill>
              </a:rPr>
              <a:t>规则，</a:t>
            </a:r>
            <a:r>
              <a:rPr kumimoji="1" lang="en-US" altLang="zh-CN" dirty="0">
                <a:solidFill>
                  <a:srgbClr val="000000"/>
                </a:solidFill>
              </a:rPr>
              <a:t>T</a:t>
            </a:r>
            <a:r>
              <a:rPr kumimoji="1" lang="zh-CN" altLang="en-US" dirty="0">
                <a:solidFill>
                  <a:srgbClr val="000000"/>
                </a:solidFill>
              </a:rPr>
              <a:t>规则</a:t>
            </a:r>
            <a:r>
              <a:rPr kumimoji="1" lang="zh-CN" altLang="en-US" dirty="0" smtClean="0">
                <a:solidFill>
                  <a:srgbClr val="000000"/>
                </a:solidFill>
              </a:rPr>
              <a:t>。</a:t>
            </a:r>
            <a:endParaRPr kumimoji="1" lang="zh-CN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9675135"/>
      </p:ext>
    </p:extLst>
  </p:cSld>
  <p:clrMapOvr>
    <a:masterClrMapping/>
  </p:clrMapOvr>
  <p:transition spd="slow">
    <p:pull dir="ru"/>
  </p:transition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DB21500-D453-4629-8A46-164F0F2718C0}" type="slidenum">
              <a:rPr lang="en-US" altLang="zh-CN"/>
              <a:pPr>
                <a:defRPr/>
              </a:pPr>
              <a:t>106</a:t>
            </a:fld>
            <a:endParaRPr lang="en-US" altLang="zh-CN"/>
          </a:p>
        </p:txBody>
      </p:sp>
      <p:sp>
        <p:nvSpPr>
          <p:cNvPr id="116739" name="Text Box 2"/>
          <p:cNvSpPr txBox="1">
            <a:spLocks noChangeArrowheads="1"/>
          </p:cNvSpPr>
          <p:nvPr/>
        </p:nvSpPr>
        <p:spPr bwMode="auto">
          <a:xfrm>
            <a:off x="719138" y="1412875"/>
            <a:ext cx="7916862" cy="316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rIns="90000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>
                <a:solidFill>
                  <a:schemeClr val="hlink"/>
                </a:solidFill>
              </a:rPr>
              <a:t>        </a:t>
            </a:r>
            <a:r>
              <a:rPr kumimoji="1" lang="zh-CN" altLang="en-US">
                <a:solidFill>
                  <a:schemeClr val="hlink"/>
                </a:solidFill>
              </a:rPr>
              <a:t>定义</a:t>
            </a:r>
            <a:r>
              <a:rPr kumimoji="1" lang="en-US" altLang="zh-CN">
                <a:solidFill>
                  <a:schemeClr val="hlink"/>
                </a:solidFill>
              </a:rPr>
              <a:t>1-8.2</a:t>
            </a:r>
            <a:r>
              <a:rPr kumimoji="1" lang="zh-CN" altLang="en-US">
                <a:solidFill>
                  <a:schemeClr val="hlink"/>
                </a:solidFill>
              </a:rPr>
              <a:t>：</a:t>
            </a:r>
            <a:r>
              <a:rPr kumimoji="1" lang="zh-CN" altLang="en-US"/>
              <a:t>假设公式</a:t>
            </a:r>
            <a:r>
              <a:rPr kumimoji="1" lang="en-US" altLang="zh-CN"/>
              <a:t>H</a:t>
            </a:r>
            <a:r>
              <a:rPr kumimoji="1" lang="en-US" altLang="zh-CN" baseline="-25000"/>
              <a:t>1</a:t>
            </a:r>
            <a:r>
              <a:rPr kumimoji="1" lang="zh-CN" altLang="en-US"/>
              <a:t>，</a:t>
            </a:r>
            <a:r>
              <a:rPr kumimoji="1" lang="en-US" altLang="zh-CN"/>
              <a:t>H</a:t>
            </a:r>
            <a:r>
              <a:rPr kumimoji="1" lang="en-US" altLang="zh-CN" baseline="-25000"/>
              <a:t>2</a:t>
            </a:r>
            <a:r>
              <a:rPr kumimoji="1" lang="zh-CN" altLang="en-US"/>
              <a:t>，</a:t>
            </a:r>
            <a:r>
              <a:rPr kumimoji="1" lang="en-US" altLang="zh-CN"/>
              <a:t>…</a:t>
            </a:r>
            <a:r>
              <a:rPr kumimoji="1" lang="zh-CN" altLang="en-US"/>
              <a:t>，</a:t>
            </a:r>
            <a:r>
              <a:rPr kumimoji="1" lang="en-US" altLang="zh-CN"/>
              <a:t>H</a:t>
            </a:r>
            <a:r>
              <a:rPr kumimoji="1" lang="en-US" altLang="zh-CN" baseline="-25000"/>
              <a:t>n</a:t>
            </a:r>
            <a:r>
              <a:rPr kumimoji="1" lang="zh-CN" altLang="en-US"/>
              <a:t>中的命题变元为</a:t>
            </a:r>
            <a:r>
              <a:rPr kumimoji="1" lang="en-US" altLang="zh-CN"/>
              <a:t>P</a:t>
            </a:r>
            <a:r>
              <a:rPr kumimoji="1" lang="en-US" altLang="zh-CN" baseline="-25000"/>
              <a:t>1</a:t>
            </a:r>
            <a:r>
              <a:rPr kumimoji="1" lang="zh-CN" altLang="en-US"/>
              <a:t>，</a:t>
            </a:r>
            <a:r>
              <a:rPr kumimoji="1" lang="en-US" altLang="zh-CN"/>
              <a:t>P</a:t>
            </a:r>
            <a:r>
              <a:rPr kumimoji="1" lang="en-US" altLang="zh-CN" baseline="-25000"/>
              <a:t>2</a:t>
            </a:r>
            <a:r>
              <a:rPr kumimoji="1" lang="zh-CN" altLang="en-US"/>
              <a:t>，</a:t>
            </a:r>
            <a:r>
              <a:rPr kumimoji="1" lang="en-US" altLang="zh-CN"/>
              <a:t>…</a:t>
            </a:r>
            <a:r>
              <a:rPr kumimoji="1" lang="zh-CN" altLang="en-US"/>
              <a:t>，</a:t>
            </a:r>
            <a:r>
              <a:rPr kumimoji="1" lang="en-US" altLang="zh-CN"/>
              <a:t>P</a:t>
            </a:r>
            <a:r>
              <a:rPr kumimoji="1" lang="en-US" altLang="zh-CN" baseline="-25000"/>
              <a:t>m</a:t>
            </a:r>
            <a:r>
              <a:rPr kumimoji="1" lang="zh-CN" altLang="en-US"/>
              <a:t>的一些真值指派，如果能使</a:t>
            </a:r>
            <a:r>
              <a:rPr kumimoji="1" lang="en-US" altLang="zh-CN"/>
              <a:t>H</a:t>
            </a:r>
            <a:r>
              <a:rPr kumimoji="1" lang="en-US" altLang="zh-CN" baseline="-25000"/>
              <a:t>1</a:t>
            </a:r>
            <a:r>
              <a:rPr kumimoji="1" lang="en-US" altLang="zh-CN"/>
              <a:t>∧H</a:t>
            </a:r>
            <a:r>
              <a:rPr kumimoji="1" lang="en-US" altLang="zh-CN" baseline="-25000"/>
              <a:t>2</a:t>
            </a:r>
            <a:r>
              <a:rPr kumimoji="1" lang="en-US" altLang="zh-CN"/>
              <a:t>∧…∧H</a:t>
            </a:r>
            <a:r>
              <a:rPr kumimoji="1" lang="en-US" altLang="zh-CN" baseline="-25000"/>
              <a:t>n</a:t>
            </a:r>
            <a:r>
              <a:rPr kumimoji="1" lang="zh-CN" altLang="en-US"/>
              <a:t>的真值为</a:t>
            </a:r>
            <a:r>
              <a:rPr kumimoji="1" lang="en-US" altLang="zh-CN"/>
              <a:t>T </a:t>
            </a:r>
            <a:r>
              <a:rPr kumimoji="1" lang="zh-CN" altLang="en-US"/>
              <a:t>，则称公式</a:t>
            </a:r>
            <a:r>
              <a:rPr kumimoji="1" lang="en-US" altLang="zh-CN"/>
              <a:t>H</a:t>
            </a:r>
            <a:r>
              <a:rPr kumimoji="1" lang="en-US" altLang="zh-CN" baseline="-25000"/>
              <a:t>1</a:t>
            </a:r>
            <a:r>
              <a:rPr kumimoji="1" lang="zh-CN" altLang="en-US"/>
              <a:t>，</a:t>
            </a:r>
            <a:r>
              <a:rPr kumimoji="1" lang="en-US" altLang="zh-CN"/>
              <a:t>H</a:t>
            </a:r>
            <a:r>
              <a:rPr kumimoji="1" lang="en-US" altLang="zh-CN" baseline="-25000"/>
              <a:t>2</a:t>
            </a:r>
            <a:r>
              <a:rPr kumimoji="1" lang="zh-CN" altLang="en-US"/>
              <a:t>，</a:t>
            </a:r>
            <a:r>
              <a:rPr kumimoji="1" lang="en-US" altLang="zh-CN"/>
              <a:t>…</a:t>
            </a:r>
            <a:r>
              <a:rPr kumimoji="1" lang="zh-CN" altLang="en-US"/>
              <a:t>，</a:t>
            </a:r>
            <a:r>
              <a:rPr kumimoji="1" lang="en-US" altLang="zh-CN"/>
              <a:t>H</a:t>
            </a:r>
            <a:r>
              <a:rPr kumimoji="1" lang="en-US" altLang="zh-CN" baseline="-25000"/>
              <a:t>n</a:t>
            </a:r>
            <a:r>
              <a:rPr kumimoji="1" lang="zh-CN" altLang="en-US"/>
              <a:t>是</a:t>
            </a:r>
            <a:r>
              <a:rPr kumimoji="1" lang="zh-CN" altLang="en-US" u="sng">
                <a:solidFill>
                  <a:schemeClr val="hlink"/>
                </a:solidFill>
              </a:rPr>
              <a:t>相容</a:t>
            </a:r>
            <a:r>
              <a:rPr kumimoji="1" lang="zh-CN" altLang="en-US"/>
              <a:t>的。如果对于</a:t>
            </a:r>
            <a:r>
              <a:rPr kumimoji="1" lang="en-US" altLang="zh-CN"/>
              <a:t>P</a:t>
            </a:r>
            <a:r>
              <a:rPr kumimoji="1" lang="en-US" altLang="zh-CN" baseline="-25000"/>
              <a:t>1</a:t>
            </a:r>
            <a:r>
              <a:rPr kumimoji="1" lang="zh-CN" altLang="en-US"/>
              <a:t>，</a:t>
            </a:r>
            <a:r>
              <a:rPr kumimoji="1" lang="en-US" altLang="zh-CN"/>
              <a:t>P</a:t>
            </a:r>
            <a:r>
              <a:rPr kumimoji="1" lang="en-US" altLang="zh-CN" baseline="-25000"/>
              <a:t>2</a:t>
            </a:r>
            <a:r>
              <a:rPr kumimoji="1" lang="zh-CN" altLang="en-US"/>
              <a:t>，</a:t>
            </a:r>
            <a:r>
              <a:rPr kumimoji="1" lang="en-US" altLang="zh-CN"/>
              <a:t>…</a:t>
            </a:r>
            <a:r>
              <a:rPr kumimoji="1" lang="zh-CN" altLang="en-US"/>
              <a:t>，</a:t>
            </a:r>
            <a:r>
              <a:rPr kumimoji="1" lang="en-US" altLang="zh-CN"/>
              <a:t>P</a:t>
            </a:r>
            <a:r>
              <a:rPr kumimoji="1" lang="en-US" altLang="zh-CN" baseline="-25000"/>
              <a:t>m</a:t>
            </a:r>
            <a:r>
              <a:rPr kumimoji="1" lang="zh-CN" altLang="en-US"/>
              <a:t>的每一组真值指派，使得</a:t>
            </a:r>
            <a:r>
              <a:rPr kumimoji="1" lang="en-US" altLang="zh-CN"/>
              <a:t>H</a:t>
            </a:r>
            <a:r>
              <a:rPr kumimoji="1" lang="en-US" altLang="zh-CN" baseline="-25000"/>
              <a:t>1</a:t>
            </a:r>
            <a:r>
              <a:rPr kumimoji="1" lang="en-US" altLang="zh-CN"/>
              <a:t>∧H</a:t>
            </a:r>
            <a:r>
              <a:rPr kumimoji="1" lang="en-US" altLang="zh-CN" baseline="-25000"/>
              <a:t>2</a:t>
            </a:r>
            <a:r>
              <a:rPr kumimoji="1" lang="en-US" altLang="zh-CN"/>
              <a:t>∧…∧H</a:t>
            </a:r>
            <a:r>
              <a:rPr kumimoji="1" lang="en-US" altLang="zh-CN" baseline="-25000"/>
              <a:t>n</a:t>
            </a:r>
            <a:r>
              <a:rPr kumimoji="1" lang="zh-CN" altLang="en-US"/>
              <a:t>的真值均为</a:t>
            </a:r>
            <a:r>
              <a:rPr kumimoji="1" lang="en-US" altLang="zh-CN"/>
              <a:t>F</a:t>
            </a:r>
            <a:r>
              <a:rPr kumimoji="1" lang="zh-CN" altLang="en-US"/>
              <a:t>，则称公式</a:t>
            </a:r>
            <a:r>
              <a:rPr kumimoji="1" lang="en-US" altLang="zh-CN"/>
              <a:t>H</a:t>
            </a:r>
            <a:r>
              <a:rPr kumimoji="1" lang="en-US" altLang="zh-CN" baseline="-25000"/>
              <a:t>1</a:t>
            </a:r>
            <a:r>
              <a:rPr kumimoji="1" lang="zh-CN" altLang="en-US"/>
              <a:t>，</a:t>
            </a:r>
            <a:r>
              <a:rPr kumimoji="1" lang="en-US" altLang="zh-CN"/>
              <a:t>H</a:t>
            </a:r>
            <a:r>
              <a:rPr kumimoji="1" lang="en-US" altLang="zh-CN" baseline="-25000"/>
              <a:t>2</a:t>
            </a:r>
            <a:r>
              <a:rPr kumimoji="1" lang="zh-CN" altLang="en-US"/>
              <a:t>，</a:t>
            </a:r>
            <a:r>
              <a:rPr kumimoji="1" lang="en-US" altLang="zh-CN"/>
              <a:t>…</a:t>
            </a:r>
            <a:r>
              <a:rPr kumimoji="1" lang="zh-CN" altLang="en-US"/>
              <a:t>，</a:t>
            </a:r>
            <a:r>
              <a:rPr kumimoji="1" lang="en-US" altLang="zh-CN"/>
              <a:t>H</a:t>
            </a:r>
            <a:r>
              <a:rPr kumimoji="1" lang="en-US" altLang="zh-CN" baseline="-25000"/>
              <a:t>n</a:t>
            </a:r>
            <a:r>
              <a:rPr kumimoji="1" lang="zh-CN" altLang="en-US"/>
              <a:t>是</a:t>
            </a:r>
            <a:r>
              <a:rPr kumimoji="1" lang="zh-CN" altLang="en-US" u="sng">
                <a:solidFill>
                  <a:schemeClr val="hlink"/>
                </a:solidFill>
              </a:rPr>
              <a:t>不相容</a:t>
            </a:r>
            <a:r>
              <a:rPr kumimoji="1" lang="zh-CN" altLang="en-US"/>
              <a:t>的。</a:t>
            </a:r>
          </a:p>
        </p:txBody>
      </p:sp>
      <p:sp>
        <p:nvSpPr>
          <p:cNvPr id="116740" name="Rectangle 4"/>
          <p:cNvSpPr>
            <a:spLocks noChangeArrowheads="1"/>
          </p:cNvSpPr>
          <p:nvPr/>
        </p:nvSpPr>
        <p:spPr bwMode="auto">
          <a:xfrm>
            <a:off x="1042988" y="692150"/>
            <a:ext cx="21177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/>
              <a:t>(3)</a:t>
            </a:r>
            <a:r>
              <a:rPr kumimoji="1" lang="en-US" altLang="zh-CN">
                <a:cs typeface="Times New Roman" pitchFamily="18" charset="0"/>
              </a:rPr>
              <a:t> </a:t>
            </a:r>
            <a:r>
              <a:rPr kumimoji="1" lang="zh-CN" altLang="en-US"/>
              <a:t>间接证法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F0DBC6C-615C-4F76-9692-AF7E2DB19049}" type="slidenum">
              <a:rPr lang="en-US" altLang="zh-CN"/>
              <a:pPr>
                <a:defRPr/>
              </a:pPr>
              <a:t>107</a:t>
            </a:fld>
            <a:endParaRPr lang="en-US" altLang="zh-CN"/>
          </a:p>
        </p:txBody>
      </p:sp>
      <p:sp>
        <p:nvSpPr>
          <p:cNvPr id="117763" name="Rectangle 5"/>
          <p:cNvSpPr>
            <a:spLocks noChangeArrowheads="1"/>
          </p:cNvSpPr>
          <p:nvPr/>
        </p:nvSpPr>
        <p:spPr bwMode="auto">
          <a:xfrm>
            <a:off x="719138" y="1598613"/>
            <a:ext cx="79168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zh-CN" altLang="en-US"/>
              <a:t>设要证：</a:t>
            </a:r>
            <a:r>
              <a:rPr kumimoji="1" lang="en-US" altLang="zh-CN"/>
              <a:t>H</a:t>
            </a:r>
            <a:r>
              <a:rPr kumimoji="1" lang="en-US" altLang="zh-CN" baseline="-25000"/>
              <a:t>1</a:t>
            </a:r>
            <a:r>
              <a:rPr kumimoji="1" lang="en-US" altLang="zh-CN"/>
              <a:t>∧H</a:t>
            </a:r>
            <a:r>
              <a:rPr kumimoji="1" lang="en-US" altLang="zh-CN" baseline="-25000"/>
              <a:t>2</a:t>
            </a:r>
            <a:r>
              <a:rPr kumimoji="1" lang="en-US" altLang="zh-CN"/>
              <a:t>…∧H</a:t>
            </a:r>
            <a:r>
              <a:rPr kumimoji="1" lang="en-US" altLang="zh-CN" baseline="-25000"/>
              <a:t>n</a:t>
            </a:r>
            <a:r>
              <a:rPr kumimoji="1" lang="en-US" altLang="zh-CN">
                <a:sym typeface="Symbol" pitchFamily="18" charset="2"/>
              </a:rPr>
              <a:t></a:t>
            </a:r>
            <a:r>
              <a:rPr kumimoji="1" lang="en-US" altLang="zh-CN"/>
              <a:t>C</a:t>
            </a:r>
            <a:r>
              <a:rPr kumimoji="1" lang="zh-CN" altLang="en-US"/>
              <a:t>，记为</a:t>
            </a:r>
            <a:r>
              <a:rPr kumimoji="1" lang="en-US" altLang="zh-CN"/>
              <a:t>S</a:t>
            </a:r>
            <a:r>
              <a:rPr kumimoji="1" lang="en-US" altLang="zh-CN">
                <a:sym typeface="Symbol" pitchFamily="18" charset="2"/>
              </a:rPr>
              <a:t></a:t>
            </a:r>
            <a:r>
              <a:rPr kumimoji="1" lang="en-US" altLang="zh-CN"/>
              <a:t>C</a:t>
            </a:r>
            <a:r>
              <a:rPr kumimoji="1" lang="zh-CN" altLang="en-US"/>
              <a:t>。</a:t>
            </a:r>
          </a:p>
        </p:txBody>
      </p:sp>
      <p:sp>
        <p:nvSpPr>
          <p:cNvPr id="553991" name="Rectangle 7"/>
          <p:cNvSpPr>
            <a:spLocks noChangeArrowheads="1"/>
          </p:cNvSpPr>
          <p:nvPr/>
        </p:nvSpPr>
        <p:spPr bwMode="auto">
          <a:xfrm>
            <a:off x="719138" y="2217738"/>
            <a:ext cx="79168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zh-CN" altLang="en-US"/>
              <a:t>即证其逆反式┐</a:t>
            </a:r>
            <a:r>
              <a:rPr kumimoji="1" lang="en-US" altLang="zh-CN"/>
              <a:t>C→┐S</a:t>
            </a:r>
            <a:r>
              <a:rPr kumimoji="1" lang="zh-CN" altLang="en-US"/>
              <a:t>为永真，</a:t>
            </a:r>
          </a:p>
        </p:txBody>
      </p:sp>
      <p:sp>
        <p:nvSpPr>
          <p:cNvPr id="553993" name="Rectangle 9"/>
          <p:cNvSpPr>
            <a:spLocks noChangeArrowheads="1"/>
          </p:cNvSpPr>
          <p:nvPr/>
        </p:nvSpPr>
        <p:spPr bwMode="auto">
          <a:xfrm>
            <a:off x="719138" y="2867025"/>
            <a:ext cx="79168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zh-CN" altLang="en-US"/>
              <a:t>即</a:t>
            </a:r>
            <a:r>
              <a:rPr kumimoji="1" lang="en-US" altLang="zh-CN"/>
              <a:t>C∨┐S</a:t>
            </a:r>
            <a:r>
              <a:rPr kumimoji="1" lang="zh-CN" altLang="en-US"/>
              <a:t>为永真，</a:t>
            </a:r>
          </a:p>
        </p:txBody>
      </p:sp>
      <p:sp>
        <p:nvSpPr>
          <p:cNvPr id="553995" name="Rectangle 11"/>
          <p:cNvSpPr>
            <a:spLocks noChangeArrowheads="1"/>
          </p:cNvSpPr>
          <p:nvPr/>
        </p:nvSpPr>
        <p:spPr bwMode="auto">
          <a:xfrm>
            <a:off x="719138" y="3457575"/>
            <a:ext cx="79168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zh-CN" altLang="en-US"/>
              <a:t>故┐</a:t>
            </a:r>
            <a:r>
              <a:rPr kumimoji="1" lang="en-US" altLang="zh-CN"/>
              <a:t>C∧S</a:t>
            </a:r>
            <a:r>
              <a:rPr kumimoji="1" lang="zh-CN" altLang="en-US"/>
              <a:t>为永假，</a:t>
            </a:r>
          </a:p>
        </p:txBody>
      </p:sp>
      <p:sp>
        <p:nvSpPr>
          <p:cNvPr id="553997" name="Rectangle 13"/>
          <p:cNvSpPr>
            <a:spLocks noChangeArrowheads="1"/>
          </p:cNvSpPr>
          <p:nvPr/>
        </p:nvSpPr>
        <p:spPr bwMode="auto">
          <a:xfrm>
            <a:off x="719138" y="4060825"/>
            <a:ext cx="79168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zh-CN" altLang="en-US"/>
              <a:t>所以要证</a:t>
            </a:r>
            <a:r>
              <a:rPr kumimoji="1" lang="en-US" altLang="zh-CN"/>
              <a:t>H</a:t>
            </a:r>
            <a:r>
              <a:rPr kumimoji="1" lang="en-US" altLang="zh-CN" baseline="-25000"/>
              <a:t>1</a:t>
            </a:r>
            <a:r>
              <a:rPr kumimoji="1" lang="en-US" altLang="zh-CN"/>
              <a:t>∧H</a:t>
            </a:r>
            <a:r>
              <a:rPr kumimoji="1" lang="en-US" altLang="zh-CN" baseline="-25000"/>
              <a:t>2</a:t>
            </a:r>
            <a:r>
              <a:rPr kumimoji="1" lang="en-US" altLang="zh-CN"/>
              <a:t>…∧H</a:t>
            </a:r>
            <a:r>
              <a:rPr kumimoji="1" lang="en-US" altLang="zh-CN" baseline="-25000"/>
              <a:t>n</a:t>
            </a:r>
            <a:r>
              <a:rPr kumimoji="1" lang="en-US" altLang="zh-CN">
                <a:sym typeface="Symbol" pitchFamily="18" charset="2"/>
              </a:rPr>
              <a:t></a:t>
            </a:r>
            <a:r>
              <a:rPr kumimoji="1" lang="en-US" altLang="zh-CN"/>
              <a:t>C</a:t>
            </a:r>
            <a:r>
              <a:rPr kumimoji="1" lang="zh-CN" altLang="en-US"/>
              <a:t>。        </a:t>
            </a:r>
          </a:p>
        </p:txBody>
      </p:sp>
      <p:sp>
        <p:nvSpPr>
          <p:cNvPr id="553999" name="Rectangle 15"/>
          <p:cNvSpPr>
            <a:spLocks noChangeArrowheads="1"/>
          </p:cNvSpPr>
          <p:nvPr/>
        </p:nvSpPr>
        <p:spPr bwMode="auto">
          <a:xfrm>
            <a:off x="719138" y="4781550"/>
            <a:ext cx="70913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zh-CN" altLang="en-US"/>
              <a:t>只要证明┐</a:t>
            </a:r>
            <a:r>
              <a:rPr kumimoji="1" lang="en-US" altLang="zh-CN"/>
              <a:t>C</a:t>
            </a:r>
            <a:r>
              <a:rPr kumimoji="1" lang="zh-CN" altLang="en-US"/>
              <a:t>与 </a:t>
            </a:r>
            <a:r>
              <a:rPr kumimoji="1" lang="en-US" altLang="zh-CN"/>
              <a:t>H</a:t>
            </a:r>
            <a:r>
              <a:rPr kumimoji="1" lang="en-US" altLang="zh-CN" baseline="-25000"/>
              <a:t>1</a:t>
            </a:r>
            <a:r>
              <a:rPr kumimoji="1" lang="en-US" altLang="zh-CN"/>
              <a:t>∧H</a:t>
            </a:r>
            <a:r>
              <a:rPr kumimoji="1" lang="en-US" altLang="zh-CN" baseline="-25000"/>
              <a:t>2</a:t>
            </a:r>
            <a:r>
              <a:rPr kumimoji="1" lang="en-US" altLang="zh-CN"/>
              <a:t>…∧H</a:t>
            </a:r>
            <a:r>
              <a:rPr kumimoji="1" lang="en-US" altLang="zh-CN" baseline="-25000"/>
              <a:t>n</a:t>
            </a:r>
            <a:r>
              <a:rPr kumimoji="1" lang="zh-CN" altLang="en-US"/>
              <a:t>是不相容的。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991" grpId="0"/>
      <p:bldP spid="553993" grpId="0"/>
      <p:bldP spid="553995" grpId="0"/>
      <p:bldP spid="553997" grpId="0"/>
      <p:bldP spid="553999" grpId="0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C2E6FF6-866F-4D28-8AE4-B9B0CEB1A0AD}" type="slidenum">
              <a:rPr lang="en-US" altLang="zh-CN"/>
              <a:pPr>
                <a:defRPr/>
              </a:pPr>
              <a:t>108</a:t>
            </a:fld>
            <a:endParaRPr lang="en-US" altLang="zh-CN"/>
          </a:p>
        </p:txBody>
      </p:sp>
      <p:sp>
        <p:nvSpPr>
          <p:cNvPr id="118787" name="Text Box 2"/>
          <p:cNvSpPr txBox="1">
            <a:spLocks noChangeArrowheads="1"/>
          </p:cNvSpPr>
          <p:nvPr/>
        </p:nvSpPr>
        <p:spPr bwMode="auto">
          <a:xfrm>
            <a:off x="900113" y="692150"/>
            <a:ext cx="79565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82563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zh-CN" altLang="en-US">
                <a:solidFill>
                  <a:schemeClr val="hlink"/>
                </a:solidFill>
              </a:rPr>
              <a:t>例</a:t>
            </a:r>
            <a:r>
              <a:rPr kumimoji="1" lang="en-US" altLang="zh-CN">
                <a:solidFill>
                  <a:schemeClr val="hlink"/>
                </a:solidFill>
              </a:rPr>
              <a:t>4</a:t>
            </a:r>
            <a:r>
              <a:rPr kumimoji="1" lang="zh-CN" altLang="en-US">
                <a:solidFill>
                  <a:schemeClr val="hlink"/>
                </a:solidFill>
              </a:rPr>
              <a:t>：</a:t>
            </a:r>
            <a:r>
              <a:rPr kumimoji="1" lang="zh-CN" altLang="en-US"/>
              <a:t>证明</a:t>
            </a:r>
            <a:r>
              <a:rPr kumimoji="1" lang="en-US" altLang="zh-CN"/>
              <a:t>A→B</a:t>
            </a:r>
            <a:r>
              <a:rPr kumimoji="1" lang="zh-CN" altLang="en-US"/>
              <a:t>， ┐</a:t>
            </a:r>
            <a:r>
              <a:rPr kumimoji="1" lang="en-US" altLang="zh-CN"/>
              <a:t>(B∨C)</a:t>
            </a:r>
            <a:r>
              <a:rPr kumimoji="1" lang="zh-CN" altLang="en-US"/>
              <a:t>可逻辑推出┐</a:t>
            </a:r>
            <a:r>
              <a:rPr kumimoji="1" lang="en-US" altLang="zh-CN"/>
              <a:t>A</a:t>
            </a:r>
          </a:p>
        </p:txBody>
      </p:sp>
      <p:sp>
        <p:nvSpPr>
          <p:cNvPr id="477188" name="Rectangle 4"/>
          <p:cNvSpPr>
            <a:spLocks noChangeArrowheads="1"/>
          </p:cNvSpPr>
          <p:nvPr/>
        </p:nvSpPr>
        <p:spPr bwMode="auto">
          <a:xfrm>
            <a:off x="1079500" y="1438275"/>
            <a:ext cx="7200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 dirty="0">
                <a:sym typeface="Wingdings" pitchFamily="2" charset="2"/>
              </a:rPr>
              <a:t>(1)    A→</a:t>
            </a:r>
            <a:r>
              <a:rPr kumimoji="1" lang="en-US" altLang="zh-CN" dirty="0" smtClean="0">
                <a:sym typeface="Wingdings" pitchFamily="2" charset="2"/>
              </a:rPr>
              <a:t>B			P    </a:t>
            </a:r>
            <a:endParaRPr kumimoji="1" lang="en-US" altLang="zh-CN" dirty="0"/>
          </a:p>
        </p:txBody>
      </p:sp>
      <p:sp>
        <p:nvSpPr>
          <p:cNvPr id="477190" name="Rectangle 6"/>
          <p:cNvSpPr>
            <a:spLocks noChangeArrowheads="1"/>
          </p:cNvSpPr>
          <p:nvPr/>
        </p:nvSpPr>
        <p:spPr bwMode="auto">
          <a:xfrm>
            <a:off x="1079499" y="1978025"/>
            <a:ext cx="7200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 dirty="0">
                <a:sym typeface="Wingdings" pitchFamily="2" charset="2"/>
              </a:rPr>
              <a:t>(2)    A </a:t>
            </a:r>
            <a:r>
              <a:rPr kumimoji="1" lang="en-US" altLang="zh-CN" dirty="0" smtClean="0">
                <a:sym typeface="Wingdings" pitchFamily="2" charset="2"/>
              </a:rPr>
              <a:t>			P</a:t>
            </a:r>
            <a:r>
              <a:rPr kumimoji="1" lang="en-US" altLang="zh-CN" dirty="0">
                <a:sym typeface="Wingdings" pitchFamily="2" charset="2"/>
              </a:rPr>
              <a:t>(</a:t>
            </a:r>
            <a:r>
              <a:rPr kumimoji="1" lang="zh-CN" altLang="en-US" dirty="0">
                <a:sym typeface="Wingdings" pitchFamily="2" charset="2"/>
              </a:rPr>
              <a:t>附加前提</a:t>
            </a:r>
            <a:r>
              <a:rPr kumimoji="1" lang="en-US" altLang="zh-CN" dirty="0">
                <a:sym typeface="Wingdings" pitchFamily="2" charset="2"/>
              </a:rPr>
              <a:t>)    </a:t>
            </a:r>
            <a:endParaRPr kumimoji="1" lang="en-US" altLang="zh-CN" dirty="0"/>
          </a:p>
        </p:txBody>
      </p:sp>
      <p:sp>
        <p:nvSpPr>
          <p:cNvPr id="477192" name="Rectangle 8"/>
          <p:cNvSpPr>
            <a:spLocks noChangeArrowheads="1"/>
          </p:cNvSpPr>
          <p:nvPr/>
        </p:nvSpPr>
        <p:spPr bwMode="auto">
          <a:xfrm>
            <a:off x="1079500" y="3090217"/>
            <a:ext cx="7200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 dirty="0" smtClean="0">
                <a:sym typeface="Wingdings" pitchFamily="2" charset="2"/>
              </a:rPr>
              <a:t>(4)    </a:t>
            </a:r>
            <a:r>
              <a:rPr kumimoji="1" lang="en-US" altLang="zh-CN" dirty="0"/>
              <a:t>┐(B∨C) </a:t>
            </a:r>
            <a:r>
              <a:rPr kumimoji="1" lang="en-US" altLang="zh-CN" dirty="0" smtClean="0"/>
              <a:t>		P</a:t>
            </a:r>
            <a:endParaRPr kumimoji="1" lang="en-US" altLang="zh-CN" dirty="0"/>
          </a:p>
        </p:txBody>
      </p:sp>
      <p:sp>
        <p:nvSpPr>
          <p:cNvPr id="477194" name="Rectangle 10"/>
          <p:cNvSpPr>
            <a:spLocks noChangeArrowheads="1"/>
          </p:cNvSpPr>
          <p:nvPr/>
        </p:nvSpPr>
        <p:spPr bwMode="auto">
          <a:xfrm>
            <a:off x="1079500" y="3629967"/>
            <a:ext cx="7200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 dirty="0" smtClean="0">
                <a:sym typeface="Wingdings" pitchFamily="2" charset="2"/>
              </a:rPr>
              <a:t>(5)    </a:t>
            </a:r>
            <a:r>
              <a:rPr kumimoji="1" lang="en-US" altLang="zh-CN" dirty="0"/>
              <a:t>┐B∧ ┐</a:t>
            </a:r>
            <a:r>
              <a:rPr kumimoji="1" lang="en-US" altLang="zh-CN" dirty="0" smtClean="0"/>
              <a:t>C		T(4) </a:t>
            </a:r>
            <a:r>
              <a:rPr kumimoji="1" lang="en-US" altLang="zh-CN" dirty="0"/>
              <a:t>E</a:t>
            </a:r>
            <a:endParaRPr kumimoji="1" lang="en-US" altLang="zh-CN" dirty="0">
              <a:sym typeface="Wingdings" pitchFamily="2" charset="2"/>
            </a:endParaRPr>
          </a:p>
        </p:txBody>
      </p:sp>
      <p:sp>
        <p:nvSpPr>
          <p:cNvPr id="477196" name="Rectangle 12"/>
          <p:cNvSpPr>
            <a:spLocks noChangeArrowheads="1"/>
          </p:cNvSpPr>
          <p:nvPr/>
        </p:nvSpPr>
        <p:spPr bwMode="auto">
          <a:xfrm>
            <a:off x="1101102" y="2546226"/>
            <a:ext cx="7200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 dirty="0" smtClean="0">
                <a:sym typeface="Wingdings" pitchFamily="2" charset="2"/>
              </a:rPr>
              <a:t>(3)    B			T(1</a:t>
            </a:r>
            <a:r>
              <a:rPr kumimoji="1" lang="en-US" altLang="zh-CN" dirty="0">
                <a:sym typeface="Wingdings" pitchFamily="2" charset="2"/>
              </a:rPr>
              <a:t>),(2),I</a:t>
            </a:r>
          </a:p>
        </p:txBody>
      </p:sp>
      <p:sp>
        <p:nvSpPr>
          <p:cNvPr id="477198" name="Rectangle 14"/>
          <p:cNvSpPr>
            <a:spLocks noChangeArrowheads="1"/>
          </p:cNvSpPr>
          <p:nvPr/>
        </p:nvSpPr>
        <p:spPr bwMode="auto">
          <a:xfrm>
            <a:off x="1079499" y="4138613"/>
            <a:ext cx="7200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 dirty="0">
                <a:sym typeface="Wingdings" pitchFamily="2" charset="2"/>
              </a:rPr>
              <a:t>(6)    </a:t>
            </a:r>
            <a:r>
              <a:rPr kumimoji="1" lang="en-US" altLang="zh-CN" dirty="0"/>
              <a:t>┐B </a:t>
            </a:r>
            <a:r>
              <a:rPr kumimoji="1" lang="en-US" altLang="zh-CN" dirty="0" smtClean="0"/>
              <a:t>			T(4</a:t>
            </a:r>
            <a:r>
              <a:rPr kumimoji="1" lang="en-US" altLang="zh-CN" dirty="0"/>
              <a:t>) I </a:t>
            </a:r>
            <a:endParaRPr kumimoji="1" lang="en-US" altLang="zh-CN" dirty="0">
              <a:sym typeface="Wingdings" pitchFamily="2" charset="2"/>
            </a:endParaRPr>
          </a:p>
        </p:txBody>
      </p:sp>
      <p:sp>
        <p:nvSpPr>
          <p:cNvPr id="477200" name="Rectangle 16"/>
          <p:cNvSpPr>
            <a:spLocks noChangeArrowheads="1"/>
          </p:cNvSpPr>
          <p:nvPr/>
        </p:nvSpPr>
        <p:spPr bwMode="auto">
          <a:xfrm>
            <a:off x="1079500" y="4678363"/>
            <a:ext cx="7200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 dirty="0">
                <a:sym typeface="Wingdings" pitchFamily="2" charset="2"/>
              </a:rPr>
              <a:t>(7)    B∧</a:t>
            </a:r>
            <a:r>
              <a:rPr kumimoji="1" lang="en-US" altLang="zh-CN" dirty="0"/>
              <a:t>┐</a:t>
            </a:r>
            <a:r>
              <a:rPr kumimoji="1" lang="en-US" altLang="zh-CN" dirty="0" smtClean="0"/>
              <a:t>B		T(5</a:t>
            </a:r>
            <a:r>
              <a:rPr kumimoji="1" lang="en-US" altLang="zh-CN" dirty="0"/>
              <a:t>),(6)  I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7188" grpId="0"/>
      <p:bldP spid="477190" grpId="0"/>
      <p:bldP spid="477192" grpId="0"/>
      <p:bldP spid="477194" grpId="0"/>
      <p:bldP spid="477196" grpId="0"/>
      <p:bldP spid="477198" grpId="0"/>
      <p:bldP spid="477200" grpId="0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D51936-F8F5-4ABE-BD1A-FF2D04B4C63B}" type="slidenum">
              <a:rPr lang="en-US" altLang="zh-CN"/>
              <a:pPr>
                <a:defRPr/>
              </a:pPr>
              <a:t>109</a:t>
            </a:fld>
            <a:endParaRPr lang="en-US" altLang="zh-CN"/>
          </a:p>
        </p:txBody>
      </p:sp>
      <p:sp>
        <p:nvSpPr>
          <p:cNvPr id="478210" name="Text Box 2"/>
          <p:cNvSpPr txBox="1">
            <a:spLocks noChangeArrowheads="1"/>
          </p:cNvSpPr>
          <p:nvPr/>
        </p:nvSpPr>
        <p:spPr bwMode="auto">
          <a:xfrm>
            <a:off x="1044575" y="1728788"/>
            <a:ext cx="7272338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zh-CN" altLang="en-US"/>
              <a:t>若要证：</a:t>
            </a:r>
            <a:r>
              <a:rPr kumimoji="1" lang="en-US" altLang="zh-CN"/>
              <a:t>H</a:t>
            </a:r>
            <a:r>
              <a:rPr kumimoji="1" lang="en-US" altLang="zh-CN" baseline="-25000"/>
              <a:t>1</a:t>
            </a:r>
            <a:r>
              <a:rPr kumimoji="1" lang="en-US" altLang="zh-CN"/>
              <a:t>∧H</a:t>
            </a:r>
            <a:r>
              <a:rPr kumimoji="1" lang="en-US" altLang="zh-CN" baseline="-25000"/>
              <a:t>2</a:t>
            </a:r>
            <a:r>
              <a:rPr kumimoji="1" lang="en-US" altLang="zh-CN"/>
              <a:t>∧…∧H</a:t>
            </a:r>
            <a:r>
              <a:rPr kumimoji="1" lang="en-US" altLang="zh-CN" baseline="-25000"/>
              <a:t>n</a:t>
            </a:r>
            <a:r>
              <a:rPr kumimoji="1" lang="en-US" altLang="zh-CN">
                <a:sym typeface="Symbol" pitchFamily="18" charset="2"/>
              </a:rPr>
              <a:t></a:t>
            </a:r>
            <a:r>
              <a:rPr kumimoji="1" lang="en-US" altLang="zh-CN"/>
              <a:t>(R→C)</a:t>
            </a:r>
            <a:r>
              <a:rPr kumimoji="1" lang="zh-CN" altLang="en-US"/>
              <a:t>，记为</a:t>
            </a:r>
            <a:r>
              <a:rPr kumimoji="1" lang="en-US" altLang="zh-CN"/>
              <a:t>S</a:t>
            </a:r>
            <a:r>
              <a:rPr kumimoji="1" lang="en-US" altLang="zh-CN">
                <a:sym typeface="Symbol" pitchFamily="18" charset="2"/>
              </a:rPr>
              <a:t></a:t>
            </a:r>
            <a:r>
              <a:rPr kumimoji="1" lang="en-US" altLang="zh-CN"/>
              <a:t>R→C</a:t>
            </a:r>
          </a:p>
        </p:txBody>
      </p:sp>
      <p:sp>
        <p:nvSpPr>
          <p:cNvPr id="119812" name="Rectangle 4"/>
          <p:cNvSpPr>
            <a:spLocks noChangeArrowheads="1"/>
          </p:cNvSpPr>
          <p:nvPr/>
        </p:nvSpPr>
        <p:spPr bwMode="auto">
          <a:xfrm>
            <a:off x="1042988" y="620713"/>
            <a:ext cx="7058025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/>
              <a:t>CP</a:t>
            </a:r>
            <a:r>
              <a:rPr kumimoji="1" lang="zh-CN" altLang="en-US"/>
              <a:t>规则：结论为</a:t>
            </a:r>
            <a:r>
              <a:rPr kumimoji="1" lang="en-US" altLang="zh-CN"/>
              <a:t>R→C</a:t>
            </a:r>
            <a:r>
              <a:rPr kumimoji="1" lang="zh-CN" altLang="en-US"/>
              <a:t>时，</a:t>
            </a:r>
            <a:r>
              <a:rPr kumimoji="1" lang="en-US" altLang="zh-CN"/>
              <a:t>R</a:t>
            </a:r>
            <a:r>
              <a:rPr kumimoji="1" lang="zh-CN" altLang="en-US"/>
              <a:t>作为附加前提引入，推出后件</a:t>
            </a:r>
            <a:r>
              <a:rPr kumimoji="1" lang="en-US" altLang="zh-CN"/>
              <a:t>C</a:t>
            </a:r>
            <a:r>
              <a:rPr kumimoji="1" lang="zh-CN" altLang="en-US"/>
              <a:t>。</a:t>
            </a:r>
          </a:p>
        </p:txBody>
      </p:sp>
      <p:sp>
        <p:nvSpPr>
          <p:cNvPr id="478214" name="Rectangle 6"/>
          <p:cNvSpPr>
            <a:spLocks noChangeArrowheads="1"/>
          </p:cNvSpPr>
          <p:nvPr/>
        </p:nvSpPr>
        <p:spPr bwMode="auto">
          <a:xfrm>
            <a:off x="1042988" y="2636838"/>
            <a:ext cx="72009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zh-CN" altLang="en-US"/>
              <a:t>因为</a:t>
            </a:r>
            <a:r>
              <a:rPr kumimoji="1" lang="en-US" altLang="zh-CN"/>
              <a:t>S→(┐R∨C) </a:t>
            </a:r>
            <a:r>
              <a:rPr kumimoji="1" lang="en-US" altLang="zh-CN">
                <a:sym typeface="Symbol" pitchFamily="18" charset="2"/>
              </a:rPr>
              <a:t></a:t>
            </a:r>
            <a:r>
              <a:rPr kumimoji="1" lang="en-US" altLang="zh-CN"/>
              <a:t>┐S∨(┐R∨C)</a:t>
            </a:r>
          </a:p>
        </p:txBody>
      </p:sp>
      <p:sp>
        <p:nvSpPr>
          <p:cNvPr id="478216" name="Rectangle 8"/>
          <p:cNvSpPr>
            <a:spLocks noChangeArrowheads="1"/>
          </p:cNvSpPr>
          <p:nvPr/>
        </p:nvSpPr>
        <p:spPr bwMode="auto">
          <a:xfrm>
            <a:off x="3802063" y="3213100"/>
            <a:ext cx="4572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>
                <a:sym typeface="Symbol" pitchFamily="18" charset="2"/>
              </a:rPr>
              <a:t></a:t>
            </a:r>
            <a:r>
              <a:rPr kumimoji="1" lang="en-US" altLang="zh-CN"/>
              <a:t>(┐S∨┐R) ∨C                                </a:t>
            </a:r>
          </a:p>
        </p:txBody>
      </p:sp>
      <p:sp>
        <p:nvSpPr>
          <p:cNvPr id="478218" name="Rectangle 10"/>
          <p:cNvSpPr>
            <a:spLocks noChangeArrowheads="1"/>
          </p:cNvSpPr>
          <p:nvPr/>
        </p:nvSpPr>
        <p:spPr bwMode="auto">
          <a:xfrm>
            <a:off x="3830638" y="3759200"/>
            <a:ext cx="43418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>
                <a:sym typeface="Symbol" pitchFamily="18" charset="2"/>
              </a:rPr>
              <a:t></a:t>
            </a:r>
            <a:r>
              <a:rPr kumimoji="1" lang="en-US" altLang="zh-CN"/>
              <a:t>┐(S∧R)∨C                               </a:t>
            </a:r>
          </a:p>
        </p:txBody>
      </p:sp>
      <p:sp>
        <p:nvSpPr>
          <p:cNvPr id="478220" name="Rectangle 12"/>
          <p:cNvSpPr>
            <a:spLocks noChangeArrowheads="1"/>
          </p:cNvSpPr>
          <p:nvPr/>
        </p:nvSpPr>
        <p:spPr bwMode="auto">
          <a:xfrm>
            <a:off x="3851275" y="4337050"/>
            <a:ext cx="33845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>
                <a:sym typeface="Symbol" pitchFamily="18" charset="2"/>
              </a:rPr>
              <a:t></a:t>
            </a:r>
            <a:r>
              <a:rPr kumimoji="1" lang="en-US" altLang="zh-CN"/>
              <a:t>(S∧R) →C</a:t>
            </a:r>
          </a:p>
        </p:txBody>
      </p:sp>
      <p:sp>
        <p:nvSpPr>
          <p:cNvPr id="478222" name="Rectangle 14"/>
          <p:cNvSpPr>
            <a:spLocks noChangeArrowheads="1"/>
          </p:cNvSpPr>
          <p:nvPr/>
        </p:nvSpPr>
        <p:spPr bwMode="auto">
          <a:xfrm>
            <a:off x="1042988" y="4941888"/>
            <a:ext cx="7635875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/>
              <a:t>∴</a:t>
            </a:r>
            <a:r>
              <a:rPr kumimoji="1" lang="zh-CN" altLang="en-US"/>
              <a:t>将</a:t>
            </a:r>
            <a:r>
              <a:rPr kumimoji="1" lang="en-US" altLang="zh-CN"/>
              <a:t>R</a:t>
            </a:r>
            <a:r>
              <a:rPr kumimoji="1" lang="zh-CN" altLang="en-US"/>
              <a:t>作为附加前提，如有</a:t>
            </a:r>
            <a:r>
              <a:rPr kumimoji="1" lang="en-US" altLang="zh-CN"/>
              <a:t>(S∧R)</a:t>
            </a:r>
            <a:r>
              <a:rPr kumimoji="1" lang="en-US" altLang="zh-CN">
                <a:sym typeface="Symbol" pitchFamily="18" charset="2"/>
              </a:rPr>
              <a:t></a:t>
            </a:r>
            <a:r>
              <a:rPr kumimoji="1" lang="en-US" altLang="zh-CN"/>
              <a:t>C</a:t>
            </a:r>
            <a:r>
              <a:rPr kumimoji="1" lang="zh-CN" altLang="en-US"/>
              <a:t>，即证得</a:t>
            </a:r>
            <a:r>
              <a:rPr kumimoji="1" lang="en-US" altLang="zh-CN"/>
              <a:t>S</a:t>
            </a:r>
            <a:r>
              <a:rPr kumimoji="1" lang="en-US" altLang="zh-CN">
                <a:sym typeface="Symbol" pitchFamily="18" charset="2"/>
              </a:rPr>
              <a:t></a:t>
            </a:r>
            <a:r>
              <a:rPr kumimoji="1" lang="en-US" altLang="zh-CN"/>
              <a:t>(R→C)</a:t>
            </a:r>
            <a:r>
              <a:rPr kumimoji="1" lang="zh-CN" altLang="en-US"/>
              <a:t>。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8210" grpId="0"/>
      <p:bldP spid="478214" grpId="0"/>
      <p:bldP spid="478216" grpId="0"/>
      <p:bldP spid="478218" grpId="0"/>
      <p:bldP spid="478220" grpId="0"/>
      <p:bldP spid="478222" grpId="0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EBDDAB7-4092-4796-B041-F4DC81923624}" type="slidenum">
              <a:rPr lang="en-US" altLang="zh-CN"/>
              <a:pPr>
                <a:defRPr/>
              </a:pPr>
              <a:t>110</a:t>
            </a:fld>
            <a:endParaRPr lang="en-US" altLang="zh-CN"/>
          </a:p>
        </p:txBody>
      </p:sp>
      <p:sp>
        <p:nvSpPr>
          <p:cNvPr id="120835" name="Text Box 2"/>
          <p:cNvSpPr txBox="1">
            <a:spLocks noChangeArrowheads="1"/>
          </p:cNvSpPr>
          <p:nvPr/>
        </p:nvSpPr>
        <p:spPr bwMode="auto">
          <a:xfrm>
            <a:off x="1000125" y="728663"/>
            <a:ext cx="77771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82563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zh-CN" altLang="en-US">
                <a:solidFill>
                  <a:schemeClr val="hlink"/>
                </a:solidFill>
              </a:rPr>
              <a:t>例</a:t>
            </a:r>
            <a:r>
              <a:rPr kumimoji="1" lang="en-US" altLang="zh-CN">
                <a:solidFill>
                  <a:schemeClr val="hlink"/>
                </a:solidFill>
              </a:rPr>
              <a:t>5</a:t>
            </a:r>
            <a:r>
              <a:rPr kumimoji="1" lang="zh-CN" altLang="en-US">
                <a:solidFill>
                  <a:schemeClr val="hlink"/>
                </a:solidFill>
              </a:rPr>
              <a:t>：</a:t>
            </a:r>
            <a:r>
              <a:rPr kumimoji="1" lang="zh-CN" altLang="en-US"/>
              <a:t>证明</a:t>
            </a:r>
            <a:r>
              <a:rPr kumimoji="1" lang="en-US" altLang="zh-CN"/>
              <a:t>A→(B→C)</a:t>
            </a:r>
            <a:r>
              <a:rPr kumimoji="1" lang="zh-CN" altLang="en-US"/>
              <a:t>，┐</a:t>
            </a:r>
            <a:r>
              <a:rPr kumimoji="1" lang="en-US" altLang="zh-CN"/>
              <a:t>D∨A</a:t>
            </a:r>
            <a:r>
              <a:rPr kumimoji="1" lang="zh-CN" altLang="en-US"/>
              <a:t>，</a:t>
            </a:r>
            <a:r>
              <a:rPr kumimoji="1" lang="en-US" altLang="zh-CN"/>
              <a:t>B</a:t>
            </a:r>
            <a:r>
              <a:rPr kumimoji="1" lang="zh-CN" altLang="en-US"/>
              <a:t>蕴含</a:t>
            </a:r>
            <a:r>
              <a:rPr kumimoji="1" lang="en-US" altLang="zh-CN"/>
              <a:t>D→C</a:t>
            </a:r>
            <a:endParaRPr kumimoji="1" lang="en-US" altLang="zh-CN">
              <a:sym typeface="Wingdings" pitchFamily="2" charset="2"/>
            </a:endParaRPr>
          </a:p>
        </p:txBody>
      </p:sp>
      <p:sp>
        <p:nvSpPr>
          <p:cNvPr id="479236" name="Rectangle 4"/>
          <p:cNvSpPr>
            <a:spLocks noChangeArrowheads="1"/>
          </p:cNvSpPr>
          <p:nvPr/>
        </p:nvSpPr>
        <p:spPr bwMode="auto">
          <a:xfrm>
            <a:off x="898524" y="1438275"/>
            <a:ext cx="7200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 dirty="0">
                <a:sym typeface="Wingdings" pitchFamily="2" charset="2"/>
              </a:rPr>
              <a:t>(1) </a:t>
            </a:r>
            <a:r>
              <a:rPr kumimoji="1" lang="en-US" altLang="zh-CN" dirty="0" smtClean="0">
                <a:sym typeface="Wingdings" pitchFamily="2" charset="2"/>
              </a:rPr>
              <a:t>D 				P</a:t>
            </a:r>
            <a:r>
              <a:rPr kumimoji="1" lang="en-US" altLang="zh-CN" dirty="0">
                <a:sym typeface="Wingdings" pitchFamily="2" charset="2"/>
              </a:rPr>
              <a:t>(</a:t>
            </a:r>
            <a:r>
              <a:rPr kumimoji="1" lang="zh-CN" altLang="en-US" dirty="0">
                <a:sym typeface="Wingdings" pitchFamily="2" charset="2"/>
              </a:rPr>
              <a:t>附加前提</a:t>
            </a:r>
            <a:r>
              <a:rPr kumimoji="1" lang="en-US" altLang="zh-CN" dirty="0">
                <a:sym typeface="Wingdings" pitchFamily="2" charset="2"/>
              </a:rPr>
              <a:t>)</a:t>
            </a:r>
          </a:p>
        </p:txBody>
      </p:sp>
      <p:sp>
        <p:nvSpPr>
          <p:cNvPr id="479238" name="Rectangle 6"/>
          <p:cNvSpPr>
            <a:spLocks noChangeArrowheads="1"/>
          </p:cNvSpPr>
          <p:nvPr/>
        </p:nvSpPr>
        <p:spPr bwMode="auto">
          <a:xfrm>
            <a:off x="898524" y="1978025"/>
            <a:ext cx="7200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 dirty="0">
                <a:sym typeface="Wingdings" pitchFamily="2" charset="2"/>
              </a:rPr>
              <a:t>(2)  </a:t>
            </a:r>
            <a:r>
              <a:rPr kumimoji="1" lang="en-US" altLang="zh-CN" dirty="0"/>
              <a:t>┐D∨A </a:t>
            </a:r>
            <a:r>
              <a:rPr kumimoji="1" lang="en-US" altLang="zh-CN" dirty="0" smtClean="0"/>
              <a:t>			P</a:t>
            </a:r>
            <a:endParaRPr kumimoji="1" lang="en-US" altLang="zh-CN" dirty="0">
              <a:sym typeface="Wingdings" pitchFamily="2" charset="2"/>
            </a:endParaRPr>
          </a:p>
        </p:txBody>
      </p:sp>
      <p:sp>
        <p:nvSpPr>
          <p:cNvPr id="479240" name="Rectangle 8"/>
          <p:cNvSpPr>
            <a:spLocks noChangeArrowheads="1"/>
          </p:cNvSpPr>
          <p:nvPr/>
        </p:nvSpPr>
        <p:spPr bwMode="auto">
          <a:xfrm>
            <a:off x="898524" y="2517775"/>
            <a:ext cx="7200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 dirty="0">
                <a:sym typeface="Wingdings" pitchFamily="2" charset="2"/>
              </a:rPr>
              <a:t>(3)  A </a:t>
            </a:r>
            <a:r>
              <a:rPr kumimoji="1" lang="en-US" altLang="zh-CN" dirty="0" smtClean="0">
                <a:sym typeface="Wingdings" pitchFamily="2" charset="2"/>
              </a:rPr>
              <a:t>				T(1</a:t>
            </a:r>
            <a:r>
              <a:rPr kumimoji="1" lang="en-US" altLang="zh-CN" dirty="0">
                <a:sym typeface="Wingdings" pitchFamily="2" charset="2"/>
              </a:rPr>
              <a:t>),(2) I</a:t>
            </a:r>
          </a:p>
        </p:txBody>
      </p:sp>
      <p:sp>
        <p:nvSpPr>
          <p:cNvPr id="479242" name="Rectangle 10"/>
          <p:cNvSpPr>
            <a:spLocks noChangeArrowheads="1"/>
          </p:cNvSpPr>
          <p:nvPr/>
        </p:nvSpPr>
        <p:spPr bwMode="auto">
          <a:xfrm>
            <a:off x="898524" y="3057525"/>
            <a:ext cx="7200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 dirty="0">
                <a:sym typeface="Wingdings" pitchFamily="2" charset="2"/>
              </a:rPr>
              <a:t>(4)  A→(B→C</a:t>
            </a:r>
            <a:r>
              <a:rPr kumimoji="1" lang="en-US" altLang="zh-CN" dirty="0" smtClean="0">
                <a:sym typeface="Wingdings" pitchFamily="2" charset="2"/>
              </a:rPr>
              <a:t>)		P</a:t>
            </a:r>
            <a:endParaRPr kumimoji="1" lang="en-US" altLang="zh-CN" dirty="0">
              <a:sym typeface="Wingdings" pitchFamily="2" charset="2"/>
            </a:endParaRPr>
          </a:p>
        </p:txBody>
      </p:sp>
      <p:sp>
        <p:nvSpPr>
          <p:cNvPr id="479244" name="Rectangle 12"/>
          <p:cNvSpPr>
            <a:spLocks noChangeArrowheads="1"/>
          </p:cNvSpPr>
          <p:nvPr/>
        </p:nvSpPr>
        <p:spPr bwMode="auto">
          <a:xfrm>
            <a:off x="900113" y="3598863"/>
            <a:ext cx="7200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 dirty="0">
                <a:sym typeface="Wingdings" pitchFamily="2" charset="2"/>
              </a:rPr>
              <a:t>(5)  B→</a:t>
            </a:r>
            <a:r>
              <a:rPr kumimoji="1" lang="en-US" altLang="zh-CN" dirty="0" smtClean="0">
                <a:sym typeface="Wingdings" pitchFamily="2" charset="2"/>
              </a:rPr>
              <a:t>C			T(3</a:t>
            </a:r>
            <a:r>
              <a:rPr kumimoji="1" lang="en-US" altLang="zh-CN" dirty="0">
                <a:sym typeface="Wingdings" pitchFamily="2" charset="2"/>
              </a:rPr>
              <a:t>),(4) I</a:t>
            </a:r>
          </a:p>
        </p:txBody>
      </p:sp>
      <p:sp>
        <p:nvSpPr>
          <p:cNvPr id="479246" name="Rectangle 14"/>
          <p:cNvSpPr>
            <a:spLocks noChangeArrowheads="1"/>
          </p:cNvSpPr>
          <p:nvPr/>
        </p:nvSpPr>
        <p:spPr bwMode="auto">
          <a:xfrm>
            <a:off x="898525" y="4138613"/>
            <a:ext cx="7200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 dirty="0">
                <a:sym typeface="Wingdings" pitchFamily="2" charset="2"/>
              </a:rPr>
              <a:t>(6)  </a:t>
            </a:r>
            <a:r>
              <a:rPr kumimoji="1" lang="en-US" altLang="zh-CN" dirty="0" smtClean="0">
                <a:sym typeface="Wingdings" pitchFamily="2" charset="2"/>
              </a:rPr>
              <a:t>B				P</a:t>
            </a:r>
            <a:endParaRPr kumimoji="1" lang="en-US" altLang="zh-CN" dirty="0">
              <a:sym typeface="Wingdings" pitchFamily="2" charset="2"/>
            </a:endParaRPr>
          </a:p>
        </p:txBody>
      </p:sp>
      <p:sp>
        <p:nvSpPr>
          <p:cNvPr id="479248" name="Rectangle 16"/>
          <p:cNvSpPr>
            <a:spLocks noChangeArrowheads="1"/>
          </p:cNvSpPr>
          <p:nvPr/>
        </p:nvSpPr>
        <p:spPr bwMode="auto">
          <a:xfrm>
            <a:off x="898525" y="4678363"/>
            <a:ext cx="7200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 dirty="0">
                <a:sym typeface="Wingdings" pitchFamily="2" charset="2"/>
              </a:rPr>
              <a:t>(7)  </a:t>
            </a:r>
            <a:r>
              <a:rPr kumimoji="1" lang="en-US" altLang="zh-CN" dirty="0" smtClean="0">
                <a:sym typeface="Wingdings" pitchFamily="2" charset="2"/>
              </a:rPr>
              <a:t>C				T(5</a:t>
            </a:r>
            <a:r>
              <a:rPr kumimoji="1" lang="en-US" altLang="zh-CN" dirty="0">
                <a:sym typeface="Wingdings" pitchFamily="2" charset="2"/>
              </a:rPr>
              <a:t>),(6) I</a:t>
            </a:r>
          </a:p>
        </p:txBody>
      </p:sp>
      <p:sp>
        <p:nvSpPr>
          <p:cNvPr id="479250" name="Rectangle 18"/>
          <p:cNvSpPr>
            <a:spLocks noChangeArrowheads="1"/>
          </p:cNvSpPr>
          <p:nvPr/>
        </p:nvSpPr>
        <p:spPr bwMode="auto">
          <a:xfrm>
            <a:off x="898524" y="5218113"/>
            <a:ext cx="69138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 dirty="0">
                <a:sym typeface="Wingdings" pitchFamily="2" charset="2"/>
              </a:rPr>
              <a:t>(8)  D→C </a:t>
            </a:r>
            <a:r>
              <a:rPr kumimoji="1" lang="en-US" altLang="zh-CN" dirty="0" smtClean="0">
                <a:sym typeface="Wingdings" pitchFamily="2" charset="2"/>
              </a:rPr>
              <a:t>			CP</a:t>
            </a:r>
            <a:endParaRPr kumimoji="1" lang="en-US" altLang="zh-CN" dirty="0">
              <a:sym typeface="Wingdings" pitchFamily="2" charset="2"/>
            </a:endParaRP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9236" grpId="0"/>
      <p:bldP spid="479238" grpId="0"/>
      <p:bldP spid="479240" grpId="0"/>
      <p:bldP spid="479242" grpId="0"/>
      <p:bldP spid="479244" grpId="0"/>
      <p:bldP spid="479246" grpId="0"/>
      <p:bldP spid="479248" grpId="0"/>
      <p:bldP spid="479250" grpId="0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0FEFD13-E2AA-4259-8143-540D6BFAEF0B}" type="slidenum">
              <a:rPr lang="en-US" altLang="zh-CN"/>
              <a:pPr>
                <a:defRPr/>
              </a:pPr>
              <a:t>111</a:t>
            </a:fld>
            <a:endParaRPr lang="en-US" altLang="zh-CN"/>
          </a:p>
        </p:txBody>
      </p:sp>
      <p:sp>
        <p:nvSpPr>
          <p:cNvPr id="121859" name="Text Box 2"/>
          <p:cNvSpPr txBox="1">
            <a:spLocks noChangeArrowheads="1"/>
          </p:cNvSpPr>
          <p:nvPr/>
        </p:nvSpPr>
        <p:spPr bwMode="auto">
          <a:xfrm>
            <a:off x="719138" y="1484313"/>
            <a:ext cx="7916862" cy="2443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zh-CN" altLang="en-US" dirty="0"/>
              <a:t>推理理论：</a:t>
            </a:r>
          </a:p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zh-CN" altLang="en-US" dirty="0"/>
              <a:t> </a:t>
            </a:r>
            <a:r>
              <a:rPr kumimoji="1" lang="en-US" altLang="zh-CN" dirty="0"/>
              <a:t>1</a:t>
            </a:r>
            <a:r>
              <a:rPr kumimoji="1" lang="zh-CN" altLang="en-US" dirty="0"/>
              <a:t>、真值表法：</a:t>
            </a:r>
          </a:p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zh-CN" altLang="en-US" dirty="0"/>
              <a:t> </a:t>
            </a:r>
            <a:r>
              <a:rPr kumimoji="1" lang="en-US" altLang="zh-CN" dirty="0"/>
              <a:t>2</a:t>
            </a:r>
            <a:r>
              <a:rPr kumimoji="1" lang="zh-CN" altLang="en-US" dirty="0"/>
              <a:t>、直接证法：</a:t>
            </a:r>
            <a:r>
              <a:rPr kumimoji="1" lang="en-US" altLang="zh-CN" dirty="0"/>
              <a:t>P</a:t>
            </a:r>
            <a:r>
              <a:rPr kumimoji="1" lang="zh-CN" altLang="en-US" dirty="0"/>
              <a:t>规则，</a:t>
            </a:r>
            <a:r>
              <a:rPr kumimoji="1" lang="en-US" altLang="zh-CN" dirty="0"/>
              <a:t>T</a:t>
            </a:r>
            <a:r>
              <a:rPr kumimoji="1" lang="zh-CN" altLang="en-US" dirty="0"/>
              <a:t>规则。</a:t>
            </a:r>
          </a:p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zh-CN" altLang="en-US" dirty="0"/>
              <a:t> </a:t>
            </a:r>
            <a:r>
              <a:rPr kumimoji="1" lang="en-US" altLang="zh-CN" dirty="0"/>
              <a:t>3</a:t>
            </a:r>
            <a:r>
              <a:rPr kumimoji="1" lang="zh-CN" altLang="en-US" dirty="0"/>
              <a:t>、间接证法：利用不相容的概念，</a:t>
            </a:r>
            <a:r>
              <a:rPr kumimoji="1" lang="en-US" altLang="zh-CN" dirty="0"/>
              <a:t>CP</a:t>
            </a:r>
            <a:r>
              <a:rPr kumimoji="1" lang="zh-CN" altLang="en-US" dirty="0"/>
              <a:t>规则。</a:t>
            </a:r>
          </a:p>
        </p:txBody>
      </p:sp>
    </p:spTree>
    <p:extLst>
      <p:ext uri="{BB962C8B-B14F-4D97-AF65-F5344CB8AC3E}">
        <p14:creationId xmlns:p14="http://schemas.microsoft.com/office/powerpoint/2010/main" val="2507533400"/>
      </p:ext>
    </p:extLst>
  </p:cSld>
  <p:clrMapOvr>
    <a:masterClrMapping/>
  </p:clrMapOvr>
  <p:transition spd="slow">
    <p:pull dir="ru"/>
  </p:transition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02D279A-C3AD-4036-BE46-0DD9643B62A9}" type="slidenum">
              <a:rPr lang="en-US" altLang="zh-CN"/>
              <a:pPr>
                <a:defRPr/>
              </a:pPr>
              <a:t>112</a:t>
            </a:fld>
            <a:endParaRPr lang="en-US" altLang="zh-CN"/>
          </a:p>
        </p:txBody>
      </p:sp>
      <p:sp>
        <p:nvSpPr>
          <p:cNvPr id="107523" name="Rectangle 2"/>
          <p:cNvSpPr>
            <a:spLocks noChangeArrowheads="1"/>
          </p:cNvSpPr>
          <p:nvPr/>
        </p:nvSpPr>
        <p:spPr bwMode="auto">
          <a:xfrm>
            <a:off x="1105372" y="2166650"/>
            <a:ext cx="693325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sz="3200" dirty="0">
                <a:cs typeface="Times New Roman" pitchFamily="18" charset="0"/>
              </a:rPr>
              <a:t>作业</a:t>
            </a:r>
            <a:r>
              <a:rPr kumimoji="1" lang="zh-CN" altLang="en-US" sz="3200" dirty="0" smtClean="0">
                <a:cs typeface="Times New Roman" pitchFamily="18" charset="0"/>
              </a:rPr>
              <a:t>：</a:t>
            </a:r>
            <a:r>
              <a:rPr kumimoji="1" lang="en-US" altLang="en-US" sz="3200" dirty="0" smtClean="0">
                <a:cs typeface="Times New Roman" pitchFamily="18" charset="0"/>
              </a:rPr>
              <a:t>P39</a:t>
            </a:r>
            <a:r>
              <a:rPr kumimoji="1" lang="en-US" altLang="zh-CN" sz="3200" dirty="0" smtClean="0">
                <a:cs typeface="Times New Roman" pitchFamily="18" charset="0"/>
              </a:rPr>
              <a:t> </a:t>
            </a:r>
            <a:r>
              <a:rPr kumimoji="1" lang="en-US" altLang="zh-CN" sz="3200" dirty="0">
                <a:cs typeface="Times New Roman" pitchFamily="18" charset="0"/>
              </a:rPr>
              <a:t>(</a:t>
            </a:r>
            <a:r>
              <a:rPr kumimoji="1" lang="en-US" altLang="en-US" sz="3200" dirty="0">
                <a:cs typeface="Times New Roman" pitchFamily="18" charset="0"/>
              </a:rPr>
              <a:t>4</a:t>
            </a:r>
            <a:r>
              <a:rPr kumimoji="1" lang="en-US" altLang="zh-CN" sz="3200" dirty="0">
                <a:cs typeface="Times New Roman" pitchFamily="18" charset="0"/>
              </a:rPr>
              <a:t>)a)</a:t>
            </a:r>
            <a:r>
              <a:rPr kumimoji="1" lang="zh-CN" altLang="en-US" sz="3200" dirty="0">
                <a:cs typeface="Times New Roman" pitchFamily="18" charset="0"/>
              </a:rPr>
              <a:t>，</a:t>
            </a:r>
            <a:r>
              <a:rPr kumimoji="1" lang="en-US" altLang="zh-CN" sz="3200" dirty="0">
                <a:cs typeface="Times New Roman" pitchFamily="18" charset="0"/>
              </a:rPr>
              <a:t>d</a:t>
            </a:r>
            <a:r>
              <a:rPr kumimoji="1" lang="en-US" altLang="zh-CN" sz="3200" dirty="0" smtClean="0">
                <a:cs typeface="Times New Roman" pitchFamily="18" charset="0"/>
              </a:rPr>
              <a:t>)</a:t>
            </a:r>
            <a:r>
              <a:rPr kumimoji="1" lang="zh-CN" altLang="en-US" sz="3200" dirty="0" smtClean="0">
                <a:cs typeface="Times New Roman" pitchFamily="18" charset="0"/>
              </a:rPr>
              <a:t>，</a:t>
            </a:r>
            <a:r>
              <a:rPr kumimoji="1" lang="en-US" altLang="zh-CN" sz="3200" dirty="0" smtClean="0">
                <a:cs typeface="Times New Roman" pitchFamily="18" charset="0"/>
              </a:rPr>
              <a:t>(6)</a:t>
            </a:r>
            <a:r>
              <a:rPr kumimoji="1" lang="en-US" altLang="en-US" sz="3200" dirty="0">
                <a:cs typeface="Times New Roman" pitchFamily="18" charset="0"/>
              </a:rPr>
              <a:t> </a:t>
            </a:r>
            <a:r>
              <a:rPr kumimoji="1" lang="en-US" altLang="en-US" sz="3200">
                <a:cs typeface="Times New Roman" pitchFamily="18" charset="0"/>
              </a:rPr>
              <a:t>，</a:t>
            </a:r>
            <a:r>
              <a:rPr kumimoji="1" lang="en-US" altLang="en-US" sz="3200" smtClean="0">
                <a:cs typeface="Times New Roman" pitchFamily="18" charset="0"/>
              </a:rPr>
              <a:t>P47</a:t>
            </a:r>
            <a:r>
              <a:rPr kumimoji="1" lang="en-US" altLang="zh-CN" sz="3200" smtClean="0">
                <a:cs typeface="Times New Roman" pitchFamily="18" charset="0"/>
              </a:rPr>
              <a:t> </a:t>
            </a:r>
            <a:r>
              <a:rPr kumimoji="1" lang="en-US" altLang="zh-CN" sz="3200" dirty="0">
                <a:cs typeface="Times New Roman" pitchFamily="18" charset="0"/>
              </a:rPr>
              <a:t>(</a:t>
            </a:r>
            <a:r>
              <a:rPr kumimoji="1" lang="en-US" altLang="en-US" sz="3200" dirty="0">
                <a:cs typeface="Times New Roman" pitchFamily="18" charset="0"/>
              </a:rPr>
              <a:t>4</a:t>
            </a:r>
            <a:r>
              <a:rPr kumimoji="1" lang="en-US" altLang="zh-CN" sz="3200" dirty="0">
                <a:cs typeface="Times New Roman" pitchFamily="18" charset="0"/>
              </a:rPr>
              <a:t>)a)</a:t>
            </a:r>
          </a:p>
        </p:txBody>
      </p:sp>
    </p:spTree>
    <p:extLst>
      <p:ext uri="{BB962C8B-B14F-4D97-AF65-F5344CB8AC3E}">
        <p14:creationId xmlns:p14="http://schemas.microsoft.com/office/powerpoint/2010/main" val="3462995896"/>
      </p:ext>
    </p:extLst>
  </p:cSld>
  <p:clrMapOvr>
    <a:masterClrMapping/>
  </p:clrMapOvr>
  <p:transition spd="slow">
    <p:pull dir="ru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华文行楷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7324</TotalTime>
  <Words>8058</Words>
  <Application>Microsoft Office PowerPoint</Application>
  <PresentationFormat>全屏显示(4:3)</PresentationFormat>
  <Paragraphs>1129</Paragraphs>
  <Slides>112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112</vt:i4>
      </vt:variant>
    </vt:vector>
  </HeadingPairs>
  <TitlesOfParts>
    <vt:vector size="114" baseType="lpstr">
      <vt:lpstr>Blends</vt:lpstr>
      <vt:lpstr>Equation</vt:lpstr>
      <vt:lpstr>离散数学</vt:lpstr>
      <vt:lpstr>参考书</vt:lpstr>
      <vt:lpstr>PowerPoint 演示文稿</vt:lpstr>
      <vt:lpstr>PowerPoint 演示文稿</vt:lpstr>
      <vt:lpstr>  第一章 命题逻辑</vt:lpstr>
      <vt:lpstr>  第一章 命题逻辑</vt:lpstr>
      <vt:lpstr>1-1  命题及其表示方法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1-2  联结词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1-3  命题公式与翻译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1-4  真值表与等价式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1-5   重言式与蕴含式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复习</vt:lpstr>
      <vt:lpstr>1-6   其他联结词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1-7   对偶与范式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复习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1-8  推理理论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丁伦</dc:creator>
  <cp:lastModifiedBy>Sky123.Org</cp:lastModifiedBy>
  <cp:revision>2522</cp:revision>
  <dcterms:created xsi:type="dcterms:W3CDTF">2002-08-05T07:56:52Z</dcterms:created>
  <dcterms:modified xsi:type="dcterms:W3CDTF">2019-09-23T02:22:43Z</dcterms:modified>
</cp:coreProperties>
</file>