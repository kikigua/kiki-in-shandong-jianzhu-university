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34"/>
  </p:notesMasterIdLst>
  <p:sldIdLst>
    <p:sldId id="262" r:id="rId2"/>
    <p:sldId id="313" r:id="rId3"/>
    <p:sldId id="263" r:id="rId4"/>
    <p:sldId id="315" r:id="rId5"/>
    <p:sldId id="318" r:id="rId6"/>
    <p:sldId id="319" r:id="rId7"/>
    <p:sldId id="514" r:id="rId8"/>
    <p:sldId id="320" r:id="rId9"/>
    <p:sldId id="325" r:id="rId10"/>
    <p:sldId id="321" r:id="rId11"/>
    <p:sldId id="322" r:id="rId12"/>
    <p:sldId id="323" r:id="rId13"/>
    <p:sldId id="324" r:id="rId14"/>
    <p:sldId id="505" r:id="rId15"/>
    <p:sldId id="327" r:id="rId16"/>
    <p:sldId id="329" r:id="rId17"/>
    <p:sldId id="330" r:id="rId18"/>
    <p:sldId id="692" r:id="rId19"/>
    <p:sldId id="331" r:id="rId20"/>
    <p:sldId id="332" r:id="rId21"/>
    <p:sldId id="334" r:id="rId22"/>
    <p:sldId id="620" r:id="rId23"/>
    <p:sldId id="621" r:id="rId24"/>
    <p:sldId id="337" r:id="rId25"/>
    <p:sldId id="338" r:id="rId26"/>
    <p:sldId id="622" r:id="rId27"/>
    <p:sldId id="342" r:id="rId28"/>
    <p:sldId id="343" r:id="rId29"/>
    <p:sldId id="674" r:id="rId30"/>
    <p:sldId id="583" r:id="rId31"/>
    <p:sldId id="584" r:id="rId32"/>
    <p:sldId id="585" r:id="rId33"/>
    <p:sldId id="586" r:id="rId34"/>
    <p:sldId id="587" r:id="rId35"/>
    <p:sldId id="588" r:id="rId36"/>
    <p:sldId id="589" r:id="rId37"/>
    <p:sldId id="590" r:id="rId38"/>
    <p:sldId id="591" r:id="rId39"/>
    <p:sldId id="626" r:id="rId40"/>
    <p:sldId id="507" r:id="rId41"/>
    <p:sldId id="354" r:id="rId42"/>
    <p:sldId id="355" r:id="rId43"/>
    <p:sldId id="356" r:id="rId44"/>
    <p:sldId id="548" r:id="rId45"/>
    <p:sldId id="552" r:id="rId46"/>
    <p:sldId id="358" r:id="rId47"/>
    <p:sldId id="697" r:id="rId48"/>
    <p:sldId id="694" r:id="rId49"/>
    <p:sldId id="359" r:id="rId50"/>
    <p:sldId id="360" r:id="rId51"/>
    <p:sldId id="361" r:id="rId52"/>
    <p:sldId id="508" r:id="rId53"/>
    <p:sldId id="363" r:id="rId54"/>
    <p:sldId id="560" r:id="rId55"/>
    <p:sldId id="561" r:id="rId56"/>
    <p:sldId id="364" r:id="rId57"/>
    <p:sldId id="366" r:id="rId58"/>
    <p:sldId id="367" r:id="rId59"/>
    <p:sldId id="629" r:id="rId60"/>
    <p:sldId id="601" r:id="rId61"/>
    <p:sldId id="602" r:id="rId62"/>
    <p:sldId id="370" r:id="rId63"/>
    <p:sldId id="371" r:id="rId64"/>
    <p:sldId id="556" r:id="rId65"/>
    <p:sldId id="608" r:id="rId66"/>
    <p:sldId id="609" r:id="rId67"/>
    <p:sldId id="610" r:id="rId68"/>
    <p:sldId id="611" r:id="rId69"/>
    <p:sldId id="612" r:id="rId70"/>
    <p:sldId id="613" r:id="rId71"/>
    <p:sldId id="698" r:id="rId72"/>
    <p:sldId id="699" r:id="rId73"/>
    <p:sldId id="510" r:id="rId74"/>
    <p:sldId id="566" r:id="rId75"/>
    <p:sldId id="377" r:id="rId76"/>
    <p:sldId id="378" r:id="rId77"/>
    <p:sldId id="379" r:id="rId78"/>
    <p:sldId id="380" r:id="rId79"/>
    <p:sldId id="381" r:id="rId80"/>
    <p:sldId id="382" r:id="rId81"/>
    <p:sldId id="567" r:id="rId82"/>
    <p:sldId id="383" r:id="rId83"/>
    <p:sldId id="384" r:id="rId84"/>
    <p:sldId id="385" r:id="rId85"/>
    <p:sldId id="386" r:id="rId86"/>
    <p:sldId id="387" r:id="rId87"/>
    <p:sldId id="702" r:id="rId88"/>
    <p:sldId id="703" r:id="rId89"/>
    <p:sldId id="511" r:id="rId90"/>
    <p:sldId id="389" r:id="rId91"/>
    <p:sldId id="568" r:id="rId92"/>
    <p:sldId id="390" r:id="rId93"/>
    <p:sldId id="391" r:id="rId94"/>
    <p:sldId id="392" r:id="rId95"/>
    <p:sldId id="512" r:id="rId96"/>
    <p:sldId id="394" r:id="rId97"/>
    <p:sldId id="396" r:id="rId98"/>
    <p:sldId id="570" r:id="rId99"/>
    <p:sldId id="398" r:id="rId100"/>
    <p:sldId id="399" r:id="rId101"/>
    <p:sldId id="400" r:id="rId102"/>
    <p:sldId id="402" r:id="rId103"/>
    <p:sldId id="403" r:id="rId104"/>
    <p:sldId id="549" r:id="rId105"/>
    <p:sldId id="572" r:id="rId106"/>
    <p:sldId id="405" r:id="rId107"/>
    <p:sldId id="406" r:id="rId108"/>
    <p:sldId id="573" r:id="rId109"/>
    <p:sldId id="704" r:id="rId110"/>
    <p:sldId id="705" r:id="rId111"/>
    <p:sldId id="407" r:id="rId112"/>
    <p:sldId id="408" r:id="rId113"/>
    <p:sldId id="409" r:id="rId114"/>
    <p:sldId id="550" r:id="rId115"/>
    <p:sldId id="411" r:id="rId116"/>
    <p:sldId id="412" r:id="rId117"/>
    <p:sldId id="413" r:id="rId118"/>
    <p:sldId id="637" r:id="rId119"/>
    <p:sldId id="574" r:id="rId120"/>
    <p:sldId id="577" r:id="rId121"/>
    <p:sldId id="415" r:id="rId122"/>
    <p:sldId id="416" r:id="rId123"/>
    <p:sldId id="578" r:id="rId124"/>
    <p:sldId id="417" r:id="rId125"/>
    <p:sldId id="579" r:id="rId126"/>
    <p:sldId id="418" r:id="rId127"/>
    <p:sldId id="419" r:id="rId128"/>
    <p:sldId id="420" r:id="rId129"/>
    <p:sldId id="421" r:id="rId130"/>
    <p:sldId id="422" r:id="rId131"/>
    <p:sldId id="423" r:id="rId132"/>
    <p:sldId id="424" r:id="rId13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Clr>
        <a:srgbClr val="993300"/>
      </a:buClr>
      <a:buFont typeface="Wingdings" pitchFamily="2" charset="2"/>
      <a:buChar char="Ø"/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Clr>
        <a:srgbClr val="993300"/>
      </a:buClr>
      <a:buFont typeface="Wingdings" pitchFamily="2" charset="2"/>
      <a:buChar char="Ø"/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Clr>
        <a:srgbClr val="993300"/>
      </a:buClr>
      <a:buFont typeface="Wingdings" pitchFamily="2" charset="2"/>
      <a:buChar char="Ø"/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Clr>
        <a:srgbClr val="993300"/>
      </a:buClr>
      <a:buFont typeface="Wingdings" pitchFamily="2" charset="2"/>
      <a:buChar char="Ø"/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Clr>
        <a:srgbClr val="993300"/>
      </a:buClr>
      <a:buFont typeface="Wingdings" pitchFamily="2" charset="2"/>
      <a:buChar char="Ø"/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0000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C SYSTEM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0066"/>
    <a:srgbClr val="FF9900"/>
    <a:srgbClr val="FFFFCC"/>
    <a:srgbClr val="0000CC"/>
    <a:srgbClr val="800000"/>
    <a:srgbClr val="333399"/>
    <a:srgbClr val="23238D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9" autoAdjust="0"/>
  </p:normalViewPr>
  <p:slideViewPr>
    <p:cSldViewPr>
      <p:cViewPr varScale="1">
        <p:scale>
          <a:sx n="63" d="100"/>
          <a:sy n="63" d="100"/>
        </p:scale>
        <p:origin x="-151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44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fld id="{22725894-4E46-4784-BC44-DA8BC436CF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294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AE524B-1CC3-45B4-B8F9-7F930372B2EA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A77FB7-C4EB-401A-872B-6B1D8C6659AF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8A2B54-DC37-459B-8FED-E3D1F1BC7075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493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16EF2A-4F43-4BF8-B638-AC8BEE42A6D2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674" name="Group 2"/>
          <p:cNvGrpSpPr>
            <a:grpSpLocks/>
          </p:cNvGrpSpPr>
          <p:nvPr/>
        </p:nvGrpSpPr>
        <p:grpSpPr bwMode="auto">
          <a:xfrm>
            <a:off x="0" y="1728788"/>
            <a:ext cx="9009063" cy="1052512"/>
            <a:chOff x="0" y="1536"/>
            <a:chExt cx="5675" cy="663"/>
          </a:xfrm>
        </p:grpSpPr>
        <p:grpSp>
          <p:nvGrpSpPr>
            <p:cNvPr id="15667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6676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677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6678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56679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680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6681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682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683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66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62038" y="1196975"/>
            <a:ext cx="7397750" cy="1223963"/>
          </a:xfrm>
        </p:spPr>
        <p:txBody>
          <a:bodyPr/>
          <a:lstStyle>
            <a:lvl1pPr>
              <a:defRPr>
                <a:ea typeface="华文行楷" pitchFamily="2" charset="-122"/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5668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24175"/>
            <a:ext cx="6400800" cy="17526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56686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4E0AE7C-4442-4E62-AC49-D3D311E6A8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9387890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2B09C5-6D40-457D-855E-FF6CF40A12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80017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9138" y="1628775"/>
            <a:ext cx="3881437" cy="287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52975" y="1628775"/>
            <a:ext cx="3883025" cy="287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4C1167-EB1E-4F03-BD52-B72D5FC451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5342425"/>
      </p:ext>
    </p:extLst>
  </p:cSld>
  <p:clrMapOvr>
    <a:masterClrMapping/>
  </p:clrMapOvr>
  <p:transition spd="slow">
    <p:pull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FDA5D9-9441-4735-8AC1-764CAAB4D9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485701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B37089-A955-4A3E-8478-1EAEDE7B00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0903582"/>
      </p:ext>
    </p:extLst>
  </p:cSld>
  <p:clrMapOvr>
    <a:masterClrMapping/>
  </p:clrMapOvr>
  <p:transition spd="slow">
    <p:pull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C71D7C-8CB4-418F-9517-CAF383E6D4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1853451"/>
      </p:ext>
    </p:extLst>
  </p:cSld>
  <p:clrMapOvr>
    <a:masterClrMapping/>
  </p:clrMapOvr>
  <p:transition spd="slow">
    <p:pull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12D599-D541-4EDE-8572-68ECA05E44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776052"/>
      </p:ext>
    </p:extLst>
  </p:cSld>
  <p:clrMapOvr>
    <a:masterClrMapping/>
  </p:clrMapOvr>
  <p:transition spd="slow">
    <p:pull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87BAE1-4DE5-46AC-A16F-6F9AF29DF49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3655594"/>
      </p:ext>
    </p:extLst>
  </p:cSld>
  <p:clrMapOvr>
    <a:masterClrMapping/>
  </p:clrMapOvr>
  <p:transition spd="slow">
    <p:pull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1DE304-EB8B-42E1-9434-5F83881E83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9053118"/>
      </p:ext>
    </p:extLst>
  </p:cSld>
  <p:clrMapOvr>
    <a:masterClrMapping/>
  </p:clrMapOvr>
  <p:transition spd="slow">
    <p:pull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7975" y="423863"/>
            <a:ext cx="1978025" cy="4075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19138" y="423863"/>
            <a:ext cx="5786437" cy="4075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0320A4-EBF5-46DA-A9D6-833CBE72D0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913761"/>
      </p:ext>
    </p:extLst>
  </p:cSld>
  <p:clrMapOvr>
    <a:masterClrMapping/>
  </p:clrMapOvr>
  <p:transition spd="slow"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50" name="Group 2"/>
          <p:cNvGrpSpPr>
            <a:grpSpLocks/>
          </p:cNvGrpSpPr>
          <p:nvPr userDrawn="1"/>
        </p:nvGrpSpPr>
        <p:grpSpPr bwMode="auto">
          <a:xfrm>
            <a:off x="127000" y="333375"/>
            <a:ext cx="8542338" cy="1052513"/>
            <a:chOff x="80" y="624"/>
            <a:chExt cx="5381" cy="663"/>
          </a:xfrm>
        </p:grpSpPr>
        <p:sp>
          <p:nvSpPr>
            <p:cNvPr id="155651" name="Rectangle 3"/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endParaRPr lang="zh-CN" altLang="zh-CN" b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155652" name="Rectangle 4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endParaRPr lang="zh-CN" altLang="zh-CN" b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155653" name="Rectangle 5"/>
            <p:cNvSpPr>
              <a:spLocks noChangeArrowheads="1"/>
            </p:cNvSpPr>
            <p:nvPr/>
          </p:nvSpPr>
          <p:spPr bwMode="gray">
            <a:xfrm>
              <a:off x="480" y="62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endParaRPr lang="zh-CN" altLang="zh-CN" b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155654" name="Rectangle 6"/>
            <p:cNvSpPr>
              <a:spLocks noChangeArrowheads="1"/>
            </p:cNvSpPr>
            <p:nvPr userDrawn="1"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endParaRPr lang="zh-CN" altLang="zh-CN" b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155655" name="Rectangle 7"/>
            <p:cNvSpPr>
              <a:spLocks noChangeArrowheads="1"/>
            </p:cNvSpPr>
            <p:nvPr userDrawn="1"/>
          </p:nvSpPr>
          <p:spPr bwMode="ltGray">
            <a:xfrm>
              <a:off x="341" y="958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endParaRPr lang="zh-CN" altLang="zh-CN" b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155656" name="Rectangle 8"/>
            <p:cNvSpPr>
              <a:spLocks noChangeArrowheads="1"/>
            </p:cNvSpPr>
            <p:nvPr userDrawn="1"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endParaRPr lang="zh-CN" altLang="zh-CN" b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155657" name="Rectangle 9"/>
            <p:cNvSpPr>
              <a:spLocks noChangeArrowheads="1"/>
            </p:cNvSpPr>
            <p:nvPr userDrawn="1"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buClrTx/>
                <a:buFontTx/>
                <a:buNone/>
              </a:pPr>
              <a:endParaRPr lang="zh-CN" altLang="zh-CN" b="0">
                <a:solidFill>
                  <a:schemeClr val="tx1"/>
                </a:solidFill>
                <a:latin typeface="Tahoma" pitchFamily="34" charset="0"/>
              </a:endParaRPr>
            </a:p>
          </p:txBody>
        </p:sp>
      </p:grpSp>
      <p:sp>
        <p:nvSpPr>
          <p:cNvPr id="155658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423863"/>
            <a:ext cx="72374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55659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628775"/>
            <a:ext cx="7916862" cy="287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5566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buClrTx/>
              <a:buFontTx/>
              <a:buNone/>
              <a:defRPr kumimoji="0" sz="1400" b="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5566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09282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defRPr kumimoji="0" sz="1400" b="0">
                <a:solidFill>
                  <a:schemeClr val="tx1"/>
                </a:solidFill>
                <a:latin typeface="+mj-lt"/>
              </a:defRPr>
            </a:lvl1pPr>
          </a:lstStyle>
          <a:p>
            <a:fld id="{D87D120B-CE8B-447E-8E27-CB547968A35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ransition spd="slow">
    <p:pull dir="r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  <a:ea typeface="宋体" charset="-122"/>
        </a:defRPr>
      </a:lvl9pPr>
    </p:titleStyle>
    <p:bodyStyle>
      <a:lvl1pPr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439738" indent="4763"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2pPr>
      <a:lvl3pPr marL="901700"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3pPr>
      <a:lvl4pPr marL="1346200"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4pPr>
      <a:lvl5pPr marL="1789113"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5pPr>
      <a:lvl6pPr marL="2246313"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6pPr>
      <a:lvl7pPr marL="2703513"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7pPr>
      <a:lvl8pPr marL="3160713"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8pPr>
      <a:lvl9pPr marL="3617913" algn="l" rtl="0" fontAlgn="base">
        <a:lnSpc>
          <a:spcPct val="130000"/>
        </a:lnSpc>
        <a:spcBef>
          <a:spcPct val="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3.xml"/><Relationship Id="rId3" Type="http://schemas.openxmlformats.org/officeDocument/2006/relationships/slide" Target="slide14.xml"/><Relationship Id="rId7" Type="http://schemas.openxmlformats.org/officeDocument/2006/relationships/slide" Target="slide60.xml"/><Relationship Id="rId12" Type="http://schemas.openxmlformats.org/officeDocument/2006/relationships/slide" Target="slide1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2.xml"/><Relationship Id="rId11" Type="http://schemas.openxmlformats.org/officeDocument/2006/relationships/slide" Target="slide104.xml"/><Relationship Id="rId5" Type="http://schemas.openxmlformats.org/officeDocument/2006/relationships/slide" Target="slide40.xml"/><Relationship Id="rId10" Type="http://schemas.openxmlformats.org/officeDocument/2006/relationships/slide" Target="slide95.xml"/><Relationship Id="rId4" Type="http://schemas.openxmlformats.org/officeDocument/2006/relationships/slide" Target="slide30.xml"/><Relationship Id="rId9" Type="http://schemas.openxmlformats.org/officeDocument/2006/relationships/slide" Target="slide8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6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e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4.w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4.bin"/><Relationship Id="rId18" Type="http://schemas.openxmlformats.org/officeDocument/2006/relationships/oleObject" Target="../embeddings/oleObject28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0.wmf"/><Relationship Id="rId19" Type="http://schemas.openxmlformats.org/officeDocument/2006/relationships/image" Target="../media/image23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2.w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32.bin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8.w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0.wm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7.wmf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2.wmf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36.png"/><Relationship Id="rId4" Type="http://schemas.openxmlformats.org/officeDocument/2006/relationships/image" Target="../media/image34.wmf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2.wmf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8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9.wmf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2.png"/><Relationship Id="rId4" Type="http://schemas.openxmlformats.org/officeDocument/2006/relationships/image" Target="../media/image41.w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43.png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44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45.png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2E2703-CCEA-48F7-97F7-9B9BCBE09E2E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23863"/>
            <a:ext cx="6084887" cy="701675"/>
          </a:xfrm>
          <a:noFill/>
        </p:spPr>
        <p:txBody>
          <a:bodyPr/>
          <a:lstStyle/>
          <a:p>
            <a:pPr algn="ctr"/>
            <a:r>
              <a:rPr lang="zh-CN" altLang="en-US" b="1">
                <a:solidFill>
                  <a:srgbClr val="333399"/>
                </a:solidFill>
                <a:latin typeface="华文行楷" pitchFamily="2" charset="-122"/>
                <a:ea typeface="华文行楷" pitchFamily="2" charset="-122"/>
              </a:rPr>
              <a:t>第二篇 集合论</a:t>
            </a:r>
          </a:p>
        </p:txBody>
      </p:sp>
      <p:sp>
        <p:nvSpPr>
          <p:cNvPr id="100359" name="Rectangle 7"/>
          <p:cNvSpPr>
            <a:spLocks noChangeArrowheads="1"/>
          </p:cNvSpPr>
          <p:nvPr/>
        </p:nvSpPr>
        <p:spPr bwMode="auto">
          <a:xfrm>
            <a:off x="719138" y="1633538"/>
            <a:ext cx="7916862" cy="222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2800"/>
              <a:t>本篇主要介绍集合论的基础知识，由三大部分组成：</a:t>
            </a:r>
          </a:p>
          <a:p>
            <a:pPr>
              <a:buClrTx/>
              <a:buFontTx/>
              <a:buNone/>
            </a:pPr>
            <a:r>
              <a:rPr lang="zh-CN" altLang="en-US" sz="2800">
                <a:solidFill>
                  <a:srgbClr val="993300"/>
                </a:solidFill>
              </a:rPr>
              <a:t>（</a:t>
            </a:r>
            <a:r>
              <a:rPr lang="en-US" altLang="zh-CN" sz="2800">
                <a:solidFill>
                  <a:srgbClr val="993300"/>
                </a:solidFill>
              </a:rPr>
              <a:t>1</a:t>
            </a:r>
            <a:r>
              <a:rPr lang="zh-CN" altLang="en-US" sz="2800">
                <a:solidFill>
                  <a:srgbClr val="993300"/>
                </a:solidFill>
              </a:rPr>
              <a:t>）集合：基本运算，运算的性质</a:t>
            </a:r>
          </a:p>
          <a:p>
            <a:pPr>
              <a:buClrTx/>
              <a:buFontTx/>
              <a:buNone/>
            </a:pPr>
            <a:r>
              <a:rPr lang="zh-CN" altLang="en-US" sz="2800">
                <a:solidFill>
                  <a:srgbClr val="993300"/>
                </a:solidFill>
              </a:rPr>
              <a:t>（</a:t>
            </a:r>
            <a:r>
              <a:rPr lang="en-US" altLang="zh-CN" sz="2800">
                <a:solidFill>
                  <a:srgbClr val="993300"/>
                </a:solidFill>
              </a:rPr>
              <a:t>2</a:t>
            </a:r>
            <a:r>
              <a:rPr lang="zh-CN" altLang="en-US" sz="2800">
                <a:solidFill>
                  <a:srgbClr val="993300"/>
                </a:solidFill>
              </a:rPr>
              <a:t>）关系：序偶，关系，几种重要关系</a:t>
            </a:r>
          </a:p>
          <a:p>
            <a:pPr>
              <a:buClrTx/>
              <a:buFontTx/>
              <a:buNone/>
            </a:pPr>
            <a:r>
              <a:rPr lang="zh-CN" altLang="en-US" sz="2800">
                <a:solidFill>
                  <a:srgbClr val="993300"/>
                </a:solidFill>
              </a:rPr>
              <a:t>（</a:t>
            </a:r>
            <a:r>
              <a:rPr lang="en-US" altLang="zh-CN" sz="2800">
                <a:solidFill>
                  <a:srgbClr val="993300"/>
                </a:solidFill>
              </a:rPr>
              <a:t>3</a:t>
            </a:r>
            <a:r>
              <a:rPr lang="zh-CN" altLang="en-US" sz="2800">
                <a:solidFill>
                  <a:srgbClr val="993300"/>
                </a:solidFill>
              </a:rPr>
              <a:t>）函数：函数，基数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5AAF7A-F4FB-49FC-AB60-C845404DF78A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04813"/>
            <a:ext cx="6877050" cy="701675"/>
          </a:xfrm>
        </p:spPr>
        <p:txBody>
          <a:bodyPr/>
          <a:lstStyle/>
          <a:p>
            <a:pPr algn="ctr"/>
            <a:r>
              <a:rPr kumimoji="1" lang="zh-CN" altLang="en-US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第三章</a:t>
            </a:r>
            <a:r>
              <a:rPr kumimoji="1" lang="zh-CN" altLang="en-US" b="1">
                <a:solidFill>
                  <a:schemeClr val="tx1"/>
                </a:solidFill>
                <a:latin typeface="Arial"/>
                <a:ea typeface="华文行楷" pitchFamily="2" charset="-122"/>
              </a:rPr>
              <a:t>     </a:t>
            </a:r>
            <a:r>
              <a:rPr kumimoji="1" lang="zh-CN" altLang="en-US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 集合与关系</a:t>
            </a: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1979613" y="1268413"/>
            <a:ext cx="5329237" cy="478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2" action="ppaction://hlinksldjump"/>
              </a:rPr>
              <a:t>3-1   </a:t>
            </a:r>
            <a:r>
              <a:rPr lang="zh-CN" altLang="en-US" sz="2800" dirty="0">
                <a:solidFill>
                  <a:schemeClr val="tx1"/>
                </a:solidFill>
                <a:hlinkClick r:id="rId2" action="ppaction://hlinksldjump"/>
              </a:rPr>
              <a:t>集合的概念和表示法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3" action="ppaction://hlinksldjump"/>
              </a:rPr>
              <a:t>3-2   </a:t>
            </a:r>
            <a:r>
              <a:rPr lang="zh-CN" altLang="en-US" sz="2800" dirty="0">
                <a:solidFill>
                  <a:schemeClr val="tx1"/>
                </a:solidFill>
                <a:hlinkClick r:id="rId3" action="ppaction://hlinksldjump"/>
              </a:rPr>
              <a:t>集合的运算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4" action="ppaction://hlinksldjump"/>
              </a:rPr>
              <a:t>3-4   </a:t>
            </a:r>
            <a:r>
              <a:rPr lang="zh-CN" altLang="en-US" sz="2800" dirty="0">
                <a:solidFill>
                  <a:schemeClr val="tx1"/>
                </a:solidFill>
                <a:hlinkClick r:id="rId4" action="ppaction://hlinksldjump"/>
              </a:rPr>
              <a:t>序偶与笛卡尔积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5" action="ppaction://hlinksldjump"/>
              </a:rPr>
              <a:t>3-5   </a:t>
            </a:r>
            <a:r>
              <a:rPr lang="zh-CN" altLang="en-US" sz="2800" dirty="0">
                <a:solidFill>
                  <a:schemeClr val="tx1"/>
                </a:solidFill>
                <a:hlinkClick r:id="rId5" action="ppaction://hlinksldjump"/>
              </a:rPr>
              <a:t>关系及其表示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6" action="ppaction://hlinksldjump"/>
              </a:rPr>
              <a:t>3-6   </a:t>
            </a:r>
            <a:r>
              <a:rPr lang="zh-CN" altLang="en-US" sz="2800" dirty="0">
                <a:solidFill>
                  <a:schemeClr val="tx1"/>
                </a:solidFill>
                <a:hlinkClick r:id="rId6" action="ppaction://hlinksldjump"/>
              </a:rPr>
              <a:t>关系的性质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7" action="ppaction://hlinksldjump"/>
              </a:rPr>
              <a:t>3-7   </a:t>
            </a:r>
            <a:r>
              <a:rPr lang="zh-CN" altLang="en-US" sz="2800" dirty="0">
                <a:solidFill>
                  <a:schemeClr val="tx1"/>
                </a:solidFill>
                <a:hlinkClick r:id="rId7" action="ppaction://hlinksldjump"/>
              </a:rPr>
              <a:t>复合关系和关系的逆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8" action="ppaction://hlinksldjump"/>
              </a:rPr>
              <a:t>3-8   </a:t>
            </a:r>
            <a:r>
              <a:rPr lang="zh-CN" altLang="en-US" sz="2800" dirty="0">
                <a:solidFill>
                  <a:schemeClr val="tx1"/>
                </a:solidFill>
                <a:hlinkClick r:id="rId8" action="ppaction://hlinksldjump"/>
              </a:rPr>
              <a:t>关系的闭包运算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9" action="ppaction://hlinksldjump"/>
              </a:rPr>
              <a:t>3-9   </a:t>
            </a:r>
            <a:r>
              <a:rPr lang="zh-CN" altLang="en-US" sz="2800" dirty="0">
                <a:solidFill>
                  <a:schemeClr val="tx1"/>
                </a:solidFill>
                <a:hlinkClick r:id="rId9" action="ppaction://hlinksldjump"/>
              </a:rPr>
              <a:t>集合的划分和覆盖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10" action="ppaction://hlinksldjump"/>
              </a:rPr>
              <a:t>3-10  </a:t>
            </a:r>
            <a:r>
              <a:rPr lang="zh-CN" altLang="en-US" sz="2800" dirty="0">
                <a:solidFill>
                  <a:schemeClr val="tx1"/>
                </a:solidFill>
                <a:hlinkClick r:id="rId10" action="ppaction://hlinksldjump"/>
              </a:rPr>
              <a:t>等价关系与等价类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11" action="ppaction://hlinksldjump"/>
              </a:rPr>
              <a:t>3-11  </a:t>
            </a:r>
            <a:r>
              <a:rPr lang="zh-CN" altLang="en-US" sz="2800" dirty="0">
                <a:solidFill>
                  <a:schemeClr val="tx1"/>
                </a:solidFill>
                <a:hlinkClick r:id="rId11" action="ppaction://hlinksldjump"/>
              </a:rPr>
              <a:t>相容关系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hlinkClick r:id="rId12" action="ppaction://hlinksldjump"/>
              </a:rPr>
              <a:t>3-12  </a:t>
            </a:r>
            <a:r>
              <a:rPr lang="zh-CN" altLang="en-US" sz="2800" dirty="0">
                <a:solidFill>
                  <a:schemeClr val="tx1"/>
                </a:solidFill>
                <a:hlinkClick r:id="rId12" action="ppaction://hlinksldjump"/>
              </a:rPr>
              <a:t>序关系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06A9D4-3D24-460C-96DD-A02F96E80FB4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76250"/>
            <a:ext cx="6516688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3-1 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集合的概念和表示法</a:t>
            </a:r>
          </a:p>
        </p:txBody>
      </p:sp>
      <p:sp>
        <p:nvSpPr>
          <p:cNvPr id="101386" name="Rectangle 10"/>
          <p:cNvSpPr>
            <a:spLocks noChangeArrowheads="1"/>
          </p:cNvSpPr>
          <p:nvPr/>
        </p:nvSpPr>
        <p:spPr bwMode="auto">
          <a:xfrm>
            <a:off x="1187450" y="1628775"/>
            <a:ext cx="5545138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一、集合的概念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二、集合的表示法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三、经常用到的基本概念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ADFBA7-0ED3-4361-8460-79DE1FCCEF36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719138" y="1398588"/>
            <a:ext cx="7916862" cy="319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集合：</a:t>
            </a:r>
            <a:r>
              <a:rPr lang="zh-CN" altLang="en-US">
                <a:solidFill>
                  <a:schemeClr val="tx1"/>
                </a:solidFill>
              </a:rPr>
              <a:t>具有共同性质的事物，汇集成的一个整体。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元素：</a:t>
            </a:r>
            <a:r>
              <a:rPr lang="zh-CN" altLang="en-US">
                <a:solidFill>
                  <a:schemeClr val="tx1"/>
                </a:solidFill>
              </a:rPr>
              <a:t>组成集合的事物或成员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标识符：</a:t>
            </a:r>
            <a:r>
              <a:rPr lang="zh-CN" altLang="en-US">
                <a:solidFill>
                  <a:schemeClr val="tx1"/>
                </a:solidFill>
              </a:rPr>
              <a:t>大写英文字母 </a:t>
            </a:r>
            <a:r>
              <a:rPr lang="en-US" altLang="zh-CN">
                <a:solidFill>
                  <a:schemeClr val="tx1"/>
                </a:solidFill>
              </a:rPr>
              <a:t>—— </a:t>
            </a:r>
            <a:r>
              <a:rPr lang="zh-CN" altLang="en-US">
                <a:solidFill>
                  <a:schemeClr val="tx1"/>
                </a:solidFill>
              </a:rPr>
              <a:t>集合的名称    </a:t>
            </a:r>
            <a:r>
              <a:rPr lang="en-US" altLang="zh-CN">
                <a:solidFill>
                  <a:schemeClr val="tx1"/>
                </a:solidFill>
              </a:rPr>
              <a:t>A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</a:rPr>
              <a:t>                </a:t>
            </a:r>
            <a:r>
              <a:rPr lang="zh-CN" altLang="en-US">
                <a:solidFill>
                  <a:schemeClr val="tx1"/>
                </a:solidFill>
              </a:rPr>
              <a:t>小写英文字母 </a:t>
            </a:r>
            <a:r>
              <a:rPr lang="en-US" altLang="zh-CN">
                <a:solidFill>
                  <a:schemeClr val="tx1"/>
                </a:solidFill>
              </a:rPr>
              <a:t>—— </a:t>
            </a:r>
            <a:r>
              <a:rPr lang="zh-CN" altLang="en-US">
                <a:solidFill>
                  <a:schemeClr val="tx1"/>
                </a:solidFill>
              </a:rPr>
              <a:t>集合中元素的名称    </a:t>
            </a:r>
            <a:r>
              <a:rPr lang="en-US" altLang="zh-CN">
                <a:solidFill>
                  <a:schemeClr val="tx1"/>
                </a:solidFill>
              </a:rPr>
              <a:t>a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元素与集合的关系：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在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中： </a:t>
            </a:r>
            <a:r>
              <a:rPr lang="en-US" altLang="zh-CN">
                <a:solidFill>
                  <a:schemeClr val="tx1"/>
                </a:solidFill>
              </a:rPr>
              <a:t>a∈ A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</a:rPr>
              <a:t>                                    a</a:t>
            </a:r>
            <a:r>
              <a:rPr lang="zh-CN" altLang="en-US">
                <a:solidFill>
                  <a:schemeClr val="tx1"/>
                </a:solidFill>
              </a:rPr>
              <a:t>不在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中：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</a:t>
            </a:r>
            <a:r>
              <a:rPr lang="en-US" altLang="zh-CN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9751" name="Rectangle 7"/>
          <p:cNvSpPr>
            <a:spLocks noChangeArrowheads="1"/>
          </p:cNvSpPr>
          <p:nvPr/>
        </p:nvSpPr>
        <p:spPr bwMode="auto">
          <a:xfrm>
            <a:off x="1258888" y="390525"/>
            <a:ext cx="417671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一、集合的概念</a:t>
            </a:r>
          </a:p>
        </p:txBody>
      </p:sp>
      <p:sp>
        <p:nvSpPr>
          <p:cNvPr id="159754" name="Rectangle 10"/>
          <p:cNvSpPr>
            <a:spLocks noChangeArrowheads="1"/>
          </p:cNvSpPr>
          <p:nvPr/>
        </p:nvSpPr>
        <p:spPr bwMode="auto">
          <a:xfrm>
            <a:off x="719138" y="4494213"/>
            <a:ext cx="7916862" cy="173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根据集合中元素的个数分为：</a:t>
            </a:r>
          </a:p>
          <a:p>
            <a:pPr>
              <a:lnSpc>
                <a:spcPct val="13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</a:rPr>
              <a:t>          有限集</a:t>
            </a:r>
          </a:p>
          <a:p>
            <a:pPr>
              <a:lnSpc>
                <a:spcPct val="13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</a:rPr>
              <a:t>          无限集</a:t>
            </a:r>
          </a:p>
        </p:txBody>
      </p:sp>
      <p:sp>
        <p:nvSpPr>
          <p:cNvPr id="159755" name="AutoShape 11"/>
          <p:cNvSpPr>
            <a:spLocks/>
          </p:cNvSpPr>
          <p:nvPr/>
        </p:nvSpPr>
        <p:spPr bwMode="auto">
          <a:xfrm>
            <a:off x="1331913" y="5257800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ClrTx/>
              <a:buFontTx/>
              <a:buNone/>
            </a:pPr>
            <a:endParaRPr lang="zh-CN" altLang="zh-CN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4" grpId="0"/>
      <p:bldP spid="15975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295338-88C9-49BB-A2ED-5A4927671BB4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62818" name="Rectangle 2"/>
          <p:cNvSpPr>
            <a:spLocks noChangeArrowheads="1"/>
          </p:cNvSpPr>
          <p:nvPr/>
        </p:nvSpPr>
        <p:spPr bwMode="auto">
          <a:xfrm>
            <a:off x="719138" y="1293813"/>
            <a:ext cx="7916862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>
                <a:solidFill>
                  <a:schemeClr val="hlink"/>
                </a:solidFill>
              </a:rPr>
              <a:t>列举法：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                  全部列举法：</a:t>
            </a:r>
            <a:r>
              <a:rPr lang="en-US" altLang="zh-CN"/>
              <a:t>A={a, b, c, d}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	      </a:t>
            </a:r>
            <a:r>
              <a:rPr lang="zh-CN" altLang="en-US"/>
              <a:t>部分列举法：</a:t>
            </a:r>
            <a:r>
              <a:rPr lang="en-US" altLang="zh-CN"/>
              <a:t>N={1, 2, 3, …}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en-US">
                <a:solidFill>
                  <a:schemeClr val="hlink"/>
                </a:solidFill>
              </a:rPr>
              <a:t>叙述法：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                  直接描述：</a:t>
            </a:r>
            <a:r>
              <a:rPr lang="en-US" altLang="zh-CN"/>
              <a:t>S</a:t>
            </a:r>
            <a:r>
              <a:rPr lang="en-US" altLang="zh-CN" baseline="-25000"/>
              <a:t>1</a:t>
            </a:r>
            <a:r>
              <a:rPr lang="en-US" altLang="zh-CN"/>
              <a:t>={x|x</a:t>
            </a:r>
            <a:r>
              <a:rPr lang="zh-CN" altLang="en-US"/>
              <a:t>是奇数</a:t>
            </a:r>
            <a:r>
              <a:rPr lang="en-US" altLang="zh-CN"/>
              <a:t>}</a:t>
            </a:r>
          </a:p>
          <a:p>
            <a:pPr algn="just">
              <a:lnSpc>
                <a:spcPct val="7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                  </a:t>
            </a:r>
            <a:r>
              <a:rPr lang="zh-CN" altLang="en-US"/>
              <a:t>谓词表示：</a:t>
            </a:r>
            <a:r>
              <a:rPr lang="en-US" altLang="zh-CN"/>
              <a:t>S</a:t>
            </a:r>
            <a:r>
              <a:rPr lang="en-US" altLang="zh-CN" baseline="-25000"/>
              <a:t>2</a:t>
            </a:r>
            <a:r>
              <a:rPr lang="en-US" altLang="zh-CN"/>
              <a:t>={x|p(x)}</a:t>
            </a:r>
            <a:r>
              <a:rPr lang="zh-CN" altLang="en-US"/>
              <a:t>，</a:t>
            </a:r>
            <a:r>
              <a:rPr lang="en-US" altLang="zh-CN"/>
              <a:t>p(x)</a:t>
            </a:r>
            <a:r>
              <a:rPr lang="zh-CN" altLang="en-US"/>
              <a:t>表示</a:t>
            </a:r>
            <a:r>
              <a:rPr lang="en-US" altLang="zh-CN"/>
              <a:t>x</a:t>
            </a:r>
            <a:r>
              <a:rPr lang="zh-CN" altLang="en-US"/>
              <a:t>是奇数</a:t>
            </a:r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719138" y="3959225"/>
            <a:ext cx="7916862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lang="zh-CN" altLang="en-US"/>
              <a:t>任何事物都可以成为集合中的元素。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A={a, {1, 2}, p, {q}, {{p, q}}}</a:t>
            </a:r>
          </a:p>
          <a:p>
            <a:pPr algn="just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/>
              <a:t>判断：</a:t>
            </a:r>
            <a:r>
              <a:rPr lang="en-US" altLang="zh-CN"/>
              <a:t>{1, 2} </a:t>
            </a:r>
            <a:r>
              <a:rPr lang="en-US" altLang="zh-CN">
                <a:solidFill>
                  <a:schemeClr val="tx1"/>
                </a:solidFill>
              </a:rPr>
              <a:t>∈</a:t>
            </a:r>
            <a:r>
              <a:rPr lang="en-US" altLang="zh-CN"/>
              <a:t>A</a:t>
            </a:r>
            <a:r>
              <a:rPr lang="zh-CN" altLang="en-US"/>
              <a:t>；</a:t>
            </a:r>
            <a:r>
              <a:rPr lang="en-US" altLang="zh-CN"/>
              <a:t>1 </a:t>
            </a:r>
            <a:r>
              <a:rPr lang="en-US" altLang="zh-CN">
                <a:solidFill>
                  <a:schemeClr val="tx1"/>
                </a:solidFill>
              </a:rPr>
              <a:t>∈ </a:t>
            </a:r>
            <a:r>
              <a:rPr lang="en-US" altLang="zh-CN"/>
              <a:t>{1, 2}</a:t>
            </a:r>
            <a:r>
              <a:rPr lang="zh-CN" altLang="en-US"/>
              <a:t>；</a:t>
            </a:r>
            <a:r>
              <a:rPr lang="en-US" altLang="zh-CN"/>
              <a:t>1 </a:t>
            </a:r>
            <a:r>
              <a:rPr lang="en-US" altLang="zh-CN">
                <a:solidFill>
                  <a:schemeClr val="tx1"/>
                </a:solidFill>
              </a:rPr>
              <a:t>∈</a:t>
            </a:r>
            <a:r>
              <a:rPr lang="en-US" altLang="zh-CN"/>
              <a:t>A</a:t>
            </a:r>
            <a:r>
              <a:rPr lang="zh-CN" altLang="en-US"/>
              <a:t>；</a:t>
            </a:r>
            <a:r>
              <a:rPr lang="en-US" altLang="zh-CN"/>
              <a:t>{p, q} </a:t>
            </a:r>
            <a:r>
              <a:rPr lang="en-US" altLang="zh-CN">
                <a:solidFill>
                  <a:schemeClr val="tx1"/>
                </a:solidFill>
              </a:rPr>
              <a:t>∈</a:t>
            </a:r>
            <a:r>
              <a:rPr lang="en-US" altLang="zh-CN"/>
              <a:t>A</a:t>
            </a:r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1331913" y="404813"/>
            <a:ext cx="511175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二、集合的表示法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C7CC5A-6F25-47AC-9EAE-3ACA3DEE72EE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719138" y="1412875"/>
            <a:ext cx="7916862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</a:pPr>
            <a:r>
              <a:rPr kumimoji="0" lang="zh-CN" altLang="en-US">
                <a:solidFill>
                  <a:schemeClr val="hlink"/>
                </a:solidFill>
              </a:rPr>
              <a:t>集合相等的定义</a:t>
            </a:r>
          </a:p>
          <a:p>
            <a:pPr>
              <a:spcBef>
                <a:spcPct val="50000"/>
              </a:spcBef>
              <a:buClrTx/>
              <a:buFont typeface="Wingdings" pitchFamily="2" charset="2"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外</a:t>
            </a:r>
            <a:r>
              <a:rPr lang="zh-CN" altLang="en-US">
                <a:solidFill>
                  <a:schemeClr val="hlink"/>
                </a:solidFill>
              </a:rPr>
              <a:t>延性原理：</a:t>
            </a:r>
            <a:r>
              <a:rPr lang="zh-CN" altLang="en-US"/>
              <a:t>两个集合相等，</a:t>
            </a:r>
            <a:r>
              <a:rPr lang="zh-CN" altLang="en-US" u="sng"/>
              <a:t>当且仅当</a:t>
            </a:r>
            <a:r>
              <a:rPr lang="zh-CN" altLang="en-US"/>
              <a:t>它们有相同的元素。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相等     </a:t>
            </a:r>
            <a:r>
              <a:rPr lang="en-US" altLang="zh-CN"/>
              <a:t>A </a:t>
            </a:r>
            <a:r>
              <a:rPr lang="en-US" altLang="zh-CN">
                <a:latin typeface="宋体" charset="-122"/>
              </a:rPr>
              <a:t>= </a:t>
            </a:r>
            <a:r>
              <a:rPr lang="en-US" altLang="zh-CN"/>
              <a:t>B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不相等 </a:t>
            </a:r>
            <a:r>
              <a:rPr lang="en-US" altLang="zh-CN"/>
              <a:t>A</a:t>
            </a:r>
            <a:r>
              <a:rPr lang="en-US" altLang="zh-CN">
                <a:cs typeface="Times New Roman" pitchFamily="18" charset="0"/>
              </a:rPr>
              <a:t>≠ B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  <a:cs typeface="Times New Roman" pitchFamily="18" charset="0"/>
              </a:rPr>
              <a:t>例</a:t>
            </a:r>
            <a:r>
              <a:rPr lang="en-US" altLang="zh-CN">
                <a:solidFill>
                  <a:schemeClr val="hlink"/>
                </a:solidFill>
                <a:cs typeface="Times New Roman" pitchFamily="18" charset="0"/>
              </a:rPr>
              <a:t>2</a:t>
            </a:r>
            <a:r>
              <a:rPr lang="zh-CN" altLang="en-US">
                <a:solidFill>
                  <a:schemeClr val="hlink"/>
                </a:solidFill>
                <a:cs typeface="Times New Roman" pitchFamily="18" charset="0"/>
              </a:rPr>
              <a:t>：</a:t>
            </a:r>
            <a:r>
              <a:rPr lang="en-US" altLang="zh-CN">
                <a:cs typeface="Times New Roman" pitchFamily="18" charset="0"/>
              </a:rPr>
              <a:t>A</a:t>
            </a:r>
            <a:r>
              <a:rPr lang="zh-CN" altLang="en-US">
                <a:cs typeface="Times New Roman" pitchFamily="18" charset="0"/>
              </a:rPr>
              <a:t>是小于</a:t>
            </a:r>
            <a:r>
              <a:rPr lang="en-US" altLang="zh-CN">
                <a:cs typeface="Times New Roman" pitchFamily="18" charset="0"/>
              </a:rPr>
              <a:t>10</a:t>
            </a:r>
            <a:r>
              <a:rPr lang="zh-CN" altLang="en-US">
                <a:cs typeface="Times New Roman" pitchFamily="18" charset="0"/>
              </a:rPr>
              <a:t>的素数集合，</a:t>
            </a:r>
            <a:r>
              <a:rPr lang="en-US" altLang="zh-CN">
                <a:cs typeface="Times New Roman" pitchFamily="18" charset="0"/>
              </a:rPr>
              <a:t>A={2, 3, 5, 7}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cs typeface="Times New Roman" pitchFamily="18" charset="0"/>
              </a:rPr>
              <a:t>        B={x|x</a:t>
            </a:r>
            <a:r>
              <a:rPr lang="en-US" altLang="zh-CN" baseline="30000">
                <a:cs typeface="Times New Roman" pitchFamily="18" charset="0"/>
              </a:rPr>
              <a:t>4</a:t>
            </a:r>
            <a:r>
              <a:rPr lang="en-US" altLang="zh-CN">
                <a:cs typeface="Times New Roman" pitchFamily="18" charset="0"/>
              </a:rPr>
              <a:t>-17x</a:t>
            </a:r>
            <a:r>
              <a:rPr lang="en-US" altLang="zh-CN" baseline="30000">
                <a:cs typeface="Times New Roman" pitchFamily="18" charset="0"/>
              </a:rPr>
              <a:t>3</a:t>
            </a:r>
            <a:r>
              <a:rPr lang="en-US" altLang="zh-CN">
                <a:cs typeface="Times New Roman" pitchFamily="18" charset="0"/>
              </a:rPr>
              <a:t>+101x</a:t>
            </a:r>
            <a:r>
              <a:rPr lang="en-US" altLang="zh-CN" baseline="30000">
                <a:cs typeface="Times New Roman" pitchFamily="18" charset="0"/>
              </a:rPr>
              <a:t>2</a:t>
            </a:r>
            <a:r>
              <a:rPr lang="en-US" altLang="zh-CN">
                <a:cs typeface="Times New Roman" pitchFamily="18" charset="0"/>
              </a:rPr>
              <a:t>-247x+210=0}={2, 3, 5, 7}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A</a:t>
            </a:r>
            <a:r>
              <a:rPr lang="zh-CN" altLang="en-US"/>
              <a:t>与</a:t>
            </a:r>
            <a:r>
              <a:rPr lang="en-US" altLang="zh-CN"/>
              <a:t>B</a:t>
            </a:r>
            <a:r>
              <a:rPr lang="zh-CN" altLang="en-US"/>
              <a:t>的元素相同，故</a:t>
            </a:r>
            <a:r>
              <a:rPr lang="en-US" altLang="zh-CN"/>
              <a:t>A=B</a:t>
            </a:r>
            <a:r>
              <a:rPr lang="zh-CN" altLang="en-US"/>
              <a:t>。</a:t>
            </a:r>
            <a:endParaRPr lang="zh-CN" altLang="en-US">
              <a:cs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84A450-7182-42B2-B1B5-6430556D4174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71716" name="Rectangle 4"/>
          <p:cNvSpPr>
            <a:spLocks noChangeArrowheads="1"/>
          </p:cNvSpPr>
          <p:nvPr/>
        </p:nvSpPr>
        <p:spPr bwMode="auto">
          <a:xfrm>
            <a:off x="719138" y="1414463"/>
            <a:ext cx="7916862" cy="319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  <a:cs typeface="Times New Roman" pitchFamily="18" charset="0"/>
              </a:rPr>
              <a:t>例</a:t>
            </a:r>
            <a:r>
              <a:rPr lang="en-US" altLang="zh-CN">
                <a:solidFill>
                  <a:schemeClr val="hlink"/>
                </a:solidFill>
                <a:cs typeface="Times New Roman" pitchFamily="18" charset="0"/>
              </a:rPr>
              <a:t>3</a:t>
            </a:r>
            <a:r>
              <a:rPr lang="zh-CN" altLang="en-US">
                <a:solidFill>
                  <a:schemeClr val="hlink"/>
                </a:solidFill>
                <a:cs typeface="Times New Roman" pitchFamily="18" charset="0"/>
              </a:rPr>
              <a:t>：</a:t>
            </a:r>
            <a:r>
              <a:rPr lang="en-US" altLang="zh-CN">
                <a:cs typeface="Times New Roman" pitchFamily="18" charset="0"/>
              </a:rPr>
              <a:t>{1, 2, 4}</a:t>
            </a:r>
            <a:r>
              <a:rPr lang="en-US" altLang="zh-CN">
                <a:solidFill>
                  <a:srgbClr val="800000"/>
                </a:solidFill>
                <a:cs typeface="Times New Roman" pitchFamily="18" charset="0"/>
              </a:rPr>
              <a:t>=?</a:t>
            </a:r>
            <a:r>
              <a:rPr lang="en-US" altLang="zh-CN">
                <a:cs typeface="Times New Roman" pitchFamily="18" charset="0"/>
              </a:rPr>
              <a:t>{1, 2, 2, 4, 4}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cs typeface="Times New Roman" pitchFamily="18" charset="0"/>
              </a:rPr>
              <a:t>          {{1, 2}, 4}</a:t>
            </a:r>
            <a:r>
              <a:rPr lang="en-US" altLang="zh-CN">
                <a:solidFill>
                  <a:srgbClr val="800000"/>
                </a:solidFill>
                <a:cs typeface="Times New Roman" pitchFamily="18" charset="0"/>
              </a:rPr>
              <a:t>=?</a:t>
            </a:r>
            <a:r>
              <a:rPr lang="en-US" altLang="zh-CN">
                <a:cs typeface="Times New Roman" pitchFamily="18" charset="0"/>
              </a:rPr>
              <a:t>{1, 2, 4}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zh-CN">
                <a:cs typeface="Times New Roman" pitchFamily="18" charset="0"/>
              </a:rPr>
              <a:t>          {a, b, c, d}</a:t>
            </a:r>
            <a:r>
              <a:rPr kumimoji="0" lang="en-US" altLang="zh-CN">
                <a:solidFill>
                  <a:srgbClr val="800000"/>
                </a:solidFill>
                <a:cs typeface="Times New Roman" pitchFamily="18" charset="0"/>
              </a:rPr>
              <a:t>=? </a:t>
            </a:r>
            <a:r>
              <a:rPr kumimoji="0" lang="en-US" altLang="zh-CN"/>
              <a:t>{d, c, a, b}</a:t>
            </a:r>
            <a:endParaRPr kumimoji="0" lang="en-US" altLang="zh-CN">
              <a:cs typeface="Times New Roman" pitchFamily="18" charset="0"/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集合的特征</a:t>
            </a:r>
          </a:p>
          <a:p>
            <a:pPr>
              <a:spcBef>
                <a:spcPct val="50000"/>
              </a:spcBef>
              <a:buClr>
                <a:schemeClr val="hlink"/>
              </a:buClr>
            </a:pPr>
            <a:r>
              <a:rPr lang="zh-CN" altLang="en-US">
                <a:solidFill>
                  <a:schemeClr val="hlink"/>
                </a:solidFill>
              </a:rPr>
              <a:t>互异性</a:t>
            </a:r>
            <a:r>
              <a:rPr lang="zh-CN" altLang="en-US">
                <a:solidFill>
                  <a:schemeClr val="tx1"/>
                </a:solidFill>
              </a:rPr>
              <a:t>   </a:t>
            </a:r>
            <a:r>
              <a:rPr lang="en-US" altLang="zh-CN">
                <a:solidFill>
                  <a:schemeClr val="tx1"/>
                </a:solidFill>
              </a:rPr>
              <a:t>{1, 2, 3, 2, 4}= {1, 2, 3, 4}</a:t>
            </a:r>
          </a:p>
          <a:p>
            <a:pPr>
              <a:spcBef>
                <a:spcPct val="50000"/>
              </a:spcBef>
              <a:buClr>
                <a:schemeClr val="hlink"/>
              </a:buClr>
            </a:pPr>
            <a:r>
              <a:rPr lang="zh-CN" altLang="en-US">
                <a:solidFill>
                  <a:schemeClr val="hlink"/>
                </a:solidFill>
              </a:rPr>
              <a:t>无序性  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{4, 2, 1, 3 }= {1, 2, 3, 4}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C7B5C2-E1C2-4F37-915C-137CB92A4DD8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64866" name="Rectangle 2"/>
          <p:cNvSpPr>
            <a:spLocks noChangeArrowheads="1"/>
          </p:cNvSpPr>
          <p:nvPr/>
        </p:nvSpPr>
        <p:spPr bwMode="auto">
          <a:xfrm>
            <a:off x="719138" y="1370013"/>
            <a:ext cx="7916862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（</a:t>
            </a:r>
            <a:r>
              <a:rPr kumimoji="0" lang="en-US" altLang="zh-CN">
                <a:solidFill>
                  <a:schemeClr val="hlink"/>
                </a:solidFill>
              </a:rPr>
              <a:t>1</a:t>
            </a:r>
            <a:r>
              <a:rPr kumimoji="0" lang="zh-CN" altLang="en-US">
                <a:solidFill>
                  <a:schemeClr val="hlink"/>
                </a:solidFill>
              </a:rPr>
              <a:t>）子</a:t>
            </a:r>
            <a:r>
              <a:rPr lang="zh-CN" altLang="en-US">
                <a:solidFill>
                  <a:schemeClr val="hlink"/>
                </a:solidFill>
              </a:rPr>
              <a:t>集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3-1.1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是任意两个集合，假如</a:t>
            </a:r>
            <a:r>
              <a:rPr lang="en-US" altLang="zh-CN"/>
              <a:t>A</a:t>
            </a:r>
            <a:r>
              <a:rPr lang="zh-CN" altLang="en-US"/>
              <a:t>的每一个元素是</a:t>
            </a:r>
            <a:r>
              <a:rPr lang="en-US" altLang="zh-CN"/>
              <a:t>B</a:t>
            </a:r>
            <a:r>
              <a:rPr lang="zh-CN" altLang="en-US"/>
              <a:t>的成员，则称</a:t>
            </a:r>
            <a:r>
              <a:rPr lang="en-US" altLang="zh-CN"/>
              <a:t>A</a:t>
            </a:r>
            <a:r>
              <a:rPr lang="zh-CN" altLang="en-US"/>
              <a:t>为</a:t>
            </a:r>
            <a:r>
              <a:rPr lang="en-US" altLang="zh-CN"/>
              <a:t>B</a:t>
            </a:r>
            <a:r>
              <a:rPr lang="zh-CN" altLang="en-US"/>
              <a:t>的子集（或</a:t>
            </a:r>
            <a:r>
              <a:rPr lang="en-US" altLang="zh-CN"/>
              <a:t>A</a:t>
            </a:r>
            <a:r>
              <a:rPr lang="zh-CN" altLang="en-US"/>
              <a:t>包含在</a:t>
            </a:r>
            <a:r>
              <a:rPr lang="en-US" altLang="zh-CN"/>
              <a:t>B</a:t>
            </a:r>
            <a:r>
              <a:rPr lang="zh-CN" altLang="en-US"/>
              <a:t>内，也或</a:t>
            </a:r>
            <a:r>
              <a:rPr lang="en-US" altLang="zh-CN"/>
              <a:t>B</a:t>
            </a:r>
            <a:r>
              <a:rPr lang="zh-CN" altLang="en-US"/>
              <a:t>包含</a:t>
            </a:r>
            <a:r>
              <a:rPr lang="en-US" altLang="zh-CN"/>
              <a:t>A</a:t>
            </a:r>
            <a:r>
              <a:rPr lang="zh-CN" altLang="en-US"/>
              <a:t>）。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记作：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</a:t>
            </a:r>
            <a:r>
              <a:rPr lang="zh-CN" altLang="en-US"/>
              <a:t>，或 </a:t>
            </a:r>
            <a:r>
              <a:rPr lang="en-US" altLang="zh-CN"/>
              <a:t>B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A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</a:rPr>
              <a:t>如果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不被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包含，则记作</a:t>
            </a:r>
            <a:r>
              <a:rPr lang="en-US" altLang="zh-CN">
                <a:solidFill>
                  <a:schemeClr val="tx1"/>
                </a:solidFill>
              </a:rPr>
              <a:t>B     A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形式化表示为： 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 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</a:t>
            </a:r>
            <a:r>
              <a:rPr lang="en-US" altLang="zh-CN">
                <a:sym typeface="Symbol" pitchFamily="18" charset="2"/>
              </a:rPr>
              <a:t> 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Symbol" pitchFamily="18" charset="2"/>
              </a:rPr>
              <a:t>)(x</a:t>
            </a:r>
            <a:r>
              <a:rPr lang="en-US" altLang="zh-CN"/>
              <a:t>∈A</a:t>
            </a:r>
            <a:r>
              <a:rPr kumimoji="0" lang="en-US" altLang="zh-CN">
                <a:sym typeface="Wingdings" pitchFamily="2" charset="2"/>
              </a:rPr>
              <a:t>→x</a:t>
            </a:r>
            <a:r>
              <a:rPr lang="en-US" altLang="zh-CN"/>
              <a:t>∈B</a:t>
            </a:r>
            <a:r>
              <a:rPr lang="en-US" altLang="zh-CN">
                <a:sym typeface="Symbol" pitchFamily="18" charset="2"/>
              </a:rPr>
              <a:t>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4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A={1, 2, 3}</a:t>
            </a:r>
            <a:r>
              <a:rPr lang="zh-CN" altLang="en-US"/>
              <a:t>；</a:t>
            </a:r>
            <a:r>
              <a:rPr lang="en-US" altLang="zh-CN"/>
              <a:t>B={1, 2}</a:t>
            </a:r>
            <a:r>
              <a:rPr lang="zh-CN" altLang="en-US"/>
              <a:t>；</a:t>
            </a:r>
            <a:r>
              <a:rPr lang="en-US" altLang="zh-CN"/>
              <a:t>C={3}</a:t>
            </a:r>
            <a:r>
              <a:rPr lang="zh-CN" altLang="en-US"/>
              <a:t>；</a:t>
            </a:r>
            <a:r>
              <a:rPr lang="en-US" altLang="zh-CN"/>
              <a:t>D={4}</a:t>
            </a:r>
            <a:r>
              <a:rPr lang="zh-CN" altLang="en-US"/>
              <a:t>集合之间的关系？</a:t>
            </a:r>
          </a:p>
        </p:txBody>
      </p:sp>
      <p:sp>
        <p:nvSpPr>
          <p:cNvPr id="164868" name="Rectangle 4"/>
          <p:cNvSpPr>
            <a:spLocks noChangeArrowheads="1"/>
          </p:cNvSpPr>
          <p:nvPr/>
        </p:nvSpPr>
        <p:spPr bwMode="auto">
          <a:xfrm>
            <a:off x="1258888" y="473075"/>
            <a:ext cx="56181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三、经常用到的基本概念</a:t>
            </a:r>
          </a:p>
        </p:txBody>
      </p:sp>
      <p:grpSp>
        <p:nvGrpSpPr>
          <p:cNvPr id="164869" name="Group 5"/>
          <p:cNvGrpSpPr>
            <a:grpSpLocks/>
          </p:cNvGrpSpPr>
          <p:nvPr/>
        </p:nvGrpSpPr>
        <p:grpSpPr bwMode="auto">
          <a:xfrm>
            <a:off x="4475163" y="3744913"/>
            <a:ext cx="457200" cy="519112"/>
            <a:chOff x="4944" y="3168"/>
            <a:chExt cx="288" cy="327"/>
          </a:xfrm>
        </p:grpSpPr>
        <p:sp>
          <p:nvSpPr>
            <p:cNvPr id="164870" name="Text Box 6"/>
            <p:cNvSpPr txBox="1">
              <a:spLocks noChangeArrowheads="1"/>
            </p:cNvSpPr>
            <p:nvPr/>
          </p:nvSpPr>
          <p:spPr bwMode="auto">
            <a:xfrm>
              <a:off x="4944" y="3168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Arial" charset="0"/>
                  <a:sym typeface="Symbol" pitchFamily="18" charset="2"/>
                </a:rPr>
                <a:t></a:t>
              </a:r>
            </a:p>
          </p:txBody>
        </p:sp>
        <p:sp>
          <p:nvSpPr>
            <p:cNvPr id="164871" name="Line 7"/>
            <p:cNvSpPr>
              <a:spLocks noChangeShapeType="1"/>
            </p:cNvSpPr>
            <p:nvPr/>
          </p:nvSpPr>
          <p:spPr bwMode="auto">
            <a:xfrm flipH="1">
              <a:off x="5073" y="3264"/>
              <a:ext cx="63" cy="2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6E17CB-82FB-4B70-8CA5-267BE3F4E09D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719138" y="1317625"/>
            <a:ext cx="7916862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宋体" charset="-122"/>
              </a:rPr>
              <a:t>性质 </a:t>
            </a:r>
            <a:r>
              <a:rPr lang="zh-CN" altLang="en-US">
                <a:latin typeface="宋体" charset="-122"/>
              </a:rPr>
              <a:t>   自反性   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A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latin typeface="宋体" charset="-122"/>
              </a:rPr>
              <a:t>        </a:t>
            </a:r>
            <a:r>
              <a:rPr lang="zh-CN" altLang="en-US">
                <a:latin typeface="宋体" charset="-122"/>
              </a:rPr>
              <a:t>传递性   </a:t>
            </a:r>
            <a:r>
              <a:rPr lang="en-US" altLang="zh-CN"/>
              <a:t>(A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B)∧(B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C)</a:t>
            </a:r>
            <a:r>
              <a:rPr kumimoji="0" lang="en-US" altLang="zh-CN">
                <a:sym typeface="Symbol" pitchFamily="18" charset="2"/>
              </a:rPr>
              <a:t>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C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3-1.1</a:t>
            </a:r>
            <a:r>
              <a:rPr lang="en-US" altLang="zh-CN"/>
              <a:t>  </a:t>
            </a:r>
            <a:r>
              <a:rPr lang="zh-CN" altLang="en-US"/>
              <a:t>集合</a:t>
            </a:r>
            <a:r>
              <a:rPr lang="en-US" altLang="zh-CN"/>
              <a:t>A</a:t>
            </a:r>
            <a:r>
              <a:rPr lang="zh-CN" altLang="en-US"/>
              <a:t>和集合</a:t>
            </a:r>
            <a:r>
              <a:rPr lang="en-US" altLang="zh-CN"/>
              <a:t>B </a:t>
            </a:r>
            <a:r>
              <a:rPr lang="zh-CN" altLang="en-US"/>
              <a:t>相等的充要条件是这两个集合互为子集。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证明：先证必要性</a:t>
            </a:r>
            <a:r>
              <a:rPr lang="zh-CN" altLang="en-US">
                <a:latin typeface="Lucida Sans Unicode" pitchFamily="34" charset="0"/>
              </a:rPr>
              <a:t>   </a:t>
            </a:r>
            <a:r>
              <a:rPr lang="en-US" altLang="zh-CN"/>
              <a:t>A=B</a:t>
            </a:r>
            <a:r>
              <a:rPr kumimoji="0" lang="en-US" altLang="zh-CN">
                <a:sym typeface="Symbol" pitchFamily="18" charset="2"/>
              </a:rPr>
              <a:t>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B∧B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A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latin typeface="Lucida Sans Unicode" pitchFamily="34" charset="0"/>
              </a:rPr>
              <a:t>         </a:t>
            </a:r>
            <a:r>
              <a:rPr lang="zh-CN" altLang="en-US"/>
              <a:t>再证充分性     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B∧B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A</a:t>
            </a:r>
            <a:r>
              <a:rPr kumimoji="0" lang="en-US" altLang="zh-CN">
                <a:sym typeface="Symbol" pitchFamily="18" charset="2"/>
              </a:rPr>
              <a:t>A=B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A=B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</a:t>
            </a:r>
            <a:r>
              <a:rPr lang="en-US" altLang="zh-CN">
                <a:sym typeface="Symbol" pitchFamily="18" charset="2"/>
              </a:rPr>
              <a:t>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Symbol" pitchFamily="18" charset="2"/>
              </a:rPr>
              <a:t>)(x</a:t>
            </a:r>
            <a:r>
              <a:rPr lang="en-US" altLang="zh-CN"/>
              <a:t>∈A</a:t>
            </a:r>
            <a:r>
              <a:rPr kumimoji="0" lang="en-US" altLang="zh-CN">
                <a:sym typeface="Wingdings" pitchFamily="2" charset="2"/>
              </a:rPr>
              <a:t>→x</a:t>
            </a:r>
            <a:r>
              <a:rPr lang="en-US" altLang="zh-CN"/>
              <a:t>∈B</a:t>
            </a:r>
            <a:r>
              <a:rPr lang="en-US" altLang="zh-CN">
                <a:sym typeface="Symbol" pitchFamily="18" charset="2"/>
              </a:rPr>
              <a:t>)</a:t>
            </a:r>
            <a:r>
              <a:rPr lang="en-US" altLang="zh-CN"/>
              <a:t>∧</a:t>
            </a:r>
            <a:r>
              <a:rPr lang="en-US" altLang="zh-CN">
                <a:sym typeface="Symbol" pitchFamily="18" charset="2"/>
              </a:rPr>
              <a:t>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Symbol" pitchFamily="18" charset="2"/>
              </a:rPr>
              <a:t>)(x</a:t>
            </a:r>
            <a:r>
              <a:rPr lang="en-US" altLang="zh-CN"/>
              <a:t>∈B</a:t>
            </a:r>
            <a:r>
              <a:rPr kumimoji="0" lang="en-US" altLang="zh-CN">
                <a:sym typeface="Wingdings" pitchFamily="2" charset="2"/>
              </a:rPr>
              <a:t>→x</a:t>
            </a:r>
            <a:r>
              <a:rPr lang="en-US" altLang="zh-CN"/>
              <a:t>∈A</a:t>
            </a:r>
            <a:r>
              <a:rPr lang="en-US" altLang="zh-CN">
                <a:sym typeface="Symbol" pitchFamily="18" charset="2"/>
              </a:rPr>
              <a:t>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        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B∧B</a:t>
            </a:r>
            <a:r>
              <a:rPr lang="en-US" altLang="zh-CN">
                <a:ea typeface="黑体" pitchFamily="49" charset="-122"/>
                <a:sym typeface="Symbol" pitchFamily="18" charset="2"/>
              </a:rPr>
              <a:t></a:t>
            </a:r>
            <a:r>
              <a:rPr lang="en-US" altLang="zh-CN"/>
              <a:t>A</a:t>
            </a:r>
          </a:p>
        </p:txBody>
      </p:sp>
      <p:sp>
        <p:nvSpPr>
          <p:cNvPr id="172037" name="AutoShape 5"/>
          <p:cNvSpPr>
            <a:spLocks noChangeArrowheads="1"/>
          </p:cNvSpPr>
          <p:nvPr/>
        </p:nvSpPr>
        <p:spPr bwMode="auto">
          <a:xfrm>
            <a:off x="5435600" y="3716338"/>
            <a:ext cx="2438400" cy="1752600"/>
          </a:xfrm>
          <a:prstGeom prst="wedgeRoundRectCallout">
            <a:avLst>
              <a:gd name="adj1" fmla="val -211458"/>
              <a:gd name="adj2" fmla="val -104440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buClrTx/>
              <a:buFontTx/>
              <a:buNone/>
            </a:pPr>
            <a:r>
              <a:rPr kumimoji="0" lang="zh-CN" altLang="en-US" sz="3200">
                <a:solidFill>
                  <a:schemeClr val="hlink"/>
                </a:solidFill>
                <a:latin typeface="Arial" charset="0"/>
              </a:rPr>
              <a:t>证明两个集合相等的有利依据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08EEB7-0AB2-418E-AE7C-039BA12A033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65890" name="Rectangle 2"/>
          <p:cNvSpPr>
            <a:spLocks noChangeArrowheads="1"/>
          </p:cNvSpPr>
          <p:nvPr/>
        </p:nvSpPr>
        <p:spPr bwMode="auto">
          <a:xfrm>
            <a:off x="719138" y="1370013"/>
            <a:ext cx="7916862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（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）真子集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3-1.2</a:t>
            </a:r>
            <a:r>
              <a:rPr lang="en-US" altLang="zh-CN"/>
              <a:t>  </a:t>
            </a:r>
            <a:r>
              <a:rPr lang="zh-CN" altLang="en-US"/>
              <a:t>如果集合</a:t>
            </a:r>
            <a:r>
              <a:rPr lang="en-US" altLang="zh-CN"/>
              <a:t>A</a:t>
            </a:r>
            <a:r>
              <a:rPr lang="zh-CN" altLang="en-US"/>
              <a:t>的每一个元素都属于</a:t>
            </a:r>
            <a:r>
              <a:rPr lang="en-US" altLang="zh-CN"/>
              <a:t>B</a:t>
            </a:r>
            <a:r>
              <a:rPr lang="zh-CN" altLang="en-US"/>
              <a:t>，但集合</a:t>
            </a:r>
            <a:r>
              <a:rPr lang="en-US" altLang="zh-CN"/>
              <a:t>B</a:t>
            </a:r>
            <a:r>
              <a:rPr lang="zh-CN" altLang="en-US"/>
              <a:t>中至少有一个元素不属于</a:t>
            </a:r>
            <a:r>
              <a:rPr lang="en-US" altLang="zh-CN"/>
              <a:t>A</a:t>
            </a:r>
            <a:r>
              <a:rPr lang="zh-CN" altLang="en-US"/>
              <a:t>，称</a:t>
            </a:r>
            <a:r>
              <a:rPr lang="en-US" altLang="zh-CN"/>
              <a:t>A</a:t>
            </a:r>
            <a:r>
              <a:rPr lang="zh-CN" altLang="en-US"/>
              <a:t>为</a:t>
            </a:r>
            <a:r>
              <a:rPr lang="en-US" altLang="zh-CN"/>
              <a:t>B</a:t>
            </a:r>
            <a:r>
              <a:rPr lang="zh-CN" altLang="en-US"/>
              <a:t>的真子集。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记作：</a:t>
            </a:r>
            <a:r>
              <a:rPr lang="en-US" altLang="zh-CN"/>
              <a:t>A</a:t>
            </a:r>
            <a:r>
              <a:rPr lang="en-US" altLang="zh-CN" b="0">
                <a:sym typeface="Symbol" pitchFamily="18" charset="2"/>
              </a:rPr>
              <a:t></a:t>
            </a:r>
            <a:r>
              <a:rPr lang="en-US" altLang="zh-CN"/>
              <a:t>B</a:t>
            </a:r>
            <a:r>
              <a:rPr lang="zh-CN" altLang="en-US"/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</a:rPr>
              <a:t>如果</a:t>
            </a:r>
            <a:r>
              <a:rPr lang="en-US" altLang="zh-CN">
                <a:solidFill>
                  <a:schemeClr val="tx1"/>
                </a:solidFill>
              </a:rPr>
              <a:t>B</a:t>
            </a:r>
            <a:r>
              <a:rPr lang="zh-CN" altLang="en-US">
                <a:solidFill>
                  <a:schemeClr val="tx1"/>
                </a:solidFill>
              </a:rPr>
              <a:t>不被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真包含，则记作 </a:t>
            </a:r>
            <a:r>
              <a:rPr lang="en-US" altLang="zh-CN">
                <a:solidFill>
                  <a:schemeClr val="tx1"/>
                </a:solidFill>
              </a:rPr>
              <a:t>A 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</a:t>
            </a:r>
            <a:r>
              <a:rPr lang="en-US" altLang="zh-CN">
                <a:solidFill>
                  <a:schemeClr val="tx1"/>
                </a:solidFill>
              </a:rPr>
              <a:t> B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形式化表示：</a:t>
            </a:r>
            <a:r>
              <a:rPr lang="en-US" altLang="zh-CN"/>
              <a:t>A</a:t>
            </a:r>
            <a:r>
              <a:rPr lang="en-US" altLang="zh-CN" b="0">
                <a:sym typeface="Symbol" pitchFamily="18" charset="2"/>
              </a:rPr>
              <a:t></a:t>
            </a:r>
            <a:r>
              <a:rPr lang="en-US" altLang="zh-CN"/>
              <a:t>B</a:t>
            </a:r>
            <a:r>
              <a:rPr kumimoji="0" lang="en-US" altLang="zh-CN">
                <a:sym typeface="Symbol" pitchFamily="18" charset="2"/>
              </a:rPr>
              <a:t>(x)(x</a:t>
            </a:r>
            <a:r>
              <a:rPr lang="en-US" altLang="zh-CN"/>
              <a:t>∈A</a:t>
            </a:r>
            <a:r>
              <a:rPr kumimoji="0" lang="en-US" altLang="zh-CN">
                <a:sym typeface="Wingdings" pitchFamily="2" charset="2"/>
              </a:rPr>
              <a:t>→x</a:t>
            </a:r>
            <a:r>
              <a:rPr lang="en-US" altLang="zh-CN"/>
              <a:t>∈B</a:t>
            </a:r>
            <a:r>
              <a:rPr kumimoji="0" lang="en-US" altLang="zh-CN">
                <a:sym typeface="Symbol" pitchFamily="18" charset="2"/>
              </a:rPr>
              <a:t>)</a:t>
            </a:r>
            <a:r>
              <a:rPr kumimoji="0" lang="en-US" altLang="zh-CN"/>
              <a:t>∧(</a:t>
            </a:r>
            <a:r>
              <a:rPr kumimoji="0" lang="en-US" altLang="zh-CN">
                <a:sym typeface="Symbol" pitchFamily="18" charset="2"/>
              </a:rPr>
              <a:t>x</a:t>
            </a:r>
            <a:r>
              <a:rPr kumimoji="0" lang="en-US" altLang="zh-CN"/>
              <a:t>)(x</a:t>
            </a:r>
            <a:r>
              <a:rPr lang="en-US" altLang="zh-CN"/>
              <a:t>∈B</a:t>
            </a:r>
            <a:r>
              <a:rPr kumimoji="0" lang="en-US" altLang="zh-CN"/>
              <a:t>∧x</a:t>
            </a:r>
            <a:r>
              <a:rPr lang="en-US" altLang="zh-CN">
                <a:sym typeface="Symbol" pitchFamily="18" charset="2"/>
              </a:rPr>
              <a:t>A</a:t>
            </a:r>
            <a:r>
              <a:rPr kumimoji="0" lang="en-US" altLang="zh-CN"/>
              <a:t>)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kumimoji="0" lang="en-US" altLang="zh-CN"/>
              <a:t>	      </a:t>
            </a:r>
            <a:r>
              <a:rPr kumimoji="0" lang="zh-CN" altLang="en-US"/>
              <a:t>或  </a:t>
            </a:r>
            <a:r>
              <a:rPr lang="en-US" altLang="zh-CN"/>
              <a:t>A</a:t>
            </a:r>
            <a:r>
              <a:rPr lang="en-US" altLang="zh-CN" b="0">
                <a:sym typeface="Symbol" pitchFamily="18" charset="2"/>
              </a:rPr>
              <a:t></a:t>
            </a:r>
            <a:r>
              <a:rPr lang="en-US" altLang="zh-CN"/>
              <a:t>B </a:t>
            </a:r>
            <a:r>
              <a:rPr kumimoji="0" lang="en-US" altLang="zh-CN">
                <a:sym typeface="Symbol" pitchFamily="18" charset="2"/>
              </a:rPr>
              <a:t>A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 b="0"/>
              <a:t>B</a:t>
            </a:r>
            <a:r>
              <a:rPr kumimoji="0" lang="en-US" altLang="zh-CN"/>
              <a:t>∧A</a:t>
            </a:r>
            <a:r>
              <a:rPr lang="en-US" altLang="zh-CN"/>
              <a:t>≠B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5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整数集是有理数集的真子集，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  自然数集是整数集的真子集。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D2D546-0826-458D-87A4-0D565E99864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719138" y="1341438"/>
            <a:ext cx="791686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（</a:t>
            </a:r>
            <a:r>
              <a:rPr kumimoji="0" lang="en-US" altLang="zh-CN">
                <a:solidFill>
                  <a:schemeClr val="hlink"/>
                </a:solidFill>
              </a:rPr>
              <a:t>3</a:t>
            </a:r>
            <a:r>
              <a:rPr kumimoji="0" lang="zh-CN" altLang="en-US">
                <a:solidFill>
                  <a:schemeClr val="hlink"/>
                </a:solidFill>
              </a:rPr>
              <a:t>）空集</a:t>
            </a:r>
            <a:r>
              <a:rPr kumimoji="0" lang="zh-CN" altLang="en-US" b="0">
                <a:solidFill>
                  <a:schemeClr val="hlink"/>
                </a:solidFill>
              </a:rPr>
              <a:t> </a:t>
            </a:r>
            <a:r>
              <a:rPr lang="zh-CN" altLang="en-US" b="0">
                <a:solidFill>
                  <a:schemeClr val="hlink"/>
                </a:solidFill>
              </a:rPr>
              <a:t>  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3-1.3</a:t>
            </a:r>
            <a:r>
              <a:rPr lang="en-US" altLang="zh-CN">
                <a:solidFill>
                  <a:schemeClr val="tx1"/>
                </a:solidFill>
              </a:rPr>
              <a:t>  </a:t>
            </a:r>
            <a:r>
              <a:rPr lang="zh-CN" altLang="en-US"/>
              <a:t>不包含任何元素的集合是空集，记为</a:t>
            </a:r>
            <a:r>
              <a:rPr lang="zh-CN" altLang="en-US">
                <a:latin typeface="Arial" charset="0"/>
                <a:sym typeface="Symbol" pitchFamily="18" charset="2"/>
              </a:rPr>
              <a:t></a:t>
            </a:r>
            <a:r>
              <a:rPr lang="zh-CN" altLang="en-US"/>
              <a:t>。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形式化表示：</a:t>
            </a:r>
            <a:r>
              <a:rPr lang="zh-CN" altLang="en-US">
                <a:latin typeface="Arial" charset="0"/>
              </a:rPr>
              <a:t> </a:t>
            </a:r>
            <a:r>
              <a:rPr lang="zh-CN" altLang="en-US">
                <a:sym typeface="Symbol" pitchFamily="18" charset="2"/>
              </a:rPr>
              <a:t></a:t>
            </a:r>
            <a:r>
              <a:rPr lang="en-US" altLang="zh-CN">
                <a:sym typeface="Symbol" pitchFamily="18" charset="2"/>
              </a:rPr>
              <a:t>={x|p(x)</a:t>
            </a:r>
            <a:r>
              <a:rPr kumimoji="0" lang="en-US" altLang="zh-CN"/>
              <a:t>∧┐p(x)</a:t>
            </a:r>
            <a:r>
              <a:rPr lang="en-US" altLang="zh-CN">
                <a:sym typeface="Symbol" pitchFamily="18" charset="2"/>
              </a:rPr>
              <a:t>}</a:t>
            </a:r>
            <a:r>
              <a:rPr lang="zh-CN" altLang="en-US"/>
              <a:t>，其中</a:t>
            </a:r>
            <a:r>
              <a:rPr lang="en-US" altLang="zh-CN"/>
              <a:t>p(x)</a:t>
            </a:r>
            <a:r>
              <a:rPr lang="zh-CN" altLang="en-US"/>
              <a:t>是任意谓词 </a:t>
            </a:r>
          </a:p>
        </p:txBody>
      </p:sp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719138" y="3717925"/>
            <a:ext cx="7916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t"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3-1.2</a:t>
            </a:r>
            <a:r>
              <a:rPr lang="en-US" altLang="zh-CN"/>
              <a:t>  </a:t>
            </a:r>
            <a:r>
              <a:rPr lang="zh-CN" altLang="en-US"/>
              <a:t>任何一个集合</a:t>
            </a:r>
            <a:r>
              <a:rPr lang="en-US" altLang="zh-CN"/>
              <a:t>A</a:t>
            </a:r>
            <a:r>
              <a:rPr lang="zh-CN" altLang="en-US"/>
              <a:t>， </a:t>
            </a:r>
            <a:r>
              <a:rPr lang="zh-CN" altLang="en-US">
                <a:sym typeface="Symbol" pitchFamily="18" charset="2"/>
              </a:rPr>
              <a:t></a:t>
            </a:r>
            <a:r>
              <a:rPr lang="en-US" altLang="zh-CN"/>
              <a:t>A</a:t>
            </a:r>
            <a:r>
              <a:rPr lang="zh-CN" altLang="en-US"/>
              <a:t>。</a:t>
            </a:r>
          </a:p>
        </p:txBody>
      </p:sp>
      <p:sp>
        <p:nvSpPr>
          <p:cNvPr id="166916" name="Rectangle 4"/>
          <p:cNvSpPr>
            <a:spLocks noChangeArrowheads="1"/>
          </p:cNvSpPr>
          <p:nvPr/>
        </p:nvSpPr>
        <p:spPr bwMode="auto">
          <a:xfrm>
            <a:off x="719138" y="4294188"/>
            <a:ext cx="79168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t">
              <a:lnSpc>
                <a:spcPct val="130000"/>
              </a:lnSpc>
              <a:buClr>
                <a:schemeClr val="hlink"/>
              </a:buClr>
            </a:pPr>
            <a:r>
              <a:rPr lang="zh-CN" altLang="en-US"/>
              <a:t>非空集合</a:t>
            </a:r>
            <a:r>
              <a:rPr lang="en-US" altLang="zh-CN"/>
              <a:t>A</a:t>
            </a:r>
            <a:r>
              <a:rPr lang="zh-CN" altLang="en-US"/>
              <a:t>的特殊子集：</a:t>
            </a:r>
            <a:r>
              <a:rPr lang="zh-CN" altLang="en-US">
                <a:sym typeface="Symbol" pitchFamily="18" charset="2"/>
              </a:rPr>
              <a:t>和</a:t>
            </a:r>
            <a:r>
              <a:rPr lang="en-US" altLang="zh-CN">
                <a:sym typeface="Symbol" pitchFamily="18" charset="2"/>
              </a:rPr>
              <a:t>A</a:t>
            </a:r>
            <a:r>
              <a:rPr lang="zh-CN" altLang="en-US">
                <a:sym typeface="Symbol" pitchFamily="18" charset="2"/>
              </a:rPr>
              <a:t>为</a:t>
            </a:r>
            <a:r>
              <a:rPr lang="en-US" altLang="zh-CN">
                <a:sym typeface="Symbol" pitchFamily="18" charset="2"/>
              </a:rPr>
              <a:t>A</a:t>
            </a:r>
            <a:r>
              <a:rPr lang="zh-CN" altLang="en-US">
                <a:sym typeface="Symbol" pitchFamily="18" charset="2"/>
              </a:rPr>
              <a:t>的平凡子集。</a:t>
            </a:r>
          </a:p>
          <a:p>
            <a:pPr fontAlgn="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                                      若</a:t>
            </a:r>
            <a:r>
              <a:rPr lang="en-US" altLang="zh-CN"/>
              <a:t>a∈A</a:t>
            </a:r>
            <a:r>
              <a:rPr lang="zh-CN" altLang="en-US"/>
              <a:t>，则</a:t>
            </a:r>
            <a:r>
              <a:rPr lang="en-US" altLang="zh-CN"/>
              <a:t>{a}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A</a:t>
            </a:r>
            <a:r>
              <a:rPr lang="zh-CN" altLang="en-US"/>
              <a:t>。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719138" y="3070225"/>
            <a:ext cx="7916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</a:pPr>
            <a:r>
              <a:rPr lang="en-US" altLang="zh-CN"/>
              <a:t> </a:t>
            </a:r>
            <a:r>
              <a:rPr lang="en-US" altLang="zh-CN">
                <a:sym typeface="Symbol" pitchFamily="18" charset="2"/>
              </a:rPr>
              <a:t></a:t>
            </a:r>
            <a:r>
              <a:rPr lang="en-US" altLang="zh-CN"/>
              <a:t>≠{</a:t>
            </a:r>
            <a:r>
              <a:rPr lang="en-US" altLang="zh-CN">
                <a:sym typeface="Symbol" pitchFamily="18" charset="2"/>
              </a:rPr>
              <a:t></a:t>
            </a:r>
            <a:r>
              <a:rPr lang="en-US" altLang="zh-CN"/>
              <a:t>} </a:t>
            </a:r>
            <a:r>
              <a:rPr lang="zh-CN" altLang="en-US"/>
              <a:t>但 </a:t>
            </a:r>
            <a:r>
              <a:rPr lang="zh-CN" altLang="en-US">
                <a:sym typeface="Symbol" pitchFamily="18" charset="2"/>
              </a:rPr>
              <a:t></a:t>
            </a:r>
            <a:r>
              <a:rPr lang="zh-CN" altLang="en-US"/>
              <a:t>∈</a:t>
            </a:r>
            <a:r>
              <a:rPr lang="en-US" altLang="zh-CN"/>
              <a:t>{</a:t>
            </a:r>
            <a:r>
              <a:rPr lang="en-US" altLang="zh-CN">
                <a:sym typeface="Symbol" pitchFamily="18" charset="2"/>
              </a:rPr>
              <a:t></a:t>
            </a:r>
            <a:r>
              <a:rPr lang="en-US" altLang="zh-CN"/>
              <a:t>}</a:t>
            </a:r>
            <a:r>
              <a:rPr lang="zh-CN" altLang="en-US"/>
              <a:t>。</a:t>
            </a:r>
          </a:p>
        </p:txBody>
      </p:sp>
    </p:spTree>
    <p:custDataLst>
      <p:tags r:id="rId1"/>
    </p:custDataLst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/>
      <p:bldP spid="166916" grpId="0"/>
      <p:bldP spid="1669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04EA30-4758-4ACD-87CC-BB401BF83AAB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68962" name="Rectangle 2"/>
          <p:cNvSpPr>
            <a:spLocks noChangeArrowheads="1"/>
          </p:cNvSpPr>
          <p:nvPr/>
        </p:nvSpPr>
        <p:spPr bwMode="auto">
          <a:xfrm>
            <a:off x="719138" y="1341438"/>
            <a:ext cx="7916862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（</a:t>
            </a:r>
            <a:r>
              <a:rPr lang="en-US" altLang="zh-CN">
                <a:solidFill>
                  <a:schemeClr val="hlink"/>
                </a:solidFill>
              </a:rPr>
              <a:t>4</a:t>
            </a:r>
            <a:r>
              <a:rPr lang="zh-CN" altLang="en-US">
                <a:solidFill>
                  <a:schemeClr val="hlink"/>
                </a:solidFill>
              </a:rPr>
              <a:t>）全集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3-1.4</a:t>
            </a:r>
            <a:r>
              <a:rPr lang="en-US" altLang="zh-CN"/>
              <a:t>  </a:t>
            </a:r>
            <a:r>
              <a:rPr lang="zh-CN" altLang="en-US"/>
              <a:t>在一定范围内，如果所有集合均为某一集合的子集，则称该集合为全集，记作</a:t>
            </a:r>
            <a:r>
              <a:rPr lang="en-US" altLang="zh-CN"/>
              <a:t>E</a:t>
            </a:r>
            <a:r>
              <a:rPr lang="zh-CN" altLang="en-US"/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形式化表示</a:t>
            </a:r>
            <a:r>
              <a:rPr lang="zh-CN" altLang="en-US">
                <a:sym typeface="Wingdings" pitchFamily="2" charset="2"/>
              </a:rPr>
              <a:t>：</a:t>
            </a:r>
            <a:r>
              <a:rPr lang="en-US" altLang="zh-CN">
                <a:sym typeface="Wingdings" pitchFamily="2" charset="2"/>
              </a:rPr>
              <a:t>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Wingdings" pitchFamily="2" charset="2"/>
              </a:rPr>
              <a:t>)(x</a:t>
            </a:r>
            <a:r>
              <a:rPr lang="en-US" altLang="zh-CN"/>
              <a:t>∈E</a:t>
            </a:r>
            <a:r>
              <a:rPr lang="en-US" altLang="zh-CN">
                <a:sym typeface="Wingdings" pitchFamily="2" charset="2"/>
              </a:rPr>
              <a:t>) </a:t>
            </a:r>
            <a:r>
              <a:rPr kumimoji="0" lang="en-US" altLang="zh-CN">
                <a:sym typeface="Symbol" pitchFamily="18" charset="2"/>
              </a:rPr>
              <a:t>T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ym typeface="Symbol" pitchFamily="18" charset="2"/>
              </a:rPr>
              <a:t>                        E={x|p(x)</a:t>
            </a:r>
            <a:r>
              <a:rPr kumimoji="0" lang="en-US" altLang="zh-CN"/>
              <a:t>∨┐p(x)</a:t>
            </a:r>
            <a:r>
              <a:rPr kumimoji="0" lang="en-US" altLang="zh-CN">
                <a:sym typeface="Symbol" pitchFamily="18" charset="2"/>
              </a:rPr>
              <a:t>}</a:t>
            </a:r>
            <a:r>
              <a:rPr kumimoji="0" lang="zh-CN" altLang="en-US">
                <a:sym typeface="Symbol" pitchFamily="18" charset="2"/>
              </a:rPr>
              <a:t>，其中</a:t>
            </a:r>
            <a:r>
              <a:rPr kumimoji="0" lang="en-US" altLang="zh-CN">
                <a:sym typeface="Symbol" pitchFamily="18" charset="2"/>
              </a:rPr>
              <a:t>p(x)</a:t>
            </a:r>
            <a:r>
              <a:rPr kumimoji="0" lang="zh-CN" altLang="en-US">
                <a:sym typeface="Symbol" pitchFamily="18" charset="2"/>
              </a:rPr>
              <a:t>为任意谓词。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lang="zh-CN" altLang="en-US"/>
              <a:t>全集的概念相当于论域</a:t>
            </a:r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641350" y="4221163"/>
            <a:ext cx="7916863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3538" indent="-3635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2925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6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00000"/>
                </a:solidFill>
              </a:rPr>
              <a:t>设全集</a:t>
            </a:r>
            <a:r>
              <a:rPr lang="en-US" altLang="zh-CN">
                <a:solidFill>
                  <a:srgbClr val="000000"/>
                </a:solidFill>
              </a:rPr>
              <a:t>E={a, b, c}</a:t>
            </a:r>
            <a:r>
              <a:rPr lang="zh-CN" altLang="en-US">
                <a:solidFill>
                  <a:srgbClr val="000000"/>
                </a:solidFill>
              </a:rPr>
              <a:t>，考虑</a:t>
            </a:r>
            <a:r>
              <a:rPr lang="en-US" altLang="zh-CN">
                <a:solidFill>
                  <a:srgbClr val="000000"/>
                </a:solidFill>
              </a:rPr>
              <a:t>E</a:t>
            </a:r>
            <a:r>
              <a:rPr lang="zh-CN" altLang="en-US">
                <a:solidFill>
                  <a:srgbClr val="000000"/>
                </a:solidFill>
              </a:rPr>
              <a:t>的所有可能子集。</a:t>
            </a:r>
          </a:p>
          <a:p>
            <a:pPr algn="just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{a}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{b}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{c}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{a, b}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{b, c}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{a, c}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{a, b, c}</a:t>
            </a:r>
          </a:p>
          <a:p>
            <a:pPr algn="just">
              <a:lnSpc>
                <a:spcPct val="140000"/>
              </a:lnSpc>
              <a:buClr>
                <a:schemeClr val="hlink"/>
              </a:buClr>
            </a:pPr>
            <a:r>
              <a:rPr kumimoji="0" lang="en-US" altLang="zh-CN">
                <a:solidFill>
                  <a:srgbClr val="000000"/>
                </a:solidFill>
              </a:rPr>
              <a:t>3</a:t>
            </a:r>
            <a:r>
              <a:rPr kumimoji="0" lang="zh-CN" altLang="en-US">
                <a:solidFill>
                  <a:srgbClr val="000000"/>
                </a:solidFill>
              </a:rPr>
              <a:t>个不同元素的集合，可以列出</a:t>
            </a:r>
            <a:r>
              <a:rPr kumimoji="0" lang="en-US" altLang="zh-CN">
                <a:solidFill>
                  <a:srgbClr val="000000"/>
                </a:solidFill>
              </a:rPr>
              <a:t>2</a:t>
            </a:r>
            <a:r>
              <a:rPr kumimoji="0" lang="en-US" altLang="zh-CN" baseline="30000">
                <a:solidFill>
                  <a:srgbClr val="000000"/>
                </a:solidFill>
              </a:rPr>
              <a:t>3</a:t>
            </a:r>
            <a:r>
              <a:rPr kumimoji="0" lang="zh-CN" altLang="en-US">
                <a:solidFill>
                  <a:srgbClr val="000000"/>
                </a:solidFill>
              </a:rPr>
              <a:t>个子集，考虑</a:t>
            </a:r>
            <a:r>
              <a:rPr kumimoji="0" lang="en-US" altLang="zh-CN">
                <a:solidFill>
                  <a:srgbClr val="000000"/>
                </a:solidFill>
              </a:rPr>
              <a:t>n</a:t>
            </a:r>
            <a:r>
              <a:rPr kumimoji="0" lang="zh-CN" altLang="en-US">
                <a:solidFill>
                  <a:srgbClr val="000000"/>
                </a:solidFill>
              </a:rPr>
              <a:t>个不同元素的集合可以有多少个子集？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66ACE8-AC97-4517-AB62-885180B401FE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719138" y="1341438"/>
            <a:ext cx="7916862" cy="341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（</a:t>
            </a:r>
            <a:r>
              <a:rPr lang="en-US" altLang="zh-CN" dirty="0">
                <a:solidFill>
                  <a:schemeClr val="hlink"/>
                </a:solidFill>
              </a:rPr>
              <a:t>5</a:t>
            </a:r>
            <a:r>
              <a:rPr lang="zh-CN" altLang="en-US" dirty="0">
                <a:solidFill>
                  <a:schemeClr val="hlink"/>
                </a:solidFill>
              </a:rPr>
              <a:t>）幂集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3-1.5</a:t>
            </a:r>
            <a:r>
              <a:rPr lang="en-US" altLang="zh-CN" dirty="0"/>
              <a:t>  </a:t>
            </a:r>
            <a:r>
              <a:rPr lang="zh-CN" altLang="en-US" dirty="0"/>
              <a:t>给定集合</a:t>
            </a:r>
            <a:r>
              <a:rPr lang="en-US" altLang="zh-CN" dirty="0"/>
              <a:t>A</a:t>
            </a:r>
            <a:r>
              <a:rPr lang="zh-CN" altLang="en-US" dirty="0"/>
              <a:t>，由集合</a:t>
            </a:r>
            <a:r>
              <a:rPr lang="en-US" altLang="zh-CN" dirty="0"/>
              <a:t>A</a:t>
            </a:r>
            <a:r>
              <a:rPr lang="zh-CN" altLang="en-US" dirty="0"/>
              <a:t>的所有子集为元素组成的集合，称为集合</a:t>
            </a:r>
            <a:r>
              <a:rPr lang="en-US" altLang="zh-CN" dirty="0"/>
              <a:t>A</a:t>
            </a:r>
            <a:r>
              <a:rPr lang="zh-CN" altLang="en-US" dirty="0"/>
              <a:t>的幂集，记为</a:t>
            </a:r>
            <a:r>
              <a:rPr lang="en-US" altLang="zh-CN" dirty="0">
                <a:latin typeface="CommercialScript BT" pitchFamily="66" charset="0"/>
              </a:rPr>
              <a:t>P </a:t>
            </a:r>
            <a:r>
              <a:rPr lang="en-US" altLang="zh-CN" dirty="0"/>
              <a:t>(A)</a:t>
            </a:r>
            <a:r>
              <a:rPr lang="zh-CN" altLang="en-US" dirty="0"/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7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en-US" altLang="zh-CN" dirty="0"/>
              <a:t>A={a, b, c}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latin typeface="CommercialScript BT" pitchFamily="66" charset="0"/>
              </a:rPr>
              <a:t>P </a:t>
            </a:r>
            <a:r>
              <a:rPr lang="en-US" altLang="zh-CN" dirty="0"/>
              <a:t>(A)={</a:t>
            </a:r>
            <a:r>
              <a:rPr lang="en-US" altLang="zh-CN" dirty="0">
                <a:latin typeface="Arial" charset="0"/>
                <a:sym typeface="Symbol" pitchFamily="18" charset="2"/>
              </a:rPr>
              <a:t></a:t>
            </a:r>
            <a:r>
              <a:rPr lang="en-US" altLang="zh-CN" dirty="0"/>
              <a:t>, {a}, {b}, {c}, {a, b}, {b, c}, {a, c}, {a, b, c}}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3-1.3</a:t>
            </a: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dirty="0"/>
              <a:t>如果有限集合</a:t>
            </a:r>
            <a:r>
              <a:rPr lang="en-US" altLang="zh-CN" dirty="0"/>
              <a:t>A</a:t>
            </a:r>
            <a:r>
              <a:rPr lang="zh-CN" altLang="en-US" dirty="0"/>
              <a:t>有</a:t>
            </a:r>
            <a:r>
              <a:rPr lang="en-US" altLang="zh-CN" dirty="0"/>
              <a:t>n</a:t>
            </a:r>
            <a:r>
              <a:rPr lang="zh-CN" altLang="en-US" dirty="0"/>
              <a:t>个元素，则其幂集</a:t>
            </a:r>
            <a:r>
              <a:rPr lang="en-US" altLang="zh-CN" dirty="0">
                <a:latin typeface="CommercialScript BT" pitchFamily="66" charset="0"/>
              </a:rPr>
              <a:t>P </a:t>
            </a:r>
            <a:r>
              <a:rPr lang="en-US" altLang="zh-CN" dirty="0"/>
              <a:t>(A)</a:t>
            </a:r>
            <a:r>
              <a:rPr lang="zh-CN" altLang="en-US" dirty="0"/>
              <a:t>有</a:t>
            </a: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en-US" altLang="zh-CN" dirty="0">
                <a:solidFill>
                  <a:schemeClr val="hlink"/>
                </a:solidFill>
                <a:cs typeface="Times New Roman" pitchFamily="18" charset="0"/>
              </a:rPr>
              <a:t>ⁿ</a:t>
            </a:r>
            <a:r>
              <a:rPr lang="en-US" altLang="zh-CN" dirty="0"/>
              <a:t> </a:t>
            </a:r>
            <a:r>
              <a:rPr lang="zh-CN" altLang="en-US" dirty="0"/>
              <a:t>个元素。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C6D73D-4770-4455-B9FD-0EE03890D422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465138"/>
            <a:ext cx="5581650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3-2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集合的运算</a:t>
            </a:r>
          </a:p>
        </p:txBody>
      </p:sp>
      <p:sp>
        <p:nvSpPr>
          <p:cNvPr id="362500" name="Rectangle 4"/>
          <p:cNvSpPr>
            <a:spLocks noChangeArrowheads="1"/>
          </p:cNvSpPr>
          <p:nvPr/>
        </p:nvSpPr>
        <p:spPr bwMode="auto">
          <a:xfrm>
            <a:off x="1655763" y="1458913"/>
            <a:ext cx="45720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kumimoji="0" lang="zh-CN" altLang="en-US" sz="3200">
                <a:solidFill>
                  <a:schemeClr val="folHlink"/>
                </a:solidFill>
                <a:ea typeface="楷体_GB2312" pitchFamily="49" charset="-122"/>
              </a:rPr>
              <a:t>一、</a:t>
            </a: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集合的交∩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二、集合的并∪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三、集合的补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四、集合的对称差⊕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BC460-8095-4BDE-950D-D585620E2AD1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74082" name="Rectangle 2"/>
          <p:cNvSpPr>
            <a:spLocks noChangeArrowheads="1"/>
          </p:cNvSpPr>
          <p:nvPr/>
        </p:nvSpPr>
        <p:spPr bwMode="auto">
          <a:xfrm>
            <a:off x="719138" y="1484313"/>
            <a:ext cx="7916862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3-2.1</a:t>
            </a:r>
            <a:r>
              <a:rPr lang="en-US" altLang="zh-CN"/>
              <a:t>  </a:t>
            </a:r>
            <a:r>
              <a:rPr lang="zh-CN" altLang="en-US"/>
              <a:t>设任意两个集合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，由集合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的所有共同元素组成的集合</a:t>
            </a:r>
            <a:r>
              <a:rPr lang="en-US" altLang="zh-CN"/>
              <a:t>S</a:t>
            </a:r>
            <a:r>
              <a:rPr lang="zh-CN" altLang="en-US"/>
              <a:t>，称为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的交集，记作</a:t>
            </a:r>
            <a:r>
              <a:rPr lang="en-US" altLang="zh-CN"/>
              <a:t>A∩B</a:t>
            </a:r>
            <a:r>
              <a:rPr lang="zh-CN" altLang="en-US"/>
              <a:t>。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即：</a:t>
            </a:r>
            <a:r>
              <a:rPr lang="en-US" altLang="zh-CN"/>
              <a:t>S= A∩B={x|(x∈A) </a:t>
            </a:r>
            <a:r>
              <a:rPr kumimoji="0" lang="en-US" altLang="zh-CN"/>
              <a:t>∧(x</a:t>
            </a:r>
            <a:r>
              <a:rPr lang="en-US" altLang="zh-CN"/>
              <a:t>∈B</a:t>
            </a:r>
            <a:r>
              <a:rPr kumimoji="0" lang="en-US" altLang="zh-CN"/>
              <a:t>)</a:t>
            </a:r>
            <a:r>
              <a:rPr lang="en-US" altLang="zh-CN"/>
              <a:t>}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交集的定义（文氏图）</a:t>
            </a:r>
          </a:p>
        </p:txBody>
      </p:sp>
      <p:graphicFrame>
        <p:nvGraphicFramePr>
          <p:cNvPr id="174083" name="Object 3"/>
          <p:cNvGraphicFramePr>
            <a:graphicFrameLocks noChangeAspect="1"/>
          </p:cNvGraphicFramePr>
          <p:nvPr/>
        </p:nvGraphicFramePr>
        <p:xfrm>
          <a:off x="971550" y="3357563"/>
          <a:ext cx="3149600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4" name="Visio" r:id="rId3" imgW="2237132" imgH="1326260" progId="Visio.Drawing.11">
                  <p:embed/>
                </p:oleObj>
              </mc:Choice>
              <mc:Fallback>
                <p:oleObj name="Visio" r:id="rId3" imgW="2237132" imgH="132626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357563"/>
                        <a:ext cx="3149600" cy="185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6" name="Rectangle 6"/>
          <p:cNvSpPr>
            <a:spLocks noChangeArrowheads="1"/>
          </p:cNvSpPr>
          <p:nvPr/>
        </p:nvSpPr>
        <p:spPr bwMode="auto">
          <a:xfrm>
            <a:off x="1258888" y="476250"/>
            <a:ext cx="40338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kumimoji="0" lang="zh-CN" altLang="en-US" sz="3200">
                <a:solidFill>
                  <a:schemeClr val="folHlink"/>
                </a:solidFill>
                <a:ea typeface="楷体_GB2312" pitchFamily="49" charset="-122"/>
              </a:rPr>
              <a:t>一、</a:t>
            </a: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集合的交∩</a:t>
            </a:r>
          </a:p>
        </p:txBody>
      </p:sp>
      <p:sp>
        <p:nvSpPr>
          <p:cNvPr id="174087" name="AutoShape 7"/>
          <p:cNvSpPr>
            <a:spLocks noChangeArrowheads="1"/>
          </p:cNvSpPr>
          <p:nvPr/>
        </p:nvSpPr>
        <p:spPr bwMode="auto">
          <a:xfrm>
            <a:off x="5867400" y="3789363"/>
            <a:ext cx="2895600" cy="1524000"/>
          </a:xfrm>
          <a:prstGeom prst="wedgeRoundRectCallout">
            <a:avLst>
              <a:gd name="adj1" fmla="val -113653"/>
              <a:gd name="adj2" fmla="val -26977"/>
              <a:gd name="adj3" fmla="val 16667"/>
            </a:avLst>
          </a:prstGeom>
          <a:solidFill>
            <a:srgbClr val="0000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buClrTx/>
              <a:buFontTx/>
              <a:buNone/>
            </a:pPr>
            <a:r>
              <a:rPr kumimoji="0" lang="zh-CN" altLang="en-US">
                <a:solidFill>
                  <a:srgbClr val="FFFF00"/>
                </a:solidFill>
                <a:latin typeface="Arial" charset="0"/>
              </a:rPr>
              <a:t>文氏图是用来描述集合关系与运算的很好的工具</a:t>
            </a:r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719138" y="5340350"/>
            <a:ext cx="79168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例</a:t>
            </a:r>
            <a:r>
              <a:rPr kumimoji="0" lang="en-US" altLang="zh-CN">
                <a:solidFill>
                  <a:schemeClr val="hlink"/>
                </a:solidFill>
              </a:rPr>
              <a:t>1</a:t>
            </a:r>
            <a:r>
              <a:rPr kumimoji="0" lang="zh-CN" altLang="en-US">
                <a:solidFill>
                  <a:schemeClr val="hlink"/>
                </a:solidFill>
              </a:rPr>
              <a:t>：</a:t>
            </a:r>
            <a:r>
              <a:rPr kumimoji="0" lang="en-US" altLang="zh-CN"/>
              <a:t>A={0, 2, 4, 6}</a:t>
            </a:r>
            <a:r>
              <a:rPr kumimoji="0" lang="zh-CN" altLang="en-US"/>
              <a:t>，</a:t>
            </a:r>
            <a:r>
              <a:rPr kumimoji="0" lang="en-US" altLang="zh-CN"/>
              <a:t>B={1, 2, 3}</a:t>
            </a:r>
            <a:r>
              <a:rPr kumimoji="0" lang="zh-CN" altLang="en-US"/>
              <a:t>，</a:t>
            </a:r>
            <a:r>
              <a:rPr kumimoji="0" lang="en-US" altLang="zh-CN"/>
              <a:t>C={0, 2, 4}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/>
              <a:t>求</a:t>
            </a:r>
            <a:r>
              <a:rPr kumimoji="0" lang="en-US" altLang="zh-CN"/>
              <a:t>A</a:t>
            </a:r>
            <a:r>
              <a:rPr lang="en-US" altLang="zh-CN"/>
              <a:t>∩B</a:t>
            </a:r>
            <a:r>
              <a:rPr lang="zh-CN" altLang="en-US"/>
              <a:t>，</a:t>
            </a:r>
            <a:r>
              <a:rPr lang="en-US" altLang="zh-CN"/>
              <a:t>A∩C</a:t>
            </a:r>
            <a:r>
              <a:rPr lang="zh-CN" altLang="en-US"/>
              <a:t>，</a:t>
            </a:r>
            <a:r>
              <a:rPr lang="en-US" altLang="zh-CN"/>
              <a:t>B∩C</a:t>
            </a:r>
            <a:r>
              <a:rPr lang="zh-CN" altLang="en-US"/>
              <a:t>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7" grpId="0" animBg="1" autoUpdateAnimBg="0"/>
      <p:bldP spid="17408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5E18C7-D576-44F4-BBF2-1A00CB6BEF0B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719138" y="1254125"/>
            <a:ext cx="7916862" cy="201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∩</a:t>
            </a:r>
            <a:r>
              <a:rPr lang="zh-CN" altLang="en-US" dirty="0">
                <a:solidFill>
                  <a:schemeClr val="hlink"/>
                </a:solidFill>
              </a:rPr>
              <a:t>的性质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kumimoji="0" lang="en-US" altLang="zh-CN" dirty="0"/>
              <a:t>1)A</a:t>
            </a:r>
            <a:r>
              <a:rPr lang="en-US" altLang="zh-CN" dirty="0"/>
              <a:t>∩A=A                                2)A∩</a:t>
            </a:r>
            <a:r>
              <a:rPr lang="en-US" altLang="zh-CN" dirty="0">
                <a:sym typeface="Symbol" pitchFamily="18" charset="2"/>
              </a:rPr>
              <a:t>=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ym typeface="Symbol" pitchFamily="18" charset="2"/>
              </a:rPr>
              <a:t>3)A</a:t>
            </a:r>
            <a:r>
              <a:rPr lang="en-US" altLang="zh-CN" dirty="0"/>
              <a:t>∩E=A                                4)A∩B=B∩A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5)(A∩B)∩C=A∩(B∩C</a:t>
            </a:r>
            <a:r>
              <a:rPr lang="en-US" altLang="zh-CN" dirty="0" smtClean="0"/>
              <a:t>)</a:t>
            </a:r>
            <a:endParaRPr lang="en-US" altLang="zh-CN" dirty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0C7F5F-07D3-4808-918D-B320B6F7BF15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77154" name="Rectangle 2"/>
          <p:cNvSpPr>
            <a:spLocks noChangeArrowheads="1"/>
          </p:cNvSpPr>
          <p:nvPr/>
        </p:nvSpPr>
        <p:spPr bwMode="auto">
          <a:xfrm>
            <a:off x="719138" y="1412875"/>
            <a:ext cx="7916862" cy="409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>
                <a:schemeClr val="hlink"/>
              </a:buClr>
            </a:pPr>
            <a:r>
              <a:rPr lang="en-US" altLang="zh-CN"/>
              <a:t>A ∩B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A</a:t>
            </a:r>
            <a:r>
              <a:rPr lang="zh-CN" altLang="en-US"/>
              <a:t>， </a:t>
            </a:r>
            <a:r>
              <a:rPr lang="en-US" altLang="zh-CN"/>
              <a:t>A ∩B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</a:pPr>
            <a:r>
              <a:rPr lang="zh-CN" altLang="en-US"/>
              <a:t>若</a:t>
            </a:r>
            <a:r>
              <a:rPr lang="en-US" altLang="zh-CN"/>
              <a:t>A</a:t>
            </a:r>
            <a:r>
              <a:rPr lang="zh-CN" altLang="en-US"/>
              <a:t>与</a:t>
            </a:r>
            <a:r>
              <a:rPr lang="en-US" altLang="zh-CN"/>
              <a:t>B</a:t>
            </a:r>
            <a:r>
              <a:rPr lang="zh-CN" altLang="en-US"/>
              <a:t>没有共同的元素，</a:t>
            </a:r>
            <a:r>
              <a:rPr lang="en-US" altLang="zh-CN"/>
              <a:t>A ∩B=</a:t>
            </a:r>
            <a:r>
              <a:rPr lang="zh-CN" altLang="en-US"/>
              <a:t>？</a:t>
            </a:r>
          </a:p>
          <a:p>
            <a:pPr algn="just">
              <a:spcBef>
                <a:spcPct val="50000"/>
              </a:spcBef>
              <a:buClr>
                <a:schemeClr val="hlink"/>
              </a:buClr>
            </a:pPr>
            <a:r>
              <a:rPr lang="en-US" altLang="zh-CN"/>
              <a:t>N</a:t>
            </a:r>
            <a:r>
              <a:rPr lang="zh-CN" altLang="en-US"/>
              <a:t>个集合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/>
              <a:t>…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n</a:t>
            </a:r>
            <a:r>
              <a:rPr lang="zh-CN" altLang="en-US"/>
              <a:t>的交可记为</a:t>
            </a:r>
          </a:p>
          <a:p>
            <a:pPr algn="just">
              <a:lnSpc>
                <a:spcPct val="5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/>
              <a:t>                                             </a:t>
            </a:r>
            <a:r>
              <a:rPr lang="en-US" altLang="zh-CN" sz="2000"/>
              <a:t>n</a:t>
            </a:r>
          </a:p>
          <a:p>
            <a:pPr algn="just">
              <a:lnSpc>
                <a:spcPct val="5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/>
              <a:t>        P=A</a:t>
            </a:r>
            <a:r>
              <a:rPr lang="en-US" altLang="zh-CN" baseline="-25000"/>
              <a:t>1</a:t>
            </a:r>
            <a:r>
              <a:rPr lang="en-US" altLang="zh-CN"/>
              <a:t>∩A</a:t>
            </a:r>
            <a:r>
              <a:rPr lang="en-US" altLang="zh-CN" baseline="-25000"/>
              <a:t>2</a:t>
            </a:r>
            <a:r>
              <a:rPr lang="en-US" altLang="zh-CN"/>
              <a:t>∩…∩A</a:t>
            </a:r>
            <a:r>
              <a:rPr lang="en-US" altLang="zh-CN" baseline="-25000"/>
              <a:t>n</a:t>
            </a:r>
            <a:r>
              <a:rPr lang="en-US" altLang="zh-CN"/>
              <a:t>=</a:t>
            </a:r>
            <a:r>
              <a:rPr lang="en-US" altLang="zh-CN" sz="2800"/>
              <a:t>∩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</a:p>
          <a:p>
            <a:pPr algn="just">
              <a:lnSpc>
                <a:spcPct val="5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1800"/>
              <a:t>		                           i=1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endParaRPr lang="en-US" altLang="zh-CN" sz="1800"/>
          </a:p>
          <a:p>
            <a:pPr algn="just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={1, 2, 8}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en-US" altLang="zh-CN"/>
              <a:t>={2, 8}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3</a:t>
            </a:r>
            <a:r>
              <a:rPr lang="en-US" altLang="zh-CN"/>
              <a:t>={4, 8, 2}</a:t>
            </a:r>
          </a:p>
          <a:p>
            <a:pPr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sz="2000"/>
              <a:t>              3</a:t>
            </a:r>
          </a:p>
          <a:p>
            <a:pPr>
              <a:lnSpc>
                <a:spcPct val="60000"/>
              </a:lnSpc>
              <a:spcBef>
                <a:spcPct val="30000"/>
              </a:spcBef>
              <a:buClrTx/>
              <a:buFontTx/>
              <a:buNone/>
            </a:pPr>
            <a:r>
              <a:rPr lang="en-US" altLang="zh-CN"/>
              <a:t>          </a:t>
            </a:r>
            <a:r>
              <a:rPr lang="en-US" altLang="zh-CN" sz="2800"/>
              <a:t>∩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en-US" altLang="zh-CN"/>
              <a:t>=?</a:t>
            </a:r>
          </a:p>
          <a:p>
            <a:pPr>
              <a:lnSpc>
                <a:spcPct val="50000"/>
              </a:lnSpc>
              <a:spcBef>
                <a:spcPct val="30000"/>
              </a:spcBef>
              <a:buClrTx/>
              <a:buFontTx/>
              <a:buNone/>
            </a:pPr>
            <a:r>
              <a:rPr lang="en-US" altLang="zh-CN" sz="2000"/>
              <a:t>            </a:t>
            </a:r>
            <a:r>
              <a:rPr lang="en-US" altLang="zh-CN" sz="1800"/>
              <a:t>i=1   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FAD142-ABE0-40A4-B693-7BD3D499FD97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/>
              <a:t>复习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9138" y="1628775"/>
            <a:ext cx="7916862" cy="1772793"/>
          </a:xfrm>
        </p:spPr>
        <p:txBody>
          <a:bodyPr/>
          <a:lstStyle/>
          <a:p>
            <a:r>
              <a:rPr lang="zh-CN" altLang="en-US" dirty="0" smtClean="0"/>
              <a:t>集合中的基本概念：子集，空集，全集，幂集。</a:t>
            </a:r>
            <a:endParaRPr lang="en-US" altLang="zh-CN" dirty="0" smtClean="0"/>
          </a:p>
          <a:p>
            <a:r>
              <a:rPr lang="zh-CN" altLang="en-US" dirty="0" smtClean="0"/>
              <a:t>集合相等的证明。</a:t>
            </a:r>
            <a:endParaRPr lang="en-US" altLang="zh-CN" dirty="0" smtClean="0"/>
          </a:p>
          <a:p>
            <a:r>
              <a:rPr lang="zh-CN" altLang="en-US" dirty="0" smtClean="0"/>
              <a:t>集合</a:t>
            </a:r>
            <a:r>
              <a:rPr lang="zh-CN" altLang="en-US" dirty="0"/>
              <a:t>的运算：</a:t>
            </a:r>
            <a:r>
              <a:rPr lang="zh-CN" altLang="en-US" dirty="0" smtClean="0"/>
              <a:t>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7009097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2AF934-A94A-4A7F-9661-77089EECFE07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719138" y="1268413"/>
            <a:ext cx="7916862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3-2.2</a:t>
            </a:r>
            <a:r>
              <a:rPr lang="en-US" altLang="zh-CN"/>
              <a:t> </a:t>
            </a:r>
            <a:r>
              <a:rPr lang="zh-CN" altLang="en-US"/>
              <a:t>设任意两个集合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，所有属于</a:t>
            </a:r>
            <a:r>
              <a:rPr lang="en-US" altLang="zh-CN"/>
              <a:t>A</a:t>
            </a:r>
            <a:r>
              <a:rPr lang="zh-CN" altLang="en-US"/>
              <a:t>或属于</a:t>
            </a:r>
            <a:r>
              <a:rPr lang="en-US" altLang="zh-CN"/>
              <a:t>B</a:t>
            </a:r>
            <a:r>
              <a:rPr lang="zh-CN" altLang="en-US"/>
              <a:t>的元素组成的集合</a:t>
            </a:r>
            <a:r>
              <a:rPr lang="en-US" altLang="zh-CN"/>
              <a:t>S</a:t>
            </a:r>
            <a:r>
              <a:rPr lang="zh-CN" altLang="en-US"/>
              <a:t>，称为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的并集，记作</a:t>
            </a:r>
            <a:r>
              <a:rPr lang="en-US" altLang="zh-CN"/>
              <a:t>A∪B</a:t>
            </a:r>
            <a:r>
              <a:rPr lang="zh-CN" altLang="en-US"/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即：</a:t>
            </a:r>
            <a:r>
              <a:rPr lang="en-US" altLang="zh-CN"/>
              <a:t>S= A∪B={x|(x∈A)</a:t>
            </a:r>
            <a:r>
              <a:rPr kumimoji="0" lang="en-US" altLang="zh-CN"/>
              <a:t> ∨(x</a:t>
            </a:r>
            <a:r>
              <a:rPr lang="en-US" altLang="zh-CN"/>
              <a:t>∈B</a:t>
            </a:r>
            <a:r>
              <a:rPr kumimoji="0" lang="en-US" altLang="zh-CN"/>
              <a:t>)</a:t>
            </a:r>
            <a:r>
              <a:rPr lang="en-US" altLang="zh-CN"/>
              <a:t>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文氏图定义</a:t>
            </a:r>
          </a:p>
        </p:txBody>
      </p:sp>
      <p:graphicFrame>
        <p:nvGraphicFramePr>
          <p:cNvPr id="178179" name="Object 3"/>
          <p:cNvGraphicFramePr>
            <a:graphicFrameLocks noChangeAspect="1"/>
          </p:cNvGraphicFramePr>
          <p:nvPr/>
        </p:nvGraphicFramePr>
        <p:xfrm>
          <a:off x="1042988" y="3355975"/>
          <a:ext cx="3352800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78" name="Visio" r:id="rId3" imgW="2237132" imgH="1326260" progId="Visio.Drawing.11">
                  <p:embed/>
                </p:oleObj>
              </mc:Choice>
              <mc:Fallback>
                <p:oleObj name="Visio" r:id="rId3" imgW="2237132" imgH="132626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355975"/>
                        <a:ext cx="3352800" cy="198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4500563" y="3500438"/>
            <a:ext cx="39592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Tx/>
              <a:buFontTx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例</a:t>
            </a:r>
            <a:r>
              <a:rPr kumimoji="0" lang="en-US" altLang="zh-CN">
                <a:solidFill>
                  <a:schemeClr val="hlink"/>
                </a:solidFill>
              </a:rPr>
              <a:t>3</a:t>
            </a:r>
            <a:r>
              <a:rPr kumimoji="0" lang="zh-CN" altLang="en-US">
                <a:solidFill>
                  <a:schemeClr val="hlink"/>
                </a:solidFill>
              </a:rPr>
              <a:t>：</a:t>
            </a:r>
            <a:r>
              <a:rPr kumimoji="0" lang="en-US" altLang="zh-CN"/>
              <a:t>A={1, 2, 3}  B={2, 3, 4}</a:t>
            </a:r>
          </a:p>
          <a:p>
            <a:pPr>
              <a:lnSpc>
                <a:spcPct val="110000"/>
              </a:lnSpc>
              <a:buClrTx/>
              <a:buFontTx/>
              <a:buNone/>
            </a:pPr>
            <a:r>
              <a:rPr lang="en-US" altLang="zh-CN"/>
              <a:t>          A∪B=</a:t>
            </a:r>
            <a:r>
              <a:rPr lang="zh-CN" altLang="en-US"/>
              <a:t>？</a:t>
            </a:r>
          </a:p>
        </p:txBody>
      </p:sp>
      <p:sp>
        <p:nvSpPr>
          <p:cNvPr id="178182" name="Rectangle 6"/>
          <p:cNvSpPr>
            <a:spLocks noChangeArrowheads="1"/>
          </p:cNvSpPr>
          <p:nvPr/>
        </p:nvSpPr>
        <p:spPr bwMode="auto">
          <a:xfrm>
            <a:off x="1258888" y="476250"/>
            <a:ext cx="3600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二、集合的并∪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EEEED8-A7CB-4C1F-9019-C65BB0511220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79203" name="Rectangle 3"/>
          <p:cNvSpPr>
            <a:spLocks noChangeArrowheads="1"/>
          </p:cNvSpPr>
          <p:nvPr/>
        </p:nvSpPr>
        <p:spPr bwMode="auto">
          <a:xfrm>
            <a:off x="719138" y="1211263"/>
            <a:ext cx="7916862" cy="531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∪</a:t>
            </a:r>
            <a:r>
              <a:rPr lang="zh-CN" altLang="en-US" dirty="0">
                <a:solidFill>
                  <a:schemeClr val="hlink"/>
                </a:solidFill>
              </a:rPr>
              <a:t>的性质</a:t>
            </a:r>
          </a:p>
          <a:p>
            <a:pPr lvl="2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1)A∪A=A                                    2)A∪E=E</a:t>
            </a:r>
          </a:p>
          <a:p>
            <a:pPr lvl="2">
              <a:lnSpc>
                <a:spcPct val="130000"/>
              </a:lnSpc>
              <a:buClrTx/>
              <a:buFontTx/>
              <a:buNone/>
            </a:pPr>
            <a:r>
              <a:rPr kumimoji="0" lang="en-US" altLang="zh-CN" dirty="0"/>
              <a:t>3)A</a:t>
            </a:r>
            <a:r>
              <a:rPr lang="en-US" altLang="zh-CN" dirty="0"/>
              <a:t>∪</a:t>
            </a:r>
            <a:r>
              <a:rPr lang="en-US" altLang="zh-CN" dirty="0">
                <a:sym typeface="Symbol" pitchFamily="18" charset="2"/>
              </a:rPr>
              <a:t>=A                                   4)</a:t>
            </a:r>
            <a:r>
              <a:rPr lang="en-US" altLang="zh-CN" dirty="0"/>
              <a:t>A∪B=B∪A</a:t>
            </a:r>
          </a:p>
          <a:p>
            <a:pPr lvl="2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5)(A∪B)∪C=A∪(B∪C)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kumimoji="0" lang="zh-CN" altLang="en-US" dirty="0">
                <a:solidFill>
                  <a:schemeClr val="hlink"/>
                </a:solidFill>
              </a:rPr>
              <a:t>例</a:t>
            </a:r>
            <a:r>
              <a:rPr kumimoji="0" lang="en-US" altLang="zh-CN" dirty="0">
                <a:solidFill>
                  <a:schemeClr val="hlink"/>
                </a:solidFill>
              </a:rPr>
              <a:t>4</a:t>
            </a:r>
            <a:r>
              <a:rPr kumimoji="0" lang="zh-CN" altLang="en-US" dirty="0">
                <a:solidFill>
                  <a:schemeClr val="hlink"/>
                </a:solidFill>
              </a:rPr>
              <a:t>：</a:t>
            </a:r>
            <a:r>
              <a:rPr kumimoji="0" lang="zh-CN" altLang="en-US" dirty="0"/>
              <a:t>设</a:t>
            </a:r>
            <a:r>
              <a:rPr kumimoji="0"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D</a:t>
            </a:r>
            <a:r>
              <a:rPr lang="zh-CN" altLang="en-US" dirty="0"/>
              <a:t>，则</a:t>
            </a:r>
            <a:r>
              <a:rPr lang="en-US" altLang="zh-CN" dirty="0"/>
              <a:t>A∪C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B∪D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证明：</a:t>
            </a:r>
            <a:r>
              <a:rPr kumimoji="0" lang="zh-CN" altLang="en-US" dirty="0">
                <a:sym typeface="Symbol" pitchFamily="18" charset="2"/>
              </a:rPr>
              <a:t></a:t>
            </a:r>
            <a:r>
              <a:rPr kumimoji="0" lang="en-US" altLang="zh-CN" dirty="0">
                <a:sym typeface="Symbol" pitchFamily="18" charset="2"/>
              </a:rPr>
              <a:t>x(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∈A∪C</a:t>
            </a:r>
            <a:r>
              <a:rPr lang="en-US" altLang="zh-CN" dirty="0" err="1">
                <a:cs typeface="Times New Roman" pitchFamily="18" charset="0"/>
              </a:rPr>
              <a:t>→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∈A</a:t>
            </a:r>
            <a:r>
              <a:rPr lang="en-US" altLang="zh-CN" dirty="0" err="1">
                <a:latin typeface="宋体" charset="-122"/>
              </a:rPr>
              <a:t>∨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∈C</a:t>
            </a:r>
            <a:r>
              <a:rPr lang="en-US" altLang="zh-CN" dirty="0"/>
              <a:t>)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           </a:t>
            </a:r>
            <a:r>
              <a:rPr lang="zh-CN" altLang="en-US" dirty="0"/>
              <a:t>若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∈A</a:t>
            </a:r>
            <a:r>
              <a:rPr lang="zh-CN" altLang="en-US" dirty="0"/>
              <a:t>，又因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B</a:t>
            </a:r>
            <a:r>
              <a:rPr lang="zh-CN" altLang="en-US" dirty="0"/>
              <a:t>，所以</a:t>
            </a:r>
            <a:r>
              <a:rPr lang="en-US" altLang="zh-CN" dirty="0" err="1"/>
              <a:t>x∈B</a:t>
            </a:r>
            <a:endParaRPr lang="en-US" altLang="zh-CN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           </a:t>
            </a:r>
            <a:r>
              <a:rPr lang="zh-CN" altLang="en-US" dirty="0"/>
              <a:t>若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∈C</a:t>
            </a:r>
            <a:r>
              <a:rPr lang="zh-CN" altLang="en-US" dirty="0"/>
              <a:t>，又因</a:t>
            </a:r>
            <a:r>
              <a:rPr lang="en-US" altLang="zh-CN" dirty="0"/>
              <a:t>C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D</a:t>
            </a:r>
            <a:r>
              <a:rPr lang="zh-CN" altLang="en-US" dirty="0"/>
              <a:t>，所以</a:t>
            </a:r>
            <a:r>
              <a:rPr lang="en-US" altLang="zh-CN" dirty="0" err="1"/>
              <a:t>x∈D</a:t>
            </a:r>
            <a:endParaRPr lang="en-US" altLang="zh-CN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           </a:t>
            </a:r>
            <a:r>
              <a:rPr lang="zh-CN" altLang="en-US" dirty="0"/>
              <a:t>故由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∈A∨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∈C</a:t>
            </a:r>
            <a:r>
              <a:rPr lang="zh-CN" altLang="en-US" dirty="0"/>
              <a:t>得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∈B∨</a:t>
            </a:r>
            <a:r>
              <a:rPr kumimoji="0" lang="en-US" altLang="zh-CN" dirty="0" err="1">
                <a:sym typeface="Symbol" pitchFamily="18" charset="2"/>
              </a:rPr>
              <a:t>x</a:t>
            </a:r>
            <a:r>
              <a:rPr lang="en-US" altLang="zh-CN" dirty="0" err="1"/>
              <a:t>∈D</a:t>
            </a:r>
            <a:r>
              <a:rPr lang="zh-CN" altLang="en-US" dirty="0"/>
              <a:t>，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           即</a:t>
            </a:r>
            <a:r>
              <a:rPr lang="en-US" altLang="zh-CN" dirty="0" err="1"/>
              <a:t>x∈B∪D</a:t>
            </a:r>
            <a:endParaRPr lang="en-US" altLang="zh-CN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           </a:t>
            </a:r>
            <a:r>
              <a:rPr lang="zh-CN" altLang="en-US" dirty="0"/>
              <a:t>因此</a:t>
            </a:r>
            <a:r>
              <a:rPr lang="en-US" altLang="zh-CN" dirty="0"/>
              <a:t>A∪C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B∪D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219DBE-D6A9-448A-8A1D-35AC6AAE975A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81250" name="Rectangle 2"/>
          <p:cNvSpPr>
            <a:spLocks noChangeArrowheads="1"/>
          </p:cNvSpPr>
          <p:nvPr/>
        </p:nvSpPr>
        <p:spPr bwMode="auto">
          <a:xfrm>
            <a:off x="719138" y="1366838"/>
            <a:ext cx="7916862" cy="340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</a:pP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A∪B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A∪B</a:t>
            </a:r>
            <a:endParaRPr kumimoji="0" lang="en-US" altLang="zh-CN"/>
          </a:p>
          <a:p>
            <a:pPr algn="just">
              <a:spcBef>
                <a:spcPct val="50000"/>
              </a:spcBef>
              <a:buClr>
                <a:schemeClr val="hlink"/>
              </a:buClr>
            </a:pPr>
            <a:r>
              <a:rPr kumimoji="0" lang="zh-CN" altLang="en-US"/>
              <a:t>对</a:t>
            </a:r>
            <a:r>
              <a:rPr kumimoji="0" lang="en-US" altLang="zh-CN"/>
              <a:t>n</a:t>
            </a:r>
            <a:r>
              <a:rPr kumimoji="0" lang="zh-CN" altLang="en-US"/>
              <a:t>个集合</a:t>
            </a:r>
            <a:r>
              <a:rPr kumimoji="0" lang="en-US" altLang="zh-CN"/>
              <a:t>A</a:t>
            </a:r>
            <a:r>
              <a:rPr kumimoji="0" lang="en-US" altLang="zh-CN" baseline="-25000"/>
              <a:t>1</a:t>
            </a:r>
            <a:r>
              <a:rPr kumimoji="0" lang="zh-CN" altLang="en-US"/>
              <a:t>，</a:t>
            </a:r>
            <a:r>
              <a:rPr kumimoji="0" lang="en-US" altLang="zh-CN"/>
              <a:t>A</a:t>
            </a:r>
            <a:r>
              <a:rPr kumimoji="0" lang="en-US" altLang="zh-CN" baseline="-25000"/>
              <a:t>2</a:t>
            </a:r>
            <a:r>
              <a:rPr kumimoji="0" lang="zh-CN" altLang="en-US"/>
              <a:t>，</a:t>
            </a:r>
            <a:r>
              <a:rPr kumimoji="0" lang="en-US" altLang="zh-CN"/>
              <a:t>…</a:t>
            </a:r>
            <a:r>
              <a:rPr kumimoji="0" lang="zh-CN" altLang="en-US"/>
              <a:t>，</a:t>
            </a:r>
            <a:r>
              <a:rPr kumimoji="0" lang="en-US" altLang="zh-CN"/>
              <a:t>A</a:t>
            </a:r>
            <a:r>
              <a:rPr kumimoji="0" lang="en-US" altLang="zh-CN" baseline="-25000"/>
              <a:t>n</a:t>
            </a:r>
            <a:r>
              <a:rPr kumimoji="0" lang="zh-CN" altLang="en-US"/>
              <a:t>的并可记为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0" lang="zh-CN" altLang="en-US"/>
              <a:t>			        </a:t>
            </a:r>
            <a:r>
              <a:rPr kumimoji="0" lang="en-US" altLang="zh-CN" sz="1800"/>
              <a:t>n</a:t>
            </a:r>
          </a:p>
          <a:p>
            <a:pPr algn="just">
              <a:lnSpc>
                <a:spcPct val="80000"/>
              </a:lnSpc>
              <a:buClrTx/>
              <a:buFontTx/>
              <a:buNone/>
            </a:pPr>
            <a:r>
              <a:rPr kumimoji="0" lang="en-US" altLang="zh-CN"/>
              <a:t>W=A</a:t>
            </a:r>
            <a:r>
              <a:rPr kumimoji="0" lang="en-US" altLang="zh-CN" baseline="-25000"/>
              <a:t>1</a:t>
            </a:r>
            <a:r>
              <a:rPr kumimoji="0" lang="en-US" altLang="zh-CN"/>
              <a:t> </a:t>
            </a:r>
            <a:r>
              <a:rPr lang="en-US" altLang="zh-CN"/>
              <a:t>∪A</a:t>
            </a:r>
            <a:r>
              <a:rPr lang="en-US" altLang="zh-CN" baseline="-25000"/>
              <a:t>2</a:t>
            </a:r>
            <a:r>
              <a:rPr lang="en-US" altLang="zh-CN"/>
              <a:t> ∪ </a:t>
            </a:r>
            <a:r>
              <a:rPr kumimoji="0" lang="en-US" altLang="zh-CN"/>
              <a:t>… </a:t>
            </a:r>
            <a:r>
              <a:rPr lang="en-US" altLang="zh-CN"/>
              <a:t>∪A</a:t>
            </a:r>
            <a:r>
              <a:rPr lang="en-US" altLang="zh-CN" baseline="-25000"/>
              <a:t>n</a:t>
            </a:r>
            <a:r>
              <a:rPr lang="en-US" altLang="zh-CN"/>
              <a:t>= </a:t>
            </a:r>
            <a:r>
              <a:rPr lang="en-US" altLang="zh-CN" sz="2800"/>
              <a:t>∪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</a:p>
          <a:p>
            <a:pPr algn="just">
              <a:lnSpc>
                <a:spcPct val="60000"/>
              </a:lnSpc>
              <a:buClrTx/>
              <a:buFontTx/>
              <a:buNone/>
            </a:pPr>
            <a:r>
              <a:rPr lang="en-US" altLang="zh-CN"/>
              <a:t>			      </a:t>
            </a:r>
            <a:r>
              <a:rPr lang="en-US" altLang="zh-CN" sz="1800"/>
              <a:t> i=1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5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={1, 2, 3}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en-US" altLang="zh-CN"/>
              <a:t>={3, 4}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kumimoji="0" lang="en-US" altLang="zh-CN"/>
              <a:t>	  </a:t>
            </a:r>
            <a:r>
              <a:rPr kumimoji="0" lang="en-US" altLang="zh-CN" sz="1800"/>
              <a:t>2</a:t>
            </a:r>
          </a:p>
          <a:p>
            <a:pPr algn="just">
              <a:lnSpc>
                <a:spcPct val="80000"/>
              </a:lnSpc>
              <a:buClrTx/>
              <a:buFontTx/>
              <a:buNone/>
            </a:pPr>
            <a:r>
              <a:rPr kumimoji="0" lang="en-US" altLang="zh-CN"/>
              <a:t>            </a:t>
            </a:r>
            <a:r>
              <a:rPr lang="en-US" altLang="zh-CN" sz="2800"/>
              <a:t>∪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</a:p>
          <a:p>
            <a:pPr algn="just">
              <a:lnSpc>
                <a:spcPct val="60000"/>
              </a:lnSpc>
              <a:buClrTx/>
              <a:buFontTx/>
              <a:buNone/>
            </a:pPr>
            <a:r>
              <a:rPr lang="en-US" altLang="zh-CN"/>
              <a:t>	</a:t>
            </a:r>
            <a:r>
              <a:rPr lang="en-US" altLang="zh-CN" sz="1800"/>
              <a:t> i=1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15D771-296C-44A9-8091-BCE7D63354BB}" type="slidenum">
              <a:rPr lang="en-US" altLang="zh-CN"/>
              <a:pPr/>
              <a:t>22</a:t>
            </a:fld>
            <a:endParaRPr lang="en-US" altLang="zh-CN"/>
          </a:p>
        </p:txBody>
      </p:sp>
      <p:graphicFrame>
        <p:nvGraphicFramePr>
          <p:cNvPr id="503811" name="Object 3"/>
          <p:cNvGraphicFramePr>
            <a:graphicFrameLocks noChangeAspect="1"/>
          </p:cNvGraphicFramePr>
          <p:nvPr/>
        </p:nvGraphicFramePr>
        <p:xfrm>
          <a:off x="4483100" y="3238500"/>
          <a:ext cx="17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909" name="Equation" r:id="rId3" imgW="177480" imgH="380880" progId="Equation.3">
                  <p:embed/>
                </p:oleObj>
              </mc:Choice>
              <mc:Fallback>
                <p:oleObj name="Equation" r:id="rId3" imgW="177480" imgH="380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3238500"/>
                        <a:ext cx="177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3812" name="Rectangle 4"/>
          <p:cNvSpPr>
            <a:spLocks noChangeArrowheads="1"/>
          </p:cNvSpPr>
          <p:nvPr/>
        </p:nvSpPr>
        <p:spPr bwMode="auto">
          <a:xfrm>
            <a:off x="719138" y="1366838"/>
            <a:ext cx="7916862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3-2.1</a:t>
            </a:r>
            <a:r>
              <a:rPr lang="en-US" altLang="zh-CN">
                <a:solidFill>
                  <a:srgbClr val="000000"/>
                </a:solidFill>
              </a:rPr>
              <a:t>  </a:t>
            </a:r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C</a:t>
            </a:r>
            <a:r>
              <a:rPr lang="zh-CN" altLang="en-US">
                <a:solidFill>
                  <a:srgbClr val="000000"/>
                </a:solidFill>
              </a:rPr>
              <a:t>为三个集合，分配律成立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a) A∩(B∪C)=(A∩B)∪(A∩C)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b) A∪(B∩C)=(A∪B)∩(A∪C)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49B9DD-3D9E-4492-83A5-243B1148DA26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504834" name="Rectangle 2"/>
          <p:cNvSpPr>
            <a:spLocks noChangeArrowheads="1"/>
          </p:cNvSpPr>
          <p:nvPr/>
        </p:nvSpPr>
        <p:spPr bwMode="auto">
          <a:xfrm>
            <a:off x="719138" y="1366838"/>
            <a:ext cx="7916862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3-2.2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B</a:t>
            </a:r>
            <a:r>
              <a:rPr lang="zh-CN" altLang="en-US" dirty="0">
                <a:solidFill>
                  <a:srgbClr val="000000"/>
                </a:solidFill>
              </a:rPr>
              <a:t>为任意两个集合，则吸收律成立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kumimoji="0" lang="en-US" altLang="zh-CN" dirty="0">
                <a:solidFill>
                  <a:srgbClr val="000000"/>
                </a:solidFill>
              </a:rPr>
              <a:t>a) A</a:t>
            </a:r>
            <a:r>
              <a:rPr lang="en-US" altLang="zh-CN" dirty="0">
                <a:solidFill>
                  <a:srgbClr val="000000"/>
                </a:solidFill>
              </a:rPr>
              <a:t>∪(A∩B)=A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b) A∩(A∪B)=A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</a:rPr>
              <a:t>证明：</a:t>
            </a:r>
            <a:r>
              <a:rPr kumimoji="0" lang="en-US" altLang="zh-CN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∪(A∩B)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          =(A∩E)∪(A∩B)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          =A∩(E∪B)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          =A∩E=A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3-2.3</a:t>
            </a:r>
            <a:r>
              <a:rPr lang="en-US" altLang="zh-CN" dirty="0">
                <a:solidFill>
                  <a:srgbClr val="000000"/>
                </a:solidFill>
              </a:rPr>
              <a:t> A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</a:t>
            </a:r>
            <a:r>
              <a:rPr lang="en-US" altLang="zh-CN" dirty="0">
                <a:solidFill>
                  <a:srgbClr val="000000"/>
                </a:solidFill>
              </a:rPr>
              <a:t>B  </a:t>
            </a:r>
            <a:r>
              <a:rPr lang="zh-CN" altLang="en-US" dirty="0">
                <a:solidFill>
                  <a:srgbClr val="000000"/>
                </a:solidFill>
              </a:rPr>
              <a:t>当且仅当</a:t>
            </a:r>
            <a:r>
              <a:rPr lang="en-US" altLang="zh-CN" dirty="0">
                <a:solidFill>
                  <a:srgbClr val="000000"/>
                </a:solidFill>
              </a:rPr>
              <a:t>A∪B=B ;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	           A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</a:t>
            </a:r>
            <a:r>
              <a:rPr lang="en-US" altLang="zh-CN" dirty="0">
                <a:solidFill>
                  <a:srgbClr val="000000"/>
                </a:solidFill>
              </a:rPr>
              <a:t>B  </a:t>
            </a:r>
            <a:r>
              <a:rPr lang="zh-CN" altLang="en-US" dirty="0">
                <a:solidFill>
                  <a:srgbClr val="000000"/>
                </a:solidFill>
              </a:rPr>
              <a:t>当且仅当</a:t>
            </a:r>
            <a:r>
              <a:rPr lang="en-US" altLang="zh-CN" dirty="0">
                <a:solidFill>
                  <a:srgbClr val="000000"/>
                </a:solidFill>
              </a:rPr>
              <a:t>A∩B=A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48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48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48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48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DF91B6-996B-45F3-AA47-F1E33C32D1E3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84322" name="Rectangle 2"/>
          <p:cNvSpPr>
            <a:spLocks noChangeArrowheads="1"/>
          </p:cNvSpPr>
          <p:nvPr/>
        </p:nvSpPr>
        <p:spPr bwMode="auto">
          <a:xfrm>
            <a:off x="719138" y="1366838"/>
            <a:ext cx="7916862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585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2438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59025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5613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281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001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721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441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folHlink"/>
                </a:solidFill>
              </a:rPr>
              <a:t>相对补：</a:t>
            </a: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3-2.3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为任意两个集合，所有属于</a:t>
            </a:r>
            <a:r>
              <a:rPr lang="en-US" altLang="zh-CN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而不属于</a:t>
            </a:r>
            <a:r>
              <a:rPr lang="en-US" altLang="zh-CN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的一切元素组成的集合</a:t>
            </a:r>
            <a:r>
              <a:rPr lang="en-US" altLang="zh-CN">
                <a:solidFill>
                  <a:srgbClr val="000000"/>
                </a:solidFill>
              </a:rPr>
              <a:t>S</a:t>
            </a:r>
            <a:r>
              <a:rPr lang="zh-CN" altLang="en-US">
                <a:solidFill>
                  <a:srgbClr val="000000"/>
                </a:solidFill>
              </a:rPr>
              <a:t>称为</a:t>
            </a:r>
            <a:r>
              <a:rPr lang="en-US" altLang="zh-CN" i="1">
                <a:solidFill>
                  <a:schemeClr val="hlink"/>
                </a:solidFill>
              </a:rPr>
              <a:t>B</a:t>
            </a:r>
            <a:r>
              <a:rPr lang="zh-CN" altLang="en-US" i="1">
                <a:solidFill>
                  <a:schemeClr val="hlink"/>
                </a:solidFill>
              </a:rPr>
              <a:t>对于</a:t>
            </a:r>
            <a:r>
              <a:rPr lang="en-US" altLang="zh-CN" i="1">
                <a:solidFill>
                  <a:schemeClr val="hlink"/>
                </a:solidFill>
              </a:rPr>
              <a:t>A</a:t>
            </a:r>
            <a:r>
              <a:rPr lang="zh-CN" altLang="en-US" i="1">
                <a:solidFill>
                  <a:schemeClr val="hlink"/>
                </a:solidFill>
              </a:rPr>
              <a:t>的补集</a:t>
            </a:r>
            <a:r>
              <a:rPr lang="zh-CN" altLang="en-US">
                <a:solidFill>
                  <a:srgbClr val="000000"/>
                </a:solidFill>
              </a:rPr>
              <a:t>，或相对补，也称为</a:t>
            </a:r>
            <a:r>
              <a:rPr lang="en-US" altLang="zh-CN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和</a:t>
            </a:r>
            <a:r>
              <a:rPr lang="en-US" altLang="zh-CN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的差。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</a:rPr>
              <a:t>记作：</a:t>
            </a:r>
            <a:r>
              <a:rPr lang="en-US" altLang="zh-CN">
                <a:solidFill>
                  <a:srgbClr val="000000"/>
                </a:solidFill>
              </a:rPr>
              <a:t>A-B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00000"/>
                </a:solidFill>
              </a:rPr>
              <a:t>S=A-B={x|x∈A </a:t>
            </a:r>
            <a:r>
              <a:rPr kumimoji="0" lang="en-US" altLang="zh-CN">
                <a:solidFill>
                  <a:srgbClr val="000000"/>
                </a:solidFill>
              </a:rPr>
              <a:t>∧x </a:t>
            </a:r>
            <a:r>
              <a:rPr lang="en-US" altLang="zh-CN">
                <a:solidFill>
                  <a:srgbClr val="000000"/>
                </a:solidFill>
                <a:sym typeface="Symbol" pitchFamily="18" charset="2"/>
              </a:rPr>
              <a:t>B</a:t>
            </a:r>
            <a:r>
              <a:rPr lang="en-US" altLang="zh-CN">
                <a:solidFill>
                  <a:srgbClr val="000000"/>
                </a:solidFill>
              </a:rPr>
              <a:t>}={x|x∈A</a:t>
            </a:r>
            <a:r>
              <a:rPr kumimoji="0" lang="en-US" altLang="zh-CN">
                <a:solidFill>
                  <a:srgbClr val="000000"/>
                </a:solidFill>
              </a:rPr>
              <a:t>∧┐(x</a:t>
            </a:r>
            <a:r>
              <a:rPr lang="en-US" altLang="zh-CN">
                <a:solidFill>
                  <a:srgbClr val="000000"/>
                </a:solidFill>
              </a:rPr>
              <a:t>∈B)}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00000"/>
                </a:solidFill>
              </a:rPr>
              <a:t>文氏图定义</a:t>
            </a:r>
            <a:endParaRPr kumimoji="0" lang="zh-CN" altLang="en-US" b="0">
              <a:solidFill>
                <a:srgbClr val="000000"/>
              </a:solidFill>
            </a:endParaRPr>
          </a:p>
        </p:txBody>
      </p:sp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4483100" y="3165475"/>
          <a:ext cx="17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1" name="Equation" r:id="rId4" imgW="177480" imgH="380880" progId="Equation.3">
                  <p:embed/>
                </p:oleObj>
              </mc:Choice>
              <mc:Fallback>
                <p:oleObj name="Equation" r:id="rId4" imgW="177480" imgH="380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3165475"/>
                        <a:ext cx="177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4" name="Object 4"/>
          <p:cNvGraphicFramePr>
            <a:graphicFrameLocks noChangeAspect="1"/>
          </p:cNvGraphicFramePr>
          <p:nvPr/>
        </p:nvGraphicFramePr>
        <p:xfrm>
          <a:off x="3348038" y="3751263"/>
          <a:ext cx="3352800" cy="198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2" name="Visio" r:id="rId6" imgW="2237132" imgH="1326260" progId="Visio.Drawing.11">
                  <p:embed/>
                </p:oleObj>
              </mc:Choice>
              <mc:Fallback>
                <p:oleObj name="Visio" r:id="rId6" imgW="2237132" imgH="132626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751263"/>
                        <a:ext cx="3352800" cy="1982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9" name="Rectangle 9"/>
          <p:cNvSpPr>
            <a:spLocks noChangeArrowheads="1"/>
          </p:cNvSpPr>
          <p:nvPr/>
        </p:nvSpPr>
        <p:spPr bwMode="auto">
          <a:xfrm>
            <a:off x="1258888" y="476250"/>
            <a:ext cx="3600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三、集合的补</a:t>
            </a:r>
          </a:p>
        </p:txBody>
      </p:sp>
      <p:sp>
        <p:nvSpPr>
          <p:cNvPr id="184330" name="Text Box 10"/>
          <p:cNvSpPr txBox="1">
            <a:spLocks noChangeArrowheads="1"/>
          </p:cNvSpPr>
          <p:nvPr/>
        </p:nvSpPr>
        <p:spPr bwMode="auto">
          <a:xfrm>
            <a:off x="684213" y="5589588"/>
            <a:ext cx="7916862" cy="100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 dirty="0" smtClean="0">
                <a:solidFill>
                  <a:schemeClr val="hlink"/>
                </a:solidFill>
              </a:rPr>
              <a:t>例： </a:t>
            </a:r>
            <a:r>
              <a:rPr lang="en-US" altLang="zh-CN" dirty="0">
                <a:solidFill>
                  <a:schemeClr val="tx1"/>
                </a:solidFill>
              </a:rPr>
              <a:t>A={1, 2, 3}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B={3, 4, 5}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C={6, 7}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则</a:t>
            </a:r>
            <a:r>
              <a:rPr lang="en-US" altLang="zh-CN" dirty="0">
                <a:solidFill>
                  <a:schemeClr val="tx1"/>
                </a:solidFill>
              </a:rPr>
              <a:t>A-B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C-B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C-C</a:t>
            </a:r>
            <a:r>
              <a:rPr lang="zh-CN" altLang="en-US" dirty="0">
                <a:solidFill>
                  <a:schemeClr val="tx1"/>
                </a:solidFill>
              </a:rPr>
              <a:t>分别为？？？</a:t>
            </a:r>
            <a:endParaRPr kumimoji="0" lang="zh-CN" altLang="en-US" dirty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BC23E3-662A-4A9B-B415-EFDFF8ED65FD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719138" y="1366838"/>
            <a:ext cx="7916862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7913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145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51088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87675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448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020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592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16475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绝对补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3-2.4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E</a:t>
            </a:r>
            <a:r>
              <a:rPr lang="zh-CN" altLang="en-US" dirty="0">
                <a:solidFill>
                  <a:srgbClr val="000000"/>
                </a:solidFill>
              </a:rPr>
              <a:t>为全集，对任一集合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关于</a:t>
            </a:r>
            <a:r>
              <a:rPr lang="en-US" altLang="zh-CN" dirty="0">
                <a:solidFill>
                  <a:srgbClr val="000000"/>
                </a:solidFill>
              </a:rPr>
              <a:t>E</a:t>
            </a:r>
            <a:r>
              <a:rPr lang="zh-CN" altLang="en-US" dirty="0">
                <a:solidFill>
                  <a:srgbClr val="000000"/>
                </a:solidFill>
              </a:rPr>
              <a:t>的补，</a:t>
            </a:r>
            <a:r>
              <a:rPr lang="en-US" altLang="zh-CN" dirty="0">
                <a:solidFill>
                  <a:srgbClr val="000000"/>
                </a:solidFill>
              </a:rPr>
              <a:t>E-A</a:t>
            </a:r>
            <a:r>
              <a:rPr lang="zh-CN" altLang="en-US" dirty="0">
                <a:solidFill>
                  <a:srgbClr val="000000"/>
                </a:solidFill>
              </a:rPr>
              <a:t>称为集合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的绝对补，记作 </a:t>
            </a:r>
            <a:r>
              <a:rPr lang="en-US" altLang="zh-CN" dirty="0">
                <a:solidFill>
                  <a:srgbClr val="000000"/>
                </a:solidFill>
              </a:rPr>
              <a:t>~A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~A=E-A={</a:t>
            </a:r>
            <a:r>
              <a:rPr lang="en-US" altLang="zh-CN" dirty="0" err="1">
                <a:solidFill>
                  <a:srgbClr val="000000"/>
                </a:solidFill>
              </a:rPr>
              <a:t>x|x∈E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kumimoji="0" lang="en-US" altLang="zh-CN" dirty="0">
                <a:solidFill>
                  <a:srgbClr val="000000"/>
                </a:solidFill>
              </a:rPr>
              <a:t>∧x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A</a:t>
            </a:r>
            <a:r>
              <a:rPr lang="en-US" altLang="zh-CN" dirty="0">
                <a:solidFill>
                  <a:srgbClr val="000000"/>
                </a:solidFill>
              </a:rPr>
              <a:t>}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</a:rPr>
              <a:t>文氏图定义</a:t>
            </a:r>
          </a:p>
        </p:txBody>
      </p:sp>
      <p:graphicFrame>
        <p:nvGraphicFramePr>
          <p:cNvPr id="186371" name="Object 3"/>
          <p:cNvGraphicFramePr>
            <a:graphicFrameLocks noChangeAspect="1"/>
          </p:cNvGraphicFramePr>
          <p:nvPr/>
        </p:nvGraphicFramePr>
        <p:xfrm>
          <a:off x="4483100" y="3167063"/>
          <a:ext cx="177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64" name="Equation" r:id="rId3" imgW="177480" imgH="380880" progId="Equation.3">
                  <p:embed/>
                </p:oleObj>
              </mc:Choice>
              <mc:Fallback>
                <p:oleObj name="Equation" r:id="rId3" imgW="177480" imgH="3808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3167063"/>
                        <a:ext cx="177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1147763" y="3573463"/>
          <a:ext cx="3352800" cy="198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65" name="Visio" r:id="rId5" imgW="2237132" imgH="1326260" progId="Visio.Drawing.11">
                  <p:embed/>
                </p:oleObj>
              </mc:Choice>
              <mc:Fallback>
                <p:oleObj name="Visio" r:id="rId5" imgW="2237132" imgH="132626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3573463"/>
                        <a:ext cx="3352800" cy="1982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4787900" y="3357563"/>
            <a:ext cx="381635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dirty="0"/>
              <a:t>补集的性质</a:t>
            </a:r>
          </a:p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a)  ~(~A)=A</a:t>
            </a:r>
          </a:p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b)  ~E=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c)  ~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en-US" altLang="zh-CN" dirty="0">
                <a:solidFill>
                  <a:srgbClr val="000000"/>
                </a:solidFill>
              </a:rPr>
              <a:t> =E</a:t>
            </a:r>
          </a:p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d)  A∪~A=E</a:t>
            </a:r>
          </a:p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e)  A∩~A=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F88248-7D70-457A-8C74-4859979D66D4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505858" name="Rectangle 2"/>
          <p:cNvSpPr>
            <a:spLocks noChangeArrowheads="1"/>
          </p:cNvSpPr>
          <p:nvPr/>
        </p:nvSpPr>
        <p:spPr bwMode="auto">
          <a:xfrm>
            <a:off x="720000" y="1366838"/>
            <a:ext cx="7916862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3-2.4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Arial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B</a:t>
            </a:r>
            <a:r>
              <a:rPr lang="zh-CN" altLang="en-US" dirty="0">
                <a:solidFill>
                  <a:srgbClr val="000000"/>
                </a:solidFill>
              </a:rPr>
              <a:t>为任意两个集合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a)  ~(A∪B)=~A∩~B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</a:rPr>
              <a:t>b)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  </a:t>
            </a:r>
            <a:r>
              <a:rPr lang="en-US" altLang="zh-CN" dirty="0">
                <a:solidFill>
                  <a:srgbClr val="000000"/>
                </a:solidFill>
              </a:rPr>
              <a:t>~ (A∩B)=~A∪~B</a:t>
            </a:r>
            <a:r>
              <a:rPr lang="en-US" altLang="zh-CN" dirty="0">
                <a:solidFill>
                  <a:srgbClr val="000000"/>
                </a:solidFill>
                <a:latin typeface="Arial" charset="0"/>
              </a:rPr>
              <a:t>			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20000" y="2780928"/>
            <a:ext cx="686752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lnSpc>
                <a:spcPct val="14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3-2.5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B</a:t>
            </a:r>
            <a:r>
              <a:rPr lang="zh-CN" altLang="en-US" dirty="0">
                <a:solidFill>
                  <a:srgbClr val="000000"/>
                </a:solidFill>
              </a:rPr>
              <a:t>为任意两个集合，则</a:t>
            </a:r>
          </a:p>
          <a:p>
            <a:pPr algn="just">
              <a:lnSpc>
                <a:spcPct val="140000"/>
              </a:lnSpc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</a:rPr>
              <a:t>        </a:t>
            </a:r>
            <a:r>
              <a:rPr lang="en-US" altLang="zh-CN" dirty="0">
                <a:solidFill>
                  <a:srgbClr val="000000"/>
                </a:solidFill>
              </a:rPr>
              <a:t>a) A-B=A∩~B        b) A-B=A-(A∩B) 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443663" y="3233465"/>
            <a:ext cx="2305050" cy="2016125"/>
          </a:xfrm>
          <a:prstGeom prst="wedgeRoundRectCallout">
            <a:avLst>
              <a:gd name="adj1" fmla="val -187532"/>
              <a:gd name="adj2" fmla="val -66773"/>
              <a:gd name="adj3" fmla="val 16667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buClrTx/>
              <a:buFontTx/>
              <a:buNone/>
            </a:pPr>
            <a:r>
              <a:rPr lang="zh-CN" altLang="en-US">
                <a:solidFill>
                  <a:srgbClr val="FFFF00"/>
                </a:solidFill>
              </a:rPr>
              <a:t>注意：此公式提供了一种将相对补运算转换为交运算的重要方法！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20000" y="3861048"/>
            <a:ext cx="5761038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 </a:t>
            </a:r>
            <a:r>
              <a:rPr lang="en-US" altLang="zh-CN" dirty="0">
                <a:solidFill>
                  <a:schemeClr val="hlink"/>
                </a:solidFill>
              </a:rPr>
              <a:t>3-2.6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为三个集合，则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 dirty="0"/>
              <a:t>          </a:t>
            </a:r>
            <a:r>
              <a:rPr lang="en-US" altLang="zh-CN" dirty="0"/>
              <a:t>A∩(B-C)=(A∩B)-(A∩C)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20000" y="4937943"/>
            <a:ext cx="6408738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3-2.7</a:t>
            </a:r>
            <a:r>
              <a:rPr lang="en-US" altLang="zh-CN" dirty="0"/>
              <a:t>  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为两个集合，若</a:t>
            </a:r>
            <a:r>
              <a:rPr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B</a:t>
            </a:r>
            <a:r>
              <a:rPr lang="zh-CN" altLang="en-US" dirty="0"/>
              <a:t>则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a) ~B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 ~A            b) (B-A)∪A=B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 autoUpdateAnimBg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DB4291-612D-4DAA-96EC-F6EB7A6A2FF0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90466" name="Rectangle 2"/>
          <p:cNvSpPr>
            <a:spLocks noChangeArrowheads="1"/>
          </p:cNvSpPr>
          <p:nvPr/>
        </p:nvSpPr>
        <p:spPr bwMode="auto">
          <a:xfrm>
            <a:off x="719138" y="1366838"/>
            <a:ext cx="7916862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3-2.5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为任意两个集合，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的对称差为集合</a:t>
            </a:r>
            <a:r>
              <a:rPr lang="en-US" altLang="zh-CN"/>
              <a:t>S</a:t>
            </a:r>
            <a:r>
              <a:rPr lang="zh-CN" altLang="en-US"/>
              <a:t>，其元素或属于</a:t>
            </a:r>
            <a:r>
              <a:rPr lang="en-US" altLang="zh-CN"/>
              <a:t>A</a:t>
            </a:r>
            <a:r>
              <a:rPr lang="zh-CN" altLang="en-US"/>
              <a:t>，或属于</a:t>
            </a:r>
            <a:r>
              <a:rPr lang="en-US" altLang="zh-CN"/>
              <a:t>B</a:t>
            </a:r>
            <a:r>
              <a:rPr lang="zh-CN" altLang="en-US"/>
              <a:t>，但不能既属于</a:t>
            </a:r>
            <a:r>
              <a:rPr lang="en-US" altLang="zh-CN"/>
              <a:t>A</a:t>
            </a:r>
            <a:r>
              <a:rPr lang="zh-CN" altLang="en-US"/>
              <a:t>又属于</a:t>
            </a:r>
            <a:r>
              <a:rPr lang="en-US" altLang="zh-CN"/>
              <a:t>B</a:t>
            </a:r>
            <a:r>
              <a:rPr lang="zh-CN" altLang="en-US"/>
              <a:t>，记作</a:t>
            </a:r>
            <a:r>
              <a:rPr lang="en-US" altLang="zh-CN"/>
              <a:t>A⊕B</a:t>
            </a:r>
            <a:r>
              <a:rPr lang="zh-CN" altLang="en-US"/>
              <a:t>。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S=A⊕B=(A-B)∪(B-A)={ x|x∈A     x∈B }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文氏图定义</a:t>
            </a:r>
          </a:p>
        </p:txBody>
      </p:sp>
      <p:graphicFrame>
        <p:nvGraphicFramePr>
          <p:cNvPr id="190467" name="Object 3"/>
          <p:cNvGraphicFramePr>
            <a:graphicFrameLocks noChangeAspect="1"/>
          </p:cNvGraphicFramePr>
          <p:nvPr/>
        </p:nvGraphicFramePr>
        <p:xfrm>
          <a:off x="3059113" y="3787775"/>
          <a:ext cx="3352800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661" name="Visio" r:id="rId3" imgW="2237132" imgH="1326260" progId="Visio.Drawing.11">
                  <p:embed/>
                </p:oleObj>
              </mc:Choice>
              <mc:Fallback>
                <p:oleObj name="Visio" r:id="rId3" imgW="2237132" imgH="132626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787775"/>
                        <a:ext cx="3352800" cy="1982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1258888" y="476250"/>
            <a:ext cx="51847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四、集合的对称差⊕</a:t>
            </a:r>
          </a:p>
        </p:txBody>
      </p:sp>
      <p:graphicFrame>
        <p:nvGraphicFramePr>
          <p:cNvPr id="190470" name="Object 6"/>
          <p:cNvGraphicFramePr>
            <a:graphicFrameLocks noChangeAspect="1"/>
          </p:cNvGraphicFramePr>
          <p:nvPr/>
        </p:nvGraphicFramePr>
        <p:xfrm>
          <a:off x="5162550" y="2733675"/>
          <a:ext cx="280988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662" name="Equation" r:id="rId5" imgW="139680" imgH="152280" progId="Equation.DSMT4">
                  <p:embed/>
                </p:oleObj>
              </mc:Choice>
              <mc:Fallback>
                <p:oleObj name="Equation" r:id="rId5" imgW="139680" imgH="1522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2550" y="2733675"/>
                        <a:ext cx="280988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7DD54E-ECC3-4D3B-A561-18F3345332C9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91490" name="Rectangle 2"/>
          <p:cNvSpPr>
            <a:spLocks noChangeArrowheads="1"/>
          </p:cNvSpPr>
          <p:nvPr/>
        </p:nvSpPr>
        <p:spPr bwMode="auto">
          <a:xfrm>
            <a:off x="719138" y="1268413"/>
            <a:ext cx="5329237" cy="4413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  <a:latin typeface="Arial" charset="0"/>
              </a:rPr>
              <a:t>⊕</a:t>
            </a:r>
            <a:r>
              <a:rPr lang="zh-CN" altLang="en-US" dirty="0">
                <a:solidFill>
                  <a:schemeClr val="hlink"/>
                </a:solidFill>
              </a:rPr>
              <a:t>性质</a:t>
            </a:r>
            <a:endParaRPr lang="zh-CN" altLang="en-US" b="0" dirty="0">
              <a:solidFill>
                <a:schemeClr val="hlink"/>
              </a:solidFill>
            </a:endParaRP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a)  A⊕B=B⊕A</a:t>
            </a:r>
            <a:endParaRPr lang="en-US" altLang="zh-CN" b="0" dirty="0"/>
          </a:p>
          <a:p>
            <a:pPr algn="just">
              <a:lnSpc>
                <a:spcPct val="130000"/>
              </a:lnSpc>
              <a:buClrTx/>
              <a:buNone/>
            </a:pPr>
            <a:r>
              <a:rPr lang="en-US" altLang="zh-CN" dirty="0"/>
              <a:t>b)  A</a:t>
            </a:r>
            <a:r>
              <a:rPr lang="en-US" altLang="zh-CN" dirty="0" smtClean="0"/>
              <a:t>⊕</a:t>
            </a:r>
            <a:r>
              <a:rPr lang="en-US" altLang="zh-CN" dirty="0" smtClean="0">
                <a:sym typeface="Symbol"/>
              </a:rPr>
              <a:t></a:t>
            </a:r>
            <a:r>
              <a:rPr lang="en-US" altLang="zh-CN" dirty="0" smtClean="0"/>
              <a:t>=</a:t>
            </a:r>
            <a:r>
              <a:rPr lang="en-US" altLang="zh-CN" dirty="0"/>
              <a:t>A</a:t>
            </a:r>
            <a:endParaRPr lang="en-US" altLang="zh-CN" b="0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c)  A⊕A= </a:t>
            </a:r>
            <a:r>
              <a:rPr lang="en-US" altLang="zh-CN" dirty="0">
                <a:sym typeface="Symbol" pitchFamily="18" charset="2"/>
              </a:rPr>
              <a:t></a:t>
            </a:r>
            <a:endParaRPr lang="en-US" altLang="zh-CN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d)  A⊕B=(A∩~ B)∪(~A∩B)</a:t>
            </a:r>
            <a:endParaRPr lang="en-US" altLang="zh-CN" b="0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e)  (A⊕B)⊕C=A⊕(B⊕C)</a:t>
            </a:r>
            <a:endParaRPr lang="en-US" altLang="zh-CN" b="0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下列关系成立</a:t>
            </a:r>
            <a:endParaRPr lang="zh-CN" altLang="en-US" b="0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A∪B=(A∩~B)∪(B∩~A)∪(A∩B)</a:t>
            </a:r>
            <a:endParaRPr lang="en-US" altLang="zh-CN" b="0" dirty="0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A∪B=(A⊕B)∪(A∩B)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pSp>
        <p:nvGrpSpPr>
          <p:cNvPr id="191582" name="Group 94"/>
          <p:cNvGrpSpPr>
            <a:grpSpLocks/>
          </p:cNvGrpSpPr>
          <p:nvPr/>
        </p:nvGrpSpPr>
        <p:grpSpPr bwMode="auto">
          <a:xfrm>
            <a:off x="5507038" y="1627188"/>
            <a:ext cx="3025775" cy="1511300"/>
            <a:chOff x="3333" y="1117"/>
            <a:chExt cx="1906" cy="952"/>
          </a:xfrm>
        </p:grpSpPr>
        <p:grpSp>
          <p:nvGrpSpPr>
            <p:cNvPr id="191491" name="Group 3"/>
            <p:cNvGrpSpPr>
              <a:grpSpLocks/>
            </p:cNvGrpSpPr>
            <p:nvPr/>
          </p:nvGrpSpPr>
          <p:grpSpPr bwMode="auto">
            <a:xfrm>
              <a:off x="3333" y="1117"/>
              <a:ext cx="1906" cy="952"/>
              <a:chOff x="2608" y="618"/>
              <a:chExt cx="2314" cy="1224"/>
            </a:xfrm>
          </p:grpSpPr>
          <p:grpSp>
            <p:nvGrpSpPr>
              <p:cNvPr id="191492" name="Group 4"/>
              <p:cNvGrpSpPr>
                <a:grpSpLocks/>
              </p:cNvGrpSpPr>
              <p:nvPr/>
            </p:nvGrpSpPr>
            <p:grpSpPr bwMode="auto">
              <a:xfrm>
                <a:off x="2608" y="618"/>
                <a:ext cx="2314" cy="1224"/>
                <a:chOff x="2608" y="618"/>
                <a:chExt cx="2314" cy="1224"/>
              </a:xfrm>
            </p:grpSpPr>
            <p:sp>
              <p:nvSpPr>
                <p:cNvPr id="191493" name="Rectangle 5"/>
                <p:cNvSpPr>
                  <a:spLocks noChangeArrowheads="1"/>
                </p:cNvSpPr>
                <p:nvPr/>
              </p:nvSpPr>
              <p:spPr bwMode="auto">
                <a:xfrm>
                  <a:off x="2608" y="618"/>
                  <a:ext cx="2314" cy="1224"/>
                </a:xfrm>
                <a:prstGeom prst="rect">
                  <a:avLst/>
                </a:prstGeom>
                <a:noFill/>
                <a:ln w="38100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1494" name="Oval 6"/>
                <p:cNvSpPr>
                  <a:spLocks noChangeArrowheads="1"/>
                </p:cNvSpPr>
                <p:nvPr/>
              </p:nvSpPr>
              <p:spPr bwMode="auto">
                <a:xfrm>
                  <a:off x="2971" y="663"/>
                  <a:ext cx="952" cy="681"/>
                </a:xfrm>
                <a:prstGeom prst="ellipse">
                  <a:avLst/>
                </a:prstGeom>
                <a:noFill/>
                <a:ln w="28575" algn="ctr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1495" name="Oval 7"/>
                <p:cNvSpPr>
                  <a:spLocks noChangeArrowheads="1"/>
                </p:cNvSpPr>
                <p:nvPr/>
              </p:nvSpPr>
              <p:spPr bwMode="auto">
                <a:xfrm>
                  <a:off x="3606" y="663"/>
                  <a:ext cx="907" cy="681"/>
                </a:xfrm>
                <a:prstGeom prst="ellipse">
                  <a:avLst/>
                </a:prstGeom>
                <a:noFill/>
                <a:ln w="28575" algn="ctr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1496" name="Oval 8"/>
                <p:cNvSpPr>
                  <a:spLocks noChangeArrowheads="1"/>
                </p:cNvSpPr>
                <p:nvPr/>
              </p:nvSpPr>
              <p:spPr bwMode="auto">
                <a:xfrm>
                  <a:off x="3288" y="1026"/>
                  <a:ext cx="907" cy="681"/>
                </a:xfrm>
                <a:prstGeom prst="ellipse">
                  <a:avLst/>
                </a:prstGeom>
                <a:noFill/>
                <a:ln w="28575" algn="ctr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1497" name="Text Box 9"/>
              <p:cNvSpPr txBox="1">
                <a:spLocks noChangeArrowheads="1"/>
              </p:cNvSpPr>
              <p:nvPr/>
            </p:nvSpPr>
            <p:spPr bwMode="auto">
              <a:xfrm>
                <a:off x="3198" y="891"/>
                <a:ext cx="226" cy="3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91498" name="Text Box 10"/>
              <p:cNvSpPr txBox="1">
                <a:spLocks noChangeArrowheads="1"/>
              </p:cNvSpPr>
              <p:nvPr/>
            </p:nvSpPr>
            <p:spPr bwMode="auto">
              <a:xfrm>
                <a:off x="4058" y="844"/>
                <a:ext cx="227" cy="3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91499" name="Text Box 11"/>
              <p:cNvSpPr txBox="1">
                <a:spLocks noChangeArrowheads="1"/>
              </p:cNvSpPr>
              <p:nvPr/>
            </p:nvSpPr>
            <p:spPr bwMode="auto">
              <a:xfrm>
                <a:off x="3606" y="1389"/>
                <a:ext cx="226" cy="3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191500" name="Text Box 12"/>
              <p:cNvSpPr txBox="1">
                <a:spLocks noChangeArrowheads="1"/>
              </p:cNvSpPr>
              <p:nvPr/>
            </p:nvSpPr>
            <p:spPr bwMode="auto">
              <a:xfrm>
                <a:off x="4604" y="754"/>
                <a:ext cx="226" cy="3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>
                    <a:solidFill>
                      <a:schemeClr val="tx1"/>
                    </a:solidFill>
                  </a:rPr>
                  <a:t>E</a:t>
                </a:r>
              </a:p>
            </p:txBody>
          </p:sp>
        </p:grpSp>
        <p:sp>
          <p:nvSpPr>
            <p:cNvPr id="191511" name="Line 23"/>
            <p:cNvSpPr>
              <a:spLocks noChangeShapeType="1"/>
            </p:cNvSpPr>
            <p:nvPr/>
          </p:nvSpPr>
          <p:spPr bwMode="auto">
            <a:xfrm flipH="1">
              <a:off x="3651" y="1253"/>
              <a:ext cx="91" cy="22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12" name="Line 24"/>
            <p:cNvSpPr>
              <a:spLocks noChangeAspect="1" noChangeShapeType="1"/>
            </p:cNvSpPr>
            <p:nvPr/>
          </p:nvSpPr>
          <p:spPr bwMode="auto">
            <a:xfrm flipH="1">
              <a:off x="3705" y="1200"/>
              <a:ext cx="141" cy="3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13" name="Line 25"/>
            <p:cNvSpPr>
              <a:spLocks noChangeAspect="1" noChangeShapeType="1"/>
            </p:cNvSpPr>
            <p:nvPr/>
          </p:nvSpPr>
          <p:spPr bwMode="auto">
            <a:xfrm flipH="1">
              <a:off x="3760" y="1162"/>
              <a:ext cx="184" cy="46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14" name="Line 26"/>
            <p:cNvSpPr>
              <a:spLocks noChangeAspect="1" noChangeShapeType="1"/>
            </p:cNvSpPr>
            <p:nvPr/>
          </p:nvSpPr>
          <p:spPr bwMode="auto">
            <a:xfrm flipH="1">
              <a:off x="3833" y="1146"/>
              <a:ext cx="202" cy="50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16" name="Line 28"/>
            <p:cNvSpPr>
              <a:spLocks noChangeAspect="1" noChangeShapeType="1"/>
            </p:cNvSpPr>
            <p:nvPr/>
          </p:nvSpPr>
          <p:spPr bwMode="auto">
            <a:xfrm flipH="1">
              <a:off x="3914" y="1162"/>
              <a:ext cx="202" cy="50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17" name="Line 29"/>
            <p:cNvSpPr>
              <a:spLocks noChangeAspect="1" noChangeShapeType="1"/>
            </p:cNvSpPr>
            <p:nvPr/>
          </p:nvSpPr>
          <p:spPr bwMode="auto">
            <a:xfrm flipH="1">
              <a:off x="3993" y="1180"/>
              <a:ext cx="202" cy="50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18" name="Line 30"/>
            <p:cNvSpPr>
              <a:spLocks noChangeAspect="1" noChangeShapeType="1"/>
            </p:cNvSpPr>
            <p:nvPr/>
          </p:nvSpPr>
          <p:spPr bwMode="auto">
            <a:xfrm flipH="1">
              <a:off x="4077" y="1463"/>
              <a:ext cx="86" cy="21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19" name="Line 31"/>
            <p:cNvSpPr>
              <a:spLocks noChangeAspect="1" noChangeShapeType="1"/>
            </p:cNvSpPr>
            <p:nvPr/>
          </p:nvSpPr>
          <p:spPr bwMode="auto">
            <a:xfrm flipH="1">
              <a:off x="4164" y="1552"/>
              <a:ext cx="43" cy="10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20" name="Line 32"/>
            <p:cNvSpPr>
              <a:spLocks noChangeAspect="1" noChangeShapeType="1"/>
            </p:cNvSpPr>
            <p:nvPr/>
          </p:nvSpPr>
          <p:spPr bwMode="auto">
            <a:xfrm flipH="1">
              <a:off x="4359" y="1189"/>
              <a:ext cx="27" cy="6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21" name="Line 33"/>
            <p:cNvSpPr>
              <a:spLocks noChangeAspect="1" noChangeShapeType="1"/>
            </p:cNvSpPr>
            <p:nvPr/>
          </p:nvSpPr>
          <p:spPr bwMode="auto">
            <a:xfrm flipH="1">
              <a:off x="4395" y="1144"/>
              <a:ext cx="77" cy="19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22" name="Line 34"/>
            <p:cNvSpPr>
              <a:spLocks noChangeAspect="1" noChangeShapeType="1"/>
            </p:cNvSpPr>
            <p:nvPr/>
          </p:nvSpPr>
          <p:spPr bwMode="auto">
            <a:xfrm flipH="1">
              <a:off x="4341" y="1153"/>
              <a:ext cx="202" cy="50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23" name="Line 35"/>
            <p:cNvSpPr>
              <a:spLocks noChangeAspect="1" noChangeShapeType="1"/>
            </p:cNvSpPr>
            <p:nvPr/>
          </p:nvSpPr>
          <p:spPr bwMode="auto">
            <a:xfrm flipH="1">
              <a:off x="4431" y="1171"/>
              <a:ext cx="202" cy="50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24" name="Line 36"/>
            <p:cNvSpPr>
              <a:spLocks noChangeAspect="1" noChangeShapeType="1"/>
            </p:cNvSpPr>
            <p:nvPr/>
          </p:nvSpPr>
          <p:spPr bwMode="auto">
            <a:xfrm flipH="1">
              <a:off x="4522" y="1198"/>
              <a:ext cx="195" cy="48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25" name="Line 37"/>
            <p:cNvSpPr>
              <a:spLocks noChangeAspect="1" noChangeShapeType="1"/>
            </p:cNvSpPr>
            <p:nvPr/>
          </p:nvSpPr>
          <p:spPr bwMode="auto">
            <a:xfrm flipH="1">
              <a:off x="4628" y="1234"/>
              <a:ext cx="170" cy="4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26" name="Line 38"/>
            <p:cNvSpPr>
              <a:spLocks noChangeAspect="1" noChangeShapeType="1"/>
            </p:cNvSpPr>
            <p:nvPr/>
          </p:nvSpPr>
          <p:spPr bwMode="auto">
            <a:xfrm flipH="1">
              <a:off x="4744" y="1298"/>
              <a:ext cx="131" cy="32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1595" name="Group 107"/>
          <p:cNvGrpSpPr>
            <a:grpSpLocks/>
          </p:cNvGrpSpPr>
          <p:nvPr/>
        </p:nvGrpSpPr>
        <p:grpSpPr bwMode="auto">
          <a:xfrm>
            <a:off x="5507038" y="3500438"/>
            <a:ext cx="3025775" cy="1511300"/>
            <a:chOff x="3333" y="2433"/>
            <a:chExt cx="1906" cy="952"/>
          </a:xfrm>
        </p:grpSpPr>
        <p:grpSp>
          <p:nvGrpSpPr>
            <p:cNvPr id="191501" name="Group 13"/>
            <p:cNvGrpSpPr>
              <a:grpSpLocks/>
            </p:cNvGrpSpPr>
            <p:nvPr/>
          </p:nvGrpSpPr>
          <p:grpSpPr bwMode="auto">
            <a:xfrm>
              <a:off x="3333" y="2433"/>
              <a:ext cx="1906" cy="952"/>
              <a:chOff x="2608" y="618"/>
              <a:chExt cx="2314" cy="1224"/>
            </a:xfrm>
          </p:grpSpPr>
          <p:grpSp>
            <p:nvGrpSpPr>
              <p:cNvPr id="191502" name="Group 14"/>
              <p:cNvGrpSpPr>
                <a:grpSpLocks/>
              </p:cNvGrpSpPr>
              <p:nvPr/>
            </p:nvGrpSpPr>
            <p:grpSpPr bwMode="auto">
              <a:xfrm>
                <a:off x="2608" y="618"/>
                <a:ext cx="2314" cy="1224"/>
                <a:chOff x="2608" y="618"/>
                <a:chExt cx="2314" cy="1224"/>
              </a:xfrm>
            </p:grpSpPr>
            <p:sp>
              <p:nvSpPr>
                <p:cNvPr id="191503" name="Rectangle 15"/>
                <p:cNvSpPr>
                  <a:spLocks noChangeArrowheads="1"/>
                </p:cNvSpPr>
                <p:nvPr/>
              </p:nvSpPr>
              <p:spPr bwMode="auto">
                <a:xfrm>
                  <a:off x="2608" y="618"/>
                  <a:ext cx="2314" cy="1224"/>
                </a:xfrm>
                <a:prstGeom prst="rect">
                  <a:avLst/>
                </a:prstGeom>
                <a:noFill/>
                <a:ln w="38100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1504" name="Oval 16"/>
                <p:cNvSpPr>
                  <a:spLocks noChangeArrowheads="1"/>
                </p:cNvSpPr>
                <p:nvPr/>
              </p:nvSpPr>
              <p:spPr bwMode="auto">
                <a:xfrm>
                  <a:off x="2971" y="663"/>
                  <a:ext cx="952" cy="681"/>
                </a:xfrm>
                <a:prstGeom prst="ellipse">
                  <a:avLst/>
                </a:prstGeom>
                <a:noFill/>
                <a:ln w="28575" algn="ctr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1505" name="Oval 17"/>
                <p:cNvSpPr>
                  <a:spLocks noChangeArrowheads="1"/>
                </p:cNvSpPr>
                <p:nvPr/>
              </p:nvSpPr>
              <p:spPr bwMode="auto">
                <a:xfrm>
                  <a:off x="3606" y="663"/>
                  <a:ext cx="907" cy="681"/>
                </a:xfrm>
                <a:prstGeom prst="ellipse">
                  <a:avLst/>
                </a:prstGeom>
                <a:noFill/>
                <a:ln w="28575" algn="ctr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1506" name="Oval 18"/>
                <p:cNvSpPr>
                  <a:spLocks noChangeArrowheads="1"/>
                </p:cNvSpPr>
                <p:nvPr/>
              </p:nvSpPr>
              <p:spPr bwMode="auto">
                <a:xfrm>
                  <a:off x="3288" y="1026"/>
                  <a:ext cx="907" cy="681"/>
                </a:xfrm>
                <a:prstGeom prst="ellipse">
                  <a:avLst/>
                </a:prstGeom>
                <a:noFill/>
                <a:ln w="28575" algn="ctr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1507" name="Text Box 19"/>
              <p:cNvSpPr txBox="1">
                <a:spLocks noChangeArrowheads="1"/>
              </p:cNvSpPr>
              <p:nvPr/>
            </p:nvSpPr>
            <p:spPr bwMode="auto">
              <a:xfrm>
                <a:off x="3198" y="891"/>
                <a:ext cx="226" cy="3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>
                    <a:solidFill>
                      <a:schemeClr val="tx1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91508" name="Text Box 20"/>
              <p:cNvSpPr txBox="1">
                <a:spLocks noChangeArrowheads="1"/>
              </p:cNvSpPr>
              <p:nvPr/>
            </p:nvSpPr>
            <p:spPr bwMode="auto">
              <a:xfrm>
                <a:off x="4058" y="844"/>
                <a:ext cx="227" cy="3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>
                    <a:solidFill>
                      <a:schemeClr val="tx1"/>
                    </a:solidFill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91509" name="Text Box 21"/>
              <p:cNvSpPr txBox="1">
                <a:spLocks noChangeArrowheads="1"/>
              </p:cNvSpPr>
              <p:nvPr/>
            </p:nvSpPr>
            <p:spPr bwMode="auto">
              <a:xfrm>
                <a:off x="3606" y="1389"/>
                <a:ext cx="226" cy="3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>
                    <a:solidFill>
                      <a:schemeClr val="tx1"/>
                    </a:solidFill>
                    <a:ea typeface="楷体_GB2312" pitchFamily="49" charset="-122"/>
                  </a:rPr>
                  <a:t>C</a:t>
                </a:r>
              </a:p>
            </p:txBody>
          </p:sp>
          <p:sp>
            <p:nvSpPr>
              <p:cNvPr id="191510" name="Text Box 22"/>
              <p:cNvSpPr txBox="1">
                <a:spLocks noChangeArrowheads="1"/>
              </p:cNvSpPr>
              <p:nvPr/>
            </p:nvSpPr>
            <p:spPr bwMode="auto">
              <a:xfrm>
                <a:off x="4604" y="754"/>
                <a:ext cx="226" cy="3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>
                    <a:solidFill>
                      <a:schemeClr val="tx1"/>
                    </a:solidFill>
                    <a:ea typeface="楷体_GB2312" pitchFamily="49" charset="-122"/>
                  </a:rPr>
                  <a:t>E</a:t>
                </a:r>
              </a:p>
            </p:txBody>
          </p:sp>
        </p:grpSp>
        <p:sp>
          <p:nvSpPr>
            <p:cNvPr id="191581" name="Line 93"/>
            <p:cNvSpPr>
              <a:spLocks noChangeAspect="1" noChangeShapeType="1"/>
            </p:cNvSpPr>
            <p:nvPr/>
          </p:nvSpPr>
          <p:spPr bwMode="auto">
            <a:xfrm flipH="1">
              <a:off x="3917" y="2813"/>
              <a:ext cx="113" cy="28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83" name="Line 95"/>
            <p:cNvSpPr>
              <a:spLocks noChangeAspect="1" noChangeShapeType="1"/>
            </p:cNvSpPr>
            <p:nvPr/>
          </p:nvSpPr>
          <p:spPr bwMode="auto">
            <a:xfrm flipH="1">
              <a:off x="3978" y="2768"/>
              <a:ext cx="170" cy="42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84" name="Line 96"/>
            <p:cNvSpPr>
              <a:spLocks noChangeAspect="1" noChangeShapeType="1"/>
            </p:cNvSpPr>
            <p:nvPr/>
          </p:nvSpPr>
          <p:spPr bwMode="auto">
            <a:xfrm flipH="1">
              <a:off x="4068" y="2876"/>
              <a:ext cx="141" cy="3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85" name="Line 97"/>
            <p:cNvSpPr>
              <a:spLocks noChangeAspect="1" noChangeShapeType="1"/>
            </p:cNvSpPr>
            <p:nvPr/>
          </p:nvSpPr>
          <p:spPr bwMode="auto">
            <a:xfrm flipH="1">
              <a:off x="4159" y="2942"/>
              <a:ext cx="127" cy="31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86" name="Line 98"/>
            <p:cNvSpPr>
              <a:spLocks noChangeAspect="1" noChangeShapeType="1"/>
            </p:cNvSpPr>
            <p:nvPr/>
          </p:nvSpPr>
          <p:spPr bwMode="auto">
            <a:xfrm flipH="1">
              <a:off x="4481" y="3022"/>
              <a:ext cx="84" cy="20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87" name="Line 99"/>
            <p:cNvSpPr>
              <a:spLocks noChangeAspect="1" noChangeShapeType="1"/>
            </p:cNvSpPr>
            <p:nvPr/>
          </p:nvSpPr>
          <p:spPr bwMode="auto">
            <a:xfrm flipH="1">
              <a:off x="4250" y="2976"/>
              <a:ext cx="127" cy="31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88" name="Line 100"/>
            <p:cNvSpPr>
              <a:spLocks noChangeAspect="1" noChangeShapeType="1"/>
            </p:cNvSpPr>
            <p:nvPr/>
          </p:nvSpPr>
          <p:spPr bwMode="auto">
            <a:xfrm flipH="1">
              <a:off x="4359" y="2986"/>
              <a:ext cx="116" cy="29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89" name="Line 101"/>
            <p:cNvSpPr>
              <a:spLocks noChangeAspect="1" noChangeShapeType="1"/>
            </p:cNvSpPr>
            <p:nvPr/>
          </p:nvSpPr>
          <p:spPr bwMode="auto">
            <a:xfrm flipH="1">
              <a:off x="4259" y="2514"/>
              <a:ext cx="91" cy="22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90" name="Line 102"/>
            <p:cNvSpPr>
              <a:spLocks noChangeAspect="1" noChangeShapeType="1"/>
            </p:cNvSpPr>
            <p:nvPr/>
          </p:nvSpPr>
          <p:spPr bwMode="auto">
            <a:xfrm flipH="1">
              <a:off x="4350" y="2478"/>
              <a:ext cx="113" cy="28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91" name="Line 103"/>
            <p:cNvSpPr>
              <a:spLocks noChangeAspect="1" noChangeShapeType="1"/>
            </p:cNvSpPr>
            <p:nvPr/>
          </p:nvSpPr>
          <p:spPr bwMode="auto">
            <a:xfrm flipH="1">
              <a:off x="4449" y="2469"/>
              <a:ext cx="127" cy="31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92" name="Line 104"/>
            <p:cNvSpPr>
              <a:spLocks noChangeAspect="1" noChangeShapeType="1"/>
            </p:cNvSpPr>
            <p:nvPr/>
          </p:nvSpPr>
          <p:spPr bwMode="auto">
            <a:xfrm flipH="1">
              <a:off x="4535" y="2478"/>
              <a:ext cx="141" cy="35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93" name="Line 105"/>
            <p:cNvSpPr>
              <a:spLocks noChangeAspect="1" noChangeShapeType="1"/>
            </p:cNvSpPr>
            <p:nvPr/>
          </p:nvSpPr>
          <p:spPr bwMode="auto">
            <a:xfrm flipH="1">
              <a:off x="4613" y="2523"/>
              <a:ext cx="152" cy="37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594" name="Line 106"/>
            <p:cNvSpPr>
              <a:spLocks noChangeAspect="1" noChangeShapeType="1"/>
            </p:cNvSpPr>
            <p:nvPr/>
          </p:nvSpPr>
          <p:spPr bwMode="auto">
            <a:xfrm flipH="1">
              <a:off x="4688" y="2579"/>
              <a:ext cx="159" cy="39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0F9CAF-5F3D-478D-8111-542913EABC64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501762" name="Rectangle 2"/>
          <p:cNvSpPr>
            <a:spLocks noChangeArrowheads="1"/>
          </p:cNvSpPr>
          <p:nvPr/>
        </p:nvSpPr>
        <p:spPr bwMode="auto">
          <a:xfrm>
            <a:off x="719138" y="1268413"/>
            <a:ext cx="7916862" cy="392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zh-CN" altLang="en-US">
                <a:solidFill>
                  <a:schemeClr val="hlink"/>
                </a:solidFill>
              </a:rPr>
              <a:t>证明集合相等的四种方法</a:t>
            </a:r>
          </a:p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US" altLang="zh-CN"/>
              <a:t>1) </a:t>
            </a:r>
            <a:r>
              <a:rPr lang="zh-CN" altLang="en-US"/>
              <a:t>基本法：利用集合相等的充要条件</a:t>
            </a:r>
            <a:r>
              <a:rPr lang="en-US" altLang="zh-CN">
                <a:solidFill>
                  <a:schemeClr val="hlink"/>
                </a:solidFill>
              </a:rPr>
              <a:t>A</a:t>
            </a:r>
            <a:r>
              <a:rPr lang="en-US" altLang="zh-CN" baseline="-25000">
                <a:solidFill>
                  <a:schemeClr val="hlink"/>
                </a:solidFill>
              </a:rPr>
              <a:t>1 </a:t>
            </a:r>
            <a:r>
              <a:rPr lang="en-US" altLang="zh-CN" b="0">
                <a:solidFill>
                  <a:schemeClr val="hlink"/>
                </a:solidFill>
                <a:sym typeface="Symbol" pitchFamily="18" charset="2"/>
              </a:rPr>
              <a:t></a:t>
            </a:r>
            <a:r>
              <a:rPr lang="en-US" altLang="zh-CN" baseline="-25000">
                <a:solidFill>
                  <a:schemeClr val="hlink"/>
                </a:solidFill>
              </a:rPr>
              <a:t> </a:t>
            </a:r>
            <a:r>
              <a:rPr lang="en-US" altLang="zh-CN">
                <a:solidFill>
                  <a:schemeClr val="hlink"/>
                </a:solidFill>
              </a:rPr>
              <a:t>A</a:t>
            </a:r>
            <a:r>
              <a:rPr lang="en-US" altLang="zh-CN" baseline="-25000">
                <a:solidFill>
                  <a:schemeClr val="hlink"/>
                </a:solidFill>
              </a:rPr>
              <a:t>2</a:t>
            </a:r>
            <a:r>
              <a:rPr kumimoji="0" lang="en-US" altLang="zh-CN" b="0">
                <a:solidFill>
                  <a:schemeClr val="hlink"/>
                </a:solidFill>
                <a:sym typeface="Symbol" pitchFamily="18" charset="2"/>
              </a:rPr>
              <a:t>∧</a:t>
            </a:r>
            <a:r>
              <a:rPr lang="en-US" altLang="zh-CN">
                <a:solidFill>
                  <a:schemeClr val="hlink"/>
                </a:solidFill>
              </a:rPr>
              <a:t>A</a:t>
            </a:r>
            <a:r>
              <a:rPr lang="en-US" altLang="zh-CN" baseline="-25000">
                <a:solidFill>
                  <a:schemeClr val="hlink"/>
                </a:solidFill>
              </a:rPr>
              <a:t>2 </a:t>
            </a:r>
            <a:r>
              <a:rPr lang="en-US" altLang="zh-CN">
                <a:solidFill>
                  <a:schemeClr val="hlink"/>
                </a:solidFill>
                <a:sym typeface="Symbol" pitchFamily="18" charset="2"/>
              </a:rPr>
              <a:t></a:t>
            </a:r>
            <a:r>
              <a:rPr lang="en-US" altLang="zh-CN" baseline="-25000">
                <a:solidFill>
                  <a:schemeClr val="hlink"/>
                </a:solidFill>
              </a:rPr>
              <a:t> </a:t>
            </a:r>
            <a:r>
              <a:rPr lang="en-US" altLang="zh-CN">
                <a:solidFill>
                  <a:schemeClr val="hlink"/>
                </a:solidFill>
              </a:rPr>
              <a:t>A</a:t>
            </a:r>
            <a:r>
              <a:rPr lang="en-US" altLang="zh-CN" baseline="-25000">
                <a:solidFill>
                  <a:schemeClr val="hlink"/>
                </a:solidFill>
              </a:rPr>
              <a:t>1</a:t>
            </a:r>
            <a:r>
              <a:rPr lang="en-US" altLang="zh-CN" baseline="-25000">
                <a:solidFill>
                  <a:schemeClr val="tx1"/>
                </a:solidFill>
              </a:rPr>
              <a:t> </a:t>
            </a:r>
            <a:endParaRPr lang="en-US" altLang="zh-CN"/>
          </a:p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US" altLang="zh-CN"/>
              <a:t>2) </a:t>
            </a:r>
            <a:r>
              <a:rPr lang="zh-CN" altLang="en-US"/>
              <a:t>集合法：使用谓词描述集合，利用逻辑运算性质。</a:t>
            </a:r>
          </a:p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kumimoji="0" lang="zh-CN" altLang="en-US" b="0">
                <a:solidFill>
                  <a:schemeClr val="hlink"/>
                </a:solidFill>
                <a:sym typeface="Symbol" pitchFamily="18" charset="2"/>
              </a:rPr>
              <a:t></a:t>
            </a:r>
            <a:r>
              <a:rPr lang="zh-CN" altLang="en-US" b="0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hlink"/>
                </a:solidFill>
              </a:rPr>
              <a:t>x∈A</a:t>
            </a:r>
            <a:r>
              <a:rPr lang="en-US" altLang="zh-CN" baseline="-25000">
                <a:solidFill>
                  <a:schemeClr val="hlink"/>
                </a:solidFill>
              </a:rPr>
              <a:t>1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>
                <a:solidFill>
                  <a:schemeClr val="hlink"/>
                </a:solidFill>
                <a:sym typeface="Symbol" pitchFamily="18" charset="2"/>
              </a:rPr>
              <a:t></a:t>
            </a:r>
            <a:r>
              <a:rPr lang="en-US" altLang="zh-CN">
                <a:solidFill>
                  <a:schemeClr val="hlink"/>
                </a:solidFill>
              </a:rPr>
              <a:t>x∈A</a:t>
            </a:r>
            <a:r>
              <a:rPr lang="en-US" altLang="zh-CN" baseline="-25000">
                <a:solidFill>
                  <a:schemeClr val="hlink"/>
                </a:solidFill>
              </a:rPr>
              <a:t>2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</a:rPr>
              <a:t>和 </a:t>
            </a:r>
            <a:r>
              <a:rPr kumimoji="0" lang="zh-CN" altLang="en-US" b="0">
                <a:solidFill>
                  <a:schemeClr val="hlink"/>
                </a:solidFill>
                <a:sym typeface="Symbol" pitchFamily="18" charset="2"/>
              </a:rPr>
              <a:t></a:t>
            </a:r>
            <a:r>
              <a:rPr lang="en-US" altLang="zh-CN">
                <a:solidFill>
                  <a:schemeClr val="hlink"/>
                </a:solidFill>
              </a:rPr>
              <a:t>x∈A</a:t>
            </a:r>
            <a:r>
              <a:rPr lang="en-US" altLang="zh-CN" baseline="-25000">
                <a:solidFill>
                  <a:schemeClr val="hlink"/>
                </a:solidFill>
              </a:rPr>
              <a:t>2 </a:t>
            </a:r>
            <a:r>
              <a:rPr lang="en-US" altLang="zh-CN">
                <a:solidFill>
                  <a:schemeClr val="hlink"/>
                </a:solidFill>
                <a:sym typeface="Symbol" pitchFamily="18" charset="2"/>
              </a:rPr>
              <a:t></a:t>
            </a:r>
            <a:r>
              <a:rPr lang="en-US" altLang="zh-CN">
                <a:solidFill>
                  <a:schemeClr val="hlink"/>
                </a:solidFill>
              </a:rPr>
              <a:t> x∈ A</a:t>
            </a:r>
            <a:r>
              <a:rPr lang="en-US" altLang="zh-CN" baseline="-25000">
                <a:solidFill>
                  <a:schemeClr val="hlink"/>
                </a:solidFill>
              </a:rPr>
              <a:t>1</a:t>
            </a:r>
            <a:endParaRPr lang="en-US" altLang="zh-CN"/>
          </a:p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US" altLang="zh-CN"/>
              <a:t>3) </a:t>
            </a:r>
            <a:r>
              <a:rPr lang="zh-CN" altLang="en-US"/>
              <a:t>定理法：利用定理中已证明的等式来证明。</a:t>
            </a:r>
          </a:p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zh-CN"/>
              <a:t>4) </a:t>
            </a:r>
            <a:r>
              <a:rPr lang="zh-CN" altLang="en-US"/>
              <a:t>图示法：利用文氏图对给定命题进行说明，一般仅作直观说明。</a:t>
            </a:r>
          </a:p>
        </p:txBody>
      </p:sp>
    </p:spTree>
    <p:extLst>
      <p:ext uri="{BB962C8B-B14F-4D97-AF65-F5344CB8AC3E}">
        <p14:creationId xmlns:p14="http://schemas.microsoft.com/office/powerpoint/2010/main" val="2211325095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1E1193-80B8-41E9-951E-CB3DAF7161F0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65138"/>
            <a:ext cx="6408737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3-4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序偶与笛卡尔积</a:t>
            </a:r>
          </a:p>
        </p:txBody>
      </p:sp>
      <p:sp>
        <p:nvSpPr>
          <p:cNvPr id="451587" name="Rectangle 3"/>
          <p:cNvSpPr>
            <a:spLocks noChangeArrowheads="1"/>
          </p:cNvSpPr>
          <p:nvPr/>
        </p:nvSpPr>
        <p:spPr bwMode="auto">
          <a:xfrm>
            <a:off x="1439863" y="1825625"/>
            <a:ext cx="457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一、序偶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二、笛卡尔积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E085CC-CC7F-4C19-914E-7FDD77D1F664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452610" name="Rectangle 2"/>
          <p:cNvSpPr>
            <a:spLocks noChangeArrowheads="1"/>
          </p:cNvSpPr>
          <p:nvPr/>
        </p:nvSpPr>
        <p:spPr bwMode="auto">
          <a:xfrm>
            <a:off x="684213" y="1377950"/>
            <a:ext cx="7777162" cy="358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5000"/>
              </a:lnSpc>
              <a:buClrTx/>
              <a:buFontTx/>
              <a:buNone/>
            </a:pPr>
            <a:r>
              <a:rPr kumimoji="0" lang="en-US" altLang="zh-CN" dirty="0">
                <a:solidFill>
                  <a:schemeClr val="tx1"/>
                </a:solidFill>
              </a:rPr>
              <a:t>(1)</a:t>
            </a:r>
            <a:r>
              <a:rPr lang="zh-CN" altLang="en-US" dirty="0">
                <a:solidFill>
                  <a:schemeClr val="hlink"/>
                </a:solidFill>
              </a:rPr>
              <a:t>序偶的</a:t>
            </a:r>
            <a:r>
              <a:rPr kumimoji="0" lang="zh-CN" altLang="en-US" dirty="0">
                <a:solidFill>
                  <a:schemeClr val="hlink"/>
                </a:solidFill>
              </a:rPr>
              <a:t>定</a:t>
            </a:r>
            <a:r>
              <a:rPr lang="zh-CN" altLang="en-US" dirty="0">
                <a:solidFill>
                  <a:schemeClr val="hlink"/>
                </a:solidFill>
              </a:rPr>
              <a:t>义</a:t>
            </a:r>
          </a:p>
          <a:p>
            <a:pPr algn="just">
              <a:lnSpc>
                <a:spcPct val="135000"/>
              </a:lnSpc>
              <a:buClrTx/>
              <a:buFontTx/>
              <a:buNone/>
            </a:pPr>
            <a:r>
              <a:rPr lang="zh-CN" altLang="en-US" dirty="0"/>
              <a:t>两个具有固定次序的客体组成一个二元组，称为序偶，记作</a:t>
            </a:r>
            <a:r>
              <a:rPr lang="en-US" altLang="zh-CN" dirty="0"/>
              <a:t>&lt;x, y&gt;</a:t>
            </a:r>
            <a:r>
              <a:rPr lang="zh-CN" altLang="en-US" dirty="0"/>
              <a:t>，其中</a:t>
            </a:r>
            <a:r>
              <a:rPr lang="en-US" altLang="zh-CN" dirty="0"/>
              <a:t>x</a:t>
            </a:r>
            <a:r>
              <a:rPr lang="zh-CN" altLang="en-US" dirty="0"/>
              <a:t>是它的第一元素，</a:t>
            </a:r>
            <a:r>
              <a:rPr lang="en-US" altLang="zh-CN" dirty="0"/>
              <a:t>y</a:t>
            </a:r>
            <a:r>
              <a:rPr lang="zh-CN" altLang="en-US" dirty="0"/>
              <a:t>是它的第二元素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algn="just">
              <a:lnSpc>
                <a:spcPct val="135000"/>
              </a:lnSpc>
              <a:buClrTx/>
              <a:buFontTx/>
              <a:buNone/>
            </a:pPr>
            <a:endParaRPr lang="zh-CN" altLang="en-US" dirty="0"/>
          </a:p>
          <a:p>
            <a:pPr algn="just">
              <a:lnSpc>
                <a:spcPct val="135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en-US" altLang="zh-CN" dirty="0"/>
              <a:t>&lt;</a:t>
            </a:r>
            <a:r>
              <a:rPr lang="zh-CN" altLang="en-US" dirty="0"/>
              <a:t>上</a:t>
            </a:r>
            <a:r>
              <a:rPr lang="en-US" altLang="zh-CN" dirty="0"/>
              <a:t>,</a:t>
            </a:r>
            <a:r>
              <a:rPr lang="zh-CN" altLang="en-US" dirty="0"/>
              <a:t>下</a:t>
            </a:r>
            <a:r>
              <a:rPr lang="en-US" altLang="zh-CN" dirty="0"/>
              <a:t>&gt;</a:t>
            </a:r>
            <a:r>
              <a:rPr lang="zh-CN" altLang="en-US" dirty="0"/>
              <a:t>；</a:t>
            </a:r>
            <a:r>
              <a:rPr lang="en-US" altLang="zh-CN" dirty="0"/>
              <a:t>&lt;3, 4&gt;</a:t>
            </a:r>
            <a:r>
              <a:rPr lang="zh-CN" altLang="en-US" dirty="0" smtClean="0"/>
              <a:t>；</a:t>
            </a:r>
            <a:r>
              <a:rPr lang="zh-CN" altLang="en-US" dirty="0">
                <a:solidFill>
                  <a:schemeClr val="tx1"/>
                </a:solidFill>
              </a:rPr>
              <a:t>坐</a:t>
            </a:r>
            <a:r>
              <a:rPr lang="zh-CN" altLang="zh-CN" dirty="0" smtClean="0">
                <a:solidFill>
                  <a:schemeClr val="tx1"/>
                </a:solidFill>
              </a:rPr>
              <a:t>标系</a:t>
            </a:r>
            <a:r>
              <a:rPr lang="zh-CN" altLang="zh-CN" dirty="0">
                <a:solidFill>
                  <a:schemeClr val="tx1"/>
                </a:solidFill>
              </a:rPr>
              <a:t>中的</a:t>
            </a:r>
            <a:r>
              <a:rPr lang="en-US" altLang="zh-CN" dirty="0">
                <a:solidFill>
                  <a:schemeClr val="tx1"/>
                </a:solidFill>
              </a:rPr>
              <a:t>(x, y)</a:t>
            </a:r>
            <a:r>
              <a:rPr lang="zh-CN" altLang="en-US" dirty="0">
                <a:solidFill>
                  <a:schemeClr val="tx1"/>
                </a:solidFill>
              </a:rPr>
              <a:t>可看作</a:t>
            </a:r>
            <a:r>
              <a:rPr lang="zh-CN" altLang="zh-CN" dirty="0">
                <a:solidFill>
                  <a:schemeClr val="tx1"/>
                </a:solidFill>
              </a:rPr>
              <a:t>是序偶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&lt;x, y&gt;</a:t>
            </a:r>
            <a:r>
              <a:rPr lang="zh-CN" altLang="zh-CN" dirty="0">
                <a:solidFill>
                  <a:schemeClr val="tx1"/>
                </a:solidFill>
              </a:rPr>
              <a:t>。</a:t>
            </a:r>
            <a:endParaRPr lang="zh-CN" altLang="en-US" dirty="0"/>
          </a:p>
          <a:p>
            <a:pPr algn="just">
              <a:lnSpc>
                <a:spcPct val="135000"/>
              </a:lnSpc>
              <a:buClr>
                <a:schemeClr val="hlink"/>
              </a:buClr>
            </a:pPr>
            <a:r>
              <a:rPr lang="zh-CN" altLang="en-US" dirty="0"/>
              <a:t>序偶可看作是具有两个元素的集合。</a:t>
            </a:r>
          </a:p>
        </p:txBody>
      </p:sp>
      <p:sp>
        <p:nvSpPr>
          <p:cNvPr id="452611" name="Rectangle 3"/>
          <p:cNvSpPr>
            <a:spLocks noChangeArrowheads="1"/>
          </p:cNvSpPr>
          <p:nvPr/>
        </p:nvSpPr>
        <p:spPr bwMode="auto">
          <a:xfrm>
            <a:off x="1187450" y="476250"/>
            <a:ext cx="2447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一、序偶</a:t>
            </a:r>
          </a:p>
        </p:txBody>
      </p:sp>
      <p:sp>
        <p:nvSpPr>
          <p:cNvPr id="452618" name="AutoShape 10"/>
          <p:cNvSpPr>
            <a:spLocks noChangeArrowheads="1"/>
          </p:cNvSpPr>
          <p:nvPr/>
        </p:nvSpPr>
        <p:spPr bwMode="auto">
          <a:xfrm>
            <a:off x="2627313" y="4869135"/>
            <a:ext cx="4679950" cy="1800225"/>
          </a:xfrm>
          <a:prstGeom prst="cloudCallout">
            <a:avLst>
              <a:gd name="adj1" fmla="val -58991"/>
              <a:gd name="adj2" fmla="val -50352"/>
            </a:avLst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dirty="0"/>
              <a:t>判断</a:t>
            </a:r>
            <a:r>
              <a:rPr kumimoji="0" lang="en-US" altLang="zh-CN" dirty="0"/>
              <a:t>{a, b}</a:t>
            </a:r>
            <a:r>
              <a:rPr kumimoji="0" lang="zh-CN" altLang="en-US" dirty="0"/>
              <a:t>与</a:t>
            </a:r>
            <a:r>
              <a:rPr kumimoji="0" lang="en-US" altLang="zh-CN" dirty="0"/>
              <a:t>{b, a}</a:t>
            </a:r>
            <a:r>
              <a:rPr kumimoji="0" lang="zh-CN" altLang="en-US" dirty="0"/>
              <a:t>；</a:t>
            </a:r>
            <a:r>
              <a:rPr kumimoji="0" lang="en-US" altLang="zh-CN" dirty="0"/>
              <a:t>&lt;a, b&gt;</a:t>
            </a:r>
            <a:r>
              <a:rPr kumimoji="0" lang="zh-CN" altLang="en-US" dirty="0"/>
              <a:t>与</a:t>
            </a:r>
            <a:r>
              <a:rPr kumimoji="0" lang="en-US" altLang="zh-CN" dirty="0"/>
              <a:t>&lt;b</a:t>
            </a:r>
            <a:r>
              <a:rPr kumimoji="0" lang="en-US" altLang="zh-CN" dirty="0" smtClean="0"/>
              <a:t>, a</a:t>
            </a:r>
            <a:r>
              <a:rPr kumimoji="0" lang="en-US" altLang="zh-CN" dirty="0"/>
              <a:t>&gt;</a:t>
            </a:r>
            <a:r>
              <a:rPr kumimoji="0" lang="zh-CN" altLang="en-US" dirty="0"/>
              <a:t>是否相等？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13E4F-013F-4EBF-8AF4-B0A3B176A957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453634" name="Rectangle 2"/>
          <p:cNvSpPr>
            <a:spLocks noChangeArrowheads="1"/>
          </p:cNvSpPr>
          <p:nvPr/>
        </p:nvSpPr>
        <p:spPr bwMode="auto">
          <a:xfrm>
            <a:off x="719138" y="1268413"/>
            <a:ext cx="7921625" cy="278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 dirty="0">
                <a:solidFill>
                  <a:schemeClr val="hlink"/>
                </a:solidFill>
              </a:rPr>
              <a:t>定义</a:t>
            </a:r>
            <a:r>
              <a:rPr kumimoji="0" lang="en-US" altLang="zh-CN" dirty="0">
                <a:solidFill>
                  <a:schemeClr val="hlink"/>
                </a:solidFill>
              </a:rPr>
              <a:t>3-4.1</a:t>
            </a:r>
            <a:r>
              <a:rPr kumimoji="0" lang="en-US" altLang="zh-CN" dirty="0"/>
              <a:t> </a:t>
            </a:r>
            <a:r>
              <a:rPr kumimoji="0" lang="zh-CN" altLang="en-US" dirty="0"/>
              <a:t>两个序偶相等，</a:t>
            </a:r>
            <a:r>
              <a:rPr kumimoji="0" lang="en-US" altLang="zh-CN" dirty="0"/>
              <a:t>&lt;x, y&gt;=&lt;u, v&gt;  </a:t>
            </a:r>
            <a:r>
              <a:rPr kumimoji="0" lang="en-US" altLang="zh-CN" dirty="0" err="1"/>
              <a:t>iff</a:t>
            </a:r>
            <a:r>
              <a:rPr kumimoji="0" lang="en-US" altLang="zh-CN" dirty="0"/>
              <a:t>  x=u</a:t>
            </a:r>
            <a:r>
              <a:rPr kumimoji="0" lang="zh-CN" altLang="en-US" dirty="0"/>
              <a:t>，</a:t>
            </a:r>
            <a:r>
              <a:rPr kumimoji="0" lang="en-US" altLang="zh-CN" dirty="0"/>
              <a:t>y=v</a:t>
            </a:r>
            <a:r>
              <a:rPr kumimoji="0" lang="zh-CN" altLang="en-US" dirty="0"/>
              <a:t>。</a:t>
            </a:r>
          </a:p>
          <a:p>
            <a:pPr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已知</a:t>
            </a:r>
            <a:r>
              <a:rPr lang="en-US" altLang="zh-CN" dirty="0"/>
              <a:t>&lt;x+3, y-2&gt;=&lt;y+7, 3y-x&gt;</a:t>
            </a:r>
            <a:r>
              <a:rPr lang="zh-CN" altLang="en-US" dirty="0"/>
              <a:t>，求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</a:pPr>
            <a:endParaRPr lang="en-US" altLang="zh-CN" dirty="0" smtClean="0"/>
          </a:p>
          <a:p>
            <a:pPr>
              <a:lnSpc>
                <a:spcPct val="12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dirty="0" smtClean="0">
                <a:solidFill>
                  <a:schemeClr val="hlink"/>
                </a:solidFill>
              </a:rPr>
              <a:t>说明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</a:p>
          <a:p>
            <a:pPr>
              <a:lnSpc>
                <a:spcPct val="120000"/>
              </a:lnSpc>
              <a:buClr>
                <a:schemeClr val="hlink"/>
              </a:buClr>
            </a:pPr>
            <a:r>
              <a:rPr lang="zh-CN" altLang="en-US" dirty="0"/>
              <a:t>序偶中的两个</a:t>
            </a:r>
            <a:r>
              <a:rPr lang="zh-CN" altLang="en-US" dirty="0" smtClean="0"/>
              <a:t>元素</a:t>
            </a:r>
            <a:r>
              <a:rPr lang="zh-CN" altLang="en-US" dirty="0"/>
              <a:t>可以</a:t>
            </a:r>
            <a:r>
              <a:rPr lang="zh-CN" altLang="en-US" dirty="0" smtClean="0"/>
              <a:t>来自不同的集合</a:t>
            </a:r>
            <a:r>
              <a:rPr lang="zh-CN" altLang="en-US" dirty="0"/>
              <a:t>；</a:t>
            </a:r>
          </a:p>
          <a:p>
            <a:pPr>
              <a:lnSpc>
                <a:spcPct val="120000"/>
              </a:lnSpc>
              <a:buClr>
                <a:schemeClr val="hlink"/>
              </a:buClr>
            </a:pPr>
            <a:r>
              <a:rPr lang="zh-CN" altLang="en-US" dirty="0"/>
              <a:t>序偶的次序是约定的。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3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3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3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19CBA4-004E-4D35-9657-5F7688FEFE42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454658" name="Rectangle 2"/>
          <p:cNvSpPr>
            <a:spLocks noChangeArrowheads="1"/>
          </p:cNvSpPr>
          <p:nvPr/>
        </p:nvSpPr>
        <p:spPr bwMode="auto">
          <a:xfrm>
            <a:off x="468313" y="1341438"/>
            <a:ext cx="8174037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>
                <a:solidFill>
                  <a:schemeClr val="tx1"/>
                </a:solidFill>
              </a:rPr>
              <a:t>(2)</a:t>
            </a:r>
            <a:r>
              <a:rPr lang="zh-CN" altLang="en-US">
                <a:solidFill>
                  <a:schemeClr val="hlink"/>
                </a:solidFill>
              </a:rPr>
              <a:t>序偶的推广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定义：</a:t>
            </a:r>
            <a:r>
              <a:rPr lang="zh-CN" altLang="en-US"/>
              <a:t>三元组是一个序偶，</a:t>
            </a:r>
            <a:r>
              <a:rPr lang="zh-CN" altLang="en-US" u="sng"/>
              <a:t>其第一元素本身</a:t>
            </a:r>
            <a:r>
              <a:rPr lang="zh-CN" altLang="en-US"/>
              <a:t>也是一个序偶。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形式化表示为</a:t>
            </a:r>
            <a:r>
              <a:rPr lang="en-US" altLang="zh-CN"/>
              <a:t>&lt;&lt;x, y&gt;, z&gt;</a:t>
            </a:r>
            <a:r>
              <a:rPr lang="zh-CN" altLang="en-US"/>
              <a:t>，可简写为</a:t>
            </a:r>
            <a:r>
              <a:rPr lang="en-US" altLang="zh-CN"/>
              <a:t>&lt;x, y, z&gt;</a:t>
            </a:r>
            <a:r>
              <a:rPr lang="zh-CN" altLang="en-US"/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kumimoji="0" lang="en-US" altLang="zh-CN"/>
              <a:t>1)</a:t>
            </a:r>
            <a:r>
              <a:rPr kumimoji="0" lang="zh-CN" altLang="en-US"/>
              <a:t>考</a:t>
            </a:r>
            <a:r>
              <a:rPr lang="zh-CN" altLang="en-US"/>
              <a:t>虑 在什么条件下</a:t>
            </a:r>
            <a:r>
              <a:rPr lang="en-US" altLang="zh-CN"/>
              <a:t>&lt;&lt;x, y&gt;, z&gt;=&lt;&lt;u, v&gt;, w&gt;</a:t>
            </a:r>
            <a:r>
              <a:rPr lang="zh-CN" altLang="en-US"/>
              <a:t>；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  </a:t>
            </a:r>
            <a:r>
              <a:rPr lang="en-US" altLang="zh-CN"/>
              <a:t>2)</a:t>
            </a:r>
            <a:r>
              <a:rPr lang="zh-CN" altLang="en-US"/>
              <a:t>判断下列表达式是否正确，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kumimoji="0" lang="zh-CN" altLang="en-US"/>
              <a:t>          </a:t>
            </a:r>
            <a:r>
              <a:rPr kumimoji="0" lang="en-US" altLang="zh-CN"/>
              <a:t>&lt;x, y, z&gt; </a:t>
            </a:r>
            <a:r>
              <a:rPr kumimoji="0" lang="en-US" altLang="zh-CN">
                <a:solidFill>
                  <a:schemeClr val="hlink"/>
                </a:solidFill>
              </a:rPr>
              <a:t>= </a:t>
            </a:r>
            <a:r>
              <a:rPr kumimoji="0" lang="en-US" altLang="zh-CN"/>
              <a:t>&lt;y, x, z&gt;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kumimoji="0" lang="en-US" altLang="zh-CN"/>
              <a:t>          &lt;&lt;x, y&gt;, z&gt;</a:t>
            </a:r>
            <a:r>
              <a:rPr lang="en-US" altLang="zh-CN">
                <a:solidFill>
                  <a:schemeClr val="hlink"/>
                </a:solidFill>
              </a:rPr>
              <a:t>≠</a:t>
            </a:r>
            <a:r>
              <a:rPr lang="en-US" altLang="zh-CN"/>
              <a:t>&lt;x, &lt;y, z&gt;&gt;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kumimoji="0" lang="zh-CN" altLang="en-US"/>
              <a:t>四</a:t>
            </a:r>
            <a:r>
              <a:rPr lang="zh-CN" altLang="en-US"/>
              <a:t>元组和</a:t>
            </a:r>
            <a:r>
              <a:rPr lang="en-US" altLang="zh-CN"/>
              <a:t>n</a:t>
            </a:r>
            <a:r>
              <a:rPr lang="zh-CN" altLang="en-US"/>
              <a:t>元组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kumimoji="0" lang="en-US" altLang="zh-CN"/>
              <a:t>&lt;&lt;x</a:t>
            </a:r>
            <a:r>
              <a:rPr kumimoji="0" lang="en-US" altLang="zh-CN" baseline="-25000"/>
              <a:t>1</a:t>
            </a:r>
            <a:r>
              <a:rPr kumimoji="0" lang="en-US" altLang="zh-CN"/>
              <a:t>, x</a:t>
            </a:r>
            <a:r>
              <a:rPr kumimoji="0" lang="en-US" altLang="zh-CN" baseline="-25000"/>
              <a:t>2</a:t>
            </a:r>
            <a:r>
              <a:rPr kumimoji="0" lang="en-US" altLang="zh-CN"/>
              <a:t>, x</a:t>
            </a:r>
            <a:r>
              <a:rPr kumimoji="0" lang="en-US" altLang="zh-CN" baseline="-25000"/>
              <a:t>3</a:t>
            </a:r>
            <a:r>
              <a:rPr kumimoji="0" lang="en-US" altLang="zh-CN"/>
              <a:t>&gt;, x</a:t>
            </a:r>
            <a:r>
              <a:rPr kumimoji="0" lang="en-US" altLang="zh-CN" baseline="-25000"/>
              <a:t>4</a:t>
            </a:r>
            <a:r>
              <a:rPr kumimoji="0" lang="en-US" altLang="zh-CN"/>
              <a:t>&gt;</a:t>
            </a:r>
            <a:r>
              <a:rPr kumimoji="0" lang="en-US" altLang="zh-CN">
                <a:cs typeface="Times New Roman" pitchFamily="18" charset="0"/>
              </a:rPr>
              <a:t>→</a:t>
            </a:r>
            <a:r>
              <a:rPr kumimoji="0" lang="en-US" altLang="zh-CN"/>
              <a:t>&lt;&lt;x</a:t>
            </a:r>
            <a:r>
              <a:rPr kumimoji="0" lang="en-US" altLang="zh-CN" baseline="-25000"/>
              <a:t>1</a:t>
            </a:r>
            <a:r>
              <a:rPr kumimoji="0" lang="en-US" altLang="zh-CN"/>
              <a:t>, x</a:t>
            </a:r>
            <a:r>
              <a:rPr kumimoji="0" lang="en-US" altLang="zh-CN" baseline="-25000"/>
              <a:t>2</a:t>
            </a:r>
            <a:r>
              <a:rPr kumimoji="0" lang="en-US" altLang="zh-CN"/>
              <a:t>,…,x</a:t>
            </a:r>
            <a:r>
              <a:rPr kumimoji="0" lang="en-US" altLang="zh-CN" baseline="-25000"/>
              <a:t>n-1</a:t>
            </a:r>
            <a:r>
              <a:rPr kumimoji="0" lang="en-US" altLang="zh-CN"/>
              <a:t>&gt;, x</a:t>
            </a:r>
            <a:r>
              <a:rPr kumimoji="0" lang="en-US" altLang="zh-CN" baseline="-25000"/>
              <a:t>n</a:t>
            </a:r>
            <a:r>
              <a:rPr kumimoji="0" lang="en-US" altLang="zh-CN">
                <a:cs typeface="Times New Roman" pitchFamily="18" charset="0"/>
              </a:rPr>
              <a:t>&gt;</a:t>
            </a:r>
            <a:endParaRPr kumimoji="0" lang="en-US" altLang="en-US"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133131-0829-4BC2-AF95-E5D062CD6FA7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455682" name="Rectangle 2"/>
          <p:cNvSpPr>
            <a:spLocks noChangeArrowheads="1"/>
          </p:cNvSpPr>
          <p:nvPr/>
        </p:nvSpPr>
        <p:spPr bwMode="auto">
          <a:xfrm>
            <a:off x="434975" y="1271588"/>
            <a:ext cx="8240713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3-4.2</a:t>
            </a:r>
            <a:r>
              <a:rPr lang="en-US" altLang="zh-CN"/>
              <a:t> 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为任意集合，如果序偶的第一元素是</a:t>
            </a:r>
            <a:r>
              <a:rPr lang="en-US" altLang="zh-CN"/>
              <a:t>A</a:t>
            </a:r>
            <a:r>
              <a:rPr lang="zh-CN" altLang="en-US"/>
              <a:t>的元素，第二元素是</a:t>
            </a:r>
            <a:r>
              <a:rPr lang="en-US" altLang="zh-CN"/>
              <a:t>B</a:t>
            </a:r>
            <a:r>
              <a:rPr lang="zh-CN" altLang="en-US"/>
              <a:t>的元素，所有这样的序偶集合，称为集合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的笛卡尔乘积（或直积），记作 </a:t>
            </a:r>
            <a:r>
              <a:rPr lang="en-US" altLang="zh-CN"/>
              <a:t>A×B</a:t>
            </a:r>
            <a:r>
              <a:rPr lang="zh-CN" altLang="en-US"/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符号化：</a:t>
            </a:r>
            <a:r>
              <a:rPr lang="en-US" altLang="zh-CN"/>
              <a:t>A×B={&lt;x, y&gt;|(x∈A)∧(y∈B)}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4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A={a, b}</a:t>
            </a:r>
            <a:r>
              <a:rPr lang="zh-CN" altLang="en-US"/>
              <a:t>，</a:t>
            </a:r>
            <a:r>
              <a:rPr lang="en-US" altLang="zh-CN"/>
              <a:t>B={1, 2}</a:t>
            </a:r>
            <a:r>
              <a:rPr lang="zh-CN" altLang="en-US"/>
              <a:t>，</a:t>
            </a:r>
            <a:r>
              <a:rPr lang="en-US" altLang="zh-CN"/>
              <a:t>C={c}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则：</a:t>
            </a:r>
            <a:r>
              <a:rPr lang="en-US" altLang="zh-CN"/>
              <a:t>A×B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B×A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(A×B)×C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B×C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A×(B×C)</a:t>
            </a:r>
          </a:p>
        </p:txBody>
      </p:sp>
      <p:sp>
        <p:nvSpPr>
          <p:cNvPr id="455683" name="Rectangle 3"/>
          <p:cNvSpPr>
            <a:spLocks noChangeArrowheads="1"/>
          </p:cNvSpPr>
          <p:nvPr/>
        </p:nvSpPr>
        <p:spPr bwMode="auto">
          <a:xfrm>
            <a:off x="1878013" y="4210050"/>
            <a:ext cx="4303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/>
              <a:t>={&lt;1, a&gt;, &lt;1, b&gt;, &lt;2, a&gt;, &lt;2, b&gt;}</a:t>
            </a:r>
          </a:p>
        </p:txBody>
      </p:sp>
      <p:sp>
        <p:nvSpPr>
          <p:cNvPr id="455684" name="Rectangle 4"/>
          <p:cNvSpPr>
            <a:spLocks noChangeArrowheads="1"/>
          </p:cNvSpPr>
          <p:nvPr/>
        </p:nvSpPr>
        <p:spPr bwMode="auto">
          <a:xfrm>
            <a:off x="1908175" y="5157788"/>
            <a:ext cx="2322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/>
              <a:t>={&lt;1, c&gt;, &lt;2, c&gt;}</a:t>
            </a:r>
          </a:p>
        </p:txBody>
      </p:sp>
      <p:sp>
        <p:nvSpPr>
          <p:cNvPr id="455685" name="Rectangle 5"/>
          <p:cNvSpPr>
            <a:spLocks noChangeArrowheads="1"/>
          </p:cNvSpPr>
          <p:nvPr/>
        </p:nvSpPr>
        <p:spPr bwMode="auto">
          <a:xfrm>
            <a:off x="2584450" y="5637213"/>
            <a:ext cx="5999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/>
              <a:t>={&lt;a,&lt;1,c&gt;&gt;,&lt;a,&lt;2,c&gt;&gt;,&lt;b,&lt;1,c&gt;&gt;,&lt;b,&lt;2,c&gt;&gt;}</a:t>
            </a:r>
          </a:p>
        </p:txBody>
      </p:sp>
      <p:sp>
        <p:nvSpPr>
          <p:cNvPr id="455686" name="Rectangle 6"/>
          <p:cNvSpPr>
            <a:spLocks noChangeArrowheads="1"/>
          </p:cNvSpPr>
          <p:nvPr/>
        </p:nvSpPr>
        <p:spPr bwMode="auto">
          <a:xfrm>
            <a:off x="1882775" y="3735388"/>
            <a:ext cx="4379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/>
              <a:t>={&lt;a, 1 &gt;, &lt;a, 2&gt;, &lt;b, 1&gt;, &lt;b, 2&gt;}</a:t>
            </a:r>
          </a:p>
        </p:txBody>
      </p:sp>
      <p:sp>
        <p:nvSpPr>
          <p:cNvPr id="455687" name="Rectangle 7"/>
          <p:cNvSpPr>
            <a:spLocks noChangeArrowheads="1"/>
          </p:cNvSpPr>
          <p:nvPr/>
        </p:nvSpPr>
        <p:spPr bwMode="auto">
          <a:xfrm>
            <a:off x="2600325" y="4713288"/>
            <a:ext cx="5999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altLang="zh-CN"/>
              <a:t>={&lt;&lt;a,1&gt;,c&gt;,&lt;&lt;a,2&gt;,c&gt;,&lt;&lt;b,1&gt;,c&gt;,&lt;&lt;b,2&gt;,c&gt;}</a:t>
            </a:r>
          </a:p>
        </p:txBody>
      </p:sp>
      <p:sp>
        <p:nvSpPr>
          <p:cNvPr id="455688" name="Rectangle 8"/>
          <p:cNvSpPr>
            <a:spLocks noChangeArrowheads="1"/>
          </p:cNvSpPr>
          <p:nvPr/>
        </p:nvSpPr>
        <p:spPr bwMode="auto">
          <a:xfrm>
            <a:off x="1258888" y="476250"/>
            <a:ext cx="35274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二、笛卡尔积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5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5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3" grpId="0"/>
      <p:bldP spid="455684" grpId="0"/>
      <p:bldP spid="455685" grpId="0"/>
      <p:bldP spid="455686" grpId="0"/>
      <p:bldP spid="45568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63E7C6-9E9B-4305-8829-D881F6FE459F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456706" name="Rectangle 2"/>
          <p:cNvSpPr>
            <a:spLocks noChangeArrowheads="1"/>
          </p:cNvSpPr>
          <p:nvPr/>
        </p:nvSpPr>
        <p:spPr bwMode="auto">
          <a:xfrm>
            <a:off x="757238" y="1341438"/>
            <a:ext cx="7918450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sym typeface="Wingdings" pitchFamily="2" charset="2"/>
              </a:rPr>
              <a:t>笛卡尔积的性质：</a:t>
            </a:r>
            <a:r>
              <a:rPr lang="zh-CN" altLang="en-US" dirty="0">
                <a:sym typeface="Wingdings" pitchFamily="2" charset="2"/>
              </a:rPr>
              <a:t> </a:t>
            </a:r>
          </a:p>
          <a:p>
            <a:pPr>
              <a:lnSpc>
                <a:spcPct val="130000"/>
              </a:lnSpc>
              <a:buClrTx/>
              <a:buFontTx/>
              <a:buAutoNum type="arabicParenBoth"/>
            </a:pPr>
            <a:r>
              <a:rPr lang="zh-CN" altLang="en-US" dirty="0"/>
              <a:t>若</a:t>
            </a:r>
            <a:r>
              <a:rPr lang="en-US" altLang="zh-CN" dirty="0"/>
              <a:t>|A|=m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即集合</a:t>
            </a:r>
            <a:r>
              <a:rPr lang="en-US" altLang="zh-CN" dirty="0"/>
              <a:t>A</a:t>
            </a:r>
            <a:r>
              <a:rPr lang="zh-CN" altLang="en-US" dirty="0"/>
              <a:t>的元素的个数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|B|=n</a:t>
            </a:r>
            <a:r>
              <a:rPr lang="zh-CN" altLang="en-US" dirty="0"/>
              <a:t>，则</a:t>
            </a:r>
            <a:r>
              <a:rPr lang="en-US" altLang="zh-CN" dirty="0"/>
              <a:t>|A×B|= |B×A|=</a:t>
            </a:r>
            <a:r>
              <a:rPr lang="en-US" altLang="zh-CN" dirty="0" err="1"/>
              <a:t>mn</a:t>
            </a:r>
            <a:r>
              <a:rPr lang="zh-CN" altLang="en-US" dirty="0"/>
              <a:t>；</a:t>
            </a:r>
          </a:p>
          <a:p>
            <a:pPr>
              <a:lnSpc>
                <a:spcPct val="130000"/>
              </a:lnSpc>
              <a:buClrTx/>
              <a:buFontTx/>
              <a:buAutoNum type="arabicParenBoth"/>
            </a:pPr>
            <a:r>
              <a:rPr lang="en-US" altLang="zh-CN" dirty="0">
                <a:solidFill>
                  <a:srgbClr val="000000"/>
                </a:solidFill>
              </a:rPr>
              <a:t>A=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zh-CN" altLang="en-US" dirty="0">
                <a:solidFill>
                  <a:srgbClr val="000000"/>
                </a:solidFill>
                <a:sym typeface="Symbol" pitchFamily="18" charset="2"/>
              </a:rPr>
              <a:t>或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B=</a:t>
            </a:r>
            <a:r>
              <a:rPr lang="zh-CN" altLang="en-US" dirty="0">
                <a:solidFill>
                  <a:srgbClr val="000000"/>
                </a:solidFill>
                <a:sym typeface="Symbol" pitchFamily="18" charset="2"/>
              </a:rPr>
              <a:t>，则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A</a:t>
            </a:r>
            <a:r>
              <a:rPr lang="en-US" altLang="zh-CN" dirty="0">
                <a:solidFill>
                  <a:srgbClr val="000000"/>
                </a:solidFill>
              </a:rPr>
              <a:t>×B=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zh-CN" altLang="en-US" dirty="0">
                <a:solidFill>
                  <a:srgbClr val="000000"/>
                </a:solidFill>
                <a:sym typeface="Symbol" pitchFamily="18" charset="2"/>
              </a:rPr>
              <a:t>；</a:t>
            </a:r>
          </a:p>
          <a:p>
            <a:pPr>
              <a:lnSpc>
                <a:spcPct val="130000"/>
              </a:lnSpc>
              <a:buClrTx/>
              <a:buFontTx/>
              <a:buAutoNum type="arabicParenBoth"/>
            </a:pPr>
            <a:r>
              <a:rPr lang="en-US" altLang="zh-CN" dirty="0">
                <a:solidFill>
                  <a:srgbClr val="000000"/>
                </a:solidFill>
              </a:rPr>
              <a:t>A×B≠ B×A</a:t>
            </a:r>
            <a:r>
              <a:rPr lang="zh-CN" altLang="en-US" dirty="0">
                <a:solidFill>
                  <a:srgbClr val="000000"/>
                </a:solidFill>
              </a:rPr>
              <a:t>（</a:t>
            </a:r>
            <a:r>
              <a:rPr lang="zh-CN" altLang="zh-CN" dirty="0">
                <a:solidFill>
                  <a:srgbClr val="000000"/>
                </a:solidFill>
              </a:rPr>
              <a:t>当A≠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zh-CN" altLang="zh-CN" dirty="0">
                <a:solidFill>
                  <a:srgbClr val="000000"/>
                </a:solidFill>
              </a:rPr>
              <a:t> ∧B ≠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zh-CN" altLang="zh-CN" dirty="0">
                <a:solidFill>
                  <a:srgbClr val="000000"/>
                </a:solidFill>
              </a:rPr>
              <a:t> ∧A ≠ B时</a:t>
            </a:r>
            <a:r>
              <a:rPr lang="zh-CN" altLang="en-US" dirty="0">
                <a:solidFill>
                  <a:srgbClr val="000000"/>
                </a:solidFill>
              </a:rPr>
              <a:t>）不满足交换律；</a:t>
            </a:r>
          </a:p>
          <a:p>
            <a:pPr>
              <a:lnSpc>
                <a:spcPct val="130000"/>
              </a:lnSpc>
              <a:buClrTx/>
              <a:buFontTx/>
              <a:buAutoNum type="arabicParenBoth"/>
            </a:pPr>
            <a:r>
              <a:rPr lang="en-US" altLang="zh-CN" dirty="0">
                <a:solidFill>
                  <a:srgbClr val="000000"/>
                </a:solidFill>
              </a:rPr>
              <a:t>(A×B)×C≠A×(B×C)</a:t>
            </a:r>
            <a:r>
              <a:rPr lang="zh-CN" altLang="zh-CN" dirty="0">
                <a:solidFill>
                  <a:srgbClr val="000000"/>
                </a:solidFill>
              </a:rPr>
              <a:t>（当A≠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zh-CN" altLang="zh-CN" dirty="0">
                <a:solidFill>
                  <a:srgbClr val="000000"/>
                </a:solidFill>
              </a:rPr>
              <a:t> ∧B≠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zh-CN" altLang="zh-CN" dirty="0">
                <a:solidFill>
                  <a:srgbClr val="000000"/>
                </a:solidFill>
              </a:rPr>
              <a:t> ∧C≠ 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</a:t>
            </a:r>
            <a:r>
              <a:rPr lang="zh-CN" altLang="zh-CN" dirty="0">
                <a:solidFill>
                  <a:srgbClr val="000000"/>
                </a:solidFill>
              </a:rPr>
              <a:t>时）</a:t>
            </a:r>
            <a:r>
              <a:rPr lang="zh-CN" altLang="en-US" dirty="0">
                <a:solidFill>
                  <a:srgbClr val="000000"/>
                </a:solidFill>
              </a:rPr>
              <a:t>不满足结合律；</a:t>
            </a:r>
          </a:p>
          <a:p>
            <a:pPr>
              <a:lnSpc>
                <a:spcPct val="130000"/>
              </a:lnSpc>
              <a:buClrTx/>
              <a:buFontTx/>
              <a:buAutoNum type="arabicParenBoth"/>
            </a:pPr>
            <a:r>
              <a:rPr lang="zh-CN" altLang="en-US" dirty="0">
                <a:solidFill>
                  <a:srgbClr val="000000"/>
                </a:solidFill>
              </a:rPr>
              <a:t>笛卡儿积运算对并和交运算满足分配律。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7BF964-53C0-4A1A-8F82-ECE3DAC4485E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457730" name="Rectangle 2"/>
          <p:cNvSpPr>
            <a:spLocks noChangeArrowheads="1"/>
          </p:cNvSpPr>
          <p:nvPr/>
        </p:nvSpPr>
        <p:spPr bwMode="auto">
          <a:xfrm>
            <a:off x="1187450" y="1125538"/>
            <a:ext cx="751998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3-4.1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为任意三个集合，则有  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 </a:t>
            </a:r>
            <a:r>
              <a:rPr lang="en-US" altLang="zh-CN" dirty="0"/>
              <a:t>a)  A×(B∪C)=(A×B) ∪ (A×C)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 b)  A×(B∩C)=(A×B) ∩ (A×C)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 c)  (A∪B) ×C=(A×C) ∪ (B×C)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 d)  (A∩B) ×C=(A×C) ∩ (B×C</a:t>
            </a:r>
            <a:r>
              <a:rPr lang="en-US" altLang="zh-CN" dirty="0" smtClean="0"/>
              <a:t>)</a:t>
            </a:r>
            <a:endParaRPr lang="en-US" altLang="zh-CN" dirty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A58AA7-4C37-4AAC-A4A2-B15E77D2B995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458754" name="Rectangle 2"/>
          <p:cNvSpPr>
            <a:spLocks noChangeArrowheads="1"/>
          </p:cNvSpPr>
          <p:nvPr/>
        </p:nvSpPr>
        <p:spPr bwMode="auto">
          <a:xfrm>
            <a:off x="1116013" y="1125538"/>
            <a:ext cx="6911975" cy="531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3-4.2</a:t>
            </a:r>
            <a:r>
              <a:rPr lang="en-US" altLang="zh-CN"/>
              <a:t>  </a:t>
            </a:r>
            <a:r>
              <a:rPr lang="zh-CN" altLang="en-US"/>
              <a:t>若</a:t>
            </a:r>
            <a:r>
              <a:rPr lang="en-US" altLang="zh-CN"/>
              <a:t>C≠ </a:t>
            </a:r>
            <a:r>
              <a:rPr lang="en-US" altLang="zh-CN">
                <a:latin typeface="Arial" charset="0"/>
                <a:sym typeface="Symbol" pitchFamily="18" charset="2"/>
              </a:rPr>
              <a:t></a:t>
            </a:r>
            <a:r>
              <a:rPr lang="zh-CN" altLang="en-US"/>
              <a:t>，则</a:t>
            </a:r>
          </a:p>
          <a:p>
            <a:pPr algn="ctr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 </a:t>
            </a:r>
            <a:r>
              <a:rPr kumimoji="0" lang="en-US" altLang="zh-CN">
                <a:latin typeface="Arial" charset="0"/>
                <a:sym typeface="Symbol" pitchFamily="18" charset="2"/>
              </a:rPr>
              <a:t></a:t>
            </a:r>
            <a:r>
              <a:rPr lang="en-US" altLang="zh-CN">
                <a:latin typeface="Arial" charset="0"/>
              </a:rPr>
              <a:t> </a:t>
            </a:r>
            <a:r>
              <a:rPr lang="en-US" altLang="zh-CN"/>
              <a:t>(A×C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B×C)</a:t>
            </a:r>
            <a:r>
              <a:rPr kumimoji="0" lang="en-US" altLang="zh-CN">
                <a:latin typeface="Arial" charset="0"/>
                <a:sym typeface="Symbol" pitchFamily="18" charset="2"/>
              </a:rPr>
              <a:t></a:t>
            </a:r>
            <a:r>
              <a:rPr lang="en-US" altLang="zh-CN"/>
              <a:t>(C×A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C×B)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证明：若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</a:t>
            </a:r>
            <a:r>
              <a:rPr lang="zh-CN" altLang="en-US"/>
              <a:t>，有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ym typeface="Symbol" pitchFamily="18" charset="2"/>
              </a:rPr>
              <a:t></a:t>
            </a:r>
            <a:r>
              <a:rPr lang="en-US" altLang="zh-CN"/>
              <a:t>&lt;x, y&gt;∈A×C</a:t>
            </a:r>
            <a:r>
              <a:rPr kumimoji="0" lang="en-US" altLang="zh-CN">
                <a:sym typeface="Symbol" pitchFamily="18" charset="2"/>
              </a:rPr>
              <a:t></a:t>
            </a:r>
            <a:r>
              <a:rPr lang="en-US" altLang="zh-CN"/>
              <a:t>(x∈A∧y∈C)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ym typeface="Symbol" pitchFamily="18" charset="2"/>
              </a:rPr>
              <a:t>                           </a:t>
            </a:r>
            <a:r>
              <a:rPr lang="en-US" altLang="zh-CN"/>
              <a:t>(x∈B∧y∈C)</a:t>
            </a:r>
            <a:r>
              <a:rPr kumimoji="0" lang="en-US" altLang="zh-CN">
                <a:sym typeface="Symbol" pitchFamily="18" charset="2"/>
              </a:rPr>
              <a:t></a:t>
            </a:r>
            <a:r>
              <a:rPr lang="en-US" altLang="zh-CN"/>
              <a:t>&lt;x, y&gt;∈B×C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即</a:t>
            </a:r>
            <a:r>
              <a:rPr lang="en-US" altLang="zh-CN"/>
              <a:t>A×C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B×C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反之，若</a:t>
            </a:r>
            <a:r>
              <a:rPr lang="en-US" altLang="zh-CN"/>
              <a:t>C≠ </a:t>
            </a:r>
            <a:r>
              <a:rPr lang="en-US" altLang="zh-CN">
                <a:sym typeface="Symbol" pitchFamily="18" charset="2"/>
              </a:rPr>
              <a:t></a:t>
            </a:r>
            <a:r>
              <a:rPr lang="zh-CN" altLang="en-US"/>
              <a:t>，</a:t>
            </a:r>
            <a:r>
              <a:rPr lang="en-US" altLang="zh-CN"/>
              <a:t>A×C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B×C</a:t>
            </a:r>
            <a:r>
              <a:rPr lang="zh-CN" altLang="en-US"/>
              <a:t>，</a:t>
            </a:r>
            <a:r>
              <a:rPr lang="zh-CN" altLang="en-US">
                <a:sym typeface="Symbol" pitchFamily="18" charset="2"/>
              </a:rPr>
              <a:t></a:t>
            </a:r>
            <a:r>
              <a:rPr lang="en-US" altLang="zh-CN"/>
              <a:t>y∈C</a:t>
            </a:r>
            <a:r>
              <a:rPr lang="zh-CN" altLang="en-US"/>
              <a:t>，有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ym typeface="Symbol" pitchFamily="18" charset="2"/>
              </a:rPr>
              <a:t></a:t>
            </a:r>
            <a:r>
              <a:rPr lang="en-US" altLang="zh-CN"/>
              <a:t>x∈A</a:t>
            </a:r>
            <a:r>
              <a:rPr kumimoji="0" lang="en-US" altLang="zh-CN">
                <a:sym typeface="Symbol" pitchFamily="18" charset="2"/>
              </a:rPr>
              <a:t></a:t>
            </a:r>
            <a:r>
              <a:rPr lang="en-US" altLang="zh-CN"/>
              <a:t>(x∈A)∧(y∈C)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ym typeface="Symbol" pitchFamily="18" charset="2"/>
              </a:rPr>
              <a:t>           </a:t>
            </a:r>
            <a:r>
              <a:rPr lang="en-US" altLang="zh-CN"/>
              <a:t>(&lt;x,y&gt;∈A×C)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   </a:t>
            </a:r>
            <a:r>
              <a:rPr kumimoji="0" lang="en-US" altLang="zh-CN">
                <a:sym typeface="Symbol" pitchFamily="18" charset="2"/>
              </a:rPr>
              <a:t></a:t>
            </a:r>
            <a:r>
              <a:rPr lang="en-US" altLang="zh-CN"/>
              <a:t>(&lt;x,y&gt;∈B×C)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   </a:t>
            </a:r>
            <a:r>
              <a:rPr kumimoji="0" lang="en-US" altLang="zh-CN">
                <a:sym typeface="Symbol" pitchFamily="18" charset="2"/>
              </a:rPr>
              <a:t></a:t>
            </a:r>
            <a:r>
              <a:rPr lang="en-US" altLang="zh-CN"/>
              <a:t>(x∈B)∧(y∈C)</a:t>
            </a:r>
            <a:r>
              <a:rPr kumimoji="0" lang="en-US" altLang="zh-CN">
                <a:sym typeface="Symbol" pitchFamily="18" charset="2"/>
              </a:rPr>
              <a:t></a:t>
            </a:r>
            <a:r>
              <a:rPr lang="en-US" altLang="zh-CN"/>
              <a:t>x∈B</a:t>
            </a:r>
            <a:r>
              <a:rPr lang="zh-CN" altLang="en-US"/>
              <a:t>，因此 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B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72C49C-D2CA-49F1-99DC-755ABC05D285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459779" name="Rectangle 3"/>
          <p:cNvSpPr>
            <a:spLocks noChangeArrowheads="1"/>
          </p:cNvSpPr>
          <p:nvPr/>
        </p:nvSpPr>
        <p:spPr bwMode="auto">
          <a:xfrm>
            <a:off x="1100138" y="1109663"/>
            <a:ext cx="669607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3-4.3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zh-CN" altLang="en-US"/>
              <a:t>为四个非空集合，则</a:t>
            </a:r>
          </a:p>
          <a:p>
            <a:pPr algn="ctr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A×B</a:t>
            </a:r>
            <a:r>
              <a:rPr lang="en-US" altLang="zh-CN">
                <a:ea typeface="黑体" pitchFamily="49" charset="-122"/>
                <a:sym typeface="Symbol" pitchFamily="18" charset="2"/>
              </a:rPr>
              <a:t></a:t>
            </a:r>
            <a:r>
              <a:rPr lang="en-US" altLang="zh-CN"/>
              <a:t>C×D</a:t>
            </a:r>
            <a:r>
              <a:rPr lang="zh-CN" altLang="en-US"/>
              <a:t>的充要条件是</a:t>
            </a:r>
            <a:r>
              <a:rPr lang="en-US" altLang="zh-CN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C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D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9AE54E-0FF2-4202-A043-9E0296DAA279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509954" name="Rectangle 2"/>
          <p:cNvSpPr>
            <a:spLocks noChangeArrowheads="1"/>
          </p:cNvSpPr>
          <p:nvPr/>
        </p:nvSpPr>
        <p:spPr bwMode="auto">
          <a:xfrm>
            <a:off x="827088" y="1412875"/>
            <a:ext cx="7345362" cy="283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lang="zh-CN" altLang="en-US"/>
              <a:t>对于有限集合，可以进行多次的笛卡尔积运算；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×A</a:t>
            </a:r>
            <a:r>
              <a:rPr lang="en-US" altLang="zh-CN" baseline="-25000"/>
              <a:t>2</a:t>
            </a:r>
            <a:r>
              <a:rPr lang="en-US" altLang="zh-CN"/>
              <a:t>×…×A</a:t>
            </a:r>
            <a:r>
              <a:rPr lang="en-US" altLang="zh-CN" baseline="-25000"/>
              <a:t>n-1</a:t>
            </a:r>
            <a:r>
              <a:rPr lang="en-US" altLang="zh-CN"/>
              <a:t>×A</a:t>
            </a:r>
            <a:r>
              <a:rPr lang="en-US" altLang="zh-CN" baseline="-25000"/>
              <a:t>n</a:t>
            </a:r>
            <a:r>
              <a:rPr lang="en-US" altLang="zh-CN"/>
              <a:t>=(A</a:t>
            </a:r>
            <a:r>
              <a:rPr lang="en-US" altLang="zh-CN" baseline="-25000"/>
              <a:t>1</a:t>
            </a:r>
            <a:r>
              <a:rPr lang="en-US" altLang="zh-CN"/>
              <a:t>×A</a:t>
            </a:r>
            <a:r>
              <a:rPr lang="en-US" altLang="zh-CN" baseline="-25000"/>
              <a:t>2</a:t>
            </a:r>
            <a:r>
              <a:rPr lang="en-US" altLang="zh-CN"/>
              <a:t>×…×A</a:t>
            </a:r>
            <a:r>
              <a:rPr lang="en-US" altLang="zh-CN" baseline="-25000"/>
              <a:t>n-1</a:t>
            </a:r>
            <a:r>
              <a:rPr lang="en-US" altLang="zh-CN"/>
              <a:t>)×A</a:t>
            </a:r>
            <a:r>
              <a:rPr lang="en-US" altLang="zh-CN" baseline="-25000"/>
              <a:t>n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>
                <a:solidFill>
                  <a:schemeClr val="tx1"/>
                </a:solidFill>
              </a:rPr>
              <a:t>={&lt;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altLang="zh-CN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, x</a:t>
            </a:r>
            <a:r>
              <a:rPr lang="en-US" altLang="zh-CN" baseline="-25000">
                <a:solidFill>
                  <a:schemeClr val="hlink"/>
                </a:solidFill>
                <a:sym typeface="Wingdings" pitchFamily="2" charset="2"/>
              </a:rPr>
              <a:t>2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, …, x</a:t>
            </a:r>
            <a:r>
              <a:rPr lang="en-US" altLang="zh-CN" baseline="-25000">
                <a:solidFill>
                  <a:schemeClr val="hlink"/>
                </a:solidFill>
                <a:sym typeface="Wingdings" pitchFamily="2" charset="2"/>
              </a:rPr>
              <a:t>n</a:t>
            </a:r>
            <a:r>
              <a:rPr lang="en-US" altLang="zh-CN">
                <a:solidFill>
                  <a:schemeClr val="tx1"/>
                </a:solidFill>
              </a:rPr>
              <a:t>&gt;|(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altLang="zh-CN" baseline="-25000">
                <a:solidFill>
                  <a:schemeClr val="hlink"/>
                </a:solidFill>
                <a:sym typeface="Wingdings" pitchFamily="2" charset="2"/>
              </a:rPr>
              <a:t>1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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en-US" altLang="zh-CN" baseline="-25000">
                <a:solidFill>
                  <a:schemeClr val="tx1"/>
                </a:solidFill>
              </a:rPr>
              <a:t>1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en-US" altLang="zh-CN">
                <a:solidFill>
                  <a:schemeClr val="tx1"/>
                </a:solidFill>
                <a:latin typeface="宋体" charset="-122"/>
              </a:rPr>
              <a:t>∧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altLang="zh-CN" baseline="-25000">
                <a:solidFill>
                  <a:schemeClr val="hlink"/>
                </a:solidFill>
                <a:sym typeface="Wingdings" pitchFamily="2" charset="2"/>
              </a:rPr>
              <a:t>2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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en-US" altLang="zh-CN" baseline="-25000">
                <a:solidFill>
                  <a:schemeClr val="tx1"/>
                </a:solidFill>
              </a:rPr>
              <a:t>2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en-US" altLang="zh-CN">
                <a:solidFill>
                  <a:schemeClr val="tx1"/>
                </a:solidFill>
                <a:latin typeface="宋体" charset="-122"/>
              </a:rPr>
              <a:t>∧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…</a:t>
            </a:r>
            <a:r>
              <a:rPr lang="en-US" altLang="zh-CN">
                <a:solidFill>
                  <a:schemeClr val="tx1"/>
                </a:solidFill>
                <a:latin typeface="宋体" charset="-122"/>
              </a:rPr>
              <a:t>∧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x</a:t>
            </a:r>
            <a:r>
              <a:rPr lang="en-US" altLang="zh-CN" baseline="-25000">
                <a:solidFill>
                  <a:schemeClr val="hlink"/>
                </a:solidFill>
                <a:sym typeface="Wingdings" pitchFamily="2" charset="2"/>
              </a:rPr>
              <a:t>n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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en-US" altLang="zh-CN" baseline="-25000">
                <a:solidFill>
                  <a:schemeClr val="tx1"/>
                </a:solidFill>
              </a:rPr>
              <a:t>n</a:t>
            </a:r>
            <a:r>
              <a:rPr lang="en-US" altLang="zh-CN">
                <a:solidFill>
                  <a:schemeClr val="tx1"/>
                </a:solidFill>
              </a:rPr>
              <a:t>)}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特别地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</a:rPr>
              <a:t>A ×A=A</a:t>
            </a:r>
            <a:r>
              <a:rPr lang="en-US" altLang="zh-CN" baseline="30000">
                <a:solidFill>
                  <a:schemeClr val="tx1"/>
                </a:solidFill>
              </a:rPr>
              <a:t>2</a:t>
            </a:r>
            <a:r>
              <a:rPr lang="en-US" altLang="zh-CN">
                <a:solidFill>
                  <a:schemeClr val="tx1"/>
                </a:solidFill>
              </a:rPr>
              <a:t>        A ×A × A =A</a:t>
            </a:r>
            <a:r>
              <a:rPr lang="en-US" altLang="zh-CN" baseline="30000">
                <a:solidFill>
                  <a:schemeClr val="tx1"/>
                </a:solidFill>
              </a:rPr>
              <a:t>3</a:t>
            </a:r>
            <a:r>
              <a:rPr lang="en-US" altLang="zh-CN">
                <a:solidFill>
                  <a:schemeClr val="tx1"/>
                </a:solidFill>
              </a:rPr>
              <a:t> 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</a:rPr>
              <a:t>A ×A ×…… × A =A</a:t>
            </a:r>
            <a:r>
              <a:rPr lang="en-US" altLang="zh-CN" baseline="30000">
                <a:solidFill>
                  <a:schemeClr val="tx1"/>
                </a:solidFill>
              </a:rPr>
              <a:t>n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7C11F6-9615-4214-B58D-C8CC72FE6FEB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3500" y="465138"/>
            <a:ext cx="5726113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3-5 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关系及其表示</a:t>
            </a:r>
          </a:p>
        </p:txBody>
      </p:sp>
      <p:sp>
        <p:nvSpPr>
          <p:cNvPr id="364548" name="Rectangle 4"/>
          <p:cNvSpPr>
            <a:spLocks noChangeArrowheads="1"/>
          </p:cNvSpPr>
          <p:nvPr/>
        </p:nvSpPr>
        <p:spPr bwMode="auto">
          <a:xfrm>
            <a:off x="1368425" y="1484313"/>
            <a:ext cx="457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096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一、关系的概念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二、关系的几种表示法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7339FE-D297-47D1-B94C-A74B32BB2812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719138" y="1366838"/>
            <a:ext cx="7867650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X</a:t>
            </a:r>
            <a:r>
              <a:rPr lang="zh-CN" altLang="en-US"/>
              <a:t>表示学生姓名的集合，</a:t>
            </a:r>
            <a:r>
              <a:rPr lang="en-US" altLang="zh-CN"/>
              <a:t>Y</a:t>
            </a:r>
            <a:r>
              <a:rPr lang="zh-CN" altLang="en-US"/>
              <a:t>表示学号的集合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则对</a:t>
            </a:r>
            <a:r>
              <a:rPr lang="en-US" altLang="zh-CN"/>
              <a:t>x∈X</a:t>
            </a:r>
            <a:r>
              <a:rPr lang="zh-CN" altLang="en-US"/>
              <a:t>，</a:t>
            </a:r>
            <a:r>
              <a:rPr lang="en-US" altLang="zh-CN"/>
              <a:t>y∈Y</a:t>
            </a:r>
            <a:r>
              <a:rPr lang="zh-CN" altLang="en-US"/>
              <a:t>，</a:t>
            </a:r>
            <a:r>
              <a:rPr lang="en-US" altLang="zh-CN"/>
              <a:t>x</a:t>
            </a:r>
            <a:r>
              <a:rPr lang="zh-CN" altLang="en-US"/>
              <a:t>和</a:t>
            </a:r>
            <a:r>
              <a:rPr lang="en-US" altLang="zh-CN"/>
              <a:t>y</a:t>
            </a:r>
            <a:r>
              <a:rPr lang="zh-CN" altLang="en-US"/>
              <a:t>之间有对号或不对号的关系。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3-5.1</a:t>
            </a:r>
            <a:r>
              <a:rPr lang="en-US" altLang="zh-CN"/>
              <a:t> </a:t>
            </a:r>
            <a:r>
              <a:rPr lang="zh-CN" altLang="en-US"/>
              <a:t>任一序偶的集合确定了一个二元关系</a:t>
            </a:r>
            <a:r>
              <a:rPr lang="en-US" altLang="zh-CN"/>
              <a:t>R</a:t>
            </a:r>
            <a:r>
              <a:rPr lang="zh-CN" altLang="en-US"/>
              <a:t>，</a:t>
            </a:r>
            <a:r>
              <a:rPr lang="en-US" altLang="zh-CN"/>
              <a:t>R</a:t>
            </a:r>
            <a:r>
              <a:rPr lang="zh-CN" altLang="en-US"/>
              <a:t>中任一序偶</a:t>
            </a:r>
            <a:r>
              <a:rPr lang="en-US" altLang="zh-CN"/>
              <a:t>&lt;x,y&gt;</a:t>
            </a:r>
            <a:r>
              <a:rPr lang="zh-CN" altLang="en-US"/>
              <a:t>，记为</a:t>
            </a:r>
            <a:r>
              <a:rPr lang="en-US" altLang="zh-CN"/>
              <a:t>&lt;x,y&gt;∈R</a:t>
            </a:r>
            <a:r>
              <a:rPr lang="zh-CN" altLang="en-US"/>
              <a:t>或</a:t>
            </a:r>
            <a:r>
              <a:rPr lang="en-US" altLang="zh-CN"/>
              <a:t>xRy</a:t>
            </a:r>
            <a:r>
              <a:rPr lang="zh-CN" altLang="en-US"/>
              <a:t>，否则记为</a:t>
            </a:r>
            <a:r>
              <a:rPr lang="en-US" altLang="zh-CN"/>
              <a:t>&lt;x,y&gt;</a:t>
            </a:r>
            <a:r>
              <a:rPr lang="en-US" altLang="zh-CN">
                <a:latin typeface="Arial" charset="0"/>
                <a:sym typeface="Symbol" pitchFamily="18" charset="2"/>
              </a:rPr>
              <a:t></a:t>
            </a:r>
            <a:r>
              <a:rPr lang="en-US" altLang="zh-CN"/>
              <a:t>R</a:t>
            </a:r>
            <a:r>
              <a:rPr lang="zh-CN" altLang="en-US"/>
              <a:t>或</a:t>
            </a:r>
            <a:r>
              <a:rPr lang="en-US" altLang="zh-CN"/>
              <a:t>x     y</a:t>
            </a:r>
            <a:r>
              <a:rPr lang="zh-CN" altLang="en-US"/>
              <a:t>。</a:t>
            </a:r>
          </a:p>
        </p:txBody>
      </p:sp>
      <p:graphicFrame>
        <p:nvGraphicFramePr>
          <p:cNvPr id="202755" name="Object 3"/>
          <p:cNvGraphicFramePr>
            <a:graphicFrameLocks noChangeAspect="1"/>
          </p:cNvGraphicFramePr>
          <p:nvPr/>
        </p:nvGraphicFramePr>
        <p:xfrm>
          <a:off x="1001713" y="3454400"/>
          <a:ext cx="3667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57" name="Equation" r:id="rId3" imgW="304560" imgH="291960" progId="Equation.DSMT4">
                  <p:embed/>
                </p:oleObj>
              </mc:Choice>
              <mc:Fallback>
                <p:oleObj name="Equation" r:id="rId3" imgW="304560" imgH="2919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3454400"/>
                        <a:ext cx="36671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1116013" y="333375"/>
            <a:ext cx="3671887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一、关系的概念</a:t>
            </a:r>
          </a:p>
        </p:txBody>
      </p:sp>
      <p:sp>
        <p:nvSpPr>
          <p:cNvPr id="202761" name="AutoShape 9"/>
          <p:cNvSpPr>
            <a:spLocks noChangeArrowheads="1"/>
          </p:cNvSpPr>
          <p:nvPr/>
        </p:nvSpPr>
        <p:spPr bwMode="auto">
          <a:xfrm>
            <a:off x="1403350" y="4221163"/>
            <a:ext cx="6196013" cy="1316037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buFont typeface="Wingdings" pitchFamily="2" charset="2"/>
              <a:buNone/>
            </a:pP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是实数集合，试定义</a:t>
            </a:r>
            <a:r>
              <a:rPr lang="en-US" altLang="zh-CN"/>
              <a:t>R</a:t>
            </a:r>
            <a:r>
              <a:rPr lang="zh-CN" altLang="en-US"/>
              <a:t>中的平方关系。</a:t>
            </a:r>
          </a:p>
          <a:p>
            <a:pPr algn="ctr">
              <a:buFont typeface="Wingdings" pitchFamily="2" charset="2"/>
              <a:buNone/>
            </a:pPr>
            <a:endParaRPr lang="zh-CN" altLang="en-US"/>
          </a:p>
          <a:p>
            <a:pPr algn="ctr">
              <a:buFont typeface="Wingdings" pitchFamily="2" charset="2"/>
              <a:buNone/>
            </a:pPr>
            <a:r>
              <a:rPr lang="zh-CN" altLang="en-US"/>
              <a:t>解：  </a:t>
            </a:r>
            <a:r>
              <a:rPr lang="en-US" altLang="zh-CN"/>
              <a:t>Q={&lt;x, y&gt;|x∈R∧y∈R∧y=x</a:t>
            </a:r>
            <a:r>
              <a:rPr lang="en-US" altLang="zh-CN" baseline="30000"/>
              <a:t>2</a:t>
            </a:r>
            <a:r>
              <a:rPr lang="en-US" altLang="zh-CN"/>
              <a:t>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61" grpId="0" uiExpand="1" build="allAtOnce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E418EC-B926-4787-9F55-13B4993F65B6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203778" name="Rectangle 2"/>
          <p:cNvSpPr>
            <a:spLocks noChangeArrowheads="1"/>
          </p:cNvSpPr>
          <p:nvPr/>
        </p:nvSpPr>
        <p:spPr bwMode="auto">
          <a:xfrm>
            <a:off x="719138" y="1268413"/>
            <a:ext cx="7916862" cy="491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>
            <a:spAutoFit/>
          </a:bodyPr>
          <a:lstStyle/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3-5.2</a:t>
            </a:r>
            <a:r>
              <a:rPr lang="en-US" altLang="zh-CN" dirty="0"/>
              <a:t> </a:t>
            </a:r>
            <a:r>
              <a:rPr lang="zh-CN" altLang="en-US" dirty="0"/>
              <a:t>令</a:t>
            </a:r>
            <a:r>
              <a:rPr lang="en-US" altLang="zh-CN" dirty="0"/>
              <a:t>R</a:t>
            </a:r>
            <a:r>
              <a:rPr lang="zh-CN" altLang="en-US" dirty="0"/>
              <a:t>为二元关系，由</a:t>
            </a:r>
            <a:r>
              <a:rPr lang="en-US" altLang="zh-CN" dirty="0"/>
              <a:t>&lt;x, y&gt;∈R</a:t>
            </a:r>
            <a:r>
              <a:rPr lang="zh-CN" altLang="en-US" dirty="0"/>
              <a:t>的所有</a:t>
            </a:r>
            <a:r>
              <a:rPr lang="en-US" altLang="zh-CN" dirty="0"/>
              <a:t>x</a:t>
            </a:r>
            <a:r>
              <a:rPr lang="zh-CN" altLang="en-US" dirty="0"/>
              <a:t>组成的集合</a:t>
            </a:r>
            <a:r>
              <a:rPr lang="en-US" altLang="zh-CN" dirty="0" err="1">
                <a:solidFill>
                  <a:schemeClr val="folHlink"/>
                </a:solidFill>
              </a:rPr>
              <a:t>dom</a:t>
            </a:r>
            <a:r>
              <a:rPr lang="en-US" altLang="zh-CN" dirty="0" err="1"/>
              <a:t>R</a:t>
            </a:r>
            <a:r>
              <a:rPr lang="zh-CN" altLang="en-US" dirty="0"/>
              <a:t>称为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前域</a:t>
            </a:r>
            <a:r>
              <a:rPr lang="zh-CN" altLang="en-US" dirty="0"/>
              <a:t>，即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 dirty="0" err="1"/>
              <a:t>domR</a:t>
            </a:r>
            <a:r>
              <a:rPr lang="en-US" altLang="zh-CN" dirty="0"/>
              <a:t>={x|(</a:t>
            </a:r>
            <a:r>
              <a:rPr kumimoji="0" lang="en-US" altLang="zh-CN" dirty="0">
                <a:latin typeface="Arial" charset="0"/>
                <a:sym typeface="Symbol" pitchFamily="18" charset="2"/>
              </a:rPr>
              <a:t></a:t>
            </a:r>
            <a:r>
              <a:rPr lang="en-US" altLang="zh-CN" dirty="0"/>
              <a:t>y)(&lt;x, y&gt;∈R)}</a:t>
            </a:r>
            <a:r>
              <a:rPr lang="zh-CN" altLang="en-US" dirty="0"/>
              <a:t>；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zh-CN" altLang="en-US" dirty="0"/>
              <a:t>使</a:t>
            </a:r>
            <a:r>
              <a:rPr lang="en-US" altLang="zh-CN" dirty="0"/>
              <a:t>&lt;x, y&gt;∈R</a:t>
            </a:r>
            <a:r>
              <a:rPr lang="zh-CN" altLang="en-US" dirty="0"/>
              <a:t>的所有</a:t>
            </a:r>
            <a:r>
              <a:rPr lang="en-US" altLang="zh-CN" dirty="0"/>
              <a:t>y</a:t>
            </a:r>
            <a:r>
              <a:rPr lang="zh-CN" altLang="en-US" dirty="0"/>
              <a:t>组成的集合</a:t>
            </a:r>
            <a:r>
              <a:rPr lang="en-US" altLang="zh-CN" dirty="0" err="1">
                <a:solidFill>
                  <a:schemeClr val="folHlink"/>
                </a:solidFill>
              </a:rPr>
              <a:t>ran</a:t>
            </a:r>
            <a:r>
              <a:rPr lang="en-US" altLang="zh-CN" dirty="0" err="1"/>
              <a:t>R</a:t>
            </a:r>
            <a:r>
              <a:rPr lang="zh-CN" altLang="en-US" dirty="0"/>
              <a:t>称做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值域</a:t>
            </a:r>
            <a:r>
              <a:rPr lang="zh-CN" altLang="en-US" dirty="0"/>
              <a:t>，即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 dirty="0" err="1"/>
              <a:t>ranR</a:t>
            </a:r>
            <a:r>
              <a:rPr lang="en-US" altLang="zh-CN" dirty="0"/>
              <a:t>={y|(</a:t>
            </a:r>
            <a:r>
              <a:rPr kumimoji="0" lang="en-US" altLang="zh-CN" dirty="0">
                <a:latin typeface="Arial" charset="0"/>
                <a:sym typeface="Symbol" pitchFamily="18" charset="2"/>
              </a:rPr>
              <a:t></a:t>
            </a:r>
            <a:r>
              <a:rPr lang="en-US" altLang="zh-CN" dirty="0"/>
              <a:t>x)(&lt;x, y&gt;∈R)}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 dirty="0"/>
              <a:t>R</a:t>
            </a:r>
            <a:r>
              <a:rPr lang="zh-CN" altLang="en-US" dirty="0"/>
              <a:t>的前域和值域一起称做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域</a:t>
            </a:r>
            <a:r>
              <a:rPr lang="zh-CN" altLang="en-US" dirty="0"/>
              <a:t>，记做</a:t>
            </a:r>
            <a:r>
              <a:rPr lang="en-US" altLang="zh-CN" dirty="0">
                <a:solidFill>
                  <a:schemeClr val="folHlink"/>
                </a:solidFill>
              </a:rPr>
              <a:t>FLD</a:t>
            </a:r>
            <a:r>
              <a:rPr lang="en-US" altLang="zh-CN" dirty="0"/>
              <a:t>R</a:t>
            </a:r>
            <a:r>
              <a:rPr lang="zh-CN" altLang="en-US" dirty="0"/>
              <a:t>，即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 dirty="0"/>
              <a:t>FLDR=</a:t>
            </a:r>
            <a:r>
              <a:rPr lang="en-US" altLang="zh-CN" dirty="0" err="1"/>
              <a:t>domR∪ranR</a:t>
            </a:r>
            <a:r>
              <a:rPr lang="en-US" altLang="zh-CN" dirty="0"/>
              <a:t> 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设</a:t>
            </a:r>
            <a:r>
              <a:rPr lang="en-US" altLang="zh-CN" dirty="0"/>
              <a:t>X={1,2,3,4}</a:t>
            </a:r>
            <a:r>
              <a:rPr lang="zh-CN" altLang="en-US" dirty="0"/>
              <a:t>，求</a:t>
            </a:r>
            <a:r>
              <a:rPr lang="en-US" altLang="zh-CN" dirty="0"/>
              <a:t>X</a:t>
            </a:r>
            <a:r>
              <a:rPr lang="zh-CN" altLang="en-US" dirty="0"/>
              <a:t>上的关系</a:t>
            </a:r>
            <a:r>
              <a:rPr lang="en-US" altLang="zh-CN" dirty="0"/>
              <a:t>&gt;</a:t>
            </a:r>
            <a:r>
              <a:rPr lang="zh-CN" altLang="en-US" dirty="0"/>
              <a:t>及</a:t>
            </a:r>
            <a:r>
              <a:rPr lang="en-US" altLang="zh-CN" dirty="0" err="1"/>
              <a:t>dom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en-US" altLang="zh-CN" dirty="0"/>
              <a:t>ran&gt;</a:t>
            </a:r>
            <a:r>
              <a:rPr lang="zh-CN" altLang="en-US" dirty="0"/>
              <a:t>，</a:t>
            </a:r>
            <a:r>
              <a:rPr lang="en-US" altLang="zh-CN" dirty="0"/>
              <a:t>FLD&gt;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dirty="0"/>
              <a:t>解：</a:t>
            </a:r>
            <a:r>
              <a:rPr lang="en-US" altLang="zh-CN" dirty="0"/>
              <a:t>&gt;={&lt;2, 1&gt;, &lt;3, 1&gt;, &lt;4, 1&gt;, &lt;3,2&gt;, &lt;4, 2&gt;, &lt;4, 3&gt;}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dirty="0" err="1"/>
              <a:t>dom</a:t>
            </a:r>
            <a:r>
              <a:rPr lang="en-US" altLang="zh-CN" dirty="0"/>
              <a:t>&gt;={2, 3, 4}</a:t>
            </a:r>
            <a:r>
              <a:rPr lang="zh-CN" altLang="en-US" dirty="0"/>
              <a:t>，</a:t>
            </a:r>
            <a:r>
              <a:rPr lang="en-US" altLang="zh-CN" dirty="0"/>
              <a:t>ran&gt;={1, 2, 3}</a:t>
            </a:r>
            <a:r>
              <a:rPr lang="zh-CN" altLang="en-US" dirty="0"/>
              <a:t>，</a:t>
            </a:r>
            <a:r>
              <a:rPr lang="en-US" altLang="zh-CN" dirty="0"/>
              <a:t>FLD&gt;={1, 2, 3, 4}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ACE4EC-71FC-4220-AFEF-C6A361D3E0AC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204804" name="Oval 4"/>
          <p:cNvSpPr>
            <a:spLocks noChangeArrowheads="1"/>
          </p:cNvSpPr>
          <p:nvPr/>
        </p:nvSpPr>
        <p:spPr bwMode="auto">
          <a:xfrm>
            <a:off x="2411413" y="2206625"/>
            <a:ext cx="1303337" cy="2536825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b="0">
                <a:solidFill>
                  <a:srgbClr val="FFFFFF"/>
                </a:solidFill>
              </a:rPr>
              <a:t>x</a:t>
            </a:r>
            <a:r>
              <a:rPr lang="en-US" altLang="zh-CN" b="0" baseline="-25000">
                <a:solidFill>
                  <a:srgbClr val="FFFFFF"/>
                </a:solidFill>
              </a:rPr>
              <a:t>1</a:t>
            </a:r>
          </a:p>
          <a:p>
            <a:pPr>
              <a:buClrTx/>
              <a:buFontTx/>
              <a:buNone/>
            </a:pPr>
            <a:r>
              <a:rPr lang="en-US" altLang="zh-CN" b="0">
                <a:solidFill>
                  <a:srgbClr val="FFFFFF"/>
                </a:solidFill>
              </a:rPr>
              <a:t>x</a:t>
            </a:r>
            <a:r>
              <a:rPr lang="en-US" altLang="zh-CN" b="0" baseline="-25000">
                <a:solidFill>
                  <a:srgbClr val="FFFFFF"/>
                </a:solidFill>
              </a:rPr>
              <a:t>2</a:t>
            </a:r>
          </a:p>
          <a:p>
            <a:pPr>
              <a:buClrTx/>
              <a:buFontTx/>
              <a:buNone/>
            </a:pPr>
            <a:endParaRPr lang="en-US" altLang="zh-CN" b="0">
              <a:solidFill>
                <a:srgbClr val="FFFFFF"/>
              </a:solidFill>
            </a:endParaRPr>
          </a:p>
          <a:p>
            <a:pPr>
              <a:buClrTx/>
              <a:buFontTx/>
              <a:buNone/>
            </a:pPr>
            <a:r>
              <a:rPr lang="en-US" altLang="zh-CN" b="0">
                <a:solidFill>
                  <a:srgbClr val="FFFFFF"/>
                </a:solidFill>
              </a:rPr>
              <a:t>x</a:t>
            </a:r>
            <a:r>
              <a:rPr lang="en-US" altLang="zh-CN" b="0" baseline="-25000">
                <a:solidFill>
                  <a:srgbClr val="FFFFFF"/>
                </a:solidFill>
              </a:rPr>
              <a:t>6</a:t>
            </a:r>
          </a:p>
          <a:p>
            <a:pPr>
              <a:buClrTx/>
              <a:buFontTx/>
              <a:buNone/>
            </a:pPr>
            <a:r>
              <a:rPr lang="en-US" altLang="zh-CN" b="0">
                <a:solidFill>
                  <a:srgbClr val="FFFFFF"/>
                </a:solidFill>
              </a:rPr>
              <a:t>x</a:t>
            </a:r>
            <a:r>
              <a:rPr lang="en-US" altLang="zh-CN" b="0" baseline="-250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4814" name="Oval 14"/>
          <p:cNvSpPr>
            <a:spLocks noChangeArrowheads="1"/>
          </p:cNvSpPr>
          <p:nvPr/>
        </p:nvSpPr>
        <p:spPr bwMode="auto">
          <a:xfrm>
            <a:off x="3000375" y="2566988"/>
            <a:ext cx="685800" cy="1851025"/>
          </a:xfrm>
          <a:prstGeom prst="ellipse">
            <a:avLst/>
          </a:prstGeom>
          <a:solidFill>
            <a:srgbClr val="66FF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hlink"/>
                </a:solidFill>
              </a:rPr>
              <a:t>x</a:t>
            </a:r>
            <a:r>
              <a:rPr lang="en-US" altLang="zh-CN" b="0" baseline="-25000">
                <a:solidFill>
                  <a:schemeClr val="hlink"/>
                </a:solidFill>
              </a:rPr>
              <a:t>3</a:t>
            </a:r>
          </a:p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hlink"/>
                </a:solidFill>
              </a:rPr>
              <a:t>x</a:t>
            </a:r>
            <a:r>
              <a:rPr lang="en-US" altLang="zh-CN" b="0" baseline="-25000">
                <a:solidFill>
                  <a:schemeClr val="hlink"/>
                </a:solidFill>
              </a:rPr>
              <a:t>4</a:t>
            </a:r>
          </a:p>
          <a:p>
            <a:pPr>
              <a:buClrTx/>
              <a:buFontTx/>
              <a:buNone/>
            </a:pPr>
            <a:endParaRPr lang="en-US" altLang="zh-CN" b="0">
              <a:solidFill>
                <a:schemeClr val="hlink"/>
              </a:solidFill>
            </a:endParaRPr>
          </a:p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hlink"/>
                </a:solidFill>
              </a:rPr>
              <a:t>x</a:t>
            </a:r>
            <a:r>
              <a:rPr lang="en-US" altLang="zh-CN" b="0" baseline="-25000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204802" name="Text Box 2"/>
          <p:cNvSpPr txBox="1">
            <a:spLocks noChangeArrowheads="1"/>
          </p:cNvSpPr>
          <p:nvPr/>
        </p:nvSpPr>
        <p:spPr bwMode="auto">
          <a:xfrm>
            <a:off x="719138" y="1268760"/>
            <a:ext cx="791686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3-5.3</a:t>
            </a:r>
            <a:r>
              <a:rPr lang="en-US" altLang="zh-CN" dirty="0"/>
              <a:t> </a:t>
            </a:r>
            <a:r>
              <a:rPr lang="zh-CN" altLang="en-US" dirty="0"/>
              <a:t>令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是任意两个集合，直积</a:t>
            </a:r>
            <a:r>
              <a:rPr lang="en-US" altLang="zh-CN" dirty="0"/>
              <a:t>X×Y</a:t>
            </a:r>
            <a:r>
              <a:rPr lang="zh-CN" altLang="en-US" dirty="0"/>
              <a:t>的子集</a:t>
            </a:r>
            <a:r>
              <a:rPr lang="en-US" altLang="zh-CN" dirty="0"/>
              <a:t>R</a:t>
            </a:r>
            <a:r>
              <a:rPr lang="zh-CN" altLang="en-US" dirty="0"/>
              <a:t>称作</a:t>
            </a:r>
            <a:r>
              <a:rPr lang="en-US" altLang="zh-CN" dirty="0"/>
              <a:t>X</a:t>
            </a:r>
            <a:r>
              <a:rPr lang="zh-CN" altLang="en-US" dirty="0"/>
              <a:t>到</a:t>
            </a:r>
            <a:r>
              <a:rPr lang="en-US" altLang="zh-CN" dirty="0"/>
              <a:t>Y</a:t>
            </a:r>
            <a:r>
              <a:rPr lang="zh-CN" altLang="en-US" dirty="0"/>
              <a:t>的关系。特别当</a:t>
            </a:r>
            <a:r>
              <a:rPr lang="en-US" altLang="zh-CN" dirty="0"/>
              <a:t>X=Y</a:t>
            </a:r>
            <a:r>
              <a:rPr lang="zh-CN" altLang="en-US" dirty="0"/>
              <a:t>时则称作</a:t>
            </a:r>
            <a:r>
              <a:rPr lang="en-US" altLang="zh-CN" dirty="0"/>
              <a:t>X</a:t>
            </a:r>
            <a:r>
              <a:rPr lang="zh-CN" altLang="en-US" dirty="0"/>
              <a:t>上的二元关系。</a:t>
            </a:r>
          </a:p>
        </p:txBody>
      </p:sp>
      <p:sp>
        <p:nvSpPr>
          <p:cNvPr id="204805" name="Oval 5"/>
          <p:cNvSpPr>
            <a:spLocks noChangeArrowheads="1"/>
          </p:cNvSpPr>
          <p:nvPr/>
        </p:nvSpPr>
        <p:spPr bwMode="auto">
          <a:xfrm>
            <a:off x="6508750" y="2206625"/>
            <a:ext cx="1303338" cy="25368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tx1"/>
                </a:solidFill>
              </a:rPr>
              <a:t>      </a:t>
            </a:r>
            <a:r>
              <a:rPr lang="en-US" altLang="zh-CN" b="0">
                <a:solidFill>
                  <a:schemeClr val="bg1"/>
                </a:solidFill>
              </a:rPr>
              <a:t>y</a:t>
            </a:r>
            <a:r>
              <a:rPr lang="en-US" altLang="zh-CN" b="0" baseline="-25000">
                <a:solidFill>
                  <a:schemeClr val="bg1"/>
                </a:solidFill>
              </a:rPr>
              <a:t>3</a:t>
            </a:r>
          </a:p>
          <a:p>
            <a:pPr>
              <a:buClrTx/>
              <a:buFontTx/>
              <a:buNone/>
            </a:pPr>
            <a:r>
              <a:rPr lang="en-US" altLang="zh-CN" b="0" baseline="-25000">
                <a:solidFill>
                  <a:schemeClr val="bg1"/>
                </a:solidFill>
              </a:rPr>
              <a:t>         </a:t>
            </a:r>
          </a:p>
          <a:p>
            <a:pPr>
              <a:buClrTx/>
              <a:buFontTx/>
              <a:buNone/>
            </a:pPr>
            <a:r>
              <a:rPr lang="en-US" altLang="zh-CN" b="0" baseline="-25000">
                <a:solidFill>
                  <a:schemeClr val="bg1"/>
                </a:solidFill>
              </a:rPr>
              <a:t>         </a:t>
            </a:r>
          </a:p>
          <a:p>
            <a:pPr>
              <a:buClrTx/>
              <a:buFontTx/>
              <a:buNone/>
            </a:pPr>
            <a:r>
              <a:rPr lang="en-US" altLang="zh-CN" b="0" baseline="-25000">
                <a:solidFill>
                  <a:schemeClr val="bg1"/>
                </a:solidFill>
              </a:rPr>
              <a:t>          </a:t>
            </a:r>
            <a:r>
              <a:rPr lang="en-US" altLang="zh-CN" b="0">
                <a:solidFill>
                  <a:schemeClr val="bg1"/>
                </a:solidFill>
              </a:rPr>
              <a:t>y</a:t>
            </a:r>
            <a:r>
              <a:rPr lang="en-US" altLang="zh-CN" b="0" baseline="-25000">
                <a:solidFill>
                  <a:schemeClr val="bg1"/>
                </a:solidFill>
              </a:rPr>
              <a:t>5</a:t>
            </a:r>
          </a:p>
          <a:p>
            <a:pPr>
              <a:buClrTx/>
              <a:buFontTx/>
              <a:buNone/>
            </a:pPr>
            <a:r>
              <a:rPr lang="en-US" altLang="zh-CN" b="0" baseline="-25000">
                <a:solidFill>
                  <a:schemeClr val="bg1"/>
                </a:solidFill>
              </a:rPr>
              <a:t>          </a:t>
            </a:r>
          </a:p>
          <a:p>
            <a:pPr>
              <a:buClrTx/>
              <a:buFontTx/>
              <a:buNone/>
            </a:pPr>
            <a:r>
              <a:rPr lang="en-US" altLang="zh-CN" b="0" baseline="-25000">
                <a:solidFill>
                  <a:schemeClr val="bg1"/>
                </a:solidFill>
              </a:rPr>
              <a:t>          </a:t>
            </a:r>
            <a:r>
              <a:rPr lang="en-US" altLang="zh-CN" b="0">
                <a:solidFill>
                  <a:schemeClr val="bg1"/>
                </a:solidFill>
              </a:rPr>
              <a:t>y</a:t>
            </a:r>
            <a:r>
              <a:rPr lang="en-US" altLang="zh-CN" b="0" baseline="-25000">
                <a:solidFill>
                  <a:schemeClr val="bg1"/>
                </a:solidFill>
              </a:rPr>
              <a:t>6</a:t>
            </a:r>
            <a:endParaRPr lang="en-US" altLang="zh-CN" b="0">
              <a:solidFill>
                <a:schemeClr val="tx1"/>
              </a:solidFill>
            </a:endParaRPr>
          </a:p>
        </p:txBody>
      </p:sp>
      <p:sp>
        <p:nvSpPr>
          <p:cNvPr id="204807" name="Oval 7"/>
          <p:cNvSpPr>
            <a:spLocks noChangeArrowheads="1"/>
          </p:cNvSpPr>
          <p:nvPr/>
        </p:nvSpPr>
        <p:spPr bwMode="auto">
          <a:xfrm>
            <a:off x="6526213" y="2587625"/>
            <a:ext cx="687387" cy="1851025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hlink"/>
                </a:solidFill>
              </a:rPr>
              <a:t>y</a:t>
            </a:r>
            <a:r>
              <a:rPr lang="en-US" altLang="zh-CN" b="0" baseline="-25000">
                <a:solidFill>
                  <a:schemeClr val="hlink"/>
                </a:solidFill>
              </a:rPr>
              <a:t>1</a:t>
            </a:r>
          </a:p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hlink"/>
                </a:solidFill>
              </a:rPr>
              <a:t>y</a:t>
            </a:r>
            <a:r>
              <a:rPr lang="en-US" altLang="zh-CN" b="0" baseline="-25000">
                <a:solidFill>
                  <a:schemeClr val="hlink"/>
                </a:solidFill>
              </a:rPr>
              <a:t>2</a:t>
            </a:r>
          </a:p>
          <a:p>
            <a:pPr>
              <a:buClrTx/>
              <a:buFontTx/>
              <a:buNone/>
            </a:pPr>
            <a:endParaRPr lang="en-US" altLang="zh-CN" b="0">
              <a:solidFill>
                <a:schemeClr val="hlink"/>
              </a:solidFill>
            </a:endParaRPr>
          </a:p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hlink"/>
                </a:solidFill>
              </a:rPr>
              <a:t>y</a:t>
            </a:r>
            <a:r>
              <a:rPr lang="en-US" altLang="zh-CN" b="0" baseline="-25000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204809" name="Text Box 9"/>
          <p:cNvSpPr txBox="1">
            <a:spLocks noChangeArrowheads="1"/>
          </p:cNvSpPr>
          <p:nvPr/>
        </p:nvSpPr>
        <p:spPr bwMode="auto">
          <a:xfrm>
            <a:off x="3849688" y="4679950"/>
            <a:ext cx="2882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solidFill>
                  <a:schemeClr val="tx1"/>
                </a:solidFill>
              </a:rPr>
              <a:t>domR               ranR</a:t>
            </a:r>
          </a:p>
        </p:txBody>
      </p:sp>
      <p:sp>
        <p:nvSpPr>
          <p:cNvPr id="204810" name="Line 10"/>
          <p:cNvSpPr>
            <a:spLocks noChangeShapeType="1"/>
          </p:cNvSpPr>
          <p:nvPr/>
        </p:nvSpPr>
        <p:spPr bwMode="auto">
          <a:xfrm>
            <a:off x="3402013" y="4416425"/>
            <a:ext cx="617537" cy="3429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4811" name="Line 11"/>
          <p:cNvSpPr>
            <a:spLocks noChangeShapeType="1"/>
          </p:cNvSpPr>
          <p:nvPr/>
        </p:nvSpPr>
        <p:spPr bwMode="auto">
          <a:xfrm flipH="1">
            <a:off x="6221413" y="4416425"/>
            <a:ext cx="549275" cy="3429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4812" name="Text Box 12"/>
          <p:cNvSpPr txBox="1">
            <a:spLocks noChangeArrowheads="1"/>
          </p:cNvSpPr>
          <p:nvPr/>
        </p:nvSpPr>
        <p:spPr bwMode="auto">
          <a:xfrm>
            <a:off x="719138" y="5089525"/>
            <a:ext cx="79168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dirty="0"/>
              <a:t>X×Y={&lt;x</a:t>
            </a:r>
            <a:r>
              <a:rPr lang="en-US" altLang="zh-CN" baseline="-25000" dirty="0"/>
              <a:t>1</a:t>
            </a:r>
            <a:r>
              <a:rPr lang="en-US" altLang="zh-CN" dirty="0"/>
              <a:t>,y</a:t>
            </a:r>
            <a:r>
              <a:rPr lang="en-US" altLang="zh-CN" baseline="-25000" dirty="0"/>
              <a:t>1</a:t>
            </a:r>
            <a:r>
              <a:rPr lang="en-US" altLang="zh-CN" dirty="0"/>
              <a:t>&gt;, …,&lt;x</a:t>
            </a:r>
            <a:r>
              <a:rPr lang="en-US" altLang="zh-CN" baseline="-25000" dirty="0"/>
              <a:t>3</a:t>
            </a:r>
            <a:r>
              <a:rPr lang="en-US" altLang="zh-CN" dirty="0"/>
              <a:t>,y</a:t>
            </a:r>
            <a:r>
              <a:rPr lang="en-US" altLang="zh-CN" baseline="-25000" dirty="0"/>
              <a:t>1</a:t>
            </a:r>
            <a:r>
              <a:rPr lang="en-US" altLang="zh-CN" dirty="0"/>
              <a:t>&gt;, &lt;x</a:t>
            </a:r>
            <a:r>
              <a:rPr lang="en-US" altLang="zh-CN" baseline="-25000" dirty="0"/>
              <a:t>3</a:t>
            </a:r>
            <a:r>
              <a:rPr lang="en-US" altLang="zh-CN" dirty="0"/>
              <a:t>,y</a:t>
            </a:r>
            <a:r>
              <a:rPr lang="en-US" altLang="zh-CN" baseline="-25000" dirty="0"/>
              <a:t>2</a:t>
            </a:r>
            <a:r>
              <a:rPr lang="en-US" altLang="zh-CN" dirty="0"/>
              <a:t>&gt;, &lt;x</a:t>
            </a:r>
            <a:r>
              <a:rPr lang="en-US" altLang="zh-CN" baseline="-25000" dirty="0"/>
              <a:t>4</a:t>
            </a:r>
            <a:r>
              <a:rPr lang="en-US" altLang="zh-CN" dirty="0"/>
              <a:t>,y</a:t>
            </a:r>
            <a:r>
              <a:rPr lang="en-US" altLang="zh-CN" baseline="-25000" dirty="0"/>
              <a:t>4</a:t>
            </a:r>
            <a:r>
              <a:rPr lang="en-US" altLang="zh-CN" dirty="0"/>
              <a:t>&gt;, &lt;x</a:t>
            </a:r>
            <a:r>
              <a:rPr lang="en-US" altLang="zh-CN" baseline="-25000" dirty="0"/>
              <a:t>5</a:t>
            </a:r>
            <a:r>
              <a:rPr lang="en-US" altLang="zh-CN" dirty="0"/>
              <a:t>,y</a:t>
            </a:r>
            <a:r>
              <a:rPr lang="en-US" altLang="zh-CN" baseline="-25000" dirty="0"/>
              <a:t>2</a:t>
            </a:r>
            <a:r>
              <a:rPr lang="en-US" altLang="zh-CN" dirty="0"/>
              <a:t>&gt;, …}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dirty="0"/>
              <a:t>R={&lt;x</a:t>
            </a:r>
            <a:r>
              <a:rPr lang="en-US" altLang="zh-CN" baseline="-25000" dirty="0"/>
              <a:t>3</a:t>
            </a:r>
            <a:r>
              <a:rPr lang="en-US" altLang="zh-CN" dirty="0"/>
              <a:t>, y</a:t>
            </a:r>
            <a:r>
              <a:rPr lang="en-US" altLang="zh-CN" baseline="-25000" dirty="0"/>
              <a:t>1</a:t>
            </a:r>
            <a:r>
              <a:rPr lang="en-US" altLang="zh-CN" dirty="0"/>
              <a:t>&gt;, &lt;x</a:t>
            </a:r>
            <a:r>
              <a:rPr lang="en-US" altLang="zh-CN" baseline="-25000" dirty="0"/>
              <a:t>3</a:t>
            </a:r>
            <a:r>
              <a:rPr lang="en-US" altLang="zh-CN" dirty="0"/>
              <a:t>, y</a:t>
            </a:r>
            <a:r>
              <a:rPr lang="en-US" altLang="zh-CN" baseline="-25000" dirty="0"/>
              <a:t>2</a:t>
            </a:r>
            <a:r>
              <a:rPr lang="en-US" altLang="zh-CN" dirty="0"/>
              <a:t>&gt;, &lt;x</a:t>
            </a:r>
            <a:r>
              <a:rPr lang="en-US" altLang="zh-CN" baseline="-25000" dirty="0"/>
              <a:t>4</a:t>
            </a:r>
            <a:r>
              <a:rPr lang="en-US" altLang="zh-CN" dirty="0"/>
              <a:t>, y</a:t>
            </a:r>
            <a:r>
              <a:rPr lang="en-US" altLang="zh-CN" baseline="-25000" dirty="0"/>
              <a:t>4</a:t>
            </a:r>
            <a:r>
              <a:rPr lang="en-US" altLang="zh-CN" dirty="0"/>
              <a:t>&gt;, &lt;x</a:t>
            </a:r>
            <a:r>
              <a:rPr lang="en-US" altLang="zh-CN" baseline="-25000" dirty="0"/>
              <a:t>5</a:t>
            </a:r>
            <a:r>
              <a:rPr lang="en-US" altLang="zh-CN" dirty="0"/>
              <a:t>, y</a:t>
            </a:r>
            <a:r>
              <a:rPr lang="en-US" altLang="zh-CN" baseline="-25000" dirty="0"/>
              <a:t>2</a:t>
            </a:r>
            <a:r>
              <a:rPr lang="en-US" altLang="zh-CN" dirty="0"/>
              <a:t>&gt;}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 dirty="0" smtClean="0"/>
              <a:t>R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X×Y</a:t>
            </a:r>
            <a:r>
              <a:rPr lang="zh-CN" altLang="en-US" dirty="0"/>
              <a:t>。</a:t>
            </a:r>
          </a:p>
        </p:txBody>
      </p:sp>
      <p:sp>
        <p:nvSpPr>
          <p:cNvPr id="204815" name="Freeform 15"/>
          <p:cNvSpPr>
            <a:spLocks/>
          </p:cNvSpPr>
          <p:nvPr/>
        </p:nvSpPr>
        <p:spPr bwMode="auto">
          <a:xfrm>
            <a:off x="3478213" y="2843213"/>
            <a:ext cx="3179762" cy="1422400"/>
          </a:xfrm>
          <a:custGeom>
            <a:avLst/>
            <a:gdLst>
              <a:gd name="T0" fmla="*/ 2003 w 2003"/>
              <a:gd name="T1" fmla="*/ 183 h 896"/>
              <a:gd name="T2" fmla="*/ 1529 w 2003"/>
              <a:gd name="T3" fmla="*/ 64 h 896"/>
              <a:gd name="T4" fmla="*/ 980 w 2003"/>
              <a:gd name="T5" fmla="*/ 0 h 896"/>
              <a:gd name="T6" fmla="*/ 424 w 2003"/>
              <a:gd name="T7" fmla="*/ 63 h 896"/>
              <a:gd name="T8" fmla="*/ 29 w 2003"/>
              <a:gd name="T9" fmla="*/ 201 h 896"/>
              <a:gd name="T10" fmla="*/ 596 w 2003"/>
              <a:gd name="T11" fmla="*/ 402 h 896"/>
              <a:gd name="T12" fmla="*/ 1309 w 2003"/>
              <a:gd name="T13" fmla="*/ 448 h 896"/>
              <a:gd name="T14" fmla="*/ 1949 w 2003"/>
              <a:gd name="T15" fmla="*/ 421 h 896"/>
              <a:gd name="T16" fmla="*/ 1503 w 2003"/>
              <a:gd name="T17" fmla="*/ 711 h 896"/>
              <a:gd name="T18" fmla="*/ 870 w 2003"/>
              <a:gd name="T19" fmla="*/ 850 h 896"/>
              <a:gd name="T20" fmla="*/ 285 w 2003"/>
              <a:gd name="T21" fmla="*/ 869 h 896"/>
              <a:gd name="T22" fmla="*/ 75 w 2003"/>
              <a:gd name="T23" fmla="*/ 860 h 896"/>
              <a:gd name="T24" fmla="*/ 57 w 2003"/>
              <a:gd name="T25" fmla="*/ 89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03" h="896">
                <a:moveTo>
                  <a:pt x="2003" y="183"/>
                </a:moveTo>
                <a:cubicBezTo>
                  <a:pt x="1924" y="163"/>
                  <a:pt x="1699" y="94"/>
                  <a:pt x="1529" y="64"/>
                </a:cubicBezTo>
                <a:cubicBezTo>
                  <a:pt x="1359" y="34"/>
                  <a:pt x="1164" y="0"/>
                  <a:pt x="980" y="0"/>
                </a:cubicBezTo>
                <a:cubicBezTo>
                  <a:pt x="796" y="0"/>
                  <a:pt x="582" y="30"/>
                  <a:pt x="424" y="63"/>
                </a:cubicBezTo>
                <a:cubicBezTo>
                  <a:pt x="266" y="96"/>
                  <a:pt x="0" y="144"/>
                  <a:pt x="29" y="201"/>
                </a:cubicBezTo>
                <a:cubicBezTo>
                  <a:pt x="58" y="258"/>
                  <a:pt x="383" y="361"/>
                  <a:pt x="596" y="402"/>
                </a:cubicBezTo>
                <a:cubicBezTo>
                  <a:pt x="809" y="443"/>
                  <a:pt x="1084" y="445"/>
                  <a:pt x="1309" y="448"/>
                </a:cubicBezTo>
                <a:cubicBezTo>
                  <a:pt x="1534" y="451"/>
                  <a:pt x="1917" y="377"/>
                  <a:pt x="1949" y="421"/>
                </a:cubicBezTo>
                <a:cubicBezTo>
                  <a:pt x="1981" y="465"/>
                  <a:pt x="1683" y="640"/>
                  <a:pt x="1503" y="711"/>
                </a:cubicBezTo>
                <a:cubicBezTo>
                  <a:pt x="1323" y="782"/>
                  <a:pt x="1073" y="824"/>
                  <a:pt x="870" y="850"/>
                </a:cubicBezTo>
                <a:cubicBezTo>
                  <a:pt x="667" y="876"/>
                  <a:pt x="417" y="867"/>
                  <a:pt x="285" y="869"/>
                </a:cubicBezTo>
                <a:cubicBezTo>
                  <a:pt x="153" y="871"/>
                  <a:pt x="113" y="856"/>
                  <a:pt x="75" y="860"/>
                </a:cubicBezTo>
                <a:cubicBezTo>
                  <a:pt x="37" y="864"/>
                  <a:pt x="61" y="889"/>
                  <a:pt x="57" y="896"/>
                </a:cubicBezTo>
              </a:path>
            </a:pathLst>
          </a:custGeom>
          <a:noFill/>
          <a:ln w="317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4808" name="Freeform 8"/>
          <p:cNvSpPr>
            <a:spLocks/>
          </p:cNvSpPr>
          <p:nvPr/>
        </p:nvSpPr>
        <p:spPr bwMode="auto">
          <a:xfrm>
            <a:off x="3481388" y="3511550"/>
            <a:ext cx="3048000" cy="681038"/>
          </a:xfrm>
          <a:custGeom>
            <a:avLst/>
            <a:gdLst>
              <a:gd name="T0" fmla="*/ 0 w 1920"/>
              <a:gd name="T1" fmla="*/ 0 h 429"/>
              <a:gd name="T2" fmla="*/ 612 w 1920"/>
              <a:gd name="T3" fmla="*/ 164 h 429"/>
              <a:gd name="T4" fmla="*/ 1435 w 1920"/>
              <a:gd name="T5" fmla="*/ 365 h 429"/>
              <a:gd name="T6" fmla="*/ 1920 w 1920"/>
              <a:gd name="T7" fmla="*/ 429 h 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20" h="429">
                <a:moveTo>
                  <a:pt x="0" y="0"/>
                </a:moveTo>
                <a:cubicBezTo>
                  <a:pt x="102" y="27"/>
                  <a:pt x="373" y="103"/>
                  <a:pt x="612" y="164"/>
                </a:cubicBezTo>
                <a:cubicBezTo>
                  <a:pt x="851" y="225"/>
                  <a:pt x="1217" y="321"/>
                  <a:pt x="1435" y="365"/>
                </a:cubicBezTo>
                <a:cubicBezTo>
                  <a:pt x="1653" y="409"/>
                  <a:pt x="1819" y="416"/>
                  <a:pt x="1920" y="429"/>
                </a:cubicBezTo>
              </a:path>
            </a:pathLst>
          </a:custGeom>
          <a:noFill/>
          <a:ln w="3175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4" grpId="0" animBg="1"/>
      <p:bldP spid="204814" grpId="0" animBg="1"/>
      <p:bldP spid="204809" grpId="0"/>
      <p:bldP spid="204810" grpId="0" animBg="1"/>
      <p:bldP spid="204811" grpId="0" animBg="1"/>
      <p:bldP spid="204815" grpId="0" animBg="1"/>
      <p:bldP spid="20480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B6EFAD-57C1-4B02-9BC9-2CB822A05689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408580" name="Rectangle 4"/>
          <p:cNvSpPr>
            <a:spLocks noChangeArrowheads="1"/>
          </p:cNvSpPr>
          <p:nvPr/>
        </p:nvSpPr>
        <p:spPr bwMode="auto">
          <a:xfrm>
            <a:off x="827088" y="1484313"/>
            <a:ext cx="7129462" cy="159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2800">
                <a:solidFill>
                  <a:schemeClr val="folHlink"/>
                </a:solidFill>
                <a:sym typeface="Symbol" pitchFamily="18" charset="2"/>
              </a:rPr>
              <a:t>三种特殊的关系：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>
                <a:sym typeface="Symbol" pitchFamily="18" charset="2"/>
              </a:rPr>
              <a:t>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到</a:t>
            </a:r>
            <a:r>
              <a:rPr lang="en-US" altLang="zh-CN"/>
              <a:t>Y</a:t>
            </a:r>
            <a:r>
              <a:rPr lang="zh-CN" altLang="en-US"/>
              <a:t>的空关系；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en-US" altLang="zh-CN"/>
              <a:t>X×Y</a:t>
            </a:r>
            <a:r>
              <a:rPr lang="zh-CN" altLang="en-US"/>
              <a:t>：</a:t>
            </a:r>
            <a:r>
              <a:rPr lang="en-US" altLang="zh-CN"/>
              <a:t>X</a:t>
            </a:r>
            <a:r>
              <a:rPr lang="zh-CN" altLang="en-US"/>
              <a:t>到</a:t>
            </a:r>
            <a:r>
              <a:rPr lang="en-US" altLang="zh-CN"/>
              <a:t>Y</a:t>
            </a:r>
            <a:r>
              <a:rPr lang="zh-CN" altLang="en-US"/>
              <a:t>的全域关系</a:t>
            </a:r>
            <a:r>
              <a:rPr lang="zh-CN" altLang="en-US" b="0">
                <a:solidFill>
                  <a:schemeClr val="tx1"/>
                </a:solidFill>
              </a:rPr>
              <a:t>；</a:t>
            </a:r>
            <a:endParaRPr lang="zh-CN" altLang="en-US">
              <a:sym typeface="Symbol" pitchFamily="18" charset="2"/>
            </a:endParaRPr>
          </a:p>
        </p:txBody>
      </p:sp>
      <p:sp>
        <p:nvSpPr>
          <p:cNvPr id="408581" name="Rectangle 5"/>
          <p:cNvSpPr>
            <a:spLocks noChangeArrowheads="1"/>
          </p:cNvSpPr>
          <p:nvPr/>
        </p:nvSpPr>
        <p:spPr bwMode="auto">
          <a:xfrm>
            <a:off x="831850" y="3141663"/>
            <a:ext cx="7916863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3-5.4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I</a:t>
            </a:r>
            <a:r>
              <a:rPr lang="en-US" altLang="zh-CN" baseline="-25000" dirty="0"/>
              <a:t>x</a:t>
            </a:r>
            <a:r>
              <a:rPr lang="zh-CN" altLang="en-US" dirty="0"/>
              <a:t>是集合</a:t>
            </a:r>
            <a:r>
              <a:rPr lang="en-US" altLang="zh-CN" dirty="0"/>
              <a:t>X</a:t>
            </a:r>
            <a:r>
              <a:rPr lang="zh-CN" altLang="en-US" dirty="0"/>
              <a:t>上的二元关系，且满足</a:t>
            </a:r>
            <a:r>
              <a:rPr lang="en-US" altLang="zh-CN" dirty="0"/>
              <a:t>I</a:t>
            </a:r>
            <a:r>
              <a:rPr lang="en-US" altLang="zh-CN" baseline="-25000" dirty="0"/>
              <a:t>x</a:t>
            </a:r>
            <a:r>
              <a:rPr lang="en-US" altLang="zh-CN" dirty="0"/>
              <a:t>={&lt;x, x&gt;| </a:t>
            </a:r>
            <a:r>
              <a:rPr lang="en-US" altLang="zh-CN" dirty="0" err="1"/>
              <a:t>x∈X</a:t>
            </a:r>
            <a:r>
              <a:rPr lang="en-US" altLang="zh-CN" dirty="0"/>
              <a:t>}</a:t>
            </a:r>
            <a:r>
              <a:rPr lang="zh-CN" altLang="en-US" dirty="0"/>
              <a:t>，则称</a:t>
            </a:r>
            <a:r>
              <a:rPr lang="en-US" altLang="zh-CN" dirty="0"/>
              <a:t>I</a:t>
            </a:r>
            <a:r>
              <a:rPr lang="en-US" altLang="zh-CN" baseline="-25000" dirty="0"/>
              <a:t>x</a:t>
            </a:r>
            <a:r>
              <a:rPr lang="zh-CN" altLang="en-US" dirty="0"/>
              <a:t>是</a:t>
            </a:r>
            <a:r>
              <a:rPr lang="en-US" altLang="zh-CN" dirty="0"/>
              <a:t>X</a:t>
            </a:r>
            <a:r>
              <a:rPr lang="zh-CN" altLang="en-US" dirty="0"/>
              <a:t>上的恒等关系。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en-US" altLang="zh-CN" dirty="0"/>
              <a:t>A={1, 2, 3}</a:t>
            </a:r>
            <a:r>
              <a:rPr lang="zh-CN" altLang="en-US" dirty="0"/>
              <a:t>，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en-US" altLang="zh-CN" baseline="-25000" dirty="0"/>
              <a:t>A</a:t>
            </a:r>
            <a:r>
              <a:rPr lang="en-US" altLang="zh-CN" dirty="0"/>
              <a:t>={&lt;1, 1&gt;, &lt;2, 2&gt;, &lt;3, 3&gt;}</a:t>
            </a:r>
            <a:r>
              <a:rPr lang="zh-CN" altLang="en-US" dirty="0"/>
              <a:t>，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判断 </a:t>
            </a:r>
            <a:r>
              <a:rPr lang="en-US" altLang="zh-CN" dirty="0" smtClean="0"/>
              <a:t>{&lt;</a:t>
            </a:r>
            <a:r>
              <a:rPr lang="en-US" altLang="zh-CN" dirty="0"/>
              <a:t>2, 2&gt;, &lt;3, 3&gt;}</a:t>
            </a:r>
            <a:r>
              <a:rPr lang="zh-CN" altLang="en-US" dirty="0"/>
              <a:t>是否为恒等关系。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F97674-461D-478E-9506-69E943AC0F00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413701" name="Rectangle 5"/>
          <p:cNvSpPr>
            <a:spLocks noChangeArrowheads="1"/>
          </p:cNvSpPr>
          <p:nvPr/>
        </p:nvSpPr>
        <p:spPr bwMode="auto">
          <a:xfrm>
            <a:off x="719138" y="1341438"/>
            <a:ext cx="7916862" cy="403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dist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4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X={1,2,3,4}</a:t>
            </a:r>
            <a:r>
              <a:rPr lang="zh-CN" altLang="en-US"/>
              <a:t>，若</a:t>
            </a:r>
            <a:r>
              <a:rPr lang="en-US" altLang="zh-CN"/>
              <a:t>H={&lt;x,y&gt;|(x-y)/2</a:t>
            </a:r>
            <a:r>
              <a:rPr lang="zh-CN" altLang="en-US"/>
              <a:t>是整数</a:t>
            </a:r>
            <a:r>
              <a:rPr lang="en-US" altLang="zh-CN"/>
              <a:t>}</a:t>
            </a:r>
            <a:r>
              <a:rPr lang="zh-CN" altLang="en-US"/>
              <a:t>，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S={&lt;x, y&gt;|(x-y)/3</a:t>
            </a:r>
            <a:r>
              <a:rPr lang="zh-CN" altLang="en-US"/>
              <a:t>是正整数</a:t>
            </a:r>
            <a:r>
              <a:rPr lang="en-US" altLang="zh-CN"/>
              <a:t>}</a:t>
            </a:r>
            <a:r>
              <a:rPr lang="zh-CN" altLang="en-US"/>
              <a:t>，求</a:t>
            </a:r>
            <a:r>
              <a:rPr lang="en-US" altLang="zh-CN"/>
              <a:t>H∪S</a:t>
            </a:r>
            <a:r>
              <a:rPr lang="zh-CN" altLang="en-US"/>
              <a:t>，</a:t>
            </a:r>
            <a:r>
              <a:rPr lang="en-US" altLang="zh-CN"/>
              <a:t>H∩S</a:t>
            </a:r>
            <a:r>
              <a:rPr lang="zh-CN" altLang="en-US"/>
              <a:t>，</a:t>
            </a:r>
            <a:r>
              <a:rPr lang="en-US" altLang="zh-CN"/>
              <a:t>~H</a:t>
            </a:r>
            <a:r>
              <a:rPr lang="zh-CN" altLang="en-US"/>
              <a:t>，</a:t>
            </a:r>
            <a:r>
              <a:rPr lang="en-US" altLang="zh-CN"/>
              <a:t>S-H</a:t>
            </a:r>
            <a:r>
              <a:rPr lang="zh-CN" altLang="en-US"/>
              <a:t>。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H={&lt;1,1&gt;,&lt;1,3&gt;,&lt;2,2&gt;,&lt;2,4&gt;,&lt;3,3&gt;,&lt;3,1&gt;,&lt;4,4&gt;,&lt;4,2&gt;}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S={&lt;4,1&gt;}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H∪S={&lt;1,1&gt;,&lt;1,3&gt;,&lt;2,2&gt;,&lt;2,4&gt;,&lt;3,3&gt;,&lt;3,1&gt;,&lt;4,4&gt;,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             &lt;4,2&gt;,&lt;4,1&gt;}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H∩S=</a:t>
            </a:r>
            <a:r>
              <a:rPr lang="en-US" altLang="zh-CN">
                <a:sym typeface="Symbol" pitchFamily="18" charset="2"/>
              </a:rPr>
              <a:t></a:t>
            </a:r>
            <a:r>
              <a:rPr lang="en-US" altLang="zh-CN"/>
              <a:t> 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~H={&lt;1,2&gt;,&lt;2,1&gt;,&lt;2,3&gt;,&lt;3,2&gt;,&lt;3,4&gt;,&lt;4,3&gt;,&lt;1,4&gt;,&lt;4,1&gt;}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S-H={&lt;4, 1&gt;}</a:t>
            </a:r>
          </a:p>
        </p:txBody>
      </p:sp>
      <p:sp>
        <p:nvSpPr>
          <p:cNvPr id="413702" name="Rectangle 6"/>
          <p:cNvSpPr>
            <a:spLocks noChangeArrowheads="1"/>
          </p:cNvSpPr>
          <p:nvPr/>
        </p:nvSpPr>
        <p:spPr bwMode="auto">
          <a:xfrm>
            <a:off x="1403350" y="549275"/>
            <a:ext cx="360045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/>
              <a:t>关系也是一种集合。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A2B0ED-8599-4E78-A622-C9E8AE95572C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206850" name="Rectangle 2"/>
          <p:cNvSpPr>
            <a:spLocks noChangeArrowheads="1"/>
          </p:cNvSpPr>
          <p:nvPr/>
        </p:nvSpPr>
        <p:spPr bwMode="auto">
          <a:xfrm>
            <a:off x="719138" y="1341438"/>
            <a:ext cx="7916862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3-5.1</a:t>
            </a:r>
            <a:r>
              <a:rPr lang="en-US" altLang="zh-CN"/>
              <a:t> </a:t>
            </a:r>
            <a:r>
              <a:rPr lang="zh-CN" altLang="en-US"/>
              <a:t>若</a:t>
            </a:r>
            <a:r>
              <a:rPr lang="en-US" altLang="zh-CN"/>
              <a:t>Z</a:t>
            </a:r>
            <a:r>
              <a:rPr lang="zh-CN" altLang="en-US"/>
              <a:t>和</a:t>
            </a:r>
            <a:r>
              <a:rPr lang="en-US" altLang="zh-CN"/>
              <a:t>S</a:t>
            </a:r>
            <a:r>
              <a:rPr lang="zh-CN" altLang="en-US"/>
              <a:t>是从集合</a:t>
            </a:r>
            <a:r>
              <a:rPr lang="en-US" altLang="zh-CN"/>
              <a:t>X</a:t>
            </a:r>
            <a:r>
              <a:rPr lang="zh-CN" altLang="en-US"/>
              <a:t>到</a:t>
            </a:r>
            <a:r>
              <a:rPr lang="en-US" altLang="zh-CN"/>
              <a:t>Y</a:t>
            </a:r>
            <a:r>
              <a:rPr lang="zh-CN" altLang="en-US"/>
              <a:t>的两个关系，则</a:t>
            </a:r>
            <a:r>
              <a:rPr lang="en-US" altLang="zh-CN"/>
              <a:t>Z</a:t>
            </a:r>
            <a:r>
              <a:rPr lang="zh-CN" altLang="en-US"/>
              <a:t>，</a:t>
            </a:r>
            <a:r>
              <a:rPr lang="en-US" altLang="zh-CN"/>
              <a:t>S</a:t>
            </a:r>
            <a:r>
              <a:rPr lang="zh-CN" altLang="en-US"/>
              <a:t>的并、交、补、差仍是</a:t>
            </a:r>
            <a:r>
              <a:rPr lang="en-US" altLang="zh-CN"/>
              <a:t>X</a:t>
            </a:r>
            <a:r>
              <a:rPr lang="zh-CN" altLang="en-US"/>
              <a:t>到</a:t>
            </a:r>
            <a:r>
              <a:rPr lang="en-US" altLang="zh-CN"/>
              <a:t>Y</a:t>
            </a:r>
            <a:r>
              <a:rPr lang="zh-CN" altLang="en-US"/>
              <a:t>的关系。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证明：因</a:t>
            </a:r>
            <a:r>
              <a:rPr lang="en-US" altLang="zh-CN"/>
              <a:t>Z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X×Y</a:t>
            </a:r>
            <a:r>
              <a:rPr lang="zh-CN" altLang="en-US"/>
              <a:t>，</a:t>
            </a:r>
            <a:r>
              <a:rPr lang="en-US" altLang="zh-CN"/>
              <a:t>S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 X×Y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	</a:t>
            </a:r>
            <a:r>
              <a:rPr lang="zh-CN" altLang="en-US"/>
              <a:t>故 </a:t>
            </a:r>
            <a:r>
              <a:rPr lang="en-US" altLang="zh-CN"/>
              <a:t>Z ∪S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 X×Y</a:t>
            </a:r>
            <a:r>
              <a:rPr lang="zh-CN" altLang="en-US"/>
              <a:t>，</a:t>
            </a:r>
            <a:r>
              <a:rPr lang="en-US" altLang="zh-CN"/>
              <a:t>Z∩S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 X×Y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	~S=X×Y-S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 X×Y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	Z-S=Z∩ ~</a:t>
            </a:r>
            <a:r>
              <a:rPr lang="en-US" altLang="zh-CN" b="0">
                <a:solidFill>
                  <a:schemeClr val="tx1"/>
                </a:solidFill>
              </a:rPr>
              <a:t> </a:t>
            </a:r>
            <a:r>
              <a:rPr lang="en-US" altLang="zh-CN"/>
              <a:t>S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 X×Y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B2E6E-F3B7-4890-9F85-E79415F3020A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502786" name="Rectangle 2"/>
          <p:cNvSpPr>
            <a:spLocks noChangeArrowheads="1"/>
          </p:cNvSpPr>
          <p:nvPr/>
        </p:nvSpPr>
        <p:spPr bwMode="auto">
          <a:xfrm>
            <a:off x="1042988" y="2415957"/>
            <a:ext cx="68413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>
            <a:lvl1pPr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1pPr>
            <a:lvl2pPr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2pPr>
            <a:lvl3pPr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3pPr>
            <a:lvl4pPr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4pPr>
            <a:lvl5pPr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ahoma" pitchFamily="34" charset="0"/>
                <a:ea typeface="宋体" charset="-122"/>
              </a:defRPr>
            </a:lvl9pPr>
          </a:lstStyle>
          <a:p>
            <a:pPr>
              <a:buClrTx/>
              <a:buNone/>
            </a:pPr>
            <a:r>
              <a:rPr kumimoji="0"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作业</a:t>
            </a:r>
            <a:r>
              <a:rPr kumimoji="0" lang="zh-CN" altLang="en-US" sz="36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0" lang="en-US" altLang="zh-CN" sz="3600" dirty="0" smtClean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P86 (6), P95 (4), P104(1)</a:t>
            </a:r>
            <a:endParaRPr lang="en-US" altLang="zh-CN" sz="3600" dirty="0">
              <a:solidFill>
                <a:schemeClr val="tx1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6184152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51EBBE-2E0C-47D0-9A81-88DE1D73690F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6963" y="423863"/>
            <a:ext cx="6950075" cy="701675"/>
          </a:xfrm>
        </p:spPr>
        <p:txBody>
          <a:bodyPr/>
          <a:lstStyle/>
          <a:p>
            <a:pPr algn="ctr"/>
            <a:r>
              <a:rPr lang="zh-CN" altLang="en-US" b="1" dirty="0" smtClean="0"/>
              <a:t>复  习</a:t>
            </a:r>
            <a:endParaRPr lang="zh-CN" altLang="en-US" b="1" dirty="0"/>
          </a:p>
        </p:txBody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97192" cy="2292935"/>
          </a:xfrm>
        </p:spPr>
        <p:txBody>
          <a:bodyPr/>
          <a:lstStyle/>
          <a:p>
            <a:r>
              <a:rPr lang="zh-CN" altLang="en-US" sz="2200" dirty="0" smtClean="0"/>
              <a:t>序偶：有序二元组</a:t>
            </a:r>
            <a:endParaRPr lang="en-US" altLang="zh-CN" sz="2200" dirty="0" smtClean="0"/>
          </a:p>
          <a:p>
            <a:r>
              <a:rPr lang="zh-CN" altLang="en-US" sz="2200" dirty="0" smtClean="0"/>
              <a:t>笛卡尔积</a:t>
            </a:r>
            <a:r>
              <a:rPr lang="en-US" altLang="zh-CN" sz="2200" dirty="0"/>
              <a:t>A</a:t>
            </a:r>
            <a:r>
              <a:rPr kumimoji="1" lang="en-US" altLang="zh-CN" sz="2200" dirty="0">
                <a:solidFill>
                  <a:srgbClr val="000000"/>
                </a:solidFill>
              </a:rPr>
              <a:t>×B </a:t>
            </a:r>
            <a:r>
              <a:rPr lang="zh-CN" altLang="en-US" sz="2200" dirty="0" smtClean="0"/>
              <a:t>：由第一元素来自集合</a:t>
            </a:r>
            <a:r>
              <a:rPr lang="en-US" altLang="zh-CN" sz="2200" dirty="0" smtClean="0"/>
              <a:t>A</a:t>
            </a:r>
            <a:r>
              <a:rPr lang="zh-CN" altLang="en-US" sz="2200" dirty="0" smtClean="0"/>
              <a:t>，第二元素来自集合</a:t>
            </a:r>
            <a:r>
              <a:rPr lang="en-US" altLang="zh-CN" sz="2200" dirty="0" smtClean="0"/>
              <a:t>B</a:t>
            </a:r>
            <a:r>
              <a:rPr lang="zh-CN" altLang="en-US" sz="2200" dirty="0" smtClean="0"/>
              <a:t>的序偶构成</a:t>
            </a:r>
            <a:endParaRPr lang="en-US" altLang="zh-CN" sz="2200" dirty="0" smtClean="0"/>
          </a:p>
          <a:p>
            <a:r>
              <a:rPr lang="zh-CN" altLang="en-US" sz="2200" dirty="0" smtClean="0"/>
              <a:t>关系</a:t>
            </a:r>
            <a:r>
              <a:rPr lang="zh-CN" altLang="en-US" sz="2200" dirty="0"/>
              <a:t>：序偶的集合，笛卡尔积</a:t>
            </a:r>
            <a:r>
              <a:rPr lang="en-US" altLang="zh-CN" sz="2200" dirty="0"/>
              <a:t>A</a:t>
            </a:r>
            <a:r>
              <a:rPr kumimoji="1" lang="en-US" altLang="zh-CN" sz="2200" dirty="0">
                <a:solidFill>
                  <a:srgbClr val="000000"/>
                </a:solidFill>
              </a:rPr>
              <a:t>×B</a:t>
            </a:r>
            <a:r>
              <a:rPr kumimoji="1" lang="zh-CN" altLang="en-US" sz="2200" dirty="0">
                <a:solidFill>
                  <a:srgbClr val="000000"/>
                </a:solidFill>
              </a:rPr>
              <a:t>的</a:t>
            </a:r>
            <a:r>
              <a:rPr kumimoji="1" lang="zh-CN" altLang="en-US" sz="2200" dirty="0" smtClean="0">
                <a:solidFill>
                  <a:srgbClr val="000000"/>
                </a:solidFill>
              </a:rPr>
              <a:t>子集</a:t>
            </a:r>
            <a:endParaRPr kumimoji="1" lang="en-US" altLang="zh-CN" sz="2200" dirty="0" smtClean="0">
              <a:solidFill>
                <a:srgbClr val="000000"/>
              </a:solidFill>
            </a:endParaRPr>
          </a:p>
          <a:p>
            <a:r>
              <a:rPr kumimoji="1" lang="zh-CN" altLang="en-US" sz="2200" dirty="0">
                <a:solidFill>
                  <a:srgbClr val="000000"/>
                </a:solidFill>
              </a:rPr>
              <a:t>三</a:t>
            </a:r>
            <a:r>
              <a:rPr kumimoji="1" lang="zh-CN" altLang="en-US" sz="2200" dirty="0" smtClean="0">
                <a:solidFill>
                  <a:srgbClr val="000000"/>
                </a:solidFill>
              </a:rPr>
              <a:t>种特殊关系：空关系，全域关系，恒等关系</a:t>
            </a:r>
            <a:endParaRPr kumimoji="1" lang="zh-CN" altLang="en-US" sz="2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598963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A57636-64DF-4FD7-B7B8-F7250803AACC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207874" name="Rectangle 2"/>
          <p:cNvSpPr>
            <a:spLocks noChangeArrowheads="1"/>
          </p:cNvSpPr>
          <p:nvPr/>
        </p:nvSpPr>
        <p:spPr bwMode="auto">
          <a:xfrm>
            <a:off x="1189038" y="1123950"/>
            <a:ext cx="6983412" cy="48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lang="zh-CN" altLang="en-US">
                <a:solidFill>
                  <a:schemeClr val="tx1"/>
                </a:solidFill>
              </a:rPr>
              <a:t>集合表示法 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lang="zh-CN" altLang="en-US">
                <a:solidFill>
                  <a:schemeClr val="tx1"/>
                </a:solidFill>
              </a:rPr>
              <a:t>关系矩阵</a:t>
            </a:r>
          </a:p>
          <a:p>
            <a:pPr algn="just">
              <a:lnSpc>
                <a:spcPct val="11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/>
              <a:t>         给定两个有限集合</a:t>
            </a:r>
            <a:r>
              <a:rPr lang="en-US" altLang="zh-CN"/>
              <a:t>X={x</a:t>
            </a:r>
            <a:r>
              <a:rPr lang="en-US" altLang="zh-CN" baseline="-25000"/>
              <a:t>1</a:t>
            </a:r>
            <a:r>
              <a:rPr lang="en-US" altLang="zh-CN"/>
              <a:t>, x</a:t>
            </a:r>
            <a:r>
              <a:rPr lang="en-US" altLang="zh-CN" baseline="-25000"/>
              <a:t>2</a:t>
            </a:r>
            <a:r>
              <a:rPr lang="en-US" altLang="zh-CN"/>
              <a:t>, …, x</a:t>
            </a:r>
            <a:r>
              <a:rPr lang="en-US" altLang="zh-CN" baseline="-25000"/>
              <a:t>m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/>
              <a:t>Y={y</a:t>
            </a:r>
            <a:r>
              <a:rPr lang="en-US" altLang="zh-CN" baseline="-25000"/>
              <a:t>1</a:t>
            </a:r>
            <a:r>
              <a:rPr lang="en-US" altLang="zh-CN"/>
              <a:t>, y</a:t>
            </a:r>
            <a:r>
              <a:rPr lang="en-US" altLang="zh-CN" baseline="-25000"/>
              <a:t>2</a:t>
            </a:r>
            <a:r>
              <a:rPr lang="en-US" altLang="zh-CN"/>
              <a:t>, …, y</a:t>
            </a:r>
            <a:r>
              <a:rPr lang="en-US" altLang="zh-CN" baseline="-25000"/>
              <a:t>n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/>
              <a:t>R</a:t>
            </a:r>
            <a:r>
              <a:rPr lang="zh-CN" altLang="en-US"/>
              <a:t>为</a:t>
            </a:r>
            <a:r>
              <a:rPr lang="en-US" altLang="zh-CN"/>
              <a:t>X</a:t>
            </a:r>
            <a:r>
              <a:rPr lang="zh-CN" altLang="en-US"/>
              <a:t>到</a:t>
            </a:r>
            <a:r>
              <a:rPr lang="en-US" altLang="zh-CN"/>
              <a:t>Y</a:t>
            </a:r>
            <a:r>
              <a:rPr lang="zh-CN" altLang="en-US"/>
              <a:t>的二元关系，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/>
              <a:t>                             当 </a:t>
            </a:r>
            <a:r>
              <a:rPr lang="en-US" altLang="zh-CN"/>
              <a:t>&lt;x</a:t>
            </a:r>
            <a:r>
              <a:rPr lang="en-US" altLang="zh-CN" baseline="-30000"/>
              <a:t>i</a:t>
            </a:r>
            <a:r>
              <a:rPr lang="en-US" altLang="zh-CN"/>
              <a:t>, y</a:t>
            </a:r>
            <a:r>
              <a:rPr lang="en-US" altLang="zh-CN" baseline="-30000"/>
              <a:t>j</a:t>
            </a:r>
            <a:r>
              <a:rPr lang="en-US" altLang="zh-CN"/>
              <a:t>&gt;∈R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                     </a:t>
            </a:r>
            <a:r>
              <a:rPr lang="zh-CN" altLang="en-US"/>
              <a:t>当 </a:t>
            </a:r>
            <a:r>
              <a:rPr lang="en-US" altLang="zh-CN"/>
              <a:t>&lt;x</a:t>
            </a:r>
            <a:r>
              <a:rPr lang="en-US" altLang="zh-CN" baseline="-30000"/>
              <a:t>i</a:t>
            </a:r>
            <a:r>
              <a:rPr lang="en-US" altLang="zh-CN"/>
              <a:t>, y</a:t>
            </a:r>
            <a:r>
              <a:rPr lang="en-US" altLang="zh-CN" baseline="-30000"/>
              <a:t>j</a:t>
            </a:r>
            <a:r>
              <a:rPr lang="en-US" altLang="zh-CN"/>
              <a:t>&gt; </a:t>
            </a:r>
            <a:r>
              <a:rPr lang="en-US" altLang="zh-CN">
                <a:sym typeface="Symbol" pitchFamily="18" charset="2"/>
              </a:rPr>
              <a:t></a:t>
            </a:r>
            <a:r>
              <a:rPr lang="en-US" altLang="zh-CN"/>
              <a:t>R</a:t>
            </a:r>
          </a:p>
          <a:p>
            <a:pPr eaLnBrk="0" hangingPunct="0">
              <a:lnSpc>
                <a:spcPct val="110000"/>
              </a:lnSpc>
              <a:buClrTx/>
              <a:buFont typeface="Wingdings" pitchFamily="2" charset="2"/>
              <a:buNone/>
            </a:pPr>
            <a:r>
              <a:rPr lang="zh-CN" altLang="en-US"/>
              <a:t>则                              </a:t>
            </a:r>
            <a:r>
              <a:rPr lang="en-US" altLang="zh-CN">
                <a:solidFill>
                  <a:schemeClr val="tx1"/>
                </a:solidFill>
              </a:rPr>
              <a:t>r</a:t>
            </a:r>
            <a:r>
              <a:rPr lang="en-US" altLang="zh-CN" baseline="-25000">
                <a:solidFill>
                  <a:schemeClr val="tx1"/>
                </a:solidFill>
              </a:rPr>
              <a:t>11</a:t>
            </a:r>
            <a:r>
              <a:rPr lang="en-US" altLang="zh-CN">
                <a:solidFill>
                  <a:schemeClr val="tx1"/>
                </a:solidFill>
              </a:rPr>
              <a:t>  r</a:t>
            </a:r>
            <a:r>
              <a:rPr lang="en-US" altLang="zh-CN" baseline="-25000">
                <a:solidFill>
                  <a:schemeClr val="tx1"/>
                </a:solidFill>
              </a:rPr>
              <a:t>12 </a:t>
            </a:r>
            <a:r>
              <a:rPr lang="en-US" altLang="zh-CN">
                <a:solidFill>
                  <a:schemeClr val="tx1"/>
                </a:solidFill>
              </a:rPr>
              <a:t>… r</a:t>
            </a:r>
            <a:r>
              <a:rPr lang="en-US" altLang="zh-CN" baseline="-25000">
                <a:solidFill>
                  <a:schemeClr val="tx1"/>
                </a:solidFill>
              </a:rPr>
              <a:t>1n</a:t>
            </a:r>
          </a:p>
          <a:p>
            <a:pPr eaLnBrk="0" hangingPunct="0">
              <a:lnSpc>
                <a:spcPct val="110000"/>
              </a:lnSpc>
              <a:buClrTx/>
              <a:buFont typeface="Wingdings" pitchFamily="2" charset="2"/>
              <a:buNone/>
            </a:pPr>
            <a:r>
              <a:rPr lang="en-US" altLang="zh-CN">
                <a:solidFill>
                  <a:schemeClr val="tx1"/>
                </a:solidFill>
              </a:rPr>
              <a:t>                    (r </a:t>
            </a:r>
            <a:r>
              <a:rPr lang="en-US" altLang="zh-CN" baseline="-25000">
                <a:solidFill>
                  <a:schemeClr val="tx1"/>
                </a:solidFill>
              </a:rPr>
              <a:t>ij</a:t>
            </a:r>
            <a:r>
              <a:rPr lang="en-US" altLang="zh-CN">
                <a:solidFill>
                  <a:schemeClr val="tx1"/>
                </a:solidFill>
              </a:rPr>
              <a:t>)=     r</a:t>
            </a:r>
            <a:r>
              <a:rPr lang="en-US" altLang="zh-CN" baseline="-25000">
                <a:solidFill>
                  <a:schemeClr val="tx1"/>
                </a:solidFill>
              </a:rPr>
              <a:t>21</a:t>
            </a:r>
            <a:r>
              <a:rPr lang="en-US" altLang="zh-CN">
                <a:solidFill>
                  <a:schemeClr val="tx1"/>
                </a:solidFill>
              </a:rPr>
              <a:t>  r</a:t>
            </a:r>
            <a:r>
              <a:rPr lang="en-US" altLang="zh-CN" baseline="-25000">
                <a:solidFill>
                  <a:schemeClr val="tx1"/>
                </a:solidFill>
              </a:rPr>
              <a:t>22 </a:t>
            </a:r>
            <a:r>
              <a:rPr lang="en-US" altLang="zh-CN">
                <a:solidFill>
                  <a:schemeClr val="tx1"/>
                </a:solidFill>
              </a:rPr>
              <a:t>… r</a:t>
            </a:r>
            <a:r>
              <a:rPr lang="en-US" altLang="zh-CN" baseline="-25000">
                <a:solidFill>
                  <a:schemeClr val="tx1"/>
                </a:solidFill>
              </a:rPr>
              <a:t>2n</a:t>
            </a:r>
            <a:endParaRPr lang="en-US" altLang="zh-CN">
              <a:solidFill>
                <a:schemeClr val="tx1"/>
              </a:solidFill>
            </a:endParaRPr>
          </a:p>
          <a:p>
            <a:pPr eaLnBrk="0" hangingPunct="0">
              <a:lnSpc>
                <a:spcPct val="110000"/>
              </a:lnSpc>
              <a:buClrTx/>
              <a:buFont typeface="Wingdings" pitchFamily="2" charset="2"/>
              <a:buNone/>
            </a:pPr>
            <a:r>
              <a:rPr lang="en-US" altLang="zh-CN">
                <a:solidFill>
                  <a:schemeClr val="tx1"/>
                </a:solidFill>
              </a:rPr>
              <a:t>                                         </a:t>
            </a:r>
            <a:r>
              <a:rPr lang="en-US" altLang="zh-CN" baseline="-25000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… </a:t>
            </a:r>
          </a:p>
          <a:p>
            <a:pPr eaLnBrk="0" hangingPunct="0">
              <a:lnSpc>
                <a:spcPct val="110000"/>
              </a:lnSpc>
              <a:buClrTx/>
              <a:buFont typeface="Wingdings" pitchFamily="2" charset="2"/>
              <a:buNone/>
            </a:pPr>
            <a:r>
              <a:rPr lang="en-US" altLang="zh-CN">
                <a:solidFill>
                  <a:schemeClr val="tx1"/>
                </a:solidFill>
              </a:rPr>
              <a:t>                                  r</a:t>
            </a:r>
            <a:r>
              <a:rPr lang="en-US" altLang="zh-CN" baseline="-25000">
                <a:solidFill>
                  <a:schemeClr val="tx1"/>
                </a:solidFill>
              </a:rPr>
              <a:t>m1</a:t>
            </a:r>
            <a:r>
              <a:rPr lang="en-US" altLang="zh-CN">
                <a:solidFill>
                  <a:schemeClr val="tx1"/>
                </a:solidFill>
              </a:rPr>
              <a:t> r</a:t>
            </a:r>
            <a:r>
              <a:rPr lang="en-US" altLang="zh-CN" baseline="-25000">
                <a:solidFill>
                  <a:schemeClr val="tx1"/>
                </a:solidFill>
              </a:rPr>
              <a:t>m2</a:t>
            </a:r>
            <a:r>
              <a:rPr lang="en-US" altLang="zh-CN">
                <a:solidFill>
                  <a:schemeClr val="tx1"/>
                </a:solidFill>
              </a:rPr>
              <a:t>… r</a:t>
            </a:r>
            <a:r>
              <a:rPr lang="en-US" altLang="zh-CN" baseline="-25000">
                <a:solidFill>
                  <a:schemeClr val="tx1"/>
                </a:solidFill>
              </a:rPr>
              <a:t>mn</a:t>
            </a:r>
          </a:p>
          <a:p>
            <a:pPr eaLnBrk="0" hangingPunct="0">
              <a:lnSpc>
                <a:spcPct val="130000"/>
              </a:lnSpc>
              <a:buClrTx/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</a:rPr>
              <a:t>是</a:t>
            </a:r>
            <a:r>
              <a:rPr lang="en-US" altLang="zh-CN">
                <a:solidFill>
                  <a:schemeClr val="tx1"/>
                </a:solidFill>
              </a:rPr>
              <a:t>R</a:t>
            </a:r>
            <a:r>
              <a:rPr lang="zh-CN" altLang="en-US">
                <a:solidFill>
                  <a:schemeClr val="tx1"/>
                </a:solidFill>
              </a:rPr>
              <a:t>的关系矩阵，记作</a:t>
            </a:r>
            <a:r>
              <a:rPr lang="en-US" altLang="zh-CN"/>
              <a:t>M</a:t>
            </a:r>
            <a:r>
              <a:rPr lang="en-US" altLang="zh-CN" baseline="-25000"/>
              <a:t>R</a:t>
            </a:r>
            <a:r>
              <a:rPr lang="zh-CN" altLang="en-US"/>
              <a:t>。</a:t>
            </a:r>
          </a:p>
        </p:txBody>
      </p:sp>
      <p:graphicFrame>
        <p:nvGraphicFramePr>
          <p:cNvPr id="207875" name="Object 3"/>
          <p:cNvGraphicFramePr>
            <a:graphicFrameLocks/>
          </p:cNvGraphicFramePr>
          <p:nvPr/>
        </p:nvGraphicFramePr>
        <p:xfrm>
          <a:off x="1346200" y="3040063"/>
          <a:ext cx="120967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79" name="Equation" r:id="rId3" imgW="1206360" imgH="876240" progId="Equation.DSMT4">
                  <p:embed/>
                </p:oleObj>
              </mc:Choice>
              <mc:Fallback>
                <p:oleObj name="Equation" r:id="rId3" imgW="1206360" imgH="87624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040063"/>
                        <a:ext cx="1209675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9" name="Rectangle 7"/>
          <p:cNvSpPr>
            <a:spLocks noChangeArrowheads="1"/>
          </p:cNvSpPr>
          <p:nvPr/>
        </p:nvSpPr>
        <p:spPr bwMode="auto">
          <a:xfrm>
            <a:off x="1187450" y="476250"/>
            <a:ext cx="4679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二、关系的几种表示法</a:t>
            </a:r>
          </a:p>
        </p:txBody>
      </p:sp>
      <p:sp>
        <p:nvSpPr>
          <p:cNvPr id="207882" name="AutoShape 10"/>
          <p:cNvSpPr>
            <a:spLocks/>
          </p:cNvSpPr>
          <p:nvPr/>
        </p:nvSpPr>
        <p:spPr bwMode="auto">
          <a:xfrm>
            <a:off x="3635375" y="4003675"/>
            <a:ext cx="150813" cy="1522413"/>
          </a:xfrm>
          <a:prstGeom prst="leftBracket">
            <a:avLst>
              <a:gd name="adj" fmla="val 84123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83" name="AutoShape 11"/>
          <p:cNvSpPr>
            <a:spLocks/>
          </p:cNvSpPr>
          <p:nvPr/>
        </p:nvSpPr>
        <p:spPr bwMode="auto">
          <a:xfrm>
            <a:off x="5626100" y="4003675"/>
            <a:ext cx="152400" cy="1524000"/>
          </a:xfrm>
          <a:prstGeom prst="rightBracket">
            <a:avLst>
              <a:gd name="adj" fmla="val 83333"/>
            </a:avLst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82" grpId="0" animBg="1"/>
      <p:bldP spid="20788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CEF559-4E2B-4346-9AD8-9578A26B9892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719138" y="1341438"/>
            <a:ext cx="7916862" cy="315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buClr>
                <a:schemeClr val="hlink"/>
              </a:buClr>
            </a:pPr>
            <a:r>
              <a:rPr lang="zh-CN" altLang="en-US">
                <a:solidFill>
                  <a:schemeClr val="tx1"/>
                </a:solidFill>
              </a:rPr>
              <a:t>关系图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zh-CN" altLang="en-US"/>
              <a:t>       设给定两集合</a:t>
            </a:r>
            <a:r>
              <a:rPr lang="en-US" altLang="zh-CN"/>
              <a:t>X={x</a:t>
            </a:r>
            <a:r>
              <a:rPr lang="en-US" altLang="zh-CN" baseline="-25000"/>
              <a:t>1</a:t>
            </a:r>
            <a:r>
              <a:rPr lang="en-US" altLang="zh-CN"/>
              <a:t>,x</a:t>
            </a:r>
            <a:r>
              <a:rPr lang="en-US" altLang="zh-CN" baseline="-25000"/>
              <a:t>2</a:t>
            </a:r>
            <a:r>
              <a:rPr lang="en-US" altLang="zh-CN"/>
              <a:t>,…,x</a:t>
            </a:r>
            <a:r>
              <a:rPr lang="en-US" altLang="zh-CN" baseline="-25000"/>
              <a:t>m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/>
              <a:t>Y={y</a:t>
            </a:r>
            <a:r>
              <a:rPr lang="en-US" altLang="zh-CN" baseline="-25000"/>
              <a:t>1</a:t>
            </a:r>
            <a:r>
              <a:rPr lang="en-US" altLang="zh-CN"/>
              <a:t>,y</a:t>
            </a:r>
            <a:r>
              <a:rPr lang="en-US" altLang="zh-CN" baseline="-25000"/>
              <a:t>2</a:t>
            </a:r>
            <a:r>
              <a:rPr lang="en-US" altLang="zh-CN"/>
              <a:t>,…,y</a:t>
            </a:r>
            <a:r>
              <a:rPr lang="en-US" altLang="zh-CN" baseline="-25000"/>
              <a:t>n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/>
              <a:t>R</a:t>
            </a:r>
            <a:r>
              <a:rPr lang="zh-CN" altLang="en-US"/>
              <a:t>为从</a:t>
            </a:r>
            <a:r>
              <a:rPr lang="en-US" altLang="zh-CN"/>
              <a:t>X</a:t>
            </a:r>
            <a:r>
              <a:rPr lang="zh-CN" altLang="en-US"/>
              <a:t>到</a:t>
            </a:r>
            <a:r>
              <a:rPr lang="en-US" altLang="zh-CN"/>
              <a:t>Y</a:t>
            </a:r>
            <a:r>
              <a:rPr lang="zh-CN" altLang="en-US"/>
              <a:t>的二元关系，则按如下规则画出关系图：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(1)</a:t>
            </a:r>
            <a:r>
              <a:rPr lang="zh-CN" altLang="en-US"/>
              <a:t>在平面上作</a:t>
            </a:r>
            <a:r>
              <a:rPr lang="en-US" altLang="zh-CN"/>
              <a:t>m+n</a:t>
            </a:r>
            <a:r>
              <a:rPr lang="zh-CN" altLang="en-US"/>
              <a:t>个节点，分别对应集合</a:t>
            </a:r>
            <a:r>
              <a:rPr lang="en-US" altLang="zh-CN"/>
              <a:t>X</a:t>
            </a:r>
            <a:r>
              <a:rPr lang="zh-CN" altLang="en-US"/>
              <a:t>中的</a:t>
            </a:r>
            <a:r>
              <a:rPr lang="en-US" altLang="zh-CN"/>
              <a:t>m</a:t>
            </a:r>
            <a:r>
              <a:rPr lang="zh-CN" altLang="en-US"/>
              <a:t>个元素和集合</a:t>
            </a:r>
            <a:r>
              <a:rPr lang="en-US" altLang="zh-CN"/>
              <a:t>Y</a:t>
            </a:r>
            <a:r>
              <a:rPr lang="zh-CN" altLang="en-US"/>
              <a:t>中的</a:t>
            </a:r>
            <a:r>
              <a:rPr lang="en-US" altLang="zh-CN"/>
              <a:t>n</a:t>
            </a:r>
            <a:r>
              <a:rPr lang="zh-CN" altLang="en-US"/>
              <a:t>个元素；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(2)</a:t>
            </a:r>
            <a:r>
              <a:rPr lang="zh-CN" altLang="en-US"/>
              <a:t>若</a:t>
            </a:r>
            <a:r>
              <a:rPr lang="en-US" altLang="zh-CN"/>
              <a:t>&lt;x</a:t>
            </a:r>
            <a:r>
              <a:rPr lang="en-US" altLang="zh-CN" baseline="-25000"/>
              <a:t>i</a:t>
            </a:r>
            <a:r>
              <a:rPr lang="en-US" altLang="zh-CN"/>
              <a:t>, y</a:t>
            </a:r>
            <a:r>
              <a:rPr lang="en-US" altLang="zh-CN" baseline="-25000"/>
              <a:t>j</a:t>
            </a:r>
            <a:r>
              <a:rPr lang="en-US" altLang="zh-CN"/>
              <a:t>&gt;∈R</a:t>
            </a:r>
            <a:r>
              <a:rPr lang="zh-CN" altLang="en-US"/>
              <a:t>，则在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zh-CN" altLang="en-US"/>
              <a:t>和</a:t>
            </a:r>
            <a:r>
              <a:rPr lang="en-US" altLang="zh-CN"/>
              <a:t>y</a:t>
            </a:r>
            <a:r>
              <a:rPr lang="en-US" altLang="zh-CN" baseline="-25000"/>
              <a:t>j</a:t>
            </a:r>
            <a:r>
              <a:rPr lang="zh-CN" altLang="en-US"/>
              <a:t>之间作指向</a:t>
            </a:r>
            <a:r>
              <a:rPr lang="en-US" altLang="zh-CN"/>
              <a:t>y</a:t>
            </a:r>
            <a:r>
              <a:rPr lang="en-US" altLang="zh-CN" baseline="-25000"/>
              <a:t>j</a:t>
            </a:r>
            <a:r>
              <a:rPr lang="zh-CN" altLang="en-US"/>
              <a:t>的有向弧，</a:t>
            </a:r>
          </a:p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zh-CN" altLang="en-US"/>
              <a:t>     若</a:t>
            </a:r>
            <a:r>
              <a:rPr lang="en-US" altLang="zh-CN"/>
              <a:t>&lt;x</a:t>
            </a:r>
            <a:r>
              <a:rPr lang="en-US" altLang="zh-CN" baseline="-25000"/>
              <a:t>i</a:t>
            </a:r>
            <a:r>
              <a:rPr lang="en-US" altLang="zh-CN"/>
              <a:t>, y</a:t>
            </a:r>
            <a:r>
              <a:rPr lang="en-US" altLang="zh-CN" baseline="-25000"/>
              <a:t>j</a:t>
            </a:r>
            <a:r>
              <a:rPr lang="en-US" altLang="zh-CN"/>
              <a:t>&gt; </a:t>
            </a:r>
            <a:r>
              <a:rPr lang="en-US" altLang="zh-CN">
                <a:sym typeface="Symbol" pitchFamily="18" charset="2"/>
              </a:rPr>
              <a:t></a:t>
            </a:r>
            <a:r>
              <a:rPr lang="en-US" altLang="zh-CN"/>
              <a:t> R</a:t>
            </a:r>
            <a:r>
              <a:rPr lang="zh-CN" altLang="en-US"/>
              <a:t>，则</a:t>
            </a:r>
            <a:r>
              <a:rPr lang="en-US" altLang="zh-CN"/>
              <a:t>x</a:t>
            </a:r>
            <a:r>
              <a:rPr lang="en-US" altLang="zh-CN" baseline="-25000"/>
              <a:t>i</a:t>
            </a:r>
            <a:r>
              <a:rPr lang="zh-CN" altLang="en-US"/>
              <a:t>和</a:t>
            </a:r>
            <a:r>
              <a:rPr lang="en-US" altLang="zh-CN"/>
              <a:t>y</a:t>
            </a:r>
            <a:r>
              <a:rPr lang="en-US" altLang="zh-CN" baseline="-25000"/>
              <a:t>j</a:t>
            </a:r>
            <a:r>
              <a:rPr lang="zh-CN" altLang="en-US"/>
              <a:t>之间无线段联结。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9E6D6E-1F39-4522-AB8A-00C2E1323A95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209922" name="Rectangle 2"/>
          <p:cNvSpPr>
            <a:spLocks noChangeArrowheads="1"/>
          </p:cNvSpPr>
          <p:nvPr/>
        </p:nvSpPr>
        <p:spPr bwMode="auto">
          <a:xfrm>
            <a:off x="539750" y="1341438"/>
            <a:ext cx="7885113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5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A={1, 2, 3, 4}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上的二元关系为：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R={&lt;2, 1&gt;, &lt;2, 2&gt;, &lt;3, 1&gt;, &lt;3, 2&gt;, &lt;4, 1&gt;, &lt;4, 2&gt;, &lt;4, 3&gt;}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b="0">
                <a:solidFill>
                  <a:schemeClr val="tx1"/>
                </a:solidFill>
              </a:rPr>
              <a:t>                                                                 4              3 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b="0">
                <a:solidFill>
                  <a:schemeClr val="tx1"/>
                </a:solidFill>
              </a:rPr>
              <a:t>      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b="0">
                <a:solidFill>
                  <a:schemeClr val="tx1"/>
                </a:solidFill>
              </a:rPr>
              <a:t>                                                                 1              2</a:t>
            </a:r>
          </a:p>
        </p:txBody>
      </p:sp>
      <p:graphicFrame>
        <p:nvGraphicFramePr>
          <p:cNvPr id="209923" name="Object 3"/>
          <p:cNvGraphicFramePr>
            <a:graphicFrameLocks noChangeAspect="1"/>
          </p:cNvGraphicFramePr>
          <p:nvPr/>
        </p:nvGraphicFramePr>
        <p:xfrm>
          <a:off x="1277938" y="2401888"/>
          <a:ext cx="2490787" cy="174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36" name="Equation" r:id="rId3" imgW="2552400" imgH="1790640" progId="Equation.DSMT4">
                  <p:embed/>
                </p:oleObj>
              </mc:Choice>
              <mc:Fallback>
                <p:oleObj name="Equation" r:id="rId3" imgW="2552400" imgH="1790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2401888"/>
                        <a:ext cx="2490787" cy="174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9924" name="Group 4"/>
          <p:cNvGrpSpPr>
            <a:grpSpLocks/>
          </p:cNvGrpSpPr>
          <p:nvPr/>
        </p:nvGrpSpPr>
        <p:grpSpPr bwMode="auto">
          <a:xfrm>
            <a:off x="5680075" y="2565400"/>
            <a:ext cx="1506538" cy="1366838"/>
            <a:chOff x="3246" y="1117"/>
            <a:chExt cx="949" cy="861"/>
          </a:xfrm>
        </p:grpSpPr>
        <p:sp>
          <p:nvSpPr>
            <p:cNvPr id="209925" name="Line 5"/>
            <p:cNvSpPr>
              <a:spLocks noChangeShapeType="1"/>
            </p:cNvSpPr>
            <p:nvPr/>
          </p:nvSpPr>
          <p:spPr bwMode="auto">
            <a:xfrm>
              <a:off x="3294" y="1117"/>
              <a:ext cx="62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26" name="Line 6"/>
            <p:cNvSpPr>
              <a:spLocks noChangeShapeType="1"/>
            </p:cNvSpPr>
            <p:nvPr/>
          </p:nvSpPr>
          <p:spPr bwMode="auto">
            <a:xfrm>
              <a:off x="3294" y="1117"/>
              <a:ext cx="624" cy="62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27" name="Line 7"/>
            <p:cNvSpPr>
              <a:spLocks noChangeShapeType="1"/>
            </p:cNvSpPr>
            <p:nvPr/>
          </p:nvSpPr>
          <p:spPr bwMode="auto">
            <a:xfrm flipH="1">
              <a:off x="3246" y="1117"/>
              <a:ext cx="672" cy="62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28" name="Line 8"/>
            <p:cNvSpPr>
              <a:spLocks noChangeShapeType="1"/>
            </p:cNvSpPr>
            <p:nvPr/>
          </p:nvSpPr>
          <p:spPr bwMode="auto">
            <a:xfrm>
              <a:off x="3918" y="1117"/>
              <a:ext cx="48" cy="57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29" name="Line 9"/>
            <p:cNvSpPr>
              <a:spLocks noChangeShapeType="1"/>
            </p:cNvSpPr>
            <p:nvPr/>
          </p:nvSpPr>
          <p:spPr bwMode="auto">
            <a:xfrm flipH="1">
              <a:off x="3342" y="1789"/>
              <a:ext cx="52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30" name="Line 10"/>
            <p:cNvSpPr>
              <a:spLocks noChangeShapeType="1"/>
            </p:cNvSpPr>
            <p:nvPr/>
          </p:nvSpPr>
          <p:spPr bwMode="auto">
            <a:xfrm flipH="1">
              <a:off x="3246" y="1117"/>
              <a:ext cx="48" cy="52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9931" name="Arc 11"/>
            <p:cNvSpPr>
              <a:spLocks/>
            </p:cNvSpPr>
            <p:nvPr/>
          </p:nvSpPr>
          <p:spPr bwMode="auto">
            <a:xfrm rot="2700000">
              <a:off x="3900" y="1683"/>
              <a:ext cx="280" cy="310"/>
            </a:xfrm>
            <a:custGeom>
              <a:avLst/>
              <a:gdLst>
                <a:gd name="G0" fmla="+- 20391 0 0"/>
                <a:gd name="G1" fmla="+- 21600 0 0"/>
                <a:gd name="G2" fmla="+- 21600 0 0"/>
                <a:gd name="T0" fmla="*/ 3024 w 41991"/>
                <a:gd name="T1" fmla="*/ 8757 h 43200"/>
                <a:gd name="T2" fmla="*/ 0 w 41991"/>
                <a:gd name="T3" fmla="*/ 28725 h 43200"/>
                <a:gd name="T4" fmla="*/ 20391 w 4199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91" h="43200" fill="none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</a:path>
                <a:path w="41991" h="43200" stroke="0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  <a:lnTo>
                    <a:pt x="20391" y="2160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9934" name="Text Box 14"/>
          <p:cNvSpPr txBox="1">
            <a:spLocks noChangeArrowheads="1"/>
          </p:cNvSpPr>
          <p:nvPr/>
        </p:nvSpPr>
        <p:spPr bwMode="auto">
          <a:xfrm>
            <a:off x="568325" y="4221163"/>
            <a:ext cx="8247063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chemeClr val="hlink"/>
              </a:buClr>
            </a:pPr>
            <a:r>
              <a:rPr kumimoji="0" lang="zh-CN" altLang="en-US" dirty="0"/>
              <a:t>关系图只是表达结点之间的邻接</a:t>
            </a:r>
            <a:r>
              <a:rPr kumimoji="0" lang="zh-CN" altLang="en-US" dirty="0" smtClean="0"/>
              <a:t>关系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4A21F2-6339-440E-914B-A6DD650F50EC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22375" y="450850"/>
            <a:ext cx="5437188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3-6 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关系的性质</a:t>
            </a:r>
          </a:p>
        </p:txBody>
      </p:sp>
      <p:sp>
        <p:nvSpPr>
          <p:cNvPr id="365572" name="Rectangle 4"/>
          <p:cNvSpPr>
            <a:spLocks noChangeArrowheads="1"/>
          </p:cNvSpPr>
          <p:nvPr/>
        </p:nvSpPr>
        <p:spPr bwMode="auto">
          <a:xfrm>
            <a:off x="900113" y="1541463"/>
            <a:ext cx="770413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一、性质定义 </a:t>
            </a:r>
          </a:p>
          <a:p>
            <a:pPr>
              <a:buClrTx/>
              <a:buFontTx/>
              <a:buNone/>
            </a:pPr>
            <a:r>
              <a:rPr kumimoji="0"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二、</a:t>
            </a:r>
            <a:r>
              <a:rPr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从关系矩阵和关系图中看关系的性质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79D657-C038-4568-AB53-307B7C2AC9E2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1116013" y="1150938"/>
            <a:ext cx="7200900" cy="458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3-6.1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为定义在集合</a:t>
            </a:r>
            <a:r>
              <a:rPr lang="en-US" altLang="zh-CN"/>
              <a:t>X</a:t>
            </a:r>
            <a:r>
              <a:rPr lang="zh-CN" altLang="en-US"/>
              <a:t>上的二元关系，若有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(</a:t>
            </a:r>
            <a:r>
              <a:rPr kumimoji="0" lang="en-US" altLang="zh-CN">
                <a:sym typeface="Symbol" pitchFamily="18" charset="2"/>
              </a:rPr>
              <a:t>x)(x</a:t>
            </a:r>
            <a:r>
              <a:rPr lang="en-US" altLang="zh-CN"/>
              <a:t>∈X</a:t>
            </a:r>
            <a:r>
              <a:rPr kumimoji="0" lang="en-US" altLang="zh-CN">
                <a:sym typeface="Wingdings" pitchFamily="2" charset="2"/>
              </a:rPr>
              <a:t>→xRx</a:t>
            </a:r>
            <a:r>
              <a:rPr kumimoji="0" lang="en-US" altLang="zh-CN">
                <a:sym typeface="Symbol" pitchFamily="18" charset="2"/>
              </a:rPr>
              <a:t>)</a:t>
            </a:r>
            <a:r>
              <a:rPr kumimoji="0" lang="zh-CN" altLang="en-US">
                <a:sym typeface="Symbol" pitchFamily="18" charset="2"/>
              </a:rPr>
              <a:t>，则称</a:t>
            </a:r>
            <a:r>
              <a:rPr kumimoji="0" lang="en-US" altLang="zh-CN">
                <a:sym typeface="Symbol" pitchFamily="18" charset="2"/>
              </a:rPr>
              <a:t>R</a:t>
            </a:r>
            <a:r>
              <a:rPr kumimoji="0" lang="zh-CN" altLang="en-US">
                <a:sym typeface="Symbol" pitchFamily="18" charset="2"/>
              </a:rPr>
              <a:t>在</a:t>
            </a:r>
            <a:r>
              <a:rPr kumimoji="0" lang="en-US" altLang="zh-CN">
                <a:sym typeface="Symbol" pitchFamily="18" charset="2"/>
              </a:rPr>
              <a:t>X</a:t>
            </a:r>
            <a:r>
              <a:rPr kumimoji="0" lang="zh-CN" altLang="en-US">
                <a:sym typeface="Symbol" pitchFamily="18" charset="2"/>
              </a:rPr>
              <a:t>上是自反的；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ym typeface="Wingdings" pitchFamily="2" charset="2"/>
              </a:rPr>
              <a:t>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Wingdings" pitchFamily="2" charset="2"/>
              </a:rPr>
              <a:t>)(x</a:t>
            </a:r>
            <a:r>
              <a:rPr lang="en-US" altLang="zh-CN"/>
              <a:t>∈X</a:t>
            </a:r>
            <a:r>
              <a:rPr kumimoji="0" lang="en-US" altLang="zh-CN">
                <a:sym typeface="Wingdings" pitchFamily="2" charset="2"/>
              </a:rPr>
              <a:t>→&lt;x, x&gt;</a:t>
            </a:r>
            <a:r>
              <a:rPr lang="en-US" altLang="zh-CN">
                <a:sym typeface="Symbol" pitchFamily="18" charset="2"/>
              </a:rPr>
              <a:t>R)</a:t>
            </a:r>
            <a:r>
              <a:rPr lang="zh-CN" altLang="en-US">
                <a:sym typeface="Symbol" pitchFamily="18" charset="2"/>
              </a:rPr>
              <a:t>，则称</a:t>
            </a:r>
            <a:r>
              <a:rPr lang="en-US" altLang="zh-CN">
                <a:sym typeface="Symbol" pitchFamily="18" charset="2"/>
              </a:rPr>
              <a:t>R</a:t>
            </a:r>
            <a:r>
              <a:rPr lang="zh-CN" altLang="en-US">
                <a:sym typeface="Symbol" pitchFamily="18" charset="2"/>
              </a:rPr>
              <a:t>在</a:t>
            </a:r>
            <a:r>
              <a:rPr lang="en-US" altLang="zh-CN">
                <a:sym typeface="Symbol" pitchFamily="18" charset="2"/>
              </a:rPr>
              <a:t>X</a:t>
            </a:r>
            <a:r>
              <a:rPr lang="zh-CN" altLang="en-US">
                <a:sym typeface="Symbol" pitchFamily="18" charset="2"/>
              </a:rPr>
              <a:t>上是反自反的。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  <a:sym typeface="Symbol" pitchFamily="18" charset="2"/>
              </a:rPr>
              <a:t>例如：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设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A={1, 2, 3}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1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3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是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A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上的关系，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             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1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={&lt;1,1&gt;,&lt;2,2&gt;}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            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={&lt;1,1&gt;,&lt;2,2&gt;,&lt;3,3&gt;,&lt;2,1&gt;} 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            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={&lt;3,1&gt;,&lt;1,2&gt;} 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则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1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3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是否为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A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上的自反或反自反关系？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R</a:t>
            </a:r>
            <a:r>
              <a:rPr lang="zh-CN" altLang="en-US">
                <a:solidFill>
                  <a:schemeClr val="hlink"/>
                </a:solidFill>
                <a:sym typeface="Wingdings" pitchFamily="2" charset="2"/>
              </a:rPr>
              <a:t>是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zh-CN" altLang="en-US">
                <a:solidFill>
                  <a:schemeClr val="hlink"/>
                </a:solidFill>
                <a:sym typeface="Wingdings" pitchFamily="2" charset="2"/>
              </a:rPr>
              <a:t>上的自反关系</a:t>
            </a:r>
            <a:r>
              <a:rPr kumimoji="0" lang="zh-CN" altLang="en-US">
                <a:solidFill>
                  <a:schemeClr val="hlink"/>
                </a:solidFill>
                <a:sym typeface="Symbol" pitchFamily="18" charset="2"/>
              </a:rPr>
              <a:t></a:t>
            </a:r>
            <a:r>
              <a:rPr kumimoji="0" lang="en-US" altLang="zh-CN">
                <a:solidFill>
                  <a:schemeClr val="hlink"/>
                </a:solidFill>
                <a:sym typeface="Wingdings" pitchFamily="2" charset="2"/>
              </a:rPr>
              <a:t>I</a:t>
            </a:r>
            <a:r>
              <a:rPr kumimoji="0" lang="en-US" altLang="zh-CN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kumimoji="0" lang="en-US" altLang="zh-CN">
                <a:solidFill>
                  <a:schemeClr val="hlink"/>
                </a:solidFill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hlink"/>
                </a:solidFill>
                <a:sym typeface="Symbol" pitchFamily="18" charset="2"/>
              </a:rPr>
              <a:t>R 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R</a:t>
            </a:r>
            <a:r>
              <a:rPr lang="zh-CN" altLang="en-US">
                <a:solidFill>
                  <a:schemeClr val="hlink"/>
                </a:solidFill>
                <a:sym typeface="Wingdings" pitchFamily="2" charset="2"/>
              </a:rPr>
              <a:t>是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zh-CN" altLang="en-US">
                <a:solidFill>
                  <a:schemeClr val="hlink"/>
                </a:solidFill>
                <a:sym typeface="Wingdings" pitchFamily="2" charset="2"/>
              </a:rPr>
              <a:t>上的反自反关系</a:t>
            </a:r>
            <a:r>
              <a:rPr kumimoji="0" lang="zh-CN" altLang="en-US">
                <a:solidFill>
                  <a:schemeClr val="hlink"/>
                </a:solidFill>
                <a:sym typeface="Symbol" pitchFamily="18" charset="2"/>
              </a:rPr>
              <a:t></a:t>
            </a:r>
            <a:r>
              <a:rPr kumimoji="0" lang="en-US" altLang="zh-CN">
                <a:solidFill>
                  <a:schemeClr val="hlink"/>
                </a:solidFill>
                <a:sym typeface="Wingdings" pitchFamily="2" charset="2"/>
              </a:rPr>
              <a:t>I</a:t>
            </a:r>
            <a:r>
              <a:rPr kumimoji="0" lang="en-US" altLang="zh-CN" baseline="-25000">
                <a:solidFill>
                  <a:schemeClr val="hlink"/>
                </a:solidFill>
                <a:sym typeface="Wingdings" pitchFamily="2" charset="2"/>
              </a:rPr>
              <a:t>A</a:t>
            </a:r>
            <a:r>
              <a:rPr lang="en-US" altLang="zh-CN">
                <a:solidFill>
                  <a:schemeClr val="hlink"/>
                </a:solidFill>
                <a:sym typeface="Wingdings" pitchFamily="2" charset="2"/>
              </a:rPr>
              <a:t>∩</a:t>
            </a:r>
            <a:r>
              <a:rPr lang="en-US" altLang="zh-CN">
                <a:solidFill>
                  <a:schemeClr val="hlink"/>
                </a:solidFill>
                <a:sym typeface="Symbol" pitchFamily="18" charset="2"/>
              </a:rPr>
              <a:t>R= </a:t>
            </a:r>
          </a:p>
        </p:txBody>
      </p:sp>
      <p:sp>
        <p:nvSpPr>
          <p:cNvPr id="211972" name="Rectangle 4"/>
          <p:cNvSpPr>
            <a:spLocks noChangeArrowheads="1"/>
          </p:cNvSpPr>
          <p:nvPr/>
        </p:nvSpPr>
        <p:spPr bwMode="auto">
          <a:xfrm>
            <a:off x="1116013" y="476250"/>
            <a:ext cx="4319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一、性质定义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2AB645-0C43-4967-92D9-B9DCA9C10C89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421890" name="Rectangle 2"/>
          <p:cNvSpPr>
            <a:spLocks noChangeArrowheads="1"/>
          </p:cNvSpPr>
          <p:nvPr/>
        </p:nvSpPr>
        <p:spPr bwMode="auto">
          <a:xfrm>
            <a:off x="468313" y="1268413"/>
            <a:ext cx="8496300" cy="531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3-6.2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为定义在集合</a:t>
            </a:r>
            <a:r>
              <a:rPr lang="en-US" altLang="zh-CN"/>
              <a:t>X</a:t>
            </a:r>
            <a:r>
              <a:rPr lang="zh-CN" altLang="en-US"/>
              <a:t>上的二元关系，若有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ym typeface="Wingdings" pitchFamily="2" charset="2"/>
              </a:rPr>
              <a:t>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Wingdings" pitchFamily="2" charset="2"/>
              </a:rPr>
              <a:t>)(</a:t>
            </a:r>
            <a:r>
              <a:rPr kumimoji="0" lang="en-US" altLang="zh-CN">
                <a:sym typeface="Symbol" pitchFamily="18" charset="2"/>
              </a:rPr>
              <a:t>y</a:t>
            </a:r>
            <a:r>
              <a:rPr lang="en-US" altLang="zh-CN">
                <a:sym typeface="Wingdings" pitchFamily="2" charset="2"/>
              </a:rPr>
              <a:t>)(x</a:t>
            </a:r>
            <a:r>
              <a:rPr lang="en-US" altLang="zh-CN"/>
              <a:t>∈X</a:t>
            </a:r>
            <a:r>
              <a:rPr kumimoji="0" lang="en-US" altLang="zh-CN"/>
              <a:t>∧y</a:t>
            </a:r>
            <a:r>
              <a:rPr lang="en-US" altLang="zh-CN"/>
              <a:t>∈X</a:t>
            </a:r>
            <a:r>
              <a:rPr kumimoji="0" lang="en-US" altLang="zh-CN"/>
              <a:t>∧xRy</a:t>
            </a:r>
            <a:r>
              <a:rPr kumimoji="0" lang="en-US" altLang="zh-CN">
                <a:sym typeface="Wingdings" pitchFamily="2" charset="2"/>
              </a:rPr>
              <a:t>→yRx</a:t>
            </a:r>
            <a:r>
              <a:rPr lang="en-US" altLang="zh-CN">
                <a:sym typeface="Wingdings" pitchFamily="2" charset="2"/>
              </a:rPr>
              <a:t>)</a:t>
            </a:r>
            <a:r>
              <a:rPr lang="zh-CN" altLang="en-US">
                <a:sym typeface="Wingdings" pitchFamily="2" charset="2"/>
              </a:rPr>
              <a:t>，</a:t>
            </a:r>
            <a:r>
              <a:rPr kumimoji="0" lang="zh-CN" altLang="en-US">
                <a:sym typeface="Symbol" pitchFamily="18" charset="2"/>
              </a:rPr>
              <a:t>则称</a:t>
            </a:r>
            <a:r>
              <a:rPr kumimoji="0" lang="en-US" altLang="zh-CN">
                <a:sym typeface="Symbol" pitchFamily="18" charset="2"/>
              </a:rPr>
              <a:t>R</a:t>
            </a:r>
            <a:r>
              <a:rPr kumimoji="0" lang="zh-CN" altLang="en-US">
                <a:sym typeface="Symbol" pitchFamily="18" charset="2"/>
              </a:rPr>
              <a:t>在</a:t>
            </a:r>
            <a:r>
              <a:rPr kumimoji="0" lang="en-US" altLang="zh-CN">
                <a:sym typeface="Symbol" pitchFamily="18" charset="2"/>
              </a:rPr>
              <a:t>X</a:t>
            </a:r>
            <a:r>
              <a:rPr kumimoji="0" lang="zh-CN" altLang="en-US">
                <a:sym typeface="Symbol" pitchFamily="18" charset="2"/>
              </a:rPr>
              <a:t>上是对称的；</a:t>
            </a:r>
            <a:endParaRPr lang="zh-CN" altLang="en-US"/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ym typeface="Wingdings" pitchFamily="2" charset="2"/>
              </a:rPr>
              <a:t>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Wingdings" pitchFamily="2" charset="2"/>
              </a:rPr>
              <a:t>)(</a:t>
            </a:r>
            <a:r>
              <a:rPr kumimoji="0" lang="en-US" altLang="zh-CN">
                <a:sym typeface="Symbol" pitchFamily="18" charset="2"/>
              </a:rPr>
              <a:t>y)(x</a:t>
            </a:r>
            <a:r>
              <a:rPr lang="en-US" altLang="zh-CN"/>
              <a:t>∈X</a:t>
            </a:r>
            <a:r>
              <a:rPr kumimoji="0" lang="en-US" altLang="zh-CN"/>
              <a:t>∧y</a:t>
            </a:r>
            <a:r>
              <a:rPr lang="en-US" altLang="zh-CN"/>
              <a:t>∈X</a:t>
            </a:r>
            <a:r>
              <a:rPr kumimoji="0" lang="en-US" altLang="zh-CN"/>
              <a:t>∧xRy∧yRx</a:t>
            </a:r>
            <a:r>
              <a:rPr kumimoji="0" lang="en-US" altLang="zh-CN">
                <a:sym typeface="Wingdings" pitchFamily="2" charset="2"/>
              </a:rPr>
              <a:t>→x=y</a:t>
            </a:r>
            <a:r>
              <a:rPr kumimoji="0" lang="en-US" altLang="zh-CN">
                <a:sym typeface="Symbol" pitchFamily="18" charset="2"/>
              </a:rPr>
              <a:t>)</a:t>
            </a:r>
            <a:r>
              <a:rPr kumimoji="0" lang="zh-CN" altLang="en-US">
                <a:sym typeface="Symbol" pitchFamily="18" charset="2"/>
              </a:rPr>
              <a:t>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ym typeface="Symbol" pitchFamily="18" charset="2"/>
              </a:rPr>
              <a:t>或</a:t>
            </a:r>
            <a:r>
              <a:rPr lang="en-US" altLang="zh-CN">
                <a:sym typeface="Wingdings" pitchFamily="2" charset="2"/>
              </a:rPr>
              <a:t>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Wingdings" pitchFamily="2" charset="2"/>
              </a:rPr>
              <a:t>)(</a:t>
            </a:r>
            <a:r>
              <a:rPr kumimoji="0" lang="en-US" altLang="zh-CN">
                <a:sym typeface="Symbol" pitchFamily="18" charset="2"/>
              </a:rPr>
              <a:t>y)(x</a:t>
            </a:r>
            <a:r>
              <a:rPr lang="en-US" altLang="zh-CN"/>
              <a:t>∈X</a:t>
            </a:r>
            <a:r>
              <a:rPr kumimoji="0" lang="en-US" altLang="zh-CN"/>
              <a:t>∧y</a:t>
            </a:r>
            <a:r>
              <a:rPr lang="en-US" altLang="zh-CN"/>
              <a:t>∈X</a:t>
            </a:r>
            <a:r>
              <a:rPr kumimoji="0" lang="en-US" altLang="zh-CN"/>
              <a:t>∧x</a:t>
            </a:r>
            <a:r>
              <a:rPr lang="en-US" altLang="zh-CN"/>
              <a:t>≠</a:t>
            </a:r>
            <a:r>
              <a:rPr kumimoji="0" lang="en-US" altLang="zh-CN"/>
              <a:t>y∧xRy</a:t>
            </a:r>
            <a:r>
              <a:rPr kumimoji="0" lang="en-US" altLang="zh-CN">
                <a:sym typeface="Wingdings" pitchFamily="2" charset="2"/>
              </a:rPr>
              <a:t>→&lt;y,x&gt;</a:t>
            </a:r>
            <a:r>
              <a:rPr lang="en-US" altLang="zh-CN">
                <a:sym typeface="Symbol" pitchFamily="18" charset="2"/>
              </a:rPr>
              <a:t>R</a:t>
            </a:r>
            <a:r>
              <a:rPr kumimoji="0" lang="en-US" altLang="zh-CN">
                <a:sym typeface="Symbol" pitchFamily="18" charset="2"/>
              </a:rPr>
              <a:t>)</a:t>
            </a:r>
            <a:r>
              <a:rPr kumimoji="0" lang="zh-CN" altLang="en-US">
                <a:sym typeface="Symbol" pitchFamily="18" charset="2"/>
              </a:rPr>
              <a:t>，则称</a:t>
            </a:r>
            <a:r>
              <a:rPr kumimoji="0" lang="en-US" altLang="zh-CN">
                <a:sym typeface="Symbol" pitchFamily="18" charset="2"/>
              </a:rPr>
              <a:t>R</a:t>
            </a:r>
            <a:r>
              <a:rPr kumimoji="0" lang="zh-CN" altLang="en-US">
                <a:sym typeface="Symbol" pitchFamily="18" charset="2"/>
              </a:rPr>
              <a:t>在</a:t>
            </a:r>
            <a:r>
              <a:rPr kumimoji="0" lang="en-US" altLang="zh-CN">
                <a:sym typeface="Symbol" pitchFamily="18" charset="2"/>
              </a:rPr>
              <a:t>X</a:t>
            </a:r>
            <a:r>
              <a:rPr kumimoji="0" lang="zh-CN" altLang="en-US">
                <a:sym typeface="Symbol" pitchFamily="18" charset="2"/>
              </a:rPr>
              <a:t>上是反对称的。</a:t>
            </a:r>
          </a:p>
          <a:p>
            <a:pPr eaLnBrk="0" hangingPunct="0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  <a:sym typeface="Symbol" pitchFamily="18" charset="2"/>
              </a:rPr>
              <a:t>例如：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设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A={1, 2, 3}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1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4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是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A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上的关系，</a:t>
            </a:r>
          </a:p>
          <a:p>
            <a:pPr eaLnBrk="0" hangingPunct="0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            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1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={&lt;1,2&gt;,&lt;2,1&gt;} </a:t>
            </a:r>
          </a:p>
          <a:p>
            <a:pPr eaLnBrk="0" hangingPunct="0"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           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={&lt;1,1&gt;,&lt;2,2&gt;,&lt;3,3&gt;,&lt;2,1&gt;} </a:t>
            </a:r>
          </a:p>
          <a:p>
            <a:pPr eaLnBrk="0" hangingPunct="0"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           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={&lt;3,1&gt;,&lt;1,2&gt; ,&lt;2,1&gt;} </a:t>
            </a:r>
          </a:p>
          <a:p>
            <a:pPr eaLnBrk="0" hangingPunct="0"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           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4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={&lt;3,3&gt;,&lt;1,1&gt;}</a:t>
            </a:r>
          </a:p>
          <a:p>
            <a:pPr eaLnBrk="0" hangingPunct="0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则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1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4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是否为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A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上的对称或反对称关系？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E69E28-A45B-426A-BD80-FA807041687C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422914" name="Rectangle 2"/>
          <p:cNvSpPr>
            <a:spLocks noChangeArrowheads="1"/>
          </p:cNvSpPr>
          <p:nvPr/>
        </p:nvSpPr>
        <p:spPr bwMode="auto">
          <a:xfrm>
            <a:off x="1042988" y="1268413"/>
            <a:ext cx="7559675" cy="414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3-6.3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为定义在集合</a:t>
            </a:r>
            <a:r>
              <a:rPr lang="en-US" altLang="zh-CN"/>
              <a:t>X</a:t>
            </a:r>
            <a:r>
              <a:rPr lang="zh-CN" altLang="en-US"/>
              <a:t>上的二元关系，若有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ym typeface="Wingdings" pitchFamily="2" charset="2"/>
              </a:rPr>
              <a:t>(</a:t>
            </a:r>
            <a:r>
              <a:rPr kumimoji="0" lang="en-US" altLang="zh-CN">
                <a:sym typeface="Symbol" pitchFamily="18" charset="2"/>
              </a:rPr>
              <a:t>x</a:t>
            </a:r>
            <a:r>
              <a:rPr lang="en-US" altLang="zh-CN">
                <a:sym typeface="Wingdings" pitchFamily="2" charset="2"/>
              </a:rPr>
              <a:t>)(</a:t>
            </a:r>
            <a:r>
              <a:rPr kumimoji="0" lang="en-US" altLang="zh-CN">
                <a:sym typeface="Symbol" pitchFamily="18" charset="2"/>
              </a:rPr>
              <a:t>y</a:t>
            </a:r>
            <a:r>
              <a:rPr lang="en-US" altLang="zh-CN">
                <a:sym typeface="Wingdings" pitchFamily="2" charset="2"/>
              </a:rPr>
              <a:t>)(</a:t>
            </a:r>
            <a:r>
              <a:rPr kumimoji="0" lang="en-US" altLang="zh-CN">
                <a:sym typeface="Symbol" pitchFamily="18" charset="2"/>
              </a:rPr>
              <a:t>z</a:t>
            </a:r>
            <a:r>
              <a:rPr lang="en-US" altLang="zh-CN">
                <a:sym typeface="Wingdings" pitchFamily="2" charset="2"/>
              </a:rPr>
              <a:t>)(x</a:t>
            </a:r>
            <a:r>
              <a:rPr lang="en-US" altLang="zh-CN"/>
              <a:t>∈X</a:t>
            </a:r>
            <a:r>
              <a:rPr kumimoji="0" lang="en-US" altLang="zh-CN"/>
              <a:t>∧y</a:t>
            </a:r>
            <a:r>
              <a:rPr lang="en-US" altLang="zh-CN"/>
              <a:t>∈X</a:t>
            </a:r>
            <a:r>
              <a:rPr kumimoji="0" lang="en-US" altLang="zh-CN"/>
              <a:t>∧z</a:t>
            </a:r>
            <a:r>
              <a:rPr lang="en-US" altLang="zh-CN"/>
              <a:t>∈X</a:t>
            </a:r>
            <a:r>
              <a:rPr kumimoji="0" lang="en-US" altLang="zh-CN"/>
              <a:t>∧xRy∧y</a:t>
            </a:r>
            <a:r>
              <a:rPr lang="en-US" altLang="zh-CN"/>
              <a:t>Rz</a:t>
            </a:r>
            <a:r>
              <a:rPr kumimoji="0" lang="en-US" altLang="zh-CN">
                <a:sym typeface="Wingdings" pitchFamily="2" charset="2"/>
              </a:rPr>
              <a:t>→xRz</a:t>
            </a:r>
            <a:r>
              <a:rPr lang="en-US" altLang="zh-CN">
                <a:sym typeface="Wingdings" pitchFamily="2" charset="2"/>
              </a:rPr>
              <a:t>)</a:t>
            </a:r>
            <a:r>
              <a:rPr kumimoji="0" lang="zh-CN" altLang="en-US">
                <a:sym typeface="Symbol" pitchFamily="18" charset="2"/>
              </a:rPr>
              <a:t>，则称</a:t>
            </a:r>
            <a:r>
              <a:rPr kumimoji="0" lang="en-US" altLang="zh-CN">
                <a:sym typeface="Symbol" pitchFamily="18" charset="2"/>
              </a:rPr>
              <a:t>R</a:t>
            </a:r>
            <a:r>
              <a:rPr kumimoji="0" lang="zh-CN" altLang="en-US">
                <a:sym typeface="Symbol" pitchFamily="18" charset="2"/>
              </a:rPr>
              <a:t>在</a:t>
            </a:r>
            <a:r>
              <a:rPr kumimoji="0" lang="en-US" altLang="zh-CN">
                <a:sym typeface="Symbol" pitchFamily="18" charset="2"/>
              </a:rPr>
              <a:t>X</a:t>
            </a:r>
            <a:r>
              <a:rPr kumimoji="0" lang="zh-CN" altLang="en-US">
                <a:sym typeface="Symbol" pitchFamily="18" charset="2"/>
              </a:rPr>
              <a:t>上是传递的。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  <a:sym typeface="Symbol" pitchFamily="18" charset="2"/>
              </a:rPr>
              <a:t>例如：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设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A={1, 2, 3}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1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3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是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A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上的关系，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             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1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={&lt;1,2&gt;,&lt;2,1&gt;} 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            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={&lt;2,1&gt;} 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            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3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={&lt;3,1&gt;,&lt;1,2&gt; ,&lt;2,1&gt;} 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            R</a:t>
            </a:r>
            <a:r>
              <a:rPr lang="en-US" altLang="zh-CN" baseline="-25000">
                <a:solidFill>
                  <a:schemeClr val="tx1"/>
                </a:solidFill>
                <a:sym typeface="Wingdings" pitchFamily="2" charset="2"/>
              </a:rPr>
              <a:t>4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={&lt;3,3&gt;,&lt;1,1&gt;}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则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1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4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是否为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A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上的传递关系？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030E7B-4E3B-4B17-9A26-A98EB6D1E8BC}" type="slidenum">
              <a:rPr lang="en-US" altLang="zh-CN"/>
              <a:pPr/>
              <a:t>56</a:t>
            </a:fld>
            <a:endParaRPr lang="en-US" altLang="zh-CN"/>
          </a:p>
        </p:txBody>
      </p:sp>
      <p:sp>
        <p:nvSpPr>
          <p:cNvPr id="212997" name="Rectangle 5"/>
          <p:cNvSpPr>
            <a:spLocks noChangeArrowheads="1"/>
          </p:cNvSpPr>
          <p:nvPr/>
        </p:nvSpPr>
        <p:spPr bwMode="auto">
          <a:xfrm>
            <a:off x="539750" y="1268413"/>
            <a:ext cx="8064500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A={1, 2, 3}</a:t>
            </a:r>
            <a:r>
              <a:rPr lang="zh-CN" altLang="en-US"/>
              <a:t>，关系</a:t>
            </a:r>
            <a:r>
              <a:rPr lang="en-US" altLang="zh-CN"/>
              <a:t>S={&lt;1,1&gt;, &lt;2,1&gt;,&lt;3,3&gt;}</a:t>
            </a:r>
            <a:r>
              <a:rPr lang="zh-CN" altLang="en-US"/>
              <a:t>，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/>
              <a:t>R={&lt;1,1&gt;,&lt;2,2&gt;&lt;3,3&gt;}</a:t>
            </a:r>
            <a:r>
              <a:rPr lang="zh-CN" altLang="en-US"/>
              <a:t>，</a:t>
            </a:r>
            <a:r>
              <a:rPr lang="en-US" altLang="zh-CN"/>
              <a:t>T={&lt;1,2&gt;,&lt;2,3&gt;,&lt;3,2&gt;}</a:t>
            </a:r>
            <a:r>
              <a:rPr lang="zh-CN" altLang="en-US"/>
              <a:t>。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/>
              <a:t>判断关系</a:t>
            </a:r>
            <a:r>
              <a:rPr lang="en-US" altLang="zh-CN"/>
              <a:t>S</a:t>
            </a:r>
            <a:r>
              <a:rPr lang="zh-CN" altLang="en-US"/>
              <a:t>、</a:t>
            </a:r>
            <a:r>
              <a:rPr lang="en-US" altLang="zh-CN"/>
              <a:t>R</a:t>
            </a:r>
            <a:r>
              <a:rPr lang="zh-CN" altLang="en-US"/>
              <a:t>和</a:t>
            </a:r>
            <a:r>
              <a:rPr lang="en-US" altLang="zh-CN"/>
              <a:t>T</a:t>
            </a:r>
            <a:r>
              <a:rPr lang="zh-CN" altLang="en-US"/>
              <a:t>分别具有什么性质？</a:t>
            </a:r>
          </a:p>
        </p:txBody>
      </p:sp>
      <p:sp>
        <p:nvSpPr>
          <p:cNvPr id="212998" name="AutoShape 6"/>
          <p:cNvSpPr>
            <a:spLocks noChangeArrowheads="1"/>
          </p:cNvSpPr>
          <p:nvPr/>
        </p:nvSpPr>
        <p:spPr bwMode="auto">
          <a:xfrm>
            <a:off x="323850" y="4292600"/>
            <a:ext cx="8642350" cy="1417638"/>
          </a:xfrm>
          <a:prstGeom prst="wedgeRoundRectCallout">
            <a:avLst>
              <a:gd name="adj1" fmla="val -8120"/>
              <a:gd name="adj2" fmla="val -170606"/>
              <a:gd name="adj3" fmla="val 16667"/>
            </a:avLst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</a:pPr>
            <a:r>
              <a:rPr lang="zh-CN" altLang="en-US" sz="2000"/>
              <a:t>一个关系不是自反的，不一定是反自反的，但若是自反一定不是反自反，是反自反一定不是自反；</a:t>
            </a:r>
          </a:p>
          <a:p>
            <a:pPr>
              <a:buClr>
                <a:schemeClr val="hlink"/>
              </a:buClr>
            </a:pPr>
            <a:r>
              <a:rPr lang="zh-CN" altLang="en-US" sz="2000"/>
              <a:t>一个关系可能既是对称的，又是反对称的，也可能不是对称的，也不是反对称的。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DB4B89-48F5-4FA9-B30A-583173308932}" type="slidenum">
              <a:rPr lang="en-US" altLang="zh-CN"/>
              <a:pPr/>
              <a:t>57</a:t>
            </a:fld>
            <a:endParaRPr lang="en-US" altLang="zh-CN"/>
          </a:p>
        </p:txBody>
      </p:sp>
      <p:graphicFrame>
        <p:nvGraphicFramePr>
          <p:cNvPr id="215043" name="Object 3"/>
          <p:cNvGraphicFramePr>
            <a:graphicFrameLocks noChangeAspect="1"/>
          </p:cNvGraphicFramePr>
          <p:nvPr/>
        </p:nvGraphicFramePr>
        <p:xfrm>
          <a:off x="4500563" y="2924175"/>
          <a:ext cx="3124200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4" name="Equation" r:id="rId3" imgW="2336760" imgH="1828800" progId="Equation.DSMT4">
                  <p:embed/>
                </p:oleObj>
              </mc:Choice>
              <mc:Fallback>
                <p:oleObj name="Equation" r:id="rId3" imgW="2336760" imgH="1828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924175"/>
                        <a:ext cx="3124200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044" name="Group 4"/>
          <p:cNvGrpSpPr>
            <a:grpSpLocks/>
          </p:cNvGrpSpPr>
          <p:nvPr/>
        </p:nvGrpSpPr>
        <p:grpSpPr bwMode="auto">
          <a:xfrm>
            <a:off x="1403350" y="3211513"/>
            <a:ext cx="2016125" cy="1906587"/>
            <a:chOff x="3243" y="2464"/>
            <a:chExt cx="1270" cy="1201"/>
          </a:xfrm>
        </p:grpSpPr>
        <p:sp>
          <p:nvSpPr>
            <p:cNvPr id="215045" name="Line 5"/>
            <p:cNvSpPr>
              <a:spLocks noChangeShapeType="1"/>
            </p:cNvSpPr>
            <p:nvPr/>
          </p:nvSpPr>
          <p:spPr bwMode="auto">
            <a:xfrm>
              <a:off x="3560" y="3430"/>
              <a:ext cx="62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046" name="Line 6"/>
            <p:cNvSpPr>
              <a:spLocks noChangeShapeType="1"/>
            </p:cNvSpPr>
            <p:nvPr/>
          </p:nvSpPr>
          <p:spPr bwMode="auto">
            <a:xfrm flipV="1">
              <a:off x="3515" y="2795"/>
              <a:ext cx="0" cy="59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047" name="Line 7"/>
            <p:cNvSpPr>
              <a:spLocks noChangeShapeType="1"/>
            </p:cNvSpPr>
            <p:nvPr/>
          </p:nvSpPr>
          <p:spPr bwMode="auto">
            <a:xfrm flipH="1">
              <a:off x="3606" y="3521"/>
              <a:ext cx="528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048" name="Line 8"/>
            <p:cNvSpPr>
              <a:spLocks noChangeShapeType="1"/>
            </p:cNvSpPr>
            <p:nvPr/>
          </p:nvSpPr>
          <p:spPr bwMode="auto">
            <a:xfrm flipH="1">
              <a:off x="3424" y="2795"/>
              <a:ext cx="46" cy="54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5049" name="Arc 9"/>
            <p:cNvSpPr>
              <a:spLocks/>
            </p:cNvSpPr>
            <p:nvPr/>
          </p:nvSpPr>
          <p:spPr bwMode="auto">
            <a:xfrm rot="2700000">
              <a:off x="4177" y="3316"/>
              <a:ext cx="280" cy="310"/>
            </a:xfrm>
            <a:custGeom>
              <a:avLst/>
              <a:gdLst>
                <a:gd name="G0" fmla="+- 20391 0 0"/>
                <a:gd name="G1" fmla="+- 21600 0 0"/>
                <a:gd name="G2" fmla="+- 21600 0 0"/>
                <a:gd name="T0" fmla="*/ 3024 w 41991"/>
                <a:gd name="T1" fmla="*/ 8757 h 43200"/>
                <a:gd name="T2" fmla="*/ 0 w 41991"/>
                <a:gd name="T3" fmla="*/ 28725 h 43200"/>
                <a:gd name="T4" fmla="*/ 20391 w 4199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91" h="43200" fill="none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</a:path>
                <a:path w="41991" h="43200" stroke="0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  <a:lnTo>
                    <a:pt x="20391" y="2160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50" name="Text Box 10"/>
            <p:cNvSpPr txBox="1">
              <a:spLocks noChangeArrowheads="1"/>
            </p:cNvSpPr>
            <p:nvPr/>
          </p:nvSpPr>
          <p:spPr bwMode="auto">
            <a:xfrm>
              <a:off x="3379" y="2568"/>
              <a:ext cx="1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800" b="0">
                  <a:latin typeface="Arial" charset="0"/>
                </a:rPr>
                <a:t>1</a:t>
              </a:r>
            </a:p>
          </p:txBody>
        </p:sp>
        <p:sp>
          <p:nvSpPr>
            <p:cNvPr id="215051" name="Text Box 11"/>
            <p:cNvSpPr txBox="1">
              <a:spLocks noChangeArrowheads="1"/>
            </p:cNvSpPr>
            <p:nvPr/>
          </p:nvSpPr>
          <p:spPr bwMode="auto">
            <a:xfrm>
              <a:off x="3334" y="3339"/>
              <a:ext cx="2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800" b="0">
                  <a:latin typeface="Arial" charset="0"/>
                </a:rPr>
                <a:t>3</a:t>
              </a:r>
            </a:p>
          </p:txBody>
        </p:sp>
        <p:sp>
          <p:nvSpPr>
            <p:cNvPr id="215052" name="Text Box 12"/>
            <p:cNvSpPr txBox="1">
              <a:spLocks noChangeArrowheads="1"/>
            </p:cNvSpPr>
            <p:nvPr/>
          </p:nvSpPr>
          <p:spPr bwMode="auto">
            <a:xfrm>
              <a:off x="4195" y="3335"/>
              <a:ext cx="1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800" b="0">
                  <a:latin typeface="Arial" charset="0"/>
                </a:rPr>
                <a:t>4</a:t>
              </a:r>
            </a:p>
          </p:txBody>
        </p:sp>
        <p:sp>
          <p:nvSpPr>
            <p:cNvPr id="215053" name="Text Box 13"/>
            <p:cNvSpPr txBox="1">
              <a:spLocks noChangeArrowheads="1"/>
            </p:cNvSpPr>
            <p:nvPr/>
          </p:nvSpPr>
          <p:spPr bwMode="auto">
            <a:xfrm>
              <a:off x="4195" y="2568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1800" b="0">
                  <a:latin typeface="Arial" charset="0"/>
                </a:rPr>
                <a:t>2</a:t>
              </a:r>
            </a:p>
          </p:txBody>
        </p:sp>
        <p:sp>
          <p:nvSpPr>
            <p:cNvPr id="215054" name="Arc 14"/>
            <p:cNvSpPr>
              <a:spLocks/>
            </p:cNvSpPr>
            <p:nvPr/>
          </p:nvSpPr>
          <p:spPr bwMode="auto">
            <a:xfrm rot="-8193337">
              <a:off x="3334" y="2464"/>
              <a:ext cx="278" cy="310"/>
            </a:xfrm>
            <a:custGeom>
              <a:avLst/>
              <a:gdLst>
                <a:gd name="G0" fmla="+- 20059 0 0"/>
                <a:gd name="G1" fmla="+- 21600 0 0"/>
                <a:gd name="G2" fmla="+- 21600 0 0"/>
                <a:gd name="T0" fmla="*/ 2692 w 41659"/>
                <a:gd name="T1" fmla="*/ 8757 h 43200"/>
                <a:gd name="T2" fmla="*/ 0 w 41659"/>
                <a:gd name="T3" fmla="*/ 29611 h 43200"/>
                <a:gd name="T4" fmla="*/ 20059 w 41659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659" h="43200" fill="none" extrusionOk="0">
                  <a:moveTo>
                    <a:pt x="2691" y="8756"/>
                  </a:moveTo>
                  <a:cubicBezTo>
                    <a:pt x="6764" y="3249"/>
                    <a:pt x="13208" y="-1"/>
                    <a:pt x="20059" y="0"/>
                  </a:cubicBezTo>
                  <a:cubicBezTo>
                    <a:pt x="31988" y="0"/>
                    <a:pt x="41659" y="9670"/>
                    <a:pt x="41659" y="21600"/>
                  </a:cubicBezTo>
                  <a:cubicBezTo>
                    <a:pt x="41659" y="33529"/>
                    <a:pt x="31988" y="43200"/>
                    <a:pt x="20059" y="43200"/>
                  </a:cubicBezTo>
                  <a:cubicBezTo>
                    <a:pt x="11222" y="43200"/>
                    <a:pt x="3276" y="37817"/>
                    <a:pt x="-1" y="29611"/>
                  </a:cubicBezTo>
                </a:path>
                <a:path w="41659" h="43200" stroke="0" extrusionOk="0">
                  <a:moveTo>
                    <a:pt x="2691" y="8756"/>
                  </a:moveTo>
                  <a:cubicBezTo>
                    <a:pt x="6764" y="3249"/>
                    <a:pt x="13208" y="-1"/>
                    <a:pt x="20059" y="0"/>
                  </a:cubicBezTo>
                  <a:cubicBezTo>
                    <a:pt x="31988" y="0"/>
                    <a:pt x="41659" y="9670"/>
                    <a:pt x="41659" y="21600"/>
                  </a:cubicBezTo>
                  <a:cubicBezTo>
                    <a:pt x="41659" y="33529"/>
                    <a:pt x="31988" y="43200"/>
                    <a:pt x="20059" y="43200"/>
                  </a:cubicBezTo>
                  <a:cubicBezTo>
                    <a:pt x="11222" y="43200"/>
                    <a:pt x="3276" y="37817"/>
                    <a:pt x="-1" y="29611"/>
                  </a:cubicBezTo>
                  <a:lnTo>
                    <a:pt x="20059" y="2160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55" name="Arc 15"/>
            <p:cNvSpPr>
              <a:spLocks/>
            </p:cNvSpPr>
            <p:nvPr/>
          </p:nvSpPr>
          <p:spPr bwMode="auto">
            <a:xfrm rot="6925605">
              <a:off x="3258" y="3370"/>
              <a:ext cx="280" cy="310"/>
            </a:xfrm>
            <a:custGeom>
              <a:avLst/>
              <a:gdLst>
                <a:gd name="G0" fmla="+- 20391 0 0"/>
                <a:gd name="G1" fmla="+- 21600 0 0"/>
                <a:gd name="G2" fmla="+- 21600 0 0"/>
                <a:gd name="T0" fmla="*/ 3024 w 41991"/>
                <a:gd name="T1" fmla="*/ 8757 h 43200"/>
                <a:gd name="T2" fmla="*/ 0 w 41991"/>
                <a:gd name="T3" fmla="*/ 28725 h 43200"/>
                <a:gd name="T4" fmla="*/ 20391 w 4199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91" h="43200" fill="none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</a:path>
                <a:path w="41991" h="43200" stroke="0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  <a:lnTo>
                    <a:pt x="20391" y="2160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056" name="Arc 16"/>
            <p:cNvSpPr>
              <a:spLocks/>
            </p:cNvSpPr>
            <p:nvPr/>
          </p:nvSpPr>
          <p:spPr bwMode="auto">
            <a:xfrm rot="-3617246">
              <a:off x="4218" y="2500"/>
              <a:ext cx="280" cy="310"/>
            </a:xfrm>
            <a:custGeom>
              <a:avLst/>
              <a:gdLst>
                <a:gd name="G0" fmla="+- 20391 0 0"/>
                <a:gd name="G1" fmla="+- 21600 0 0"/>
                <a:gd name="G2" fmla="+- 21600 0 0"/>
                <a:gd name="T0" fmla="*/ 3024 w 41991"/>
                <a:gd name="T1" fmla="*/ 8757 h 43200"/>
                <a:gd name="T2" fmla="*/ 0 w 41991"/>
                <a:gd name="T3" fmla="*/ 28725 h 43200"/>
                <a:gd name="T4" fmla="*/ 20391 w 4199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91" h="43200" fill="none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</a:path>
                <a:path w="41991" h="43200" stroke="0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  <a:lnTo>
                    <a:pt x="20391" y="2160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057" name="Rectangle 17"/>
          <p:cNvSpPr>
            <a:spLocks noChangeArrowheads="1"/>
          </p:cNvSpPr>
          <p:nvPr/>
        </p:nvSpPr>
        <p:spPr bwMode="auto">
          <a:xfrm>
            <a:off x="827088" y="1268413"/>
            <a:ext cx="7561262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集合</a:t>
            </a:r>
            <a:r>
              <a:rPr lang="en-US" altLang="zh-CN"/>
              <a:t>A={1, 2, 3, 4}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zh-CN" altLang="en-US"/>
              <a:t>上的关系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R={&lt;1, 1&gt;, &lt;1, 3&gt;, &lt;2, 2&gt;, &lt;3, 3&gt;, &lt;3, 1&gt;, &lt;3, 4&gt;, &lt;4, 3&gt;, &lt;4, 4&gt;}</a:t>
            </a:r>
            <a:r>
              <a:rPr lang="zh-CN" altLang="en-US"/>
              <a:t>，讨论</a:t>
            </a:r>
            <a:r>
              <a:rPr lang="en-US" altLang="zh-CN"/>
              <a:t>R</a:t>
            </a:r>
            <a:r>
              <a:rPr lang="zh-CN" altLang="en-US"/>
              <a:t>的性质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215058" name="Rectangle 18"/>
          <p:cNvSpPr>
            <a:spLocks noChangeArrowheads="1"/>
          </p:cNvSpPr>
          <p:nvPr/>
        </p:nvSpPr>
        <p:spPr bwMode="auto">
          <a:xfrm>
            <a:off x="1187450" y="476250"/>
            <a:ext cx="7705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二、从关系矩阵和关系图中看关系的性质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52E540-F2F0-4B78-812B-CDC1114CA902}" type="slidenum">
              <a:rPr lang="en-US" altLang="zh-CN"/>
              <a:pPr/>
              <a:t>58</a:t>
            </a:fld>
            <a:endParaRPr lang="en-US" altLang="zh-CN"/>
          </a:p>
        </p:txBody>
      </p:sp>
      <p:sp>
        <p:nvSpPr>
          <p:cNvPr id="216066" name="Rectangle 2"/>
          <p:cNvSpPr>
            <a:spLocks noChangeArrowheads="1"/>
          </p:cNvSpPr>
          <p:nvPr/>
        </p:nvSpPr>
        <p:spPr bwMode="auto">
          <a:xfrm>
            <a:off x="684213" y="1341438"/>
            <a:ext cx="7848600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      1</a:t>
            </a:r>
            <a:r>
              <a:rPr lang="zh-CN" altLang="en-US" dirty="0"/>
              <a:t>．自反的：关系矩阵的对角线元素都是</a:t>
            </a:r>
            <a:r>
              <a:rPr lang="en-US" altLang="zh-CN" dirty="0"/>
              <a:t>1</a:t>
            </a:r>
            <a:r>
              <a:rPr lang="zh-CN" altLang="en-US" dirty="0"/>
              <a:t>；关系图上每个结点都有自回路。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      </a:t>
            </a:r>
            <a:r>
              <a:rPr lang="en-US" altLang="zh-CN" dirty="0"/>
              <a:t>2</a:t>
            </a:r>
            <a:r>
              <a:rPr lang="zh-CN" altLang="en-US" dirty="0"/>
              <a:t>．对称性：关系矩阵是对称矩阵；关系图中任两结点间的弧线成对出现。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      </a:t>
            </a:r>
            <a:r>
              <a:rPr lang="en-US" altLang="zh-CN" dirty="0"/>
              <a:t>3</a:t>
            </a:r>
            <a:r>
              <a:rPr lang="zh-CN" altLang="en-US" dirty="0"/>
              <a:t>．反自反：关系矩阵的对角线元素都是</a:t>
            </a:r>
            <a:r>
              <a:rPr lang="en-US" altLang="zh-CN" dirty="0"/>
              <a:t>0</a:t>
            </a:r>
            <a:r>
              <a:rPr lang="zh-CN" altLang="en-US" dirty="0"/>
              <a:t>；关系图中每个结点都没有回路。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      </a:t>
            </a:r>
            <a:r>
              <a:rPr lang="en-US" altLang="zh-CN" dirty="0"/>
              <a:t>4.   </a:t>
            </a:r>
            <a:r>
              <a:rPr lang="zh-CN" altLang="en-US" dirty="0"/>
              <a:t>反对称的：关系矩阵中以主对角线对称的元素不能同时为</a:t>
            </a:r>
            <a:r>
              <a:rPr lang="en-US" altLang="zh-CN" dirty="0"/>
              <a:t>1</a:t>
            </a:r>
            <a:r>
              <a:rPr lang="zh-CN" altLang="en-US" dirty="0"/>
              <a:t>；关系图中不同节点间的弧线，不能成对出现。 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6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6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6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F0378D-E856-4280-842A-4E73A361BD4D}" type="slidenum">
              <a:rPr lang="en-US" altLang="zh-CN"/>
              <a:pPr/>
              <a:t>59</a:t>
            </a:fld>
            <a:endParaRPr lang="en-US" altLang="zh-CN"/>
          </a:p>
        </p:txBody>
      </p:sp>
      <p:sp>
        <p:nvSpPr>
          <p:cNvPr id="513026" name="Rectangle 2"/>
          <p:cNvSpPr>
            <a:spLocks noRot="1" noChangeArrowheads="1"/>
          </p:cNvSpPr>
          <p:nvPr/>
        </p:nvSpPr>
        <p:spPr bwMode="auto">
          <a:xfrm>
            <a:off x="1187450" y="1268413"/>
            <a:ext cx="4953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lnSpc>
                <a:spcPct val="130000"/>
              </a:lnSpc>
              <a:buClr>
                <a:schemeClr val="folHlink"/>
              </a:buClr>
              <a:buSzPct val="60000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90600" indent="-533400">
              <a:lnSpc>
                <a:spcPct val="130000"/>
              </a:lnSpc>
              <a:buClr>
                <a:schemeClr val="hlink"/>
              </a:buClr>
              <a:buSzPct val="55000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lnSpc>
                <a:spcPct val="130000"/>
              </a:lnSpc>
              <a:buClr>
                <a:schemeClr val="folHlink"/>
              </a:buClr>
              <a:buSzPct val="50000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52600" indent="-381000">
              <a:lnSpc>
                <a:spcPct val="130000"/>
              </a:lnSpc>
              <a:buClr>
                <a:schemeClr val="accent2"/>
              </a:buClr>
              <a:buSzPct val="55000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09800" indent="-381000">
              <a:lnSpc>
                <a:spcPct val="130000"/>
              </a:lnSpc>
              <a:buClr>
                <a:schemeClr val="accent1"/>
              </a:buClr>
              <a:buSzPct val="50000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667000" indent="-3810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124200" indent="-3810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581400" indent="-3810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038600" indent="-38100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defRPr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0" hangingPunct="0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</a:rPr>
              <a:t>例</a:t>
            </a:r>
            <a:r>
              <a:rPr lang="en-US" altLang="zh-CN" sz="2400">
                <a:solidFill>
                  <a:schemeClr val="hlink"/>
                </a:solidFill>
              </a:rPr>
              <a:t>3</a:t>
            </a:r>
            <a:r>
              <a:rPr lang="zh-CN" altLang="en-US" sz="2400">
                <a:solidFill>
                  <a:schemeClr val="hlink"/>
                </a:solidFill>
              </a:rPr>
              <a:t>：</a:t>
            </a:r>
            <a:r>
              <a:rPr lang="zh-CN" altLang="en-US" sz="2400"/>
              <a:t>判断下图中关系的性质。</a:t>
            </a:r>
            <a:endParaRPr lang="zh-CN" altLang="en-US" sz="2400">
              <a:sym typeface="Wingdings" pitchFamily="2" charset="2"/>
            </a:endParaRPr>
          </a:p>
        </p:txBody>
      </p:sp>
      <p:grpSp>
        <p:nvGrpSpPr>
          <p:cNvPr id="513027" name="Group 3"/>
          <p:cNvGrpSpPr>
            <a:grpSpLocks/>
          </p:cNvGrpSpPr>
          <p:nvPr/>
        </p:nvGrpSpPr>
        <p:grpSpPr bwMode="auto">
          <a:xfrm>
            <a:off x="325438" y="1916113"/>
            <a:ext cx="2590800" cy="2514600"/>
            <a:chOff x="3024" y="768"/>
            <a:chExt cx="1632" cy="1584"/>
          </a:xfrm>
        </p:grpSpPr>
        <p:sp>
          <p:nvSpPr>
            <p:cNvPr id="513028" name="Freeform 4"/>
            <p:cNvSpPr>
              <a:spLocks/>
            </p:cNvSpPr>
            <p:nvPr/>
          </p:nvSpPr>
          <p:spPr bwMode="auto">
            <a:xfrm>
              <a:off x="3024" y="1258"/>
              <a:ext cx="664" cy="960"/>
            </a:xfrm>
            <a:custGeom>
              <a:avLst/>
              <a:gdLst>
                <a:gd name="T0" fmla="*/ 664 w 664"/>
                <a:gd name="T1" fmla="*/ 0 h 960"/>
                <a:gd name="T2" fmla="*/ 88 w 664"/>
                <a:gd name="T3" fmla="*/ 336 h 960"/>
                <a:gd name="T4" fmla="*/ 136 w 664"/>
                <a:gd name="T5" fmla="*/ 96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4" h="960">
                  <a:moveTo>
                    <a:pt x="664" y="0"/>
                  </a:moveTo>
                  <a:cubicBezTo>
                    <a:pt x="420" y="88"/>
                    <a:pt x="176" y="176"/>
                    <a:pt x="88" y="336"/>
                  </a:cubicBezTo>
                  <a:cubicBezTo>
                    <a:pt x="0" y="496"/>
                    <a:pt x="128" y="856"/>
                    <a:pt x="136" y="960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29" name="Oval 5"/>
            <p:cNvSpPr>
              <a:spLocks noChangeArrowheads="1"/>
            </p:cNvSpPr>
            <p:nvPr/>
          </p:nvSpPr>
          <p:spPr bwMode="auto">
            <a:xfrm>
              <a:off x="3448" y="768"/>
              <a:ext cx="480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030" name="Line 6"/>
            <p:cNvSpPr>
              <a:spLocks noChangeShapeType="1"/>
            </p:cNvSpPr>
            <p:nvPr/>
          </p:nvSpPr>
          <p:spPr bwMode="auto">
            <a:xfrm flipV="1">
              <a:off x="3928" y="877"/>
              <a:ext cx="0" cy="1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31" name="Line 7"/>
            <p:cNvSpPr>
              <a:spLocks noChangeShapeType="1"/>
            </p:cNvSpPr>
            <p:nvPr/>
          </p:nvSpPr>
          <p:spPr bwMode="auto">
            <a:xfrm flipH="1">
              <a:off x="3160" y="1380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32" name="Freeform 8"/>
            <p:cNvSpPr>
              <a:spLocks/>
            </p:cNvSpPr>
            <p:nvPr/>
          </p:nvSpPr>
          <p:spPr bwMode="auto">
            <a:xfrm>
              <a:off x="3688" y="1306"/>
              <a:ext cx="568" cy="912"/>
            </a:xfrm>
            <a:custGeom>
              <a:avLst/>
              <a:gdLst>
                <a:gd name="T0" fmla="*/ 0 w 568"/>
                <a:gd name="T1" fmla="*/ 0 h 912"/>
                <a:gd name="T2" fmla="*/ 480 w 568"/>
                <a:gd name="T3" fmla="*/ 240 h 912"/>
                <a:gd name="T4" fmla="*/ 528 w 568"/>
                <a:gd name="T5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8" h="912">
                  <a:moveTo>
                    <a:pt x="0" y="0"/>
                  </a:moveTo>
                  <a:cubicBezTo>
                    <a:pt x="196" y="44"/>
                    <a:pt x="392" y="88"/>
                    <a:pt x="480" y="240"/>
                  </a:cubicBezTo>
                  <a:cubicBezTo>
                    <a:pt x="568" y="392"/>
                    <a:pt x="520" y="800"/>
                    <a:pt x="528" y="912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33" name="Line 9"/>
            <p:cNvSpPr>
              <a:spLocks noChangeShapeType="1"/>
            </p:cNvSpPr>
            <p:nvPr/>
          </p:nvSpPr>
          <p:spPr bwMode="auto">
            <a:xfrm>
              <a:off x="4179" y="1561"/>
              <a:ext cx="48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34" name="Text Box 10"/>
            <p:cNvSpPr txBox="1">
              <a:spLocks noChangeArrowheads="1"/>
            </p:cNvSpPr>
            <p:nvPr/>
          </p:nvSpPr>
          <p:spPr bwMode="auto">
            <a:xfrm>
              <a:off x="3600" y="1057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1</a:t>
              </a:r>
            </a:p>
          </p:txBody>
        </p:sp>
        <p:sp>
          <p:nvSpPr>
            <p:cNvPr id="513035" name="Text Box 11"/>
            <p:cNvSpPr txBox="1">
              <a:spLocks noChangeArrowheads="1"/>
            </p:cNvSpPr>
            <p:nvPr/>
          </p:nvSpPr>
          <p:spPr bwMode="auto">
            <a:xfrm>
              <a:off x="3072" y="2025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2</a:t>
              </a:r>
            </a:p>
          </p:txBody>
        </p:sp>
        <p:sp>
          <p:nvSpPr>
            <p:cNvPr id="513036" name="Text Box 12"/>
            <p:cNvSpPr txBox="1">
              <a:spLocks noChangeArrowheads="1"/>
            </p:cNvSpPr>
            <p:nvPr/>
          </p:nvSpPr>
          <p:spPr bwMode="auto">
            <a:xfrm>
              <a:off x="4080" y="2016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3</a:t>
              </a:r>
            </a:p>
          </p:txBody>
        </p:sp>
        <p:sp>
          <p:nvSpPr>
            <p:cNvPr id="513037" name="Line 13"/>
            <p:cNvSpPr>
              <a:spLocks noChangeShapeType="1"/>
            </p:cNvSpPr>
            <p:nvPr/>
          </p:nvSpPr>
          <p:spPr bwMode="auto">
            <a:xfrm flipV="1">
              <a:off x="3168" y="1296"/>
              <a:ext cx="528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38" name="Line 14"/>
            <p:cNvSpPr>
              <a:spLocks noChangeShapeType="1"/>
            </p:cNvSpPr>
            <p:nvPr/>
          </p:nvSpPr>
          <p:spPr bwMode="auto">
            <a:xfrm flipH="1" flipV="1">
              <a:off x="3720" y="1295"/>
              <a:ext cx="456" cy="9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3039" name="Group 15"/>
          <p:cNvGrpSpPr>
            <a:grpSpLocks/>
          </p:cNvGrpSpPr>
          <p:nvPr/>
        </p:nvGrpSpPr>
        <p:grpSpPr bwMode="auto">
          <a:xfrm>
            <a:off x="5675313" y="1825625"/>
            <a:ext cx="3217862" cy="2755900"/>
            <a:chOff x="3264" y="1632"/>
            <a:chExt cx="2027" cy="1736"/>
          </a:xfrm>
        </p:grpSpPr>
        <p:sp>
          <p:nvSpPr>
            <p:cNvPr id="513040" name="Oval 16"/>
            <p:cNvSpPr>
              <a:spLocks noChangeArrowheads="1"/>
            </p:cNvSpPr>
            <p:nvPr/>
          </p:nvSpPr>
          <p:spPr bwMode="auto">
            <a:xfrm>
              <a:off x="4024" y="1632"/>
              <a:ext cx="480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041" name="Line 17"/>
            <p:cNvSpPr>
              <a:spLocks noChangeShapeType="1"/>
            </p:cNvSpPr>
            <p:nvPr/>
          </p:nvSpPr>
          <p:spPr bwMode="auto">
            <a:xfrm flipV="1">
              <a:off x="4504" y="1741"/>
              <a:ext cx="0" cy="1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42" name="Text Box 18"/>
            <p:cNvSpPr txBox="1">
              <a:spLocks noChangeArrowheads="1"/>
            </p:cNvSpPr>
            <p:nvPr/>
          </p:nvSpPr>
          <p:spPr bwMode="auto">
            <a:xfrm>
              <a:off x="4176" y="1921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1</a:t>
              </a:r>
            </a:p>
          </p:txBody>
        </p:sp>
        <p:sp>
          <p:nvSpPr>
            <p:cNvPr id="513043" name="Text Box 19"/>
            <p:cNvSpPr txBox="1">
              <a:spLocks noChangeArrowheads="1"/>
            </p:cNvSpPr>
            <p:nvPr/>
          </p:nvSpPr>
          <p:spPr bwMode="auto">
            <a:xfrm>
              <a:off x="3648" y="2889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2</a:t>
              </a:r>
            </a:p>
          </p:txBody>
        </p:sp>
        <p:sp>
          <p:nvSpPr>
            <p:cNvPr id="513044" name="Text Box 20"/>
            <p:cNvSpPr txBox="1">
              <a:spLocks noChangeArrowheads="1"/>
            </p:cNvSpPr>
            <p:nvPr/>
          </p:nvSpPr>
          <p:spPr bwMode="auto">
            <a:xfrm>
              <a:off x="4656" y="2880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3</a:t>
              </a:r>
            </a:p>
          </p:txBody>
        </p:sp>
        <p:sp>
          <p:nvSpPr>
            <p:cNvPr id="513045" name="Line 21"/>
            <p:cNvSpPr>
              <a:spLocks noChangeShapeType="1"/>
            </p:cNvSpPr>
            <p:nvPr/>
          </p:nvSpPr>
          <p:spPr bwMode="auto">
            <a:xfrm flipV="1">
              <a:off x="3744" y="2160"/>
              <a:ext cx="528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46" name="Oval 22"/>
            <p:cNvSpPr>
              <a:spLocks noChangeArrowheads="1"/>
            </p:cNvSpPr>
            <p:nvPr/>
          </p:nvSpPr>
          <p:spPr bwMode="auto">
            <a:xfrm>
              <a:off x="3264" y="2861"/>
              <a:ext cx="480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047" name="Oval 23"/>
            <p:cNvSpPr>
              <a:spLocks noChangeArrowheads="1"/>
            </p:cNvSpPr>
            <p:nvPr/>
          </p:nvSpPr>
          <p:spPr bwMode="auto">
            <a:xfrm>
              <a:off x="4811" y="2888"/>
              <a:ext cx="480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048" name="Line 24"/>
            <p:cNvSpPr>
              <a:spLocks noChangeShapeType="1"/>
            </p:cNvSpPr>
            <p:nvPr/>
          </p:nvSpPr>
          <p:spPr bwMode="auto">
            <a:xfrm>
              <a:off x="4320" y="2160"/>
              <a:ext cx="432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49" name="Line 25"/>
            <p:cNvSpPr>
              <a:spLocks noChangeShapeType="1"/>
            </p:cNvSpPr>
            <p:nvPr/>
          </p:nvSpPr>
          <p:spPr bwMode="auto">
            <a:xfrm flipH="1">
              <a:off x="3792" y="3120"/>
              <a:ext cx="9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50" name="Line 26"/>
            <p:cNvSpPr>
              <a:spLocks noChangeShapeType="1"/>
            </p:cNvSpPr>
            <p:nvPr/>
          </p:nvSpPr>
          <p:spPr bwMode="auto">
            <a:xfrm flipV="1">
              <a:off x="3264" y="2980"/>
              <a:ext cx="15" cy="1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51" name="Line 27"/>
            <p:cNvSpPr>
              <a:spLocks noChangeShapeType="1"/>
            </p:cNvSpPr>
            <p:nvPr/>
          </p:nvSpPr>
          <p:spPr bwMode="auto">
            <a:xfrm>
              <a:off x="5269" y="2984"/>
              <a:ext cx="11" cy="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3052" name="Group 28"/>
          <p:cNvGrpSpPr>
            <a:grpSpLocks/>
          </p:cNvGrpSpPr>
          <p:nvPr/>
        </p:nvGrpSpPr>
        <p:grpSpPr bwMode="auto">
          <a:xfrm>
            <a:off x="3065463" y="2349500"/>
            <a:ext cx="2514600" cy="2055813"/>
            <a:chOff x="2688" y="1297"/>
            <a:chExt cx="1584" cy="1295"/>
          </a:xfrm>
        </p:grpSpPr>
        <p:sp>
          <p:nvSpPr>
            <p:cNvPr id="513053" name="Line 29"/>
            <p:cNvSpPr>
              <a:spLocks noChangeShapeType="1"/>
            </p:cNvSpPr>
            <p:nvPr/>
          </p:nvSpPr>
          <p:spPr bwMode="auto">
            <a:xfrm flipH="1">
              <a:off x="2776" y="1546"/>
              <a:ext cx="528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54" name="Line 30"/>
            <p:cNvSpPr>
              <a:spLocks noChangeShapeType="1"/>
            </p:cNvSpPr>
            <p:nvPr/>
          </p:nvSpPr>
          <p:spPr bwMode="auto">
            <a:xfrm>
              <a:off x="3304" y="1546"/>
              <a:ext cx="528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55" name="Text Box 31"/>
            <p:cNvSpPr txBox="1">
              <a:spLocks noChangeArrowheads="1"/>
            </p:cNvSpPr>
            <p:nvPr/>
          </p:nvSpPr>
          <p:spPr bwMode="auto">
            <a:xfrm>
              <a:off x="3216" y="1297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1</a:t>
              </a:r>
            </a:p>
          </p:txBody>
        </p:sp>
        <p:sp>
          <p:nvSpPr>
            <p:cNvPr id="513056" name="Text Box 32"/>
            <p:cNvSpPr txBox="1">
              <a:spLocks noChangeArrowheads="1"/>
            </p:cNvSpPr>
            <p:nvPr/>
          </p:nvSpPr>
          <p:spPr bwMode="auto">
            <a:xfrm>
              <a:off x="2688" y="2265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2</a:t>
              </a:r>
            </a:p>
          </p:txBody>
        </p:sp>
        <p:sp>
          <p:nvSpPr>
            <p:cNvPr id="513057" name="Text Box 33"/>
            <p:cNvSpPr txBox="1">
              <a:spLocks noChangeArrowheads="1"/>
            </p:cNvSpPr>
            <p:nvPr/>
          </p:nvSpPr>
          <p:spPr bwMode="auto">
            <a:xfrm>
              <a:off x="3696" y="2256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0" lang="zh-CN" altLang="en-US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。</a:t>
              </a:r>
              <a:r>
                <a:rPr kumimoji="0" lang="en-US" altLang="zh-CN" sz="2800">
                  <a:solidFill>
                    <a:srgbClr val="FF3399"/>
                  </a:solidFill>
                  <a:latin typeface="黑体" pitchFamily="49" charset="-122"/>
                  <a:ea typeface="黑体" pitchFamily="49" charset="-122"/>
                </a:rPr>
                <a:t>3</a:t>
              </a:r>
            </a:p>
          </p:txBody>
        </p:sp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DF7B91-C2A7-424C-AAB9-3CD968BC9FD3}" type="slidenum">
              <a:rPr lang="en-US" altLang="zh-CN"/>
              <a:pPr/>
              <a:t>60</a:t>
            </a:fld>
            <a:endParaRPr lang="en-US" altLang="zh-CN"/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422275"/>
            <a:ext cx="6911975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3-7 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复合关系和关系的逆</a:t>
            </a:r>
          </a:p>
        </p:txBody>
      </p:sp>
      <p:sp>
        <p:nvSpPr>
          <p:cNvPr id="475139" name="Rectangle 3"/>
          <p:cNvSpPr>
            <a:spLocks noChangeArrowheads="1"/>
          </p:cNvSpPr>
          <p:nvPr/>
        </p:nvSpPr>
        <p:spPr bwMode="auto">
          <a:xfrm>
            <a:off x="1331913" y="1638300"/>
            <a:ext cx="54721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一、复合关系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二、关系的逆运算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849B1E-3E81-4434-AA9B-4FA7B91E15C2}" type="slidenum">
              <a:rPr lang="en-US" altLang="zh-CN"/>
              <a:pPr/>
              <a:t>61</a:t>
            </a:fld>
            <a:endParaRPr lang="en-US" altLang="zh-CN"/>
          </a:p>
        </p:txBody>
      </p:sp>
      <p:sp>
        <p:nvSpPr>
          <p:cNvPr id="476162" name="Rectangle 2"/>
          <p:cNvSpPr>
            <a:spLocks noChangeArrowheads="1"/>
          </p:cNvSpPr>
          <p:nvPr/>
        </p:nvSpPr>
        <p:spPr bwMode="auto">
          <a:xfrm>
            <a:off x="395288" y="1381125"/>
            <a:ext cx="83534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3-7.1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为</a:t>
            </a:r>
            <a:r>
              <a:rPr lang="en-US" altLang="zh-CN"/>
              <a:t>X</a:t>
            </a:r>
            <a:r>
              <a:rPr lang="zh-CN" altLang="en-US"/>
              <a:t>到</a:t>
            </a:r>
            <a:r>
              <a:rPr lang="en-US" altLang="zh-CN"/>
              <a:t>Y</a:t>
            </a:r>
            <a:r>
              <a:rPr lang="zh-CN" altLang="en-US"/>
              <a:t>的关系，</a:t>
            </a:r>
            <a:r>
              <a:rPr lang="en-US" altLang="zh-CN"/>
              <a:t>S</a:t>
            </a:r>
            <a:r>
              <a:rPr lang="zh-CN" altLang="en-US"/>
              <a:t>为从</a:t>
            </a:r>
            <a:r>
              <a:rPr lang="en-US" altLang="zh-CN"/>
              <a:t>Y</a:t>
            </a:r>
            <a:r>
              <a:rPr lang="zh-CN" altLang="en-US"/>
              <a:t>到</a:t>
            </a:r>
            <a:r>
              <a:rPr lang="en-US" altLang="zh-CN"/>
              <a:t>Z</a:t>
            </a:r>
            <a:r>
              <a:rPr lang="zh-CN" altLang="en-US"/>
              <a:t>的关系，则</a:t>
            </a: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S</a:t>
            </a:r>
            <a:r>
              <a:rPr lang="zh-CN" altLang="en-US"/>
              <a:t>称为</a:t>
            </a:r>
            <a:r>
              <a:rPr lang="en-US" altLang="zh-CN"/>
              <a:t>R</a:t>
            </a:r>
            <a:r>
              <a:rPr lang="zh-CN" altLang="en-US"/>
              <a:t>和</a:t>
            </a:r>
            <a:r>
              <a:rPr lang="en-US" altLang="zh-CN"/>
              <a:t>S</a:t>
            </a:r>
            <a:r>
              <a:rPr lang="zh-CN" altLang="en-US"/>
              <a:t>的复合关系，表示为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S={&lt;x,z&gt;|x∈X∧z∈Z∧(</a:t>
            </a:r>
            <a:r>
              <a:rPr kumimoji="0" lang="en-US" altLang="zh-CN">
                <a:sym typeface="Symbol" pitchFamily="18" charset="2"/>
              </a:rPr>
              <a:t></a:t>
            </a:r>
            <a:r>
              <a:rPr lang="en-US" altLang="zh-CN"/>
              <a:t>y)(y∈Y∧&lt;x,y&gt;∈R∧&lt;y,z&gt;∈S)}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从</a:t>
            </a:r>
            <a:r>
              <a:rPr lang="en-US" altLang="zh-CN"/>
              <a:t>R</a:t>
            </a:r>
            <a:r>
              <a:rPr lang="zh-CN" altLang="en-US"/>
              <a:t>和</a:t>
            </a:r>
            <a:r>
              <a:rPr lang="en-US" altLang="zh-CN"/>
              <a:t>S</a:t>
            </a:r>
            <a:r>
              <a:rPr lang="zh-CN" altLang="en-US"/>
              <a:t>，求</a:t>
            </a: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S</a:t>
            </a:r>
            <a:r>
              <a:rPr lang="zh-CN" altLang="en-US"/>
              <a:t>称为关系的</a:t>
            </a:r>
            <a:r>
              <a:rPr lang="zh-CN" altLang="en-US">
                <a:solidFill>
                  <a:schemeClr val="hlink"/>
                </a:solidFill>
              </a:rPr>
              <a:t>合成运算</a:t>
            </a:r>
            <a:r>
              <a:rPr lang="zh-CN" altLang="en-US"/>
              <a:t>。</a:t>
            </a:r>
          </a:p>
        </p:txBody>
      </p:sp>
      <p:sp>
        <p:nvSpPr>
          <p:cNvPr id="476163" name="Rectangle 3"/>
          <p:cNvSpPr>
            <a:spLocks noChangeArrowheads="1"/>
          </p:cNvSpPr>
          <p:nvPr/>
        </p:nvSpPr>
        <p:spPr bwMode="auto">
          <a:xfrm>
            <a:off x="1116013" y="476250"/>
            <a:ext cx="3168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一、复合关系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6AF1AF-8197-46E2-B55F-370CD033C964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611188" y="1341438"/>
            <a:ext cx="8208962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令</a:t>
            </a:r>
            <a:r>
              <a:rPr lang="en-US" altLang="zh-CN"/>
              <a:t>R={&lt;1, 3&gt;, &lt;2, 3&gt;}</a:t>
            </a:r>
            <a:r>
              <a:rPr lang="zh-CN" altLang="en-US"/>
              <a:t>，</a:t>
            </a:r>
            <a:r>
              <a:rPr lang="en-US" altLang="zh-CN"/>
              <a:t>S={&lt;3, 1&gt;}</a:t>
            </a:r>
            <a:r>
              <a:rPr lang="zh-CN" altLang="en-US"/>
              <a:t>，则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   </a:t>
            </a:r>
            <a:r>
              <a:rPr lang="en-US" altLang="zh-CN"/>
              <a:t>S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R={&lt;3,3&gt;}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   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S={&lt;1,1&gt;,&lt;2,1&gt;}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   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(S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R)={&lt;1,3&gt;,&lt;2,3&gt;}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   (R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S)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R={&lt;1,3&gt;,&lt;2,3&gt;}</a:t>
            </a:r>
            <a:endParaRPr kumimoji="0" lang="en-US" altLang="zh-CN"/>
          </a:p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/>
              <a:t>复合关系不满足交换律；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/>
              <a:t>复合关系满足结合律，若</a:t>
            </a:r>
            <a:r>
              <a:rPr kumimoji="0" lang="en-US" altLang="zh-CN"/>
              <a:t>R</a:t>
            </a:r>
            <a:r>
              <a:rPr kumimoji="0" lang="zh-CN" altLang="en-US"/>
              <a:t>是从</a:t>
            </a:r>
            <a:r>
              <a:rPr kumimoji="0" lang="en-US" altLang="zh-CN"/>
              <a:t>X</a:t>
            </a:r>
            <a:r>
              <a:rPr kumimoji="0" lang="zh-CN" altLang="en-US"/>
              <a:t>到</a:t>
            </a:r>
            <a:r>
              <a:rPr kumimoji="0" lang="en-US" altLang="zh-CN"/>
              <a:t>Y</a:t>
            </a:r>
            <a:r>
              <a:rPr kumimoji="0" lang="zh-CN" altLang="en-US"/>
              <a:t>的关系，</a:t>
            </a:r>
            <a:r>
              <a:rPr kumimoji="0" lang="en-US" altLang="zh-CN"/>
              <a:t>S</a:t>
            </a:r>
            <a:r>
              <a:rPr kumimoji="0" lang="zh-CN" altLang="en-US"/>
              <a:t>是从</a:t>
            </a:r>
            <a:r>
              <a:rPr kumimoji="0" lang="en-US" altLang="zh-CN"/>
              <a:t>Y</a:t>
            </a:r>
            <a:r>
              <a:rPr kumimoji="0" lang="zh-CN" altLang="en-US"/>
              <a:t>到</a:t>
            </a:r>
            <a:r>
              <a:rPr kumimoji="0" lang="en-US" altLang="zh-CN"/>
              <a:t>Z</a:t>
            </a:r>
            <a:r>
              <a:rPr kumimoji="0" lang="zh-CN" altLang="en-US"/>
              <a:t>的关系，</a:t>
            </a:r>
            <a:r>
              <a:rPr kumimoji="0" lang="en-US" altLang="zh-CN"/>
              <a:t>P</a:t>
            </a:r>
            <a:r>
              <a:rPr kumimoji="0" lang="zh-CN" altLang="en-US"/>
              <a:t>是从</a:t>
            </a:r>
            <a:r>
              <a:rPr kumimoji="0" lang="en-US" altLang="zh-CN"/>
              <a:t>Z</a:t>
            </a:r>
            <a:r>
              <a:rPr kumimoji="0" lang="zh-CN" altLang="en-US"/>
              <a:t>到</a:t>
            </a:r>
            <a:r>
              <a:rPr kumimoji="0" lang="en-US" altLang="zh-CN"/>
              <a:t>W</a:t>
            </a:r>
            <a:r>
              <a:rPr kumimoji="0" lang="zh-CN" altLang="en-US"/>
              <a:t>的关系，则</a:t>
            </a:r>
            <a:r>
              <a:rPr kumimoji="0"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(S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P)=(R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S)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P</a:t>
            </a:r>
            <a:r>
              <a:rPr lang="zh-CN" altLang="en-US"/>
              <a:t>；</a:t>
            </a:r>
          </a:p>
          <a:p>
            <a:pPr algn="just">
              <a:lnSpc>
                <a:spcPct val="130000"/>
              </a:lnSpc>
              <a:buClr>
                <a:schemeClr val="hlink"/>
              </a:buClr>
            </a:pPr>
            <a:r>
              <a:rPr lang="zh-CN" altLang="en-US"/>
              <a:t>特别地，</a:t>
            </a: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(R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R)=(R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R)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R=R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R=R</a:t>
            </a:r>
            <a:r>
              <a:rPr lang="en-US" altLang="zh-CN" baseline="30000"/>
              <a:t>3</a:t>
            </a:r>
          </a:p>
        </p:txBody>
      </p:sp>
      <p:sp>
        <p:nvSpPr>
          <p:cNvPr id="219142" name="AutoShape 6"/>
          <p:cNvSpPr>
            <a:spLocks noChangeArrowheads="1"/>
          </p:cNvSpPr>
          <p:nvPr/>
        </p:nvSpPr>
        <p:spPr bwMode="auto">
          <a:xfrm>
            <a:off x="5795963" y="1917700"/>
            <a:ext cx="2057400" cy="457200"/>
          </a:xfrm>
          <a:prstGeom prst="wedgeRectCallout">
            <a:avLst>
              <a:gd name="adj1" fmla="val -124847"/>
              <a:gd name="adj2" fmla="val 46181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buClrTx/>
              <a:buFontTx/>
              <a:buNone/>
            </a:pPr>
            <a:r>
              <a:rPr kumimoji="0" lang="en-US" altLang="zh-CN" sz="2000">
                <a:solidFill>
                  <a:srgbClr val="FFFF66"/>
                </a:solidFill>
                <a:latin typeface="Arial" charset="0"/>
                <a:cs typeface="Arial" charset="0"/>
              </a:rPr>
              <a:t>◦</a:t>
            </a:r>
            <a:r>
              <a:rPr kumimoji="0" lang="zh-CN" altLang="en-US" sz="2000">
                <a:solidFill>
                  <a:srgbClr val="FFFF66"/>
                </a:solidFill>
                <a:latin typeface="Arial" charset="0"/>
              </a:rPr>
              <a:t>不符合交换律</a:t>
            </a:r>
          </a:p>
        </p:txBody>
      </p:sp>
      <p:sp>
        <p:nvSpPr>
          <p:cNvPr id="219143" name="AutoShape 7"/>
          <p:cNvSpPr>
            <a:spLocks noChangeArrowheads="1"/>
          </p:cNvSpPr>
          <p:nvPr/>
        </p:nvSpPr>
        <p:spPr bwMode="auto">
          <a:xfrm>
            <a:off x="6443663" y="2852738"/>
            <a:ext cx="2057400" cy="457200"/>
          </a:xfrm>
          <a:prstGeom prst="wedgeRectCallout">
            <a:avLst>
              <a:gd name="adj1" fmla="val -134875"/>
              <a:gd name="adj2" fmla="val 86806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buClrTx/>
              <a:buFontTx/>
              <a:buNone/>
            </a:pPr>
            <a:r>
              <a:rPr kumimoji="0" lang="en-US" altLang="zh-CN" sz="2000">
                <a:solidFill>
                  <a:srgbClr val="FFFF66"/>
                </a:solidFill>
                <a:latin typeface="Arial" charset="0"/>
                <a:cs typeface="Arial" charset="0"/>
              </a:rPr>
              <a:t>◦</a:t>
            </a:r>
            <a:r>
              <a:rPr kumimoji="0" lang="zh-CN" altLang="en-US" sz="2000">
                <a:solidFill>
                  <a:srgbClr val="FFFF66"/>
                </a:solidFill>
                <a:latin typeface="Arial" charset="0"/>
              </a:rPr>
              <a:t>符合结合律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2" grpId="0" animBg="1"/>
      <p:bldP spid="21914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C7890D-682B-4193-A3FB-8A53A1ED4307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220162" name="Rectangle 2"/>
          <p:cNvSpPr>
            <a:spLocks noChangeArrowheads="1"/>
          </p:cNvSpPr>
          <p:nvPr/>
        </p:nvSpPr>
        <p:spPr bwMode="auto">
          <a:xfrm>
            <a:off x="468313" y="1341438"/>
            <a:ext cx="7921625" cy="341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/>
              <a:t>复合关系</a:t>
            </a: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S</a:t>
            </a:r>
            <a:r>
              <a:rPr lang="zh-CN" altLang="en-US"/>
              <a:t>的矩阵表示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设</a:t>
            </a:r>
            <a:r>
              <a:rPr lang="en-US" altLang="zh-CN"/>
              <a:t>R</a:t>
            </a:r>
            <a:r>
              <a:rPr lang="zh-CN" altLang="en-US"/>
              <a:t>是从集合</a:t>
            </a:r>
            <a:r>
              <a:rPr lang="en-US" altLang="zh-CN"/>
              <a:t>X={x</a:t>
            </a:r>
            <a:r>
              <a:rPr lang="en-US" altLang="zh-CN" baseline="-25000"/>
              <a:t>1</a:t>
            </a:r>
            <a:r>
              <a:rPr lang="en-US" altLang="zh-CN"/>
              <a:t>, x</a:t>
            </a:r>
            <a:r>
              <a:rPr lang="en-US" altLang="zh-CN" baseline="-25000"/>
              <a:t>2</a:t>
            </a:r>
            <a:r>
              <a:rPr lang="en-US" altLang="zh-CN"/>
              <a:t>, …, x</a:t>
            </a:r>
            <a:r>
              <a:rPr lang="en-US" altLang="zh-CN" baseline="-25000"/>
              <a:t>m</a:t>
            </a:r>
            <a:r>
              <a:rPr lang="en-US" altLang="zh-CN"/>
              <a:t>}</a:t>
            </a:r>
            <a:r>
              <a:rPr lang="zh-CN" altLang="en-US"/>
              <a:t>到集合</a:t>
            </a:r>
            <a:r>
              <a:rPr lang="en-US" altLang="zh-CN"/>
              <a:t>Y={y</a:t>
            </a:r>
            <a:r>
              <a:rPr lang="en-US" altLang="zh-CN" baseline="-25000"/>
              <a:t>1</a:t>
            </a:r>
            <a:r>
              <a:rPr lang="en-US" altLang="zh-CN"/>
              <a:t>, y</a:t>
            </a:r>
            <a:r>
              <a:rPr lang="en-US" altLang="zh-CN" baseline="-25000"/>
              <a:t>2</a:t>
            </a:r>
            <a:r>
              <a:rPr lang="en-US" altLang="zh-CN"/>
              <a:t>, …, y</a:t>
            </a:r>
            <a:r>
              <a:rPr lang="en-US" altLang="zh-CN" baseline="-25000"/>
              <a:t>n</a:t>
            </a:r>
            <a:r>
              <a:rPr lang="en-US" altLang="zh-CN"/>
              <a:t>}</a:t>
            </a:r>
            <a:r>
              <a:rPr lang="zh-CN" altLang="en-US"/>
              <a:t>的关系，其对应的矩阵为</a:t>
            </a:r>
            <a:r>
              <a:rPr lang="en-US" altLang="zh-CN"/>
              <a:t>M</a:t>
            </a:r>
            <a:r>
              <a:rPr lang="en-US" altLang="zh-CN" baseline="-25000"/>
              <a:t>R</a:t>
            </a:r>
            <a:r>
              <a:rPr lang="en-US" altLang="zh-CN"/>
              <a:t>=(r</a:t>
            </a:r>
            <a:r>
              <a:rPr lang="en-US" altLang="zh-CN" baseline="-25000"/>
              <a:t>ij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S</a:t>
            </a:r>
            <a:r>
              <a:rPr lang="zh-CN" altLang="en-US"/>
              <a:t>是从集合</a:t>
            </a:r>
            <a:r>
              <a:rPr lang="en-US" altLang="zh-CN"/>
              <a:t>Y={y</a:t>
            </a:r>
            <a:r>
              <a:rPr lang="en-US" altLang="zh-CN" baseline="-25000"/>
              <a:t>1</a:t>
            </a:r>
            <a:r>
              <a:rPr lang="en-US" altLang="zh-CN"/>
              <a:t>, y</a:t>
            </a:r>
            <a:r>
              <a:rPr lang="en-US" altLang="zh-CN" baseline="-25000"/>
              <a:t>2</a:t>
            </a:r>
            <a:r>
              <a:rPr lang="en-US" altLang="zh-CN"/>
              <a:t>, …, y</a:t>
            </a:r>
            <a:r>
              <a:rPr lang="en-US" altLang="zh-CN" baseline="-25000"/>
              <a:t>n</a:t>
            </a:r>
            <a:r>
              <a:rPr lang="en-US" altLang="zh-CN"/>
              <a:t>}</a:t>
            </a:r>
            <a:r>
              <a:rPr lang="zh-CN" altLang="en-US"/>
              <a:t>到集合</a:t>
            </a:r>
            <a:r>
              <a:rPr lang="en-US" altLang="zh-CN"/>
              <a:t>Z={z</a:t>
            </a:r>
            <a:r>
              <a:rPr lang="en-US" altLang="zh-CN" baseline="-25000"/>
              <a:t>1</a:t>
            </a:r>
            <a:r>
              <a:rPr lang="en-US" altLang="zh-CN"/>
              <a:t>, z</a:t>
            </a:r>
            <a:r>
              <a:rPr lang="en-US" altLang="zh-CN" baseline="-25000"/>
              <a:t>2</a:t>
            </a:r>
            <a:r>
              <a:rPr lang="en-US" altLang="zh-CN"/>
              <a:t>, …, z</a:t>
            </a:r>
            <a:r>
              <a:rPr lang="en-US" altLang="zh-CN" baseline="-25000"/>
              <a:t>p</a:t>
            </a:r>
            <a:r>
              <a:rPr lang="en-US" altLang="zh-CN"/>
              <a:t>}</a:t>
            </a:r>
            <a:r>
              <a:rPr lang="zh-CN" altLang="en-US"/>
              <a:t>的关系，其对应的矩阵为</a:t>
            </a:r>
            <a:r>
              <a:rPr lang="en-US" altLang="zh-CN"/>
              <a:t>M</a:t>
            </a:r>
            <a:r>
              <a:rPr lang="en-US" altLang="zh-CN" baseline="-25000"/>
              <a:t>S</a:t>
            </a:r>
            <a:r>
              <a:rPr lang="en-US" altLang="zh-CN"/>
              <a:t>=(s</a:t>
            </a:r>
            <a:r>
              <a:rPr lang="en-US" altLang="zh-CN" baseline="-25000"/>
              <a:t>ij</a:t>
            </a:r>
            <a:r>
              <a:rPr lang="en-US" altLang="zh-CN"/>
              <a:t>)</a:t>
            </a:r>
            <a:r>
              <a:rPr lang="en-US" altLang="zh-CN" baseline="-25000"/>
              <a:t> </a:t>
            </a:r>
            <a:r>
              <a:rPr lang="zh-CN" altLang="en-US"/>
              <a:t>，则记</a:t>
            </a:r>
            <a:r>
              <a:rPr lang="en-US" altLang="zh-CN"/>
              <a:t>M</a:t>
            </a:r>
            <a:r>
              <a:rPr lang="en-US" altLang="zh-CN" baseline="-25000"/>
              <a:t>R</a:t>
            </a:r>
            <a:r>
              <a:rPr lang="en-US" altLang="zh-CN" baseline="-25000">
                <a:cs typeface="Times New Roman" pitchFamily="18" charset="0"/>
              </a:rPr>
              <a:t>◦</a:t>
            </a:r>
            <a:r>
              <a:rPr lang="en-US" altLang="zh-CN" baseline="-25000"/>
              <a:t>S</a:t>
            </a:r>
            <a:r>
              <a:rPr lang="en-US" altLang="zh-CN"/>
              <a:t>=M</a:t>
            </a:r>
            <a:r>
              <a:rPr lang="en-US" altLang="zh-CN" baseline="-25000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M</a:t>
            </a:r>
            <a:r>
              <a:rPr lang="en-US" altLang="zh-CN" baseline="-25000"/>
              <a:t>S</a:t>
            </a:r>
            <a:r>
              <a:rPr lang="en-US" altLang="zh-CN"/>
              <a:t>=(</a:t>
            </a:r>
            <a:r>
              <a:rPr lang="en-US" altLang="zh-CN" i="1"/>
              <a:t>w</a:t>
            </a:r>
            <a:r>
              <a:rPr lang="en-US" altLang="zh-CN" baseline="-25000"/>
              <a:t>ik</a:t>
            </a:r>
            <a:r>
              <a:rPr lang="en-US" altLang="zh-CN"/>
              <a:t>)</a:t>
            </a:r>
            <a:r>
              <a:rPr lang="zh-CN" altLang="en-US"/>
              <a:t>，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endParaRPr lang="zh-CN" altLang="en-US"/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其中</a:t>
            </a:r>
          </a:p>
        </p:txBody>
      </p:sp>
      <p:sp>
        <p:nvSpPr>
          <p:cNvPr id="220166" name="Rectangle 6"/>
          <p:cNvSpPr>
            <a:spLocks noChangeArrowheads="1"/>
          </p:cNvSpPr>
          <p:nvPr/>
        </p:nvSpPr>
        <p:spPr bwMode="auto">
          <a:xfrm>
            <a:off x="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0165" name="Object 5"/>
          <p:cNvGraphicFramePr>
            <a:graphicFrameLocks noChangeAspect="1"/>
          </p:cNvGraphicFramePr>
          <p:nvPr/>
        </p:nvGraphicFramePr>
        <p:xfrm>
          <a:off x="1547813" y="4121150"/>
          <a:ext cx="21272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62" name="Equation" r:id="rId3" imgW="2120760" imgH="698400" progId="Equation.DSMT4">
                  <p:embed/>
                </p:oleObj>
              </mc:Choice>
              <mc:Fallback>
                <p:oleObj name="Equation" r:id="rId3" imgW="2120760" imgH="69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121150"/>
                        <a:ext cx="212725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74B3DC-4CAB-4094-9BC3-4351B95E2C6F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417797" name="Rectangle 5"/>
          <p:cNvSpPr>
            <a:spLocks noChangeArrowheads="1"/>
          </p:cNvSpPr>
          <p:nvPr/>
        </p:nvSpPr>
        <p:spPr bwMode="auto">
          <a:xfrm>
            <a:off x="539750" y="1268413"/>
            <a:ext cx="8097838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给定集合</a:t>
            </a:r>
            <a:r>
              <a:rPr lang="en-US" altLang="zh-CN"/>
              <a:t>A={1, 2, 3, 4, 5}</a:t>
            </a:r>
            <a:r>
              <a:rPr lang="zh-CN" altLang="en-US"/>
              <a:t>，在集合</a:t>
            </a:r>
            <a:r>
              <a:rPr lang="en-US" altLang="zh-CN"/>
              <a:t>A</a:t>
            </a:r>
            <a:r>
              <a:rPr lang="zh-CN" altLang="en-US"/>
              <a:t>上定义两种关系。</a:t>
            </a:r>
            <a:r>
              <a:rPr lang="en-US" altLang="zh-CN"/>
              <a:t>R={&lt;1,2&gt;,&lt;3,4&gt;,&lt;2,2&gt;}</a:t>
            </a:r>
            <a:r>
              <a:rPr lang="zh-CN" altLang="en-US"/>
              <a:t>，</a:t>
            </a:r>
            <a:r>
              <a:rPr lang="en-US" altLang="zh-CN"/>
              <a:t>S={&lt;4,2&gt;,&lt;2,5&gt;,&lt;3,1&gt;,&lt;1,3&gt;}</a:t>
            </a:r>
            <a:r>
              <a:rPr lang="zh-CN" altLang="en-US"/>
              <a:t>，求</a:t>
            </a: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S</a:t>
            </a:r>
            <a:r>
              <a:rPr lang="zh-CN" altLang="en-US"/>
              <a:t>的矩阵表示。</a:t>
            </a:r>
          </a:p>
        </p:txBody>
      </p:sp>
      <p:graphicFrame>
        <p:nvGraphicFramePr>
          <p:cNvPr id="417798" name="Object 6"/>
          <p:cNvGraphicFramePr>
            <a:graphicFrameLocks noChangeAspect="1"/>
          </p:cNvGraphicFramePr>
          <p:nvPr/>
        </p:nvGraphicFramePr>
        <p:xfrm>
          <a:off x="684213" y="2982913"/>
          <a:ext cx="7391400" cy="224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98" name="Equation" r:id="rId3" imgW="8026200" imgH="2247840" progId="Equation.DSMT4">
                  <p:embed/>
                </p:oleObj>
              </mc:Choice>
              <mc:Fallback>
                <p:oleObj name="Equation" r:id="rId3" imgW="8026200" imgH="22478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82913"/>
                        <a:ext cx="7391400" cy="224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B55941-F047-4D8E-95A6-65E4444E0EA2}" type="slidenum">
              <a:rPr lang="en-US" altLang="zh-CN"/>
              <a:pPr/>
              <a:t>65</a:t>
            </a:fld>
            <a:endParaRPr lang="en-US" altLang="zh-CN"/>
          </a:p>
        </p:txBody>
      </p:sp>
      <p:sp>
        <p:nvSpPr>
          <p:cNvPr id="489474" name="Rectangle 2"/>
          <p:cNvSpPr>
            <a:spLocks noChangeArrowheads="1"/>
          </p:cNvSpPr>
          <p:nvPr/>
        </p:nvSpPr>
        <p:spPr bwMode="auto">
          <a:xfrm>
            <a:off x="611188" y="1412875"/>
            <a:ext cx="7848600" cy="341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zh-CN" altLang="en-US" dirty="0">
                <a:solidFill>
                  <a:schemeClr val="hlink"/>
                </a:solidFill>
              </a:rPr>
              <a:t>、定义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3-7.2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到</a:t>
            </a:r>
            <a:r>
              <a:rPr lang="en-US" altLang="zh-CN" dirty="0"/>
              <a:t>Y</a:t>
            </a:r>
            <a:r>
              <a:rPr lang="zh-CN" altLang="en-US" dirty="0"/>
              <a:t>的二元关系，如将</a:t>
            </a:r>
            <a:r>
              <a:rPr lang="en-US" altLang="zh-CN" dirty="0"/>
              <a:t>R</a:t>
            </a:r>
            <a:r>
              <a:rPr lang="zh-CN" altLang="en-US" dirty="0"/>
              <a:t>中每一序偶的元素顺序互换，所得到的集合称为</a:t>
            </a:r>
            <a:r>
              <a:rPr lang="en-US" altLang="zh-CN" dirty="0"/>
              <a:t>R</a:t>
            </a:r>
            <a:r>
              <a:rPr lang="zh-CN" altLang="en-US" dirty="0"/>
              <a:t>的逆关系。记为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r>
              <a:rPr lang="zh-CN" altLang="en-US" dirty="0"/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形式化表示为 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r>
              <a:rPr lang="en-US" altLang="zh-CN" dirty="0"/>
              <a:t>={&lt;</a:t>
            </a:r>
            <a:r>
              <a:rPr lang="en-US" altLang="zh-CN" dirty="0" err="1"/>
              <a:t>y,x</a:t>
            </a:r>
            <a:r>
              <a:rPr lang="en-US" altLang="zh-CN" dirty="0"/>
              <a:t>&gt;|&lt;</a:t>
            </a:r>
            <a:r>
              <a:rPr lang="en-US" altLang="zh-CN" dirty="0" err="1"/>
              <a:t>x,y</a:t>
            </a:r>
            <a:r>
              <a:rPr lang="en-US" altLang="zh-CN" dirty="0"/>
              <a:t>&gt;∈R}</a:t>
            </a:r>
            <a:r>
              <a:rPr lang="zh-CN" altLang="en-US" dirty="0"/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en-US" altLang="zh-CN" dirty="0"/>
              <a:t>a) </a:t>
            </a:r>
            <a:r>
              <a:rPr lang="zh-CN" altLang="en-US" dirty="0"/>
              <a:t>在实数集上，关系“</a:t>
            </a:r>
            <a:r>
              <a:rPr lang="en-US" altLang="zh-CN" dirty="0"/>
              <a:t>&lt;”</a:t>
            </a:r>
            <a:r>
              <a:rPr lang="zh-CN" altLang="en-US" dirty="0"/>
              <a:t>的逆关系为“</a:t>
            </a:r>
            <a:r>
              <a:rPr lang="en-US" altLang="zh-CN" dirty="0"/>
              <a:t>&gt;”</a:t>
            </a:r>
            <a:r>
              <a:rPr lang="zh-CN" altLang="en-US" dirty="0"/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          </a:t>
            </a:r>
            <a:r>
              <a:rPr lang="en-US" altLang="zh-CN" dirty="0"/>
              <a:t>b) </a:t>
            </a:r>
            <a:r>
              <a:rPr lang="zh-CN" altLang="en-US" dirty="0"/>
              <a:t>集合</a:t>
            </a:r>
            <a:r>
              <a:rPr lang="en-US" altLang="zh-CN" dirty="0"/>
              <a:t>X={1,2,3,4} </a:t>
            </a:r>
            <a:r>
              <a:rPr lang="zh-CN" altLang="en-US" dirty="0"/>
              <a:t>上的关系 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          </a:t>
            </a:r>
            <a:r>
              <a:rPr lang="en-US" altLang="zh-CN" dirty="0"/>
              <a:t>R={&lt;1,2&gt;,&lt;2,4&gt;,&lt;4,3&gt;}</a:t>
            </a:r>
            <a:r>
              <a:rPr lang="zh-CN" altLang="en-US" dirty="0"/>
              <a:t>其逆关系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r>
              <a:rPr lang="en-US" altLang="zh-CN" baseline="30000" dirty="0"/>
              <a:t> </a:t>
            </a:r>
            <a:r>
              <a:rPr lang="en-US" altLang="zh-CN" dirty="0"/>
              <a:t>=?</a:t>
            </a:r>
          </a:p>
        </p:txBody>
      </p:sp>
      <p:sp>
        <p:nvSpPr>
          <p:cNvPr id="489475" name="Rectangle 3"/>
          <p:cNvSpPr>
            <a:spLocks noChangeArrowheads="1"/>
          </p:cNvSpPr>
          <p:nvPr/>
        </p:nvSpPr>
        <p:spPr bwMode="auto">
          <a:xfrm>
            <a:off x="1185863" y="476250"/>
            <a:ext cx="42497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二、关系的逆运算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88BBD2-F650-46F6-BE7B-916D0EE7137E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490498" name="Rectangle 2"/>
          <p:cNvSpPr>
            <a:spLocks noChangeArrowheads="1"/>
          </p:cNvSpPr>
          <p:nvPr/>
        </p:nvSpPr>
        <p:spPr bwMode="auto">
          <a:xfrm>
            <a:off x="935038" y="1412875"/>
            <a:ext cx="730885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chemeClr val="hlink"/>
              </a:buClr>
            </a:pPr>
            <a:r>
              <a:rPr lang="en-US" altLang="zh-CN"/>
              <a:t>(R</a:t>
            </a:r>
            <a:r>
              <a:rPr lang="en-US" altLang="zh-CN" baseline="30000"/>
              <a:t>c</a:t>
            </a:r>
            <a:r>
              <a:rPr lang="en-US" altLang="zh-CN"/>
              <a:t>)</a:t>
            </a:r>
            <a:r>
              <a:rPr lang="en-US" altLang="zh-CN" baseline="30000"/>
              <a:t>c</a:t>
            </a:r>
            <a:r>
              <a:rPr lang="en-US" altLang="zh-CN"/>
              <a:t>=R</a:t>
            </a:r>
            <a:r>
              <a:rPr lang="zh-CN" altLang="en-US"/>
              <a:t>；</a:t>
            </a:r>
          </a:p>
          <a:p>
            <a:pPr>
              <a:lnSpc>
                <a:spcPct val="120000"/>
              </a:lnSpc>
              <a:buClr>
                <a:schemeClr val="hlink"/>
              </a:buClr>
            </a:pPr>
            <a:r>
              <a:rPr lang="en-US" altLang="zh-CN"/>
              <a:t>R</a:t>
            </a:r>
            <a:r>
              <a:rPr lang="en-US" altLang="zh-CN" baseline="30000"/>
              <a:t>c</a:t>
            </a:r>
            <a:r>
              <a:rPr lang="zh-CN" altLang="en-US"/>
              <a:t>的关系图是将</a:t>
            </a:r>
            <a:r>
              <a:rPr lang="en-US" altLang="zh-CN"/>
              <a:t>R</a:t>
            </a:r>
            <a:r>
              <a:rPr lang="zh-CN" altLang="en-US"/>
              <a:t>的关系图中有向弧反向；</a:t>
            </a:r>
          </a:p>
          <a:p>
            <a:pPr>
              <a:lnSpc>
                <a:spcPct val="120000"/>
              </a:lnSpc>
              <a:buClr>
                <a:schemeClr val="hlink"/>
              </a:buClr>
            </a:pPr>
            <a:r>
              <a:rPr lang="en-US" altLang="zh-CN"/>
              <a:t>R</a:t>
            </a:r>
            <a:r>
              <a:rPr lang="en-US" altLang="zh-CN" baseline="30000"/>
              <a:t>c</a:t>
            </a:r>
            <a:r>
              <a:rPr lang="zh-CN" altLang="en-US"/>
              <a:t>的关系矩阵是</a:t>
            </a:r>
            <a:r>
              <a:rPr lang="en-US" altLang="zh-CN"/>
              <a:t>R</a:t>
            </a:r>
            <a:r>
              <a:rPr lang="zh-CN" altLang="en-US"/>
              <a:t>关系矩阵的转置。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8BCE6C-B87D-4553-9509-B3D2087A191D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491522" name="Rectangle 2"/>
          <p:cNvSpPr>
            <a:spLocks noChangeArrowheads="1"/>
          </p:cNvSpPr>
          <p:nvPr/>
        </p:nvSpPr>
        <p:spPr bwMode="auto">
          <a:xfrm>
            <a:off x="539750" y="1268413"/>
            <a:ext cx="8353425" cy="244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zh-CN" altLang="en-US" dirty="0">
                <a:solidFill>
                  <a:schemeClr val="hlink"/>
                </a:solidFill>
              </a:rPr>
              <a:t>、逆关系的性质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3-7.1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都是从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B</a:t>
            </a:r>
            <a:r>
              <a:rPr lang="zh-CN" altLang="en-US" dirty="0"/>
              <a:t>的二元关系，下式成立：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a)(R</a:t>
            </a:r>
            <a:r>
              <a:rPr lang="en-US" altLang="zh-CN" baseline="-25000" dirty="0"/>
              <a:t>1</a:t>
            </a:r>
            <a:r>
              <a:rPr lang="en-US" altLang="zh-CN" dirty="0"/>
              <a:t>∪R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en-US" altLang="zh-CN" baseline="30000" dirty="0"/>
              <a:t>c</a:t>
            </a:r>
            <a:r>
              <a:rPr lang="en-US" altLang="zh-CN" dirty="0"/>
              <a:t>=R</a:t>
            </a:r>
            <a:r>
              <a:rPr lang="en-US" altLang="zh-CN" baseline="-25000" dirty="0"/>
              <a:t>1</a:t>
            </a:r>
            <a:r>
              <a:rPr lang="en-US" altLang="zh-CN" baseline="30000" dirty="0"/>
              <a:t>c</a:t>
            </a:r>
            <a:r>
              <a:rPr lang="en-US" altLang="zh-CN" dirty="0"/>
              <a:t>∪R</a:t>
            </a:r>
            <a:r>
              <a:rPr lang="en-US" altLang="zh-CN" baseline="-25000" dirty="0"/>
              <a:t>2</a:t>
            </a:r>
            <a:r>
              <a:rPr lang="en-US" altLang="zh-CN" baseline="30000" dirty="0"/>
              <a:t>c          </a:t>
            </a:r>
            <a:r>
              <a:rPr lang="en-US" altLang="zh-CN" dirty="0"/>
              <a:t>b)(R</a:t>
            </a:r>
            <a:r>
              <a:rPr lang="en-US" altLang="zh-CN" baseline="-25000" dirty="0"/>
              <a:t>1</a:t>
            </a:r>
            <a:r>
              <a:rPr lang="en-US" altLang="zh-CN" dirty="0"/>
              <a:t>∩R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en-US" altLang="zh-CN" baseline="30000" dirty="0"/>
              <a:t>c</a:t>
            </a:r>
            <a:r>
              <a:rPr lang="en-US" altLang="zh-CN" dirty="0"/>
              <a:t>=R</a:t>
            </a:r>
            <a:r>
              <a:rPr lang="en-US" altLang="zh-CN" baseline="-25000" dirty="0"/>
              <a:t>1</a:t>
            </a:r>
            <a:r>
              <a:rPr lang="en-US" altLang="zh-CN" baseline="30000" dirty="0"/>
              <a:t>c</a:t>
            </a:r>
            <a:r>
              <a:rPr lang="en-US" altLang="zh-CN" dirty="0"/>
              <a:t>∩R</a:t>
            </a:r>
            <a:r>
              <a:rPr lang="en-US" altLang="zh-CN" baseline="-25000" dirty="0"/>
              <a:t>2</a:t>
            </a:r>
            <a:r>
              <a:rPr lang="en-US" altLang="zh-CN" baseline="30000" dirty="0"/>
              <a:t>c</a:t>
            </a:r>
            <a:endParaRPr lang="en-US" altLang="zh-CN" dirty="0"/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c)(A×B)</a:t>
            </a:r>
            <a:r>
              <a:rPr lang="en-US" altLang="zh-CN" baseline="30000" dirty="0"/>
              <a:t>c</a:t>
            </a:r>
            <a:r>
              <a:rPr lang="en-US" altLang="zh-CN" dirty="0"/>
              <a:t>=B×A               d)(~R)</a:t>
            </a:r>
            <a:r>
              <a:rPr lang="en-US" altLang="zh-CN" baseline="30000" dirty="0"/>
              <a:t>c</a:t>
            </a:r>
            <a:r>
              <a:rPr lang="en-US" altLang="zh-CN" dirty="0"/>
              <a:t>=~(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r>
              <a:rPr lang="en-US" altLang="zh-CN" dirty="0"/>
              <a:t>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e)(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-R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)</a:t>
            </a:r>
            <a:r>
              <a:rPr lang="en-US" altLang="zh-CN" baseline="30000" dirty="0" smtClean="0"/>
              <a:t>c</a:t>
            </a:r>
            <a:r>
              <a:rPr lang="en-US" altLang="zh-CN" dirty="0" smtClean="0"/>
              <a:t>=R</a:t>
            </a:r>
            <a:r>
              <a:rPr lang="en-US" altLang="zh-CN" baseline="-25000" dirty="0" smtClean="0"/>
              <a:t>1</a:t>
            </a:r>
            <a:r>
              <a:rPr lang="en-US" altLang="zh-CN" baseline="30000" dirty="0" smtClean="0"/>
              <a:t>c</a:t>
            </a:r>
            <a:r>
              <a:rPr lang="en-US" altLang="zh-CN" dirty="0" smtClean="0"/>
              <a:t>-R</a:t>
            </a:r>
            <a:r>
              <a:rPr lang="en-US" altLang="zh-CN" baseline="-25000" dirty="0" smtClean="0"/>
              <a:t>2</a:t>
            </a:r>
            <a:r>
              <a:rPr lang="en-US" altLang="zh-CN" baseline="30000" dirty="0" smtClean="0"/>
              <a:t>c</a:t>
            </a:r>
            <a:endParaRPr lang="en-US" altLang="zh-CN" baseline="30000" dirty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4E8840-86EE-4752-A194-BEBB5087E72F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492546" name="Rectangle 2"/>
          <p:cNvSpPr>
            <a:spLocks noChangeArrowheads="1"/>
          </p:cNvSpPr>
          <p:nvPr/>
        </p:nvSpPr>
        <p:spPr bwMode="auto">
          <a:xfrm>
            <a:off x="757238" y="1341438"/>
            <a:ext cx="7775575" cy="279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3-7.2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设</a:t>
            </a:r>
            <a:r>
              <a:rPr lang="en-US" altLang="zh-CN" dirty="0"/>
              <a:t>T</a:t>
            </a:r>
            <a:r>
              <a:rPr lang="zh-CN" altLang="en-US" dirty="0"/>
              <a:t>为从</a:t>
            </a:r>
            <a:r>
              <a:rPr lang="en-US" altLang="zh-CN" dirty="0"/>
              <a:t>X</a:t>
            </a:r>
            <a:r>
              <a:rPr lang="zh-CN" altLang="en-US" dirty="0"/>
              <a:t>到</a:t>
            </a:r>
            <a:r>
              <a:rPr lang="en-US" altLang="zh-CN" dirty="0"/>
              <a:t>Y</a:t>
            </a:r>
            <a:r>
              <a:rPr lang="zh-CN" altLang="en-US" dirty="0"/>
              <a:t>的关系，</a:t>
            </a:r>
            <a:r>
              <a:rPr lang="en-US" altLang="zh-CN" dirty="0"/>
              <a:t>S</a:t>
            </a:r>
            <a:r>
              <a:rPr lang="zh-CN" altLang="en-US" dirty="0"/>
              <a:t>为从</a:t>
            </a:r>
            <a:r>
              <a:rPr lang="en-US" altLang="zh-CN" dirty="0"/>
              <a:t>Y</a:t>
            </a:r>
            <a:r>
              <a:rPr lang="zh-CN" altLang="en-US" dirty="0"/>
              <a:t>到</a:t>
            </a:r>
            <a:r>
              <a:rPr lang="en-US" altLang="zh-CN" dirty="0"/>
              <a:t>Z</a:t>
            </a:r>
            <a:r>
              <a:rPr lang="zh-CN" altLang="en-US" dirty="0"/>
              <a:t>的关系，证明</a:t>
            </a:r>
            <a:r>
              <a:rPr lang="en-US" altLang="zh-CN" dirty="0"/>
              <a:t>(T</a:t>
            </a:r>
            <a:r>
              <a:rPr lang="en-US" altLang="zh-CN" dirty="0">
                <a:cs typeface="Times New Roman" pitchFamily="18" charset="0"/>
              </a:rPr>
              <a:t>◦S</a:t>
            </a:r>
            <a:r>
              <a:rPr lang="en-US" altLang="zh-CN" dirty="0"/>
              <a:t>)</a:t>
            </a:r>
            <a:r>
              <a:rPr lang="en-US" altLang="zh-CN" baseline="30000" dirty="0"/>
              <a:t>c</a:t>
            </a:r>
            <a:r>
              <a:rPr lang="en-US" altLang="zh-CN" dirty="0"/>
              <a:t>=</a:t>
            </a:r>
            <a:r>
              <a:rPr lang="en-US" altLang="zh-CN" dirty="0" err="1"/>
              <a:t>S</a:t>
            </a:r>
            <a:r>
              <a:rPr lang="en-US" altLang="zh-CN" baseline="30000" dirty="0" err="1"/>
              <a:t>c</a:t>
            </a:r>
            <a:r>
              <a:rPr lang="en-US" altLang="zh-CN" dirty="0" err="1">
                <a:cs typeface="Times New Roman" pitchFamily="18" charset="0"/>
              </a:rPr>
              <a:t>◦</a:t>
            </a:r>
            <a:r>
              <a:rPr lang="en-US" altLang="zh-CN" dirty="0" err="1"/>
              <a:t>T</a:t>
            </a:r>
            <a:r>
              <a:rPr lang="en-US" altLang="zh-CN" baseline="30000" dirty="0" err="1"/>
              <a:t>c</a:t>
            </a:r>
            <a:endParaRPr lang="en-US" altLang="zh-CN" baseline="30000" dirty="0"/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dirty="0"/>
              <a:t>证明：</a:t>
            </a:r>
            <a:r>
              <a:rPr lang="en-US" altLang="zh-CN" dirty="0"/>
              <a:t>&lt;</a:t>
            </a:r>
            <a:r>
              <a:rPr lang="en-US" altLang="zh-CN" dirty="0" err="1"/>
              <a:t>z,x</a:t>
            </a:r>
            <a:r>
              <a:rPr lang="en-US" altLang="zh-CN" dirty="0"/>
              <a:t>&gt;∈(T</a:t>
            </a:r>
            <a:r>
              <a:rPr lang="en-US" altLang="zh-CN" dirty="0">
                <a:cs typeface="Times New Roman" pitchFamily="18" charset="0"/>
              </a:rPr>
              <a:t>◦</a:t>
            </a:r>
            <a:r>
              <a:rPr lang="en-US" altLang="zh-CN" dirty="0"/>
              <a:t>S) </a:t>
            </a:r>
            <a:r>
              <a:rPr lang="en-US" altLang="zh-CN" baseline="30000" dirty="0"/>
              <a:t>c</a:t>
            </a:r>
            <a:r>
              <a:rPr kumimoji="0"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dirty="0" err="1"/>
              <a:t>x,z</a:t>
            </a:r>
            <a:r>
              <a:rPr lang="en-US" altLang="zh-CN" dirty="0"/>
              <a:t>&gt;∈T</a:t>
            </a:r>
            <a:r>
              <a:rPr lang="en-US" altLang="zh-CN" dirty="0">
                <a:cs typeface="Times New Roman" pitchFamily="18" charset="0"/>
              </a:rPr>
              <a:t>◦</a:t>
            </a:r>
            <a:r>
              <a:rPr lang="en-US" altLang="zh-CN" dirty="0"/>
              <a:t>S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dirty="0"/>
              <a:t>       </a:t>
            </a:r>
            <a:r>
              <a:rPr kumimoji="0"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(</a:t>
            </a:r>
            <a:r>
              <a:rPr kumimoji="0" lang="en-US" altLang="zh-CN" dirty="0">
                <a:sym typeface="Symbol" pitchFamily="18" charset="2"/>
              </a:rPr>
              <a:t></a:t>
            </a:r>
            <a:r>
              <a:rPr lang="en-US" altLang="zh-CN" dirty="0"/>
              <a:t>y)(</a:t>
            </a:r>
            <a:r>
              <a:rPr lang="en-US" altLang="zh-CN" dirty="0" err="1"/>
              <a:t>y∈Y</a:t>
            </a:r>
            <a:r>
              <a:rPr lang="en-US" altLang="zh-CN" dirty="0"/>
              <a:t>∧&lt;</a:t>
            </a:r>
            <a:r>
              <a:rPr lang="en-US" altLang="zh-CN" dirty="0" err="1"/>
              <a:t>x,y</a:t>
            </a:r>
            <a:r>
              <a:rPr lang="en-US" altLang="zh-CN" dirty="0"/>
              <a:t>&gt;∈T∧&lt;</a:t>
            </a:r>
            <a:r>
              <a:rPr lang="en-US" altLang="zh-CN" dirty="0" err="1"/>
              <a:t>y,z</a:t>
            </a:r>
            <a:r>
              <a:rPr lang="en-US" altLang="zh-CN" dirty="0"/>
              <a:t>&gt;∈S)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dirty="0"/>
              <a:t>       </a:t>
            </a:r>
            <a:r>
              <a:rPr kumimoji="0"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(</a:t>
            </a:r>
            <a:r>
              <a:rPr kumimoji="0" lang="en-US" altLang="zh-CN" dirty="0">
                <a:sym typeface="Symbol" pitchFamily="18" charset="2"/>
              </a:rPr>
              <a:t></a:t>
            </a:r>
            <a:r>
              <a:rPr lang="en-US" altLang="zh-CN" dirty="0"/>
              <a:t>y)(</a:t>
            </a:r>
            <a:r>
              <a:rPr lang="en-US" altLang="zh-CN" dirty="0" err="1"/>
              <a:t>y∈Y</a:t>
            </a:r>
            <a:r>
              <a:rPr lang="en-US" altLang="zh-CN" dirty="0"/>
              <a:t>∧&lt;</a:t>
            </a:r>
            <a:r>
              <a:rPr lang="en-US" altLang="zh-CN" dirty="0" err="1"/>
              <a:t>y,x</a:t>
            </a:r>
            <a:r>
              <a:rPr lang="en-US" altLang="zh-CN" dirty="0"/>
              <a:t>&gt;∈</a:t>
            </a:r>
            <a:r>
              <a:rPr lang="en-US" altLang="zh-CN" dirty="0" err="1"/>
              <a:t>T</a:t>
            </a:r>
            <a:r>
              <a:rPr lang="en-US" altLang="zh-CN" baseline="30000" dirty="0" err="1"/>
              <a:t>c</a:t>
            </a:r>
            <a:r>
              <a:rPr lang="en-US" altLang="zh-CN" dirty="0"/>
              <a:t>∧&lt;</a:t>
            </a:r>
            <a:r>
              <a:rPr lang="en-US" altLang="zh-CN" dirty="0" err="1"/>
              <a:t>z,y</a:t>
            </a:r>
            <a:r>
              <a:rPr lang="en-US" altLang="zh-CN" dirty="0"/>
              <a:t>&gt;∈</a:t>
            </a:r>
            <a:r>
              <a:rPr lang="en-US" altLang="zh-CN" dirty="0" err="1"/>
              <a:t>S</a:t>
            </a:r>
            <a:r>
              <a:rPr lang="en-US" altLang="zh-CN" baseline="30000" dirty="0" err="1"/>
              <a:t>c</a:t>
            </a:r>
            <a:r>
              <a:rPr lang="en-US" altLang="zh-CN" dirty="0"/>
              <a:t>)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dirty="0"/>
              <a:t>       </a:t>
            </a:r>
            <a:r>
              <a:rPr kumimoji="0"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&lt;</a:t>
            </a:r>
            <a:r>
              <a:rPr lang="en-US" altLang="zh-CN" dirty="0" err="1"/>
              <a:t>z,x</a:t>
            </a:r>
            <a:r>
              <a:rPr lang="en-US" altLang="zh-CN" dirty="0"/>
              <a:t>&gt;∈</a:t>
            </a:r>
            <a:r>
              <a:rPr lang="en-US" altLang="zh-CN" dirty="0" err="1"/>
              <a:t>S</a:t>
            </a:r>
            <a:r>
              <a:rPr lang="en-US" altLang="zh-CN" baseline="30000" dirty="0" err="1"/>
              <a:t>c</a:t>
            </a:r>
            <a:r>
              <a:rPr lang="en-US" altLang="zh-CN" dirty="0" err="1">
                <a:cs typeface="Times New Roman" pitchFamily="18" charset="0"/>
              </a:rPr>
              <a:t>◦</a:t>
            </a:r>
            <a:r>
              <a:rPr lang="en-US" altLang="zh-CN" dirty="0" err="1"/>
              <a:t>T</a:t>
            </a:r>
            <a:r>
              <a:rPr lang="en-US" altLang="zh-CN" baseline="30000" dirty="0" err="1"/>
              <a:t>c</a:t>
            </a:r>
            <a:endParaRPr lang="en-US" altLang="zh-CN" dirty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797914-FCA5-4685-9C3F-E37DDFD44E66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494594" name="Rectangle 2"/>
          <p:cNvSpPr>
            <a:spLocks noChangeArrowheads="1"/>
          </p:cNvSpPr>
          <p:nvPr/>
        </p:nvSpPr>
        <p:spPr bwMode="auto">
          <a:xfrm>
            <a:off x="757238" y="1341438"/>
            <a:ext cx="7415212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3-7.3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上的二元关系，则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a) R</a:t>
            </a:r>
            <a:r>
              <a:rPr lang="zh-CN" altLang="en-US" dirty="0"/>
              <a:t>是对称的，当且仅当</a:t>
            </a:r>
            <a:r>
              <a:rPr lang="en-US" altLang="zh-CN" dirty="0"/>
              <a:t>R=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endParaRPr lang="en-US" altLang="zh-CN" dirty="0"/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b) R</a:t>
            </a:r>
            <a:r>
              <a:rPr lang="zh-CN" altLang="en-US" dirty="0"/>
              <a:t>是反对称的，当且仅当</a:t>
            </a:r>
            <a:r>
              <a:rPr lang="en-US" altLang="zh-CN" dirty="0" err="1"/>
              <a:t>R∩R</a:t>
            </a:r>
            <a:r>
              <a:rPr lang="en-US" altLang="zh-CN" baseline="30000" dirty="0" err="1"/>
              <a:t>c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baseline="30000" dirty="0"/>
              <a:t> </a:t>
            </a:r>
            <a:r>
              <a:rPr lang="en-US" altLang="zh-CN" dirty="0"/>
              <a:t>I</a:t>
            </a:r>
            <a:r>
              <a:rPr lang="en-US" altLang="zh-CN" baseline="-25000" dirty="0"/>
              <a:t>x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证明：</a:t>
            </a:r>
            <a:r>
              <a:rPr lang="en-US" altLang="zh-CN" dirty="0"/>
              <a:t>a)</a:t>
            </a:r>
            <a:r>
              <a:rPr lang="zh-CN" altLang="en-US" dirty="0"/>
              <a:t>若</a:t>
            </a:r>
            <a:r>
              <a:rPr lang="en-US" altLang="zh-CN" dirty="0"/>
              <a:t>R</a:t>
            </a:r>
            <a:r>
              <a:rPr lang="zh-CN" altLang="en-US" dirty="0"/>
              <a:t>是对称的，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&lt;</a:t>
            </a:r>
            <a:r>
              <a:rPr lang="en-US" altLang="zh-CN" dirty="0" err="1"/>
              <a:t>x,y</a:t>
            </a:r>
            <a:r>
              <a:rPr lang="en-US" altLang="zh-CN" dirty="0"/>
              <a:t>&gt;∈R</a:t>
            </a:r>
            <a:r>
              <a:rPr kumimoji="0" lang="en-US" altLang="zh-CN" dirty="0">
                <a:sym typeface="Symbol" pitchFamily="18" charset="2"/>
              </a:rPr>
              <a:t>&lt;</a:t>
            </a:r>
            <a:r>
              <a:rPr kumimoji="0" lang="en-US" altLang="zh-CN" dirty="0" err="1">
                <a:sym typeface="Symbol" pitchFamily="18" charset="2"/>
              </a:rPr>
              <a:t>y,x</a:t>
            </a:r>
            <a:r>
              <a:rPr kumimoji="0" lang="en-US" altLang="zh-CN" dirty="0">
                <a:sym typeface="Symbol" pitchFamily="18" charset="2"/>
              </a:rPr>
              <a:t>&gt;</a:t>
            </a:r>
            <a:r>
              <a:rPr lang="en-US" altLang="zh-CN" dirty="0"/>
              <a:t>∈R</a:t>
            </a:r>
            <a:r>
              <a:rPr kumimoji="0" lang="en-US" altLang="zh-CN" dirty="0">
                <a:sym typeface="Symbol" pitchFamily="18" charset="2"/>
              </a:rPr>
              <a:t>&lt;</a:t>
            </a:r>
            <a:r>
              <a:rPr kumimoji="0" lang="en-US" altLang="zh-CN" dirty="0" err="1">
                <a:sym typeface="Symbol" pitchFamily="18" charset="2"/>
              </a:rPr>
              <a:t>x,y</a:t>
            </a:r>
            <a:r>
              <a:rPr kumimoji="0" lang="en-US" altLang="zh-CN" dirty="0">
                <a:sym typeface="Symbol" pitchFamily="18" charset="2"/>
              </a:rPr>
              <a:t>&gt;</a:t>
            </a:r>
            <a:r>
              <a:rPr lang="en-US" altLang="zh-CN" dirty="0"/>
              <a:t>∈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endParaRPr lang="en-US" altLang="zh-CN" baseline="30000" dirty="0"/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即</a:t>
            </a:r>
            <a:r>
              <a:rPr lang="en-US" altLang="zh-CN" dirty="0"/>
              <a:t>R</a:t>
            </a:r>
            <a:r>
              <a:rPr lang="en-US" altLang="zh-CN" dirty="0">
                <a:sym typeface="Symbol" pitchFamily="18" charset="2"/>
              </a:rPr>
              <a:t>=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若</a:t>
            </a:r>
            <a:r>
              <a:rPr lang="en-US" altLang="zh-CN" dirty="0"/>
              <a:t>R=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en-US" altLang="zh-CN" dirty="0" err="1"/>
              <a:t>x,y</a:t>
            </a:r>
            <a:r>
              <a:rPr lang="en-US" altLang="zh-CN" dirty="0"/>
              <a:t>&gt;∈R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kumimoji="0" lang="en-US" altLang="zh-CN" dirty="0">
                <a:sym typeface="Symbol" pitchFamily="18" charset="2"/>
              </a:rPr>
              <a:t>&lt;</a:t>
            </a:r>
            <a:r>
              <a:rPr kumimoji="0" lang="en-US" altLang="zh-CN" dirty="0" err="1">
                <a:sym typeface="Symbol" pitchFamily="18" charset="2"/>
              </a:rPr>
              <a:t>x,y</a:t>
            </a:r>
            <a:r>
              <a:rPr kumimoji="0" lang="en-US" altLang="zh-CN" dirty="0">
                <a:sym typeface="Symbol" pitchFamily="18" charset="2"/>
              </a:rPr>
              <a:t>&gt;</a:t>
            </a:r>
            <a:r>
              <a:rPr lang="en-US" altLang="zh-CN" dirty="0"/>
              <a:t>∈</a:t>
            </a:r>
            <a:r>
              <a:rPr lang="en-US" altLang="zh-CN" dirty="0" err="1"/>
              <a:t>R</a:t>
            </a:r>
            <a:r>
              <a:rPr lang="en-US" altLang="zh-CN" baseline="30000" dirty="0" err="1"/>
              <a:t>c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&lt;</a:t>
            </a:r>
            <a:r>
              <a:rPr lang="en-US" altLang="zh-CN" dirty="0" err="1"/>
              <a:t>y,x</a:t>
            </a:r>
            <a:r>
              <a:rPr lang="en-US" altLang="zh-CN" dirty="0"/>
              <a:t>&gt;∈R</a:t>
            </a:r>
            <a:r>
              <a:rPr lang="zh-CN" altLang="en-US" dirty="0"/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即</a:t>
            </a:r>
            <a:r>
              <a:rPr lang="en-US" altLang="zh-CN" dirty="0"/>
              <a:t>R</a:t>
            </a:r>
            <a:r>
              <a:rPr lang="zh-CN" altLang="en-US" dirty="0"/>
              <a:t>是对称的。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DC5F57-A757-4297-87D0-15CE7ED48B6A}" type="slidenum">
              <a:rPr lang="en-US" altLang="zh-CN"/>
              <a:pPr/>
              <a:t>70</a:t>
            </a:fld>
            <a:endParaRPr lang="en-US" altLang="zh-CN"/>
          </a:p>
        </p:txBody>
      </p:sp>
      <p:graphicFrame>
        <p:nvGraphicFramePr>
          <p:cNvPr id="496642" name="Object 2"/>
          <p:cNvGraphicFramePr>
            <a:graphicFrameLocks noChangeAspect="1"/>
          </p:cNvGraphicFramePr>
          <p:nvPr/>
        </p:nvGraphicFramePr>
        <p:xfrm>
          <a:off x="1301750" y="2546350"/>
          <a:ext cx="20955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931" name="Equation" r:id="rId3" imgW="2095200" imgH="1333440" progId="Equation.DSMT4">
                  <p:embed/>
                </p:oleObj>
              </mc:Choice>
              <mc:Fallback>
                <p:oleObj name="Equation" r:id="rId3" imgW="2095200" imgH="1333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2546350"/>
                        <a:ext cx="20955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3" name="Object 3"/>
          <p:cNvGraphicFramePr>
            <a:graphicFrameLocks noChangeAspect="1"/>
          </p:cNvGraphicFramePr>
          <p:nvPr/>
        </p:nvGraphicFramePr>
        <p:xfrm>
          <a:off x="4437063" y="2478088"/>
          <a:ext cx="2208212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932" name="Equation" r:id="rId5" imgW="2209680" imgH="1333440" progId="Equation.DSMT4">
                  <p:embed/>
                </p:oleObj>
              </mc:Choice>
              <mc:Fallback>
                <p:oleObj name="Equation" r:id="rId5" imgW="2209680" imgH="13334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2478088"/>
                        <a:ext cx="2208212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4" name="Object 4"/>
          <p:cNvGraphicFramePr>
            <a:graphicFrameLocks noChangeAspect="1"/>
          </p:cNvGraphicFramePr>
          <p:nvPr/>
        </p:nvGraphicFramePr>
        <p:xfrm>
          <a:off x="1187450" y="3933825"/>
          <a:ext cx="5445125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933" name="Equation" r:id="rId7" imgW="5448240" imgH="1333440" progId="Equation.DSMT4">
                  <p:embed/>
                </p:oleObj>
              </mc:Choice>
              <mc:Fallback>
                <p:oleObj name="Equation" r:id="rId7" imgW="5448240" imgH="13334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933825"/>
                        <a:ext cx="5445125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5" name="Rectangle 5"/>
          <p:cNvSpPr>
            <a:spLocks noChangeArrowheads="1"/>
          </p:cNvSpPr>
          <p:nvPr/>
        </p:nvSpPr>
        <p:spPr bwMode="auto">
          <a:xfrm>
            <a:off x="509588" y="1341438"/>
            <a:ext cx="83105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4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给定集合</a:t>
            </a:r>
            <a:r>
              <a:rPr lang="en-US" altLang="zh-CN"/>
              <a:t>X={a,b,c}</a:t>
            </a:r>
            <a:r>
              <a:rPr lang="zh-CN" altLang="en-US"/>
              <a:t>，</a:t>
            </a:r>
            <a:r>
              <a:rPr lang="en-US" altLang="zh-CN"/>
              <a:t>R</a:t>
            </a:r>
            <a:r>
              <a:rPr lang="zh-CN" altLang="en-US"/>
              <a:t>是</a:t>
            </a:r>
            <a:r>
              <a:rPr lang="en-US" altLang="zh-CN"/>
              <a:t>X</a:t>
            </a:r>
            <a:r>
              <a:rPr lang="zh-CN" altLang="en-US"/>
              <a:t>上的二元关系，</a:t>
            </a:r>
            <a:r>
              <a:rPr lang="en-US" altLang="zh-CN"/>
              <a:t>R</a:t>
            </a:r>
            <a:r>
              <a:rPr lang="zh-CN" altLang="en-US"/>
              <a:t>的关系矩阵如下，求</a:t>
            </a:r>
            <a:r>
              <a:rPr lang="en-US" altLang="zh-CN"/>
              <a:t>R</a:t>
            </a:r>
            <a:r>
              <a:rPr lang="en-US" altLang="zh-CN" baseline="30000"/>
              <a:t>c</a:t>
            </a:r>
            <a:r>
              <a:rPr lang="zh-CN" altLang="en-US"/>
              <a:t>和</a:t>
            </a: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</a:t>
            </a:r>
            <a:r>
              <a:rPr lang="en-US" altLang="zh-CN" baseline="30000"/>
              <a:t>c</a:t>
            </a:r>
            <a:r>
              <a:rPr lang="zh-CN" altLang="en-US"/>
              <a:t>的关系矩阵。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D3B1E3-DD49-4A2F-9137-91B326356C15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512002" name="Rectangle 2"/>
          <p:cNvSpPr>
            <a:spLocks noChangeArrowheads="1"/>
          </p:cNvSpPr>
          <p:nvPr/>
        </p:nvSpPr>
        <p:spPr bwMode="auto">
          <a:xfrm>
            <a:off x="1042988" y="2444571"/>
            <a:ext cx="64817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>
              <a:buClrTx/>
              <a:buNone/>
            </a:pPr>
            <a:r>
              <a:rPr lang="zh-CN" altLang="en-US" sz="36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作业： 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P110(6)</a:t>
            </a:r>
            <a:r>
              <a:rPr lang="zh-CN" altLang="en-US" sz="3600" dirty="0" smtClean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 P114(6)</a:t>
            </a:r>
            <a:r>
              <a:rPr lang="zh-CN" altLang="en-US" sz="3600" dirty="0" smtClean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P119(6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en-US" altLang="zh-CN" sz="3600" dirty="0">
              <a:solidFill>
                <a:schemeClr val="tx1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0592356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51EBBE-2E0C-47D0-9A81-88DE1D73690F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6963" y="423863"/>
            <a:ext cx="6950075" cy="701675"/>
          </a:xfrm>
        </p:spPr>
        <p:txBody>
          <a:bodyPr/>
          <a:lstStyle/>
          <a:p>
            <a:pPr algn="ctr"/>
            <a:r>
              <a:rPr lang="zh-CN" altLang="en-US" b="1" dirty="0" smtClean="0"/>
              <a:t>复  习</a:t>
            </a:r>
            <a:endParaRPr lang="zh-CN" altLang="en-US" b="1" dirty="0"/>
          </a:p>
        </p:txBody>
      </p:sp>
      <p:sp>
        <p:nvSpPr>
          <p:cNvPr id="514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760"/>
            <a:ext cx="8497192" cy="5373779"/>
          </a:xfrm>
        </p:spPr>
        <p:txBody>
          <a:bodyPr/>
          <a:lstStyle/>
          <a:p>
            <a:r>
              <a:rPr kumimoji="1" lang="zh-CN" altLang="en-US" sz="2400" dirty="0" smtClean="0">
                <a:solidFill>
                  <a:srgbClr val="000000"/>
                </a:solidFill>
              </a:rPr>
              <a:t>关系的表示：集合，关系</a:t>
            </a:r>
            <a:r>
              <a:rPr kumimoji="1" lang="zh-CN" altLang="en-US" sz="2400" dirty="0">
                <a:solidFill>
                  <a:srgbClr val="000000"/>
                </a:solidFill>
              </a:rPr>
              <a:t>矩阵和关系</a:t>
            </a:r>
            <a:r>
              <a:rPr kumimoji="1" lang="zh-CN" altLang="en-US" sz="2400" dirty="0" smtClean="0">
                <a:solidFill>
                  <a:srgbClr val="000000"/>
                </a:solidFill>
              </a:rPr>
              <a:t>图</a:t>
            </a:r>
            <a:endParaRPr kumimoji="1" lang="en-US" altLang="zh-CN" sz="2400" dirty="0" smtClean="0">
              <a:solidFill>
                <a:srgbClr val="000000"/>
              </a:solidFill>
            </a:endParaRPr>
          </a:p>
          <a:p>
            <a:r>
              <a:rPr kumimoji="1" lang="zh-CN" altLang="en-US" sz="2400" dirty="0" smtClean="0">
                <a:solidFill>
                  <a:srgbClr val="000000"/>
                </a:solidFill>
              </a:rPr>
              <a:t>关系</a:t>
            </a:r>
            <a:r>
              <a:rPr kumimoji="1" lang="zh-CN" altLang="en-US" sz="2400" dirty="0">
                <a:solidFill>
                  <a:srgbClr val="000000"/>
                </a:solidFill>
              </a:rPr>
              <a:t>的性质：</a:t>
            </a:r>
          </a:p>
          <a:p>
            <a:r>
              <a:rPr kumimoji="1" lang="zh-CN" altLang="en-US" sz="2400" dirty="0">
                <a:solidFill>
                  <a:srgbClr val="000000"/>
                </a:solidFill>
              </a:rPr>
              <a:t>自反：对集合中的每个</a:t>
            </a:r>
            <a:r>
              <a:rPr kumimoji="1" lang="en-US" altLang="zh-CN" sz="2400" dirty="0">
                <a:solidFill>
                  <a:srgbClr val="000000"/>
                </a:solidFill>
              </a:rPr>
              <a:t>x</a:t>
            </a:r>
            <a:r>
              <a:rPr kumimoji="1" lang="zh-CN" altLang="en-US" sz="2400" dirty="0">
                <a:solidFill>
                  <a:srgbClr val="000000"/>
                </a:solidFill>
              </a:rPr>
              <a:t>，都有</a:t>
            </a:r>
            <a:r>
              <a:rPr kumimoji="1" lang="en-US" altLang="zh-CN" sz="2400" dirty="0">
                <a:solidFill>
                  <a:srgbClr val="000000"/>
                </a:solidFill>
              </a:rPr>
              <a:t>&lt;x, x&gt;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R</a:t>
            </a:r>
            <a:endParaRPr kumimoji="1" lang="zh-CN" altLang="en-US" sz="2400" dirty="0">
              <a:solidFill>
                <a:srgbClr val="000000"/>
              </a:solidFill>
            </a:endParaRPr>
          </a:p>
          <a:p>
            <a:r>
              <a:rPr kumimoji="1" lang="zh-CN" altLang="en-US" sz="2400" dirty="0">
                <a:solidFill>
                  <a:srgbClr val="000000"/>
                </a:solidFill>
              </a:rPr>
              <a:t>反自反：对集合中的每个</a:t>
            </a:r>
            <a:r>
              <a:rPr kumimoji="1" lang="en-US" altLang="zh-CN" sz="2400" dirty="0">
                <a:solidFill>
                  <a:srgbClr val="000000"/>
                </a:solidFill>
              </a:rPr>
              <a:t>x</a:t>
            </a:r>
            <a:r>
              <a:rPr kumimoji="1" lang="zh-CN" altLang="en-US" sz="2400" dirty="0">
                <a:solidFill>
                  <a:srgbClr val="000000"/>
                </a:solidFill>
              </a:rPr>
              <a:t>，都有</a:t>
            </a:r>
            <a:r>
              <a:rPr kumimoji="1" lang="en-US" altLang="zh-CN" sz="2400" dirty="0">
                <a:solidFill>
                  <a:srgbClr val="000000"/>
                </a:solidFill>
              </a:rPr>
              <a:t>&lt;x, x&gt;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R</a:t>
            </a:r>
            <a:endParaRPr kumimoji="1" lang="zh-CN" altLang="en-US" sz="2400" dirty="0">
              <a:solidFill>
                <a:srgbClr val="000000"/>
              </a:solidFill>
            </a:endParaRPr>
          </a:p>
          <a:p>
            <a:r>
              <a:rPr kumimoji="1" lang="zh-CN" altLang="en-US" sz="2400" dirty="0">
                <a:solidFill>
                  <a:srgbClr val="000000"/>
                </a:solidFill>
              </a:rPr>
              <a:t>对称：若关系中存在</a:t>
            </a:r>
            <a:r>
              <a:rPr kumimoji="1" lang="en-US" altLang="zh-CN" sz="2400" dirty="0">
                <a:solidFill>
                  <a:srgbClr val="000000"/>
                </a:solidFill>
              </a:rPr>
              <a:t>&lt;x, y&gt;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R</a:t>
            </a:r>
            <a:r>
              <a:rPr kumimoji="1" lang="zh-CN" altLang="en-US" sz="2400" dirty="0">
                <a:solidFill>
                  <a:srgbClr val="000000"/>
                </a:solidFill>
              </a:rPr>
              <a:t>，必须有</a:t>
            </a:r>
            <a:r>
              <a:rPr kumimoji="1" lang="en-US" altLang="zh-CN" sz="2400" dirty="0">
                <a:solidFill>
                  <a:srgbClr val="000000"/>
                </a:solidFill>
              </a:rPr>
              <a:t>&lt;y, x&gt;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R</a:t>
            </a:r>
            <a:r>
              <a:rPr kumimoji="1" lang="en-US" altLang="zh-CN" sz="2400" dirty="0">
                <a:solidFill>
                  <a:srgbClr val="000000"/>
                </a:solidFill>
              </a:rPr>
              <a:t> </a:t>
            </a:r>
            <a:endParaRPr kumimoji="1" lang="zh-CN" altLang="en-US" sz="2400" dirty="0">
              <a:solidFill>
                <a:srgbClr val="000000"/>
              </a:solidFill>
            </a:endParaRPr>
          </a:p>
          <a:p>
            <a:r>
              <a:rPr kumimoji="1" lang="zh-CN" altLang="en-US" sz="2400" dirty="0">
                <a:solidFill>
                  <a:srgbClr val="000000"/>
                </a:solidFill>
              </a:rPr>
              <a:t>反对称：当</a:t>
            </a:r>
            <a:r>
              <a:rPr kumimoji="1" lang="en-US" altLang="zh-CN" sz="2400" dirty="0">
                <a:solidFill>
                  <a:srgbClr val="000000"/>
                </a:solidFill>
              </a:rPr>
              <a:t>x 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 </a:t>
            </a:r>
            <a:r>
              <a:rPr kumimoji="1" lang="en-US" altLang="zh-CN" sz="2400" dirty="0">
                <a:solidFill>
                  <a:srgbClr val="000000"/>
                </a:solidFill>
              </a:rPr>
              <a:t>y</a:t>
            </a:r>
            <a:r>
              <a:rPr kumimoji="1" lang="zh-CN" altLang="en-US" sz="2400" dirty="0">
                <a:solidFill>
                  <a:srgbClr val="000000"/>
                </a:solidFill>
              </a:rPr>
              <a:t>，若关系中存在</a:t>
            </a:r>
            <a:r>
              <a:rPr kumimoji="1" lang="en-US" altLang="zh-CN" sz="2400" dirty="0">
                <a:solidFill>
                  <a:srgbClr val="000000"/>
                </a:solidFill>
              </a:rPr>
              <a:t>&lt;x, y&gt;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R</a:t>
            </a:r>
            <a:r>
              <a:rPr kumimoji="1" lang="zh-CN" altLang="en-US" sz="2400" dirty="0">
                <a:solidFill>
                  <a:srgbClr val="000000"/>
                </a:solidFill>
              </a:rPr>
              <a:t>，必须有</a:t>
            </a:r>
            <a:r>
              <a:rPr kumimoji="1" lang="en-US" altLang="zh-CN" sz="2400" dirty="0">
                <a:solidFill>
                  <a:srgbClr val="000000"/>
                </a:solidFill>
              </a:rPr>
              <a:t>&lt;y, x&gt;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R</a:t>
            </a:r>
            <a:r>
              <a:rPr kumimoji="1" lang="en-US" altLang="zh-CN" sz="2400" dirty="0">
                <a:solidFill>
                  <a:srgbClr val="000000"/>
                </a:solidFill>
              </a:rPr>
              <a:t> </a:t>
            </a:r>
            <a:endParaRPr kumimoji="1" lang="zh-CN" altLang="en-US" sz="2400" dirty="0">
              <a:solidFill>
                <a:srgbClr val="000000"/>
              </a:solidFill>
            </a:endParaRPr>
          </a:p>
          <a:p>
            <a:r>
              <a:rPr kumimoji="1" lang="zh-CN" altLang="en-US" sz="2400" dirty="0">
                <a:solidFill>
                  <a:srgbClr val="000000"/>
                </a:solidFill>
              </a:rPr>
              <a:t>传递：若关系中存在</a:t>
            </a:r>
            <a:r>
              <a:rPr kumimoji="1" lang="en-US" altLang="zh-CN" sz="2400" dirty="0">
                <a:solidFill>
                  <a:srgbClr val="000000"/>
                </a:solidFill>
              </a:rPr>
              <a:t>&lt;x, y&gt;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R</a:t>
            </a:r>
            <a:r>
              <a:rPr kumimoji="1" lang="zh-CN" altLang="en-US" sz="2400" dirty="0">
                <a:solidFill>
                  <a:srgbClr val="000000"/>
                </a:solidFill>
              </a:rPr>
              <a:t>，</a:t>
            </a:r>
            <a:r>
              <a:rPr kumimoji="1" lang="en-US" altLang="zh-CN" sz="2400" dirty="0">
                <a:solidFill>
                  <a:srgbClr val="000000"/>
                </a:solidFill>
              </a:rPr>
              <a:t>&lt;y, z&gt;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R</a:t>
            </a:r>
            <a:r>
              <a:rPr kumimoji="1" lang="zh-CN" altLang="en-US" sz="2400" dirty="0">
                <a:solidFill>
                  <a:srgbClr val="000000"/>
                </a:solidFill>
                <a:sym typeface="Symbol" pitchFamily="18" charset="2"/>
              </a:rPr>
              <a:t>，必须</a:t>
            </a:r>
            <a:r>
              <a:rPr kumimoji="1" lang="zh-CN" altLang="en-US" sz="2400" dirty="0">
                <a:solidFill>
                  <a:srgbClr val="000000"/>
                </a:solidFill>
              </a:rPr>
              <a:t>有</a:t>
            </a:r>
            <a:r>
              <a:rPr kumimoji="1" lang="en-US" altLang="zh-CN" sz="2400" dirty="0">
                <a:solidFill>
                  <a:srgbClr val="000000"/>
                </a:solidFill>
              </a:rPr>
              <a:t>&lt;x, z&gt;</a:t>
            </a:r>
            <a:r>
              <a:rPr kumimoji="1" lang="en-US" altLang="zh-CN" sz="2400" dirty="0">
                <a:solidFill>
                  <a:srgbClr val="000000"/>
                </a:solidFill>
                <a:sym typeface="Symbol" pitchFamily="18" charset="2"/>
              </a:rPr>
              <a:t></a:t>
            </a:r>
            <a:r>
              <a:rPr kumimoji="1" lang="en-US" altLang="zh-CN" sz="2400" dirty="0" smtClean="0">
                <a:solidFill>
                  <a:srgbClr val="000000"/>
                </a:solidFill>
                <a:sym typeface="Symbol" pitchFamily="18" charset="2"/>
              </a:rPr>
              <a:t>R</a:t>
            </a:r>
          </a:p>
          <a:p>
            <a:r>
              <a:rPr lang="zh-CN" altLang="en-US" sz="2400" dirty="0" smtClean="0"/>
              <a:t>复合</a:t>
            </a:r>
            <a:r>
              <a:rPr lang="zh-CN" altLang="en-US" sz="2400" dirty="0"/>
              <a:t>运算</a:t>
            </a:r>
          </a:p>
          <a:p>
            <a:r>
              <a:rPr lang="en-US" altLang="zh-CN" sz="2400" dirty="0"/>
              <a:t>R</a:t>
            </a:r>
            <a:r>
              <a:rPr kumimoji="1" lang="en-US" altLang="zh-CN" sz="2400" dirty="0">
                <a:solidFill>
                  <a:srgbClr val="000000"/>
                </a:solidFill>
              </a:rPr>
              <a:t>◦</a:t>
            </a:r>
            <a:r>
              <a:rPr lang="en-US" altLang="zh-CN" sz="2400" dirty="0"/>
              <a:t>S </a:t>
            </a:r>
            <a:r>
              <a:rPr kumimoji="1" lang="en-US" altLang="zh-CN" sz="2400" dirty="0">
                <a:solidFill>
                  <a:srgbClr val="000000"/>
                </a:solidFill>
              </a:rPr>
              <a:t>={&lt;</a:t>
            </a:r>
            <a:r>
              <a:rPr kumimoji="1" lang="en-US" altLang="zh-CN" sz="2400" dirty="0" err="1">
                <a:solidFill>
                  <a:srgbClr val="000000"/>
                </a:solidFill>
              </a:rPr>
              <a:t>x,z</a:t>
            </a:r>
            <a:r>
              <a:rPr kumimoji="1" lang="en-US" altLang="zh-CN" sz="2400" dirty="0">
                <a:solidFill>
                  <a:srgbClr val="000000"/>
                </a:solidFill>
              </a:rPr>
              <a:t>&gt;|</a:t>
            </a:r>
            <a:r>
              <a:rPr kumimoji="1" lang="en-US" altLang="zh-CN" sz="2400" dirty="0" err="1">
                <a:solidFill>
                  <a:srgbClr val="000000"/>
                </a:solidFill>
              </a:rPr>
              <a:t>x∈X∧z∈Z</a:t>
            </a:r>
            <a:r>
              <a:rPr kumimoji="1" lang="en-US" altLang="zh-CN" sz="2400" dirty="0">
                <a:solidFill>
                  <a:srgbClr val="000000"/>
                </a:solidFill>
              </a:rPr>
              <a:t>∧(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</a:t>
            </a:r>
            <a:r>
              <a:rPr kumimoji="1" lang="en-US" altLang="zh-CN" sz="2400" dirty="0">
                <a:solidFill>
                  <a:srgbClr val="000000"/>
                </a:solidFill>
              </a:rPr>
              <a:t>y)(</a:t>
            </a:r>
            <a:r>
              <a:rPr kumimoji="1" lang="en-US" altLang="zh-CN" sz="2400" dirty="0" err="1">
                <a:solidFill>
                  <a:srgbClr val="000000"/>
                </a:solidFill>
              </a:rPr>
              <a:t>y∈Y</a:t>
            </a:r>
            <a:r>
              <a:rPr kumimoji="1" lang="en-US" altLang="zh-CN" sz="2400" dirty="0">
                <a:solidFill>
                  <a:srgbClr val="000000"/>
                </a:solidFill>
              </a:rPr>
              <a:t>∧&lt;</a:t>
            </a:r>
            <a:r>
              <a:rPr kumimoji="1" lang="en-US" altLang="zh-CN" sz="2400" dirty="0" err="1">
                <a:solidFill>
                  <a:srgbClr val="000000"/>
                </a:solidFill>
              </a:rPr>
              <a:t>x,y</a:t>
            </a:r>
            <a:r>
              <a:rPr kumimoji="1" lang="en-US" altLang="zh-CN" sz="2400" dirty="0">
                <a:solidFill>
                  <a:srgbClr val="000000"/>
                </a:solidFill>
              </a:rPr>
              <a:t>&gt;∈R∧&lt;</a:t>
            </a:r>
            <a:r>
              <a:rPr kumimoji="1" lang="en-US" altLang="zh-CN" sz="2400" dirty="0" err="1">
                <a:solidFill>
                  <a:srgbClr val="000000"/>
                </a:solidFill>
              </a:rPr>
              <a:t>y,z</a:t>
            </a:r>
            <a:r>
              <a:rPr kumimoji="1" lang="en-US" altLang="zh-CN" sz="2400" dirty="0">
                <a:solidFill>
                  <a:srgbClr val="000000"/>
                </a:solidFill>
              </a:rPr>
              <a:t>&gt;∈S)}</a:t>
            </a:r>
          </a:p>
          <a:p>
            <a:r>
              <a:rPr kumimoji="1" lang="zh-CN" altLang="en-US" sz="2400" dirty="0" smtClean="0">
                <a:solidFill>
                  <a:srgbClr val="000000"/>
                </a:solidFill>
              </a:rPr>
              <a:t>逆运算</a:t>
            </a:r>
            <a:endParaRPr kumimoji="1" lang="en-US" altLang="zh-CN" sz="2400" dirty="0">
              <a:solidFill>
                <a:srgbClr val="000000"/>
              </a:solidFill>
            </a:endParaRPr>
          </a:p>
          <a:p>
            <a:r>
              <a:rPr lang="en-US" altLang="zh-CN" sz="2400" dirty="0" err="1"/>
              <a:t>R</a:t>
            </a:r>
            <a:r>
              <a:rPr lang="en-US" altLang="zh-CN" sz="2400" baseline="30000" dirty="0" err="1"/>
              <a:t>c</a:t>
            </a:r>
            <a:r>
              <a:rPr lang="en-US" altLang="zh-CN" sz="2400" dirty="0"/>
              <a:t>={&lt;</a:t>
            </a:r>
            <a:r>
              <a:rPr lang="en-US" altLang="zh-CN" sz="2400" dirty="0" err="1"/>
              <a:t>y,x</a:t>
            </a:r>
            <a:r>
              <a:rPr lang="en-US" altLang="zh-CN" sz="2400" dirty="0"/>
              <a:t>&gt;|&lt;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&gt;∈R</a:t>
            </a:r>
            <a:r>
              <a:rPr lang="en-US" altLang="zh-CN" sz="2400" dirty="0" smtClean="0"/>
              <a:t>}</a:t>
            </a:r>
            <a:endParaRPr kumimoji="1" lang="en-US" altLang="zh-CN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102444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4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4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4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4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4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4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4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4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4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40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4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40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019B4E-7255-4C41-90A0-3241FE8DD66B}" type="slidenum">
              <a:rPr lang="en-US" altLang="zh-CN"/>
              <a:pPr/>
              <a:t>73</a:t>
            </a:fld>
            <a:endParaRPr lang="en-US" altLang="zh-CN"/>
          </a:p>
        </p:txBody>
      </p:sp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65138"/>
            <a:ext cx="7237412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3-8 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关系的闭包运算</a:t>
            </a:r>
          </a:p>
        </p:txBody>
      </p:sp>
      <p:sp>
        <p:nvSpPr>
          <p:cNvPr id="367625" name="Rectangle 9"/>
          <p:cNvSpPr>
            <a:spLocks noChangeArrowheads="1"/>
          </p:cNvSpPr>
          <p:nvPr/>
        </p:nvSpPr>
        <p:spPr bwMode="auto">
          <a:xfrm>
            <a:off x="1331913" y="1609725"/>
            <a:ext cx="54721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一、闭包的定义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二、闭包的求解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3D0472-BBE4-484F-B6BF-1B74A3B4AC7B}" type="slidenum">
              <a:rPr lang="en-US" altLang="zh-CN"/>
              <a:pPr/>
              <a:t>74</a:t>
            </a:fld>
            <a:endParaRPr lang="en-US" altLang="zh-CN"/>
          </a:p>
        </p:txBody>
      </p:sp>
      <p:sp>
        <p:nvSpPr>
          <p:cNvPr id="430084" name="Rectangle 4"/>
          <p:cNvSpPr>
            <a:spLocks noChangeArrowheads="1"/>
          </p:cNvSpPr>
          <p:nvPr/>
        </p:nvSpPr>
        <p:spPr bwMode="auto">
          <a:xfrm>
            <a:off x="395288" y="1285875"/>
            <a:ext cx="8459787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3-8.1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是</a:t>
            </a:r>
            <a:r>
              <a:rPr lang="en-US" altLang="zh-CN"/>
              <a:t>X</a:t>
            </a:r>
            <a:r>
              <a:rPr lang="zh-CN" altLang="en-US"/>
              <a:t>上的二元关系，若关系</a:t>
            </a:r>
            <a:r>
              <a:rPr lang="en-US" altLang="zh-CN"/>
              <a:t>R' </a:t>
            </a:r>
            <a:r>
              <a:rPr lang="zh-CN" altLang="en-US"/>
              <a:t>满足：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</a:t>
            </a:r>
            <a:r>
              <a:rPr lang="en-US" altLang="zh-CN"/>
              <a:t>a) R'</a:t>
            </a:r>
            <a:r>
              <a:rPr lang="zh-CN" altLang="en-US"/>
              <a:t>是自反的（对称的，可传递的）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</a:t>
            </a:r>
            <a:r>
              <a:rPr lang="en-US" altLang="zh-CN"/>
              <a:t>b) R'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c) </a:t>
            </a:r>
            <a:r>
              <a:rPr lang="zh-CN" altLang="en-US"/>
              <a:t>对于任何自反的（对称的，可传递的）关系</a:t>
            </a:r>
            <a:r>
              <a:rPr lang="en-US" altLang="zh-CN"/>
              <a:t>R''</a:t>
            </a:r>
            <a:r>
              <a:rPr lang="zh-CN" altLang="en-US"/>
              <a:t>，若有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R''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</a:t>
            </a:r>
            <a:r>
              <a:rPr lang="zh-CN" altLang="en-US"/>
              <a:t>，就有</a:t>
            </a:r>
            <a:r>
              <a:rPr lang="en-US" altLang="zh-CN"/>
              <a:t>R''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R'</a:t>
            </a:r>
            <a:r>
              <a:rPr lang="zh-CN" altLang="en-US"/>
              <a:t>，则称关系</a:t>
            </a:r>
            <a:r>
              <a:rPr lang="en-US" altLang="zh-CN"/>
              <a:t>R' </a:t>
            </a:r>
            <a:r>
              <a:rPr lang="zh-CN" altLang="en-US"/>
              <a:t>为</a:t>
            </a:r>
            <a:r>
              <a:rPr lang="en-US" altLang="zh-CN"/>
              <a:t>R</a:t>
            </a:r>
            <a:r>
              <a:rPr lang="zh-CN" altLang="en-US"/>
              <a:t>的自反（对称，传递）闭包。记为 </a:t>
            </a:r>
            <a:r>
              <a:rPr lang="en-US" altLang="zh-CN"/>
              <a:t>r(R)</a:t>
            </a:r>
            <a:r>
              <a:rPr lang="zh-CN" altLang="en-US"/>
              <a:t>（</a:t>
            </a:r>
            <a:r>
              <a:rPr lang="en-US" altLang="zh-CN"/>
              <a:t>s(R)</a:t>
            </a:r>
            <a:r>
              <a:rPr lang="zh-CN" altLang="en-US"/>
              <a:t>，</a:t>
            </a:r>
            <a:r>
              <a:rPr lang="en-US" altLang="zh-CN"/>
              <a:t>t(R)</a:t>
            </a:r>
            <a:r>
              <a:rPr lang="zh-CN" altLang="en-US"/>
              <a:t>）</a:t>
            </a:r>
          </a:p>
        </p:txBody>
      </p:sp>
      <p:sp>
        <p:nvSpPr>
          <p:cNvPr id="430085" name="Oval 5"/>
          <p:cNvSpPr>
            <a:spLocks noChangeArrowheads="1"/>
          </p:cNvSpPr>
          <p:nvPr/>
        </p:nvSpPr>
        <p:spPr bwMode="auto">
          <a:xfrm>
            <a:off x="2493963" y="4424363"/>
            <a:ext cx="3733800" cy="990600"/>
          </a:xfrm>
          <a:prstGeom prst="ellipse">
            <a:avLst/>
          </a:prstGeom>
          <a:solidFill>
            <a:srgbClr val="66FF3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tx1"/>
                </a:solidFill>
              </a:rPr>
              <a:t>R''</a:t>
            </a:r>
          </a:p>
        </p:txBody>
      </p:sp>
      <p:sp>
        <p:nvSpPr>
          <p:cNvPr id="430086" name="Oval 6"/>
          <p:cNvSpPr>
            <a:spLocks noChangeArrowheads="1"/>
          </p:cNvSpPr>
          <p:nvPr/>
        </p:nvSpPr>
        <p:spPr bwMode="auto">
          <a:xfrm>
            <a:off x="3484563" y="4576763"/>
            <a:ext cx="2667000" cy="693737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tx1"/>
                </a:solidFill>
              </a:rPr>
              <a:t>R'</a:t>
            </a:r>
            <a:r>
              <a:rPr lang="zh-CN" altLang="en-US" b="0">
                <a:solidFill>
                  <a:schemeClr val="tx1"/>
                </a:solidFill>
              </a:rPr>
              <a:t>自反</a:t>
            </a:r>
          </a:p>
        </p:txBody>
      </p:sp>
      <p:sp>
        <p:nvSpPr>
          <p:cNvPr id="430087" name="Oval 7"/>
          <p:cNvSpPr>
            <a:spLocks noChangeArrowheads="1"/>
          </p:cNvSpPr>
          <p:nvPr/>
        </p:nvSpPr>
        <p:spPr bwMode="auto">
          <a:xfrm>
            <a:off x="5084763" y="4652963"/>
            <a:ext cx="990600" cy="5334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b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430089" name="Rectangle 9"/>
          <p:cNvSpPr>
            <a:spLocks noChangeArrowheads="1"/>
          </p:cNvSpPr>
          <p:nvPr/>
        </p:nvSpPr>
        <p:spPr bwMode="auto">
          <a:xfrm>
            <a:off x="1116013" y="476250"/>
            <a:ext cx="39608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一、闭包的定义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5" grpId="0" animBg="1"/>
      <p:bldP spid="430086" grpId="0" animBg="1"/>
      <p:bldP spid="43008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0681B2-84A7-4541-9F98-DE8979EA3E4D}" type="slidenum">
              <a:rPr lang="en-US" altLang="zh-CN"/>
              <a:pPr/>
              <a:t>75</a:t>
            </a:fld>
            <a:endParaRPr lang="en-US" altLang="zh-CN"/>
          </a:p>
        </p:txBody>
      </p:sp>
      <p:sp>
        <p:nvSpPr>
          <p:cNvPr id="228361" name="Rectangle 9"/>
          <p:cNvSpPr>
            <a:spLocks noChangeArrowheads="1"/>
          </p:cNvSpPr>
          <p:nvPr/>
        </p:nvSpPr>
        <p:spPr bwMode="auto">
          <a:xfrm>
            <a:off x="719138" y="1341438"/>
            <a:ext cx="7092950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A={1,2,3},  R={&lt;1,1&gt;,&lt;1,2&gt;,&lt;3,2&gt;,&lt;2,3&gt;&lt;3,3&gt;}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</a:t>
            </a:r>
            <a:r>
              <a:rPr lang="zh-CN" altLang="en-US"/>
              <a:t>不是自反的，如使其具有自反性质，应如何？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u"/>
            </a:pPr>
            <a:r>
              <a:rPr kumimoji="0" lang="zh-CN" altLang="en-US"/>
              <a:t>考虑在什么情况下，关系</a:t>
            </a:r>
            <a:r>
              <a:rPr kumimoji="0" lang="en-US" altLang="zh-CN"/>
              <a:t>R</a:t>
            </a:r>
            <a:r>
              <a:rPr kumimoji="0" lang="zh-CN" altLang="en-US"/>
              <a:t>的自反（对称，传递）闭包就是本身</a:t>
            </a:r>
            <a:r>
              <a:rPr kumimoji="0" lang="en-US" altLang="zh-CN"/>
              <a:t>?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u"/>
            </a:pP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如何构造关系的闭包呢？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F489AA-5783-4EEB-B7C2-EDA965B2D0D2}" type="slidenum">
              <a:rPr lang="en-US" altLang="zh-CN"/>
              <a:pPr/>
              <a:t>76</a:t>
            </a:fld>
            <a:endParaRPr lang="en-US" altLang="zh-CN"/>
          </a:p>
        </p:txBody>
      </p:sp>
      <p:sp>
        <p:nvSpPr>
          <p:cNvPr id="229379" name="Rectangle 3"/>
          <p:cNvSpPr>
            <a:spLocks noChangeArrowheads="1"/>
          </p:cNvSpPr>
          <p:nvPr/>
        </p:nvSpPr>
        <p:spPr bwMode="auto">
          <a:xfrm>
            <a:off x="684213" y="1241425"/>
            <a:ext cx="78486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3-8.1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是</a:t>
            </a:r>
            <a:r>
              <a:rPr lang="en-US" altLang="zh-CN"/>
              <a:t>A</a:t>
            </a:r>
            <a:r>
              <a:rPr lang="zh-CN" altLang="en-US"/>
              <a:t>上的二元关系，那么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a) R</a:t>
            </a:r>
            <a:r>
              <a:rPr lang="zh-CN" altLang="en-US"/>
              <a:t>是自反的，当且仅当</a:t>
            </a:r>
            <a:r>
              <a:rPr lang="en-US" altLang="zh-CN"/>
              <a:t>r(R)=R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b) R</a:t>
            </a:r>
            <a:r>
              <a:rPr lang="zh-CN" altLang="en-US"/>
              <a:t>是对称的，当且仅当</a:t>
            </a:r>
            <a:r>
              <a:rPr lang="en-US" altLang="zh-CN"/>
              <a:t>s(R)=R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c) R</a:t>
            </a:r>
            <a:r>
              <a:rPr lang="zh-CN" altLang="en-US"/>
              <a:t>是传递的，当且仅当</a:t>
            </a:r>
            <a:r>
              <a:rPr lang="en-US" altLang="zh-CN"/>
              <a:t>t(R)=R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</a:rPr>
              <a:t>证明</a:t>
            </a:r>
            <a:r>
              <a:rPr lang="zh-CN" altLang="en-US"/>
              <a:t>：</a:t>
            </a:r>
            <a:r>
              <a:rPr lang="en-US" altLang="zh-CN">
                <a:solidFill>
                  <a:schemeClr val="tx1"/>
                </a:solidFill>
              </a:rPr>
              <a:t>a)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由自反闭包定义知，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Rr(R)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；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∵ 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是自反的且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RR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，再由自反闭包定义知，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r(R)R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；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∴ 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r(R)=R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/>
              <a:t>反之，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对于任意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x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，</a:t>
            </a:r>
            <a:r>
              <a:rPr kumimoji="0" lang="zh-CN" altLang="en-US">
                <a:solidFill>
                  <a:schemeClr val="tx1"/>
                </a:solidFill>
                <a:sym typeface="Symbol" pitchFamily="18" charset="2"/>
              </a:rPr>
              <a:t>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x</a:t>
            </a:r>
            <a:r>
              <a:rPr lang="en-US" altLang="zh-CN">
                <a:solidFill>
                  <a:schemeClr val="tx1"/>
                </a:solidFill>
              </a:rPr>
              <a:t>∈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A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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&lt;x,x&gt;</a:t>
            </a:r>
            <a:r>
              <a:rPr lang="en-US" altLang="zh-CN">
                <a:solidFill>
                  <a:schemeClr val="tx1"/>
                </a:solidFill>
              </a:rPr>
              <a:t>∈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r(R)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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&lt;x,x&gt;</a:t>
            </a:r>
            <a:r>
              <a:rPr lang="en-US" altLang="zh-CN">
                <a:solidFill>
                  <a:schemeClr val="tx1"/>
                </a:solidFill>
              </a:rPr>
              <a:t>∈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R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，</a:t>
            </a:r>
          </a:p>
          <a:p>
            <a:pPr eaLnBrk="0" hangingPunct="0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∴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zh-CN" altLang="en-US">
                <a:solidFill>
                  <a:schemeClr val="tx1"/>
                </a:solidFill>
                <a:sym typeface="Symbol" pitchFamily="18" charset="2"/>
              </a:rPr>
              <a:t>是自反的。</a:t>
            </a:r>
          </a:p>
        </p:txBody>
      </p:sp>
      <p:sp>
        <p:nvSpPr>
          <p:cNvPr id="229382" name="AutoShape 6"/>
          <p:cNvSpPr>
            <a:spLocks noChangeArrowheads="1"/>
          </p:cNvSpPr>
          <p:nvPr/>
        </p:nvSpPr>
        <p:spPr bwMode="auto">
          <a:xfrm>
            <a:off x="6948488" y="5273675"/>
            <a:ext cx="1727200" cy="503238"/>
          </a:xfrm>
          <a:prstGeom prst="wedgeRoundRectCallout">
            <a:avLst>
              <a:gd name="adj1" fmla="val -86949"/>
              <a:gd name="adj2" fmla="val -129495"/>
              <a:gd name="adj3" fmla="val 16667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buClrTx/>
              <a:buFontTx/>
              <a:buNone/>
            </a:pPr>
            <a:r>
              <a:rPr kumimoji="0" lang="en-US" altLang="zh-CN" b="0">
                <a:solidFill>
                  <a:srgbClr val="FFFF66"/>
                </a:solidFill>
                <a:latin typeface="Arial" charset="0"/>
              </a:rPr>
              <a:t>∵</a:t>
            </a:r>
            <a:r>
              <a:rPr lang="en-US" altLang="zh-CN">
                <a:solidFill>
                  <a:srgbClr val="FFFF66"/>
                </a:solidFill>
                <a:sym typeface="Symbol" pitchFamily="18" charset="2"/>
              </a:rPr>
              <a:t>r(R)</a:t>
            </a:r>
            <a:r>
              <a:rPr lang="en-US" altLang="zh-CN">
                <a:solidFill>
                  <a:srgbClr val="FFFF66"/>
                </a:solidFill>
                <a:sym typeface="Wingdings" pitchFamily="2" charset="2"/>
              </a:rPr>
              <a:t>=R</a:t>
            </a:r>
          </a:p>
        </p:txBody>
      </p:sp>
      <p:sp>
        <p:nvSpPr>
          <p:cNvPr id="229384" name="Rectangle 8"/>
          <p:cNvSpPr>
            <a:spLocks noChangeArrowheads="1"/>
          </p:cNvSpPr>
          <p:nvPr/>
        </p:nvSpPr>
        <p:spPr bwMode="auto">
          <a:xfrm>
            <a:off x="1042988" y="520700"/>
            <a:ext cx="37449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二、闭包的求解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2" grpId="0" animBg="1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61BB8E-CBC6-4AAF-BF26-6E463E6D133A}" type="slidenum">
              <a:rPr lang="en-US" altLang="zh-CN"/>
              <a:pPr/>
              <a:t>77</a:t>
            </a:fld>
            <a:endParaRPr lang="en-US" altLang="zh-CN"/>
          </a:p>
        </p:txBody>
      </p:sp>
      <p:sp>
        <p:nvSpPr>
          <p:cNvPr id="230403" name="Rectangle 3"/>
          <p:cNvSpPr>
            <a:spLocks noChangeArrowheads="1"/>
          </p:cNvSpPr>
          <p:nvPr/>
        </p:nvSpPr>
        <p:spPr bwMode="auto">
          <a:xfrm>
            <a:off x="719138" y="1268413"/>
            <a:ext cx="7632700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3-8.2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是集合</a:t>
            </a:r>
            <a:r>
              <a:rPr lang="en-US" altLang="zh-CN"/>
              <a:t>A</a:t>
            </a:r>
            <a:r>
              <a:rPr lang="zh-CN" altLang="en-US"/>
              <a:t>上的二元关系，则</a:t>
            </a:r>
          </a:p>
          <a:p>
            <a:pPr algn="ctr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r(R)=R∪I</a:t>
            </a:r>
            <a:r>
              <a:rPr lang="en-US" altLang="zh-CN" baseline="-25000"/>
              <a:t>A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证明：设</a:t>
            </a:r>
            <a:r>
              <a:rPr lang="en-US" altLang="zh-CN"/>
              <a:t>R'= R∪I</a:t>
            </a:r>
            <a:r>
              <a:rPr lang="en-US" altLang="zh-CN" baseline="-25000"/>
              <a:t>A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     (1)</a:t>
            </a:r>
            <a:r>
              <a:rPr lang="en-US" altLang="zh-CN">
                <a:sym typeface="Symbol" pitchFamily="18" charset="2"/>
              </a:rPr>
              <a:t></a:t>
            </a:r>
            <a:r>
              <a:rPr lang="en-US" altLang="zh-CN"/>
              <a:t>x∈A</a:t>
            </a:r>
            <a:r>
              <a:rPr lang="zh-CN" altLang="en-US"/>
              <a:t>，</a:t>
            </a:r>
            <a:r>
              <a:rPr lang="en-US" altLang="zh-CN"/>
              <a:t>&lt;x,x&gt;∈I</a:t>
            </a:r>
            <a:r>
              <a:rPr lang="en-US" altLang="zh-CN" baseline="-25000"/>
              <a:t>A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R'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R</a:t>
            </a:r>
            <a:r>
              <a:rPr lang="en-US" altLang="zh-CN">
                <a:cs typeface="Times New Roman" pitchFamily="18" charset="0"/>
              </a:rPr>
              <a:t>'</a:t>
            </a:r>
            <a:r>
              <a:rPr lang="zh-CN" altLang="en-US"/>
              <a:t>在</a:t>
            </a:r>
            <a:r>
              <a:rPr lang="en-US" altLang="zh-CN"/>
              <a:t>A</a:t>
            </a:r>
            <a:r>
              <a:rPr lang="zh-CN" altLang="en-US"/>
              <a:t>上是自反的；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     </a:t>
            </a:r>
            <a:r>
              <a:rPr lang="en-US" altLang="zh-CN"/>
              <a:t>(2)R</a:t>
            </a:r>
            <a:r>
              <a:rPr lang="en-US" altLang="zh-CN">
                <a:sym typeface="Symbol" pitchFamily="18" charset="2"/>
              </a:rPr>
              <a:t> </a:t>
            </a:r>
            <a:r>
              <a:rPr lang="en-US" altLang="zh-CN"/>
              <a:t>R∪I</a:t>
            </a:r>
            <a:r>
              <a:rPr lang="en-US" altLang="zh-CN" baseline="-25000"/>
              <a:t>A</a:t>
            </a:r>
            <a:r>
              <a:rPr lang="en-US" altLang="zh-CN"/>
              <a:t> , </a:t>
            </a:r>
            <a:r>
              <a:rPr lang="zh-CN" altLang="en-US"/>
              <a:t>即</a:t>
            </a:r>
            <a:r>
              <a:rPr lang="en-US" altLang="zh-CN"/>
              <a:t>R'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</a:t>
            </a:r>
            <a:r>
              <a:rPr lang="zh-CN" altLang="en-US"/>
              <a:t>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     </a:t>
            </a:r>
            <a:r>
              <a:rPr lang="en-US" altLang="zh-CN"/>
              <a:t>(3)</a:t>
            </a:r>
            <a:r>
              <a:rPr lang="zh-CN" altLang="en-US"/>
              <a:t>若有自反关系</a:t>
            </a:r>
            <a:r>
              <a:rPr lang="en-US" altLang="zh-CN"/>
              <a:t>R''</a:t>
            </a:r>
            <a:r>
              <a:rPr lang="zh-CN" altLang="en-US"/>
              <a:t>且</a:t>
            </a:r>
            <a:r>
              <a:rPr lang="en-US" altLang="zh-CN"/>
              <a:t>R''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R''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I</a:t>
            </a:r>
            <a:r>
              <a:rPr lang="en-US" altLang="zh-CN" baseline="-25000"/>
              <a:t>A</a:t>
            </a:r>
            <a:r>
              <a:rPr lang="zh-CN" altLang="en-US"/>
              <a:t>，则</a:t>
            </a:r>
            <a:r>
              <a:rPr lang="en-US" altLang="zh-CN"/>
              <a:t>R''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R∪I</a:t>
            </a:r>
            <a:r>
              <a:rPr lang="en-US" altLang="zh-CN" baseline="-25000"/>
              <a:t>A</a:t>
            </a:r>
            <a:r>
              <a:rPr lang="en-US" altLang="zh-CN"/>
              <a:t>=R</a:t>
            </a:r>
            <a:r>
              <a:rPr lang="en-US" altLang="zh-CN">
                <a:cs typeface="Times New Roman" pitchFamily="18" charset="0"/>
              </a:rPr>
              <a:t>'</a:t>
            </a:r>
            <a:r>
              <a:rPr lang="zh-CN" altLang="en-US"/>
              <a:t>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     所以</a:t>
            </a:r>
            <a:r>
              <a:rPr lang="en-US" altLang="zh-CN"/>
              <a:t>r(R)=R∪I</a:t>
            </a:r>
            <a:r>
              <a:rPr lang="en-US" altLang="zh-CN" baseline="-25000"/>
              <a:t>A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A9522-60F0-43D0-9D66-5ED8683862A9}" type="slidenum">
              <a:rPr lang="en-US" altLang="zh-CN"/>
              <a:pPr/>
              <a:t>78</a:t>
            </a:fld>
            <a:endParaRPr lang="en-US" altLang="zh-CN"/>
          </a:p>
        </p:txBody>
      </p:sp>
      <p:sp>
        <p:nvSpPr>
          <p:cNvPr id="231427" name="Rectangle 3"/>
          <p:cNvSpPr>
            <a:spLocks noChangeArrowheads="1"/>
          </p:cNvSpPr>
          <p:nvPr/>
        </p:nvSpPr>
        <p:spPr bwMode="auto">
          <a:xfrm>
            <a:off x="719138" y="1196975"/>
            <a:ext cx="7200900" cy="491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3-8.3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/>
              <a:t>R</a:t>
            </a:r>
            <a:r>
              <a:rPr lang="zh-CN" altLang="en-US"/>
              <a:t>是集合</a:t>
            </a:r>
            <a:r>
              <a:rPr lang="en-US" altLang="zh-CN"/>
              <a:t>A</a:t>
            </a:r>
            <a:r>
              <a:rPr lang="zh-CN" altLang="en-US"/>
              <a:t>上的二元关系，则</a:t>
            </a:r>
          </a:p>
          <a:p>
            <a:pPr algn="ctr"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s(R)=R∪R</a:t>
            </a:r>
            <a:r>
              <a:rPr lang="en-US" altLang="zh-CN" baseline="30000"/>
              <a:t>c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</a:rPr>
              <a:t>证明：</a:t>
            </a:r>
            <a:r>
              <a:rPr lang="zh-CN" altLang="en-US"/>
              <a:t>设</a:t>
            </a:r>
            <a:r>
              <a:rPr lang="en-US" altLang="zh-CN"/>
              <a:t>R'=R∪R</a:t>
            </a:r>
            <a:r>
              <a:rPr lang="en-US" altLang="zh-CN" baseline="30000"/>
              <a:t>c</a:t>
            </a:r>
            <a:r>
              <a:rPr lang="en-US" altLang="zh-CN"/>
              <a:t>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(1)</a:t>
            </a:r>
            <a:r>
              <a:rPr lang="en-US" altLang="zh-CN">
                <a:sym typeface="Symbol" pitchFamily="18" charset="2"/>
              </a:rPr>
              <a:t></a:t>
            </a:r>
            <a:r>
              <a:rPr lang="en-US" altLang="zh-CN"/>
              <a:t>x,y∈A</a:t>
            </a:r>
            <a:r>
              <a:rPr lang="zh-CN" altLang="en-US"/>
              <a:t>，</a:t>
            </a:r>
            <a:r>
              <a:rPr lang="en-US" altLang="zh-CN"/>
              <a:t>&lt;x,y&gt;∈R</a:t>
            </a:r>
            <a:r>
              <a:rPr lang="en-US" altLang="zh-CN">
                <a:cs typeface="Times New Roman" pitchFamily="18" charset="0"/>
              </a:rPr>
              <a:t>'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&lt;x,y&gt;∈R</a:t>
            </a:r>
            <a:r>
              <a:rPr lang="en-US" altLang="zh-CN">
                <a:latin typeface="宋体" charset="-122"/>
                <a:sym typeface="Symbol" pitchFamily="18" charset="2"/>
              </a:rPr>
              <a:t>∨</a:t>
            </a:r>
            <a:r>
              <a:rPr lang="en-US" altLang="zh-CN"/>
              <a:t>&lt;x,y&gt;∈R</a:t>
            </a:r>
            <a:r>
              <a:rPr lang="en-US" altLang="zh-CN" baseline="30000"/>
              <a:t>c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baseline="30000"/>
              <a:t>                              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&lt;y,x&gt;∈R</a:t>
            </a:r>
            <a:r>
              <a:rPr lang="en-US" altLang="zh-CN" baseline="30000"/>
              <a:t>c</a:t>
            </a:r>
            <a:r>
              <a:rPr lang="en-US" altLang="zh-CN">
                <a:latin typeface="宋体" charset="-122"/>
                <a:sym typeface="Symbol" pitchFamily="18" charset="2"/>
              </a:rPr>
              <a:t>∨</a:t>
            </a:r>
            <a:r>
              <a:rPr lang="en-US" altLang="zh-CN"/>
              <a:t>&lt;y,x&gt;∈R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&lt;y,x&gt;∈R</a:t>
            </a:r>
            <a:r>
              <a:rPr lang="en-US" altLang="zh-CN">
                <a:cs typeface="Times New Roman" pitchFamily="18" charset="0"/>
              </a:rPr>
              <a:t>'</a:t>
            </a:r>
            <a:r>
              <a:rPr lang="zh-CN" altLang="en-US"/>
              <a:t>，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/>
              <a:t>所以</a:t>
            </a:r>
            <a:r>
              <a:rPr lang="en-US" altLang="zh-CN"/>
              <a:t>R'</a:t>
            </a:r>
            <a:r>
              <a:rPr lang="zh-CN" altLang="en-US"/>
              <a:t>在</a:t>
            </a:r>
            <a:r>
              <a:rPr lang="en-US" altLang="zh-CN"/>
              <a:t>X</a:t>
            </a:r>
            <a:r>
              <a:rPr lang="zh-CN" altLang="en-US"/>
              <a:t>上是对称的。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(2)</a:t>
            </a:r>
            <a:r>
              <a:rPr lang="zh-CN" altLang="en-US"/>
              <a:t>因</a:t>
            </a:r>
            <a:r>
              <a:rPr lang="en-US" altLang="zh-CN"/>
              <a:t>R</a:t>
            </a:r>
            <a:r>
              <a:rPr lang="en-US" altLang="zh-CN">
                <a:sym typeface="Symbol" pitchFamily="18" charset="2"/>
              </a:rPr>
              <a:t>R∪R</a:t>
            </a:r>
            <a:r>
              <a:rPr lang="en-US" altLang="zh-CN" baseline="30000">
                <a:sym typeface="Symbol" pitchFamily="18" charset="2"/>
              </a:rPr>
              <a:t>c</a:t>
            </a:r>
            <a:r>
              <a:rPr lang="zh-CN" altLang="en-US"/>
              <a:t>，即</a:t>
            </a:r>
            <a:r>
              <a:rPr lang="en-US" altLang="zh-CN"/>
              <a:t>R'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</a:t>
            </a:r>
            <a:r>
              <a:rPr lang="zh-CN" altLang="en-US"/>
              <a:t>。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(3)</a:t>
            </a:r>
            <a:r>
              <a:rPr lang="zh-CN" altLang="en-US"/>
              <a:t>若有对称关系</a:t>
            </a:r>
            <a:r>
              <a:rPr lang="en-US" altLang="zh-CN"/>
              <a:t>R''</a:t>
            </a:r>
            <a:r>
              <a:rPr lang="zh-CN" altLang="en-US"/>
              <a:t>且</a:t>
            </a:r>
            <a:r>
              <a:rPr lang="en-US" altLang="zh-CN"/>
              <a:t>R''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</a:t>
            </a:r>
            <a:r>
              <a:rPr lang="zh-CN" altLang="en-US"/>
              <a:t>，设</a:t>
            </a:r>
            <a:r>
              <a:rPr lang="en-US" altLang="zh-CN"/>
              <a:t>&lt;x,y&gt;∈R'</a:t>
            </a:r>
            <a:r>
              <a:rPr lang="zh-CN" altLang="en-US"/>
              <a:t>，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&lt;x,y&gt;∈R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&lt;x,y&gt;∈R''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/>
              <a:t>&lt;x,y&gt;∈R</a:t>
            </a:r>
            <a:r>
              <a:rPr lang="en-US" altLang="zh-CN" baseline="30000"/>
              <a:t>c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&lt;y,x&gt;∈R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&lt;y,x&gt;∈R''</a:t>
            </a:r>
            <a:r>
              <a:rPr lang="en-US" altLang="zh-CN">
                <a:sym typeface="Symbol" pitchFamily="18" charset="2"/>
              </a:rPr>
              <a:t></a:t>
            </a:r>
            <a:r>
              <a:rPr lang="en-US" altLang="zh-CN"/>
              <a:t>&lt;x,y&gt;∈R''</a:t>
            </a:r>
            <a:r>
              <a:rPr lang="zh-CN" altLang="en-US"/>
              <a:t>，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/>
              <a:t>故</a:t>
            </a:r>
            <a:r>
              <a:rPr lang="en-US" altLang="zh-CN"/>
              <a:t>R''</a:t>
            </a:r>
            <a:r>
              <a:rPr lang="en-US" altLang="zh-CN">
                <a:sym typeface="Symbol" pitchFamily="18" charset="2"/>
              </a:rPr>
              <a:t></a:t>
            </a:r>
            <a:r>
              <a:rPr lang="en-US" altLang="zh-CN"/>
              <a:t>R'</a:t>
            </a:r>
            <a:r>
              <a:rPr lang="zh-CN" altLang="en-US"/>
              <a:t>，所以</a:t>
            </a:r>
            <a:r>
              <a:rPr lang="en-US" altLang="zh-CN"/>
              <a:t>s(R)= </a:t>
            </a:r>
            <a:r>
              <a:rPr lang="en-US" altLang="zh-CN">
                <a:sym typeface="Symbol" pitchFamily="18" charset="2"/>
              </a:rPr>
              <a:t>R∪R</a:t>
            </a:r>
            <a:r>
              <a:rPr lang="en-US" altLang="zh-CN" baseline="30000">
                <a:sym typeface="Symbol" pitchFamily="18" charset="2"/>
              </a:rPr>
              <a:t>c</a:t>
            </a:r>
          </a:p>
        </p:txBody>
      </p:sp>
      <p:sp>
        <p:nvSpPr>
          <p:cNvPr id="231434" name="AutoShape 10"/>
          <p:cNvSpPr>
            <a:spLocks noChangeArrowheads="1"/>
          </p:cNvSpPr>
          <p:nvPr/>
        </p:nvSpPr>
        <p:spPr bwMode="auto">
          <a:xfrm>
            <a:off x="5651500" y="3573463"/>
            <a:ext cx="3313113" cy="576262"/>
          </a:xfrm>
          <a:prstGeom prst="wedgeRoundRectCallout">
            <a:avLst>
              <a:gd name="adj1" fmla="val -53449"/>
              <a:gd name="adj2" fmla="val 259917"/>
              <a:gd name="adj3" fmla="val 16667"/>
            </a:avLst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buClrTx/>
              <a:buFontTx/>
              <a:buNone/>
            </a:pPr>
            <a:r>
              <a:rPr lang="zh-CN" altLang="zh-CN">
                <a:solidFill>
                  <a:schemeClr val="hlink"/>
                </a:solidFill>
                <a:sym typeface="Wingdings" pitchFamily="2" charset="2"/>
              </a:rPr>
              <a:t>因为R''具有对称性</a:t>
            </a:r>
            <a:endParaRPr lang="zh-CN" altLang="en-US">
              <a:solidFill>
                <a:schemeClr val="hlink"/>
              </a:solidFill>
              <a:sym typeface="Wingdings" pitchFamily="2" charset="2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34" grpId="0" animBg="1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577B4D-2DCB-41CA-BBE3-007AD36687FA}" type="slidenum">
              <a:rPr lang="en-US" altLang="zh-CN"/>
              <a:pPr/>
              <a:t>79</a:t>
            </a:fld>
            <a:endParaRPr lang="en-US" altLang="zh-CN"/>
          </a:p>
        </p:txBody>
      </p:sp>
      <p:sp>
        <p:nvSpPr>
          <p:cNvPr id="232484" name="Rectangle 36"/>
          <p:cNvSpPr>
            <a:spLocks noChangeArrowheads="1"/>
          </p:cNvSpPr>
          <p:nvPr/>
        </p:nvSpPr>
        <p:spPr bwMode="auto">
          <a:xfrm>
            <a:off x="2944813" y="6184900"/>
            <a:ext cx="3233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zh-CN" altLang="en-US" sz="2000">
                <a:sym typeface="Symbol" pitchFamily="18" charset="2"/>
              </a:rPr>
              <a:t>所以                 ，由</a:t>
            </a:r>
            <a:r>
              <a:rPr lang="en-US" altLang="zh-CN" sz="2000">
                <a:sym typeface="Symbol" pitchFamily="18" charset="2"/>
              </a:rPr>
              <a:t>a)</a:t>
            </a:r>
            <a:r>
              <a:rPr lang="zh-CN" altLang="en-US" sz="2000">
                <a:sym typeface="Symbol" pitchFamily="18" charset="2"/>
              </a:rPr>
              <a:t>，</a:t>
            </a:r>
            <a:r>
              <a:rPr lang="en-US" altLang="zh-CN" sz="2000">
                <a:sym typeface="Symbol" pitchFamily="18" charset="2"/>
              </a:rPr>
              <a:t>b)</a:t>
            </a:r>
            <a:r>
              <a:rPr lang="zh-CN" altLang="en-US" sz="2000">
                <a:sym typeface="Symbol" pitchFamily="18" charset="2"/>
              </a:rPr>
              <a:t>知</a:t>
            </a:r>
          </a:p>
        </p:txBody>
      </p:sp>
      <p:sp>
        <p:nvSpPr>
          <p:cNvPr id="232450" name="Text Box 2"/>
          <p:cNvSpPr txBox="1">
            <a:spLocks noChangeArrowheads="1"/>
          </p:cNvSpPr>
          <p:nvPr/>
        </p:nvSpPr>
        <p:spPr bwMode="auto">
          <a:xfrm>
            <a:off x="719138" y="2074863"/>
            <a:ext cx="78486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 sz="2000"/>
              <a:t>证明：</a:t>
            </a:r>
            <a:r>
              <a:rPr kumimoji="0" lang="en-US" altLang="zh-CN" sz="2000"/>
              <a:t>a)</a:t>
            </a:r>
            <a:r>
              <a:rPr kumimoji="0" lang="zh-CN" altLang="en-US" sz="2000"/>
              <a:t>先证                 （用归纳法）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 sz="2000"/>
              <a:t>          </a:t>
            </a:r>
            <a:r>
              <a:rPr kumimoji="0" lang="en-US" altLang="zh-CN" sz="2000"/>
              <a:t>(1)</a:t>
            </a:r>
            <a:r>
              <a:rPr kumimoji="0" lang="zh-CN" altLang="en-US" sz="2000"/>
              <a:t>据传递闭包的定义得 </a:t>
            </a:r>
            <a:r>
              <a:rPr kumimoji="0" lang="en-US" altLang="zh-CN" sz="2000"/>
              <a:t>R </a:t>
            </a:r>
            <a:r>
              <a:rPr kumimoji="0" lang="en-US" altLang="zh-CN" sz="2000">
                <a:sym typeface="Symbol" pitchFamily="18" charset="2"/>
              </a:rPr>
              <a:t></a:t>
            </a:r>
            <a:r>
              <a:rPr kumimoji="0" lang="en-US" altLang="zh-CN" sz="2000"/>
              <a:t> t(R)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 sz="2000"/>
              <a:t>          (2)</a:t>
            </a:r>
            <a:r>
              <a:rPr kumimoji="0" lang="zh-CN" altLang="en-US" sz="2000"/>
              <a:t>假定</a:t>
            </a:r>
            <a:r>
              <a:rPr kumimoji="0" lang="en-US" altLang="zh-CN" sz="2000"/>
              <a:t>n&gt;1</a:t>
            </a:r>
            <a:r>
              <a:rPr kumimoji="0" lang="zh-CN" altLang="en-US" sz="2000"/>
              <a:t>时，有</a:t>
            </a:r>
            <a:r>
              <a:rPr kumimoji="0" lang="en-US" altLang="zh-CN" sz="2000"/>
              <a:t>R</a:t>
            </a:r>
            <a:r>
              <a:rPr kumimoji="0" lang="en-US" altLang="zh-CN" sz="2000" baseline="30000"/>
              <a:t>n </a:t>
            </a:r>
            <a:r>
              <a:rPr kumimoji="0" lang="en-US" altLang="zh-CN" sz="2000">
                <a:sym typeface="Symbol" pitchFamily="18" charset="2"/>
              </a:rPr>
              <a:t></a:t>
            </a:r>
            <a:r>
              <a:rPr kumimoji="0" lang="en-US" altLang="zh-CN" sz="2000" baseline="30000"/>
              <a:t> </a:t>
            </a:r>
            <a:r>
              <a:rPr kumimoji="0" lang="en-US" altLang="zh-CN" sz="2000"/>
              <a:t>t(R)</a:t>
            </a:r>
            <a:r>
              <a:rPr kumimoji="0" lang="zh-CN" altLang="en-US" sz="2000"/>
              <a:t>。设</a:t>
            </a:r>
            <a:r>
              <a:rPr kumimoji="0" lang="en-US" altLang="zh-CN" sz="2000"/>
              <a:t>&lt;x,y&gt;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R</a:t>
            </a:r>
            <a:r>
              <a:rPr lang="en-US" altLang="zh-CN" sz="2000" baseline="30000"/>
              <a:t>n+1</a:t>
            </a:r>
            <a:r>
              <a:rPr lang="zh-CN" altLang="en-US" sz="2000"/>
              <a:t>，因为</a:t>
            </a:r>
            <a:r>
              <a:rPr lang="en-US" altLang="zh-CN" sz="2000"/>
              <a:t>R</a:t>
            </a:r>
            <a:r>
              <a:rPr lang="en-US" altLang="zh-CN" sz="2000" baseline="30000"/>
              <a:t>n+1</a:t>
            </a:r>
            <a:r>
              <a:rPr lang="en-US" altLang="zh-CN" sz="2000"/>
              <a:t>=R</a:t>
            </a:r>
            <a:r>
              <a:rPr lang="en-US" altLang="zh-CN" sz="2000" baseline="30000"/>
              <a:t>n</a:t>
            </a:r>
            <a:r>
              <a:rPr lang="en-US" altLang="zh-CN" sz="2000">
                <a:cs typeface="Times New Roman" pitchFamily="18" charset="0"/>
              </a:rPr>
              <a:t>◦</a:t>
            </a:r>
            <a:r>
              <a:rPr lang="en-US" altLang="zh-CN" sz="2000"/>
              <a:t>R</a:t>
            </a:r>
            <a:r>
              <a:rPr lang="zh-CN" altLang="en-US" sz="2000"/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2000"/>
              <a:t>    </a:t>
            </a:r>
            <a:r>
              <a:rPr lang="zh-CN" altLang="en-US" sz="2000">
                <a:sym typeface="Symbol" pitchFamily="18" charset="2"/>
              </a:rPr>
              <a:t></a:t>
            </a:r>
            <a:r>
              <a:rPr lang="en-US" altLang="zh-CN" sz="2000"/>
              <a:t>c(c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X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&lt;x,c&gt; 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 R</a:t>
            </a:r>
            <a:r>
              <a:rPr lang="en-US" altLang="zh-CN" sz="2000" baseline="30000"/>
              <a:t>n 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&lt;c,y&gt; 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 R) 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sz="2000">
                <a:sym typeface="Symbol" pitchFamily="18" charset="2"/>
              </a:rPr>
              <a:t>(</a:t>
            </a:r>
            <a:r>
              <a:rPr lang="en-US" altLang="zh-CN" sz="2000"/>
              <a:t>&lt;x,c&gt; 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 t(R)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&lt;c,y&gt; 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 t(R))</a:t>
            </a:r>
            <a:r>
              <a:rPr lang="en-US" altLang="zh-CN" sz="2000">
                <a:sym typeface="Symbol" pitchFamily="18" charset="2"/>
              </a:rPr>
              <a:t></a:t>
            </a:r>
            <a:r>
              <a:rPr lang="en-US" altLang="zh-CN" sz="2000"/>
              <a:t>&lt;x,y&gt; 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 t(R)</a:t>
            </a:r>
            <a:r>
              <a:rPr lang="en-US" altLang="zh-CN" sz="2000">
                <a:sym typeface="Symbol" pitchFamily="18" charset="2"/>
              </a:rPr>
              <a:t></a:t>
            </a:r>
            <a:r>
              <a:rPr lang="en-US" altLang="zh-CN" sz="2000"/>
              <a:t>R</a:t>
            </a:r>
            <a:r>
              <a:rPr lang="en-US" altLang="zh-CN" sz="2000" baseline="30000"/>
              <a:t>n+1 </a:t>
            </a:r>
            <a:r>
              <a:rPr kumimoji="0" lang="en-US" altLang="zh-CN" sz="2000">
                <a:sym typeface="Symbol" pitchFamily="18" charset="2"/>
              </a:rPr>
              <a:t></a:t>
            </a:r>
            <a:r>
              <a:rPr lang="en-US" altLang="zh-CN" sz="2000"/>
              <a:t> t(R)</a:t>
            </a:r>
            <a:r>
              <a:rPr lang="zh-CN" altLang="en-US" sz="2000"/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2000"/>
              <a:t>故由上</a:t>
            </a:r>
            <a:r>
              <a:rPr lang="en-US" altLang="zh-CN" sz="2000"/>
              <a:t>(1)(2)</a:t>
            </a:r>
            <a:r>
              <a:rPr lang="zh-CN" altLang="en-US" sz="2000"/>
              <a:t>归纳得</a:t>
            </a:r>
          </a:p>
          <a:p>
            <a:pPr>
              <a:lnSpc>
                <a:spcPct val="140000"/>
              </a:lnSpc>
              <a:buClrTx/>
              <a:buFontTx/>
              <a:buNone/>
            </a:pPr>
            <a:r>
              <a:rPr kumimoji="0" lang="zh-CN" altLang="en-US" sz="2000"/>
              <a:t>        </a:t>
            </a:r>
            <a:r>
              <a:rPr kumimoji="0" lang="en-US" altLang="zh-CN" sz="2000"/>
              <a:t>b)</a:t>
            </a:r>
            <a:r>
              <a:rPr kumimoji="0" lang="zh-CN" altLang="en-US" sz="2000"/>
              <a:t>再证</a:t>
            </a:r>
          </a:p>
          <a:p>
            <a:pPr>
              <a:lnSpc>
                <a:spcPct val="140000"/>
              </a:lnSpc>
              <a:buClrTx/>
              <a:buFontTx/>
              <a:buNone/>
            </a:pPr>
            <a:r>
              <a:rPr kumimoji="0" lang="zh-CN" altLang="en-US" sz="2000"/>
              <a:t>    设 </a:t>
            </a:r>
            <a:r>
              <a:rPr kumimoji="0" lang="en-US" altLang="zh-CN" sz="2000"/>
              <a:t>&lt;x,y&gt;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        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&lt;y,z&gt;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          </a:t>
            </a:r>
          </a:p>
          <a:p>
            <a:pPr>
              <a:lnSpc>
                <a:spcPct val="140000"/>
              </a:lnSpc>
              <a:buClrTx/>
              <a:buFontTx/>
              <a:buNone/>
            </a:pPr>
            <a:r>
              <a:rPr lang="en-US" altLang="zh-CN" sz="2000"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zh-CN" sz="2000">
                <a:cs typeface="Times New Roman" pitchFamily="18" charset="0"/>
              </a:rPr>
              <a:t>(</a:t>
            </a:r>
            <a:r>
              <a:rPr lang="en-US" altLang="zh-CN" sz="2000">
                <a:cs typeface="Times New Roman" pitchFamily="18" charset="0"/>
                <a:sym typeface="Symbol" pitchFamily="18" charset="2"/>
              </a:rPr>
              <a:t></a:t>
            </a:r>
            <a:r>
              <a:rPr lang="en-US" altLang="zh-CN" sz="2000"/>
              <a:t>s)(</a:t>
            </a:r>
            <a:r>
              <a:rPr lang="en-US" altLang="zh-CN" sz="2000">
                <a:sym typeface="Symbol" pitchFamily="18" charset="2"/>
              </a:rPr>
              <a:t></a:t>
            </a:r>
            <a:r>
              <a:rPr lang="en-US" altLang="zh-CN" sz="2000"/>
              <a:t>t)(&lt;x,y&gt;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R</a:t>
            </a:r>
            <a:r>
              <a:rPr lang="en-US" altLang="zh-CN" sz="2000" baseline="30000"/>
              <a:t>s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&lt;y,z&gt; 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 R</a:t>
            </a:r>
            <a:r>
              <a:rPr lang="en-US" altLang="zh-CN" sz="2000" baseline="30000"/>
              <a:t>t</a:t>
            </a:r>
            <a:r>
              <a:rPr lang="en-US" altLang="zh-CN" sz="2000"/>
              <a:t>)</a:t>
            </a:r>
          </a:p>
          <a:p>
            <a:pPr>
              <a:lnSpc>
                <a:spcPct val="140000"/>
              </a:lnSpc>
              <a:buClrTx/>
              <a:buFontTx/>
              <a:buNone/>
            </a:pPr>
            <a:r>
              <a:rPr lang="en-US" altLang="zh-CN" sz="2000">
                <a:sym typeface="Symbol" pitchFamily="18" charset="2"/>
              </a:rPr>
              <a:t></a:t>
            </a:r>
            <a:r>
              <a:rPr lang="en-US" altLang="zh-CN" sz="2000"/>
              <a:t>&lt;x,z&gt;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R</a:t>
            </a:r>
            <a:r>
              <a:rPr lang="en-US" altLang="zh-CN" sz="2000" baseline="30000"/>
              <a:t>s</a:t>
            </a:r>
            <a:r>
              <a:rPr lang="en-US" altLang="zh-CN" sz="2000">
                <a:cs typeface="Times New Roman" pitchFamily="18" charset="0"/>
              </a:rPr>
              <a:t>◦</a:t>
            </a:r>
            <a:r>
              <a:rPr lang="en-US" altLang="zh-CN" sz="2000"/>
              <a:t>R</a:t>
            </a:r>
            <a:r>
              <a:rPr lang="en-US" altLang="zh-CN" sz="2000" baseline="30000"/>
              <a:t>t</a:t>
            </a:r>
          </a:p>
        </p:txBody>
      </p:sp>
      <p:grpSp>
        <p:nvGrpSpPr>
          <p:cNvPr id="232473" name="Group 25"/>
          <p:cNvGrpSpPr>
            <a:grpSpLocks/>
          </p:cNvGrpSpPr>
          <p:nvPr/>
        </p:nvGrpSpPr>
        <p:grpSpPr bwMode="auto">
          <a:xfrm>
            <a:off x="1187450" y="1052513"/>
            <a:ext cx="6351588" cy="1173162"/>
            <a:chOff x="295" y="845"/>
            <a:chExt cx="4037" cy="735"/>
          </a:xfrm>
        </p:grpSpPr>
        <p:sp>
          <p:nvSpPr>
            <p:cNvPr id="232451" name="Rectangle 3"/>
            <p:cNvSpPr>
              <a:spLocks noChangeArrowheads="1"/>
            </p:cNvSpPr>
            <p:nvPr/>
          </p:nvSpPr>
          <p:spPr bwMode="auto">
            <a:xfrm>
              <a:off x="295" y="845"/>
              <a:ext cx="4037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buClrTx/>
                <a:buFontTx/>
                <a:buNone/>
              </a:pPr>
              <a:r>
                <a:rPr lang="zh-CN" altLang="en-US">
                  <a:solidFill>
                    <a:schemeClr val="hlink"/>
                  </a:solidFill>
                </a:rPr>
                <a:t>定理</a:t>
              </a:r>
              <a:r>
                <a:rPr lang="en-US" altLang="zh-CN">
                  <a:solidFill>
                    <a:schemeClr val="hlink"/>
                  </a:solidFill>
                </a:rPr>
                <a:t>3-8.4</a:t>
              </a:r>
              <a:r>
                <a:rPr lang="en-US" altLang="zh-CN"/>
                <a:t>  </a:t>
              </a:r>
              <a:r>
                <a:rPr lang="zh-CN" altLang="en-US"/>
                <a:t>设</a:t>
              </a:r>
              <a:r>
                <a:rPr lang="en-US" altLang="zh-CN"/>
                <a:t>R</a:t>
              </a:r>
              <a:r>
                <a:rPr lang="zh-CN" altLang="en-US"/>
                <a:t>是集合</a:t>
              </a:r>
              <a:r>
                <a:rPr lang="en-US" altLang="zh-CN"/>
                <a:t>X</a:t>
              </a:r>
              <a:r>
                <a:rPr lang="zh-CN" altLang="en-US"/>
                <a:t>上的二元关系，则        </a:t>
              </a:r>
            </a:p>
          </p:txBody>
        </p:sp>
        <p:graphicFrame>
          <p:nvGraphicFramePr>
            <p:cNvPr id="232452" name="Object 4"/>
            <p:cNvGraphicFramePr>
              <a:graphicFrameLocks noChangeAspect="1"/>
            </p:cNvGraphicFramePr>
            <p:nvPr/>
          </p:nvGraphicFramePr>
          <p:xfrm>
            <a:off x="1184" y="1140"/>
            <a:ext cx="1874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435" name="Equation" r:id="rId3" imgW="2971800" imgH="698400" progId="Equation.DSMT4">
                    <p:embed/>
                  </p:oleObj>
                </mc:Choice>
                <mc:Fallback>
                  <p:oleObj name="Equation" r:id="rId3" imgW="2971800" imgH="698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4" y="1140"/>
                          <a:ext cx="1874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2453" name="Object 5"/>
          <p:cNvGraphicFramePr>
            <a:graphicFrameLocks noChangeAspect="1"/>
          </p:cNvGraphicFramePr>
          <p:nvPr/>
        </p:nvGraphicFramePr>
        <p:xfrm>
          <a:off x="2422525" y="2060575"/>
          <a:ext cx="10763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36" name="Equation" r:id="rId5" imgW="1066680" imgH="571320" progId="Equation.DSMT4">
                  <p:embed/>
                </p:oleObj>
              </mc:Choice>
              <mc:Fallback>
                <p:oleObj name="Equation" r:id="rId5" imgW="1066680" imgH="5713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2060575"/>
                        <a:ext cx="10763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70" name="Object 22"/>
          <p:cNvGraphicFramePr>
            <a:graphicFrameLocks noChangeAspect="1"/>
          </p:cNvGraphicFramePr>
          <p:nvPr/>
        </p:nvGraphicFramePr>
        <p:xfrm>
          <a:off x="2268538" y="4437063"/>
          <a:ext cx="107632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37" name="Equation" r:id="rId7" imgW="1066680" imgH="571320" progId="Equation.DSMT4">
                  <p:embed/>
                </p:oleObj>
              </mc:Choice>
              <mc:Fallback>
                <p:oleObj name="Equation" r:id="rId7" imgW="1066680" imgH="57132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437063"/>
                        <a:ext cx="107632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71" name="Object 23"/>
          <p:cNvGraphicFramePr>
            <a:graphicFrameLocks noChangeAspect="1"/>
          </p:cNvGraphicFramePr>
          <p:nvPr/>
        </p:nvGraphicFramePr>
        <p:xfrm>
          <a:off x="2268538" y="4941888"/>
          <a:ext cx="4889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38" name="Equation" r:id="rId9" imgW="482400" imgH="571320" progId="Equation.DSMT4">
                  <p:embed/>
                </p:oleObj>
              </mc:Choice>
              <mc:Fallback>
                <p:oleObj name="Equation" r:id="rId9" imgW="482400" imgH="57132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941888"/>
                        <a:ext cx="488950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72" name="Object 24"/>
          <p:cNvGraphicFramePr>
            <a:graphicFrameLocks noChangeAspect="1"/>
          </p:cNvGraphicFramePr>
          <p:nvPr/>
        </p:nvGraphicFramePr>
        <p:xfrm>
          <a:off x="3851275" y="4927600"/>
          <a:ext cx="48736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39" name="Equation" r:id="rId11" imgW="482400" imgH="571320" progId="Equation.DSMT4">
                  <p:embed/>
                </p:oleObj>
              </mc:Choice>
              <mc:Fallback>
                <p:oleObj name="Equation" r:id="rId11" imgW="482400" imgH="5713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4927600"/>
                        <a:ext cx="487363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74" name="Object 26"/>
          <p:cNvGraphicFramePr>
            <a:graphicFrameLocks noChangeAspect="1"/>
          </p:cNvGraphicFramePr>
          <p:nvPr/>
        </p:nvGraphicFramePr>
        <p:xfrm>
          <a:off x="3059113" y="4017963"/>
          <a:ext cx="10763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40" name="Equation" r:id="rId13" imgW="1066680" imgH="571320" progId="Equation.DSMT4">
                  <p:embed/>
                </p:oleObj>
              </mc:Choice>
              <mc:Fallback>
                <p:oleObj name="Equation" r:id="rId13" imgW="1066680" imgH="57132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017963"/>
                        <a:ext cx="10763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75" name="AutoShape 27"/>
          <p:cNvSpPr>
            <a:spLocks noChangeArrowheads="1"/>
          </p:cNvSpPr>
          <p:nvPr/>
        </p:nvSpPr>
        <p:spPr bwMode="auto">
          <a:xfrm>
            <a:off x="5795963" y="4364038"/>
            <a:ext cx="2376487" cy="504825"/>
          </a:xfrm>
          <a:prstGeom prst="wedgeRoundRectCallout">
            <a:avLst>
              <a:gd name="adj1" fmla="val -112394"/>
              <a:gd name="adj2" fmla="val -110380"/>
              <a:gd name="adj3" fmla="val 16667"/>
            </a:avLst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buClrTx/>
              <a:buFontTx/>
              <a:buNone/>
            </a:pPr>
            <a:r>
              <a:rPr lang="en-US" altLang="zh-CN" sz="2000"/>
              <a:t>t(R)</a:t>
            </a:r>
            <a:r>
              <a:rPr lang="zh-CN" altLang="en-US" sz="2000"/>
              <a:t>是传递的</a:t>
            </a:r>
          </a:p>
        </p:txBody>
      </p:sp>
      <p:sp>
        <p:nvSpPr>
          <p:cNvPr id="232477" name="Rectangle 29"/>
          <p:cNvSpPr>
            <a:spLocks noChangeArrowheads="1"/>
          </p:cNvSpPr>
          <p:nvPr/>
        </p:nvSpPr>
        <p:spPr bwMode="auto">
          <a:xfrm>
            <a:off x="755650" y="6124575"/>
            <a:ext cx="2327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000">
                <a:sym typeface="Symbol" pitchFamily="18" charset="2"/>
              </a:rPr>
              <a:t> </a:t>
            </a:r>
            <a:r>
              <a:rPr lang="en-US" altLang="zh-CN" sz="2000"/>
              <a:t>&lt;x,z&gt;</a:t>
            </a:r>
            <a:r>
              <a:rPr lang="en-US" altLang="zh-CN" sz="2000">
                <a:sym typeface="Symbol" pitchFamily="18" charset="2"/>
              </a:rPr>
              <a:t> </a:t>
            </a:r>
            <a:r>
              <a:rPr lang="en-US" altLang="zh-CN">
                <a:sym typeface="Symbol" pitchFamily="18" charset="2"/>
              </a:rPr>
              <a:t>         </a:t>
            </a:r>
            <a:r>
              <a:rPr lang="zh-CN" altLang="en-US">
                <a:sym typeface="Symbol" pitchFamily="18" charset="2"/>
              </a:rPr>
              <a:t>，</a:t>
            </a:r>
          </a:p>
        </p:txBody>
      </p:sp>
      <p:graphicFrame>
        <p:nvGraphicFramePr>
          <p:cNvPr id="232478" name="Object 30"/>
          <p:cNvGraphicFramePr>
            <a:graphicFrameLocks noChangeAspect="1"/>
          </p:cNvGraphicFramePr>
          <p:nvPr/>
        </p:nvGraphicFramePr>
        <p:xfrm>
          <a:off x="2052638" y="6096000"/>
          <a:ext cx="4889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41" name="Equation" r:id="rId15" imgW="482400" imgH="571320" progId="Equation.DSMT4">
                  <p:embed/>
                </p:oleObj>
              </mc:Choice>
              <mc:Fallback>
                <p:oleObj name="Equation" r:id="rId15" imgW="482400" imgH="57132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6096000"/>
                        <a:ext cx="4889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79" name="AutoShape 31"/>
          <p:cNvSpPr>
            <a:spLocks noChangeArrowheads="1"/>
          </p:cNvSpPr>
          <p:nvPr/>
        </p:nvSpPr>
        <p:spPr bwMode="auto">
          <a:xfrm>
            <a:off x="6300788" y="5013325"/>
            <a:ext cx="2376487" cy="649288"/>
          </a:xfrm>
          <a:prstGeom prst="wedgeRoundRectCallout">
            <a:avLst>
              <a:gd name="adj1" fmla="val -211120"/>
              <a:gd name="adj2" fmla="val 150731"/>
              <a:gd name="adj3" fmla="val 16667"/>
            </a:avLst>
          </a:prstGeom>
          <a:solidFill>
            <a:schemeClr val="accent1">
              <a:alpha val="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buClrTx/>
              <a:buFontTx/>
              <a:buNone/>
            </a:pPr>
            <a:r>
              <a:rPr lang="en-US" altLang="zh-CN" sz="2000"/>
              <a:t>      </a:t>
            </a:r>
            <a:r>
              <a:rPr lang="zh-CN" altLang="en-US" sz="2000"/>
              <a:t>是传递的</a:t>
            </a:r>
          </a:p>
        </p:txBody>
      </p:sp>
      <p:graphicFrame>
        <p:nvGraphicFramePr>
          <p:cNvPr id="232481" name="Object 33"/>
          <p:cNvGraphicFramePr>
            <a:graphicFrameLocks noChangeAspect="1"/>
          </p:cNvGraphicFramePr>
          <p:nvPr/>
        </p:nvGraphicFramePr>
        <p:xfrm>
          <a:off x="6530975" y="5013325"/>
          <a:ext cx="4889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42" name="Equation" r:id="rId16" imgW="482400" imgH="571320" progId="Equation.DSMT4">
                  <p:embed/>
                </p:oleObj>
              </mc:Choice>
              <mc:Fallback>
                <p:oleObj name="Equation" r:id="rId16" imgW="482400" imgH="57132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75" y="5013325"/>
                        <a:ext cx="4889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82" name="Object 34"/>
          <p:cNvGraphicFramePr>
            <a:graphicFrameLocks noChangeAspect="1"/>
          </p:cNvGraphicFramePr>
          <p:nvPr/>
        </p:nvGraphicFramePr>
        <p:xfrm>
          <a:off x="3635375" y="6096000"/>
          <a:ext cx="10763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43" name="Equation" r:id="rId17" imgW="1066680" imgH="571320" progId="Equation.DSMT4">
                  <p:embed/>
                </p:oleObj>
              </mc:Choice>
              <mc:Fallback>
                <p:oleObj name="Equation" r:id="rId17" imgW="1066680" imgH="57132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6096000"/>
                        <a:ext cx="107632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83" name="Object 35"/>
          <p:cNvGraphicFramePr>
            <a:graphicFrameLocks noChangeAspect="1"/>
          </p:cNvGraphicFramePr>
          <p:nvPr/>
        </p:nvGraphicFramePr>
        <p:xfrm>
          <a:off x="6156325" y="6092825"/>
          <a:ext cx="10509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444" name="Equation" r:id="rId18" imgW="1041120" imgH="571320" progId="Equation.DSMT4">
                  <p:embed/>
                </p:oleObj>
              </mc:Choice>
              <mc:Fallback>
                <p:oleObj name="Equation" r:id="rId18" imgW="1041120" imgH="57132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6092825"/>
                        <a:ext cx="105092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23247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2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2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2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2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2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2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2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2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84" grpId="0"/>
      <p:bldP spid="232475" grpId="0" animBg="1" autoUpdateAnimBg="0"/>
      <p:bldP spid="232477" grpId="0"/>
      <p:bldP spid="232479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AD1B141-D111-4283-BA30-9959D8BF9E68}" type="slidenum">
              <a:rPr lang="en-US" altLang="zh-CN"/>
              <a:pPr/>
              <a:t>80</a:t>
            </a:fld>
            <a:endParaRPr lang="en-US" altLang="zh-CN"/>
          </a:p>
        </p:txBody>
      </p:sp>
      <p:sp>
        <p:nvSpPr>
          <p:cNvPr id="233479" name="Rectangle 7"/>
          <p:cNvSpPr>
            <a:spLocks noChangeArrowheads="1"/>
          </p:cNvSpPr>
          <p:nvPr/>
        </p:nvSpPr>
        <p:spPr bwMode="auto">
          <a:xfrm>
            <a:off x="719138" y="1250950"/>
            <a:ext cx="7777162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A={a, b, c}</a:t>
            </a:r>
            <a:r>
              <a:rPr lang="zh-CN" altLang="en-US"/>
              <a:t>，</a:t>
            </a:r>
            <a:r>
              <a:rPr lang="en-US" altLang="zh-CN"/>
              <a:t>R</a:t>
            </a:r>
            <a:r>
              <a:rPr lang="zh-CN" altLang="en-US"/>
              <a:t>是</a:t>
            </a:r>
            <a:r>
              <a:rPr lang="en-US" altLang="zh-CN"/>
              <a:t>A</a:t>
            </a:r>
            <a:r>
              <a:rPr lang="zh-CN" altLang="en-US"/>
              <a:t>上的二元关系，且给定</a:t>
            </a:r>
            <a:r>
              <a:rPr lang="en-US" altLang="zh-CN"/>
              <a:t>R={&lt;a, b&gt;, &lt;b, c&gt;,&lt;c, a&gt;}</a:t>
            </a:r>
            <a:r>
              <a:rPr lang="zh-CN" altLang="en-US"/>
              <a:t>，求：</a:t>
            </a:r>
            <a:r>
              <a:rPr lang="en-US" altLang="zh-CN"/>
              <a:t>r(R)</a:t>
            </a:r>
            <a:r>
              <a:rPr lang="zh-CN" altLang="en-US"/>
              <a:t>，</a:t>
            </a:r>
            <a:r>
              <a:rPr lang="en-US" altLang="zh-CN"/>
              <a:t>s(R)</a:t>
            </a:r>
            <a:r>
              <a:rPr lang="zh-CN" altLang="en-US"/>
              <a:t>，</a:t>
            </a:r>
            <a:r>
              <a:rPr lang="en-US" altLang="zh-CN"/>
              <a:t>t(R)</a:t>
            </a:r>
            <a:r>
              <a:rPr lang="zh-CN" altLang="en-US"/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解：</a:t>
            </a:r>
            <a:r>
              <a:rPr lang="en-US" altLang="zh-CN"/>
              <a:t>r(R)=R∪I</a:t>
            </a:r>
            <a:r>
              <a:rPr lang="en-US" altLang="zh-CN" baseline="-25000"/>
              <a:t>A</a:t>
            </a:r>
            <a:r>
              <a:rPr lang="en-US" altLang="zh-CN"/>
              <a:t>={&lt;a,b&gt;,&lt;b,c&gt;,&lt;c,a&gt;,&lt;a,a&gt;,&lt;b,b&gt;,&lt;c,c&gt;}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s(R)=R∪R</a:t>
            </a:r>
            <a:r>
              <a:rPr lang="en-US" altLang="zh-CN" baseline="30000"/>
              <a:t>c</a:t>
            </a:r>
            <a:r>
              <a:rPr lang="en-US" altLang="zh-CN"/>
              <a:t>={&lt;a,b&gt;,&lt;b,a&gt;,&lt;b,c&gt;,&lt;c,b&gt;,&lt;c,a&gt;,&lt;a,c&gt;}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latin typeface="Arial" charset="0"/>
              </a:rPr>
              <a:t>       </a:t>
            </a:r>
            <a:r>
              <a:rPr lang="en-US" altLang="zh-CN"/>
              <a:t>t(R)=?</a:t>
            </a:r>
          </a:p>
        </p:txBody>
      </p:sp>
      <p:sp>
        <p:nvSpPr>
          <p:cNvPr id="233482" name="Rectangle 10"/>
          <p:cNvSpPr>
            <a:spLocks noChangeArrowheads="1"/>
          </p:cNvSpPr>
          <p:nvPr/>
        </p:nvSpPr>
        <p:spPr bwMode="auto">
          <a:xfrm>
            <a:off x="719138" y="3513138"/>
            <a:ext cx="7632700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用关系矩阵表示关系时，相应闭包求法为：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1)M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r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=M+E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2) M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s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 =M+M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'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3) M</a:t>
            </a:r>
            <a:r>
              <a:rPr lang="en-US" altLang="zh-CN" baseline="-25000">
                <a:solidFill>
                  <a:schemeClr val="tx1"/>
                </a:solidFill>
                <a:sym typeface="Symbol" pitchFamily="18" charset="2"/>
              </a:rPr>
              <a:t>t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=M+M</a:t>
            </a:r>
            <a:r>
              <a:rPr lang="en-US" altLang="zh-CN" baseline="30000">
                <a:solidFill>
                  <a:schemeClr val="tx1"/>
                </a:solidFill>
                <a:sym typeface="Symbol" pitchFamily="18" charset="2"/>
              </a:rPr>
              <a:t>2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+M</a:t>
            </a:r>
            <a:r>
              <a:rPr lang="en-US" altLang="zh-CN" baseline="30000">
                <a:solidFill>
                  <a:schemeClr val="tx1"/>
                </a:solidFill>
                <a:sym typeface="Symbol" pitchFamily="18" charset="2"/>
              </a:rPr>
              <a:t>3</a:t>
            </a:r>
            <a:r>
              <a:rPr lang="en-US" altLang="zh-CN">
                <a:solidFill>
                  <a:schemeClr val="tx1"/>
                </a:solidFill>
                <a:sym typeface="Symbol" pitchFamily="18" charset="2"/>
              </a:rPr>
              <a:t>+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…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其中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M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为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R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的关系矩阵，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E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是单位矩阵，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M</a:t>
            </a:r>
            <a:r>
              <a:rPr lang="en-US" altLang="zh-CN">
                <a:solidFill>
                  <a:schemeClr val="tx1"/>
                </a:solidFill>
                <a:cs typeface="Times New Roman" pitchFamily="18" charset="0"/>
                <a:sym typeface="Wingdings" pitchFamily="2" charset="2"/>
              </a:rPr>
              <a:t>'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是</a:t>
            </a:r>
            <a:r>
              <a:rPr lang="en-US" altLang="zh-CN">
                <a:solidFill>
                  <a:schemeClr val="tx1"/>
                </a:solidFill>
                <a:sym typeface="Wingdings" pitchFamily="2" charset="2"/>
              </a:rPr>
              <a:t>M</a:t>
            </a:r>
            <a:r>
              <a:rPr lang="zh-CN" altLang="en-US">
                <a:solidFill>
                  <a:schemeClr val="tx1"/>
                </a:solidFill>
                <a:sym typeface="Wingdings" pitchFamily="2" charset="2"/>
              </a:rPr>
              <a:t>的转置矩阵。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C4B8F5-D327-49B2-B181-3C4AC2B08A76}" type="slidenum">
              <a:rPr lang="en-US" altLang="zh-CN"/>
              <a:pPr/>
              <a:t>81</a:t>
            </a:fld>
            <a:endParaRPr lang="en-US" altLang="zh-CN"/>
          </a:p>
        </p:txBody>
      </p:sp>
      <p:graphicFrame>
        <p:nvGraphicFramePr>
          <p:cNvPr id="431109" name="Object 5"/>
          <p:cNvGraphicFramePr>
            <a:graphicFrameLocks noChangeAspect="1"/>
          </p:cNvGraphicFramePr>
          <p:nvPr/>
        </p:nvGraphicFramePr>
        <p:xfrm>
          <a:off x="1052513" y="3552825"/>
          <a:ext cx="4456112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95" name="Equation" r:id="rId3" imgW="4457520" imgH="1130040" progId="Equation.DSMT4">
                  <p:embed/>
                </p:oleObj>
              </mc:Choice>
              <mc:Fallback>
                <p:oleObj name="Equation" r:id="rId3" imgW="4457520" imgH="1130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552825"/>
                        <a:ext cx="4456112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0" name="Object 6"/>
          <p:cNvGraphicFramePr>
            <a:graphicFrameLocks noChangeAspect="1"/>
          </p:cNvGraphicFramePr>
          <p:nvPr/>
        </p:nvGraphicFramePr>
        <p:xfrm>
          <a:off x="1052513" y="2428875"/>
          <a:ext cx="4456112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96" name="Equation" r:id="rId5" imgW="4457520" imgH="1130040" progId="Equation.DSMT4">
                  <p:embed/>
                </p:oleObj>
              </mc:Choice>
              <mc:Fallback>
                <p:oleObj name="Equation" r:id="rId5" imgW="4457520" imgH="1130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2428875"/>
                        <a:ext cx="4456112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1" name="Object 7"/>
          <p:cNvGraphicFramePr>
            <a:graphicFrameLocks noChangeAspect="1"/>
          </p:cNvGraphicFramePr>
          <p:nvPr/>
        </p:nvGraphicFramePr>
        <p:xfrm>
          <a:off x="3276600" y="1320800"/>
          <a:ext cx="445452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97" name="Equation" r:id="rId7" imgW="4457520" imgH="1130040" progId="Equation.DSMT4">
                  <p:embed/>
                </p:oleObj>
              </mc:Choice>
              <mc:Fallback>
                <p:oleObj name="Equation" r:id="rId7" imgW="4457520" imgH="1130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320800"/>
                        <a:ext cx="4454525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12" name="Text Box 8"/>
          <p:cNvSpPr txBox="1">
            <a:spLocks noChangeArrowheads="1"/>
          </p:cNvSpPr>
          <p:nvPr/>
        </p:nvSpPr>
        <p:spPr bwMode="auto">
          <a:xfrm>
            <a:off x="971550" y="4618038"/>
            <a:ext cx="55451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kumimoji="0" lang="en-US" altLang="zh-CN"/>
              <a:t>R</a:t>
            </a:r>
            <a:r>
              <a:rPr kumimoji="0" lang="en-US" altLang="zh-CN" baseline="30000"/>
              <a:t>4</a:t>
            </a:r>
            <a:r>
              <a:rPr kumimoji="0" lang="en-US" altLang="zh-CN"/>
              <a:t>=R=R</a:t>
            </a:r>
            <a:r>
              <a:rPr kumimoji="0" lang="en-US" altLang="zh-CN" baseline="30000"/>
              <a:t>3n+1</a:t>
            </a:r>
            <a:r>
              <a:rPr kumimoji="0" lang="zh-CN" altLang="en-US"/>
              <a:t>，</a:t>
            </a:r>
            <a:r>
              <a:rPr kumimoji="0" lang="en-US" altLang="zh-CN"/>
              <a:t>R</a:t>
            </a:r>
            <a:r>
              <a:rPr kumimoji="0" lang="en-US" altLang="zh-CN" baseline="30000"/>
              <a:t>5</a:t>
            </a:r>
            <a:r>
              <a:rPr kumimoji="0" lang="en-US" altLang="zh-CN"/>
              <a:t>=R</a:t>
            </a:r>
            <a:r>
              <a:rPr kumimoji="0" lang="en-US" altLang="zh-CN" baseline="30000"/>
              <a:t>4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R=R</a:t>
            </a:r>
            <a:r>
              <a:rPr lang="en-US" altLang="zh-CN" baseline="30000"/>
              <a:t>2</a:t>
            </a:r>
            <a:r>
              <a:rPr lang="en-US" altLang="zh-CN"/>
              <a:t>=R</a:t>
            </a:r>
            <a:r>
              <a:rPr lang="en-US" altLang="zh-CN" baseline="30000"/>
              <a:t>3n+2</a:t>
            </a:r>
            <a:r>
              <a:rPr lang="zh-CN" altLang="en-US"/>
              <a:t>，</a:t>
            </a:r>
            <a:r>
              <a:rPr lang="en-US" altLang="zh-CN"/>
              <a:t>R</a:t>
            </a:r>
            <a:r>
              <a:rPr lang="en-US" altLang="zh-CN" baseline="30000"/>
              <a:t>6</a:t>
            </a:r>
            <a:r>
              <a:rPr lang="en-US" altLang="zh-CN"/>
              <a:t>=R</a:t>
            </a:r>
            <a:r>
              <a:rPr lang="en-US" altLang="zh-CN" baseline="30000"/>
              <a:t>5</a:t>
            </a:r>
            <a:r>
              <a:rPr lang="en-US" altLang="zh-CN">
                <a:cs typeface="Times New Roman" pitchFamily="18" charset="0"/>
              </a:rPr>
              <a:t>◦</a:t>
            </a:r>
            <a:r>
              <a:rPr lang="en-US" altLang="zh-CN"/>
              <a:t>R=R</a:t>
            </a:r>
            <a:r>
              <a:rPr lang="en-US" altLang="zh-CN" baseline="30000"/>
              <a:t>3</a:t>
            </a:r>
            <a:r>
              <a:rPr lang="en-US" altLang="zh-CN"/>
              <a:t>=R</a:t>
            </a:r>
            <a:r>
              <a:rPr lang="en-US" altLang="zh-CN" baseline="30000"/>
              <a:t>3n+3</a:t>
            </a:r>
          </a:p>
          <a:p>
            <a:pPr>
              <a:buClrTx/>
              <a:buFontTx/>
              <a:buNone/>
            </a:pPr>
            <a:r>
              <a:rPr lang="zh-CN" altLang="en-US"/>
              <a:t>故</a:t>
            </a:r>
            <a:r>
              <a:rPr lang="en-US" altLang="zh-CN"/>
              <a:t>t(R)=R∪R</a:t>
            </a:r>
            <a:r>
              <a:rPr lang="en-US" altLang="zh-CN" baseline="30000"/>
              <a:t>2</a:t>
            </a:r>
            <a:r>
              <a:rPr lang="en-US" altLang="zh-CN"/>
              <a:t>∪R</a:t>
            </a:r>
            <a:r>
              <a:rPr lang="en-US" altLang="zh-CN" baseline="30000"/>
              <a:t>3</a:t>
            </a:r>
            <a:r>
              <a:rPr lang="en-US" altLang="zh-CN"/>
              <a:t>∪…=R∪R</a:t>
            </a:r>
            <a:r>
              <a:rPr lang="en-US" altLang="zh-CN" baseline="30000"/>
              <a:t>2</a:t>
            </a:r>
            <a:r>
              <a:rPr lang="en-US" altLang="zh-CN"/>
              <a:t>∪R</a:t>
            </a:r>
            <a:r>
              <a:rPr lang="en-US" altLang="zh-CN" baseline="30000"/>
              <a:t>3</a:t>
            </a:r>
          </a:p>
        </p:txBody>
      </p:sp>
      <p:graphicFrame>
        <p:nvGraphicFramePr>
          <p:cNvPr id="431113" name="Object 9"/>
          <p:cNvGraphicFramePr>
            <a:graphicFrameLocks noChangeAspect="1"/>
          </p:cNvGraphicFramePr>
          <p:nvPr/>
        </p:nvGraphicFramePr>
        <p:xfrm>
          <a:off x="1116013" y="1320800"/>
          <a:ext cx="1776412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98" name="Equation" r:id="rId9" imgW="1777680" imgH="1130040" progId="Equation.DSMT4">
                  <p:embed/>
                </p:oleObj>
              </mc:Choice>
              <mc:Fallback>
                <p:oleObj name="Equation" r:id="rId9" imgW="1777680" imgH="1130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320800"/>
                        <a:ext cx="1776412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1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22B3DC-53E2-49CB-8F59-5FAB7614EDF7}" type="slidenum">
              <a:rPr lang="en-US" altLang="zh-CN"/>
              <a:pPr/>
              <a:t>82</a:t>
            </a:fld>
            <a:endParaRPr lang="en-US" altLang="zh-CN"/>
          </a:p>
        </p:txBody>
      </p:sp>
      <p:sp>
        <p:nvSpPr>
          <p:cNvPr id="234498" name="Rectangle 2"/>
          <p:cNvSpPr>
            <a:spLocks noChangeArrowheads="1"/>
          </p:cNvSpPr>
          <p:nvPr/>
        </p:nvSpPr>
        <p:spPr bwMode="auto">
          <a:xfrm>
            <a:off x="719138" y="2276475"/>
            <a:ext cx="8101012" cy="341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2200">
                <a:solidFill>
                  <a:schemeClr val="tx1"/>
                </a:solidFill>
              </a:rPr>
              <a:t>证明</a:t>
            </a:r>
            <a:r>
              <a:rPr lang="zh-CN" altLang="en-US" sz="2200">
                <a:sym typeface="Wingdings" pitchFamily="2" charset="2"/>
              </a:rPr>
              <a:t>：</a:t>
            </a:r>
            <a:r>
              <a:rPr lang="en-US" altLang="zh-CN" sz="2000">
                <a:sym typeface="Wingdings" pitchFamily="2" charset="2"/>
              </a:rPr>
              <a:t>(1)</a:t>
            </a:r>
            <a:r>
              <a:rPr lang="zh-CN" altLang="en-US" sz="2000"/>
              <a:t>记</a:t>
            </a:r>
            <a:r>
              <a:rPr lang="en-US" altLang="zh-CN" sz="2000"/>
              <a:t>t(R)=R</a:t>
            </a:r>
            <a:r>
              <a:rPr lang="en-US" altLang="zh-CN" sz="2000" baseline="30000"/>
              <a:t>+</a:t>
            </a:r>
            <a:r>
              <a:rPr lang="zh-CN" altLang="en-US" sz="2000"/>
              <a:t>，</a:t>
            </a:r>
            <a:r>
              <a:rPr lang="en-US" altLang="zh-CN" sz="2000"/>
              <a:t>(</a:t>
            </a:r>
            <a:r>
              <a:rPr lang="en-US" altLang="zh-CN" sz="2000">
                <a:sym typeface="Symbol" pitchFamily="18" charset="2"/>
              </a:rPr>
              <a:t></a:t>
            </a:r>
            <a:r>
              <a:rPr lang="en-US" altLang="zh-CN" sz="2000"/>
              <a:t>x</a:t>
            </a:r>
            <a:r>
              <a:rPr lang="en-US" altLang="zh-CN" sz="2000" baseline="-25000"/>
              <a:t>i</a:t>
            </a:r>
            <a:r>
              <a:rPr lang="en-US" altLang="zh-CN" sz="2000"/>
              <a:t>)(</a:t>
            </a:r>
            <a:r>
              <a:rPr lang="en-US" altLang="zh-CN" sz="2000">
                <a:sym typeface="Symbol" pitchFamily="18" charset="2"/>
              </a:rPr>
              <a:t></a:t>
            </a:r>
            <a:r>
              <a:rPr lang="en-US" altLang="zh-CN" sz="2000"/>
              <a:t>x</a:t>
            </a:r>
            <a:r>
              <a:rPr lang="en-US" altLang="zh-CN" sz="2000" baseline="-25000"/>
              <a:t>j</a:t>
            </a:r>
            <a:r>
              <a:rPr lang="en-US" altLang="zh-CN" sz="2000">
                <a:sym typeface="Symbol" pitchFamily="18" charset="2"/>
              </a:rPr>
              <a:t>)(</a:t>
            </a:r>
            <a:r>
              <a:rPr lang="en-US" altLang="zh-CN" sz="2000"/>
              <a:t>x</a:t>
            </a:r>
            <a:r>
              <a:rPr lang="en-US" altLang="zh-CN" sz="2000" baseline="-25000"/>
              <a:t>i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X∧x</a:t>
            </a:r>
            <a:r>
              <a:rPr lang="en-US" altLang="zh-CN" sz="2000" baseline="-25000"/>
              <a:t>j</a:t>
            </a:r>
            <a:r>
              <a:rPr lang="en-US" altLang="zh-CN" sz="2000">
                <a:sym typeface="Symbol" pitchFamily="18" charset="2"/>
              </a:rPr>
              <a:t></a:t>
            </a:r>
            <a:r>
              <a:rPr lang="en-US" altLang="zh-CN" sz="2000"/>
              <a:t>X∧x</a:t>
            </a:r>
            <a:r>
              <a:rPr lang="en-US" altLang="zh-CN" sz="2000" baseline="-25000"/>
              <a:t>i</a:t>
            </a:r>
            <a:r>
              <a:rPr lang="en-US" altLang="zh-CN" sz="2000"/>
              <a:t> R</a:t>
            </a:r>
            <a:r>
              <a:rPr lang="en-US" altLang="zh-CN" sz="2000" baseline="30000"/>
              <a:t>+</a:t>
            </a:r>
            <a:r>
              <a:rPr lang="en-US" altLang="zh-CN" sz="2000"/>
              <a:t> x</a:t>
            </a:r>
            <a:r>
              <a:rPr lang="en-US" altLang="zh-CN" sz="2000" baseline="-25000"/>
              <a:t>j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000">
                <a:sym typeface="Symbol" pitchFamily="18" charset="2"/>
              </a:rPr>
              <a:t>(p)(</a:t>
            </a:r>
            <a:r>
              <a:rPr lang="en-US" altLang="zh-CN" sz="2000"/>
              <a:t>p&gt;0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x</a:t>
            </a:r>
            <a:r>
              <a:rPr lang="en-US" altLang="zh-CN" sz="2000" baseline="-25000"/>
              <a:t>i</a:t>
            </a:r>
            <a:r>
              <a:rPr lang="en-US" altLang="zh-CN" sz="2000"/>
              <a:t> R</a:t>
            </a:r>
            <a:r>
              <a:rPr lang="en-US" altLang="zh-CN" sz="2000" baseline="30000"/>
              <a:t>p</a:t>
            </a:r>
            <a:r>
              <a:rPr lang="en-US" altLang="zh-CN" sz="2000"/>
              <a:t> x</a:t>
            </a:r>
            <a:r>
              <a:rPr lang="en-US" altLang="zh-CN" sz="2000" baseline="-25000"/>
              <a:t>j</a:t>
            </a:r>
            <a:r>
              <a:rPr lang="en-US" altLang="zh-CN" sz="2000"/>
              <a:t>)</a:t>
            </a:r>
            <a:r>
              <a:rPr lang="en-US" altLang="zh-CN" sz="2000">
                <a:sym typeface="Symbol" pitchFamily="18" charset="2"/>
              </a:rPr>
              <a:t>(</a:t>
            </a:r>
            <a:r>
              <a:rPr lang="en-US" altLang="zh-CN" sz="2000"/>
              <a:t>e</a:t>
            </a:r>
            <a:r>
              <a:rPr lang="en-US" altLang="zh-CN" sz="2000" baseline="-25000"/>
              <a:t>1</a:t>
            </a:r>
            <a:r>
              <a:rPr lang="en-US" altLang="zh-CN" sz="2000"/>
              <a:t>)</a:t>
            </a:r>
            <a:r>
              <a:rPr lang="en-US" altLang="zh-CN" sz="2000">
                <a:sym typeface="Symbol" pitchFamily="18" charset="2"/>
              </a:rPr>
              <a:t>(</a:t>
            </a:r>
            <a:r>
              <a:rPr lang="en-US" altLang="zh-CN" sz="2000"/>
              <a:t>e</a:t>
            </a:r>
            <a:r>
              <a:rPr lang="en-US" altLang="zh-CN" sz="2000" baseline="-25000"/>
              <a:t>2</a:t>
            </a:r>
            <a:r>
              <a:rPr lang="en-US" altLang="zh-CN" sz="2000"/>
              <a:t>)</a:t>
            </a:r>
            <a:r>
              <a:rPr lang="en-US" altLang="zh-CN" sz="2000">
                <a:sym typeface="Symbol" pitchFamily="18" charset="2"/>
              </a:rPr>
              <a:t>(</a:t>
            </a:r>
            <a:r>
              <a:rPr lang="en-US" altLang="zh-CN" sz="2000"/>
              <a:t>…)</a:t>
            </a:r>
            <a:r>
              <a:rPr lang="en-US" altLang="zh-CN" sz="2000">
                <a:sym typeface="Symbol" pitchFamily="18" charset="2"/>
              </a:rPr>
              <a:t>(</a:t>
            </a:r>
            <a:r>
              <a:rPr lang="en-US" altLang="zh-CN" sz="2000"/>
              <a:t>e</a:t>
            </a:r>
            <a:r>
              <a:rPr lang="en-US" altLang="zh-CN" sz="2000" baseline="-25000"/>
              <a:t>p-1</a:t>
            </a:r>
            <a:r>
              <a:rPr lang="en-US" altLang="zh-CN" sz="2000"/>
              <a:t>)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x</a:t>
            </a:r>
            <a:r>
              <a:rPr lang="en-US" altLang="zh-CN" sz="2000" baseline="-25000"/>
              <a:t>i</a:t>
            </a:r>
            <a:r>
              <a:rPr lang="en-US" altLang="zh-CN" sz="2000"/>
              <a:t>Re</a:t>
            </a:r>
            <a:r>
              <a:rPr lang="en-US" altLang="zh-CN" sz="2000" baseline="-25000"/>
              <a:t>1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e</a:t>
            </a:r>
            <a:r>
              <a:rPr lang="en-US" altLang="zh-CN" sz="2000" baseline="-25000"/>
              <a:t>1</a:t>
            </a:r>
            <a:r>
              <a:rPr lang="en-US" altLang="zh-CN" sz="2000"/>
              <a:t>Re</a:t>
            </a:r>
            <a:r>
              <a:rPr lang="en-US" altLang="zh-CN" sz="2000" baseline="-25000"/>
              <a:t>2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…</a:t>
            </a:r>
            <a:r>
              <a:rPr lang="en-US" altLang="zh-CN" sz="2000">
                <a:latin typeface="宋体" charset="-122"/>
              </a:rPr>
              <a:t>∧</a:t>
            </a:r>
            <a:r>
              <a:rPr lang="en-US" altLang="zh-CN" sz="2000"/>
              <a:t>e</a:t>
            </a:r>
            <a:r>
              <a:rPr lang="en-US" altLang="zh-CN" sz="2000" baseline="-25000"/>
              <a:t>p-1</a:t>
            </a:r>
            <a:r>
              <a:rPr lang="en-US" altLang="zh-CN" sz="2000"/>
              <a:t>Rx</a:t>
            </a:r>
            <a:r>
              <a:rPr lang="en-US" altLang="zh-CN" sz="2000" baseline="-25000"/>
              <a:t>j</a:t>
            </a:r>
            <a:endParaRPr lang="en-US" altLang="zh-CN" sz="2000"/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000"/>
              <a:t>             (2)</a:t>
            </a:r>
            <a:r>
              <a:rPr lang="zh-CN" altLang="en-US" sz="2000"/>
              <a:t>设满足上述条件的最小</a:t>
            </a:r>
            <a:r>
              <a:rPr lang="en-US" altLang="zh-CN" sz="2000"/>
              <a:t>p</a:t>
            </a:r>
            <a:r>
              <a:rPr lang="zh-CN" altLang="en-US" sz="2000"/>
              <a:t>大于</a:t>
            </a:r>
            <a:r>
              <a:rPr lang="en-US" altLang="zh-CN" sz="2000"/>
              <a:t>n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2000"/>
              <a:t>因</a:t>
            </a:r>
            <a:r>
              <a:rPr lang="en-US" altLang="zh-CN" sz="2000"/>
              <a:t>X</a:t>
            </a:r>
            <a:r>
              <a:rPr lang="zh-CN" altLang="en-US" sz="2000"/>
              <a:t>中有</a:t>
            </a:r>
            <a:r>
              <a:rPr lang="en-US" altLang="zh-CN" sz="2000"/>
              <a:t>n</a:t>
            </a:r>
            <a:r>
              <a:rPr lang="zh-CN" altLang="en-US" sz="2000"/>
              <a:t>个元素，而</a:t>
            </a:r>
            <a:r>
              <a:rPr lang="en-US" altLang="zh-CN" sz="2000"/>
              <a:t>p&gt;n</a:t>
            </a:r>
            <a:r>
              <a:rPr lang="zh-CN" altLang="en-US" sz="2000"/>
              <a:t>，则在序列</a:t>
            </a:r>
            <a:r>
              <a:rPr lang="en-US" altLang="zh-CN" sz="2000"/>
              <a:t>e</a:t>
            </a:r>
            <a:r>
              <a:rPr lang="en-US" altLang="zh-CN" sz="2000" baseline="-25000"/>
              <a:t>1</a:t>
            </a:r>
            <a:r>
              <a:rPr lang="zh-CN" altLang="en-US" sz="2000"/>
              <a:t>，</a:t>
            </a:r>
            <a:r>
              <a:rPr lang="en-US" altLang="zh-CN" sz="2000"/>
              <a:t>e</a:t>
            </a:r>
            <a:r>
              <a:rPr lang="en-US" altLang="zh-CN" sz="2000" baseline="-25000"/>
              <a:t>2</a:t>
            </a:r>
            <a:r>
              <a:rPr lang="zh-CN" altLang="en-US" sz="2000"/>
              <a:t>，</a:t>
            </a:r>
            <a:r>
              <a:rPr lang="en-US" altLang="zh-CN" sz="2000"/>
              <a:t>…</a:t>
            </a:r>
            <a:r>
              <a:rPr lang="zh-CN" altLang="en-US" sz="2000"/>
              <a:t>，</a:t>
            </a:r>
            <a:r>
              <a:rPr lang="en-US" altLang="zh-CN" sz="2000"/>
              <a:t>e</a:t>
            </a:r>
            <a:r>
              <a:rPr lang="en-US" altLang="zh-CN" sz="2000" baseline="-25000"/>
              <a:t>p-1</a:t>
            </a:r>
            <a:r>
              <a:rPr lang="zh-CN" altLang="en-US" sz="2000"/>
              <a:t>，</a:t>
            </a:r>
            <a:r>
              <a:rPr lang="en-US" altLang="zh-CN" sz="2000"/>
              <a:t>x</a:t>
            </a:r>
            <a:r>
              <a:rPr lang="en-US" altLang="zh-CN" sz="2000" baseline="-25000"/>
              <a:t>j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2000"/>
              <a:t>中必至少存在两个相同的元素，设 </a:t>
            </a:r>
            <a:r>
              <a:rPr lang="en-US" altLang="zh-CN" sz="2000"/>
              <a:t>e</a:t>
            </a:r>
            <a:r>
              <a:rPr lang="en-US" altLang="zh-CN" sz="2000" baseline="-25000"/>
              <a:t>t</a:t>
            </a:r>
            <a:r>
              <a:rPr lang="en-US" altLang="zh-CN" sz="2000"/>
              <a:t>=e</a:t>
            </a:r>
            <a:r>
              <a:rPr lang="en-US" altLang="zh-CN" sz="2000" baseline="-25000"/>
              <a:t>q</a:t>
            </a:r>
            <a:r>
              <a:rPr lang="en-US" altLang="zh-CN" sz="2000"/>
              <a:t> (1≤t&lt;q&lt;p)</a:t>
            </a:r>
            <a:r>
              <a:rPr lang="zh-CN" altLang="en-US" sz="2000"/>
              <a:t>，则序列可写为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000"/>
              <a:t>x</a:t>
            </a:r>
            <a:r>
              <a:rPr lang="en-US" altLang="zh-CN" sz="2000" baseline="-25000"/>
              <a:t>i</a:t>
            </a:r>
            <a:r>
              <a:rPr lang="en-US" altLang="zh-CN" sz="2000"/>
              <a:t>R e</a:t>
            </a:r>
            <a:r>
              <a:rPr lang="en-US" altLang="zh-CN" sz="2000" baseline="-25000"/>
              <a:t>1</a:t>
            </a:r>
            <a:r>
              <a:rPr lang="en-US" altLang="zh-CN" sz="2000"/>
              <a:t>, e</a:t>
            </a:r>
            <a:r>
              <a:rPr lang="en-US" altLang="zh-CN" sz="2000" baseline="-25000"/>
              <a:t>1</a:t>
            </a:r>
            <a:r>
              <a:rPr lang="en-US" altLang="zh-CN" sz="2000"/>
              <a:t> R e</a:t>
            </a:r>
            <a:r>
              <a:rPr lang="en-US" altLang="zh-CN" sz="2000" baseline="-25000"/>
              <a:t>2</a:t>
            </a:r>
            <a:r>
              <a:rPr lang="en-US" altLang="zh-CN" sz="2000"/>
              <a:t>,  … e</a:t>
            </a:r>
            <a:r>
              <a:rPr lang="en-US" altLang="zh-CN" sz="2000" baseline="-25000"/>
              <a:t>t-1</a:t>
            </a:r>
            <a:r>
              <a:rPr lang="en-US" altLang="zh-CN" sz="2000"/>
              <a:t> R e</a:t>
            </a:r>
            <a:r>
              <a:rPr lang="en-US" altLang="zh-CN" sz="2000" baseline="-25000"/>
              <a:t>t</a:t>
            </a:r>
            <a:r>
              <a:rPr lang="en-US" altLang="zh-CN" sz="2000"/>
              <a:t> , e</a:t>
            </a:r>
            <a:r>
              <a:rPr lang="en-US" altLang="zh-CN" sz="2000" baseline="-25000"/>
              <a:t>t </a:t>
            </a:r>
            <a:r>
              <a:rPr lang="en-US" altLang="zh-CN" sz="2000"/>
              <a:t>R e</a:t>
            </a:r>
            <a:r>
              <a:rPr lang="en-US" altLang="zh-CN" sz="2000" baseline="-25000"/>
              <a:t>q+1</a:t>
            </a:r>
            <a:r>
              <a:rPr lang="en-US" altLang="zh-CN" sz="2000"/>
              <a:t>,……,e</a:t>
            </a:r>
            <a:r>
              <a:rPr lang="en-US" altLang="zh-CN" sz="2000" baseline="-25000"/>
              <a:t>p-1</a:t>
            </a:r>
            <a:r>
              <a:rPr lang="en-US" altLang="zh-CN" sz="2000"/>
              <a:t> R x</a:t>
            </a:r>
            <a:r>
              <a:rPr lang="en-US" altLang="zh-CN" sz="2000" baseline="-25000"/>
              <a:t>j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 sz="2000"/>
              <a:t>                  t</a:t>
            </a:r>
            <a:r>
              <a:rPr lang="zh-CN" altLang="en-US" sz="2000"/>
              <a:t>个                                    （</a:t>
            </a:r>
            <a:r>
              <a:rPr lang="en-US" altLang="zh-CN" sz="2000"/>
              <a:t>p-q</a:t>
            </a:r>
            <a:r>
              <a:rPr lang="zh-CN" altLang="en-US" sz="2000"/>
              <a:t>）个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 sz="2000"/>
              <a:t>所以 </a:t>
            </a:r>
            <a:r>
              <a:rPr lang="en-US" altLang="zh-CN" sz="2000"/>
              <a:t>x</a:t>
            </a:r>
            <a:r>
              <a:rPr lang="en-US" altLang="zh-CN" sz="2000" baseline="-25000"/>
              <a:t>i</a:t>
            </a:r>
            <a:r>
              <a:rPr lang="en-US" altLang="zh-CN" sz="2000"/>
              <a:t> R</a:t>
            </a:r>
            <a:r>
              <a:rPr lang="en-US" altLang="zh-CN" sz="2000" baseline="30000"/>
              <a:t>k</a:t>
            </a:r>
            <a:r>
              <a:rPr lang="en-US" altLang="zh-CN" sz="2000"/>
              <a:t> x</a:t>
            </a:r>
            <a:r>
              <a:rPr lang="en-US" altLang="zh-CN" sz="2000" baseline="-25000"/>
              <a:t>j</a:t>
            </a:r>
            <a:r>
              <a:rPr lang="zh-CN" altLang="en-US" sz="2000"/>
              <a:t>存在，其中</a:t>
            </a:r>
            <a:r>
              <a:rPr lang="en-US" altLang="zh-CN" sz="2000"/>
              <a:t>k=t+p-q=p-(q-t) &lt; p</a:t>
            </a:r>
            <a:r>
              <a:rPr lang="zh-CN" altLang="en-US" sz="2000"/>
              <a:t>，与</a:t>
            </a:r>
            <a:r>
              <a:rPr lang="en-US" altLang="zh-CN" sz="2000"/>
              <a:t>p</a:t>
            </a:r>
            <a:r>
              <a:rPr lang="zh-CN" altLang="en-US" sz="2000"/>
              <a:t>是最小的假设矛盾，故</a:t>
            </a:r>
            <a:r>
              <a:rPr lang="en-US" altLang="zh-CN" sz="2000"/>
              <a:t>p&gt;n</a:t>
            </a:r>
            <a:r>
              <a:rPr lang="zh-CN" altLang="en-US" sz="2000"/>
              <a:t>不成立。</a:t>
            </a:r>
          </a:p>
        </p:txBody>
      </p:sp>
      <p:sp>
        <p:nvSpPr>
          <p:cNvPr id="234499" name="Rectangle 3"/>
          <p:cNvSpPr>
            <a:spLocks noChangeArrowheads="1"/>
          </p:cNvSpPr>
          <p:nvPr/>
        </p:nvSpPr>
        <p:spPr bwMode="auto">
          <a:xfrm>
            <a:off x="719138" y="1268413"/>
            <a:ext cx="82423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3-8.5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X</a:t>
            </a:r>
            <a:r>
              <a:rPr lang="zh-CN" altLang="en-US"/>
              <a:t>是含有</a:t>
            </a:r>
            <a:r>
              <a:rPr lang="en-US" altLang="zh-CN"/>
              <a:t>n</a:t>
            </a:r>
            <a:r>
              <a:rPr lang="zh-CN" altLang="en-US"/>
              <a:t>个元素的集合，</a:t>
            </a:r>
            <a:r>
              <a:rPr lang="en-US" altLang="zh-CN"/>
              <a:t>R</a:t>
            </a:r>
            <a:r>
              <a:rPr lang="zh-CN" altLang="en-US"/>
              <a:t>是</a:t>
            </a:r>
            <a:r>
              <a:rPr lang="en-US" altLang="zh-CN"/>
              <a:t>X</a:t>
            </a:r>
            <a:r>
              <a:rPr lang="zh-CN" altLang="en-US"/>
              <a:t>上的二元关系，则存在一个正整数</a:t>
            </a:r>
            <a:r>
              <a:rPr lang="en-US" altLang="zh-CN"/>
              <a:t>k</a:t>
            </a:r>
            <a:r>
              <a:rPr lang="en-US" altLang="zh-CN">
                <a:cs typeface="Times New Roman" pitchFamily="18" charset="0"/>
              </a:rPr>
              <a:t>≤</a:t>
            </a:r>
            <a:r>
              <a:rPr lang="en-US" altLang="zh-CN"/>
              <a:t>n</a:t>
            </a:r>
            <a:r>
              <a:rPr lang="zh-CN" altLang="en-US"/>
              <a:t>，使得</a:t>
            </a:r>
            <a:r>
              <a:rPr lang="en-US" altLang="zh-CN"/>
              <a:t>t(R)=R∪R</a:t>
            </a:r>
            <a:r>
              <a:rPr lang="en-US" altLang="zh-CN" baseline="30000"/>
              <a:t>2</a:t>
            </a:r>
            <a:r>
              <a:rPr lang="en-US" altLang="zh-CN"/>
              <a:t>∪…∪R</a:t>
            </a:r>
            <a:r>
              <a:rPr lang="en-US" altLang="zh-CN" baseline="30000"/>
              <a:t>k</a:t>
            </a:r>
            <a:endParaRPr lang="en-US" altLang="zh-CN"/>
          </a:p>
        </p:txBody>
      </p:sp>
      <p:sp>
        <p:nvSpPr>
          <p:cNvPr id="234500" name="Oval 4"/>
          <p:cNvSpPr>
            <a:spLocks noChangeArrowheads="1"/>
          </p:cNvSpPr>
          <p:nvPr/>
        </p:nvSpPr>
        <p:spPr bwMode="auto">
          <a:xfrm>
            <a:off x="715963" y="4137025"/>
            <a:ext cx="2919412" cy="646113"/>
          </a:xfrm>
          <a:prstGeom prst="ellipse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2" name="Oval 6"/>
          <p:cNvSpPr>
            <a:spLocks noChangeArrowheads="1"/>
          </p:cNvSpPr>
          <p:nvPr/>
        </p:nvSpPr>
        <p:spPr bwMode="auto">
          <a:xfrm>
            <a:off x="3708400" y="4076700"/>
            <a:ext cx="2519363" cy="647700"/>
          </a:xfrm>
          <a:prstGeom prst="ellipse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0" grpId="0" animBg="1"/>
      <p:bldP spid="23450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6D56D8-DAC1-4B37-BA0E-F904691B54CE}" type="slidenum">
              <a:rPr lang="en-US" altLang="zh-CN"/>
              <a:pPr/>
              <a:t>83</a:t>
            </a:fld>
            <a:endParaRPr lang="en-US" altLang="zh-CN"/>
          </a:p>
        </p:txBody>
      </p:sp>
      <p:sp>
        <p:nvSpPr>
          <p:cNvPr id="235522" name="Rectangle 2"/>
          <p:cNvSpPr>
            <a:spLocks noChangeArrowheads="1"/>
          </p:cNvSpPr>
          <p:nvPr/>
        </p:nvSpPr>
        <p:spPr bwMode="auto">
          <a:xfrm>
            <a:off x="611188" y="1412875"/>
            <a:ext cx="74168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zh-CN" altLang="en-US">
                <a:solidFill>
                  <a:schemeClr val="hlink"/>
                </a:solidFill>
              </a:rPr>
              <a:t>计算关系传递闭包的</a:t>
            </a:r>
            <a:r>
              <a:rPr lang="en-US" altLang="zh-CN">
                <a:solidFill>
                  <a:schemeClr val="hlink"/>
                </a:solidFill>
              </a:rPr>
              <a:t>warshall</a:t>
            </a:r>
            <a:r>
              <a:rPr lang="zh-CN" altLang="en-US">
                <a:solidFill>
                  <a:schemeClr val="hlink"/>
                </a:solidFill>
              </a:rPr>
              <a:t>算法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）置新矩阵</a:t>
            </a:r>
            <a:r>
              <a:rPr lang="en-US" altLang="zh-CN"/>
              <a:t>A=M</a:t>
            </a:r>
            <a:r>
              <a:rPr lang="zh-CN" altLang="en-US"/>
              <a:t>；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）置 </a:t>
            </a:r>
            <a:r>
              <a:rPr lang="en-US" altLang="zh-CN"/>
              <a:t>i=1;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）对所有</a:t>
            </a:r>
            <a:r>
              <a:rPr lang="en-US" altLang="zh-CN"/>
              <a:t>j</a:t>
            </a:r>
            <a:r>
              <a:rPr lang="zh-CN" altLang="en-US"/>
              <a:t>如果</a:t>
            </a:r>
            <a:r>
              <a:rPr lang="en-US" altLang="zh-CN"/>
              <a:t>A[j,i]=1</a:t>
            </a:r>
            <a:r>
              <a:rPr lang="zh-CN" altLang="en-US"/>
              <a:t>，则对</a:t>
            </a:r>
            <a:r>
              <a:rPr lang="en-US" altLang="zh-CN"/>
              <a:t>k=1,2,…,n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          A[j,k]=A[j,k]+A[ i,k]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i=i+1;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）如果</a:t>
            </a:r>
            <a:r>
              <a:rPr lang="en-US" altLang="zh-CN"/>
              <a:t>i≤n</a:t>
            </a:r>
            <a:r>
              <a:rPr lang="zh-CN" altLang="en-US"/>
              <a:t>，则转到</a:t>
            </a:r>
            <a:r>
              <a:rPr lang="en-US" altLang="zh-CN"/>
              <a:t>(3)</a:t>
            </a:r>
            <a:r>
              <a:rPr lang="zh-CN" altLang="en-US"/>
              <a:t>，否则停止。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3B36F0-FD4B-4E80-8F44-72A2D8509A3E}" type="slidenum">
              <a:rPr lang="en-US" altLang="zh-CN"/>
              <a:pPr/>
              <a:t>84</a:t>
            </a:fld>
            <a:endParaRPr lang="en-US" altLang="zh-CN"/>
          </a:p>
        </p:txBody>
      </p:sp>
      <p:sp>
        <p:nvSpPr>
          <p:cNvPr id="236546" name="Rectangle 2"/>
          <p:cNvSpPr>
            <a:spLocks noChangeArrowheads="1"/>
          </p:cNvSpPr>
          <p:nvPr/>
        </p:nvSpPr>
        <p:spPr bwMode="auto">
          <a:xfrm>
            <a:off x="423863" y="2206625"/>
            <a:ext cx="7820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已知                                           ，求</a:t>
            </a:r>
            <a:r>
              <a:rPr lang="en-US" altLang="zh-CN"/>
              <a:t>t(R)</a:t>
            </a:r>
            <a:r>
              <a:rPr lang="zh-CN" altLang="en-US"/>
              <a:t>。</a:t>
            </a:r>
          </a:p>
        </p:txBody>
      </p:sp>
      <p:graphicFrame>
        <p:nvGraphicFramePr>
          <p:cNvPr id="236548" name="Object 4"/>
          <p:cNvGraphicFramePr>
            <a:graphicFrameLocks/>
          </p:cNvGraphicFramePr>
          <p:nvPr/>
        </p:nvGraphicFramePr>
        <p:xfrm>
          <a:off x="1981200" y="1139825"/>
          <a:ext cx="3095625" cy="264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43" name="Equation" r:id="rId3" imgW="3098520" imgH="2641320" progId="Equation.DSMT4">
                  <p:embed/>
                </p:oleObj>
              </mc:Choice>
              <mc:Fallback>
                <p:oleObj name="Equation" r:id="rId3" imgW="3098520" imgH="264132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139825"/>
                        <a:ext cx="3095625" cy="2644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1" name="Object 7"/>
          <p:cNvGraphicFramePr>
            <a:graphicFrameLocks/>
          </p:cNvGraphicFramePr>
          <p:nvPr/>
        </p:nvGraphicFramePr>
        <p:xfrm>
          <a:off x="947738" y="3775075"/>
          <a:ext cx="3232150" cy="264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44" name="Equation" r:id="rId5" imgW="3238200" imgH="2641320" progId="Equation.DSMT4">
                  <p:embed/>
                </p:oleObj>
              </mc:Choice>
              <mc:Fallback>
                <p:oleObj name="Equation" r:id="rId5" imgW="3238200" imgH="2641320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3775075"/>
                        <a:ext cx="3232150" cy="2644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2" name="Text Box 8"/>
          <p:cNvSpPr txBox="1">
            <a:spLocks noChangeArrowheads="1"/>
          </p:cNvSpPr>
          <p:nvPr/>
        </p:nvSpPr>
        <p:spPr bwMode="auto">
          <a:xfrm>
            <a:off x="4283075" y="4221163"/>
            <a:ext cx="41767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（第</a:t>
            </a:r>
            <a:r>
              <a:rPr lang="en-US" altLang="zh-CN"/>
              <a:t>1</a:t>
            </a:r>
            <a:r>
              <a:rPr lang="zh-CN" altLang="en-US"/>
              <a:t>列中</a:t>
            </a:r>
            <a:r>
              <a:rPr lang="en-US" altLang="zh-CN"/>
              <a:t>A[1,1]=1</a:t>
            </a:r>
            <a:r>
              <a:rPr lang="zh-CN" altLang="en-US"/>
              <a:t>，第</a:t>
            </a:r>
            <a:r>
              <a:rPr lang="en-US" altLang="zh-CN"/>
              <a:t>1</a:t>
            </a:r>
            <a:r>
              <a:rPr lang="zh-CN" altLang="en-US"/>
              <a:t>行和第</a:t>
            </a:r>
            <a:r>
              <a:rPr lang="en-US" altLang="zh-CN"/>
              <a:t>1</a:t>
            </a:r>
            <a:r>
              <a:rPr lang="zh-CN" altLang="en-US"/>
              <a:t>行逻辑加，放第一行）</a:t>
            </a:r>
            <a:endParaRPr lang="zh-CN" altLang="en-US" b="0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A245EE-A1D1-4163-8E9F-F475E264D778}" type="slidenum">
              <a:rPr lang="en-US" altLang="zh-CN"/>
              <a:pPr/>
              <a:t>85</a:t>
            </a:fld>
            <a:endParaRPr lang="en-US" altLang="zh-CN"/>
          </a:p>
        </p:txBody>
      </p:sp>
      <p:graphicFrame>
        <p:nvGraphicFramePr>
          <p:cNvPr id="237572" name="Object 4"/>
          <p:cNvGraphicFramePr>
            <a:graphicFrameLocks noChangeAspect="1"/>
          </p:cNvGraphicFramePr>
          <p:nvPr/>
        </p:nvGraphicFramePr>
        <p:xfrm>
          <a:off x="852488" y="1292225"/>
          <a:ext cx="3246437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68" name="Equation" r:id="rId3" imgW="3251160" imgH="2641320" progId="Equation.DSMT4">
                  <p:embed/>
                </p:oleObj>
              </mc:Choice>
              <mc:Fallback>
                <p:oleObj name="Equation" r:id="rId3" imgW="3251160" imgH="26413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1292225"/>
                        <a:ext cx="3246437" cy="264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3" name="Text Box 5"/>
          <p:cNvSpPr txBox="1">
            <a:spLocks noChangeArrowheads="1"/>
          </p:cNvSpPr>
          <p:nvPr/>
        </p:nvSpPr>
        <p:spPr bwMode="auto">
          <a:xfrm>
            <a:off x="4283075" y="1516063"/>
            <a:ext cx="417671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（第</a:t>
            </a:r>
            <a:r>
              <a:rPr lang="en-US" altLang="zh-CN"/>
              <a:t>2</a:t>
            </a:r>
            <a:r>
              <a:rPr lang="zh-CN" altLang="en-US"/>
              <a:t>列中</a:t>
            </a:r>
            <a:r>
              <a:rPr lang="en-US" altLang="zh-CN"/>
              <a:t>A[1,2]=A[4,2]=1</a:t>
            </a:r>
            <a:r>
              <a:rPr lang="zh-CN" altLang="en-US"/>
              <a:t>，第</a:t>
            </a:r>
            <a:r>
              <a:rPr lang="en-US" altLang="zh-CN"/>
              <a:t>1</a:t>
            </a:r>
            <a:r>
              <a:rPr lang="zh-CN" altLang="en-US"/>
              <a:t>行和第</a:t>
            </a:r>
            <a:r>
              <a:rPr lang="en-US" altLang="zh-CN"/>
              <a:t>2</a:t>
            </a:r>
            <a:r>
              <a:rPr lang="zh-CN" altLang="en-US"/>
              <a:t>行逻辑加，放第</a:t>
            </a:r>
            <a:r>
              <a:rPr lang="en-US" altLang="zh-CN"/>
              <a:t>1</a:t>
            </a:r>
            <a:r>
              <a:rPr lang="zh-CN" altLang="en-US"/>
              <a:t>行；第</a:t>
            </a:r>
            <a:r>
              <a:rPr lang="en-US" altLang="zh-CN"/>
              <a:t>4</a:t>
            </a:r>
            <a:r>
              <a:rPr lang="zh-CN" altLang="en-US"/>
              <a:t>行和第</a:t>
            </a:r>
            <a:r>
              <a:rPr lang="en-US" altLang="zh-CN"/>
              <a:t>2</a:t>
            </a:r>
            <a:r>
              <a:rPr lang="zh-CN" altLang="en-US"/>
              <a:t>行逻辑加，放第</a:t>
            </a:r>
            <a:r>
              <a:rPr lang="en-US" altLang="zh-CN"/>
              <a:t>4</a:t>
            </a:r>
            <a:r>
              <a:rPr lang="zh-CN" altLang="en-US"/>
              <a:t>行）</a:t>
            </a:r>
          </a:p>
        </p:txBody>
      </p:sp>
      <p:graphicFrame>
        <p:nvGraphicFramePr>
          <p:cNvPr id="237575" name="Object 7"/>
          <p:cNvGraphicFramePr>
            <a:graphicFrameLocks noChangeAspect="1"/>
          </p:cNvGraphicFramePr>
          <p:nvPr/>
        </p:nvGraphicFramePr>
        <p:xfrm>
          <a:off x="3851275" y="3644900"/>
          <a:ext cx="3306763" cy="263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69" name="Equation" r:id="rId5" imgW="3301920" imgH="2641320" progId="Equation.DSMT4">
                  <p:embed/>
                </p:oleObj>
              </mc:Choice>
              <mc:Fallback>
                <p:oleObj name="Equation" r:id="rId5" imgW="3301920" imgH="26413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644900"/>
                        <a:ext cx="3306763" cy="2638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6" name="Text Box 8"/>
          <p:cNvSpPr txBox="1">
            <a:spLocks noChangeArrowheads="1"/>
          </p:cNvSpPr>
          <p:nvPr/>
        </p:nvSpPr>
        <p:spPr bwMode="auto">
          <a:xfrm>
            <a:off x="971550" y="4724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en-US"/>
              <a:t>最后结果为：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3" grpId="0"/>
      <p:bldP spid="23757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218223-D5DE-46BF-970D-8CB5EA5386F4}" type="slidenum">
              <a:rPr lang="en-US" altLang="zh-CN"/>
              <a:pPr/>
              <a:t>86</a:t>
            </a:fld>
            <a:endParaRPr lang="en-US" altLang="zh-CN"/>
          </a:p>
        </p:txBody>
      </p:sp>
      <p:sp>
        <p:nvSpPr>
          <p:cNvPr id="238594" name="Rectangle 2"/>
          <p:cNvSpPr>
            <a:spLocks noChangeArrowheads="1"/>
          </p:cNvSpPr>
          <p:nvPr/>
        </p:nvSpPr>
        <p:spPr bwMode="auto">
          <a:xfrm>
            <a:off x="1008063" y="1268413"/>
            <a:ext cx="687705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Clr>
                <a:schemeClr val="hlink"/>
              </a:buClr>
            </a:pPr>
            <a:r>
              <a:rPr lang="zh-CN" altLang="en-US"/>
              <a:t>关系闭包之间的相互运算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3-8.6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X</a:t>
            </a:r>
            <a:r>
              <a:rPr lang="zh-CN" altLang="en-US"/>
              <a:t>是集合，</a:t>
            </a:r>
            <a:r>
              <a:rPr lang="en-US" altLang="zh-CN"/>
              <a:t>R</a:t>
            </a:r>
            <a:r>
              <a:rPr lang="zh-CN" altLang="en-US"/>
              <a:t>是</a:t>
            </a:r>
            <a:r>
              <a:rPr lang="en-US" altLang="zh-CN"/>
              <a:t>X</a:t>
            </a:r>
            <a:r>
              <a:rPr lang="zh-CN" altLang="en-US"/>
              <a:t>上的二元关系，则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a)</a:t>
            </a:r>
            <a:r>
              <a:rPr lang="en-US" altLang="zh-CN">
                <a:cs typeface="Times New Roman" pitchFamily="18" charset="0"/>
              </a:rPr>
              <a:t> </a:t>
            </a:r>
            <a:r>
              <a:rPr lang="en-US" altLang="zh-CN"/>
              <a:t>rs(R)=sr(R)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b)</a:t>
            </a:r>
            <a:r>
              <a:rPr lang="en-US" altLang="zh-CN">
                <a:cs typeface="Times New Roman" pitchFamily="18" charset="0"/>
              </a:rPr>
              <a:t> </a:t>
            </a:r>
            <a:r>
              <a:rPr lang="en-US" altLang="zh-CN"/>
              <a:t>rt(R)=tr(R)</a:t>
            </a:r>
          </a:p>
          <a:p>
            <a:pPr algn="just">
              <a:spcBef>
                <a:spcPct val="50000"/>
              </a:spcBef>
              <a:buClrTx/>
              <a:buFontTx/>
              <a:buNone/>
            </a:pPr>
            <a:r>
              <a:rPr lang="en-US" altLang="zh-CN"/>
              <a:t>c)</a:t>
            </a:r>
            <a:r>
              <a:rPr lang="en-US" altLang="zh-CN">
                <a:cs typeface="Times New Roman" pitchFamily="18" charset="0"/>
              </a:rPr>
              <a:t> </a:t>
            </a:r>
            <a:r>
              <a:rPr lang="en-US" altLang="zh-CN"/>
              <a:t>ts(R)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st(R)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025BA6-BAC4-461A-B39B-6D1606C62883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515074" name="Rectangle 2"/>
          <p:cNvSpPr>
            <a:spLocks noChangeArrowheads="1"/>
          </p:cNvSpPr>
          <p:nvPr/>
        </p:nvSpPr>
        <p:spPr bwMode="auto">
          <a:xfrm>
            <a:off x="1042988" y="2638207"/>
            <a:ext cx="6985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作业</a:t>
            </a:r>
            <a:r>
              <a:rPr lang="zh-CN" altLang="en-US" sz="36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P127(1</a:t>
            </a: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067654185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909914-1A73-4B4A-B920-7BAEDA8B612D}" type="slidenum">
              <a:rPr lang="en-US" altLang="zh-CN"/>
              <a:pPr/>
              <a:t>88</a:t>
            </a:fld>
            <a:endParaRPr lang="en-US" altLang="zh-CN"/>
          </a:p>
        </p:txBody>
      </p:sp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23863"/>
            <a:ext cx="6950075" cy="701675"/>
          </a:xfrm>
        </p:spPr>
        <p:txBody>
          <a:bodyPr/>
          <a:lstStyle/>
          <a:p>
            <a:pPr algn="ctr"/>
            <a:r>
              <a:rPr lang="zh-CN" altLang="en-US" b="1"/>
              <a:t>复习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353425" cy="2492990"/>
          </a:xfrm>
        </p:spPr>
        <p:txBody>
          <a:bodyPr/>
          <a:lstStyle/>
          <a:p>
            <a:pPr lvl="0">
              <a:buClrTx/>
            </a:pPr>
            <a:r>
              <a:rPr lang="zh-CN" altLang="en-US" sz="2400" dirty="0" smtClean="0">
                <a:ea typeface="楷体_GB2312" pitchFamily="49" charset="-122"/>
              </a:rPr>
              <a:t>关系</a:t>
            </a:r>
            <a:r>
              <a:rPr lang="zh-CN" altLang="en-US" sz="2400" dirty="0">
                <a:ea typeface="楷体_GB2312" pitchFamily="49" charset="-122"/>
              </a:rPr>
              <a:t>的闭包运算</a:t>
            </a:r>
          </a:p>
          <a:p>
            <a:pPr lvl="0">
              <a:buClr>
                <a:srgbClr val="3333CC"/>
              </a:buClr>
            </a:pPr>
            <a:r>
              <a:rPr lang="zh-CN" altLang="en-US" sz="2400" dirty="0"/>
              <a:t>自反闭包：</a:t>
            </a:r>
            <a:r>
              <a:rPr lang="en-US" altLang="zh-CN" sz="2400" dirty="0"/>
              <a:t>r(R)=R∪I</a:t>
            </a:r>
            <a:r>
              <a:rPr lang="en-US" altLang="zh-CN" sz="2400" baseline="-25000" dirty="0"/>
              <a:t>A</a:t>
            </a:r>
          </a:p>
          <a:p>
            <a:pPr lvl="0">
              <a:buClr>
                <a:srgbClr val="3333CC"/>
              </a:buClr>
            </a:pPr>
            <a:r>
              <a:rPr lang="zh-CN" altLang="en-US" sz="2400" dirty="0"/>
              <a:t>对称闭包：</a:t>
            </a:r>
            <a:r>
              <a:rPr lang="en-US" altLang="zh-CN" sz="2400" dirty="0"/>
              <a:t>s(R)=</a:t>
            </a:r>
            <a:r>
              <a:rPr lang="en-US" altLang="zh-CN" sz="2400" dirty="0" err="1"/>
              <a:t>R∪R</a:t>
            </a:r>
            <a:r>
              <a:rPr lang="en-US" altLang="zh-CN" sz="2400" baseline="30000" dirty="0" err="1"/>
              <a:t>c</a:t>
            </a:r>
            <a:endParaRPr lang="en-US" altLang="zh-CN" sz="2400" baseline="30000" dirty="0"/>
          </a:p>
          <a:p>
            <a:pPr lvl="0">
              <a:buClr>
                <a:srgbClr val="3333CC"/>
              </a:buClr>
            </a:pPr>
            <a:r>
              <a:rPr lang="zh-CN" altLang="en-US" sz="2400" dirty="0"/>
              <a:t>传递闭包</a:t>
            </a:r>
            <a:r>
              <a:rPr lang="zh-CN" altLang="en-US" sz="2400" dirty="0" smtClean="0"/>
              <a:t>：</a:t>
            </a:r>
            <a:endParaRPr lang="en-US" altLang="zh-CN" sz="2400" dirty="0" smtClean="0"/>
          </a:p>
          <a:p>
            <a:pPr lvl="0">
              <a:buClr>
                <a:srgbClr val="3333CC"/>
              </a:buClr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            t(R</a:t>
            </a:r>
            <a:r>
              <a:rPr lang="en-US" altLang="zh-CN" sz="2400" dirty="0"/>
              <a:t>)=R∪R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∪</a:t>
            </a:r>
            <a:r>
              <a:rPr lang="en-US" altLang="zh-CN" sz="2400" dirty="0">
                <a:cs typeface="Times New Roman" pitchFamily="18" charset="0"/>
              </a:rPr>
              <a:t>…</a:t>
            </a:r>
            <a:r>
              <a:rPr lang="en-US" altLang="zh-CN" sz="2400" dirty="0"/>
              <a:t>∪</a:t>
            </a:r>
            <a:r>
              <a:rPr lang="en-US" altLang="zh-CN" sz="2400" dirty="0" err="1"/>
              <a:t>R</a:t>
            </a:r>
            <a:r>
              <a:rPr lang="en-US" altLang="zh-CN" sz="2400" baseline="30000" dirty="0" err="1"/>
              <a:t>k</a:t>
            </a:r>
            <a:r>
              <a:rPr lang="en-US" altLang="zh-CN" sz="2400" baseline="30000" dirty="0"/>
              <a:t> </a:t>
            </a:r>
            <a:r>
              <a:rPr lang="en-US" altLang="zh-CN" sz="2400" dirty="0"/>
              <a:t>(</a:t>
            </a:r>
            <a:r>
              <a:rPr lang="en-US" altLang="zh-CN" sz="2400" dirty="0" err="1"/>
              <a:t>k≤n</a:t>
            </a:r>
            <a:r>
              <a:rPr lang="en-US" altLang="zh-CN" sz="2400" dirty="0" smtClean="0"/>
              <a:t>)</a:t>
            </a:r>
            <a:endParaRPr lang="en-US" altLang="zh-CN" sz="2400" baseline="-25000" dirty="0" smtClean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207520"/>
              </p:ext>
            </p:extLst>
          </p:nvPr>
        </p:nvGraphicFramePr>
        <p:xfrm>
          <a:off x="1979712" y="2708920"/>
          <a:ext cx="2948446" cy="702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17" name="Equation" r:id="rId3" imgW="2971800" imgH="698400" progId="Equation.DSMT4">
                  <p:embed/>
                </p:oleObj>
              </mc:Choice>
              <mc:Fallback>
                <p:oleObj name="Equation" r:id="rId3" imgW="29718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708920"/>
                        <a:ext cx="2948446" cy="702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5900850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14A1AC-819C-4E50-B0B8-B77907C1879A}" type="slidenum">
              <a:rPr lang="en-US" altLang="zh-CN"/>
              <a:pPr/>
              <a:t>89</a:t>
            </a:fld>
            <a:endParaRPr lang="en-US" altLang="zh-CN"/>
          </a:p>
        </p:txBody>
      </p:sp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65138"/>
            <a:ext cx="6445250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3-9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集合的划分和覆盖</a:t>
            </a:r>
          </a:p>
        </p:txBody>
      </p:sp>
      <p:sp>
        <p:nvSpPr>
          <p:cNvPr id="368644" name="Rectangle 4"/>
          <p:cNvSpPr>
            <a:spLocks noChangeArrowheads="1"/>
          </p:cNvSpPr>
          <p:nvPr/>
        </p:nvSpPr>
        <p:spPr bwMode="auto">
          <a:xfrm>
            <a:off x="1331913" y="1538288"/>
            <a:ext cx="50403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一、基本定义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1F2C3C-C964-49DD-BFB8-396EA8DECE0E}" type="slidenum">
              <a:rPr lang="en-US" altLang="zh-CN"/>
              <a:pPr/>
              <a:t>90</a:t>
            </a:fld>
            <a:endParaRPr lang="en-US" altLang="zh-CN"/>
          </a:p>
        </p:txBody>
      </p:sp>
      <p:sp>
        <p:nvSpPr>
          <p:cNvPr id="240642" name="Rectangle 2"/>
          <p:cNvSpPr>
            <a:spLocks noChangeArrowheads="1"/>
          </p:cNvSpPr>
          <p:nvPr/>
        </p:nvSpPr>
        <p:spPr bwMode="auto">
          <a:xfrm>
            <a:off x="576263" y="1454150"/>
            <a:ext cx="7956550" cy="341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3-9.1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令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为给定非空集合，</a:t>
            </a:r>
            <a:r>
              <a:rPr lang="en-US" altLang="zh-CN">
                <a:solidFill>
                  <a:srgbClr val="020103"/>
                </a:solidFill>
              </a:rPr>
              <a:t>S={S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S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S</a:t>
            </a:r>
            <a:r>
              <a:rPr lang="en-US" altLang="zh-CN" baseline="-25000">
                <a:solidFill>
                  <a:srgbClr val="020103"/>
                </a:solidFill>
              </a:rPr>
              <a:t>m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，其中</a:t>
            </a:r>
            <a:r>
              <a:rPr lang="en-US" altLang="zh-CN">
                <a:solidFill>
                  <a:srgbClr val="020103"/>
                </a:solidFill>
              </a:rPr>
              <a:t>S</a:t>
            </a:r>
            <a:r>
              <a:rPr lang="en-US" altLang="zh-CN" baseline="-25000">
                <a:solidFill>
                  <a:srgbClr val="020103"/>
                </a:solidFill>
              </a:rPr>
              <a:t>i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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S</a:t>
            </a:r>
            <a:r>
              <a:rPr lang="en-US" altLang="zh-CN" baseline="-25000">
                <a:solidFill>
                  <a:srgbClr val="020103"/>
                </a:solidFill>
              </a:rPr>
              <a:t>i</a:t>
            </a:r>
            <a:r>
              <a:rPr lang="en-US" altLang="zh-CN">
                <a:solidFill>
                  <a:srgbClr val="020103"/>
                </a:solidFill>
              </a:rPr>
              <a:t>≠ 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</a:t>
            </a:r>
            <a:r>
              <a:rPr lang="en-US" altLang="zh-CN">
                <a:solidFill>
                  <a:srgbClr val="020103"/>
                </a:solidFill>
              </a:rPr>
              <a:t> </a:t>
            </a:r>
            <a:r>
              <a:rPr lang="zh-CN" altLang="en-US">
                <a:solidFill>
                  <a:srgbClr val="020103"/>
                </a:solidFill>
              </a:rPr>
              <a:t>且                ，集合</a:t>
            </a:r>
            <a:r>
              <a:rPr lang="en-US" altLang="zh-CN">
                <a:solidFill>
                  <a:srgbClr val="020103"/>
                </a:solidFill>
              </a:rPr>
              <a:t>S</a:t>
            </a:r>
            <a:r>
              <a:rPr lang="zh-CN" altLang="en-US">
                <a:solidFill>
                  <a:srgbClr val="020103"/>
                </a:solidFill>
              </a:rPr>
              <a:t>称为集合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的</a:t>
            </a:r>
            <a:r>
              <a:rPr lang="zh-CN" altLang="en-US" i="1">
                <a:solidFill>
                  <a:schemeClr val="hlink"/>
                </a:solidFill>
              </a:rPr>
              <a:t>覆盖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若且有                            ，则称</a:t>
            </a:r>
            <a:r>
              <a:rPr lang="en-US" altLang="zh-CN">
                <a:solidFill>
                  <a:srgbClr val="020103"/>
                </a:solidFill>
              </a:rPr>
              <a:t>S</a:t>
            </a:r>
            <a:r>
              <a:rPr lang="zh-CN" altLang="en-US">
                <a:solidFill>
                  <a:srgbClr val="020103"/>
                </a:solidFill>
              </a:rPr>
              <a:t>是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的</a:t>
            </a:r>
            <a:r>
              <a:rPr lang="zh-CN" altLang="en-US" i="1">
                <a:solidFill>
                  <a:schemeClr val="hlink"/>
                </a:solidFill>
              </a:rPr>
              <a:t>划分</a:t>
            </a:r>
            <a:r>
              <a:rPr lang="zh-CN" altLang="en-US">
                <a:solidFill>
                  <a:srgbClr val="35284E"/>
                </a:solidFill>
              </a:rPr>
              <a:t>。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在定义中，</a:t>
            </a:r>
            <a:r>
              <a:rPr kumimoji="0" lang="en-US" altLang="zh-CN">
                <a:solidFill>
                  <a:srgbClr val="020103"/>
                </a:solidFill>
              </a:rPr>
              <a:t>S</a:t>
            </a:r>
            <a:r>
              <a:rPr kumimoji="0" lang="en-US" altLang="zh-CN" baseline="-25000">
                <a:solidFill>
                  <a:srgbClr val="020103"/>
                </a:solidFill>
              </a:rPr>
              <a:t>i</a:t>
            </a:r>
            <a:r>
              <a:rPr kumimoji="0" lang="zh-CN" altLang="en-US">
                <a:solidFill>
                  <a:srgbClr val="020103"/>
                </a:solidFill>
              </a:rPr>
              <a:t>被叫做分块；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中的每个元素属于划分中的一个分块，且只属于这个分块；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划分是覆盖，覆盖不一定是划分。</a:t>
            </a:r>
            <a:endParaRPr lang="zh-CN" altLang="en-US">
              <a:solidFill>
                <a:srgbClr val="020103"/>
              </a:solidFill>
            </a:endParaRPr>
          </a:p>
        </p:txBody>
      </p:sp>
      <p:graphicFrame>
        <p:nvGraphicFramePr>
          <p:cNvPr id="240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24360"/>
              </p:ext>
            </p:extLst>
          </p:nvPr>
        </p:nvGraphicFramePr>
        <p:xfrm>
          <a:off x="2840311" y="1844824"/>
          <a:ext cx="1104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45" name="Equation" r:id="rId3" imgW="1104840" imgH="761760" progId="Equation.DSMT4">
                  <p:embed/>
                </p:oleObj>
              </mc:Choice>
              <mc:Fallback>
                <p:oleObj name="Equation" r:id="rId3" imgW="1104840" imgH="761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311" y="1844824"/>
                        <a:ext cx="11049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5" name="Object 5"/>
          <p:cNvGraphicFramePr>
            <a:graphicFrameLocks noChangeAspect="1"/>
          </p:cNvGraphicFramePr>
          <p:nvPr/>
        </p:nvGraphicFramePr>
        <p:xfrm>
          <a:off x="1620838" y="2576513"/>
          <a:ext cx="20939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46" name="Equation" r:id="rId5" imgW="2095200" imgH="393480" progId="Equation.DSMT4">
                  <p:embed/>
                </p:oleObj>
              </mc:Choice>
              <mc:Fallback>
                <p:oleObj name="Equation" r:id="rId5" imgW="209520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2576513"/>
                        <a:ext cx="20939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0650" name="Rectangle 10"/>
          <p:cNvSpPr>
            <a:spLocks noChangeArrowheads="1"/>
          </p:cNvSpPr>
          <p:nvPr/>
        </p:nvSpPr>
        <p:spPr bwMode="auto">
          <a:xfrm>
            <a:off x="1116013" y="476250"/>
            <a:ext cx="30241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一、基本定义</a:t>
            </a:r>
          </a:p>
        </p:txBody>
      </p:sp>
      <p:sp>
        <p:nvSpPr>
          <p:cNvPr id="240651" name="Rectangle 11"/>
          <p:cNvSpPr>
            <a:spLocks noChangeArrowheads="1"/>
          </p:cNvSpPr>
          <p:nvPr/>
        </p:nvSpPr>
        <p:spPr bwMode="auto">
          <a:xfrm>
            <a:off x="1798638" y="4945063"/>
            <a:ext cx="10668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0652" name="Rectangle 12"/>
          <p:cNvSpPr>
            <a:spLocks noChangeArrowheads="1"/>
          </p:cNvSpPr>
          <p:nvPr/>
        </p:nvSpPr>
        <p:spPr bwMode="auto">
          <a:xfrm>
            <a:off x="2411413" y="4941888"/>
            <a:ext cx="1065212" cy="533400"/>
          </a:xfrm>
          <a:prstGeom prst="rect">
            <a:avLst/>
          </a:prstGeom>
          <a:solidFill>
            <a:schemeClr val="bg1">
              <a:alpha val="42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0653" name="Rectangle 13"/>
          <p:cNvSpPr>
            <a:spLocks noChangeArrowheads="1"/>
          </p:cNvSpPr>
          <p:nvPr/>
        </p:nvSpPr>
        <p:spPr bwMode="auto">
          <a:xfrm>
            <a:off x="5241925" y="4945063"/>
            <a:ext cx="854075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0654" name="Rectangle 14"/>
          <p:cNvSpPr>
            <a:spLocks noChangeArrowheads="1"/>
          </p:cNvSpPr>
          <p:nvPr/>
        </p:nvSpPr>
        <p:spPr bwMode="auto">
          <a:xfrm>
            <a:off x="6105525" y="4945063"/>
            <a:ext cx="914400" cy="533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51" grpId="0" animBg="1"/>
      <p:bldP spid="240652" grpId="0" animBg="1"/>
      <p:bldP spid="240653" grpId="0" animBg="1"/>
      <p:bldP spid="24065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0199E9-B4C7-49AB-B6E8-CAEFAC8A1891}" type="slidenum">
              <a:rPr lang="en-US" altLang="zh-CN"/>
              <a:pPr/>
              <a:t>91</a:t>
            </a:fld>
            <a:endParaRPr lang="en-US" altLang="zh-CN"/>
          </a:p>
        </p:txBody>
      </p:sp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466725" y="3268663"/>
            <a:ext cx="7777163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任一集合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的最小划分，就是以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为唯一元素的集合；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任一集合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的最大划分，就是以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中的每个元素构成的单元素子集为元素的集合；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集合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的划分并不唯一，但已知一个集合却很容易构造出一种划分。</a:t>
            </a:r>
          </a:p>
        </p:txBody>
      </p:sp>
      <p:sp>
        <p:nvSpPr>
          <p:cNvPr id="432133" name="Rectangle 5"/>
          <p:cNvSpPr>
            <a:spLocks noChangeArrowheads="1"/>
          </p:cNvSpPr>
          <p:nvPr/>
        </p:nvSpPr>
        <p:spPr bwMode="auto">
          <a:xfrm>
            <a:off x="466725" y="1268413"/>
            <a:ext cx="8208963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>
                <a:solidFill>
                  <a:srgbClr val="020103"/>
                </a:solidFill>
              </a:rPr>
              <a:t>A={a, b, c},</a:t>
            </a:r>
            <a:r>
              <a:rPr lang="zh-CN" altLang="en-US">
                <a:solidFill>
                  <a:srgbClr val="020103"/>
                </a:solidFill>
              </a:rPr>
              <a:t>考虑下列子集：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        </a:t>
            </a:r>
            <a:r>
              <a:rPr lang="en-US" altLang="zh-CN">
                <a:solidFill>
                  <a:srgbClr val="020103"/>
                </a:solidFill>
              </a:rPr>
              <a:t>S={{a,b}, {b,c}}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Q={{a}, {a,b}, {a,c}}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D={{a}, {b,c}}</a:t>
            </a:r>
            <a:r>
              <a:rPr lang="zh-CN" altLang="en-US">
                <a:solidFill>
                  <a:srgbClr val="020103"/>
                </a:solidFill>
              </a:rPr>
              <a:t>，        </a:t>
            </a:r>
            <a:r>
              <a:rPr lang="en-US" altLang="zh-CN">
                <a:solidFill>
                  <a:srgbClr val="020103"/>
                </a:solidFill>
              </a:rPr>
              <a:t>G={{a,b,c}}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E={{a}, {b}, {c}}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F={{a}, {a,c}}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请分别找出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的覆盖和划分。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880C41-361A-43EB-8813-8933B8556298}" type="slidenum">
              <a:rPr lang="en-US" altLang="zh-CN"/>
              <a:pPr/>
              <a:t>92</a:t>
            </a:fld>
            <a:endParaRPr lang="en-US" altLang="zh-CN"/>
          </a:p>
        </p:txBody>
      </p:sp>
      <p:sp>
        <p:nvSpPr>
          <p:cNvPr id="241666" name="Rectangle 2"/>
          <p:cNvSpPr>
            <a:spLocks noChangeArrowheads="1"/>
          </p:cNvSpPr>
          <p:nvPr/>
        </p:nvSpPr>
        <p:spPr bwMode="auto">
          <a:xfrm>
            <a:off x="525463" y="1425575"/>
            <a:ext cx="7791450" cy="341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3-9.2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若</a:t>
            </a:r>
            <a:r>
              <a:rPr lang="en-US" altLang="zh-CN">
                <a:solidFill>
                  <a:srgbClr val="020103"/>
                </a:solidFill>
              </a:rPr>
              <a:t>{A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A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与</a:t>
            </a:r>
            <a:r>
              <a:rPr lang="en-US" altLang="zh-CN">
                <a:solidFill>
                  <a:srgbClr val="020103"/>
                </a:solidFill>
              </a:rPr>
              <a:t>{B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B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B</a:t>
            </a:r>
            <a:r>
              <a:rPr lang="en-US" altLang="zh-CN" baseline="-25000">
                <a:solidFill>
                  <a:srgbClr val="020103"/>
                </a:solidFill>
              </a:rPr>
              <a:t>s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是同一集合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的两种划分，且其中所有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 baseline="-25000">
                <a:solidFill>
                  <a:srgbClr val="020103"/>
                </a:solidFill>
              </a:rPr>
              <a:t>i</a:t>
            </a:r>
            <a:r>
              <a:rPr lang="en-US" altLang="zh-CN">
                <a:solidFill>
                  <a:srgbClr val="020103"/>
                </a:solidFill>
              </a:rPr>
              <a:t>∩B</a:t>
            </a:r>
            <a:r>
              <a:rPr lang="en-US" altLang="zh-CN" baseline="-25000">
                <a:solidFill>
                  <a:srgbClr val="020103"/>
                </a:solidFill>
              </a:rPr>
              <a:t>j</a:t>
            </a:r>
            <a:r>
              <a:rPr lang="en-US" altLang="zh-CN">
                <a:solidFill>
                  <a:srgbClr val="020103"/>
                </a:solidFill>
              </a:rPr>
              <a:t>≠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</a:t>
            </a:r>
            <a:r>
              <a:rPr lang="zh-CN" altLang="en-US">
                <a:solidFill>
                  <a:srgbClr val="020103"/>
                </a:solidFill>
              </a:rPr>
              <a:t>组成的集合，称为原来两种划分的</a:t>
            </a:r>
            <a:r>
              <a:rPr lang="zh-CN" altLang="en-US" i="1">
                <a:solidFill>
                  <a:schemeClr val="hlink"/>
                </a:solidFill>
              </a:rPr>
              <a:t>交叉划分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>
                <a:solidFill>
                  <a:srgbClr val="020103"/>
                </a:solidFill>
              </a:rPr>
              <a:t>A={a, b, c}</a:t>
            </a:r>
            <a:r>
              <a:rPr lang="zh-CN" altLang="en-US">
                <a:solidFill>
                  <a:srgbClr val="020103"/>
                </a:solidFill>
              </a:rPr>
              <a:t>，考虑下列子集：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D={{a}, {b, c}}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E={{a} ,{b} ,{c}}</a:t>
            </a:r>
            <a:r>
              <a:rPr lang="zh-CN" altLang="en-US">
                <a:solidFill>
                  <a:srgbClr val="020103"/>
                </a:solidFill>
              </a:rPr>
              <a:t>，求</a:t>
            </a:r>
            <a:r>
              <a:rPr lang="en-US" altLang="zh-CN">
                <a:solidFill>
                  <a:srgbClr val="020103"/>
                </a:solidFill>
              </a:rPr>
              <a:t>D</a:t>
            </a:r>
            <a:r>
              <a:rPr lang="zh-CN" altLang="en-US">
                <a:solidFill>
                  <a:srgbClr val="020103"/>
                </a:solidFill>
              </a:rPr>
              <a:t>和</a:t>
            </a:r>
            <a:r>
              <a:rPr lang="en-US" altLang="zh-CN">
                <a:solidFill>
                  <a:srgbClr val="020103"/>
                </a:solidFill>
              </a:rPr>
              <a:t>E</a:t>
            </a:r>
            <a:r>
              <a:rPr lang="zh-CN" altLang="en-US">
                <a:solidFill>
                  <a:srgbClr val="020103"/>
                </a:solidFill>
              </a:rPr>
              <a:t>的交叉划分。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u"/>
            </a:pPr>
            <a:r>
              <a:rPr kumimoji="0" lang="zh-CN" altLang="en-US">
                <a:solidFill>
                  <a:srgbClr val="020103"/>
                </a:solidFill>
              </a:rPr>
              <a:t>交叉划分是否为原集合的一种划分？</a:t>
            </a:r>
            <a:endParaRPr lang="zh-CN" altLang="en-US" baseline="-25000">
              <a:solidFill>
                <a:srgbClr val="020103"/>
              </a:solidFill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947C40-4D4E-451F-AF9D-C7D1424C13A1}" type="slidenum">
              <a:rPr lang="en-US" altLang="zh-CN"/>
              <a:pPr/>
              <a:t>93</a:t>
            </a:fld>
            <a:endParaRPr lang="en-US" altLang="zh-CN"/>
          </a:p>
        </p:txBody>
      </p:sp>
      <p:sp>
        <p:nvSpPr>
          <p:cNvPr id="242690" name="Rectangle 2"/>
          <p:cNvSpPr>
            <a:spLocks noChangeArrowheads="1"/>
          </p:cNvSpPr>
          <p:nvPr/>
        </p:nvSpPr>
        <p:spPr bwMode="auto">
          <a:xfrm>
            <a:off x="539750" y="1341438"/>
            <a:ext cx="774065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3-9.1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>
                <a:solidFill>
                  <a:srgbClr val="020103"/>
                </a:solidFill>
              </a:rPr>
              <a:t>{A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A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与</a:t>
            </a:r>
            <a:r>
              <a:rPr lang="en-US" altLang="zh-CN">
                <a:solidFill>
                  <a:srgbClr val="020103"/>
                </a:solidFill>
              </a:rPr>
              <a:t>{B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B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B</a:t>
            </a:r>
            <a:r>
              <a:rPr lang="en-US" altLang="zh-CN" baseline="-25000">
                <a:solidFill>
                  <a:srgbClr val="020103"/>
                </a:solidFill>
              </a:rPr>
              <a:t>s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是同一集合</a:t>
            </a:r>
            <a:r>
              <a:rPr lang="en-US" altLang="zh-CN">
                <a:solidFill>
                  <a:srgbClr val="020103"/>
                </a:solidFill>
              </a:rPr>
              <a:t>X</a:t>
            </a:r>
            <a:r>
              <a:rPr lang="zh-CN" altLang="en-US">
                <a:solidFill>
                  <a:srgbClr val="020103"/>
                </a:solidFill>
              </a:rPr>
              <a:t>的两种划分，则其交叉划分是原集合的一种划分。</a:t>
            </a:r>
          </a:p>
        </p:txBody>
      </p:sp>
      <p:sp>
        <p:nvSpPr>
          <p:cNvPr id="242691" name="Text Box 3"/>
          <p:cNvSpPr txBox="1">
            <a:spLocks noChangeArrowheads="1"/>
          </p:cNvSpPr>
          <p:nvPr/>
        </p:nvSpPr>
        <p:spPr bwMode="auto">
          <a:xfrm>
            <a:off x="539750" y="2420938"/>
            <a:ext cx="5472113" cy="38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olidFill>
                  <a:srgbClr val="020103"/>
                </a:solidFill>
              </a:rPr>
              <a:t>证明</a:t>
            </a:r>
            <a:r>
              <a:rPr kumimoji="0" lang="zh-CN" altLang="en-US">
                <a:solidFill>
                  <a:srgbClr val="020103"/>
                </a:solidFill>
                <a:sym typeface="Wingdings" pitchFamily="2" charset="2"/>
              </a:rPr>
              <a:t>：</a:t>
            </a: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(1)</a:t>
            </a:r>
            <a:r>
              <a:rPr kumimoji="0" lang="zh-CN" altLang="en-US">
                <a:solidFill>
                  <a:srgbClr val="020103"/>
                </a:solidFill>
                <a:sym typeface="Wingdings" pitchFamily="2" charset="2"/>
              </a:rPr>
              <a:t>先证每个小分块的交集为空，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olidFill>
                  <a:srgbClr val="020103"/>
                </a:solidFill>
                <a:sym typeface="Wingdings" pitchFamily="2" charset="2"/>
              </a:rPr>
              <a:t>        令</a:t>
            </a: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S</a:t>
            </a:r>
            <a:r>
              <a:rPr kumimoji="0" lang="en-US" altLang="zh-CN" baseline="-25000">
                <a:solidFill>
                  <a:srgbClr val="020103"/>
                </a:solidFill>
                <a:sym typeface="Wingdings" pitchFamily="2" charset="2"/>
              </a:rPr>
              <a:t>1</a:t>
            </a: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={A</a:t>
            </a:r>
            <a:r>
              <a:rPr kumimoji="0" lang="en-US" altLang="zh-CN" baseline="-25000">
                <a:solidFill>
                  <a:srgbClr val="020103"/>
                </a:solidFill>
                <a:sym typeface="Wingdings" pitchFamily="2" charset="2"/>
              </a:rPr>
              <a:t>1</a:t>
            </a:r>
            <a:r>
              <a:rPr lang="en-US" altLang="zh-CN"/>
              <a:t>∩B</a:t>
            </a:r>
            <a:r>
              <a:rPr lang="en-US" altLang="zh-CN" baseline="-25000"/>
              <a:t>1</a:t>
            </a:r>
            <a:r>
              <a:rPr lang="en-US" altLang="zh-CN"/>
              <a:t>, …, A</a:t>
            </a:r>
            <a:r>
              <a:rPr lang="en-US" altLang="zh-CN" baseline="-25000"/>
              <a:t>1</a:t>
            </a:r>
            <a:r>
              <a:rPr lang="en-US" altLang="zh-CN"/>
              <a:t>∩B</a:t>
            </a:r>
            <a:r>
              <a:rPr lang="en-US" altLang="zh-CN" baseline="-25000"/>
              <a:t>s</a:t>
            </a:r>
            <a:r>
              <a:rPr lang="en-US" altLang="zh-CN"/>
              <a:t>, …, A</a:t>
            </a:r>
            <a:r>
              <a:rPr lang="en-US" altLang="zh-CN" baseline="-25000"/>
              <a:t>r</a:t>
            </a:r>
            <a:r>
              <a:rPr lang="en-US" altLang="zh-CN"/>
              <a:t>∩B</a:t>
            </a:r>
            <a:r>
              <a:rPr lang="en-US" altLang="zh-CN" baseline="-25000"/>
              <a:t>1</a:t>
            </a:r>
            <a:r>
              <a:rPr lang="en-US" altLang="zh-CN"/>
              <a:t>, …,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/>
              <a:t>A</a:t>
            </a:r>
            <a:r>
              <a:rPr lang="en-US" altLang="zh-CN" baseline="-25000"/>
              <a:t>r</a:t>
            </a:r>
            <a:r>
              <a:rPr lang="en-US" altLang="zh-CN"/>
              <a:t>∩B</a:t>
            </a:r>
            <a:r>
              <a:rPr lang="en-US" altLang="zh-CN" baseline="-25000"/>
              <a:t>s</a:t>
            </a: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}</a:t>
            </a:r>
            <a:r>
              <a:rPr kumimoji="0" lang="zh-CN" altLang="en-US">
                <a:solidFill>
                  <a:srgbClr val="020103"/>
                </a:solidFill>
                <a:sym typeface="Wingdings" pitchFamily="2" charset="2"/>
              </a:rPr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olidFill>
                  <a:srgbClr val="020103"/>
                </a:solidFill>
                <a:sym typeface="Wingdings" pitchFamily="2" charset="2"/>
              </a:rPr>
              <a:t>          </a:t>
            </a: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(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en-US" altLang="zh-CN"/>
              <a:t>∩B</a:t>
            </a:r>
            <a:r>
              <a:rPr lang="en-US" altLang="zh-CN" baseline="-25000"/>
              <a:t>m</a:t>
            </a:r>
            <a:r>
              <a:rPr lang="en-US" altLang="zh-CN"/>
              <a:t>)∩(A</a:t>
            </a:r>
            <a:r>
              <a:rPr lang="en-US" altLang="zh-CN" baseline="-25000"/>
              <a:t>j</a:t>
            </a:r>
            <a:r>
              <a:rPr lang="en-US" altLang="zh-CN"/>
              <a:t>∩B</a:t>
            </a:r>
            <a:r>
              <a:rPr lang="en-US" altLang="zh-CN" baseline="-25000"/>
              <a:t>n</a:t>
            </a:r>
            <a:r>
              <a:rPr lang="en-US" altLang="zh-CN"/>
              <a:t>)=? 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</a:t>
            </a:r>
            <a:r>
              <a:rPr lang="zh-CN" altLang="en-US">
                <a:solidFill>
                  <a:srgbClr val="020103"/>
                </a:solidFill>
                <a:sym typeface="Symbol" pitchFamily="18" charset="2"/>
              </a:rPr>
              <a:t>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  <a:sym typeface="Symbol" pitchFamily="18" charset="2"/>
              </a:rPr>
              <a:t>         上式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=</a:t>
            </a: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(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en-US" altLang="zh-CN"/>
              <a:t>∩A</a:t>
            </a:r>
            <a:r>
              <a:rPr lang="en-US" altLang="zh-CN" baseline="-25000"/>
              <a:t>j</a:t>
            </a:r>
            <a:r>
              <a:rPr lang="en-US" altLang="zh-CN"/>
              <a:t>)∩(B</a:t>
            </a:r>
            <a:r>
              <a:rPr lang="en-US" altLang="zh-CN" baseline="-25000"/>
              <a:t>m</a:t>
            </a:r>
            <a:r>
              <a:rPr lang="en-US" altLang="zh-CN"/>
              <a:t>∩B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kumimoji="0" lang="en-US" altLang="zh-CN">
              <a:solidFill>
                <a:srgbClr val="020103"/>
              </a:solidFill>
              <a:sym typeface="Wingdings" pitchFamily="2" charset="2"/>
            </a:endParaRP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         (2)</a:t>
            </a:r>
            <a:r>
              <a:rPr kumimoji="0" lang="zh-CN" altLang="en-US">
                <a:solidFill>
                  <a:srgbClr val="020103"/>
                </a:solidFill>
                <a:sym typeface="Wingdings" pitchFamily="2" charset="2"/>
              </a:rPr>
              <a:t>再证所有分块的并为集合</a:t>
            </a: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X</a:t>
            </a:r>
            <a:r>
              <a:rPr kumimoji="0" lang="zh-CN" altLang="en-US">
                <a:solidFill>
                  <a:srgbClr val="020103"/>
                </a:solidFill>
                <a:sym typeface="Wingdings" pitchFamily="2" charset="2"/>
              </a:rPr>
              <a:t>，         </a:t>
            </a:r>
            <a:r>
              <a:rPr kumimoji="0" lang="en-US" altLang="zh-CN">
                <a:solidFill>
                  <a:srgbClr val="020103"/>
                </a:solidFill>
                <a:sym typeface="Wingdings" pitchFamily="2" charset="2"/>
              </a:rPr>
              <a:t>(A</a:t>
            </a:r>
            <a:r>
              <a:rPr kumimoji="0" lang="en-US" altLang="zh-CN" baseline="-25000">
                <a:solidFill>
                  <a:srgbClr val="020103"/>
                </a:solidFill>
                <a:sym typeface="Wingdings" pitchFamily="2" charset="2"/>
              </a:rPr>
              <a:t>1</a:t>
            </a:r>
            <a:r>
              <a:rPr lang="en-US" altLang="zh-CN"/>
              <a:t>∩B</a:t>
            </a:r>
            <a:r>
              <a:rPr lang="en-US" altLang="zh-CN" baseline="-25000"/>
              <a:t>1</a:t>
            </a:r>
            <a:r>
              <a:rPr lang="en-US" altLang="zh-CN"/>
              <a:t>)</a:t>
            </a:r>
            <a:r>
              <a:rPr lang="en-US" altLang="zh-CN">
                <a:latin typeface="宋体" charset="-122"/>
              </a:rPr>
              <a:t>∪</a:t>
            </a:r>
            <a:r>
              <a:rPr lang="en-US" altLang="zh-CN"/>
              <a:t>…</a:t>
            </a:r>
            <a:r>
              <a:rPr lang="en-US" altLang="zh-CN">
                <a:latin typeface="宋体" charset="-122"/>
              </a:rPr>
              <a:t>∪(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∩B</a:t>
            </a:r>
            <a:r>
              <a:rPr lang="en-US" altLang="zh-CN" baseline="-25000"/>
              <a:t>s</a:t>
            </a:r>
            <a:r>
              <a:rPr lang="en-US" altLang="zh-CN"/>
              <a:t>)</a:t>
            </a:r>
            <a:r>
              <a:rPr lang="en-US" altLang="zh-CN">
                <a:latin typeface="宋体" charset="-122"/>
              </a:rPr>
              <a:t>∪</a:t>
            </a:r>
            <a:r>
              <a:rPr lang="en-US" altLang="zh-CN"/>
              <a:t>…</a:t>
            </a:r>
            <a:r>
              <a:rPr lang="en-US" altLang="zh-CN">
                <a:latin typeface="宋体" charset="-122"/>
              </a:rPr>
              <a:t>∪</a:t>
            </a:r>
            <a:r>
              <a:rPr lang="en-US" altLang="zh-CN"/>
              <a:t>(A</a:t>
            </a:r>
            <a:r>
              <a:rPr lang="en-US" altLang="zh-CN" baseline="-25000"/>
              <a:t>r</a:t>
            </a:r>
            <a:r>
              <a:rPr lang="en-US" altLang="zh-CN"/>
              <a:t>∩B</a:t>
            </a:r>
            <a:r>
              <a:rPr lang="en-US" altLang="zh-CN" baseline="-25000"/>
              <a:t>1</a:t>
            </a:r>
            <a:r>
              <a:rPr lang="en-US" altLang="zh-CN"/>
              <a:t>)∪…∪(A</a:t>
            </a:r>
            <a:r>
              <a:rPr lang="en-US" altLang="zh-CN" baseline="-25000"/>
              <a:t>r</a:t>
            </a:r>
            <a:r>
              <a:rPr lang="en-US" altLang="zh-CN"/>
              <a:t>∩B</a:t>
            </a:r>
            <a:r>
              <a:rPr lang="en-US" altLang="zh-CN" baseline="-25000"/>
              <a:t>s</a:t>
            </a:r>
            <a:r>
              <a:rPr lang="en-US" altLang="zh-CN"/>
              <a:t>)</a:t>
            </a:r>
          </a:p>
        </p:txBody>
      </p:sp>
      <p:sp>
        <p:nvSpPr>
          <p:cNvPr id="242693" name="Rectangle 5"/>
          <p:cNvSpPr>
            <a:spLocks noChangeArrowheads="1"/>
          </p:cNvSpPr>
          <p:nvPr/>
        </p:nvSpPr>
        <p:spPr bwMode="auto">
          <a:xfrm>
            <a:off x="1258888" y="333375"/>
            <a:ext cx="2520950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二、性质</a:t>
            </a:r>
          </a:p>
        </p:txBody>
      </p:sp>
      <p:grpSp>
        <p:nvGrpSpPr>
          <p:cNvPr id="242694" name="Group 6"/>
          <p:cNvGrpSpPr>
            <a:grpSpLocks/>
          </p:cNvGrpSpPr>
          <p:nvPr/>
        </p:nvGrpSpPr>
        <p:grpSpPr bwMode="auto">
          <a:xfrm>
            <a:off x="5795963" y="2420938"/>
            <a:ext cx="2959100" cy="1871662"/>
            <a:chOff x="3243" y="1480"/>
            <a:chExt cx="1864" cy="1179"/>
          </a:xfrm>
        </p:grpSpPr>
        <p:grpSp>
          <p:nvGrpSpPr>
            <p:cNvPr id="242695" name="Group 7"/>
            <p:cNvGrpSpPr>
              <a:grpSpLocks/>
            </p:cNvGrpSpPr>
            <p:nvPr/>
          </p:nvGrpSpPr>
          <p:grpSpPr bwMode="auto">
            <a:xfrm>
              <a:off x="3651" y="1843"/>
              <a:ext cx="1456" cy="816"/>
              <a:chOff x="1584" y="2592"/>
              <a:chExt cx="1456" cy="816"/>
            </a:xfrm>
          </p:grpSpPr>
          <p:sp>
            <p:nvSpPr>
              <p:cNvPr id="242696" name="Rectangle 8"/>
              <p:cNvSpPr>
                <a:spLocks noChangeArrowheads="1"/>
              </p:cNvSpPr>
              <p:nvPr/>
            </p:nvSpPr>
            <p:spPr bwMode="auto">
              <a:xfrm>
                <a:off x="1584" y="3000"/>
                <a:ext cx="699" cy="408"/>
              </a:xfrm>
              <a:prstGeom prst="rect">
                <a:avLst/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697" name="Rectangle 9"/>
              <p:cNvSpPr>
                <a:spLocks noChangeArrowheads="1"/>
              </p:cNvSpPr>
              <p:nvPr/>
            </p:nvSpPr>
            <p:spPr bwMode="auto">
              <a:xfrm>
                <a:off x="2291" y="3000"/>
                <a:ext cx="749" cy="408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698" name="Rectangle 10"/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699" cy="40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2699" name="Rectangle 11"/>
              <p:cNvSpPr>
                <a:spLocks noChangeArrowheads="1"/>
              </p:cNvSpPr>
              <p:nvPr/>
            </p:nvSpPr>
            <p:spPr bwMode="auto">
              <a:xfrm>
                <a:off x="2291" y="2592"/>
                <a:ext cx="749" cy="40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2700" name="Rectangle 12"/>
            <p:cNvSpPr>
              <a:spLocks noChangeArrowheads="1"/>
            </p:cNvSpPr>
            <p:nvPr/>
          </p:nvSpPr>
          <p:spPr bwMode="auto">
            <a:xfrm>
              <a:off x="3878" y="1480"/>
              <a:ext cx="969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30000"/>
                </a:lnSpc>
                <a:buClrTx/>
                <a:buFontTx/>
                <a:buNone/>
              </a:pPr>
              <a:r>
                <a:rPr lang="en-US" altLang="zh-CN">
                  <a:solidFill>
                    <a:srgbClr val="020103"/>
                  </a:solidFill>
                </a:rPr>
                <a:t>A</a:t>
              </a:r>
              <a:r>
                <a:rPr lang="en-US" altLang="zh-CN" baseline="-25000">
                  <a:solidFill>
                    <a:srgbClr val="020103"/>
                  </a:solidFill>
                </a:rPr>
                <a:t>i  </a:t>
              </a:r>
              <a:r>
                <a:rPr lang="en-US" altLang="zh-CN">
                  <a:solidFill>
                    <a:srgbClr val="020103"/>
                  </a:solidFill>
                </a:rPr>
                <a:t>         A</a:t>
              </a:r>
              <a:r>
                <a:rPr lang="en-US" altLang="zh-CN" baseline="-25000">
                  <a:solidFill>
                    <a:srgbClr val="020103"/>
                  </a:solidFill>
                </a:rPr>
                <a:t>j</a:t>
              </a:r>
            </a:p>
          </p:txBody>
        </p:sp>
        <p:sp>
          <p:nvSpPr>
            <p:cNvPr id="242701" name="Rectangle 13"/>
            <p:cNvSpPr>
              <a:spLocks noChangeArrowheads="1"/>
            </p:cNvSpPr>
            <p:nvPr/>
          </p:nvSpPr>
          <p:spPr bwMode="auto">
            <a:xfrm>
              <a:off x="3243" y="1888"/>
              <a:ext cx="590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buClrTx/>
                <a:buFontTx/>
                <a:buNone/>
              </a:pPr>
              <a:r>
                <a:rPr lang="en-US" altLang="zh-CN">
                  <a:solidFill>
                    <a:srgbClr val="020103"/>
                  </a:solidFill>
                </a:rPr>
                <a:t>B</a:t>
              </a:r>
              <a:r>
                <a:rPr lang="en-US" altLang="zh-CN" baseline="-25000">
                  <a:solidFill>
                    <a:srgbClr val="020103"/>
                  </a:solidFill>
                </a:rPr>
                <a:t>m</a:t>
              </a:r>
              <a:r>
                <a:rPr lang="en-US" altLang="zh-CN">
                  <a:solidFill>
                    <a:srgbClr val="020103"/>
                  </a:solidFill>
                </a:rPr>
                <a:t> </a:t>
              </a:r>
            </a:p>
            <a:p>
              <a:pPr>
                <a:lnSpc>
                  <a:spcPct val="130000"/>
                </a:lnSpc>
                <a:buClrTx/>
                <a:buFontTx/>
                <a:buNone/>
              </a:pPr>
              <a:r>
                <a:rPr lang="en-US" altLang="zh-CN">
                  <a:solidFill>
                    <a:srgbClr val="020103"/>
                  </a:solidFill>
                </a:rPr>
                <a:t>B</a:t>
              </a:r>
              <a:r>
                <a:rPr lang="en-US" altLang="zh-CN" baseline="-25000">
                  <a:solidFill>
                    <a:srgbClr val="020103"/>
                  </a:solidFill>
                </a:rPr>
                <a:t>n</a:t>
              </a:r>
            </a:p>
          </p:txBody>
        </p:sp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01E025-3E79-4F05-BF4D-C8C25754D873}" type="slidenum">
              <a:rPr lang="en-US" altLang="zh-CN"/>
              <a:pPr/>
              <a:t>94</a:t>
            </a:fld>
            <a:endParaRPr lang="en-US" altLang="zh-CN"/>
          </a:p>
        </p:txBody>
      </p:sp>
      <p:sp>
        <p:nvSpPr>
          <p:cNvPr id="243714" name="Rectangle 2"/>
          <p:cNvSpPr>
            <a:spLocks noChangeArrowheads="1"/>
          </p:cNvSpPr>
          <p:nvPr/>
        </p:nvSpPr>
        <p:spPr bwMode="auto">
          <a:xfrm>
            <a:off x="468313" y="1408113"/>
            <a:ext cx="7775575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3-9.3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给定</a:t>
            </a:r>
            <a:r>
              <a:rPr lang="en-US" altLang="zh-CN">
                <a:solidFill>
                  <a:srgbClr val="020103"/>
                </a:solidFill>
              </a:rPr>
              <a:t>X</a:t>
            </a:r>
            <a:r>
              <a:rPr lang="zh-CN" altLang="en-US">
                <a:solidFill>
                  <a:srgbClr val="020103"/>
                </a:solidFill>
              </a:rPr>
              <a:t>的任意两个划分</a:t>
            </a:r>
            <a:r>
              <a:rPr lang="en-US" altLang="zh-CN">
                <a:solidFill>
                  <a:srgbClr val="020103"/>
                </a:solidFill>
              </a:rPr>
              <a:t>{A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A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和</a:t>
            </a:r>
            <a:r>
              <a:rPr lang="en-US" altLang="zh-CN">
                <a:solidFill>
                  <a:srgbClr val="020103"/>
                </a:solidFill>
              </a:rPr>
              <a:t>{B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B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B</a:t>
            </a:r>
            <a:r>
              <a:rPr lang="en-US" altLang="zh-CN" baseline="-25000">
                <a:solidFill>
                  <a:srgbClr val="020103"/>
                </a:solidFill>
              </a:rPr>
              <a:t>s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，若对于每一个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 baseline="-25000">
                <a:solidFill>
                  <a:srgbClr val="020103"/>
                </a:solidFill>
              </a:rPr>
              <a:t>j</a:t>
            </a:r>
            <a:r>
              <a:rPr lang="zh-CN" altLang="en-US">
                <a:solidFill>
                  <a:srgbClr val="020103"/>
                </a:solidFill>
              </a:rPr>
              <a:t>均有</a:t>
            </a:r>
            <a:r>
              <a:rPr lang="en-US" altLang="zh-CN">
                <a:solidFill>
                  <a:srgbClr val="020103"/>
                </a:solidFill>
              </a:rPr>
              <a:t>B</a:t>
            </a:r>
            <a:r>
              <a:rPr lang="en-US" altLang="zh-CN" baseline="-25000">
                <a:solidFill>
                  <a:srgbClr val="020103"/>
                </a:solidFill>
              </a:rPr>
              <a:t>k</a:t>
            </a:r>
            <a:r>
              <a:rPr lang="zh-CN" altLang="en-US">
                <a:solidFill>
                  <a:srgbClr val="020103"/>
                </a:solidFill>
              </a:rPr>
              <a:t>使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 baseline="-25000">
                <a:solidFill>
                  <a:srgbClr val="020103"/>
                </a:solidFill>
              </a:rPr>
              <a:t>j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</a:t>
            </a:r>
            <a:r>
              <a:rPr lang="en-US" altLang="zh-CN">
                <a:solidFill>
                  <a:srgbClr val="020103"/>
                </a:solidFill>
              </a:rPr>
              <a:t>B</a:t>
            </a:r>
            <a:r>
              <a:rPr lang="en-US" altLang="zh-CN" baseline="-25000">
                <a:solidFill>
                  <a:srgbClr val="020103"/>
                </a:solidFill>
              </a:rPr>
              <a:t>k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则</a:t>
            </a:r>
            <a:r>
              <a:rPr lang="en-US" altLang="zh-CN">
                <a:solidFill>
                  <a:srgbClr val="020103"/>
                </a:solidFill>
              </a:rPr>
              <a:t>{A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A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是</a:t>
            </a:r>
            <a:r>
              <a:rPr lang="en-US" altLang="zh-CN">
                <a:solidFill>
                  <a:srgbClr val="020103"/>
                </a:solidFill>
              </a:rPr>
              <a:t>{B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 B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 B</a:t>
            </a:r>
            <a:r>
              <a:rPr lang="en-US" altLang="zh-CN" baseline="-25000">
                <a:solidFill>
                  <a:srgbClr val="020103"/>
                </a:solidFill>
              </a:rPr>
              <a:t>s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的</a:t>
            </a:r>
            <a:r>
              <a:rPr lang="zh-CN" altLang="en-US" i="1">
                <a:solidFill>
                  <a:schemeClr val="hlink"/>
                </a:solidFill>
              </a:rPr>
              <a:t>加细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  <a:r>
              <a:rPr lang="zh-CN" altLang="en-US" b="0">
                <a:solidFill>
                  <a:schemeClr val="tx1"/>
                </a:solidFill>
              </a:rPr>
              <a:t>                             </a:t>
            </a:r>
          </a:p>
        </p:txBody>
      </p:sp>
      <p:sp>
        <p:nvSpPr>
          <p:cNvPr id="243717" name="Text Box 5"/>
          <p:cNvSpPr txBox="1">
            <a:spLocks noChangeArrowheads="1"/>
          </p:cNvSpPr>
          <p:nvPr/>
        </p:nvSpPr>
        <p:spPr bwMode="auto">
          <a:xfrm>
            <a:off x="468313" y="2924175"/>
            <a:ext cx="7775575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 dirty="0">
                <a:solidFill>
                  <a:srgbClr val="020103"/>
                </a:solidFill>
              </a:rPr>
              <a:t>不同的</a:t>
            </a:r>
            <a:r>
              <a:rPr kumimoji="0" lang="en-US" altLang="zh-CN" dirty="0" err="1">
                <a:solidFill>
                  <a:srgbClr val="020103"/>
                </a:solidFill>
              </a:rPr>
              <a:t>A</a:t>
            </a:r>
            <a:r>
              <a:rPr kumimoji="0" lang="en-US" altLang="zh-CN" baseline="-25000" dirty="0" err="1">
                <a:solidFill>
                  <a:srgbClr val="020103"/>
                </a:solidFill>
              </a:rPr>
              <a:t>j</a:t>
            </a:r>
            <a:r>
              <a:rPr kumimoji="0" lang="zh-CN" altLang="en-US" dirty="0">
                <a:solidFill>
                  <a:srgbClr val="020103"/>
                </a:solidFill>
              </a:rPr>
              <a:t>可能属于相同的</a:t>
            </a:r>
            <a:r>
              <a:rPr kumimoji="0" lang="en-US" altLang="zh-CN" dirty="0" err="1">
                <a:solidFill>
                  <a:srgbClr val="020103"/>
                </a:solidFill>
              </a:rPr>
              <a:t>B</a:t>
            </a:r>
            <a:r>
              <a:rPr kumimoji="0" lang="en-US" altLang="zh-CN" baseline="-25000" dirty="0" err="1">
                <a:solidFill>
                  <a:srgbClr val="020103"/>
                </a:solidFill>
              </a:rPr>
              <a:t>k</a:t>
            </a:r>
            <a:endParaRPr kumimoji="0" lang="en-US" altLang="zh-CN" baseline="-25000" dirty="0">
              <a:solidFill>
                <a:srgbClr val="020103"/>
              </a:solidFill>
            </a:endParaRP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3-9.2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rgbClr val="020103"/>
                </a:solidFill>
              </a:rPr>
              <a:t>任何两种划分的交叉划分，都是原来各划分的一种加细。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3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5AB566-CEA5-4CB6-BD13-39B4D3ECDFEC}" type="slidenum">
              <a:rPr lang="en-US" altLang="zh-CN"/>
              <a:pPr/>
              <a:t>95</a:t>
            </a:fld>
            <a:endParaRPr lang="en-US" altLang="zh-CN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465138"/>
            <a:ext cx="7021513" cy="641350"/>
          </a:xfrm>
        </p:spPr>
        <p:txBody>
          <a:bodyPr/>
          <a:lstStyle/>
          <a:p>
            <a:r>
              <a:rPr kumimoji="1"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3-10   </a:t>
            </a:r>
            <a:r>
              <a:rPr kumimoji="1"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等价关系与等价类</a:t>
            </a:r>
          </a:p>
        </p:txBody>
      </p:sp>
      <p:sp>
        <p:nvSpPr>
          <p:cNvPr id="369668" name="Rectangle 4"/>
          <p:cNvSpPr>
            <a:spLocks noChangeArrowheads="1"/>
          </p:cNvSpPr>
          <p:nvPr/>
        </p:nvSpPr>
        <p:spPr bwMode="auto">
          <a:xfrm>
            <a:off x="1331913" y="1628775"/>
            <a:ext cx="45720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一、等价关系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二、等价类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三、相关的性质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34716A-2B92-4686-84B5-33587B3D5090}" type="slidenum">
              <a:rPr lang="en-US" altLang="zh-CN"/>
              <a:pPr/>
              <a:t>96</a:t>
            </a:fld>
            <a:endParaRPr lang="en-US" altLang="zh-CN"/>
          </a:p>
        </p:txBody>
      </p:sp>
      <p:sp>
        <p:nvSpPr>
          <p:cNvPr id="245762" name="Rectangle 2"/>
          <p:cNvSpPr>
            <a:spLocks noChangeArrowheads="1"/>
          </p:cNvSpPr>
          <p:nvPr/>
        </p:nvSpPr>
        <p:spPr bwMode="auto">
          <a:xfrm>
            <a:off x="431800" y="1254125"/>
            <a:ext cx="7885113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3-10.1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为定义在集合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上的一个关系，若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是自反的，对称的和传递的，则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称为</a:t>
            </a:r>
            <a:r>
              <a:rPr lang="zh-CN" altLang="en-US" u="sng">
                <a:solidFill>
                  <a:schemeClr val="hlink"/>
                </a:solidFill>
              </a:rPr>
              <a:t>等价关系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</p:txBody>
      </p:sp>
      <p:sp>
        <p:nvSpPr>
          <p:cNvPr id="245768" name="Rectangle 8"/>
          <p:cNvSpPr>
            <a:spLocks noChangeArrowheads="1"/>
          </p:cNvSpPr>
          <p:nvPr/>
        </p:nvSpPr>
        <p:spPr bwMode="auto">
          <a:xfrm>
            <a:off x="1187450" y="476250"/>
            <a:ext cx="381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一、等价关系</a:t>
            </a:r>
          </a:p>
        </p:txBody>
      </p:sp>
      <p:sp>
        <p:nvSpPr>
          <p:cNvPr id="245769" name="Rectangle 9"/>
          <p:cNvSpPr>
            <a:spLocks noChangeArrowheads="1"/>
          </p:cNvSpPr>
          <p:nvPr/>
        </p:nvSpPr>
        <p:spPr bwMode="auto">
          <a:xfrm>
            <a:off x="395288" y="2205038"/>
            <a:ext cx="80645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I</a:t>
            </a:r>
            <a:r>
              <a:rPr lang="zh-CN" altLang="en-US">
                <a:solidFill>
                  <a:srgbClr val="020103"/>
                </a:solidFill>
              </a:rPr>
              <a:t>为整数集，</a:t>
            </a:r>
            <a:r>
              <a:rPr lang="en-US" altLang="zh-CN">
                <a:solidFill>
                  <a:srgbClr val="020103"/>
                </a:solidFill>
              </a:rPr>
              <a:t>R={&lt;x, y&gt;|x≡y(mod k)}</a:t>
            </a:r>
            <a:r>
              <a:rPr lang="zh-CN" altLang="en-US">
                <a:solidFill>
                  <a:srgbClr val="020103"/>
                </a:solidFill>
              </a:rPr>
              <a:t>，证明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是等价关系。</a:t>
            </a:r>
          </a:p>
        </p:txBody>
      </p:sp>
      <p:sp>
        <p:nvSpPr>
          <p:cNvPr id="245770" name="Rectangle 10"/>
          <p:cNvSpPr>
            <a:spLocks noChangeArrowheads="1"/>
          </p:cNvSpPr>
          <p:nvPr/>
        </p:nvSpPr>
        <p:spPr bwMode="auto">
          <a:xfrm>
            <a:off x="395288" y="3213100"/>
            <a:ext cx="8208962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证明：设</a:t>
            </a:r>
            <a:r>
              <a:rPr lang="en-US" altLang="zh-CN">
                <a:solidFill>
                  <a:srgbClr val="020103"/>
                </a:solidFill>
              </a:rPr>
              <a:t>a, b, c∈I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1)a-a=k</a:t>
            </a:r>
            <a:r>
              <a:rPr lang="en-US" altLang="zh-CN">
                <a:solidFill>
                  <a:srgbClr val="020103"/>
                </a:solidFill>
                <a:cs typeface="Times New Roman" pitchFamily="18" charset="0"/>
              </a:rPr>
              <a:t>*</a:t>
            </a:r>
            <a:r>
              <a:rPr lang="en-US" altLang="zh-CN">
                <a:solidFill>
                  <a:srgbClr val="020103"/>
                </a:solidFill>
              </a:rPr>
              <a:t>0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&lt;a, a&gt;∈R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2)</a:t>
            </a:r>
            <a:r>
              <a:rPr lang="zh-CN" altLang="en-US">
                <a:solidFill>
                  <a:srgbClr val="020103"/>
                </a:solidFill>
              </a:rPr>
              <a:t>若</a:t>
            </a:r>
            <a:r>
              <a:rPr lang="en-US" altLang="zh-CN">
                <a:solidFill>
                  <a:srgbClr val="020103"/>
                </a:solidFill>
              </a:rPr>
              <a:t>a≡b(mod k)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a-b=k</a:t>
            </a:r>
            <a:r>
              <a:rPr lang="en-US" altLang="zh-CN">
                <a:solidFill>
                  <a:srgbClr val="020103"/>
                </a:solidFill>
                <a:cs typeface="Times New Roman" pitchFamily="18" charset="0"/>
              </a:rPr>
              <a:t>*</a:t>
            </a:r>
            <a:r>
              <a:rPr lang="en-US" altLang="zh-CN">
                <a:solidFill>
                  <a:srgbClr val="020103"/>
                </a:solidFill>
              </a:rPr>
              <a:t>t</a:t>
            </a:r>
            <a:r>
              <a:rPr lang="zh-CN" altLang="en-US">
                <a:solidFill>
                  <a:srgbClr val="020103"/>
                </a:solidFill>
              </a:rPr>
              <a:t>，则</a:t>
            </a:r>
            <a:r>
              <a:rPr lang="en-US" altLang="zh-CN">
                <a:solidFill>
                  <a:srgbClr val="020103"/>
                </a:solidFill>
              </a:rPr>
              <a:t>b-a= -k</a:t>
            </a:r>
            <a:r>
              <a:rPr lang="en-US" altLang="zh-CN">
                <a:solidFill>
                  <a:srgbClr val="020103"/>
                </a:solidFill>
                <a:cs typeface="Times New Roman" pitchFamily="18" charset="0"/>
              </a:rPr>
              <a:t>*</a:t>
            </a:r>
            <a:r>
              <a:rPr lang="en-US" altLang="zh-CN">
                <a:solidFill>
                  <a:srgbClr val="020103"/>
                </a:solidFill>
              </a:rPr>
              <a:t>t</a:t>
            </a:r>
            <a:r>
              <a:rPr lang="zh-CN" altLang="en-US">
                <a:solidFill>
                  <a:srgbClr val="020103"/>
                </a:solidFill>
              </a:rPr>
              <a:t>，所以</a:t>
            </a:r>
            <a:r>
              <a:rPr lang="en-US" altLang="zh-CN">
                <a:solidFill>
                  <a:srgbClr val="020103"/>
                </a:solidFill>
              </a:rPr>
              <a:t>b≡a(mod k)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3)</a:t>
            </a:r>
            <a:r>
              <a:rPr lang="zh-CN" altLang="en-US">
                <a:solidFill>
                  <a:srgbClr val="020103"/>
                </a:solidFill>
              </a:rPr>
              <a:t>若</a:t>
            </a:r>
            <a:r>
              <a:rPr lang="en-US" altLang="zh-CN">
                <a:solidFill>
                  <a:srgbClr val="020103"/>
                </a:solidFill>
              </a:rPr>
              <a:t>a≡b(mod k)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b≡c(mod k)</a:t>
            </a:r>
            <a:r>
              <a:rPr lang="zh-CN" altLang="en-US">
                <a:solidFill>
                  <a:srgbClr val="020103"/>
                </a:solidFill>
              </a:rPr>
              <a:t>，则</a:t>
            </a:r>
            <a:r>
              <a:rPr lang="en-US" altLang="zh-CN">
                <a:solidFill>
                  <a:srgbClr val="020103"/>
                </a:solidFill>
              </a:rPr>
              <a:t>a-b=kt,b-c=ks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a-c=a-b+b-c=k(t+s)</a:t>
            </a:r>
            <a:r>
              <a:rPr lang="zh-CN" altLang="en-US">
                <a:solidFill>
                  <a:srgbClr val="020103"/>
                </a:solidFill>
              </a:rPr>
              <a:t>，所以 </a:t>
            </a:r>
            <a:r>
              <a:rPr lang="en-US" altLang="zh-CN">
                <a:solidFill>
                  <a:srgbClr val="020103"/>
                </a:solidFill>
              </a:rPr>
              <a:t>a≡c(mod k)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因此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是等价关系。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3635DF-0548-4A84-B4FA-0517F697BACD}" type="slidenum">
              <a:rPr lang="en-US" altLang="zh-CN"/>
              <a:pPr/>
              <a:t>97</a:t>
            </a:fld>
            <a:endParaRPr lang="en-US" altLang="zh-CN"/>
          </a:p>
        </p:txBody>
      </p:sp>
      <p:sp>
        <p:nvSpPr>
          <p:cNvPr id="247810" name="Rectangle 2"/>
          <p:cNvSpPr>
            <a:spLocks noChangeArrowheads="1"/>
          </p:cNvSpPr>
          <p:nvPr/>
        </p:nvSpPr>
        <p:spPr bwMode="auto">
          <a:xfrm>
            <a:off x="395288" y="1452563"/>
            <a:ext cx="79930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定</a:t>
            </a:r>
            <a:r>
              <a:rPr lang="zh-CN" altLang="en-US">
                <a:solidFill>
                  <a:schemeClr val="hlink"/>
                </a:solidFill>
              </a:rPr>
              <a:t>义</a:t>
            </a:r>
            <a:r>
              <a:rPr lang="en-US" altLang="zh-CN">
                <a:solidFill>
                  <a:schemeClr val="hlink"/>
                </a:solidFill>
              </a:rPr>
              <a:t>3-10.2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为集合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上的等价关系，对任何</a:t>
            </a:r>
            <a:r>
              <a:rPr lang="en-US" altLang="zh-CN">
                <a:solidFill>
                  <a:srgbClr val="020103"/>
                </a:solidFill>
              </a:rPr>
              <a:t>a∈A</a:t>
            </a:r>
            <a:r>
              <a:rPr lang="zh-CN" altLang="en-US">
                <a:solidFill>
                  <a:srgbClr val="020103"/>
                </a:solidFill>
              </a:rPr>
              <a:t>，集合</a:t>
            </a:r>
            <a:r>
              <a:rPr lang="en-US" altLang="zh-CN">
                <a:solidFill>
                  <a:srgbClr val="020103"/>
                </a:solidFill>
              </a:rPr>
              <a:t>[a]</a:t>
            </a:r>
            <a:r>
              <a:rPr lang="en-US" altLang="zh-CN" baseline="-30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={x|x∈A, aRx}</a:t>
            </a:r>
            <a:r>
              <a:rPr lang="zh-CN" altLang="en-US">
                <a:solidFill>
                  <a:srgbClr val="020103"/>
                </a:solidFill>
              </a:rPr>
              <a:t>，称为</a:t>
            </a:r>
            <a:r>
              <a:rPr lang="zh-CN" altLang="en-US" i="1">
                <a:solidFill>
                  <a:schemeClr val="hlink"/>
                </a:solidFill>
              </a:rPr>
              <a:t>元素</a:t>
            </a:r>
            <a:r>
              <a:rPr lang="en-US" altLang="zh-CN" i="1">
                <a:solidFill>
                  <a:schemeClr val="hlink"/>
                </a:solidFill>
              </a:rPr>
              <a:t>a</a:t>
            </a:r>
            <a:r>
              <a:rPr lang="zh-CN" altLang="en-US" i="1">
                <a:solidFill>
                  <a:schemeClr val="hlink"/>
                </a:solidFill>
              </a:rPr>
              <a:t>形成的</a:t>
            </a:r>
            <a:r>
              <a:rPr lang="en-US" altLang="zh-CN" i="1">
                <a:solidFill>
                  <a:schemeClr val="hlink"/>
                </a:solidFill>
              </a:rPr>
              <a:t>R</a:t>
            </a:r>
            <a:r>
              <a:rPr lang="zh-CN" altLang="en-US" i="1">
                <a:solidFill>
                  <a:schemeClr val="hlink"/>
                </a:solidFill>
              </a:rPr>
              <a:t>等价类</a:t>
            </a:r>
            <a:r>
              <a:rPr lang="zh-CN" altLang="en-US" b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247812" name="Text Box 4"/>
          <p:cNvSpPr txBox="1">
            <a:spLocks noChangeArrowheads="1"/>
          </p:cNvSpPr>
          <p:nvPr/>
        </p:nvSpPr>
        <p:spPr bwMode="auto">
          <a:xfrm>
            <a:off x="395288" y="2619375"/>
            <a:ext cx="7993062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注意：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每个元素形成的等价类均非空；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同一等价类中的任意两个元素</a:t>
            </a:r>
            <a:r>
              <a:rPr kumimoji="0" lang="en-US" altLang="zh-CN">
                <a:solidFill>
                  <a:srgbClr val="020103"/>
                </a:solidFill>
              </a:rPr>
              <a:t>x, y</a:t>
            </a:r>
            <a:r>
              <a:rPr kumimoji="0" lang="zh-CN" altLang="en-US">
                <a:solidFill>
                  <a:srgbClr val="020103"/>
                </a:solidFill>
              </a:rPr>
              <a:t>，均有</a:t>
            </a:r>
            <a:r>
              <a:rPr kumimoji="0" lang="en-US" altLang="zh-CN">
                <a:solidFill>
                  <a:srgbClr val="020103"/>
                </a:solidFill>
              </a:rPr>
              <a:t>xRy</a:t>
            </a:r>
            <a:r>
              <a:rPr kumimoji="0" lang="zh-CN" altLang="en-US">
                <a:solidFill>
                  <a:srgbClr val="020103"/>
                </a:solidFill>
              </a:rPr>
              <a:t>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给定集合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和其上的等价关系</a:t>
            </a:r>
            <a:r>
              <a:rPr kumimoji="0" lang="en-US" altLang="zh-CN">
                <a:solidFill>
                  <a:srgbClr val="020103"/>
                </a:solidFill>
              </a:rPr>
              <a:t>R</a:t>
            </a:r>
            <a:r>
              <a:rPr kumimoji="0" lang="zh-CN" altLang="en-US">
                <a:solidFill>
                  <a:srgbClr val="020103"/>
                </a:solidFill>
              </a:rPr>
              <a:t>，必可写出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上各元素的等价类。</a:t>
            </a:r>
          </a:p>
        </p:txBody>
      </p:sp>
      <p:sp>
        <p:nvSpPr>
          <p:cNvPr id="247814" name="Rectangle 6"/>
          <p:cNvSpPr>
            <a:spLocks noChangeArrowheads="1"/>
          </p:cNvSpPr>
          <p:nvPr/>
        </p:nvSpPr>
        <p:spPr bwMode="auto">
          <a:xfrm>
            <a:off x="1258888" y="476250"/>
            <a:ext cx="2736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二、等价类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5F7EB2-D4FF-4B7C-AD33-B0F76ECAB3BF}" type="slidenum">
              <a:rPr lang="en-US" altLang="zh-CN"/>
              <a:pPr/>
              <a:t>98</a:t>
            </a:fld>
            <a:endParaRPr lang="en-US" altLang="zh-CN"/>
          </a:p>
        </p:txBody>
      </p:sp>
      <p:sp>
        <p:nvSpPr>
          <p:cNvPr id="435204" name="Rectangle 4"/>
          <p:cNvSpPr>
            <a:spLocks noChangeArrowheads="1"/>
          </p:cNvSpPr>
          <p:nvPr/>
        </p:nvSpPr>
        <p:spPr bwMode="auto">
          <a:xfrm>
            <a:off x="611188" y="1484313"/>
            <a:ext cx="7885112" cy="341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集合  </a:t>
            </a:r>
            <a:r>
              <a:rPr lang="en-US" altLang="zh-CN">
                <a:solidFill>
                  <a:srgbClr val="020103"/>
                </a:solidFill>
              </a:rPr>
              <a:t>T={1, 2, 3, 4}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        </a:t>
            </a:r>
            <a:r>
              <a:rPr lang="en-US" altLang="zh-CN">
                <a:solidFill>
                  <a:srgbClr val="020103"/>
                </a:solidFill>
              </a:rPr>
              <a:t>R={&lt;1,1&gt;,&lt;1,4&gt;,&lt;4,1&gt;,&lt;4,4&gt;,&lt;2,2&gt;,&lt;2,3&gt;,&lt;3,2&gt;,&lt;3,3&gt;}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求各元素形成的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等价类。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         </a:t>
            </a:r>
            <a:r>
              <a:rPr lang="en-US" altLang="zh-CN">
                <a:solidFill>
                  <a:srgbClr val="020103"/>
                </a:solidFill>
              </a:rPr>
              <a:t>[1]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={1, 4}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      [2]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={2, 3}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      [3]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={2, 3}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      [4]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={1, 4}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ADD422-D992-44B4-9196-D299AF2D8F14}" type="slidenum">
              <a:rPr lang="en-US" altLang="zh-CN"/>
              <a:pPr/>
              <a:t>99</a:t>
            </a:fld>
            <a:endParaRPr lang="en-US" altLang="zh-CN"/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598488" y="1220788"/>
            <a:ext cx="77184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3-10.1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设给定集合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上的等价关系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，对于</a:t>
            </a:r>
            <a:r>
              <a:rPr lang="en-US" altLang="zh-CN">
                <a:solidFill>
                  <a:srgbClr val="020103"/>
                </a:solidFill>
              </a:rPr>
              <a:t>a, b∈A</a:t>
            </a:r>
            <a:r>
              <a:rPr lang="zh-CN" altLang="en-US">
                <a:solidFill>
                  <a:srgbClr val="020103"/>
                </a:solidFill>
              </a:rPr>
              <a:t>有</a:t>
            </a:r>
            <a:r>
              <a:rPr lang="en-US" altLang="zh-CN">
                <a:solidFill>
                  <a:srgbClr val="020103"/>
                </a:solidFill>
              </a:rPr>
              <a:t>aRb</a:t>
            </a:r>
            <a:r>
              <a:rPr lang="zh-CN" altLang="en-US">
                <a:solidFill>
                  <a:srgbClr val="020103"/>
                </a:solidFill>
              </a:rPr>
              <a:t>当且仅当</a:t>
            </a:r>
            <a:r>
              <a:rPr lang="en-US" altLang="zh-CN">
                <a:solidFill>
                  <a:srgbClr val="020103"/>
                </a:solidFill>
              </a:rPr>
              <a:t>[a]</a:t>
            </a:r>
            <a:r>
              <a:rPr lang="en-US" altLang="zh-CN" baseline="-30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=[b]</a:t>
            </a:r>
            <a:r>
              <a:rPr lang="en-US" altLang="zh-CN" baseline="-30000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</p:txBody>
      </p:sp>
      <p:sp>
        <p:nvSpPr>
          <p:cNvPr id="249860" name="Rectangle 4"/>
          <p:cNvSpPr>
            <a:spLocks noChangeArrowheads="1"/>
          </p:cNvSpPr>
          <p:nvPr/>
        </p:nvSpPr>
        <p:spPr bwMode="auto">
          <a:xfrm>
            <a:off x="611188" y="2324100"/>
            <a:ext cx="7723187" cy="353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20103"/>
                </a:solidFill>
              </a:rPr>
              <a:t>证明</a:t>
            </a:r>
            <a:r>
              <a:rPr lang="zh-CN" altLang="en-US" dirty="0">
                <a:solidFill>
                  <a:srgbClr val="020103"/>
                </a:solidFill>
                <a:sym typeface="Wingdings" pitchFamily="2" charset="2"/>
              </a:rPr>
              <a:t>：</a:t>
            </a:r>
            <a:r>
              <a:rPr lang="en-US" altLang="zh-CN" dirty="0">
                <a:solidFill>
                  <a:srgbClr val="020103"/>
                </a:solidFill>
                <a:sym typeface="Wingdings" pitchFamily="2" charset="2"/>
              </a:rPr>
              <a:t>(1)</a:t>
            </a:r>
            <a:r>
              <a:rPr lang="zh-CN" altLang="en-US" dirty="0">
                <a:solidFill>
                  <a:srgbClr val="020103"/>
                </a:solidFill>
              </a:rPr>
              <a:t>若</a:t>
            </a:r>
            <a:r>
              <a:rPr lang="en-US" altLang="zh-CN" dirty="0">
                <a:solidFill>
                  <a:srgbClr val="020103"/>
                </a:solidFill>
              </a:rPr>
              <a:t>[a]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lang="en-US" altLang="zh-CN" dirty="0">
                <a:solidFill>
                  <a:srgbClr val="020103"/>
                </a:solidFill>
              </a:rPr>
              <a:t>=[b]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，</a:t>
            </a:r>
            <a:r>
              <a:rPr lang="en-US" altLang="zh-CN" dirty="0">
                <a:solidFill>
                  <a:srgbClr val="020103"/>
                </a:solidFill>
              </a:rPr>
              <a:t>a∈[a]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，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20103"/>
                </a:solidFill>
              </a:rPr>
              <a:t>则</a:t>
            </a:r>
            <a:r>
              <a:rPr lang="en-US" altLang="zh-CN" dirty="0">
                <a:solidFill>
                  <a:srgbClr val="020103"/>
                </a:solidFill>
              </a:rPr>
              <a:t>a∈[b]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，由等价类定义得</a:t>
            </a:r>
            <a:r>
              <a:rPr lang="en-US" altLang="zh-CN" dirty="0" err="1">
                <a:solidFill>
                  <a:srgbClr val="020103"/>
                </a:solidFill>
              </a:rPr>
              <a:t>aRb</a:t>
            </a:r>
            <a:r>
              <a:rPr lang="zh-CN" altLang="en-US" dirty="0">
                <a:solidFill>
                  <a:srgbClr val="020103"/>
                </a:solidFill>
              </a:rPr>
              <a:t>。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20103"/>
                </a:solidFill>
              </a:rPr>
              <a:t>            </a:t>
            </a:r>
            <a:r>
              <a:rPr lang="en-US" altLang="zh-CN" dirty="0">
                <a:solidFill>
                  <a:srgbClr val="020103"/>
                </a:solidFill>
              </a:rPr>
              <a:t>(2)</a:t>
            </a:r>
            <a:r>
              <a:rPr lang="zh-CN" altLang="en-US" dirty="0">
                <a:solidFill>
                  <a:srgbClr val="020103"/>
                </a:solidFill>
              </a:rPr>
              <a:t>反之，若</a:t>
            </a:r>
            <a:r>
              <a:rPr lang="en-US" altLang="zh-CN" dirty="0" err="1">
                <a:solidFill>
                  <a:srgbClr val="020103"/>
                </a:solidFill>
              </a:rPr>
              <a:t>aRb</a:t>
            </a:r>
            <a:endParaRPr lang="en-US" altLang="zh-CN" dirty="0">
              <a:solidFill>
                <a:srgbClr val="020103"/>
              </a:solidFill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020103"/>
                </a:solidFill>
              </a:rPr>
              <a:t>c∈[a]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kumimoji="0" lang="en-US" altLang="zh-CN" dirty="0">
                <a:solidFill>
                  <a:srgbClr val="020103"/>
                </a:solidFill>
                <a:sym typeface="Symbol" pitchFamily="18" charset="2"/>
              </a:rPr>
              <a:t></a:t>
            </a:r>
            <a:r>
              <a:rPr lang="en-US" altLang="zh-CN" baseline="-30000" dirty="0">
                <a:solidFill>
                  <a:srgbClr val="020103"/>
                </a:solidFill>
              </a:rPr>
              <a:t> </a:t>
            </a:r>
            <a:r>
              <a:rPr lang="en-US" altLang="zh-CN" dirty="0" err="1">
                <a:solidFill>
                  <a:srgbClr val="020103"/>
                </a:solidFill>
              </a:rPr>
              <a:t>aRc</a:t>
            </a:r>
            <a:r>
              <a:rPr kumimoji="0" lang="en-US" altLang="zh-CN" dirty="0" err="1">
                <a:solidFill>
                  <a:srgbClr val="020103"/>
                </a:solidFill>
                <a:sym typeface="Symbol" pitchFamily="18" charset="2"/>
              </a:rPr>
              <a:t></a:t>
            </a:r>
            <a:r>
              <a:rPr lang="en-US" altLang="zh-CN" dirty="0" err="1">
                <a:solidFill>
                  <a:srgbClr val="020103"/>
                </a:solidFill>
              </a:rPr>
              <a:t>cRa</a:t>
            </a:r>
            <a:r>
              <a:rPr kumimoji="0" lang="en-US" altLang="zh-CN" dirty="0" err="1">
                <a:solidFill>
                  <a:srgbClr val="020103"/>
                </a:solidFill>
                <a:sym typeface="Symbol" pitchFamily="18" charset="2"/>
              </a:rPr>
              <a:t></a:t>
            </a:r>
            <a:r>
              <a:rPr lang="en-US" altLang="zh-CN" dirty="0" err="1">
                <a:solidFill>
                  <a:srgbClr val="020103"/>
                </a:solidFill>
              </a:rPr>
              <a:t>cRb</a:t>
            </a:r>
            <a:r>
              <a:rPr kumimoji="0" lang="en-US" altLang="zh-CN" dirty="0" err="1">
                <a:solidFill>
                  <a:srgbClr val="020103"/>
                </a:solidFill>
                <a:sym typeface="Symbol" pitchFamily="18" charset="2"/>
              </a:rPr>
              <a:t></a:t>
            </a:r>
            <a:r>
              <a:rPr lang="en-US" altLang="zh-CN" dirty="0" err="1">
                <a:solidFill>
                  <a:srgbClr val="020103"/>
                </a:solidFill>
              </a:rPr>
              <a:t>c</a:t>
            </a:r>
            <a:r>
              <a:rPr lang="en-US" altLang="zh-CN" dirty="0">
                <a:solidFill>
                  <a:srgbClr val="020103"/>
                </a:solidFill>
              </a:rPr>
              <a:t>∈[b]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20103"/>
                </a:solidFill>
              </a:rPr>
              <a:t>即</a:t>
            </a:r>
            <a:r>
              <a:rPr lang="en-US" altLang="zh-CN" dirty="0">
                <a:solidFill>
                  <a:srgbClr val="020103"/>
                </a:solidFill>
              </a:rPr>
              <a:t>[a]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kumimoji="0" lang="en-US" altLang="zh-CN" sz="2800" dirty="0">
                <a:ea typeface="黑体" pitchFamily="49" charset="-122"/>
                <a:sym typeface="Symbol" pitchFamily="18" charset="2"/>
              </a:rPr>
              <a:t></a:t>
            </a:r>
            <a:r>
              <a:rPr lang="en-US" altLang="zh-CN" dirty="0">
                <a:solidFill>
                  <a:srgbClr val="020103"/>
                </a:solidFill>
              </a:rPr>
              <a:t>[b]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，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20103"/>
                </a:solidFill>
              </a:rPr>
              <a:t>同理可证：</a:t>
            </a:r>
            <a:r>
              <a:rPr lang="en-US" altLang="zh-CN" dirty="0">
                <a:solidFill>
                  <a:srgbClr val="020103"/>
                </a:solidFill>
              </a:rPr>
              <a:t>[b]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kumimoji="0" lang="en-US" altLang="zh-CN" dirty="0">
                <a:latin typeface="Arial" charset="0"/>
                <a:sym typeface="Symbol" pitchFamily="18" charset="2"/>
              </a:rPr>
              <a:t></a:t>
            </a:r>
            <a:r>
              <a:rPr lang="en-US" altLang="zh-CN" dirty="0">
                <a:solidFill>
                  <a:srgbClr val="020103"/>
                </a:solidFill>
              </a:rPr>
              <a:t>[a]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rgbClr val="020103"/>
                </a:solidFill>
              </a:rPr>
              <a:t>故</a:t>
            </a:r>
            <a:r>
              <a:rPr lang="en-US" altLang="zh-CN" dirty="0">
                <a:solidFill>
                  <a:srgbClr val="020103"/>
                </a:solidFill>
              </a:rPr>
              <a:t>[a]</a:t>
            </a:r>
            <a:r>
              <a:rPr lang="en-US" altLang="zh-CN" baseline="-25000" dirty="0">
                <a:solidFill>
                  <a:srgbClr val="020103"/>
                </a:solidFill>
              </a:rPr>
              <a:t>R </a:t>
            </a:r>
            <a:r>
              <a:rPr lang="en-US" altLang="zh-CN" dirty="0">
                <a:solidFill>
                  <a:srgbClr val="020103"/>
                </a:solidFill>
              </a:rPr>
              <a:t>= [b]</a:t>
            </a:r>
            <a:r>
              <a:rPr lang="en-US" altLang="zh-CN" baseline="-25000" dirty="0">
                <a:solidFill>
                  <a:srgbClr val="020103"/>
                </a:solidFill>
              </a:rPr>
              <a:t>R</a:t>
            </a:r>
            <a:endParaRPr lang="en-US" altLang="zh-CN" dirty="0">
              <a:solidFill>
                <a:srgbClr val="020103"/>
              </a:solidFill>
            </a:endParaRPr>
          </a:p>
        </p:txBody>
      </p:sp>
      <p:sp>
        <p:nvSpPr>
          <p:cNvPr id="249864" name="Rectangle 8"/>
          <p:cNvSpPr>
            <a:spLocks noChangeArrowheads="1"/>
          </p:cNvSpPr>
          <p:nvPr/>
        </p:nvSpPr>
        <p:spPr bwMode="auto">
          <a:xfrm>
            <a:off x="1187450" y="476250"/>
            <a:ext cx="3455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三、相关的性质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510432-D00A-486D-8FBD-4C90D1ECD1DF}" type="slidenum">
              <a:rPr lang="en-US" altLang="zh-CN"/>
              <a:pPr/>
              <a:t>100</a:t>
            </a:fld>
            <a:endParaRPr lang="en-US" altLang="zh-CN"/>
          </a:p>
        </p:txBody>
      </p:sp>
      <p:sp>
        <p:nvSpPr>
          <p:cNvPr id="250882" name="Rectangle 2"/>
          <p:cNvSpPr>
            <a:spLocks noChangeArrowheads="1"/>
          </p:cNvSpPr>
          <p:nvPr/>
        </p:nvSpPr>
        <p:spPr bwMode="auto">
          <a:xfrm>
            <a:off x="612000" y="1341438"/>
            <a:ext cx="79200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3-10.3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rgbClr val="020103"/>
                </a:solidFill>
              </a:rPr>
              <a:t>集合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上的等价关系</a:t>
            </a:r>
            <a:r>
              <a:rPr lang="en-US" altLang="zh-CN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，其等价类集合</a:t>
            </a:r>
            <a:r>
              <a:rPr lang="en-US" altLang="zh-CN" dirty="0">
                <a:solidFill>
                  <a:srgbClr val="020103"/>
                </a:solidFill>
              </a:rPr>
              <a:t>{[a]</a:t>
            </a:r>
            <a:r>
              <a:rPr lang="en-US" altLang="zh-CN" baseline="-30000" dirty="0">
                <a:solidFill>
                  <a:srgbClr val="020103"/>
                </a:solidFill>
              </a:rPr>
              <a:t>R</a:t>
            </a:r>
            <a:r>
              <a:rPr lang="en-US" altLang="zh-CN" dirty="0">
                <a:solidFill>
                  <a:srgbClr val="020103"/>
                </a:solidFill>
              </a:rPr>
              <a:t>| </a:t>
            </a:r>
            <a:r>
              <a:rPr lang="en-US" altLang="zh-CN" dirty="0" err="1">
                <a:solidFill>
                  <a:srgbClr val="020103"/>
                </a:solidFill>
              </a:rPr>
              <a:t>a∈A</a:t>
            </a:r>
            <a:r>
              <a:rPr lang="en-US" altLang="zh-CN" dirty="0">
                <a:solidFill>
                  <a:srgbClr val="020103"/>
                </a:solidFill>
              </a:rPr>
              <a:t>}</a:t>
            </a:r>
            <a:r>
              <a:rPr lang="zh-CN" altLang="en-US" dirty="0">
                <a:solidFill>
                  <a:srgbClr val="020103"/>
                </a:solidFill>
              </a:rPr>
              <a:t>，称作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zh-CN" altLang="en-US" i="1" dirty="0">
                <a:solidFill>
                  <a:schemeClr val="tx1"/>
                </a:solidFill>
              </a:rPr>
              <a:t>关于</a:t>
            </a: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zh-CN" altLang="en-US" i="1" dirty="0">
                <a:solidFill>
                  <a:schemeClr val="tx1"/>
                </a:solidFill>
              </a:rPr>
              <a:t>的</a:t>
            </a:r>
            <a:r>
              <a:rPr lang="zh-CN" altLang="en-US" i="1" dirty="0">
                <a:solidFill>
                  <a:schemeClr val="hlink"/>
                </a:solidFill>
              </a:rPr>
              <a:t>商集</a:t>
            </a:r>
            <a:r>
              <a:rPr lang="zh-CN" altLang="en-US" dirty="0">
                <a:solidFill>
                  <a:srgbClr val="020103"/>
                </a:solidFill>
              </a:rPr>
              <a:t>，记为</a:t>
            </a:r>
            <a:r>
              <a:rPr lang="en-US" altLang="zh-CN" dirty="0">
                <a:solidFill>
                  <a:srgbClr val="020103"/>
                </a:solidFill>
              </a:rPr>
              <a:t>A/R</a:t>
            </a:r>
            <a:r>
              <a:rPr lang="zh-CN" altLang="en-US" dirty="0">
                <a:solidFill>
                  <a:srgbClr val="020103"/>
                </a:solidFill>
              </a:rPr>
              <a:t>。</a:t>
            </a:r>
          </a:p>
        </p:txBody>
      </p:sp>
      <p:grpSp>
        <p:nvGrpSpPr>
          <p:cNvPr id="250892" name="Group 12"/>
          <p:cNvGrpSpPr>
            <a:grpSpLocks/>
          </p:cNvGrpSpPr>
          <p:nvPr/>
        </p:nvGrpSpPr>
        <p:grpSpPr bwMode="auto">
          <a:xfrm>
            <a:off x="2336800" y="3543300"/>
            <a:ext cx="3098800" cy="533400"/>
            <a:chOff x="905" y="2187"/>
            <a:chExt cx="1952" cy="336"/>
          </a:xfrm>
        </p:grpSpPr>
        <p:sp>
          <p:nvSpPr>
            <p:cNvPr id="250884" name="Rectangle 4"/>
            <p:cNvSpPr>
              <a:spLocks noChangeArrowheads="1"/>
            </p:cNvSpPr>
            <p:nvPr/>
          </p:nvSpPr>
          <p:spPr bwMode="auto">
            <a:xfrm>
              <a:off x="905" y="2187"/>
              <a:ext cx="976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buClrTx/>
                <a:buFontTx/>
                <a:buNone/>
              </a:pPr>
              <a:r>
                <a:rPr kumimoji="0" lang="en-US" altLang="zh-CN" sz="2000">
                  <a:solidFill>
                    <a:srgbClr val="020103"/>
                  </a:solidFill>
                </a:rPr>
                <a:t>1</a:t>
              </a:r>
              <a:r>
                <a:rPr kumimoji="0" lang="zh-CN" altLang="en-US" sz="2000">
                  <a:solidFill>
                    <a:srgbClr val="020103"/>
                  </a:solidFill>
                </a:rPr>
                <a:t>，</a:t>
              </a:r>
              <a:r>
                <a:rPr kumimoji="0" lang="en-US" altLang="zh-CN" sz="2000">
                  <a:solidFill>
                    <a:srgbClr val="020103"/>
                  </a:solidFill>
                </a:rPr>
                <a:t>4</a:t>
              </a:r>
            </a:p>
          </p:txBody>
        </p:sp>
        <p:sp>
          <p:nvSpPr>
            <p:cNvPr id="250885" name="Rectangle 5"/>
            <p:cNvSpPr>
              <a:spLocks noChangeArrowheads="1"/>
            </p:cNvSpPr>
            <p:nvPr/>
          </p:nvSpPr>
          <p:spPr bwMode="auto">
            <a:xfrm>
              <a:off x="1881" y="2187"/>
              <a:ext cx="976" cy="3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buClrTx/>
                <a:buFontTx/>
                <a:buNone/>
              </a:pPr>
              <a:r>
                <a:rPr kumimoji="0" lang="en-US" altLang="zh-CN" sz="2000">
                  <a:solidFill>
                    <a:srgbClr val="020103"/>
                  </a:solidFill>
                </a:rPr>
                <a:t>2</a:t>
              </a:r>
              <a:r>
                <a:rPr kumimoji="0" lang="zh-CN" altLang="en-US" sz="2000">
                  <a:solidFill>
                    <a:srgbClr val="020103"/>
                  </a:solidFill>
                </a:rPr>
                <a:t>，</a:t>
              </a:r>
              <a:r>
                <a:rPr kumimoji="0" lang="en-US" altLang="zh-CN" sz="2000">
                  <a:solidFill>
                    <a:srgbClr val="020103"/>
                  </a:solidFill>
                </a:rPr>
                <a:t>3</a:t>
              </a:r>
            </a:p>
          </p:txBody>
        </p:sp>
      </p:grpSp>
      <p:sp>
        <p:nvSpPr>
          <p:cNvPr id="250887" name="Rectangle 7"/>
          <p:cNvSpPr>
            <a:spLocks noChangeArrowheads="1"/>
          </p:cNvSpPr>
          <p:nvPr/>
        </p:nvSpPr>
        <p:spPr bwMode="auto">
          <a:xfrm>
            <a:off x="611999" y="4116388"/>
            <a:ext cx="79200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>
                <a:solidFill>
                  <a:srgbClr val="020103"/>
                </a:solidFill>
              </a:rPr>
              <a:t>商集中元素的</a:t>
            </a:r>
            <a:r>
              <a:rPr lang="zh-CN" altLang="en-US"/>
              <a:t>∪</a:t>
            </a:r>
            <a:r>
              <a:rPr lang="zh-CN" altLang="en-US">
                <a:solidFill>
                  <a:srgbClr val="020103"/>
                </a:solidFill>
              </a:rPr>
              <a:t>为集合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。如：</a:t>
            </a:r>
            <a:r>
              <a:rPr lang="en-US" altLang="zh-CN">
                <a:solidFill>
                  <a:srgbClr val="020103"/>
                </a:solidFill>
              </a:rPr>
              <a:t>[1]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∪[2]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 =T</a:t>
            </a:r>
            <a:r>
              <a:rPr lang="zh-CN" altLang="en-US">
                <a:solidFill>
                  <a:srgbClr val="020103"/>
                </a:solidFill>
              </a:rPr>
              <a:t>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>
                <a:solidFill>
                  <a:srgbClr val="020103"/>
                </a:solidFill>
              </a:rPr>
              <a:t>商集中任意两个元素的</a:t>
            </a:r>
            <a:r>
              <a:rPr lang="zh-CN" altLang="en-US"/>
              <a:t>∩</a:t>
            </a:r>
            <a:r>
              <a:rPr lang="zh-CN" altLang="en-US">
                <a:solidFill>
                  <a:srgbClr val="020103"/>
                </a:solidFill>
              </a:rPr>
              <a:t>为</a:t>
            </a:r>
            <a:r>
              <a:rPr lang="zh-CN" altLang="en-US">
                <a:solidFill>
                  <a:srgbClr val="020103"/>
                </a:solidFill>
                <a:sym typeface="Symbol" pitchFamily="18" charset="2"/>
              </a:rPr>
              <a:t></a:t>
            </a:r>
            <a:r>
              <a:rPr lang="zh-CN" altLang="en-US"/>
              <a:t> 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</p:txBody>
      </p:sp>
      <p:sp>
        <p:nvSpPr>
          <p:cNvPr id="250891" name="Rectangle 11"/>
          <p:cNvSpPr>
            <a:spLocks noChangeArrowheads="1"/>
          </p:cNvSpPr>
          <p:nvPr/>
        </p:nvSpPr>
        <p:spPr bwMode="auto">
          <a:xfrm>
            <a:off x="611999" y="2316163"/>
            <a:ext cx="79200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3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集合  </a:t>
            </a:r>
            <a:r>
              <a:rPr lang="en-US" altLang="zh-CN">
                <a:solidFill>
                  <a:srgbClr val="020103"/>
                </a:solidFill>
              </a:rPr>
              <a:t>T={1, 2, 3, 4}</a:t>
            </a:r>
            <a:r>
              <a:rPr lang="zh-CN" altLang="en-US">
                <a:solidFill>
                  <a:srgbClr val="020103"/>
                </a:solidFill>
              </a:rPr>
              <a:t>，        </a:t>
            </a:r>
            <a:r>
              <a:rPr lang="en-US" altLang="zh-CN">
                <a:solidFill>
                  <a:srgbClr val="020103"/>
                </a:solidFill>
              </a:rPr>
              <a:t>R={&lt;1,1&gt;,&lt;1,4&gt;,&lt;4,1&gt;,&lt;4,4&gt;,&lt;2,2&gt;,&lt;2,3&gt;,&lt;3,2&gt;,&lt;3,3&gt;}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7" grpId="0"/>
      <p:bldP spid="25089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BA13AB-68BE-4F19-BCB6-C5CF782E38D5}" type="slidenum">
              <a:rPr lang="en-US" altLang="zh-CN"/>
              <a:pPr/>
              <a:t>101</a:t>
            </a:fld>
            <a:endParaRPr lang="en-US" altLang="zh-CN"/>
          </a:p>
        </p:txBody>
      </p:sp>
      <p:sp>
        <p:nvSpPr>
          <p:cNvPr id="251907" name="Rectangle 3"/>
          <p:cNvSpPr>
            <a:spLocks noChangeArrowheads="1"/>
          </p:cNvSpPr>
          <p:nvPr/>
        </p:nvSpPr>
        <p:spPr bwMode="auto">
          <a:xfrm>
            <a:off x="417513" y="1381125"/>
            <a:ext cx="8115300" cy="1961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3-10.2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rgbClr val="020103"/>
                </a:solidFill>
              </a:rPr>
              <a:t>集合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上的等价关系</a:t>
            </a:r>
            <a:r>
              <a:rPr lang="en-US" altLang="zh-CN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，决定了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的一个划分，该划分就是商集</a:t>
            </a:r>
            <a:r>
              <a:rPr lang="en-US" altLang="zh-CN" dirty="0">
                <a:solidFill>
                  <a:srgbClr val="020103"/>
                </a:solidFill>
              </a:rPr>
              <a:t>A/R</a:t>
            </a:r>
            <a:r>
              <a:rPr lang="zh-CN" altLang="en-US" dirty="0">
                <a:solidFill>
                  <a:srgbClr val="020103"/>
                </a:solidFill>
              </a:rPr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3-10.3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rgbClr val="020103"/>
                </a:solidFill>
              </a:rPr>
              <a:t>集合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的一个划分确定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的元素间的一个等价关系</a:t>
            </a:r>
            <a:r>
              <a:rPr lang="zh-CN" altLang="en-US" dirty="0" smtClean="0">
                <a:solidFill>
                  <a:srgbClr val="020103"/>
                </a:solidFill>
              </a:rPr>
              <a:t>。</a:t>
            </a:r>
            <a:endParaRPr lang="zh-CN" altLang="en-US" dirty="0">
              <a:solidFill>
                <a:srgbClr val="020103"/>
              </a:solidFill>
            </a:endParaRPr>
          </a:p>
        </p:txBody>
      </p:sp>
      <p:sp>
        <p:nvSpPr>
          <p:cNvPr id="251908" name="Text Box 4"/>
          <p:cNvSpPr txBox="1">
            <a:spLocks noChangeArrowheads="1"/>
          </p:cNvSpPr>
          <p:nvPr/>
        </p:nvSpPr>
        <p:spPr bwMode="auto">
          <a:xfrm>
            <a:off x="395288" y="3429000"/>
            <a:ext cx="604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</a:pPr>
            <a:r>
              <a:rPr kumimoji="0" lang="zh-CN" altLang="en-US" dirty="0">
                <a:solidFill>
                  <a:srgbClr val="020103"/>
                </a:solidFill>
              </a:rPr>
              <a:t>根据等价关系</a:t>
            </a:r>
            <a:r>
              <a:rPr kumimoji="0" lang="en-US" altLang="zh-CN" dirty="0">
                <a:solidFill>
                  <a:srgbClr val="020103"/>
                </a:solidFill>
              </a:rPr>
              <a:t>R</a:t>
            </a:r>
            <a:r>
              <a:rPr kumimoji="0" lang="zh-CN" altLang="en-US" dirty="0">
                <a:solidFill>
                  <a:srgbClr val="020103"/>
                </a:solidFill>
              </a:rPr>
              <a:t>的定义，</a:t>
            </a:r>
            <a:r>
              <a:rPr kumimoji="0" lang="en-US" altLang="zh-CN" dirty="0">
                <a:solidFill>
                  <a:srgbClr val="020103"/>
                </a:solidFill>
              </a:rPr>
              <a:t>S</a:t>
            </a:r>
            <a:r>
              <a:rPr kumimoji="0" lang="zh-CN" altLang="en-US" dirty="0">
                <a:solidFill>
                  <a:srgbClr val="020103"/>
                </a:solidFill>
              </a:rPr>
              <a:t>也就是</a:t>
            </a:r>
            <a:r>
              <a:rPr kumimoji="0" lang="en-US" altLang="zh-CN" dirty="0">
                <a:solidFill>
                  <a:srgbClr val="020103"/>
                </a:solidFill>
              </a:rPr>
              <a:t>A/R</a:t>
            </a:r>
            <a:r>
              <a:rPr kumimoji="0" lang="zh-CN" altLang="en-US" dirty="0">
                <a:solidFill>
                  <a:srgbClr val="020103"/>
                </a:solidFill>
              </a:rPr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89092-0C4C-4E40-A04E-61C8F895785D}" type="slidenum">
              <a:rPr lang="en-US" altLang="zh-CN"/>
              <a:pPr/>
              <a:t>102</a:t>
            </a:fld>
            <a:endParaRPr lang="en-US" altLang="zh-CN"/>
          </a:p>
        </p:txBody>
      </p:sp>
      <p:sp>
        <p:nvSpPr>
          <p:cNvPr id="253954" name="Rectangle 2"/>
          <p:cNvSpPr>
            <a:spLocks noChangeArrowheads="1"/>
          </p:cNvSpPr>
          <p:nvPr/>
        </p:nvSpPr>
        <p:spPr bwMode="auto">
          <a:xfrm>
            <a:off x="395288" y="1484313"/>
            <a:ext cx="820896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4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A={a, b, c, d, e}</a:t>
            </a:r>
            <a:r>
              <a:rPr lang="zh-CN" altLang="en-US">
                <a:solidFill>
                  <a:srgbClr val="020103"/>
                </a:solidFill>
              </a:rPr>
              <a:t>，有一个划分</a:t>
            </a:r>
            <a:r>
              <a:rPr lang="en-US" altLang="zh-CN">
                <a:solidFill>
                  <a:srgbClr val="020103"/>
                </a:solidFill>
              </a:rPr>
              <a:t>S={{a, b}, {c}, {d, e}}</a:t>
            </a:r>
            <a:r>
              <a:rPr lang="zh-CN" altLang="en-US">
                <a:solidFill>
                  <a:srgbClr val="020103"/>
                </a:solidFill>
              </a:rPr>
              <a:t>，试由划分</a:t>
            </a:r>
            <a:r>
              <a:rPr lang="en-US" altLang="zh-CN">
                <a:solidFill>
                  <a:srgbClr val="020103"/>
                </a:solidFill>
              </a:rPr>
              <a:t>S</a:t>
            </a:r>
            <a:r>
              <a:rPr lang="zh-CN" altLang="en-US">
                <a:solidFill>
                  <a:srgbClr val="020103"/>
                </a:solidFill>
              </a:rPr>
              <a:t>确定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上的一个等价关系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</p:txBody>
      </p:sp>
      <p:sp>
        <p:nvSpPr>
          <p:cNvPr id="253955" name="Rectangle 3"/>
          <p:cNvSpPr>
            <a:spLocks noChangeArrowheads="1"/>
          </p:cNvSpPr>
          <p:nvPr/>
        </p:nvSpPr>
        <p:spPr bwMode="auto">
          <a:xfrm>
            <a:off x="395288" y="2441575"/>
            <a:ext cx="8353425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解：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={a, b}×{a, b}={&lt;a, a&gt;,&lt;a, b&gt;,&lt;b, a&gt;,&lt;b, b&gt;}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     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={c}×{c}={&lt;c,c&gt;}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     R</a:t>
            </a:r>
            <a:r>
              <a:rPr lang="en-US" altLang="zh-CN" baseline="-25000">
                <a:solidFill>
                  <a:srgbClr val="020103"/>
                </a:solidFill>
              </a:rPr>
              <a:t>3</a:t>
            </a:r>
            <a:r>
              <a:rPr lang="en-US" altLang="zh-CN">
                <a:solidFill>
                  <a:srgbClr val="020103"/>
                </a:solidFill>
              </a:rPr>
              <a:t>={d, e}×{d, e}={&lt;d, d&gt;,&lt;d, e&gt;,&lt;e, d&gt;,&lt;e, e&gt;}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R=R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∪R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∪R</a:t>
            </a:r>
            <a:r>
              <a:rPr lang="en-US" altLang="zh-CN" baseline="-25000">
                <a:solidFill>
                  <a:srgbClr val="020103"/>
                </a:solidFill>
              </a:rPr>
              <a:t>3 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={&lt;a, a&gt;, &lt;b, b&gt;, &lt;c, c&gt;, &lt;d, d&gt;, &lt;e, e&gt;, &lt;a, b&gt;, &lt;b, a&gt;, &lt;d, e&gt;,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   &lt;e, d&gt;}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98CADC-8C78-48AD-BC1A-F0892E3E7109}" type="slidenum">
              <a:rPr lang="en-US" altLang="zh-CN"/>
              <a:pPr/>
              <a:t>103</a:t>
            </a:fld>
            <a:endParaRPr lang="en-US" altLang="zh-CN"/>
          </a:p>
        </p:txBody>
      </p:sp>
      <p:sp>
        <p:nvSpPr>
          <p:cNvPr id="254978" name="Rectangle 2"/>
          <p:cNvSpPr>
            <a:spLocks noChangeArrowheads="1"/>
          </p:cNvSpPr>
          <p:nvPr/>
        </p:nvSpPr>
        <p:spPr bwMode="auto">
          <a:xfrm>
            <a:off x="323850" y="1196975"/>
            <a:ext cx="795655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3-10.4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zh-CN" altLang="en-US">
                <a:solidFill>
                  <a:srgbClr val="020103"/>
                </a:solidFill>
              </a:rPr>
              <a:t>和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为非空集合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上的等价关系，则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=R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当且仅当</a:t>
            </a:r>
            <a:r>
              <a:rPr lang="en-US" altLang="zh-CN">
                <a:solidFill>
                  <a:srgbClr val="020103"/>
                </a:solidFill>
              </a:rPr>
              <a:t>A/R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=A/R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  <a:r>
              <a:rPr lang="zh-CN" altLang="en-US" b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279400" y="2276475"/>
            <a:ext cx="8569325" cy="341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证明</a:t>
            </a:r>
            <a:r>
              <a:rPr lang="zh-CN" altLang="en-US">
                <a:solidFill>
                  <a:srgbClr val="020103"/>
                </a:solidFill>
                <a:sym typeface="Wingdings" pitchFamily="2" charset="2"/>
              </a:rPr>
              <a:t>：</a:t>
            </a:r>
            <a:r>
              <a:rPr lang="en-US" altLang="zh-CN">
                <a:solidFill>
                  <a:srgbClr val="020103"/>
                </a:solidFill>
                <a:sym typeface="Wingdings" pitchFamily="2" charset="2"/>
              </a:rPr>
              <a:t>(1)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=R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[a]</a:t>
            </a:r>
            <a:r>
              <a:rPr lang="en-US" altLang="zh-CN" baseline="-25000">
                <a:solidFill>
                  <a:srgbClr val="020103"/>
                </a:solidFill>
              </a:rPr>
              <a:t>R1</a:t>
            </a:r>
            <a:r>
              <a:rPr lang="en-US" altLang="zh-CN">
                <a:solidFill>
                  <a:srgbClr val="020103"/>
                </a:solidFill>
              </a:rPr>
              <a:t>={x|x∈A, aR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x}={x|x∈A, aR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x}=[a]</a:t>
            </a:r>
            <a:r>
              <a:rPr lang="en-US" altLang="zh-CN" baseline="-25000">
                <a:solidFill>
                  <a:srgbClr val="020103"/>
                </a:solidFill>
              </a:rPr>
              <a:t>R2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则</a:t>
            </a:r>
            <a:r>
              <a:rPr lang="en-US" altLang="zh-CN">
                <a:solidFill>
                  <a:srgbClr val="020103"/>
                </a:solidFill>
              </a:rPr>
              <a:t>A/R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={[a]</a:t>
            </a:r>
            <a:r>
              <a:rPr lang="en-US" altLang="zh-CN" baseline="-25000">
                <a:solidFill>
                  <a:srgbClr val="020103"/>
                </a:solidFill>
              </a:rPr>
              <a:t>R1</a:t>
            </a:r>
            <a:r>
              <a:rPr lang="en-US" altLang="zh-CN">
                <a:solidFill>
                  <a:srgbClr val="020103"/>
                </a:solidFill>
              </a:rPr>
              <a:t>| a∈A}={[a]</a:t>
            </a:r>
            <a:r>
              <a:rPr lang="en-US" altLang="zh-CN" baseline="-25000">
                <a:solidFill>
                  <a:srgbClr val="020103"/>
                </a:solidFill>
              </a:rPr>
              <a:t>R2</a:t>
            </a:r>
            <a:r>
              <a:rPr lang="en-US" altLang="zh-CN">
                <a:solidFill>
                  <a:srgbClr val="020103"/>
                </a:solidFill>
              </a:rPr>
              <a:t>|a∈A}=A/R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(2)</a:t>
            </a:r>
            <a:r>
              <a:rPr lang="zh-CN" altLang="en-US">
                <a:solidFill>
                  <a:srgbClr val="020103"/>
                </a:solidFill>
              </a:rPr>
              <a:t>反之，</a:t>
            </a:r>
            <a:r>
              <a:rPr lang="en-US" altLang="zh-CN">
                <a:solidFill>
                  <a:srgbClr val="020103"/>
                </a:solidFill>
              </a:rPr>
              <a:t>A/R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=A/R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，即</a:t>
            </a:r>
            <a:r>
              <a:rPr lang="en-US" altLang="zh-CN">
                <a:solidFill>
                  <a:srgbClr val="020103"/>
                </a:solidFill>
              </a:rPr>
              <a:t>{[a]</a:t>
            </a:r>
            <a:r>
              <a:rPr lang="en-US" altLang="zh-CN" baseline="-25000">
                <a:solidFill>
                  <a:srgbClr val="020103"/>
                </a:solidFill>
              </a:rPr>
              <a:t>R1</a:t>
            </a:r>
            <a:r>
              <a:rPr lang="en-US" altLang="zh-CN">
                <a:solidFill>
                  <a:srgbClr val="020103"/>
                </a:solidFill>
              </a:rPr>
              <a:t>| a∈A}={[a]</a:t>
            </a:r>
            <a:r>
              <a:rPr lang="en-US" altLang="zh-CN" baseline="-25000">
                <a:solidFill>
                  <a:srgbClr val="020103"/>
                </a:solidFill>
              </a:rPr>
              <a:t>R2</a:t>
            </a:r>
            <a:r>
              <a:rPr lang="en-US" altLang="zh-CN">
                <a:solidFill>
                  <a:srgbClr val="020103"/>
                </a:solidFill>
              </a:rPr>
              <a:t>| a∈A}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故</a:t>
            </a:r>
            <a:r>
              <a:rPr lang="en-US" altLang="zh-CN">
                <a:solidFill>
                  <a:srgbClr val="020103"/>
                </a:solidFill>
              </a:rPr>
              <a:t>&lt;a, b&gt;∈R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kumimoji="0" lang="en-US" altLang="zh-CN">
                <a:solidFill>
                  <a:srgbClr val="020103"/>
                </a:solidFill>
                <a:sym typeface="Symbol" pitchFamily="18" charset="2"/>
              </a:rPr>
              <a:t>a</a:t>
            </a:r>
            <a:r>
              <a:rPr lang="en-US" altLang="zh-CN">
                <a:solidFill>
                  <a:srgbClr val="020103"/>
                </a:solidFill>
              </a:rPr>
              <a:t>∈[a]</a:t>
            </a:r>
            <a:r>
              <a:rPr lang="en-US" altLang="zh-CN" baseline="-25000">
                <a:solidFill>
                  <a:srgbClr val="020103"/>
                </a:solidFill>
              </a:rPr>
              <a:t>R1</a:t>
            </a:r>
            <a:r>
              <a:rPr kumimoji="0" lang="en-US" altLang="zh-CN">
                <a:solidFill>
                  <a:srgbClr val="020103"/>
                </a:solidFill>
              </a:rPr>
              <a:t>∧b</a:t>
            </a:r>
            <a:r>
              <a:rPr lang="en-US" altLang="zh-CN">
                <a:solidFill>
                  <a:srgbClr val="020103"/>
                </a:solidFill>
              </a:rPr>
              <a:t>∈[a]</a:t>
            </a:r>
            <a:r>
              <a:rPr lang="en-US" altLang="zh-CN" baseline="-25000">
                <a:solidFill>
                  <a:srgbClr val="020103"/>
                </a:solidFill>
              </a:rPr>
              <a:t>R1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olidFill>
                  <a:srgbClr val="020103"/>
                </a:solidFill>
                <a:sym typeface="Symbol" pitchFamily="18" charset="2"/>
              </a:rPr>
              <a:t>                       a</a:t>
            </a:r>
            <a:r>
              <a:rPr lang="en-US" altLang="zh-CN">
                <a:solidFill>
                  <a:srgbClr val="020103"/>
                </a:solidFill>
              </a:rPr>
              <a:t>∈[a]</a:t>
            </a:r>
            <a:r>
              <a:rPr lang="en-US" altLang="zh-CN" baseline="-25000">
                <a:solidFill>
                  <a:srgbClr val="020103"/>
                </a:solidFill>
              </a:rPr>
              <a:t>R2</a:t>
            </a:r>
            <a:r>
              <a:rPr kumimoji="0" lang="en-US" altLang="zh-CN">
                <a:solidFill>
                  <a:srgbClr val="020103"/>
                </a:solidFill>
              </a:rPr>
              <a:t>∧b</a:t>
            </a:r>
            <a:r>
              <a:rPr lang="en-US" altLang="zh-CN">
                <a:solidFill>
                  <a:srgbClr val="020103"/>
                </a:solidFill>
              </a:rPr>
              <a:t>∈[a]</a:t>
            </a:r>
            <a:r>
              <a:rPr lang="en-US" altLang="zh-CN" baseline="-25000">
                <a:solidFill>
                  <a:srgbClr val="020103"/>
                </a:solidFill>
              </a:rPr>
              <a:t>R2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                    </a:t>
            </a:r>
            <a:r>
              <a:rPr kumimoji="0" lang="en-US" altLang="zh-CN">
                <a:solidFill>
                  <a:srgbClr val="020103"/>
                </a:solidFill>
                <a:sym typeface="Symbol" pitchFamily="18" charset="2"/>
              </a:rPr>
              <a:t>&lt;a, b&gt;</a:t>
            </a:r>
            <a:r>
              <a:rPr lang="en-US" altLang="zh-CN">
                <a:solidFill>
                  <a:srgbClr val="020103"/>
                </a:solidFill>
              </a:rPr>
              <a:t>∈R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所以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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，同理可证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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zh-CN" altLang="en-US">
                <a:solidFill>
                  <a:srgbClr val="020103"/>
                </a:solidFill>
              </a:rPr>
              <a:t>， 即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=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1D9963-7078-4968-85E5-A6258125F25E}" type="slidenum">
              <a:rPr lang="en-US" altLang="zh-CN"/>
              <a:pPr/>
              <a:t>104</a:t>
            </a:fld>
            <a:endParaRPr lang="en-US" altLang="zh-CN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84188"/>
            <a:ext cx="5221287" cy="641350"/>
          </a:xfrm>
        </p:spPr>
        <p:txBody>
          <a:bodyPr/>
          <a:lstStyle/>
          <a:p>
            <a:r>
              <a:rPr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3-11  </a:t>
            </a:r>
            <a:r>
              <a:rPr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相容关系</a:t>
            </a:r>
          </a:p>
        </p:txBody>
      </p:sp>
      <p:sp>
        <p:nvSpPr>
          <p:cNvPr id="410629" name="Rectangle 5"/>
          <p:cNvSpPr>
            <a:spLocks noChangeArrowheads="1"/>
          </p:cNvSpPr>
          <p:nvPr/>
        </p:nvSpPr>
        <p:spPr bwMode="auto">
          <a:xfrm>
            <a:off x="1331913" y="1628775"/>
            <a:ext cx="457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一、相容关系</a:t>
            </a:r>
          </a:p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二、相容关系的性质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D6CEE3-93CE-47EC-85FB-1AF3C6CF495A}" type="slidenum">
              <a:rPr lang="en-US" altLang="zh-CN"/>
              <a:pPr/>
              <a:t>105</a:t>
            </a:fld>
            <a:endParaRPr lang="en-US" altLang="zh-CN"/>
          </a:p>
        </p:txBody>
      </p:sp>
      <p:sp>
        <p:nvSpPr>
          <p:cNvPr id="437252" name="Rectangle 4"/>
          <p:cNvSpPr>
            <a:spLocks noChangeArrowheads="1"/>
          </p:cNvSpPr>
          <p:nvPr/>
        </p:nvSpPr>
        <p:spPr bwMode="auto">
          <a:xfrm>
            <a:off x="539750" y="1341438"/>
            <a:ext cx="7561263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3-11.1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给定集合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上的关系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，若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是自反的，对称的，则称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</a:t>
            </a:r>
            <a:r>
              <a:rPr lang="zh-CN" altLang="en-US" u="sng">
                <a:solidFill>
                  <a:srgbClr val="020103"/>
                </a:solidFill>
              </a:rPr>
              <a:t>相容关系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en-US" altLang="zh-CN">
                <a:solidFill>
                  <a:srgbClr val="020103"/>
                </a:solidFill>
              </a:rPr>
              <a:t>A={cat, teacher, cold, desk, knife, by}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r={&lt;x, y&gt;|x, y∈A</a:t>
            </a:r>
            <a:r>
              <a:rPr lang="zh-CN" altLang="en-US">
                <a:solidFill>
                  <a:srgbClr val="020103"/>
                </a:solidFill>
              </a:rPr>
              <a:t>且</a:t>
            </a:r>
            <a:r>
              <a:rPr lang="en-US" altLang="zh-CN">
                <a:solidFill>
                  <a:srgbClr val="020103"/>
                </a:solidFill>
              </a:rPr>
              <a:t>x, y</a:t>
            </a:r>
            <a:r>
              <a:rPr lang="zh-CN" altLang="en-US">
                <a:solidFill>
                  <a:srgbClr val="020103"/>
                </a:solidFill>
              </a:rPr>
              <a:t>有相同的字母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</p:txBody>
      </p:sp>
      <p:graphicFrame>
        <p:nvGraphicFramePr>
          <p:cNvPr id="437254" name="Object 6"/>
          <p:cNvGraphicFramePr>
            <a:graphicFrameLocks noChangeAspect="1"/>
          </p:cNvGraphicFramePr>
          <p:nvPr/>
        </p:nvGraphicFramePr>
        <p:xfrm>
          <a:off x="709613" y="3357563"/>
          <a:ext cx="2422525" cy="248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452" name="Equation" r:id="rId3" imgW="2425680" imgH="2489040" progId="Equation.DSMT4">
                  <p:embed/>
                </p:oleObj>
              </mc:Choice>
              <mc:Fallback>
                <p:oleObj name="Equation" r:id="rId3" imgW="2425680" imgH="2489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" y="3357563"/>
                        <a:ext cx="2422525" cy="2486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7258" name="Rectangle 10"/>
          <p:cNvSpPr>
            <a:spLocks noChangeArrowheads="1"/>
          </p:cNvSpPr>
          <p:nvPr/>
        </p:nvSpPr>
        <p:spPr bwMode="auto">
          <a:xfrm>
            <a:off x="1187450" y="476250"/>
            <a:ext cx="37449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一、相容关系</a:t>
            </a:r>
          </a:p>
        </p:txBody>
      </p:sp>
      <p:pic>
        <p:nvPicPr>
          <p:cNvPr id="437260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3284538"/>
            <a:ext cx="2667000" cy="277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37261" name="Object 13"/>
          <p:cNvGraphicFramePr>
            <a:graphicFrameLocks noChangeAspect="1"/>
          </p:cNvGraphicFramePr>
          <p:nvPr/>
        </p:nvGraphicFramePr>
        <p:xfrm>
          <a:off x="3635375" y="3606800"/>
          <a:ext cx="2016125" cy="205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453" name="Equation" r:id="rId6" imgW="2019240" imgH="2057400" progId="Equation.DSMT4">
                  <p:embed/>
                </p:oleObj>
              </mc:Choice>
              <mc:Fallback>
                <p:oleObj name="Equation" r:id="rId6" imgW="2019240" imgH="2057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606800"/>
                        <a:ext cx="2016125" cy="205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2F3ACB-0D08-490B-AD59-852E66D7AD1B}" type="slidenum">
              <a:rPr lang="en-US" altLang="zh-CN"/>
              <a:pPr/>
              <a:t>106</a:t>
            </a:fld>
            <a:endParaRPr lang="en-US" altLang="zh-CN"/>
          </a:p>
        </p:txBody>
      </p:sp>
      <p:sp>
        <p:nvSpPr>
          <p:cNvPr id="257026" name="Rectangle 2"/>
          <p:cNvSpPr>
            <a:spLocks noChangeArrowheads="1"/>
          </p:cNvSpPr>
          <p:nvPr/>
        </p:nvSpPr>
        <p:spPr bwMode="auto">
          <a:xfrm>
            <a:off x="466725" y="1268413"/>
            <a:ext cx="7921625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3-11.2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上的相容关系，若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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，如果对于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zh-CN" altLang="en-US">
                <a:solidFill>
                  <a:srgbClr val="020103"/>
                </a:solidFill>
              </a:rPr>
              <a:t>中任何两个元素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，有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ra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，称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zh-CN" altLang="en-US">
                <a:solidFill>
                  <a:srgbClr val="020103"/>
                </a:solidFill>
              </a:rPr>
              <a:t>是相容关系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产生的</a:t>
            </a:r>
            <a:r>
              <a:rPr lang="zh-CN" altLang="en-US" i="1">
                <a:solidFill>
                  <a:schemeClr val="hlink"/>
                </a:solidFill>
              </a:rPr>
              <a:t>相容类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关系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是一个相容关系，其关系图如下。寻找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产生的相容类。</a:t>
            </a:r>
          </a:p>
        </p:txBody>
      </p:sp>
      <p:pic>
        <p:nvPicPr>
          <p:cNvPr id="257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751263"/>
            <a:ext cx="2667000" cy="277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7030" name="Text Box 6"/>
          <p:cNvSpPr txBox="1">
            <a:spLocks noChangeArrowheads="1"/>
          </p:cNvSpPr>
          <p:nvPr/>
        </p:nvSpPr>
        <p:spPr bwMode="auto">
          <a:xfrm>
            <a:off x="3348038" y="3716338"/>
            <a:ext cx="5373687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olidFill>
                  <a:srgbClr val="020103"/>
                </a:solidFill>
              </a:rPr>
              <a:t>关系</a:t>
            </a:r>
            <a:r>
              <a:rPr kumimoji="0" lang="en-US" altLang="zh-CN">
                <a:solidFill>
                  <a:srgbClr val="020103"/>
                </a:solidFill>
              </a:rPr>
              <a:t>r</a:t>
            </a:r>
            <a:r>
              <a:rPr kumimoji="0" lang="zh-CN" altLang="en-US">
                <a:solidFill>
                  <a:srgbClr val="020103"/>
                </a:solidFill>
              </a:rPr>
              <a:t>产生的相容类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olidFill>
                  <a:srgbClr val="020103"/>
                </a:solidFill>
              </a:rPr>
              <a:t>{x</a:t>
            </a:r>
            <a:r>
              <a:rPr kumimoji="0" lang="en-US" altLang="zh-CN" baseline="-25000">
                <a:solidFill>
                  <a:srgbClr val="020103"/>
                </a:solidFill>
              </a:rPr>
              <a:t>1</a:t>
            </a:r>
            <a:r>
              <a:rPr kumimoji="0" lang="en-US" altLang="zh-CN">
                <a:solidFill>
                  <a:srgbClr val="020103"/>
                </a:solidFill>
              </a:rPr>
              <a:t>,x</a:t>
            </a:r>
            <a:r>
              <a:rPr kumimoji="0" lang="en-US" altLang="zh-CN" baseline="-25000">
                <a:solidFill>
                  <a:srgbClr val="020103"/>
                </a:solidFill>
              </a:rPr>
              <a:t>2</a:t>
            </a:r>
            <a:r>
              <a:rPr kumimoji="0" lang="en-US" altLang="zh-CN">
                <a:solidFill>
                  <a:srgbClr val="020103"/>
                </a:solidFill>
              </a:rPr>
              <a:t>}</a:t>
            </a:r>
            <a:r>
              <a:rPr kumimoji="0" lang="zh-CN" altLang="en-US">
                <a:solidFill>
                  <a:srgbClr val="020103"/>
                </a:solidFill>
              </a:rPr>
              <a:t>，</a:t>
            </a:r>
            <a:r>
              <a:rPr kumimoji="0" lang="en-US" altLang="zh-CN">
                <a:solidFill>
                  <a:srgbClr val="020103"/>
                </a:solidFill>
              </a:rPr>
              <a:t>{x</a:t>
            </a:r>
            <a:r>
              <a:rPr kumimoji="0" lang="en-US" altLang="zh-CN" baseline="-25000">
                <a:solidFill>
                  <a:srgbClr val="020103"/>
                </a:solidFill>
              </a:rPr>
              <a:t>1</a:t>
            </a:r>
            <a:r>
              <a:rPr kumimoji="0" lang="en-US" altLang="zh-CN">
                <a:solidFill>
                  <a:srgbClr val="020103"/>
                </a:solidFill>
              </a:rPr>
              <a:t>,x</a:t>
            </a:r>
            <a:r>
              <a:rPr kumimoji="0" lang="en-US" altLang="zh-CN" baseline="-25000">
                <a:solidFill>
                  <a:srgbClr val="020103"/>
                </a:solidFill>
              </a:rPr>
              <a:t>3</a:t>
            </a:r>
            <a:r>
              <a:rPr kumimoji="0" lang="en-US" altLang="zh-CN">
                <a:solidFill>
                  <a:srgbClr val="020103"/>
                </a:solidFill>
              </a:rPr>
              <a:t>}</a:t>
            </a:r>
            <a:r>
              <a:rPr kumimoji="0" lang="zh-CN" altLang="en-US">
                <a:solidFill>
                  <a:srgbClr val="020103"/>
                </a:solidFill>
              </a:rPr>
              <a:t>，</a:t>
            </a:r>
            <a:r>
              <a:rPr kumimoji="0" lang="en-US" altLang="zh-CN">
                <a:solidFill>
                  <a:srgbClr val="020103"/>
                </a:solidFill>
              </a:rPr>
              <a:t>{x</a:t>
            </a:r>
            <a:r>
              <a:rPr kumimoji="0" lang="en-US" altLang="zh-CN" baseline="-25000">
                <a:solidFill>
                  <a:srgbClr val="020103"/>
                </a:solidFill>
              </a:rPr>
              <a:t>2</a:t>
            </a:r>
            <a:r>
              <a:rPr kumimoji="0" lang="en-US" altLang="zh-CN">
                <a:solidFill>
                  <a:srgbClr val="020103"/>
                </a:solidFill>
              </a:rPr>
              <a:t>,x</a:t>
            </a:r>
            <a:r>
              <a:rPr kumimoji="0" lang="en-US" altLang="zh-CN" baseline="-25000">
                <a:solidFill>
                  <a:srgbClr val="020103"/>
                </a:solidFill>
              </a:rPr>
              <a:t>3</a:t>
            </a:r>
            <a:r>
              <a:rPr kumimoji="0" lang="en-US" altLang="zh-CN">
                <a:solidFill>
                  <a:srgbClr val="020103"/>
                </a:solidFill>
              </a:rPr>
              <a:t>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olidFill>
                  <a:srgbClr val="020103"/>
                </a:solidFill>
              </a:rPr>
              <a:t>{x</a:t>
            </a:r>
            <a:r>
              <a:rPr kumimoji="0" lang="en-US" altLang="zh-CN" baseline="-25000">
                <a:solidFill>
                  <a:srgbClr val="020103"/>
                </a:solidFill>
              </a:rPr>
              <a:t>6</a:t>
            </a:r>
            <a:r>
              <a:rPr kumimoji="0" lang="en-US" altLang="zh-CN">
                <a:solidFill>
                  <a:srgbClr val="020103"/>
                </a:solidFill>
              </a:rPr>
              <a:t>}</a:t>
            </a:r>
            <a:r>
              <a:rPr kumimoji="0" lang="zh-CN" altLang="en-US">
                <a:solidFill>
                  <a:srgbClr val="020103"/>
                </a:solidFill>
              </a:rPr>
              <a:t>，</a:t>
            </a:r>
            <a:r>
              <a:rPr kumimoji="0" lang="en-US" altLang="zh-CN">
                <a:solidFill>
                  <a:srgbClr val="020103"/>
                </a:solidFill>
              </a:rPr>
              <a:t>{x</a:t>
            </a:r>
            <a:r>
              <a:rPr kumimoji="0" lang="en-US" altLang="zh-CN" baseline="-25000">
                <a:solidFill>
                  <a:srgbClr val="020103"/>
                </a:solidFill>
              </a:rPr>
              <a:t>2</a:t>
            </a:r>
            <a:r>
              <a:rPr kumimoji="0" lang="en-US" altLang="zh-CN">
                <a:solidFill>
                  <a:srgbClr val="020103"/>
                </a:solidFill>
              </a:rPr>
              <a:t>,x</a:t>
            </a:r>
            <a:r>
              <a:rPr kumimoji="0" lang="en-US" altLang="zh-CN" baseline="-25000">
                <a:solidFill>
                  <a:srgbClr val="020103"/>
                </a:solidFill>
              </a:rPr>
              <a:t>4</a:t>
            </a:r>
            <a:r>
              <a:rPr kumimoji="0" lang="en-US" altLang="zh-CN">
                <a:solidFill>
                  <a:srgbClr val="020103"/>
                </a:solidFill>
              </a:rPr>
              <a:t>,x</a:t>
            </a:r>
            <a:r>
              <a:rPr kumimoji="0" lang="en-US" altLang="zh-CN" baseline="-25000">
                <a:solidFill>
                  <a:srgbClr val="020103"/>
                </a:solidFill>
              </a:rPr>
              <a:t>5</a:t>
            </a:r>
            <a:r>
              <a:rPr kumimoji="0" lang="en-US" altLang="zh-CN">
                <a:solidFill>
                  <a:srgbClr val="020103"/>
                </a:solidFill>
              </a:rPr>
              <a:t>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3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6657B1-C415-47E6-BE1A-F6DABA428B23}" type="slidenum">
              <a:rPr lang="en-US" altLang="zh-CN"/>
              <a:pPr/>
              <a:t>107</a:t>
            </a:fld>
            <a:endParaRPr lang="en-US" altLang="zh-CN"/>
          </a:p>
        </p:txBody>
      </p:sp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23850" y="1268413"/>
            <a:ext cx="8027988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3-11.3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是集合上的相容关系，不能真包含在任何其它相容类中的相容类，称为</a:t>
            </a:r>
            <a:r>
              <a:rPr lang="zh-CN" altLang="en-US" i="1" u="sng">
                <a:solidFill>
                  <a:schemeClr val="hlink"/>
                </a:solidFill>
              </a:rPr>
              <a:t>最大相容类</a:t>
            </a:r>
            <a:r>
              <a:rPr lang="zh-CN" altLang="en-US">
                <a:solidFill>
                  <a:srgbClr val="020103"/>
                </a:solidFill>
              </a:rPr>
              <a:t>，记为</a:t>
            </a:r>
            <a:r>
              <a:rPr lang="en-US" altLang="zh-CN">
                <a:solidFill>
                  <a:schemeClr val="tx1"/>
                </a:solidFill>
              </a:rPr>
              <a:t>C</a:t>
            </a:r>
            <a:r>
              <a:rPr lang="en-US" altLang="zh-CN" baseline="-25000">
                <a:solidFill>
                  <a:schemeClr val="tx1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</p:txBody>
      </p:sp>
      <p:sp>
        <p:nvSpPr>
          <p:cNvPr id="258053" name="Text Box 5"/>
          <p:cNvSpPr txBox="1">
            <a:spLocks noChangeArrowheads="1"/>
          </p:cNvSpPr>
          <p:nvPr/>
        </p:nvSpPr>
        <p:spPr bwMode="auto">
          <a:xfrm>
            <a:off x="360363" y="2320925"/>
            <a:ext cx="8243887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0" lang="en-US" altLang="zh-CN">
                <a:solidFill>
                  <a:srgbClr val="020103"/>
                </a:solidFill>
              </a:rPr>
              <a:t>C</a:t>
            </a:r>
            <a:r>
              <a:rPr kumimoji="0" lang="en-US" altLang="zh-CN" baseline="-25000">
                <a:solidFill>
                  <a:srgbClr val="020103"/>
                </a:solidFill>
              </a:rPr>
              <a:t>r </a:t>
            </a:r>
            <a:r>
              <a:rPr kumimoji="0" lang="en-US" altLang="zh-CN">
                <a:solidFill>
                  <a:srgbClr val="020103"/>
                </a:solidFill>
                <a:sym typeface="Symbol" pitchFamily="18" charset="2"/>
              </a:rPr>
              <a:t>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；</a:t>
            </a:r>
          </a:p>
          <a:p>
            <a:pPr>
              <a:lnSpc>
                <a:spcPct val="130000"/>
              </a:lnSpc>
            </a:pPr>
            <a:r>
              <a:rPr kumimoji="0" lang="zh-CN" altLang="en-US">
                <a:solidFill>
                  <a:srgbClr val="020103"/>
                </a:solidFill>
              </a:rPr>
              <a:t>对</a:t>
            </a:r>
            <a:r>
              <a:rPr kumimoji="0" lang="zh-CN" altLang="en-US">
                <a:solidFill>
                  <a:srgbClr val="020103"/>
                </a:solidFill>
                <a:sym typeface="Symbol" pitchFamily="18" charset="2"/>
              </a:rPr>
              <a:t></a:t>
            </a:r>
            <a:r>
              <a:rPr kumimoji="0" lang="en-US" altLang="zh-CN">
                <a:solidFill>
                  <a:srgbClr val="020103"/>
                </a:solidFill>
                <a:sym typeface="Symbol" pitchFamily="18" charset="2"/>
              </a:rPr>
              <a:t>x</a:t>
            </a:r>
            <a:r>
              <a:rPr lang="en-US" altLang="zh-CN">
                <a:solidFill>
                  <a:srgbClr val="020103"/>
                </a:solidFill>
              </a:rPr>
              <a:t>∈</a:t>
            </a:r>
            <a:r>
              <a:rPr kumimoji="0" lang="en-US" altLang="zh-CN">
                <a:solidFill>
                  <a:srgbClr val="020103"/>
                </a:solidFill>
              </a:rPr>
              <a:t>C</a:t>
            </a:r>
            <a:r>
              <a:rPr kumimoji="0" lang="en-US" altLang="zh-CN" baseline="-25000">
                <a:solidFill>
                  <a:srgbClr val="020103"/>
                </a:solidFill>
              </a:rPr>
              <a:t>r </a:t>
            </a:r>
            <a:r>
              <a:rPr lang="zh-CN" altLang="en-US">
                <a:solidFill>
                  <a:srgbClr val="020103"/>
                </a:solidFill>
              </a:rPr>
              <a:t>，则</a:t>
            </a:r>
            <a:r>
              <a:rPr lang="en-US" altLang="zh-CN">
                <a:solidFill>
                  <a:srgbClr val="020103"/>
                </a:solidFill>
              </a:rPr>
              <a:t>x</a:t>
            </a:r>
            <a:r>
              <a:rPr lang="zh-CN" altLang="en-US">
                <a:solidFill>
                  <a:srgbClr val="020103"/>
                </a:solidFill>
              </a:rPr>
              <a:t>与</a:t>
            </a:r>
            <a:r>
              <a:rPr kumimoji="0" lang="en-US" altLang="zh-CN">
                <a:solidFill>
                  <a:srgbClr val="020103"/>
                </a:solidFill>
              </a:rPr>
              <a:t>C</a:t>
            </a:r>
            <a:r>
              <a:rPr kumimoji="0" lang="en-US" altLang="zh-CN" baseline="-25000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中所有元素均有相容关系，在</a:t>
            </a:r>
            <a:r>
              <a:rPr lang="en-US" altLang="zh-CN">
                <a:solidFill>
                  <a:srgbClr val="020103"/>
                </a:solidFill>
              </a:rPr>
              <a:t>A-</a:t>
            </a:r>
            <a:r>
              <a:rPr kumimoji="0" lang="en-US" altLang="zh-CN">
                <a:solidFill>
                  <a:srgbClr val="020103"/>
                </a:solidFill>
              </a:rPr>
              <a:t>C</a:t>
            </a:r>
            <a:r>
              <a:rPr kumimoji="0" lang="en-US" altLang="zh-CN" baseline="-25000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中没有任何元素与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中所有元素均有相容关系；</a:t>
            </a: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rgbClr val="020103"/>
                </a:solidFill>
              </a:rPr>
              <a:t>在相容关系图中，最大完全多边形的顶点集合，就是最大相容类；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20A621-9E97-4156-A522-06CF9773B3C1}" type="slidenum">
              <a:rPr lang="en-US" altLang="zh-CN"/>
              <a:pPr/>
              <a:t>108</a:t>
            </a:fld>
            <a:endParaRPr lang="en-US" altLang="zh-CN"/>
          </a:p>
        </p:txBody>
      </p:sp>
      <p:sp>
        <p:nvSpPr>
          <p:cNvPr id="438278" name="Text Box 6"/>
          <p:cNvSpPr txBox="1">
            <a:spLocks noChangeArrowheads="1"/>
          </p:cNvSpPr>
          <p:nvPr/>
        </p:nvSpPr>
        <p:spPr bwMode="auto">
          <a:xfrm>
            <a:off x="468313" y="1268413"/>
            <a:ext cx="7345362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olidFill>
                  <a:srgbClr val="020103"/>
                </a:solidFill>
              </a:rPr>
              <a:t>(1)</a:t>
            </a:r>
            <a:r>
              <a:rPr kumimoji="0" lang="zh-CN" altLang="en-US">
                <a:solidFill>
                  <a:srgbClr val="020103"/>
                </a:solidFill>
              </a:rPr>
              <a:t>多边形中每对顶点间均有连线；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olidFill>
                  <a:srgbClr val="020103"/>
                </a:solidFill>
              </a:rPr>
              <a:t>(2)</a:t>
            </a:r>
            <a:r>
              <a:rPr kumimoji="0" lang="zh-CN" altLang="en-US">
                <a:solidFill>
                  <a:srgbClr val="020103"/>
                </a:solidFill>
              </a:rPr>
              <a:t>孤立的点；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>
                <a:solidFill>
                  <a:srgbClr val="020103"/>
                </a:solidFill>
              </a:rPr>
              <a:t>(3)</a:t>
            </a:r>
            <a:r>
              <a:rPr kumimoji="0" lang="zh-CN" altLang="en-US">
                <a:solidFill>
                  <a:srgbClr val="020103"/>
                </a:solidFill>
              </a:rPr>
              <a:t>两结点的连线；</a:t>
            </a:r>
          </a:p>
        </p:txBody>
      </p:sp>
      <p:sp>
        <p:nvSpPr>
          <p:cNvPr id="438281" name="Text Box 9"/>
          <p:cNvSpPr txBox="1">
            <a:spLocks noChangeArrowheads="1"/>
          </p:cNvSpPr>
          <p:nvPr/>
        </p:nvSpPr>
        <p:spPr bwMode="auto">
          <a:xfrm>
            <a:off x="468313" y="2924175"/>
            <a:ext cx="691197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练习：</a:t>
            </a:r>
            <a:r>
              <a:rPr lang="zh-CN" altLang="en-US">
                <a:solidFill>
                  <a:srgbClr val="020103"/>
                </a:solidFill>
              </a:rPr>
              <a:t>给定相容关系图，写出最大相容类。</a:t>
            </a:r>
          </a:p>
        </p:txBody>
      </p:sp>
      <p:pic>
        <p:nvPicPr>
          <p:cNvPr id="43828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3716338"/>
            <a:ext cx="2662238" cy="2347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8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025BA6-BAC4-461A-B39B-6D1606C62883}" type="slidenum">
              <a:rPr lang="en-US" altLang="zh-CN"/>
              <a:pPr/>
              <a:t>109</a:t>
            </a:fld>
            <a:endParaRPr lang="en-US" altLang="zh-CN"/>
          </a:p>
        </p:txBody>
      </p:sp>
      <p:sp>
        <p:nvSpPr>
          <p:cNvPr id="515074" name="Rectangle 2"/>
          <p:cNvSpPr>
            <a:spLocks noChangeArrowheads="1"/>
          </p:cNvSpPr>
          <p:nvPr/>
        </p:nvSpPr>
        <p:spPr bwMode="auto">
          <a:xfrm>
            <a:off x="1042988" y="2084209"/>
            <a:ext cx="6985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6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作业：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 P130(4)</a:t>
            </a:r>
            <a:r>
              <a:rPr lang="zh-CN" altLang="en-US" sz="3600" dirty="0" smtClean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P134(4)</a:t>
            </a:r>
            <a:r>
              <a:rPr lang="zh-CN" altLang="en-US" sz="3600" dirty="0" smtClean="0">
                <a:solidFill>
                  <a:schemeClr val="tx1"/>
                </a:solidFill>
                <a:ea typeface="楷体_GB2312" pitchFamily="49" charset="-122"/>
              </a:rPr>
              <a:t>，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P135(6)</a:t>
            </a:r>
            <a:r>
              <a:rPr lang="zh-CN" altLang="en-US" sz="3600" dirty="0">
                <a:solidFill>
                  <a:schemeClr val="tx1"/>
                </a:solidFill>
                <a:ea typeface="楷体_GB2312" pitchFamily="49" charset="-122"/>
              </a:rPr>
              <a:t> ，</a:t>
            </a:r>
            <a:r>
              <a:rPr lang="en-US" altLang="zh-CN" sz="3600" dirty="0" smtClean="0">
                <a:solidFill>
                  <a:schemeClr val="tx1"/>
                </a:solidFill>
                <a:ea typeface="楷体_GB2312" pitchFamily="49" charset="-122"/>
              </a:rPr>
              <a:t>P139(6</a:t>
            </a: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73334785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909914-1A73-4B4A-B920-7BAEDA8B612D}" type="slidenum">
              <a:rPr lang="en-US" altLang="zh-CN"/>
              <a:pPr/>
              <a:t>110</a:t>
            </a:fld>
            <a:endParaRPr lang="en-US" altLang="zh-CN"/>
          </a:p>
        </p:txBody>
      </p:sp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423863"/>
            <a:ext cx="6950075" cy="701675"/>
          </a:xfrm>
        </p:spPr>
        <p:txBody>
          <a:bodyPr/>
          <a:lstStyle/>
          <a:p>
            <a:pPr algn="ctr"/>
            <a:r>
              <a:rPr lang="zh-CN" altLang="en-US" b="1"/>
              <a:t>复习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353425" cy="3933384"/>
          </a:xfrm>
        </p:spPr>
        <p:txBody>
          <a:bodyPr/>
          <a:lstStyle/>
          <a:p>
            <a:pPr>
              <a:buClrTx/>
            </a:pPr>
            <a:r>
              <a:rPr lang="zh-CN" altLang="en-US" sz="2400" dirty="0" smtClean="0">
                <a:ea typeface="楷体_GB2312" pitchFamily="49" charset="-122"/>
              </a:rPr>
              <a:t>划分与覆盖</a:t>
            </a:r>
          </a:p>
          <a:p>
            <a:pPr>
              <a:buClrTx/>
            </a:pPr>
            <a:r>
              <a:rPr lang="en-US" altLang="zh-CN" sz="2400" dirty="0" smtClean="0"/>
              <a:t>S</a:t>
            </a:r>
            <a:r>
              <a:rPr lang="en-US" altLang="zh-CN" sz="2400" dirty="0"/>
              <a:t>={S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 </a:t>
            </a:r>
            <a:r>
              <a:rPr lang="en-US" altLang="zh-CN" sz="2400" dirty="0" err="1"/>
              <a:t>S</a:t>
            </a:r>
            <a:r>
              <a:rPr lang="en-US" altLang="zh-CN" sz="2400" baseline="-25000" dirty="0" err="1"/>
              <a:t>m</a:t>
            </a:r>
            <a:r>
              <a:rPr lang="en-US" altLang="zh-CN" sz="2400" dirty="0"/>
              <a:t>}</a:t>
            </a:r>
            <a:r>
              <a:rPr lang="zh-CN" altLang="en-US" sz="2400" dirty="0"/>
              <a:t>，其中</a:t>
            </a:r>
            <a:r>
              <a:rPr lang="en-US" altLang="zh-CN" sz="2400" dirty="0" err="1"/>
              <a:t>S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>
                <a:sym typeface="Symbol" pitchFamily="18" charset="2"/>
              </a:rPr>
              <a:t></a:t>
            </a:r>
            <a:r>
              <a:rPr lang="en-US" altLang="zh-CN" sz="2400" dirty="0" err="1"/>
              <a:t>A</a:t>
            </a:r>
            <a:r>
              <a:rPr lang="zh-CN" altLang="en-US" sz="2400" dirty="0"/>
              <a:t>，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≠ </a:t>
            </a:r>
            <a:r>
              <a:rPr lang="en-US" altLang="zh-CN" sz="2400" dirty="0">
                <a:sym typeface="Symbol" pitchFamily="18" charset="2"/>
              </a:rPr>
              <a:t></a:t>
            </a:r>
            <a:r>
              <a:rPr lang="en-US" altLang="zh-CN" sz="2400" dirty="0"/>
              <a:t> </a:t>
            </a:r>
            <a:r>
              <a:rPr lang="zh-CN" altLang="en-US" sz="2400" dirty="0"/>
              <a:t>且                ，集合</a:t>
            </a:r>
            <a:r>
              <a:rPr lang="en-US" altLang="zh-CN" sz="2400" dirty="0"/>
              <a:t>S</a:t>
            </a:r>
            <a:r>
              <a:rPr lang="zh-CN" altLang="en-US" sz="2400" dirty="0"/>
              <a:t>为集合</a:t>
            </a:r>
            <a:r>
              <a:rPr lang="en-US" altLang="zh-CN" sz="2400" dirty="0"/>
              <a:t>A</a:t>
            </a:r>
            <a:r>
              <a:rPr lang="zh-CN" altLang="en-US" sz="2400" dirty="0"/>
              <a:t>的覆盖。</a:t>
            </a:r>
          </a:p>
          <a:p>
            <a:pPr>
              <a:buClrTx/>
            </a:pPr>
            <a:r>
              <a:rPr lang="zh-CN" altLang="en-US" sz="2400" dirty="0"/>
              <a:t>若且有                              ，则</a:t>
            </a:r>
            <a:r>
              <a:rPr lang="en-US" altLang="zh-CN" sz="2400" dirty="0"/>
              <a:t>S</a:t>
            </a:r>
            <a:r>
              <a:rPr lang="zh-CN" altLang="en-US" sz="2400" dirty="0"/>
              <a:t>是</a:t>
            </a:r>
            <a:r>
              <a:rPr lang="en-US" altLang="zh-CN" sz="2400" dirty="0"/>
              <a:t>A</a:t>
            </a:r>
            <a:r>
              <a:rPr lang="zh-CN" altLang="en-US" sz="2400" dirty="0"/>
              <a:t>的划分。</a:t>
            </a:r>
            <a:endParaRPr lang="en-US" altLang="zh-CN" sz="2400" dirty="0"/>
          </a:p>
          <a:p>
            <a:pPr lvl="0">
              <a:buClr>
                <a:srgbClr val="3333CC"/>
              </a:buClr>
            </a:pPr>
            <a:r>
              <a:rPr lang="zh-CN" altLang="en-US" sz="2400" dirty="0" smtClean="0"/>
              <a:t>等价关系</a:t>
            </a:r>
            <a:r>
              <a:rPr lang="zh-CN" altLang="en-US" sz="2400" dirty="0"/>
              <a:t>与等价类</a:t>
            </a:r>
            <a:endParaRPr lang="en-US" altLang="zh-CN" sz="2400" dirty="0"/>
          </a:p>
          <a:p>
            <a:pPr lvl="0">
              <a:buClr>
                <a:srgbClr val="3333CC"/>
              </a:buClr>
            </a:pPr>
            <a:r>
              <a:rPr lang="en-US" altLang="zh-CN" sz="2400" dirty="0"/>
              <a:t>      </a:t>
            </a:r>
            <a:r>
              <a:rPr lang="zh-CN" altLang="en-US" sz="2400" dirty="0"/>
              <a:t>自反、对称、传递，</a:t>
            </a:r>
            <a:r>
              <a:rPr lang="en-US" altLang="zh-CN" sz="2400" dirty="0"/>
              <a:t> [a]</a:t>
            </a:r>
            <a:r>
              <a:rPr lang="en-US" altLang="zh-CN" sz="2400" baseline="-30000" dirty="0"/>
              <a:t>R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x|x∈A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aRx</a:t>
            </a:r>
            <a:r>
              <a:rPr lang="en-US" altLang="zh-CN" sz="2400" dirty="0" smtClean="0"/>
              <a:t>}</a:t>
            </a:r>
          </a:p>
          <a:p>
            <a:pPr lvl="0">
              <a:buClr>
                <a:srgbClr val="3333CC"/>
              </a:buClr>
            </a:pPr>
            <a:r>
              <a:rPr lang="zh-CN" altLang="en-US" sz="2400" dirty="0" smtClean="0">
                <a:ea typeface="楷体_GB2312" pitchFamily="49" charset="-122"/>
              </a:rPr>
              <a:t>相容</a:t>
            </a:r>
            <a:r>
              <a:rPr lang="zh-CN" altLang="en-US" sz="2400" dirty="0"/>
              <a:t>关系</a:t>
            </a:r>
            <a:endParaRPr lang="en-US" altLang="zh-CN" sz="2400" dirty="0"/>
          </a:p>
          <a:p>
            <a:pPr lvl="0">
              <a:buClr>
                <a:srgbClr val="3333CC"/>
              </a:buClr>
            </a:pPr>
            <a:r>
              <a:rPr lang="en-US" altLang="zh-CN" sz="2400" dirty="0"/>
              <a:t>      </a:t>
            </a:r>
            <a:r>
              <a:rPr lang="zh-CN" altLang="en-US" sz="2400" dirty="0"/>
              <a:t>自反、对称</a:t>
            </a:r>
            <a:r>
              <a:rPr lang="zh-CN" altLang="en-US" sz="2400" dirty="0" smtClean="0"/>
              <a:t>；</a:t>
            </a:r>
            <a:endParaRPr lang="en-US" altLang="zh-CN" sz="2400" dirty="0"/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992732"/>
              </p:ext>
            </p:extLst>
          </p:nvPr>
        </p:nvGraphicFramePr>
        <p:xfrm>
          <a:off x="5724128" y="1730896"/>
          <a:ext cx="12080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460" name="Equation" r:id="rId3" imgW="1104840" imgH="761760" progId="Equation.DSMT4">
                  <p:embed/>
                </p:oleObj>
              </mc:Choice>
              <mc:Fallback>
                <p:oleObj name="Equation" r:id="rId3" imgW="110484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1730896"/>
                        <a:ext cx="120808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542710"/>
              </p:ext>
            </p:extLst>
          </p:nvPr>
        </p:nvGraphicFramePr>
        <p:xfrm>
          <a:off x="1435556" y="2876044"/>
          <a:ext cx="22875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461" name="Equation" r:id="rId5" imgW="2095200" imgH="393480" progId="Equation.DSMT4">
                  <p:embed/>
                </p:oleObj>
              </mc:Choice>
              <mc:Fallback>
                <p:oleObj name="Equation" r:id="rId5" imgW="2095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556" y="2876044"/>
                        <a:ext cx="22875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6654353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DE82-4133-4341-8746-22548D3F1B53}" type="slidenum">
              <a:rPr lang="en-US" altLang="zh-CN"/>
              <a:pPr/>
              <a:t>111</a:t>
            </a:fld>
            <a:endParaRPr lang="en-US" altLang="zh-CN"/>
          </a:p>
        </p:txBody>
      </p:sp>
      <p:sp>
        <p:nvSpPr>
          <p:cNvPr id="259074" name="Rectangle 2"/>
          <p:cNvSpPr>
            <a:spLocks noChangeArrowheads="1"/>
          </p:cNvSpPr>
          <p:nvPr/>
        </p:nvSpPr>
        <p:spPr bwMode="auto">
          <a:xfrm>
            <a:off x="323850" y="1341438"/>
            <a:ext cx="8062913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3-11.1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设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是有限集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上的相容关系，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zh-CN" altLang="en-US">
                <a:solidFill>
                  <a:srgbClr val="020103"/>
                </a:solidFill>
              </a:rPr>
              <a:t>是一个相容类，那么必存在一个最大相容类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，使得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>
                <a:solidFill>
                  <a:srgbClr val="020103"/>
                </a:solidFill>
                <a:sym typeface="Symbol" pitchFamily="18" charset="2"/>
              </a:rPr>
              <a:t>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证明：设</a:t>
            </a:r>
            <a:r>
              <a:rPr lang="en-US" altLang="zh-CN">
                <a:solidFill>
                  <a:srgbClr val="020103"/>
                </a:solidFill>
              </a:rPr>
              <a:t>A={a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,…,a</a:t>
            </a:r>
            <a:r>
              <a:rPr lang="en-US" altLang="zh-CN" baseline="-25000">
                <a:solidFill>
                  <a:srgbClr val="020103"/>
                </a:solidFill>
              </a:rPr>
              <a:t>n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，设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i</a:t>
            </a:r>
            <a:r>
              <a:rPr lang="zh-CN" altLang="en-US">
                <a:solidFill>
                  <a:srgbClr val="020103"/>
                </a:solidFill>
              </a:rPr>
              <a:t>是一个相容类</a:t>
            </a:r>
            <a:r>
              <a:rPr lang="en-US" altLang="zh-CN">
                <a:solidFill>
                  <a:srgbClr val="020103"/>
                </a:solidFill>
              </a:rPr>
              <a:t>, </a:t>
            </a:r>
            <a:r>
              <a:rPr lang="zh-CN" altLang="en-US">
                <a:solidFill>
                  <a:srgbClr val="020103"/>
                </a:solidFill>
              </a:rPr>
              <a:t>且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0</a:t>
            </a:r>
            <a:r>
              <a:rPr lang="en-US" altLang="zh-CN">
                <a:solidFill>
                  <a:srgbClr val="020103"/>
                </a:solidFill>
              </a:rPr>
              <a:t>=C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           从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中找 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 baseline="-25000">
                <a:solidFill>
                  <a:srgbClr val="020103"/>
                </a:solidFill>
              </a:rPr>
              <a:t>j</a:t>
            </a:r>
            <a:r>
              <a:rPr lang="zh-CN" altLang="en-US">
                <a:solidFill>
                  <a:srgbClr val="020103"/>
                </a:solidFill>
              </a:rPr>
              <a:t>与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i</a:t>
            </a:r>
            <a:r>
              <a:rPr lang="zh-CN" altLang="en-US">
                <a:solidFill>
                  <a:srgbClr val="020103"/>
                </a:solidFill>
              </a:rPr>
              <a:t>各元素都有相容关系，且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 baseline="-25000">
                <a:solidFill>
                  <a:srgbClr val="020103"/>
                </a:solidFill>
              </a:rPr>
              <a:t>j</a:t>
            </a:r>
            <a:r>
              <a:rPr lang="en-US" altLang="zh-CN">
                <a:sym typeface="Symbol" pitchFamily="18" charset="2"/>
              </a:rPr>
              <a:t>C</a:t>
            </a:r>
            <a:r>
              <a:rPr lang="en-US" altLang="zh-CN" baseline="-25000">
                <a:sym typeface="Symbol" pitchFamily="18" charset="2"/>
              </a:rPr>
              <a:t>i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           定义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i+1</a:t>
            </a:r>
            <a:r>
              <a:rPr lang="en-US" altLang="zh-CN">
                <a:solidFill>
                  <a:srgbClr val="020103"/>
                </a:solidFill>
              </a:rPr>
              <a:t>=C</a:t>
            </a:r>
            <a:r>
              <a:rPr lang="en-US" altLang="zh-CN" baseline="-25000">
                <a:solidFill>
                  <a:srgbClr val="020103"/>
                </a:solidFill>
              </a:rPr>
              <a:t>i</a:t>
            </a:r>
            <a:r>
              <a:rPr lang="en-US" altLang="zh-CN">
                <a:solidFill>
                  <a:srgbClr val="020103"/>
                </a:solidFill>
              </a:rPr>
              <a:t>∪{a</a:t>
            </a:r>
            <a:r>
              <a:rPr lang="en-US" altLang="zh-CN" baseline="-25000">
                <a:solidFill>
                  <a:srgbClr val="020103"/>
                </a:solidFill>
              </a:rPr>
              <a:t>j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，至多经过</a:t>
            </a:r>
            <a:r>
              <a:rPr lang="en-US" altLang="zh-CN">
                <a:solidFill>
                  <a:srgbClr val="020103"/>
                </a:solidFill>
              </a:rPr>
              <a:t>n-|C|</a:t>
            </a:r>
            <a:r>
              <a:rPr lang="zh-CN" altLang="en-US">
                <a:solidFill>
                  <a:srgbClr val="020103"/>
                </a:solidFill>
              </a:rPr>
              <a:t>次，最终得到所要找的最大相容类。</a:t>
            </a:r>
          </a:p>
        </p:txBody>
      </p:sp>
      <p:sp>
        <p:nvSpPr>
          <p:cNvPr id="259077" name="Text Box 5"/>
          <p:cNvSpPr txBox="1">
            <a:spLocks noChangeArrowheads="1"/>
          </p:cNvSpPr>
          <p:nvPr/>
        </p:nvSpPr>
        <p:spPr bwMode="auto">
          <a:xfrm>
            <a:off x="323850" y="4292600"/>
            <a:ext cx="7993063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>
                <a:solidFill>
                  <a:srgbClr val="020103"/>
                </a:solidFill>
              </a:rPr>
              <a:t>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中的每个元素至少被包含在一个最大相容类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中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关系</a:t>
            </a:r>
            <a:r>
              <a:rPr kumimoji="0" lang="en-US" altLang="zh-CN">
                <a:solidFill>
                  <a:srgbClr val="020103"/>
                </a:solidFill>
              </a:rPr>
              <a:t>r</a:t>
            </a:r>
            <a:r>
              <a:rPr kumimoji="0" lang="zh-CN" altLang="en-US">
                <a:solidFill>
                  <a:srgbClr val="020103"/>
                </a:solidFill>
              </a:rPr>
              <a:t>产生的所有最大相容类组成的集合，形成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的一个覆盖。</a:t>
            </a:r>
          </a:p>
        </p:txBody>
      </p:sp>
      <p:sp>
        <p:nvSpPr>
          <p:cNvPr id="259081" name="Rectangle 9"/>
          <p:cNvSpPr>
            <a:spLocks noChangeArrowheads="1"/>
          </p:cNvSpPr>
          <p:nvPr/>
        </p:nvSpPr>
        <p:spPr bwMode="auto">
          <a:xfrm>
            <a:off x="1187450" y="476250"/>
            <a:ext cx="5040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二、相容关系的性质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7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1CE8BD-CD21-4779-BDC6-E891BF6991E3}" type="slidenum">
              <a:rPr lang="en-US" altLang="zh-CN"/>
              <a:pPr/>
              <a:t>112</a:t>
            </a:fld>
            <a:endParaRPr lang="en-US" altLang="zh-CN"/>
          </a:p>
        </p:txBody>
      </p:sp>
      <p:sp>
        <p:nvSpPr>
          <p:cNvPr id="260098" name="Rectangle 2"/>
          <p:cNvSpPr>
            <a:spLocks noChangeArrowheads="1"/>
          </p:cNvSpPr>
          <p:nvPr/>
        </p:nvSpPr>
        <p:spPr bwMode="auto">
          <a:xfrm>
            <a:off x="395288" y="1341438"/>
            <a:ext cx="7885112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3-11.4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在集合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上给定相容关系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，其最大相容类的集合，称作集合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的</a:t>
            </a:r>
            <a:r>
              <a:rPr lang="zh-CN" altLang="en-US" i="1">
                <a:solidFill>
                  <a:schemeClr val="hlink"/>
                </a:solidFill>
              </a:rPr>
              <a:t>完全覆盖</a:t>
            </a:r>
            <a:r>
              <a:rPr lang="zh-CN" altLang="en-US">
                <a:solidFill>
                  <a:srgbClr val="020103"/>
                </a:solidFill>
              </a:rPr>
              <a:t>，记为</a:t>
            </a: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(A)</a:t>
            </a:r>
            <a:r>
              <a:rPr lang="zh-CN" altLang="en-US">
                <a:solidFill>
                  <a:srgbClr val="020103"/>
                </a:solidFill>
              </a:rPr>
              <a:t>。</a:t>
            </a:r>
          </a:p>
        </p:txBody>
      </p:sp>
      <p:graphicFrame>
        <p:nvGraphicFramePr>
          <p:cNvPr id="260099" name="Object 3"/>
          <p:cNvGraphicFramePr>
            <a:graphicFrameLocks noChangeAspect="1"/>
          </p:cNvGraphicFramePr>
          <p:nvPr/>
        </p:nvGraphicFramePr>
        <p:xfrm>
          <a:off x="469900" y="2449513"/>
          <a:ext cx="2662238" cy="234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97" name="BMP 图象" r:id="rId3" imgW="1743318" imgH="1600000" progId="Paint.Picture">
                  <p:embed/>
                </p:oleObj>
              </mc:Choice>
              <mc:Fallback>
                <p:oleObj name="BMP 图象" r:id="rId3" imgW="1743318" imgH="160000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2449513"/>
                        <a:ext cx="2662238" cy="234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9900">
                                <a:alpha val="50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00" name="Text Box 4"/>
          <p:cNvSpPr txBox="1">
            <a:spLocks noChangeArrowheads="1"/>
          </p:cNvSpPr>
          <p:nvPr/>
        </p:nvSpPr>
        <p:spPr bwMode="auto">
          <a:xfrm>
            <a:off x="3203575" y="2781300"/>
            <a:ext cx="4897438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C</a:t>
            </a:r>
            <a:r>
              <a:rPr lang="en-US" altLang="zh-CN" baseline="-25000">
                <a:solidFill>
                  <a:srgbClr val="020103"/>
                </a:solidFill>
              </a:rPr>
              <a:t>r</a:t>
            </a:r>
            <a:r>
              <a:rPr lang="en-US" altLang="zh-CN">
                <a:solidFill>
                  <a:srgbClr val="020103"/>
                </a:solidFill>
              </a:rPr>
              <a:t>(A)={{a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4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6</a:t>
            </a:r>
            <a:r>
              <a:rPr lang="en-US" altLang="zh-CN">
                <a:solidFill>
                  <a:srgbClr val="020103"/>
                </a:solidFill>
              </a:rPr>
              <a:t>}, {a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4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6</a:t>
            </a:r>
            <a:r>
              <a:rPr lang="en-US" altLang="zh-CN">
                <a:solidFill>
                  <a:srgbClr val="020103"/>
                </a:solidFill>
              </a:rPr>
              <a:t>}, 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            {a</a:t>
            </a:r>
            <a:r>
              <a:rPr lang="en-US" altLang="zh-CN" baseline="-25000">
                <a:solidFill>
                  <a:srgbClr val="020103"/>
                </a:solidFill>
              </a:rPr>
              <a:t>3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4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6</a:t>
            </a:r>
            <a:r>
              <a:rPr lang="en-US" altLang="zh-CN">
                <a:solidFill>
                  <a:srgbClr val="020103"/>
                </a:solidFill>
              </a:rPr>
              <a:t>},{a</a:t>
            </a:r>
            <a:r>
              <a:rPr lang="en-US" altLang="zh-CN" baseline="-25000">
                <a:solidFill>
                  <a:srgbClr val="020103"/>
                </a:solidFill>
              </a:rPr>
              <a:t>4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5</a:t>
            </a:r>
            <a:r>
              <a:rPr lang="en-US" altLang="zh-CN">
                <a:solidFill>
                  <a:srgbClr val="020103"/>
                </a:solidFill>
              </a:rPr>
              <a:t>},{a</a:t>
            </a:r>
            <a:r>
              <a:rPr lang="en-US" altLang="zh-CN" baseline="-25000">
                <a:solidFill>
                  <a:srgbClr val="020103"/>
                </a:solidFill>
              </a:rPr>
              <a:t>7</a:t>
            </a:r>
            <a:r>
              <a:rPr lang="en-US" altLang="zh-CN">
                <a:solidFill>
                  <a:srgbClr val="020103"/>
                </a:solidFill>
              </a:rPr>
              <a:t>}}</a:t>
            </a:r>
          </a:p>
        </p:txBody>
      </p:sp>
      <p:sp>
        <p:nvSpPr>
          <p:cNvPr id="260101" name="Text Box 5"/>
          <p:cNvSpPr txBox="1">
            <a:spLocks noChangeArrowheads="1"/>
          </p:cNvSpPr>
          <p:nvPr/>
        </p:nvSpPr>
        <p:spPr bwMode="auto">
          <a:xfrm>
            <a:off x="468313" y="4724400"/>
            <a:ext cx="82470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</a:pPr>
            <a:r>
              <a:rPr lang="zh-CN" altLang="en-US">
                <a:solidFill>
                  <a:srgbClr val="020103"/>
                </a:solidFill>
              </a:rPr>
              <a:t>给定相容关系</a:t>
            </a:r>
            <a:r>
              <a:rPr lang="en-US" altLang="zh-CN">
                <a:solidFill>
                  <a:srgbClr val="020103"/>
                </a:solidFill>
              </a:rPr>
              <a:t>r</a:t>
            </a:r>
            <a:r>
              <a:rPr lang="zh-CN" altLang="en-US">
                <a:solidFill>
                  <a:srgbClr val="020103"/>
                </a:solidFill>
              </a:rPr>
              <a:t>，集合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的覆盖不唯一，但其</a:t>
            </a:r>
            <a:r>
              <a:rPr lang="zh-CN" altLang="en-US" u="sng">
                <a:solidFill>
                  <a:srgbClr val="020103"/>
                </a:solidFill>
              </a:rPr>
              <a:t>完全覆盖</a:t>
            </a:r>
            <a:r>
              <a:rPr lang="zh-CN" altLang="en-US">
                <a:solidFill>
                  <a:srgbClr val="020103"/>
                </a:solidFill>
              </a:rPr>
              <a:t>唯一。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0" grpId="0"/>
      <p:bldP spid="26010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84D63-14DA-4FB7-962B-C207693B2096}" type="slidenum">
              <a:rPr lang="en-US" altLang="zh-CN"/>
              <a:pPr/>
              <a:t>113</a:t>
            </a:fld>
            <a:endParaRPr lang="en-US" altLang="zh-CN"/>
          </a:p>
        </p:txBody>
      </p:sp>
      <p:sp>
        <p:nvSpPr>
          <p:cNvPr id="261122" name="Rectangle 2"/>
          <p:cNvSpPr>
            <a:spLocks noChangeArrowheads="1"/>
          </p:cNvSpPr>
          <p:nvPr/>
        </p:nvSpPr>
        <p:spPr bwMode="auto">
          <a:xfrm>
            <a:off x="323850" y="1268413"/>
            <a:ext cx="8135938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3-11.2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>
                <a:solidFill>
                  <a:srgbClr val="020103"/>
                </a:solidFill>
              </a:rPr>
              <a:t>给定集合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的覆盖</a:t>
            </a:r>
            <a:r>
              <a:rPr lang="en-US" altLang="zh-CN">
                <a:solidFill>
                  <a:srgbClr val="020103"/>
                </a:solidFill>
              </a:rPr>
              <a:t>{A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,A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, …,A</a:t>
            </a:r>
            <a:r>
              <a:rPr lang="en-US" altLang="zh-CN" baseline="-25000">
                <a:solidFill>
                  <a:srgbClr val="020103"/>
                </a:solidFill>
              </a:rPr>
              <a:t>n</a:t>
            </a:r>
            <a:r>
              <a:rPr lang="en-US" altLang="zh-CN">
                <a:solidFill>
                  <a:srgbClr val="020103"/>
                </a:solidFill>
              </a:rPr>
              <a:t>}</a:t>
            </a:r>
            <a:r>
              <a:rPr lang="zh-CN" altLang="en-US">
                <a:solidFill>
                  <a:srgbClr val="020103"/>
                </a:solidFill>
              </a:rPr>
              <a:t>，由它确定的关系</a:t>
            </a:r>
            <a:r>
              <a:rPr lang="en-US" altLang="zh-CN">
                <a:solidFill>
                  <a:srgbClr val="020103"/>
                </a:solidFill>
              </a:rPr>
              <a:t>R=A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×A</a:t>
            </a:r>
            <a:r>
              <a:rPr lang="en-US" altLang="zh-CN" baseline="-25000">
                <a:solidFill>
                  <a:srgbClr val="020103"/>
                </a:solidFill>
              </a:rPr>
              <a:t>1</a:t>
            </a:r>
            <a:r>
              <a:rPr lang="en-US" altLang="zh-CN">
                <a:solidFill>
                  <a:srgbClr val="020103"/>
                </a:solidFill>
              </a:rPr>
              <a:t>∪A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×A</a:t>
            </a:r>
            <a:r>
              <a:rPr lang="en-US" altLang="zh-CN" baseline="-25000">
                <a:solidFill>
                  <a:srgbClr val="020103"/>
                </a:solidFill>
              </a:rPr>
              <a:t>2</a:t>
            </a:r>
            <a:r>
              <a:rPr lang="en-US" altLang="zh-CN">
                <a:solidFill>
                  <a:srgbClr val="020103"/>
                </a:solidFill>
              </a:rPr>
              <a:t>∪…∪A</a:t>
            </a:r>
            <a:r>
              <a:rPr lang="en-US" altLang="zh-CN" baseline="-25000">
                <a:solidFill>
                  <a:srgbClr val="020103"/>
                </a:solidFill>
              </a:rPr>
              <a:t>n</a:t>
            </a:r>
            <a:r>
              <a:rPr lang="en-US" altLang="zh-CN">
                <a:solidFill>
                  <a:srgbClr val="020103"/>
                </a:solidFill>
              </a:rPr>
              <a:t>×A</a:t>
            </a:r>
            <a:r>
              <a:rPr lang="en-US" altLang="zh-CN" baseline="-25000">
                <a:solidFill>
                  <a:srgbClr val="020103"/>
                </a:solidFill>
              </a:rPr>
              <a:t>n</a:t>
            </a:r>
            <a:r>
              <a:rPr lang="zh-CN" altLang="en-US">
                <a:solidFill>
                  <a:srgbClr val="020103"/>
                </a:solidFill>
              </a:rPr>
              <a:t>是相容关系。</a:t>
            </a:r>
          </a:p>
        </p:txBody>
      </p:sp>
      <p:sp>
        <p:nvSpPr>
          <p:cNvPr id="261123" name="Rectangle 3"/>
          <p:cNvSpPr>
            <a:spLocks noChangeArrowheads="1"/>
          </p:cNvSpPr>
          <p:nvPr/>
        </p:nvSpPr>
        <p:spPr bwMode="auto">
          <a:xfrm>
            <a:off x="322263" y="2276475"/>
            <a:ext cx="83534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>
                <a:solidFill>
                  <a:srgbClr val="020103"/>
                </a:solidFill>
              </a:rPr>
              <a:t>一个覆盖对应一个相容关系；但不同的覆盖能构造相同的相容关系。</a:t>
            </a:r>
          </a:p>
        </p:txBody>
      </p:sp>
      <p:sp>
        <p:nvSpPr>
          <p:cNvPr id="261125" name="Rectangle 5"/>
          <p:cNvSpPr>
            <a:spLocks noChangeArrowheads="1"/>
          </p:cNvSpPr>
          <p:nvPr/>
        </p:nvSpPr>
        <p:spPr bwMode="auto">
          <a:xfrm>
            <a:off x="323850" y="3356992"/>
            <a:ext cx="8272463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3-11.3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rgbClr val="020103"/>
                </a:solidFill>
              </a:rPr>
              <a:t>集合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上的相容关系</a:t>
            </a:r>
            <a:r>
              <a:rPr lang="en-US" altLang="zh-CN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与完全覆盖</a:t>
            </a:r>
            <a:r>
              <a:rPr lang="en-US" altLang="zh-CN" dirty="0">
                <a:solidFill>
                  <a:srgbClr val="020103"/>
                </a:solidFill>
              </a:rPr>
              <a:t>C</a:t>
            </a:r>
            <a:r>
              <a:rPr lang="en-US" altLang="zh-CN" baseline="-25000" dirty="0">
                <a:solidFill>
                  <a:srgbClr val="020103"/>
                </a:solidFill>
              </a:rPr>
              <a:t>r</a:t>
            </a:r>
            <a:r>
              <a:rPr lang="en-US" altLang="zh-CN" dirty="0">
                <a:solidFill>
                  <a:srgbClr val="020103"/>
                </a:solidFill>
              </a:rPr>
              <a:t>(A)</a:t>
            </a:r>
            <a:r>
              <a:rPr lang="zh-CN" altLang="en-US" dirty="0">
                <a:solidFill>
                  <a:srgbClr val="020103"/>
                </a:solidFill>
              </a:rPr>
              <a:t>存在一一对应关系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/>
      <p:bldP spid="261125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09A48-AEB3-4DC1-A88D-03A8EE762682}" type="slidenum">
              <a:rPr lang="en-US" altLang="zh-CN"/>
              <a:pPr/>
              <a:t>114</a:t>
            </a:fld>
            <a:endParaRPr lang="en-US" altLang="zh-CN"/>
          </a:p>
        </p:txBody>
      </p:sp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319088"/>
            <a:ext cx="5653087" cy="806450"/>
          </a:xfrm>
          <a:noFill/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3-12   </a:t>
            </a:r>
            <a:r>
              <a:rPr lang="zh-CN" altLang="en-US" sz="3600" b="1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序关系</a:t>
            </a:r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>
            <a:off x="1187450" y="1557338"/>
            <a:ext cx="4572000" cy="262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一、序关系定义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二、相关概念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三、特殊位置的元素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四、偏序集的性质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42491D-5CCE-4237-A343-58A3322E0A8D}" type="slidenum">
              <a:rPr lang="en-US" altLang="zh-CN"/>
              <a:pPr/>
              <a:t>115</a:t>
            </a:fld>
            <a:endParaRPr lang="en-US" altLang="zh-CN"/>
          </a:p>
        </p:txBody>
      </p:sp>
      <p:sp>
        <p:nvSpPr>
          <p:cNvPr id="263170" name="Rectangle 2"/>
          <p:cNvSpPr>
            <a:spLocks noChangeArrowheads="1"/>
          </p:cNvSpPr>
          <p:nvPr/>
        </p:nvSpPr>
        <p:spPr bwMode="auto">
          <a:xfrm>
            <a:off x="468313" y="1412875"/>
            <a:ext cx="78486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3-12.1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rgbClr val="020103"/>
                </a:solidFill>
              </a:rPr>
              <a:t>设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是一个集合，如果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上的一个关系</a:t>
            </a:r>
            <a:r>
              <a:rPr lang="en-US" altLang="zh-CN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，满足自反性，反对称性和传递性，则称</a:t>
            </a:r>
            <a:r>
              <a:rPr lang="en-US" altLang="zh-CN" dirty="0">
                <a:solidFill>
                  <a:srgbClr val="020103"/>
                </a:solidFill>
              </a:rPr>
              <a:t>R</a:t>
            </a:r>
            <a:r>
              <a:rPr lang="zh-CN" altLang="en-US" dirty="0">
                <a:solidFill>
                  <a:srgbClr val="020103"/>
                </a:solidFill>
              </a:rPr>
              <a:t>是</a:t>
            </a:r>
            <a:r>
              <a:rPr lang="en-US" altLang="zh-CN" dirty="0">
                <a:solidFill>
                  <a:srgbClr val="020103"/>
                </a:solidFill>
              </a:rPr>
              <a:t>A</a:t>
            </a:r>
            <a:r>
              <a:rPr lang="zh-CN" altLang="en-US" dirty="0">
                <a:solidFill>
                  <a:srgbClr val="020103"/>
                </a:solidFill>
              </a:rPr>
              <a:t>上的一个偏序关系，记为“</a:t>
            </a:r>
            <a:r>
              <a:rPr lang="zh-CN" altLang="en-US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 dirty="0">
                <a:solidFill>
                  <a:srgbClr val="020103"/>
                </a:solidFill>
              </a:rPr>
              <a:t>”。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rgbClr val="020103"/>
                </a:solidFill>
              </a:rPr>
              <a:t>序偶</a:t>
            </a:r>
            <a:r>
              <a:rPr lang="en-US" altLang="zh-CN" dirty="0">
                <a:solidFill>
                  <a:srgbClr val="020103"/>
                </a:solidFill>
              </a:rPr>
              <a:t>&lt;A,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>
                <a:solidFill>
                  <a:srgbClr val="020103"/>
                </a:solidFill>
              </a:rPr>
              <a:t>&gt;</a:t>
            </a:r>
            <a:r>
              <a:rPr lang="zh-CN" altLang="en-US" dirty="0">
                <a:solidFill>
                  <a:srgbClr val="020103"/>
                </a:solidFill>
              </a:rPr>
              <a:t>称做</a:t>
            </a:r>
            <a:r>
              <a:rPr lang="zh-CN" altLang="en-US" i="1" dirty="0">
                <a:solidFill>
                  <a:schemeClr val="hlink"/>
                </a:solidFill>
              </a:rPr>
              <a:t>偏序集</a:t>
            </a:r>
            <a:r>
              <a:rPr lang="zh-CN" altLang="en-US" dirty="0">
                <a:solidFill>
                  <a:srgbClr val="020103"/>
                </a:solidFill>
              </a:rPr>
              <a:t>。</a:t>
            </a:r>
          </a:p>
        </p:txBody>
      </p:sp>
      <p:sp>
        <p:nvSpPr>
          <p:cNvPr id="263176" name="Text Box 8"/>
          <p:cNvSpPr txBox="1">
            <a:spLocks noChangeArrowheads="1"/>
          </p:cNvSpPr>
          <p:nvPr/>
        </p:nvSpPr>
        <p:spPr bwMode="auto">
          <a:xfrm>
            <a:off x="468313" y="3352800"/>
            <a:ext cx="8064500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>
                <a:solidFill>
                  <a:srgbClr val="020103"/>
                </a:solidFill>
              </a:rPr>
              <a:t>对偏序集</a:t>
            </a:r>
            <a:r>
              <a:rPr kumimoji="0" lang="en-US" altLang="zh-CN">
                <a:solidFill>
                  <a:srgbClr val="020103"/>
                </a:solidFill>
              </a:rPr>
              <a:t>&lt;A, </a:t>
            </a:r>
            <a:r>
              <a:rPr lang="en-US" altLang="zh-CN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kumimoji="0" lang="en-US" altLang="zh-CN">
                <a:solidFill>
                  <a:srgbClr val="020103"/>
                </a:solidFill>
              </a:rPr>
              <a:t>&gt;</a:t>
            </a:r>
            <a:r>
              <a:rPr kumimoji="0" lang="zh-CN" altLang="en-US">
                <a:solidFill>
                  <a:srgbClr val="020103"/>
                </a:solidFill>
              </a:rPr>
              <a:t>，若</a:t>
            </a:r>
            <a:r>
              <a:rPr kumimoji="0" lang="en-US" altLang="zh-CN">
                <a:solidFill>
                  <a:srgbClr val="020103"/>
                </a:solidFill>
              </a:rPr>
              <a:t>a</a:t>
            </a:r>
            <a:r>
              <a:rPr kumimoji="0" lang="zh-CN" altLang="en-US">
                <a:solidFill>
                  <a:srgbClr val="020103"/>
                </a:solidFill>
              </a:rPr>
              <a:t>，</a:t>
            </a:r>
            <a:r>
              <a:rPr kumimoji="0" lang="en-US" altLang="zh-CN">
                <a:solidFill>
                  <a:srgbClr val="020103"/>
                </a:solidFill>
              </a:rPr>
              <a:t>b</a:t>
            </a:r>
            <a:r>
              <a:rPr lang="en-US" altLang="zh-CN">
                <a:solidFill>
                  <a:srgbClr val="020103"/>
                </a:solidFill>
              </a:rPr>
              <a:t>∈A</a:t>
            </a:r>
            <a:r>
              <a:rPr lang="zh-CN" altLang="en-US">
                <a:solidFill>
                  <a:srgbClr val="020103"/>
                </a:solidFill>
              </a:rPr>
              <a:t>，且满足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en-US" altLang="zh-CN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>
                <a:solidFill>
                  <a:srgbClr val="020103"/>
                </a:solidFill>
              </a:rPr>
              <a:t>b</a:t>
            </a:r>
            <a:r>
              <a:rPr lang="zh-CN" altLang="en-US">
                <a:solidFill>
                  <a:srgbClr val="020103"/>
                </a:solidFill>
              </a:rPr>
              <a:t>，则说在偏序关系下，</a:t>
            </a:r>
            <a:r>
              <a:rPr lang="en-US" altLang="zh-CN">
                <a:solidFill>
                  <a:srgbClr val="020103"/>
                </a:solidFill>
              </a:rPr>
              <a:t>a “</a:t>
            </a:r>
            <a:r>
              <a:rPr lang="zh-CN" altLang="en-US">
                <a:solidFill>
                  <a:srgbClr val="020103"/>
                </a:solidFill>
              </a:rPr>
              <a:t>小于等于” </a:t>
            </a:r>
            <a:r>
              <a:rPr lang="en-US" altLang="zh-CN">
                <a:solidFill>
                  <a:srgbClr val="020103"/>
                </a:solidFill>
              </a:rPr>
              <a:t>b</a:t>
            </a:r>
            <a:r>
              <a:rPr lang="zh-CN" altLang="en-US">
                <a:solidFill>
                  <a:srgbClr val="020103"/>
                </a:solidFill>
              </a:rPr>
              <a:t>，也说</a:t>
            </a:r>
            <a:r>
              <a:rPr lang="en-US" altLang="zh-CN">
                <a:solidFill>
                  <a:srgbClr val="020103"/>
                </a:solidFill>
              </a:rPr>
              <a:t>b“</a:t>
            </a:r>
            <a:r>
              <a:rPr lang="zh-CN" altLang="en-US">
                <a:solidFill>
                  <a:srgbClr val="020103"/>
                </a:solidFill>
              </a:rPr>
              <a:t>大于等于”</a:t>
            </a:r>
            <a:r>
              <a:rPr lang="en-US" altLang="zh-CN">
                <a:solidFill>
                  <a:srgbClr val="020103"/>
                </a:solidFill>
              </a:rPr>
              <a:t>a</a:t>
            </a:r>
            <a:r>
              <a:rPr lang="zh-CN" altLang="en-US">
                <a:solidFill>
                  <a:srgbClr val="020103"/>
                </a:solidFill>
              </a:rPr>
              <a:t>，这里的“小于等于”和“大于等于”是从大小关系中抽象出来的概念。</a:t>
            </a:r>
          </a:p>
        </p:txBody>
      </p:sp>
      <p:sp>
        <p:nvSpPr>
          <p:cNvPr id="263180" name="Rectangle 12"/>
          <p:cNvSpPr>
            <a:spLocks noChangeArrowheads="1"/>
          </p:cNvSpPr>
          <p:nvPr/>
        </p:nvSpPr>
        <p:spPr bwMode="auto">
          <a:xfrm>
            <a:off x="1187450" y="333375"/>
            <a:ext cx="4105275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一、序关系定义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60D416-08A7-4F54-A01C-866748C70DD8}" type="slidenum">
              <a:rPr lang="en-US" altLang="zh-CN"/>
              <a:pPr/>
              <a:t>116</a:t>
            </a:fld>
            <a:endParaRPr lang="en-US" altLang="zh-CN"/>
          </a:p>
        </p:txBody>
      </p:sp>
      <p:sp>
        <p:nvSpPr>
          <p:cNvPr id="264194" name="Rectangle 2"/>
          <p:cNvSpPr>
            <a:spLocks noChangeArrowheads="1"/>
          </p:cNvSpPr>
          <p:nvPr/>
        </p:nvSpPr>
        <p:spPr bwMode="auto">
          <a:xfrm>
            <a:off x="719138" y="1412875"/>
            <a:ext cx="7669212" cy="100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 smtClean="0">
                <a:solidFill>
                  <a:schemeClr val="hlink"/>
                </a:solidFill>
              </a:rPr>
              <a:t>例</a:t>
            </a:r>
            <a:r>
              <a:rPr lang="en-US" altLang="zh-CN" dirty="0" smtClean="0">
                <a:solidFill>
                  <a:schemeClr val="hlink"/>
                </a:solidFill>
              </a:rPr>
              <a:t>1</a:t>
            </a:r>
            <a:r>
              <a:rPr lang="zh-CN" altLang="en-US" dirty="0" smtClean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rgbClr val="020103"/>
                </a:solidFill>
              </a:rPr>
              <a:t>给定集合</a:t>
            </a:r>
            <a:r>
              <a:rPr lang="en-US" altLang="zh-CN" dirty="0">
                <a:solidFill>
                  <a:srgbClr val="020103"/>
                </a:solidFill>
              </a:rPr>
              <a:t>A={2, 3, 6, 8}</a:t>
            </a:r>
            <a:r>
              <a:rPr lang="zh-CN" altLang="en-US" dirty="0">
                <a:solidFill>
                  <a:srgbClr val="020103"/>
                </a:solidFill>
              </a:rPr>
              <a:t>，令“</a:t>
            </a:r>
            <a:r>
              <a:rPr lang="zh-CN" altLang="en-US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 dirty="0">
                <a:solidFill>
                  <a:srgbClr val="020103"/>
                </a:solidFill>
              </a:rPr>
              <a:t>”</a:t>
            </a:r>
            <a:r>
              <a:rPr lang="en-US" altLang="zh-CN" dirty="0">
                <a:solidFill>
                  <a:srgbClr val="020103"/>
                </a:solidFill>
              </a:rPr>
              <a:t>={&lt;</a:t>
            </a:r>
            <a:r>
              <a:rPr lang="en-US" altLang="zh-CN" dirty="0" err="1">
                <a:solidFill>
                  <a:srgbClr val="020103"/>
                </a:solidFill>
              </a:rPr>
              <a:t>x,y</a:t>
            </a:r>
            <a:r>
              <a:rPr lang="en-US" altLang="zh-CN" dirty="0">
                <a:solidFill>
                  <a:srgbClr val="020103"/>
                </a:solidFill>
              </a:rPr>
              <a:t>&gt;|x</a:t>
            </a:r>
            <a:r>
              <a:rPr lang="zh-CN" altLang="en-US" dirty="0">
                <a:solidFill>
                  <a:srgbClr val="020103"/>
                </a:solidFill>
              </a:rPr>
              <a:t>整除</a:t>
            </a:r>
            <a:r>
              <a:rPr lang="en-US" altLang="zh-CN" dirty="0">
                <a:solidFill>
                  <a:srgbClr val="020103"/>
                </a:solidFill>
              </a:rPr>
              <a:t>y}</a:t>
            </a:r>
            <a:r>
              <a:rPr lang="zh-CN" altLang="en-US" dirty="0">
                <a:solidFill>
                  <a:srgbClr val="020103"/>
                </a:solidFill>
              </a:rPr>
              <a:t>，验证“</a:t>
            </a:r>
            <a:r>
              <a:rPr lang="zh-CN" altLang="en-US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 dirty="0">
                <a:solidFill>
                  <a:srgbClr val="020103"/>
                </a:solidFill>
              </a:rPr>
              <a:t>”是偏序关系。</a:t>
            </a:r>
          </a:p>
        </p:txBody>
      </p:sp>
      <p:grpSp>
        <p:nvGrpSpPr>
          <p:cNvPr id="264195" name="Group 3"/>
          <p:cNvGrpSpPr>
            <a:grpSpLocks/>
          </p:cNvGrpSpPr>
          <p:nvPr/>
        </p:nvGrpSpPr>
        <p:grpSpPr bwMode="auto">
          <a:xfrm>
            <a:off x="1173163" y="3284538"/>
            <a:ext cx="5791200" cy="1974850"/>
            <a:chOff x="240" y="1415"/>
            <a:chExt cx="3648" cy="1244"/>
          </a:xfrm>
        </p:grpSpPr>
        <p:graphicFrame>
          <p:nvGraphicFramePr>
            <p:cNvPr id="264196" name="Object 4"/>
            <p:cNvGraphicFramePr>
              <a:graphicFrameLocks noChangeAspect="1"/>
            </p:cNvGraphicFramePr>
            <p:nvPr/>
          </p:nvGraphicFramePr>
          <p:xfrm>
            <a:off x="240" y="1415"/>
            <a:ext cx="1746" cy="1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4303" name="Equation" r:id="rId3" imgW="1282680" imgH="914400" progId="Equation.DSMT4">
                    <p:embed/>
                  </p:oleObj>
                </mc:Choice>
                <mc:Fallback>
                  <p:oleObj name="Equation" r:id="rId3" imgW="1282680" imgH="9144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415"/>
                          <a:ext cx="1746" cy="1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4197" name="Arc 5"/>
            <p:cNvSpPr>
              <a:spLocks/>
            </p:cNvSpPr>
            <p:nvPr/>
          </p:nvSpPr>
          <p:spPr bwMode="auto">
            <a:xfrm flipH="1">
              <a:off x="2880" y="1667"/>
              <a:ext cx="192" cy="232"/>
            </a:xfrm>
            <a:custGeom>
              <a:avLst/>
              <a:gdLst>
                <a:gd name="G0" fmla="+- 20391 0 0"/>
                <a:gd name="G1" fmla="+- 21600 0 0"/>
                <a:gd name="G2" fmla="+- 21600 0 0"/>
                <a:gd name="T0" fmla="*/ 3024 w 41991"/>
                <a:gd name="T1" fmla="*/ 8757 h 43200"/>
                <a:gd name="T2" fmla="*/ 0 w 41991"/>
                <a:gd name="T3" fmla="*/ 28725 h 43200"/>
                <a:gd name="T4" fmla="*/ 20391 w 4199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91" h="43200" fill="none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</a:path>
                <a:path w="41991" h="43200" stroke="0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  <a:lnTo>
                    <a:pt x="20391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  <a:buClrTx/>
                <a:buFontTx/>
                <a:buNone/>
              </a:pPr>
              <a:r>
                <a:rPr lang="en-US" altLang="zh-CN" b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64198" name="Arc 6"/>
            <p:cNvSpPr>
              <a:spLocks/>
            </p:cNvSpPr>
            <p:nvPr/>
          </p:nvSpPr>
          <p:spPr bwMode="auto">
            <a:xfrm flipH="1">
              <a:off x="3696" y="2291"/>
              <a:ext cx="192" cy="232"/>
            </a:xfrm>
            <a:custGeom>
              <a:avLst/>
              <a:gdLst>
                <a:gd name="G0" fmla="+- 20391 0 0"/>
                <a:gd name="G1" fmla="+- 21600 0 0"/>
                <a:gd name="G2" fmla="+- 21600 0 0"/>
                <a:gd name="T0" fmla="*/ 3024 w 41991"/>
                <a:gd name="T1" fmla="*/ 8757 h 43200"/>
                <a:gd name="T2" fmla="*/ 0 w 41991"/>
                <a:gd name="T3" fmla="*/ 28725 h 43200"/>
                <a:gd name="T4" fmla="*/ 20391 w 4199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91" h="43200" fill="none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</a:path>
                <a:path w="41991" h="43200" stroke="0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  <a:lnTo>
                    <a:pt x="20391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  <a:buClrTx/>
                <a:buFontTx/>
                <a:buNone/>
              </a:pPr>
              <a:r>
                <a:rPr lang="en-US" altLang="zh-CN" b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64199" name="Arc 7"/>
            <p:cNvSpPr>
              <a:spLocks/>
            </p:cNvSpPr>
            <p:nvPr/>
          </p:nvSpPr>
          <p:spPr bwMode="auto">
            <a:xfrm flipH="1">
              <a:off x="2880" y="2291"/>
              <a:ext cx="192" cy="232"/>
            </a:xfrm>
            <a:custGeom>
              <a:avLst/>
              <a:gdLst>
                <a:gd name="G0" fmla="+- 20391 0 0"/>
                <a:gd name="G1" fmla="+- 21600 0 0"/>
                <a:gd name="G2" fmla="+- 21600 0 0"/>
                <a:gd name="T0" fmla="*/ 3024 w 41991"/>
                <a:gd name="T1" fmla="*/ 8757 h 43200"/>
                <a:gd name="T2" fmla="*/ 0 w 41991"/>
                <a:gd name="T3" fmla="*/ 28725 h 43200"/>
                <a:gd name="T4" fmla="*/ 20391 w 4199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91" h="43200" fill="none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</a:path>
                <a:path w="41991" h="43200" stroke="0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  <a:lnTo>
                    <a:pt x="20391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  <a:buClrTx/>
                <a:buFontTx/>
                <a:buNone/>
              </a:pPr>
              <a:r>
                <a:rPr lang="en-US" altLang="zh-CN" b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4200" name="Arc 8"/>
            <p:cNvSpPr>
              <a:spLocks/>
            </p:cNvSpPr>
            <p:nvPr/>
          </p:nvSpPr>
          <p:spPr bwMode="auto">
            <a:xfrm flipH="1">
              <a:off x="3648" y="1675"/>
              <a:ext cx="192" cy="232"/>
            </a:xfrm>
            <a:custGeom>
              <a:avLst/>
              <a:gdLst>
                <a:gd name="G0" fmla="+- 20391 0 0"/>
                <a:gd name="G1" fmla="+- 21600 0 0"/>
                <a:gd name="G2" fmla="+- 21600 0 0"/>
                <a:gd name="T0" fmla="*/ 3024 w 41991"/>
                <a:gd name="T1" fmla="*/ 8757 h 43200"/>
                <a:gd name="T2" fmla="*/ 0 w 41991"/>
                <a:gd name="T3" fmla="*/ 28725 h 43200"/>
                <a:gd name="T4" fmla="*/ 20391 w 41991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91" h="43200" fill="none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</a:path>
                <a:path w="41991" h="43200" stroke="0" extrusionOk="0">
                  <a:moveTo>
                    <a:pt x="3023" y="8756"/>
                  </a:moveTo>
                  <a:cubicBezTo>
                    <a:pt x="7096" y="3249"/>
                    <a:pt x="13540" y="-1"/>
                    <a:pt x="20391" y="0"/>
                  </a:cubicBezTo>
                  <a:cubicBezTo>
                    <a:pt x="32320" y="0"/>
                    <a:pt x="41991" y="9670"/>
                    <a:pt x="41991" y="21600"/>
                  </a:cubicBezTo>
                  <a:cubicBezTo>
                    <a:pt x="41991" y="33529"/>
                    <a:pt x="32320" y="43200"/>
                    <a:pt x="20391" y="43200"/>
                  </a:cubicBezTo>
                  <a:cubicBezTo>
                    <a:pt x="11208" y="43200"/>
                    <a:pt x="3029" y="37393"/>
                    <a:pt x="-1" y="28725"/>
                  </a:cubicBezTo>
                  <a:lnTo>
                    <a:pt x="20391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30000"/>
                </a:lnSpc>
                <a:buClrTx/>
                <a:buFontTx/>
                <a:buNone/>
              </a:pPr>
              <a:r>
                <a:rPr lang="en-US" altLang="zh-CN" b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64201" name="Line 9"/>
            <p:cNvSpPr>
              <a:spLocks noChangeShapeType="1"/>
            </p:cNvSpPr>
            <p:nvPr/>
          </p:nvSpPr>
          <p:spPr bwMode="auto">
            <a:xfrm>
              <a:off x="2976" y="1811"/>
              <a:ext cx="7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4202" name="Line 10"/>
            <p:cNvSpPr>
              <a:spLocks noChangeShapeType="1"/>
            </p:cNvSpPr>
            <p:nvPr/>
          </p:nvSpPr>
          <p:spPr bwMode="auto">
            <a:xfrm>
              <a:off x="3024" y="1787"/>
              <a:ext cx="720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4203" name="Line 11"/>
            <p:cNvSpPr>
              <a:spLocks noChangeShapeType="1"/>
            </p:cNvSpPr>
            <p:nvPr/>
          </p:nvSpPr>
          <p:spPr bwMode="auto">
            <a:xfrm>
              <a:off x="2976" y="2435"/>
              <a:ext cx="72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64206" name="Rectangle 14"/>
          <p:cNvSpPr>
            <a:spLocks noChangeArrowheads="1"/>
          </p:cNvSpPr>
          <p:nvPr/>
        </p:nvSpPr>
        <p:spPr bwMode="auto">
          <a:xfrm>
            <a:off x="719138" y="2478088"/>
            <a:ext cx="7316787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rgbClr val="020103"/>
                </a:solidFill>
              </a:rPr>
              <a:t>解：“</a:t>
            </a:r>
            <a:r>
              <a:rPr lang="zh-CN" altLang="en-US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>
                <a:solidFill>
                  <a:srgbClr val="020103"/>
                </a:solidFill>
              </a:rPr>
              <a:t>”</a:t>
            </a:r>
            <a:r>
              <a:rPr lang="en-US" altLang="zh-CN">
                <a:solidFill>
                  <a:srgbClr val="020103"/>
                </a:solidFill>
              </a:rPr>
              <a:t>={&lt;2,2&gt;,&lt;3,3&gt;,&lt;6,6&gt;,&lt;8,8&gt;,&lt;2,6&gt;,&lt;2,8&gt;,&lt;3,6&gt;}</a:t>
            </a:r>
            <a:r>
              <a:rPr lang="en-US" altLang="zh-CN" b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06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34618B-A6E5-449D-9ECD-ED108A5B3688}" type="slidenum">
              <a:rPr lang="en-US" altLang="zh-CN"/>
              <a:pPr/>
              <a:t>117</a:t>
            </a:fld>
            <a:endParaRPr lang="en-US" altLang="zh-CN"/>
          </a:p>
        </p:txBody>
      </p:sp>
      <p:sp>
        <p:nvSpPr>
          <p:cNvPr id="265218" name="Rectangle 2"/>
          <p:cNvSpPr>
            <a:spLocks noChangeArrowheads="1"/>
          </p:cNvSpPr>
          <p:nvPr/>
        </p:nvSpPr>
        <p:spPr bwMode="auto">
          <a:xfrm>
            <a:off x="539750" y="1341438"/>
            <a:ext cx="7812088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zh-CN" altLang="en-US" dirty="0">
                <a:solidFill>
                  <a:schemeClr val="hlink"/>
                </a:solidFill>
              </a:rPr>
              <a:t>、盖住关系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3-12.2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rgbClr val="020103"/>
                </a:solidFill>
              </a:rPr>
              <a:t>在偏序集合</a:t>
            </a:r>
            <a:r>
              <a:rPr lang="en-US" altLang="zh-CN" dirty="0">
                <a:solidFill>
                  <a:srgbClr val="020103"/>
                </a:solidFill>
              </a:rPr>
              <a:t>&lt;A,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>
                <a:solidFill>
                  <a:srgbClr val="020103"/>
                </a:solidFill>
              </a:rPr>
              <a:t>&gt;</a:t>
            </a:r>
            <a:r>
              <a:rPr lang="zh-CN" altLang="en-US" dirty="0">
                <a:solidFill>
                  <a:srgbClr val="020103"/>
                </a:solidFill>
              </a:rPr>
              <a:t>中，如果</a:t>
            </a:r>
            <a:r>
              <a:rPr lang="en-US" altLang="zh-CN" dirty="0">
                <a:solidFill>
                  <a:srgbClr val="020103"/>
                </a:solidFill>
              </a:rPr>
              <a:t>x, </a:t>
            </a:r>
            <a:r>
              <a:rPr lang="en-US" altLang="zh-CN" dirty="0" err="1">
                <a:solidFill>
                  <a:srgbClr val="020103"/>
                </a:solidFill>
              </a:rPr>
              <a:t>y∈A</a:t>
            </a:r>
            <a:r>
              <a:rPr lang="en-US" altLang="zh-CN" dirty="0">
                <a:solidFill>
                  <a:srgbClr val="020103"/>
                </a:solidFill>
              </a:rPr>
              <a:t>, </a:t>
            </a:r>
            <a:r>
              <a:rPr lang="en-US" altLang="zh-CN" dirty="0" err="1">
                <a:solidFill>
                  <a:srgbClr val="020103"/>
                </a:solidFill>
              </a:rPr>
              <a:t>x</a:t>
            </a:r>
            <a:r>
              <a:rPr lang="en-US" altLang="zh-CN" dirty="0" err="1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 err="1">
                <a:solidFill>
                  <a:srgbClr val="020103"/>
                </a:solidFill>
              </a:rPr>
              <a:t>y</a:t>
            </a:r>
            <a:r>
              <a:rPr lang="en-US" altLang="zh-CN" dirty="0">
                <a:solidFill>
                  <a:srgbClr val="020103"/>
                </a:solidFill>
              </a:rPr>
              <a:t>, </a:t>
            </a:r>
            <a:r>
              <a:rPr lang="en-US" altLang="zh-CN" dirty="0" err="1">
                <a:solidFill>
                  <a:srgbClr val="020103"/>
                </a:solidFill>
              </a:rPr>
              <a:t>x≠y</a:t>
            </a:r>
            <a:r>
              <a:rPr lang="zh-CN" altLang="en-US" dirty="0">
                <a:solidFill>
                  <a:srgbClr val="020103"/>
                </a:solidFill>
              </a:rPr>
              <a:t>，且没有其它元素</a:t>
            </a:r>
            <a:r>
              <a:rPr lang="en-US" altLang="zh-CN" dirty="0">
                <a:solidFill>
                  <a:srgbClr val="020103"/>
                </a:solidFill>
              </a:rPr>
              <a:t>z</a:t>
            </a:r>
            <a:r>
              <a:rPr lang="zh-CN" altLang="en-US" dirty="0">
                <a:solidFill>
                  <a:srgbClr val="020103"/>
                </a:solidFill>
              </a:rPr>
              <a:t>满足</a:t>
            </a:r>
            <a:r>
              <a:rPr lang="en-US" altLang="zh-CN" dirty="0" err="1">
                <a:solidFill>
                  <a:srgbClr val="020103"/>
                </a:solidFill>
              </a:rPr>
              <a:t>x</a:t>
            </a:r>
            <a:r>
              <a:rPr lang="en-US" altLang="zh-CN" dirty="0" err="1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 err="1">
                <a:solidFill>
                  <a:srgbClr val="020103"/>
                </a:solidFill>
              </a:rPr>
              <a:t>z</a:t>
            </a:r>
            <a:r>
              <a:rPr lang="en-US" altLang="zh-CN" dirty="0">
                <a:solidFill>
                  <a:srgbClr val="020103"/>
                </a:solidFill>
              </a:rPr>
              <a:t>, </a:t>
            </a:r>
            <a:r>
              <a:rPr lang="en-US" altLang="zh-CN" dirty="0" err="1">
                <a:solidFill>
                  <a:srgbClr val="020103"/>
                </a:solidFill>
              </a:rPr>
              <a:t>z</a:t>
            </a:r>
            <a:r>
              <a:rPr lang="en-US" altLang="zh-CN" dirty="0" err="1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 err="1">
                <a:solidFill>
                  <a:srgbClr val="020103"/>
                </a:solidFill>
              </a:rPr>
              <a:t>y</a:t>
            </a:r>
            <a:r>
              <a:rPr lang="zh-CN" altLang="en-US" dirty="0">
                <a:solidFill>
                  <a:srgbClr val="020103"/>
                </a:solidFill>
              </a:rPr>
              <a:t>，则称元素</a:t>
            </a:r>
            <a:r>
              <a:rPr lang="en-US" altLang="zh-CN" dirty="0">
                <a:solidFill>
                  <a:srgbClr val="020103"/>
                </a:solidFill>
              </a:rPr>
              <a:t>y</a:t>
            </a:r>
            <a:r>
              <a:rPr lang="zh-CN" altLang="en-US" dirty="0">
                <a:solidFill>
                  <a:srgbClr val="020103"/>
                </a:solidFill>
              </a:rPr>
              <a:t>盖住元素</a:t>
            </a:r>
            <a:r>
              <a:rPr lang="en-US" altLang="zh-CN" dirty="0">
                <a:solidFill>
                  <a:srgbClr val="020103"/>
                </a:solidFill>
              </a:rPr>
              <a:t>x</a:t>
            </a:r>
            <a:r>
              <a:rPr lang="zh-CN" altLang="en-US" dirty="0">
                <a:solidFill>
                  <a:srgbClr val="020103"/>
                </a:solidFill>
              </a:rPr>
              <a:t>，记为</a:t>
            </a:r>
            <a:r>
              <a:rPr lang="en-US" altLang="zh-CN" dirty="0">
                <a:solidFill>
                  <a:srgbClr val="020103"/>
                </a:solidFill>
              </a:rPr>
              <a:t>COVA={&lt;</a:t>
            </a:r>
            <a:r>
              <a:rPr lang="en-US" altLang="zh-CN" dirty="0" err="1">
                <a:solidFill>
                  <a:srgbClr val="020103"/>
                </a:solidFill>
              </a:rPr>
              <a:t>x,y</a:t>
            </a:r>
            <a:r>
              <a:rPr lang="en-US" altLang="zh-CN" dirty="0">
                <a:solidFill>
                  <a:srgbClr val="020103"/>
                </a:solidFill>
              </a:rPr>
              <a:t>&gt;|</a:t>
            </a:r>
            <a:r>
              <a:rPr lang="en-US" altLang="zh-CN" dirty="0" err="1">
                <a:solidFill>
                  <a:srgbClr val="020103"/>
                </a:solidFill>
              </a:rPr>
              <a:t>x,y∈A</a:t>
            </a:r>
            <a:r>
              <a:rPr lang="zh-CN" altLang="en-US" dirty="0">
                <a:solidFill>
                  <a:srgbClr val="020103"/>
                </a:solidFill>
              </a:rPr>
              <a:t>，</a:t>
            </a:r>
            <a:r>
              <a:rPr lang="en-US" altLang="zh-CN" dirty="0">
                <a:solidFill>
                  <a:srgbClr val="020103"/>
                </a:solidFill>
              </a:rPr>
              <a:t>y</a:t>
            </a:r>
            <a:r>
              <a:rPr lang="zh-CN" altLang="en-US" dirty="0">
                <a:solidFill>
                  <a:srgbClr val="020103"/>
                </a:solidFill>
              </a:rPr>
              <a:t>盖住</a:t>
            </a:r>
            <a:r>
              <a:rPr lang="en-US" altLang="zh-CN" dirty="0">
                <a:solidFill>
                  <a:srgbClr val="020103"/>
                </a:solidFill>
              </a:rPr>
              <a:t>x}</a:t>
            </a:r>
            <a:r>
              <a:rPr lang="zh-CN" altLang="en-US" dirty="0">
                <a:solidFill>
                  <a:srgbClr val="020103"/>
                </a:solidFill>
              </a:rPr>
              <a:t>。</a:t>
            </a:r>
          </a:p>
        </p:txBody>
      </p:sp>
      <p:sp>
        <p:nvSpPr>
          <p:cNvPr id="265219" name="Text Box 3"/>
          <p:cNvSpPr txBox="1">
            <a:spLocks noChangeArrowheads="1"/>
          </p:cNvSpPr>
          <p:nvPr/>
        </p:nvSpPr>
        <p:spPr bwMode="auto">
          <a:xfrm>
            <a:off x="539750" y="3284538"/>
            <a:ext cx="8064500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例</a:t>
            </a:r>
            <a:r>
              <a:rPr kumimoji="0" lang="en-US" altLang="zh-CN">
                <a:solidFill>
                  <a:schemeClr val="hlink"/>
                </a:solidFill>
              </a:rPr>
              <a:t>3</a:t>
            </a:r>
            <a:r>
              <a:rPr kumimoji="0" lang="zh-CN" altLang="en-US">
                <a:solidFill>
                  <a:schemeClr val="hlink"/>
                </a:solidFill>
              </a:rPr>
              <a:t>：</a:t>
            </a:r>
            <a:r>
              <a:rPr kumimoji="0" lang="en-US" altLang="zh-CN">
                <a:solidFill>
                  <a:srgbClr val="020103"/>
                </a:solidFill>
              </a:rPr>
              <a:t>N</a:t>
            </a:r>
            <a:r>
              <a:rPr kumimoji="0" lang="zh-CN" altLang="en-US">
                <a:solidFill>
                  <a:srgbClr val="020103"/>
                </a:solidFill>
              </a:rPr>
              <a:t>为自然数集，</a:t>
            </a:r>
            <a:r>
              <a:rPr lang="zh-CN" altLang="en-US">
                <a:solidFill>
                  <a:srgbClr val="020103"/>
                </a:solidFill>
              </a:rPr>
              <a:t>≤是偏序关系，那么在偏序集</a:t>
            </a:r>
            <a:r>
              <a:rPr lang="en-US" altLang="zh-CN">
                <a:solidFill>
                  <a:srgbClr val="020103"/>
                </a:solidFill>
              </a:rPr>
              <a:t>&lt;N,≤&gt;</a:t>
            </a:r>
            <a:r>
              <a:rPr lang="zh-CN" altLang="en-US">
                <a:solidFill>
                  <a:srgbClr val="020103"/>
                </a:solidFill>
              </a:rPr>
              <a:t>中，判断下列元素间是否存在盖住关系。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和</a:t>
            </a:r>
            <a:r>
              <a:rPr lang="en-US" altLang="zh-CN">
                <a:solidFill>
                  <a:srgbClr val="020103"/>
                </a:solidFill>
              </a:rPr>
              <a:t>2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3</a:t>
            </a:r>
            <a:r>
              <a:rPr lang="zh-CN" altLang="en-US">
                <a:solidFill>
                  <a:srgbClr val="020103"/>
                </a:solidFill>
              </a:rPr>
              <a:t>和</a:t>
            </a:r>
            <a:r>
              <a:rPr lang="en-US" altLang="zh-CN">
                <a:solidFill>
                  <a:srgbClr val="020103"/>
                </a:solidFill>
              </a:rPr>
              <a:t>4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5</a:t>
            </a:r>
            <a:r>
              <a:rPr lang="zh-CN" altLang="en-US">
                <a:solidFill>
                  <a:srgbClr val="020103"/>
                </a:solidFill>
              </a:rPr>
              <a:t>和</a:t>
            </a:r>
            <a:r>
              <a:rPr lang="en-US" altLang="zh-CN">
                <a:solidFill>
                  <a:srgbClr val="020103"/>
                </a:solidFill>
              </a:rPr>
              <a:t>8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10</a:t>
            </a:r>
            <a:r>
              <a:rPr lang="zh-CN" altLang="en-US">
                <a:solidFill>
                  <a:srgbClr val="020103"/>
                </a:solidFill>
              </a:rPr>
              <a:t>和</a:t>
            </a:r>
            <a:r>
              <a:rPr lang="en-US" altLang="zh-CN">
                <a:solidFill>
                  <a:srgbClr val="020103"/>
                </a:solidFill>
              </a:rPr>
              <a:t>9</a:t>
            </a:r>
            <a:r>
              <a:rPr lang="zh-CN" altLang="en-US">
                <a:solidFill>
                  <a:srgbClr val="020103"/>
                </a:solidFill>
              </a:rPr>
              <a:t>，</a:t>
            </a:r>
            <a:r>
              <a:rPr lang="en-US" altLang="zh-CN">
                <a:solidFill>
                  <a:srgbClr val="020103"/>
                </a:solidFill>
              </a:rPr>
              <a:t>10</a:t>
            </a:r>
            <a:r>
              <a:rPr lang="zh-CN" altLang="en-US">
                <a:solidFill>
                  <a:srgbClr val="020103"/>
                </a:solidFill>
              </a:rPr>
              <a:t>和</a:t>
            </a:r>
            <a:r>
              <a:rPr lang="en-US" altLang="zh-CN">
                <a:solidFill>
                  <a:srgbClr val="020103"/>
                </a:solidFill>
              </a:rPr>
              <a:t>2</a:t>
            </a:r>
          </a:p>
        </p:txBody>
      </p:sp>
      <p:sp>
        <p:nvSpPr>
          <p:cNvPr id="265225" name="Rectangle 9"/>
          <p:cNvSpPr>
            <a:spLocks noChangeArrowheads="1"/>
          </p:cNvSpPr>
          <p:nvPr/>
        </p:nvSpPr>
        <p:spPr bwMode="auto">
          <a:xfrm>
            <a:off x="1187450" y="333375"/>
            <a:ext cx="3671888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二、相关概念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B539DF-1067-4CAB-B413-7602BA201F24}" type="slidenum">
              <a:rPr lang="en-US" altLang="zh-CN"/>
              <a:pPr/>
              <a:t>118</a:t>
            </a:fld>
            <a:endParaRPr lang="en-US" altLang="zh-CN"/>
          </a:p>
        </p:txBody>
      </p:sp>
      <p:sp>
        <p:nvSpPr>
          <p:cNvPr id="521218" name="Rectangle 2"/>
          <p:cNvSpPr>
            <a:spLocks noChangeArrowheads="1"/>
          </p:cNvSpPr>
          <p:nvPr/>
        </p:nvSpPr>
        <p:spPr bwMode="auto">
          <a:xfrm>
            <a:off x="611188" y="1341438"/>
            <a:ext cx="7740650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4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是正整数</a:t>
            </a:r>
            <a:r>
              <a:rPr lang="en-US" altLang="zh-CN"/>
              <a:t>m=6</a:t>
            </a:r>
            <a:r>
              <a:rPr lang="zh-CN" altLang="en-US"/>
              <a:t>的因子的集合，并设“</a:t>
            </a:r>
            <a:r>
              <a:rPr lang="zh-CN" altLang="en-US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/>
              <a:t>”为整除关系，求</a:t>
            </a:r>
            <a:r>
              <a:rPr lang="en-US" altLang="zh-CN"/>
              <a:t>COV A</a:t>
            </a:r>
            <a:r>
              <a:rPr lang="zh-CN" altLang="en-US"/>
              <a:t>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解：</a:t>
            </a:r>
            <a:r>
              <a:rPr lang="en-US" altLang="zh-CN"/>
              <a:t>m=6</a:t>
            </a:r>
            <a:r>
              <a:rPr lang="zh-CN" altLang="en-US"/>
              <a:t>，其因子集合</a:t>
            </a:r>
            <a:r>
              <a:rPr lang="en-US" altLang="zh-CN"/>
              <a:t>A={1, 2, 3, 6}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“</a:t>
            </a:r>
            <a:r>
              <a:rPr lang="en-US" altLang="zh-CN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/>
              <a:t>”={&lt;1,2&gt;,&lt;1,3&gt;,&lt;1,6&gt;,&lt;2,6&gt;,&lt;3,6&gt;,&lt;1,1&gt;,&lt;2,2&gt;,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              &lt;3,3&gt;,&lt;6,6&gt;}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COV A={&lt;1,2&gt;, &lt;1,3&gt;, &lt;2,6&gt;, &lt;3,6&gt;}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4B0C86-1586-4797-9DE0-17250DF247CB}" type="slidenum">
              <a:rPr lang="en-US" altLang="zh-CN"/>
              <a:pPr/>
              <a:t>119</a:t>
            </a:fld>
            <a:endParaRPr lang="en-US" altLang="zh-CN"/>
          </a:p>
        </p:txBody>
      </p:sp>
      <p:sp>
        <p:nvSpPr>
          <p:cNvPr id="439300" name="Text Box 4"/>
          <p:cNvSpPr txBox="1">
            <a:spLocks noChangeArrowheads="1"/>
          </p:cNvSpPr>
          <p:nvPr/>
        </p:nvSpPr>
        <p:spPr bwMode="auto">
          <a:xfrm>
            <a:off x="395288" y="1268413"/>
            <a:ext cx="8424862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/>
              <a:t>盖住也是一种关系，是从偏序集合中派生出来的一种关系；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/>
              <a:t>对于给定的偏序集合，它所形成的盖住关系是唯一的；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/>
              <a:t>利用唯一性，可简化偏序关系图成哈斯图。</a:t>
            </a:r>
          </a:p>
        </p:txBody>
      </p:sp>
      <p:sp>
        <p:nvSpPr>
          <p:cNvPr id="439301" name="Text Box 5"/>
          <p:cNvSpPr txBox="1">
            <a:spLocks noChangeArrowheads="1"/>
          </p:cNvSpPr>
          <p:nvPr/>
        </p:nvSpPr>
        <p:spPr bwMode="auto">
          <a:xfrm>
            <a:off x="431800" y="2781300"/>
            <a:ext cx="8243888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zh-CN" altLang="en-US">
                <a:solidFill>
                  <a:schemeClr val="hlink"/>
                </a:solidFill>
              </a:rPr>
              <a:t>哈斯图的画法：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/>
              <a:t>(1)</a:t>
            </a:r>
            <a:r>
              <a:rPr kumimoji="0" lang="zh-CN" altLang="en-US"/>
              <a:t>用小圆圈代表元素；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zh-CN"/>
              <a:t>(2)</a:t>
            </a:r>
            <a:r>
              <a:rPr kumimoji="0" lang="zh-CN" altLang="en-US"/>
              <a:t>若</a:t>
            </a:r>
            <a:r>
              <a:rPr kumimoji="0" lang="en-US" altLang="zh-CN"/>
              <a:t>x</a:t>
            </a:r>
            <a:r>
              <a:rPr lang="en-US" altLang="zh-CN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/>
              <a:t>y</a:t>
            </a:r>
            <a:r>
              <a:rPr lang="zh-CN" altLang="en-US"/>
              <a:t>，且</a:t>
            </a:r>
            <a:r>
              <a:rPr lang="en-US" altLang="zh-CN"/>
              <a:t>x≠y</a:t>
            </a:r>
            <a:r>
              <a:rPr lang="zh-CN" altLang="en-US"/>
              <a:t>，则将代表</a:t>
            </a:r>
            <a:r>
              <a:rPr lang="en-US" altLang="zh-CN"/>
              <a:t>y</a:t>
            </a:r>
            <a:r>
              <a:rPr lang="zh-CN" altLang="en-US"/>
              <a:t>的小圆圈画在代表</a:t>
            </a:r>
            <a:r>
              <a:rPr lang="en-US" altLang="zh-CN"/>
              <a:t>x</a:t>
            </a:r>
            <a:r>
              <a:rPr lang="zh-CN" altLang="en-US"/>
              <a:t>的小圆圈之上； 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(3)</a:t>
            </a:r>
            <a:r>
              <a:rPr lang="zh-CN" altLang="en-US"/>
              <a:t>若</a:t>
            </a:r>
            <a:r>
              <a:rPr lang="en-US" altLang="zh-CN"/>
              <a:t>&lt;x,y&gt;∈COV A</a:t>
            </a:r>
            <a:r>
              <a:rPr lang="zh-CN" altLang="en-US"/>
              <a:t>，则在</a:t>
            </a:r>
            <a:r>
              <a:rPr lang="en-US" altLang="zh-CN"/>
              <a:t>x</a:t>
            </a:r>
            <a:r>
              <a:rPr lang="zh-CN" altLang="en-US"/>
              <a:t>与</a:t>
            </a:r>
            <a:r>
              <a:rPr lang="en-US" altLang="zh-CN"/>
              <a:t>y</a:t>
            </a:r>
            <a:r>
              <a:rPr lang="zh-CN" altLang="en-US"/>
              <a:t>之间用直线连接。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02714-1426-49C5-97E0-125A6A3ABDC4}" type="slidenum">
              <a:rPr lang="en-US" altLang="zh-CN"/>
              <a:pPr/>
              <a:t>120</a:t>
            </a:fld>
            <a:endParaRPr lang="en-US" altLang="zh-CN"/>
          </a:p>
        </p:txBody>
      </p:sp>
      <p:pic>
        <p:nvPicPr>
          <p:cNvPr id="442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4076700"/>
            <a:ext cx="28956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2371" name="Rectangle 3"/>
          <p:cNvSpPr>
            <a:spLocks noChangeArrowheads="1"/>
          </p:cNvSpPr>
          <p:nvPr/>
        </p:nvSpPr>
        <p:spPr bwMode="auto">
          <a:xfrm>
            <a:off x="395288" y="1341438"/>
            <a:ext cx="8065144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5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>
                <a:solidFill>
                  <a:schemeClr val="tx1"/>
                </a:solidFill>
              </a:rPr>
              <a:t>集合</a:t>
            </a:r>
            <a:r>
              <a:rPr lang="en-US" altLang="zh-CN" dirty="0">
                <a:solidFill>
                  <a:schemeClr val="tx1"/>
                </a:solidFill>
              </a:rPr>
              <a:t>A={1, 2, 3, 4, 6, 12}</a:t>
            </a:r>
            <a:r>
              <a:rPr lang="zh-CN" altLang="en-US" dirty="0">
                <a:solidFill>
                  <a:schemeClr val="tx1"/>
                </a:solidFill>
              </a:rPr>
              <a:t>上关系“</a:t>
            </a:r>
            <a:r>
              <a:rPr lang="zh-CN" altLang="en-US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 dirty="0">
                <a:solidFill>
                  <a:schemeClr val="tx1"/>
                </a:solidFill>
              </a:rPr>
              <a:t>”的哈斯图。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</a:rPr>
              <a:t>“</a:t>
            </a:r>
            <a:r>
              <a:rPr lang="zh-CN" altLang="en-US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 dirty="0">
                <a:solidFill>
                  <a:schemeClr val="tx1"/>
                </a:solidFill>
              </a:rPr>
              <a:t>”</a:t>
            </a:r>
            <a:r>
              <a:rPr lang="en-US" altLang="zh-CN" dirty="0">
                <a:solidFill>
                  <a:schemeClr val="tx1"/>
                </a:solidFill>
              </a:rPr>
              <a:t>={&lt;1,2&gt;,&lt;1,3&gt;,&lt;1,4&gt;,&lt;1,6&gt;,&lt;1,12&gt;,&lt;2,4&gt;,&lt;2,6&gt;,&lt;2,12&gt;, </a:t>
            </a:r>
            <a:r>
              <a:rPr lang="en-US" altLang="zh-CN" dirty="0" smtClean="0">
                <a:solidFill>
                  <a:schemeClr val="tx1"/>
                </a:solidFill>
              </a:rPr>
              <a:t>&lt;3,6</a:t>
            </a:r>
            <a:r>
              <a:rPr lang="en-US" altLang="zh-CN" dirty="0">
                <a:solidFill>
                  <a:schemeClr val="tx1"/>
                </a:solidFill>
              </a:rPr>
              <a:t>&gt;,&lt;3,12&gt;,&lt;4,12&gt;,&lt;6,12&gt;,&lt;1,1&gt;,&lt;2,2&gt;,&lt;3,3&gt;,&lt;4,4&gt;,&lt;6,6</a:t>
            </a:r>
            <a:r>
              <a:rPr lang="en-US" altLang="zh-CN" dirty="0" smtClean="0">
                <a:solidFill>
                  <a:schemeClr val="tx1"/>
                </a:solidFill>
              </a:rPr>
              <a:t>&gt;, &lt;</a:t>
            </a:r>
            <a:r>
              <a:rPr lang="en-US" altLang="zh-CN" dirty="0">
                <a:solidFill>
                  <a:schemeClr val="tx1"/>
                </a:solidFill>
              </a:rPr>
              <a:t>12,12&gt;}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COV A={&lt;1,2&gt;,&lt;1,3&gt;,&lt;2,4&gt;,&lt;2,6&gt;,&lt;3,6&gt;,&lt;4,12&gt;,&lt;6,12&gt;}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6D573D-0F98-4FA8-BFDC-B08A882360F6}" type="slidenum">
              <a:rPr lang="en-US" altLang="zh-CN"/>
              <a:pPr/>
              <a:t>121</a:t>
            </a:fld>
            <a:endParaRPr lang="en-US" altLang="zh-CN"/>
          </a:p>
        </p:txBody>
      </p:sp>
      <p:sp>
        <p:nvSpPr>
          <p:cNvPr id="267266" name="Rectangle 2"/>
          <p:cNvSpPr>
            <a:spLocks noChangeArrowheads="1"/>
          </p:cNvSpPr>
          <p:nvPr/>
        </p:nvSpPr>
        <p:spPr bwMode="auto">
          <a:xfrm>
            <a:off x="574675" y="1268413"/>
            <a:ext cx="8083550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zh-CN" altLang="en-US" dirty="0">
                <a:solidFill>
                  <a:schemeClr val="hlink"/>
                </a:solidFill>
              </a:rPr>
              <a:t>、链和反链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3-12.3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设</a:t>
            </a:r>
            <a:r>
              <a:rPr lang="en-US" altLang="zh-CN" dirty="0"/>
              <a:t>&lt;A,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≼&gt;</a:t>
            </a:r>
            <a:r>
              <a:rPr lang="zh-CN" altLang="en-US" dirty="0"/>
              <a:t>是一个偏序集合，在</a:t>
            </a:r>
            <a:r>
              <a:rPr lang="en-US" altLang="zh-CN" dirty="0"/>
              <a:t>A</a:t>
            </a:r>
            <a:r>
              <a:rPr lang="zh-CN" altLang="en-US" dirty="0"/>
              <a:t>的一个子集中，如果每两个元素都是</a:t>
            </a:r>
            <a:r>
              <a:rPr lang="zh-CN" altLang="en-US" dirty="0">
                <a:solidFill>
                  <a:schemeClr val="hlink"/>
                </a:solidFill>
              </a:rPr>
              <a:t>有关系</a:t>
            </a:r>
            <a:r>
              <a:rPr lang="zh-CN" altLang="en-US" dirty="0"/>
              <a:t>的，则称这个子集为</a:t>
            </a:r>
            <a:r>
              <a:rPr lang="zh-CN" altLang="en-US" i="1" dirty="0">
                <a:solidFill>
                  <a:schemeClr val="hlink"/>
                </a:solidFill>
              </a:rPr>
              <a:t>链</a:t>
            </a:r>
            <a:r>
              <a:rPr lang="zh-CN" altLang="en-US" dirty="0"/>
              <a:t>。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在</a:t>
            </a:r>
            <a:r>
              <a:rPr lang="en-US" altLang="zh-CN" dirty="0"/>
              <a:t>A</a:t>
            </a:r>
            <a:r>
              <a:rPr lang="zh-CN" altLang="en-US" dirty="0"/>
              <a:t>的一个子集中，如果每两个元素都是</a:t>
            </a:r>
            <a:r>
              <a:rPr lang="zh-CN" altLang="en-US" dirty="0">
                <a:solidFill>
                  <a:schemeClr val="hlink"/>
                </a:solidFill>
              </a:rPr>
              <a:t>无关</a:t>
            </a:r>
            <a:r>
              <a:rPr lang="zh-CN" altLang="en-US" dirty="0"/>
              <a:t>的，则称这个子集为</a:t>
            </a:r>
            <a:r>
              <a:rPr lang="zh-CN" altLang="en-US" i="1" dirty="0">
                <a:solidFill>
                  <a:schemeClr val="hlink"/>
                </a:solidFill>
              </a:rPr>
              <a:t>反链</a:t>
            </a:r>
            <a:r>
              <a:rPr lang="zh-CN" altLang="en-US" dirty="0"/>
              <a:t>。    </a:t>
            </a:r>
          </a:p>
        </p:txBody>
      </p:sp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574675" y="3644900"/>
            <a:ext cx="8083550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/>
              <a:t>链和反链是集合</a:t>
            </a:r>
            <a:r>
              <a:rPr kumimoji="0" lang="en-US" altLang="zh-CN"/>
              <a:t>A</a:t>
            </a:r>
            <a:r>
              <a:rPr kumimoji="0" lang="zh-CN" altLang="en-US"/>
              <a:t>的子集，不是关系；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kumimoji="0" lang="zh-CN" altLang="en-US"/>
              <a:t>链和反链的子集仍然是链和反链；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/>
              <a:t>约定单个元素的子集，既是链又是反链。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5F70A2-2F1F-4C87-9D18-EC56BDFF8003}" type="slidenum">
              <a:rPr lang="en-US" altLang="zh-CN"/>
              <a:pPr/>
              <a:t>122</a:t>
            </a:fld>
            <a:endParaRPr lang="en-US" altLang="zh-CN"/>
          </a:p>
        </p:txBody>
      </p:sp>
      <p:sp>
        <p:nvSpPr>
          <p:cNvPr id="268290" name="Rectangle 2"/>
          <p:cNvSpPr>
            <a:spLocks noChangeArrowheads="1"/>
          </p:cNvSpPr>
          <p:nvPr/>
        </p:nvSpPr>
        <p:spPr bwMode="auto">
          <a:xfrm>
            <a:off x="395288" y="1341438"/>
            <a:ext cx="5761037" cy="290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6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设集合</a:t>
            </a:r>
            <a:r>
              <a:rPr lang="en-US" altLang="zh-CN"/>
              <a:t>A={a,b,c,d,e}</a:t>
            </a:r>
            <a:r>
              <a:rPr lang="zh-CN" altLang="en-US"/>
              <a:t>上的二元关系为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/>
              <a:t>R={&lt;a,a&gt;,&lt;a,b&gt;,&lt;a,c&gt;,&lt;a,d&gt;,&lt;a,e&gt;,&lt;b,b&gt;, &lt;b,c&gt;,&lt;b,e&gt;,&lt;c,c&gt;,&lt;c,e&gt;,&lt;d,d&gt;,&lt;d,e&gt;,&lt;e,e&gt;}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验证偏序集，画出哈斯图，举例说明链及反链。</a:t>
            </a:r>
          </a:p>
          <a:p>
            <a:pPr>
              <a:lnSpc>
                <a:spcPct val="120000"/>
              </a:lnSpc>
              <a:buClrTx/>
              <a:buFontTx/>
              <a:buNone/>
            </a:pPr>
            <a:r>
              <a:rPr lang="zh-CN" altLang="en-US"/>
              <a:t>解</a:t>
            </a:r>
            <a:r>
              <a:rPr lang="zh-CN" altLang="en-US">
                <a:sym typeface="Wingdings" pitchFamily="2" charset="2"/>
              </a:rPr>
              <a:t>：</a:t>
            </a:r>
            <a:r>
              <a:rPr lang="en-US" altLang="zh-CN">
                <a:sym typeface="Wingdings" pitchFamily="2" charset="2"/>
              </a:rPr>
              <a:t>(1)</a:t>
            </a:r>
            <a:r>
              <a:rPr lang="zh-CN" altLang="en-US">
                <a:sym typeface="Wingdings" pitchFamily="2" charset="2"/>
              </a:rPr>
              <a:t>验证偏序集</a:t>
            </a:r>
            <a:endParaRPr lang="zh-CN" altLang="en-US"/>
          </a:p>
        </p:txBody>
      </p:sp>
      <p:sp>
        <p:nvSpPr>
          <p:cNvPr id="268292" name="Rectangle 4"/>
          <p:cNvSpPr>
            <a:spLocks noChangeArrowheads="1"/>
          </p:cNvSpPr>
          <p:nvPr/>
        </p:nvSpPr>
        <p:spPr bwMode="auto">
          <a:xfrm>
            <a:off x="1028700" y="4221163"/>
            <a:ext cx="5905500" cy="169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buClrTx/>
              <a:buFontTx/>
              <a:buNone/>
            </a:pPr>
            <a:r>
              <a:rPr kumimoji="0" lang="en-US" altLang="zh-CN"/>
              <a:t>(2)</a:t>
            </a:r>
            <a:r>
              <a:rPr kumimoji="0" lang="zh-CN" altLang="en-US"/>
              <a:t>画哈斯图 </a:t>
            </a:r>
            <a:r>
              <a:rPr lang="zh-CN" altLang="en-US"/>
              <a:t> </a:t>
            </a:r>
          </a:p>
          <a:p>
            <a:pPr>
              <a:lnSpc>
                <a:spcPct val="110000"/>
              </a:lnSpc>
              <a:buClrTx/>
              <a:buFontTx/>
              <a:buNone/>
            </a:pPr>
            <a:r>
              <a:rPr lang="en-US" altLang="zh-CN"/>
              <a:t>COV R={&lt;a,b&gt;,&lt;a,d&gt;,&lt;b,c&gt;,&lt;c,e&gt;,&lt;d,e&gt;}</a:t>
            </a:r>
          </a:p>
          <a:p>
            <a:pPr>
              <a:lnSpc>
                <a:spcPct val="110000"/>
              </a:lnSpc>
              <a:buClrTx/>
              <a:buFontTx/>
              <a:buNone/>
            </a:pPr>
            <a:r>
              <a:rPr lang="en-US" altLang="zh-CN"/>
              <a:t>(3)</a:t>
            </a:r>
            <a:r>
              <a:rPr lang="zh-CN" altLang="en-US"/>
              <a:t>链：</a:t>
            </a:r>
            <a:r>
              <a:rPr lang="en-US" altLang="zh-CN"/>
              <a:t>{a,b,c,e}</a:t>
            </a:r>
            <a:r>
              <a:rPr lang="zh-CN" altLang="en-US"/>
              <a:t>，</a:t>
            </a:r>
            <a:r>
              <a:rPr lang="en-US" altLang="zh-CN"/>
              <a:t>{a,d,e}</a:t>
            </a:r>
            <a:r>
              <a:rPr lang="zh-CN" altLang="en-US"/>
              <a:t>，</a:t>
            </a:r>
          </a:p>
          <a:p>
            <a:pPr>
              <a:lnSpc>
                <a:spcPct val="110000"/>
              </a:lnSpc>
              <a:buClrTx/>
              <a:buFontTx/>
              <a:buNone/>
            </a:pPr>
            <a:r>
              <a:rPr lang="zh-CN" altLang="en-US"/>
              <a:t>反链：</a:t>
            </a:r>
            <a:r>
              <a:rPr lang="en-US" altLang="zh-CN"/>
              <a:t>{b,d}</a:t>
            </a:r>
            <a:r>
              <a:rPr lang="zh-CN" altLang="en-US"/>
              <a:t>，</a:t>
            </a:r>
            <a:r>
              <a:rPr lang="en-US" altLang="zh-CN"/>
              <a:t>{c,d}</a:t>
            </a:r>
          </a:p>
        </p:txBody>
      </p:sp>
      <p:graphicFrame>
        <p:nvGraphicFramePr>
          <p:cNvPr id="268293" name="Object 5"/>
          <p:cNvGraphicFramePr>
            <a:graphicFrameLocks noChangeAspect="1"/>
          </p:cNvGraphicFramePr>
          <p:nvPr/>
        </p:nvGraphicFramePr>
        <p:xfrm>
          <a:off x="6084888" y="2155825"/>
          <a:ext cx="2709862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91" name="Equation" r:id="rId3" imgW="2717640" imgH="2057400" progId="Equation.DSMT4">
                  <p:embed/>
                </p:oleObj>
              </mc:Choice>
              <mc:Fallback>
                <p:oleObj name="Equation" r:id="rId3" imgW="2717640" imgH="2057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155825"/>
                        <a:ext cx="2709862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829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4437063"/>
            <a:ext cx="2286000" cy="186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B053C1-317F-40B3-A2DD-36646CF343C4}" type="slidenum">
              <a:rPr lang="en-US" altLang="zh-CN"/>
              <a:pPr/>
              <a:t>123</a:t>
            </a:fld>
            <a:endParaRPr lang="en-US" altLang="zh-CN"/>
          </a:p>
        </p:txBody>
      </p:sp>
      <p:sp>
        <p:nvSpPr>
          <p:cNvPr id="444418" name="Rectangle 2"/>
          <p:cNvSpPr>
            <a:spLocks noChangeArrowheads="1"/>
          </p:cNvSpPr>
          <p:nvPr/>
        </p:nvSpPr>
        <p:spPr bwMode="auto">
          <a:xfrm>
            <a:off x="611188" y="1341438"/>
            <a:ext cx="78486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链与反链的哈斯图特点：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</a:rPr>
              <a:t>上例：</a:t>
            </a:r>
            <a:r>
              <a:rPr lang="en-US" altLang="zh-CN">
                <a:solidFill>
                  <a:schemeClr val="tx1"/>
                </a:solidFill>
              </a:rPr>
              <a:t>COV R={&lt;a,b&gt;,&lt;b,c&gt;,&lt;c,e&gt;,&lt;a,d&gt;,&lt;d,e&gt;}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tx1"/>
                </a:solidFill>
              </a:rPr>
              <a:t>集合</a:t>
            </a:r>
            <a:r>
              <a:rPr lang="en-US" altLang="zh-CN">
                <a:solidFill>
                  <a:schemeClr val="tx1"/>
                </a:solidFill>
              </a:rPr>
              <a:t>{a,b,c,e}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{a,b,c}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{b,c}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{a}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{a,d,e}</a:t>
            </a:r>
            <a:r>
              <a:rPr lang="zh-CN" altLang="en-US">
                <a:solidFill>
                  <a:schemeClr val="tx1"/>
                </a:solidFill>
              </a:rPr>
              <a:t>都是Ａ的子集也是链，而</a:t>
            </a:r>
            <a:r>
              <a:rPr lang="en-US" altLang="zh-CN">
                <a:solidFill>
                  <a:schemeClr val="tx1"/>
                </a:solidFill>
              </a:rPr>
              <a:t>{b,d}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{c,d}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{a} </a:t>
            </a:r>
            <a:r>
              <a:rPr lang="zh-CN" altLang="en-US">
                <a:solidFill>
                  <a:schemeClr val="tx1"/>
                </a:solidFill>
              </a:rPr>
              <a:t>等都是反链。</a:t>
            </a:r>
          </a:p>
        </p:txBody>
      </p:sp>
      <p:graphicFrame>
        <p:nvGraphicFramePr>
          <p:cNvPr id="444419" name="Object 3"/>
          <p:cNvGraphicFramePr>
            <a:graphicFrameLocks noChangeAspect="1"/>
          </p:cNvGraphicFramePr>
          <p:nvPr/>
        </p:nvGraphicFramePr>
        <p:xfrm>
          <a:off x="533400" y="3573463"/>
          <a:ext cx="2286000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517" name="BMP 图象" r:id="rId3" imgW="980952" imgH="1267002" progId="Paint.Picture">
                  <p:embed/>
                </p:oleObj>
              </mc:Choice>
              <mc:Fallback>
                <p:oleObj name="BMP 图象" r:id="rId3" imgW="980952" imgH="1267002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573463"/>
                        <a:ext cx="2286000" cy="186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0" name="Text Box 4"/>
          <p:cNvSpPr txBox="1">
            <a:spLocks noChangeArrowheads="1"/>
          </p:cNvSpPr>
          <p:nvPr/>
        </p:nvSpPr>
        <p:spPr bwMode="auto">
          <a:xfrm>
            <a:off x="2843213" y="3500438"/>
            <a:ext cx="5791200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链：</a:t>
            </a:r>
            <a:r>
              <a:rPr lang="zh-CN" altLang="en-US">
                <a:solidFill>
                  <a:schemeClr val="tx1"/>
                </a:solidFill>
              </a:rPr>
              <a:t>从高结点出发沿着盖住方向遍历链中所有结点。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反链：</a:t>
            </a:r>
            <a:r>
              <a:rPr lang="zh-CN" altLang="en-US">
                <a:solidFill>
                  <a:schemeClr val="tx1"/>
                </a:solidFill>
              </a:rPr>
              <a:t>任两结点间均无连线。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0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67BE2A-B27D-42E1-ADEB-1502E66F0BB3}" type="slidenum">
              <a:rPr lang="en-US" altLang="zh-CN"/>
              <a:pPr/>
              <a:t>124</a:t>
            </a:fld>
            <a:endParaRPr lang="en-US" altLang="zh-CN"/>
          </a:p>
        </p:txBody>
      </p:sp>
      <p:sp>
        <p:nvSpPr>
          <p:cNvPr id="269314" name="Text Box 2"/>
          <p:cNvSpPr txBox="1">
            <a:spLocks noChangeArrowheads="1"/>
          </p:cNvSpPr>
          <p:nvPr/>
        </p:nvSpPr>
        <p:spPr bwMode="auto">
          <a:xfrm>
            <a:off x="539750" y="1268413"/>
            <a:ext cx="7704138" cy="341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3</a:t>
            </a:r>
            <a:r>
              <a:rPr lang="zh-CN" altLang="en-US" dirty="0">
                <a:solidFill>
                  <a:schemeClr val="hlink"/>
                </a:solidFill>
              </a:rPr>
              <a:t>、全序关系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3-12.4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在偏序集</a:t>
            </a:r>
            <a:r>
              <a:rPr lang="en-US" altLang="zh-CN" dirty="0"/>
              <a:t>&lt;A,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/>
              <a:t>&gt;</a:t>
            </a:r>
            <a:r>
              <a:rPr lang="zh-CN" altLang="en-US" dirty="0"/>
              <a:t>中，如果</a:t>
            </a:r>
            <a:r>
              <a:rPr lang="en-US" altLang="zh-CN" dirty="0"/>
              <a:t>A</a:t>
            </a:r>
            <a:r>
              <a:rPr lang="zh-CN" altLang="en-US" dirty="0"/>
              <a:t>是一个链，则称</a:t>
            </a:r>
            <a:r>
              <a:rPr lang="en-US" altLang="zh-CN" dirty="0"/>
              <a:t>&lt;A,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/>
              <a:t>&gt;</a:t>
            </a:r>
            <a:r>
              <a:rPr lang="zh-CN" altLang="en-US" dirty="0"/>
              <a:t>为全序集合，则二元关系“</a:t>
            </a:r>
            <a:r>
              <a:rPr lang="zh-CN" altLang="en-US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 dirty="0"/>
              <a:t>”称为</a:t>
            </a:r>
            <a:r>
              <a:rPr lang="zh-CN" altLang="en-US" i="1" dirty="0">
                <a:solidFill>
                  <a:schemeClr val="hlink"/>
                </a:solidFill>
              </a:rPr>
              <a:t>全序</a:t>
            </a:r>
            <a:r>
              <a:rPr lang="zh-CN" altLang="en-US" i="1" dirty="0">
                <a:solidFill>
                  <a:schemeClr val="tx1"/>
                </a:solidFill>
              </a:rPr>
              <a:t>关系</a:t>
            </a:r>
            <a:r>
              <a:rPr lang="zh-CN" altLang="en-US" dirty="0"/>
              <a:t>（线序关系）。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 dirty="0"/>
              <a:t>全序关系是偏序关系的一种特殊情况；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 dirty="0"/>
              <a:t>若</a:t>
            </a:r>
            <a:r>
              <a:rPr lang="en-US" altLang="zh-CN" dirty="0"/>
              <a:t>&lt;A,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/>
              <a:t> &gt;</a:t>
            </a:r>
            <a:r>
              <a:rPr lang="zh-CN" altLang="en-US" dirty="0"/>
              <a:t>为全序关系，则</a:t>
            </a:r>
            <a:r>
              <a:rPr lang="zh-CN" altLang="en-US" dirty="0">
                <a:sym typeface="Symbol" pitchFamily="18" charset="2"/>
              </a:rPr>
              <a:t></a:t>
            </a:r>
            <a:r>
              <a:rPr lang="en-US" altLang="zh-CN" dirty="0">
                <a:sym typeface="Symbol" pitchFamily="18" charset="2"/>
              </a:rPr>
              <a:t>x, </a:t>
            </a:r>
            <a:r>
              <a:rPr lang="en-US" altLang="zh-CN" dirty="0" err="1">
                <a:sym typeface="Symbol" pitchFamily="18" charset="2"/>
              </a:rPr>
              <a:t>y</a:t>
            </a:r>
            <a:r>
              <a:rPr lang="en-US" altLang="zh-CN" dirty="0" err="1"/>
              <a:t>∈A</a:t>
            </a:r>
            <a:r>
              <a:rPr lang="zh-CN" altLang="en-US" dirty="0"/>
              <a:t>，要么</a:t>
            </a:r>
            <a:r>
              <a:rPr lang="en-US" altLang="zh-CN" dirty="0"/>
              <a:t>x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/>
              <a:t>y</a:t>
            </a:r>
            <a:r>
              <a:rPr lang="zh-CN" altLang="en-US" dirty="0"/>
              <a:t>，要么</a:t>
            </a:r>
            <a:r>
              <a:rPr lang="en-US" altLang="zh-CN" dirty="0"/>
              <a:t>y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/>
              <a:t>x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338827-7458-4BEA-B8A3-DF3AD80062AC}" type="slidenum">
              <a:rPr lang="en-US" altLang="zh-CN"/>
              <a:pPr/>
              <a:t>125</a:t>
            </a:fld>
            <a:endParaRPr lang="en-US" altLang="zh-CN"/>
          </a:p>
        </p:txBody>
      </p:sp>
      <p:sp>
        <p:nvSpPr>
          <p:cNvPr id="445444" name="Rectangle 4"/>
          <p:cNvSpPr>
            <a:spLocks noChangeArrowheads="1"/>
          </p:cNvSpPr>
          <p:nvPr/>
        </p:nvSpPr>
        <p:spPr bwMode="auto">
          <a:xfrm>
            <a:off x="574675" y="1412875"/>
            <a:ext cx="7920038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7</a:t>
            </a:r>
            <a:r>
              <a:rPr lang="zh-CN" altLang="en-US">
                <a:solidFill>
                  <a:schemeClr val="hlink"/>
                </a:solidFill>
              </a:rPr>
              <a:t>：</a:t>
            </a:r>
            <a:r>
              <a:rPr lang="zh-CN" altLang="en-US"/>
              <a:t>给定</a:t>
            </a:r>
            <a:r>
              <a:rPr lang="en-US" altLang="zh-CN"/>
              <a:t>P={</a:t>
            </a:r>
            <a:r>
              <a:rPr lang="en-US" altLang="zh-CN">
                <a:sym typeface="Symbol" pitchFamily="18" charset="2"/>
              </a:rPr>
              <a:t></a:t>
            </a:r>
            <a:r>
              <a:rPr lang="en-US" altLang="zh-CN"/>
              <a:t>, {a}, {a,b}, {a,b,c}}</a:t>
            </a:r>
            <a:r>
              <a:rPr lang="zh-CN" altLang="en-US"/>
              <a:t>上的包含关系，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证明</a:t>
            </a:r>
            <a:r>
              <a:rPr lang="en-US" altLang="zh-CN"/>
              <a:t>&lt;P,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&gt;</a:t>
            </a:r>
            <a:r>
              <a:rPr lang="zh-CN" altLang="en-US"/>
              <a:t>是个全序关系。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证明</a:t>
            </a:r>
            <a:r>
              <a:rPr lang="zh-CN" altLang="en-US">
                <a:sym typeface="Wingdings" pitchFamily="2" charset="2"/>
              </a:rPr>
              <a:t>：</a:t>
            </a:r>
            <a:r>
              <a:rPr lang="en-US" altLang="zh-CN">
                <a:sym typeface="Wingdings" pitchFamily="2" charset="2"/>
              </a:rPr>
              <a:t>(1)</a:t>
            </a:r>
            <a:r>
              <a:rPr lang="en-US" altLang="zh-CN"/>
              <a:t>&lt;P,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&gt;</a:t>
            </a:r>
            <a:r>
              <a:rPr lang="zh-CN" altLang="en-US">
                <a:sym typeface="Wingdings" pitchFamily="2" charset="2"/>
              </a:rPr>
              <a:t>为偏序关系，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ym typeface="Symbol" pitchFamily="18" charset="2"/>
              </a:rPr>
              <a:t>            自反，反对称，传递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ym typeface="Wingdings" pitchFamily="2" charset="2"/>
              </a:rPr>
              <a:t>            </a:t>
            </a:r>
            <a:r>
              <a:rPr lang="en-US" altLang="zh-CN">
                <a:sym typeface="Wingdings" pitchFamily="2" charset="2"/>
              </a:rPr>
              <a:t>(2)</a:t>
            </a:r>
            <a:r>
              <a:rPr lang="en-US" altLang="zh-CN"/>
              <a:t>&lt;P, </a:t>
            </a:r>
            <a:r>
              <a:rPr lang="en-US" altLang="zh-CN">
                <a:sym typeface="Symbol" pitchFamily="18" charset="2"/>
              </a:rPr>
              <a:t></a:t>
            </a:r>
            <a:r>
              <a:rPr lang="en-US" altLang="zh-CN"/>
              <a:t>&gt;</a:t>
            </a:r>
            <a:r>
              <a:rPr lang="zh-CN" altLang="en-US">
                <a:sym typeface="Wingdings" pitchFamily="2" charset="2"/>
              </a:rPr>
              <a:t>为该偏序关系上的一个链，</a:t>
            </a:r>
            <a:r>
              <a:rPr lang="zh-CN" altLang="en-US">
                <a:sym typeface="Symbol" pitchFamily="18" charset="2"/>
              </a:rPr>
              <a:t> 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ym typeface="Symbol" pitchFamily="18" charset="2"/>
              </a:rPr>
              <a:t>            </a:t>
            </a:r>
            <a:r>
              <a:rPr lang="en-US" altLang="zh-CN">
                <a:sym typeface="Symbol" pitchFamily="18" charset="2"/>
              </a:rPr>
              <a:t>{a}{a,b}{a,b,c}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CB91AC-C5EE-488D-8793-B2F2C4D0459A}" type="slidenum">
              <a:rPr lang="en-US" altLang="zh-CN"/>
              <a:pPr/>
              <a:t>126</a:t>
            </a:fld>
            <a:endParaRPr lang="en-US" altLang="zh-CN"/>
          </a:p>
        </p:txBody>
      </p:sp>
      <p:sp>
        <p:nvSpPr>
          <p:cNvPr id="270338" name="Rectangle 2"/>
          <p:cNvSpPr>
            <a:spLocks noChangeArrowheads="1"/>
          </p:cNvSpPr>
          <p:nvPr/>
        </p:nvSpPr>
        <p:spPr bwMode="auto">
          <a:xfrm>
            <a:off x="395288" y="1341438"/>
            <a:ext cx="8424862" cy="294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zh-CN" altLang="en-US" dirty="0">
                <a:solidFill>
                  <a:schemeClr val="hlink"/>
                </a:solidFill>
              </a:rPr>
              <a:t>、极大极小最大最小元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3-12.5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设</a:t>
            </a:r>
            <a:r>
              <a:rPr lang="en-US" altLang="zh-CN" dirty="0"/>
              <a:t>&lt;A, </a:t>
            </a:r>
            <a:r>
              <a:rPr lang="en-US" altLang="zh-CN" dirty="0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/>
              <a:t>&gt;</a:t>
            </a:r>
            <a:r>
              <a:rPr lang="zh-CN" altLang="en-US" dirty="0"/>
              <a:t>为偏序集，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A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(1)</a:t>
            </a:r>
            <a:r>
              <a:rPr lang="zh-CN" altLang="en-US" dirty="0"/>
              <a:t>若</a:t>
            </a:r>
            <a:r>
              <a:rPr lang="zh-CN" altLang="en-US" dirty="0">
                <a:sym typeface="Symbol" pitchFamily="18" charset="2"/>
              </a:rPr>
              <a:t></a:t>
            </a:r>
            <a:r>
              <a:rPr lang="en-US" altLang="zh-CN" dirty="0" err="1">
                <a:sym typeface="Symbol" pitchFamily="18" charset="2"/>
              </a:rPr>
              <a:t>bB</a:t>
            </a:r>
            <a:r>
              <a:rPr lang="en-US" altLang="zh-CN" dirty="0"/>
              <a:t>∧(┐</a:t>
            </a:r>
            <a:r>
              <a:rPr lang="en-US" altLang="zh-CN" dirty="0">
                <a:sym typeface="Symbol" pitchFamily="18" charset="2"/>
              </a:rPr>
              <a:t>x(</a:t>
            </a:r>
            <a:r>
              <a:rPr lang="en-US" altLang="zh-CN" dirty="0" err="1">
                <a:sym typeface="Symbol" pitchFamily="18" charset="2"/>
              </a:rPr>
              <a:t>xB</a:t>
            </a:r>
            <a:r>
              <a:rPr lang="en-US" altLang="zh-CN" dirty="0" err="1">
                <a:latin typeface="宋体" charset="-122"/>
                <a:cs typeface="Times New Roman" pitchFamily="18" charset="0"/>
                <a:sym typeface="Symbol" pitchFamily="18" charset="2"/>
              </a:rPr>
              <a:t>∧</a:t>
            </a:r>
            <a:r>
              <a:rPr lang="en-US" altLang="zh-CN" dirty="0" err="1"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dirty="0" err="1"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≺x</a:t>
            </a:r>
            <a:r>
              <a:rPr lang="en-US" altLang="zh-CN" dirty="0">
                <a:sym typeface="Symbol" pitchFamily="18" charset="2"/>
              </a:rPr>
              <a:t>))</a:t>
            </a:r>
            <a:r>
              <a:rPr lang="zh-CN" altLang="en-US" dirty="0"/>
              <a:t>，则称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i="1" dirty="0">
                <a:solidFill>
                  <a:schemeClr val="tx1"/>
                </a:solidFill>
              </a:rPr>
              <a:t>极大元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(2)</a:t>
            </a:r>
            <a:r>
              <a:rPr lang="zh-CN" altLang="en-US" dirty="0"/>
              <a:t>若</a:t>
            </a:r>
            <a:r>
              <a:rPr lang="zh-CN" altLang="en-US" dirty="0">
                <a:sym typeface="Symbol" pitchFamily="18" charset="2"/>
              </a:rPr>
              <a:t></a:t>
            </a:r>
            <a:r>
              <a:rPr lang="en-US" altLang="zh-CN" dirty="0" err="1">
                <a:sym typeface="Symbol" pitchFamily="18" charset="2"/>
              </a:rPr>
              <a:t>bB</a:t>
            </a:r>
            <a:r>
              <a:rPr lang="en-US" altLang="zh-CN" dirty="0">
                <a:latin typeface="宋体" charset="-122"/>
                <a:sym typeface="Symbol" pitchFamily="18" charset="2"/>
              </a:rPr>
              <a:t>∧</a:t>
            </a:r>
            <a:r>
              <a:rPr lang="en-US" altLang="zh-CN" dirty="0"/>
              <a:t>(┐</a:t>
            </a:r>
            <a:r>
              <a:rPr lang="en-US" altLang="zh-CN" dirty="0">
                <a:sym typeface="Symbol" pitchFamily="18" charset="2"/>
              </a:rPr>
              <a:t>x(</a:t>
            </a:r>
            <a:r>
              <a:rPr lang="en-US" altLang="zh-CN" dirty="0" err="1">
                <a:sym typeface="Symbol" pitchFamily="18" charset="2"/>
              </a:rPr>
              <a:t>xB</a:t>
            </a:r>
            <a:r>
              <a:rPr lang="en-US" altLang="zh-CN" dirty="0" err="1">
                <a:latin typeface="宋体" charset="-122"/>
                <a:cs typeface="Times New Roman" pitchFamily="18" charset="0"/>
                <a:sym typeface="Symbol" pitchFamily="18" charset="2"/>
              </a:rPr>
              <a:t>∧</a:t>
            </a:r>
            <a:r>
              <a:rPr lang="en-US" altLang="zh-CN" dirty="0" err="1"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x≺</a:t>
            </a:r>
            <a:r>
              <a:rPr lang="en-US" altLang="zh-CN" dirty="0" err="1"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sym typeface="Symbol" pitchFamily="18" charset="2"/>
              </a:rPr>
              <a:t>)</a:t>
            </a:r>
            <a:r>
              <a:rPr lang="en-US" altLang="zh-CN" dirty="0"/>
              <a:t>)</a:t>
            </a:r>
            <a:r>
              <a:rPr lang="zh-CN" altLang="en-US" dirty="0"/>
              <a:t>，则称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i="1" dirty="0">
                <a:solidFill>
                  <a:schemeClr val="tx1"/>
                </a:solidFill>
              </a:rPr>
              <a:t>极小元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(3)</a:t>
            </a:r>
            <a:r>
              <a:rPr lang="zh-CN" altLang="en-US" dirty="0"/>
              <a:t>若</a:t>
            </a:r>
            <a:r>
              <a:rPr lang="zh-CN" altLang="en-US" dirty="0">
                <a:sym typeface="Symbol" pitchFamily="18" charset="2"/>
              </a:rPr>
              <a:t></a:t>
            </a:r>
            <a:r>
              <a:rPr lang="en-US" altLang="zh-CN" dirty="0" err="1">
                <a:sym typeface="Symbol" pitchFamily="18" charset="2"/>
              </a:rPr>
              <a:t>bB</a:t>
            </a:r>
            <a:r>
              <a:rPr lang="en-US" altLang="zh-CN" dirty="0">
                <a:latin typeface="宋体" charset="-122"/>
                <a:sym typeface="Symbol" pitchFamily="18" charset="2"/>
              </a:rPr>
              <a:t>∧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x(</a:t>
            </a:r>
            <a:r>
              <a:rPr lang="en-US" altLang="zh-CN" dirty="0" err="1">
                <a:sym typeface="Symbol" pitchFamily="18" charset="2"/>
              </a:rPr>
              <a:t>xB</a:t>
            </a:r>
            <a:r>
              <a:rPr lang="en-US" altLang="zh-CN" dirty="0" err="1">
                <a:latin typeface="宋体" charset="-122"/>
                <a:cs typeface="Times New Roman" pitchFamily="18" charset="0"/>
                <a:sym typeface="Symbol" pitchFamily="18" charset="2"/>
              </a:rPr>
              <a:t>→</a:t>
            </a:r>
            <a:r>
              <a:rPr lang="en-US" altLang="zh-CN" dirty="0" err="1"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x</a:t>
            </a:r>
            <a:r>
              <a:rPr lang="en-US" altLang="zh-CN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≼</a:t>
            </a:r>
            <a:r>
              <a:rPr lang="en-US" altLang="zh-CN" dirty="0" err="1"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dirty="0">
                <a:sym typeface="Symbol" pitchFamily="18" charset="2"/>
              </a:rPr>
              <a:t>)</a:t>
            </a:r>
            <a:r>
              <a:rPr lang="en-US" altLang="zh-CN" dirty="0"/>
              <a:t>)</a:t>
            </a:r>
            <a:r>
              <a:rPr lang="zh-CN" altLang="en-US" dirty="0"/>
              <a:t>，则称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i="1" dirty="0">
                <a:solidFill>
                  <a:schemeClr val="tx1"/>
                </a:solidFill>
              </a:rPr>
              <a:t>最大元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(4)</a:t>
            </a:r>
            <a:r>
              <a:rPr lang="zh-CN" altLang="en-US" dirty="0"/>
              <a:t>若</a:t>
            </a:r>
            <a:r>
              <a:rPr lang="zh-CN" altLang="en-US" dirty="0">
                <a:sym typeface="Symbol" pitchFamily="18" charset="2"/>
              </a:rPr>
              <a:t></a:t>
            </a:r>
            <a:r>
              <a:rPr lang="en-US" altLang="zh-CN" dirty="0" err="1">
                <a:sym typeface="Symbol" pitchFamily="18" charset="2"/>
              </a:rPr>
              <a:t>bB</a:t>
            </a:r>
            <a:r>
              <a:rPr lang="en-US" altLang="zh-CN" dirty="0">
                <a:latin typeface="宋体" charset="-122"/>
                <a:sym typeface="Symbol" pitchFamily="18" charset="2"/>
              </a:rPr>
              <a:t>∧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x(</a:t>
            </a:r>
            <a:r>
              <a:rPr lang="en-US" altLang="zh-CN" dirty="0" err="1">
                <a:sym typeface="Symbol" pitchFamily="18" charset="2"/>
              </a:rPr>
              <a:t>xB</a:t>
            </a:r>
            <a:r>
              <a:rPr lang="en-US" altLang="zh-CN" dirty="0" err="1">
                <a:latin typeface="宋体" charset="-122"/>
                <a:cs typeface="Times New Roman" pitchFamily="18" charset="0"/>
                <a:sym typeface="Symbol" pitchFamily="18" charset="2"/>
              </a:rPr>
              <a:t>→</a:t>
            </a:r>
            <a:r>
              <a:rPr lang="en-US" altLang="zh-CN" dirty="0" err="1"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≼</a:t>
            </a:r>
            <a:r>
              <a:rPr lang="en-US" altLang="zh-CN" dirty="0" err="1"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x</a:t>
            </a:r>
            <a:r>
              <a:rPr lang="en-US" altLang="zh-CN" dirty="0">
                <a:sym typeface="Symbol" pitchFamily="18" charset="2"/>
              </a:rPr>
              <a:t>)</a:t>
            </a:r>
            <a:r>
              <a:rPr lang="en-US" altLang="zh-CN" dirty="0"/>
              <a:t>)</a:t>
            </a:r>
            <a:r>
              <a:rPr lang="zh-CN" altLang="en-US" dirty="0"/>
              <a:t>，则称</a:t>
            </a:r>
            <a:r>
              <a:rPr lang="en-US" altLang="zh-CN" dirty="0"/>
              <a:t>b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i="1" dirty="0">
                <a:solidFill>
                  <a:schemeClr val="tx1"/>
                </a:solidFill>
              </a:rPr>
              <a:t>最小元</a:t>
            </a:r>
            <a:endParaRPr lang="zh-CN" altLang="en-US" dirty="0"/>
          </a:p>
        </p:txBody>
      </p:sp>
      <p:sp>
        <p:nvSpPr>
          <p:cNvPr id="270359" name="Rectangle 23"/>
          <p:cNvSpPr>
            <a:spLocks noChangeArrowheads="1"/>
          </p:cNvSpPr>
          <p:nvPr/>
        </p:nvSpPr>
        <p:spPr bwMode="auto">
          <a:xfrm>
            <a:off x="1187450" y="333375"/>
            <a:ext cx="4752975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三、特殊位置的元素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5889DFB-BCBD-4715-A0AA-E247D64C3696}" type="slidenum">
              <a:rPr lang="en-US" altLang="zh-CN"/>
              <a:pPr/>
              <a:t>127</a:t>
            </a:fld>
            <a:endParaRPr lang="en-US" altLang="zh-CN"/>
          </a:p>
        </p:txBody>
      </p:sp>
      <p:sp>
        <p:nvSpPr>
          <p:cNvPr id="271362" name="Rectangle 2"/>
          <p:cNvSpPr>
            <a:spLocks noChangeArrowheads="1"/>
          </p:cNvSpPr>
          <p:nvPr/>
        </p:nvSpPr>
        <p:spPr bwMode="auto">
          <a:xfrm>
            <a:off x="468313" y="3068638"/>
            <a:ext cx="7991475" cy="210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2200"/>
              <a:t>解：</a:t>
            </a:r>
            <a:r>
              <a:rPr lang="en-US" altLang="zh-CN" sz="2200"/>
              <a:t>COV A={&lt;2, 14&gt;, &lt;3, 15&gt;, &lt;3, 21&gt;, &lt;5, 15&gt;, &lt;7, 14&gt;, &lt;7, 21&gt;}</a:t>
            </a:r>
          </a:p>
          <a:p>
            <a:pPr>
              <a:buClrTx/>
              <a:buFontTx/>
              <a:buNone/>
            </a:pPr>
            <a:r>
              <a:rPr lang="en-US" altLang="zh-CN" sz="2200"/>
              <a:t>                    14           21        15</a:t>
            </a:r>
          </a:p>
          <a:p>
            <a:pPr>
              <a:buClrTx/>
              <a:buFontTx/>
              <a:buNone/>
            </a:pPr>
            <a:endParaRPr lang="en-US" altLang="zh-CN" sz="2200"/>
          </a:p>
          <a:p>
            <a:pPr>
              <a:buClrTx/>
              <a:buFontTx/>
              <a:buNone/>
            </a:pPr>
            <a:endParaRPr lang="en-US" altLang="zh-CN" sz="2200"/>
          </a:p>
          <a:p>
            <a:pPr>
              <a:buClrTx/>
              <a:buFontTx/>
              <a:buNone/>
            </a:pPr>
            <a:r>
              <a:rPr lang="en-US" altLang="zh-CN" sz="2200"/>
              <a:t>                </a:t>
            </a:r>
          </a:p>
          <a:p>
            <a:pPr>
              <a:buClrTx/>
              <a:buFontTx/>
              <a:buNone/>
            </a:pPr>
            <a:r>
              <a:rPr lang="en-US" altLang="zh-CN" sz="2200"/>
              <a:t>                2          7            3            5</a:t>
            </a:r>
          </a:p>
        </p:txBody>
      </p:sp>
      <p:sp>
        <p:nvSpPr>
          <p:cNvPr id="271363" name="Rectangle 3"/>
          <p:cNvSpPr>
            <a:spLocks noChangeArrowheads="1"/>
          </p:cNvSpPr>
          <p:nvPr/>
        </p:nvSpPr>
        <p:spPr bwMode="auto">
          <a:xfrm>
            <a:off x="466725" y="1236663"/>
            <a:ext cx="8066088" cy="183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2200">
                <a:solidFill>
                  <a:schemeClr val="hlink"/>
                </a:solidFill>
              </a:rPr>
              <a:t>例</a:t>
            </a:r>
            <a:r>
              <a:rPr lang="en-US" altLang="zh-CN" sz="2200">
                <a:solidFill>
                  <a:schemeClr val="hlink"/>
                </a:solidFill>
              </a:rPr>
              <a:t>8</a:t>
            </a:r>
            <a:r>
              <a:rPr lang="zh-CN" altLang="en-US" sz="2200">
                <a:solidFill>
                  <a:schemeClr val="hlink"/>
                </a:solidFill>
              </a:rPr>
              <a:t>：</a:t>
            </a:r>
            <a:r>
              <a:rPr lang="zh-CN" altLang="en-US" sz="2200"/>
              <a:t>设</a:t>
            </a:r>
            <a:r>
              <a:rPr lang="en-US" altLang="zh-CN" sz="2200"/>
              <a:t>A={2, 3, 5, 7, 14, 15, 21}</a:t>
            </a:r>
            <a:r>
              <a:rPr lang="zh-CN" altLang="en-US" sz="2200"/>
              <a:t>，其偏序关系</a:t>
            </a:r>
            <a:r>
              <a:rPr lang="en-US" altLang="zh-CN" sz="2200"/>
              <a:t>R={&lt;2,14&gt;,&lt;3,15&gt;, &lt;3,21&gt;,&lt;5,15&gt;,&lt;7, 14&gt;,&lt;7, 21&gt;,&lt;2, 2&gt;,&lt;3, 3&gt;,&lt;5, 5&gt;,&lt;7,7&gt;,&lt;14,14&gt;, &lt;15,15&gt;,&lt;21,21&gt;}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sz="2200"/>
              <a:t>求：</a:t>
            </a:r>
            <a:r>
              <a:rPr lang="en-US" altLang="zh-CN" sz="2200"/>
              <a:t>B={2, 7, 3, 21, 14}</a:t>
            </a:r>
            <a:r>
              <a:rPr lang="zh-CN" altLang="en-US" sz="2200"/>
              <a:t>的极大元与极小元。</a:t>
            </a:r>
          </a:p>
        </p:txBody>
      </p:sp>
      <p:grpSp>
        <p:nvGrpSpPr>
          <p:cNvPr id="271372" name="Group 12"/>
          <p:cNvGrpSpPr>
            <a:grpSpLocks/>
          </p:cNvGrpSpPr>
          <p:nvPr/>
        </p:nvGrpSpPr>
        <p:grpSpPr bwMode="auto">
          <a:xfrm>
            <a:off x="1833563" y="3889375"/>
            <a:ext cx="2667000" cy="763588"/>
            <a:chOff x="1155" y="2450"/>
            <a:chExt cx="1680" cy="432"/>
          </a:xfrm>
        </p:grpSpPr>
        <p:sp>
          <p:nvSpPr>
            <p:cNvPr id="271364" name="Line 4"/>
            <p:cNvSpPr>
              <a:spLocks noChangeShapeType="1"/>
            </p:cNvSpPr>
            <p:nvPr/>
          </p:nvSpPr>
          <p:spPr bwMode="auto">
            <a:xfrm flipH="1">
              <a:off x="1155" y="2450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1365" name="Line 5"/>
            <p:cNvSpPr>
              <a:spLocks noChangeShapeType="1"/>
            </p:cNvSpPr>
            <p:nvPr/>
          </p:nvSpPr>
          <p:spPr bwMode="auto">
            <a:xfrm>
              <a:off x="1347" y="2450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1366" name="Line 6"/>
            <p:cNvSpPr>
              <a:spLocks noChangeShapeType="1"/>
            </p:cNvSpPr>
            <p:nvPr/>
          </p:nvSpPr>
          <p:spPr bwMode="auto">
            <a:xfrm flipV="1">
              <a:off x="1635" y="2450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1367" name="Line 7"/>
            <p:cNvSpPr>
              <a:spLocks noChangeShapeType="1"/>
            </p:cNvSpPr>
            <p:nvPr/>
          </p:nvSpPr>
          <p:spPr bwMode="auto">
            <a:xfrm>
              <a:off x="1971" y="2450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1368" name="Line 8"/>
            <p:cNvSpPr>
              <a:spLocks noChangeShapeType="1"/>
            </p:cNvSpPr>
            <p:nvPr/>
          </p:nvSpPr>
          <p:spPr bwMode="auto">
            <a:xfrm flipV="1">
              <a:off x="2259" y="2450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1369" name="Line 9"/>
            <p:cNvSpPr>
              <a:spLocks noChangeShapeType="1"/>
            </p:cNvSpPr>
            <p:nvPr/>
          </p:nvSpPr>
          <p:spPr bwMode="auto">
            <a:xfrm>
              <a:off x="2547" y="2450"/>
              <a:ext cx="28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71370" name="Rectangle 10"/>
          <p:cNvSpPr>
            <a:spLocks noChangeArrowheads="1"/>
          </p:cNvSpPr>
          <p:nvPr/>
        </p:nvSpPr>
        <p:spPr bwMode="auto">
          <a:xfrm>
            <a:off x="466725" y="5157788"/>
            <a:ext cx="70310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zh-CN" altLang="en-US" sz="2200"/>
              <a:t>故</a:t>
            </a:r>
            <a:r>
              <a:rPr lang="en-US" altLang="zh-CN" sz="2200"/>
              <a:t>B</a:t>
            </a:r>
            <a:r>
              <a:rPr lang="zh-CN" altLang="en-US" sz="2200"/>
              <a:t>极小元集合是</a:t>
            </a:r>
            <a:r>
              <a:rPr lang="en-US" altLang="zh-CN" sz="2200"/>
              <a:t>{2,7,3}</a:t>
            </a:r>
            <a:r>
              <a:rPr lang="zh-CN" altLang="en-US" sz="2200"/>
              <a:t>，</a:t>
            </a:r>
            <a:r>
              <a:rPr lang="en-US" altLang="zh-CN" sz="2200"/>
              <a:t>B</a:t>
            </a:r>
            <a:r>
              <a:rPr lang="zh-CN" altLang="en-US" sz="2200"/>
              <a:t>的极大元集合为</a:t>
            </a:r>
            <a:r>
              <a:rPr lang="en-US" altLang="zh-CN" sz="2200"/>
              <a:t>{14,21}</a:t>
            </a:r>
          </a:p>
        </p:txBody>
      </p:sp>
      <p:sp>
        <p:nvSpPr>
          <p:cNvPr id="271371" name="Text Box 11"/>
          <p:cNvSpPr txBox="1">
            <a:spLocks noChangeArrowheads="1"/>
          </p:cNvSpPr>
          <p:nvPr/>
        </p:nvSpPr>
        <p:spPr bwMode="auto">
          <a:xfrm>
            <a:off x="466725" y="5662613"/>
            <a:ext cx="352901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hlink"/>
              </a:buClr>
            </a:pPr>
            <a:r>
              <a:rPr lang="zh-CN" altLang="en-US" sz="2200"/>
              <a:t>极大极小元不唯一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2" grpId="1" uiExpand="1" build="allAtOnce"/>
      <p:bldP spid="271370" grpId="0"/>
      <p:bldP spid="271371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7AF58F-E06C-4F5F-A807-F9B56B44975E}" type="slidenum">
              <a:rPr lang="en-US" altLang="zh-CN"/>
              <a:pPr/>
              <a:t>128</a:t>
            </a:fld>
            <a:endParaRPr lang="en-US" altLang="zh-CN"/>
          </a:p>
        </p:txBody>
      </p:sp>
      <p:sp>
        <p:nvSpPr>
          <p:cNvPr id="272386" name="Rectangle 2"/>
          <p:cNvSpPr>
            <a:spLocks noChangeArrowheads="1"/>
          </p:cNvSpPr>
          <p:nvPr/>
        </p:nvSpPr>
        <p:spPr bwMode="auto">
          <a:xfrm>
            <a:off x="466725" y="1268413"/>
            <a:ext cx="7993063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2200">
                <a:solidFill>
                  <a:schemeClr val="hlink"/>
                </a:solidFill>
              </a:rPr>
              <a:t>例</a:t>
            </a:r>
            <a:r>
              <a:rPr lang="en-US" altLang="zh-CN" sz="2200">
                <a:solidFill>
                  <a:schemeClr val="hlink"/>
                </a:solidFill>
              </a:rPr>
              <a:t>9</a:t>
            </a:r>
            <a:r>
              <a:rPr lang="zh-CN" altLang="en-US" sz="2200">
                <a:solidFill>
                  <a:schemeClr val="hlink"/>
                </a:solidFill>
              </a:rPr>
              <a:t>：</a:t>
            </a:r>
            <a:r>
              <a:rPr lang="zh-CN" altLang="en-US" sz="2200"/>
              <a:t>偏序集</a:t>
            </a:r>
            <a:r>
              <a:rPr lang="en-US" altLang="zh-CN" sz="2200"/>
              <a:t>&lt;</a:t>
            </a:r>
            <a:r>
              <a:rPr lang="en-US" altLang="zh-CN" sz="2200">
                <a:latin typeface="CommercialScript BT" pitchFamily="66" charset="0"/>
              </a:rPr>
              <a:t>P </a:t>
            </a:r>
            <a:r>
              <a:rPr lang="en-US" altLang="zh-CN" sz="2200"/>
              <a:t>({a, b}), </a:t>
            </a:r>
            <a:r>
              <a:rPr lang="en-US" altLang="zh-CN" sz="2200">
                <a:sym typeface="Symbol" pitchFamily="18" charset="2"/>
              </a:rPr>
              <a:t></a:t>
            </a:r>
            <a:r>
              <a:rPr lang="en-US" altLang="zh-CN" sz="2200"/>
              <a:t> &gt; </a:t>
            </a:r>
            <a:r>
              <a:rPr lang="zh-CN" altLang="en-US" sz="2200"/>
              <a:t>其哈斯图如下</a:t>
            </a:r>
            <a:r>
              <a:rPr lang="en-US" altLang="zh-CN" sz="2200"/>
              <a:t>:</a:t>
            </a:r>
          </a:p>
          <a:p>
            <a:pPr>
              <a:lnSpc>
                <a:spcPct val="160000"/>
              </a:lnSpc>
              <a:buClrTx/>
              <a:buFontTx/>
              <a:buNone/>
            </a:pPr>
            <a:r>
              <a:rPr lang="en-US" altLang="zh-CN" sz="2200"/>
              <a:t>           {a,b}</a:t>
            </a:r>
          </a:p>
          <a:p>
            <a:pPr>
              <a:lnSpc>
                <a:spcPct val="160000"/>
              </a:lnSpc>
              <a:buClrTx/>
              <a:buFontTx/>
              <a:buNone/>
            </a:pPr>
            <a:r>
              <a:rPr lang="en-US" altLang="zh-CN" sz="2200"/>
              <a:t>{a}                    {b}</a:t>
            </a:r>
          </a:p>
          <a:p>
            <a:pPr>
              <a:lnSpc>
                <a:spcPct val="160000"/>
              </a:lnSpc>
              <a:buClrTx/>
              <a:buFontTx/>
              <a:buNone/>
            </a:pPr>
            <a:r>
              <a:rPr lang="en-US" altLang="zh-CN" sz="2200"/>
              <a:t>              </a:t>
            </a:r>
            <a:r>
              <a:rPr lang="en-US" altLang="zh-CN" sz="2200">
                <a:sym typeface="Symbol" pitchFamily="18" charset="2"/>
              </a:rPr>
              <a:t></a:t>
            </a:r>
          </a:p>
        </p:txBody>
      </p:sp>
      <p:sp>
        <p:nvSpPr>
          <p:cNvPr id="272393" name="Text Box 9"/>
          <p:cNvSpPr txBox="1">
            <a:spLocks noChangeArrowheads="1"/>
          </p:cNvSpPr>
          <p:nvPr/>
        </p:nvSpPr>
        <p:spPr bwMode="auto">
          <a:xfrm>
            <a:off x="3238500" y="1816100"/>
            <a:ext cx="4789488" cy="139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zh-CN" altLang="en-US" sz="2200"/>
              <a:t>寻找</a:t>
            </a:r>
            <a:r>
              <a:rPr lang="en-US" altLang="zh-CN" sz="2200"/>
              <a:t>A</a:t>
            </a:r>
            <a:r>
              <a:rPr lang="zh-CN" altLang="en-US" sz="2200"/>
              <a:t>的最大最小元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sz="2200"/>
              <a:t>A={{a}, </a:t>
            </a:r>
            <a:r>
              <a:rPr lang="en-US" altLang="zh-CN" sz="2200">
                <a:sym typeface="Symbol" pitchFamily="18" charset="2"/>
              </a:rPr>
              <a:t></a:t>
            </a:r>
            <a:r>
              <a:rPr lang="en-US" altLang="zh-CN" sz="2200"/>
              <a:t>} </a:t>
            </a:r>
          </a:p>
          <a:p>
            <a:pPr algn="just">
              <a:lnSpc>
                <a:spcPct val="130000"/>
              </a:lnSpc>
              <a:buClrTx/>
              <a:buFontTx/>
              <a:buNone/>
            </a:pPr>
            <a:r>
              <a:rPr lang="en-US" altLang="zh-CN" sz="2200"/>
              <a:t>A={{a}, {b}}</a:t>
            </a:r>
          </a:p>
        </p:txBody>
      </p:sp>
      <p:sp>
        <p:nvSpPr>
          <p:cNvPr id="272402" name="Text Box 18"/>
          <p:cNvSpPr txBox="1">
            <a:spLocks noChangeArrowheads="1"/>
          </p:cNvSpPr>
          <p:nvPr/>
        </p:nvSpPr>
        <p:spPr bwMode="auto">
          <a:xfrm>
            <a:off x="468313" y="3284538"/>
            <a:ext cx="806450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+mn-lt"/>
              </a:rPr>
              <a:t>定理</a:t>
            </a:r>
            <a:r>
              <a:rPr lang="en-US" altLang="zh-CN" dirty="0">
                <a:solidFill>
                  <a:schemeClr val="hlink"/>
                </a:solidFill>
                <a:latin typeface="+mn-lt"/>
              </a:rPr>
              <a:t>3-12.1</a:t>
            </a:r>
            <a:r>
              <a:rPr lang="zh-CN" altLang="en-US" dirty="0">
                <a:solidFill>
                  <a:schemeClr val="hlink"/>
                </a:solidFill>
                <a:latin typeface="+mn-lt"/>
              </a:rPr>
              <a:t>：</a:t>
            </a:r>
            <a:r>
              <a:rPr lang="zh-CN" altLang="en-US" b="0" dirty="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dirty="0">
                <a:latin typeface="+mn-lt"/>
              </a:rPr>
              <a:t>令</a:t>
            </a:r>
            <a:r>
              <a:rPr lang="en-US" altLang="zh-CN" dirty="0">
                <a:latin typeface="+mn-lt"/>
              </a:rPr>
              <a:t>&lt;A, </a:t>
            </a:r>
            <a:r>
              <a:rPr lang="en-US" altLang="zh-CN" dirty="0">
                <a:latin typeface="+mn-lt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>
                <a:latin typeface="+mn-lt"/>
              </a:rPr>
              <a:t>&gt;</a:t>
            </a:r>
            <a:r>
              <a:rPr lang="zh-CN" altLang="en-US" dirty="0">
                <a:latin typeface="+mn-lt"/>
              </a:rPr>
              <a:t>为偏序集且</a:t>
            </a:r>
            <a:r>
              <a:rPr lang="en-US" altLang="zh-CN" dirty="0">
                <a:latin typeface="+mn-lt"/>
              </a:rPr>
              <a:t>B</a:t>
            </a:r>
            <a:r>
              <a:rPr lang="en-US" altLang="zh-CN" dirty="0">
                <a:latin typeface="+mn-lt"/>
                <a:sym typeface="Symbol" pitchFamily="18" charset="2"/>
              </a:rPr>
              <a:t></a:t>
            </a:r>
            <a:r>
              <a:rPr lang="en-US" altLang="zh-CN" dirty="0">
                <a:latin typeface="+mn-lt"/>
              </a:rPr>
              <a:t>A</a:t>
            </a:r>
            <a:r>
              <a:rPr lang="zh-CN" altLang="en-US" dirty="0">
                <a:latin typeface="+mn-lt"/>
              </a:rPr>
              <a:t>，若</a:t>
            </a:r>
            <a:r>
              <a:rPr lang="en-US" altLang="zh-CN" dirty="0">
                <a:latin typeface="+mn-lt"/>
              </a:rPr>
              <a:t>B</a:t>
            </a:r>
            <a:r>
              <a:rPr lang="zh-CN" altLang="en-US" dirty="0">
                <a:latin typeface="+mn-lt"/>
              </a:rPr>
              <a:t>有最大（最小）元，则必是唯一的。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latin typeface="+mn-lt"/>
              </a:rPr>
              <a:t>证明：反证法，假定存在</a:t>
            </a:r>
            <a:r>
              <a:rPr lang="en-US" altLang="zh-CN" dirty="0">
                <a:latin typeface="+mn-lt"/>
              </a:rPr>
              <a:t>a</a:t>
            </a:r>
            <a:r>
              <a:rPr lang="zh-CN" altLang="en-US" dirty="0">
                <a:latin typeface="+mn-lt"/>
              </a:rPr>
              <a:t>和</a:t>
            </a:r>
            <a:r>
              <a:rPr lang="en-US" altLang="zh-CN" dirty="0">
                <a:latin typeface="+mn-lt"/>
              </a:rPr>
              <a:t>b</a:t>
            </a:r>
            <a:r>
              <a:rPr lang="zh-CN" altLang="en-US" dirty="0">
                <a:latin typeface="+mn-lt"/>
              </a:rPr>
              <a:t>都是</a:t>
            </a:r>
            <a:r>
              <a:rPr lang="en-US" altLang="zh-CN" dirty="0">
                <a:latin typeface="+mn-lt"/>
              </a:rPr>
              <a:t>B</a:t>
            </a:r>
            <a:r>
              <a:rPr lang="zh-CN" altLang="en-US" dirty="0">
                <a:latin typeface="+mn-lt"/>
              </a:rPr>
              <a:t>的最大元，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latin typeface="+mn-lt"/>
              </a:rPr>
              <a:t>则</a:t>
            </a:r>
            <a:r>
              <a:rPr lang="en-US" altLang="zh-CN" dirty="0" err="1">
                <a:latin typeface="+mn-lt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a≼b</a:t>
            </a:r>
            <a:r>
              <a:rPr lang="zh-CN" altLang="en-US" dirty="0">
                <a:latin typeface="+mn-ea"/>
                <a:ea typeface="+mn-ea"/>
                <a:cs typeface="Arial Unicode MS" pitchFamily="34" charset="-122"/>
                <a:sym typeface="Symbol" pitchFamily="18" charset="2"/>
              </a:rPr>
              <a:t>且</a:t>
            </a:r>
            <a:r>
              <a:rPr lang="en-US" altLang="zh-CN" dirty="0" err="1">
                <a:latin typeface="+mn-lt"/>
                <a:ea typeface="Arial Unicode MS" pitchFamily="34" charset="-122"/>
                <a:cs typeface="Arial Unicode MS" pitchFamily="34" charset="-122"/>
                <a:sym typeface="Symbol" pitchFamily="18" charset="2"/>
              </a:rPr>
              <a:t>b≼a</a:t>
            </a:r>
            <a:r>
              <a:rPr lang="zh-CN" altLang="en-US" dirty="0">
                <a:latin typeface="+mn-lt"/>
                <a:cs typeface="Times New Roman" pitchFamily="18" charset="0"/>
                <a:sym typeface="Symbol" pitchFamily="18" charset="2"/>
              </a:rPr>
              <a:t>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latin typeface="+mn-lt"/>
                <a:ea typeface="+mn-ea"/>
                <a:cs typeface="Arial Unicode MS" pitchFamily="34" charset="-122"/>
              </a:rPr>
              <a:t>由于≼是反对称的，则有</a:t>
            </a:r>
            <a:r>
              <a:rPr lang="en-US" altLang="zh-CN" dirty="0">
                <a:latin typeface="+mn-lt"/>
                <a:ea typeface="+mn-ea"/>
                <a:cs typeface="Arial Unicode MS" pitchFamily="34" charset="-122"/>
              </a:rPr>
              <a:t>a=b</a:t>
            </a:r>
            <a:r>
              <a:rPr lang="zh-CN" altLang="en-US" dirty="0">
                <a:latin typeface="+mn-lt"/>
                <a:ea typeface="+mn-ea"/>
                <a:cs typeface="Arial Unicode MS" pitchFamily="34" charset="-122"/>
              </a:rPr>
              <a:t>。</a:t>
            </a:r>
          </a:p>
        </p:txBody>
      </p:sp>
      <p:grpSp>
        <p:nvGrpSpPr>
          <p:cNvPr id="272410" name="Group 26"/>
          <p:cNvGrpSpPr>
            <a:grpSpLocks/>
          </p:cNvGrpSpPr>
          <p:nvPr/>
        </p:nvGrpSpPr>
        <p:grpSpPr bwMode="auto">
          <a:xfrm>
            <a:off x="958850" y="2276475"/>
            <a:ext cx="1352550" cy="720725"/>
            <a:chOff x="558" y="1815"/>
            <a:chExt cx="852" cy="454"/>
          </a:xfrm>
        </p:grpSpPr>
        <p:sp>
          <p:nvSpPr>
            <p:cNvPr id="272405" name="Line 21"/>
            <p:cNvSpPr>
              <a:spLocks noChangeShapeType="1"/>
            </p:cNvSpPr>
            <p:nvPr/>
          </p:nvSpPr>
          <p:spPr bwMode="auto">
            <a:xfrm flipV="1">
              <a:off x="566" y="1824"/>
              <a:ext cx="408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2407" name="Line 23"/>
            <p:cNvSpPr>
              <a:spLocks noChangeShapeType="1"/>
            </p:cNvSpPr>
            <p:nvPr/>
          </p:nvSpPr>
          <p:spPr bwMode="auto">
            <a:xfrm flipV="1">
              <a:off x="993" y="2033"/>
              <a:ext cx="408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2408" name="Line 24"/>
            <p:cNvSpPr>
              <a:spLocks noChangeShapeType="1"/>
            </p:cNvSpPr>
            <p:nvPr/>
          </p:nvSpPr>
          <p:spPr bwMode="auto">
            <a:xfrm>
              <a:off x="975" y="1815"/>
              <a:ext cx="435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72409" name="Line 25"/>
            <p:cNvSpPr>
              <a:spLocks noChangeShapeType="1"/>
            </p:cNvSpPr>
            <p:nvPr/>
          </p:nvSpPr>
          <p:spPr bwMode="auto">
            <a:xfrm>
              <a:off x="558" y="2051"/>
              <a:ext cx="435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93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0FB742-4767-4B52-A0FE-0F89D25B1DDF}" type="slidenum">
              <a:rPr lang="en-US" altLang="zh-CN"/>
              <a:pPr/>
              <a:t>129</a:t>
            </a:fld>
            <a:endParaRPr lang="en-US" altLang="zh-CN"/>
          </a:p>
        </p:txBody>
      </p:sp>
      <p:sp>
        <p:nvSpPr>
          <p:cNvPr id="273410" name="Text Box 2"/>
          <p:cNvSpPr txBox="1">
            <a:spLocks noChangeArrowheads="1"/>
          </p:cNvSpPr>
          <p:nvPr/>
        </p:nvSpPr>
        <p:spPr bwMode="auto">
          <a:xfrm>
            <a:off x="395288" y="1268413"/>
            <a:ext cx="8353425" cy="393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2</a:t>
            </a:r>
            <a:r>
              <a:rPr lang="zh-CN" altLang="en-US" dirty="0">
                <a:solidFill>
                  <a:schemeClr val="hlink"/>
                </a:solidFill>
              </a:rPr>
              <a:t>、上界、下界、最小上界、最大下界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3-12.6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设</a:t>
            </a:r>
            <a:r>
              <a:rPr lang="en-US" altLang="zh-CN" dirty="0"/>
              <a:t>&lt;A, </a:t>
            </a:r>
            <a:r>
              <a:rPr lang="en-US" altLang="zh-CN" dirty="0">
                <a:latin typeface="+mn-lt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/>
              <a:t>&gt;</a:t>
            </a:r>
            <a:r>
              <a:rPr lang="zh-CN" altLang="en-US" dirty="0"/>
              <a:t>为偏序集，</a:t>
            </a:r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A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(1)</a:t>
            </a:r>
            <a:r>
              <a:rPr lang="zh-CN" altLang="en-US" dirty="0"/>
              <a:t>若</a:t>
            </a:r>
            <a:r>
              <a:rPr lang="zh-CN" altLang="en-US" dirty="0">
                <a:sym typeface="Symbol" pitchFamily="18" charset="2"/>
              </a:rPr>
              <a:t></a:t>
            </a:r>
            <a:r>
              <a:rPr lang="en-US" altLang="zh-CN" dirty="0" err="1">
                <a:sym typeface="Symbol" pitchFamily="18" charset="2"/>
              </a:rPr>
              <a:t>y∈A</a:t>
            </a:r>
            <a:r>
              <a:rPr lang="en-US" altLang="zh-CN" dirty="0">
                <a:latin typeface="宋体" charset="-122"/>
                <a:sym typeface="Symbol" pitchFamily="18" charset="2"/>
              </a:rPr>
              <a:t>∧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x(</a:t>
            </a:r>
            <a:r>
              <a:rPr lang="en-US" altLang="zh-CN" dirty="0" err="1">
                <a:sym typeface="Symbol" pitchFamily="18" charset="2"/>
              </a:rPr>
              <a:t>x∈B</a:t>
            </a:r>
            <a:r>
              <a:rPr lang="en-US" altLang="zh-CN" dirty="0" err="1">
                <a:cs typeface="Times New Roman" pitchFamily="18" charset="0"/>
                <a:sym typeface="Symbol" pitchFamily="18" charset="2"/>
              </a:rPr>
              <a:t>→x</a:t>
            </a:r>
            <a:r>
              <a:rPr lang="en-US" altLang="zh-CN" dirty="0" err="1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 err="1">
                <a:cs typeface="Times New Roman" pitchFamily="18" charset="0"/>
                <a:sym typeface="Symbol" pitchFamily="18" charset="2"/>
              </a:rPr>
              <a:t>y</a:t>
            </a:r>
            <a:r>
              <a:rPr lang="en-US" altLang="zh-CN" dirty="0">
                <a:sym typeface="Symbol" pitchFamily="18" charset="2"/>
              </a:rPr>
              <a:t>)</a:t>
            </a:r>
            <a:r>
              <a:rPr lang="en-US" altLang="zh-CN" dirty="0"/>
              <a:t>)</a:t>
            </a:r>
            <a:r>
              <a:rPr lang="zh-CN" altLang="en-US" dirty="0"/>
              <a:t>，则称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i="1" dirty="0">
                <a:solidFill>
                  <a:schemeClr val="tx1"/>
                </a:solidFill>
              </a:rPr>
              <a:t>上界；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(2)</a:t>
            </a:r>
            <a:r>
              <a:rPr lang="zh-CN" altLang="en-US" dirty="0"/>
              <a:t>若</a:t>
            </a:r>
            <a:r>
              <a:rPr lang="zh-CN" altLang="en-US" dirty="0">
                <a:sym typeface="Symbol" pitchFamily="18" charset="2"/>
              </a:rPr>
              <a:t></a:t>
            </a:r>
            <a:r>
              <a:rPr lang="en-US" altLang="zh-CN" dirty="0" err="1">
                <a:sym typeface="Symbol" pitchFamily="18" charset="2"/>
              </a:rPr>
              <a:t>y∈A</a:t>
            </a:r>
            <a:r>
              <a:rPr lang="en-US" altLang="zh-CN" dirty="0">
                <a:latin typeface="宋体" charset="-122"/>
                <a:sym typeface="Symbol" pitchFamily="18" charset="2"/>
              </a:rPr>
              <a:t>∧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x(</a:t>
            </a:r>
            <a:r>
              <a:rPr lang="en-US" altLang="zh-CN" dirty="0" err="1">
                <a:sym typeface="Symbol" pitchFamily="18" charset="2"/>
              </a:rPr>
              <a:t>x∈B</a:t>
            </a:r>
            <a:r>
              <a:rPr lang="en-US" altLang="zh-CN" dirty="0" err="1">
                <a:cs typeface="Times New Roman" pitchFamily="18" charset="0"/>
                <a:sym typeface="Symbol" pitchFamily="18" charset="2"/>
              </a:rPr>
              <a:t>→y</a:t>
            </a:r>
            <a:r>
              <a:rPr lang="en-US" altLang="zh-CN" dirty="0" err="1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 err="1"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dirty="0">
                <a:sym typeface="Symbol" pitchFamily="18" charset="2"/>
              </a:rPr>
              <a:t>)</a:t>
            </a:r>
            <a:r>
              <a:rPr lang="en-US" altLang="zh-CN" dirty="0"/>
              <a:t>)</a:t>
            </a:r>
            <a:r>
              <a:rPr lang="zh-CN" altLang="en-US" dirty="0"/>
              <a:t>，则称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i="1" dirty="0">
                <a:solidFill>
                  <a:schemeClr val="tx1"/>
                </a:solidFill>
              </a:rPr>
              <a:t>下界；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(3)</a:t>
            </a:r>
            <a:r>
              <a:rPr lang="zh-CN" altLang="en-US" dirty="0"/>
              <a:t>令</a:t>
            </a:r>
            <a:r>
              <a:rPr lang="en-US" altLang="zh-CN" dirty="0"/>
              <a:t>C={</a:t>
            </a:r>
            <a:r>
              <a:rPr lang="en-US" altLang="zh-CN" dirty="0" err="1"/>
              <a:t>y|y</a:t>
            </a:r>
            <a:r>
              <a:rPr lang="zh-CN" altLang="en-US" dirty="0"/>
              <a:t>为</a:t>
            </a:r>
            <a:r>
              <a:rPr lang="en-US" altLang="zh-CN" dirty="0"/>
              <a:t>B</a:t>
            </a:r>
            <a:r>
              <a:rPr lang="zh-CN" altLang="en-US" dirty="0"/>
              <a:t>的上界</a:t>
            </a:r>
            <a:r>
              <a:rPr lang="en-US" altLang="zh-CN" dirty="0"/>
              <a:t>}</a:t>
            </a:r>
            <a:r>
              <a:rPr lang="zh-CN" altLang="en-US" dirty="0"/>
              <a:t>，则称</a:t>
            </a:r>
            <a:r>
              <a:rPr lang="en-US" altLang="zh-CN" dirty="0"/>
              <a:t>C</a:t>
            </a:r>
            <a:r>
              <a:rPr lang="zh-CN" altLang="en-US" dirty="0"/>
              <a:t>的最小元为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i="1" dirty="0">
                <a:solidFill>
                  <a:schemeClr val="hlink"/>
                </a:solidFill>
              </a:rPr>
              <a:t>最小上界</a:t>
            </a:r>
            <a:r>
              <a:rPr lang="en-US" altLang="zh-CN" dirty="0"/>
              <a:t>(</a:t>
            </a:r>
            <a:r>
              <a:rPr lang="zh-CN" altLang="en-US" dirty="0">
                <a:latin typeface="Arial" charset="0"/>
              </a:rPr>
              <a:t>上确界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(4)</a:t>
            </a:r>
            <a:r>
              <a:rPr lang="zh-CN" altLang="en-US" dirty="0"/>
              <a:t>令</a:t>
            </a:r>
            <a:r>
              <a:rPr lang="en-US" altLang="zh-CN" dirty="0"/>
              <a:t>C={</a:t>
            </a:r>
            <a:r>
              <a:rPr lang="en-US" altLang="zh-CN" dirty="0" err="1"/>
              <a:t>y|y</a:t>
            </a:r>
            <a:r>
              <a:rPr lang="zh-CN" altLang="en-US" dirty="0"/>
              <a:t>为</a:t>
            </a:r>
            <a:r>
              <a:rPr lang="en-US" altLang="zh-CN" dirty="0"/>
              <a:t>B</a:t>
            </a:r>
            <a:r>
              <a:rPr lang="zh-CN" altLang="en-US" dirty="0"/>
              <a:t>的下界</a:t>
            </a:r>
            <a:r>
              <a:rPr lang="en-US" altLang="zh-CN" dirty="0"/>
              <a:t>}</a:t>
            </a:r>
            <a:r>
              <a:rPr lang="zh-CN" altLang="en-US" dirty="0"/>
              <a:t>，则称</a:t>
            </a:r>
            <a:r>
              <a:rPr lang="en-US" altLang="zh-CN" dirty="0"/>
              <a:t>C</a:t>
            </a:r>
            <a:r>
              <a:rPr lang="zh-CN" altLang="en-US" dirty="0"/>
              <a:t>的最大元为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i="1" dirty="0">
                <a:solidFill>
                  <a:schemeClr val="hlink"/>
                </a:solidFill>
              </a:rPr>
              <a:t>最大下界</a:t>
            </a:r>
            <a:r>
              <a:rPr lang="en-US" altLang="zh-CN" dirty="0"/>
              <a:t>(</a:t>
            </a:r>
            <a:r>
              <a:rPr lang="zh-CN" altLang="en-US" dirty="0">
                <a:latin typeface="Arial" charset="0"/>
              </a:rPr>
              <a:t>下确界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273419" name="Rectangle 11"/>
          <p:cNvSpPr>
            <a:spLocks noChangeArrowheads="1"/>
          </p:cNvSpPr>
          <p:nvPr/>
        </p:nvSpPr>
        <p:spPr bwMode="auto">
          <a:xfrm>
            <a:off x="1763713" y="4652963"/>
            <a:ext cx="504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dirty="0" err="1">
                <a:sym typeface="Symbol" pitchFamily="18" charset="2"/>
              </a:rPr>
              <a:t>z∈C</a:t>
            </a:r>
            <a:r>
              <a:rPr lang="en-US" altLang="zh-CN" dirty="0">
                <a:sym typeface="Symbol" pitchFamily="18" charset="2"/>
              </a:rPr>
              <a:t>∧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y(</a:t>
            </a:r>
            <a:r>
              <a:rPr lang="en-US" altLang="zh-CN" dirty="0" err="1">
                <a:sym typeface="Symbol" pitchFamily="18" charset="2"/>
              </a:rPr>
              <a:t>y∈C→y</a:t>
            </a:r>
            <a:r>
              <a:rPr lang="en-US" altLang="zh-CN" dirty="0" err="1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 err="1">
                <a:sym typeface="Symbol" pitchFamily="18" charset="2"/>
              </a:rPr>
              <a:t>z</a:t>
            </a:r>
            <a:r>
              <a:rPr lang="en-US" altLang="zh-CN" dirty="0">
                <a:sym typeface="Symbol" pitchFamily="18" charset="2"/>
              </a:rPr>
              <a:t>)</a:t>
            </a:r>
            <a:r>
              <a:rPr lang="en-US" altLang="zh-CN" dirty="0"/>
              <a:t>)</a:t>
            </a:r>
          </a:p>
        </p:txBody>
      </p:sp>
      <p:sp>
        <p:nvSpPr>
          <p:cNvPr id="273420" name="Rectangle 12"/>
          <p:cNvSpPr>
            <a:spLocks noChangeArrowheads="1"/>
          </p:cNvSpPr>
          <p:nvPr/>
        </p:nvSpPr>
        <p:spPr bwMode="auto">
          <a:xfrm>
            <a:off x="1762125" y="3673475"/>
            <a:ext cx="504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ym typeface="Symbol" pitchFamily="18" charset="2"/>
              </a:rPr>
              <a:t>z∈C∧</a:t>
            </a:r>
            <a:r>
              <a:rPr lang="en-US" altLang="zh-CN"/>
              <a:t>(</a:t>
            </a:r>
            <a:r>
              <a:rPr lang="en-US" altLang="zh-CN">
                <a:sym typeface="Symbol" pitchFamily="18" charset="2"/>
              </a:rPr>
              <a:t>y(y∈C→z</a:t>
            </a:r>
            <a:r>
              <a:rPr lang="en-US" altLang="zh-CN">
                <a:solidFill>
                  <a:srgbClr val="020103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>
                <a:sym typeface="Symbol" pitchFamily="18" charset="2"/>
              </a:rPr>
              <a:t>y)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9" grpId="0"/>
      <p:bldP spid="273420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459627-0F59-4E04-9E50-585CD9052457}" type="slidenum">
              <a:rPr lang="en-US" altLang="zh-CN"/>
              <a:pPr/>
              <a:t>130</a:t>
            </a:fld>
            <a:endParaRPr lang="en-US" altLang="zh-CN"/>
          </a:p>
        </p:txBody>
      </p:sp>
      <p:sp>
        <p:nvSpPr>
          <p:cNvPr id="274434" name="Text Box 2"/>
          <p:cNvSpPr txBox="1">
            <a:spLocks noChangeArrowheads="1"/>
          </p:cNvSpPr>
          <p:nvPr/>
        </p:nvSpPr>
        <p:spPr bwMode="auto">
          <a:xfrm>
            <a:off x="468313" y="1268413"/>
            <a:ext cx="7632700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10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设</a:t>
            </a:r>
            <a:r>
              <a:rPr lang="en-US" altLang="zh-CN" dirty="0"/>
              <a:t>&lt;A, </a:t>
            </a:r>
            <a:r>
              <a:rPr lang="en-US" altLang="zh-CN" dirty="0">
                <a:latin typeface="+mn-lt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dirty="0"/>
              <a:t>&gt;</a:t>
            </a:r>
            <a:r>
              <a:rPr lang="zh-CN" altLang="en-US" dirty="0"/>
              <a:t>为一偏序集，其哈斯图如下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/>
              <a:t>B={a, b, c, d, e, f, g}</a:t>
            </a:r>
            <a:r>
              <a:rPr lang="zh-CN" altLang="en-US" dirty="0"/>
              <a:t>，</a:t>
            </a:r>
            <a:r>
              <a:rPr lang="en-US" altLang="zh-CN" dirty="0"/>
              <a:t>C={h, i, j, k}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/>
              <a:t>寻找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的上界，下界。</a:t>
            </a:r>
          </a:p>
        </p:txBody>
      </p:sp>
      <p:graphicFrame>
        <p:nvGraphicFramePr>
          <p:cNvPr id="274435" name="Object 3"/>
          <p:cNvGraphicFramePr>
            <a:graphicFrameLocks noChangeAspect="1"/>
          </p:cNvGraphicFramePr>
          <p:nvPr/>
        </p:nvGraphicFramePr>
        <p:xfrm>
          <a:off x="5364163" y="1801813"/>
          <a:ext cx="2967037" cy="256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534" name="BMP 图象" r:id="rId3" imgW="1171429" imgH="1190476" progId="Paint.Picture">
                  <p:embed/>
                </p:oleObj>
              </mc:Choice>
              <mc:Fallback>
                <p:oleObj name="BMP 图象" r:id="rId3" imgW="1171429" imgH="1190476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801813"/>
                        <a:ext cx="2967037" cy="256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6" name="Text Box 4"/>
          <p:cNvSpPr txBox="1">
            <a:spLocks noChangeArrowheads="1"/>
          </p:cNvSpPr>
          <p:nvPr/>
        </p:nvSpPr>
        <p:spPr bwMode="auto">
          <a:xfrm>
            <a:off x="466725" y="3860800"/>
            <a:ext cx="6119813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解：</a:t>
            </a:r>
            <a:r>
              <a:rPr lang="en-US" altLang="zh-CN"/>
              <a:t>B</a:t>
            </a:r>
            <a:r>
              <a:rPr lang="zh-CN" altLang="en-US"/>
              <a:t>的上界：</a:t>
            </a:r>
            <a:r>
              <a:rPr lang="en-US" altLang="zh-CN"/>
              <a:t>{h, i, j, k}</a:t>
            </a:r>
            <a:r>
              <a:rPr lang="zh-CN" altLang="en-US"/>
              <a:t>，无下界。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        </a:t>
            </a:r>
            <a:r>
              <a:rPr lang="en-US" altLang="zh-CN"/>
              <a:t>C</a:t>
            </a:r>
            <a:r>
              <a:rPr lang="zh-CN" altLang="en-US"/>
              <a:t>无上界，下界：</a:t>
            </a:r>
            <a:r>
              <a:rPr lang="en-US" altLang="zh-CN"/>
              <a:t>{f, g, a, b, c, d, e}</a:t>
            </a:r>
            <a:r>
              <a:rPr lang="zh-CN" altLang="en-US"/>
              <a:t>。</a:t>
            </a:r>
          </a:p>
        </p:txBody>
      </p:sp>
      <p:sp>
        <p:nvSpPr>
          <p:cNvPr id="274437" name="Text Box 5"/>
          <p:cNvSpPr txBox="1">
            <a:spLocks noChangeArrowheads="1"/>
          </p:cNvSpPr>
          <p:nvPr/>
        </p:nvSpPr>
        <p:spPr bwMode="auto">
          <a:xfrm>
            <a:off x="466725" y="4878388"/>
            <a:ext cx="6408738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0" lang="zh-CN" altLang="en-US"/>
              <a:t>上界下界不一定存在，并且不唯一。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  <p:bldP spid="274437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445AC6-6922-44CA-800A-A714E41957FC}" type="slidenum">
              <a:rPr lang="en-US" altLang="zh-CN"/>
              <a:pPr/>
              <a:t>131</a:t>
            </a:fld>
            <a:endParaRPr lang="en-US" altLang="zh-CN"/>
          </a:p>
        </p:txBody>
      </p:sp>
      <p:graphicFrame>
        <p:nvGraphicFramePr>
          <p:cNvPr id="275458" name="Object 2"/>
          <p:cNvGraphicFramePr>
            <a:graphicFrameLocks noChangeAspect="1"/>
          </p:cNvGraphicFramePr>
          <p:nvPr/>
        </p:nvGraphicFramePr>
        <p:xfrm>
          <a:off x="4356100" y="2708275"/>
          <a:ext cx="1600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56" name="BMP 图象" r:id="rId3" imgW="695238" imgH="1123810" progId="Paint.Picture">
                  <p:embed/>
                </p:oleObj>
              </mc:Choice>
              <mc:Fallback>
                <p:oleObj name="BMP 图象" r:id="rId3" imgW="695238" imgH="112381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708275"/>
                        <a:ext cx="16002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59" name="Rectangle 3"/>
          <p:cNvSpPr>
            <a:spLocks noChangeArrowheads="1"/>
          </p:cNvSpPr>
          <p:nvPr/>
        </p:nvSpPr>
        <p:spPr bwMode="auto">
          <a:xfrm>
            <a:off x="468313" y="1484313"/>
            <a:ext cx="81375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11</a:t>
            </a:r>
            <a:r>
              <a:rPr lang="zh-CN" altLang="en-US">
                <a:solidFill>
                  <a:schemeClr val="hlink"/>
                </a:solidFill>
              </a:rPr>
              <a:t>： </a:t>
            </a:r>
            <a:r>
              <a:rPr lang="zh-CN" altLang="en-US"/>
              <a:t>偏序关系哈斯图如下，求</a:t>
            </a:r>
            <a:r>
              <a:rPr lang="en-US" altLang="zh-CN"/>
              <a:t>B = {2, 3, 6}</a:t>
            </a:r>
            <a:r>
              <a:rPr lang="zh-CN" altLang="en-US"/>
              <a:t>和</a:t>
            </a:r>
            <a:r>
              <a:rPr lang="en-US" altLang="zh-CN"/>
              <a:t>C= {6, 12}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/>
              <a:t>的最小上界和最大下界。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9A44B2-69F3-45BE-9421-31A36F19264B}" type="slidenum">
              <a:rPr lang="en-US" altLang="zh-CN"/>
              <a:pPr/>
              <a:t>132</a:t>
            </a:fld>
            <a:endParaRPr lang="en-US" altLang="zh-CN"/>
          </a:p>
        </p:txBody>
      </p:sp>
      <p:sp>
        <p:nvSpPr>
          <p:cNvPr id="276483" name="Rectangle 3"/>
          <p:cNvSpPr>
            <a:spLocks noChangeArrowheads="1"/>
          </p:cNvSpPr>
          <p:nvPr/>
        </p:nvSpPr>
        <p:spPr bwMode="auto">
          <a:xfrm>
            <a:off x="501650" y="1268413"/>
            <a:ext cx="8174038" cy="2973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+mn-lt"/>
              </a:rPr>
              <a:t>定义</a:t>
            </a:r>
            <a:r>
              <a:rPr lang="en-US" altLang="zh-CN" dirty="0">
                <a:solidFill>
                  <a:schemeClr val="hlink"/>
                </a:solidFill>
                <a:latin typeface="+mn-lt"/>
              </a:rPr>
              <a:t>3-12.9</a:t>
            </a:r>
            <a:r>
              <a:rPr lang="zh-CN" altLang="en-US" dirty="0">
                <a:solidFill>
                  <a:schemeClr val="hlink"/>
                </a:solidFill>
                <a:latin typeface="+mn-lt"/>
              </a:rPr>
              <a:t>：</a:t>
            </a:r>
            <a:r>
              <a:rPr lang="zh-CN" altLang="en-US" dirty="0">
                <a:latin typeface="+mn-lt"/>
              </a:rPr>
              <a:t>任一偏序集合，若它的每一非空子集存在最小元素，这种偏序集称为</a:t>
            </a:r>
            <a:r>
              <a:rPr lang="zh-CN" altLang="en-US" i="1" dirty="0">
                <a:solidFill>
                  <a:schemeClr val="hlink"/>
                </a:solidFill>
                <a:latin typeface="+mn-lt"/>
              </a:rPr>
              <a:t>良序的</a:t>
            </a:r>
            <a:r>
              <a:rPr lang="zh-CN" altLang="en-US" i="1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CN" altLang="en-US" dirty="0">
                <a:latin typeface="+mn-lt"/>
              </a:rPr>
              <a:t>也称为良序集合。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+mn-lt"/>
              </a:rPr>
              <a:t>例如：</a:t>
            </a:r>
            <a:r>
              <a:rPr lang="en-US" altLang="zh-CN" dirty="0">
                <a:latin typeface="+mn-lt"/>
              </a:rPr>
              <a:t>I</a:t>
            </a:r>
            <a:r>
              <a:rPr lang="en-US" altLang="zh-CN" baseline="-25000" dirty="0">
                <a:latin typeface="+mn-lt"/>
              </a:rPr>
              <a:t>n</a:t>
            </a:r>
            <a:r>
              <a:rPr lang="en-US" altLang="zh-CN" dirty="0">
                <a:latin typeface="+mn-lt"/>
              </a:rPr>
              <a:t>={1,2,3,4,…,n}</a:t>
            </a:r>
            <a:r>
              <a:rPr lang="zh-CN" altLang="en-US" dirty="0">
                <a:latin typeface="+mn-lt"/>
              </a:rPr>
              <a:t>及</a:t>
            </a:r>
            <a:r>
              <a:rPr lang="en-US" altLang="zh-CN" dirty="0">
                <a:latin typeface="+mn-lt"/>
              </a:rPr>
              <a:t>N={1,2,…}</a:t>
            </a:r>
            <a:r>
              <a:rPr lang="zh-CN" altLang="en-US" dirty="0">
                <a:latin typeface="+mn-lt"/>
              </a:rPr>
              <a:t>上小于等于关系。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en-US" altLang="zh-CN" dirty="0">
                <a:latin typeface="+mn-lt"/>
              </a:rPr>
              <a:t>&lt;I</a:t>
            </a:r>
            <a:r>
              <a:rPr lang="en-US" altLang="zh-CN" baseline="-25000" dirty="0">
                <a:latin typeface="+mn-lt"/>
              </a:rPr>
              <a:t>n</a:t>
            </a:r>
            <a:r>
              <a:rPr lang="en-US" altLang="zh-CN" dirty="0">
                <a:latin typeface="+mn-lt"/>
              </a:rPr>
              <a:t>, ≤&gt;</a:t>
            </a:r>
            <a:r>
              <a:rPr lang="zh-CN" altLang="en-US" dirty="0">
                <a:latin typeface="+mn-lt"/>
              </a:rPr>
              <a:t>，</a:t>
            </a:r>
            <a:r>
              <a:rPr lang="en-US" altLang="zh-CN" dirty="0">
                <a:latin typeface="+mn-lt"/>
              </a:rPr>
              <a:t>&lt;N, ≤&gt;</a:t>
            </a:r>
            <a:r>
              <a:rPr lang="zh-CN" altLang="en-US" dirty="0">
                <a:latin typeface="+mn-lt"/>
              </a:rPr>
              <a:t>是良序集合。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dirty="0">
                <a:solidFill>
                  <a:schemeClr val="hlink"/>
                </a:solidFill>
                <a:latin typeface="+mn-lt"/>
              </a:rPr>
              <a:t>定理</a:t>
            </a:r>
            <a:r>
              <a:rPr lang="en-US" altLang="zh-CN" dirty="0">
                <a:solidFill>
                  <a:schemeClr val="hlink"/>
                </a:solidFill>
                <a:latin typeface="+mn-lt"/>
              </a:rPr>
              <a:t>3-12.2</a:t>
            </a:r>
            <a:r>
              <a:rPr lang="zh-CN" altLang="en-US" dirty="0">
                <a:solidFill>
                  <a:schemeClr val="hlink"/>
                </a:solidFill>
                <a:latin typeface="+mn-lt"/>
              </a:rPr>
              <a:t>：</a:t>
            </a:r>
            <a:r>
              <a:rPr lang="zh-CN" altLang="en-US" dirty="0">
                <a:latin typeface="+mn-lt"/>
              </a:rPr>
              <a:t>每一个良序集合，一定是全序集合</a:t>
            </a:r>
            <a:r>
              <a:rPr lang="zh-CN" altLang="en-US" dirty="0" smtClean="0">
                <a:latin typeface="+mn-lt"/>
              </a:rPr>
              <a:t>。</a:t>
            </a:r>
            <a:endParaRPr lang="en-US" altLang="zh-CN" dirty="0" smtClean="0">
              <a:latin typeface="+mn-lt"/>
            </a:endParaRPr>
          </a:p>
          <a:p>
            <a:pPr>
              <a:lnSpc>
                <a:spcPct val="130000"/>
              </a:lnSpc>
              <a:buClrTx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3-12.3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每一个有限的全序集合，一定是良序集合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276486" name="Rectangle 6"/>
          <p:cNvSpPr>
            <a:spLocks noChangeArrowheads="1"/>
          </p:cNvSpPr>
          <p:nvPr/>
        </p:nvSpPr>
        <p:spPr bwMode="auto">
          <a:xfrm>
            <a:off x="1258888" y="333375"/>
            <a:ext cx="4176712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Tx/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ea typeface="楷体_GB2312" pitchFamily="49" charset="-122"/>
              </a:rPr>
              <a:t>四、偏序集的性质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2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993300"/>
          </a:buClr>
          <a:buSzTx/>
          <a:buFont typeface="Wingdings" pitchFamily="2" charset="2"/>
          <a:buChar char="Ø"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993300"/>
          </a:buClr>
          <a:buSzTx/>
          <a:buFont typeface="Wingdings" pitchFamily="2" charset="2"/>
          <a:buChar char="Ø"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5783</TotalTime>
  <Words>11733</Words>
  <Application>Microsoft Office PowerPoint</Application>
  <PresentationFormat>全屏显示(4:3)</PresentationFormat>
  <Paragraphs>994</Paragraphs>
  <Slides>132</Slides>
  <Notes>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132</vt:i4>
      </vt:variant>
    </vt:vector>
  </HeadingPairs>
  <TitlesOfParts>
    <vt:vector size="136" baseType="lpstr">
      <vt:lpstr>Blends</vt:lpstr>
      <vt:lpstr>Visio</vt:lpstr>
      <vt:lpstr>Equation</vt:lpstr>
      <vt:lpstr>BMP 图象</vt:lpstr>
      <vt:lpstr>第二篇 集合论</vt:lpstr>
      <vt:lpstr>第三章      集合与关系</vt:lpstr>
      <vt:lpstr>3-1   集合的概念和表示法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3-2  集合的运算</vt:lpstr>
      <vt:lpstr>PowerPoint 演示文稿</vt:lpstr>
      <vt:lpstr>PowerPoint 演示文稿</vt:lpstr>
      <vt:lpstr>PowerPoint 演示文稿</vt:lpstr>
      <vt:lpstr>复习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3-4  序偶与笛卡尔积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3-5   关系及其表示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  习</vt:lpstr>
      <vt:lpstr>PowerPoint 演示文稿</vt:lpstr>
      <vt:lpstr>PowerPoint 演示文稿</vt:lpstr>
      <vt:lpstr>PowerPoint 演示文稿</vt:lpstr>
      <vt:lpstr>3-6   关系的性质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3-7   复合关系和关系的逆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  习</vt:lpstr>
      <vt:lpstr>3-8   关系的闭包运算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复习</vt:lpstr>
      <vt:lpstr>3-9  集合的划分和覆盖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3-10   等价关系与等价类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3-11  相容关系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复习</vt:lpstr>
      <vt:lpstr>PowerPoint 演示文稿</vt:lpstr>
      <vt:lpstr>PowerPoint 演示文稿</vt:lpstr>
      <vt:lpstr>PowerPoint 演示文稿</vt:lpstr>
      <vt:lpstr>3-12   序关系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丁伦</dc:creator>
  <cp:lastModifiedBy>Sky123.Org</cp:lastModifiedBy>
  <cp:revision>2353</cp:revision>
  <dcterms:created xsi:type="dcterms:W3CDTF">2002-08-05T07:56:52Z</dcterms:created>
  <dcterms:modified xsi:type="dcterms:W3CDTF">2019-10-28T02:51:06Z</dcterms:modified>
</cp:coreProperties>
</file>