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5" r:id="rId1"/>
    <p:sldMasterId id="2147483667" r:id="rId2"/>
    <p:sldMasterId id="2147483680" r:id="rId3"/>
  </p:sldMasterIdLst>
  <p:notesMasterIdLst>
    <p:notesMasterId r:id="rId101"/>
  </p:notesMasterIdLst>
  <p:sldIdLst>
    <p:sldId id="573" r:id="rId4"/>
    <p:sldId id="566" r:id="rId5"/>
    <p:sldId id="567" r:id="rId6"/>
    <p:sldId id="583" r:id="rId7"/>
    <p:sldId id="584" r:id="rId8"/>
    <p:sldId id="585" r:id="rId9"/>
    <p:sldId id="586" r:id="rId10"/>
    <p:sldId id="572" r:id="rId11"/>
    <p:sldId id="587" r:id="rId12"/>
    <p:sldId id="262" r:id="rId13"/>
    <p:sldId id="331" r:id="rId14"/>
    <p:sldId id="528" r:id="rId15"/>
    <p:sldId id="266" r:id="rId16"/>
    <p:sldId id="264" r:id="rId17"/>
    <p:sldId id="267" r:id="rId18"/>
    <p:sldId id="333" r:id="rId19"/>
    <p:sldId id="352" r:id="rId20"/>
    <p:sldId id="490" r:id="rId21"/>
    <p:sldId id="334" r:id="rId22"/>
    <p:sldId id="353" r:id="rId23"/>
    <p:sldId id="283" r:id="rId24"/>
    <p:sldId id="351" r:id="rId25"/>
    <p:sldId id="356" r:id="rId26"/>
    <p:sldId id="357" r:id="rId27"/>
    <p:sldId id="358" r:id="rId28"/>
    <p:sldId id="359" r:id="rId29"/>
    <p:sldId id="360" r:id="rId30"/>
    <p:sldId id="588" r:id="rId31"/>
    <p:sldId id="361" r:id="rId32"/>
    <p:sldId id="355" r:id="rId33"/>
    <p:sldId id="362" r:id="rId34"/>
    <p:sldId id="529" r:id="rId35"/>
    <p:sldId id="292" r:id="rId36"/>
    <p:sldId id="370" r:id="rId37"/>
    <p:sldId id="364" r:id="rId38"/>
    <p:sldId id="371" r:id="rId39"/>
    <p:sldId id="533" r:id="rId40"/>
    <p:sldId id="534" r:id="rId41"/>
    <p:sldId id="369" r:id="rId42"/>
    <p:sldId id="486" r:id="rId43"/>
    <p:sldId id="535" r:id="rId44"/>
    <p:sldId id="492" r:id="rId45"/>
    <p:sldId id="493" r:id="rId46"/>
    <p:sldId id="536" r:id="rId47"/>
    <p:sldId id="494" r:id="rId48"/>
    <p:sldId id="495" r:id="rId49"/>
    <p:sldId id="496" r:id="rId50"/>
    <p:sldId id="537" r:id="rId51"/>
    <p:sldId id="497" r:id="rId52"/>
    <p:sldId id="498" r:id="rId53"/>
    <p:sldId id="499" r:id="rId54"/>
    <p:sldId id="500" r:id="rId55"/>
    <p:sldId id="538" r:id="rId56"/>
    <p:sldId id="539" r:id="rId57"/>
    <p:sldId id="540" r:id="rId58"/>
    <p:sldId id="577" r:id="rId59"/>
    <p:sldId id="576" r:id="rId60"/>
    <p:sldId id="501" r:id="rId61"/>
    <p:sldId id="502" r:id="rId62"/>
    <p:sldId id="503" r:id="rId63"/>
    <p:sldId id="504" r:id="rId64"/>
    <p:sldId id="541" r:id="rId65"/>
    <p:sldId id="505" r:id="rId66"/>
    <p:sldId id="506" r:id="rId67"/>
    <p:sldId id="507" r:id="rId68"/>
    <p:sldId id="508" r:id="rId69"/>
    <p:sldId id="543" r:id="rId70"/>
    <p:sldId id="544" r:id="rId71"/>
    <p:sldId id="545" r:id="rId72"/>
    <p:sldId id="511" r:id="rId73"/>
    <p:sldId id="512" r:id="rId74"/>
    <p:sldId id="547" r:id="rId75"/>
    <p:sldId id="550" r:id="rId76"/>
    <p:sldId id="514" r:id="rId77"/>
    <p:sldId id="515" r:id="rId78"/>
    <p:sldId id="516" r:id="rId79"/>
    <p:sldId id="581" r:id="rId80"/>
    <p:sldId id="580" r:id="rId81"/>
    <p:sldId id="517" r:id="rId82"/>
    <p:sldId id="518" r:id="rId83"/>
    <p:sldId id="519" r:id="rId84"/>
    <p:sldId id="520" r:id="rId85"/>
    <p:sldId id="521" r:id="rId86"/>
    <p:sldId id="522" r:id="rId87"/>
    <p:sldId id="552" r:id="rId88"/>
    <p:sldId id="523" r:id="rId89"/>
    <p:sldId id="524" r:id="rId90"/>
    <p:sldId id="553" r:id="rId91"/>
    <p:sldId id="554" r:id="rId92"/>
    <p:sldId id="555" r:id="rId93"/>
    <p:sldId id="556" r:id="rId94"/>
    <p:sldId id="557" r:id="rId95"/>
    <p:sldId id="582" r:id="rId96"/>
    <p:sldId id="558" r:id="rId97"/>
    <p:sldId id="559" r:id="rId98"/>
    <p:sldId id="560" r:id="rId99"/>
    <p:sldId id="561" r:id="rId100"/>
  </p:sldIdLst>
  <p:sldSz cx="9144000" cy="6858000" type="screen4x3"/>
  <p:notesSz cx="6858000" cy="9144000"/>
  <p:defaultTextStyle>
    <a:defPPr>
      <a:defRPr lang="zh-CN"/>
    </a:defPPr>
    <a:lvl1pPr algn="ctr" rtl="0" fontAlgn="base">
      <a:spcBef>
        <a:spcPct val="0"/>
      </a:spcBef>
      <a:spcAft>
        <a:spcPct val="0"/>
      </a:spcAft>
      <a:defRPr kumimoji="1" sz="2400" kern="1200">
        <a:solidFill>
          <a:schemeClr val="tx1"/>
        </a:solidFill>
        <a:latin typeface="Times New Roman" pitchFamily="18" charset="0"/>
        <a:ea typeface="宋体" charset="-122"/>
        <a:cs typeface="+mn-cs"/>
      </a:defRPr>
    </a:lvl1pPr>
    <a:lvl2pPr marL="457200" algn="ctr" rtl="0" fontAlgn="base">
      <a:spcBef>
        <a:spcPct val="0"/>
      </a:spcBef>
      <a:spcAft>
        <a:spcPct val="0"/>
      </a:spcAft>
      <a:defRPr kumimoji="1" sz="2400" kern="1200">
        <a:solidFill>
          <a:schemeClr val="tx1"/>
        </a:solidFill>
        <a:latin typeface="Times New Roman" pitchFamily="18" charset="0"/>
        <a:ea typeface="宋体" charset="-122"/>
        <a:cs typeface="+mn-cs"/>
      </a:defRPr>
    </a:lvl2pPr>
    <a:lvl3pPr marL="914400" algn="ctr" rtl="0" fontAlgn="base">
      <a:spcBef>
        <a:spcPct val="0"/>
      </a:spcBef>
      <a:spcAft>
        <a:spcPct val="0"/>
      </a:spcAft>
      <a:defRPr kumimoji="1" sz="2400" kern="1200">
        <a:solidFill>
          <a:schemeClr val="tx1"/>
        </a:solidFill>
        <a:latin typeface="Times New Roman" pitchFamily="18" charset="0"/>
        <a:ea typeface="宋体" charset="-122"/>
        <a:cs typeface="+mn-cs"/>
      </a:defRPr>
    </a:lvl3pPr>
    <a:lvl4pPr marL="1371600" algn="ctr" rtl="0" fontAlgn="base">
      <a:spcBef>
        <a:spcPct val="0"/>
      </a:spcBef>
      <a:spcAft>
        <a:spcPct val="0"/>
      </a:spcAft>
      <a:defRPr kumimoji="1" sz="2400" kern="1200">
        <a:solidFill>
          <a:schemeClr val="tx1"/>
        </a:solidFill>
        <a:latin typeface="Times New Roman" pitchFamily="18" charset="0"/>
        <a:ea typeface="宋体" charset="-122"/>
        <a:cs typeface="+mn-cs"/>
      </a:defRPr>
    </a:lvl4pPr>
    <a:lvl5pPr marL="1828800" algn="ctr" rtl="0" fontAlgn="base">
      <a:spcBef>
        <a:spcPct val="0"/>
      </a:spcBef>
      <a:spcAft>
        <a:spcPct val="0"/>
      </a:spcAft>
      <a:defRPr kumimoji="1" sz="2400" kern="1200">
        <a:solidFill>
          <a:schemeClr val="tx1"/>
        </a:solidFill>
        <a:latin typeface="Times New Roman" pitchFamily="18" charset="0"/>
        <a:ea typeface="宋体" charset="-122"/>
        <a:cs typeface="+mn-cs"/>
      </a:defRPr>
    </a:lvl5pPr>
    <a:lvl6pPr marL="2286000" algn="l" defTabSz="914400" rtl="0" eaLnBrk="1" latinLnBrk="0" hangingPunct="1">
      <a:defRPr kumimoji="1" sz="2400" kern="1200">
        <a:solidFill>
          <a:schemeClr val="tx1"/>
        </a:solidFill>
        <a:latin typeface="Times New Roman" pitchFamily="18" charset="0"/>
        <a:ea typeface="宋体" charset="-122"/>
        <a:cs typeface="+mn-cs"/>
      </a:defRPr>
    </a:lvl6pPr>
    <a:lvl7pPr marL="2743200" algn="l" defTabSz="914400" rtl="0" eaLnBrk="1" latinLnBrk="0" hangingPunct="1">
      <a:defRPr kumimoji="1" sz="2400" kern="1200">
        <a:solidFill>
          <a:schemeClr val="tx1"/>
        </a:solidFill>
        <a:latin typeface="Times New Roman" pitchFamily="18" charset="0"/>
        <a:ea typeface="宋体" charset="-122"/>
        <a:cs typeface="+mn-cs"/>
      </a:defRPr>
    </a:lvl7pPr>
    <a:lvl8pPr marL="3200400" algn="l" defTabSz="914400" rtl="0" eaLnBrk="1" latinLnBrk="0" hangingPunct="1">
      <a:defRPr kumimoji="1" sz="2400" kern="1200">
        <a:solidFill>
          <a:schemeClr val="tx1"/>
        </a:solidFill>
        <a:latin typeface="Times New Roman" pitchFamily="18" charset="0"/>
        <a:ea typeface="宋体" charset="-122"/>
        <a:cs typeface="+mn-cs"/>
      </a:defRPr>
    </a:lvl8pPr>
    <a:lvl9pPr marL="3657600" algn="l" defTabSz="914400" rtl="0" eaLnBrk="1" latinLnBrk="0" hangingPunct="1">
      <a:defRPr kumimoji="1" sz="2400" kern="1200">
        <a:solidFill>
          <a:schemeClr val="tx1"/>
        </a:solidFill>
        <a:latin typeface="Times New Roman" pitchFamily="18" charset="0"/>
        <a:ea typeface="宋体"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60066"/>
    <a:srgbClr val="FF9900"/>
    <a:srgbClr val="FFFFCC"/>
    <a:srgbClr val="0000CC"/>
    <a:srgbClr val="003300"/>
    <a:srgbClr val="FFFF00"/>
    <a:srgbClr val="00FFFF"/>
    <a:srgbClr val="99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966" autoAdjust="0"/>
  </p:normalViewPr>
  <p:slideViewPr>
    <p:cSldViewPr>
      <p:cViewPr varScale="1">
        <p:scale>
          <a:sx n="63" d="100"/>
          <a:sy n="63" d="100"/>
        </p:scale>
        <p:origin x="-1512" y="-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84" Type="http://schemas.openxmlformats.org/officeDocument/2006/relationships/slide" Target="slides/slide81.xml"/><Relationship Id="rId89" Type="http://schemas.openxmlformats.org/officeDocument/2006/relationships/slide" Target="slides/slide86.xml"/><Relationship Id="rId7" Type="http://schemas.openxmlformats.org/officeDocument/2006/relationships/slide" Target="slides/slide4.xml"/><Relationship Id="rId71" Type="http://schemas.openxmlformats.org/officeDocument/2006/relationships/slide" Target="slides/slide68.xml"/><Relationship Id="rId92" Type="http://schemas.openxmlformats.org/officeDocument/2006/relationships/slide" Target="slides/slide89.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slide" Target="slides/slide71.xml"/><Relationship Id="rId79" Type="http://schemas.openxmlformats.org/officeDocument/2006/relationships/slide" Target="slides/slide76.xml"/><Relationship Id="rId87" Type="http://schemas.openxmlformats.org/officeDocument/2006/relationships/slide" Target="slides/slide84.xml"/><Relationship Id="rId102" Type="http://schemas.openxmlformats.org/officeDocument/2006/relationships/presProps" Target="presProps.xml"/><Relationship Id="rId5" Type="http://schemas.openxmlformats.org/officeDocument/2006/relationships/slide" Target="slides/slide2.xml"/><Relationship Id="rId61" Type="http://schemas.openxmlformats.org/officeDocument/2006/relationships/slide" Target="slides/slide58.xml"/><Relationship Id="rId82" Type="http://schemas.openxmlformats.org/officeDocument/2006/relationships/slide" Target="slides/slide79.xml"/><Relationship Id="rId90" Type="http://schemas.openxmlformats.org/officeDocument/2006/relationships/slide" Target="slides/slide87.xml"/><Relationship Id="rId95" Type="http://schemas.openxmlformats.org/officeDocument/2006/relationships/slide" Target="slides/slide92.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slide" Target="slides/slide74.xml"/><Relationship Id="rId100" Type="http://schemas.openxmlformats.org/officeDocument/2006/relationships/slide" Target="slides/slide97.xml"/><Relationship Id="rId105"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slide" Target="slides/slide69.xml"/><Relationship Id="rId80" Type="http://schemas.openxmlformats.org/officeDocument/2006/relationships/slide" Target="slides/slide77.xml"/><Relationship Id="rId85" Type="http://schemas.openxmlformats.org/officeDocument/2006/relationships/slide" Target="slides/slide82.xml"/><Relationship Id="rId93" Type="http://schemas.openxmlformats.org/officeDocument/2006/relationships/slide" Target="slides/slide90.xml"/><Relationship Id="rId98" Type="http://schemas.openxmlformats.org/officeDocument/2006/relationships/slide" Target="slides/slide9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103" Type="http://schemas.openxmlformats.org/officeDocument/2006/relationships/viewProps" Target="viewProps.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slide" Target="slides/slide72.xml"/><Relationship Id="rId83" Type="http://schemas.openxmlformats.org/officeDocument/2006/relationships/slide" Target="slides/slide80.xml"/><Relationship Id="rId88" Type="http://schemas.openxmlformats.org/officeDocument/2006/relationships/slide" Target="slides/slide85.xml"/><Relationship Id="rId91" Type="http://schemas.openxmlformats.org/officeDocument/2006/relationships/slide" Target="slides/slide88.xml"/><Relationship Id="rId96" Type="http://schemas.openxmlformats.org/officeDocument/2006/relationships/slide" Target="slides/slide93.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slide" Target="slides/slide70.xml"/><Relationship Id="rId78" Type="http://schemas.openxmlformats.org/officeDocument/2006/relationships/slide" Target="slides/slide75.xml"/><Relationship Id="rId81" Type="http://schemas.openxmlformats.org/officeDocument/2006/relationships/slide" Target="slides/slide78.xml"/><Relationship Id="rId86" Type="http://schemas.openxmlformats.org/officeDocument/2006/relationships/slide" Target="slides/slide83.xml"/><Relationship Id="rId94" Type="http://schemas.openxmlformats.org/officeDocument/2006/relationships/slide" Target="slides/slide91.xml"/><Relationship Id="rId99" Type="http://schemas.openxmlformats.org/officeDocument/2006/relationships/slide" Target="slides/slide96.xml"/><Relationship Id="rId101"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slide" Target="slides/slide73.xml"/><Relationship Id="rId97" Type="http://schemas.openxmlformats.org/officeDocument/2006/relationships/slide" Target="slides/slide94.xml"/><Relationship Id="rId10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ltLang="zh-CN"/>
          </a:p>
        </p:txBody>
      </p:sp>
      <p:sp>
        <p:nvSpPr>
          <p:cNvPr id="104451"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0445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04453"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4454"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ltLang="zh-CN"/>
          </a:p>
        </p:txBody>
      </p:sp>
      <p:sp>
        <p:nvSpPr>
          <p:cNvPr id="104455"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9E1C40BF-32BC-4C91-ADEE-BF97A9A33DF5}" type="slidenum">
              <a:rPr lang="en-US" altLang="zh-CN"/>
              <a:pPr/>
              <a:t>‹#›</a:t>
            </a:fld>
            <a:endParaRPr lang="en-US" altLang="zh-CN"/>
          </a:p>
        </p:txBody>
      </p:sp>
    </p:spTree>
    <p:extLst>
      <p:ext uri="{BB962C8B-B14F-4D97-AF65-F5344CB8AC3E}">
        <p14:creationId xmlns:p14="http://schemas.microsoft.com/office/powerpoint/2010/main" val="2303573754"/>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宋体" charset="-122"/>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宋体" charset="-122"/>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宋体" charset="-122"/>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宋体" charset="-122"/>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宋体"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75106" name="Group 2"/>
          <p:cNvGrpSpPr>
            <a:grpSpLocks/>
          </p:cNvGrpSpPr>
          <p:nvPr/>
        </p:nvGrpSpPr>
        <p:grpSpPr bwMode="auto">
          <a:xfrm>
            <a:off x="0" y="1728788"/>
            <a:ext cx="9009063" cy="1052512"/>
            <a:chOff x="0" y="1536"/>
            <a:chExt cx="5675" cy="663"/>
          </a:xfrm>
        </p:grpSpPr>
        <p:grpSp>
          <p:nvGrpSpPr>
            <p:cNvPr id="175107" name="Group 3"/>
            <p:cNvGrpSpPr>
              <a:grpSpLocks/>
            </p:cNvGrpSpPr>
            <p:nvPr/>
          </p:nvGrpSpPr>
          <p:grpSpPr bwMode="auto">
            <a:xfrm>
              <a:off x="183" y="1604"/>
              <a:ext cx="448" cy="299"/>
              <a:chOff x="720" y="336"/>
              <a:chExt cx="624" cy="432"/>
            </a:xfrm>
          </p:grpSpPr>
          <p:sp>
            <p:nvSpPr>
              <p:cNvPr id="175108"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09"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175110" name="Group 6"/>
            <p:cNvGrpSpPr>
              <a:grpSpLocks/>
            </p:cNvGrpSpPr>
            <p:nvPr/>
          </p:nvGrpSpPr>
          <p:grpSpPr bwMode="auto">
            <a:xfrm>
              <a:off x="261" y="1870"/>
              <a:ext cx="465" cy="299"/>
              <a:chOff x="912" y="2640"/>
              <a:chExt cx="672" cy="432"/>
            </a:xfrm>
          </p:grpSpPr>
          <p:sp>
            <p:nvSpPr>
              <p:cNvPr id="175111"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2"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5113"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4"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5115"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175116" name="Rectangle 12"/>
          <p:cNvSpPr>
            <a:spLocks noGrp="1" noChangeArrowheads="1"/>
          </p:cNvSpPr>
          <p:nvPr>
            <p:ph type="ctrTitle"/>
          </p:nvPr>
        </p:nvSpPr>
        <p:spPr>
          <a:xfrm>
            <a:off x="1062038" y="1196975"/>
            <a:ext cx="7397750" cy="1223963"/>
          </a:xfrm>
        </p:spPr>
        <p:txBody>
          <a:bodyPr/>
          <a:lstStyle>
            <a:lvl1pPr>
              <a:defRPr>
                <a:ea typeface="华文行楷" pitchFamily="2" charset="-122"/>
              </a:defRPr>
            </a:lvl1pPr>
          </a:lstStyle>
          <a:p>
            <a:pPr lvl="0"/>
            <a:r>
              <a:rPr lang="zh-CN" altLang="en-US" noProof="0" smtClean="0"/>
              <a:t>单击此处编辑母版标题样式</a:t>
            </a:r>
          </a:p>
        </p:txBody>
      </p:sp>
      <p:sp>
        <p:nvSpPr>
          <p:cNvPr id="175117" name="Rectangle 13"/>
          <p:cNvSpPr>
            <a:spLocks noGrp="1" noChangeArrowheads="1"/>
          </p:cNvSpPr>
          <p:nvPr>
            <p:ph type="subTitle" idx="1"/>
          </p:nvPr>
        </p:nvSpPr>
        <p:spPr>
          <a:xfrm>
            <a:off x="1371600" y="2924175"/>
            <a:ext cx="6400800" cy="1752600"/>
          </a:xfrm>
        </p:spPr>
        <p:txBody>
          <a:bodyPr/>
          <a:lstStyle>
            <a:lvl1pPr algn="ctr">
              <a:defRPr/>
            </a:lvl1pPr>
          </a:lstStyle>
          <a:p>
            <a:pPr lvl="0"/>
            <a:r>
              <a:rPr lang="zh-CN" altLang="en-US" noProof="0" smtClean="0"/>
              <a:t>单击此处编辑母版副标题样式</a:t>
            </a:r>
          </a:p>
        </p:txBody>
      </p:sp>
      <p:sp>
        <p:nvSpPr>
          <p:cNvPr id="175118" name="Rectangle 14"/>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en-US" altLang="zh-CN"/>
          </a:p>
        </p:txBody>
      </p:sp>
    </p:spTree>
  </p:cSld>
  <p:clrMapOvr>
    <a:masterClrMapping/>
  </p:clrMapOvr>
  <p:transition spd="slow">
    <p:pull dir="ru"/>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F1498900-E972-4C38-B46B-4971437BCD94}" type="slidenum">
              <a:rPr lang="en-US" altLang="zh-CN"/>
              <a:pPr/>
              <a:t>‹#›</a:t>
            </a:fld>
            <a:endParaRPr lang="en-US" altLang="zh-CN"/>
          </a:p>
        </p:txBody>
      </p:sp>
    </p:spTree>
    <p:extLst>
      <p:ext uri="{BB962C8B-B14F-4D97-AF65-F5344CB8AC3E}">
        <p14:creationId xmlns:p14="http://schemas.microsoft.com/office/powerpoint/2010/main" val="4277109261"/>
      </p:ext>
    </p:extLst>
  </p:cSld>
  <p:clrMapOvr>
    <a:masterClrMapping/>
  </p:clrMapOvr>
  <p:transition spd="slow">
    <p:pull dir="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32A28B8E-144D-4D5F-88CB-805490DDDE3F}" type="slidenum">
              <a:rPr lang="en-US" altLang="zh-CN"/>
              <a:pPr/>
              <a:t>‹#›</a:t>
            </a:fld>
            <a:endParaRPr lang="en-US" altLang="zh-CN"/>
          </a:p>
        </p:txBody>
      </p:sp>
    </p:spTree>
    <p:extLst>
      <p:ext uri="{BB962C8B-B14F-4D97-AF65-F5344CB8AC3E}">
        <p14:creationId xmlns:p14="http://schemas.microsoft.com/office/powerpoint/2010/main" val="3108066538"/>
      </p:ext>
    </p:extLst>
  </p:cSld>
  <p:clrMapOvr>
    <a:masterClrMapping/>
  </p:clrMapOvr>
  <p:transition spd="slow">
    <p:pull dir="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27088" y="1628775"/>
            <a:ext cx="3810000" cy="2570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89488" y="1628775"/>
            <a:ext cx="3810000" cy="25701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4EA5BD08-F06F-48D3-954C-D974A69DA38D}" type="slidenum">
              <a:rPr lang="en-US" altLang="zh-CN"/>
              <a:pPr/>
              <a:t>‹#›</a:t>
            </a:fld>
            <a:endParaRPr lang="en-US" altLang="zh-CN"/>
          </a:p>
        </p:txBody>
      </p:sp>
    </p:spTree>
    <p:extLst>
      <p:ext uri="{BB962C8B-B14F-4D97-AF65-F5344CB8AC3E}">
        <p14:creationId xmlns:p14="http://schemas.microsoft.com/office/powerpoint/2010/main" val="1635721241"/>
      </p:ext>
    </p:extLst>
  </p:cSld>
  <p:clrMapOvr>
    <a:masterClrMapping/>
  </p:clrMapOvr>
  <p:transition spd="slow">
    <p:pull dir="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页脚占位符 6"/>
          <p:cNvSpPr>
            <a:spLocks noGrp="1"/>
          </p:cNvSpPr>
          <p:nvPr>
            <p:ph type="ftr" sz="quarter" idx="10"/>
          </p:nvPr>
        </p:nvSpPr>
        <p:spPr/>
        <p:txBody>
          <a:bodyPr/>
          <a:lstStyle>
            <a:lvl1pPr>
              <a:defRPr/>
            </a:lvl1pPr>
          </a:lstStyle>
          <a:p>
            <a:endParaRPr lang="en-US" altLang="zh-CN"/>
          </a:p>
        </p:txBody>
      </p:sp>
      <p:sp>
        <p:nvSpPr>
          <p:cNvPr id="8" name="灯片编号占位符 7"/>
          <p:cNvSpPr>
            <a:spLocks noGrp="1"/>
          </p:cNvSpPr>
          <p:nvPr>
            <p:ph type="sldNum" sz="quarter" idx="11"/>
          </p:nvPr>
        </p:nvSpPr>
        <p:spPr/>
        <p:txBody>
          <a:bodyPr/>
          <a:lstStyle>
            <a:lvl1pPr>
              <a:defRPr/>
            </a:lvl1pPr>
          </a:lstStyle>
          <a:p>
            <a:fld id="{8C98BFFB-3859-44CB-8D15-5C8A6DC87B42}" type="slidenum">
              <a:rPr lang="en-US" altLang="zh-CN"/>
              <a:pPr/>
              <a:t>‹#›</a:t>
            </a:fld>
            <a:endParaRPr lang="en-US" altLang="zh-CN"/>
          </a:p>
        </p:txBody>
      </p:sp>
    </p:spTree>
    <p:extLst>
      <p:ext uri="{BB962C8B-B14F-4D97-AF65-F5344CB8AC3E}">
        <p14:creationId xmlns:p14="http://schemas.microsoft.com/office/powerpoint/2010/main" val="3716862742"/>
      </p:ext>
    </p:extLst>
  </p:cSld>
  <p:clrMapOvr>
    <a:masterClrMapping/>
  </p:clrMapOvr>
  <p:transition spd="slow">
    <p:pull dir="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页脚占位符 2"/>
          <p:cNvSpPr>
            <a:spLocks noGrp="1"/>
          </p:cNvSpPr>
          <p:nvPr>
            <p:ph type="ftr" sz="quarter" idx="10"/>
          </p:nvPr>
        </p:nvSpPr>
        <p:spPr/>
        <p:txBody>
          <a:bodyPr/>
          <a:lstStyle>
            <a:lvl1pPr>
              <a:defRPr/>
            </a:lvl1pPr>
          </a:lstStyle>
          <a:p>
            <a:endParaRPr lang="en-US" altLang="zh-CN"/>
          </a:p>
        </p:txBody>
      </p:sp>
      <p:sp>
        <p:nvSpPr>
          <p:cNvPr id="4" name="灯片编号占位符 3"/>
          <p:cNvSpPr>
            <a:spLocks noGrp="1"/>
          </p:cNvSpPr>
          <p:nvPr>
            <p:ph type="sldNum" sz="quarter" idx="11"/>
          </p:nvPr>
        </p:nvSpPr>
        <p:spPr/>
        <p:txBody>
          <a:bodyPr/>
          <a:lstStyle>
            <a:lvl1pPr>
              <a:defRPr/>
            </a:lvl1pPr>
          </a:lstStyle>
          <a:p>
            <a:fld id="{FEBDE7B7-F006-4A96-AB9E-0E736379F045}" type="slidenum">
              <a:rPr lang="en-US" altLang="zh-CN"/>
              <a:pPr/>
              <a:t>‹#›</a:t>
            </a:fld>
            <a:endParaRPr lang="en-US" altLang="zh-CN"/>
          </a:p>
        </p:txBody>
      </p:sp>
    </p:spTree>
    <p:extLst>
      <p:ext uri="{BB962C8B-B14F-4D97-AF65-F5344CB8AC3E}">
        <p14:creationId xmlns:p14="http://schemas.microsoft.com/office/powerpoint/2010/main" val="1566726790"/>
      </p:ext>
    </p:extLst>
  </p:cSld>
  <p:clrMapOvr>
    <a:masterClrMapping/>
  </p:clrMapOvr>
  <p:transition spd="slow">
    <p:pull dir="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p:cNvSpPr>
            <a:spLocks noGrp="1"/>
          </p:cNvSpPr>
          <p:nvPr>
            <p:ph type="ftr" sz="quarter" idx="10"/>
          </p:nvPr>
        </p:nvSpPr>
        <p:spPr/>
        <p:txBody>
          <a:bodyPr/>
          <a:lstStyle>
            <a:lvl1pPr>
              <a:defRPr/>
            </a:lvl1pPr>
          </a:lstStyle>
          <a:p>
            <a:endParaRPr lang="en-US" altLang="zh-CN"/>
          </a:p>
        </p:txBody>
      </p:sp>
      <p:sp>
        <p:nvSpPr>
          <p:cNvPr id="3" name="灯片编号占位符 2"/>
          <p:cNvSpPr>
            <a:spLocks noGrp="1"/>
          </p:cNvSpPr>
          <p:nvPr>
            <p:ph type="sldNum" sz="quarter" idx="11"/>
          </p:nvPr>
        </p:nvSpPr>
        <p:spPr/>
        <p:txBody>
          <a:bodyPr/>
          <a:lstStyle>
            <a:lvl1pPr>
              <a:defRPr/>
            </a:lvl1pPr>
          </a:lstStyle>
          <a:p>
            <a:fld id="{225C0687-1B21-43E5-AD06-0C30D70B4658}" type="slidenum">
              <a:rPr lang="en-US" altLang="zh-CN"/>
              <a:pPr/>
              <a:t>‹#›</a:t>
            </a:fld>
            <a:endParaRPr lang="en-US" altLang="zh-CN"/>
          </a:p>
        </p:txBody>
      </p:sp>
    </p:spTree>
    <p:extLst>
      <p:ext uri="{BB962C8B-B14F-4D97-AF65-F5344CB8AC3E}">
        <p14:creationId xmlns:p14="http://schemas.microsoft.com/office/powerpoint/2010/main" val="1690706420"/>
      </p:ext>
    </p:extLst>
  </p:cSld>
  <p:clrMapOvr>
    <a:masterClrMapping/>
  </p:clrMapOvr>
  <p:transition spd="slow">
    <p:pull dir="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3EB83A07-59E4-4685-8B68-A72F543DF653}" type="slidenum">
              <a:rPr lang="en-US" altLang="zh-CN"/>
              <a:pPr/>
              <a:t>‹#›</a:t>
            </a:fld>
            <a:endParaRPr lang="en-US" altLang="zh-CN"/>
          </a:p>
        </p:txBody>
      </p:sp>
    </p:spTree>
    <p:extLst>
      <p:ext uri="{BB962C8B-B14F-4D97-AF65-F5344CB8AC3E}">
        <p14:creationId xmlns:p14="http://schemas.microsoft.com/office/powerpoint/2010/main" val="1890093486"/>
      </p:ext>
    </p:extLst>
  </p:cSld>
  <p:clrMapOvr>
    <a:masterClrMapping/>
  </p:clrMapOvr>
  <p:transition spd="slow">
    <p:pull dir="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页脚占位符 4"/>
          <p:cNvSpPr>
            <a:spLocks noGrp="1"/>
          </p:cNvSpPr>
          <p:nvPr>
            <p:ph type="ftr" sz="quarter" idx="10"/>
          </p:nvPr>
        </p:nvSpPr>
        <p:spPr/>
        <p:txBody>
          <a:bodyPr/>
          <a:lstStyle>
            <a:lvl1pPr>
              <a:defRPr/>
            </a:lvl1pPr>
          </a:lstStyle>
          <a:p>
            <a:endParaRPr lang="en-US" altLang="zh-CN"/>
          </a:p>
        </p:txBody>
      </p:sp>
      <p:sp>
        <p:nvSpPr>
          <p:cNvPr id="6" name="灯片编号占位符 5"/>
          <p:cNvSpPr>
            <a:spLocks noGrp="1"/>
          </p:cNvSpPr>
          <p:nvPr>
            <p:ph type="sldNum" sz="quarter" idx="11"/>
          </p:nvPr>
        </p:nvSpPr>
        <p:spPr/>
        <p:txBody>
          <a:bodyPr/>
          <a:lstStyle>
            <a:lvl1pPr>
              <a:defRPr/>
            </a:lvl1pPr>
          </a:lstStyle>
          <a:p>
            <a:fld id="{06DBEBBD-CFC7-48EB-8C18-0DEB10F8A937}" type="slidenum">
              <a:rPr lang="en-US" altLang="zh-CN"/>
              <a:pPr/>
              <a:t>‹#›</a:t>
            </a:fld>
            <a:endParaRPr lang="en-US" altLang="zh-CN"/>
          </a:p>
        </p:txBody>
      </p:sp>
    </p:spTree>
    <p:extLst>
      <p:ext uri="{BB962C8B-B14F-4D97-AF65-F5344CB8AC3E}">
        <p14:creationId xmlns:p14="http://schemas.microsoft.com/office/powerpoint/2010/main" val="3161768250"/>
      </p:ext>
    </p:extLst>
  </p:cSld>
  <p:clrMapOvr>
    <a:masterClrMapping/>
  </p:clrMapOvr>
  <p:transition spd="slow">
    <p:pull dir="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A5C006B8-334C-4131-84A1-66A674835A94}" type="slidenum">
              <a:rPr lang="en-US" altLang="zh-CN"/>
              <a:pPr/>
              <a:t>‹#›</a:t>
            </a:fld>
            <a:endParaRPr lang="en-US" altLang="zh-CN"/>
          </a:p>
        </p:txBody>
      </p:sp>
    </p:spTree>
    <p:extLst>
      <p:ext uri="{BB962C8B-B14F-4D97-AF65-F5344CB8AC3E}">
        <p14:creationId xmlns:p14="http://schemas.microsoft.com/office/powerpoint/2010/main" val="3182605137"/>
      </p:ext>
    </p:extLst>
  </p:cSld>
  <p:clrMapOvr>
    <a:masterClrMapping/>
  </p:clrMapOvr>
  <p:transition spd="slow">
    <p:pull dir="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56388" y="423863"/>
            <a:ext cx="1943100" cy="37750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27088" y="423863"/>
            <a:ext cx="5676900" cy="37750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页脚占位符 3"/>
          <p:cNvSpPr>
            <a:spLocks noGrp="1"/>
          </p:cNvSpPr>
          <p:nvPr>
            <p:ph type="ftr" sz="quarter" idx="10"/>
          </p:nvPr>
        </p:nvSpPr>
        <p:spPr/>
        <p:txBody>
          <a:bodyPr/>
          <a:lstStyle>
            <a:lvl1pPr>
              <a:defRPr/>
            </a:lvl1pPr>
          </a:lstStyle>
          <a:p>
            <a:endParaRPr lang="en-US" altLang="zh-CN"/>
          </a:p>
        </p:txBody>
      </p:sp>
      <p:sp>
        <p:nvSpPr>
          <p:cNvPr id="5" name="灯片编号占位符 4"/>
          <p:cNvSpPr>
            <a:spLocks noGrp="1"/>
          </p:cNvSpPr>
          <p:nvPr>
            <p:ph type="sldNum" sz="quarter" idx="11"/>
          </p:nvPr>
        </p:nvSpPr>
        <p:spPr/>
        <p:txBody>
          <a:bodyPr/>
          <a:lstStyle>
            <a:lvl1pPr>
              <a:defRPr/>
            </a:lvl1pPr>
          </a:lstStyle>
          <a:p>
            <a:fld id="{481060BA-21BE-4D79-BE72-FBD66D6969CA}" type="slidenum">
              <a:rPr lang="en-US" altLang="zh-CN"/>
              <a:pPr/>
              <a:t>‹#›</a:t>
            </a:fld>
            <a:endParaRPr lang="en-US" altLang="zh-CN"/>
          </a:p>
        </p:txBody>
      </p:sp>
    </p:spTree>
    <p:extLst>
      <p:ext uri="{BB962C8B-B14F-4D97-AF65-F5344CB8AC3E}">
        <p14:creationId xmlns:p14="http://schemas.microsoft.com/office/powerpoint/2010/main" val="1432709771"/>
      </p:ext>
    </p:extLst>
  </p:cSld>
  <p:clrMapOvr>
    <a:masterClrMapping/>
  </p:clrMapOvr>
  <p:transition spd="slow">
    <p:pull dir="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1728788"/>
            <a:ext cx="9009063" cy="1052512"/>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grpSp>
      <p:sp>
        <p:nvSpPr>
          <p:cNvPr id="405516" name="Rectangle 12"/>
          <p:cNvSpPr>
            <a:spLocks noGrp="1" noChangeArrowheads="1"/>
          </p:cNvSpPr>
          <p:nvPr>
            <p:ph type="ctrTitle"/>
          </p:nvPr>
        </p:nvSpPr>
        <p:spPr>
          <a:xfrm>
            <a:off x="1062038" y="1196975"/>
            <a:ext cx="7397750" cy="1223963"/>
          </a:xfrm>
        </p:spPr>
        <p:txBody>
          <a:bodyPr/>
          <a:lstStyle>
            <a:lvl1pPr>
              <a:defRPr/>
            </a:lvl1pPr>
          </a:lstStyle>
          <a:p>
            <a:pPr lvl="0"/>
            <a:r>
              <a:rPr lang="zh-CN" altLang="en-US" noProof="0" smtClean="0"/>
              <a:t>单击此处编辑母版标题样式</a:t>
            </a:r>
          </a:p>
        </p:txBody>
      </p:sp>
      <p:sp>
        <p:nvSpPr>
          <p:cNvPr id="405517" name="Rectangle 13"/>
          <p:cNvSpPr>
            <a:spLocks noGrp="1" noChangeArrowheads="1"/>
          </p:cNvSpPr>
          <p:nvPr>
            <p:ph type="subTitle" idx="1"/>
          </p:nvPr>
        </p:nvSpPr>
        <p:spPr>
          <a:xfrm>
            <a:off x="1371600" y="2924175"/>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5"/>
          <p:cNvSpPr>
            <a:spLocks noGrp="1" noChangeArrowheads="1"/>
          </p:cNvSpPr>
          <p:nvPr>
            <p:ph type="ftr" sz="quarter" idx="10"/>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Tree>
    <p:extLst>
      <p:ext uri="{BB962C8B-B14F-4D97-AF65-F5344CB8AC3E}">
        <p14:creationId xmlns:p14="http://schemas.microsoft.com/office/powerpoint/2010/main" val="150142317"/>
      </p:ext>
    </p:extLst>
  </p:cSld>
  <p:clrMapOvr>
    <a:masterClrMapping/>
  </p:clrMapOvr>
  <p:transition spd="slow">
    <p:pull dir="ru"/>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1"/>
          </p:nvPr>
        </p:nvSpPr>
        <p:spPr>
          <a:ln/>
        </p:spPr>
        <p:txBody>
          <a:bodyPr/>
          <a:lstStyle>
            <a:lvl1pPr>
              <a:defRPr/>
            </a:lvl1pPr>
          </a:lstStyle>
          <a:p>
            <a:pPr>
              <a:defRPr/>
            </a:pPr>
            <a:fld id="{14DCCFEF-3015-4D62-B264-71501EB01EDB}"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82827313"/>
      </p:ext>
    </p:extLst>
  </p:cSld>
  <p:clrMapOvr>
    <a:masterClrMapping/>
  </p:clrMapOvr>
  <p:transition spd="slow">
    <p:pull dir="ru"/>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1"/>
          </p:nvPr>
        </p:nvSpPr>
        <p:spPr>
          <a:ln/>
        </p:spPr>
        <p:txBody>
          <a:bodyPr/>
          <a:lstStyle>
            <a:lvl1pPr>
              <a:defRPr/>
            </a:lvl1pPr>
          </a:lstStyle>
          <a:p>
            <a:pPr>
              <a:defRPr/>
            </a:pPr>
            <a:fld id="{F8C82C69-1B54-4C40-AA42-C9FACEC3D23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71737621"/>
      </p:ext>
    </p:extLst>
  </p:cSld>
  <p:clrMapOvr>
    <a:masterClrMapping/>
  </p:clrMapOvr>
  <p:transition spd="slow">
    <p:pull dir="ru"/>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27088" y="1628775"/>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89488" y="1628775"/>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1"/>
          </p:nvPr>
        </p:nvSpPr>
        <p:spPr>
          <a:ln/>
        </p:spPr>
        <p:txBody>
          <a:bodyPr/>
          <a:lstStyle>
            <a:lvl1pPr>
              <a:defRPr/>
            </a:lvl1pPr>
          </a:lstStyle>
          <a:p>
            <a:pPr>
              <a:defRPr/>
            </a:pPr>
            <a:fld id="{6A60F55A-D7BE-4380-9D1A-BF6EF83C222D}"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38269822"/>
      </p:ext>
    </p:extLst>
  </p:cSld>
  <p:clrMapOvr>
    <a:masterClrMapping/>
  </p:clrMapOvr>
  <p:transition spd="slow">
    <p:pull dir="ru"/>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8" name="Rectangle 13"/>
          <p:cNvSpPr>
            <a:spLocks noGrp="1" noChangeArrowheads="1"/>
          </p:cNvSpPr>
          <p:nvPr>
            <p:ph type="sldNum" sz="quarter" idx="11"/>
          </p:nvPr>
        </p:nvSpPr>
        <p:spPr>
          <a:ln/>
        </p:spPr>
        <p:txBody>
          <a:bodyPr/>
          <a:lstStyle>
            <a:lvl1pPr>
              <a:defRPr/>
            </a:lvl1pPr>
          </a:lstStyle>
          <a:p>
            <a:pPr>
              <a:defRPr/>
            </a:pPr>
            <a:fld id="{C0440E60-351A-4EFF-B78F-634890E704E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8049855"/>
      </p:ext>
    </p:extLst>
  </p:cSld>
  <p:clrMapOvr>
    <a:masterClrMapping/>
  </p:clrMapOvr>
  <p:transition spd="slow">
    <p:pull dir="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4" name="Rectangle 13"/>
          <p:cNvSpPr>
            <a:spLocks noGrp="1" noChangeArrowheads="1"/>
          </p:cNvSpPr>
          <p:nvPr>
            <p:ph type="sldNum" sz="quarter" idx="11"/>
          </p:nvPr>
        </p:nvSpPr>
        <p:spPr>
          <a:ln/>
        </p:spPr>
        <p:txBody>
          <a:bodyPr/>
          <a:lstStyle>
            <a:lvl1pPr>
              <a:defRPr/>
            </a:lvl1pPr>
          </a:lstStyle>
          <a:p>
            <a:pPr>
              <a:defRPr/>
            </a:pPr>
            <a:fld id="{73D55D54-AAC8-44A7-A3B6-4764A522DB2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20562297"/>
      </p:ext>
    </p:extLst>
  </p:cSld>
  <p:clrMapOvr>
    <a:masterClrMapping/>
  </p:clrMapOvr>
  <p:transition spd="slow">
    <p:pull dir="ru"/>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3" name="Rectangle 13"/>
          <p:cNvSpPr>
            <a:spLocks noGrp="1" noChangeArrowheads="1"/>
          </p:cNvSpPr>
          <p:nvPr>
            <p:ph type="sldNum" sz="quarter" idx="11"/>
          </p:nvPr>
        </p:nvSpPr>
        <p:spPr>
          <a:ln/>
        </p:spPr>
        <p:txBody>
          <a:bodyPr/>
          <a:lstStyle>
            <a:lvl1pPr>
              <a:defRPr/>
            </a:lvl1pPr>
          </a:lstStyle>
          <a:p>
            <a:pPr>
              <a:defRPr/>
            </a:pPr>
            <a:fld id="{F01FF6FA-8A47-4F54-87EE-BAFBF3EF18FC}"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110880338"/>
      </p:ext>
    </p:extLst>
  </p:cSld>
  <p:clrMapOvr>
    <a:masterClrMapping/>
  </p:clrMapOvr>
  <p:transition spd="slow">
    <p:pull dir="ru"/>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lnSpc>
                <a:spcPct val="130000"/>
              </a:lnSpc>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lnSpc>
                <a:spcPct val="130000"/>
              </a:lnSpc>
              <a:defRPr sz="3200"/>
            </a:lvl1pPr>
            <a:lvl2pPr>
              <a:lnSpc>
                <a:spcPct val="130000"/>
              </a:lnSpc>
              <a:defRPr sz="2800"/>
            </a:lvl2pPr>
            <a:lvl3pPr>
              <a:lnSpc>
                <a:spcPct val="130000"/>
              </a:lnSpc>
              <a:defRPr sz="2400"/>
            </a:lvl3pPr>
            <a:lvl4pPr>
              <a:lnSpc>
                <a:spcPct val="130000"/>
              </a:lnSpc>
              <a:defRPr sz="2000"/>
            </a:lvl4pPr>
            <a:lvl5pPr>
              <a:lnSpc>
                <a:spcPct val="130000"/>
              </a:lnSpc>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lnSpc>
                <a:spcPct val="130000"/>
              </a:lnSpc>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2"/>
          <p:cNvSpPr>
            <a:spLocks noGrp="1" noChangeArrowheads="1"/>
          </p:cNvSpPr>
          <p:nvPr>
            <p:ph type="ftr" sz="quarter" idx="10"/>
          </p:nvPr>
        </p:nvSpPr>
        <p:spPr>
          <a:ln/>
        </p:spPr>
        <p:txBody>
          <a:bodyPr/>
          <a:lstStyle>
            <a:lvl1pPr>
              <a:lnSpc>
                <a:spcPct val="130000"/>
              </a:lnSpc>
              <a:defRPr/>
            </a:lvl1pPr>
          </a:lstStyle>
          <a:p>
            <a:pPr>
              <a:defRPr/>
            </a:pPr>
            <a:endParaRPr lang="en-US" altLang="zh-CN">
              <a:solidFill>
                <a:srgbClr val="000000"/>
              </a:solidFill>
            </a:endParaRPr>
          </a:p>
        </p:txBody>
      </p:sp>
      <p:sp>
        <p:nvSpPr>
          <p:cNvPr id="6" name="Rectangle 13"/>
          <p:cNvSpPr>
            <a:spLocks noGrp="1" noChangeArrowheads="1"/>
          </p:cNvSpPr>
          <p:nvPr>
            <p:ph type="sldNum" sz="quarter" idx="11"/>
          </p:nvPr>
        </p:nvSpPr>
        <p:spPr>
          <a:ln/>
        </p:spPr>
        <p:txBody>
          <a:bodyPr/>
          <a:lstStyle>
            <a:lvl1pPr>
              <a:lnSpc>
                <a:spcPct val="130000"/>
              </a:lnSpc>
              <a:defRPr/>
            </a:lvl1pPr>
          </a:lstStyle>
          <a:p>
            <a:pPr>
              <a:defRPr/>
            </a:pPr>
            <a:fld id="{5724AC56-E586-4BCB-8C79-225BD2DED9E9}"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242426275"/>
      </p:ext>
    </p:extLst>
  </p:cSld>
  <p:clrMapOvr>
    <a:masterClrMapping/>
  </p:clrMapOvr>
  <p:transition spd="slow">
    <p:pull dir="ru"/>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lnSpc>
                <a:spcPct val="130000"/>
              </a:lnSpc>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lnSpc>
                <a:spcPct val="130000"/>
              </a:lnSpc>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lnSpc>
                <a:spcPct val="130000"/>
              </a:lnSpc>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2"/>
          <p:cNvSpPr>
            <a:spLocks noGrp="1" noChangeArrowheads="1"/>
          </p:cNvSpPr>
          <p:nvPr>
            <p:ph type="ftr" sz="quarter" idx="10"/>
          </p:nvPr>
        </p:nvSpPr>
        <p:spPr>
          <a:ln/>
        </p:spPr>
        <p:txBody>
          <a:bodyPr/>
          <a:lstStyle>
            <a:lvl1pPr>
              <a:lnSpc>
                <a:spcPct val="130000"/>
              </a:lnSpc>
              <a:defRPr/>
            </a:lvl1pPr>
          </a:lstStyle>
          <a:p>
            <a:pPr>
              <a:defRPr/>
            </a:pPr>
            <a:endParaRPr lang="en-US" altLang="zh-CN">
              <a:solidFill>
                <a:srgbClr val="000000"/>
              </a:solidFill>
            </a:endParaRPr>
          </a:p>
        </p:txBody>
      </p:sp>
      <p:sp>
        <p:nvSpPr>
          <p:cNvPr id="6" name="Rectangle 13"/>
          <p:cNvSpPr>
            <a:spLocks noGrp="1" noChangeArrowheads="1"/>
          </p:cNvSpPr>
          <p:nvPr>
            <p:ph type="sldNum" sz="quarter" idx="11"/>
          </p:nvPr>
        </p:nvSpPr>
        <p:spPr>
          <a:ln/>
        </p:spPr>
        <p:txBody>
          <a:bodyPr/>
          <a:lstStyle>
            <a:lvl1pPr>
              <a:lnSpc>
                <a:spcPct val="130000"/>
              </a:lnSpc>
              <a:defRPr/>
            </a:lvl1pPr>
          </a:lstStyle>
          <a:p>
            <a:pPr>
              <a:defRPr/>
            </a:pPr>
            <a:fld id="{E48FB836-952C-4138-A829-91C3E613BBCD}"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786661378"/>
      </p:ext>
    </p:extLst>
  </p:cSld>
  <p:clrMapOvr>
    <a:masterClrMapping/>
  </p:clrMapOvr>
  <p:transition spd="slow">
    <p:pull dir="ru"/>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nSpc>
                <a:spcPct val="130000"/>
              </a:lnSpc>
              <a:defRPr/>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ln/>
        </p:spPr>
        <p:txBody>
          <a:bodyPr/>
          <a:lstStyle>
            <a:lvl1pPr>
              <a:lnSpc>
                <a:spcPct val="130000"/>
              </a:lnSpc>
              <a:defRPr/>
            </a:lvl1pPr>
          </a:lstStyle>
          <a:p>
            <a:pPr>
              <a:defRPr/>
            </a:pPr>
            <a:endParaRPr lang="en-US" altLang="zh-CN">
              <a:solidFill>
                <a:srgbClr val="000000"/>
              </a:solidFill>
            </a:endParaRPr>
          </a:p>
        </p:txBody>
      </p:sp>
      <p:sp>
        <p:nvSpPr>
          <p:cNvPr id="5" name="Rectangle 13"/>
          <p:cNvSpPr>
            <a:spLocks noGrp="1" noChangeArrowheads="1"/>
          </p:cNvSpPr>
          <p:nvPr>
            <p:ph type="sldNum" sz="quarter" idx="11"/>
          </p:nvPr>
        </p:nvSpPr>
        <p:spPr>
          <a:ln/>
        </p:spPr>
        <p:txBody>
          <a:bodyPr/>
          <a:lstStyle>
            <a:lvl1pPr>
              <a:lnSpc>
                <a:spcPct val="130000"/>
              </a:lnSpc>
              <a:defRPr/>
            </a:lvl1pPr>
          </a:lstStyle>
          <a:p>
            <a:pPr>
              <a:defRPr/>
            </a:pPr>
            <a:fld id="{4A4CC326-9B05-4E86-9DA6-301015C370AE}"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924537527"/>
      </p:ext>
    </p:extLst>
  </p:cSld>
  <p:clrMapOvr>
    <a:masterClrMapping/>
  </p:clrMapOvr>
  <p:transition spd="slow">
    <p:pull dir="ru"/>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56388" y="254843"/>
            <a:ext cx="1943100" cy="5529262"/>
          </a:xfrm>
        </p:spPr>
        <p:txBody>
          <a:bodyPr vert="eaVert"/>
          <a:lstStyle>
            <a:lvl1pPr>
              <a:lnSpc>
                <a:spcPct val="130000"/>
              </a:lnSpc>
              <a:spcBef>
                <a:spcPts val="0"/>
              </a:spcBef>
              <a:defRPr/>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27088" y="254843"/>
            <a:ext cx="5676900" cy="5529262"/>
          </a:xfrm>
        </p:spPr>
        <p:txBody>
          <a:bodyPr vert="eaVert"/>
          <a:lstStyle>
            <a:lvl1pPr>
              <a:lnSpc>
                <a:spcPct val="130000"/>
              </a:lnSpc>
              <a:spcBef>
                <a:spcPts val="0"/>
              </a:spcBef>
              <a:defRPr/>
            </a:lvl1pPr>
            <a:lvl2pPr>
              <a:lnSpc>
                <a:spcPct val="130000"/>
              </a:lnSpc>
              <a:spcBef>
                <a:spcPts val="0"/>
              </a:spcBef>
              <a:defRPr/>
            </a:lvl2pPr>
            <a:lvl3pPr>
              <a:lnSpc>
                <a:spcPct val="130000"/>
              </a:lnSpc>
              <a:spcBef>
                <a:spcPts val="0"/>
              </a:spcBef>
              <a:defRPr/>
            </a:lvl3pPr>
            <a:lvl4pPr>
              <a:lnSpc>
                <a:spcPct val="130000"/>
              </a:lnSpc>
              <a:spcBef>
                <a:spcPts val="0"/>
              </a:spcBef>
              <a:defRPr/>
            </a:lvl4pPr>
            <a:lvl5pPr>
              <a:lnSpc>
                <a:spcPct val="130000"/>
              </a:lnSpc>
              <a:spcBef>
                <a:spcPts val="0"/>
              </a:spcBef>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xfrm>
            <a:off x="3657600" y="6284168"/>
            <a:ext cx="2895600" cy="457200"/>
          </a:xfrm>
          <a:ln/>
        </p:spPr>
        <p:txBody>
          <a:bodyPr/>
          <a:lstStyle>
            <a:lvl1pPr>
              <a:lnSpc>
                <a:spcPct val="130000"/>
              </a:lnSpc>
              <a:spcBef>
                <a:spcPts val="0"/>
              </a:spcBef>
              <a:defRPr/>
            </a:lvl1pPr>
          </a:lstStyle>
          <a:p>
            <a:pPr>
              <a:defRPr/>
            </a:pPr>
            <a:endParaRPr lang="en-US" altLang="zh-CN">
              <a:solidFill>
                <a:srgbClr val="000000"/>
              </a:solidFill>
            </a:endParaRPr>
          </a:p>
        </p:txBody>
      </p:sp>
      <p:sp>
        <p:nvSpPr>
          <p:cNvPr id="5" name="Rectangle 13"/>
          <p:cNvSpPr>
            <a:spLocks noGrp="1" noChangeArrowheads="1"/>
          </p:cNvSpPr>
          <p:nvPr>
            <p:ph type="sldNum" sz="quarter" idx="11"/>
          </p:nvPr>
        </p:nvSpPr>
        <p:spPr>
          <a:xfrm>
            <a:off x="7019925" y="6061918"/>
            <a:ext cx="1905000" cy="457200"/>
          </a:xfrm>
          <a:ln/>
        </p:spPr>
        <p:txBody>
          <a:bodyPr/>
          <a:lstStyle>
            <a:lvl1pPr>
              <a:lnSpc>
                <a:spcPct val="130000"/>
              </a:lnSpc>
              <a:spcBef>
                <a:spcPts val="0"/>
              </a:spcBef>
              <a:defRPr/>
            </a:lvl1pPr>
          </a:lstStyle>
          <a:p>
            <a:pPr>
              <a:defRPr/>
            </a:pPr>
            <a:fld id="{24D05828-8A21-49AC-AB05-10E0D0DA0753}"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253435564"/>
      </p:ext>
    </p:extLst>
  </p:cSld>
  <p:clrMapOvr>
    <a:masterClrMapping/>
  </p:clrMapOvr>
  <p:transition spd="slow">
    <p:pull dir="ru"/>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27088" y="214313"/>
            <a:ext cx="7772400" cy="5529262"/>
          </a:xfrm>
        </p:spPr>
        <p:txBody>
          <a:bodyPr/>
          <a:lstStyle>
            <a:lvl1pPr>
              <a:lnSpc>
                <a:spcPct val="130000"/>
              </a:lnSpc>
              <a:spcBef>
                <a:spcPts val="0"/>
              </a:spcBef>
              <a:defRPr/>
            </a:lvl1pPr>
            <a:lvl2pPr>
              <a:lnSpc>
                <a:spcPct val="130000"/>
              </a:lnSpc>
              <a:spcBef>
                <a:spcPts val="0"/>
              </a:spcBef>
              <a:defRPr/>
            </a:lvl2pPr>
            <a:lvl3pPr>
              <a:lnSpc>
                <a:spcPct val="130000"/>
              </a:lnSpc>
              <a:spcBef>
                <a:spcPts val="0"/>
              </a:spcBef>
              <a:defRPr/>
            </a:lvl3pPr>
            <a:lvl4pPr>
              <a:lnSpc>
                <a:spcPct val="130000"/>
              </a:lnSpc>
              <a:spcBef>
                <a:spcPts val="0"/>
              </a:spcBef>
              <a:defRPr/>
            </a:lvl4pPr>
            <a:lvl5pPr>
              <a:lnSpc>
                <a:spcPct val="130000"/>
              </a:lnSpc>
              <a:spcBef>
                <a:spcPts val="0"/>
              </a:spcBef>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2"/>
          <p:cNvSpPr>
            <a:spLocks noGrp="1" noChangeArrowheads="1"/>
          </p:cNvSpPr>
          <p:nvPr>
            <p:ph type="ftr" sz="quarter" idx="10"/>
          </p:nvPr>
        </p:nvSpPr>
        <p:spPr>
          <a:ln/>
        </p:spPr>
        <p:txBody>
          <a:bodyPr/>
          <a:lstStyle>
            <a:lvl1pPr>
              <a:lnSpc>
                <a:spcPct val="130000"/>
              </a:lnSpc>
              <a:spcBef>
                <a:spcPts val="0"/>
              </a:spcBef>
              <a:defRPr/>
            </a:lvl1pPr>
          </a:lstStyle>
          <a:p>
            <a:pPr>
              <a:defRPr/>
            </a:pPr>
            <a:endParaRPr lang="en-US" altLang="zh-CN">
              <a:solidFill>
                <a:srgbClr val="000000"/>
              </a:solidFill>
            </a:endParaRPr>
          </a:p>
        </p:txBody>
      </p:sp>
      <p:sp>
        <p:nvSpPr>
          <p:cNvPr id="4" name="Rectangle 13"/>
          <p:cNvSpPr>
            <a:spLocks noGrp="1" noChangeArrowheads="1"/>
          </p:cNvSpPr>
          <p:nvPr>
            <p:ph type="sldNum" sz="quarter" idx="11"/>
          </p:nvPr>
        </p:nvSpPr>
        <p:spPr>
          <a:ln/>
        </p:spPr>
        <p:txBody>
          <a:bodyPr/>
          <a:lstStyle>
            <a:lvl1pPr>
              <a:lnSpc>
                <a:spcPct val="130000"/>
              </a:lnSpc>
              <a:spcBef>
                <a:spcPts val="0"/>
              </a:spcBef>
              <a:defRPr/>
            </a:lvl1pPr>
          </a:lstStyle>
          <a:p>
            <a:pPr>
              <a:defRPr/>
            </a:pPr>
            <a:fld id="{7DDAE173-F58A-40CC-8210-2B2372F720E9}"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869758611"/>
      </p:ext>
    </p:extLst>
  </p:cSld>
  <p:clrMapOvr>
    <a:masterClrMapping/>
  </p:clrMapOvr>
  <p:transition spd="slow">
    <p:pull dir="ru"/>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0" y="1728788"/>
            <a:ext cx="9009063" cy="1052512"/>
            <a:chOff x="0" y="1536"/>
            <a:chExt cx="5675" cy="663"/>
          </a:xfrm>
        </p:grpSpPr>
        <p:grpSp>
          <p:nvGrpSpPr>
            <p:cNvPr id="5" name="Group 3"/>
            <p:cNvGrpSpPr>
              <a:grpSpLocks/>
            </p:cNvGrpSpPr>
            <p:nvPr/>
          </p:nvGrpSpPr>
          <p:grpSpPr bwMode="auto">
            <a:xfrm>
              <a:off x="183" y="1604"/>
              <a:ext cx="448" cy="299"/>
              <a:chOff x="720" y="336"/>
              <a:chExt cx="624" cy="432"/>
            </a:xfrm>
          </p:grpSpPr>
          <p:sp>
            <p:nvSpPr>
              <p:cNvPr id="1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sp>
            <p:nvSpPr>
              <p:cNvPr id="1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grpSp>
        <p:grpSp>
          <p:nvGrpSpPr>
            <p:cNvPr id="6" name="Group 6"/>
            <p:cNvGrpSpPr>
              <a:grpSpLocks/>
            </p:cNvGrpSpPr>
            <p:nvPr/>
          </p:nvGrpSpPr>
          <p:grpSpPr bwMode="auto">
            <a:xfrm>
              <a:off x="261" y="1870"/>
              <a:ext cx="465" cy="299"/>
              <a:chOff x="912" y="2640"/>
              <a:chExt cx="672" cy="432"/>
            </a:xfrm>
          </p:grpSpPr>
          <p:sp>
            <p:nvSpPr>
              <p:cNvPr id="10"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sp>
            <p:nvSpPr>
              <p:cNvPr id="11" name="Rectangle 8"/>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grpSp>
        <p:sp>
          <p:nvSpPr>
            <p:cNvPr id="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sp>
          <p:nvSpPr>
            <p:cNvPr id="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sp>
          <p:nvSpPr>
            <p:cNvPr id="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algn="l" eaLnBrk="1" hangingPunct="1">
                <a:defRPr/>
              </a:pPr>
              <a:endParaRPr kumimoji="0" lang="zh-CN" altLang="en-US" smtClean="0">
                <a:solidFill>
                  <a:srgbClr val="000000"/>
                </a:solidFill>
              </a:endParaRPr>
            </a:p>
          </p:txBody>
        </p:sp>
      </p:grpSp>
      <p:sp>
        <p:nvSpPr>
          <p:cNvPr id="405516" name="Rectangle 12"/>
          <p:cNvSpPr>
            <a:spLocks noGrp="1" noChangeArrowheads="1"/>
          </p:cNvSpPr>
          <p:nvPr>
            <p:ph type="ctrTitle"/>
          </p:nvPr>
        </p:nvSpPr>
        <p:spPr>
          <a:xfrm>
            <a:off x="1062038" y="1196975"/>
            <a:ext cx="7397750" cy="1223963"/>
          </a:xfrm>
        </p:spPr>
        <p:txBody>
          <a:bodyPr/>
          <a:lstStyle>
            <a:lvl1pPr>
              <a:defRPr/>
            </a:lvl1pPr>
          </a:lstStyle>
          <a:p>
            <a:pPr lvl="0"/>
            <a:r>
              <a:rPr lang="zh-CN" altLang="en-US" noProof="0" smtClean="0"/>
              <a:t>单击此处编辑母版标题样式</a:t>
            </a:r>
          </a:p>
        </p:txBody>
      </p:sp>
      <p:sp>
        <p:nvSpPr>
          <p:cNvPr id="405517" name="Rectangle 13"/>
          <p:cNvSpPr>
            <a:spLocks noGrp="1" noChangeArrowheads="1"/>
          </p:cNvSpPr>
          <p:nvPr>
            <p:ph type="subTitle" idx="1"/>
          </p:nvPr>
        </p:nvSpPr>
        <p:spPr>
          <a:xfrm>
            <a:off x="1371600" y="2924175"/>
            <a:ext cx="6400800" cy="1752600"/>
          </a:xfrm>
        </p:spPr>
        <p:txBody>
          <a:bodyPr/>
          <a:lstStyle>
            <a:lvl1pPr marL="0" indent="0" algn="ctr">
              <a:buFont typeface="Wingdings" pitchFamily="2" charset="2"/>
              <a:buNone/>
              <a:defRPr/>
            </a:lvl1pPr>
          </a:lstStyle>
          <a:p>
            <a:pPr lvl="0"/>
            <a:r>
              <a:rPr lang="zh-CN" altLang="en-US" noProof="0" smtClean="0"/>
              <a:t>单击此处编辑母版副标题样式</a:t>
            </a:r>
          </a:p>
        </p:txBody>
      </p:sp>
      <p:sp>
        <p:nvSpPr>
          <p:cNvPr id="14" name="Rectangle 15"/>
          <p:cNvSpPr>
            <a:spLocks noGrp="1" noChangeArrowheads="1"/>
          </p:cNvSpPr>
          <p:nvPr>
            <p:ph type="ftr" sz="quarter" idx="10"/>
          </p:nvPr>
        </p:nvSpPr>
        <p:spPr>
          <a:xfrm>
            <a:off x="3429000" y="6248400"/>
            <a:ext cx="2895600" cy="457200"/>
          </a:xfrm>
        </p:spPr>
        <p:txBody>
          <a:bodyPr/>
          <a:lstStyle>
            <a:lvl1pPr>
              <a:defRPr>
                <a:solidFill>
                  <a:schemeClr val="bg2"/>
                </a:solidFill>
              </a:defRPr>
            </a:lvl1pPr>
          </a:lstStyle>
          <a:p>
            <a:pPr>
              <a:defRPr/>
            </a:pPr>
            <a:endParaRPr lang="en-US" altLang="zh-CN">
              <a:solidFill>
                <a:srgbClr val="1C1C1C"/>
              </a:solidFill>
            </a:endParaRPr>
          </a:p>
        </p:txBody>
      </p:sp>
    </p:spTree>
    <p:extLst>
      <p:ext uri="{BB962C8B-B14F-4D97-AF65-F5344CB8AC3E}">
        <p14:creationId xmlns:p14="http://schemas.microsoft.com/office/powerpoint/2010/main" val="424556294"/>
      </p:ext>
    </p:extLst>
  </p:cSld>
  <p:clrMapOvr>
    <a:masterClrMapping/>
  </p:clrMapOvr>
  <p:transition spd="slow">
    <p:pull dir="ru"/>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1"/>
          </p:nvPr>
        </p:nvSpPr>
        <p:spPr>
          <a:ln/>
        </p:spPr>
        <p:txBody>
          <a:bodyPr/>
          <a:lstStyle>
            <a:lvl1pPr>
              <a:defRPr/>
            </a:lvl1pPr>
          </a:lstStyle>
          <a:p>
            <a:pPr>
              <a:defRPr/>
            </a:pPr>
            <a:fld id="{14DCCFEF-3015-4D62-B264-71501EB01EDB}"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011361583"/>
      </p:ext>
    </p:extLst>
  </p:cSld>
  <p:clrMapOvr>
    <a:masterClrMapping/>
  </p:clrMapOvr>
  <p:transition spd="slow">
    <p:pull dir="ru"/>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5" name="Rectangle 13"/>
          <p:cNvSpPr>
            <a:spLocks noGrp="1" noChangeArrowheads="1"/>
          </p:cNvSpPr>
          <p:nvPr>
            <p:ph type="sldNum" sz="quarter" idx="11"/>
          </p:nvPr>
        </p:nvSpPr>
        <p:spPr>
          <a:ln/>
        </p:spPr>
        <p:txBody>
          <a:bodyPr/>
          <a:lstStyle>
            <a:lvl1pPr>
              <a:defRPr/>
            </a:lvl1pPr>
          </a:lstStyle>
          <a:p>
            <a:pPr>
              <a:defRPr/>
            </a:pPr>
            <a:fld id="{F8C82C69-1B54-4C40-AA42-C9FACEC3D23E}"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394169309"/>
      </p:ext>
    </p:extLst>
  </p:cSld>
  <p:clrMapOvr>
    <a:masterClrMapping/>
  </p:clrMapOvr>
  <p:transition spd="slow">
    <p:pull dir="ru"/>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27088" y="1628775"/>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789488" y="1628775"/>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6" name="Rectangle 13"/>
          <p:cNvSpPr>
            <a:spLocks noGrp="1" noChangeArrowheads="1"/>
          </p:cNvSpPr>
          <p:nvPr>
            <p:ph type="sldNum" sz="quarter" idx="11"/>
          </p:nvPr>
        </p:nvSpPr>
        <p:spPr>
          <a:ln/>
        </p:spPr>
        <p:txBody>
          <a:bodyPr/>
          <a:lstStyle>
            <a:lvl1pPr>
              <a:defRPr/>
            </a:lvl1pPr>
          </a:lstStyle>
          <a:p>
            <a:pPr>
              <a:defRPr/>
            </a:pPr>
            <a:fld id="{6A60F55A-D7BE-4380-9D1A-BF6EF83C222D}"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852459155"/>
      </p:ext>
    </p:extLst>
  </p:cSld>
  <p:clrMapOvr>
    <a:masterClrMapping/>
  </p:clrMapOvr>
  <p:transition spd="slow">
    <p:pull dir="ru"/>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8" name="Rectangle 13"/>
          <p:cNvSpPr>
            <a:spLocks noGrp="1" noChangeArrowheads="1"/>
          </p:cNvSpPr>
          <p:nvPr>
            <p:ph type="sldNum" sz="quarter" idx="11"/>
          </p:nvPr>
        </p:nvSpPr>
        <p:spPr>
          <a:ln/>
        </p:spPr>
        <p:txBody>
          <a:bodyPr/>
          <a:lstStyle>
            <a:lvl1pPr>
              <a:defRPr/>
            </a:lvl1pPr>
          </a:lstStyle>
          <a:p>
            <a:pPr>
              <a:defRPr/>
            </a:pPr>
            <a:fld id="{C0440E60-351A-4EFF-B78F-634890E704E6}"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112301089"/>
      </p:ext>
    </p:extLst>
  </p:cSld>
  <p:clrMapOvr>
    <a:masterClrMapping/>
  </p:clrMapOvr>
  <p:transition spd="slow">
    <p:pull dir="ru"/>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4" name="Rectangle 13"/>
          <p:cNvSpPr>
            <a:spLocks noGrp="1" noChangeArrowheads="1"/>
          </p:cNvSpPr>
          <p:nvPr>
            <p:ph type="sldNum" sz="quarter" idx="11"/>
          </p:nvPr>
        </p:nvSpPr>
        <p:spPr>
          <a:ln/>
        </p:spPr>
        <p:txBody>
          <a:bodyPr/>
          <a:lstStyle>
            <a:lvl1pPr>
              <a:defRPr/>
            </a:lvl1pPr>
          </a:lstStyle>
          <a:p>
            <a:pPr>
              <a:defRPr/>
            </a:pPr>
            <a:fld id="{73D55D54-AAC8-44A7-A3B6-4764A522DB23}"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697969346"/>
      </p:ext>
    </p:extLst>
  </p:cSld>
  <p:clrMapOvr>
    <a:masterClrMapping/>
  </p:clrMapOvr>
  <p:transition spd="slow">
    <p:pull dir="ru"/>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2"/>
          <p:cNvSpPr>
            <a:spLocks noGrp="1" noChangeArrowheads="1"/>
          </p:cNvSpPr>
          <p:nvPr>
            <p:ph type="ftr" sz="quarter" idx="10"/>
          </p:nvPr>
        </p:nvSpPr>
        <p:spPr>
          <a:ln/>
        </p:spPr>
        <p:txBody>
          <a:bodyPr/>
          <a:lstStyle>
            <a:lvl1pPr>
              <a:defRPr/>
            </a:lvl1pPr>
          </a:lstStyle>
          <a:p>
            <a:pPr>
              <a:defRPr/>
            </a:pPr>
            <a:endParaRPr lang="en-US" altLang="zh-CN">
              <a:solidFill>
                <a:srgbClr val="000000"/>
              </a:solidFill>
            </a:endParaRPr>
          </a:p>
        </p:txBody>
      </p:sp>
      <p:sp>
        <p:nvSpPr>
          <p:cNvPr id="3" name="Rectangle 13"/>
          <p:cNvSpPr>
            <a:spLocks noGrp="1" noChangeArrowheads="1"/>
          </p:cNvSpPr>
          <p:nvPr>
            <p:ph type="sldNum" sz="quarter" idx="11"/>
          </p:nvPr>
        </p:nvSpPr>
        <p:spPr>
          <a:ln/>
        </p:spPr>
        <p:txBody>
          <a:bodyPr/>
          <a:lstStyle>
            <a:lvl1pPr>
              <a:defRPr/>
            </a:lvl1pPr>
          </a:lstStyle>
          <a:p>
            <a:pPr>
              <a:defRPr/>
            </a:pPr>
            <a:fld id="{F01FF6FA-8A47-4F54-87EE-BAFBF3EF18FC}" type="slidenum">
              <a:rPr lang="en-US" altLang="zh-CN">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2384409222"/>
      </p:ext>
    </p:extLst>
  </p:cSld>
  <p:clrMapOvr>
    <a:masterClrMapping/>
  </p:clrMapOvr>
  <p:transition spd="slow">
    <p:pull dir="ru"/>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lnSpc>
                <a:spcPct val="130000"/>
              </a:lnSpc>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lnSpc>
                <a:spcPct val="130000"/>
              </a:lnSpc>
              <a:defRPr sz="3200"/>
            </a:lvl1pPr>
            <a:lvl2pPr>
              <a:lnSpc>
                <a:spcPct val="130000"/>
              </a:lnSpc>
              <a:defRPr sz="2800"/>
            </a:lvl2pPr>
            <a:lvl3pPr>
              <a:lnSpc>
                <a:spcPct val="130000"/>
              </a:lnSpc>
              <a:defRPr sz="2400"/>
            </a:lvl3pPr>
            <a:lvl4pPr>
              <a:lnSpc>
                <a:spcPct val="130000"/>
              </a:lnSpc>
              <a:defRPr sz="2000"/>
            </a:lvl4pPr>
            <a:lvl5pPr>
              <a:lnSpc>
                <a:spcPct val="130000"/>
              </a:lnSpc>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lnSpc>
                <a:spcPct val="130000"/>
              </a:lnSpc>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2"/>
          <p:cNvSpPr>
            <a:spLocks noGrp="1" noChangeArrowheads="1"/>
          </p:cNvSpPr>
          <p:nvPr>
            <p:ph type="ftr" sz="quarter" idx="10"/>
          </p:nvPr>
        </p:nvSpPr>
        <p:spPr>
          <a:ln/>
        </p:spPr>
        <p:txBody>
          <a:bodyPr/>
          <a:lstStyle>
            <a:lvl1pPr>
              <a:lnSpc>
                <a:spcPct val="130000"/>
              </a:lnSpc>
              <a:defRPr/>
            </a:lvl1pPr>
          </a:lstStyle>
          <a:p>
            <a:pPr>
              <a:defRPr/>
            </a:pPr>
            <a:endParaRPr lang="en-US" altLang="zh-CN">
              <a:solidFill>
                <a:srgbClr val="000000"/>
              </a:solidFill>
            </a:endParaRPr>
          </a:p>
        </p:txBody>
      </p:sp>
      <p:sp>
        <p:nvSpPr>
          <p:cNvPr id="6" name="Rectangle 13"/>
          <p:cNvSpPr>
            <a:spLocks noGrp="1" noChangeArrowheads="1"/>
          </p:cNvSpPr>
          <p:nvPr>
            <p:ph type="sldNum" sz="quarter" idx="11"/>
          </p:nvPr>
        </p:nvSpPr>
        <p:spPr>
          <a:ln/>
        </p:spPr>
        <p:txBody>
          <a:bodyPr/>
          <a:lstStyle>
            <a:lvl1pPr>
              <a:lnSpc>
                <a:spcPct val="130000"/>
              </a:lnSpc>
              <a:defRPr/>
            </a:lvl1pPr>
          </a:lstStyle>
          <a:p>
            <a:pPr>
              <a:defRPr/>
            </a:pPr>
            <a:fld id="{5724AC56-E586-4BCB-8C79-225BD2DED9E9}"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3488785558"/>
      </p:ext>
    </p:extLst>
  </p:cSld>
  <p:clrMapOvr>
    <a:masterClrMapping/>
  </p:clrMapOvr>
  <p:transition spd="slow">
    <p:pull dir="ru"/>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lnSpc>
                <a:spcPct val="130000"/>
              </a:lnSpc>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lnSpc>
                <a:spcPct val="130000"/>
              </a:lnSpc>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lnSpc>
                <a:spcPct val="130000"/>
              </a:lnSpc>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12"/>
          <p:cNvSpPr>
            <a:spLocks noGrp="1" noChangeArrowheads="1"/>
          </p:cNvSpPr>
          <p:nvPr>
            <p:ph type="ftr" sz="quarter" idx="10"/>
          </p:nvPr>
        </p:nvSpPr>
        <p:spPr>
          <a:ln/>
        </p:spPr>
        <p:txBody>
          <a:bodyPr/>
          <a:lstStyle>
            <a:lvl1pPr>
              <a:lnSpc>
                <a:spcPct val="130000"/>
              </a:lnSpc>
              <a:defRPr/>
            </a:lvl1pPr>
          </a:lstStyle>
          <a:p>
            <a:pPr>
              <a:defRPr/>
            </a:pPr>
            <a:endParaRPr lang="en-US" altLang="zh-CN">
              <a:solidFill>
                <a:srgbClr val="000000"/>
              </a:solidFill>
            </a:endParaRPr>
          </a:p>
        </p:txBody>
      </p:sp>
      <p:sp>
        <p:nvSpPr>
          <p:cNvPr id="6" name="Rectangle 13"/>
          <p:cNvSpPr>
            <a:spLocks noGrp="1" noChangeArrowheads="1"/>
          </p:cNvSpPr>
          <p:nvPr>
            <p:ph type="sldNum" sz="quarter" idx="11"/>
          </p:nvPr>
        </p:nvSpPr>
        <p:spPr>
          <a:ln/>
        </p:spPr>
        <p:txBody>
          <a:bodyPr/>
          <a:lstStyle>
            <a:lvl1pPr>
              <a:lnSpc>
                <a:spcPct val="130000"/>
              </a:lnSpc>
              <a:defRPr/>
            </a:lvl1pPr>
          </a:lstStyle>
          <a:p>
            <a:pPr>
              <a:defRPr/>
            </a:pPr>
            <a:fld id="{E48FB836-952C-4138-A829-91C3E613BBCD}"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017647696"/>
      </p:ext>
    </p:extLst>
  </p:cSld>
  <p:clrMapOvr>
    <a:masterClrMapping/>
  </p:clrMapOvr>
  <p:transition spd="slow">
    <p:pull dir="ru"/>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lnSpc>
                <a:spcPct val="130000"/>
              </a:lnSpc>
              <a:defRPr/>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lvl1pPr>
              <a:lnSpc>
                <a:spcPct val="130000"/>
              </a:lnSpc>
              <a:defRPr/>
            </a:lvl1pPr>
            <a:lvl2pPr>
              <a:lnSpc>
                <a:spcPct val="130000"/>
              </a:lnSpc>
              <a:defRPr/>
            </a:lvl2pPr>
            <a:lvl3pPr>
              <a:lnSpc>
                <a:spcPct val="130000"/>
              </a:lnSpc>
              <a:defRPr/>
            </a:lvl3pPr>
            <a:lvl4pPr>
              <a:lnSpc>
                <a:spcPct val="130000"/>
              </a:lnSpc>
              <a:defRPr/>
            </a:lvl4pPr>
            <a:lvl5pPr>
              <a:lnSpc>
                <a:spcPct val="130000"/>
              </a:lnSpc>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ln/>
        </p:spPr>
        <p:txBody>
          <a:bodyPr/>
          <a:lstStyle>
            <a:lvl1pPr>
              <a:lnSpc>
                <a:spcPct val="130000"/>
              </a:lnSpc>
              <a:defRPr/>
            </a:lvl1pPr>
          </a:lstStyle>
          <a:p>
            <a:pPr>
              <a:defRPr/>
            </a:pPr>
            <a:endParaRPr lang="en-US" altLang="zh-CN">
              <a:solidFill>
                <a:srgbClr val="000000"/>
              </a:solidFill>
            </a:endParaRPr>
          </a:p>
        </p:txBody>
      </p:sp>
      <p:sp>
        <p:nvSpPr>
          <p:cNvPr id="5" name="Rectangle 13"/>
          <p:cNvSpPr>
            <a:spLocks noGrp="1" noChangeArrowheads="1"/>
          </p:cNvSpPr>
          <p:nvPr>
            <p:ph type="sldNum" sz="quarter" idx="11"/>
          </p:nvPr>
        </p:nvSpPr>
        <p:spPr>
          <a:ln/>
        </p:spPr>
        <p:txBody>
          <a:bodyPr/>
          <a:lstStyle>
            <a:lvl1pPr>
              <a:lnSpc>
                <a:spcPct val="130000"/>
              </a:lnSpc>
              <a:defRPr/>
            </a:lvl1pPr>
          </a:lstStyle>
          <a:p>
            <a:pPr>
              <a:defRPr/>
            </a:pPr>
            <a:fld id="{4A4CC326-9B05-4E86-9DA6-301015C370AE}"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1189043547"/>
      </p:ext>
    </p:extLst>
  </p:cSld>
  <p:clrMapOvr>
    <a:masterClrMapping/>
  </p:clrMapOvr>
  <p:transition spd="slow">
    <p:pull dir="ru"/>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56388" y="254843"/>
            <a:ext cx="1943100" cy="5529262"/>
          </a:xfrm>
        </p:spPr>
        <p:txBody>
          <a:bodyPr vert="eaVert"/>
          <a:lstStyle>
            <a:lvl1pPr>
              <a:lnSpc>
                <a:spcPct val="130000"/>
              </a:lnSpc>
              <a:spcBef>
                <a:spcPts val="0"/>
              </a:spcBef>
              <a:defRPr/>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27088" y="254843"/>
            <a:ext cx="5676900" cy="5529262"/>
          </a:xfrm>
        </p:spPr>
        <p:txBody>
          <a:bodyPr vert="eaVert"/>
          <a:lstStyle>
            <a:lvl1pPr>
              <a:lnSpc>
                <a:spcPct val="130000"/>
              </a:lnSpc>
              <a:spcBef>
                <a:spcPts val="0"/>
              </a:spcBef>
              <a:defRPr/>
            </a:lvl1pPr>
            <a:lvl2pPr>
              <a:lnSpc>
                <a:spcPct val="130000"/>
              </a:lnSpc>
              <a:spcBef>
                <a:spcPts val="0"/>
              </a:spcBef>
              <a:defRPr/>
            </a:lvl2pPr>
            <a:lvl3pPr>
              <a:lnSpc>
                <a:spcPct val="130000"/>
              </a:lnSpc>
              <a:spcBef>
                <a:spcPts val="0"/>
              </a:spcBef>
              <a:defRPr/>
            </a:lvl3pPr>
            <a:lvl4pPr>
              <a:lnSpc>
                <a:spcPct val="130000"/>
              </a:lnSpc>
              <a:spcBef>
                <a:spcPts val="0"/>
              </a:spcBef>
              <a:defRPr/>
            </a:lvl4pPr>
            <a:lvl5pPr>
              <a:lnSpc>
                <a:spcPct val="130000"/>
              </a:lnSpc>
              <a:spcBef>
                <a:spcPts val="0"/>
              </a:spcBef>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12"/>
          <p:cNvSpPr>
            <a:spLocks noGrp="1" noChangeArrowheads="1"/>
          </p:cNvSpPr>
          <p:nvPr>
            <p:ph type="ftr" sz="quarter" idx="10"/>
          </p:nvPr>
        </p:nvSpPr>
        <p:spPr>
          <a:xfrm>
            <a:off x="3657600" y="6284168"/>
            <a:ext cx="2895600" cy="457200"/>
          </a:xfrm>
          <a:ln/>
        </p:spPr>
        <p:txBody>
          <a:bodyPr/>
          <a:lstStyle>
            <a:lvl1pPr>
              <a:lnSpc>
                <a:spcPct val="130000"/>
              </a:lnSpc>
              <a:spcBef>
                <a:spcPts val="0"/>
              </a:spcBef>
              <a:defRPr/>
            </a:lvl1pPr>
          </a:lstStyle>
          <a:p>
            <a:pPr>
              <a:defRPr/>
            </a:pPr>
            <a:endParaRPr lang="en-US" altLang="zh-CN">
              <a:solidFill>
                <a:srgbClr val="000000"/>
              </a:solidFill>
            </a:endParaRPr>
          </a:p>
        </p:txBody>
      </p:sp>
      <p:sp>
        <p:nvSpPr>
          <p:cNvPr id="5" name="Rectangle 13"/>
          <p:cNvSpPr>
            <a:spLocks noGrp="1" noChangeArrowheads="1"/>
          </p:cNvSpPr>
          <p:nvPr>
            <p:ph type="sldNum" sz="quarter" idx="11"/>
          </p:nvPr>
        </p:nvSpPr>
        <p:spPr>
          <a:xfrm>
            <a:off x="7019925" y="6061918"/>
            <a:ext cx="1905000" cy="457200"/>
          </a:xfrm>
          <a:ln/>
        </p:spPr>
        <p:txBody>
          <a:bodyPr/>
          <a:lstStyle>
            <a:lvl1pPr>
              <a:lnSpc>
                <a:spcPct val="130000"/>
              </a:lnSpc>
              <a:spcBef>
                <a:spcPts val="0"/>
              </a:spcBef>
              <a:defRPr/>
            </a:lvl1pPr>
          </a:lstStyle>
          <a:p>
            <a:pPr>
              <a:defRPr/>
            </a:pPr>
            <a:fld id="{24D05828-8A21-49AC-AB05-10E0D0DA0753}"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47341564"/>
      </p:ext>
    </p:extLst>
  </p:cSld>
  <p:clrMapOvr>
    <a:masterClrMapping/>
  </p:clrMapOvr>
  <p:transition spd="slow">
    <p:pull dir="ru"/>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827088" y="214313"/>
            <a:ext cx="7772400" cy="5529262"/>
          </a:xfrm>
        </p:spPr>
        <p:txBody>
          <a:bodyPr/>
          <a:lstStyle>
            <a:lvl1pPr>
              <a:lnSpc>
                <a:spcPct val="130000"/>
              </a:lnSpc>
              <a:spcBef>
                <a:spcPts val="0"/>
              </a:spcBef>
              <a:defRPr/>
            </a:lvl1pPr>
            <a:lvl2pPr>
              <a:lnSpc>
                <a:spcPct val="130000"/>
              </a:lnSpc>
              <a:spcBef>
                <a:spcPts val="0"/>
              </a:spcBef>
              <a:defRPr/>
            </a:lvl2pPr>
            <a:lvl3pPr>
              <a:lnSpc>
                <a:spcPct val="130000"/>
              </a:lnSpc>
              <a:spcBef>
                <a:spcPts val="0"/>
              </a:spcBef>
              <a:defRPr/>
            </a:lvl3pPr>
            <a:lvl4pPr>
              <a:lnSpc>
                <a:spcPct val="130000"/>
              </a:lnSpc>
              <a:spcBef>
                <a:spcPts val="0"/>
              </a:spcBef>
              <a:defRPr/>
            </a:lvl4pPr>
            <a:lvl5pPr>
              <a:lnSpc>
                <a:spcPct val="130000"/>
              </a:lnSpc>
              <a:spcBef>
                <a:spcPts val="0"/>
              </a:spcBef>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12"/>
          <p:cNvSpPr>
            <a:spLocks noGrp="1" noChangeArrowheads="1"/>
          </p:cNvSpPr>
          <p:nvPr>
            <p:ph type="ftr" sz="quarter" idx="10"/>
          </p:nvPr>
        </p:nvSpPr>
        <p:spPr>
          <a:ln/>
        </p:spPr>
        <p:txBody>
          <a:bodyPr/>
          <a:lstStyle>
            <a:lvl1pPr>
              <a:lnSpc>
                <a:spcPct val="130000"/>
              </a:lnSpc>
              <a:spcBef>
                <a:spcPts val="0"/>
              </a:spcBef>
              <a:defRPr/>
            </a:lvl1pPr>
          </a:lstStyle>
          <a:p>
            <a:pPr>
              <a:defRPr/>
            </a:pPr>
            <a:endParaRPr lang="en-US" altLang="zh-CN">
              <a:solidFill>
                <a:srgbClr val="000000"/>
              </a:solidFill>
            </a:endParaRPr>
          </a:p>
        </p:txBody>
      </p:sp>
      <p:sp>
        <p:nvSpPr>
          <p:cNvPr id="4" name="Rectangle 13"/>
          <p:cNvSpPr>
            <a:spLocks noGrp="1" noChangeArrowheads="1"/>
          </p:cNvSpPr>
          <p:nvPr>
            <p:ph type="sldNum" sz="quarter" idx="11"/>
          </p:nvPr>
        </p:nvSpPr>
        <p:spPr>
          <a:ln/>
        </p:spPr>
        <p:txBody>
          <a:bodyPr/>
          <a:lstStyle>
            <a:lvl1pPr>
              <a:lnSpc>
                <a:spcPct val="130000"/>
              </a:lnSpc>
              <a:spcBef>
                <a:spcPts val="0"/>
              </a:spcBef>
              <a:defRPr/>
            </a:lvl1pPr>
          </a:lstStyle>
          <a:p>
            <a:pPr>
              <a:defRPr/>
            </a:pPr>
            <a:fld id="{7DDAE173-F58A-40CC-8210-2B2372F720E9}" type="slidenum">
              <a:rPr lang="en-US" altLang="zh-CN" smtClean="0">
                <a:solidFill>
                  <a:srgbClr val="000000"/>
                </a:solidFill>
              </a:rPr>
              <a:pPr>
                <a:defRPr/>
              </a:pPr>
              <a:t>‹#›</a:t>
            </a:fld>
            <a:endParaRPr lang="en-US" altLang="zh-CN">
              <a:solidFill>
                <a:srgbClr val="000000"/>
              </a:solidFill>
            </a:endParaRPr>
          </a:p>
        </p:txBody>
      </p:sp>
    </p:spTree>
    <p:extLst>
      <p:ext uri="{BB962C8B-B14F-4D97-AF65-F5344CB8AC3E}">
        <p14:creationId xmlns:p14="http://schemas.microsoft.com/office/powerpoint/2010/main" val="951224295"/>
      </p:ext>
    </p:extLst>
  </p:cSld>
  <p:clrMapOvr>
    <a:masterClrMapping/>
  </p:clrMapOvr>
  <p:transition spd="slow">
    <p:pull dir="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174082" name="Group 2"/>
          <p:cNvGrpSpPr>
            <a:grpSpLocks/>
          </p:cNvGrpSpPr>
          <p:nvPr userDrawn="1"/>
        </p:nvGrpSpPr>
        <p:grpSpPr bwMode="auto">
          <a:xfrm>
            <a:off x="127000" y="431800"/>
            <a:ext cx="8542338" cy="1052513"/>
            <a:chOff x="80" y="624"/>
            <a:chExt cx="5381" cy="663"/>
          </a:xfrm>
        </p:grpSpPr>
        <p:sp>
          <p:nvSpPr>
            <p:cNvPr id="174083" name="Rectangle 3"/>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4" name="Rectangle 4"/>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5" name="Rectangle 5"/>
            <p:cNvSpPr>
              <a:spLocks noChangeArrowheads="1"/>
            </p:cNvSpPr>
            <p:nvPr/>
          </p:nvSpPr>
          <p:spPr bwMode="gray">
            <a:xfrm>
              <a:off x="480" y="624"/>
              <a:ext cx="20" cy="66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6" name="Rectangle 6"/>
            <p:cNvSpPr>
              <a:spLocks noChangeArrowheads="1"/>
            </p:cNvSpPr>
            <p:nvPr userDrawn="1"/>
          </p:nvSpPr>
          <p:spPr bwMode="ltGray">
            <a:xfrm>
              <a:off x="263" y="692"/>
              <a:ext cx="276" cy="29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7" name="Rectangle 7"/>
            <p:cNvSpPr>
              <a:spLocks noChangeArrowheads="1"/>
            </p:cNvSpPr>
            <p:nvPr userDrawn="1"/>
          </p:nvSpPr>
          <p:spPr bwMode="ltGray">
            <a:xfrm>
              <a:off x="341" y="958"/>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8" name="Rectangle 8"/>
            <p:cNvSpPr>
              <a:spLocks noChangeArrowheads="1"/>
            </p:cNvSpPr>
            <p:nvPr userDrawn="1"/>
          </p:nvSpPr>
          <p:spPr bwMode="ltGray">
            <a:xfrm>
              <a:off x="80" y="912"/>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sp>
          <p:nvSpPr>
            <p:cNvPr id="174089" name="Rectangle 9"/>
            <p:cNvSpPr>
              <a:spLocks noChangeArrowheads="1"/>
            </p:cNvSpPr>
            <p:nvPr userDrawn="1"/>
          </p:nvSpPr>
          <p:spPr bwMode="gray">
            <a:xfrm>
              <a:off x="279" y="1122"/>
              <a:ext cx="5182" cy="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zh-CN">
                <a:latin typeface="Tahoma" pitchFamily="34" charset="0"/>
              </a:endParaRPr>
            </a:p>
          </p:txBody>
        </p:sp>
      </p:grpSp>
      <p:sp>
        <p:nvSpPr>
          <p:cNvPr id="174090" name="Rectangle 10"/>
          <p:cNvSpPr>
            <a:spLocks noGrp="1" noChangeArrowheads="1"/>
          </p:cNvSpPr>
          <p:nvPr>
            <p:ph type="title"/>
          </p:nvPr>
        </p:nvSpPr>
        <p:spPr bwMode="auto">
          <a:xfrm>
            <a:off x="1150938" y="423863"/>
            <a:ext cx="7237412" cy="701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spAutoFit/>
          </a:bodyPr>
          <a:lstStyle/>
          <a:p>
            <a:pPr lvl="0"/>
            <a:r>
              <a:rPr lang="zh-CN" altLang="en-US" smtClean="0"/>
              <a:t>单击此处编辑母版标题样式</a:t>
            </a:r>
          </a:p>
        </p:txBody>
      </p:sp>
      <p:sp>
        <p:nvSpPr>
          <p:cNvPr id="174091" name="Rectangle 11"/>
          <p:cNvSpPr>
            <a:spLocks noGrp="1" noChangeArrowheads="1"/>
          </p:cNvSpPr>
          <p:nvPr>
            <p:ph type="body" idx="1"/>
          </p:nvPr>
        </p:nvSpPr>
        <p:spPr bwMode="auto">
          <a:xfrm>
            <a:off x="827088" y="1628775"/>
            <a:ext cx="7772400" cy="2570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74092"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kumimoji="0" sz="1400">
                <a:latin typeface="+mj-lt"/>
              </a:defRPr>
            </a:lvl1pPr>
          </a:lstStyle>
          <a:p>
            <a:endParaRPr lang="en-US" altLang="zh-CN"/>
          </a:p>
        </p:txBody>
      </p:sp>
      <p:sp>
        <p:nvSpPr>
          <p:cNvPr id="174093" name="Rectangle 13"/>
          <p:cNvSpPr>
            <a:spLocks noGrp="1" noChangeArrowheads="1"/>
          </p:cNvSpPr>
          <p:nvPr>
            <p:ph type="sldNum" sz="quarter" idx="4"/>
          </p:nvPr>
        </p:nvSpPr>
        <p:spPr bwMode="auto">
          <a:xfrm>
            <a:off x="7042150" y="60213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kumimoji="0" sz="1400">
                <a:latin typeface="+mj-lt"/>
              </a:defRPr>
            </a:lvl1pPr>
          </a:lstStyle>
          <a:p>
            <a:fld id="{D7FC29C4-7382-4D00-8D0C-D44F1670DB16}"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Lst>
  <p:transition spd="slow">
    <p:pull dir="ru"/>
  </p:transition>
  <p:timing>
    <p:tnLst>
      <p:par>
        <p:cTn id="1" dur="indefinite" restart="never" nodeType="tmRoot"/>
      </p:par>
    </p:tnLst>
  </p:timing>
  <p:hf hdr="0" ftr="0" dt="0"/>
  <p:txStyles>
    <p:titleStyle>
      <a:lvl1pPr algn="l" rtl="0" fontAlgn="base">
        <a:spcBef>
          <a:spcPct val="0"/>
        </a:spcBef>
        <a:spcAft>
          <a:spcPct val="0"/>
        </a:spcAft>
        <a:defRPr sz="4000">
          <a:solidFill>
            <a:schemeClr val="tx2"/>
          </a:solidFill>
          <a:latin typeface="+mj-lt"/>
          <a:ea typeface="+mj-ea"/>
          <a:cs typeface="+mj-cs"/>
        </a:defRPr>
      </a:lvl1pPr>
      <a:lvl2pPr algn="l" rtl="0" fontAlgn="base">
        <a:spcBef>
          <a:spcPct val="0"/>
        </a:spcBef>
        <a:spcAft>
          <a:spcPct val="0"/>
        </a:spcAft>
        <a:defRPr sz="4000">
          <a:solidFill>
            <a:schemeClr val="tx2"/>
          </a:solidFill>
          <a:latin typeface="Tahoma" pitchFamily="34" charset="0"/>
          <a:ea typeface="宋体" charset="-122"/>
        </a:defRPr>
      </a:lvl2pPr>
      <a:lvl3pPr algn="l" rtl="0" fontAlgn="base">
        <a:spcBef>
          <a:spcPct val="0"/>
        </a:spcBef>
        <a:spcAft>
          <a:spcPct val="0"/>
        </a:spcAft>
        <a:defRPr sz="4000">
          <a:solidFill>
            <a:schemeClr val="tx2"/>
          </a:solidFill>
          <a:latin typeface="Tahoma" pitchFamily="34" charset="0"/>
          <a:ea typeface="宋体" charset="-122"/>
        </a:defRPr>
      </a:lvl3pPr>
      <a:lvl4pPr algn="l" rtl="0" fontAlgn="base">
        <a:spcBef>
          <a:spcPct val="0"/>
        </a:spcBef>
        <a:spcAft>
          <a:spcPct val="0"/>
        </a:spcAft>
        <a:defRPr sz="4000">
          <a:solidFill>
            <a:schemeClr val="tx2"/>
          </a:solidFill>
          <a:latin typeface="Tahoma" pitchFamily="34" charset="0"/>
          <a:ea typeface="宋体" charset="-122"/>
        </a:defRPr>
      </a:lvl4pPr>
      <a:lvl5pPr algn="l" rtl="0" fontAlgn="base">
        <a:spcBef>
          <a:spcPct val="0"/>
        </a:spcBef>
        <a:spcAft>
          <a:spcPct val="0"/>
        </a:spcAft>
        <a:defRPr sz="4000">
          <a:solidFill>
            <a:schemeClr val="tx2"/>
          </a:solidFill>
          <a:latin typeface="Tahoma" pitchFamily="34" charset="0"/>
          <a:ea typeface="宋体" charset="-122"/>
        </a:defRPr>
      </a:lvl5pPr>
      <a:lvl6pPr marL="457200" algn="l" rtl="0" fontAlgn="base">
        <a:spcBef>
          <a:spcPct val="0"/>
        </a:spcBef>
        <a:spcAft>
          <a:spcPct val="0"/>
        </a:spcAft>
        <a:defRPr sz="4000">
          <a:solidFill>
            <a:schemeClr val="tx2"/>
          </a:solidFill>
          <a:latin typeface="Tahoma" pitchFamily="34" charset="0"/>
          <a:ea typeface="宋体" charset="-122"/>
        </a:defRPr>
      </a:lvl6pPr>
      <a:lvl7pPr marL="914400" algn="l" rtl="0" fontAlgn="base">
        <a:spcBef>
          <a:spcPct val="0"/>
        </a:spcBef>
        <a:spcAft>
          <a:spcPct val="0"/>
        </a:spcAft>
        <a:defRPr sz="4000">
          <a:solidFill>
            <a:schemeClr val="tx2"/>
          </a:solidFill>
          <a:latin typeface="Tahoma" pitchFamily="34" charset="0"/>
          <a:ea typeface="宋体" charset="-122"/>
        </a:defRPr>
      </a:lvl7pPr>
      <a:lvl8pPr marL="1371600" algn="l" rtl="0" fontAlgn="base">
        <a:spcBef>
          <a:spcPct val="0"/>
        </a:spcBef>
        <a:spcAft>
          <a:spcPct val="0"/>
        </a:spcAft>
        <a:defRPr sz="4000">
          <a:solidFill>
            <a:schemeClr val="tx2"/>
          </a:solidFill>
          <a:latin typeface="Tahoma" pitchFamily="34" charset="0"/>
          <a:ea typeface="宋体" charset="-122"/>
        </a:defRPr>
      </a:lvl8pPr>
      <a:lvl9pPr marL="1828800" algn="l" rtl="0" fontAlgn="base">
        <a:spcBef>
          <a:spcPct val="0"/>
        </a:spcBef>
        <a:spcAft>
          <a:spcPct val="0"/>
        </a:spcAft>
        <a:defRPr sz="4000">
          <a:solidFill>
            <a:schemeClr val="tx2"/>
          </a:solidFill>
          <a:latin typeface="Tahoma" pitchFamily="34" charset="0"/>
          <a:ea typeface="宋体" charset="-122"/>
        </a:defRPr>
      </a:lvl9pPr>
    </p:titleStyle>
    <p:bodyStyle>
      <a:lvl1pPr algn="l" rtl="0" fontAlgn="base">
        <a:spcBef>
          <a:spcPct val="20000"/>
        </a:spcBef>
        <a:spcAft>
          <a:spcPct val="0"/>
        </a:spcAft>
        <a:buClr>
          <a:schemeClr val="folHlink"/>
        </a:buClr>
        <a:buSzPct val="60000"/>
        <a:buFont typeface="Wingdings" pitchFamily="2" charset="2"/>
        <a:defRPr sz="2800" b="1">
          <a:solidFill>
            <a:schemeClr val="tx1"/>
          </a:solidFill>
          <a:latin typeface="+mn-lt"/>
          <a:ea typeface="+mn-ea"/>
          <a:cs typeface="+mn-cs"/>
        </a:defRPr>
      </a:lvl1pPr>
      <a:lvl2pPr marL="439738" indent="4763" algn="l" rtl="0" fontAlgn="base">
        <a:spcBef>
          <a:spcPct val="20000"/>
        </a:spcBef>
        <a:spcAft>
          <a:spcPct val="0"/>
        </a:spcAft>
        <a:buClr>
          <a:schemeClr val="hlink"/>
        </a:buClr>
        <a:buSzPct val="55000"/>
        <a:buFont typeface="Wingdings" pitchFamily="2" charset="2"/>
        <a:defRPr sz="2800" b="1">
          <a:solidFill>
            <a:schemeClr val="tx1"/>
          </a:solidFill>
          <a:latin typeface="+mn-lt"/>
          <a:ea typeface="+mn-ea"/>
        </a:defRPr>
      </a:lvl2pPr>
      <a:lvl3pPr marL="901700" algn="l" rtl="0" fontAlgn="base">
        <a:spcBef>
          <a:spcPct val="20000"/>
        </a:spcBef>
        <a:spcAft>
          <a:spcPct val="0"/>
        </a:spcAft>
        <a:buClr>
          <a:schemeClr val="folHlink"/>
        </a:buClr>
        <a:buSzPct val="50000"/>
        <a:buFont typeface="Wingdings" pitchFamily="2" charset="2"/>
        <a:defRPr sz="2800" b="1">
          <a:solidFill>
            <a:schemeClr val="tx1"/>
          </a:solidFill>
          <a:latin typeface="+mn-lt"/>
          <a:ea typeface="+mn-ea"/>
        </a:defRPr>
      </a:lvl3pPr>
      <a:lvl4pPr marL="1346200" algn="l" rtl="0" fontAlgn="base">
        <a:spcBef>
          <a:spcPct val="20000"/>
        </a:spcBef>
        <a:spcAft>
          <a:spcPct val="0"/>
        </a:spcAft>
        <a:buClr>
          <a:schemeClr val="accent2"/>
        </a:buClr>
        <a:buSzPct val="55000"/>
        <a:buFont typeface="Wingdings" pitchFamily="2" charset="2"/>
        <a:defRPr sz="2800" b="1">
          <a:solidFill>
            <a:schemeClr val="tx1"/>
          </a:solidFill>
          <a:latin typeface="+mn-lt"/>
          <a:ea typeface="+mn-ea"/>
        </a:defRPr>
      </a:lvl4pPr>
      <a:lvl5pPr marL="17891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5pPr>
      <a:lvl6pPr marL="22463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6pPr>
      <a:lvl7pPr marL="27035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7pPr>
      <a:lvl8pPr marL="31607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8pPr>
      <a:lvl9pPr marL="3617913" algn="l" rtl="0" fontAlgn="base">
        <a:spcBef>
          <a:spcPct val="20000"/>
        </a:spcBef>
        <a:spcAft>
          <a:spcPct val="0"/>
        </a:spcAft>
        <a:buClr>
          <a:schemeClr val="accent1"/>
        </a:buClr>
        <a:buSzPct val="50000"/>
        <a:buFont typeface="Wingdings" pitchFamily="2" charset="2"/>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5"/>
          <p:cNvGrpSpPr>
            <a:grpSpLocks/>
          </p:cNvGrpSpPr>
          <p:nvPr userDrawn="1"/>
        </p:nvGrpSpPr>
        <p:grpSpPr bwMode="auto">
          <a:xfrm>
            <a:off x="127000" y="431800"/>
            <a:ext cx="8542338" cy="1052513"/>
            <a:chOff x="80" y="624"/>
            <a:chExt cx="5381" cy="663"/>
          </a:xfrm>
        </p:grpSpPr>
        <p:sp>
          <p:nvSpPr>
            <p:cNvPr id="1034" name="Rectangle 3"/>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5" name="Rectangle 5"/>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6" name="Rectangle 7"/>
            <p:cNvSpPr>
              <a:spLocks noChangeArrowheads="1"/>
            </p:cNvSpPr>
            <p:nvPr/>
          </p:nvSpPr>
          <p:spPr bwMode="gray">
            <a:xfrm>
              <a:off x="480" y="624"/>
              <a:ext cx="20" cy="66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7" name="Rectangle 2"/>
            <p:cNvSpPr>
              <a:spLocks noChangeArrowheads="1"/>
            </p:cNvSpPr>
            <p:nvPr userDrawn="1"/>
          </p:nvSpPr>
          <p:spPr bwMode="ltGray">
            <a:xfrm>
              <a:off x="263" y="692"/>
              <a:ext cx="276" cy="29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8" name="Rectangle 4"/>
            <p:cNvSpPr>
              <a:spLocks noChangeArrowheads="1"/>
            </p:cNvSpPr>
            <p:nvPr userDrawn="1"/>
          </p:nvSpPr>
          <p:spPr bwMode="ltGray">
            <a:xfrm>
              <a:off x="341" y="958"/>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9" name="Rectangle 6"/>
            <p:cNvSpPr>
              <a:spLocks noChangeArrowheads="1"/>
            </p:cNvSpPr>
            <p:nvPr userDrawn="1"/>
          </p:nvSpPr>
          <p:spPr bwMode="ltGray">
            <a:xfrm>
              <a:off x="80" y="912"/>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40" name="Rectangle 8"/>
            <p:cNvSpPr>
              <a:spLocks noChangeArrowheads="1"/>
            </p:cNvSpPr>
            <p:nvPr userDrawn="1"/>
          </p:nvSpPr>
          <p:spPr bwMode="gray">
            <a:xfrm>
              <a:off x="279" y="1122"/>
              <a:ext cx="5182" cy="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grpSp>
      <p:sp>
        <p:nvSpPr>
          <p:cNvPr id="1027" name="Rectangle 9"/>
          <p:cNvSpPr>
            <a:spLocks noGrp="1" noChangeArrowheads="1"/>
          </p:cNvSpPr>
          <p:nvPr>
            <p:ph type="title"/>
          </p:nvPr>
        </p:nvSpPr>
        <p:spPr bwMode="auto">
          <a:xfrm>
            <a:off x="1150938" y="214313"/>
            <a:ext cx="7237412" cy="91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10"/>
          <p:cNvSpPr>
            <a:spLocks noGrp="1" noChangeArrowheads="1"/>
          </p:cNvSpPr>
          <p:nvPr>
            <p:ph type="body" idx="1"/>
          </p:nvPr>
        </p:nvSpPr>
        <p:spPr bwMode="auto">
          <a:xfrm>
            <a:off x="827088" y="1628775"/>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04492"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b="0">
                <a:latin typeface="+mj-lt"/>
              </a:defRPr>
            </a:lvl1pPr>
          </a:lstStyle>
          <a:p>
            <a:pPr>
              <a:defRPr/>
            </a:pPr>
            <a:endParaRPr kumimoji="0" lang="en-US" altLang="zh-CN">
              <a:solidFill>
                <a:srgbClr val="000000"/>
              </a:solidFill>
              <a:ea typeface="宋体" pitchFamily="2" charset="-122"/>
            </a:endParaRPr>
          </a:p>
        </p:txBody>
      </p:sp>
      <p:sp>
        <p:nvSpPr>
          <p:cNvPr id="404493" name="Rectangle 13"/>
          <p:cNvSpPr>
            <a:spLocks noGrp="1" noChangeArrowheads="1"/>
          </p:cNvSpPr>
          <p:nvPr>
            <p:ph type="sldNum" sz="quarter" idx="4"/>
          </p:nvPr>
        </p:nvSpPr>
        <p:spPr bwMode="auto">
          <a:xfrm>
            <a:off x="7019925" y="60213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a:latin typeface="+mj-lt"/>
              </a:defRPr>
            </a:lvl1pPr>
          </a:lstStyle>
          <a:p>
            <a:pPr>
              <a:defRPr/>
            </a:pPr>
            <a:fld id="{7DA86B38-A4A3-4378-BBE8-ECB339D8EC6C}" type="slidenum">
              <a:rPr kumimoji="0" lang="en-US" altLang="zh-CN">
                <a:solidFill>
                  <a:srgbClr val="000000"/>
                </a:solidFill>
                <a:ea typeface="宋体" pitchFamily="2" charset="-122"/>
              </a:rPr>
              <a:pPr>
                <a:defRPr/>
              </a:pPr>
              <a:t>‹#›</a:t>
            </a:fld>
            <a:endParaRPr kumimoji="0" lang="en-US" altLang="zh-CN">
              <a:solidFill>
                <a:srgbClr val="000000"/>
              </a:solidFill>
              <a:ea typeface="宋体" pitchFamily="2" charset="-122"/>
            </a:endParaRPr>
          </a:p>
        </p:txBody>
      </p:sp>
    </p:spTree>
    <p:extLst>
      <p:ext uri="{BB962C8B-B14F-4D97-AF65-F5344CB8AC3E}">
        <p14:creationId xmlns:p14="http://schemas.microsoft.com/office/powerpoint/2010/main" val="730056034"/>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Lst>
  <p:transition spd="slow">
    <p:pull dir="ru"/>
  </p:transition>
  <p:timing>
    <p:tnLst>
      <p:par>
        <p:cTn id="1" dur="indefinite" restart="never" nodeType="tmRoot"/>
      </p:par>
    </p:tnLst>
  </p:timing>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ahoma" pitchFamily="34" charset="0"/>
          <a:ea typeface="华文行楷" pitchFamily="2" charset="-122"/>
        </a:defRPr>
      </a:lvl2pPr>
      <a:lvl3pPr algn="l" rtl="0" eaLnBrk="0" fontAlgn="base" hangingPunct="0">
        <a:spcBef>
          <a:spcPct val="0"/>
        </a:spcBef>
        <a:spcAft>
          <a:spcPct val="0"/>
        </a:spcAft>
        <a:defRPr sz="4000">
          <a:solidFill>
            <a:schemeClr val="tx2"/>
          </a:solidFill>
          <a:latin typeface="Tahoma" pitchFamily="34" charset="0"/>
          <a:ea typeface="华文行楷" pitchFamily="2" charset="-122"/>
        </a:defRPr>
      </a:lvl3pPr>
      <a:lvl4pPr algn="l" rtl="0" eaLnBrk="0" fontAlgn="base" hangingPunct="0">
        <a:spcBef>
          <a:spcPct val="0"/>
        </a:spcBef>
        <a:spcAft>
          <a:spcPct val="0"/>
        </a:spcAft>
        <a:defRPr sz="4000">
          <a:solidFill>
            <a:schemeClr val="tx2"/>
          </a:solidFill>
          <a:latin typeface="Tahoma" pitchFamily="34" charset="0"/>
          <a:ea typeface="华文行楷" pitchFamily="2" charset="-122"/>
        </a:defRPr>
      </a:lvl4pPr>
      <a:lvl5pPr algn="l" rtl="0" eaLnBrk="0" fontAlgn="base" hangingPunct="0">
        <a:spcBef>
          <a:spcPct val="0"/>
        </a:spcBef>
        <a:spcAft>
          <a:spcPct val="0"/>
        </a:spcAft>
        <a:defRPr sz="4000">
          <a:solidFill>
            <a:schemeClr val="tx2"/>
          </a:solidFill>
          <a:latin typeface="Tahoma" pitchFamily="34" charset="0"/>
          <a:ea typeface="华文行楷" pitchFamily="2" charset="-122"/>
        </a:defRPr>
      </a:lvl5pPr>
      <a:lvl6pPr marL="457200" algn="l" rtl="0" fontAlgn="base">
        <a:spcBef>
          <a:spcPct val="0"/>
        </a:spcBef>
        <a:spcAft>
          <a:spcPct val="0"/>
        </a:spcAft>
        <a:defRPr sz="4000">
          <a:solidFill>
            <a:schemeClr val="tx2"/>
          </a:solidFill>
          <a:latin typeface="Tahoma" pitchFamily="34" charset="0"/>
          <a:ea typeface="华文行楷" pitchFamily="2" charset="-122"/>
        </a:defRPr>
      </a:lvl6pPr>
      <a:lvl7pPr marL="914400" algn="l" rtl="0" fontAlgn="base">
        <a:spcBef>
          <a:spcPct val="0"/>
        </a:spcBef>
        <a:spcAft>
          <a:spcPct val="0"/>
        </a:spcAft>
        <a:defRPr sz="4000">
          <a:solidFill>
            <a:schemeClr val="tx2"/>
          </a:solidFill>
          <a:latin typeface="Tahoma" pitchFamily="34" charset="0"/>
          <a:ea typeface="华文行楷" pitchFamily="2" charset="-122"/>
        </a:defRPr>
      </a:lvl7pPr>
      <a:lvl8pPr marL="1371600" algn="l" rtl="0" fontAlgn="base">
        <a:spcBef>
          <a:spcPct val="0"/>
        </a:spcBef>
        <a:spcAft>
          <a:spcPct val="0"/>
        </a:spcAft>
        <a:defRPr sz="4000">
          <a:solidFill>
            <a:schemeClr val="tx2"/>
          </a:solidFill>
          <a:latin typeface="Tahoma" pitchFamily="34" charset="0"/>
          <a:ea typeface="华文行楷" pitchFamily="2" charset="-122"/>
        </a:defRPr>
      </a:lvl8pPr>
      <a:lvl9pPr marL="1828800" algn="l" rtl="0" fontAlgn="base">
        <a:spcBef>
          <a:spcPct val="0"/>
        </a:spcBef>
        <a:spcAft>
          <a:spcPct val="0"/>
        </a:spcAft>
        <a:defRPr sz="4000">
          <a:solidFill>
            <a:schemeClr val="tx2"/>
          </a:solidFill>
          <a:latin typeface="Tahoma" pitchFamily="34" charset="0"/>
          <a:ea typeface="华文行楷"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8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15"/>
          <p:cNvGrpSpPr>
            <a:grpSpLocks/>
          </p:cNvGrpSpPr>
          <p:nvPr userDrawn="1"/>
        </p:nvGrpSpPr>
        <p:grpSpPr bwMode="auto">
          <a:xfrm>
            <a:off x="127000" y="431800"/>
            <a:ext cx="8542338" cy="1052513"/>
            <a:chOff x="80" y="624"/>
            <a:chExt cx="5381" cy="663"/>
          </a:xfrm>
        </p:grpSpPr>
        <p:sp>
          <p:nvSpPr>
            <p:cNvPr id="1034" name="Rectangle 3"/>
            <p:cNvSpPr>
              <a:spLocks noChangeArrowheads="1"/>
            </p:cNvSpPr>
            <p:nvPr/>
          </p:nvSpPr>
          <p:spPr bwMode="ltGray">
            <a:xfrm>
              <a:off x="504" y="692"/>
              <a:ext cx="207" cy="299"/>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5" name="Rectangle 5"/>
            <p:cNvSpPr>
              <a:spLocks noChangeArrowheads="1"/>
            </p:cNvSpPr>
            <p:nvPr/>
          </p:nvSpPr>
          <p:spPr bwMode="ltGray">
            <a:xfrm>
              <a:off x="574" y="958"/>
              <a:ext cx="232" cy="299"/>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6" name="Rectangle 7"/>
            <p:cNvSpPr>
              <a:spLocks noChangeArrowheads="1"/>
            </p:cNvSpPr>
            <p:nvPr/>
          </p:nvSpPr>
          <p:spPr bwMode="gray">
            <a:xfrm>
              <a:off x="480" y="624"/>
              <a:ext cx="20" cy="663"/>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7" name="Rectangle 2"/>
            <p:cNvSpPr>
              <a:spLocks noChangeArrowheads="1"/>
            </p:cNvSpPr>
            <p:nvPr userDrawn="1"/>
          </p:nvSpPr>
          <p:spPr bwMode="ltGray">
            <a:xfrm>
              <a:off x="263" y="692"/>
              <a:ext cx="276" cy="299"/>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8" name="Rectangle 4"/>
            <p:cNvSpPr>
              <a:spLocks noChangeArrowheads="1"/>
            </p:cNvSpPr>
            <p:nvPr userDrawn="1"/>
          </p:nvSpPr>
          <p:spPr bwMode="ltGray">
            <a:xfrm>
              <a:off x="341" y="958"/>
              <a:ext cx="266" cy="299"/>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39" name="Rectangle 6"/>
            <p:cNvSpPr>
              <a:spLocks noChangeArrowheads="1"/>
            </p:cNvSpPr>
            <p:nvPr userDrawn="1"/>
          </p:nvSpPr>
          <p:spPr bwMode="ltGray">
            <a:xfrm>
              <a:off x="80" y="912"/>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sp>
          <p:nvSpPr>
            <p:cNvPr id="1040" name="Rectangle 8"/>
            <p:cNvSpPr>
              <a:spLocks noChangeArrowheads="1"/>
            </p:cNvSpPr>
            <p:nvPr userDrawn="1"/>
          </p:nvSpPr>
          <p:spPr bwMode="gray">
            <a:xfrm>
              <a:off x="279" y="1122"/>
              <a:ext cx="5182" cy="2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2400" b="1">
                  <a:solidFill>
                    <a:schemeClr val="tx1"/>
                  </a:solidFill>
                  <a:latin typeface="Times New Roman" pitchFamily="18" charset="0"/>
                  <a:ea typeface="宋体" pitchFamily="2" charset="-122"/>
                </a:defRPr>
              </a:lvl1pPr>
              <a:lvl2pPr marL="742950" indent="-285750" eaLnBrk="0" hangingPunct="0">
                <a:defRPr sz="2400" b="1">
                  <a:solidFill>
                    <a:schemeClr val="tx1"/>
                  </a:solidFill>
                  <a:latin typeface="Times New Roman" pitchFamily="18" charset="0"/>
                  <a:ea typeface="宋体" pitchFamily="2" charset="-122"/>
                </a:defRPr>
              </a:lvl2pPr>
              <a:lvl3pPr marL="1143000" indent="-228600" eaLnBrk="0" hangingPunct="0">
                <a:defRPr sz="2400" b="1">
                  <a:solidFill>
                    <a:schemeClr val="tx1"/>
                  </a:solidFill>
                  <a:latin typeface="Times New Roman" pitchFamily="18" charset="0"/>
                  <a:ea typeface="宋体" pitchFamily="2" charset="-122"/>
                </a:defRPr>
              </a:lvl3pPr>
              <a:lvl4pPr marL="1600200" indent="-228600" eaLnBrk="0" hangingPunct="0">
                <a:defRPr sz="2400" b="1">
                  <a:solidFill>
                    <a:schemeClr val="tx1"/>
                  </a:solidFill>
                  <a:latin typeface="Times New Roman" pitchFamily="18" charset="0"/>
                  <a:ea typeface="宋体" pitchFamily="2" charset="-122"/>
                </a:defRPr>
              </a:lvl4pPr>
              <a:lvl5pPr marL="2057400" indent="-228600" eaLnBrk="0" hangingPunct="0">
                <a:defRPr sz="2400" b="1">
                  <a:solidFill>
                    <a:schemeClr val="tx1"/>
                  </a:solidFill>
                  <a:latin typeface="Times New Roman" pitchFamily="18" charset="0"/>
                  <a:ea typeface="宋体" pitchFamily="2" charset="-122"/>
                </a:defRPr>
              </a:lvl5pPr>
              <a:lvl6pPr marL="2514600" indent="-228600" eaLnBrk="0" fontAlgn="base" hangingPunct="0">
                <a:spcBef>
                  <a:spcPct val="0"/>
                </a:spcBef>
                <a:spcAft>
                  <a:spcPct val="0"/>
                </a:spcAft>
                <a:defRPr sz="2400" b="1">
                  <a:solidFill>
                    <a:schemeClr val="tx1"/>
                  </a:solidFill>
                  <a:latin typeface="Times New Roman" pitchFamily="18" charset="0"/>
                  <a:ea typeface="宋体" pitchFamily="2" charset="-122"/>
                </a:defRPr>
              </a:lvl6pPr>
              <a:lvl7pPr marL="2971800" indent="-228600" eaLnBrk="0" fontAlgn="base" hangingPunct="0">
                <a:spcBef>
                  <a:spcPct val="0"/>
                </a:spcBef>
                <a:spcAft>
                  <a:spcPct val="0"/>
                </a:spcAft>
                <a:defRPr sz="2400" b="1">
                  <a:solidFill>
                    <a:schemeClr val="tx1"/>
                  </a:solidFill>
                  <a:latin typeface="Times New Roman" pitchFamily="18" charset="0"/>
                  <a:ea typeface="宋体" pitchFamily="2" charset="-122"/>
                </a:defRPr>
              </a:lvl7pPr>
              <a:lvl8pPr marL="3429000" indent="-228600" eaLnBrk="0" fontAlgn="base" hangingPunct="0">
                <a:spcBef>
                  <a:spcPct val="0"/>
                </a:spcBef>
                <a:spcAft>
                  <a:spcPct val="0"/>
                </a:spcAft>
                <a:defRPr sz="2400" b="1">
                  <a:solidFill>
                    <a:schemeClr val="tx1"/>
                  </a:solidFill>
                  <a:latin typeface="Times New Roman" pitchFamily="18" charset="0"/>
                  <a:ea typeface="宋体" pitchFamily="2" charset="-122"/>
                </a:defRPr>
              </a:lvl8pPr>
              <a:lvl9pPr marL="3886200" indent="-228600" eaLnBrk="0" fontAlgn="base" hangingPunct="0">
                <a:spcBef>
                  <a:spcPct val="0"/>
                </a:spcBef>
                <a:spcAft>
                  <a:spcPct val="0"/>
                </a:spcAft>
                <a:defRPr sz="2400" b="1">
                  <a:solidFill>
                    <a:schemeClr val="tx1"/>
                  </a:solidFill>
                  <a:latin typeface="Times New Roman" pitchFamily="18" charset="0"/>
                  <a:ea typeface="宋体" pitchFamily="2" charset="-122"/>
                </a:defRPr>
              </a:lvl9pPr>
            </a:lstStyle>
            <a:p>
              <a:pPr eaLnBrk="1" hangingPunct="1">
                <a:defRPr/>
              </a:pPr>
              <a:endParaRPr lang="zh-CN" altLang="zh-CN" b="0" smtClean="0">
                <a:solidFill>
                  <a:srgbClr val="000000"/>
                </a:solidFill>
                <a:latin typeface="Tahoma" pitchFamily="34" charset="0"/>
              </a:endParaRPr>
            </a:p>
          </p:txBody>
        </p:sp>
      </p:grpSp>
      <p:sp>
        <p:nvSpPr>
          <p:cNvPr id="1027" name="Rectangle 9"/>
          <p:cNvSpPr>
            <a:spLocks noGrp="1" noChangeArrowheads="1"/>
          </p:cNvSpPr>
          <p:nvPr>
            <p:ph type="title"/>
          </p:nvPr>
        </p:nvSpPr>
        <p:spPr bwMode="auto">
          <a:xfrm>
            <a:off x="1150938" y="214313"/>
            <a:ext cx="7237412" cy="911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zh-CN" altLang="en-US" smtClean="0"/>
              <a:t>单击此处编辑母版标题样式</a:t>
            </a:r>
          </a:p>
        </p:txBody>
      </p:sp>
      <p:sp>
        <p:nvSpPr>
          <p:cNvPr id="1028" name="Rectangle 10"/>
          <p:cNvSpPr>
            <a:spLocks noGrp="1" noChangeArrowheads="1"/>
          </p:cNvSpPr>
          <p:nvPr>
            <p:ph type="body" idx="1"/>
          </p:nvPr>
        </p:nvSpPr>
        <p:spPr bwMode="auto">
          <a:xfrm>
            <a:off x="827088" y="1628775"/>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04492" name="Rectangle 12"/>
          <p:cNvSpPr>
            <a:spLocks noGrp="1" noChangeArrowheads="1"/>
          </p:cNvSpPr>
          <p:nvPr>
            <p:ph type="ftr" sz="quarter" idx="3"/>
          </p:nvPr>
        </p:nvSpPr>
        <p:spPr bwMode="auto">
          <a:xfrm>
            <a:off x="3657600" y="6243638"/>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400" b="0">
                <a:latin typeface="+mj-lt"/>
              </a:defRPr>
            </a:lvl1pPr>
          </a:lstStyle>
          <a:p>
            <a:pPr>
              <a:defRPr/>
            </a:pPr>
            <a:endParaRPr kumimoji="0" lang="en-US" altLang="zh-CN">
              <a:solidFill>
                <a:srgbClr val="000000"/>
              </a:solidFill>
              <a:ea typeface="宋体" pitchFamily="2" charset="-122"/>
            </a:endParaRPr>
          </a:p>
        </p:txBody>
      </p:sp>
      <p:sp>
        <p:nvSpPr>
          <p:cNvPr id="404493" name="Rectangle 13"/>
          <p:cNvSpPr>
            <a:spLocks noGrp="1" noChangeArrowheads="1"/>
          </p:cNvSpPr>
          <p:nvPr>
            <p:ph type="sldNum" sz="quarter" idx="4"/>
          </p:nvPr>
        </p:nvSpPr>
        <p:spPr bwMode="auto">
          <a:xfrm>
            <a:off x="7019925" y="6021388"/>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400" b="0">
                <a:latin typeface="+mj-lt"/>
              </a:defRPr>
            </a:lvl1pPr>
          </a:lstStyle>
          <a:p>
            <a:pPr>
              <a:defRPr/>
            </a:pPr>
            <a:fld id="{7DA86B38-A4A3-4378-BBE8-ECB339D8EC6C}" type="slidenum">
              <a:rPr kumimoji="0" lang="en-US" altLang="zh-CN">
                <a:solidFill>
                  <a:srgbClr val="000000"/>
                </a:solidFill>
                <a:ea typeface="宋体" pitchFamily="2" charset="-122"/>
              </a:rPr>
              <a:pPr>
                <a:defRPr/>
              </a:pPr>
              <a:t>‹#›</a:t>
            </a:fld>
            <a:endParaRPr kumimoji="0" lang="en-US" altLang="zh-CN">
              <a:solidFill>
                <a:srgbClr val="000000"/>
              </a:solidFill>
              <a:ea typeface="宋体" pitchFamily="2" charset="-122"/>
            </a:endParaRPr>
          </a:p>
        </p:txBody>
      </p:sp>
    </p:spTree>
    <p:extLst>
      <p:ext uri="{BB962C8B-B14F-4D97-AF65-F5344CB8AC3E}">
        <p14:creationId xmlns:p14="http://schemas.microsoft.com/office/powerpoint/2010/main" val="2413772853"/>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 id="2147483692" r:id="rId12"/>
  </p:sldLayoutIdLst>
  <p:transition spd="slow">
    <p:pull dir="ru"/>
  </p:transition>
  <p:timing>
    <p:tnLst>
      <p:par>
        <p:cTn id="1" dur="indefinite" restart="never" nodeType="tmRoot"/>
      </p:par>
    </p:tnLst>
  </p:timing>
  <p:hf hdr="0" ftr="0" dt="0"/>
  <p:txStyles>
    <p:titleStyle>
      <a:lvl1pPr algn="l" rtl="0" eaLnBrk="0" fontAlgn="base" hangingPunct="0">
        <a:spcBef>
          <a:spcPct val="0"/>
        </a:spcBef>
        <a:spcAft>
          <a:spcPct val="0"/>
        </a:spcAft>
        <a:defRPr sz="4000">
          <a:solidFill>
            <a:schemeClr val="tx2"/>
          </a:solidFill>
          <a:latin typeface="+mj-lt"/>
          <a:ea typeface="+mj-ea"/>
          <a:cs typeface="+mj-cs"/>
        </a:defRPr>
      </a:lvl1pPr>
      <a:lvl2pPr algn="l" rtl="0" eaLnBrk="0" fontAlgn="base" hangingPunct="0">
        <a:spcBef>
          <a:spcPct val="0"/>
        </a:spcBef>
        <a:spcAft>
          <a:spcPct val="0"/>
        </a:spcAft>
        <a:defRPr sz="4000">
          <a:solidFill>
            <a:schemeClr val="tx2"/>
          </a:solidFill>
          <a:latin typeface="Tahoma" pitchFamily="34" charset="0"/>
          <a:ea typeface="华文行楷" pitchFamily="2" charset="-122"/>
        </a:defRPr>
      </a:lvl2pPr>
      <a:lvl3pPr algn="l" rtl="0" eaLnBrk="0" fontAlgn="base" hangingPunct="0">
        <a:spcBef>
          <a:spcPct val="0"/>
        </a:spcBef>
        <a:spcAft>
          <a:spcPct val="0"/>
        </a:spcAft>
        <a:defRPr sz="4000">
          <a:solidFill>
            <a:schemeClr val="tx2"/>
          </a:solidFill>
          <a:latin typeface="Tahoma" pitchFamily="34" charset="0"/>
          <a:ea typeface="华文行楷" pitchFamily="2" charset="-122"/>
        </a:defRPr>
      </a:lvl3pPr>
      <a:lvl4pPr algn="l" rtl="0" eaLnBrk="0" fontAlgn="base" hangingPunct="0">
        <a:spcBef>
          <a:spcPct val="0"/>
        </a:spcBef>
        <a:spcAft>
          <a:spcPct val="0"/>
        </a:spcAft>
        <a:defRPr sz="4000">
          <a:solidFill>
            <a:schemeClr val="tx2"/>
          </a:solidFill>
          <a:latin typeface="Tahoma" pitchFamily="34" charset="0"/>
          <a:ea typeface="华文行楷" pitchFamily="2" charset="-122"/>
        </a:defRPr>
      </a:lvl4pPr>
      <a:lvl5pPr algn="l" rtl="0" eaLnBrk="0" fontAlgn="base" hangingPunct="0">
        <a:spcBef>
          <a:spcPct val="0"/>
        </a:spcBef>
        <a:spcAft>
          <a:spcPct val="0"/>
        </a:spcAft>
        <a:defRPr sz="4000">
          <a:solidFill>
            <a:schemeClr val="tx2"/>
          </a:solidFill>
          <a:latin typeface="Tahoma" pitchFamily="34" charset="0"/>
          <a:ea typeface="华文行楷" pitchFamily="2" charset="-122"/>
        </a:defRPr>
      </a:lvl5pPr>
      <a:lvl6pPr marL="457200" algn="l" rtl="0" fontAlgn="base">
        <a:spcBef>
          <a:spcPct val="0"/>
        </a:spcBef>
        <a:spcAft>
          <a:spcPct val="0"/>
        </a:spcAft>
        <a:defRPr sz="4000">
          <a:solidFill>
            <a:schemeClr val="tx2"/>
          </a:solidFill>
          <a:latin typeface="Tahoma" pitchFamily="34" charset="0"/>
          <a:ea typeface="华文行楷" pitchFamily="2" charset="-122"/>
        </a:defRPr>
      </a:lvl6pPr>
      <a:lvl7pPr marL="914400" algn="l" rtl="0" fontAlgn="base">
        <a:spcBef>
          <a:spcPct val="0"/>
        </a:spcBef>
        <a:spcAft>
          <a:spcPct val="0"/>
        </a:spcAft>
        <a:defRPr sz="4000">
          <a:solidFill>
            <a:schemeClr val="tx2"/>
          </a:solidFill>
          <a:latin typeface="Tahoma" pitchFamily="34" charset="0"/>
          <a:ea typeface="华文行楷" pitchFamily="2" charset="-122"/>
        </a:defRPr>
      </a:lvl7pPr>
      <a:lvl8pPr marL="1371600" algn="l" rtl="0" fontAlgn="base">
        <a:spcBef>
          <a:spcPct val="0"/>
        </a:spcBef>
        <a:spcAft>
          <a:spcPct val="0"/>
        </a:spcAft>
        <a:defRPr sz="4000">
          <a:solidFill>
            <a:schemeClr val="tx2"/>
          </a:solidFill>
          <a:latin typeface="Tahoma" pitchFamily="34" charset="0"/>
          <a:ea typeface="华文行楷" pitchFamily="2" charset="-122"/>
        </a:defRPr>
      </a:lvl8pPr>
      <a:lvl9pPr marL="1828800" algn="l" rtl="0" fontAlgn="base">
        <a:spcBef>
          <a:spcPct val="0"/>
        </a:spcBef>
        <a:spcAft>
          <a:spcPct val="0"/>
        </a:spcAft>
        <a:defRPr sz="4000">
          <a:solidFill>
            <a:schemeClr val="tx2"/>
          </a:solidFill>
          <a:latin typeface="Tahoma" pitchFamily="34" charset="0"/>
          <a:ea typeface="华文行楷" pitchFamily="2" charset="-122"/>
        </a:defRPr>
      </a:lvl9pPr>
    </p:titleStyle>
    <p:bodyStyle>
      <a:lvl1pPr marL="342900" indent="-342900" algn="l" rtl="0" eaLnBrk="0" fontAlgn="base" hangingPunct="0">
        <a:spcBef>
          <a:spcPct val="20000"/>
        </a:spcBef>
        <a:spcAft>
          <a:spcPct val="0"/>
        </a:spcAft>
        <a:buClr>
          <a:schemeClr val="folHlink"/>
        </a:buClr>
        <a:buSzPct val="60000"/>
        <a:buFont typeface="Wingdings" pitchFamily="2" charset="2"/>
        <a:buChar char="n"/>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itchFamily="2" charset="2"/>
        <a:buChar char="n"/>
        <a:defRPr sz="2800" b="1">
          <a:solidFill>
            <a:schemeClr val="tx1"/>
          </a:solidFill>
          <a:latin typeface="+mn-lt"/>
          <a:ea typeface="+mn-ea"/>
        </a:defRPr>
      </a:lvl2pPr>
      <a:lvl3pPr marL="1143000" indent="-228600" algn="l" rtl="0" eaLnBrk="0" fontAlgn="base" hangingPunct="0">
        <a:spcBef>
          <a:spcPct val="20000"/>
        </a:spcBef>
        <a:spcAft>
          <a:spcPct val="0"/>
        </a:spcAft>
        <a:buClr>
          <a:schemeClr val="folHlink"/>
        </a:buClr>
        <a:buSzPct val="50000"/>
        <a:buFont typeface="Wingdings" pitchFamily="2" charset="2"/>
        <a:buChar char="n"/>
        <a:defRPr sz="2800" b="1">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55000"/>
        <a:buFont typeface="Wingdings" pitchFamily="2" charset="2"/>
        <a:buChar char="n"/>
        <a:defRPr sz="2800" b="1">
          <a:solidFill>
            <a:schemeClr val="tx1"/>
          </a:solidFill>
          <a:latin typeface="+mn-lt"/>
          <a:ea typeface="+mn-ea"/>
        </a:defRPr>
      </a:lvl4pPr>
      <a:lvl5pPr marL="2057400" indent="-228600" algn="l" rtl="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5pPr>
      <a:lvl6pPr marL="2514600" indent="-228600" algn="l" rtl="0" fontAlgn="base">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6pPr>
      <a:lvl7pPr marL="2971800" indent="-228600" algn="l" rtl="0" fontAlgn="base">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7pPr>
      <a:lvl8pPr marL="3429000" indent="-228600" algn="l" rtl="0" fontAlgn="base">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8pPr>
      <a:lvl9pPr marL="3886200" indent="-228600" algn="l" rtl="0" fontAlgn="base">
        <a:spcBef>
          <a:spcPct val="20000"/>
        </a:spcBef>
        <a:spcAft>
          <a:spcPct val="0"/>
        </a:spcAft>
        <a:buClr>
          <a:schemeClr val="accent1"/>
        </a:buClr>
        <a:buSzPct val="50000"/>
        <a:buFont typeface="Wingdings" pitchFamily="2" charset="2"/>
        <a:buChar char="n"/>
        <a:defRPr sz="28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slide" Target="slide69.xml"/><Relationship Id="rId3" Type="http://schemas.openxmlformats.org/officeDocument/2006/relationships/slide" Target="slide21.xml"/><Relationship Id="rId7" Type="http://schemas.openxmlformats.org/officeDocument/2006/relationships/slide" Target="slide66.xml"/><Relationship Id="rId2" Type="http://schemas.openxmlformats.org/officeDocument/2006/relationships/slide" Target="slide14.xml"/><Relationship Id="rId1" Type="http://schemas.openxmlformats.org/officeDocument/2006/relationships/slideLayout" Target="../slideLayouts/slideLayout2.xml"/><Relationship Id="rId6" Type="http://schemas.openxmlformats.org/officeDocument/2006/relationships/slide" Target="slide51.xml"/><Relationship Id="rId5" Type="http://schemas.openxmlformats.org/officeDocument/2006/relationships/slide" Target="slide37.xml"/><Relationship Id="rId4" Type="http://schemas.openxmlformats.org/officeDocument/2006/relationships/slide" Target="slide3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B0FEFD13-E2AA-4259-8143-540D6BFAEF0B}" type="slidenum">
              <a:rPr lang="en-US" altLang="zh-CN">
                <a:solidFill>
                  <a:srgbClr val="000000"/>
                </a:solidFill>
              </a:rPr>
              <a:pPr>
                <a:defRPr/>
              </a:pPr>
              <a:t>1</a:t>
            </a:fld>
            <a:endParaRPr lang="en-US" altLang="zh-CN">
              <a:solidFill>
                <a:srgbClr val="000000"/>
              </a:solidFill>
            </a:endParaRPr>
          </a:p>
        </p:txBody>
      </p:sp>
      <p:sp>
        <p:nvSpPr>
          <p:cNvPr id="121859" name="Text Box 2"/>
          <p:cNvSpPr txBox="1">
            <a:spLocks noChangeArrowheads="1"/>
          </p:cNvSpPr>
          <p:nvPr/>
        </p:nvSpPr>
        <p:spPr bwMode="auto">
          <a:xfrm>
            <a:off x="719138" y="1340768"/>
            <a:ext cx="7916862" cy="37548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rgbClr val="FFCF01"/>
              </a:buClr>
              <a:buSzPct val="80000"/>
              <a:buFont typeface="Wingdings" pitchFamily="2" charset="2"/>
              <a:buNone/>
            </a:pPr>
            <a:r>
              <a:rPr lang="en-US" altLang="zh-CN" dirty="0" smtClean="0">
                <a:solidFill>
                  <a:srgbClr val="000000"/>
                </a:solidFill>
              </a:rPr>
              <a:t>1.7 </a:t>
            </a:r>
            <a:r>
              <a:rPr lang="zh-CN" altLang="en-US" dirty="0" smtClean="0">
                <a:solidFill>
                  <a:srgbClr val="000000"/>
                </a:solidFill>
              </a:rPr>
              <a:t>对偶与范式</a:t>
            </a:r>
            <a:endParaRPr lang="en-US" altLang="zh-CN" dirty="0" smtClean="0">
              <a:solidFill>
                <a:srgbClr val="000000"/>
              </a:solidFill>
            </a:endParaRPr>
          </a:p>
          <a:p>
            <a:pPr algn="l" eaLnBrk="1" hangingPunct="1">
              <a:spcBef>
                <a:spcPct val="50000"/>
              </a:spcBef>
              <a:buClr>
                <a:srgbClr val="FFCF01"/>
              </a:buClr>
              <a:buSzPct val="80000"/>
              <a:buFont typeface="Wingdings" pitchFamily="2" charset="2"/>
              <a:buNone/>
            </a:pPr>
            <a:r>
              <a:rPr lang="zh-CN" altLang="en-US" dirty="0">
                <a:solidFill>
                  <a:srgbClr val="000000"/>
                </a:solidFill>
              </a:rPr>
              <a:t>主</a:t>
            </a:r>
            <a:r>
              <a:rPr lang="zh-CN" altLang="en-US" dirty="0" smtClean="0">
                <a:solidFill>
                  <a:srgbClr val="000000"/>
                </a:solidFill>
              </a:rPr>
              <a:t>析取范式</a:t>
            </a:r>
            <a:r>
              <a:rPr lang="en-US" altLang="zh-CN" dirty="0" smtClean="0">
                <a:solidFill>
                  <a:srgbClr val="000000"/>
                </a:solidFill>
              </a:rPr>
              <a:t>—</a:t>
            </a:r>
            <a:r>
              <a:rPr lang="zh-CN" altLang="en-US" dirty="0" smtClean="0">
                <a:solidFill>
                  <a:srgbClr val="000000"/>
                </a:solidFill>
              </a:rPr>
              <a:t>小项（真值指派是为</a:t>
            </a:r>
            <a:r>
              <a:rPr lang="en-US" altLang="zh-CN" dirty="0" smtClean="0">
                <a:solidFill>
                  <a:srgbClr val="000000"/>
                </a:solidFill>
              </a:rPr>
              <a:t>T</a:t>
            </a:r>
            <a:r>
              <a:rPr lang="zh-CN" altLang="en-US" dirty="0" smtClean="0">
                <a:solidFill>
                  <a:srgbClr val="000000"/>
                </a:solidFill>
              </a:rPr>
              <a:t>）</a:t>
            </a:r>
            <a:endParaRPr lang="en-US" altLang="zh-CN" dirty="0" smtClean="0">
              <a:solidFill>
                <a:srgbClr val="000000"/>
              </a:solidFill>
            </a:endParaRPr>
          </a:p>
          <a:p>
            <a:pPr algn="l" eaLnBrk="1" hangingPunct="1">
              <a:spcBef>
                <a:spcPct val="50000"/>
              </a:spcBef>
              <a:buClr>
                <a:srgbClr val="FFCF01"/>
              </a:buClr>
              <a:buSzPct val="80000"/>
              <a:buNone/>
            </a:pPr>
            <a:r>
              <a:rPr lang="zh-CN" altLang="en-US" dirty="0">
                <a:solidFill>
                  <a:srgbClr val="000000"/>
                </a:solidFill>
              </a:rPr>
              <a:t>主</a:t>
            </a:r>
            <a:r>
              <a:rPr lang="zh-CN" altLang="en-US" dirty="0" smtClean="0">
                <a:solidFill>
                  <a:srgbClr val="000000"/>
                </a:solidFill>
              </a:rPr>
              <a:t>合取范式</a:t>
            </a:r>
            <a:r>
              <a:rPr lang="en-US" altLang="zh-CN" dirty="0" smtClean="0">
                <a:solidFill>
                  <a:srgbClr val="000000"/>
                </a:solidFill>
              </a:rPr>
              <a:t>—</a:t>
            </a:r>
            <a:r>
              <a:rPr lang="zh-CN" altLang="en-US" dirty="0">
                <a:solidFill>
                  <a:srgbClr val="000000"/>
                </a:solidFill>
              </a:rPr>
              <a:t>大项（真值指派是</a:t>
            </a:r>
            <a:r>
              <a:rPr lang="zh-CN" altLang="en-US" dirty="0" smtClean="0">
                <a:solidFill>
                  <a:srgbClr val="000000"/>
                </a:solidFill>
              </a:rPr>
              <a:t>为</a:t>
            </a:r>
            <a:r>
              <a:rPr lang="en-US" altLang="zh-CN" dirty="0" smtClean="0">
                <a:solidFill>
                  <a:srgbClr val="000000"/>
                </a:solidFill>
              </a:rPr>
              <a:t>F</a:t>
            </a:r>
            <a:r>
              <a:rPr lang="zh-CN" altLang="en-US" dirty="0" smtClean="0">
                <a:solidFill>
                  <a:srgbClr val="000000"/>
                </a:solidFill>
              </a:rPr>
              <a:t>）</a:t>
            </a:r>
            <a:endParaRPr lang="en-US" altLang="zh-CN" dirty="0" smtClean="0">
              <a:solidFill>
                <a:srgbClr val="000000"/>
              </a:solidFill>
            </a:endParaRPr>
          </a:p>
          <a:p>
            <a:pPr algn="l" eaLnBrk="1" hangingPunct="1">
              <a:spcBef>
                <a:spcPct val="50000"/>
              </a:spcBef>
              <a:buClr>
                <a:srgbClr val="FFCF01"/>
              </a:buClr>
              <a:buSzPct val="80000"/>
              <a:buFont typeface="Wingdings" pitchFamily="2" charset="2"/>
              <a:buNone/>
            </a:pPr>
            <a:r>
              <a:rPr lang="en-US" altLang="zh-CN" dirty="0" smtClean="0">
                <a:solidFill>
                  <a:srgbClr val="000000"/>
                </a:solidFill>
              </a:rPr>
              <a:t>1.8 </a:t>
            </a:r>
            <a:r>
              <a:rPr lang="zh-CN" altLang="en-US" dirty="0" smtClean="0">
                <a:solidFill>
                  <a:srgbClr val="000000"/>
                </a:solidFill>
              </a:rPr>
              <a:t>推理</a:t>
            </a:r>
            <a:r>
              <a:rPr lang="zh-CN" altLang="en-US" dirty="0">
                <a:solidFill>
                  <a:srgbClr val="000000"/>
                </a:solidFill>
              </a:rPr>
              <a:t>理论：</a:t>
            </a:r>
          </a:p>
          <a:p>
            <a:pPr algn="l" eaLnBrk="1" hangingPunct="1">
              <a:spcBef>
                <a:spcPct val="50000"/>
              </a:spcBef>
              <a:buClr>
                <a:srgbClr val="FFCF01"/>
              </a:buClr>
              <a:buSzPct val="80000"/>
              <a:buFont typeface="Wingdings" pitchFamily="2" charset="2"/>
              <a:buNone/>
            </a:pPr>
            <a:r>
              <a:rPr lang="zh-CN" altLang="en-US" dirty="0">
                <a:solidFill>
                  <a:srgbClr val="000000"/>
                </a:solidFill>
              </a:rPr>
              <a:t> </a:t>
            </a:r>
            <a:r>
              <a:rPr lang="en-US" altLang="zh-CN" dirty="0">
                <a:solidFill>
                  <a:srgbClr val="000000"/>
                </a:solidFill>
              </a:rPr>
              <a:t>1</a:t>
            </a:r>
            <a:r>
              <a:rPr lang="zh-CN" altLang="en-US" dirty="0">
                <a:solidFill>
                  <a:srgbClr val="000000"/>
                </a:solidFill>
              </a:rPr>
              <a:t>、真值表法：</a:t>
            </a:r>
          </a:p>
          <a:p>
            <a:pPr algn="l" eaLnBrk="1" hangingPunct="1">
              <a:spcBef>
                <a:spcPct val="50000"/>
              </a:spcBef>
              <a:buClr>
                <a:srgbClr val="FFCF01"/>
              </a:buClr>
              <a:buSzPct val="80000"/>
              <a:buFont typeface="Wingdings" pitchFamily="2" charset="2"/>
              <a:buNone/>
            </a:pPr>
            <a:r>
              <a:rPr lang="zh-CN" altLang="en-US" dirty="0">
                <a:solidFill>
                  <a:srgbClr val="000000"/>
                </a:solidFill>
              </a:rPr>
              <a:t> </a:t>
            </a:r>
            <a:r>
              <a:rPr lang="en-US" altLang="zh-CN" dirty="0">
                <a:solidFill>
                  <a:srgbClr val="000000"/>
                </a:solidFill>
              </a:rPr>
              <a:t>2</a:t>
            </a:r>
            <a:r>
              <a:rPr lang="zh-CN" altLang="en-US" dirty="0">
                <a:solidFill>
                  <a:srgbClr val="000000"/>
                </a:solidFill>
              </a:rPr>
              <a:t>、直接证法：</a:t>
            </a:r>
            <a:r>
              <a:rPr lang="en-US" altLang="zh-CN" dirty="0">
                <a:solidFill>
                  <a:srgbClr val="000000"/>
                </a:solidFill>
              </a:rPr>
              <a:t>P</a:t>
            </a:r>
            <a:r>
              <a:rPr lang="zh-CN" altLang="en-US" dirty="0">
                <a:solidFill>
                  <a:srgbClr val="000000"/>
                </a:solidFill>
              </a:rPr>
              <a:t>规则，</a:t>
            </a:r>
            <a:r>
              <a:rPr lang="en-US" altLang="zh-CN" dirty="0">
                <a:solidFill>
                  <a:srgbClr val="000000"/>
                </a:solidFill>
              </a:rPr>
              <a:t>T</a:t>
            </a:r>
            <a:r>
              <a:rPr lang="zh-CN" altLang="en-US" dirty="0">
                <a:solidFill>
                  <a:srgbClr val="000000"/>
                </a:solidFill>
              </a:rPr>
              <a:t>规则</a:t>
            </a:r>
            <a:r>
              <a:rPr lang="zh-CN" altLang="en-US" dirty="0" smtClean="0">
                <a:solidFill>
                  <a:srgbClr val="000000"/>
                </a:solidFill>
              </a:rPr>
              <a:t>。</a:t>
            </a:r>
            <a:endParaRPr lang="zh-CN" altLang="en-US" dirty="0">
              <a:solidFill>
                <a:srgbClr val="000000"/>
              </a:solidFill>
            </a:endParaRPr>
          </a:p>
        </p:txBody>
      </p:sp>
    </p:spTree>
    <p:extLst>
      <p:ext uri="{BB962C8B-B14F-4D97-AF65-F5344CB8AC3E}">
        <p14:creationId xmlns:p14="http://schemas.microsoft.com/office/powerpoint/2010/main" val="4250040417"/>
      </p:ext>
    </p:extLst>
  </p:cSld>
  <p:clrMapOvr>
    <a:masterClrMapping/>
  </p:clrMapOvr>
  <p:transition spd="slow">
    <p:pull dir="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0" name="Text Box 2"/>
          <p:cNvSpPr txBox="1">
            <a:spLocks noChangeArrowheads="1"/>
          </p:cNvSpPr>
          <p:nvPr/>
        </p:nvSpPr>
        <p:spPr bwMode="auto">
          <a:xfrm>
            <a:off x="719138" y="1484784"/>
            <a:ext cx="7916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spcBef>
                <a:spcPct val="50000"/>
              </a:spcBef>
              <a:buClr>
                <a:schemeClr val="accent2"/>
              </a:buClr>
              <a:buSzPct val="80000"/>
              <a:buFont typeface="Wingdings" pitchFamily="2" charset="2"/>
              <a:buNone/>
            </a:pPr>
            <a:r>
              <a:rPr kumimoji="1" lang="en-US" altLang="zh-CN"/>
              <a:t>(1)</a:t>
            </a:r>
            <a:r>
              <a:rPr kumimoji="1" lang="en-US" altLang="zh-CN">
                <a:cs typeface="Times New Roman" pitchFamily="18" charset="0"/>
              </a:rPr>
              <a:t> </a:t>
            </a:r>
            <a:r>
              <a:rPr kumimoji="1" lang="zh-CN" altLang="en-US"/>
              <a:t>真值表法        </a:t>
            </a:r>
          </a:p>
        </p:txBody>
      </p:sp>
      <p:sp>
        <p:nvSpPr>
          <p:cNvPr id="473129" name="Rectangle 41"/>
          <p:cNvSpPr>
            <a:spLocks noChangeArrowheads="1"/>
          </p:cNvSpPr>
          <p:nvPr/>
        </p:nvSpPr>
        <p:spPr bwMode="auto">
          <a:xfrm>
            <a:off x="719138" y="2218209"/>
            <a:ext cx="7916862" cy="1772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lnSpc>
                <a:spcPct val="130000"/>
              </a:lnSpc>
              <a:spcBef>
                <a:spcPct val="0"/>
              </a:spcBef>
              <a:buClrTx/>
              <a:buSzTx/>
              <a:buFontTx/>
              <a:buNone/>
            </a:pPr>
            <a:r>
              <a:rPr kumimoji="1" lang="en-US" altLang="zh-CN" dirty="0"/>
              <a:t>        </a:t>
            </a:r>
            <a:r>
              <a:rPr kumimoji="1" lang="zh-CN" altLang="en-US" dirty="0"/>
              <a:t>设</a:t>
            </a:r>
            <a:r>
              <a:rPr kumimoji="1" lang="en-US" altLang="zh-CN" dirty="0"/>
              <a:t>P</a:t>
            </a:r>
            <a:r>
              <a:rPr kumimoji="1" lang="en-US" altLang="zh-CN" baseline="-25000" dirty="0"/>
              <a:t>1</a:t>
            </a:r>
            <a:r>
              <a:rPr kumimoji="1" lang="zh-CN" altLang="en-US" dirty="0"/>
              <a:t>，</a:t>
            </a:r>
            <a:r>
              <a:rPr kumimoji="1" lang="en-US" altLang="zh-CN" dirty="0"/>
              <a:t>…</a:t>
            </a:r>
            <a:r>
              <a:rPr kumimoji="1" lang="zh-CN" altLang="en-US" dirty="0"/>
              <a:t>，</a:t>
            </a:r>
            <a:r>
              <a:rPr kumimoji="1" lang="en-US" altLang="zh-CN" dirty="0"/>
              <a:t>P</a:t>
            </a:r>
            <a:r>
              <a:rPr kumimoji="1" lang="en-US" altLang="zh-CN" baseline="-25000" dirty="0"/>
              <a:t>m</a:t>
            </a:r>
            <a:r>
              <a:rPr kumimoji="1" lang="zh-CN" altLang="en-US" dirty="0"/>
              <a:t>是出现于前提</a:t>
            </a:r>
            <a:r>
              <a:rPr kumimoji="1" lang="en-US" altLang="zh-CN" dirty="0"/>
              <a:t>H</a:t>
            </a:r>
            <a:r>
              <a:rPr kumimoji="1" lang="en-US" altLang="zh-CN" baseline="-25000" dirty="0"/>
              <a:t>1</a:t>
            </a:r>
            <a:r>
              <a:rPr kumimoji="1" lang="zh-CN" altLang="en-US" dirty="0"/>
              <a:t>，</a:t>
            </a:r>
            <a:r>
              <a:rPr kumimoji="1" lang="en-US" altLang="zh-CN" dirty="0"/>
              <a:t>…</a:t>
            </a:r>
            <a:r>
              <a:rPr kumimoji="1" lang="zh-CN" altLang="en-US" dirty="0"/>
              <a:t>，</a:t>
            </a:r>
            <a:r>
              <a:rPr kumimoji="1" lang="en-US" altLang="zh-CN" dirty="0" err="1"/>
              <a:t>H</a:t>
            </a:r>
            <a:r>
              <a:rPr kumimoji="1" lang="en-US" altLang="zh-CN" baseline="-25000" dirty="0" err="1"/>
              <a:t>n</a:t>
            </a:r>
            <a:r>
              <a:rPr kumimoji="1" lang="zh-CN" altLang="en-US" dirty="0"/>
              <a:t>和结论</a:t>
            </a:r>
            <a:r>
              <a:rPr kumimoji="1" lang="en-US" altLang="zh-CN" dirty="0"/>
              <a:t>C</a:t>
            </a:r>
            <a:r>
              <a:rPr kumimoji="1" lang="zh-CN" altLang="en-US" dirty="0"/>
              <a:t>中的全部命题变元，列出这个真值表，即可看出</a:t>
            </a:r>
            <a:r>
              <a:rPr kumimoji="1" lang="en-US" altLang="zh-CN" dirty="0"/>
              <a:t>H</a:t>
            </a:r>
            <a:r>
              <a:rPr kumimoji="1" lang="en-US" altLang="zh-CN" baseline="-25000" dirty="0"/>
              <a:t>1</a:t>
            </a:r>
            <a:r>
              <a:rPr kumimoji="1" lang="en-US" altLang="zh-CN" dirty="0"/>
              <a:t>∧H</a:t>
            </a:r>
            <a:r>
              <a:rPr kumimoji="1" lang="en-US" altLang="zh-CN" baseline="-25000" dirty="0"/>
              <a:t>2</a:t>
            </a:r>
            <a:r>
              <a:rPr kumimoji="1" lang="en-US" altLang="zh-CN" dirty="0"/>
              <a:t>∧…∧</a:t>
            </a:r>
            <a:r>
              <a:rPr kumimoji="1" lang="en-US" altLang="zh-CN" dirty="0" err="1"/>
              <a:t>H</a:t>
            </a:r>
            <a:r>
              <a:rPr kumimoji="1" lang="en-US" altLang="zh-CN" baseline="-25000" dirty="0" err="1"/>
              <a:t>n</a:t>
            </a:r>
            <a:r>
              <a:rPr kumimoji="1" lang="en-US" altLang="zh-CN" dirty="0" err="1">
                <a:sym typeface="Symbol" pitchFamily="18" charset="2"/>
              </a:rPr>
              <a:t></a:t>
            </a:r>
            <a:r>
              <a:rPr kumimoji="1" lang="en-US" altLang="zh-CN" dirty="0" err="1"/>
              <a:t>C</a:t>
            </a:r>
            <a:r>
              <a:rPr kumimoji="1" lang="zh-CN" altLang="en-US" dirty="0"/>
              <a:t>是否成立。</a:t>
            </a:r>
          </a:p>
        </p:txBody>
      </p:sp>
    </p:spTree>
    <p:extLst>
      <p:ext uri="{BB962C8B-B14F-4D97-AF65-F5344CB8AC3E}">
        <p14:creationId xmlns:p14="http://schemas.microsoft.com/office/powerpoint/2010/main" val="3327392511"/>
      </p:ext>
    </p:extLst>
  </p:cSld>
  <p:clrMapOvr>
    <a:masterClrMapping/>
  </p:clrMapOvr>
  <p:transition spd="slow">
    <p:pull dir="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pPr>
              <a:defRPr/>
            </a:pPr>
            <a:fld id="{68BCB182-094A-4968-A0C0-A6ED72517A02}" type="slidenum">
              <a:rPr lang="en-US" altLang="zh-CN"/>
              <a:pPr>
                <a:defRPr/>
              </a:pPr>
              <a:t>3</a:t>
            </a:fld>
            <a:endParaRPr lang="en-US" altLang="zh-CN"/>
          </a:p>
        </p:txBody>
      </p:sp>
      <p:sp>
        <p:nvSpPr>
          <p:cNvPr id="114691" name="Rectangle 5"/>
          <p:cNvSpPr>
            <a:spLocks noChangeArrowheads="1"/>
          </p:cNvSpPr>
          <p:nvPr/>
        </p:nvSpPr>
        <p:spPr bwMode="auto">
          <a:xfrm>
            <a:off x="719138" y="1316038"/>
            <a:ext cx="7916862"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lnSpc>
                <a:spcPct val="110000"/>
              </a:lnSpc>
              <a:spcBef>
                <a:spcPct val="50000"/>
              </a:spcBef>
              <a:buClr>
                <a:schemeClr val="accent2"/>
              </a:buClr>
              <a:buSzPct val="80000"/>
              <a:buFont typeface="Wingdings" pitchFamily="2" charset="2"/>
              <a:buNone/>
            </a:pPr>
            <a:r>
              <a:rPr kumimoji="1" lang="en-US" altLang="zh-CN" dirty="0"/>
              <a:t>        </a:t>
            </a:r>
            <a:r>
              <a:rPr kumimoji="1" lang="zh-CN" altLang="en-US" dirty="0"/>
              <a:t>由一组前提、公认的推理规则，利用已知的等价或蕴含公式，推出有效的结论。</a:t>
            </a:r>
          </a:p>
        </p:txBody>
      </p:sp>
      <p:sp>
        <p:nvSpPr>
          <p:cNvPr id="114692" name="Rectangle 7"/>
          <p:cNvSpPr>
            <a:spLocks noChangeArrowheads="1"/>
          </p:cNvSpPr>
          <p:nvPr/>
        </p:nvSpPr>
        <p:spPr bwMode="auto">
          <a:xfrm>
            <a:off x="1258888" y="692150"/>
            <a:ext cx="23860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eaLnBrk="1" hangingPunct="1">
              <a:spcBef>
                <a:spcPct val="0"/>
              </a:spcBef>
              <a:buClrTx/>
              <a:buSzTx/>
              <a:buFontTx/>
              <a:buNone/>
            </a:pPr>
            <a:r>
              <a:rPr kumimoji="1" lang="en-US" altLang="zh-CN"/>
              <a:t>(2)</a:t>
            </a:r>
            <a:r>
              <a:rPr kumimoji="1" lang="zh-CN" altLang="en-US"/>
              <a:t>直接证法：</a:t>
            </a:r>
          </a:p>
        </p:txBody>
      </p:sp>
      <p:sp>
        <p:nvSpPr>
          <p:cNvPr id="526345" name="Rectangle 9"/>
          <p:cNvSpPr>
            <a:spLocks noChangeArrowheads="1"/>
          </p:cNvSpPr>
          <p:nvPr/>
        </p:nvSpPr>
        <p:spPr bwMode="auto">
          <a:xfrm>
            <a:off x="719138" y="2468563"/>
            <a:ext cx="7916862"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lnSpc>
                <a:spcPct val="110000"/>
              </a:lnSpc>
              <a:spcBef>
                <a:spcPct val="50000"/>
              </a:spcBef>
              <a:buClr>
                <a:schemeClr val="accent2"/>
              </a:buClr>
              <a:buSzPct val="80000"/>
              <a:buFont typeface="Wingdings" pitchFamily="2" charset="2"/>
              <a:buNone/>
            </a:pPr>
            <a:r>
              <a:rPr kumimoji="1" lang="en-US" altLang="zh-CN" dirty="0"/>
              <a:t>        P</a:t>
            </a:r>
            <a:r>
              <a:rPr kumimoji="1" lang="zh-CN" altLang="en-US" dirty="0"/>
              <a:t>规则：前提在推导中的任何时候都可引入使用。常用的蕴含式和等价式见表</a:t>
            </a:r>
            <a:r>
              <a:rPr kumimoji="1" lang="en-US" altLang="zh-CN" dirty="0"/>
              <a:t>P43</a:t>
            </a:r>
            <a:r>
              <a:rPr kumimoji="1" lang="zh-CN" altLang="en-US" dirty="0"/>
              <a:t>。</a:t>
            </a:r>
          </a:p>
        </p:txBody>
      </p:sp>
      <p:sp>
        <p:nvSpPr>
          <p:cNvPr id="526347" name="Rectangle 11"/>
          <p:cNvSpPr>
            <a:spLocks noChangeArrowheads="1"/>
          </p:cNvSpPr>
          <p:nvPr/>
        </p:nvSpPr>
        <p:spPr bwMode="auto">
          <a:xfrm>
            <a:off x="719138" y="3716338"/>
            <a:ext cx="7916862"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lnSpc>
                <a:spcPct val="110000"/>
              </a:lnSpc>
              <a:spcBef>
                <a:spcPct val="50000"/>
              </a:spcBef>
              <a:buClr>
                <a:schemeClr val="accent2"/>
              </a:buClr>
              <a:buSzPct val="80000"/>
              <a:buFont typeface="Wingdings" pitchFamily="2" charset="2"/>
              <a:buNone/>
            </a:pPr>
            <a:r>
              <a:rPr kumimoji="1" lang="en-US" altLang="zh-CN" dirty="0"/>
              <a:t>        T</a:t>
            </a:r>
            <a:r>
              <a:rPr kumimoji="1" lang="zh-CN" altLang="en-US" dirty="0"/>
              <a:t>规则：前面已导出的有效结论可作为后续推导引入。</a:t>
            </a:r>
          </a:p>
        </p:txBody>
      </p:sp>
    </p:spTree>
    <p:extLst>
      <p:ext uri="{BB962C8B-B14F-4D97-AF65-F5344CB8AC3E}">
        <p14:creationId xmlns:p14="http://schemas.microsoft.com/office/powerpoint/2010/main" val="1395809253"/>
      </p:ext>
    </p:extLst>
  </p:cSld>
  <p:clrMapOvr>
    <a:masterClrMapping/>
  </p:clrMapOvr>
  <p:transition spd="slow">
    <p:pull dir="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pPr>
              <a:defRPr/>
            </a:pPr>
            <a:fld id="{1DB21500-D453-4629-8A46-164F0F2718C0}" type="slidenum">
              <a:rPr lang="en-US" altLang="zh-CN"/>
              <a:pPr>
                <a:defRPr/>
              </a:pPr>
              <a:t>4</a:t>
            </a:fld>
            <a:endParaRPr lang="en-US" altLang="zh-CN"/>
          </a:p>
        </p:txBody>
      </p:sp>
      <p:sp>
        <p:nvSpPr>
          <p:cNvPr id="116739" name="Text Box 2"/>
          <p:cNvSpPr txBox="1">
            <a:spLocks noChangeArrowheads="1"/>
          </p:cNvSpPr>
          <p:nvPr/>
        </p:nvSpPr>
        <p:spPr bwMode="auto">
          <a:xfrm>
            <a:off x="719138" y="1412875"/>
            <a:ext cx="7916862"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rIns="90000">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lnSpc>
                <a:spcPct val="120000"/>
              </a:lnSpc>
              <a:spcBef>
                <a:spcPct val="50000"/>
              </a:spcBef>
              <a:buClr>
                <a:schemeClr val="accent2"/>
              </a:buClr>
              <a:buSzPct val="80000"/>
              <a:buFont typeface="Wingdings" pitchFamily="2" charset="2"/>
              <a:buNone/>
            </a:pPr>
            <a:r>
              <a:rPr kumimoji="1" lang="en-US" altLang="zh-CN">
                <a:solidFill>
                  <a:schemeClr val="hlink"/>
                </a:solidFill>
              </a:rPr>
              <a:t>        </a:t>
            </a:r>
            <a:r>
              <a:rPr kumimoji="1" lang="zh-CN" altLang="en-US">
                <a:solidFill>
                  <a:schemeClr val="hlink"/>
                </a:solidFill>
              </a:rPr>
              <a:t>定义</a:t>
            </a:r>
            <a:r>
              <a:rPr kumimoji="1" lang="en-US" altLang="zh-CN">
                <a:solidFill>
                  <a:schemeClr val="hlink"/>
                </a:solidFill>
              </a:rPr>
              <a:t>1-8.2</a:t>
            </a:r>
            <a:r>
              <a:rPr kumimoji="1" lang="zh-CN" altLang="en-US">
                <a:solidFill>
                  <a:schemeClr val="hlink"/>
                </a:solidFill>
              </a:rPr>
              <a:t>：</a:t>
            </a:r>
            <a:r>
              <a:rPr kumimoji="1" lang="zh-CN" altLang="en-US"/>
              <a:t>假设公式</a:t>
            </a:r>
            <a:r>
              <a:rPr kumimoji="1" lang="en-US" altLang="zh-CN"/>
              <a:t>H</a:t>
            </a:r>
            <a:r>
              <a:rPr kumimoji="1" lang="en-US" altLang="zh-CN" baseline="-25000"/>
              <a:t>1</a:t>
            </a:r>
            <a:r>
              <a:rPr kumimoji="1" lang="zh-CN" altLang="en-US"/>
              <a:t>，</a:t>
            </a:r>
            <a:r>
              <a:rPr kumimoji="1" lang="en-US" altLang="zh-CN"/>
              <a:t>H</a:t>
            </a:r>
            <a:r>
              <a:rPr kumimoji="1" lang="en-US" altLang="zh-CN" baseline="-25000"/>
              <a:t>2</a:t>
            </a:r>
            <a:r>
              <a:rPr kumimoji="1" lang="zh-CN" altLang="en-US"/>
              <a:t>，</a:t>
            </a:r>
            <a:r>
              <a:rPr kumimoji="1" lang="en-US" altLang="zh-CN"/>
              <a:t>…</a:t>
            </a:r>
            <a:r>
              <a:rPr kumimoji="1" lang="zh-CN" altLang="en-US"/>
              <a:t>，</a:t>
            </a:r>
            <a:r>
              <a:rPr kumimoji="1" lang="en-US" altLang="zh-CN"/>
              <a:t>H</a:t>
            </a:r>
            <a:r>
              <a:rPr kumimoji="1" lang="en-US" altLang="zh-CN" baseline="-25000"/>
              <a:t>n</a:t>
            </a:r>
            <a:r>
              <a:rPr kumimoji="1" lang="zh-CN" altLang="en-US"/>
              <a:t>中的命题变元为</a:t>
            </a:r>
            <a:r>
              <a:rPr kumimoji="1" lang="en-US" altLang="zh-CN"/>
              <a:t>P</a:t>
            </a:r>
            <a:r>
              <a:rPr kumimoji="1" lang="en-US" altLang="zh-CN" baseline="-25000"/>
              <a:t>1</a:t>
            </a:r>
            <a:r>
              <a:rPr kumimoji="1" lang="zh-CN" altLang="en-US"/>
              <a:t>，</a:t>
            </a:r>
            <a:r>
              <a:rPr kumimoji="1" lang="en-US" altLang="zh-CN"/>
              <a:t>P</a:t>
            </a:r>
            <a:r>
              <a:rPr kumimoji="1" lang="en-US" altLang="zh-CN" baseline="-25000"/>
              <a:t>2</a:t>
            </a:r>
            <a:r>
              <a:rPr kumimoji="1" lang="zh-CN" altLang="en-US"/>
              <a:t>，</a:t>
            </a:r>
            <a:r>
              <a:rPr kumimoji="1" lang="en-US" altLang="zh-CN"/>
              <a:t>…</a:t>
            </a:r>
            <a:r>
              <a:rPr kumimoji="1" lang="zh-CN" altLang="en-US"/>
              <a:t>，</a:t>
            </a:r>
            <a:r>
              <a:rPr kumimoji="1" lang="en-US" altLang="zh-CN"/>
              <a:t>P</a:t>
            </a:r>
            <a:r>
              <a:rPr kumimoji="1" lang="en-US" altLang="zh-CN" baseline="-25000"/>
              <a:t>m</a:t>
            </a:r>
            <a:r>
              <a:rPr kumimoji="1" lang="zh-CN" altLang="en-US"/>
              <a:t>的一些真值指派，如果能使</a:t>
            </a:r>
            <a:r>
              <a:rPr kumimoji="1" lang="en-US" altLang="zh-CN"/>
              <a:t>H</a:t>
            </a:r>
            <a:r>
              <a:rPr kumimoji="1" lang="en-US" altLang="zh-CN" baseline="-25000"/>
              <a:t>1</a:t>
            </a:r>
            <a:r>
              <a:rPr kumimoji="1" lang="en-US" altLang="zh-CN"/>
              <a:t>∧H</a:t>
            </a:r>
            <a:r>
              <a:rPr kumimoji="1" lang="en-US" altLang="zh-CN" baseline="-25000"/>
              <a:t>2</a:t>
            </a:r>
            <a:r>
              <a:rPr kumimoji="1" lang="en-US" altLang="zh-CN"/>
              <a:t>∧…∧H</a:t>
            </a:r>
            <a:r>
              <a:rPr kumimoji="1" lang="en-US" altLang="zh-CN" baseline="-25000"/>
              <a:t>n</a:t>
            </a:r>
            <a:r>
              <a:rPr kumimoji="1" lang="zh-CN" altLang="en-US"/>
              <a:t>的真值为</a:t>
            </a:r>
            <a:r>
              <a:rPr kumimoji="1" lang="en-US" altLang="zh-CN"/>
              <a:t>T </a:t>
            </a:r>
            <a:r>
              <a:rPr kumimoji="1" lang="zh-CN" altLang="en-US"/>
              <a:t>，则称公式</a:t>
            </a:r>
            <a:r>
              <a:rPr kumimoji="1" lang="en-US" altLang="zh-CN"/>
              <a:t>H</a:t>
            </a:r>
            <a:r>
              <a:rPr kumimoji="1" lang="en-US" altLang="zh-CN" baseline="-25000"/>
              <a:t>1</a:t>
            </a:r>
            <a:r>
              <a:rPr kumimoji="1" lang="zh-CN" altLang="en-US"/>
              <a:t>，</a:t>
            </a:r>
            <a:r>
              <a:rPr kumimoji="1" lang="en-US" altLang="zh-CN"/>
              <a:t>H</a:t>
            </a:r>
            <a:r>
              <a:rPr kumimoji="1" lang="en-US" altLang="zh-CN" baseline="-25000"/>
              <a:t>2</a:t>
            </a:r>
            <a:r>
              <a:rPr kumimoji="1" lang="zh-CN" altLang="en-US"/>
              <a:t>，</a:t>
            </a:r>
            <a:r>
              <a:rPr kumimoji="1" lang="en-US" altLang="zh-CN"/>
              <a:t>…</a:t>
            </a:r>
            <a:r>
              <a:rPr kumimoji="1" lang="zh-CN" altLang="en-US"/>
              <a:t>，</a:t>
            </a:r>
            <a:r>
              <a:rPr kumimoji="1" lang="en-US" altLang="zh-CN"/>
              <a:t>H</a:t>
            </a:r>
            <a:r>
              <a:rPr kumimoji="1" lang="en-US" altLang="zh-CN" baseline="-25000"/>
              <a:t>n</a:t>
            </a:r>
            <a:r>
              <a:rPr kumimoji="1" lang="zh-CN" altLang="en-US"/>
              <a:t>是</a:t>
            </a:r>
            <a:r>
              <a:rPr kumimoji="1" lang="zh-CN" altLang="en-US" u="sng">
                <a:solidFill>
                  <a:schemeClr val="hlink"/>
                </a:solidFill>
              </a:rPr>
              <a:t>相容</a:t>
            </a:r>
            <a:r>
              <a:rPr kumimoji="1" lang="zh-CN" altLang="en-US"/>
              <a:t>的。如果对于</a:t>
            </a:r>
            <a:r>
              <a:rPr kumimoji="1" lang="en-US" altLang="zh-CN"/>
              <a:t>P</a:t>
            </a:r>
            <a:r>
              <a:rPr kumimoji="1" lang="en-US" altLang="zh-CN" baseline="-25000"/>
              <a:t>1</a:t>
            </a:r>
            <a:r>
              <a:rPr kumimoji="1" lang="zh-CN" altLang="en-US"/>
              <a:t>，</a:t>
            </a:r>
            <a:r>
              <a:rPr kumimoji="1" lang="en-US" altLang="zh-CN"/>
              <a:t>P</a:t>
            </a:r>
            <a:r>
              <a:rPr kumimoji="1" lang="en-US" altLang="zh-CN" baseline="-25000"/>
              <a:t>2</a:t>
            </a:r>
            <a:r>
              <a:rPr kumimoji="1" lang="zh-CN" altLang="en-US"/>
              <a:t>，</a:t>
            </a:r>
            <a:r>
              <a:rPr kumimoji="1" lang="en-US" altLang="zh-CN"/>
              <a:t>…</a:t>
            </a:r>
            <a:r>
              <a:rPr kumimoji="1" lang="zh-CN" altLang="en-US"/>
              <a:t>，</a:t>
            </a:r>
            <a:r>
              <a:rPr kumimoji="1" lang="en-US" altLang="zh-CN"/>
              <a:t>P</a:t>
            </a:r>
            <a:r>
              <a:rPr kumimoji="1" lang="en-US" altLang="zh-CN" baseline="-25000"/>
              <a:t>m</a:t>
            </a:r>
            <a:r>
              <a:rPr kumimoji="1" lang="zh-CN" altLang="en-US"/>
              <a:t>的每一组真值指派，使得</a:t>
            </a:r>
            <a:r>
              <a:rPr kumimoji="1" lang="en-US" altLang="zh-CN"/>
              <a:t>H</a:t>
            </a:r>
            <a:r>
              <a:rPr kumimoji="1" lang="en-US" altLang="zh-CN" baseline="-25000"/>
              <a:t>1</a:t>
            </a:r>
            <a:r>
              <a:rPr kumimoji="1" lang="en-US" altLang="zh-CN"/>
              <a:t>∧H</a:t>
            </a:r>
            <a:r>
              <a:rPr kumimoji="1" lang="en-US" altLang="zh-CN" baseline="-25000"/>
              <a:t>2</a:t>
            </a:r>
            <a:r>
              <a:rPr kumimoji="1" lang="en-US" altLang="zh-CN"/>
              <a:t>∧…∧H</a:t>
            </a:r>
            <a:r>
              <a:rPr kumimoji="1" lang="en-US" altLang="zh-CN" baseline="-25000"/>
              <a:t>n</a:t>
            </a:r>
            <a:r>
              <a:rPr kumimoji="1" lang="zh-CN" altLang="en-US"/>
              <a:t>的真值均为</a:t>
            </a:r>
            <a:r>
              <a:rPr kumimoji="1" lang="en-US" altLang="zh-CN"/>
              <a:t>F</a:t>
            </a:r>
            <a:r>
              <a:rPr kumimoji="1" lang="zh-CN" altLang="en-US"/>
              <a:t>，则称公式</a:t>
            </a:r>
            <a:r>
              <a:rPr kumimoji="1" lang="en-US" altLang="zh-CN"/>
              <a:t>H</a:t>
            </a:r>
            <a:r>
              <a:rPr kumimoji="1" lang="en-US" altLang="zh-CN" baseline="-25000"/>
              <a:t>1</a:t>
            </a:r>
            <a:r>
              <a:rPr kumimoji="1" lang="zh-CN" altLang="en-US"/>
              <a:t>，</a:t>
            </a:r>
            <a:r>
              <a:rPr kumimoji="1" lang="en-US" altLang="zh-CN"/>
              <a:t>H</a:t>
            </a:r>
            <a:r>
              <a:rPr kumimoji="1" lang="en-US" altLang="zh-CN" baseline="-25000"/>
              <a:t>2</a:t>
            </a:r>
            <a:r>
              <a:rPr kumimoji="1" lang="zh-CN" altLang="en-US"/>
              <a:t>，</a:t>
            </a:r>
            <a:r>
              <a:rPr kumimoji="1" lang="en-US" altLang="zh-CN"/>
              <a:t>…</a:t>
            </a:r>
            <a:r>
              <a:rPr kumimoji="1" lang="zh-CN" altLang="en-US"/>
              <a:t>，</a:t>
            </a:r>
            <a:r>
              <a:rPr kumimoji="1" lang="en-US" altLang="zh-CN"/>
              <a:t>H</a:t>
            </a:r>
            <a:r>
              <a:rPr kumimoji="1" lang="en-US" altLang="zh-CN" baseline="-25000"/>
              <a:t>n</a:t>
            </a:r>
            <a:r>
              <a:rPr kumimoji="1" lang="zh-CN" altLang="en-US"/>
              <a:t>是</a:t>
            </a:r>
            <a:r>
              <a:rPr kumimoji="1" lang="zh-CN" altLang="en-US" u="sng">
                <a:solidFill>
                  <a:schemeClr val="hlink"/>
                </a:solidFill>
              </a:rPr>
              <a:t>不相容</a:t>
            </a:r>
            <a:r>
              <a:rPr kumimoji="1" lang="zh-CN" altLang="en-US"/>
              <a:t>的。</a:t>
            </a:r>
          </a:p>
        </p:txBody>
      </p:sp>
      <p:sp>
        <p:nvSpPr>
          <p:cNvPr id="116740" name="Rectangle 4"/>
          <p:cNvSpPr>
            <a:spLocks noChangeArrowheads="1"/>
          </p:cNvSpPr>
          <p:nvPr/>
        </p:nvSpPr>
        <p:spPr bwMode="auto">
          <a:xfrm>
            <a:off x="1042988" y="692150"/>
            <a:ext cx="2117725"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eaLnBrk="1" hangingPunct="1">
              <a:buClr>
                <a:schemeClr val="accent2"/>
              </a:buClr>
              <a:buSzPct val="80000"/>
              <a:buFont typeface="Wingdings" pitchFamily="2" charset="2"/>
              <a:buNone/>
            </a:pPr>
            <a:r>
              <a:rPr kumimoji="1" lang="en-US" altLang="zh-CN"/>
              <a:t>(3)</a:t>
            </a:r>
            <a:r>
              <a:rPr kumimoji="1" lang="en-US" altLang="zh-CN">
                <a:cs typeface="Times New Roman" pitchFamily="18" charset="0"/>
              </a:rPr>
              <a:t> </a:t>
            </a:r>
            <a:r>
              <a:rPr kumimoji="1" lang="zh-CN" altLang="en-US"/>
              <a:t>间接证法</a:t>
            </a:r>
          </a:p>
        </p:txBody>
      </p:sp>
    </p:spTree>
    <p:extLst>
      <p:ext uri="{BB962C8B-B14F-4D97-AF65-F5344CB8AC3E}">
        <p14:creationId xmlns:p14="http://schemas.microsoft.com/office/powerpoint/2010/main" val="1925131537"/>
      </p:ext>
    </p:extLst>
  </p:cSld>
  <p:clrMapOvr>
    <a:masterClrMapping/>
  </p:clrMapOvr>
  <p:transition spd="slow">
    <p:pull dir="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灯片编号占位符 2"/>
          <p:cNvSpPr>
            <a:spLocks noGrp="1"/>
          </p:cNvSpPr>
          <p:nvPr>
            <p:ph type="sldNum" sz="quarter" idx="11"/>
          </p:nvPr>
        </p:nvSpPr>
        <p:spPr/>
        <p:txBody>
          <a:bodyPr/>
          <a:lstStyle/>
          <a:p>
            <a:pPr>
              <a:defRPr/>
            </a:pPr>
            <a:fld id="{2F0DBC6C-615C-4F76-9692-AF7E2DB19049}" type="slidenum">
              <a:rPr lang="en-US" altLang="zh-CN"/>
              <a:pPr>
                <a:defRPr/>
              </a:pPr>
              <a:t>5</a:t>
            </a:fld>
            <a:endParaRPr lang="en-US" altLang="zh-CN"/>
          </a:p>
        </p:txBody>
      </p:sp>
      <p:sp>
        <p:nvSpPr>
          <p:cNvPr id="117763" name="Rectangle 5"/>
          <p:cNvSpPr>
            <a:spLocks noChangeArrowheads="1"/>
          </p:cNvSpPr>
          <p:nvPr/>
        </p:nvSpPr>
        <p:spPr bwMode="auto">
          <a:xfrm>
            <a:off x="719138" y="1598613"/>
            <a:ext cx="7916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zh-CN" altLang="en-US"/>
              <a:t>设要证：</a:t>
            </a:r>
            <a:r>
              <a:rPr kumimoji="1" lang="en-US" altLang="zh-CN"/>
              <a:t>H</a:t>
            </a:r>
            <a:r>
              <a:rPr kumimoji="1" lang="en-US" altLang="zh-CN" baseline="-25000"/>
              <a:t>1</a:t>
            </a:r>
            <a:r>
              <a:rPr kumimoji="1" lang="en-US" altLang="zh-CN"/>
              <a:t>∧H</a:t>
            </a:r>
            <a:r>
              <a:rPr kumimoji="1" lang="en-US" altLang="zh-CN" baseline="-25000"/>
              <a:t>2</a:t>
            </a:r>
            <a:r>
              <a:rPr kumimoji="1" lang="en-US" altLang="zh-CN"/>
              <a:t>…∧H</a:t>
            </a:r>
            <a:r>
              <a:rPr kumimoji="1" lang="en-US" altLang="zh-CN" baseline="-25000"/>
              <a:t>n</a:t>
            </a:r>
            <a:r>
              <a:rPr kumimoji="1" lang="en-US" altLang="zh-CN">
                <a:sym typeface="Symbol" pitchFamily="18" charset="2"/>
              </a:rPr>
              <a:t></a:t>
            </a:r>
            <a:r>
              <a:rPr kumimoji="1" lang="en-US" altLang="zh-CN"/>
              <a:t>C</a:t>
            </a:r>
            <a:r>
              <a:rPr kumimoji="1" lang="zh-CN" altLang="en-US"/>
              <a:t>，记为</a:t>
            </a:r>
            <a:r>
              <a:rPr kumimoji="1" lang="en-US" altLang="zh-CN"/>
              <a:t>S</a:t>
            </a:r>
            <a:r>
              <a:rPr kumimoji="1" lang="en-US" altLang="zh-CN">
                <a:sym typeface="Symbol" pitchFamily="18" charset="2"/>
              </a:rPr>
              <a:t></a:t>
            </a:r>
            <a:r>
              <a:rPr kumimoji="1" lang="en-US" altLang="zh-CN"/>
              <a:t>C</a:t>
            </a:r>
            <a:r>
              <a:rPr kumimoji="1" lang="zh-CN" altLang="en-US"/>
              <a:t>。</a:t>
            </a:r>
          </a:p>
        </p:txBody>
      </p:sp>
      <p:sp>
        <p:nvSpPr>
          <p:cNvPr id="553991" name="Rectangle 7"/>
          <p:cNvSpPr>
            <a:spLocks noChangeArrowheads="1"/>
          </p:cNvSpPr>
          <p:nvPr/>
        </p:nvSpPr>
        <p:spPr bwMode="auto">
          <a:xfrm>
            <a:off x="719138" y="2217738"/>
            <a:ext cx="79168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zh-CN" altLang="en-US"/>
              <a:t>即证其逆反式┐</a:t>
            </a:r>
            <a:r>
              <a:rPr kumimoji="1" lang="en-US" altLang="zh-CN"/>
              <a:t>C→┐S</a:t>
            </a:r>
            <a:r>
              <a:rPr kumimoji="1" lang="zh-CN" altLang="en-US"/>
              <a:t>为永真，</a:t>
            </a:r>
          </a:p>
        </p:txBody>
      </p:sp>
      <p:sp>
        <p:nvSpPr>
          <p:cNvPr id="553993" name="Rectangle 9"/>
          <p:cNvSpPr>
            <a:spLocks noChangeArrowheads="1"/>
          </p:cNvSpPr>
          <p:nvPr/>
        </p:nvSpPr>
        <p:spPr bwMode="auto">
          <a:xfrm>
            <a:off x="719138" y="2867025"/>
            <a:ext cx="7916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zh-CN" altLang="en-US"/>
              <a:t>即</a:t>
            </a:r>
            <a:r>
              <a:rPr kumimoji="1" lang="en-US" altLang="zh-CN"/>
              <a:t>C∨┐S</a:t>
            </a:r>
            <a:r>
              <a:rPr kumimoji="1" lang="zh-CN" altLang="en-US"/>
              <a:t>为永真，</a:t>
            </a:r>
          </a:p>
        </p:txBody>
      </p:sp>
      <p:sp>
        <p:nvSpPr>
          <p:cNvPr id="553995" name="Rectangle 11"/>
          <p:cNvSpPr>
            <a:spLocks noChangeArrowheads="1"/>
          </p:cNvSpPr>
          <p:nvPr/>
        </p:nvSpPr>
        <p:spPr bwMode="auto">
          <a:xfrm>
            <a:off x="719138" y="3457575"/>
            <a:ext cx="7916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zh-CN" altLang="en-US"/>
              <a:t>故┐</a:t>
            </a:r>
            <a:r>
              <a:rPr kumimoji="1" lang="en-US" altLang="zh-CN"/>
              <a:t>C∧S</a:t>
            </a:r>
            <a:r>
              <a:rPr kumimoji="1" lang="zh-CN" altLang="en-US"/>
              <a:t>为永假，</a:t>
            </a:r>
          </a:p>
        </p:txBody>
      </p:sp>
      <p:sp>
        <p:nvSpPr>
          <p:cNvPr id="553997" name="Rectangle 13"/>
          <p:cNvSpPr>
            <a:spLocks noChangeArrowheads="1"/>
          </p:cNvSpPr>
          <p:nvPr/>
        </p:nvSpPr>
        <p:spPr bwMode="auto">
          <a:xfrm>
            <a:off x="719138" y="4060825"/>
            <a:ext cx="7916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zh-CN" altLang="en-US"/>
              <a:t>所以要证</a:t>
            </a:r>
            <a:r>
              <a:rPr kumimoji="1" lang="en-US" altLang="zh-CN"/>
              <a:t>H</a:t>
            </a:r>
            <a:r>
              <a:rPr kumimoji="1" lang="en-US" altLang="zh-CN" baseline="-25000"/>
              <a:t>1</a:t>
            </a:r>
            <a:r>
              <a:rPr kumimoji="1" lang="en-US" altLang="zh-CN"/>
              <a:t>∧H</a:t>
            </a:r>
            <a:r>
              <a:rPr kumimoji="1" lang="en-US" altLang="zh-CN" baseline="-25000"/>
              <a:t>2</a:t>
            </a:r>
            <a:r>
              <a:rPr kumimoji="1" lang="en-US" altLang="zh-CN"/>
              <a:t>…∧H</a:t>
            </a:r>
            <a:r>
              <a:rPr kumimoji="1" lang="en-US" altLang="zh-CN" baseline="-25000"/>
              <a:t>n</a:t>
            </a:r>
            <a:r>
              <a:rPr kumimoji="1" lang="en-US" altLang="zh-CN">
                <a:sym typeface="Symbol" pitchFamily="18" charset="2"/>
              </a:rPr>
              <a:t></a:t>
            </a:r>
            <a:r>
              <a:rPr kumimoji="1" lang="en-US" altLang="zh-CN"/>
              <a:t>C</a:t>
            </a:r>
            <a:r>
              <a:rPr kumimoji="1" lang="zh-CN" altLang="en-US"/>
              <a:t>。        </a:t>
            </a:r>
          </a:p>
        </p:txBody>
      </p:sp>
      <p:sp>
        <p:nvSpPr>
          <p:cNvPr id="553999" name="Rectangle 15"/>
          <p:cNvSpPr>
            <a:spLocks noChangeArrowheads="1"/>
          </p:cNvSpPr>
          <p:nvPr/>
        </p:nvSpPr>
        <p:spPr bwMode="auto">
          <a:xfrm>
            <a:off x="719138" y="4781550"/>
            <a:ext cx="70913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eaLnBrk="1" hangingPunct="1">
              <a:buClr>
                <a:schemeClr val="accent2"/>
              </a:buClr>
              <a:buSzPct val="80000"/>
              <a:buFont typeface="Wingdings" pitchFamily="2" charset="2"/>
              <a:buNone/>
            </a:pPr>
            <a:r>
              <a:rPr kumimoji="1" lang="zh-CN" altLang="en-US"/>
              <a:t>只要证明┐</a:t>
            </a:r>
            <a:r>
              <a:rPr kumimoji="1" lang="en-US" altLang="zh-CN"/>
              <a:t>C</a:t>
            </a:r>
            <a:r>
              <a:rPr kumimoji="1" lang="zh-CN" altLang="en-US"/>
              <a:t>与 </a:t>
            </a:r>
            <a:r>
              <a:rPr kumimoji="1" lang="en-US" altLang="zh-CN"/>
              <a:t>H</a:t>
            </a:r>
            <a:r>
              <a:rPr kumimoji="1" lang="en-US" altLang="zh-CN" baseline="-25000"/>
              <a:t>1</a:t>
            </a:r>
            <a:r>
              <a:rPr kumimoji="1" lang="en-US" altLang="zh-CN"/>
              <a:t>∧H</a:t>
            </a:r>
            <a:r>
              <a:rPr kumimoji="1" lang="en-US" altLang="zh-CN" baseline="-25000"/>
              <a:t>2</a:t>
            </a:r>
            <a:r>
              <a:rPr kumimoji="1" lang="en-US" altLang="zh-CN"/>
              <a:t>…∧H</a:t>
            </a:r>
            <a:r>
              <a:rPr kumimoji="1" lang="en-US" altLang="zh-CN" baseline="-25000"/>
              <a:t>n</a:t>
            </a:r>
            <a:r>
              <a:rPr kumimoji="1" lang="zh-CN" altLang="en-US"/>
              <a:t>是不相容的。</a:t>
            </a:r>
          </a:p>
        </p:txBody>
      </p:sp>
    </p:spTree>
    <p:extLst>
      <p:ext uri="{BB962C8B-B14F-4D97-AF65-F5344CB8AC3E}">
        <p14:creationId xmlns:p14="http://schemas.microsoft.com/office/powerpoint/2010/main" val="674839704"/>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5399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5399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5399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53997"/>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5539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991" grpId="0"/>
      <p:bldP spid="553993" grpId="0"/>
      <p:bldP spid="553995" grpId="0"/>
      <p:bldP spid="553997" grpId="0"/>
      <p:bldP spid="55399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灯片编号占位符 2"/>
          <p:cNvSpPr>
            <a:spLocks noGrp="1"/>
          </p:cNvSpPr>
          <p:nvPr>
            <p:ph type="sldNum" sz="quarter" idx="11"/>
          </p:nvPr>
        </p:nvSpPr>
        <p:spPr/>
        <p:txBody>
          <a:bodyPr/>
          <a:lstStyle/>
          <a:p>
            <a:pPr>
              <a:defRPr/>
            </a:pPr>
            <a:fld id="{1C2E6FF6-866F-4D28-8AE4-B9B0CEB1A0AD}" type="slidenum">
              <a:rPr lang="en-US" altLang="zh-CN"/>
              <a:pPr>
                <a:defRPr/>
              </a:pPr>
              <a:t>6</a:t>
            </a:fld>
            <a:endParaRPr lang="en-US" altLang="zh-CN"/>
          </a:p>
        </p:txBody>
      </p:sp>
      <p:sp>
        <p:nvSpPr>
          <p:cNvPr id="118787" name="Text Box 2"/>
          <p:cNvSpPr txBox="1">
            <a:spLocks noChangeArrowheads="1"/>
          </p:cNvSpPr>
          <p:nvPr/>
        </p:nvSpPr>
        <p:spPr bwMode="auto">
          <a:xfrm>
            <a:off x="900113" y="692150"/>
            <a:ext cx="7956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chemeClr val="accent2"/>
              </a:buClr>
              <a:buSzPct val="80000"/>
              <a:buFont typeface="Wingdings" pitchFamily="2" charset="2"/>
              <a:buNone/>
            </a:pPr>
            <a:r>
              <a:rPr kumimoji="1" lang="zh-CN" altLang="en-US">
                <a:solidFill>
                  <a:schemeClr val="hlink"/>
                </a:solidFill>
              </a:rPr>
              <a:t>例</a:t>
            </a:r>
            <a:r>
              <a:rPr kumimoji="1" lang="en-US" altLang="zh-CN">
                <a:solidFill>
                  <a:schemeClr val="hlink"/>
                </a:solidFill>
              </a:rPr>
              <a:t>4</a:t>
            </a:r>
            <a:r>
              <a:rPr kumimoji="1" lang="zh-CN" altLang="en-US">
                <a:solidFill>
                  <a:schemeClr val="hlink"/>
                </a:solidFill>
              </a:rPr>
              <a:t>：</a:t>
            </a:r>
            <a:r>
              <a:rPr kumimoji="1" lang="zh-CN" altLang="en-US"/>
              <a:t>证明</a:t>
            </a:r>
            <a:r>
              <a:rPr kumimoji="1" lang="en-US" altLang="zh-CN"/>
              <a:t>A→B</a:t>
            </a:r>
            <a:r>
              <a:rPr kumimoji="1" lang="zh-CN" altLang="en-US"/>
              <a:t>， ┐</a:t>
            </a:r>
            <a:r>
              <a:rPr kumimoji="1" lang="en-US" altLang="zh-CN"/>
              <a:t>(B∨C)</a:t>
            </a:r>
            <a:r>
              <a:rPr kumimoji="1" lang="zh-CN" altLang="en-US"/>
              <a:t>可逻辑推出┐</a:t>
            </a:r>
            <a:r>
              <a:rPr kumimoji="1" lang="en-US" altLang="zh-CN"/>
              <a:t>A</a:t>
            </a:r>
          </a:p>
        </p:txBody>
      </p:sp>
      <p:sp>
        <p:nvSpPr>
          <p:cNvPr id="477188" name="Rectangle 4"/>
          <p:cNvSpPr>
            <a:spLocks noChangeArrowheads="1"/>
          </p:cNvSpPr>
          <p:nvPr/>
        </p:nvSpPr>
        <p:spPr bwMode="auto">
          <a:xfrm>
            <a:off x="1079500" y="1438275"/>
            <a:ext cx="720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chemeClr val="accent2"/>
              </a:buClr>
              <a:buSzPct val="80000"/>
              <a:buFont typeface="Wingdings" pitchFamily="2" charset="2"/>
              <a:buNone/>
            </a:pPr>
            <a:r>
              <a:rPr kumimoji="1" lang="en-US" altLang="zh-CN" dirty="0">
                <a:sym typeface="Wingdings" pitchFamily="2" charset="2"/>
              </a:rPr>
              <a:t>(1)    A→</a:t>
            </a:r>
            <a:r>
              <a:rPr kumimoji="1" lang="en-US" altLang="zh-CN" dirty="0" smtClean="0">
                <a:sym typeface="Wingdings" pitchFamily="2" charset="2"/>
              </a:rPr>
              <a:t>B			P    </a:t>
            </a:r>
            <a:endParaRPr kumimoji="1" lang="en-US" altLang="zh-CN" dirty="0"/>
          </a:p>
        </p:txBody>
      </p:sp>
      <p:sp>
        <p:nvSpPr>
          <p:cNvPr id="477190" name="Rectangle 6"/>
          <p:cNvSpPr>
            <a:spLocks noChangeArrowheads="1"/>
          </p:cNvSpPr>
          <p:nvPr/>
        </p:nvSpPr>
        <p:spPr bwMode="auto">
          <a:xfrm>
            <a:off x="1079499" y="1978025"/>
            <a:ext cx="720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chemeClr val="accent2"/>
              </a:buClr>
              <a:buSzPct val="80000"/>
              <a:buFont typeface="Wingdings" pitchFamily="2" charset="2"/>
              <a:buNone/>
            </a:pPr>
            <a:r>
              <a:rPr kumimoji="1" lang="en-US" altLang="zh-CN" dirty="0">
                <a:sym typeface="Wingdings" pitchFamily="2" charset="2"/>
              </a:rPr>
              <a:t>(2)    A </a:t>
            </a:r>
            <a:r>
              <a:rPr kumimoji="1" lang="en-US" altLang="zh-CN" dirty="0" smtClean="0">
                <a:sym typeface="Wingdings" pitchFamily="2" charset="2"/>
              </a:rPr>
              <a:t>			P</a:t>
            </a:r>
            <a:r>
              <a:rPr kumimoji="1" lang="en-US" altLang="zh-CN" dirty="0">
                <a:sym typeface="Wingdings" pitchFamily="2" charset="2"/>
              </a:rPr>
              <a:t>(</a:t>
            </a:r>
            <a:r>
              <a:rPr kumimoji="1" lang="zh-CN" altLang="en-US" dirty="0">
                <a:sym typeface="Wingdings" pitchFamily="2" charset="2"/>
              </a:rPr>
              <a:t>附加前提</a:t>
            </a:r>
            <a:r>
              <a:rPr kumimoji="1" lang="en-US" altLang="zh-CN" dirty="0">
                <a:sym typeface="Wingdings" pitchFamily="2" charset="2"/>
              </a:rPr>
              <a:t>)    </a:t>
            </a:r>
            <a:endParaRPr kumimoji="1" lang="en-US" altLang="zh-CN" dirty="0"/>
          </a:p>
        </p:txBody>
      </p:sp>
      <p:sp>
        <p:nvSpPr>
          <p:cNvPr id="477192" name="Rectangle 8"/>
          <p:cNvSpPr>
            <a:spLocks noChangeArrowheads="1"/>
          </p:cNvSpPr>
          <p:nvPr/>
        </p:nvSpPr>
        <p:spPr bwMode="auto">
          <a:xfrm>
            <a:off x="1079500" y="3090217"/>
            <a:ext cx="720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chemeClr val="accent2"/>
              </a:buClr>
              <a:buSzPct val="80000"/>
              <a:buFont typeface="Wingdings" pitchFamily="2" charset="2"/>
              <a:buNone/>
            </a:pPr>
            <a:r>
              <a:rPr kumimoji="1" lang="en-US" altLang="zh-CN" dirty="0" smtClean="0">
                <a:sym typeface="Wingdings" pitchFamily="2" charset="2"/>
              </a:rPr>
              <a:t>(4)    </a:t>
            </a:r>
            <a:r>
              <a:rPr kumimoji="1" lang="en-US" altLang="zh-CN" dirty="0"/>
              <a:t>┐(B∨C) </a:t>
            </a:r>
            <a:r>
              <a:rPr kumimoji="1" lang="en-US" altLang="zh-CN" dirty="0" smtClean="0"/>
              <a:t>		P</a:t>
            </a:r>
            <a:endParaRPr kumimoji="1" lang="en-US" altLang="zh-CN" dirty="0"/>
          </a:p>
        </p:txBody>
      </p:sp>
      <p:sp>
        <p:nvSpPr>
          <p:cNvPr id="477194" name="Rectangle 10"/>
          <p:cNvSpPr>
            <a:spLocks noChangeArrowheads="1"/>
          </p:cNvSpPr>
          <p:nvPr/>
        </p:nvSpPr>
        <p:spPr bwMode="auto">
          <a:xfrm>
            <a:off x="1079500" y="3629967"/>
            <a:ext cx="720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chemeClr val="accent2"/>
              </a:buClr>
              <a:buSzPct val="80000"/>
              <a:buFont typeface="Wingdings" pitchFamily="2" charset="2"/>
              <a:buNone/>
            </a:pPr>
            <a:r>
              <a:rPr kumimoji="1" lang="en-US" altLang="zh-CN" dirty="0" smtClean="0">
                <a:sym typeface="Wingdings" pitchFamily="2" charset="2"/>
              </a:rPr>
              <a:t>(5)    </a:t>
            </a:r>
            <a:r>
              <a:rPr kumimoji="1" lang="en-US" altLang="zh-CN" dirty="0"/>
              <a:t>┐B∧ ┐</a:t>
            </a:r>
            <a:r>
              <a:rPr kumimoji="1" lang="en-US" altLang="zh-CN" dirty="0" smtClean="0"/>
              <a:t>C		T(4) </a:t>
            </a:r>
            <a:r>
              <a:rPr kumimoji="1" lang="en-US" altLang="zh-CN" dirty="0"/>
              <a:t>E</a:t>
            </a:r>
            <a:endParaRPr kumimoji="1" lang="en-US" altLang="zh-CN" dirty="0">
              <a:sym typeface="Wingdings" pitchFamily="2" charset="2"/>
            </a:endParaRPr>
          </a:p>
        </p:txBody>
      </p:sp>
      <p:sp>
        <p:nvSpPr>
          <p:cNvPr id="477196" name="Rectangle 12"/>
          <p:cNvSpPr>
            <a:spLocks noChangeArrowheads="1"/>
          </p:cNvSpPr>
          <p:nvPr/>
        </p:nvSpPr>
        <p:spPr bwMode="auto">
          <a:xfrm>
            <a:off x="1101102" y="2546226"/>
            <a:ext cx="7200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chemeClr val="accent2"/>
              </a:buClr>
              <a:buSzPct val="80000"/>
              <a:buFont typeface="Wingdings" pitchFamily="2" charset="2"/>
              <a:buNone/>
            </a:pPr>
            <a:r>
              <a:rPr kumimoji="1" lang="en-US" altLang="zh-CN" dirty="0" smtClean="0">
                <a:sym typeface="Wingdings" pitchFamily="2" charset="2"/>
              </a:rPr>
              <a:t>(3)    B			T(1</a:t>
            </a:r>
            <a:r>
              <a:rPr kumimoji="1" lang="en-US" altLang="zh-CN" dirty="0">
                <a:sym typeface="Wingdings" pitchFamily="2" charset="2"/>
              </a:rPr>
              <a:t>),(2),I</a:t>
            </a:r>
          </a:p>
        </p:txBody>
      </p:sp>
      <p:sp>
        <p:nvSpPr>
          <p:cNvPr id="477198" name="Rectangle 14"/>
          <p:cNvSpPr>
            <a:spLocks noChangeArrowheads="1"/>
          </p:cNvSpPr>
          <p:nvPr/>
        </p:nvSpPr>
        <p:spPr bwMode="auto">
          <a:xfrm>
            <a:off x="1079499" y="4138613"/>
            <a:ext cx="7200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chemeClr val="accent2"/>
              </a:buClr>
              <a:buSzPct val="80000"/>
              <a:buFont typeface="Wingdings" pitchFamily="2" charset="2"/>
              <a:buNone/>
            </a:pPr>
            <a:r>
              <a:rPr kumimoji="1" lang="en-US" altLang="zh-CN" dirty="0">
                <a:sym typeface="Wingdings" pitchFamily="2" charset="2"/>
              </a:rPr>
              <a:t>(6)    </a:t>
            </a:r>
            <a:r>
              <a:rPr kumimoji="1" lang="en-US" altLang="zh-CN" dirty="0"/>
              <a:t>┐B </a:t>
            </a:r>
            <a:r>
              <a:rPr kumimoji="1" lang="en-US" altLang="zh-CN" dirty="0" smtClean="0"/>
              <a:t>			T(4</a:t>
            </a:r>
            <a:r>
              <a:rPr kumimoji="1" lang="en-US" altLang="zh-CN" dirty="0"/>
              <a:t>) I </a:t>
            </a:r>
            <a:endParaRPr kumimoji="1" lang="en-US" altLang="zh-CN" dirty="0">
              <a:sym typeface="Wingdings" pitchFamily="2" charset="2"/>
            </a:endParaRPr>
          </a:p>
        </p:txBody>
      </p:sp>
      <p:sp>
        <p:nvSpPr>
          <p:cNvPr id="477200" name="Rectangle 16"/>
          <p:cNvSpPr>
            <a:spLocks noChangeArrowheads="1"/>
          </p:cNvSpPr>
          <p:nvPr/>
        </p:nvSpPr>
        <p:spPr bwMode="auto">
          <a:xfrm>
            <a:off x="1079500" y="4678363"/>
            <a:ext cx="7200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chemeClr val="accent2"/>
              </a:buClr>
              <a:buSzPct val="80000"/>
              <a:buFont typeface="Wingdings" pitchFamily="2" charset="2"/>
              <a:buNone/>
            </a:pPr>
            <a:r>
              <a:rPr kumimoji="1" lang="en-US" altLang="zh-CN" dirty="0">
                <a:sym typeface="Wingdings" pitchFamily="2" charset="2"/>
              </a:rPr>
              <a:t>(7)    B∧</a:t>
            </a:r>
            <a:r>
              <a:rPr kumimoji="1" lang="en-US" altLang="zh-CN" dirty="0"/>
              <a:t>┐</a:t>
            </a:r>
            <a:r>
              <a:rPr kumimoji="1" lang="en-US" altLang="zh-CN" dirty="0" smtClean="0"/>
              <a:t>B		T(5</a:t>
            </a:r>
            <a:r>
              <a:rPr kumimoji="1" lang="en-US" altLang="zh-CN" dirty="0"/>
              <a:t>),(6)  I</a:t>
            </a:r>
          </a:p>
        </p:txBody>
      </p:sp>
    </p:spTree>
    <p:extLst>
      <p:ext uri="{BB962C8B-B14F-4D97-AF65-F5344CB8AC3E}">
        <p14:creationId xmlns:p14="http://schemas.microsoft.com/office/powerpoint/2010/main" val="4150135486"/>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718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719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719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719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719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719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72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7188" grpId="0"/>
      <p:bldP spid="477190" grpId="0"/>
      <p:bldP spid="477192" grpId="0"/>
      <p:bldP spid="477194" grpId="0"/>
      <p:bldP spid="477196" grpId="0"/>
      <p:bldP spid="477198" grpId="0"/>
      <p:bldP spid="47720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2"/>
          <p:cNvSpPr>
            <a:spLocks noGrp="1"/>
          </p:cNvSpPr>
          <p:nvPr>
            <p:ph type="sldNum" sz="quarter" idx="11"/>
          </p:nvPr>
        </p:nvSpPr>
        <p:spPr/>
        <p:txBody>
          <a:bodyPr/>
          <a:lstStyle/>
          <a:p>
            <a:pPr>
              <a:defRPr/>
            </a:pPr>
            <a:fld id="{11D51936-F8F5-4ABE-BD1A-FF2D04B4C63B}" type="slidenum">
              <a:rPr lang="en-US" altLang="zh-CN"/>
              <a:pPr>
                <a:defRPr/>
              </a:pPr>
              <a:t>7</a:t>
            </a:fld>
            <a:endParaRPr lang="en-US" altLang="zh-CN"/>
          </a:p>
        </p:txBody>
      </p:sp>
      <p:sp>
        <p:nvSpPr>
          <p:cNvPr id="478210" name="Text Box 2"/>
          <p:cNvSpPr txBox="1">
            <a:spLocks noChangeArrowheads="1"/>
          </p:cNvSpPr>
          <p:nvPr/>
        </p:nvSpPr>
        <p:spPr bwMode="auto">
          <a:xfrm>
            <a:off x="1044575" y="1728788"/>
            <a:ext cx="7272338"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spcBef>
                <a:spcPct val="50000"/>
              </a:spcBef>
              <a:buClr>
                <a:schemeClr val="accent2"/>
              </a:buClr>
              <a:buSzPct val="80000"/>
              <a:buFont typeface="Wingdings" pitchFamily="2" charset="2"/>
              <a:buNone/>
            </a:pPr>
            <a:r>
              <a:rPr kumimoji="1" lang="zh-CN" altLang="en-US"/>
              <a:t>若要证：</a:t>
            </a:r>
            <a:r>
              <a:rPr kumimoji="1" lang="en-US" altLang="zh-CN"/>
              <a:t>H</a:t>
            </a:r>
            <a:r>
              <a:rPr kumimoji="1" lang="en-US" altLang="zh-CN" baseline="-25000"/>
              <a:t>1</a:t>
            </a:r>
            <a:r>
              <a:rPr kumimoji="1" lang="en-US" altLang="zh-CN"/>
              <a:t>∧H</a:t>
            </a:r>
            <a:r>
              <a:rPr kumimoji="1" lang="en-US" altLang="zh-CN" baseline="-25000"/>
              <a:t>2</a:t>
            </a:r>
            <a:r>
              <a:rPr kumimoji="1" lang="en-US" altLang="zh-CN"/>
              <a:t>∧…∧H</a:t>
            </a:r>
            <a:r>
              <a:rPr kumimoji="1" lang="en-US" altLang="zh-CN" baseline="-25000"/>
              <a:t>n</a:t>
            </a:r>
            <a:r>
              <a:rPr kumimoji="1" lang="en-US" altLang="zh-CN">
                <a:sym typeface="Symbol" pitchFamily="18" charset="2"/>
              </a:rPr>
              <a:t></a:t>
            </a:r>
            <a:r>
              <a:rPr kumimoji="1" lang="en-US" altLang="zh-CN"/>
              <a:t>(R→C)</a:t>
            </a:r>
            <a:r>
              <a:rPr kumimoji="1" lang="zh-CN" altLang="en-US"/>
              <a:t>，记为</a:t>
            </a:r>
            <a:r>
              <a:rPr kumimoji="1" lang="en-US" altLang="zh-CN"/>
              <a:t>S</a:t>
            </a:r>
            <a:r>
              <a:rPr kumimoji="1" lang="en-US" altLang="zh-CN">
                <a:sym typeface="Symbol" pitchFamily="18" charset="2"/>
              </a:rPr>
              <a:t></a:t>
            </a:r>
            <a:r>
              <a:rPr kumimoji="1" lang="en-US" altLang="zh-CN"/>
              <a:t>R→C</a:t>
            </a:r>
          </a:p>
        </p:txBody>
      </p:sp>
      <p:sp>
        <p:nvSpPr>
          <p:cNvPr id="119812" name="Rectangle 4"/>
          <p:cNvSpPr>
            <a:spLocks noChangeArrowheads="1"/>
          </p:cNvSpPr>
          <p:nvPr/>
        </p:nvSpPr>
        <p:spPr bwMode="auto">
          <a:xfrm>
            <a:off x="1042988" y="620713"/>
            <a:ext cx="705802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eaLnBrk="1" hangingPunct="1">
              <a:lnSpc>
                <a:spcPct val="120000"/>
              </a:lnSpc>
              <a:spcBef>
                <a:spcPct val="50000"/>
              </a:spcBef>
              <a:buClr>
                <a:schemeClr val="accent2"/>
              </a:buClr>
              <a:buSzPct val="80000"/>
              <a:buFont typeface="Wingdings" pitchFamily="2" charset="2"/>
              <a:buNone/>
            </a:pPr>
            <a:r>
              <a:rPr kumimoji="1" lang="en-US" altLang="zh-CN"/>
              <a:t>CP</a:t>
            </a:r>
            <a:r>
              <a:rPr kumimoji="1" lang="zh-CN" altLang="en-US"/>
              <a:t>规则：结论为</a:t>
            </a:r>
            <a:r>
              <a:rPr kumimoji="1" lang="en-US" altLang="zh-CN"/>
              <a:t>R→C</a:t>
            </a:r>
            <a:r>
              <a:rPr kumimoji="1" lang="zh-CN" altLang="en-US"/>
              <a:t>时，</a:t>
            </a:r>
            <a:r>
              <a:rPr kumimoji="1" lang="en-US" altLang="zh-CN"/>
              <a:t>R</a:t>
            </a:r>
            <a:r>
              <a:rPr kumimoji="1" lang="zh-CN" altLang="en-US"/>
              <a:t>作为附加前提引入，推出后件</a:t>
            </a:r>
            <a:r>
              <a:rPr kumimoji="1" lang="en-US" altLang="zh-CN"/>
              <a:t>C</a:t>
            </a:r>
            <a:r>
              <a:rPr kumimoji="1" lang="zh-CN" altLang="en-US"/>
              <a:t>。</a:t>
            </a:r>
          </a:p>
        </p:txBody>
      </p:sp>
      <p:sp>
        <p:nvSpPr>
          <p:cNvPr id="478214" name="Rectangle 6"/>
          <p:cNvSpPr>
            <a:spLocks noChangeArrowheads="1"/>
          </p:cNvSpPr>
          <p:nvPr/>
        </p:nvSpPr>
        <p:spPr bwMode="auto">
          <a:xfrm>
            <a:off x="1042988" y="2636838"/>
            <a:ext cx="72009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spcBef>
                <a:spcPct val="50000"/>
              </a:spcBef>
              <a:buClr>
                <a:schemeClr val="accent2"/>
              </a:buClr>
              <a:buSzPct val="80000"/>
              <a:buFont typeface="Wingdings" pitchFamily="2" charset="2"/>
              <a:buNone/>
            </a:pPr>
            <a:r>
              <a:rPr kumimoji="1" lang="zh-CN" altLang="en-US"/>
              <a:t>因为</a:t>
            </a:r>
            <a:r>
              <a:rPr kumimoji="1" lang="en-US" altLang="zh-CN"/>
              <a:t>S→(┐R∨C) </a:t>
            </a:r>
            <a:r>
              <a:rPr kumimoji="1" lang="en-US" altLang="zh-CN">
                <a:sym typeface="Symbol" pitchFamily="18" charset="2"/>
              </a:rPr>
              <a:t></a:t>
            </a:r>
            <a:r>
              <a:rPr kumimoji="1" lang="en-US" altLang="zh-CN"/>
              <a:t>┐S∨(┐R∨C)</a:t>
            </a:r>
          </a:p>
        </p:txBody>
      </p:sp>
      <p:sp>
        <p:nvSpPr>
          <p:cNvPr id="478216" name="Rectangle 8"/>
          <p:cNvSpPr>
            <a:spLocks noChangeArrowheads="1"/>
          </p:cNvSpPr>
          <p:nvPr/>
        </p:nvSpPr>
        <p:spPr bwMode="auto">
          <a:xfrm>
            <a:off x="3802063" y="3213100"/>
            <a:ext cx="4572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spcBef>
                <a:spcPct val="50000"/>
              </a:spcBef>
              <a:buClr>
                <a:schemeClr val="accent2"/>
              </a:buClr>
              <a:buSzPct val="80000"/>
              <a:buFont typeface="Wingdings" pitchFamily="2" charset="2"/>
              <a:buNone/>
            </a:pPr>
            <a:r>
              <a:rPr kumimoji="1" lang="en-US" altLang="zh-CN">
                <a:sym typeface="Symbol" pitchFamily="18" charset="2"/>
              </a:rPr>
              <a:t></a:t>
            </a:r>
            <a:r>
              <a:rPr kumimoji="1" lang="en-US" altLang="zh-CN"/>
              <a:t>(┐S∨┐R) ∨C                                </a:t>
            </a:r>
          </a:p>
        </p:txBody>
      </p:sp>
      <p:sp>
        <p:nvSpPr>
          <p:cNvPr id="478218" name="Rectangle 10"/>
          <p:cNvSpPr>
            <a:spLocks noChangeArrowheads="1"/>
          </p:cNvSpPr>
          <p:nvPr/>
        </p:nvSpPr>
        <p:spPr bwMode="auto">
          <a:xfrm>
            <a:off x="3830638" y="3759200"/>
            <a:ext cx="43418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spcBef>
                <a:spcPct val="50000"/>
              </a:spcBef>
              <a:buClr>
                <a:schemeClr val="accent2"/>
              </a:buClr>
              <a:buSzPct val="80000"/>
              <a:buFont typeface="Wingdings" pitchFamily="2" charset="2"/>
              <a:buNone/>
            </a:pPr>
            <a:r>
              <a:rPr kumimoji="1" lang="en-US" altLang="zh-CN">
                <a:sym typeface="Symbol" pitchFamily="18" charset="2"/>
              </a:rPr>
              <a:t></a:t>
            </a:r>
            <a:r>
              <a:rPr kumimoji="1" lang="en-US" altLang="zh-CN"/>
              <a:t>┐(S∧R)∨C                               </a:t>
            </a:r>
          </a:p>
        </p:txBody>
      </p:sp>
      <p:sp>
        <p:nvSpPr>
          <p:cNvPr id="478220" name="Rectangle 12"/>
          <p:cNvSpPr>
            <a:spLocks noChangeArrowheads="1"/>
          </p:cNvSpPr>
          <p:nvPr/>
        </p:nvSpPr>
        <p:spPr bwMode="auto">
          <a:xfrm>
            <a:off x="3851275" y="4337050"/>
            <a:ext cx="338455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spcBef>
                <a:spcPct val="50000"/>
              </a:spcBef>
              <a:buClr>
                <a:schemeClr val="accent2"/>
              </a:buClr>
              <a:buSzPct val="80000"/>
              <a:buFont typeface="Wingdings" pitchFamily="2" charset="2"/>
              <a:buNone/>
            </a:pPr>
            <a:r>
              <a:rPr kumimoji="1" lang="en-US" altLang="zh-CN">
                <a:sym typeface="Symbol" pitchFamily="18" charset="2"/>
              </a:rPr>
              <a:t></a:t>
            </a:r>
            <a:r>
              <a:rPr kumimoji="1" lang="en-US" altLang="zh-CN"/>
              <a:t>(S∧R) →C</a:t>
            </a:r>
          </a:p>
        </p:txBody>
      </p:sp>
      <p:sp>
        <p:nvSpPr>
          <p:cNvPr id="478222" name="Rectangle 14"/>
          <p:cNvSpPr>
            <a:spLocks noChangeArrowheads="1"/>
          </p:cNvSpPr>
          <p:nvPr/>
        </p:nvSpPr>
        <p:spPr bwMode="auto">
          <a:xfrm>
            <a:off x="1042988" y="4941888"/>
            <a:ext cx="763587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eaLnBrk="1" hangingPunct="1">
              <a:spcBef>
                <a:spcPct val="50000"/>
              </a:spcBef>
              <a:buClr>
                <a:schemeClr val="accent2"/>
              </a:buClr>
              <a:buSzPct val="80000"/>
              <a:buFont typeface="Wingdings" pitchFamily="2" charset="2"/>
              <a:buNone/>
            </a:pPr>
            <a:r>
              <a:rPr kumimoji="1" lang="en-US" altLang="zh-CN"/>
              <a:t>∴</a:t>
            </a:r>
            <a:r>
              <a:rPr kumimoji="1" lang="zh-CN" altLang="en-US"/>
              <a:t>将</a:t>
            </a:r>
            <a:r>
              <a:rPr kumimoji="1" lang="en-US" altLang="zh-CN"/>
              <a:t>R</a:t>
            </a:r>
            <a:r>
              <a:rPr kumimoji="1" lang="zh-CN" altLang="en-US"/>
              <a:t>作为附加前提，如有</a:t>
            </a:r>
            <a:r>
              <a:rPr kumimoji="1" lang="en-US" altLang="zh-CN"/>
              <a:t>(S∧R)</a:t>
            </a:r>
            <a:r>
              <a:rPr kumimoji="1" lang="en-US" altLang="zh-CN">
                <a:sym typeface="Symbol" pitchFamily="18" charset="2"/>
              </a:rPr>
              <a:t></a:t>
            </a:r>
            <a:r>
              <a:rPr kumimoji="1" lang="en-US" altLang="zh-CN"/>
              <a:t>C</a:t>
            </a:r>
            <a:r>
              <a:rPr kumimoji="1" lang="zh-CN" altLang="en-US"/>
              <a:t>，即证得</a:t>
            </a:r>
            <a:r>
              <a:rPr kumimoji="1" lang="en-US" altLang="zh-CN"/>
              <a:t>S</a:t>
            </a:r>
            <a:r>
              <a:rPr kumimoji="1" lang="en-US" altLang="zh-CN">
                <a:sym typeface="Symbol" pitchFamily="18" charset="2"/>
              </a:rPr>
              <a:t></a:t>
            </a:r>
            <a:r>
              <a:rPr kumimoji="1" lang="en-US" altLang="zh-CN"/>
              <a:t>(R→C)</a:t>
            </a:r>
            <a:r>
              <a:rPr kumimoji="1" lang="zh-CN" altLang="en-US"/>
              <a:t>。</a:t>
            </a:r>
          </a:p>
        </p:txBody>
      </p:sp>
    </p:spTree>
    <p:extLst>
      <p:ext uri="{BB962C8B-B14F-4D97-AF65-F5344CB8AC3E}">
        <p14:creationId xmlns:p14="http://schemas.microsoft.com/office/powerpoint/2010/main" val="1031940921"/>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82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821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821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8218"/>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822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8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8210" grpId="0"/>
      <p:bldP spid="478214" grpId="0"/>
      <p:bldP spid="478216" grpId="0"/>
      <p:bldP spid="478218" grpId="0"/>
      <p:bldP spid="478220" grpId="0"/>
      <p:bldP spid="47822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灯片编号占位符 2"/>
          <p:cNvSpPr>
            <a:spLocks noGrp="1"/>
          </p:cNvSpPr>
          <p:nvPr>
            <p:ph type="sldNum" sz="quarter" idx="11"/>
          </p:nvPr>
        </p:nvSpPr>
        <p:spPr/>
        <p:txBody>
          <a:bodyPr/>
          <a:lstStyle/>
          <a:p>
            <a:pPr>
              <a:defRPr/>
            </a:pPr>
            <a:fld id="{EEBDDAB7-4092-4796-B041-F4DC81923624}" type="slidenum">
              <a:rPr lang="en-US" altLang="zh-CN"/>
              <a:pPr>
                <a:defRPr/>
              </a:pPr>
              <a:t>8</a:t>
            </a:fld>
            <a:endParaRPr lang="en-US" altLang="zh-CN"/>
          </a:p>
        </p:txBody>
      </p:sp>
      <p:sp>
        <p:nvSpPr>
          <p:cNvPr id="120835" name="Text Box 2"/>
          <p:cNvSpPr txBox="1">
            <a:spLocks noChangeArrowheads="1"/>
          </p:cNvSpPr>
          <p:nvPr/>
        </p:nvSpPr>
        <p:spPr bwMode="auto">
          <a:xfrm>
            <a:off x="1000125" y="728663"/>
            <a:ext cx="7777163"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2563"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zh-CN" altLang="en-US" dirty="0" smtClean="0">
                <a:solidFill>
                  <a:schemeClr val="hlink"/>
                </a:solidFill>
              </a:rPr>
              <a:t>例：</a:t>
            </a:r>
            <a:r>
              <a:rPr kumimoji="1" lang="zh-CN" altLang="en-US" dirty="0"/>
              <a:t>证明</a:t>
            </a:r>
            <a:r>
              <a:rPr kumimoji="1" lang="en-US" altLang="zh-CN" dirty="0"/>
              <a:t>A→(B→C)</a:t>
            </a:r>
            <a:r>
              <a:rPr kumimoji="1" lang="zh-CN" altLang="en-US" dirty="0"/>
              <a:t>，┐</a:t>
            </a:r>
            <a:r>
              <a:rPr kumimoji="1" lang="en-US" altLang="zh-CN" dirty="0"/>
              <a:t>D∨A</a:t>
            </a:r>
            <a:r>
              <a:rPr kumimoji="1" lang="zh-CN" altLang="en-US" dirty="0"/>
              <a:t>，</a:t>
            </a:r>
            <a:r>
              <a:rPr kumimoji="1" lang="en-US" altLang="zh-CN" dirty="0"/>
              <a:t>B</a:t>
            </a:r>
            <a:r>
              <a:rPr kumimoji="1" lang="zh-CN" altLang="en-US" dirty="0"/>
              <a:t>蕴含</a:t>
            </a:r>
            <a:r>
              <a:rPr kumimoji="1" lang="en-US" altLang="zh-CN" dirty="0"/>
              <a:t>D→C</a:t>
            </a:r>
            <a:endParaRPr kumimoji="1" lang="en-US" altLang="zh-CN" dirty="0">
              <a:sym typeface="Wingdings" pitchFamily="2" charset="2"/>
            </a:endParaRPr>
          </a:p>
        </p:txBody>
      </p:sp>
      <p:sp>
        <p:nvSpPr>
          <p:cNvPr id="479236" name="Rectangle 4"/>
          <p:cNvSpPr>
            <a:spLocks noChangeArrowheads="1"/>
          </p:cNvSpPr>
          <p:nvPr/>
        </p:nvSpPr>
        <p:spPr bwMode="auto">
          <a:xfrm>
            <a:off x="898524" y="1438275"/>
            <a:ext cx="720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en-US" altLang="zh-CN" dirty="0">
                <a:sym typeface="Wingdings" pitchFamily="2" charset="2"/>
              </a:rPr>
              <a:t>(1) </a:t>
            </a:r>
            <a:r>
              <a:rPr kumimoji="1" lang="en-US" altLang="zh-CN" dirty="0" smtClean="0">
                <a:sym typeface="Wingdings" pitchFamily="2" charset="2"/>
              </a:rPr>
              <a:t>D 				P</a:t>
            </a:r>
            <a:r>
              <a:rPr kumimoji="1" lang="en-US" altLang="zh-CN" dirty="0">
                <a:sym typeface="Wingdings" pitchFamily="2" charset="2"/>
              </a:rPr>
              <a:t>(</a:t>
            </a:r>
            <a:r>
              <a:rPr kumimoji="1" lang="zh-CN" altLang="en-US" dirty="0">
                <a:sym typeface="Wingdings" pitchFamily="2" charset="2"/>
              </a:rPr>
              <a:t>附加前提</a:t>
            </a:r>
            <a:r>
              <a:rPr kumimoji="1" lang="en-US" altLang="zh-CN" dirty="0">
                <a:sym typeface="Wingdings" pitchFamily="2" charset="2"/>
              </a:rPr>
              <a:t>)</a:t>
            </a:r>
          </a:p>
        </p:txBody>
      </p:sp>
      <p:sp>
        <p:nvSpPr>
          <p:cNvPr id="479238" name="Rectangle 6"/>
          <p:cNvSpPr>
            <a:spLocks noChangeArrowheads="1"/>
          </p:cNvSpPr>
          <p:nvPr/>
        </p:nvSpPr>
        <p:spPr bwMode="auto">
          <a:xfrm>
            <a:off x="898524" y="1978025"/>
            <a:ext cx="720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en-US" altLang="zh-CN" dirty="0">
                <a:sym typeface="Wingdings" pitchFamily="2" charset="2"/>
              </a:rPr>
              <a:t>(2)  </a:t>
            </a:r>
            <a:r>
              <a:rPr kumimoji="1" lang="en-US" altLang="zh-CN" dirty="0"/>
              <a:t>┐D∨A </a:t>
            </a:r>
            <a:r>
              <a:rPr kumimoji="1" lang="en-US" altLang="zh-CN" dirty="0" smtClean="0"/>
              <a:t>			P</a:t>
            </a:r>
            <a:endParaRPr kumimoji="1" lang="en-US" altLang="zh-CN" dirty="0">
              <a:sym typeface="Wingdings" pitchFamily="2" charset="2"/>
            </a:endParaRPr>
          </a:p>
        </p:txBody>
      </p:sp>
      <p:sp>
        <p:nvSpPr>
          <p:cNvPr id="479240" name="Rectangle 8"/>
          <p:cNvSpPr>
            <a:spLocks noChangeArrowheads="1"/>
          </p:cNvSpPr>
          <p:nvPr/>
        </p:nvSpPr>
        <p:spPr bwMode="auto">
          <a:xfrm>
            <a:off x="898524" y="2517775"/>
            <a:ext cx="720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en-US" altLang="zh-CN" dirty="0">
                <a:sym typeface="Wingdings" pitchFamily="2" charset="2"/>
              </a:rPr>
              <a:t>(3)  A </a:t>
            </a:r>
            <a:r>
              <a:rPr kumimoji="1" lang="en-US" altLang="zh-CN" dirty="0" smtClean="0">
                <a:sym typeface="Wingdings" pitchFamily="2" charset="2"/>
              </a:rPr>
              <a:t>				T(1</a:t>
            </a:r>
            <a:r>
              <a:rPr kumimoji="1" lang="en-US" altLang="zh-CN" dirty="0">
                <a:sym typeface="Wingdings" pitchFamily="2" charset="2"/>
              </a:rPr>
              <a:t>),(2) I</a:t>
            </a:r>
          </a:p>
        </p:txBody>
      </p:sp>
      <p:sp>
        <p:nvSpPr>
          <p:cNvPr id="479242" name="Rectangle 10"/>
          <p:cNvSpPr>
            <a:spLocks noChangeArrowheads="1"/>
          </p:cNvSpPr>
          <p:nvPr/>
        </p:nvSpPr>
        <p:spPr bwMode="auto">
          <a:xfrm>
            <a:off x="898524" y="3057525"/>
            <a:ext cx="72000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en-US" altLang="zh-CN" dirty="0">
                <a:sym typeface="Wingdings" pitchFamily="2" charset="2"/>
              </a:rPr>
              <a:t>(4)  A→(B→C</a:t>
            </a:r>
            <a:r>
              <a:rPr kumimoji="1" lang="en-US" altLang="zh-CN" dirty="0" smtClean="0">
                <a:sym typeface="Wingdings" pitchFamily="2" charset="2"/>
              </a:rPr>
              <a:t>)		P</a:t>
            </a:r>
            <a:endParaRPr kumimoji="1" lang="en-US" altLang="zh-CN" dirty="0">
              <a:sym typeface="Wingdings" pitchFamily="2" charset="2"/>
            </a:endParaRPr>
          </a:p>
        </p:txBody>
      </p:sp>
      <p:sp>
        <p:nvSpPr>
          <p:cNvPr id="479244" name="Rectangle 12"/>
          <p:cNvSpPr>
            <a:spLocks noChangeArrowheads="1"/>
          </p:cNvSpPr>
          <p:nvPr/>
        </p:nvSpPr>
        <p:spPr bwMode="auto">
          <a:xfrm>
            <a:off x="900113" y="3598863"/>
            <a:ext cx="7200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en-US" altLang="zh-CN" dirty="0">
                <a:sym typeface="Wingdings" pitchFamily="2" charset="2"/>
              </a:rPr>
              <a:t>(5)  B→</a:t>
            </a:r>
            <a:r>
              <a:rPr kumimoji="1" lang="en-US" altLang="zh-CN" dirty="0" smtClean="0">
                <a:sym typeface="Wingdings" pitchFamily="2" charset="2"/>
              </a:rPr>
              <a:t>C			T(3</a:t>
            </a:r>
            <a:r>
              <a:rPr kumimoji="1" lang="en-US" altLang="zh-CN" dirty="0">
                <a:sym typeface="Wingdings" pitchFamily="2" charset="2"/>
              </a:rPr>
              <a:t>),(4) I</a:t>
            </a:r>
          </a:p>
        </p:txBody>
      </p:sp>
      <p:sp>
        <p:nvSpPr>
          <p:cNvPr id="479246" name="Rectangle 14"/>
          <p:cNvSpPr>
            <a:spLocks noChangeArrowheads="1"/>
          </p:cNvSpPr>
          <p:nvPr/>
        </p:nvSpPr>
        <p:spPr bwMode="auto">
          <a:xfrm>
            <a:off x="898525" y="4138613"/>
            <a:ext cx="7200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en-US" altLang="zh-CN" dirty="0">
                <a:sym typeface="Wingdings" pitchFamily="2" charset="2"/>
              </a:rPr>
              <a:t>(6)  </a:t>
            </a:r>
            <a:r>
              <a:rPr kumimoji="1" lang="en-US" altLang="zh-CN" dirty="0" smtClean="0">
                <a:sym typeface="Wingdings" pitchFamily="2" charset="2"/>
              </a:rPr>
              <a:t>B				P</a:t>
            </a:r>
            <a:endParaRPr kumimoji="1" lang="en-US" altLang="zh-CN" dirty="0">
              <a:sym typeface="Wingdings" pitchFamily="2" charset="2"/>
            </a:endParaRPr>
          </a:p>
        </p:txBody>
      </p:sp>
      <p:sp>
        <p:nvSpPr>
          <p:cNvPr id="479248" name="Rectangle 16"/>
          <p:cNvSpPr>
            <a:spLocks noChangeArrowheads="1"/>
          </p:cNvSpPr>
          <p:nvPr/>
        </p:nvSpPr>
        <p:spPr bwMode="auto">
          <a:xfrm>
            <a:off x="898525" y="4678363"/>
            <a:ext cx="7200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en-US" altLang="zh-CN" dirty="0">
                <a:sym typeface="Wingdings" pitchFamily="2" charset="2"/>
              </a:rPr>
              <a:t>(7)  </a:t>
            </a:r>
            <a:r>
              <a:rPr kumimoji="1" lang="en-US" altLang="zh-CN" dirty="0" smtClean="0">
                <a:sym typeface="Wingdings" pitchFamily="2" charset="2"/>
              </a:rPr>
              <a:t>C				T(5</a:t>
            </a:r>
            <a:r>
              <a:rPr kumimoji="1" lang="en-US" altLang="zh-CN" dirty="0">
                <a:sym typeface="Wingdings" pitchFamily="2" charset="2"/>
              </a:rPr>
              <a:t>),(6) I</a:t>
            </a:r>
          </a:p>
        </p:txBody>
      </p:sp>
      <p:sp>
        <p:nvSpPr>
          <p:cNvPr id="479250" name="Rectangle 18"/>
          <p:cNvSpPr>
            <a:spLocks noChangeArrowheads="1"/>
          </p:cNvSpPr>
          <p:nvPr/>
        </p:nvSpPr>
        <p:spPr bwMode="auto">
          <a:xfrm>
            <a:off x="898524" y="5218113"/>
            <a:ext cx="691383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just" eaLnBrk="1" hangingPunct="1">
              <a:buClr>
                <a:schemeClr val="accent2"/>
              </a:buClr>
              <a:buSzPct val="80000"/>
              <a:buFont typeface="Wingdings" pitchFamily="2" charset="2"/>
              <a:buNone/>
            </a:pPr>
            <a:r>
              <a:rPr kumimoji="1" lang="en-US" altLang="zh-CN" dirty="0">
                <a:sym typeface="Wingdings" pitchFamily="2" charset="2"/>
              </a:rPr>
              <a:t>(8)  D→C </a:t>
            </a:r>
            <a:r>
              <a:rPr kumimoji="1" lang="en-US" altLang="zh-CN" dirty="0" smtClean="0">
                <a:sym typeface="Wingdings" pitchFamily="2" charset="2"/>
              </a:rPr>
              <a:t>			CP</a:t>
            </a:r>
            <a:endParaRPr kumimoji="1" lang="en-US" altLang="zh-CN" dirty="0">
              <a:sym typeface="Wingdings" pitchFamily="2" charset="2"/>
            </a:endParaRPr>
          </a:p>
        </p:txBody>
      </p:sp>
    </p:spTree>
    <p:extLst>
      <p:ext uri="{BB962C8B-B14F-4D97-AF65-F5344CB8AC3E}">
        <p14:creationId xmlns:p14="http://schemas.microsoft.com/office/powerpoint/2010/main" val="1813687036"/>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7923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7923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924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79242"/>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79244"/>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7924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79248"/>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92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9236" grpId="0"/>
      <p:bldP spid="479238" grpId="0"/>
      <p:bldP spid="479240" grpId="0"/>
      <p:bldP spid="479242" grpId="0"/>
      <p:bldP spid="479244" grpId="0"/>
      <p:bldP spid="479246" grpId="0"/>
      <p:bldP spid="479248" grpId="0"/>
      <p:bldP spid="47925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pPr>
              <a:defRPr/>
            </a:pPr>
            <a:fld id="{B0FEFD13-E2AA-4259-8143-540D6BFAEF0B}" type="slidenum">
              <a:rPr lang="en-US" altLang="zh-CN">
                <a:solidFill>
                  <a:srgbClr val="000000"/>
                </a:solidFill>
              </a:rPr>
              <a:pPr>
                <a:defRPr/>
              </a:pPr>
              <a:t>9</a:t>
            </a:fld>
            <a:endParaRPr lang="en-US" altLang="zh-CN">
              <a:solidFill>
                <a:srgbClr val="000000"/>
              </a:solidFill>
            </a:endParaRPr>
          </a:p>
        </p:txBody>
      </p:sp>
      <p:sp>
        <p:nvSpPr>
          <p:cNvPr id="121859" name="Text Box 2"/>
          <p:cNvSpPr txBox="1">
            <a:spLocks noChangeArrowheads="1"/>
          </p:cNvSpPr>
          <p:nvPr/>
        </p:nvSpPr>
        <p:spPr bwMode="auto">
          <a:xfrm>
            <a:off x="719138" y="1484313"/>
            <a:ext cx="7916862" cy="2443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Clr>
                <a:schemeClr val="folHlink"/>
              </a:buClr>
              <a:buSzPct val="60000"/>
              <a:buFont typeface="Wingdings" pitchFamily="2" charset="2"/>
              <a:buChar char="n"/>
              <a:defRPr sz="2800" b="1">
                <a:solidFill>
                  <a:schemeClr val="tx1"/>
                </a:solidFill>
                <a:latin typeface="Times New Roman" pitchFamily="18" charset="0"/>
                <a:ea typeface="宋体" pitchFamily="2" charset="-122"/>
              </a:defRPr>
            </a:lvl1pPr>
            <a:lvl2pPr marL="742950" indent="-285750" eaLnBrk="0" hangingPunct="0">
              <a:spcBef>
                <a:spcPct val="20000"/>
              </a:spcBef>
              <a:buClr>
                <a:schemeClr val="hlink"/>
              </a:buClr>
              <a:buSzPct val="55000"/>
              <a:buFont typeface="Wingdings" pitchFamily="2" charset="2"/>
              <a:buChar char="n"/>
              <a:defRPr sz="2800" b="1">
                <a:solidFill>
                  <a:schemeClr val="tx1"/>
                </a:solidFill>
                <a:latin typeface="Times New Roman" pitchFamily="18" charset="0"/>
                <a:ea typeface="宋体" pitchFamily="2" charset="-122"/>
              </a:defRPr>
            </a:lvl2pPr>
            <a:lvl3pPr marL="1143000" indent="-228600" eaLnBrk="0" hangingPunct="0">
              <a:spcBef>
                <a:spcPct val="20000"/>
              </a:spcBef>
              <a:buClr>
                <a:schemeClr val="folHlink"/>
              </a:buClr>
              <a:buSzPct val="50000"/>
              <a:buFont typeface="Wingdings" pitchFamily="2" charset="2"/>
              <a:buChar char="n"/>
              <a:defRPr sz="2800" b="1">
                <a:solidFill>
                  <a:schemeClr val="tx1"/>
                </a:solidFill>
                <a:latin typeface="Times New Roman" pitchFamily="18" charset="0"/>
                <a:ea typeface="宋体" pitchFamily="2" charset="-122"/>
              </a:defRPr>
            </a:lvl3pPr>
            <a:lvl4pPr marL="1600200" indent="-228600" eaLnBrk="0" hangingPunct="0">
              <a:spcBef>
                <a:spcPct val="20000"/>
              </a:spcBef>
              <a:buClr>
                <a:schemeClr val="accent2"/>
              </a:buClr>
              <a:buSzPct val="55000"/>
              <a:buFont typeface="Wingdings" pitchFamily="2" charset="2"/>
              <a:buChar char="n"/>
              <a:defRPr sz="2800" b="1">
                <a:solidFill>
                  <a:schemeClr val="tx1"/>
                </a:solidFill>
                <a:latin typeface="Times New Roman" pitchFamily="18" charset="0"/>
                <a:ea typeface="宋体" pitchFamily="2" charset="-122"/>
              </a:defRPr>
            </a:lvl4pPr>
            <a:lvl5pPr marL="2057400" indent="-228600" eaLnBrk="0" hangingPunct="0">
              <a:spcBef>
                <a:spcPct val="20000"/>
              </a:spcBef>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5pPr>
            <a:lvl6pPr marL="25146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6pPr>
            <a:lvl7pPr marL="29718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7pPr>
            <a:lvl8pPr marL="34290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8pPr>
            <a:lvl9pPr marL="3886200" indent="-228600" eaLnBrk="0" fontAlgn="base" hangingPunct="0">
              <a:spcBef>
                <a:spcPct val="20000"/>
              </a:spcBef>
              <a:spcAft>
                <a:spcPct val="0"/>
              </a:spcAft>
              <a:buClr>
                <a:schemeClr val="accent1"/>
              </a:buClr>
              <a:buSzPct val="50000"/>
              <a:buFont typeface="Wingdings" pitchFamily="2" charset="2"/>
              <a:buChar char="n"/>
              <a:defRPr sz="2800" b="1">
                <a:solidFill>
                  <a:schemeClr val="tx1"/>
                </a:solidFill>
                <a:latin typeface="Times New Roman" pitchFamily="18" charset="0"/>
                <a:ea typeface="宋体" pitchFamily="2" charset="-122"/>
              </a:defRPr>
            </a:lvl9pPr>
          </a:lstStyle>
          <a:p>
            <a:pPr algn="l" eaLnBrk="1" hangingPunct="1">
              <a:spcBef>
                <a:spcPct val="50000"/>
              </a:spcBef>
              <a:buClr>
                <a:srgbClr val="FFCF01"/>
              </a:buClr>
              <a:buSzPct val="80000"/>
              <a:buFont typeface="Wingdings" pitchFamily="2" charset="2"/>
              <a:buNone/>
            </a:pPr>
            <a:r>
              <a:rPr lang="zh-CN" altLang="en-US" dirty="0">
                <a:solidFill>
                  <a:srgbClr val="000000"/>
                </a:solidFill>
              </a:rPr>
              <a:t>推理理论：</a:t>
            </a:r>
          </a:p>
          <a:p>
            <a:pPr algn="l" eaLnBrk="1" hangingPunct="1">
              <a:spcBef>
                <a:spcPct val="50000"/>
              </a:spcBef>
              <a:buClr>
                <a:srgbClr val="FFCF01"/>
              </a:buClr>
              <a:buSzPct val="80000"/>
              <a:buFont typeface="Wingdings" pitchFamily="2" charset="2"/>
              <a:buNone/>
            </a:pPr>
            <a:r>
              <a:rPr lang="zh-CN" altLang="en-US" dirty="0">
                <a:solidFill>
                  <a:srgbClr val="000000"/>
                </a:solidFill>
              </a:rPr>
              <a:t> </a:t>
            </a:r>
            <a:r>
              <a:rPr lang="en-US" altLang="zh-CN" dirty="0">
                <a:solidFill>
                  <a:srgbClr val="000000"/>
                </a:solidFill>
              </a:rPr>
              <a:t>1</a:t>
            </a:r>
            <a:r>
              <a:rPr lang="zh-CN" altLang="en-US" dirty="0">
                <a:solidFill>
                  <a:srgbClr val="000000"/>
                </a:solidFill>
              </a:rPr>
              <a:t>、真值表法：</a:t>
            </a:r>
          </a:p>
          <a:p>
            <a:pPr algn="l" eaLnBrk="1" hangingPunct="1">
              <a:spcBef>
                <a:spcPct val="50000"/>
              </a:spcBef>
              <a:buClr>
                <a:srgbClr val="FFCF01"/>
              </a:buClr>
              <a:buSzPct val="80000"/>
              <a:buFont typeface="Wingdings" pitchFamily="2" charset="2"/>
              <a:buNone/>
            </a:pPr>
            <a:r>
              <a:rPr lang="zh-CN" altLang="en-US" dirty="0">
                <a:solidFill>
                  <a:srgbClr val="000000"/>
                </a:solidFill>
              </a:rPr>
              <a:t> </a:t>
            </a:r>
            <a:r>
              <a:rPr lang="en-US" altLang="zh-CN" dirty="0">
                <a:solidFill>
                  <a:srgbClr val="000000"/>
                </a:solidFill>
              </a:rPr>
              <a:t>2</a:t>
            </a:r>
            <a:r>
              <a:rPr lang="zh-CN" altLang="en-US" dirty="0">
                <a:solidFill>
                  <a:srgbClr val="000000"/>
                </a:solidFill>
              </a:rPr>
              <a:t>、直接证法：</a:t>
            </a:r>
            <a:r>
              <a:rPr lang="en-US" altLang="zh-CN" dirty="0">
                <a:solidFill>
                  <a:srgbClr val="000000"/>
                </a:solidFill>
              </a:rPr>
              <a:t>P</a:t>
            </a:r>
            <a:r>
              <a:rPr lang="zh-CN" altLang="en-US" dirty="0">
                <a:solidFill>
                  <a:srgbClr val="000000"/>
                </a:solidFill>
              </a:rPr>
              <a:t>规则，</a:t>
            </a:r>
            <a:r>
              <a:rPr lang="en-US" altLang="zh-CN" dirty="0">
                <a:solidFill>
                  <a:srgbClr val="000000"/>
                </a:solidFill>
              </a:rPr>
              <a:t>T</a:t>
            </a:r>
            <a:r>
              <a:rPr lang="zh-CN" altLang="en-US" dirty="0">
                <a:solidFill>
                  <a:srgbClr val="000000"/>
                </a:solidFill>
              </a:rPr>
              <a:t>规则。</a:t>
            </a:r>
          </a:p>
          <a:p>
            <a:pPr algn="l" eaLnBrk="1" hangingPunct="1">
              <a:spcBef>
                <a:spcPct val="50000"/>
              </a:spcBef>
              <a:buClr>
                <a:srgbClr val="FFCF01"/>
              </a:buClr>
              <a:buSzPct val="80000"/>
              <a:buFont typeface="Wingdings" pitchFamily="2" charset="2"/>
              <a:buNone/>
            </a:pPr>
            <a:r>
              <a:rPr lang="zh-CN" altLang="en-US" dirty="0">
                <a:solidFill>
                  <a:srgbClr val="000000"/>
                </a:solidFill>
              </a:rPr>
              <a:t> </a:t>
            </a:r>
            <a:r>
              <a:rPr lang="en-US" altLang="zh-CN" dirty="0">
                <a:solidFill>
                  <a:srgbClr val="000000"/>
                </a:solidFill>
              </a:rPr>
              <a:t>3</a:t>
            </a:r>
            <a:r>
              <a:rPr lang="zh-CN" altLang="en-US" dirty="0">
                <a:solidFill>
                  <a:srgbClr val="000000"/>
                </a:solidFill>
              </a:rPr>
              <a:t>、间接证法：利用不相容的概念，</a:t>
            </a:r>
            <a:r>
              <a:rPr lang="en-US" altLang="zh-CN" dirty="0">
                <a:solidFill>
                  <a:srgbClr val="000000"/>
                </a:solidFill>
              </a:rPr>
              <a:t>CP</a:t>
            </a:r>
            <a:r>
              <a:rPr lang="zh-CN" altLang="en-US" dirty="0">
                <a:solidFill>
                  <a:srgbClr val="000000"/>
                </a:solidFill>
              </a:rPr>
              <a:t>规则。</a:t>
            </a:r>
          </a:p>
        </p:txBody>
      </p:sp>
    </p:spTree>
    <p:extLst>
      <p:ext uri="{BB962C8B-B14F-4D97-AF65-F5344CB8AC3E}">
        <p14:creationId xmlns:p14="http://schemas.microsoft.com/office/powerpoint/2010/main" val="2373375607"/>
      </p:ext>
    </p:extLst>
  </p:cSld>
  <p:clrMapOvr>
    <a:masterClrMapping/>
  </p:clrMapOvr>
  <p:transition spd="slow">
    <p:pull dir="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53267B09-F7C9-4972-8F70-F8F3B87098DB}" type="slidenum">
              <a:rPr lang="en-US" altLang="zh-CN"/>
              <a:pPr/>
              <a:t>10</a:t>
            </a:fld>
            <a:endParaRPr lang="en-US" altLang="zh-CN"/>
          </a:p>
        </p:txBody>
      </p:sp>
      <p:sp>
        <p:nvSpPr>
          <p:cNvPr id="100355" name="Rectangle 3"/>
          <p:cNvSpPr>
            <a:spLocks noGrp="1" noChangeArrowheads="1"/>
          </p:cNvSpPr>
          <p:nvPr>
            <p:ph type="body" idx="1"/>
          </p:nvPr>
        </p:nvSpPr>
        <p:spPr>
          <a:xfrm>
            <a:off x="611188" y="1412875"/>
            <a:ext cx="7777162" cy="1519238"/>
          </a:xfrm>
          <a:noFill/>
        </p:spPr>
        <p:txBody>
          <a:bodyPr/>
          <a:lstStyle/>
          <a:p>
            <a:r>
              <a:rPr lang="zh-CN" altLang="en-US" sz="3200">
                <a:solidFill>
                  <a:schemeClr val="folHlink"/>
                </a:solidFill>
              </a:rPr>
              <a:t>回顾：</a:t>
            </a:r>
          </a:p>
          <a:p>
            <a:r>
              <a:rPr lang="zh-CN" altLang="en-US" sz="2000"/>
              <a:t>            </a:t>
            </a:r>
            <a:r>
              <a:rPr lang="zh-CN" altLang="en-US"/>
              <a:t>命题逻辑主要的基本组成单位是原子命题，并把它看作是不可分解的。</a:t>
            </a:r>
            <a:endParaRPr lang="zh-CN" altLang="en-US">
              <a:solidFill>
                <a:schemeClr val="bg2"/>
              </a:solidFill>
            </a:endParaRPr>
          </a:p>
        </p:txBody>
      </p:sp>
      <p:sp>
        <p:nvSpPr>
          <p:cNvPr id="100363" name="Rectangle 11"/>
          <p:cNvSpPr>
            <a:spLocks noChangeArrowheads="1"/>
          </p:cNvSpPr>
          <p:nvPr/>
        </p:nvSpPr>
        <p:spPr bwMode="auto">
          <a:xfrm>
            <a:off x="611188" y="3040063"/>
            <a:ext cx="777716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zh-CN" altLang="en-US" sz="2800" b="1">
                <a:solidFill>
                  <a:schemeClr val="hlink"/>
                </a:solidFill>
              </a:rPr>
              <a:t>例如：</a:t>
            </a:r>
            <a:r>
              <a:rPr kumimoji="0" lang="zh-CN" altLang="en-US" sz="2800" b="1"/>
              <a:t>著名的亚里士多德三段论苏格拉底推理：</a:t>
            </a:r>
            <a:r>
              <a:rPr kumimoji="0" lang="zh-CN" altLang="en-US" sz="2800" b="1">
                <a:solidFill>
                  <a:schemeClr val="bg2"/>
                </a:solidFill>
              </a:rPr>
              <a:t>所有人都是要死的，苏格拉底是人，所以苏格拉底是要死的。</a:t>
            </a:r>
          </a:p>
        </p:txBody>
      </p:sp>
      <p:sp>
        <p:nvSpPr>
          <p:cNvPr id="100365" name="Rectangle 13"/>
          <p:cNvSpPr>
            <a:spLocks noChangeArrowheads="1"/>
          </p:cNvSpPr>
          <p:nvPr/>
        </p:nvSpPr>
        <p:spPr bwMode="auto">
          <a:xfrm>
            <a:off x="611188" y="5291138"/>
            <a:ext cx="77057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t>这个推理应该是正确的，但是</a:t>
            </a:r>
            <a:r>
              <a:rPr kumimoji="0" lang="en-US" altLang="zh-CN" sz="2800" b="1">
                <a:solidFill>
                  <a:schemeClr val="bg2"/>
                </a:solidFill>
              </a:rPr>
              <a:t>(P∧Q)</a:t>
            </a:r>
            <a:r>
              <a:rPr kumimoji="0" lang="en-US" altLang="zh-CN" sz="2800" b="1">
                <a:solidFill>
                  <a:schemeClr val="bg2"/>
                </a:solidFill>
                <a:cs typeface="Times New Roman" pitchFamily="18" charset="0"/>
                <a:sym typeface="Symbol" pitchFamily="18" charset="2"/>
              </a:rPr>
              <a:t>→</a:t>
            </a:r>
            <a:r>
              <a:rPr kumimoji="0" lang="en-US" altLang="zh-CN" sz="2800" b="1">
                <a:solidFill>
                  <a:schemeClr val="bg2"/>
                </a:solidFill>
              </a:rPr>
              <a:t>R</a:t>
            </a:r>
            <a:r>
              <a:rPr lang="zh-CN" altLang="en-US" sz="2800" b="1"/>
              <a:t>并不是一个重言式。</a:t>
            </a:r>
          </a:p>
        </p:txBody>
      </p:sp>
      <p:sp>
        <p:nvSpPr>
          <p:cNvPr id="100367" name="Rectangle 15"/>
          <p:cNvSpPr>
            <a:spLocks noChangeArrowheads="1"/>
          </p:cNvSpPr>
          <p:nvPr/>
        </p:nvSpPr>
        <p:spPr bwMode="auto">
          <a:xfrm>
            <a:off x="3694113" y="4632325"/>
            <a:ext cx="1881187"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en-US" altLang="zh-CN" sz="2800" b="1">
                <a:solidFill>
                  <a:schemeClr val="bg2"/>
                </a:solidFill>
              </a:rPr>
              <a:t>(P∧Q)</a:t>
            </a:r>
            <a:r>
              <a:rPr kumimoji="0" lang="en-US" altLang="zh-CN" sz="2800" b="1">
                <a:solidFill>
                  <a:schemeClr val="bg2"/>
                </a:solidFill>
                <a:cs typeface="Times New Roman" pitchFamily="18" charset="0"/>
                <a:sym typeface="Symbol" pitchFamily="18" charset="2"/>
              </a:rPr>
              <a:t></a:t>
            </a:r>
            <a:r>
              <a:rPr kumimoji="0" lang="en-US" altLang="zh-CN" sz="2800" b="1">
                <a:solidFill>
                  <a:schemeClr val="bg2"/>
                </a:solidFill>
              </a:rPr>
              <a:t>R</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03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03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03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63" grpId="0"/>
      <p:bldP spid="100365" grpId="0"/>
      <p:bldP spid="10036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91F2305B-7019-46AE-AE36-9B9C8E9D8DA5}" type="slidenum">
              <a:rPr lang="en-US" altLang="zh-CN"/>
              <a:pPr/>
              <a:t>11</a:t>
            </a:fld>
            <a:endParaRPr lang="en-US" altLang="zh-CN"/>
          </a:p>
        </p:txBody>
      </p:sp>
      <p:sp>
        <p:nvSpPr>
          <p:cNvPr id="176135" name="Rectangle 7"/>
          <p:cNvSpPr>
            <a:spLocks noChangeArrowheads="1"/>
          </p:cNvSpPr>
          <p:nvPr/>
        </p:nvSpPr>
        <p:spPr bwMode="auto">
          <a:xfrm>
            <a:off x="611188" y="3429000"/>
            <a:ext cx="4572000" cy="103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zh-CN" altLang="en-US" sz="2800" b="1" dirty="0">
                <a:solidFill>
                  <a:schemeClr val="hlink"/>
                </a:solidFill>
              </a:rPr>
              <a:t>例如：</a:t>
            </a:r>
            <a:r>
              <a:rPr kumimoji="0" lang="en-US" altLang="zh-CN" sz="2800" b="1" dirty="0">
                <a:solidFill>
                  <a:schemeClr val="bg2"/>
                </a:solidFill>
              </a:rPr>
              <a:t>2</a:t>
            </a:r>
            <a:r>
              <a:rPr kumimoji="0" lang="zh-CN" altLang="en-US" sz="2800" b="1" dirty="0">
                <a:solidFill>
                  <a:schemeClr val="bg2"/>
                </a:solidFill>
              </a:rPr>
              <a:t>是自然数。</a:t>
            </a:r>
          </a:p>
          <a:p>
            <a:pPr algn="l">
              <a:spcBef>
                <a:spcPct val="20000"/>
              </a:spcBef>
              <a:buClr>
                <a:schemeClr val="folHlink"/>
              </a:buClr>
              <a:buSzPct val="60000"/>
              <a:buFont typeface="Wingdings" pitchFamily="2" charset="2"/>
              <a:buNone/>
            </a:pPr>
            <a:r>
              <a:rPr kumimoji="0" lang="zh-CN" altLang="en-US" sz="2800" b="1" dirty="0">
                <a:solidFill>
                  <a:schemeClr val="bg2"/>
                </a:solidFill>
              </a:rPr>
              <a:t>            </a:t>
            </a:r>
            <a:r>
              <a:rPr kumimoji="0" lang="en-US" altLang="zh-CN" sz="2800" b="1" dirty="0">
                <a:solidFill>
                  <a:schemeClr val="bg2"/>
                </a:solidFill>
              </a:rPr>
              <a:t>3</a:t>
            </a:r>
            <a:r>
              <a:rPr kumimoji="0" lang="zh-CN" altLang="en-US" sz="2800" b="1" dirty="0">
                <a:solidFill>
                  <a:schemeClr val="bg2"/>
                </a:solidFill>
              </a:rPr>
              <a:t>是自然数。</a:t>
            </a:r>
          </a:p>
        </p:txBody>
      </p:sp>
      <p:sp>
        <p:nvSpPr>
          <p:cNvPr id="176136" name="Rectangle 8"/>
          <p:cNvSpPr>
            <a:spLocks noChangeArrowheads="1"/>
          </p:cNvSpPr>
          <p:nvPr/>
        </p:nvSpPr>
        <p:spPr bwMode="auto">
          <a:xfrm>
            <a:off x="611188" y="4652963"/>
            <a:ext cx="77771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2800" b="1"/>
              <a:t>上面两个原子命题有共同特征，是否可以对命题再次细分呢？</a:t>
            </a:r>
          </a:p>
        </p:txBody>
      </p:sp>
      <p:sp>
        <p:nvSpPr>
          <p:cNvPr id="176137" name="Rectangle 9"/>
          <p:cNvSpPr>
            <a:spLocks noChangeArrowheads="1"/>
          </p:cNvSpPr>
          <p:nvPr/>
        </p:nvSpPr>
        <p:spPr bwMode="auto">
          <a:xfrm>
            <a:off x="611188" y="1557338"/>
            <a:ext cx="7848600" cy="145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zh-CN" altLang="en-US" sz="2800" b="1">
                <a:solidFill>
                  <a:schemeClr val="hlink"/>
                </a:solidFill>
              </a:rPr>
              <a:t>！命题逻辑的缺陷</a:t>
            </a:r>
          </a:p>
          <a:p>
            <a:pPr algn="l">
              <a:spcBef>
                <a:spcPct val="20000"/>
              </a:spcBef>
              <a:buClr>
                <a:schemeClr val="folHlink"/>
              </a:buClr>
              <a:buSzPct val="60000"/>
              <a:buFont typeface="Wingdings" pitchFamily="2" charset="2"/>
              <a:buNone/>
            </a:pPr>
            <a:r>
              <a:rPr kumimoji="0" lang="zh-CN" altLang="en-US" sz="2800" b="1">
                <a:solidFill>
                  <a:schemeClr val="bg2"/>
                </a:solidFill>
              </a:rPr>
              <a:t>        把原子命题作为基本的组成单位，丢失了原子命题之间的内在联系和数量关系。</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613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6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6135" grpId="0"/>
      <p:bldP spid="17613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7ADEAD0-45D2-49DF-8057-057DB49EE858}" type="slidenum">
              <a:rPr lang="en-US" altLang="zh-CN"/>
              <a:pPr/>
              <a:t>12</a:t>
            </a:fld>
            <a:endParaRPr lang="en-US" altLang="zh-CN"/>
          </a:p>
        </p:txBody>
      </p:sp>
      <p:sp>
        <p:nvSpPr>
          <p:cNvPr id="413698" name="Rectangle 2"/>
          <p:cNvSpPr>
            <a:spLocks noGrp="1" noChangeArrowheads="1"/>
          </p:cNvSpPr>
          <p:nvPr>
            <p:ph type="body" idx="1"/>
          </p:nvPr>
        </p:nvSpPr>
        <p:spPr>
          <a:xfrm>
            <a:off x="611188" y="1341438"/>
            <a:ext cx="7777162" cy="1563687"/>
          </a:xfrm>
          <a:noFill/>
        </p:spPr>
        <p:txBody>
          <a:bodyPr/>
          <a:lstStyle/>
          <a:p>
            <a:pPr algn="just">
              <a:lnSpc>
                <a:spcPct val="115000"/>
              </a:lnSpc>
            </a:pPr>
            <a:r>
              <a:rPr lang="en-US" altLang="zh-CN"/>
              <a:t>        </a:t>
            </a:r>
            <a:r>
              <a:rPr lang="zh-CN" altLang="en-US"/>
              <a:t>要考虑命题的内在联系，需要对原子命题进一步分析，分析出其中的个体词、谓词和量词，这就是</a:t>
            </a:r>
            <a:r>
              <a:rPr lang="zh-CN" altLang="en-US">
                <a:sym typeface="Symbol" pitchFamily="18" charset="2"/>
              </a:rPr>
              <a:t>将原子命题</a:t>
            </a:r>
            <a:r>
              <a:rPr lang="zh-CN" altLang="en-US" u="sng">
                <a:solidFill>
                  <a:schemeClr val="hlink"/>
                </a:solidFill>
                <a:sym typeface="Symbol" pitchFamily="18" charset="2"/>
              </a:rPr>
              <a:t>再次细分</a:t>
            </a:r>
            <a:r>
              <a:rPr lang="zh-CN" altLang="en-US"/>
              <a:t>。</a:t>
            </a:r>
          </a:p>
        </p:txBody>
      </p:sp>
      <p:sp>
        <p:nvSpPr>
          <p:cNvPr id="413699" name="Rectangle 3"/>
          <p:cNvSpPr>
            <a:spLocks noChangeArrowheads="1"/>
          </p:cNvSpPr>
          <p:nvPr/>
        </p:nvSpPr>
        <p:spPr bwMode="auto">
          <a:xfrm>
            <a:off x="611188" y="3068638"/>
            <a:ext cx="7777162" cy="1373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hlink"/>
                </a:solidFill>
              </a:rPr>
              <a:t>谓词逻辑：</a:t>
            </a:r>
            <a:r>
              <a:rPr lang="zh-CN" altLang="en-US" sz="2800" b="1"/>
              <a:t>对原子命题作进一步分析，分析其中的</a:t>
            </a:r>
            <a:r>
              <a:rPr lang="zh-CN" altLang="en-US" sz="2800" b="1" u="sng">
                <a:solidFill>
                  <a:schemeClr val="hlink"/>
                </a:solidFill>
              </a:rPr>
              <a:t>客体词</a:t>
            </a:r>
            <a:r>
              <a:rPr lang="zh-CN" altLang="en-US" sz="2800" b="1"/>
              <a:t>、</a:t>
            </a:r>
            <a:r>
              <a:rPr lang="zh-CN" altLang="en-US" sz="2800" b="1" u="sng">
                <a:solidFill>
                  <a:schemeClr val="hlink"/>
                </a:solidFill>
              </a:rPr>
              <a:t>谓词</a:t>
            </a:r>
            <a:r>
              <a:rPr lang="zh-CN" altLang="en-US" sz="2800" b="1"/>
              <a:t>和</a:t>
            </a:r>
            <a:r>
              <a:rPr lang="zh-CN" altLang="en-US" sz="2800" b="1" u="sng">
                <a:solidFill>
                  <a:schemeClr val="hlink"/>
                </a:solidFill>
              </a:rPr>
              <a:t>量词</a:t>
            </a:r>
            <a:r>
              <a:rPr lang="zh-CN" altLang="en-US" sz="2800" b="1"/>
              <a:t>，研究它们的形式结构和逻辑关系，推理形式和规则。 </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36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369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85C9924-67DF-4DB2-B47A-A5CA8D68B401}" type="slidenum">
              <a:rPr lang="en-US" altLang="zh-CN"/>
              <a:pPr/>
              <a:t>13</a:t>
            </a:fld>
            <a:endParaRPr lang="en-US" altLang="zh-CN"/>
          </a:p>
        </p:txBody>
      </p:sp>
      <p:sp>
        <p:nvSpPr>
          <p:cNvPr id="107523" name="Rectangle 3"/>
          <p:cNvSpPr>
            <a:spLocks noGrp="1" noChangeArrowheads="1"/>
          </p:cNvSpPr>
          <p:nvPr>
            <p:ph type="body" idx="1"/>
          </p:nvPr>
        </p:nvSpPr>
        <p:spPr>
          <a:xfrm>
            <a:off x="1350963" y="1268413"/>
            <a:ext cx="5526087" cy="4248150"/>
          </a:xfrm>
          <a:noFill/>
        </p:spPr>
        <p:txBody>
          <a:bodyPr/>
          <a:lstStyle/>
          <a:p>
            <a:pPr>
              <a:lnSpc>
                <a:spcPct val="130000"/>
              </a:lnSpc>
              <a:spcBef>
                <a:spcPct val="0"/>
              </a:spcBef>
            </a:pPr>
            <a:r>
              <a:rPr lang="en-US" altLang="zh-CN" sz="3000" dirty="0">
                <a:hlinkClick r:id="rId2" action="ppaction://hlinksldjump"/>
              </a:rPr>
              <a:t>2.1  </a:t>
            </a:r>
            <a:r>
              <a:rPr lang="zh-CN" altLang="en-US" sz="3000" dirty="0">
                <a:hlinkClick r:id="rId2" action="ppaction://hlinksldjump"/>
              </a:rPr>
              <a:t>谓词的概念与表示</a:t>
            </a:r>
            <a:endParaRPr lang="zh-CN" altLang="en-US" sz="3000" dirty="0"/>
          </a:p>
          <a:p>
            <a:pPr>
              <a:lnSpc>
                <a:spcPct val="130000"/>
              </a:lnSpc>
              <a:spcBef>
                <a:spcPct val="0"/>
              </a:spcBef>
            </a:pPr>
            <a:r>
              <a:rPr lang="en-US" altLang="zh-CN" sz="3000" dirty="0">
                <a:hlinkClick r:id="rId3" action="ppaction://hlinksldjump"/>
              </a:rPr>
              <a:t>2.2  </a:t>
            </a:r>
            <a:r>
              <a:rPr lang="zh-CN" altLang="en-US" sz="3000" dirty="0">
                <a:hlinkClick r:id="rId3" action="ppaction://hlinksldjump"/>
              </a:rPr>
              <a:t>命题函数与量词</a:t>
            </a:r>
            <a:endParaRPr lang="zh-CN" altLang="en-US" sz="3000" dirty="0"/>
          </a:p>
          <a:p>
            <a:pPr>
              <a:lnSpc>
                <a:spcPct val="130000"/>
              </a:lnSpc>
              <a:spcBef>
                <a:spcPct val="0"/>
              </a:spcBef>
            </a:pPr>
            <a:r>
              <a:rPr lang="en-US" altLang="zh-CN" sz="3000" dirty="0">
                <a:hlinkClick r:id="rId4" action="ppaction://hlinksldjump"/>
              </a:rPr>
              <a:t>2.3  </a:t>
            </a:r>
            <a:r>
              <a:rPr lang="zh-CN" altLang="en-US" sz="3000" dirty="0">
                <a:hlinkClick r:id="rId4" action="ppaction://hlinksldjump"/>
              </a:rPr>
              <a:t>谓词公式与翻译</a:t>
            </a:r>
            <a:endParaRPr lang="zh-CN" altLang="en-US" sz="3000" dirty="0"/>
          </a:p>
          <a:p>
            <a:pPr>
              <a:lnSpc>
                <a:spcPct val="130000"/>
              </a:lnSpc>
              <a:spcBef>
                <a:spcPct val="0"/>
              </a:spcBef>
            </a:pPr>
            <a:r>
              <a:rPr lang="en-US" altLang="zh-CN" sz="3000" dirty="0">
                <a:hlinkClick r:id="rId5" action="ppaction://hlinksldjump"/>
              </a:rPr>
              <a:t>2.4  </a:t>
            </a:r>
            <a:r>
              <a:rPr lang="zh-CN" altLang="en-US" sz="3000" dirty="0">
                <a:hlinkClick r:id="rId5" action="ppaction://hlinksldjump"/>
              </a:rPr>
              <a:t>变元的约束</a:t>
            </a:r>
            <a:endParaRPr lang="zh-CN" altLang="en-US" sz="3000" dirty="0"/>
          </a:p>
          <a:p>
            <a:pPr>
              <a:lnSpc>
                <a:spcPct val="130000"/>
              </a:lnSpc>
              <a:spcBef>
                <a:spcPct val="0"/>
              </a:spcBef>
            </a:pPr>
            <a:r>
              <a:rPr lang="en-US" altLang="zh-CN" sz="3000" dirty="0">
                <a:hlinkClick r:id="rId6" action="ppaction://hlinksldjump"/>
              </a:rPr>
              <a:t>2.5  </a:t>
            </a:r>
            <a:r>
              <a:rPr lang="zh-CN" altLang="en-US" sz="3000" dirty="0">
                <a:hlinkClick r:id="rId6" action="ppaction://hlinksldjump"/>
              </a:rPr>
              <a:t>谓词演算的等价式与蕴含式</a:t>
            </a:r>
            <a:endParaRPr lang="zh-CN" altLang="en-US" sz="3000" dirty="0">
              <a:hlinkClick r:id="rId2" action="ppaction://hlinksldjump"/>
            </a:endParaRPr>
          </a:p>
          <a:p>
            <a:pPr>
              <a:lnSpc>
                <a:spcPct val="130000"/>
              </a:lnSpc>
              <a:spcBef>
                <a:spcPct val="0"/>
              </a:spcBef>
            </a:pPr>
            <a:r>
              <a:rPr lang="en-US" altLang="zh-CN" sz="3000" dirty="0">
                <a:hlinkClick r:id="rId7" action="ppaction://hlinksldjump"/>
              </a:rPr>
              <a:t>2.6  </a:t>
            </a:r>
            <a:r>
              <a:rPr lang="zh-CN" altLang="en-US" sz="3000" dirty="0">
                <a:hlinkClick r:id="rId7" action="ppaction://hlinksldjump"/>
              </a:rPr>
              <a:t>前束范式</a:t>
            </a:r>
            <a:endParaRPr lang="zh-CN" altLang="en-US" sz="3000" dirty="0"/>
          </a:p>
          <a:p>
            <a:pPr>
              <a:lnSpc>
                <a:spcPct val="130000"/>
              </a:lnSpc>
              <a:spcBef>
                <a:spcPct val="0"/>
              </a:spcBef>
            </a:pPr>
            <a:r>
              <a:rPr lang="en-US" altLang="zh-CN" sz="3000" dirty="0">
                <a:hlinkClick r:id="rId8" action="ppaction://hlinksldjump"/>
              </a:rPr>
              <a:t>2.7  </a:t>
            </a:r>
            <a:r>
              <a:rPr lang="zh-CN" altLang="en-US" sz="3000" dirty="0">
                <a:hlinkClick r:id="rId8" action="ppaction://hlinksldjump"/>
              </a:rPr>
              <a:t>谓词演算的推理理论</a:t>
            </a:r>
            <a:endParaRPr lang="zh-CN" altLang="en-US" sz="3000" dirty="0"/>
          </a:p>
        </p:txBody>
      </p:sp>
      <p:sp>
        <p:nvSpPr>
          <p:cNvPr id="107525" name="Rectangle 5"/>
          <p:cNvSpPr>
            <a:spLocks noGrp="1" noChangeArrowheads="1"/>
          </p:cNvSpPr>
          <p:nvPr>
            <p:ph type="title"/>
          </p:nvPr>
        </p:nvSpPr>
        <p:spPr>
          <a:xfrm>
            <a:off x="1150938" y="495300"/>
            <a:ext cx="6300787" cy="701675"/>
          </a:xfrm>
          <a:noFill/>
          <a:ln/>
        </p:spPr>
        <p:txBody>
          <a:bodyPr/>
          <a:lstStyle/>
          <a:p>
            <a:pPr algn="ctr"/>
            <a:r>
              <a:rPr lang="zh-CN" altLang="en-US" b="1">
                <a:latin typeface="华文行楷" pitchFamily="2" charset="-122"/>
                <a:ea typeface="华文行楷" pitchFamily="2" charset="-122"/>
              </a:rPr>
              <a:t>第二章  谓词逻辑</a:t>
            </a:r>
          </a:p>
        </p:txBody>
      </p:sp>
    </p:spTree>
  </p:cSld>
  <p:clrMapOvr>
    <a:masterClrMapping/>
  </p:clrMapOvr>
  <p:transition spd="slow">
    <p:pull dir="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DE2F9F64-A5B6-4823-A0BE-283F1809EB2E}" type="slidenum">
              <a:rPr lang="en-US" altLang="zh-CN"/>
              <a:pPr/>
              <a:t>14</a:t>
            </a:fld>
            <a:endParaRPr lang="en-US" altLang="zh-CN"/>
          </a:p>
        </p:txBody>
      </p:sp>
      <p:sp>
        <p:nvSpPr>
          <p:cNvPr id="105474" name="Rectangle 2"/>
          <p:cNvSpPr>
            <a:spLocks noGrp="1" noChangeArrowheads="1"/>
          </p:cNvSpPr>
          <p:nvPr>
            <p:ph type="title"/>
          </p:nvPr>
        </p:nvSpPr>
        <p:spPr>
          <a:xfrm>
            <a:off x="1258888" y="627063"/>
            <a:ext cx="6408737" cy="641350"/>
          </a:xfrm>
          <a:noFill/>
        </p:spPr>
        <p:txBody>
          <a:bodyPr/>
          <a:lstStyle/>
          <a:p>
            <a:r>
              <a:rPr lang="en-US" altLang="zh-CN" sz="3600" b="1">
                <a:solidFill>
                  <a:schemeClr val="tx1"/>
                </a:solidFill>
                <a:latin typeface="华文行楷" pitchFamily="2" charset="-122"/>
                <a:ea typeface="华文行楷" pitchFamily="2" charset="-122"/>
              </a:rPr>
              <a:t>2.1  </a:t>
            </a:r>
            <a:r>
              <a:rPr lang="zh-CN" altLang="en-US" sz="3600" b="1">
                <a:solidFill>
                  <a:schemeClr val="tx1"/>
                </a:solidFill>
                <a:latin typeface="华文行楷" pitchFamily="2" charset="-122"/>
                <a:ea typeface="华文行楷" pitchFamily="2" charset="-122"/>
              </a:rPr>
              <a:t>谓词的概念与表示</a:t>
            </a:r>
            <a:endParaRPr lang="zh-CN" altLang="en-US" sz="3600" b="1" i="1">
              <a:solidFill>
                <a:schemeClr val="tx1"/>
              </a:solidFill>
              <a:latin typeface="华文行楷" pitchFamily="2" charset="-122"/>
              <a:ea typeface="华文行楷" pitchFamily="2" charset="-122"/>
            </a:endParaRPr>
          </a:p>
        </p:txBody>
      </p:sp>
      <p:sp>
        <p:nvSpPr>
          <p:cNvPr id="105476" name="Rectangle 4"/>
          <p:cNvSpPr>
            <a:spLocks noGrp="1" noChangeArrowheads="1"/>
          </p:cNvSpPr>
          <p:nvPr>
            <p:ph type="body" idx="1"/>
          </p:nvPr>
        </p:nvSpPr>
        <p:spPr>
          <a:xfrm>
            <a:off x="1258888" y="1628775"/>
            <a:ext cx="4392612" cy="1844675"/>
          </a:xfrm>
          <a:noFill/>
        </p:spPr>
        <p:txBody>
          <a:bodyPr/>
          <a:lstStyle/>
          <a:p>
            <a:pPr>
              <a:lnSpc>
                <a:spcPct val="120000"/>
              </a:lnSpc>
              <a:spcBef>
                <a:spcPct val="0"/>
              </a:spcBef>
            </a:pPr>
            <a:r>
              <a:rPr lang="zh-CN" altLang="en-US" sz="3200">
                <a:solidFill>
                  <a:schemeClr val="folHlink"/>
                </a:solidFill>
                <a:ea typeface="楷体_GB2312" pitchFamily="49" charset="-122"/>
              </a:rPr>
              <a:t>一、基本概念</a:t>
            </a:r>
          </a:p>
          <a:p>
            <a:pPr>
              <a:lnSpc>
                <a:spcPct val="120000"/>
              </a:lnSpc>
              <a:spcBef>
                <a:spcPct val="0"/>
              </a:spcBef>
            </a:pPr>
            <a:r>
              <a:rPr lang="zh-CN" altLang="en-US" sz="3200">
                <a:solidFill>
                  <a:schemeClr val="folHlink"/>
                </a:solidFill>
                <a:ea typeface="楷体_GB2312" pitchFamily="49" charset="-122"/>
              </a:rPr>
              <a:t>二、谓词的表示</a:t>
            </a:r>
          </a:p>
          <a:p>
            <a:pPr>
              <a:lnSpc>
                <a:spcPct val="120000"/>
              </a:lnSpc>
              <a:spcBef>
                <a:spcPct val="0"/>
              </a:spcBef>
            </a:pPr>
            <a:r>
              <a:rPr lang="zh-CN" altLang="en-US" sz="3200">
                <a:solidFill>
                  <a:schemeClr val="folHlink"/>
                </a:solidFill>
                <a:ea typeface="楷体_GB2312" pitchFamily="49" charset="-122"/>
              </a:rPr>
              <a:t>三、谓词种类</a:t>
            </a:r>
          </a:p>
        </p:txBody>
      </p:sp>
    </p:spTree>
  </p:cSld>
  <p:clrMapOvr>
    <a:masterClrMapping/>
  </p:clrMapOvr>
  <p:transition spd="slow">
    <p:pull dir="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6C2A2B84-93B6-447E-A236-F7A5F39ED62B}" type="slidenum">
              <a:rPr lang="en-US" altLang="zh-CN"/>
              <a:pPr/>
              <a:t>15</a:t>
            </a:fld>
            <a:endParaRPr lang="en-US" altLang="zh-CN"/>
          </a:p>
        </p:txBody>
      </p:sp>
      <p:sp>
        <p:nvSpPr>
          <p:cNvPr id="108547" name="Rectangle 3"/>
          <p:cNvSpPr>
            <a:spLocks noGrp="1" noChangeArrowheads="1"/>
          </p:cNvSpPr>
          <p:nvPr>
            <p:ph type="body" idx="1"/>
          </p:nvPr>
        </p:nvSpPr>
        <p:spPr>
          <a:xfrm>
            <a:off x="719138" y="1533525"/>
            <a:ext cx="7772400" cy="1031875"/>
          </a:xfrm>
          <a:noFill/>
        </p:spPr>
        <p:txBody>
          <a:bodyPr/>
          <a:lstStyle/>
          <a:p>
            <a:r>
              <a:rPr lang="zh-CN" altLang="en-US"/>
              <a:t>命题：反映判断的句子 </a:t>
            </a:r>
            <a:r>
              <a:rPr lang="en-US" altLang="zh-CN"/>
              <a:t>= </a:t>
            </a:r>
            <a:r>
              <a:rPr lang="zh-CN" altLang="en-US"/>
              <a:t>主语  </a:t>
            </a:r>
            <a:r>
              <a:rPr lang="en-US" altLang="zh-CN"/>
              <a:t>+ </a:t>
            </a:r>
            <a:r>
              <a:rPr lang="zh-CN" altLang="en-US"/>
              <a:t>谓语</a:t>
            </a:r>
          </a:p>
          <a:p>
            <a:r>
              <a:rPr lang="zh-CN" altLang="en-US"/>
              <a:t>            </a:t>
            </a:r>
            <a:r>
              <a:rPr lang="zh-CN" altLang="en-US">
                <a:solidFill>
                  <a:schemeClr val="hlink"/>
                </a:solidFill>
              </a:rPr>
              <a:t>如：</a:t>
            </a:r>
            <a:r>
              <a:rPr lang="zh-CN" altLang="en-US"/>
              <a:t>张三是个老师。</a:t>
            </a:r>
          </a:p>
        </p:txBody>
      </p:sp>
      <p:sp>
        <p:nvSpPr>
          <p:cNvPr id="108549" name="Rectangle 5"/>
          <p:cNvSpPr>
            <a:spLocks noChangeArrowheads="1"/>
          </p:cNvSpPr>
          <p:nvPr/>
        </p:nvSpPr>
        <p:spPr bwMode="auto">
          <a:xfrm>
            <a:off x="1258888" y="647700"/>
            <a:ext cx="38179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chemeClr val="folHlink"/>
                </a:solidFill>
                <a:ea typeface="楷体_GB2312" pitchFamily="49" charset="-122"/>
              </a:rPr>
              <a:t>一、基本概念</a:t>
            </a:r>
          </a:p>
        </p:txBody>
      </p:sp>
      <p:sp>
        <p:nvSpPr>
          <p:cNvPr id="108551" name="Rectangle 7"/>
          <p:cNvSpPr>
            <a:spLocks noChangeArrowheads="1"/>
          </p:cNvSpPr>
          <p:nvPr/>
        </p:nvSpPr>
        <p:spPr bwMode="auto">
          <a:xfrm>
            <a:off x="719138" y="2622550"/>
            <a:ext cx="7848600"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Font typeface="Wingdings" pitchFamily="2" charset="2"/>
              <a:buChar char="u"/>
            </a:pPr>
            <a:r>
              <a:rPr kumimoji="0" lang="zh-CN" altLang="en-US" sz="2800" b="1">
                <a:solidFill>
                  <a:schemeClr val="hlink"/>
                </a:solidFill>
              </a:rPr>
              <a:t>客体：</a:t>
            </a:r>
            <a:r>
              <a:rPr kumimoji="0" lang="zh-CN" altLang="en-US" sz="2800" b="1">
                <a:solidFill>
                  <a:srgbClr val="000000"/>
                </a:solidFill>
              </a:rPr>
              <a:t>主语一般是客体，</a:t>
            </a:r>
            <a:r>
              <a:rPr kumimoji="0" lang="zh-CN" altLang="en-US" sz="2800" b="1">
                <a:solidFill>
                  <a:schemeClr val="hlink"/>
                </a:solidFill>
              </a:rPr>
              <a:t>客体可以独立存在</a:t>
            </a:r>
            <a:r>
              <a:rPr kumimoji="0" lang="zh-CN" altLang="en-US" sz="2800" b="1">
                <a:solidFill>
                  <a:srgbClr val="000000"/>
                </a:solidFill>
              </a:rPr>
              <a:t>，它可以是具体的，也可以是抽象的。</a:t>
            </a:r>
          </a:p>
        </p:txBody>
      </p:sp>
      <p:sp>
        <p:nvSpPr>
          <p:cNvPr id="108553" name="Rectangle 9"/>
          <p:cNvSpPr>
            <a:spLocks noChangeArrowheads="1"/>
          </p:cNvSpPr>
          <p:nvPr/>
        </p:nvSpPr>
        <p:spPr bwMode="auto">
          <a:xfrm>
            <a:off x="719138" y="3789363"/>
            <a:ext cx="77057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Font typeface="Wingdings" pitchFamily="2" charset="2"/>
              <a:buChar char="u"/>
            </a:pPr>
            <a:r>
              <a:rPr kumimoji="0" lang="zh-CN" altLang="en-US" sz="2800" b="1">
                <a:solidFill>
                  <a:schemeClr val="hlink"/>
                </a:solidFill>
              </a:rPr>
              <a:t>谓词：</a:t>
            </a:r>
            <a:r>
              <a:rPr kumimoji="0" lang="zh-CN" altLang="en-US" sz="2800" b="1">
                <a:solidFill>
                  <a:srgbClr val="000000"/>
                </a:solidFill>
              </a:rPr>
              <a:t>反映判断的句子中，用以刻划客体的</a:t>
            </a:r>
            <a:r>
              <a:rPr kumimoji="0" lang="zh-CN" altLang="en-US" sz="2800" b="1" u="sng">
                <a:solidFill>
                  <a:schemeClr val="hlink"/>
                </a:solidFill>
              </a:rPr>
              <a:t>性质或关系</a:t>
            </a:r>
            <a:r>
              <a:rPr kumimoji="0" lang="zh-CN" altLang="en-US" sz="2800" b="1">
                <a:solidFill>
                  <a:srgbClr val="000000"/>
                </a:solidFill>
              </a:rPr>
              <a:t>的即是谓词。  </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855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85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1" grpId="0"/>
      <p:bldP spid="10855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F674CE23-4B93-4701-B275-5EA14D497F68}" type="slidenum">
              <a:rPr lang="en-US" altLang="zh-CN"/>
              <a:pPr/>
              <a:t>16</a:t>
            </a:fld>
            <a:endParaRPr lang="en-US" altLang="zh-CN"/>
          </a:p>
        </p:txBody>
      </p:sp>
      <p:sp>
        <p:nvSpPr>
          <p:cNvPr id="178181" name="Rectangle 5"/>
          <p:cNvSpPr>
            <a:spLocks noChangeArrowheads="1"/>
          </p:cNvSpPr>
          <p:nvPr/>
        </p:nvSpPr>
        <p:spPr bwMode="auto">
          <a:xfrm>
            <a:off x="1258888" y="647700"/>
            <a:ext cx="43926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chemeClr val="folHlink"/>
                </a:solidFill>
                <a:ea typeface="楷体_GB2312" pitchFamily="49" charset="-122"/>
              </a:rPr>
              <a:t>二、谓词的表示</a:t>
            </a:r>
          </a:p>
        </p:txBody>
      </p:sp>
      <p:sp>
        <p:nvSpPr>
          <p:cNvPr id="178183" name="Rectangle 7"/>
          <p:cNvSpPr>
            <a:spLocks noChangeArrowheads="1"/>
          </p:cNvSpPr>
          <p:nvPr/>
        </p:nvSpPr>
        <p:spPr bwMode="auto">
          <a:xfrm>
            <a:off x="719138" y="1447800"/>
            <a:ext cx="7705725"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olidFill>
                  <a:schemeClr val="hlink"/>
                </a:solidFill>
              </a:rPr>
              <a:t>谓词：</a:t>
            </a:r>
            <a:r>
              <a:rPr lang="zh-CN" altLang="en-US" sz="2800" b="1"/>
              <a:t>大写字母；</a:t>
            </a:r>
            <a:r>
              <a:rPr lang="en-US" altLang="zh-CN" sz="2800" b="1"/>
              <a:t>A, …, P, Q, R, …</a:t>
            </a:r>
          </a:p>
          <a:p>
            <a:pPr algn="l">
              <a:lnSpc>
                <a:spcPct val="120000"/>
              </a:lnSpc>
            </a:pPr>
            <a:r>
              <a:rPr lang="zh-CN" altLang="en-US" sz="2800" b="1">
                <a:solidFill>
                  <a:schemeClr val="hlink"/>
                </a:solidFill>
              </a:rPr>
              <a:t>客体：</a:t>
            </a:r>
            <a:r>
              <a:rPr lang="zh-CN" altLang="en-US" sz="2800" b="1"/>
              <a:t>小写字母；</a:t>
            </a:r>
            <a:r>
              <a:rPr lang="en-US" altLang="zh-CN" sz="2800" b="1"/>
              <a:t>a, b, c, d, ……</a:t>
            </a:r>
          </a:p>
        </p:txBody>
      </p:sp>
      <p:sp>
        <p:nvSpPr>
          <p:cNvPr id="178189" name="Rectangle 13"/>
          <p:cNvSpPr>
            <a:spLocks noChangeArrowheads="1"/>
          </p:cNvSpPr>
          <p:nvPr/>
        </p:nvSpPr>
        <p:spPr bwMode="auto">
          <a:xfrm>
            <a:off x="719138" y="2725738"/>
            <a:ext cx="734377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olidFill>
                  <a:schemeClr val="hlink"/>
                </a:solidFill>
              </a:rPr>
              <a:t>命题：</a:t>
            </a:r>
            <a:r>
              <a:rPr lang="zh-CN" altLang="en-US" sz="2800" b="1"/>
              <a:t>客体</a:t>
            </a:r>
            <a:r>
              <a:rPr lang="en-US" altLang="zh-CN" sz="2800" b="1"/>
              <a:t>+</a:t>
            </a:r>
            <a:r>
              <a:rPr lang="zh-CN" altLang="en-US" sz="2800" b="1"/>
              <a:t>谓词 ；</a:t>
            </a:r>
          </a:p>
          <a:p>
            <a:pPr algn="l">
              <a:lnSpc>
                <a:spcPct val="120000"/>
              </a:lnSpc>
            </a:pPr>
            <a:r>
              <a:rPr kumimoji="0" lang="zh-CN" altLang="en-US" sz="2800" b="1"/>
              <a:t>对于给定的命题，用</a:t>
            </a:r>
            <a:r>
              <a:rPr kumimoji="0" lang="zh-CN" altLang="en-US" sz="2800" b="1" u="sng"/>
              <a:t>小写字母</a:t>
            </a:r>
            <a:r>
              <a:rPr kumimoji="0" lang="zh-CN" altLang="en-US" sz="2800" b="1"/>
              <a:t>表示其</a:t>
            </a:r>
            <a:r>
              <a:rPr kumimoji="0" lang="zh-CN" altLang="en-US" sz="2800" b="1" u="sng"/>
              <a:t>客体</a:t>
            </a:r>
            <a:r>
              <a:rPr kumimoji="0" lang="zh-CN" altLang="en-US" sz="2800" b="1"/>
              <a:t>和用</a:t>
            </a:r>
            <a:r>
              <a:rPr kumimoji="0" lang="zh-CN" altLang="en-US" sz="2800" b="1" u="sng"/>
              <a:t>大写字母</a:t>
            </a:r>
            <a:r>
              <a:rPr kumimoji="0" lang="zh-CN" altLang="en-US" sz="2800" b="1"/>
              <a:t>表示其</a:t>
            </a:r>
            <a:r>
              <a:rPr kumimoji="0" lang="zh-CN" altLang="en-US" sz="2800" b="1" u="sng"/>
              <a:t>谓词</a:t>
            </a:r>
            <a:r>
              <a:rPr kumimoji="0" lang="zh-CN" altLang="en-US" sz="2800" b="1"/>
              <a:t>，</a:t>
            </a:r>
            <a:r>
              <a:rPr kumimoji="0" lang="zh-CN" altLang="en-US" sz="2800" b="1">
                <a:solidFill>
                  <a:schemeClr val="hlink"/>
                </a:solidFill>
              </a:rPr>
              <a:t>规定</a:t>
            </a:r>
            <a:r>
              <a:rPr kumimoji="0" lang="zh-CN" altLang="en-US" sz="2800" b="1"/>
              <a:t>把小写字母写在大写字母右侧的圆括号</a:t>
            </a:r>
            <a:r>
              <a:rPr kumimoji="0" lang="en-US" altLang="zh-CN" sz="2800" b="1"/>
              <a:t>(  )</a:t>
            </a:r>
            <a:r>
              <a:rPr kumimoji="0" lang="zh-CN" altLang="en-US" sz="2800" b="1"/>
              <a:t>内。</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81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818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fld id="{F87A7BE0-6B45-423B-9680-7E9BF5780374}" type="slidenum">
              <a:rPr lang="en-US" altLang="zh-CN"/>
              <a:pPr/>
              <a:t>17</a:t>
            </a:fld>
            <a:endParaRPr lang="en-US" altLang="zh-CN"/>
          </a:p>
        </p:txBody>
      </p:sp>
      <p:sp>
        <p:nvSpPr>
          <p:cNvPr id="198658" name="Rectangle 2"/>
          <p:cNvSpPr>
            <a:spLocks noChangeArrowheads="1"/>
          </p:cNvSpPr>
          <p:nvPr/>
        </p:nvSpPr>
        <p:spPr bwMode="auto">
          <a:xfrm>
            <a:off x="719138" y="1412875"/>
            <a:ext cx="7916862" cy="154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20000"/>
              </a:spcBef>
            </a:pPr>
            <a:r>
              <a:rPr kumimoji="0" lang="zh-CN" altLang="en-US" sz="2800" b="1">
                <a:solidFill>
                  <a:schemeClr val="hlink"/>
                </a:solidFill>
              </a:rPr>
              <a:t>例如：</a:t>
            </a:r>
            <a:r>
              <a:rPr kumimoji="0" lang="en-US" altLang="zh-CN" sz="2800" b="1">
                <a:solidFill>
                  <a:srgbClr val="000000"/>
                </a:solidFill>
              </a:rPr>
              <a:t>7</a:t>
            </a:r>
            <a:r>
              <a:rPr kumimoji="0" lang="zh-CN" altLang="en-US" sz="2800" b="1">
                <a:solidFill>
                  <a:srgbClr val="000000"/>
                </a:solidFill>
              </a:rPr>
              <a:t>是质数。</a:t>
            </a:r>
          </a:p>
          <a:p>
            <a:pPr algn="just">
              <a:spcBef>
                <a:spcPct val="20000"/>
              </a:spcBef>
            </a:pPr>
            <a:r>
              <a:rPr kumimoji="0" lang="zh-CN" altLang="en-US" sz="2800" b="1">
                <a:solidFill>
                  <a:srgbClr val="000000"/>
                </a:solidFill>
              </a:rPr>
              <a:t>            </a:t>
            </a:r>
            <a:r>
              <a:rPr kumimoji="0" lang="en-US" altLang="zh-CN" sz="2800" b="1">
                <a:solidFill>
                  <a:srgbClr val="000000"/>
                </a:solidFill>
              </a:rPr>
              <a:t>5</a:t>
            </a:r>
            <a:r>
              <a:rPr kumimoji="0" lang="zh-CN" altLang="en-US" sz="2800" b="1">
                <a:solidFill>
                  <a:srgbClr val="000000"/>
                </a:solidFill>
              </a:rPr>
              <a:t>大于</a:t>
            </a:r>
            <a:r>
              <a:rPr kumimoji="0" lang="en-US" altLang="zh-CN" sz="2800" b="1">
                <a:solidFill>
                  <a:srgbClr val="000000"/>
                </a:solidFill>
              </a:rPr>
              <a:t>3</a:t>
            </a:r>
            <a:r>
              <a:rPr kumimoji="0" lang="zh-CN" altLang="en-US" sz="2800" b="1">
                <a:solidFill>
                  <a:srgbClr val="000000"/>
                </a:solidFill>
              </a:rPr>
              <a:t>。</a:t>
            </a:r>
          </a:p>
          <a:p>
            <a:pPr algn="just">
              <a:spcBef>
                <a:spcPct val="20000"/>
              </a:spcBef>
            </a:pPr>
            <a:r>
              <a:rPr kumimoji="0" lang="zh-CN" altLang="en-US" sz="2800" b="1"/>
              <a:t>            武汉位于北京和广州之间。</a:t>
            </a:r>
          </a:p>
        </p:txBody>
      </p:sp>
      <p:sp>
        <p:nvSpPr>
          <p:cNvPr id="198661" name="Rectangle 5"/>
          <p:cNvSpPr>
            <a:spLocks noChangeArrowheads="1"/>
          </p:cNvSpPr>
          <p:nvPr/>
        </p:nvSpPr>
        <p:spPr bwMode="auto">
          <a:xfrm>
            <a:off x="719138" y="3044825"/>
            <a:ext cx="791686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en-US" altLang="zh-CN" sz="2800" b="1" i="1"/>
              <a:t>S</a:t>
            </a:r>
            <a:r>
              <a:rPr kumimoji="0" lang="zh-CN" altLang="en-US" sz="2800" b="1"/>
              <a:t>：是质数，</a:t>
            </a:r>
            <a:r>
              <a:rPr kumimoji="0" lang="en-US" altLang="zh-CN" sz="2800" b="1" i="1"/>
              <a:t>c</a:t>
            </a:r>
            <a:r>
              <a:rPr kumimoji="0" lang="zh-CN" altLang="en-US" sz="2800" b="1"/>
              <a:t>：</a:t>
            </a:r>
            <a:r>
              <a:rPr kumimoji="0" lang="en-US" altLang="zh-CN" sz="2800" b="1"/>
              <a:t>7</a:t>
            </a:r>
            <a:r>
              <a:rPr kumimoji="0" lang="zh-CN" altLang="en-US" sz="2800" b="1"/>
              <a:t>，则</a:t>
            </a:r>
            <a:r>
              <a:rPr kumimoji="0" lang="zh-CN" altLang="en-US" sz="2800" b="1">
                <a:latin typeface="Arial"/>
              </a:rPr>
              <a:t>“</a:t>
            </a:r>
            <a:r>
              <a:rPr kumimoji="0" lang="en-US" altLang="zh-CN" sz="2800" b="1">
                <a:solidFill>
                  <a:srgbClr val="000000"/>
                </a:solidFill>
              </a:rPr>
              <a:t>7</a:t>
            </a:r>
            <a:r>
              <a:rPr kumimoji="0" lang="zh-CN" altLang="en-US" sz="2800" b="1">
                <a:solidFill>
                  <a:srgbClr val="000000"/>
                </a:solidFill>
              </a:rPr>
              <a:t>是质数</a:t>
            </a:r>
            <a:r>
              <a:rPr kumimoji="0" lang="zh-CN" altLang="en-US" sz="2800" b="1">
                <a:latin typeface="Arial"/>
              </a:rPr>
              <a:t>”</a:t>
            </a:r>
            <a:r>
              <a:rPr kumimoji="0" lang="zh-CN" altLang="en-US" sz="2800" b="1"/>
              <a:t>表示为</a:t>
            </a:r>
            <a:r>
              <a:rPr kumimoji="0" lang="en-US" altLang="zh-CN" sz="2800" b="1" i="1" u="sng">
                <a:solidFill>
                  <a:schemeClr val="folHlink"/>
                </a:solidFill>
              </a:rPr>
              <a:t>S</a:t>
            </a:r>
            <a:r>
              <a:rPr kumimoji="0" lang="en-US" altLang="zh-CN" sz="2800" b="1" u="sng">
                <a:solidFill>
                  <a:schemeClr val="folHlink"/>
                </a:solidFill>
              </a:rPr>
              <a:t>(</a:t>
            </a:r>
            <a:r>
              <a:rPr kumimoji="0" lang="en-US" altLang="zh-CN" sz="2800" b="1" i="1" u="sng">
                <a:solidFill>
                  <a:schemeClr val="folHlink"/>
                </a:solidFill>
              </a:rPr>
              <a:t>c</a:t>
            </a:r>
            <a:r>
              <a:rPr kumimoji="0" lang="en-US" altLang="zh-CN" sz="2800" b="1" u="sng">
                <a:solidFill>
                  <a:schemeClr val="folHlink"/>
                </a:solidFill>
              </a:rPr>
              <a:t>)</a:t>
            </a:r>
            <a:r>
              <a:rPr kumimoji="0" lang="zh-CN" altLang="en-US" sz="2800" b="1"/>
              <a:t>。</a:t>
            </a:r>
          </a:p>
        </p:txBody>
      </p:sp>
      <p:sp>
        <p:nvSpPr>
          <p:cNvPr id="198662" name="Rectangle 6"/>
          <p:cNvSpPr>
            <a:spLocks noChangeArrowheads="1"/>
          </p:cNvSpPr>
          <p:nvPr/>
        </p:nvSpPr>
        <p:spPr bwMode="auto">
          <a:xfrm>
            <a:off x="719138" y="4627563"/>
            <a:ext cx="7916862" cy="14589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en-US" altLang="zh-CN" sz="2800" b="1" i="1"/>
              <a:t>R</a:t>
            </a:r>
            <a:r>
              <a:rPr kumimoji="0" lang="zh-CN" altLang="en-US" sz="2800" b="1"/>
              <a:t>：</a:t>
            </a:r>
            <a:r>
              <a:rPr kumimoji="0" lang="en-US" altLang="zh-CN" sz="2800" b="1">
                <a:latin typeface="Arial"/>
              </a:rPr>
              <a:t>…</a:t>
            </a:r>
            <a:r>
              <a:rPr kumimoji="0" lang="zh-CN" altLang="en-US" sz="2800" b="1"/>
              <a:t>位于</a:t>
            </a:r>
            <a:r>
              <a:rPr kumimoji="0" lang="en-US" altLang="zh-CN" sz="2800" b="1">
                <a:latin typeface="Arial"/>
              </a:rPr>
              <a:t>…</a:t>
            </a:r>
            <a:r>
              <a:rPr kumimoji="0" lang="zh-CN" altLang="en-US" sz="2800" b="1"/>
              <a:t>和</a:t>
            </a:r>
            <a:r>
              <a:rPr kumimoji="0" lang="en-US" altLang="zh-CN" sz="2800" b="1">
                <a:latin typeface="Arial"/>
              </a:rPr>
              <a:t>…</a:t>
            </a:r>
            <a:r>
              <a:rPr kumimoji="0" lang="zh-CN" altLang="en-US" sz="2800" b="1"/>
              <a:t>之间，</a:t>
            </a:r>
            <a:r>
              <a:rPr kumimoji="0" lang="en-US" altLang="zh-CN" sz="2800" b="1" i="1"/>
              <a:t>a</a:t>
            </a:r>
            <a:r>
              <a:rPr kumimoji="0" lang="zh-CN" altLang="en-US" sz="2800" b="1"/>
              <a:t>：武汉，</a:t>
            </a:r>
            <a:r>
              <a:rPr kumimoji="0" lang="en-US" altLang="zh-CN" sz="2800" b="1" i="1"/>
              <a:t>b</a:t>
            </a:r>
            <a:r>
              <a:rPr kumimoji="0" lang="zh-CN" altLang="en-US" sz="2800" b="1"/>
              <a:t>：北京，</a:t>
            </a:r>
            <a:r>
              <a:rPr kumimoji="0" lang="en-US" altLang="zh-CN" sz="2800" b="1" i="1"/>
              <a:t>c</a:t>
            </a:r>
            <a:r>
              <a:rPr kumimoji="0" lang="zh-CN" altLang="en-US" sz="2800" b="1"/>
              <a:t>：广州，则</a:t>
            </a:r>
            <a:r>
              <a:rPr kumimoji="0" lang="zh-CN" altLang="en-US" sz="2800" b="1">
                <a:latin typeface="Arial"/>
              </a:rPr>
              <a:t>“</a:t>
            </a:r>
            <a:r>
              <a:rPr kumimoji="0" lang="zh-CN" altLang="en-US" sz="2800" b="1"/>
              <a:t>武汉位于北京和广州之间</a:t>
            </a:r>
            <a:r>
              <a:rPr kumimoji="0" lang="zh-CN" altLang="en-US" sz="2800" b="1">
                <a:latin typeface="Arial"/>
              </a:rPr>
              <a:t>”</a:t>
            </a:r>
            <a:r>
              <a:rPr kumimoji="0" lang="zh-CN" altLang="en-US" sz="2800" b="1"/>
              <a:t>表示为</a:t>
            </a:r>
          </a:p>
          <a:p>
            <a:pPr algn="l">
              <a:spcBef>
                <a:spcPct val="20000"/>
              </a:spcBef>
              <a:buClr>
                <a:schemeClr val="folHlink"/>
              </a:buClr>
              <a:buSzPct val="60000"/>
              <a:buFont typeface="Wingdings" pitchFamily="2" charset="2"/>
              <a:buNone/>
            </a:pPr>
            <a:r>
              <a:rPr kumimoji="0" lang="en-US" altLang="zh-CN" sz="2800" b="1" i="1" u="sng">
                <a:solidFill>
                  <a:schemeClr val="folHlink"/>
                </a:solidFill>
              </a:rPr>
              <a:t>R</a:t>
            </a:r>
            <a:r>
              <a:rPr kumimoji="0" lang="en-US" altLang="zh-CN" sz="2800" b="1" u="sng">
                <a:solidFill>
                  <a:schemeClr val="folHlink"/>
                </a:solidFill>
              </a:rPr>
              <a:t>(</a:t>
            </a:r>
            <a:r>
              <a:rPr kumimoji="0" lang="en-US" altLang="zh-CN" sz="2800" b="1" i="1" u="sng">
                <a:solidFill>
                  <a:schemeClr val="folHlink"/>
                </a:solidFill>
              </a:rPr>
              <a:t>a</a:t>
            </a:r>
            <a:r>
              <a:rPr kumimoji="0" lang="en-US" altLang="zh-CN" sz="2800" b="1" u="sng">
                <a:solidFill>
                  <a:schemeClr val="folHlink"/>
                </a:solidFill>
              </a:rPr>
              <a:t>, </a:t>
            </a:r>
            <a:r>
              <a:rPr kumimoji="0" lang="en-US" altLang="zh-CN" sz="2800" b="1" i="1" u="sng">
                <a:solidFill>
                  <a:schemeClr val="folHlink"/>
                </a:solidFill>
              </a:rPr>
              <a:t>b</a:t>
            </a:r>
            <a:r>
              <a:rPr kumimoji="0" lang="en-US" altLang="zh-CN" sz="2800" b="1" u="sng">
                <a:solidFill>
                  <a:schemeClr val="folHlink"/>
                </a:solidFill>
              </a:rPr>
              <a:t>, </a:t>
            </a:r>
            <a:r>
              <a:rPr kumimoji="0" lang="en-US" altLang="zh-CN" sz="2800" b="1" i="1" u="sng">
                <a:solidFill>
                  <a:schemeClr val="folHlink"/>
                </a:solidFill>
              </a:rPr>
              <a:t>c</a:t>
            </a:r>
            <a:r>
              <a:rPr kumimoji="0" lang="en-US" altLang="zh-CN" sz="2800" b="1" u="sng">
                <a:solidFill>
                  <a:schemeClr val="folHlink"/>
                </a:solidFill>
              </a:rPr>
              <a:t>)</a:t>
            </a:r>
            <a:r>
              <a:rPr kumimoji="0" lang="zh-CN" altLang="en-US" sz="2800" b="1"/>
              <a:t>。</a:t>
            </a:r>
          </a:p>
        </p:txBody>
      </p:sp>
      <p:sp>
        <p:nvSpPr>
          <p:cNvPr id="198663" name="Rectangle 7"/>
          <p:cNvSpPr>
            <a:spLocks noChangeArrowheads="1"/>
          </p:cNvSpPr>
          <p:nvPr/>
        </p:nvSpPr>
        <p:spPr bwMode="auto">
          <a:xfrm>
            <a:off x="719138" y="3656013"/>
            <a:ext cx="791686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en-US" altLang="zh-CN" sz="2800" b="1" i="1"/>
              <a:t>P</a:t>
            </a:r>
            <a:r>
              <a:rPr kumimoji="0" lang="zh-CN" altLang="en-US" sz="2800" b="1"/>
              <a:t>：</a:t>
            </a:r>
            <a:r>
              <a:rPr kumimoji="0" lang="en-US" altLang="zh-CN" sz="2800" b="1">
                <a:latin typeface="Arial"/>
              </a:rPr>
              <a:t>…</a:t>
            </a:r>
            <a:r>
              <a:rPr kumimoji="0" lang="zh-CN" altLang="en-US" sz="2800" b="1"/>
              <a:t>大于</a:t>
            </a:r>
            <a:r>
              <a:rPr kumimoji="0" lang="en-US" altLang="zh-CN" sz="2800" b="1">
                <a:latin typeface="Arial"/>
              </a:rPr>
              <a:t>…</a:t>
            </a:r>
            <a:r>
              <a:rPr kumimoji="0" lang="zh-CN" altLang="en-US" sz="2800" b="1"/>
              <a:t>，</a:t>
            </a:r>
            <a:r>
              <a:rPr kumimoji="0" lang="en-US" altLang="zh-CN" sz="2800" b="1" i="1"/>
              <a:t>a</a:t>
            </a:r>
            <a:r>
              <a:rPr kumimoji="0" lang="zh-CN" altLang="en-US" sz="2800" b="1"/>
              <a:t>：</a:t>
            </a:r>
            <a:r>
              <a:rPr kumimoji="0" lang="en-US" altLang="zh-CN" sz="2800" b="1"/>
              <a:t>5</a:t>
            </a:r>
            <a:r>
              <a:rPr kumimoji="0" lang="zh-CN" altLang="en-US" sz="2800" b="1"/>
              <a:t>，</a:t>
            </a:r>
            <a:r>
              <a:rPr kumimoji="0" lang="en-US" altLang="zh-CN" sz="2800" b="1" i="1"/>
              <a:t>b</a:t>
            </a:r>
            <a:r>
              <a:rPr kumimoji="0" lang="zh-CN" altLang="en-US" sz="2800" b="1"/>
              <a:t>：</a:t>
            </a:r>
            <a:r>
              <a:rPr kumimoji="0" lang="en-US" altLang="zh-CN" sz="2800" b="1"/>
              <a:t>3</a:t>
            </a:r>
            <a:r>
              <a:rPr kumimoji="0" lang="zh-CN" altLang="en-US" sz="2800" b="1"/>
              <a:t>，则</a:t>
            </a:r>
            <a:r>
              <a:rPr kumimoji="0" lang="zh-CN" altLang="en-US" sz="2800" b="1">
                <a:latin typeface="Arial"/>
              </a:rPr>
              <a:t>“</a:t>
            </a:r>
            <a:r>
              <a:rPr kumimoji="0" lang="en-US" altLang="zh-CN" sz="2800" b="1">
                <a:solidFill>
                  <a:srgbClr val="000000"/>
                </a:solidFill>
              </a:rPr>
              <a:t>5</a:t>
            </a:r>
            <a:r>
              <a:rPr kumimoji="0" lang="zh-CN" altLang="en-US" sz="2800" b="1">
                <a:solidFill>
                  <a:srgbClr val="000000"/>
                </a:solidFill>
              </a:rPr>
              <a:t>大于</a:t>
            </a:r>
            <a:r>
              <a:rPr kumimoji="0" lang="en-US" altLang="zh-CN" sz="2800" b="1">
                <a:solidFill>
                  <a:srgbClr val="000000"/>
                </a:solidFill>
              </a:rPr>
              <a:t>3</a:t>
            </a:r>
            <a:r>
              <a:rPr kumimoji="0" lang="en-US" altLang="zh-CN" sz="2800" b="1"/>
              <a:t> </a:t>
            </a:r>
            <a:r>
              <a:rPr kumimoji="0" lang="en-US" altLang="zh-CN" sz="2800" b="1">
                <a:latin typeface="Arial"/>
              </a:rPr>
              <a:t>”</a:t>
            </a:r>
            <a:r>
              <a:rPr kumimoji="0" lang="zh-CN" altLang="en-US" sz="2800" b="1"/>
              <a:t>表示为</a:t>
            </a:r>
            <a:r>
              <a:rPr kumimoji="0" lang="en-US" altLang="zh-CN" sz="2800" b="1" i="1" u="sng">
                <a:solidFill>
                  <a:schemeClr val="folHlink"/>
                </a:solidFill>
              </a:rPr>
              <a:t>P</a:t>
            </a:r>
            <a:r>
              <a:rPr kumimoji="0" lang="en-US" altLang="zh-CN" sz="2800" b="1" u="sng">
                <a:solidFill>
                  <a:schemeClr val="folHlink"/>
                </a:solidFill>
              </a:rPr>
              <a:t>(</a:t>
            </a:r>
            <a:r>
              <a:rPr kumimoji="0" lang="en-US" altLang="zh-CN" sz="2800" b="1" i="1" u="sng">
                <a:solidFill>
                  <a:schemeClr val="folHlink"/>
                </a:solidFill>
              </a:rPr>
              <a:t>a</a:t>
            </a:r>
            <a:r>
              <a:rPr kumimoji="0" lang="en-US" altLang="zh-CN" sz="2800" b="1" u="sng">
                <a:solidFill>
                  <a:schemeClr val="folHlink"/>
                </a:solidFill>
              </a:rPr>
              <a:t>, </a:t>
            </a:r>
            <a:r>
              <a:rPr kumimoji="0" lang="en-US" altLang="zh-CN" sz="2800" b="1" i="1" u="sng">
                <a:solidFill>
                  <a:schemeClr val="folHlink"/>
                </a:solidFill>
              </a:rPr>
              <a:t>b</a:t>
            </a:r>
            <a:r>
              <a:rPr kumimoji="0" lang="en-US" altLang="zh-CN" sz="2800" b="1" u="sng">
                <a:solidFill>
                  <a:schemeClr val="folHlink"/>
                </a:solidFill>
              </a:rPr>
              <a:t>)</a:t>
            </a:r>
            <a:r>
              <a:rPr kumimoji="0" lang="zh-CN" altLang="en-US" sz="2800" b="1"/>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661"/>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66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86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61" grpId="0"/>
      <p:bldP spid="198662" grpId="0"/>
      <p:bldP spid="19866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3393AC99-835F-4219-B29E-13285DD1732B}" type="slidenum">
              <a:rPr lang="en-US" altLang="zh-CN"/>
              <a:pPr/>
              <a:t>18</a:t>
            </a:fld>
            <a:endParaRPr lang="en-US" altLang="zh-CN"/>
          </a:p>
        </p:txBody>
      </p:sp>
      <p:sp>
        <p:nvSpPr>
          <p:cNvPr id="358402" name="Rectangle 2"/>
          <p:cNvSpPr>
            <a:spLocks noChangeArrowheads="1"/>
          </p:cNvSpPr>
          <p:nvPr/>
        </p:nvSpPr>
        <p:spPr bwMode="auto">
          <a:xfrm>
            <a:off x="719138" y="1412875"/>
            <a:ext cx="7916862"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buClr>
                <a:schemeClr val="folHlink"/>
              </a:buClr>
              <a:buSzPct val="60000"/>
              <a:buFont typeface="Wingdings" pitchFamily="2" charset="2"/>
              <a:buNone/>
            </a:pPr>
            <a:r>
              <a:rPr kumimoji="0" lang="zh-CN" altLang="en-US" sz="2800" b="1"/>
              <a:t>表示特定的客体，称为</a:t>
            </a:r>
            <a:r>
              <a:rPr kumimoji="0" lang="zh-CN" altLang="en-US" sz="2800" b="1" u="sng">
                <a:solidFill>
                  <a:schemeClr val="hlink"/>
                </a:solidFill>
              </a:rPr>
              <a:t>客体常元</a:t>
            </a:r>
            <a:r>
              <a:rPr kumimoji="0" lang="zh-CN" altLang="en-US" sz="2800" b="1"/>
              <a:t>，以</a:t>
            </a:r>
            <a:r>
              <a:rPr kumimoji="0" lang="en-US" altLang="zh-CN" sz="2800" b="1" i="1"/>
              <a:t>a</a:t>
            </a:r>
            <a:r>
              <a:rPr kumimoji="0" lang="en-US" altLang="zh-CN" sz="2800" b="1"/>
              <a:t>, </a:t>
            </a:r>
            <a:r>
              <a:rPr kumimoji="0" lang="en-US" altLang="zh-CN" sz="2800" b="1" i="1"/>
              <a:t>b</a:t>
            </a:r>
            <a:r>
              <a:rPr kumimoji="0" lang="en-US" altLang="zh-CN" sz="2800" b="1"/>
              <a:t>, </a:t>
            </a:r>
            <a:r>
              <a:rPr kumimoji="0" lang="en-US" altLang="zh-CN" sz="2800" b="1" i="1"/>
              <a:t>c, </a:t>
            </a:r>
            <a:r>
              <a:rPr kumimoji="0" lang="en-US" altLang="zh-CN" sz="2800" b="1">
                <a:latin typeface="Arial"/>
              </a:rPr>
              <a:t>…</a:t>
            </a:r>
            <a:r>
              <a:rPr kumimoji="0" lang="zh-CN" altLang="en-US" sz="2800" b="1"/>
              <a:t>或带下标的</a:t>
            </a:r>
            <a:r>
              <a:rPr kumimoji="0" lang="en-US" altLang="zh-CN" sz="2800" b="1" i="1"/>
              <a:t>a</a:t>
            </a:r>
            <a:r>
              <a:rPr kumimoji="0" lang="en-US" altLang="zh-CN" sz="2800" b="1" i="1" baseline="-25000"/>
              <a:t>i</a:t>
            </a:r>
            <a:r>
              <a:rPr kumimoji="0" lang="en-US" altLang="zh-CN" sz="2800" b="1"/>
              <a:t>, </a:t>
            </a:r>
            <a:r>
              <a:rPr kumimoji="0" lang="en-US" altLang="zh-CN" sz="2800" b="1" i="1"/>
              <a:t>b</a:t>
            </a:r>
            <a:r>
              <a:rPr kumimoji="0" lang="en-US" altLang="zh-CN" sz="2800" b="1" i="1" baseline="-25000"/>
              <a:t>i</a:t>
            </a:r>
            <a:r>
              <a:rPr kumimoji="0" lang="en-US" altLang="zh-CN" sz="2800" b="1"/>
              <a:t>, </a:t>
            </a:r>
            <a:r>
              <a:rPr kumimoji="0" lang="en-US" altLang="zh-CN" sz="2800" b="1" i="1"/>
              <a:t>c</a:t>
            </a:r>
            <a:r>
              <a:rPr kumimoji="0" lang="en-US" altLang="zh-CN" sz="2800" b="1" i="1" baseline="-25000"/>
              <a:t>i</a:t>
            </a:r>
            <a:r>
              <a:rPr kumimoji="0" lang="en-US" altLang="zh-CN" sz="2800" b="1" i="1"/>
              <a:t>,</a:t>
            </a:r>
            <a:r>
              <a:rPr kumimoji="0" lang="en-US" altLang="zh-CN" sz="2800" b="1">
                <a:latin typeface="Arial"/>
              </a:rPr>
              <a:t>…</a:t>
            </a:r>
            <a:r>
              <a:rPr kumimoji="0" lang="zh-CN" altLang="en-US" sz="2800" b="1"/>
              <a:t>表示；</a:t>
            </a:r>
          </a:p>
        </p:txBody>
      </p:sp>
      <p:sp>
        <p:nvSpPr>
          <p:cNvPr id="358403" name="Rectangle 3"/>
          <p:cNvSpPr>
            <a:spLocks noChangeArrowheads="1"/>
          </p:cNvSpPr>
          <p:nvPr/>
        </p:nvSpPr>
        <p:spPr bwMode="auto">
          <a:xfrm>
            <a:off x="719138" y="3789363"/>
            <a:ext cx="7916862"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chemeClr val="folHlink"/>
              </a:buClr>
              <a:buSzPct val="60000"/>
              <a:buFont typeface="Wingdings" pitchFamily="2" charset="2"/>
              <a:defRPr sz="2800" b="1">
                <a:solidFill>
                  <a:schemeClr val="tx1"/>
                </a:solidFill>
                <a:latin typeface="Times New Roman" pitchFamily="18" charset="0"/>
                <a:ea typeface="宋体" charset="-122"/>
              </a:defRPr>
            </a:lvl1pPr>
            <a:lvl2pPr marL="439738" indent="4763" algn="l">
              <a:spcBef>
                <a:spcPct val="20000"/>
              </a:spcBef>
              <a:buClr>
                <a:schemeClr val="hlink"/>
              </a:buClr>
              <a:buSzPct val="55000"/>
              <a:buFont typeface="Wingdings" pitchFamily="2" charset="2"/>
              <a:defRPr sz="2800" b="1">
                <a:solidFill>
                  <a:schemeClr val="tx1"/>
                </a:solidFill>
                <a:latin typeface="Times New Roman" pitchFamily="18" charset="0"/>
                <a:ea typeface="宋体" charset="-122"/>
              </a:defRPr>
            </a:lvl2pPr>
            <a:lvl3pPr marL="901700" algn="l">
              <a:spcBef>
                <a:spcPct val="20000"/>
              </a:spcBef>
              <a:buClr>
                <a:schemeClr val="folHlink"/>
              </a:buClr>
              <a:buSzPct val="50000"/>
              <a:buFont typeface="Wingdings" pitchFamily="2" charset="2"/>
              <a:defRPr sz="2800" b="1">
                <a:solidFill>
                  <a:schemeClr val="tx1"/>
                </a:solidFill>
                <a:latin typeface="Times New Roman" pitchFamily="18" charset="0"/>
                <a:ea typeface="宋体" charset="-122"/>
              </a:defRPr>
            </a:lvl3pPr>
            <a:lvl4pPr marL="1346200" algn="l">
              <a:spcBef>
                <a:spcPct val="20000"/>
              </a:spcBef>
              <a:buClr>
                <a:schemeClr val="accent2"/>
              </a:buClr>
              <a:buSzPct val="55000"/>
              <a:buFont typeface="Wingdings" pitchFamily="2" charset="2"/>
              <a:defRPr sz="2800" b="1">
                <a:solidFill>
                  <a:schemeClr val="tx1"/>
                </a:solidFill>
                <a:latin typeface="Times New Roman" pitchFamily="18" charset="0"/>
                <a:ea typeface="宋体" charset="-122"/>
              </a:defRPr>
            </a:lvl4pPr>
            <a:lvl5pPr marL="1789113" algn="l">
              <a:spcBef>
                <a:spcPct val="20000"/>
              </a:spcBef>
              <a:buClr>
                <a:schemeClr val="accent1"/>
              </a:buClr>
              <a:buSzPct val="50000"/>
              <a:buFont typeface="Wingdings" pitchFamily="2" charset="2"/>
              <a:defRPr sz="2800" b="1">
                <a:solidFill>
                  <a:schemeClr val="tx1"/>
                </a:solidFill>
                <a:latin typeface="Times New Roman" pitchFamily="18" charset="0"/>
                <a:ea typeface="宋体" charset="-122"/>
              </a:defRPr>
            </a:lvl5pPr>
            <a:lvl6pPr marL="2246313" fontAlgn="base">
              <a:spcBef>
                <a:spcPct val="20000"/>
              </a:spcBef>
              <a:spcAft>
                <a:spcPct val="0"/>
              </a:spcAft>
              <a:buClr>
                <a:schemeClr val="accent1"/>
              </a:buClr>
              <a:buSzPct val="50000"/>
              <a:buFont typeface="Wingdings" pitchFamily="2" charset="2"/>
              <a:defRPr sz="2800" b="1">
                <a:solidFill>
                  <a:schemeClr val="tx1"/>
                </a:solidFill>
                <a:latin typeface="Times New Roman" pitchFamily="18" charset="0"/>
                <a:ea typeface="宋体" charset="-122"/>
              </a:defRPr>
            </a:lvl6pPr>
            <a:lvl7pPr marL="2703513" fontAlgn="base">
              <a:spcBef>
                <a:spcPct val="20000"/>
              </a:spcBef>
              <a:spcAft>
                <a:spcPct val="0"/>
              </a:spcAft>
              <a:buClr>
                <a:schemeClr val="accent1"/>
              </a:buClr>
              <a:buSzPct val="50000"/>
              <a:buFont typeface="Wingdings" pitchFamily="2" charset="2"/>
              <a:defRPr sz="2800" b="1">
                <a:solidFill>
                  <a:schemeClr val="tx1"/>
                </a:solidFill>
                <a:latin typeface="Times New Roman" pitchFamily="18" charset="0"/>
                <a:ea typeface="宋体" charset="-122"/>
              </a:defRPr>
            </a:lvl7pPr>
            <a:lvl8pPr marL="3160713" fontAlgn="base">
              <a:spcBef>
                <a:spcPct val="20000"/>
              </a:spcBef>
              <a:spcAft>
                <a:spcPct val="0"/>
              </a:spcAft>
              <a:buClr>
                <a:schemeClr val="accent1"/>
              </a:buClr>
              <a:buSzPct val="50000"/>
              <a:buFont typeface="Wingdings" pitchFamily="2" charset="2"/>
              <a:defRPr sz="2800" b="1">
                <a:solidFill>
                  <a:schemeClr val="tx1"/>
                </a:solidFill>
                <a:latin typeface="Times New Roman" pitchFamily="18" charset="0"/>
                <a:ea typeface="宋体" charset="-122"/>
              </a:defRPr>
            </a:lvl8pPr>
            <a:lvl9pPr marL="3617913" fontAlgn="base">
              <a:spcBef>
                <a:spcPct val="20000"/>
              </a:spcBef>
              <a:spcAft>
                <a:spcPct val="0"/>
              </a:spcAft>
              <a:buClr>
                <a:schemeClr val="accent1"/>
              </a:buClr>
              <a:buSzPct val="50000"/>
              <a:buFont typeface="Wingdings" pitchFamily="2" charset="2"/>
              <a:defRPr sz="2800" b="1">
                <a:solidFill>
                  <a:schemeClr val="tx1"/>
                </a:solidFill>
                <a:latin typeface="Times New Roman" pitchFamily="18" charset="0"/>
                <a:ea typeface="宋体" charset="-122"/>
              </a:defRPr>
            </a:lvl9pPr>
          </a:lstStyle>
          <a:p>
            <a:pPr>
              <a:lnSpc>
                <a:spcPct val="120000"/>
              </a:lnSpc>
              <a:spcBef>
                <a:spcPct val="0"/>
              </a:spcBef>
            </a:pPr>
            <a:r>
              <a:rPr kumimoji="0" lang="zh-CN" altLang="en-US"/>
              <a:t>表示特定谓词，称为</a:t>
            </a:r>
            <a:r>
              <a:rPr kumimoji="0" lang="zh-CN" altLang="en-US">
                <a:solidFill>
                  <a:schemeClr val="hlink"/>
                </a:solidFill>
              </a:rPr>
              <a:t>谓词常元</a:t>
            </a:r>
            <a:r>
              <a:rPr kumimoji="0" lang="zh-CN" altLang="en-US"/>
              <a:t>，</a:t>
            </a:r>
          </a:p>
          <a:p>
            <a:pPr>
              <a:lnSpc>
                <a:spcPct val="120000"/>
              </a:lnSpc>
              <a:spcBef>
                <a:spcPct val="0"/>
              </a:spcBef>
            </a:pPr>
            <a:r>
              <a:rPr kumimoji="0" lang="zh-CN" altLang="en-US"/>
              <a:t>表示不确定的谓词，称为</a:t>
            </a:r>
            <a:r>
              <a:rPr kumimoji="0" lang="zh-CN" altLang="en-US">
                <a:solidFill>
                  <a:schemeClr val="hlink"/>
                </a:solidFill>
              </a:rPr>
              <a:t>谓词变元</a:t>
            </a:r>
            <a:r>
              <a:rPr kumimoji="0" lang="zh-CN" altLang="en-US"/>
              <a:t>，</a:t>
            </a:r>
          </a:p>
          <a:p>
            <a:pPr>
              <a:lnSpc>
                <a:spcPct val="120000"/>
              </a:lnSpc>
              <a:spcBef>
                <a:spcPct val="0"/>
              </a:spcBef>
            </a:pPr>
            <a:r>
              <a:rPr kumimoji="0" lang="zh-CN" altLang="en-US"/>
              <a:t>都用大写英文字母，如</a:t>
            </a:r>
            <a:r>
              <a:rPr kumimoji="0" lang="en-US" altLang="zh-CN" i="1"/>
              <a:t>P</a:t>
            </a:r>
            <a:r>
              <a:rPr kumimoji="0" lang="zh-CN" altLang="en-US"/>
              <a:t>，</a:t>
            </a:r>
            <a:r>
              <a:rPr kumimoji="0" lang="en-US" altLang="zh-CN" i="1"/>
              <a:t>Q</a:t>
            </a:r>
            <a:r>
              <a:rPr kumimoji="0" lang="zh-CN" altLang="en-US"/>
              <a:t>，</a:t>
            </a:r>
            <a:r>
              <a:rPr kumimoji="0" lang="en-US" altLang="zh-CN" i="1"/>
              <a:t>R</a:t>
            </a:r>
            <a:r>
              <a:rPr kumimoji="0" lang="zh-CN" altLang="en-US"/>
              <a:t>，</a:t>
            </a:r>
            <a:r>
              <a:rPr kumimoji="0" lang="en-US" altLang="zh-CN">
                <a:latin typeface="Arial"/>
              </a:rPr>
              <a:t>…</a:t>
            </a:r>
            <a:r>
              <a:rPr kumimoji="0" lang="zh-CN" altLang="en-US"/>
              <a:t>，或其带下标来表示。</a:t>
            </a:r>
          </a:p>
        </p:txBody>
      </p:sp>
      <p:sp>
        <p:nvSpPr>
          <p:cNvPr id="358404" name="Rectangle 4"/>
          <p:cNvSpPr>
            <a:spLocks noChangeArrowheads="1"/>
          </p:cNvSpPr>
          <p:nvPr/>
        </p:nvSpPr>
        <p:spPr bwMode="auto">
          <a:xfrm>
            <a:off x="719138" y="2593975"/>
            <a:ext cx="7916862"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a:t>表示不确定的客体，称为</a:t>
            </a:r>
            <a:r>
              <a:rPr kumimoji="0" lang="zh-CN" altLang="en-US" sz="2800" b="1" u="sng">
                <a:solidFill>
                  <a:schemeClr val="hlink"/>
                </a:solidFill>
              </a:rPr>
              <a:t>客体变元</a:t>
            </a:r>
            <a:r>
              <a:rPr kumimoji="0" lang="zh-CN" altLang="en-US" sz="2800" b="1"/>
              <a:t>，以</a:t>
            </a:r>
            <a:r>
              <a:rPr kumimoji="0" lang="en-US" altLang="zh-CN" sz="2800" b="1" i="1"/>
              <a:t>x</a:t>
            </a:r>
            <a:r>
              <a:rPr kumimoji="0" lang="en-US" altLang="zh-CN" sz="2800" b="1"/>
              <a:t>, </a:t>
            </a:r>
            <a:r>
              <a:rPr kumimoji="0" lang="en-US" altLang="zh-CN" sz="2800" b="1" i="1"/>
              <a:t>y</a:t>
            </a:r>
            <a:r>
              <a:rPr kumimoji="0" lang="en-US" altLang="zh-CN" sz="2800" b="1"/>
              <a:t>, </a:t>
            </a:r>
            <a:r>
              <a:rPr kumimoji="0" lang="en-US" altLang="zh-CN" sz="2800" b="1" i="1"/>
              <a:t>z, </a:t>
            </a:r>
            <a:r>
              <a:rPr kumimoji="0" lang="en-US" altLang="zh-CN" sz="2800" b="1">
                <a:latin typeface="Arial"/>
              </a:rPr>
              <a:t>…</a:t>
            </a:r>
            <a:r>
              <a:rPr kumimoji="0" lang="zh-CN" altLang="en-US" sz="2800" b="1"/>
              <a:t>或</a:t>
            </a:r>
            <a:r>
              <a:rPr kumimoji="0" lang="en-US" altLang="zh-CN" sz="2800" b="1" i="1"/>
              <a:t>x</a:t>
            </a:r>
            <a:r>
              <a:rPr kumimoji="0" lang="en-US" altLang="zh-CN" sz="2800" b="1" i="1" baseline="-25000"/>
              <a:t>i</a:t>
            </a:r>
            <a:r>
              <a:rPr kumimoji="0" lang="en-US" altLang="zh-CN" sz="2800" b="1"/>
              <a:t>, </a:t>
            </a:r>
            <a:r>
              <a:rPr kumimoji="0" lang="en-US" altLang="zh-CN" sz="2800" b="1" i="1"/>
              <a:t>y</a:t>
            </a:r>
            <a:r>
              <a:rPr kumimoji="0" lang="en-US" altLang="zh-CN" sz="2800" b="1" i="1" baseline="-25000"/>
              <a:t>i</a:t>
            </a:r>
            <a:r>
              <a:rPr kumimoji="0" lang="en-US" altLang="zh-CN" sz="2800" b="1"/>
              <a:t>, </a:t>
            </a:r>
            <a:r>
              <a:rPr kumimoji="0" lang="en-US" altLang="zh-CN" sz="2800" b="1" i="1"/>
              <a:t>z</a:t>
            </a:r>
            <a:r>
              <a:rPr kumimoji="0" lang="en-US" altLang="zh-CN" sz="2800" b="1" i="1" baseline="-25000"/>
              <a:t>i</a:t>
            </a:r>
            <a:r>
              <a:rPr kumimoji="0" lang="en-US" altLang="zh-CN" sz="2800" b="1" i="1"/>
              <a:t>,</a:t>
            </a:r>
            <a:r>
              <a:rPr kumimoji="0" lang="en-US" altLang="zh-CN" sz="2800" b="1">
                <a:latin typeface="Arial"/>
              </a:rPr>
              <a:t>…</a:t>
            </a:r>
            <a:r>
              <a:rPr kumimoji="0" lang="zh-CN" altLang="en-US" sz="2800" b="1"/>
              <a:t>表示。</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840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840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03" grpId="0"/>
      <p:bldP spid="35840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1BF72631-FADE-4C66-8DD1-489AF121E7FF}" type="slidenum">
              <a:rPr lang="en-US" altLang="zh-CN"/>
              <a:pPr/>
              <a:t>19</a:t>
            </a:fld>
            <a:endParaRPr lang="en-US" altLang="zh-CN"/>
          </a:p>
        </p:txBody>
      </p:sp>
      <p:sp>
        <p:nvSpPr>
          <p:cNvPr id="179205" name="Rectangle 5"/>
          <p:cNvSpPr>
            <a:spLocks noChangeArrowheads="1"/>
          </p:cNvSpPr>
          <p:nvPr/>
        </p:nvSpPr>
        <p:spPr bwMode="auto">
          <a:xfrm>
            <a:off x="719138" y="1484313"/>
            <a:ext cx="7916862" cy="11604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hlink"/>
                </a:solidFill>
              </a:rPr>
              <a:t>一元谓词：</a:t>
            </a:r>
            <a:r>
              <a:rPr lang="zh-CN" altLang="en-US" sz="2800" b="1"/>
              <a:t>表达了客体的“性质”；</a:t>
            </a:r>
          </a:p>
          <a:p>
            <a:pPr algn="l">
              <a:spcBef>
                <a:spcPct val="50000"/>
              </a:spcBef>
            </a:pPr>
            <a:r>
              <a:rPr lang="zh-CN" altLang="en-US" sz="2800" b="1">
                <a:solidFill>
                  <a:schemeClr val="hlink"/>
                </a:solidFill>
              </a:rPr>
              <a:t>多元谓词：</a:t>
            </a:r>
            <a:r>
              <a:rPr lang="zh-CN" altLang="en-US" sz="2800" b="1"/>
              <a:t>表达了客体之间的“关系”</a:t>
            </a:r>
          </a:p>
        </p:txBody>
      </p:sp>
      <p:sp>
        <p:nvSpPr>
          <p:cNvPr id="179207" name="Rectangle 7"/>
          <p:cNvSpPr>
            <a:spLocks noChangeArrowheads="1"/>
          </p:cNvSpPr>
          <p:nvPr/>
        </p:nvSpPr>
        <p:spPr bwMode="auto">
          <a:xfrm>
            <a:off x="1258888" y="647700"/>
            <a:ext cx="31686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200" b="1">
                <a:solidFill>
                  <a:schemeClr val="folHlink"/>
                </a:solidFill>
                <a:ea typeface="楷体_GB2312" pitchFamily="49" charset="-122"/>
              </a:rPr>
              <a:t>三、谓词种类</a:t>
            </a:r>
          </a:p>
        </p:txBody>
      </p:sp>
      <p:sp>
        <p:nvSpPr>
          <p:cNvPr id="179210" name="Rectangle 10"/>
          <p:cNvSpPr>
            <a:spLocks noChangeArrowheads="1"/>
          </p:cNvSpPr>
          <p:nvPr/>
        </p:nvSpPr>
        <p:spPr bwMode="auto">
          <a:xfrm>
            <a:off x="719138" y="2878138"/>
            <a:ext cx="7916862" cy="1801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hlink"/>
                </a:solidFill>
              </a:rPr>
              <a:t>例如：</a:t>
            </a:r>
            <a:r>
              <a:rPr lang="zh-CN" altLang="en-US" sz="2800" b="1"/>
              <a:t>张明是位大学生     </a:t>
            </a:r>
            <a:r>
              <a:rPr lang="en-US" altLang="zh-CN" sz="2800" b="1"/>
              <a:t>S(c)</a:t>
            </a:r>
          </a:p>
          <a:p>
            <a:pPr algn="l">
              <a:spcBef>
                <a:spcPct val="50000"/>
              </a:spcBef>
            </a:pPr>
            <a:r>
              <a:rPr lang="en-US" altLang="zh-CN" sz="2800" b="1"/>
              <a:t>            a</a:t>
            </a:r>
            <a:r>
              <a:rPr lang="zh-CN" altLang="en-US" sz="2800" b="1"/>
              <a:t>小于</a:t>
            </a:r>
            <a:r>
              <a:rPr lang="en-US" altLang="zh-CN" sz="2800" b="1"/>
              <a:t>b                     B(a, b)</a:t>
            </a:r>
          </a:p>
          <a:p>
            <a:pPr algn="l">
              <a:spcBef>
                <a:spcPct val="50000"/>
              </a:spcBef>
            </a:pPr>
            <a:r>
              <a:rPr lang="en-US" altLang="zh-CN" sz="2800" b="1"/>
              <a:t>            </a:t>
            </a:r>
            <a:r>
              <a:rPr lang="zh-CN" altLang="en-US" sz="2800" b="1"/>
              <a:t>点</a:t>
            </a:r>
            <a:r>
              <a:rPr lang="en-US" altLang="zh-CN" sz="2800" b="1"/>
              <a:t>a</a:t>
            </a:r>
            <a:r>
              <a:rPr lang="zh-CN" altLang="en-US" sz="2800" b="1"/>
              <a:t>在</a:t>
            </a:r>
            <a:r>
              <a:rPr lang="en-US" altLang="zh-CN" sz="2800" b="1"/>
              <a:t>b</a:t>
            </a:r>
            <a:r>
              <a:rPr lang="zh-CN" altLang="en-US" sz="2800" b="1"/>
              <a:t>和</a:t>
            </a:r>
            <a:r>
              <a:rPr lang="en-US" altLang="zh-CN" sz="2800" b="1"/>
              <a:t>c</a:t>
            </a:r>
            <a:r>
              <a:rPr lang="zh-CN" altLang="en-US" sz="2800" b="1"/>
              <a:t>之间       </a:t>
            </a:r>
            <a:r>
              <a:rPr lang="en-US" altLang="zh-CN" sz="2800" b="1"/>
              <a:t>L(a, b, c)</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92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2"/>
          <p:cNvSpPr>
            <a:spLocks noGrp="1"/>
          </p:cNvSpPr>
          <p:nvPr>
            <p:ph type="sldNum" sz="quarter" idx="11"/>
          </p:nvPr>
        </p:nvSpPr>
        <p:spPr/>
        <p:txBody>
          <a:bodyPr/>
          <a:lstStyle/>
          <a:p>
            <a:fld id="{A9AFFC51-7D50-4283-98F5-C895286F7E5D}" type="slidenum">
              <a:rPr lang="en-US" altLang="zh-CN"/>
              <a:pPr/>
              <a:t>20</a:t>
            </a:fld>
            <a:endParaRPr lang="en-US" altLang="zh-CN"/>
          </a:p>
        </p:txBody>
      </p:sp>
      <p:sp>
        <p:nvSpPr>
          <p:cNvPr id="199684" name="Rectangle 4"/>
          <p:cNvSpPr>
            <a:spLocks noChangeArrowheads="1"/>
          </p:cNvSpPr>
          <p:nvPr/>
        </p:nvSpPr>
        <p:spPr bwMode="auto">
          <a:xfrm>
            <a:off x="769938" y="3097213"/>
            <a:ext cx="77057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30000"/>
              </a:spcBef>
            </a:pPr>
            <a:r>
              <a:rPr lang="zh-CN" altLang="en-US" sz="2800" b="1">
                <a:solidFill>
                  <a:schemeClr val="hlink"/>
                </a:solidFill>
              </a:rPr>
              <a:t>谓词填式：</a:t>
            </a:r>
            <a:r>
              <a:rPr lang="zh-CN" altLang="en-US" sz="2800" b="1"/>
              <a:t>把谓词字母后填以客体所得的式子。</a:t>
            </a:r>
            <a:endParaRPr kumimoji="0" lang="zh-CN" altLang="en-US" sz="2800" b="1"/>
          </a:p>
        </p:txBody>
      </p:sp>
      <p:sp>
        <p:nvSpPr>
          <p:cNvPr id="199686" name="Rectangle 6"/>
          <p:cNvSpPr>
            <a:spLocks noChangeArrowheads="1"/>
          </p:cNvSpPr>
          <p:nvPr/>
        </p:nvSpPr>
        <p:spPr bwMode="auto">
          <a:xfrm>
            <a:off x="827088" y="4481513"/>
            <a:ext cx="7632700"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olidFill>
                  <a:schemeClr val="hlink"/>
                </a:solidFill>
              </a:rPr>
              <a:t>命题：</a:t>
            </a:r>
            <a:r>
              <a:rPr lang="zh-CN" altLang="en-US" sz="2800" b="1"/>
              <a:t>若</a:t>
            </a:r>
            <a:r>
              <a:rPr lang="en-US" altLang="zh-CN" sz="2800" b="1"/>
              <a:t>A</a:t>
            </a:r>
            <a:r>
              <a:rPr lang="zh-CN" altLang="en-US" sz="2800" b="1"/>
              <a:t>为</a:t>
            </a:r>
            <a:r>
              <a:rPr lang="en-US" altLang="zh-CN" sz="2800" b="1"/>
              <a:t>n</a:t>
            </a:r>
            <a:r>
              <a:rPr lang="zh-CN" altLang="en-US" sz="2800" b="1"/>
              <a:t>元谓词，</a:t>
            </a:r>
            <a:r>
              <a:rPr lang="en-US" altLang="zh-CN" sz="2800" b="1"/>
              <a:t>a</a:t>
            </a:r>
            <a:r>
              <a:rPr lang="en-US" altLang="zh-CN" sz="2800" b="1" baseline="-25000"/>
              <a:t>1</a:t>
            </a:r>
            <a:r>
              <a:rPr lang="en-US" altLang="zh-CN" sz="2800" b="1"/>
              <a:t>, a</a:t>
            </a:r>
            <a:r>
              <a:rPr lang="en-US" altLang="zh-CN" sz="2800" b="1" baseline="-25000"/>
              <a:t>2</a:t>
            </a:r>
            <a:r>
              <a:rPr lang="en-US" altLang="zh-CN" sz="2800" b="1"/>
              <a:t>, …, a</a:t>
            </a:r>
            <a:r>
              <a:rPr lang="en-US" altLang="zh-CN" sz="2800" b="1" baseline="-25000"/>
              <a:t>n</a:t>
            </a:r>
            <a:r>
              <a:rPr lang="zh-CN" altLang="en-US" sz="2800" b="1"/>
              <a:t>是客体的名称，则</a:t>
            </a:r>
            <a:r>
              <a:rPr lang="en-US" altLang="zh-CN" sz="2800" b="1"/>
              <a:t>A(a</a:t>
            </a:r>
            <a:r>
              <a:rPr lang="en-US" altLang="zh-CN" sz="2800" b="1" baseline="-25000"/>
              <a:t>1</a:t>
            </a:r>
            <a:r>
              <a:rPr lang="en-US" altLang="zh-CN" sz="2800" b="1"/>
              <a:t>, a</a:t>
            </a:r>
            <a:r>
              <a:rPr lang="en-US" altLang="zh-CN" sz="2800" b="1" baseline="-25000"/>
              <a:t>2</a:t>
            </a:r>
            <a:r>
              <a:rPr lang="en-US" altLang="zh-CN" sz="2800" b="1"/>
              <a:t>, …, a</a:t>
            </a:r>
            <a:r>
              <a:rPr lang="en-US" altLang="zh-CN" sz="2800" b="1" baseline="-25000"/>
              <a:t>n</a:t>
            </a:r>
            <a:r>
              <a:rPr lang="en-US" altLang="zh-CN" sz="2800" b="1"/>
              <a:t>)</a:t>
            </a:r>
            <a:r>
              <a:rPr lang="zh-CN" altLang="en-US" sz="2800" b="1"/>
              <a:t>就可成为一个命题。</a:t>
            </a:r>
          </a:p>
        </p:txBody>
      </p:sp>
      <p:sp>
        <p:nvSpPr>
          <p:cNvPr id="199688" name="Rectangle 8"/>
          <p:cNvSpPr>
            <a:spLocks noChangeArrowheads="1"/>
          </p:cNvSpPr>
          <p:nvPr/>
        </p:nvSpPr>
        <p:spPr bwMode="auto">
          <a:xfrm>
            <a:off x="827088" y="1311275"/>
            <a:ext cx="7561262" cy="604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olidFill>
                  <a:schemeClr val="hlink"/>
                </a:solidFill>
              </a:rPr>
              <a:t>注意</a:t>
            </a:r>
            <a:r>
              <a:rPr lang="zh-CN" altLang="en-US" sz="2800" b="1">
                <a:solidFill>
                  <a:schemeClr val="hlink"/>
                </a:solidFill>
                <a:sym typeface="Wingdings" pitchFamily="2" charset="2"/>
              </a:rPr>
              <a:t>：</a:t>
            </a:r>
            <a:r>
              <a:rPr lang="en-US" altLang="zh-CN" sz="2800" b="1">
                <a:sym typeface="Wingdings" pitchFamily="2" charset="2"/>
              </a:rPr>
              <a:t>(1)</a:t>
            </a:r>
            <a:r>
              <a:rPr lang="zh-CN" altLang="en-US" sz="2800" b="1"/>
              <a:t>单个谓词不是命题。            </a:t>
            </a:r>
            <a:endParaRPr lang="zh-CN" altLang="en-US" sz="2800" b="1">
              <a:sym typeface="Wingdings" pitchFamily="2" charset="2"/>
            </a:endParaRPr>
          </a:p>
        </p:txBody>
      </p:sp>
      <p:sp>
        <p:nvSpPr>
          <p:cNvPr id="199690" name="Rectangle 10"/>
          <p:cNvSpPr>
            <a:spLocks noChangeArrowheads="1"/>
          </p:cNvSpPr>
          <p:nvPr/>
        </p:nvSpPr>
        <p:spPr bwMode="auto">
          <a:xfrm>
            <a:off x="755650" y="3775075"/>
            <a:ext cx="403225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t>谓词填式是一个命题。</a:t>
            </a:r>
          </a:p>
        </p:txBody>
      </p:sp>
      <p:sp>
        <p:nvSpPr>
          <p:cNvPr id="199692" name="Rectangle 12"/>
          <p:cNvSpPr>
            <a:spLocks noChangeArrowheads="1"/>
          </p:cNvSpPr>
          <p:nvPr/>
        </p:nvSpPr>
        <p:spPr bwMode="auto">
          <a:xfrm>
            <a:off x="1863725" y="1901825"/>
            <a:ext cx="6380163" cy="1117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en-US" altLang="zh-CN" sz="2800" b="1">
                <a:sym typeface="Wingdings" pitchFamily="2" charset="2"/>
              </a:rPr>
              <a:t>(2)</a:t>
            </a:r>
            <a:r>
              <a:rPr lang="zh-CN" altLang="en-US" sz="2800" b="1">
                <a:sym typeface="Wingdings" pitchFamily="2" charset="2"/>
              </a:rPr>
              <a:t>代表客体名称的字母在多元谓词表示</a:t>
            </a:r>
          </a:p>
          <a:p>
            <a:pPr algn="l">
              <a:lnSpc>
                <a:spcPct val="120000"/>
              </a:lnSpc>
            </a:pPr>
            <a:r>
              <a:rPr lang="zh-CN" altLang="en-US" sz="2800" b="1">
                <a:sym typeface="Wingdings" pitchFamily="2" charset="2"/>
              </a:rPr>
              <a:t>式中出现的次序与事先约定有关。</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969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968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969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9968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684" grpId="0"/>
      <p:bldP spid="199686" grpId="0"/>
      <p:bldP spid="199690" grpId="0"/>
      <p:bldP spid="19969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C72B7CDF-1AAA-42D1-9947-FED580D94CB8}" type="slidenum">
              <a:rPr lang="en-US" altLang="zh-CN"/>
              <a:pPr/>
              <a:t>21</a:t>
            </a:fld>
            <a:endParaRPr lang="en-US" altLang="zh-CN"/>
          </a:p>
        </p:txBody>
      </p:sp>
      <p:sp>
        <p:nvSpPr>
          <p:cNvPr id="124930" name="Rectangle 2"/>
          <p:cNvSpPr>
            <a:spLocks noGrp="1" noChangeArrowheads="1"/>
          </p:cNvSpPr>
          <p:nvPr>
            <p:ph type="title"/>
          </p:nvPr>
        </p:nvSpPr>
        <p:spPr>
          <a:xfrm>
            <a:off x="1258888" y="606425"/>
            <a:ext cx="4789487" cy="641350"/>
          </a:xfrm>
          <a:noFill/>
        </p:spPr>
        <p:txBody>
          <a:bodyPr/>
          <a:lstStyle/>
          <a:p>
            <a:r>
              <a:rPr lang="en-US" altLang="zh-CN" sz="3600" b="1">
                <a:solidFill>
                  <a:schemeClr val="tx1"/>
                </a:solidFill>
                <a:latin typeface="华文行楷" pitchFamily="2" charset="-122"/>
                <a:ea typeface="华文行楷" pitchFamily="2" charset="-122"/>
              </a:rPr>
              <a:t>2.2  </a:t>
            </a:r>
            <a:r>
              <a:rPr lang="zh-CN" altLang="en-US" sz="3600" b="1">
                <a:solidFill>
                  <a:schemeClr val="tx1"/>
                </a:solidFill>
                <a:latin typeface="华文行楷" pitchFamily="2" charset="-122"/>
                <a:ea typeface="华文行楷" pitchFamily="2" charset="-122"/>
              </a:rPr>
              <a:t>命题函数与量词</a:t>
            </a:r>
          </a:p>
        </p:txBody>
      </p:sp>
      <p:sp>
        <p:nvSpPr>
          <p:cNvPr id="124932" name="Rectangle 4"/>
          <p:cNvSpPr>
            <a:spLocks noGrp="1" noChangeArrowheads="1"/>
          </p:cNvSpPr>
          <p:nvPr>
            <p:ph type="body" idx="1"/>
          </p:nvPr>
        </p:nvSpPr>
        <p:spPr>
          <a:xfrm>
            <a:off x="827088" y="1628775"/>
            <a:ext cx="5616575" cy="1844675"/>
          </a:xfrm>
          <a:noFill/>
        </p:spPr>
        <p:txBody>
          <a:bodyPr/>
          <a:lstStyle/>
          <a:p>
            <a:pPr>
              <a:lnSpc>
                <a:spcPct val="120000"/>
              </a:lnSpc>
              <a:spcBef>
                <a:spcPct val="0"/>
              </a:spcBef>
            </a:pPr>
            <a:r>
              <a:rPr lang="zh-CN" altLang="en-US" sz="3200">
                <a:solidFill>
                  <a:schemeClr val="folHlink"/>
                </a:solidFill>
                <a:ea typeface="楷体_GB2312" pitchFamily="49" charset="-122"/>
              </a:rPr>
              <a:t>一、命题与谓词的关系</a:t>
            </a:r>
          </a:p>
          <a:p>
            <a:pPr>
              <a:lnSpc>
                <a:spcPct val="120000"/>
              </a:lnSpc>
              <a:spcBef>
                <a:spcPct val="0"/>
              </a:spcBef>
            </a:pPr>
            <a:r>
              <a:rPr lang="zh-CN" altLang="en-US" sz="3200">
                <a:solidFill>
                  <a:schemeClr val="folHlink"/>
                </a:solidFill>
                <a:ea typeface="楷体_GB2312" pitchFamily="49" charset="-122"/>
              </a:rPr>
              <a:t>二、命题函数定义</a:t>
            </a:r>
          </a:p>
          <a:p>
            <a:pPr>
              <a:lnSpc>
                <a:spcPct val="120000"/>
              </a:lnSpc>
              <a:spcBef>
                <a:spcPct val="0"/>
              </a:spcBef>
            </a:pPr>
            <a:r>
              <a:rPr lang="zh-CN" altLang="en-US" sz="3200">
                <a:solidFill>
                  <a:schemeClr val="folHlink"/>
                </a:solidFill>
                <a:ea typeface="楷体_GB2312" pitchFamily="49" charset="-122"/>
              </a:rPr>
              <a:t>三、量词</a:t>
            </a:r>
          </a:p>
        </p:txBody>
      </p:sp>
    </p:spTree>
  </p:cSld>
  <p:clrMapOvr>
    <a:masterClrMapping/>
  </p:clrMapOvr>
  <p:transition spd="slow">
    <p:pull dir="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F7EC1FAC-1B47-4314-BEB6-4F227BB0F153}" type="slidenum">
              <a:rPr lang="en-US" altLang="zh-CN"/>
              <a:pPr/>
              <a:t>22</a:t>
            </a:fld>
            <a:endParaRPr lang="en-US" altLang="zh-CN"/>
          </a:p>
        </p:txBody>
      </p:sp>
      <p:sp>
        <p:nvSpPr>
          <p:cNvPr id="196612" name="Rectangle 4"/>
          <p:cNvSpPr>
            <a:spLocks noChangeArrowheads="1"/>
          </p:cNvSpPr>
          <p:nvPr/>
        </p:nvSpPr>
        <p:spPr bwMode="auto">
          <a:xfrm>
            <a:off x="1258888" y="647700"/>
            <a:ext cx="5113337"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zh-CN" altLang="en-US" sz="3200" b="1">
                <a:solidFill>
                  <a:schemeClr val="folHlink"/>
                </a:solidFill>
                <a:ea typeface="楷体_GB2312" pitchFamily="49" charset="-122"/>
              </a:rPr>
              <a:t>一、命题与谓词的关系</a:t>
            </a:r>
          </a:p>
        </p:txBody>
      </p:sp>
      <p:sp>
        <p:nvSpPr>
          <p:cNvPr id="196614" name="Rectangle 6"/>
          <p:cNvSpPr>
            <a:spLocks noChangeArrowheads="1"/>
          </p:cNvSpPr>
          <p:nvPr/>
        </p:nvSpPr>
        <p:spPr bwMode="auto">
          <a:xfrm>
            <a:off x="1116013" y="1268413"/>
            <a:ext cx="7197725" cy="1760537"/>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cap="sq">
                <a:solidFill>
                  <a:srgbClr val="FF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buFontTx/>
              <a:buChar char="•"/>
            </a:pPr>
            <a:r>
              <a:rPr kumimoji="0" lang="en-US" altLang="zh-CN" sz="2800" b="1"/>
              <a:t>L(x)</a:t>
            </a:r>
          </a:p>
          <a:p>
            <a:pPr algn="l">
              <a:lnSpc>
                <a:spcPct val="130000"/>
              </a:lnSpc>
            </a:pPr>
            <a:r>
              <a:rPr kumimoji="0" lang="en-US" altLang="zh-CN" sz="2800" b="1"/>
              <a:t>    L(x) </a:t>
            </a:r>
            <a:r>
              <a:rPr kumimoji="0" lang="zh-CN" altLang="en-US" sz="2800" b="1"/>
              <a:t>：“</a:t>
            </a:r>
            <a:r>
              <a:rPr kumimoji="0" lang="en-US" altLang="zh-CN" sz="2800" b="1"/>
              <a:t>x</a:t>
            </a:r>
            <a:r>
              <a:rPr kumimoji="0" lang="zh-CN" altLang="en-US" sz="2800" b="1"/>
              <a:t>是学生”， </a:t>
            </a:r>
            <a:r>
              <a:rPr kumimoji="0" lang="en-US" altLang="zh-CN" sz="2800" b="1"/>
              <a:t>a</a:t>
            </a:r>
            <a:r>
              <a:rPr kumimoji="0" lang="zh-CN" altLang="en-US" sz="2800" b="1"/>
              <a:t>：张三，</a:t>
            </a:r>
            <a:r>
              <a:rPr kumimoji="0" lang="en-US" altLang="zh-CN" sz="2800" b="1"/>
              <a:t>b</a:t>
            </a:r>
            <a:r>
              <a:rPr kumimoji="0" lang="zh-CN" altLang="en-US" sz="2800" b="1"/>
              <a:t>：李四；</a:t>
            </a:r>
          </a:p>
          <a:p>
            <a:pPr algn="l">
              <a:lnSpc>
                <a:spcPct val="130000"/>
              </a:lnSpc>
            </a:pPr>
            <a:r>
              <a:rPr kumimoji="0" lang="zh-CN" altLang="en-US" sz="2800" b="1"/>
              <a:t>    </a:t>
            </a:r>
            <a:r>
              <a:rPr kumimoji="0" lang="en-US" altLang="zh-CN" sz="2800" b="1"/>
              <a:t>L(a)</a:t>
            </a:r>
            <a:r>
              <a:rPr kumimoji="0" lang="zh-CN" altLang="en-US" sz="2800" b="1"/>
              <a:t>，</a:t>
            </a:r>
            <a:r>
              <a:rPr kumimoji="0" lang="en-US" altLang="zh-CN" sz="2800" b="1"/>
              <a:t>L(b) </a:t>
            </a:r>
            <a:r>
              <a:rPr kumimoji="0" lang="zh-CN" altLang="en-US" sz="2800" b="1"/>
              <a:t>分别表示不同的命题。</a:t>
            </a:r>
          </a:p>
        </p:txBody>
      </p:sp>
      <p:sp>
        <p:nvSpPr>
          <p:cNvPr id="196616" name="Rectangle 8"/>
          <p:cNvSpPr>
            <a:spLocks noChangeArrowheads="1"/>
          </p:cNvSpPr>
          <p:nvPr/>
        </p:nvSpPr>
        <p:spPr bwMode="auto">
          <a:xfrm>
            <a:off x="1116013" y="3024188"/>
            <a:ext cx="7197725"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buFontTx/>
              <a:buChar char="•"/>
            </a:pPr>
            <a:r>
              <a:rPr kumimoji="0" lang="en-US" altLang="zh-CN" sz="2800" b="1">
                <a:solidFill>
                  <a:srgbClr val="000000"/>
                </a:solidFill>
              </a:rPr>
              <a:t>L(x, y)</a:t>
            </a:r>
          </a:p>
          <a:p>
            <a:pPr algn="l">
              <a:lnSpc>
                <a:spcPct val="130000"/>
              </a:lnSpc>
            </a:pPr>
            <a:r>
              <a:rPr kumimoji="0" lang="en-US" altLang="zh-CN" sz="2800" b="1">
                <a:solidFill>
                  <a:srgbClr val="000000"/>
                </a:solidFill>
              </a:rPr>
              <a:t>    L(x, y)</a:t>
            </a:r>
            <a:r>
              <a:rPr kumimoji="0" lang="zh-CN" altLang="en-US" sz="2800" b="1">
                <a:solidFill>
                  <a:srgbClr val="000000"/>
                </a:solidFill>
              </a:rPr>
              <a:t>表示“</a:t>
            </a:r>
            <a:r>
              <a:rPr kumimoji="0" lang="en-US" altLang="zh-CN" sz="2800" b="1">
                <a:solidFill>
                  <a:srgbClr val="000000"/>
                </a:solidFill>
              </a:rPr>
              <a:t>x</a:t>
            </a:r>
            <a:r>
              <a:rPr kumimoji="0" lang="zh-CN" altLang="en-US" sz="2800" b="1">
                <a:solidFill>
                  <a:srgbClr val="000000"/>
                </a:solidFill>
              </a:rPr>
              <a:t>比</a:t>
            </a:r>
            <a:r>
              <a:rPr kumimoji="0" lang="en-US" altLang="zh-CN" sz="2800" b="1">
                <a:solidFill>
                  <a:srgbClr val="000000"/>
                </a:solidFill>
              </a:rPr>
              <a:t>y</a:t>
            </a:r>
            <a:r>
              <a:rPr kumimoji="0" lang="zh-CN" altLang="en-US" sz="2800" b="1">
                <a:solidFill>
                  <a:srgbClr val="000000"/>
                </a:solidFill>
              </a:rPr>
              <a:t>跑得快”</a:t>
            </a:r>
            <a:r>
              <a:rPr kumimoji="0" lang="en-US" altLang="zh-CN" sz="2800" b="1">
                <a:solidFill>
                  <a:srgbClr val="000000"/>
                </a:solidFill>
              </a:rPr>
              <a:t>, </a:t>
            </a:r>
          </a:p>
          <a:p>
            <a:pPr algn="l">
              <a:lnSpc>
                <a:spcPct val="130000"/>
              </a:lnSpc>
            </a:pPr>
            <a:r>
              <a:rPr kumimoji="0" lang="en-US" altLang="zh-CN" sz="2800" b="1">
                <a:solidFill>
                  <a:srgbClr val="000000"/>
                </a:solidFill>
              </a:rPr>
              <a:t>    a</a:t>
            </a:r>
            <a:r>
              <a:rPr kumimoji="0" lang="zh-CN" altLang="en-US" sz="2800" b="1">
                <a:solidFill>
                  <a:srgbClr val="000000"/>
                </a:solidFill>
              </a:rPr>
              <a:t>：兔子，</a:t>
            </a:r>
            <a:r>
              <a:rPr kumimoji="0" lang="en-US" altLang="zh-CN" sz="2800" b="1">
                <a:solidFill>
                  <a:srgbClr val="000000"/>
                </a:solidFill>
              </a:rPr>
              <a:t>b</a:t>
            </a:r>
            <a:r>
              <a:rPr kumimoji="0" lang="zh-CN" altLang="en-US" sz="2800" b="1">
                <a:solidFill>
                  <a:srgbClr val="000000"/>
                </a:solidFill>
              </a:rPr>
              <a:t>：乌龟；</a:t>
            </a:r>
            <a:r>
              <a:rPr kumimoji="0" lang="en-US" altLang="zh-CN" sz="2800" b="1">
                <a:solidFill>
                  <a:srgbClr val="000000"/>
                </a:solidFill>
              </a:rPr>
              <a:t>c</a:t>
            </a:r>
            <a:r>
              <a:rPr kumimoji="0" lang="zh-CN" altLang="en-US" sz="2800" b="1">
                <a:solidFill>
                  <a:srgbClr val="000000"/>
                </a:solidFill>
              </a:rPr>
              <a:t>：老虎，</a:t>
            </a:r>
            <a:r>
              <a:rPr kumimoji="0" lang="en-US" altLang="zh-CN" sz="2800" b="1">
                <a:solidFill>
                  <a:srgbClr val="000000"/>
                </a:solidFill>
              </a:rPr>
              <a:t>d</a:t>
            </a:r>
            <a:r>
              <a:rPr kumimoji="0" lang="zh-CN" altLang="en-US" sz="2800" b="1">
                <a:solidFill>
                  <a:srgbClr val="000000"/>
                </a:solidFill>
              </a:rPr>
              <a:t>：羊；</a:t>
            </a:r>
          </a:p>
          <a:p>
            <a:pPr algn="l">
              <a:lnSpc>
                <a:spcPct val="130000"/>
              </a:lnSpc>
            </a:pPr>
            <a:r>
              <a:rPr kumimoji="0" lang="zh-CN" altLang="en-US" sz="2800" b="1">
                <a:solidFill>
                  <a:srgbClr val="000000"/>
                </a:solidFill>
              </a:rPr>
              <a:t>    </a:t>
            </a:r>
            <a:r>
              <a:rPr kumimoji="0" lang="en-US" altLang="zh-CN" sz="2800" b="1">
                <a:solidFill>
                  <a:srgbClr val="000000"/>
                </a:solidFill>
              </a:rPr>
              <a:t>L(a, b)</a:t>
            </a:r>
            <a:r>
              <a:rPr kumimoji="0" lang="zh-CN" altLang="en-US" sz="2800" b="1">
                <a:solidFill>
                  <a:srgbClr val="000000"/>
                </a:solidFill>
              </a:rPr>
              <a:t>，</a:t>
            </a:r>
            <a:r>
              <a:rPr kumimoji="0" lang="en-US" altLang="zh-CN" sz="2800" b="1">
                <a:solidFill>
                  <a:srgbClr val="000000"/>
                </a:solidFill>
              </a:rPr>
              <a:t>L(c, d)</a:t>
            </a:r>
            <a:r>
              <a:rPr kumimoji="0" lang="zh-CN" altLang="en-US" sz="2800" b="1">
                <a:solidFill>
                  <a:srgbClr val="000000"/>
                </a:solidFill>
              </a:rPr>
              <a:t>分别表示不同的命题。</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66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F12457E6-6944-42B8-BC9B-667C74EE3414}" type="slidenum">
              <a:rPr lang="en-US" altLang="zh-CN"/>
              <a:pPr/>
              <a:t>23</a:t>
            </a:fld>
            <a:endParaRPr lang="en-US" altLang="zh-CN"/>
          </a:p>
        </p:txBody>
      </p:sp>
      <p:sp>
        <p:nvSpPr>
          <p:cNvPr id="202757" name="Rectangle 5"/>
          <p:cNvSpPr>
            <a:spLocks noChangeArrowheads="1"/>
          </p:cNvSpPr>
          <p:nvPr/>
        </p:nvSpPr>
        <p:spPr bwMode="auto">
          <a:xfrm>
            <a:off x="971550" y="2420938"/>
            <a:ext cx="71723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hlink"/>
                </a:solidFill>
              </a:rPr>
              <a:t>谓词</a:t>
            </a:r>
            <a:r>
              <a:rPr lang="zh-CN" altLang="en-US" sz="2800" b="1"/>
              <a:t>如：</a:t>
            </a:r>
            <a:r>
              <a:rPr lang="en-US" altLang="zh-CN" sz="2800" b="1"/>
              <a:t>L (x, y)   </a:t>
            </a:r>
            <a:r>
              <a:rPr lang="zh-CN" altLang="en-US" sz="2800" b="1" u="sng"/>
              <a:t>特定的客体取代变元</a:t>
            </a:r>
            <a:endParaRPr lang="zh-CN" altLang="en-US" sz="2800" b="1"/>
          </a:p>
          <a:p>
            <a:pPr algn="l"/>
            <a:r>
              <a:rPr lang="zh-CN" altLang="en-US" sz="2800" b="1"/>
              <a:t>                </a:t>
            </a:r>
            <a:r>
              <a:rPr lang="en-US" altLang="zh-CN" sz="2800" b="1"/>
              <a:t>L (a, b)                  </a:t>
            </a:r>
            <a:r>
              <a:rPr lang="zh-CN" altLang="en-US" sz="2800" b="1">
                <a:solidFill>
                  <a:schemeClr val="hlink"/>
                </a:solidFill>
              </a:rPr>
              <a:t>命题</a:t>
            </a:r>
          </a:p>
        </p:txBody>
      </p:sp>
      <p:sp>
        <p:nvSpPr>
          <p:cNvPr id="202758" name="Rectangle 6"/>
          <p:cNvSpPr>
            <a:spLocks noChangeArrowheads="1"/>
          </p:cNvSpPr>
          <p:nvPr/>
        </p:nvSpPr>
        <p:spPr bwMode="auto">
          <a:xfrm>
            <a:off x="971550" y="1412875"/>
            <a:ext cx="6121400"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a:solidFill>
                  <a:schemeClr val="hlink"/>
                </a:solidFill>
              </a:rPr>
              <a:t>注意：</a:t>
            </a:r>
            <a:r>
              <a:rPr kumimoji="0" lang="en-US" altLang="zh-CN" sz="2800" b="1">
                <a:solidFill>
                  <a:srgbClr val="000000"/>
                </a:solidFill>
              </a:rPr>
              <a:t>L(x)</a:t>
            </a:r>
            <a:r>
              <a:rPr kumimoji="0" lang="zh-CN" altLang="en-US" sz="2800" b="1">
                <a:solidFill>
                  <a:srgbClr val="000000"/>
                </a:solidFill>
              </a:rPr>
              <a:t>， </a:t>
            </a:r>
            <a:r>
              <a:rPr kumimoji="0" lang="en-US" altLang="zh-CN" sz="2800" b="1">
                <a:solidFill>
                  <a:srgbClr val="000000"/>
                </a:solidFill>
              </a:rPr>
              <a:t>L(x, y) </a:t>
            </a:r>
            <a:r>
              <a:rPr kumimoji="0" lang="zh-CN" altLang="en-US" sz="2800" b="1" u="sng">
                <a:solidFill>
                  <a:schemeClr val="hlink"/>
                </a:solidFill>
              </a:rPr>
              <a:t>本身不是命题</a:t>
            </a:r>
            <a:r>
              <a:rPr kumimoji="0" lang="zh-CN" altLang="en-US" sz="2800" b="1"/>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2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2757"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2"/>
          <p:cNvSpPr>
            <a:spLocks noGrp="1"/>
          </p:cNvSpPr>
          <p:nvPr>
            <p:ph type="sldNum" sz="quarter" idx="11"/>
          </p:nvPr>
        </p:nvSpPr>
        <p:spPr/>
        <p:txBody>
          <a:bodyPr/>
          <a:lstStyle/>
          <a:p>
            <a:fld id="{49B59630-6D80-4A17-95A2-4AFE05C06889}" type="slidenum">
              <a:rPr lang="en-US" altLang="zh-CN"/>
              <a:pPr/>
              <a:t>24</a:t>
            </a:fld>
            <a:endParaRPr lang="en-US" altLang="zh-CN"/>
          </a:p>
        </p:txBody>
      </p:sp>
      <p:sp>
        <p:nvSpPr>
          <p:cNvPr id="203781" name="Rectangle 5"/>
          <p:cNvSpPr>
            <a:spLocks noChangeArrowheads="1"/>
          </p:cNvSpPr>
          <p:nvPr/>
        </p:nvSpPr>
        <p:spPr bwMode="auto">
          <a:xfrm>
            <a:off x="1258888" y="647700"/>
            <a:ext cx="3960812"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zh-CN" altLang="en-US" sz="3200" b="1">
                <a:solidFill>
                  <a:schemeClr val="folHlink"/>
                </a:solidFill>
                <a:ea typeface="楷体_GB2312" pitchFamily="49" charset="-122"/>
              </a:rPr>
              <a:t>二、命题函数定义</a:t>
            </a:r>
          </a:p>
        </p:txBody>
      </p:sp>
      <p:sp>
        <p:nvSpPr>
          <p:cNvPr id="203783" name="Rectangle 7"/>
          <p:cNvSpPr>
            <a:spLocks noChangeArrowheads="1"/>
          </p:cNvSpPr>
          <p:nvPr/>
        </p:nvSpPr>
        <p:spPr bwMode="auto">
          <a:xfrm>
            <a:off x="719138" y="1196975"/>
            <a:ext cx="7632700"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en-US" altLang="zh-CN" sz="2800" b="1">
                <a:solidFill>
                  <a:schemeClr val="hlink"/>
                </a:solidFill>
              </a:rPr>
              <a:t>        </a:t>
            </a:r>
            <a:r>
              <a:rPr lang="zh-CN" altLang="en-US" sz="2800" b="1">
                <a:solidFill>
                  <a:schemeClr val="hlink"/>
                </a:solidFill>
              </a:rPr>
              <a:t>定义</a:t>
            </a:r>
            <a:r>
              <a:rPr lang="en-US" altLang="zh-CN" sz="2800" b="1">
                <a:solidFill>
                  <a:schemeClr val="hlink"/>
                </a:solidFill>
              </a:rPr>
              <a:t>2-2.1</a:t>
            </a:r>
            <a:r>
              <a:rPr lang="zh-CN" altLang="en-US" sz="2800" b="1">
                <a:solidFill>
                  <a:schemeClr val="hlink"/>
                </a:solidFill>
              </a:rPr>
              <a:t>：</a:t>
            </a:r>
            <a:r>
              <a:rPr lang="zh-CN" altLang="en-US" sz="2800" b="1"/>
              <a:t>由一个谓词和</a:t>
            </a:r>
            <a:r>
              <a:rPr lang="en-US" altLang="zh-CN" sz="2800" b="1"/>
              <a:t>n</a:t>
            </a:r>
            <a:r>
              <a:rPr lang="zh-CN" altLang="en-US" sz="2800" b="1"/>
              <a:t>个客体变元组成的</a:t>
            </a:r>
            <a:r>
              <a:rPr lang="en-US" altLang="zh-CN" sz="2800" b="1"/>
              <a:t>P(x</a:t>
            </a:r>
            <a:r>
              <a:rPr lang="en-US" altLang="zh-CN" sz="2800" b="1" baseline="-25000"/>
              <a:t>1</a:t>
            </a:r>
            <a:r>
              <a:rPr lang="en-US" altLang="zh-CN" sz="2800" b="1"/>
              <a:t>, x</a:t>
            </a:r>
            <a:r>
              <a:rPr lang="en-US" altLang="zh-CN" sz="2800" b="1" baseline="-25000"/>
              <a:t>2</a:t>
            </a:r>
            <a:r>
              <a:rPr lang="en-US" altLang="zh-CN" sz="2800" b="1"/>
              <a:t>, …, x</a:t>
            </a:r>
            <a:r>
              <a:rPr lang="en-US" altLang="zh-CN" sz="2800" b="1" baseline="-25000"/>
              <a:t>n</a:t>
            </a:r>
            <a:r>
              <a:rPr lang="en-US" altLang="zh-CN" sz="2800" b="1"/>
              <a:t>)</a:t>
            </a:r>
            <a:r>
              <a:rPr lang="zh-CN" altLang="en-US" sz="2800" b="1"/>
              <a:t>称为</a:t>
            </a:r>
            <a:r>
              <a:rPr lang="zh-CN" altLang="en-US" sz="2800" b="1" u="sng">
                <a:solidFill>
                  <a:schemeClr val="hlink"/>
                </a:solidFill>
              </a:rPr>
              <a:t>简单命题函数</a:t>
            </a:r>
            <a:r>
              <a:rPr lang="zh-CN" altLang="en-US" sz="2800" b="1"/>
              <a:t>或命题的谓词形式。</a:t>
            </a:r>
          </a:p>
        </p:txBody>
      </p:sp>
      <p:sp>
        <p:nvSpPr>
          <p:cNvPr id="203785" name="Rectangle 9"/>
          <p:cNvSpPr>
            <a:spLocks noChangeArrowheads="1"/>
          </p:cNvSpPr>
          <p:nvPr/>
        </p:nvSpPr>
        <p:spPr bwMode="auto">
          <a:xfrm>
            <a:off x="719138" y="4941888"/>
            <a:ext cx="78851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t>由几个简单命题函数以及</a:t>
            </a:r>
            <a:r>
              <a:rPr lang="zh-CN" altLang="en-US" sz="2800" b="1">
                <a:solidFill>
                  <a:schemeClr val="hlink"/>
                </a:solidFill>
              </a:rPr>
              <a:t>逻辑联接词</a:t>
            </a:r>
            <a:r>
              <a:rPr lang="zh-CN" altLang="en-US" sz="2800" b="1"/>
              <a:t>组合而成的表达式为</a:t>
            </a:r>
            <a:r>
              <a:rPr lang="zh-CN" altLang="en-US" sz="2800" b="1" u="sng">
                <a:solidFill>
                  <a:schemeClr val="hlink"/>
                </a:solidFill>
              </a:rPr>
              <a:t>复合命题函数</a:t>
            </a:r>
            <a:r>
              <a:rPr lang="zh-CN" altLang="en-US" sz="2800" b="1"/>
              <a:t>。</a:t>
            </a:r>
          </a:p>
        </p:txBody>
      </p:sp>
      <p:sp>
        <p:nvSpPr>
          <p:cNvPr id="203787" name="Rectangle 11"/>
          <p:cNvSpPr>
            <a:spLocks noChangeArrowheads="1"/>
          </p:cNvSpPr>
          <p:nvPr/>
        </p:nvSpPr>
        <p:spPr bwMode="auto">
          <a:xfrm>
            <a:off x="719138" y="2909888"/>
            <a:ext cx="723741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zh-CN" sz="2800" b="1"/>
              <a:t>n</a:t>
            </a:r>
            <a:r>
              <a:rPr lang="zh-CN" altLang="en-US" sz="2800" b="1"/>
              <a:t>元谓词就是有</a:t>
            </a:r>
            <a:r>
              <a:rPr lang="en-US" altLang="zh-CN" sz="2800" b="1"/>
              <a:t>n</a:t>
            </a:r>
            <a:r>
              <a:rPr lang="zh-CN" altLang="en-US" sz="2800" b="1"/>
              <a:t>个客体变元的命题函数。</a:t>
            </a:r>
          </a:p>
        </p:txBody>
      </p:sp>
      <p:sp>
        <p:nvSpPr>
          <p:cNvPr id="203789" name="Rectangle 13"/>
          <p:cNvSpPr>
            <a:spLocks noChangeArrowheads="1"/>
          </p:cNvSpPr>
          <p:nvPr/>
        </p:nvSpPr>
        <p:spPr bwMode="auto">
          <a:xfrm>
            <a:off x="719138" y="3573463"/>
            <a:ext cx="701357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t>n=0</a:t>
            </a:r>
            <a:r>
              <a:rPr lang="zh-CN" altLang="en-US" sz="2800" b="1"/>
              <a:t>，称为</a:t>
            </a:r>
            <a:r>
              <a:rPr lang="en-US" altLang="zh-CN" sz="2800" b="1"/>
              <a:t>0</a:t>
            </a:r>
            <a:r>
              <a:rPr lang="zh-CN" altLang="en-US" sz="2800" b="1"/>
              <a:t>元谓词，它本身就是一个命题。</a:t>
            </a:r>
          </a:p>
        </p:txBody>
      </p:sp>
      <p:sp>
        <p:nvSpPr>
          <p:cNvPr id="203791" name="Rectangle 15"/>
          <p:cNvSpPr>
            <a:spLocks noChangeArrowheads="1"/>
          </p:cNvSpPr>
          <p:nvPr/>
        </p:nvSpPr>
        <p:spPr bwMode="auto">
          <a:xfrm>
            <a:off x="719138" y="4243388"/>
            <a:ext cx="7878762"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hlink"/>
                </a:solidFill>
              </a:rPr>
              <a:t>例如：</a:t>
            </a:r>
            <a:r>
              <a:rPr lang="en-US" altLang="zh-CN" sz="2800" b="1"/>
              <a:t>P(x)</a:t>
            </a:r>
            <a:r>
              <a:rPr lang="zh-CN" altLang="en-US" sz="2800" b="1"/>
              <a:t>中</a:t>
            </a:r>
            <a:r>
              <a:rPr lang="en-US" altLang="zh-CN" sz="2800" b="1"/>
              <a:t>x</a:t>
            </a:r>
            <a:r>
              <a:rPr lang="zh-CN" altLang="en-US" sz="2800" b="1"/>
              <a:t>被特定客体</a:t>
            </a:r>
            <a:r>
              <a:rPr lang="en-US" altLang="zh-CN" sz="2800" b="1"/>
              <a:t>a</a:t>
            </a:r>
            <a:r>
              <a:rPr lang="zh-CN" altLang="en-US" sz="2800" b="1"/>
              <a:t>取代后的</a:t>
            </a:r>
            <a:r>
              <a:rPr lang="en-US" altLang="zh-CN" sz="2800" b="1"/>
              <a:t>P(a)</a:t>
            </a:r>
            <a:r>
              <a:rPr lang="zh-CN" altLang="en-US" sz="2800" b="1"/>
              <a:t>是几元？</a:t>
            </a:r>
          </a:p>
        </p:txBody>
      </p:sp>
      <p:sp>
        <p:nvSpPr>
          <p:cNvPr id="203792" name="AutoShape 16"/>
          <p:cNvSpPr>
            <a:spLocks noChangeArrowheads="1"/>
          </p:cNvSpPr>
          <p:nvPr/>
        </p:nvSpPr>
        <p:spPr bwMode="auto">
          <a:xfrm>
            <a:off x="1403350" y="2420938"/>
            <a:ext cx="4114800" cy="2114550"/>
          </a:xfrm>
          <a:prstGeom prst="wedgeRectCallout">
            <a:avLst>
              <a:gd name="adj1" fmla="val 57986"/>
              <a:gd name="adj2" fmla="val 78319"/>
            </a:avLst>
          </a:prstGeom>
          <a:solidFill>
            <a:srgbClr val="CCFFFF"/>
          </a:solidFill>
          <a:ln w="12700">
            <a:solidFill>
              <a:schemeClr val="tx1"/>
            </a:solidFill>
            <a:miter lim="800000"/>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20000"/>
              </a:spcBef>
              <a:buClr>
                <a:schemeClr val="folHlink"/>
              </a:buClr>
              <a:buSzPct val="60000"/>
              <a:buFont typeface="Wingdings" pitchFamily="2" charset="2"/>
              <a:buNone/>
            </a:pPr>
            <a:r>
              <a:rPr lang="zh-CN" altLang="en-US" sz="4400" b="1">
                <a:sym typeface="Symbol" pitchFamily="18" charset="2"/>
              </a:rPr>
              <a:t>逻辑连结词</a:t>
            </a:r>
            <a:r>
              <a:rPr lang="zh-CN" altLang="en-US" sz="4400" b="1">
                <a:latin typeface="宋体" charset="-122"/>
                <a:sym typeface="Symbol" pitchFamily="18" charset="2"/>
              </a:rPr>
              <a:t>┐</a:t>
            </a:r>
            <a:r>
              <a:rPr lang="zh-CN" altLang="en-US" sz="4400" b="1">
                <a:sym typeface="Symbol" pitchFamily="18" charset="2"/>
              </a:rPr>
              <a:t>、</a:t>
            </a:r>
            <a:r>
              <a:rPr lang="zh-CN" altLang="en-US" sz="4400"/>
              <a:t>∧</a:t>
            </a:r>
            <a:r>
              <a:rPr lang="zh-CN" altLang="en-US" sz="4400" b="1">
                <a:sym typeface="Symbol" pitchFamily="18" charset="2"/>
              </a:rPr>
              <a:t>、</a:t>
            </a:r>
            <a:r>
              <a:rPr lang="zh-CN" altLang="en-US" sz="4400"/>
              <a:t>∨</a:t>
            </a:r>
            <a:r>
              <a:rPr lang="zh-CN" altLang="en-US" sz="4400" b="1">
                <a:sym typeface="Symbol" pitchFamily="18" charset="2"/>
              </a:rPr>
              <a:t>、</a:t>
            </a:r>
            <a:r>
              <a:rPr lang="zh-CN" altLang="en-US" sz="4400" b="1">
                <a:cs typeface="Times New Roman" pitchFamily="18" charset="0"/>
                <a:sym typeface="Symbol" pitchFamily="18" charset="2"/>
              </a:rPr>
              <a:t></a:t>
            </a:r>
            <a:r>
              <a:rPr lang="zh-CN" altLang="en-US" sz="4400" b="1">
                <a:sym typeface="Symbol" pitchFamily="18" charset="2"/>
              </a:rPr>
              <a:t>、</a:t>
            </a:r>
            <a:r>
              <a:rPr lang="zh-CN" altLang="en-US" sz="4400" b="1">
                <a:latin typeface="Arial Unicode MS" pitchFamily="34" charset="-122"/>
                <a:ea typeface="Arial Unicode MS" pitchFamily="34" charset="-122"/>
                <a:cs typeface="Arial Unicode MS" pitchFamily="34" charset="-122"/>
                <a:sym typeface="Symbol" pitchFamily="18" charset="2"/>
              </a:rPr>
              <a:t>⇄</a:t>
            </a:r>
            <a:r>
              <a:rPr lang="zh-CN" altLang="en-US" sz="4400" b="1">
                <a:sym typeface="Symbol" pitchFamily="18" charset="2"/>
              </a:rPr>
              <a:t>用法同前</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378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378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3791"/>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378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1" nodeType="clickEffect">
                                  <p:stCondLst>
                                    <p:cond delay="0"/>
                                  </p:stCondLst>
                                  <p:childTnLst>
                                    <p:set>
                                      <p:cBhvr>
                                        <p:cTn id="22" dur="1" fill="hold">
                                          <p:stCondLst>
                                            <p:cond delay="0"/>
                                          </p:stCondLst>
                                        </p:cTn>
                                        <p:tgtEl>
                                          <p:spTgt spid="2037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3785" grpId="0"/>
      <p:bldP spid="203787" grpId="0"/>
      <p:bldP spid="203789" grpId="0"/>
      <p:bldP spid="203791" grpId="0"/>
      <p:bldP spid="203792" grpId="1"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2"/>
          <p:cNvSpPr>
            <a:spLocks noGrp="1"/>
          </p:cNvSpPr>
          <p:nvPr>
            <p:ph type="sldNum" sz="quarter" idx="11"/>
          </p:nvPr>
        </p:nvSpPr>
        <p:spPr/>
        <p:txBody>
          <a:bodyPr/>
          <a:lstStyle/>
          <a:p>
            <a:fld id="{E2A0BB0D-3E42-4068-BEE2-DA94DE3FC215}" type="slidenum">
              <a:rPr lang="en-US" altLang="zh-CN"/>
              <a:pPr/>
              <a:t>25</a:t>
            </a:fld>
            <a:endParaRPr lang="en-US" altLang="zh-CN"/>
          </a:p>
        </p:txBody>
      </p:sp>
      <p:sp>
        <p:nvSpPr>
          <p:cNvPr id="204808" name="Rectangle 8"/>
          <p:cNvSpPr>
            <a:spLocks noChangeArrowheads="1"/>
          </p:cNvSpPr>
          <p:nvPr/>
        </p:nvSpPr>
        <p:spPr bwMode="auto">
          <a:xfrm>
            <a:off x="1116013" y="2541588"/>
            <a:ext cx="67691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ym typeface="Symbol" pitchFamily="18" charset="2"/>
              </a:rPr>
              <a:t>H(x)M(x)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不仅品质好，而且学习好。</a:t>
            </a:r>
          </a:p>
        </p:txBody>
      </p:sp>
      <p:sp>
        <p:nvSpPr>
          <p:cNvPr id="204809" name="Rectangle 9"/>
          <p:cNvSpPr>
            <a:spLocks noChangeArrowheads="1"/>
          </p:cNvSpPr>
          <p:nvPr/>
        </p:nvSpPr>
        <p:spPr bwMode="auto">
          <a:xfrm>
            <a:off x="1116013" y="1908175"/>
            <a:ext cx="39116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ym typeface="Symbol" pitchFamily="18" charset="2"/>
              </a:rPr>
              <a:t>则┐</a:t>
            </a:r>
            <a:r>
              <a:rPr lang="en-US" altLang="zh-CN" sz="2800" b="1">
                <a:sym typeface="Symbol" pitchFamily="18" charset="2"/>
              </a:rPr>
              <a:t>H(x)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品质不好。</a:t>
            </a:r>
          </a:p>
        </p:txBody>
      </p:sp>
      <p:sp>
        <p:nvSpPr>
          <p:cNvPr id="204810" name="Rectangle 10"/>
          <p:cNvSpPr>
            <a:spLocks noChangeArrowheads="1"/>
          </p:cNvSpPr>
          <p:nvPr/>
        </p:nvSpPr>
        <p:spPr bwMode="auto">
          <a:xfrm>
            <a:off x="1116013" y="1331913"/>
            <a:ext cx="6804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2800" b="1">
                <a:solidFill>
                  <a:schemeClr val="hlink"/>
                </a:solidFill>
                <a:sym typeface="Symbol" pitchFamily="18" charset="2"/>
              </a:rPr>
              <a:t>例</a:t>
            </a:r>
            <a:r>
              <a:rPr lang="en-US" altLang="zh-CN" sz="2800" b="1">
                <a:solidFill>
                  <a:schemeClr val="hlink"/>
                </a:solidFill>
                <a:sym typeface="Symbol" pitchFamily="18" charset="2"/>
              </a:rPr>
              <a:t>1</a:t>
            </a:r>
            <a:r>
              <a:rPr lang="zh-CN" altLang="en-US" sz="2800" b="1">
                <a:solidFill>
                  <a:schemeClr val="hlink"/>
                </a:solidFill>
                <a:sym typeface="Symbol" pitchFamily="18" charset="2"/>
              </a:rPr>
              <a:t>：</a:t>
            </a:r>
            <a:r>
              <a:rPr lang="zh-CN" altLang="en-US" sz="2800" b="1">
                <a:sym typeface="Symbol" pitchFamily="18" charset="2"/>
              </a:rPr>
              <a:t>设</a:t>
            </a:r>
            <a:r>
              <a:rPr lang="en-US" altLang="zh-CN" sz="2800" b="1">
                <a:sym typeface="Symbol" pitchFamily="18" charset="2"/>
              </a:rPr>
              <a:t>H(x)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品质好。</a:t>
            </a:r>
            <a:r>
              <a:rPr lang="en-US" altLang="zh-CN" sz="2800" b="1">
                <a:sym typeface="Symbol" pitchFamily="18" charset="2"/>
              </a:rPr>
              <a:t>M(x)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学习好。</a:t>
            </a:r>
          </a:p>
        </p:txBody>
      </p:sp>
      <p:sp>
        <p:nvSpPr>
          <p:cNvPr id="204811" name="Rectangle 11"/>
          <p:cNvSpPr>
            <a:spLocks noChangeArrowheads="1"/>
          </p:cNvSpPr>
          <p:nvPr/>
        </p:nvSpPr>
        <p:spPr bwMode="auto">
          <a:xfrm>
            <a:off x="1116013" y="3094038"/>
            <a:ext cx="6769100" cy="1630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olidFill>
                  <a:schemeClr val="hlink"/>
                </a:solidFill>
                <a:sym typeface="Symbol" pitchFamily="18" charset="2"/>
              </a:rPr>
              <a:t>例</a:t>
            </a:r>
            <a:r>
              <a:rPr lang="en-US" altLang="zh-CN" sz="2800" b="1">
                <a:solidFill>
                  <a:schemeClr val="hlink"/>
                </a:solidFill>
                <a:sym typeface="Symbol" pitchFamily="18" charset="2"/>
              </a:rPr>
              <a:t>2</a:t>
            </a:r>
            <a:r>
              <a:rPr lang="zh-CN" altLang="en-US" sz="2800" b="1">
                <a:solidFill>
                  <a:schemeClr val="hlink"/>
                </a:solidFill>
                <a:sym typeface="Symbol" pitchFamily="18" charset="2"/>
              </a:rPr>
              <a:t>：</a:t>
            </a:r>
            <a:r>
              <a:rPr lang="en-US" altLang="zh-CN" sz="2800" b="1">
                <a:sym typeface="Symbol" pitchFamily="18" charset="2"/>
              </a:rPr>
              <a:t>L(x, y)</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比</a:t>
            </a:r>
            <a:r>
              <a:rPr lang="en-US" altLang="zh-CN" sz="2800" b="1">
                <a:sym typeface="Symbol" pitchFamily="18" charset="2"/>
              </a:rPr>
              <a:t>y</a:t>
            </a:r>
            <a:r>
              <a:rPr lang="zh-CN" altLang="en-US" sz="2800" b="1">
                <a:sym typeface="Symbol" pitchFamily="18" charset="2"/>
              </a:rPr>
              <a:t>跑得快。</a:t>
            </a:r>
            <a:r>
              <a:rPr lang="en-US" altLang="zh-CN" sz="2800" b="1">
                <a:sym typeface="Symbol" pitchFamily="18" charset="2"/>
              </a:rPr>
              <a:t>a</a:t>
            </a:r>
            <a:r>
              <a:rPr lang="zh-CN" altLang="en-US" sz="2800" b="1">
                <a:sym typeface="Symbol" pitchFamily="18" charset="2"/>
              </a:rPr>
              <a:t>：张三；</a:t>
            </a:r>
          </a:p>
          <a:p>
            <a:pPr algn="l">
              <a:lnSpc>
                <a:spcPct val="120000"/>
              </a:lnSpc>
            </a:pPr>
            <a:r>
              <a:rPr lang="en-US" altLang="zh-CN" sz="2800" b="1">
                <a:sym typeface="Symbol" pitchFamily="18" charset="2"/>
              </a:rPr>
              <a:t>b</a:t>
            </a:r>
            <a:r>
              <a:rPr lang="zh-CN" altLang="en-US" sz="2800" b="1">
                <a:sym typeface="Symbol" pitchFamily="18" charset="2"/>
              </a:rPr>
              <a:t>：李四。</a:t>
            </a:r>
          </a:p>
          <a:p>
            <a:pPr algn="l">
              <a:lnSpc>
                <a:spcPct val="120000"/>
              </a:lnSpc>
            </a:pPr>
            <a:r>
              <a:rPr lang="zh-CN" altLang="en-US" sz="2800" b="1">
                <a:sym typeface="Symbol" pitchFamily="18" charset="2"/>
              </a:rPr>
              <a:t>则┐</a:t>
            </a:r>
            <a:r>
              <a:rPr lang="en-US" altLang="zh-CN" sz="2800" b="1">
                <a:sym typeface="Symbol" pitchFamily="18" charset="2"/>
              </a:rPr>
              <a:t>L(a, b)</a:t>
            </a:r>
            <a:r>
              <a:rPr lang="zh-CN" altLang="en-US" sz="2800" b="1">
                <a:sym typeface="Symbol" pitchFamily="18" charset="2"/>
              </a:rPr>
              <a:t>：张三不比李四跑得快。</a:t>
            </a:r>
          </a:p>
        </p:txBody>
      </p:sp>
      <p:sp>
        <p:nvSpPr>
          <p:cNvPr id="204813" name="Rectangle 13"/>
          <p:cNvSpPr>
            <a:spLocks noChangeArrowheads="1"/>
          </p:cNvSpPr>
          <p:nvPr/>
        </p:nvSpPr>
        <p:spPr bwMode="auto">
          <a:xfrm>
            <a:off x="1116013" y="4832350"/>
            <a:ext cx="6562725" cy="1117600"/>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cap="sq">
                <a:solidFill>
                  <a:srgbClr val="FF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en-US" altLang="zh-CN" sz="2800" b="1">
                <a:solidFill>
                  <a:srgbClr val="000000"/>
                </a:solidFill>
              </a:rPr>
              <a:t>┐</a:t>
            </a:r>
            <a:r>
              <a:rPr lang="en-US" altLang="zh-CN" sz="2800" b="1">
                <a:sym typeface="Symbol" pitchFamily="18" charset="2"/>
              </a:rPr>
              <a:t>L</a:t>
            </a:r>
            <a:r>
              <a:rPr kumimoji="0" lang="en-US" altLang="zh-CN" sz="2800" b="1">
                <a:solidFill>
                  <a:srgbClr val="000000"/>
                </a:solidFill>
              </a:rPr>
              <a:t>(l, c) ∧ ┐L(c, l) </a:t>
            </a:r>
          </a:p>
          <a:p>
            <a:pPr algn="l">
              <a:lnSpc>
                <a:spcPct val="120000"/>
              </a:lnSpc>
            </a:pPr>
            <a:r>
              <a:rPr kumimoji="0" lang="en-US" altLang="zh-CN" sz="2800" b="1">
                <a:solidFill>
                  <a:srgbClr val="000000"/>
                </a:solidFill>
              </a:rPr>
              <a:t>L(l, c) → ┐L(c, l)</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4809"/>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0480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4811">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4811">
                                            <p:txEl>
                                              <p:pRg st="1" end="1"/>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04811">
                                            <p:txEl>
                                              <p:pRg st="2" end="2"/>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48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4808" grpId="0"/>
      <p:bldP spid="204809" grpId="0"/>
      <p:bldP spid="20481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DC125F32-2BB9-47E1-A669-77CA72367861}" type="slidenum">
              <a:rPr lang="en-US" altLang="zh-CN"/>
              <a:pPr/>
              <a:t>26</a:t>
            </a:fld>
            <a:endParaRPr lang="en-US" altLang="zh-CN"/>
          </a:p>
        </p:txBody>
      </p:sp>
      <p:sp>
        <p:nvSpPr>
          <p:cNvPr id="205829" name="Rectangle 5"/>
          <p:cNvSpPr>
            <a:spLocks noChangeArrowheads="1"/>
          </p:cNvSpPr>
          <p:nvPr/>
        </p:nvSpPr>
        <p:spPr bwMode="auto">
          <a:xfrm>
            <a:off x="1079500" y="1268413"/>
            <a:ext cx="7164388" cy="3725862"/>
          </a:xfrm>
          <a:prstGeom prst="rect">
            <a:avLst/>
          </a:prstGeom>
          <a:noFill/>
          <a:ln>
            <a:noFill/>
          </a:ln>
          <a:effectLst/>
          <a:extLst>
            <a:ext uri="{909E8E84-426E-40DD-AFC4-6F175D3DCCD1}">
              <a14:hiddenFill xmlns:a14="http://schemas.microsoft.com/office/drawing/2010/main">
                <a:solidFill>
                  <a:srgbClr val="00FFFF"/>
                </a:solidFill>
              </a14:hiddenFill>
            </a:ext>
            <a:ext uri="{91240B29-F687-4F45-9708-019B960494DF}">
              <a14:hiddenLine xmlns:a14="http://schemas.microsoft.com/office/drawing/2010/main" w="12700" cap="sq">
                <a:solidFill>
                  <a:srgbClr val="FFFFFF"/>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184150">
              <a:defRPr kumimoji="1" sz="2400">
                <a:solidFill>
                  <a:schemeClr val="tx1"/>
                </a:solidFill>
                <a:latin typeface="Times New Roman" pitchFamily="18" charset="0"/>
                <a:ea typeface="宋体" charset="-122"/>
              </a:defRPr>
            </a:lvl1pPr>
            <a:lvl2pPr algn="l" defTabSz="184150">
              <a:defRPr kumimoji="1" sz="2400">
                <a:solidFill>
                  <a:schemeClr val="tx1"/>
                </a:solidFill>
                <a:latin typeface="Times New Roman" pitchFamily="18" charset="0"/>
                <a:ea typeface="宋体" charset="-122"/>
              </a:defRPr>
            </a:lvl2pPr>
            <a:lvl3pPr algn="l" defTabSz="184150">
              <a:defRPr kumimoji="1" sz="2400">
                <a:solidFill>
                  <a:schemeClr val="tx1"/>
                </a:solidFill>
                <a:latin typeface="Times New Roman" pitchFamily="18" charset="0"/>
                <a:ea typeface="宋体" charset="-122"/>
              </a:defRPr>
            </a:lvl3pPr>
            <a:lvl4pPr algn="l" defTabSz="184150">
              <a:defRPr kumimoji="1" sz="2400">
                <a:solidFill>
                  <a:schemeClr val="tx1"/>
                </a:solidFill>
                <a:latin typeface="Times New Roman" pitchFamily="18" charset="0"/>
                <a:ea typeface="宋体" charset="-122"/>
              </a:defRPr>
            </a:lvl4pPr>
            <a:lvl5pPr algn="l" defTabSz="184150">
              <a:defRPr kumimoji="1" sz="2400">
                <a:solidFill>
                  <a:schemeClr val="tx1"/>
                </a:solidFill>
                <a:latin typeface="Times New Roman" pitchFamily="18" charset="0"/>
                <a:ea typeface="宋体" charset="-122"/>
              </a:defRPr>
            </a:lvl5pPr>
            <a:lvl6pPr defTabSz="184150" fontAlgn="base">
              <a:spcBef>
                <a:spcPct val="0"/>
              </a:spcBef>
              <a:spcAft>
                <a:spcPct val="0"/>
              </a:spcAft>
              <a:defRPr kumimoji="1" sz="2400">
                <a:solidFill>
                  <a:schemeClr val="tx1"/>
                </a:solidFill>
                <a:latin typeface="Times New Roman" pitchFamily="18" charset="0"/>
                <a:ea typeface="宋体" charset="-122"/>
              </a:defRPr>
            </a:lvl6pPr>
            <a:lvl7pPr defTabSz="184150" fontAlgn="base">
              <a:spcBef>
                <a:spcPct val="0"/>
              </a:spcBef>
              <a:spcAft>
                <a:spcPct val="0"/>
              </a:spcAft>
              <a:defRPr kumimoji="1" sz="2400">
                <a:solidFill>
                  <a:schemeClr val="tx1"/>
                </a:solidFill>
                <a:latin typeface="Times New Roman" pitchFamily="18" charset="0"/>
                <a:ea typeface="宋体" charset="-122"/>
              </a:defRPr>
            </a:lvl7pPr>
            <a:lvl8pPr defTabSz="184150" fontAlgn="base">
              <a:spcBef>
                <a:spcPct val="0"/>
              </a:spcBef>
              <a:spcAft>
                <a:spcPct val="0"/>
              </a:spcAft>
              <a:defRPr kumimoji="1" sz="2400">
                <a:solidFill>
                  <a:schemeClr val="tx1"/>
                </a:solidFill>
                <a:latin typeface="Times New Roman" pitchFamily="18" charset="0"/>
                <a:ea typeface="宋体" charset="-122"/>
              </a:defRPr>
            </a:lvl8pPr>
            <a:lvl9pPr defTabSz="184150" fontAlgn="base">
              <a:spcBef>
                <a:spcPct val="0"/>
              </a:spcBef>
              <a:spcAft>
                <a:spcPct val="0"/>
              </a:spcAft>
              <a:defRPr kumimoji="1" sz="2400">
                <a:solidFill>
                  <a:schemeClr val="tx1"/>
                </a:solidFill>
                <a:latin typeface="Times New Roman" pitchFamily="18" charset="0"/>
                <a:ea typeface="宋体" charset="-122"/>
              </a:defRPr>
            </a:lvl9pPr>
          </a:lstStyle>
          <a:p>
            <a:pPr>
              <a:spcBef>
                <a:spcPct val="50000"/>
              </a:spcBef>
            </a:pPr>
            <a:r>
              <a:rPr kumimoji="0" lang="zh-CN" altLang="en-US" sz="2800" b="1">
                <a:solidFill>
                  <a:schemeClr val="hlink"/>
                </a:solidFill>
              </a:rPr>
              <a:t>例</a:t>
            </a:r>
            <a:r>
              <a:rPr kumimoji="0" lang="en-US" altLang="zh-CN" sz="2800" b="1">
                <a:solidFill>
                  <a:schemeClr val="hlink"/>
                </a:solidFill>
              </a:rPr>
              <a:t>3</a:t>
            </a:r>
            <a:r>
              <a:rPr kumimoji="0" lang="zh-CN" altLang="en-US" sz="2800" b="1">
                <a:solidFill>
                  <a:schemeClr val="hlink"/>
                </a:solidFill>
              </a:rPr>
              <a:t>：</a:t>
            </a:r>
            <a:r>
              <a:rPr kumimoji="0" lang="en-US" altLang="zh-CN" sz="2800" b="1">
                <a:solidFill>
                  <a:srgbClr val="000000"/>
                </a:solidFill>
              </a:rPr>
              <a:t>Q(x, y)</a:t>
            </a:r>
            <a:r>
              <a:rPr kumimoji="0" lang="zh-CN" altLang="en-US" sz="2800" b="1">
                <a:solidFill>
                  <a:srgbClr val="000000"/>
                </a:solidFill>
              </a:rPr>
              <a:t>：</a:t>
            </a:r>
            <a:r>
              <a:rPr kumimoji="0" lang="en-US" altLang="zh-CN" sz="2800" b="1">
                <a:solidFill>
                  <a:srgbClr val="000000"/>
                </a:solidFill>
              </a:rPr>
              <a:t>x</a:t>
            </a:r>
            <a:r>
              <a:rPr kumimoji="0" lang="zh-CN" altLang="en-US" sz="2800" b="1">
                <a:solidFill>
                  <a:srgbClr val="000000"/>
                </a:solidFill>
              </a:rPr>
              <a:t>比</a:t>
            </a:r>
            <a:r>
              <a:rPr kumimoji="0" lang="en-US" altLang="zh-CN" sz="2800" b="1">
                <a:solidFill>
                  <a:srgbClr val="000000"/>
                </a:solidFill>
              </a:rPr>
              <a:t>y</a:t>
            </a:r>
            <a:r>
              <a:rPr kumimoji="0" lang="zh-CN" altLang="en-US" sz="2800" b="1">
                <a:solidFill>
                  <a:srgbClr val="000000"/>
                </a:solidFill>
              </a:rPr>
              <a:t>重</a:t>
            </a:r>
          </a:p>
          <a:p>
            <a:pPr>
              <a:spcBef>
                <a:spcPct val="50000"/>
              </a:spcBef>
            </a:pPr>
            <a:r>
              <a:rPr kumimoji="0" lang="en-US" altLang="zh-CN" sz="2800" b="1">
                <a:solidFill>
                  <a:srgbClr val="000000"/>
                </a:solidFill>
              </a:rPr>
              <a:t>x</a:t>
            </a:r>
            <a:r>
              <a:rPr kumimoji="0" lang="zh-CN" altLang="en-US" sz="2800" b="1">
                <a:solidFill>
                  <a:srgbClr val="000000"/>
                </a:solidFill>
              </a:rPr>
              <a:t>，</a:t>
            </a:r>
            <a:r>
              <a:rPr kumimoji="0" lang="en-US" altLang="zh-CN" sz="2800" b="1">
                <a:solidFill>
                  <a:srgbClr val="000000"/>
                </a:solidFill>
              </a:rPr>
              <a:t>y</a:t>
            </a:r>
            <a:r>
              <a:rPr kumimoji="0" lang="zh-CN" altLang="en-US" sz="2800" b="1">
                <a:solidFill>
                  <a:srgbClr val="000000"/>
                </a:solidFill>
              </a:rPr>
              <a:t>指人或物时，它是一个命题</a:t>
            </a:r>
          </a:p>
          <a:p>
            <a:pPr>
              <a:spcBef>
                <a:spcPct val="50000"/>
              </a:spcBef>
            </a:pPr>
            <a:r>
              <a:rPr kumimoji="0" lang="en-US" altLang="zh-CN" sz="2800" b="1">
                <a:solidFill>
                  <a:srgbClr val="000000"/>
                </a:solidFill>
              </a:rPr>
              <a:t>x</a:t>
            </a:r>
            <a:r>
              <a:rPr kumimoji="0" lang="zh-CN" altLang="en-US" sz="2800" b="1">
                <a:solidFill>
                  <a:srgbClr val="000000"/>
                </a:solidFill>
              </a:rPr>
              <a:t>，</a:t>
            </a:r>
            <a:r>
              <a:rPr kumimoji="0" lang="en-US" altLang="zh-CN" sz="2800" b="1">
                <a:solidFill>
                  <a:srgbClr val="000000"/>
                </a:solidFill>
              </a:rPr>
              <a:t>y</a:t>
            </a:r>
            <a:r>
              <a:rPr kumimoji="0" lang="zh-CN" altLang="en-US" sz="2800" b="1">
                <a:solidFill>
                  <a:srgbClr val="000000"/>
                </a:solidFill>
              </a:rPr>
              <a:t>指实数时，它就不是一个命题了。</a:t>
            </a:r>
          </a:p>
          <a:p>
            <a:pPr>
              <a:spcBef>
                <a:spcPct val="50000"/>
              </a:spcBef>
            </a:pPr>
            <a:r>
              <a:rPr lang="zh-CN" altLang="en-US" sz="2800" b="1">
                <a:solidFill>
                  <a:schemeClr val="hlink"/>
                </a:solidFill>
                <a:sym typeface="Symbol" pitchFamily="18" charset="2"/>
              </a:rPr>
              <a:t>问题：</a:t>
            </a:r>
            <a:r>
              <a:rPr lang="zh-CN" altLang="en-US" sz="2800" b="1">
                <a:sym typeface="Symbol" pitchFamily="18" charset="2"/>
              </a:rPr>
              <a:t>客体变元</a:t>
            </a:r>
            <a:r>
              <a:rPr lang="en-US" altLang="zh-CN" sz="2800" b="1">
                <a:sym typeface="Symbol" pitchFamily="18" charset="2"/>
              </a:rPr>
              <a:t>x</a:t>
            </a:r>
            <a:r>
              <a:rPr lang="zh-CN" altLang="en-US" sz="2800" b="1">
                <a:sym typeface="Symbol" pitchFamily="18" charset="2"/>
              </a:rPr>
              <a:t>有没有取值范围的限制呢？</a:t>
            </a:r>
          </a:p>
          <a:p>
            <a:pPr>
              <a:spcBef>
                <a:spcPct val="50000"/>
              </a:spcBef>
            </a:pPr>
            <a:r>
              <a:rPr lang="zh-CN" altLang="en-US" sz="2800" b="1">
                <a:solidFill>
                  <a:schemeClr val="hlink"/>
                </a:solidFill>
              </a:rPr>
              <a:t>注意：</a:t>
            </a:r>
            <a:r>
              <a:rPr lang="zh-CN" altLang="en-US" sz="2800" b="1"/>
              <a:t>命题函数确定为命题与客体变元的论</a:t>
            </a:r>
          </a:p>
          <a:p>
            <a:pPr>
              <a:spcBef>
                <a:spcPct val="50000"/>
              </a:spcBef>
            </a:pPr>
            <a:r>
              <a:rPr lang="zh-CN" altLang="en-US" sz="2800" b="1"/>
              <a:t>述范围有关。</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5829">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5829">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582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D230F661-8A59-4E52-A2D2-A5FC23865FD1}" type="slidenum">
              <a:rPr lang="en-US" altLang="zh-CN"/>
              <a:pPr/>
              <a:t>27</a:t>
            </a:fld>
            <a:endParaRPr lang="en-US" altLang="zh-CN"/>
          </a:p>
        </p:txBody>
      </p:sp>
      <p:sp>
        <p:nvSpPr>
          <p:cNvPr id="206854" name="Rectangle 6"/>
          <p:cNvSpPr>
            <a:spLocks noChangeArrowheads="1"/>
          </p:cNvSpPr>
          <p:nvPr/>
        </p:nvSpPr>
        <p:spPr bwMode="auto">
          <a:xfrm>
            <a:off x="900113" y="1557338"/>
            <a:ext cx="7200900" cy="3424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just">
              <a:spcBef>
                <a:spcPct val="20000"/>
              </a:spcBef>
              <a:buClr>
                <a:schemeClr val="folHlink"/>
              </a:buClr>
              <a:buSzPct val="60000"/>
              <a:buFont typeface="Wingdings" pitchFamily="2" charset="2"/>
              <a:buNone/>
            </a:pPr>
            <a:r>
              <a:rPr kumimoji="0" lang="zh-CN" altLang="en-US" sz="2800" b="1">
                <a:solidFill>
                  <a:schemeClr val="hlink"/>
                </a:solidFill>
                <a:sym typeface="Symbol" pitchFamily="18" charset="2"/>
              </a:rPr>
              <a:t>个体域</a:t>
            </a:r>
            <a:r>
              <a:rPr kumimoji="0" lang="en-US" altLang="zh-CN" sz="2800" b="1">
                <a:solidFill>
                  <a:schemeClr val="hlink"/>
                </a:solidFill>
                <a:latin typeface="Arial"/>
                <a:sym typeface="Symbol" pitchFamily="18" charset="2"/>
              </a:rPr>
              <a:t>——</a:t>
            </a:r>
            <a:r>
              <a:rPr kumimoji="0" lang="zh-CN" altLang="en-US" sz="2800" b="1">
                <a:sym typeface="Symbol" pitchFamily="18" charset="2"/>
              </a:rPr>
              <a:t>在命题函数中，客体变元的论述范围。也称为论域，可以是有限或无限。</a:t>
            </a:r>
          </a:p>
          <a:p>
            <a:pPr algn="just">
              <a:spcBef>
                <a:spcPct val="20000"/>
              </a:spcBef>
              <a:buClr>
                <a:schemeClr val="folHlink"/>
              </a:buClr>
              <a:buSzPct val="60000"/>
              <a:buFont typeface="Wingdings" pitchFamily="2" charset="2"/>
              <a:buNone/>
            </a:pPr>
            <a:r>
              <a:rPr kumimoji="0" lang="zh-CN" altLang="en-US" sz="2800" b="1">
                <a:solidFill>
                  <a:schemeClr val="hlink"/>
                </a:solidFill>
                <a:sym typeface="Symbol" pitchFamily="18" charset="2"/>
              </a:rPr>
              <a:t>全总个体域</a:t>
            </a:r>
            <a:r>
              <a:rPr kumimoji="0" lang="en-US" altLang="zh-CN" sz="2800" b="1">
                <a:solidFill>
                  <a:schemeClr val="hlink"/>
                </a:solidFill>
                <a:latin typeface="Arial"/>
                <a:sym typeface="Symbol" pitchFamily="18" charset="2"/>
              </a:rPr>
              <a:t>——</a:t>
            </a:r>
            <a:r>
              <a:rPr kumimoji="0" lang="zh-CN" altLang="en-US" sz="2800" b="1">
                <a:sym typeface="Symbol" pitchFamily="18" charset="2"/>
              </a:rPr>
              <a:t>各种客体域的综合。</a:t>
            </a:r>
          </a:p>
          <a:p>
            <a:pPr algn="just">
              <a:spcBef>
                <a:spcPct val="20000"/>
              </a:spcBef>
              <a:buClr>
                <a:schemeClr val="folHlink"/>
              </a:buClr>
              <a:buSzPct val="60000"/>
              <a:buFont typeface="Wingdings" pitchFamily="2" charset="2"/>
              <a:buNone/>
            </a:pPr>
            <a:r>
              <a:rPr kumimoji="0" lang="zh-CN" altLang="en-US" sz="2800" b="1">
                <a:solidFill>
                  <a:schemeClr val="hlink"/>
                </a:solidFill>
                <a:sym typeface="Symbol" pitchFamily="18" charset="2"/>
              </a:rPr>
              <a:t>例如：</a:t>
            </a:r>
            <a:r>
              <a:rPr kumimoji="0" lang="en-US" altLang="zh-CN" sz="2800" b="1">
                <a:sym typeface="Symbol" pitchFamily="18" charset="2"/>
              </a:rPr>
              <a:t>S(x)</a:t>
            </a:r>
            <a:r>
              <a:rPr kumimoji="0" lang="zh-CN" altLang="en-US" sz="2800" b="1">
                <a:sym typeface="Symbol" pitchFamily="18" charset="2"/>
              </a:rPr>
              <a:t>：</a:t>
            </a:r>
            <a:r>
              <a:rPr kumimoji="0" lang="en-US" altLang="zh-CN" sz="2800" b="1">
                <a:sym typeface="Symbol" pitchFamily="18" charset="2"/>
              </a:rPr>
              <a:t>x</a:t>
            </a:r>
            <a:r>
              <a:rPr kumimoji="0" lang="zh-CN" altLang="en-US" sz="2800" b="1">
                <a:sym typeface="Symbol" pitchFamily="18" charset="2"/>
              </a:rPr>
              <a:t>是大学生。</a:t>
            </a:r>
          </a:p>
          <a:p>
            <a:pPr algn="just">
              <a:spcBef>
                <a:spcPct val="20000"/>
              </a:spcBef>
              <a:buClr>
                <a:schemeClr val="folHlink"/>
              </a:buClr>
              <a:buSzPct val="60000"/>
              <a:buFont typeface="Wingdings" pitchFamily="2" charset="2"/>
              <a:buNone/>
            </a:pPr>
            <a:r>
              <a:rPr kumimoji="0" lang="zh-CN" altLang="en-US" sz="2800" b="1">
                <a:sym typeface="Symbol" pitchFamily="18" charset="2"/>
              </a:rPr>
              <a:t>若</a:t>
            </a:r>
            <a:r>
              <a:rPr kumimoji="0" lang="en-US" altLang="zh-CN" sz="2800" b="1">
                <a:sym typeface="Symbol" pitchFamily="18" charset="2"/>
              </a:rPr>
              <a:t>x</a:t>
            </a:r>
            <a:r>
              <a:rPr kumimoji="0" lang="zh-CN" altLang="en-US" sz="2800" b="1">
                <a:sym typeface="Symbol" pitchFamily="18" charset="2"/>
              </a:rPr>
              <a:t>的个体域是某公司职员。</a:t>
            </a:r>
          </a:p>
          <a:p>
            <a:pPr algn="just">
              <a:spcBef>
                <a:spcPct val="20000"/>
              </a:spcBef>
              <a:buClr>
                <a:schemeClr val="folHlink"/>
              </a:buClr>
              <a:buSzPct val="60000"/>
              <a:buFont typeface="Wingdings" pitchFamily="2" charset="2"/>
              <a:buNone/>
            </a:pPr>
            <a:r>
              <a:rPr kumimoji="0" lang="zh-CN" altLang="en-US" sz="2800" b="1">
                <a:sym typeface="Symbol" pitchFamily="18" charset="2"/>
              </a:rPr>
              <a:t>那如何用</a:t>
            </a:r>
            <a:r>
              <a:rPr kumimoji="0" lang="en-US" altLang="zh-CN" sz="2800" b="1">
                <a:sym typeface="Symbol" pitchFamily="18" charset="2"/>
              </a:rPr>
              <a:t>S(x)</a:t>
            </a:r>
            <a:r>
              <a:rPr kumimoji="0" lang="zh-CN" altLang="en-US" sz="2800" b="1">
                <a:sym typeface="Symbol" pitchFamily="18" charset="2"/>
              </a:rPr>
              <a:t>表示</a:t>
            </a:r>
            <a:r>
              <a:rPr kumimoji="0" lang="zh-CN" altLang="en-US" sz="2800" b="1">
                <a:latin typeface="Arial"/>
                <a:sym typeface="Symbol" pitchFamily="18" charset="2"/>
              </a:rPr>
              <a:t>“</a:t>
            </a:r>
            <a:r>
              <a:rPr kumimoji="0" lang="zh-CN" altLang="en-US" sz="2800" b="1">
                <a:sym typeface="Symbol" pitchFamily="18" charset="2"/>
              </a:rPr>
              <a:t>公司某些职员是大学生</a:t>
            </a:r>
            <a:r>
              <a:rPr kumimoji="0" lang="zh-CN" altLang="en-US" sz="2800" b="1">
                <a:latin typeface="Arial"/>
                <a:sym typeface="Symbol" pitchFamily="18" charset="2"/>
              </a:rPr>
              <a:t>”</a:t>
            </a:r>
            <a:r>
              <a:rPr kumimoji="0" lang="zh-CN" altLang="en-US" sz="2800" b="1">
                <a:sym typeface="Symbol" pitchFamily="18" charset="2"/>
              </a:rPr>
              <a:t>和</a:t>
            </a:r>
            <a:r>
              <a:rPr kumimoji="0" lang="zh-CN" altLang="en-US" sz="2800" b="1">
                <a:latin typeface="Arial"/>
                <a:sym typeface="Symbol" pitchFamily="18" charset="2"/>
              </a:rPr>
              <a:t>“</a:t>
            </a:r>
            <a:r>
              <a:rPr kumimoji="0" lang="zh-CN" altLang="en-US" sz="2800" b="1">
                <a:sym typeface="Symbol" pitchFamily="18" charset="2"/>
              </a:rPr>
              <a:t>公司全部职员都是大学生</a:t>
            </a:r>
            <a:r>
              <a:rPr kumimoji="0" lang="zh-CN" altLang="en-US" sz="2800" b="1">
                <a:latin typeface="Arial"/>
                <a:sym typeface="Symbol" pitchFamily="18" charset="2"/>
              </a:rPr>
              <a:t>”</a:t>
            </a:r>
            <a:r>
              <a:rPr kumimoji="0" lang="zh-CN" altLang="en-US" sz="2800" b="1">
                <a:sym typeface="Symbol" pitchFamily="18" charset="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685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685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685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685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741B6D87-202C-443A-949B-5F3E5AB3D81D}" type="slidenum">
              <a:rPr lang="en-US" altLang="zh-CN"/>
              <a:pPr/>
              <a:t>28</a:t>
            </a:fld>
            <a:endParaRPr lang="en-US" altLang="zh-CN"/>
          </a:p>
        </p:txBody>
      </p:sp>
      <p:sp>
        <p:nvSpPr>
          <p:cNvPr id="417794" name="Rectangle 2"/>
          <p:cNvSpPr>
            <a:spLocks noChangeArrowheads="1"/>
          </p:cNvSpPr>
          <p:nvPr/>
        </p:nvSpPr>
        <p:spPr bwMode="auto">
          <a:xfrm>
            <a:off x="3419475" y="609600"/>
            <a:ext cx="23034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lgn="l">
              <a:defRPr sz="4000">
                <a:solidFill>
                  <a:schemeClr val="tx2"/>
                </a:solidFill>
                <a:latin typeface="Tahoma" pitchFamily="34" charset="0"/>
                <a:ea typeface="宋体" charset="-122"/>
              </a:defRPr>
            </a:lvl1pPr>
            <a:lvl2pPr algn="l">
              <a:defRPr sz="4000">
                <a:solidFill>
                  <a:schemeClr val="tx2"/>
                </a:solidFill>
                <a:latin typeface="Tahoma" pitchFamily="34" charset="0"/>
                <a:ea typeface="宋体" charset="-122"/>
              </a:defRPr>
            </a:lvl2pPr>
            <a:lvl3pPr algn="l">
              <a:defRPr sz="4000">
                <a:solidFill>
                  <a:schemeClr val="tx2"/>
                </a:solidFill>
                <a:latin typeface="Tahoma" pitchFamily="34" charset="0"/>
                <a:ea typeface="宋体" charset="-122"/>
              </a:defRPr>
            </a:lvl3pPr>
            <a:lvl4pPr algn="l">
              <a:defRPr sz="4000">
                <a:solidFill>
                  <a:schemeClr val="tx2"/>
                </a:solidFill>
                <a:latin typeface="Tahoma" pitchFamily="34" charset="0"/>
                <a:ea typeface="宋体" charset="-122"/>
              </a:defRPr>
            </a:lvl4pPr>
            <a:lvl5pPr algn="l">
              <a:defRPr sz="4000">
                <a:solidFill>
                  <a:schemeClr val="tx2"/>
                </a:solidFill>
                <a:latin typeface="Tahoma" pitchFamily="34" charset="0"/>
                <a:ea typeface="宋体" charset="-122"/>
              </a:defRPr>
            </a:lvl5pPr>
            <a:lvl6pPr marL="457200" fontAlgn="base">
              <a:spcBef>
                <a:spcPct val="0"/>
              </a:spcBef>
              <a:spcAft>
                <a:spcPct val="0"/>
              </a:spcAft>
              <a:defRPr sz="4000">
                <a:solidFill>
                  <a:schemeClr val="tx2"/>
                </a:solidFill>
                <a:latin typeface="Tahoma" pitchFamily="34" charset="0"/>
                <a:ea typeface="宋体" charset="-122"/>
              </a:defRPr>
            </a:lvl6pPr>
            <a:lvl7pPr marL="914400" fontAlgn="base">
              <a:spcBef>
                <a:spcPct val="0"/>
              </a:spcBef>
              <a:spcAft>
                <a:spcPct val="0"/>
              </a:spcAft>
              <a:defRPr sz="4000">
                <a:solidFill>
                  <a:schemeClr val="tx2"/>
                </a:solidFill>
                <a:latin typeface="Tahoma" pitchFamily="34" charset="0"/>
                <a:ea typeface="宋体" charset="-122"/>
              </a:defRPr>
            </a:lvl7pPr>
            <a:lvl8pPr marL="1371600" fontAlgn="base">
              <a:spcBef>
                <a:spcPct val="0"/>
              </a:spcBef>
              <a:spcAft>
                <a:spcPct val="0"/>
              </a:spcAft>
              <a:defRPr sz="4000">
                <a:solidFill>
                  <a:schemeClr val="tx2"/>
                </a:solidFill>
                <a:latin typeface="Tahoma" pitchFamily="34" charset="0"/>
                <a:ea typeface="宋体" charset="-122"/>
              </a:defRPr>
            </a:lvl8pPr>
            <a:lvl9pPr marL="1828800" fontAlgn="base">
              <a:spcBef>
                <a:spcPct val="0"/>
              </a:spcBef>
              <a:spcAft>
                <a:spcPct val="0"/>
              </a:spcAft>
              <a:defRPr sz="4000">
                <a:solidFill>
                  <a:schemeClr val="tx2"/>
                </a:solidFill>
                <a:latin typeface="Tahoma" pitchFamily="34" charset="0"/>
                <a:ea typeface="宋体" charset="-122"/>
              </a:defRPr>
            </a:lvl9pPr>
          </a:lstStyle>
          <a:p>
            <a:pPr algn="ctr"/>
            <a:r>
              <a:rPr kumimoji="0" lang="zh-CN" altLang="en-US" sz="3600" b="1">
                <a:solidFill>
                  <a:schemeClr val="tx1"/>
                </a:solidFill>
                <a:latin typeface="华文行楷" pitchFamily="2" charset="-122"/>
                <a:ea typeface="华文行楷" pitchFamily="2" charset="-122"/>
              </a:rPr>
              <a:t>复习</a:t>
            </a:r>
          </a:p>
        </p:txBody>
      </p:sp>
      <p:sp>
        <p:nvSpPr>
          <p:cNvPr id="417795" name="Rectangle 3"/>
          <p:cNvSpPr>
            <a:spLocks noChangeArrowheads="1"/>
          </p:cNvSpPr>
          <p:nvPr/>
        </p:nvSpPr>
        <p:spPr bwMode="auto">
          <a:xfrm>
            <a:off x="1187450" y="1196975"/>
            <a:ext cx="7129463"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rPr>
              <a:t>一</a:t>
            </a:r>
            <a:r>
              <a:rPr kumimoji="0" lang="zh-CN" altLang="en-US" sz="2800" b="1" dirty="0" smtClean="0">
                <a:solidFill>
                  <a:schemeClr val="hlink"/>
                </a:solidFill>
              </a:rPr>
              <a:t>、</a:t>
            </a:r>
            <a:r>
              <a:rPr kumimoji="0" lang="zh-CN" altLang="en-US" sz="2800" b="1" dirty="0">
                <a:solidFill>
                  <a:schemeClr val="hlink"/>
                </a:solidFill>
              </a:rPr>
              <a:t>谓词逻辑中的基本概念与表示</a:t>
            </a:r>
          </a:p>
          <a:p>
            <a:pPr algn="l">
              <a:lnSpc>
                <a:spcPct val="120000"/>
              </a:lnSpc>
            </a:pPr>
            <a:r>
              <a:rPr kumimoji="0" lang="zh-CN" altLang="en-US" sz="2800" b="1" dirty="0"/>
              <a:t>客体，谓词（一元谓词，多元谓词）</a:t>
            </a:r>
          </a:p>
          <a:p>
            <a:pPr algn="l">
              <a:lnSpc>
                <a:spcPct val="120000"/>
              </a:lnSpc>
            </a:pPr>
            <a:r>
              <a:rPr kumimoji="0" lang="zh-CN" altLang="en-US" sz="2800" b="1" dirty="0" smtClean="0">
                <a:solidFill>
                  <a:schemeClr val="hlink"/>
                </a:solidFill>
              </a:rPr>
              <a:t>二、</a:t>
            </a:r>
            <a:r>
              <a:rPr kumimoji="0" lang="zh-CN" altLang="en-US" sz="2800" b="1" dirty="0">
                <a:solidFill>
                  <a:schemeClr val="hlink"/>
                </a:solidFill>
              </a:rPr>
              <a:t>命题函数与量词</a:t>
            </a:r>
          </a:p>
          <a:p>
            <a:pPr algn="l">
              <a:lnSpc>
                <a:spcPct val="120000"/>
              </a:lnSpc>
            </a:pPr>
            <a:r>
              <a:rPr kumimoji="0" lang="zh-CN" altLang="en-US" sz="2800" b="1" dirty="0"/>
              <a:t>一元谓词函数，多元谓词</a:t>
            </a:r>
            <a:r>
              <a:rPr kumimoji="0" lang="zh-CN" altLang="en-US" sz="2800" b="1" dirty="0" smtClean="0"/>
              <a:t>函数</a:t>
            </a:r>
            <a:endParaRPr kumimoji="0" lang="en-US" altLang="zh-CN" sz="2800" b="1" dirty="0" smtClean="0"/>
          </a:p>
        </p:txBody>
      </p:sp>
    </p:spTree>
    <p:extLst>
      <p:ext uri="{BB962C8B-B14F-4D97-AF65-F5344CB8AC3E}">
        <p14:creationId xmlns:p14="http://schemas.microsoft.com/office/powerpoint/2010/main" val="2130172377"/>
      </p:ext>
    </p:extLst>
  </p:cSld>
  <p:clrMapOvr>
    <a:masterClrMapping/>
  </p:clrMapOvr>
  <p:transition spd="slow">
    <p:pull dir="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1C40E986-6A80-4C0F-8276-CA8631D55B06}" type="slidenum">
              <a:rPr lang="en-US" altLang="zh-CN"/>
              <a:pPr/>
              <a:t>29</a:t>
            </a:fld>
            <a:endParaRPr lang="en-US" altLang="zh-CN"/>
          </a:p>
        </p:txBody>
      </p:sp>
      <p:sp>
        <p:nvSpPr>
          <p:cNvPr id="207876" name="Rectangle 4"/>
          <p:cNvSpPr>
            <a:spLocks noChangeArrowheads="1"/>
          </p:cNvSpPr>
          <p:nvPr/>
        </p:nvSpPr>
        <p:spPr bwMode="auto">
          <a:xfrm>
            <a:off x="1258888" y="647700"/>
            <a:ext cx="29527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zh-CN" altLang="en-US" sz="3200" b="1">
                <a:solidFill>
                  <a:schemeClr val="folHlink"/>
                </a:solidFill>
                <a:ea typeface="楷体_GB2312" pitchFamily="49" charset="-122"/>
              </a:rPr>
              <a:t>三、量词</a:t>
            </a:r>
          </a:p>
        </p:txBody>
      </p:sp>
      <p:sp>
        <p:nvSpPr>
          <p:cNvPr id="207879" name="Rectangle 7"/>
          <p:cNvSpPr>
            <a:spLocks noChangeArrowheads="1"/>
          </p:cNvSpPr>
          <p:nvPr/>
        </p:nvSpPr>
        <p:spPr bwMode="auto">
          <a:xfrm>
            <a:off x="1116013" y="1196975"/>
            <a:ext cx="7056437" cy="5487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5000"/>
              </a:lnSpc>
            </a:pPr>
            <a:r>
              <a:rPr lang="zh-CN" altLang="en-US" sz="2800" b="1">
                <a:solidFill>
                  <a:schemeClr val="hlink"/>
                </a:solidFill>
              </a:rPr>
              <a:t>全称量词</a:t>
            </a:r>
            <a:r>
              <a:rPr lang="zh-CN" altLang="en-US" sz="2800" b="1">
                <a:solidFill>
                  <a:schemeClr val="hlink"/>
                </a:solidFill>
                <a:sym typeface="Symbol" pitchFamily="18" charset="2"/>
              </a:rPr>
              <a:t></a:t>
            </a:r>
            <a:r>
              <a:rPr lang="zh-CN" altLang="en-US" sz="2800" b="1">
                <a:solidFill>
                  <a:schemeClr val="hlink"/>
                </a:solidFill>
              </a:rPr>
              <a:t>：</a:t>
            </a:r>
            <a:r>
              <a:rPr lang="zh-CN" altLang="en-US" sz="2800" b="1"/>
              <a:t>表达“所有的”，“每一个”，“任一个”等。</a:t>
            </a:r>
          </a:p>
          <a:p>
            <a:pPr algn="l">
              <a:lnSpc>
                <a:spcPct val="115000"/>
              </a:lnSpc>
            </a:pPr>
            <a:r>
              <a:rPr lang="zh-CN" altLang="en-US" sz="2800" b="1">
                <a:solidFill>
                  <a:schemeClr val="hlink"/>
                </a:solidFill>
              </a:rPr>
              <a:t>存在量词</a:t>
            </a:r>
            <a:r>
              <a:rPr lang="zh-CN" altLang="en-US" sz="2800" b="1">
                <a:solidFill>
                  <a:schemeClr val="hlink"/>
                </a:solidFill>
                <a:sym typeface="Symbol" pitchFamily="18" charset="2"/>
              </a:rPr>
              <a:t></a:t>
            </a:r>
            <a:r>
              <a:rPr lang="zh-CN" altLang="en-US" sz="2800" b="1">
                <a:solidFill>
                  <a:schemeClr val="hlink"/>
                </a:solidFill>
              </a:rPr>
              <a:t>：</a:t>
            </a:r>
            <a:r>
              <a:rPr lang="zh-CN" altLang="en-US" sz="2800" b="1"/>
              <a:t>表达“存在一些”，“至少有一个”，“有的”等。</a:t>
            </a:r>
          </a:p>
          <a:p>
            <a:pPr algn="l">
              <a:lnSpc>
                <a:spcPct val="115000"/>
              </a:lnSpc>
            </a:pPr>
            <a:r>
              <a:rPr lang="zh-CN" altLang="en-US" sz="2800" b="1">
                <a:solidFill>
                  <a:schemeClr val="hlink"/>
                </a:solidFill>
              </a:rPr>
              <a:t>存在唯一量词</a:t>
            </a:r>
            <a:r>
              <a:rPr lang="zh-CN" altLang="en-US" sz="2800" b="1">
                <a:solidFill>
                  <a:schemeClr val="folHlink"/>
                </a:solidFill>
                <a:sym typeface="Symbol" pitchFamily="18" charset="2"/>
              </a:rPr>
              <a:t></a:t>
            </a:r>
            <a:r>
              <a:rPr lang="en-US" altLang="zh-CN" sz="2800" b="1">
                <a:solidFill>
                  <a:schemeClr val="folHlink"/>
                </a:solidFill>
              </a:rPr>
              <a:t>!</a:t>
            </a:r>
            <a:r>
              <a:rPr lang="zh-CN" altLang="en-US" sz="2800" b="1"/>
              <a:t>：表达“恰有一个”、“存在唯一”等</a:t>
            </a:r>
          </a:p>
          <a:p>
            <a:pPr algn="l">
              <a:lnSpc>
                <a:spcPct val="115000"/>
              </a:lnSpc>
            </a:pPr>
            <a:r>
              <a:rPr lang="zh-CN" altLang="en-US" sz="2800" b="1">
                <a:solidFill>
                  <a:schemeClr val="hlink"/>
                </a:solidFill>
              </a:rPr>
              <a:t>例如： </a:t>
            </a:r>
            <a:r>
              <a:rPr kumimoji="0" lang="en-US" altLang="zh-CN" sz="2800" b="1">
                <a:sym typeface="Symbol" pitchFamily="18" charset="2"/>
              </a:rPr>
              <a:t>S(x)</a:t>
            </a:r>
            <a:r>
              <a:rPr kumimoji="0" lang="zh-CN" altLang="en-US" sz="2800" b="1">
                <a:sym typeface="Symbol" pitchFamily="18" charset="2"/>
              </a:rPr>
              <a:t>：</a:t>
            </a:r>
            <a:r>
              <a:rPr kumimoji="0" lang="en-US" altLang="zh-CN" sz="2800" b="1">
                <a:sym typeface="Symbol" pitchFamily="18" charset="2"/>
              </a:rPr>
              <a:t>x</a:t>
            </a:r>
            <a:r>
              <a:rPr kumimoji="0" lang="zh-CN" altLang="en-US" sz="2800" b="1">
                <a:sym typeface="Symbol" pitchFamily="18" charset="2"/>
              </a:rPr>
              <a:t>是大学生。</a:t>
            </a:r>
            <a:endParaRPr lang="zh-CN" altLang="en-US" sz="2800" b="1">
              <a:solidFill>
                <a:schemeClr val="hlink"/>
              </a:solidFill>
            </a:endParaRPr>
          </a:p>
          <a:p>
            <a:pPr algn="l">
              <a:lnSpc>
                <a:spcPct val="115000"/>
              </a:lnSpc>
            </a:pPr>
            <a:r>
              <a:rPr lang="zh-CN" altLang="en-US" sz="2800" b="1">
                <a:solidFill>
                  <a:schemeClr val="hlink"/>
                </a:solidFill>
              </a:rPr>
              <a:t>             </a:t>
            </a:r>
            <a:r>
              <a:rPr kumimoji="0" lang="zh-CN" altLang="en-US" sz="2800" b="1">
                <a:sym typeface="Symbol" pitchFamily="18" charset="2"/>
              </a:rPr>
              <a:t>公司某些职员是大学生：</a:t>
            </a:r>
          </a:p>
          <a:p>
            <a:pPr algn="l">
              <a:lnSpc>
                <a:spcPct val="115000"/>
              </a:lnSpc>
            </a:pPr>
            <a:r>
              <a:rPr kumimoji="0" lang="zh-CN" altLang="en-US" sz="2800" b="1">
                <a:sym typeface="Symbol" pitchFamily="18" charset="2"/>
              </a:rPr>
              <a:t>             </a:t>
            </a:r>
            <a:r>
              <a:rPr kumimoji="0" lang="en-US" altLang="zh-CN" sz="2800" b="1">
                <a:sym typeface="Symbol" pitchFamily="18" charset="2"/>
              </a:rPr>
              <a:t>(</a:t>
            </a:r>
            <a:r>
              <a:rPr lang="en-US" altLang="zh-CN" sz="2800" b="1">
                <a:sym typeface="Symbol" pitchFamily="18" charset="2"/>
              </a:rPr>
              <a:t>x)S(x)</a:t>
            </a:r>
            <a:r>
              <a:rPr lang="zh-CN" altLang="en-US" sz="2800" b="1">
                <a:sym typeface="Symbol" pitchFamily="18" charset="2"/>
              </a:rPr>
              <a:t>。</a:t>
            </a:r>
          </a:p>
          <a:p>
            <a:pPr algn="l">
              <a:lnSpc>
                <a:spcPct val="115000"/>
              </a:lnSpc>
            </a:pPr>
            <a:r>
              <a:rPr kumimoji="0" lang="zh-CN" altLang="en-US" sz="2800" b="1">
                <a:sym typeface="Symbol" pitchFamily="18" charset="2"/>
              </a:rPr>
              <a:t>            公司全部职员都是大学生：</a:t>
            </a:r>
          </a:p>
          <a:p>
            <a:pPr algn="l">
              <a:lnSpc>
                <a:spcPct val="115000"/>
              </a:lnSpc>
            </a:pPr>
            <a:r>
              <a:rPr kumimoji="0" lang="zh-CN" altLang="en-US" sz="2800" b="1">
                <a:sym typeface="Symbol" pitchFamily="18" charset="2"/>
              </a:rPr>
              <a:t>             </a:t>
            </a:r>
            <a:r>
              <a:rPr kumimoji="0" lang="en-US" altLang="zh-CN" sz="2800" b="1">
                <a:sym typeface="Symbol" pitchFamily="18" charset="2"/>
              </a:rPr>
              <a:t>(x)</a:t>
            </a:r>
            <a:r>
              <a:rPr lang="en-US" altLang="zh-CN" sz="2800" b="1">
                <a:sym typeface="Symbol" pitchFamily="18" charset="2"/>
              </a:rPr>
              <a:t>S(x)</a:t>
            </a:r>
            <a:r>
              <a:rPr lang="zh-CN" altLang="en-US" sz="2800" b="1">
                <a:sym typeface="Symbol" pitchFamily="18" charset="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787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787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7879">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7879">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7879">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07879">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787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B49A6619-D31C-408C-B09A-A8891CEDEB1E}" type="slidenum">
              <a:rPr lang="en-US" altLang="zh-CN"/>
              <a:pPr/>
              <a:t>30</a:t>
            </a:fld>
            <a:endParaRPr lang="en-US" altLang="zh-CN"/>
          </a:p>
        </p:txBody>
      </p:sp>
      <p:sp>
        <p:nvSpPr>
          <p:cNvPr id="201740" name="Text Box 12"/>
          <p:cNvSpPr txBox="1">
            <a:spLocks noChangeArrowheads="1"/>
          </p:cNvSpPr>
          <p:nvPr/>
        </p:nvSpPr>
        <p:spPr bwMode="auto">
          <a:xfrm>
            <a:off x="1114425" y="1162050"/>
            <a:ext cx="7418388"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2700" indent="-12700" algn="l">
              <a:defRPr kumimoji="1" sz="2400">
                <a:solidFill>
                  <a:schemeClr val="tx1"/>
                </a:solidFill>
                <a:latin typeface="Times New Roman" pitchFamily="18" charset="0"/>
                <a:ea typeface="宋体" charset="-122"/>
              </a:defRPr>
            </a:lvl1pPr>
            <a:lvl2pPr marL="1093788" indent="-457200" algn="l">
              <a:defRPr kumimoji="1" sz="2400">
                <a:solidFill>
                  <a:schemeClr val="tx1"/>
                </a:solidFill>
                <a:latin typeface="Times New Roman" pitchFamily="18" charset="0"/>
                <a:ea typeface="宋体" charset="-122"/>
              </a:defRPr>
            </a:lvl2pPr>
            <a:lvl3pPr marL="1730375" indent="-457200" algn="l">
              <a:defRPr kumimoji="1" sz="2400">
                <a:solidFill>
                  <a:schemeClr val="tx1"/>
                </a:solidFill>
                <a:latin typeface="Times New Roman" pitchFamily="18" charset="0"/>
                <a:ea typeface="宋体" charset="-122"/>
              </a:defRPr>
            </a:lvl3pPr>
            <a:lvl4pPr marL="2366963" indent="-457200" algn="l">
              <a:defRPr kumimoji="1" sz="2400">
                <a:solidFill>
                  <a:schemeClr val="tx1"/>
                </a:solidFill>
                <a:latin typeface="Times New Roman" pitchFamily="18" charset="0"/>
                <a:ea typeface="宋体" charset="-122"/>
              </a:defRPr>
            </a:lvl4pPr>
            <a:lvl5pPr marL="3003550" indent="-457200" algn="l">
              <a:defRPr kumimoji="1" sz="2400">
                <a:solidFill>
                  <a:schemeClr val="tx1"/>
                </a:solidFill>
                <a:latin typeface="Times New Roman" pitchFamily="18" charset="0"/>
                <a:ea typeface="宋体" charset="-122"/>
              </a:defRPr>
            </a:lvl5pPr>
            <a:lvl6pPr marL="3460750" indent="-457200" fontAlgn="base">
              <a:spcBef>
                <a:spcPct val="0"/>
              </a:spcBef>
              <a:spcAft>
                <a:spcPct val="0"/>
              </a:spcAft>
              <a:defRPr kumimoji="1" sz="2400">
                <a:solidFill>
                  <a:schemeClr val="tx1"/>
                </a:solidFill>
                <a:latin typeface="Times New Roman" pitchFamily="18" charset="0"/>
                <a:ea typeface="宋体" charset="-122"/>
              </a:defRPr>
            </a:lvl6pPr>
            <a:lvl7pPr marL="3917950" indent="-457200" fontAlgn="base">
              <a:spcBef>
                <a:spcPct val="0"/>
              </a:spcBef>
              <a:spcAft>
                <a:spcPct val="0"/>
              </a:spcAft>
              <a:defRPr kumimoji="1" sz="2400">
                <a:solidFill>
                  <a:schemeClr val="tx1"/>
                </a:solidFill>
                <a:latin typeface="Times New Roman" pitchFamily="18" charset="0"/>
                <a:ea typeface="宋体" charset="-122"/>
              </a:defRPr>
            </a:lvl7pPr>
            <a:lvl8pPr marL="4375150" indent="-457200" fontAlgn="base">
              <a:spcBef>
                <a:spcPct val="0"/>
              </a:spcBef>
              <a:spcAft>
                <a:spcPct val="0"/>
              </a:spcAft>
              <a:defRPr kumimoji="1" sz="2400">
                <a:solidFill>
                  <a:schemeClr val="tx1"/>
                </a:solidFill>
                <a:latin typeface="Times New Roman" pitchFamily="18" charset="0"/>
                <a:ea typeface="宋体" charset="-122"/>
              </a:defRPr>
            </a:lvl8pPr>
            <a:lvl9pPr marL="4832350" indent="-457200" fontAlgn="base">
              <a:spcBef>
                <a:spcPct val="0"/>
              </a:spcBef>
              <a:spcAft>
                <a:spcPct val="0"/>
              </a:spcAft>
              <a:defRPr kumimoji="1" sz="2400">
                <a:solidFill>
                  <a:schemeClr val="tx1"/>
                </a:solidFill>
                <a:latin typeface="Times New Roman" pitchFamily="18" charset="0"/>
                <a:ea typeface="宋体" charset="-122"/>
              </a:defRPr>
            </a:lvl9pPr>
          </a:lstStyle>
          <a:p>
            <a:pPr>
              <a:lnSpc>
                <a:spcPct val="120000"/>
              </a:lnSpc>
            </a:pPr>
            <a:r>
              <a:rPr lang="zh-CN" altLang="en-US" sz="2800" b="1">
                <a:solidFill>
                  <a:schemeClr val="hlink"/>
                </a:solidFill>
                <a:sym typeface="Symbol" pitchFamily="18" charset="2"/>
              </a:rPr>
              <a:t>例：在谓词逻辑中将下列命题符号化。</a:t>
            </a:r>
          </a:p>
          <a:p>
            <a:pPr>
              <a:lnSpc>
                <a:spcPct val="120000"/>
              </a:lnSpc>
            </a:pPr>
            <a:r>
              <a:rPr lang="en-US" altLang="zh-CN" sz="2800" b="1">
                <a:sym typeface="Symbol" pitchFamily="18" charset="2"/>
              </a:rPr>
              <a:t>(1)</a:t>
            </a:r>
            <a:r>
              <a:rPr lang="zh-CN" altLang="en-US" sz="2800" b="1">
                <a:sym typeface="Symbol" pitchFamily="18" charset="2"/>
              </a:rPr>
              <a:t>凡是人都呼吸。</a:t>
            </a:r>
          </a:p>
          <a:p>
            <a:pPr>
              <a:lnSpc>
                <a:spcPct val="120000"/>
              </a:lnSpc>
            </a:pPr>
            <a:r>
              <a:rPr lang="en-US" altLang="zh-CN" sz="2800" b="1">
                <a:sym typeface="Symbol" pitchFamily="18" charset="2"/>
              </a:rPr>
              <a:t>(2)</a:t>
            </a:r>
            <a:r>
              <a:rPr lang="zh-CN" altLang="en-US" sz="2800" b="1">
                <a:sym typeface="Symbol" pitchFamily="18" charset="2"/>
              </a:rPr>
              <a:t>有的人是左撇子。</a:t>
            </a:r>
          </a:p>
          <a:p>
            <a:pPr>
              <a:lnSpc>
                <a:spcPct val="120000"/>
              </a:lnSpc>
            </a:pPr>
            <a:r>
              <a:rPr lang="zh-CN" altLang="en-US" sz="2800" b="1">
                <a:sym typeface="Symbol" pitchFamily="18" charset="2"/>
              </a:rPr>
              <a:t>当个体域为</a:t>
            </a:r>
            <a:r>
              <a:rPr lang="zh-CN" altLang="en-US" sz="2800" b="1">
                <a:solidFill>
                  <a:schemeClr val="hlink"/>
                </a:solidFill>
                <a:sym typeface="Symbol" pitchFamily="18" charset="2"/>
              </a:rPr>
              <a:t>人类集合</a:t>
            </a:r>
            <a:r>
              <a:rPr lang="zh-CN" altLang="en-US" sz="2800" b="1">
                <a:sym typeface="Symbol" pitchFamily="18" charset="2"/>
              </a:rPr>
              <a:t>时：</a:t>
            </a:r>
          </a:p>
          <a:p>
            <a:pPr>
              <a:lnSpc>
                <a:spcPct val="120000"/>
              </a:lnSpc>
            </a:pPr>
            <a:r>
              <a:rPr lang="zh-CN" altLang="en-US" sz="2800" b="1">
                <a:sym typeface="Symbol" pitchFamily="18" charset="2"/>
              </a:rPr>
              <a:t>令</a:t>
            </a:r>
            <a:r>
              <a:rPr lang="en-US" altLang="zh-CN" sz="2800" b="1">
                <a:sym typeface="Symbol" pitchFamily="18" charset="2"/>
              </a:rPr>
              <a:t>F(x)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呼吸，</a:t>
            </a:r>
            <a:r>
              <a:rPr lang="en-US" altLang="zh-CN" sz="2800" b="1">
                <a:sym typeface="Symbol" pitchFamily="18" charset="2"/>
              </a:rPr>
              <a:t>G(x)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是左撇子，则</a:t>
            </a:r>
          </a:p>
          <a:p>
            <a:pPr>
              <a:lnSpc>
                <a:spcPct val="120000"/>
              </a:lnSpc>
            </a:pPr>
            <a:r>
              <a:rPr lang="en-US" altLang="zh-CN" sz="2800" b="1">
                <a:sym typeface="Symbol" pitchFamily="18" charset="2"/>
              </a:rPr>
              <a:t>(1)(x)F(x)           (2)(x)G(x)</a:t>
            </a:r>
          </a:p>
          <a:p>
            <a:pPr>
              <a:lnSpc>
                <a:spcPct val="120000"/>
              </a:lnSpc>
            </a:pPr>
            <a:r>
              <a:rPr lang="zh-CN" altLang="en-US" sz="2800" b="1">
                <a:sym typeface="Symbol" pitchFamily="18" charset="2"/>
              </a:rPr>
              <a:t>当个体域为</a:t>
            </a:r>
            <a:r>
              <a:rPr lang="zh-CN" altLang="en-US" sz="2800" b="1">
                <a:solidFill>
                  <a:schemeClr val="hlink"/>
                </a:solidFill>
                <a:sym typeface="Symbol" pitchFamily="18" charset="2"/>
              </a:rPr>
              <a:t>全总个体域</a:t>
            </a:r>
            <a:r>
              <a:rPr lang="zh-CN" altLang="en-US" sz="2800" b="1">
                <a:sym typeface="Symbol" pitchFamily="18" charset="2"/>
              </a:rPr>
              <a:t>时：</a:t>
            </a:r>
          </a:p>
          <a:p>
            <a:pPr>
              <a:lnSpc>
                <a:spcPct val="120000"/>
              </a:lnSpc>
            </a:pPr>
            <a:r>
              <a:rPr lang="en-US" altLang="zh-CN" sz="2800" b="1">
                <a:sym typeface="Symbol" pitchFamily="18" charset="2"/>
              </a:rPr>
              <a:t>F(x)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呼吸，</a:t>
            </a:r>
            <a:r>
              <a:rPr lang="en-US" altLang="zh-CN" sz="2800" b="1">
                <a:sym typeface="Symbol" pitchFamily="18" charset="2"/>
              </a:rPr>
              <a:t>G(x)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是左撇子，</a:t>
            </a:r>
            <a:r>
              <a:rPr lang="en-US" altLang="zh-CN" sz="2800" b="1">
                <a:sym typeface="Symbol" pitchFamily="18" charset="2"/>
              </a:rPr>
              <a:t>P(x)</a:t>
            </a:r>
            <a:r>
              <a:rPr lang="zh-CN" altLang="en-US" sz="2800" b="1">
                <a:sym typeface="Symbol" pitchFamily="18" charset="2"/>
              </a:rPr>
              <a:t>：</a:t>
            </a:r>
            <a:r>
              <a:rPr lang="en-US" altLang="zh-CN" sz="2800" b="1">
                <a:sym typeface="Symbol" pitchFamily="18" charset="2"/>
              </a:rPr>
              <a:t>x</a:t>
            </a:r>
            <a:r>
              <a:rPr lang="zh-CN" altLang="en-US" sz="2800" b="1">
                <a:sym typeface="Symbol" pitchFamily="18" charset="2"/>
              </a:rPr>
              <a:t>是人，则   </a:t>
            </a:r>
          </a:p>
          <a:p>
            <a:pPr>
              <a:lnSpc>
                <a:spcPct val="120000"/>
              </a:lnSpc>
            </a:pPr>
            <a:r>
              <a:rPr lang="zh-CN" altLang="en-US" sz="2800" b="1">
                <a:sym typeface="Symbol" pitchFamily="18" charset="2"/>
              </a:rPr>
              <a:t> </a:t>
            </a:r>
            <a:r>
              <a:rPr lang="en-US" altLang="zh-CN" sz="2800" b="1">
                <a:sym typeface="Symbol" pitchFamily="18" charset="2"/>
              </a:rPr>
              <a:t>(1)(x)(</a:t>
            </a:r>
            <a:r>
              <a:rPr lang="en-US" altLang="zh-CN" sz="2800" b="1" u="sng">
                <a:solidFill>
                  <a:schemeClr val="hlink"/>
                </a:solidFill>
                <a:sym typeface="Symbol" pitchFamily="18" charset="2"/>
              </a:rPr>
              <a:t>P(x)</a:t>
            </a:r>
            <a:r>
              <a:rPr lang="en-US" altLang="zh-CN" sz="2800" b="1"/>
              <a:t> </a:t>
            </a:r>
            <a:r>
              <a:rPr lang="en-US" altLang="zh-CN" sz="2800" b="1">
                <a:sym typeface="Symbol" pitchFamily="18" charset="2"/>
              </a:rPr>
              <a:t>F(x))     (2)(x)(</a:t>
            </a:r>
            <a:r>
              <a:rPr lang="en-US" altLang="zh-CN" sz="2800" b="1" u="sng">
                <a:solidFill>
                  <a:schemeClr val="hlink"/>
                </a:solidFill>
                <a:sym typeface="Symbol" pitchFamily="18" charset="2"/>
              </a:rPr>
              <a:t>P(x)</a:t>
            </a:r>
            <a:r>
              <a:rPr lang="en-US" altLang="zh-CN" sz="2800" b="1">
                <a:sym typeface="Symbol" pitchFamily="18" charset="2"/>
              </a:rPr>
              <a:t>∧G(x))</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1740">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1740">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1740">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1740">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01740">
                                            <p:txEl>
                                              <p:pRg st="7" end="7"/>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0174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0B42A15F-EAB4-4FB9-97F4-7CFFC7D4ECA3}" type="slidenum">
              <a:rPr lang="en-US" altLang="zh-CN"/>
              <a:pPr/>
              <a:t>31</a:t>
            </a:fld>
            <a:endParaRPr lang="en-US" altLang="zh-CN"/>
          </a:p>
        </p:txBody>
      </p:sp>
      <p:sp>
        <p:nvSpPr>
          <p:cNvPr id="208900" name="Rectangle 4"/>
          <p:cNvSpPr>
            <a:spLocks noChangeArrowheads="1"/>
          </p:cNvSpPr>
          <p:nvPr/>
        </p:nvSpPr>
        <p:spPr bwMode="auto">
          <a:xfrm>
            <a:off x="900113" y="1412875"/>
            <a:ext cx="7056437" cy="470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olidFill>
                  <a:schemeClr val="hlink"/>
                </a:solidFill>
              </a:rPr>
              <a:t>注意：</a:t>
            </a:r>
            <a:r>
              <a:rPr lang="en-US" altLang="zh-CN" sz="2800" b="1"/>
              <a:t>1. </a:t>
            </a:r>
            <a:r>
              <a:rPr lang="zh-CN" altLang="en-US" sz="2800" b="1"/>
              <a:t>当一个命题没有指明论域时，一般把全总个体域作为其论域。常常采用一个</a:t>
            </a:r>
            <a:r>
              <a:rPr lang="zh-CN" altLang="en-US" sz="2800" b="1" u="sng"/>
              <a:t>谓词</a:t>
            </a:r>
            <a:r>
              <a:rPr lang="en-US" altLang="zh-CN" sz="2800" b="1"/>
              <a:t>P(x)</a:t>
            </a:r>
            <a:r>
              <a:rPr lang="zh-CN" altLang="en-US" sz="2800" b="1"/>
              <a:t>来</a:t>
            </a:r>
            <a:r>
              <a:rPr lang="zh-CN" altLang="en-US" sz="2800" b="1" u="sng"/>
              <a:t>限制</a:t>
            </a:r>
            <a:r>
              <a:rPr lang="zh-CN" altLang="en-US" sz="2800" b="1"/>
              <a:t>个体变元</a:t>
            </a:r>
            <a:r>
              <a:rPr lang="en-US" altLang="zh-CN" sz="2800" b="1"/>
              <a:t>x</a:t>
            </a:r>
            <a:r>
              <a:rPr lang="zh-CN" altLang="en-US" sz="2800" b="1"/>
              <a:t>的</a:t>
            </a:r>
            <a:r>
              <a:rPr lang="zh-CN" altLang="en-US" sz="2800" b="1" u="sng"/>
              <a:t>取值范围</a:t>
            </a:r>
            <a:r>
              <a:rPr lang="zh-CN" altLang="en-US" sz="2800" b="1"/>
              <a:t>，</a:t>
            </a:r>
            <a:r>
              <a:rPr lang="en-US" altLang="zh-CN" sz="2800" b="1"/>
              <a:t>P(x)</a:t>
            </a:r>
            <a:r>
              <a:rPr lang="zh-CN" altLang="en-US" sz="2800" b="1"/>
              <a:t>称为</a:t>
            </a:r>
            <a:r>
              <a:rPr lang="zh-CN" altLang="en-US" sz="2800" b="1" u="sng">
                <a:solidFill>
                  <a:schemeClr val="hlink"/>
                </a:solidFill>
              </a:rPr>
              <a:t>特性谓词</a:t>
            </a:r>
            <a:r>
              <a:rPr lang="zh-CN" altLang="en-US" sz="2800" b="1"/>
              <a:t>。</a:t>
            </a:r>
          </a:p>
          <a:p>
            <a:pPr algn="l">
              <a:lnSpc>
                <a:spcPct val="120000"/>
              </a:lnSpc>
            </a:pPr>
            <a:r>
              <a:rPr lang="zh-CN" altLang="en-US" sz="2800" b="1"/>
              <a:t>           </a:t>
            </a:r>
            <a:r>
              <a:rPr lang="en-US" altLang="zh-CN" sz="2800" b="1"/>
              <a:t>2. </a:t>
            </a:r>
            <a:r>
              <a:rPr lang="zh-CN" altLang="en-US" sz="2800" b="1"/>
              <a:t>对</a:t>
            </a:r>
            <a:r>
              <a:rPr lang="zh-CN" altLang="en-US" sz="2800" b="1" u="sng"/>
              <a:t>全称量词</a:t>
            </a:r>
            <a:r>
              <a:rPr lang="zh-CN" altLang="en-US" sz="2800" b="1"/>
              <a:t>，特性谓词常作</a:t>
            </a:r>
            <a:r>
              <a:rPr lang="zh-CN" altLang="en-US" sz="2800" b="1" u="sng">
                <a:solidFill>
                  <a:schemeClr val="hlink"/>
                </a:solidFill>
              </a:rPr>
              <a:t>蕴含的前件</a:t>
            </a:r>
            <a:r>
              <a:rPr lang="zh-CN" altLang="en-US" sz="2800" b="1"/>
              <a:t>；对</a:t>
            </a:r>
            <a:r>
              <a:rPr lang="zh-CN" altLang="en-US" sz="2800" b="1" u="sng"/>
              <a:t>存在量词</a:t>
            </a:r>
            <a:r>
              <a:rPr lang="zh-CN" altLang="en-US" sz="2800" b="1"/>
              <a:t>，特性谓词常作</a:t>
            </a:r>
            <a:r>
              <a:rPr lang="zh-CN" altLang="en-US" sz="2800" b="1" u="sng">
                <a:solidFill>
                  <a:schemeClr val="hlink"/>
                </a:solidFill>
              </a:rPr>
              <a:t>合取项</a:t>
            </a:r>
            <a:r>
              <a:rPr lang="zh-CN" altLang="en-US" sz="2800" b="1"/>
              <a:t>。</a:t>
            </a:r>
          </a:p>
          <a:p>
            <a:pPr algn="l">
              <a:lnSpc>
                <a:spcPct val="120000"/>
              </a:lnSpc>
            </a:pPr>
            <a:r>
              <a:rPr lang="zh-CN" altLang="en-US" sz="2800" b="1">
                <a:solidFill>
                  <a:schemeClr val="hlink"/>
                </a:solidFill>
              </a:rPr>
              <a:t>例如</a:t>
            </a:r>
            <a:r>
              <a:rPr lang="zh-CN" altLang="en-US" sz="2800" b="1">
                <a:solidFill>
                  <a:schemeClr val="hlink"/>
                </a:solidFill>
                <a:sym typeface="Wingdings" pitchFamily="2" charset="2"/>
              </a:rPr>
              <a:t>： </a:t>
            </a:r>
            <a:r>
              <a:rPr lang="en-US" altLang="zh-CN" sz="2800" b="1">
                <a:sym typeface="Symbol" pitchFamily="18" charset="2"/>
              </a:rPr>
              <a:t>(x)F(x)——(x)(P(x)F(x))</a:t>
            </a:r>
          </a:p>
          <a:p>
            <a:pPr algn="l">
              <a:lnSpc>
                <a:spcPct val="120000"/>
              </a:lnSpc>
            </a:pPr>
            <a:r>
              <a:rPr lang="en-US" altLang="zh-CN" sz="2800" b="1">
                <a:sym typeface="Symbol" pitchFamily="18" charset="2"/>
              </a:rPr>
              <a:t>             (x)G(x)——(x)(P(x)∧G(x))</a:t>
            </a:r>
          </a:p>
          <a:p>
            <a:pPr algn="l">
              <a:lnSpc>
                <a:spcPct val="120000"/>
              </a:lnSpc>
            </a:pPr>
            <a:r>
              <a:rPr lang="zh-CN" altLang="en-US" sz="2800" b="1">
                <a:sym typeface="Symbol" pitchFamily="18" charset="2"/>
              </a:rPr>
              <a:t>其中： </a:t>
            </a:r>
            <a:r>
              <a:rPr lang="en-US" altLang="zh-CN" sz="2800" b="1">
                <a:sym typeface="Symbol" pitchFamily="18" charset="2"/>
              </a:rPr>
              <a:t>P(x)</a:t>
            </a:r>
            <a:r>
              <a:rPr lang="en-US" altLang="zh-CN" sz="2800" b="1"/>
              <a:t> </a:t>
            </a:r>
            <a:r>
              <a:rPr lang="zh-CN" altLang="en-US" sz="2800" b="1"/>
              <a:t>是特性谓词。</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890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890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0890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890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0DBFCDE2-AAA5-43DE-9154-2FEEF10AA0CE}" type="slidenum">
              <a:rPr lang="en-US" altLang="zh-CN"/>
              <a:pPr/>
              <a:t>32</a:t>
            </a:fld>
            <a:endParaRPr lang="en-US" altLang="zh-CN"/>
          </a:p>
        </p:txBody>
      </p:sp>
      <p:sp>
        <p:nvSpPr>
          <p:cNvPr id="414722" name="Rectangle 2"/>
          <p:cNvSpPr>
            <a:spLocks noChangeArrowheads="1"/>
          </p:cNvSpPr>
          <p:nvPr/>
        </p:nvSpPr>
        <p:spPr bwMode="auto">
          <a:xfrm>
            <a:off x="541338" y="2689225"/>
            <a:ext cx="7993062" cy="146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50000"/>
              </a:lnSpc>
              <a:spcBef>
                <a:spcPct val="20000"/>
              </a:spcBef>
              <a:buClr>
                <a:schemeClr val="folHlink"/>
              </a:buClr>
              <a:buSzPct val="60000"/>
              <a:buFont typeface="Wingdings" pitchFamily="2" charset="2"/>
              <a:buNone/>
            </a:pPr>
            <a:r>
              <a:rPr kumimoji="0" lang="zh-CN" altLang="en-US" sz="2800" b="1" dirty="0">
                <a:solidFill>
                  <a:schemeClr val="hlink"/>
                </a:solidFill>
              </a:rPr>
              <a:t>例</a:t>
            </a:r>
            <a:r>
              <a:rPr kumimoji="0" lang="en-US" altLang="zh-CN" sz="2800" b="1" dirty="0">
                <a:solidFill>
                  <a:schemeClr val="hlink"/>
                </a:solidFill>
              </a:rPr>
              <a:t>2</a:t>
            </a:r>
            <a:r>
              <a:rPr kumimoji="0" lang="zh-CN" altLang="en-US" sz="2800" b="1" dirty="0">
                <a:solidFill>
                  <a:schemeClr val="hlink"/>
                </a:solidFill>
              </a:rPr>
              <a:t>：</a:t>
            </a:r>
            <a:r>
              <a:rPr kumimoji="0" lang="en-US" altLang="zh-CN" sz="2800" b="1" i="1" dirty="0"/>
              <a:t>P</a:t>
            </a:r>
            <a:r>
              <a:rPr kumimoji="0" lang="en-US" altLang="zh-CN" sz="2800" b="1" dirty="0"/>
              <a:t>(</a:t>
            </a:r>
            <a:r>
              <a:rPr kumimoji="0" lang="en-US" altLang="zh-CN" sz="2800" b="1" i="1" dirty="0"/>
              <a:t>x</a:t>
            </a:r>
            <a:r>
              <a:rPr kumimoji="0" lang="en-US" altLang="zh-CN" sz="2800" b="1" dirty="0"/>
              <a:t>)</a:t>
            </a:r>
            <a:r>
              <a:rPr kumimoji="0" lang="zh-CN" altLang="en-US" sz="2800" b="1" dirty="0"/>
              <a:t>：</a:t>
            </a:r>
            <a:r>
              <a:rPr kumimoji="0" lang="en-US" altLang="zh-CN" sz="2800" b="1" i="1" dirty="0"/>
              <a:t>x</a:t>
            </a:r>
            <a:r>
              <a:rPr kumimoji="0" lang="zh-CN" altLang="en-US" sz="2800" b="1" dirty="0"/>
              <a:t>是教授，</a:t>
            </a:r>
            <a:r>
              <a:rPr kumimoji="0" lang="en-US" altLang="zh-CN" sz="2800" b="1" i="1" dirty="0"/>
              <a:t>f</a:t>
            </a:r>
            <a:r>
              <a:rPr kumimoji="0" lang="en-US" altLang="zh-CN" sz="2800" b="1" dirty="0"/>
              <a:t>(</a:t>
            </a:r>
            <a:r>
              <a:rPr kumimoji="0" lang="en-US" altLang="zh-CN" sz="2800" b="1" i="1" dirty="0"/>
              <a:t>x</a:t>
            </a:r>
            <a:r>
              <a:rPr kumimoji="0" lang="en-US" altLang="zh-CN" sz="2800" b="1" dirty="0"/>
              <a:t>)</a:t>
            </a:r>
            <a:r>
              <a:rPr kumimoji="0" lang="zh-CN" altLang="en-US" sz="2800" b="1" dirty="0"/>
              <a:t>：</a:t>
            </a:r>
            <a:r>
              <a:rPr kumimoji="0" lang="en-US" altLang="zh-CN" sz="2800" b="1" i="1" dirty="0"/>
              <a:t>x</a:t>
            </a:r>
            <a:r>
              <a:rPr kumimoji="0" lang="zh-CN" altLang="en-US" sz="2800" b="1" dirty="0"/>
              <a:t>的父亲，</a:t>
            </a:r>
            <a:r>
              <a:rPr kumimoji="0" lang="en-US" altLang="zh-CN" sz="2800" b="1" i="1" dirty="0"/>
              <a:t>c</a:t>
            </a:r>
            <a:r>
              <a:rPr kumimoji="0" lang="zh-CN" altLang="en-US" sz="2800" b="1" dirty="0"/>
              <a:t>：张强。</a:t>
            </a:r>
          </a:p>
          <a:p>
            <a:pPr algn="l">
              <a:lnSpc>
                <a:spcPct val="150000"/>
              </a:lnSpc>
              <a:spcBef>
                <a:spcPct val="20000"/>
              </a:spcBef>
              <a:buClr>
                <a:schemeClr val="folHlink"/>
              </a:buClr>
              <a:buSzPct val="60000"/>
              <a:buFont typeface="Wingdings" pitchFamily="2" charset="2"/>
              <a:buNone/>
            </a:pPr>
            <a:r>
              <a:rPr kumimoji="0" lang="en-US" altLang="zh-CN" sz="2800" b="1" i="1" dirty="0"/>
              <a:t>P</a:t>
            </a:r>
            <a:r>
              <a:rPr kumimoji="0" lang="en-US" altLang="zh-CN" sz="2800" b="1" dirty="0"/>
              <a:t>(</a:t>
            </a:r>
            <a:r>
              <a:rPr kumimoji="0" lang="en-US" altLang="zh-CN" sz="2800" b="1" i="1" dirty="0"/>
              <a:t>f</a:t>
            </a:r>
            <a:r>
              <a:rPr kumimoji="0" lang="en-US" altLang="zh-CN" sz="2800" b="1" dirty="0"/>
              <a:t>(</a:t>
            </a:r>
            <a:r>
              <a:rPr kumimoji="0" lang="en-US" altLang="zh-CN" sz="2800" b="1" i="1" dirty="0"/>
              <a:t>c</a:t>
            </a:r>
            <a:r>
              <a:rPr kumimoji="0" lang="en-US" altLang="zh-CN" sz="2800" b="1" dirty="0"/>
              <a:t>))</a:t>
            </a:r>
            <a:r>
              <a:rPr kumimoji="0" lang="zh-CN" altLang="en-US" sz="2800" b="1" dirty="0"/>
              <a:t>：</a:t>
            </a:r>
          </a:p>
        </p:txBody>
      </p:sp>
      <p:sp>
        <p:nvSpPr>
          <p:cNvPr id="414723" name="Rectangle 3"/>
          <p:cNvSpPr>
            <a:spLocks noGrp="1" noChangeArrowheads="1"/>
          </p:cNvSpPr>
          <p:nvPr>
            <p:ph type="body" idx="1"/>
          </p:nvPr>
        </p:nvSpPr>
        <p:spPr>
          <a:xfrm>
            <a:off x="539750" y="1268413"/>
            <a:ext cx="8208963" cy="1460500"/>
          </a:xfrm>
        </p:spPr>
        <p:txBody>
          <a:bodyPr/>
          <a:lstStyle/>
          <a:p>
            <a:pPr>
              <a:lnSpc>
                <a:spcPct val="150000"/>
              </a:lnSpc>
            </a:pPr>
            <a:r>
              <a:rPr lang="zh-CN" altLang="en-US">
                <a:solidFill>
                  <a:schemeClr val="hlink"/>
                </a:solidFill>
              </a:rPr>
              <a:t>例</a:t>
            </a:r>
            <a:r>
              <a:rPr lang="en-US" altLang="zh-CN">
                <a:solidFill>
                  <a:schemeClr val="hlink"/>
                </a:solidFill>
              </a:rPr>
              <a:t>1</a:t>
            </a:r>
            <a:r>
              <a:rPr lang="zh-CN" altLang="en-US">
                <a:solidFill>
                  <a:schemeClr val="hlink"/>
                </a:solidFill>
              </a:rPr>
              <a:t>：</a:t>
            </a:r>
            <a:r>
              <a:rPr lang="zh-CN" altLang="en-US"/>
              <a:t>令</a:t>
            </a:r>
            <a:r>
              <a:rPr lang="en-US" altLang="zh-CN" i="1"/>
              <a:t>f</a:t>
            </a:r>
            <a:r>
              <a:rPr lang="en-US" altLang="zh-CN"/>
              <a:t>(</a:t>
            </a:r>
            <a:r>
              <a:rPr lang="en-US" altLang="zh-CN" i="1"/>
              <a:t>x</a:t>
            </a:r>
            <a:r>
              <a:rPr lang="en-US" altLang="zh-CN"/>
              <a:t>, </a:t>
            </a:r>
            <a:r>
              <a:rPr lang="en-US" altLang="zh-CN" i="1"/>
              <a:t>y</a:t>
            </a:r>
            <a:r>
              <a:rPr lang="en-US" altLang="zh-CN"/>
              <a:t>)</a:t>
            </a:r>
            <a:r>
              <a:rPr lang="zh-CN" altLang="en-US"/>
              <a:t>表示</a:t>
            </a:r>
            <a:r>
              <a:rPr lang="en-US" altLang="zh-CN" i="1"/>
              <a:t>x</a:t>
            </a:r>
            <a:r>
              <a:rPr lang="en-US" altLang="zh-CN"/>
              <a:t>+</a:t>
            </a:r>
            <a:r>
              <a:rPr lang="en-US" altLang="zh-CN" i="1"/>
              <a:t>y</a:t>
            </a:r>
            <a:r>
              <a:rPr lang="zh-CN" altLang="en-US"/>
              <a:t>，谓词</a:t>
            </a:r>
            <a:r>
              <a:rPr lang="en-US" altLang="zh-CN" i="1"/>
              <a:t>N</a:t>
            </a:r>
            <a:r>
              <a:rPr lang="en-US" altLang="zh-CN"/>
              <a:t>(</a:t>
            </a:r>
            <a:r>
              <a:rPr lang="en-US" altLang="zh-CN" i="1"/>
              <a:t>x</a:t>
            </a:r>
            <a:r>
              <a:rPr lang="en-US" altLang="zh-CN"/>
              <a:t>)</a:t>
            </a:r>
            <a:r>
              <a:rPr lang="zh-CN" altLang="en-US"/>
              <a:t>表示</a:t>
            </a:r>
            <a:r>
              <a:rPr lang="en-US" altLang="zh-CN" i="1"/>
              <a:t>x</a:t>
            </a:r>
            <a:r>
              <a:rPr lang="zh-CN" altLang="en-US"/>
              <a:t>是自然数。</a:t>
            </a:r>
          </a:p>
          <a:p>
            <a:pPr>
              <a:lnSpc>
                <a:spcPct val="150000"/>
              </a:lnSpc>
            </a:pPr>
            <a:r>
              <a:rPr lang="en-US" altLang="zh-CN" i="1"/>
              <a:t>f</a:t>
            </a:r>
            <a:r>
              <a:rPr lang="en-US" altLang="zh-CN"/>
              <a:t>(2, 3)</a:t>
            </a:r>
            <a:r>
              <a:rPr lang="zh-CN" altLang="en-US"/>
              <a:t>：                           </a:t>
            </a:r>
            <a:r>
              <a:rPr lang="en-US" altLang="zh-CN" i="1"/>
              <a:t>N</a:t>
            </a:r>
            <a:r>
              <a:rPr lang="en-US" altLang="zh-CN"/>
              <a:t>(</a:t>
            </a:r>
            <a:r>
              <a:rPr lang="en-US" altLang="zh-CN" i="1"/>
              <a:t>f</a:t>
            </a:r>
            <a:r>
              <a:rPr lang="en-US" altLang="zh-CN"/>
              <a:t>(2,3))</a:t>
            </a:r>
            <a:r>
              <a:rPr lang="zh-CN" altLang="en-US"/>
              <a:t>：</a:t>
            </a:r>
          </a:p>
        </p:txBody>
      </p:sp>
      <p:sp>
        <p:nvSpPr>
          <p:cNvPr id="414724" name="Rectangle 4"/>
          <p:cNvSpPr>
            <a:spLocks noChangeArrowheads="1"/>
          </p:cNvSpPr>
          <p:nvPr/>
        </p:nvSpPr>
        <p:spPr bwMode="auto">
          <a:xfrm>
            <a:off x="2124075" y="3501008"/>
            <a:ext cx="37433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2800" b="1" dirty="0"/>
              <a:t>张强的父亲是教授。</a:t>
            </a:r>
          </a:p>
        </p:txBody>
      </p:sp>
      <p:sp>
        <p:nvSpPr>
          <p:cNvPr id="414725" name="Rectangle 5"/>
          <p:cNvSpPr>
            <a:spLocks noChangeArrowheads="1"/>
          </p:cNvSpPr>
          <p:nvPr/>
        </p:nvSpPr>
        <p:spPr bwMode="auto">
          <a:xfrm>
            <a:off x="1776413" y="2143443"/>
            <a:ext cx="2147887"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0" lang="zh-CN" altLang="en-US" sz="2800" b="1" dirty="0"/>
              <a:t>个体自然数</a:t>
            </a:r>
            <a:r>
              <a:rPr kumimoji="0" lang="en-US" altLang="zh-CN" sz="2800" b="1" dirty="0"/>
              <a:t>5</a:t>
            </a:r>
          </a:p>
        </p:txBody>
      </p:sp>
      <p:sp>
        <p:nvSpPr>
          <p:cNvPr id="414726" name="Rectangle 6"/>
          <p:cNvSpPr>
            <a:spLocks noChangeArrowheads="1"/>
          </p:cNvSpPr>
          <p:nvPr/>
        </p:nvSpPr>
        <p:spPr bwMode="auto">
          <a:xfrm>
            <a:off x="6022975" y="2132856"/>
            <a:ext cx="17907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0" lang="en-US" altLang="zh-CN" sz="2800" b="1" dirty="0"/>
              <a:t>5</a:t>
            </a:r>
            <a:r>
              <a:rPr kumimoji="0" lang="zh-CN" altLang="en-US" sz="2800" b="1" dirty="0"/>
              <a:t>是自然数</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147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47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14722"/>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47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4722" grpId="0"/>
      <p:bldP spid="414724" grpId="0"/>
      <p:bldP spid="414725" grpId="0"/>
      <p:bldP spid="414726"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4"/>
          <p:cNvSpPr>
            <a:spLocks noGrp="1"/>
          </p:cNvSpPr>
          <p:nvPr>
            <p:ph type="sldNum" sz="quarter" idx="11"/>
          </p:nvPr>
        </p:nvSpPr>
        <p:spPr/>
        <p:txBody>
          <a:bodyPr/>
          <a:lstStyle/>
          <a:p>
            <a:fld id="{CA43D701-D290-4E89-962E-035241329D77}" type="slidenum">
              <a:rPr lang="en-US" altLang="zh-CN"/>
              <a:pPr/>
              <a:t>33</a:t>
            </a:fld>
            <a:endParaRPr lang="en-US" altLang="zh-CN"/>
          </a:p>
        </p:txBody>
      </p:sp>
      <p:sp>
        <p:nvSpPr>
          <p:cNvPr id="134146" name="Rectangle 2"/>
          <p:cNvSpPr>
            <a:spLocks noGrp="1" noChangeArrowheads="1"/>
          </p:cNvSpPr>
          <p:nvPr>
            <p:ph type="title"/>
          </p:nvPr>
        </p:nvSpPr>
        <p:spPr>
          <a:xfrm>
            <a:off x="1258888" y="606425"/>
            <a:ext cx="4933950" cy="641350"/>
          </a:xfrm>
          <a:noFill/>
        </p:spPr>
        <p:txBody>
          <a:bodyPr/>
          <a:lstStyle/>
          <a:p>
            <a:r>
              <a:rPr lang="en-US" altLang="zh-CN" sz="3600" b="1" dirty="0">
                <a:solidFill>
                  <a:schemeClr val="tx1"/>
                </a:solidFill>
                <a:latin typeface="华文行楷" pitchFamily="2" charset="-122"/>
                <a:ea typeface="华文行楷" pitchFamily="2" charset="-122"/>
              </a:rPr>
              <a:t>2.3  </a:t>
            </a:r>
            <a:r>
              <a:rPr lang="zh-CN" altLang="en-US" sz="3600" b="1" dirty="0">
                <a:solidFill>
                  <a:schemeClr val="tx1"/>
                </a:solidFill>
                <a:latin typeface="华文行楷" pitchFamily="2" charset="-122"/>
                <a:ea typeface="华文行楷" pitchFamily="2" charset="-122"/>
              </a:rPr>
              <a:t>谓词公式与翻译</a:t>
            </a:r>
          </a:p>
        </p:txBody>
      </p:sp>
      <p:sp>
        <p:nvSpPr>
          <p:cNvPr id="134149" name="Rectangle 5"/>
          <p:cNvSpPr>
            <a:spLocks noChangeArrowheads="1"/>
          </p:cNvSpPr>
          <p:nvPr/>
        </p:nvSpPr>
        <p:spPr bwMode="auto">
          <a:xfrm>
            <a:off x="1079500" y="1484313"/>
            <a:ext cx="4572000" cy="126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3200" b="1" dirty="0">
                <a:solidFill>
                  <a:schemeClr val="folHlink"/>
                </a:solidFill>
                <a:ea typeface="楷体_GB2312" pitchFamily="49" charset="-122"/>
              </a:rPr>
              <a:t>一、谓词公式</a:t>
            </a:r>
          </a:p>
          <a:p>
            <a:pPr algn="l">
              <a:lnSpc>
                <a:spcPct val="120000"/>
              </a:lnSpc>
            </a:pPr>
            <a:r>
              <a:rPr lang="zh-CN" altLang="en-US" sz="3200" b="1" dirty="0">
                <a:solidFill>
                  <a:schemeClr val="folHlink"/>
                </a:solidFill>
                <a:ea typeface="楷体_GB2312" pitchFamily="49" charset="-122"/>
              </a:rPr>
              <a:t>二、谓词逻辑的翻译</a:t>
            </a:r>
          </a:p>
        </p:txBody>
      </p:sp>
      <p:sp>
        <p:nvSpPr>
          <p:cNvPr id="134152" name="Rectangle 8"/>
          <p:cNvSpPr>
            <a:spLocks noChangeArrowheads="1"/>
          </p:cNvSpPr>
          <p:nvPr/>
        </p:nvSpPr>
        <p:spPr bwMode="auto">
          <a:xfrm>
            <a:off x="1079500" y="2924175"/>
            <a:ext cx="7197725"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r>
              <a:rPr lang="zh-CN" altLang="en-US" sz="2800" b="1">
                <a:solidFill>
                  <a:schemeClr val="hlink"/>
                </a:solidFill>
              </a:rPr>
              <a:t>定义：</a:t>
            </a:r>
            <a:r>
              <a:rPr lang="zh-CN" altLang="en-US" sz="2800" b="1"/>
              <a:t>若</a:t>
            </a:r>
            <a:r>
              <a:rPr lang="en-US" altLang="zh-CN" sz="2800" b="1"/>
              <a:t>P(x, y, z, …)</a:t>
            </a:r>
            <a:r>
              <a:rPr lang="zh-CN" altLang="en-US" sz="2800" b="1"/>
              <a:t>是</a:t>
            </a:r>
            <a:r>
              <a:rPr lang="en-US" altLang="zh-CN" sz="2800" b="1"/>
              <a:t>n</a:t>
            </a:r>
            <a:r>
              <a:rPr lang="zh-CN" altLang="en-US" sz="2800" b="1"/>
              <a:t>元谓词，则称</a:t>
            </a:r>
            <a:r>
              <a:rPr lang="en-US" altLang="zh-CN" sz="2800" b="1"/>
              <a:t>P(x, y, z, …)</a:t>
            </a:r>
            <a:r>
              <a:rPr lang="zh-CN" altLang="en-US" sz="2800" b="1"/>
              <a:t>为原子谓词公式，简称原子公式。</a:t>
            </a:r>
          </a:p>
        </p:txBody>
      </p:sp>
    </p:spTree>
  </p:cSld>
  <p:clrMapOvr>
    <a:masterClrMapping/>
  </p:clrMapOvr>
  <p:transition spd="slow">
    <p:pull dir="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2E016DFD-5049-4D49-9E6D-CD0F6C9B24BC}" type="slidenum">
              <a:rPr lang="en-US" altLang="zh-CN"/>
              <a:pPr/>
              <a:t>34</a:t>
            </a:fld>
            <a:endParaRPr lang="en-US" altLang="zh-CN"/>
          </a:p>
        </p:txBody>
      </p:sp>
      <p:sp>
        <p:nvSpPr>
          <p:cNvPr id="219142" name="Rectangle 6"/>
          <p:cNvSpPr>
            <a:spLocks noChangeArrowheads="1"/>
          </p:cNvSpPr>
          <p:nvPr/>
        </p:nvSpPr>
        <p:spPr bwMode="auto">
          <a:xfrm>
            <a:off x="1258888" y="647700"/>
            <a:ext cx="2882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chemeClr val="folHlink"/>
                </a:solidFill>
                <a:ea typeface="楷体_GB2312" pitchFamily="49" charset="-122"/>
              </a:rPr>
              <a:t>一、谓词公式</a:t>
            </a:r>
          </a:p>
        </p:txBody>
      </p:sp>
      <p:sp>
        <p:nvSpPr>
          <p:cNvPr id="219144" name="Rectangle 8"/>
          <p:cNvSpPr>
            <a:spLocks noChangeArrowheads="1"/>
          </p:cNvSpPr>
          <p:nvPr/>
        </p:nvSpPr>
        <p:spPr bwMode="auto">
          <a:xfrm>
            <a:off x="971550" y="1214438"/>
            <a:ext cx="7561263"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olidFill>
                  <a:schemeClr val="hlink"/>
                </a:solidFill>
              </a:rPr>
              <a:t>定义</a:t>
            </a:r>
            <a:r>
              <a:rPr lang="en-US" altLang="zh-CN" sz="2800" b="1">
                <a:solidFill>
                  <a:schemeClr val="hlink"/>
                </a:solidFill>
              </a:rPr>
              <a:t>2-3.1</a:t>
            </a:r>
            <a:r>
              <a:rPr lang="zh-CN" altLang="en-US" sz="2800" b="1">
                <a:solidFill>
                  <a:schemeClr val="hlink"/>
                </a:solidFill>
              </a:rPr>
              <a:t>：</a:t>
            </a:r>
            <a:r>
              <a:rPr lang="zh-CN" altLang="en-US" sz="2800" b="1"/>
              <a:t>谓词演算的合式公式，可由下述各条组成：</a:t>
            </a:r>
          </a:p>
          <a:p>
            <a:pPr algn="l">
              <a:lnSpc>
                <a:spcPct val="120000"/>
              </a:lnSpc>
            </a:pPr>
            <a:r>
              <a:rPr lang="en-US" altLang="zh-CN" sz="2800" b="1"/>
              <a:t>(1)</a:t>
            </a:r>
            <a:r>
              <a:rPr lang="zh-CN" altLang="en-US" sz="2800" b="1"/>
              <a:t>原子公式是合式公式。</a:t>
            </a:r>
          </a:p>
          <a:p>
            <a:pPr algn="l">
              <a:lnSpc>
                <a:spcPct val="120000"/>
              </a:lnSpc>
            </a:pPr>
            <a:r>
              <a:rPr lang="en-US" altLang="zh-CN" sz="2800" b="1"/>
              <a:t>(2)</a:t>
            </a:r>
            <a:r>
              <a:rPr lang="zh-CN" altLang="en-US" sz="2800" b="1"/>
              <a:t>若</a:t>
            </a:r>
            <a:r>
              <a:rPr lang="en-US" altLang="zh-CN" sz="2800" b="1"/>
              <a:t>A</a:t>
            </a:r>
            <a:r>
              <a:rPr lang="zh-CN" altLang="en-US" sz="2800" b="1"/>
              <a:t>是合式公式，则┐</a:t>
            </a:r>
            <a:r>
              <a:rPr lang="en-US" altLang="zh-CN" sz="2800" b="1"/>
              <a:t>A</a:t>
            </a:r>
            <a:r>
              <a:rPr lang="zh-CN" altLang="en-US" sz="2800" b="1"/>
              <a:t>是合式公式。</a:t>
            </a:r>
          </a:p>
          <a:p>
            <a:pPr algn="l">
              <a:lnSpc>
                <a:spcPct val="120000"/>
              </a:lnSpc>
            </a:pPr>
            <a:r>
              <a:rPr lang="en-US" altLang="zh-CN" sz="2800" b="1"/>
              <a:t>(3)</a:t>
            </a:r>
            <a:r>
              <a:rPr lang="zh-CN" altLang="en-US" sz="2800" b="1"/>
              <a:t>如果</a:t>
            </a:r>
            <a:r>
              <a:rPr lang="en-US" altLang="zh-CN" sz="2800" b="1"/>
              <a:t>A</a:t>
            </a:r>
            <a:r>
              <a:rPr lang="zh-CN" altLang="en-US" sz="2800" b="1"/>
              <a:t>和</a:t>
            </a:r>
            <a:r>
              <a:rPr lang="en-US" altLang="zh-CN" sz="2800" b="1"/>
              <a:t>B</a:t>
            </a:r>
            <a:r>
              <a:rPr lang="zh-CN" altLang="en-US" sz="2800" b="1"/>
              <a:t>是合式公式，则</a:t>
            </a:r>
            <a:r>
              <a:rPr lang="en-US" altLang="zh-CN" sz="2800" b="1"/>
              <a:t>A∧B</a:t>
            </a:r>
            <a:r>
              <a:rPr lang="zh-CN" altLang="en-US" sz="2800" b="1"/>
              <a:t>，</a:t>
            </a:r>
            <a:r>
              <a:rPr lang="en-US" altLang="zh-CN" sz="2800" b="1"/>
              <a:t>A∨B</a:t>
            </a:r>
            <a:r>
              <a:rPr lang="zh-CN" altLang="en-US" sz="2800" b="1"/>
              <a:t>，</a:t>
            </a:r>
            <a:r>
              <a:rPr lang="en-US" altLang="zh-CN" sz="2800" b="1"/>
              <a:t>A→B</a:t>
            </a:r>
            <a:r>
              <a:rPr lang="zh-CN" altLang="en-US" sz="2800" b="1"/>
              <a:t>， </a:t>
            </a:r>
            <a:r>
              <a:rPr lang="en-US" altLang="zh-CN" sz="2800" b="1"/>
              <a:t>A</a:t>
            </a:r>
            <a:r>
              <a:rPr lang="en-US" altLang="zh-CN" sz="2800" b="1">
                <a:latin typeface="Arial Unicode MS" pitchFamily="34" charset="-122"/>
                <a:ea typeface="Arial Unicode MS" pitchFamily="34" charset="-122"/>
                <a:cs typeface="Arial Unicode MS" pitchFamily="34" charset="-122"/>
              </a:rPr>
              <a:t>⇄</a:t>
            </a:r>
            <a:r>
              <a:rPr lang="en-US" altLang="zh-CN" sz="2800" b="1"/>
              <a:t>B</a:t>
            </a:r>
            <a:r>
              <a:rPr lang="zh-CN" altLang="en-US" sz="2800" b="1"/>
              <a:t>是合式公式。</a:t>
            </a:r>
          </a:p>
          <a:p>
            <a:pPr algn="l">
              <a:lnSpc>
                <a:spcPct val="120000"/>
              </a:lnSpc>
            </a:pPr>
            <a:r>
              <a:rPr lang="en-US" altLang="zh-CN" sz="2800" b="1"/>
              <a:t>(4)</a:t>
            </a:r>
            <a:r>
              <a:rPr lang="zh-CN" altLang="en-US" sz="2800" b="1"/>
              <a:t>若</a:t>
            </a:r>
            <a:r>
              <a:rPr lang="en-US" altLang="zh-CN" sz="2800" b="1"/>
              <a:t>A</a:t>
            </a:r>
            <a:r>
              <a:rPr lang="zh-CN" altLang="en-US" sz="2800" b="1"/>
              <a:t>是合式公式，</a:t>
            </a:r>
            <a:r>
              <a:rPr lang="en-US" altLang="zh-CN" sz="2800" b="1"/>
              <a:t>x</a:t>
            </a:r>
            <a:r>
              <a:rPr lang="zh-CN" altLang="en-US" sz="2800" b="1"/>
              <a:t>是</a:t>
            </a:r>
            <a:r>
              <a:rPr lang="en-US" altLang="zh-CN" sz="2800" b="1"/>
              <a:t>A</a:t>
            </a:r>
            <a:r>
              <a:rPr lang="zh-CN" altLang="en-US" sz="2800" b="1"/>
              <a:t>中出现的任何变元，则</a:t>
            </a:r>
            <a:r>
              <a:rPr lang="en-US" altLang="zh-CN" sz="2800" b="1"/>
              <a:t>(</a:t>
            </a:r>
            <a:r>
              <a:rPr lang="en-US" altLang="zh-CN" sz="2800" b="1">
                <a:sym typeface="Symbol" pitchFamily="18" charset="2"/>
              </a:rPr>
              <a:t></a:t>
            </a:r>
            <a:r>
              <a:rPr lang="en-US" altLang="zh-CN" sz="2800" b="1"/>
              <a:t>x)A</a:t>
            </a:r>
            <a:r>
              <a:rPr lang="zh-CN" altLang="en-US" sz="2800" b="1"/>
              <a:t>，</a:t>
            </a:r>
            <a:r>
              <a:rPr lang="en-US" altLang="zh-CN" sz="2800" b="1"/>
              <a:t>(</a:t>
            </a:r>
            <a:r>
              <a:rPr lang="en-US" altLang="zh-CN" sz="2800" b="1">
                <a:sym typeface="Symbol" pitchFamily="18" charset="2"/>
              </a:rPr>
              <a:t></a:t>
            </a:r>
            <a:r>
              <a:rPr lang="en-US" altLang="zh-CN" sz="2800" b="1"/>
              <a:t>x)A</a:t>
            </a:r>
            <a:r>
              <a:rPr lang="zh-CN" altLang="en-US" sz="2800" b="1"/>
              <a:t>都是合式公式。</a:t>
            </a:r>
          </a:p>
          <a:p>
            <a:pPr algn="l">
              <a:lnSpc>
                <a:spcPct val="120000"/>
              </a:lnSpc>
            </a:pPr>
            <a:r>
              <a:rPr lang="en-US" altLang="zh-CN" sz="2800" b="1"/>
              <a:t>(5)</a:t>
            </a:r>
            <a:r>
              <a:rPr lang="zh-CN" altLang="en-US" sz="2800" b="1"/>
              <a:t>当且仅当有限次地应用</a:t>
            </a:r>
            <a:r>
              <a:rPr lang="en-US" altLang="zh-CN" sz="2800" b="1"/>
              <a:t>(1)</a:t>
            </a:r>
            <a:r>
              <a:rPr lang="zh-CN" altLang="en-US" sz="2800" b="1"/>
              <a:t>，</a:t>
            </a:r>
            <a:r>
              <a:rPr lang="en-US" altLang="zh-CN" sz="2800" b="1"/>
              <a:t>(2)</a:t>
            </a:r>
            <a:r>
              <a:rPr lang="zh-CN" altLang="en-US" sz="2800" b="1"/>
              <a:t>，</a:t>
            </a:r>
            <a:r>
              <a:rPr lang="en-US" altLang="zh-CN" sz="2800" b="1"/>
              <a:t>(3)</a:t>
            </a:r>
            <a:r>
              <a:rPr lang="zh-CN" altLang="en-US" sz="2800" b="1"/>
              <a:t>，</a:t>
            </a:r>
            <a:r>
              <a:rPr lang="en-US" altLang="zh-CN" sz="2800" b="1"/>
              <a:t>(4)</a:t>
            </a:r>
            <a:r>
              <a:rPr lang="zh-CN" altLang="en-US" sz="2800" b="1"/>
              <a:t>规则得到的才是合式公式。</a:t>
            </a:r>
          </a:p>
        </p:txBody>
      </p:sp>
      <p:sp>
        <p:nvSpPr>
          <p:cNvPr id="219146" name="Rectangle 10"/>
          <p:cNvSpPr>
            <a:spLocks noChangeArrowheads="1"/>
          </p:cNvSpPr>
          <p:nvPr/>
        </p:nvSpPr>
        <p:spPr bwMode="auto">
          <a:xfrm>
            <a:off x="5435600" y="1830388"/>
            <a:ext cx="22860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a:solidFill>
                  <a:schemeClr val="hlink"/>
                </a:solidFill>
              </a:rPr>
              <a:t>递归式定义</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914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914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914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9144">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19144">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1914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914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A8DFFAFF-8993-473E-B226-09B88CD41E0D}" type="slidenum">
              <a:rPr lang="en-US" altLang="zh-CN"/>
              <a:pPr/>
              <a:t>35</a:t>
            </a:fld>
            <a:endParaRPr lang="en-US" altLang="zh-CN"/>
          </a:p>
        </p:txBody>
      </p:sp>
      <p:sp>
        <p:nvSpPr>
          <p:cNvPr id="212996" name="Rectangle 4"/>
          <p:cNvSpPr>
            <a:spLocks noChangeArrowheads="1"/>
          </p:cNvSpPr>
          <p:nvPr/>
        </p:nvSpPr>
        <p:spPr bwMode="auto">
          <a:xfrm>
            <a:off x="1258888" y="647700"/>
            <a:ext cx="50419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pPr>
            <a:r>
              <a:rPr lang="zh-CN" altLang="en-US" sz="3200" b="1">
                <a:solidFill>
                  <a:schemeClr val="folHlink"/>
                </a:solidFill>
                <a:ea typeface="楷体_GB2312" pitchFamily="49" charset="-122"/>
              </a:rPr>
              <a:t>二、谓词逻辑的翻译</a:t>
            </a:r>
          </a:p>
        </p:txBody>
      </p:sp>
      <p:sp>
        <p:nvSpPr>
          <p:cNvPr id="212998" name="Rectangle 6"/>
          <p:cNvSpPr>
            <a:spLocks noChangeArrowheads="1"/>
          </p:cNvSpPr>
          <p:nvPr/>
        </p:nvSpPr>
        <p:spPr bwMode="auto">
          <a:xfrm>
            <a:off x="971550" y="1268413"/>
            <a:ext cx="74882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en-US" altLang="zh-CN" sz="2800" b="1" dirty="0">
                <a:solidFill>
                  <a:schemeClr val="hlink"/>
                </a:solidFill>
              </a:rPr>
              <a:t>(1)</a:t>
            </a:r>
            <a:r>
              <a:rPr lang="zh-CN" altLang="en-US" sz="2800" b="1" dirty="0">
                <a:solidFill>
                  <a:schemeClr val="hlink"/>
                </a:solidFill>
              </a:rPr>
              <a:t>正确理解命题：</a:t>
            </a:r>
            <a:r>
              <a:rPr lang="zh-CN" altLang="en-US" sz="2800" b="1" dirty="0"/>
              <a:t>必要时把命题改叙，使其中每个原子命题、原子命题之间的关系能明显表达出来。</a:t>
            </a:r>
          </a:p>
          <a:p>
            <a:pPr algn="l">
              <a:lnSpc>
                <a:spcPct val="120000"/>
              </a:lnSpc>
            </a:pPr>
            <a:r>
              <a:rPr lang="en-US" altLang="zh-CN" sz="2800" b="1" dirty="0">
                <a:solidFill>
                  <a:schemeClr val="hlink"/>
                </a:solidFill>
              </a:rPr>
              <a:t>(2)</a:t>
            </a:r>
            <a:r>
              <a:rPr lang="zh-CN" altLang="en-US" sz="2800" b="1" dirty="0">
                <a:solidFill>
                  <a:schemeClr val="hlink"/>
                </a:solidFill>
              </a:rPr>
              <a:t>分解原子命题：</a:t>
            </a:r>
            <a:r>
              <a:rPr kumimoji="0" lang="zh-CN" altLang="en-US" sz="2800" b="1" dirty="0"/>
              <a:t>分解成个体、谓词和量词；在全总论域讨论时，要给出特性谓词。</a:t>
            </a:r>
            <a:endParaRPr lang="zh-CN" altLang="en-US" sz="2800" b="1" dirty="0"/>
          </a:p>
          <a:p>
            <a:pPr algn="l">
              <a:lnSpc>
                <a:spcPct val="120000"/>
              </a:lnSpc>
            </a:pPr>
            <a:r>
              <a:rPr lang="en-US" altLang="zh-CN" sz="2800" b="1" dirty="0">
                <a:solidFill>
                  <a:schemeClr val="hlink"/>
                </a:solidFill>
              </a:rPr>
              <a:t>(3)</a:t>
            </a:r>
            <a:r>
              <a:rPr lang="zh-CN" altLang="en-US" sz="2800" b="1" dirty="0">
                <a:solidFill>
                  <a:schemeClr val="hlink"/>
                </a:solidFill>
              </a:rPr>
              <a:t>找出量词：</a:t>
            </a:r>
            <a:r>
              <a:rPr kumimoji="0" lang="zh-CN" altLang="en-US" sz="2800" b="1" dirty="0"/>
              <a:t>应注意全称量词</a:t>
            </a:r>
            <a:r>
              <a:rPr kumimoji="0" lang="en-US" altLang="zh-CN" sz="2800" b="1" dirty="0"/>
              <a:t>(</a:t>
            </a:r>
            <a:r>
              <a:rPr kumimoji="0" lang="en-US" altLang="zh-CN" sz="2800" b="1" dirty="0">
                <a:latin typeface="宋体" charset="-122"/>
                <a:sym typeface="Symbol" pitchFamily="18" charset="2"/>
              </a:rPr>
              <a:t></a:t>
            </a:r>
            <a:r>
              <a:rPr kumimoji="0" lang="en-US" altLang="zh-CN" sz="2800" b="1" i="1" dirty="0"/>
              <a:t>x</a:t>
            </a:r>
            <a:r>
              <a:rPr kumimoji="0" lang="en-US" altLang="zh-CN" sz="2800" b="1" dirty="0"/>
              <a:t>)</a:t>
            </a:r>
            <a:r>
              <a:rPr kumimoji="0" lang="zh-CN" altLang="en-US" sz="2800" b="1" dirty="0"/>
              <a:t>后跟条件式，存在量词</a:t>
            </a:r>
            <a:r>
              <a:rPr kumimoji="0" lang="en-US" altLang="zh-CN" sz="2800" b="1" dirty="0"/>
              <a:t>(</a:t>
            </a:r>
            <a:r>
              <a:rPr kumimoji="0" lang="en-US" altLang="zh-CN" sz="2800" b="1" dirty="0">
                <a:latin typeface="宋体" charset="-122"/>
                <a:sym typeface="Symbol" pitchFamily="18" charset="2"/>
              </a:rPr>
              <a:t></a:t>
            </a:r>
            <a:r>
              <a:rPr kumimoji="0" lang="en-US" altLang="zh-CN" sz="2800" b="1" i="1" dirty="0"/>
              <a:t>x</a:t>
            </a:r>
            <a:r>
              <a:rPr kumimoji="0" lang="en-US" altLang="zh-CN" sz="2800" b="1" dirty="0"/>
              <a:t>)</a:t>
            </a:r>
            <a:r>
              <a:rPr kumimoji="0" lang="zh-CN" altLang="en-US" sz="2800" b="1" dirty="0"/>
              <a:t>后跟合取式。</a:t>
            </a:r>
          </a:p>
          <a:p>
            <a:pPr algn="l">
              <a:lnSpc>
                <a:spcPct val="120000"/>
              </a:lnSpc>
            </a:pPr>
            <a:r>
              <a:rPr kumimoji="0" lang="en-US" altLang="zh-CN" sz="2800" b="1" dirty="0">
                <a:solidFill>
                  <a:schemeClr val="hlink"/>
                </a:solidFill>
              </a:rPr>
              <a:t>(4)</a:t>
            </a:r>
            <a:r>
              <a:rPr kumimoji="0" lang="zh-CN" altLang="en-US" sz="2800" b="1" dirty="0">
                <a:solidFill>
                  <a:schemeClr val="hlink"/>
                </a:solidFill>
              </a:rPr>
              <a:t>选择恰当的联结词。</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299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299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299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fld id="{FC4EF23E-F65B-444B-B840-FC1703F6A7E7}" type="slidenum">
              <a:rPr lang="en-US" altLang="zh-CN"/>
              <a:pPr/>
              <a:t>36</a:t>
            </a:fld>
            <a:endParaRPr lang="en-US" altLang="zh-CN"/>
          </a:p>
        </p:txBody>
      </p:sp>
      <p:sp>
        <p:nvSpPr>
          <p:cNvPr id="220165" name="Rectangle 5"/>
          <p:cNvSpPr>
            <a:spLocks noChangeArrowheads="1"/>
          </p:cNvSpPr>
          <p:nvPr/>
        </p:nvSpPr>
        <p:spPr bwMode="auto">
          <a:xfrm>
            <a:off x="827088" y="1412875"/>
            <a:ext cx="7127875" cy="308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2800" b="1" dirty="0">
                <a:solidFill>
                  <a:schemeClr val="hlink"/>
                </a:solidFill>
              </a:rPr>
              <a:t>例</a:t>
            </a:r>
            <a:r>
              <a:rPr lang="en-US" altLang="zh-CN" sz="2800" b="1" dirty="0">
                <a:solidFill>
                  <a:schemeClr val="hlink"/>
                </a:solidFill>
              </a:rPr>
              <a:t>1</a:t>
            </a:r>
            <a:r>
              <a:rPr lang="zh-CN" altLang="en-US" sz="2800" b="1" dirty="0">
                <a:solidFill>
                  <a:schemeClr val="hlink"/>
                </a:solidFill>
              </a:rPr>
              <a:t>：</a:t>
            </a:r>
            <a:r>
              <a:rPr lang="zh-CN" altLang="en-US" sz="2800" b="1" dirty="0"/>
              <a:t>并非每个实数都是有理数。</a:t>
            </a:r>
          </a:p>
          <a:p>
            <a:pPr algn="l">
              <a:spcBef>
                <a:spcPct val="50000"/>
              </a:spcBef>
            </a:pPr>
            <a:endParaRPr lang="zh-CN" altLang="en-US" sz="2800" b="1" dirty="0"/>
          </a:p>
          <a:p>
            <a:pPr algn="l">
              <a:spcBef>
                <a:spcPct val="50000"/>
              </a:spcBef>
            </a:pPr>
            <a:r>
              <a:rPr lang="zh-CN" altLang="en-US" sz="2800" b="1" dirty="0">
                <a:solidFill>
                  <a:schemeClr val="hlink"/>
                </a:solidFill>
              </a:rPr>
              <a:t>例</a:t>
            </a:r>
            <a:r>
              <a:rPr lang="en-US" altLang="zh-CN" sz="2800" b="1" dirty="0">
                <a:solidFill>
                  <a:schemeClr val="hlink"/>
                </a:solidFill>
              </a:rPr>
              <a:t>2</a:t>
            </a:r>
            <a:r>
              <a:rPr lang="zh-CN" altLang="en-US" sz="2800" b="1" dirty="0">
                <a:solidFill>
                  <a:schemeClr val="hlink"/>
                </a:solidFill>
              </a:rPr>
              <a:t>：</a:t>
            </a:r>
            <a:r>
              <a:rPr lang="zh-CN" altLang="en-US" sz="2800" b="1" dirty="0"/>
              <a:t>没有不犯错误的人。</a:t>
            </a:r>
          </a:p>
          <a:p>
            <a:pPr algn="l">
              <a:spcBef>
                <a:spcPct val="50000"/>
              </a:spcBef>
            </a:pPr>
            <a:endParaRPr lang="zh-CN" altLang="en-US" sz="2800" b="1" dirty="0"/>
          </a:p>
          <a:p>
            <a:pPr algn="l">
              <a:spcBef>
                <a:spcPct val="50000"/>
              </a:spcBef>
            </a:pPr>
            <a:r>
              <a:rPr lang="zh-CN" altLang="en-US" sz="2800" b="1" dirty="0">
                <a:solidFill>
                  <a:schemeClr val="hlink"/>
                </a:solidFill>
              </a:rPr>
              <a:t>例</a:t>
            </a:r>
            <a:r>
              <a:rPr lang="en-US" altLang="zh-CN" sz="2800" b="1" dirty="0">
                <a:solidFill>
                  <a:schemeClr val="hlink"/>
                </a:solidFill>
              </a:rPr>
              <a:t>3</a:t>
            </a:r>
            <a:r>
              <a:rPr lang="zh-CN" altLang="en-US" sz="2800" b="1" dirty="0">
                <a:solidFill>
                  <a:schemeClr val="hlink"/>
                </a:solidFill>
              </a:rPr>
              <a:t>：</a:t>
            </a:r>
            <a:r>
              <a:rPr lang="zh-CN" altLang="en-US" sz="2800" b="1" dirty="0"/>
              <a:t>尽管有人聪明，但未必一切人都聪明。</a:t>
            </a:r>
          </a:p>
        </p:txBody>
      </p:sp>
      <p:sp>
        <p:nvSpPr>
          <p:cNvPr id="220166" name="Rectangle 6"/>
          <p:cNvSpPr>
            <a:spLocks noChangeArrowheads="1"/>
          </p:cNvSpPr>
          <p:nvPr/>
        </p:nvSpPr>
        <p:spPr bwMode="auto">
          <a:xfrm>
            <a:off x="827088" y="4622800"/>
            <a:ext cx="68818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kumimoji="0" lang="zh-CN" altLang="en-US" sz="2800" b="1" dirty="0">
                <a:solidFill>
                  <a:schemeClr val="bg2"/>
                </a:solidFill>
              </a:rPr>
              <a:t>解</a:t>
            </a:r>
            <a:r>
              <a:rPr kumimoji="0" lang="en-US" altLang="zh-CN" sz="2800" b="1" dirty="0">
                <a:solidFill>
                  <a:schemeClr val="bg2"/>
                </a:solidFill>
              </a:rPr>
              <a:t>:   (</a:t>
            </a:r>
            <a:r>
              <a:rPr kumimoji="0" lang="en-US" altLang="zh-CN" sz="2800" b="1" dirty="0">
                <a:sym typeface="Symbol" pitchFamily="18" charset="2"/>
              </a:rPr>
              <a:t></a:t>
            </a:r>
            <a:r>
              <a:rPr kumimoji="0" lang="en-US" altLang="zh-CN" sz="2800" b="1" dirty="0">
                <a:solidFill>
                  <a:schemeClr val="bg2"/>
                </a:solidFill>
              </a:rPr>
              <a:t>x)(M(x)∧P(x))∧┐(</a:t>
            </a:r>
            <a:r>
              <a:rPr kumimoji="0" lang="en-US" altLang="zh-CN" sz="2800" b="1" dirty="0">
                <a:sym typeface="Symbol" pitchFamily="18" charset="2"/>
              </a:rPr>
              <a:t></a:t>
            </a:r>
            <a:r>
              <a:rPr kumimoji="0" lang="en-US" altLang="zh-CN" sz="2800" b="1" dirty="0">
                <a:solidFill>
                  <a:schemeClr val="bg2"/>
                </a:solidFill>
              </a:rPr>
              <a:t>x)(M(x)→P(x))</a:t>
            </a:r>
          </a:p>
        </p:txBody>
      </p:sp>
      <p:sp>
        <p:nvSpPr>
          <p:cNvPr id="220167" name="Rectangle 7"/>
          <p:cNvSpPr>
            <a:spLocks noChangeArrowheads="1"/>
          </p:cNvSpPr>
          <p:nvPr/>
        </p:nvSpPr>
        <p:spPr bwMode="auto">
          <a:xfrm>
            <a:off x="827088" y="3316288"/>
            <a:ext cx="41370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kumimoji="0" lang="zh-CN" altLang="en-US" sz="2800" b="1">
                <a:solidFill>
                  <a:schemeClr val="bg2"/>
                </a:solidFill>
              </a:rPr>
              <a:t>解</a:t>
            </a:r>
            <a:r>
              <a:rPr kumimoji="0" lang="en-US" altLang="zh-CN" sz="2800" b="1">
                <a:solidFill>
                  <a:schemeClr val="bg2"/>
                </a:solidFill>
              </a:rPr>
              <a:t>:  ┐(</a:t>
            </a:r>
            <a:r>
              <a:rPr kumimoji="0" lang="en-US" altLang="zh-CN" sz="2800" b="1">
                <a:sym typeface="Symbol" pitchFamily="18" charset="2"/>
              </a:rPr>
              <a:t></a:t>
            </a:r>
            <a:r>
              <a:rPr kumimoji="0" lang="en-US" altLang="zh-CN" sz="2800" b="1">
                <a:solidFill>
                  <a:schemeClr val="bg2"/>
                </a:solidFill>
              </a:rPr>
              <a:t>x)(M(x)∧┐F(x))</a:t>
            </a:r>
          </a:p>
        </p:txBody>
      </p:sp>
      <p:sp>
        <p:nvSpPr>
          <p:cNvPr id="220168" name="Rectangle 8"/>
          <p:cNvSpPr>
            <a:spLocks noChangeArrowheads="1"/>
          </p:cNvSpPr>
          <p:nvPr/>
        </p:nvSpPr>
        <p:spPr bwMode="auto">
          <a:xfrm>
            <a:off x="827088" y="2017713"/>
            <a:ext cx="3886200"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spcBef>
                <a:spcPct val="50000"/>
              </a:spcBef>
            </a:pPr>
            <a:r>
              <a:rPr kumimoji="0" lang="zh-CN" altLang="en-US" sz="2800" b="1">
                <a:solidFill>
                  <a:schemeClr val="bg2"/>
                </a:solidFill>
              </a:rPr>
              <a:t>解：┐</a:t>
            </a:r>
            <a:r>
              <a:rPr kumimoji="0" lang="en-US" altLang="zh-CN" sz="2800" b="1">
                <a:solidFill>
                  <a:schemeClr val="bg2"/>
                </a:solidFill>
              </a:rPr>
              <a:t>(</a:t>
            </a:r>
            <a:r>
              <a:rPr kumimoji="0" lang="en-US" altLang="zh-CN" sz="2800" b="1">
                <a:sym typeface="Symbol" pitchFamily="18" charset="2"/>
              </a:rPr>
              <a:t></a:t>
            </a:r>
            <a:r>
              <a:rPr kumimoji="0" lang="en-US" altLang="zh-CN" sz="2800" b="1">
                <a:solidFill>
                  <a:schemeClr val="bg2"/>
                </a:solidFill>
              </a:rPr>
              <a:t>x)(R(x)→Q(x))</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20168"/>
                                        </p:tgtEl>
                                        <p:attrNameLst>
                                          <p:attrName>style.visibility</p:attrName>
                                        </p:attrNameLst>
                                      </p:cBhvr>
                                      <p:to>
                                        <p:strVal val="visible"/>
                                      </p:to>
                                    </p:set>
                                    <p:anim calcmode="lin" valueType="num">
                                      <p:cBhvr additive="base">
                                        <p:cTn id="7" dur="500" fill="hold"/>
                                        <p:tgtEl>
                                          <p:spTgt spid="220168"/>
                                        </p:tgtEl>
                                        <p:attrNameLst>
                                          <p:attrName>ppt_x</p:attrName>
                                        </p:attrNameLst>
                                      </p:cBhvr>
                                      <p:tavLst>
                                        <p:tav tm="0">
                                          <p:val>
                                            <p:strVal val="0-#ppt_w/2"/>
                                          </p:val>
                                        </p:tav>
                                        <p:tav tm="100000">
                                          <p:val>
                                            <p:strVal val="#ppt_x"/>
                                          </p:val>
                                        </p:tav>
                                      </p:tavLst>
                                    </p:anim>
                                    <p:anim calcmode="lin" valueType="num">
                                      <p:cBhvr additive="base">
                                        <p:cTn id="8" dur="500" fill="hold"/>
                                        <p:tgtEl>
                                          <p:spTgt spid="220168"/>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20167"/>
                                        </p:tgtEl>
                                        <p:attrNameLst>
                                          <p:attrName>style.visibility</p:attrName>
                                        </p:attrNameLst>
                                      </p:cBhvr>
                                      <p:to>
                                        <p:strVal val="visible"/>
                                      </p:to>
                                    </p:set>
                                    <p:anim calcmode="lin" valueType="num">
                                      <p:cBhvr additive="base">
                                        <p:cTn id="13" dur="500" fill="hold"/>
                                        <p:tgtEl>
                                          <p:spTgt spid="220167"/>
                                        </p:tgtEl>
                                        <p:attrNameLst>
                                          <p:attrName>ppt_x</p:attrName>
                                        </p:attrNameLst>
                                      </p:cBhvr>
                                      <p:tavLst>
                                        <p:tav tm="0">
                                          <p:val>
                                            <p:strVal val="0-#ppt_w/2"/>
                                          </p:val>
                                        </p:tav>
                                        <p:tav tm="100000">
                                          <p:val>
                                            <p:strVal val="#ppt_x"/>
                                          </p:val>
                                        </p:tav>
                                      </p:tavLst>
                                    </p:anim>
                                    <p:anim calcmode="lin" valueType="num">
                                      <p:cBhvr additive="base">
                                        <p:cTn id="14" dur="500" fill="hold"/>
                                        <p:tgtEl>
                                          <p:spTgt spid="220167"/>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20166"/>
                                        </p:tgtEl>
                                        <p:attrNameLst>
                                          <p:attrName>style.visibility</p:attrName>
                                        </p:attrNameLst>
                                      </p:cBhvr>
                                      <p:to>
                                        <p:strVal val="visible"/>
                                      </p:to>
                                    </p:set>
                                    <p:anim calcmode="lin" valueType="num">
                                      <p:cBhvr additive="base">
                                        <p:cTn id="19" dur="500" fill="hold"/>
                                        <p:tgtEl>
                                          <p:spTgt spid="220166"/>
                                        </p:tgtEl>
                                        <p:attrNameLst>
                                          <p:attrName>ppt_x</p:attrName>
                                        </p:attrNameLst>
                                      </p:cBhvr>
                                      <p:tavLst>
                                        <p:tav tm="0">
                                          <p:val>
                                            <p:strVal val="0-#ppt_w/2"/>
                                          </p:val>
                                        </p:tav>
                                        <p:tav tm="100000">
                                          <p:val>
                                            <p:strVal val="#ppt_x"/>
                                          </p:val>
                                        </p:tav>
                                      </p:tavLst>
                                    </p:anim>
                                    <p:anim calcmode="lin" valueType="num">
                                      <p:cBhvr additive="base">
                                        <p:cTn id="20" dur="500" fill="hold"/>
                                        <p:tgtEl>
                                          <p:spTgt spid="22016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0166" grpId="0"/>
      <p:bldP spid="220167" grpId="0"/>
      <p:bldP spid="220168"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524DAA6C-96C4-4D4E-8A26-50220CCA2CE3}" type="slidenum">
              <a:rPr lang="en-US" altLang="zh-CN"/>
              <a:pPr/>
              <a:t>37</a:t>
            </a:fld>
            <a:endParaRPr lang="en-US" altLang="zh-CN"/>
          </a:p>
        </p:txBody>
      </p:sp>
      <p:sp>
        <p:nvSpPr>
          <p:cNvPr id="418818" name="Rectangle 2"/>
          <p:cNvSpPr>
            <a:spLocks noGrp="1" noChangeArrowheads="1"/>
          </p:cNvSpPr>
          <p:nvPr>
            <p:ph type="body" idx="1"/>
          </p:nvPr>
        </p:nvSpPr>
        <p:spPr>
          <a:xfrm>
            <a:off x="827088" y="1289050"/>
            <a:ext cx="7491412" cy="3298825"/>
          </a:xfrm>
          <a:noFill/>
        </p:spPr>
        <p:txBody>
          <a:bodyPr/>
          <a:lstStyle/>
          <a:p>
            <a:pPr>
              <a:lnSpc>
                <a:spcPct val="150000"/>
              </a:lnSpc>
              <a:spcBef>
                <a:spcPct val="0"/>
              </a:spcBef>
            </a:pPr>
            <a:r>
              <a:rPr lang="zh-CN" altLang="en-US" dirty="0" smtClean="0">
                <a:solidFill>
                  <a:schemeClr val="hlink"/>
                </a:solidFill>
              </a:rPr>
              <a:t>例</a:t>
            </a:r>
            <a:r>
              <a:rPr lang="en-US" altLang="zh-CN" dirty="0" smtClean="0">
                <a:solidFill>
                  <a:schemeClr val="hlink"/>
                </a:solidFill>
              </a:rPr>
              <a:t>4</a:t>
            </a:r>
            <a:r>
              <a:rPr lang="zh-CN" altLang="en-US" dirty="0" smtClean="0">
                <a:solidFill>
                  <a:schemeClr val="hlink"/>
                </a:solidFill>
              </a:rPr>
              <a:t>：</a:t>
            </a:r>
            <a:r>
              <a:rPr lang="zh-CN" altLang="en-US" dirty="0"/>
              <a:t>用谓词表示命题：</a:t>
            </a:r>
          </a:p>
          <a:p>
            <a:pPr>
              <a:lnSpc>
                <a:spcPct val="150000"/>
              </a:lnSpc>
              <a:spcBef>
                <a:spcPct val="0"/>
              </a:spcBef>
            </a:pPr>
            <a:r>
              <a:rPr lang="zh-CN" altLang="en-US" dirty="0"/>
              <a:t>对任意整数</a:t>
            </a:r>
            <a:r>
              <a:rPr lang="en-US" altLang="zh-CN" i="1" dirty="0"/>
              <a:t>x</a:t>
            </a:r>
            <a:r>
              <a:rPr lang="zh-CN" altLang="en-US" dirty="0"/>
              <a:t>，</a:t>
            </a:r>
            <a:r>
              <a:rPr lang="en-US" altLang="zh-CN" i="1" dirty="0"/>
              <a:t>x</a:t>
            </a:r>
            <a:r>
              <a:rPr lang="en-US" altLang="zh-CN" baseline="30000" dirty="0"/>
              <a:t>2</a:t>
            </a:r>
            <a:r>
              <a:rPr lang="en-US" altLang="zh-CN" dirty="0"/>
              <a:t>-1= (</a:t>
            </a:r>
            <a:r>
              <a:rPr lang="en-US" altLang="zh-CN" i="1" dirty="0"/>
              <a:t>x</a:t>
            </a:r>
            <a:r>
              <a:rPr lang="en-US" altLang="zh-CN" dirty="0"/>
              <a:t>+1)(</a:t>
            </a:r>
            <a:r>
              <a:rPr lang="en-US" altLang="zh-CN" i="1" dirty="0"/>
              <a:t>x</a:t>
            </a:r>
            <a:r>
              <a:rPr lang="en-US" altLang="zh-CN" dirty="0"/>
              <a:t>-1)</a:t>
            </a:r>
            <a:r>
              <a:rPr lang="zh-CN" altLang="en-US" dirty="0"/>
              <a:t>是恒等式。</a:t>
            </a:r>
          </a:p>
          <a:p>
            <a:pPr>
              <a:lnSpc>
                <a:spcPct val="150000"/>
              </a:lnSpc>
              <a:spcBef>
                <a:spcPct val="0"/>
              </a:spcBef>
            </a:pPr>
            <a:r>
              <a:rPr lang="zh-CN" altLang="en-US" dirty="0"/>
              <a:t>令</a:t>
            </a:r>
            <a:r>
              <a:rPr lang="en-US" altLang="zh-CN" i="1" dirty="0"/>
              <a:t>I</a:t>
            </a:r>
            <a:r>
              <a:rPr lang="en-US" altLang="zh-CN" dirty="0"/>
              <a:t>(</a:t>
            </a:r>
            <a:r>
              <a:rPr lang="en-US" altLang="zh-CN" i="1" dirty="0"/>
              <a:t>x</a:t>
            </a:r>
            <a:r>
              <a:rPr lang="en-US" altLang="zh-CN" dirty="0"/>
              <a:t>)</a:t>
            </a:r>
            <a:r>
              <a:rPr lang="zh-CN" altLang="en-US" dirty="0"/>
              <a:t>：</a:t>
            </a:r>
            <a:r>
              <a:rPr lang="en-US" altLang="zh-CN" i="1" dirty="0"/>
              <a:t>x</a:t>
            </a:r>
            <a:r>
              <a:rPr lang="zh-CN" altLang="en-US" dirty="0"/>
              <a:t>是整数，</a:t>
            </a:r>
            <a:r>
              <a:rPr lang="en-US" altLang="zh-CN" i="1" dirty="0"/>
              <a:t>f</a:t>
            </a:r>
            <a:r>
              <a:rPr lang="en-US" altLang="zh-CN" dirty="0"/>
              <a:t>(</a:t>
            </a:r>
            <a:r>
              <a:rPr lang="en-US" altLang="zh-CN" i="1" dirty="0"/>
              <a:t>x</a:t>
            </a:r>
            <a:r>
              <a:rPr lang="en-US" altLang="zh-CN" dirty="0"/>
              <a:t>)=</a:t>
            </a:r>
            <a:r>
              <a:rPr lang="en-US" altLang="zh-CN" i="1" dirty="0"/>
              <a:t>x</a:t>
            </a:r>
            <a:r>
              <a:rPr lang="en-US" altLang="zh-CN" baseline="30000" dirty="0"/>
              <a:t>2</a:t>
            </a:r>
            <a:r>
              <a:rPr lang="en-US" altLang="zh-CN" dirty="0"/>
              <a:t>-1</a:t>
            </a:r>
            <a:r>
              <a:rPr lang="zh-CN" altLang="en-US" dirty="0"/>
              <a:t>，</a:t>
            </a:r>
            <a:r>
              <a:rPr lang="en-US" altLang="zh-CN" i="1" dirty="0"/>
              <a:t>g</a:t>
            </a:r>
            <a:r>
              <a:rPr lang="en-US" altLang="zh-CN" dirty="0"/>
              <a:t>(</a:t>
            </a:r>
            <a:r>
              <a:rPr lang="en-US" altLang="zh-CN" i="1" dirty="0"/>
              <a:t>x</a:t>
            </a:r>
            <a:r>
              <a:rPr lang="en-US" altLang="zh-CN" dirty="0"/>
              <a:t>)=(</a:t>
            </a:r>
            <a:r>
              <a:rPr lang="en-US" altLang="zh-CN" i="1" dirty="0"/>
              <a:t>x</a:t>
            </a:r>
            <a:r>
              <a:rPr lang="en-US" altLang="zh-CN" dirty="0"/>
              <a:t>+1)(</a:t>
            </a:r>
            <a:r>
              <a:rPr lang="en-US" altLang="zh-CN" i="1" dirty="0"/>
              <a:t>x</a:t>
            </a:r>
            <a:r>
              <a:rPr lang="en-US" altLang="zh-CN" dirty="0"/>
              <a:t>-1)</a:t>
            </a:r>
            <a:r>
              <a:rPr lang="zh-CN" altLang="en-US" dirty="0"/>
              <a:t>，</a:t>
            </a:r>
            <a:r>
              <a:rPr lang="en-US" altLang="zh-CN" i="1" dirty="0"/>
              <a:t>E</a:t>
            </a:r>
            <a:r>
              <a:rPr lang="en-US" altLang="zh-CN" dirty="0"/>
              <a:t>(</a:t>
            </a:r>
            <a:r>
              <a:rPr lang="en-US" altLang="zh-CN" i="1" dirty="0" err="1"/>
              <a:t>x</a:t>
            </a:r>
            <a:r>
              <a:rPr lang="en-US" altLang="zh-CN" dirty="0" err="1"/>
              <a:t>,</a:t>
            </a:r>
            <a:r>
              <a:rPr lang="en-US" altLang="zh-CN" i="1" dirty="0" err="1"/>
              <a:t>y</a:t>
            </a:r>
            <a:r>
              <a:rPr lang="en-US" altLang="zh-CN" dirty="0"/>
              <a:t>)</a:t>
            </a:r>
            <a:r>
              <a:rPr lang="zh-CN" altLang="en-US" dirty="0"/>
              <a:t>：</a:t>
            </a:r>
            <a:r>
              <a:rPr lang="en-US" altLang="zh-CN" i="1" dirty="0"/>
              <a:t>x</a:t>
            </a:r>
            <a:r>
              <a:rPr lang="en-US" altLang="zh-CN" dirty="0"/>
              <a:t>=</a:t>
            </a:r>
            <a:r>
              <a:rPr lang="en-US" altLang="zh-CN" i="1" dirty="0"/>
              <a:t>y</a:t>
            </a:r>
            <a:r>
              <a:rPr lang="zh-CN" altLang="en-US" dirty="0"/>
              <a:t>，则该命题可表示成：</a:t>
            </a:r>
          </a:p>
          <a:p>
            <a:pPr>
              <a:lnSpc>
                <a:spcPct val="150000"/>
              </a:lnSpc>
              <a:spcBef>
                <a:spcPct val="0"/>
              </a:spcBef>
            </a:pPr>
            <a:r>
              <a:rPr lang="en-US" altLang="zh-CN" dirty="0"/>
              <a:t>(</a:t>
            </a:r>
            <a:r>
              <a:rPr lang="en-US" altLang="zh-CN" dirty="0">
                <a:latin typeface="宋体" charset="-122"/>
                <a:sym typeface="Symbol" pitchFamily="18" charset="2"/>
              </a:rPr>
              <a:t></a:t>
            </a:r>
            <a:r>
              <a:rPr lang="en-US" altLang="zh-CN" i="1" dirty="0"/>
              <a:t>x</a:t>
            </a:r>
            <a:r>
              <a:rPr lang="en-US" altLang="zh-CN" dirty="0"/>
              <a:t>)</a:t>
            </a:r>
            <a:r>
              <a:rPr lang="en-US" altLang="zh-CN" dirty="0">
                <a:solidFill>
                  <a:schemeClr val="hlink"/>
                </a:solidFill>
              </a:rPr>
              <a:t>(</a:t>
            </a:r>
            <a:r>
              <a:rPr lang="en-US" altLang="zh-CN" i="1" dirty="0"/>
              <a:t>I</a:t>
            </a:r>
            <a:r>
              <a:rPr lang="en-US" altLang="zh-CN" dirty="0"/>
              <a:t>(</a:t>
            </a:r>
            <a:r>
              <a:rPr lang="en-US" altLang="zh-CN" i="1" dirty="0"/>
              <a:t>x</a:t>
            </a:r>
            <a:r>
              <a:rPr lang="en-US" altLang="zh-CN" dirty="0"/>
              <a:t>)</a:t>
            </a:r>
            <a:r>
              <a:rPr lang="en-US" altLang="zh-CN" dirty="0">
                <a:latin typeface="宋体" charset="-122"/>
                <a:sym typeface="Symbol" pitchFamily="18" charset="2"/>
              </a:rPr>
              <a:t></a:t>
            </a:r>
            <a:r>
              <a:rPr lang="en-US" altLang="zh-CN" i="1" dirty="0"/>
              <a:t>E</a:t>
            </a:r>
            <a:r>
              <a:rPr lang="en-US" altLang="zh-CN" dirty="0"/>
              <a:t>(</a:t>
            </a:r>
            <a:r>
              <a:rPr lang="en-US" altLang="zh-CN" i="1" dirty="0"/>
              <a:t>f</a:t>
            </a:r>
            <a:r>
              <a:rPr lang="en-US" altLang="zh-CN" dirty="0"/>
              <a:t>(</a:t>
            </a:r>
            <a:r>
              <a:rPr lang="en-US" altLang="zh-CN" i="1" dirty="0"/>
              <a:t>x</a:t>
            </a:r>
            <a:r>
              <a:rPr lang="en-US" altLang="zh-CN" dirty="0"/>
              <a:t>), </a:t>
            </a:r>
            <a:r>
              <a:rPr lang="en-US" altLang="zh-CN" i="1" dirty="0"/>
              <a:t>g</a:t>
            </a:r>
            <a:r>
              <a:rPr lang="en-US" altLang="zh-CN" dirty="0"/>
              <a:t>(</a:t>
            </a:r>
            <a:r>
              <a:rPr lang="en-US" altLang="zh-CN" i="1" dirty="0"/>
              <a:t>x</a:t>
            </a:r>
            <a:r>
              <a:rPr lang="en-US" altLang="zh-CN" dirty="0"/>
              <a:t>))</a:t>
            </a:r>
            <a:r>
              <a:rPr lang="en-US" altLang="zh-CN" dirty="0">
                <a:solidFill>
                  <a:schemeClr val="hlink"/>
                </a:solidFill>
              </a:rPr>
              <a:t>)</a:t>
            </a:r>
            <a:r>
              <a:rPr lang="zh-CN" altLang="en-US" dirty="0"/>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881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881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E4E77076-B64E-42AA-9C0E-79A8766AD1D4}" type="slidenum">
              <a:rPr lang="en-US" altLang="zh-CN"/>
              <a:pPr/>
              <a:t>38</a:t>
            </a:fld>
            <a:endParaRPr lang="en-US" altLang="zh-CN"/>
          </a:p>
        </p:txBody>
      </p:sp>
      <p:sp>
        <p:nvSpPr>
          <p:cNvPr id="419842" name="Rectangle 2"/>
          <p:cNvSpPr>
            <a:spLocks noGrp="1" noChangeArrowheads="1"/>
          </p:cNvSpPr>
          <p:nvPr>
            <p:ph type="body" idx="1"/>
          </p:nvPr>
        </p:nvSpPr>
        <p:spPr>
          <a:xfrm>
            <a:off x="827088" y="1412875"/>
            <a:ext cx="7629525" cy="4451350"/>
          </a:xfrm>
        </p:spPr>
        <p:txBody>
          <a:bodyPr/>
          <a:lstStyle/>
          <a:p>
            <a:pPr algn="just">
              <a:lnSpc>
                <a:spcPct val="120000"/>
              </a:lnSpc>
            </a:pPr>
            <a:r>
              <a:rPr lang="zh-CN" altLang="en-US" dirty="0">
                <a:solidFill>
                  <a:schemeClr val="hlink"/>
                </a:solidFill>
              </a:rPr>
              <a:t>例</a:t>
            </a:r>
            <a:r>
              <a:rPr lang="en-US" altLang="zh-CN" dirty="0">
                <a:solidFill>
                  <a:schemeClr val="hlink"/>
                </a:solidFill>
              </a:rPr>
              <a:t>5</a:t>
            </a:r>
            <a:r>
              <a:rPr lang="zh-CN" altLang="en-US" dirty="0">
                <a:solidFill>
                  <a:schemeClr val="hlink"/>
                </a:solidFill>
              </a:rPr>
              <a:t>：</a:t>
            </a:r>
            <a:r>
              <a:rPr lang="zh-CN" altLang="en-US" dirty="0"/>
              <a:t>没有最大的自然数。</a:t>
            </a:r>
            <a:endParaRPr lang="zh-CN" altLang="en-US" dirty="0">
              <a:latin typeface="宋体" charset="-122"/>
            </a:endParaRPr>
          </a:p>
          <a:p>
            <a:pPr algn="just">
              <a:lnSpc>
                <a:spcPct val="120000"/>
              </a:lnSpc>
            </a:pPr>
            <a:r>
              <a:rPr lang="zh-CN" altLang="en-US" dirty="0">
                <a:solidFill>
                  <a:schemeClr val="hlink"/>
                </a:solidFill>
              </a:rPr>
              <a:t>分析：</a:t>
            </a:r>
            <a:r>
              <a:rPr lang="zh-CN" altLang="en-US" dirty="0"/>
              <a:t>命题可理解为</a:t>
            </a:r>
            <a:r>
              <a:rPr lang="zh-CN" altLang="en-US" dirty="0">
                <a:latin typeface="Arial"/>
              </a:rPr>
              <a:t>“</a:t>
            </a:r>
            <a:r>
              <a:rPr lang="zh-CN" altLang="en-US" dirty="0"/>
              <a:t>对所有的</a:t>
            </a:r>
            <a:r>
              <a:rPr lang="en-US" altLang="zh-CN" i="1" dirty="0"/>
              <a:t>x</a:t>
            </a:r>
            <a:r>
              <a:rPr lang="zh-CN" altLang="en-US" dirty="0"/>
              <a:t>，如果</a:t>
            </a:r>
            <a:r>
              <a:rPr lang="en-US" altLang="zh-CN" i="1" dirty="0"/>
              <a:t>x</a:t>
            </a:r>
            <a:r>
              <a:rPr lang="zh-CN" altLang="en-US" dirty="0"/>
              <a:t>是自然数，则一定还有比</a:t>
            </a:r>
            <a:r>
              <a:rPr lang="en-US" altLang="zh-CN" i="1" dirty="0"/>
              <a:t>x</a:t>
            </a:r>
            <a:r>
              <a:rPr lang="zh-CN" altLang="en-US" dirty="0"/>
              <a:t>大的自然数</a:t>
            </a:r>
            <a:r>
              <a:rPr lang="zh-CN" altLang="en-US" dirty="0">
                <a:latin typeface="Arial"/>
              </a:rPr>
              <a:t>”</a:t>
            </a:r>
            <a:r>
              <a:rPr lang="zh-CN" altLang="en-US" dirty="0"/>
              <a:t>，即</a:t>
            </a:r>
            <a:r>
              <a:rPr lang="zh-CN" altLang="en-US" dirty="0">
                <a:latin typeface="Arial"/>
              </a:rPr>
              <a:t>“</a:t>
            </a:r>
            <a:r>
              <a:rPr lang="zh-CN" altLang="en-US" dirty="0"/>
              <a:t>对所有的</a:t>
            </a:r>
            <a:r>
              <a:rPr lang="en-US" altLang="zh-CN" i="1" dirty="0"/>
              <a:t>x</a:t>
            </a:r>
            <a:r>
              <a:rPr lang="zh-CN" altLang="en-US" dirty="0"/>
              <a:t>如果</a:t>
            </a:r>
            <a:r>
              <a:rPr lang="en-US" altLang="zh-CN" i="1" dirty="0"/>
              <a:t>x</a:t>
            </a:r>
            <a:r>
              <a:rPr lang="zh-CN" altLang="en-US" dirty="0"/>
              <a:t>是自然数，则一定存在</a:t>
            </a:r>
            <a:r>
              <a:rPr lang="en-US" altLang="zh-CN" i="1" dirty="0"/>
              <a:t>y</a:t>
            </a:r>
            <a:r>
              <a:rPr lang="zh-CN" altLang="en-US" dirty="0"/>
              <a:t>，</a:t>
            </a:r>
            <a:r>
              <a:rPr lang="en-US" altLang="zh-CN" i="1" dirty="0"/>
              <a:t>y</a:t>
            </a:r>
            <a:r>
              <a:rPr lang="zh-CN" altLang="en-US" dirty="0"/>
              <a:t>也是自然数，并且</a:t>
            </a:r>
            <a:r>
              <a:rPr lang="en-US" altLang="zh-CN" i="1" dirty="0"/>
              <a:t>y</a:t>
            </a:r>
            <a:r>
              <a:rPr lang="zh-CN" altLang="en-US" dirty="0"/>
              <a:t>比</a:t>
            </a:r>
            <a:r>
              <a:rPr lang="en-US" altLang="zh-CN" i="1" dirty="0"/>
              <a:t>x</a:t>
            </a:r>
            <a:r>
              <a:rPr lang="zh-CN" altLang="en-US" dirty="0"/>
              <a:t>大</a:t>
            </a:r>
            <a:r>
              <a:rPr lang="zh-CN" altLang="en-US" dirty="0">
                <a:latin typeface="Arial"/>
              </a:rPr>
              <a:t>”</a:t>
            </a:r>
            <a:r>
              <a:rPr lang="zh-CN" altLang="en-US" dirty="0"/>
              <a:t>。</a:t>
            </a:r>
          </a:p>
          <a:p>
            <a:pPr algn="just">
              <a:lnSpc>
                <a:spcPct val="120000"/>
              </a:lnSpc>
            </a:pPr>
            <a:r>
              <a:rPr lang="zh-CN" altLang="en-US" dirty="0">
                <a:solidFill>
                  <a:schemeClr val="hlink"/>
                </a:solidFill>
              </a:rPr>
              <a:t>解：</a:t>
            </a:r>
            <a:r>
              <a:rPr lang="zh-CN" altLang="en-US" dirty="0"/>
              <a:t>令</a:t>
            </a:r>
            <a:r>
              <a:rPr lang="en-US" altLang="zh-CN" i="1" dirty="0"/>
              <a:t>N</a:t>
            </a:r>
            <a:r>
              <a:rPr lang="en-US" altLang="zh-CN" dirty="0"/>
              <a:t>(</a:t>
            </a:r>
            <a:r>
              <a:rPr lang="en-US" altLang="zh-CN" i="1" dirty="0"/>
              <a:t>x</a:t>
            </a:r>
            <a:r>
              <a:rPr lang="en-US" altLang="zh-CN" dirty="0"/>
              <a:t>)</a:t>
            </a:r>
            <a:r>
              <a:rPr lang="zh-CN" altLang="en-US" dirty="0"/>
              <a:t>：</a:t>
            </a:r>
            <a:r>
              <a:rPr lang="en-US" altLang="zh-CN" i="1" dirty="0"/>
              <a:t>x</a:t>
            </a:r>
            <a:r>
              <a:rPr lang="zh-CN" altLang="en-US" dirty="0"/>
              <a:t>是自然数，</a:t>
            </a:r>
            <a:r>
              <a:rPr lang="en-US" altLang="zh-CN" i="1" dirty="0"/>
              <a:t>G</a:t>
            </a:r>
            <a:r>
              <a:rPr lang="en-US" altLang="zh-CN" dirty="0"/>
              <a:t>(</a:t>
            </a:r>
            <a:r>
              <a:rPr lang="en-US" altLang="zh-CN" i="1" dirty="0" err="1"/>
              <a:t>x</a:t>
            </a:r>
            <a:r>
              <a:rPr lang="en-US" altLang="zh-CN" dirty="0" err="1"/>
              <a:t>,</a:t>
            </a:r>
            <a:r>
              <a:rPr lang="en-US" altLang="zh-CN" i="1" dirty="0" err="1"/>
              <a:t>y</a:t>
            </a:r>
            <a:r>
              <a:rPr lang="en-US" altLang="zh-CN" dirty="0"/>
              <a:t>)</a:t>
            </a:r>
            <a:r>
              <a:rPr lang="zh-CN" altLang="en-US" dirty="0"/>
              <a:t>：</a:t>
            </a:r>
            <a:r>
              <a:rPr lang="en-US" altLang="zh-CN" i="1" dirty="0"/>
              <a:t>x</a:t>
            </a:r>
            <a:r>
              <a:rPr lang="zh-CN" altLang="en-US" dirty="0"/>
              <a:t>大于</a:t>
            </a:r>
            <a:r>
              <a:rPr lang="en-US" altLang="zh-CN" i="1" dirty="0"/>
              <a:t>y</a:t>
            </a:r>
            <a:r>
              <a:rPr lang="zh-CN" altLang="en-US" dirty="0"/>
              <a:t>，则原命题表示为：</a:t>
            </a:r>
          </a:p>
          <a:p>
            <a:pPr algn="just">
              <a:lnSpc>
                <a:spcPct val="120000"/>
              </a:lnSpc>
            </a:pPr>
            <a:r>
              <a:rPr lang="zh-CN" altLang="en-US" dirty="0"/>
              <a:t>                </a:t>
            </a:r>
            <a:r>
              <a:rPr lang="en-US" altLang="zh-CN" dirty="0"/>
              <a:t>(</a:t>
            </a:r>
            <a:r>
              <a:rPr lang="en-US" altLang="zh-CN" dirty="0">
                <a:latin typeface="宋体" charset="-122"/>
                <a:sym typeface="Symbol" pitchFamily="18" charset="2"/>
              </a:rPr>
              <a:t></a:t>
            </a:r>
            <a:r>
              <a:rPr lang="en-US" altLang="zh-CN" i="1" dirty="0"/>
              <a:t>x</a:t>
            </a:r>
            <a:r>
              <a:rPr lang="en-US" altLang="zh-CN" dirty="0"/>
              <a:t>)</a:t>
            </a:r>
            <a:r>
              <a:rPr lang="en-US" altLang="zh-CN" dirty="0">
                <a:solidFill>
                  <a:schemeClr val="hlink"/>
                </a:solidFill>
              </a:rPr>
              <a:t>(</a:t>
            </a:r>
            <a:r>
              <a:rPr lang="en-US" altLang="zh-CN" i="1" dirty="0"/>
              <a:t>N</a:t>
            </a:r>
            <a:r>
              <a:rPr lang="en-US" altLang="zh-CN" dirty="0"/>
              <a:t>(</a:t>
            </a:r>
            <a:r>
              <a:rPr lang="en-US" altLang="zh-CN" i="1" dirty="0"/>
              <a:t>x</a:t>
            </a:r>
            <a:r>
              <a:rPr lang="en-US" altLang="zh-CN" dirty="0"/>
              <a:t>)</a:t>
            </a:r>
            <a:r>
              <a:rPr lang="en-US" altLang="zh-CN" dirty="0">
                <a:latin typeface="宋体" charset="-122"/>
                <a:sym typeface="Symbol" pitchFamily="18" charset="2"/>
              </a:rPr>
              <a:t></a:t>
            </a:r>
            <a:r>
              <a:rPr lang="en-US" altLang="zh-CN" dirty="0"/>
              <a:t>(</a:t>
            </a:r>
            <a:r>
              <a:rPr lang="en-US" altLang="zh-CN" dirty="0">
                <a:latin typeface="宋体" charset="-122"/>
                <a:sym typeface="Symbol" pitchFamily="18" charset="2"/>
              </a:rPr>
              <a:t></a:t>
            </a:r>
            <a:r>
              <a:rPr lang="en-US" altLang="zh-CN" i="1" dirty="0"/>
              <a:t>y</a:t>
            </a:r>
            <a:r>
              <a:rPr lang="en-US" altLang="zh-CN" dirty="0"/>
              <a:t>)(</a:t>
            </a:r>
            <a:r>
              <a:rPr lang="en-US" altLang="zh-CN" i="1" dirty="0"/>
              <a:t>N</a:t>
            </a:r>
            <a:r>
              <a:rPr lang="en-US" altLang="zh-CN" dirty="0"/>
              <a:t>(</a:t>
            </a:r>
            <a:r>
              <a:rPr lang="en-US" altLang="zh-CN" i="1" dirty="0"/>
              <a:t>y</a:t>
            </a:r>
            <a:r>
              <a:rPr lang="en-US" altLang="zh-CN" dirty="0"/>
              <a:t>)</a:t>
            </a:r>
            <a:r>
              <a:rPr lang="en-US" altLang="zh-CN" dirty="0">
                <a:latin typeface="宋体" charset="-122"/>
                <a:sym typeface="Symbol" pitchFamily="18" charset="2"/>
              </a:rPr>
              <a:t></a:t>
            </a:r>
            <a:r>
              <a:rPr lang="en-US" altLang="zh-CN" i="1" dirty="0"/>
              <a:t>G</a:t>
            </a:r>
            <a:r>
              <a:rPr lang="en-US" altLang="zh-CN" dirty="0"/>
              <a:t>(</a:t>
            </a:r>
            <a:r>
              <a:rPr lang="en-US" altLang="zh-CN" i="1" dirty="0"/>
              <a:t>y</a:t>
            </a:r>
            <a:r>
              <a:rPr lang="en-US" altLang="zh-CN" dirty="0"/>
              <a:t>, </a:t>
            </a:r>
            <a:r>
              <a:rPr lang="en-US" altLang="zh-CN" i="1" dirty="0"/>
              <a:t>x</a:t>
            </a:r>
            <a:r>
              <a:rPr lang="en-US" altLang="zh-CN" dirty="0"/>
              <a:t>))</a:t>
            </a:r>
            <a:r>
              <a:rPr lang="en-US" altLang="zh-CN" dirty="0">
                <a:solidFill>
                  <a:schemeClr val="hlink"/>
                </a:solidFill>
              </a:rPr>
              <a:t>)</a:t>
            </a:r>
            <a:r>
              <a:rPr lang="zh-CN" altLang="en-US" dirty="0"/>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19842">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19842">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1984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96771C2A-E146-45B2-8866-0C92F4DE99EA}" type="slidenum">
              <a:rPr lang="en-US" altLang="zh-CN"/>
              <a:pPr/>
              <a:t>39</a:t>
            </a:fld>
            <a:endParaRPr lang="en-US" altLang="zh-CN"/>
          </a:p>
        </p:txBody>
      </p:sp>
      <p:sp>
        <p:nvSpPr>
          <p:cNvPr id="218114" name="Rectangle 2"/>
          <p:cNvSpPr>
            <a:spLocks noGrp="1" noChangeArrowheads="1"/>
          </p:cNvSpPr>
          <p:nvPr>
            <p:ph type="body" idx="1"/>
          </p:nvPr>
        </p:nvSpPr>
        <p:spPr>
          <a:xfrm>
            <a:off x="827088" y="1557338"/>
            <a:ext cx="7489825" cy="3425825"/>
          </a:xfrm>
          <a:noFill/>
        </p:spPr>
        <p:txBody>
          <a:bodyPr/>
          <a:lstStyle/>
          <a:p>
            <a:pPr>
              <a:lnSpc>
                <a:spcPct val="120000"/>
              </a:lnSpc>
            </a:pPr>
            <a:r>
              <a:rPr lang="zh-CN" altLang="en-US">
                <a:solidFill>
                  <a:schemeClr val="hlink"/>
                </a:solidFill>
              </a:rPr>
              <a:t>例</a:t>
            </a:r>
            <a:r>
              <a:rPr lang="en-US" altLang="zh-CN">
                <a:solidFill>
                  <a:schemeClr val="hlink"/>
                </a:solidFill>
              </a:rPr>
              <a:t>6</a:t>
            </a:r>
            <a:r>
              <a:rPr lang="zh-CN" altLang="en-US">
                <a:solidFill>
                  <a:schemeClr val="hlink"/>
                </a:solidFill>
              </a:rPr>
              <a:t>：</a:t>
            </a:r>
            <a:r>
              <a:rPr lang="zh-CN" altLang="en-US"/>
              <a:t> 今天有雨雪，有些人会跌跤。</a:t>
            </a:r>
            <a:endParaRPr lang="zh-CN" altLang="en-US">
              <a:latin typeface="宋体" charset="-122"/>
            </a:endParaRPr>
          </a:p>
          <a:p>
            <a:pPr>
              <a:lnSpc>
                <a:spcPct val="120000"/>
              </a:lnSpc>
            </a:pPr>
            <a:r>
              <a:rPr lang="zh-CN" altLang="en-US">
                <a:solidFill>
                  <a:schemeClr val="hlink"/>
                </a:solidFill>
              </a:rPr>
              <a:t>分析：</a:t>
            </a:r>
            <a:r>
              <a:rPr lang="zh-CN" altLang="en-US"/>
              <a:t>本语句可理解为</a:t>
            </a:r>
            <a:r>
              <a:rPr lang="zh-CN" altLang="en-US">
                <a:latin typeface="Arial"/>
              </a:rPr>
              <a:t>“</a:t>
            </a:r>
            <a:r>
              <a:rPr lang="zh-CN" altLang="en-US"/>
              <a:t>若今天下雨又下雪，则存在</a:t>
            </a:r>
            <a:r>
              <a:rPr lang="en-US" altLang="zh-CN"/>
              <a:t>x</a:t>
            </a:r>
            <a:r>
              <a:rPr lang="zh-CN" altLang="en-US"/>
              <a:t>，</a:t>
            </a:r>
            <a:r>
              <a:rPr lang="en-US" altLang="zh-CN"/>
              <a:t>x</a:t>
            </a:r>
            <a:r>
              <a:rPr lang="zh-CN" altLang="en-US"/>
              <a:t>是人且</a:t>
            </a:r>
            <a:r>
              <a:rPr lang="en-US" altLang="zh-CN"/>
              <a:t>x</a:t>
            </a:r>
            <a:r>
              <a:rPr lang="zh-CN" altLang="en-US"/>
              <a:t>会跌跤</a:t>
            </a:r>
            <a:r>
              <a:rPr lang="zh-CN" altLang="en-US">
                <a:latin typeface="Arial"/>
              </a:rPr>
              <a:t>”</a:t>
            </a:r>
            <a:r>
              <a:rPr lang="zh-CN" altLang="en-US"/>
              <a:t>。</a:t>
            </a:r>
          </a:p>
          <a:p>
            <a:pPr>
              <a:lnSpc>
                <a:spcPct val="120000"/>
              </a:lnSpc>
            </a:pPr>
            <a:r>
              <a:rPr lang="zh-CN" altLang="en-US">
                <a:solidFill>
                  <a:schemeClr val="hlink"/>
                </a:solidFill>
              </a:rPr>
              <a:t>解：</a:t>
            </a:r>
            <a:r>
              <a:rPr lang="zh-CN" altLang="en-US"/>
              <a:t>令</a:t>
            </a:r>
            <a:r>
              <a:rPr lang="en-US" altLang="zh-CN"/>
              <a:t>R</a:t>
            </a:r>
            <a:r>
              <a:rPr lang="zh-CN" altLang="en-US"/>
              <a:t>：今天下雨，</a:t>
            </a:r>
            <a:r>
              <a:rPr lang="en-US" altLang="zh-CN"/>
              <a:t>S</a:t>
            </a:r>
            <a:r>
              <a:rPr lang="zh-CN" altLang="en-US"/>
              <a:t>：今天下雪，</a:t>
            </a:r>
            <a:r>
              <a:rPr lang="en-US" altLang="zh-CN"/>
              <a:t>M(x)</a:t>
            </a:r>
            <a:r>
              <a:rPr lang="zh-CN" altLang="en-US"/>
              <a:t>：</a:t>
            </a:r>
            <a:r>
              <a:rPr lang="en-US" altLang="zh-CN"/>
              <a:t>x</a:t>
            </a:r>
            <a:r>
              <a:rPr lang="zh-CN" altLang="en-US"/>
              <a:t>是人，</a:t>
            </a:r>
            <a:r>
              <a:rPr lang="en-US" altLang="zh-CN"/>
              <a:t>F(x)</a:t>
            </a:r>
            <a:r>
              <a:rPr lang="zh-CN" altLang="en-US"/>
              <a:t>：</a:t>
            </a:r>
            <a:r>
              <a:rPr lang="en-US" altLang="zh-CN"/>
              <a:t>x</a:t>
            </a:r>
            <a:r>
              <a:rPr lang="zh-CN" altLang="en-US"/>
              <a:t>会跌跤，则本语句可表示为：</a:t>
            </a:r>
          </a:p>
          <a:p>
            <a:pPr>
              <a:lnSpc>
                <a:spcPct val="120000"/>
              </a:lnSpc>
            </a:pPr>
            <a:r>
              <a:rPr lang="zh-CN" altLang="en-US"/>
              <a:t>                    </a:t>
            </a:r>
            <a:r>
              <a:rPr lang="en-US" altLang="zh-CN"/>
              <a:t>R</a:t>
            </a:r>
            <a:r>
              <a:rPr kumimoji="1" lang="en-US" altLang="zh-CN"/>
              <a:t>∧</a:t>
            </a:r>
            <a:r>
              <a:rPr lang="en-US" altLang="zh-CN"/>
              <a:t>S</a:t>
            </a:r>
            <a:r>
              <a:rPr lang="en-US" altLang="zh-CN">
                <a:latin typeface="宋体" charset="-122"/>
                <a:sym typeface="Symbol" pitchFamily="18" charset="2"/>
              </a:rPr>
              <a:t></a:t>
            </a:r>
            <a:r>
              <a:rPr lang="en-US" altLang="zh-CN"/>
              <a:t>(</a:t>
            </a:r>
            <a:r>
              <a:rPr lang="en-US" altLang="zh-CN">
                <a:latin typeface="宋体" charset="-122"/>
                <a:sym typeface="Symbol" pitchFamily="18" charset="2"/>
              </a:rPr>
              <a:t></a:t>
            </a:r>
            <a:r>
              <a:rPr lang="en-US" altLang="zh-CN"/>
              <a:t>x)(M(x)</a:t>
            </a:r>
            <a:r>
              <a:rPr kumimoji="1" lang="en-US" altLang="zh-CN"/>
              <a:t>∧</a:t>
            </a:r>
            <a:r>
              <a:rPr lang="en-US" altLang="zh-CN"/>
              <a:t>F(x))</a:t>
            </a:r>
            <a:r>
              <a:rPr lang="zh-CN" altLang="en-US"/>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811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811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81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D2D3B8B0-390A-420D-92D4-24928091EE40}" type="slidenum">
              <a:rPr lang="en-US" altLang="zh-CN"/>
              <a:pPr/>
              <a:t>40</a:t>
            </a:fld>
            <a:endParaRPr lang="en-US" altLang="zh-CN"/>
          </a:p>
        </p:txBody>
      </p:sp>
      <p:sp>
        <p:nvSpPr>
          <p:cNvPr id="352260" name="Rectangle 4"/>
          <p:cNvSpPr>
            <a:spLocks noChangeArrowheads="1"/>
          </p:cNvSpPr>
          <p:nvPr/>
        </p:nvSpPr>
        <p:spPr bwMode="auto">
          <a:xfrm>
            <a:off x="1116013" y="1360488"/>
            <a:ext cx="7127875" cy="329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zh-CN" altLang="en-US" sz="2800" b="1"/>
              <a:t>下列推理即可解决：</a:t>
            </a:r>
          </a:p>
          <a:p>
            <a:pPr algn="l">
              <a:lnSpc>
                <a:spcPct val="125000"/>
              </a:lnSpc>
            </a:pPr>
            <a:r>
              <a:rPr lang="zh-CN" altLang="en-US" sz="2800" b="1"/>
              <a:t>        凡是人都是 要死的。苏格拉底是人。        苏格拉底是要死的。</a:t>
            </a:r>
          </a:p>
          <a:p>
            <a:pPr algn="l">
              <a:lnSpc>
                <a:spcPct val="125000"/>
              </a:lnSpc>
            </a:pPr>
            <a:r>
              <a:rPr lang="zh-CN" altLang="en-US" sz="2800" b="1"/>
              <a:t>设：</a:t>
            </a:r>
            <a:r>
              <a:rPr lang="en-US" altLang="zh-CN" sz="2800" b="1"/>
              <a:t>M(x)</a:t>
            </a:r>
            <a:r>
              <a:rPr lang="zh-CN" altLang="en-US" sz="2800" b="1"/>
              <a:t>：</a:t>
            </a:r>
            <a:r>
              <a:rPr lang="en-US" altLang="zh-CN" sz="2800" b="1"/>
              <a:t>x</a:t>
            </a:r>
            <a:r>
              <a:rPr lang="zh-CN" altLang="en-US" sz="2800" b="1"/>
              <a:t>是人。</a:t>
            </a:r>
            <a:r>
              <a:rPr lang="en-US" altLang="zh-CN" sz="2800" b="1"/>
              <a:t>D(x)</a:t>
            </a:r>
            <a:r>
              <a:rPr lang="zh-CN" altLang="en-US" sz="2800" b="1"/>
              <a:t>：</a:t>
            </a:r>
            <a:r>
              <a:rPr lang="en-US" altLang="zh-CN" sz="2800" b="1"/>
              <a:t>x </a:t>
            </a:r>
            <a:r>
              <a:rPr lang="zh-CN" altLang="en-US" sz="2800" b="1"/>
              <a:t>是要死的。</a:t>
            </a:r>
            <a:r>
              <a:rPr lang="en-US" altLang="zh-CN" sz="2800" b="1"/>
              <a:t>a</a:t>
            </a:r>
            <a:r>
              <a:rPr lang="zh-CN" altLang="en-US" sz="2800" b="1"/>
              <a:t>：苏格拉底。则符号化为</a:t>
            </a:r>
          </a:p>
          <a:p>
            <a:pPr>
              <a:lnSpc>
                <a:spcPct val="125000"/>
              </a:lnSpc>
            </a:pPr>
            <a:r>
              <a:rPr lang="en-US" altLang="zh-CN" sz="2800" b="1"/>
              <a:t>(</a:t>
            </a:r>
            <a:r>
              <a:rPr lang="en-US" altLang="zh-CN" sz="2800" b="1">
                <a:sym typeface="Symbol" pitchFamily="18" charset="2"/>
              </a:rPr>
              <a:t></a:t>
            </a:r>
            <a:r>
              <a:rPr lang="en-US" altLang="zh-CN" sz="2800" b="1"/>
              <a:t>x)(M(x)→D(x))∧M(a)→D(a)        </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226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2260">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52260">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522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3BB3350D-C186-488E-A9CE-66F738C6F84A}" type="slidenum">
              <a:rPr lang="en-US" altLang="zh-CN"/>
              <a:pPr/>
              <a:t>41</a:t>
            </a:fld>
            <a:endParaRPr lang="en-US" altLang="zh-CN"/>
          </a:p>
        </p:txBody>
      </p:sp>
      <p:sp>
        <p:nvSpPr>
          <p:cNvPr id="420866" name="Rectangle 2"/>
          <p:cNvSpPr>
            <a:spLocks noGrp="1" noChangeArrowheads="1"/>
          </p:cNvSpPr>
          <p:nvPr>
            <p:ph type="title"/>
          </p:nvPr>
        </p:nvSpPr>
        <p:spPr>
          <a:xfrm>
            <a:off x="1258888" y="606425"/>
            <a:ext cx="3709987" cy="641350"/>
          </a:xfrm>
          <a:noFill/>
        </p:spPr>
        <p:txBody>
          <a:bodyPr/>
          <a:lstStyle/>
          <a:p>
            <a:r>
              <a:rPr lang="en-US" altLang="zh-CN" sz="3600" b="1">
                <a:solidFill>
                  <a:schemeClr val="tx1"/>
                </a:solidFill>
                <a:latin typeface="华文行楷" pitchFamily="2" charset="-122"/>
                <a:ea typeface="华文行楷" pitchFamily="2" charset="-122"/>
              </a:rPr>
              <a:t>2.4  </a:t>
            </a:r>
            <a:r>
              <a:rPr lang="zh-CN" altLang="en-US" sz="3600" b="1">
                <a:solidFill>
                  <a:schemeClr val="tx1"/>
                </a:solidFill>
                <a:latin typeface="华文行楷" pitchFamily="2" charset="-122"/>
                <a:ea typeface="华文行楷" pitchFamily="2" charset="-122"/>
              </a:rPr>
              <a:t>变元的约束</a:t>
            </a:r>
          </a:p>
        </p:txBody>
      </p:sp>
      <p:sp>
        <p:nvSpPr>
          <p:cNvPr id="420867" name="Rectangle 3"/>
          <p:cNvSpPr>
            <a:spLocks noChangeArrowheads="1"/>
          </p:cNvSpPr>
          <p:nvPr/>
        </p:nvSpPr>
        <p:spPr bwMode="auto">
          <a:xfrm>
            <a:off x="1187450" y="1484313"/>
            <a:ext cx="45720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200" b="1">
                <a:solidFill>
                  <a:schemeClr val="folHlink"/>
                </a:solidFill>
                <a:ea typeface="楷体_GB2312" pitchFamily="49" charset="-122"/>
              </a:rPr>
              <a:t>一、变元及作用域</a:t>
            </a:r>
          </a:p>
          <a:p>
            <a:pPr algn="l">
              <a:spcBef>
                <a:spcPct val="50000"/>
              </a:spcBef>
            </a:pPr>
            <a:r>
              <a:rPr lang="zh-CN" altLang="en-US" sz="3200" b="1">
                <a:solidFill>
                  <a:schemeClr val="folHlink"/>
                </a:solidFill>
                <a:ea typeface="楷体_GB2312" pitchFamily="49" charset="-122"/>
              </a:rPr>
              <a:t>二、变元名称的更改</a:t>
            </a:r>
          </a:p>
        </p:txBody>
      </p:sp>
    </p:spTree>
  </p:cSld>
  <p:clrMapOvr>
    <a:masterClrMapping/>
  </p:clrMapOvr>
  <p:transition spd="slow">
    <p:pull dir="ru"/>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F1ADAC97-ED84-4553-8902-2DD42E70B708}" type="slidenum">
              <a:rPr lang="en-US" altLang="zh-CN"/>
              <a:pPr/>
              <a:t>42</a:t>
            </a:fld>
            <a:endParaRPr lang="en-US" altLang="zh-CN"/>
          </a:p>
        </p:txBody>
      </p:sp>
      <p:sp>
        <p:nvSpPr>
          <p:cNvPr id="373763" name="Rectangle 3"/>
          <p:cNvSpPr>
            <a:spLocks noChangeArrowheads="1"/>
          </p:cNvSpPr>
          <p:nvPr/>
        </p:nvSpPr>
        <p:spPr bwMode="auto">
          <a:xfrm>
            <a:off x="466725" y="1268413"/>
            <a:ext cx="4681538"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zh-CN" altLang="en-US" sz="3200" b="1">
                <a:solidFill>
                  <a:schemeClr val="folHlink"/>
                </a:solidFill>
                <a:ea typeface="楷体_GB2312" pitchFamily="49" charset="-122"/>
              </a:rPr>
              <a:t>一、变元及作用域</a:t>
            </a:r>
          </a:p>
        </p:txBody>
      </p:sp>
      <p:sp>
        <p:nvSpPr>
          <p:cNvPr id="373764" name="Rectangle 4"/>
          <p:cNvSpPr>
            <a:spLocks noChangeArrowheads="1"/>
          </p:cNvSpPr>
          <p:nvPr/>
        </p:nvSpPr>
        <p:spPr bwMode="auto">
          <a:xfrm>
            <a:off x="468313" y="1773238"/>
            <a:ext cx="8280400"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en-US" altLang="zh-CN" sz="2800" b="1">
                <a:solidFill>
                  <a:schemeClr val="bg2"/>
                </a:solidFill>
              </a:rPr>
              <a:t>        </a:t>
            </a:r>
            <a:r>
              <a:rPr kumimoji="0" lang="zh-CN" altLang="en-US" sz="2800" b="1">
                <a:solidFill>
                  <a:schemeClr val="bg2"/>
                </a:solidFill>
              </a:rPr>
              <a:t>给定一个谓词公式</a:t>
            </a:r>
            <a:r>
              <a:rPr kumimoji="0" lang="zh-CN" altLang="en-US" sz="2800" b="1">
                <a:solidFill>
                  <a:schemeClr val="bg2"/>
                </a:solidFill>
                <a:sym typeface="Symbol" pitchFamily="18" charset="2"/>
              </a:rPr>
              <a:t>，</a:t>
            </a:r>
            <a:r>
              <a:rPr kumimoji="0" lang="zh-CN" altLang="en-US" sz="2800" b="1">
                <a:solidFill>
                  <a:schemeClr val="bg2"/>
                </a:solidFill>
              </a:rPr>
              <a:t>其中有一部分公式形如</a:t>
            </a:r>
            <a:r>
              <a:rPr kumimoji="0" lang="en-US" altLang="zh-CN" sz="2800" b="1">
                <a:solidFill>
                  <a:schemeClr val="bg2"/>
                </a:solidFill>
              </a:rPr>
              <a:t>(</a:t>
            </a:r>
            <a:r>
              <a:rPr kumimoji="0" lang="en-US" altLang="zh-CN" sz="2800" b="1">
                <a:sym typeface="Symbol" pitchFamily="18" charset="2"/>
              </a:rPr>
              <a:t></a:t>
            </a:r>
            <a:r>
              <a:rPr kumimoji="0" lang="en-US" altLang="zh-CN" sz="2800" b="1">
                <a:solidFill>
                  <a:schemeClr val="bg2"/>
                </a:solidFill>
              </a:rPr>
              <a:t>x)P(x)</a:t>
            </a:r>
            <a:r>
              <a:rPr kumimoji="0" lang="zh-CN" altLang="en-US" sz="2800" b="1">
                <a:solidFill>
                  <a:schemeClr val="bg2"/>
                </a:solidFill>
              </a:rPr>
              <a:t>或 </a:t>
            </a:r>
            <a:r>
              <a:rPr kumimoji="0" lang="en-US" altLang="zh-CN" sz="2800" b="1">
                <a:solidFill>
                  <a:schemeClr val="bg2"/>
                </a:solidFill>
              </a:rPr>
              <a:t>(</a:t>
            </a:r>
            <a:r>
              <a:rPr kumimoji="0" lang="en-US" altLang="zh-CN" sz="2800" b="1">
                <a:sym typeface="Symbol" pitchFamily="18" charset="2"/>
              </a:rPr>
              <a:t>x)</a:t>
            </a:r>
            <a:r>
              <a:rPr kumimoji="0" lang="en-US" altLang="zh-CN" sz="2800" b="1">
                <a:solidFill>
                  <a:schemeClr val="bg2"/>
                </a:solidFill>
              </a:rPr>
              <a:t>P(x)</a:t>
            </a:r>
            <a:r>
              <a:rPr kumimoji="0" lang="zh-CN" altLang="en-US" sz="2800" b="1"/>
              <a:t>；</a:t>
            </a:r>
          </a:p>
          <a:p>
            <a:pPr algn="l">
              <a:lnSpc>
                <a:spcPct val="130000"/>
              </a:lnSpc>
            </a:pPr>
            <a:r>
              <a:rPr kumimoji="0" lang="zh-CN" altLang="en-US" sz="2800" b="1">
                <a:solidFill>
                  <a:schemeClr val="hlink"/>
                </a:solidFill>
              </a:rPr>
              <a:t>指导变元：</a:t>
            </a:r>
            <a:r>
              <a:rPr kumimoji="0" lang="zh-CN" altLang="en-US" sz="2800" b="1">
                <a:solidFill>
                  <a:schemeClr val="bg2"/>
                </a:solidFill>
              </a:rPr>
              <a:t> </a:t>
            </a:r>
            <a:r>
              <a:rPr kumimoji="0" lang="zh-CN" altLang="en-US" sz="2800" b="1">
                <a:sym typeface="Symbol" pitchFamily="18" charset="2"/>
              </a:rPr>
              <a:t>、</a:t>
            </a:r>
            <a:r>
              <a:rPr kumimoji="0" lang="zh-CN" altLang="en-US" sz="2800" b="1">
                <a:solidFill>
                  <a:schemeClr val="bg2"/>
                </a:solidFill>
              </a:rPr>
              <a:t>后面所跟的</a:t>
            </a:r>
            <a:r>
              <a:rPr kumimoji="0" lang="en-US" altLang="zh-CN" sz="2800" b="1">
                <a:solidFill>
                  <a:schemeClr val="bg2"/>
                </a:solidFill>
              </a:rPr>
              <a:t>x</a:t>
            </a:r>
            <a:r>
              <a:rPr kumimoji="0" lang="zh-CN" altLang="en-US" sz="2800" b="1">
                <a:solidFill>
                  <a:schemeClr val="bg2"/>
                </a:solidFill>
              </a:rPr>
              <a:t>叫做量词的指导变元（作用变元）；</a:t>
            </a:r>
          </a:p>
          <a:p>
            <a:pPr algn="l">
              <a:lnSpc>
                <a:spcPct val="130000"/>
              </a:lnSpc>
            </a:pPr>
            <a:r>
              <a:rPr kumimoji="0" lang="zh-CN" altLang="en-US" sz="2800" b="1">
                <a:solidFill>
                  <a:schemeClr val="hlink"/>
                </a:solidFill>
              </a:rPr>
              <a:t>作用域：</a:t>
            </a:r>
            <a:r>
              <a:rPr kumimoji="0" lang="en-US" altLang="zh-CN" sz="2800" b="1">
                <a:solidFill>
                  <a:schemeClr val="bg2"/>
                </a:solidFill>
              </a:rPr>
              <a:t>P(x)</a:t>
            </a:r>
            <a:r>
              <a:rPr kumimoji="0" lang="zh-CN" altLang="en-US" sz="2800" b="1">
                <a:solidFill>
                  <a:schemeClr val="bg2"/>
                </a:solidFill>
              </a:rPr>
              <a:t>称为相应量词的作用域或辖域；</a:t>
            </a:r>
          </a:p>
          <a:p>
            <a:pPr algn="l">
              <a:lnSpc>
                <a:spcPct val="130000"/>
              </a:lnSpc>
            </a:pPr>
            <a:r>
              <a:rPr kumimoji="0" lang="zh-CN" altLang="en-US" sz="2800" b="1">
                <a:solidFill>
                  <a:schemeClr val="hlink"/>
                </a:solidFill>
              </a:rPr>
              <a:t>约束变元：</a:t>
            </a:r>
            <a:r>
              <a:rPr kumimoji="0" lang="zh-CN" altLang="en-US" sz="2800" b="1">
                <a:solidFill>
                  <a:schemeClr val="bg2"/>
                </a:solidFill>
              </a:rPr>
              <a:t>在作用域中</a:t>
            </a:r>
            <a:r>
              <a:rPr kumimoji="0" lang="en-US" altLang="zh-CN" sz="2800" b="1">
                <a:solidFill>
                  <a:schemeClr val="bg2"/>
                </a:solidFill>
              </a:rPr>
              <a:t>x</a:t>
            </a:r>
            <a:r>
              <a:rPr kumimoji="0" lang="zh-CN" altLang="en-US" sz="2800" b="1">
                <a:solidFill>
                  <a:schemeClr val="bg2"/>
                </a:solidFill>
              </a:rPr>
              <a:t>的一切出现，称为</a:t>
            </a:r>
            <a:r>
              <a:rPr kumimoji="0" lang="en-US" altLang="zh-CN" sz="2800" b="1">
                <a:solidFill>
                  <a:schemeClr val="bg2"/>
                </a:solidFill>
              </a:rPr>
              <a:t>x</a:t>
            </a:r>
            <a:r>
              <a:rPr kumimoji="0" lang="zh-CN" altLang="en-US" sz="2800" b="1">
                <a:solidFill>
                  <a:schemeClr val="bg2"/>
                </a:solidFill>
              </a:rPr>
              <a:t>在</a:t>
            </a:r>
            <a:r>
              <a:rPr kumimoji="0" lang="zh-CN" altLang="en-US" sz="2800" b="1">
                <a:solidFill>
                  <a:schemeClr val="bg2"/>
                </a:solidFill>
                <a:sym typeface="Symbol" pitchFamily="18" charset="2"/>
              </a:rPr>
              <a:t></a:t>
            </a:r>
            <a:r>
              <a:rPr kumimoji="0" lang="zh-CN" altLang="en-US" sz="2800" b="1">
                <a:solidFill>
                  <a:schemeClr val="bg2"/>
                </a:solidFill>
              </a:rPr>
              <a:t>的约束出现；   	</a:t>
            </a:r>
          </a:p>
          <a:p>
            <a:pPr algn="l">
              <a:lnSpc>
                <a:spcPct val="130000"/>
              </a:lnSpc>
            </a:pPr>
            <a:r>
              <a:rPr kumimoji="0" lang="zh-CN" altLang="en-US" sz="2800" b="1">
                <a:solidFill>
                  <a:schemeClr val="hlink"/>
                </a:solidFill>
              </a:rPr>
              <a:t>自由变元：</a:t>
            </a:r>
            <a:r>
              <a:rPr kumimoji="0" lang="zh-CN" altLang="en-US" sz="2800" b="1">
                <a:solidFill>
                  <a:schemeClr val="bg2"/>
                </a:solidFill>
              </a:rPr>
              <a:t>在</a:t>
            </a:r>
            <a:r>
              <a:rPr kumimoji="0" lang="zh-CN" altLang="en-US" sz="2800" b="1">
                <a:solidFill>
                  <a:schemeClr val="bg2"/>
                </a:solidFill>
                <a:sym typeface="Symbol" pitchFamily="18" charset="2"/>
              </a:rPr>
              <a:t></a:t>
            </a:r>
            <a:r>
              <a:rPr kumimoji="0" lang="zh-CN" altLang="en-US" sz="2800" b="1">
                <a:solidFill>
                  <a:schemeClr val="bg2"/>
                </a:solidFill>
              </a:rPr>
              <a:t>中除去约束变元以外所出现的变元。</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376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376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376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7376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0F83C7FB-35D9-4B76-B226-9441003F499B}" type="slidenum">
              <a:rPr lang="en-US" altLang="zh-CN"/>
              <a:pPr/>
              <a:t>43</a:t>
            </a:fld>
            <a:endParaRPr lang="en-US" altLang="zh-CN"/>
          </a:p>
        </p:txBody>
      </p:sp>
      <p:sp>
        <p:nvSpPr>
          <p:cNvPr id="374786" name="Rectangle 2"/>
          <p:cNvSpPr>
            <a:spLocks noChangeArrowheads="1"/>
          </p:cNvSpPr>
          <p:nvPr/>
        </p:nvSpPr>
        <p:spPr bwMode="auto">
          <a:xfrm>
            <a:off x="684213" y="1341438"/>
            <a:ext cx="8208962" cy="231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sz="2800" b="1">
                <a:solidFill>
                  <a:schemeClr val="hlink"/>
                </a:solidFill>
                <a:sym typeface="Symbol" pitchFamily="18" charset="2"/>
              </a:rPr>
              <a:t>例</a:t>
            </a:r>
            <a:r>
              <a:rPr lang="en-US" altLang="zh-CN" sz="2800" b="1">
                <a:solidFill>
                  <a:schemeClr val="hlink"/>
                </a:solidFill>
                <a:sym typeface="Symbol" pitchFamily="18" charset="2"/>
              </a:rPr>
              <a:t>1</a:t>
            </a:r>
            <a:r>
              <a:rPr lang="zh-CN" altLang="en-US" sz="2800" b="1">
                <a:solidFill>
                  <a:schemeClr val="hlink"/>
                </a:solidFill>
                <a:sym typeface="Symbol" pitchFamily="18" charset="2"/>
              </a:rPr>
              <a:t>：</a:t>
            </a:r>
            <a:r>
              <a:rPr lang="zh-CN" altLang="en-US" sz="2800" b="1">
                <a:sym typeface="Symbol" pitchFamily="18" charset="2"/>
              </a:rPr>
              <a:t>说明以下各式的作用域与变元约束的情况。</a:t>
            </a:r>
          </a:p>
          <a:p>
            <a:pPr algn="l">
              <a:lnSpc>
                <a:spcPct val="130000"/>
              </a:lnSpc>
            </a:pPr>
            <a:r>
              <a:rPr lang="en-US" altLang="zh-CN" sz="2800" b="1">
                <a:sym typeface="Symbol" pitchFamily="18" charset="2"/>
              </a:rPr>
              <a:t>1</a:t>
            </a:r>
            <a:r>
              <a:rPr lang="zh-CN" altLang="en-US" sz="2800" b="1">
                <a:sym typeface="Symbol" pitchFamily="18" charset="2"/>
              </a:rPr>
              <a:t>、</a:t>
            </a:r>
            <a:r>
              <a:rPr lang="en-US" altLang="zh-CN" sz="2800" b="1">
                <a:sym typeface="Symbol" pitchFamily="18" charset="2"/>
              </a:rPr>
              <a:t>(x)(P(x)Q(y))</a:t>
            </a:r>
          </a:p>
          <a:p>
            <a:pPr algn="l">
              <a:lnSpc>
                <a:spcPct val="130000"/>
              </a:lnSpc>
            </a:pPr>
            <a:r>
              <a:rPr lang="en-US" altLang="zh-CN" sz="2800" b="1">
                <a:sym typeface="Symbol" pitchFamily="18" charset="2"/>
              </a:rPr>
              <a:t>2</a:t>
            </a:r>
            <a:r>
              <a:rPr lang="zh-CN" altLang="en-US" sz="2800" b="1">
                <a:sym typeface="Symbol" pitchFamily="18" charset="2"/>
              </a:rPr>
              <a:t>、</a:t>
            </a:r>
            <a:r>
              <a:rPr lang="en-US" altLang="zh-CN" sz="2800" b="1">
                <a:sym typeface="Symbol" pitchFamily="18" charset="2"/>
              </a:rPr>
              <a:t>(x)</a:t>
            </a:r>
            <a:r>
              <a:rPr lang="en-US" altLang="zh-CN" sz="2800" b="1">
                <a:solidFill>
                  <a:srgbClr val="0000FF"/>
                </a:solidFill>
                <a:sym typeface="Symbol" pitchFamily="18" charset="2"/>
              </a:rPr>
              <a:t>(</a:t>
            </a:r>
            <a:r>
              <a:rPr lang="en-US" altLang="zh-CN" sz="2800" b="1">
                <a:sym typeface="Symbol" pitchFamily="18" charset="2"/>
              </a:rPr>
              <a:t>H(x, y)(y)</a:t>
            </a:r>
            <a:r>
              <a:rPr lang="en-US" altLang="zh-CN" sz="2800" b="1">
                <a:solidFill>
                  <a:schemeClr val="hlink"/>
                </a:solidFill>
                <a:sym typeface="Symbol" pitchFamily="18" charset="2"/>
              </a:rPr>
              <a:t>(</a:t>
            </a:r>
            <a:r>
              <a:rPr lang="en-US" altLang="zh-CN" sz="2800" b="1">
                <a:sym typeface="Symbol" pitchFamily="18" charset="2"/>
              </a:rPr>
              <a:t>W(y)∧L(x, y, z)</a:t>
            </a:r>
            <a:r>
              <a:rPr lang="en-US" altLang="zh-CN" sz="2800" b="1">
                <a:solidFill>
                  <a:schemeClr val="hlink"/>
                </a:solidFill>
                <a:sym typeface="Symbol" pitchFamily="18" charset="2"/>
              </a:rPr>
              <a:t>)</a:t>
            </a:r>
            <a:r>
              <a:rPr lang="en-US" altLang="zh-CN" sz="2800" b="1">
                <a:solidFill>
                  <a:srgbClr val="0000FF"/>
                </a:solidFill>
                <a:sym typeface="Symbol" pitchFamily="18" charset="2"/>
              </a:rPr>
              <a:t>)</a:t>
            </a:r>
          </a:p>
          <a:p>
            <a:pPr algn="l">
              <a:lnSpc>
                <a:spcPct val="130000"/>
              </a:lnSpc>
            </a:pPr>
            <a:r>
              <a:rPr lang="en-US" altLang="zh-CN" sz="2800" b="1">
                <a:sym typeface="Symbol" pitchFamily="18" charset="2"/>
              </a:rPr>
              <a:t>3</a:t>
            </a:r>
            <a:r>
              <a:rPr lang="zh-CN" altLang="en-US" sz="2800" b="1">
                <a:sym typeface="Symbol" pitchFamily="18" charset="2"/>
              </a:rPr>
              <a:t>、</a:t>
            </a:r>
            <a:r>
              <a:rPr lang="en-US" altLang="zh-CN" sz="2800" b="1">
                <a:sym typeface="Symbol" pitchFamily="18" charset="2"/>
              </a:rPr>
              <a:t>(x)</a:t>
            </a:r>
            <a:r>
              <a:rPr lang="en-US" altLang="zh-CN" sz="2800" b="1">
                <a:solidFill>
                  <a:srgbClr val="0000FF"/>
                </a:solidFill>
                <a:sym typeface="Symbol" pitchFamily="18" charset="2"/>
              </a:rPr>
              <a:t>(</a:t>
            </a:r>
            <a:r>
              <a:rPr lang="en-US" altLang="zh-CN" sz="2800" b="1">
                <a:sym typeface="Symbol" pitchFamily="18" charset="2"/>
              </a:rPr>
              <a:t>H(x)W(y)</a:t>
            </a:r>
            <a:r>
              <a:rPr lang="en-US" altLang="zh-CN" sz="2800" b="1">
                <a:solidFill>
                  <a:srgbClr val="0000FF"/>
                </a:solidFill>
                <a:sym typeface="Symbol" pitchFamily="18" charset="2"/>
              </a:rPr>
              <a:t>)</a:t>
            </a:r>
            <a:r>
              <a:rPr lang="en-US" altLang="zh-CN" sz="2800" b="1">
                <a:sym typeface="Symbol" pitchFamily="18" charset="2"/>
              </a:rPr>
              <a:t>(y)</a:t>
            </a:r>
            <a:r>
              <a:rPr lang="en-US" altLang="zh-CN" sz="2800" b="1">
                <a:solidFill>
                  <a:schemeClr val="hlink"/>
                </a:solidFill>
                <a:sym typeface="Symbol" pitchFamily="18" charset="2"/>
              </a:rPr>
              <a:t>(</a:t>
            </a:r>
            <a:r>
              <a:rPr lang="en-US" altLang="zh-CN" sz="2800" b="1">
                <a:sym typeface="Symbol" pitchFamily="18" charset="2"/>
              </a:rPr>
              <a:t>F(x)∧L(x, y, z)</a:t>
            </a:r>
            <a:r>
              <a:rPr lang="en-US" altLang="zh-CN" sz="2800" b="1">
                <a:solidFill>
                  <a:schemeClr val="hlink"/>
                </a:solidFill>
                <a:sym typeface="Symbol" pitchFamily="18" charset="2"/>
              </a:rPr>
              <a:t>)</a:t>
            </a:r>
          </a:p>
        </p:txBody>
      </p:sp>
    </p:spTree>
  </p:cSld>
  <p:clrMapOvr>
    <a:masterClrMapping/>
  </p:clrMapOvr>
  <p:transition spd="slow">
    <p:pull dir="ru"/>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7ADA1751-B0E0-4085-A613-D2F7D7D673F4}" type="slidenum">
              <a:rPr lang="en-US" altLang="zh-CN"/>
              <a:pPr/>
              <a:t>44</a:t>
            </a:fld>
            <a:endParaRPr lang="en-US" altLang="zh-CN"/>
          </a:p>
        </p:txBody>
      </p:sp>
      <p:sp>
        <p:nvSpPr>
          <p:cNvPr id="421890" name="Rectangle 2"/>
          <p:cNvSpPr>
            <a:spLocks noChangeArrowheads="1"/>
          </p:cNvSpPr>
          <p:nvPr/>
        </p:nvSpPr>
        <p:spPr bwMode="auto">
          <a:xfrm>
            <a:off x="973138" y="1268413"/>
            <a:ext cx="7343775"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a:solidFill>
                  <a:schemeClr val="hlink"/>
                </a:solidFill>
              </a:rPr>
              <a:t>寻找作用域的原则：</a:t>
            </a:r>
          </a:p>
          <a:p>
            <a:pPr algn="l">
              <a:lnSpc>
                <a:spcPct val="130000"/>
              </a:lnSpc>
            </a:pPr>
            <a:r>
              <a:rPr kumimoji="0" lang="en-US" altLang="zh-CN" sz="2800" b="1">
                <a:solidFill>
                  <a:schemeClr val="bg2"/>
                </a:solidFill>
              </a:rPr>
              <a:t>1)</a:t>
            </a:r>
            <a:r>
              <a:rPr kumimoji="0" lang="zh-CN" altLang="en-US" sz="2800" b="1">
                <a:solidFill>
                  <a:schemeClr val="bg2"/>
                </a:solidFill>
              </a:rPr>
              <a:t>若量词后有括号，括号内子公式为该量词作用域；</a:t>
            </a:r>
          </a:p>
          <a:p>
            <a:pPr algn="l">
              <a:lnSpc>
                <a:spcPct val="130000"/>
              </a:lnSpc>
            </a:pPr>
            <a:r>
              <a:rPr kumimoji="0" lang="en-US" altLang="zh-CN" sz="2800" b="1">
                <a:solidFill>
                  <a:schemeClr val="bg2"/>
                </a:solidFill>
              </a:rPr>
              <a:t>2)</a:t>
            </a:r>
            <a:r>
              <a:rPr kumimoji="0" lang="zh-CN" altLang="en-US" sz="2800" b="1">
                <a:solidFill>
                  <a:schemeClr val="bg2"/>
                </a:solidFill>
              </a:rPr>
              <a:t>若量词后无括号，则与量词邻接的子公式为该量词的作用域。</a:t>
            </a:r>
          </a:p>
          <a:p>
            <a:pPr algn="l">
              <a:lnSpc>
                <a:spcPct val="130000"/>
              </a:lnSpc>
            </a:pPr>
            <a:r>
              <a:rPr kumimoji="0" lang="zh-CN" altLang="en-US" sz="2800" b="1">
                <a:solidFill>
                  <a:schemeClr val="bg2"/>
                </a:solidFill>
              </a:rPr>
              <a:t>判定给定公式</a:t>
            </a:r>
            <a:r>
              <a:rPr kumimoji="0" lang="en-US" altLang="zh-CN" sz="2800" b="1">
                <a:solidFill>
                  <a:schemeClr val="bg2"/>
                </a:solidFill>
              </a:rPr>
              <a:t>A</a:t>
            </a:r>
            <a:r>
              <a:rPr kumimoji="0" lang="zh-CN" altLang="en-US" sz="2800" b="1">
                <a:solidFill>
                  <a:schemeClr val="bg2"/>
                </a:solidFill>
              </a:rPr>
              <a:t>中个体变元是约束变元还是自由变元，关键是要看它在</a:t>
            </a:r>
            <a:r>
              <a:rPr kumimoji="0" lang="en-US" altLang="zh-CN" sz="2800" b="1">
                <a:solidFill>
                  <a:schemeClr val="bg2"/>
                </a:solidFill>
              </a:rPr>
              <a:t>A</a:t>
            </a:r>
            <a:r>
              <a:rPr kumimoji="0" lang="zh-CN" altLang="en-US" sz="2800" b="1">
                <a:solidFill>
                  <a:schemeClr val="bg2"/>
                </a:solidFill>
              </a:rPr>
              <a:t>中是约束出现，还是自由出现。</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21890">
                                            <p:txEl>
                                              <p:pRg st="1" end="1"/>
                                            </p:txEl>
                                          </p:spTgt>
                                        </p:tgtEl>
                                        <p:attrNameLst>
                                          <p:attrName>style.visibility</p:attrName>
                                        </p:attrNameLst>
                                      </p:cBhvr>
                                      <p:to>
                                        <p:strVal val="visible"/>
                                      </p:to>
                                    </p:set>
                                    <p:anim calcmode="lin" valueType="num">
                                      <p:cBhvr additive="base">
                                        <p:cTn id="7" dur="500" fill="hold"/>
                                        <p:tgtEl>
                                          <p:spTgt spid="421890">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189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21890">
                                            <p:txEl>
                                              <p:pRg st="2" end="2"/>
                                            </p:txEl>
                                          </p:spTgt>
                                        </p:tgtEl>
                                        <p:attrNameLst>
                                          <p:attrName>style.visibility</p:attrName>
                                        </p:attrNameLst>
                                      </p:cBhvr>
                                      <p:to>
                                        <p:strVal val="visible"/>
                                      </p:to>
                                    </p:set>
                                    <p:anim calcmode="lin" valueType="num">
                                      <p:cBhvr additive="base">
                                        <p:cTn id="13" dur="500" fill="hold"/>
                                        <p:tgtEl>
                                          <p:spTgt spid="42189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2189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421890">
                                            <p:txEl>
                                              <p:pRg st="3" end="3"/>
                                            </p:txEl>
                                          </p:spTgt>
                                        </p:tgtEl>
                                        <p:attrNameLst>
                                          <p:attrName>style.visibility</p:attrName>
                                        </p:attrNameLst>
                                      </p:cBhvr>
                                      <p:to>
                                        <p:strVal val="visible"/>
                                      </p:to>
                                    </p:set>
                                    <p:anim calcmode="lin" valueType="num">
                                      <p:cBhvr additive="base">
                                        <p:cTn id="19" dur="500" fill="hold"/>
                                        <p:tgtEl>
                                          <p:spTgt spid="42189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1890">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D49F0EAA-48AA-498F-968E-E43F00DA23C8}" type="slidenum">
              <a:rPr lang="en-US" altLang="zh-CN"/>
              <a:pPr/>
              <a:t>45</a:t>
            </a:fld>
            <a:endParaRPr lang="en-US" altLang="zh-CN"/>
          </a:p>
        </p:txBody>
      </p:sp>
      <p:sp>
        <p:nvSpPr>
          <p:cNvPr id="375810" name="Text Box 2"/>
          <p:cNvSpPr txBox="1">
            <a:spLocks noChangeArrowheads="1"/>
          </p:cNvSpPr>
          <p:nvPr/>
        </p:nvSpPr>
        <p:spPr bwMode="auto">
          <a:xfrm>
            <a:off x="1079500" y="1484313"/>
            <a:ext cx="7308850" cy="13731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spcBef>
                <a:spcPct val="50000"/>
              </a:spcBef>
            </a:pPr>
            <a:r>
              <a:rPr kumimoji="0" lang="en-US" altLang="zh-CN" sz="2800" b="1">
                <a:solidFill>
                  <a:schemeClr val="hlink"/>
                </a:solidFill>
              </a:rPr>
              <a:t>n</a:t>
            </a:r>
            <a:r>
              <a:rPr kumimoji="0" lang="zh-CN" altLang="en-US" sz="2800" b="1">
                <a:solidFill>
                  <a:schemeClr val="hlink"/>
                </a:solidFill>
              </a:rPr>
              <a:t>元谓词：</a:t>
            </a:r>
            <a:r>
              <a:rPr kumimoji="0" lang="zh-CN" altLang="en-US" sz="2800" b="1">
                <a:solidFill>
                  <a:schemeClr val="bg2"/>
                </a:solidFill>
              </a:rPr>
              <a:t>设</a:t>
            </a:r>
            <a:r>
              <a:rPr kumimoji="0" lang="en-US" altLang="zh-CN" sz="2800" b="1">
                <a:solidFill>
                  <a:schemeClr val="bg2"/>
                </a:solidFill>
              </a:rPr>
              <a:t>A</a:t>
            </a:r>
            <a:r>
              <a:rPr kumimoji="0" lang="zh-CN" altLang="en-US" sz="2800" b="1">
                <a:solidFill>
                  <a:schemeClr val="bg2"/>
                </a:solidFill>
              </a:rPr>
              <a:t>为任意一个公式，若</a:t>
            </a:r>
            <a:r>
              <a:rPr kumimoji="0" lang="en-US" altLang="zh-CN" sz="2800" b="1">
                <a:solidFill>
                  <a:schemeClr val="bg2"/>
                </a:solidFill>
              </a:rPr>
              <a:t>A</a:t>
            </a:r>
            <a:r>
              <a:rPr kumimoji="0" lang="zh-CN" altLang="en-US" sz="2800" b="1">
                <a:solidFill>
                  <a:schemeClr val="bg2"/>
                </a:solidFill>
              </a:rPr>
              <a:t>中无自由出现的客体变元则该式为一个命题；如有</a:t>
            </a:r>
            <a:r>
              <a:rPr kumimoji="0" lang="en-US" altLang="zh-CN" sz="2800" b="1">
                <a:solidFill>
                  <a:schemeClr val="bg2"/>
                </a:solidFill>
              </a:rPr>
              <a:t>n</a:t>
            </a:r>
            <a:r>
              <a:rPr kumimoji="0" lang="zh-CN" altLang="en-US" sz="2800" b="1">
                <a:solidFill>
                  <a:schemeClr val="bg2"/>
                </a:solidFill>
              </a:rPr>
              <a:t>个自由变元，则为</a:t>
            </a:r>
            <a:r>
              <a:rPr kumimoji="0" lang="en-US" altLang="zh-CN" sz="2800" b="1" u="sng">
                <a:solidFill>
                  <a:schemeClr val="bg2"/>
                </a:solidFill>
              </a:rPr>
              <a:t>n</a:t>
            </a:r>
            <a:r>
              <a:rPr kumimoji="0" lang="zh-CN" altLang="en-US" sz="2800" b="1" u="sng">
                <a:solidFill>
                  <a:schemeClr val="bg2"/>
                </a:solidFill>
              </a:rPr>
              <a:t>元谓词</a:t>
            </a:r>
            <a:r>
              <a:rPr kumimoji="0" lang="zh-CN" altLang="en-US" sz="2800" b="1">
                <a:solidFill>
                  <a:schemeClr val="bg2"/>
                </a:solidFill>
              </a:rPr>
              <a:t>。           </a:t>
            </a:r>
          </a:p>
        </p:txBody>
      </p:sp>
      <p:sp>
        <p:nvSpPr>
          <p:cNvPr id="375811" name="Rectangle 3"/>
          <p:cNvSpPr>
            <a:spLocks noChangeArrowheads="1"/>
          </p:cNvSpPr>
          <p:nvPr/>
        </p:nvSpPr>
        <p:spPr bwMode="auto">
          <a:xfrm>
            <a:off x="1079500" y="3284538"/>
            <a:ext cx="7669213"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kumimoji="0" lang="zh-CN" altLang="en-US" sz="2800" b="1">
                <a:solidFill>
                  <a:schemeClr val="hlink"/>
                </a:solidFill>
              </a:rPr>
              <a:t>例</a:t>
            </a:r>
            <a:r>
              <a:rPr kumimoji="0" lang="en-US" altLang="zh-CN" sz="2800" b="1">
                <a:solidFill>
                  <a:schemeClr val="hlink"/>
                </a:solidFill>
              </a:rPr>
              <a:t>2</a:t>
            </a:r>
            <a:r>
              <a:rPr kumimoji="0" lang="zh-CN" altLang="en-US" sz="2800" b="1">
                <a:solidFill>
                  <a:schemeClr val="hlink"/>
                </a:solidFill>
                <a:sym typeface="Wingdings" pitchFamily="2" charset="2"/>
              </a:rPr>
              <a:t>：</a:t>
            </a:r>
            <a:r>
              <a:rPr kumimoji="0" lang="en-US" altLang="zh-CN" sz="2800" b="1">
                <a:solidFill>
                  <a:schemeClr val="bg2"/>
                </a:solidFill>
                <a:sym typeface="Wingdings" pitchFamily="2" charset="2"/>
              </a:rPr>
              <a:t>(</a:t>
            </a:r>
            <a:r>
              <a:rPr kumimoji="0" lang="en-US" altLang="zh-CN" sz="2800" b="1">
                <a:sym typeface="Symbol" pitchFamily="18" charset="2"/>
              </a:rPr>
              <a:t></a:t>
            </a:r>
            <a:r>
              <a:rPr kumimoji="0" lang="en-US" altLang="zh-CN" sz="2800" b="1">
                <a:solidFill>
                  <a:schemeClr val="bg2"/>
                </a:solidFill>
              </a:rPr>
              <a:t>x)A(x)</a:t>
            </a:r>
            <a:r>
              <a:rPr kumimoji="0" lang="zh-CN" altLang="en-US" sz="2800" b="1">
                <a:solidFill>
                  <a:schemeClr val="bg2"/>
                </a:solidFill>
              </a:rPr>
              <a:t>，</a:t>
            </a:r>
            <a:r>
              <a:rPr kumimoji="0" lang="en-US" altLang="zh-CN" sz="2800" b="1">
                <a:solidFill>
                  <a:schemeClr val="bg2"/>
                </a:solidFill>
              </a:rPr>
              <a:t>(</a:t>
            </a:r>
            <a:r>
              <a:rPr kumimoji="0" lang="en-US" altLang="zh-CN" sz="2800" b="1">
                <a:sym typeface="Symbol" pitchFamily="18" charset="2"/>
              </a:rPr>
              <a:t></a:t>
            </a:r>
            <a:r>
              <a:rPr kumimoji="0" lang="en-US" altLang="zh-CN" sz="2800" b="1">
                <a:solidFill>
                  <a:schemeClr val="bg2"/>
                </a:solidFill>
              </a:rPr>
              <a:t>x)B(x, y)</a:t>
            </a:r>
          </a:p>
          <a:p>
            <a:pPr algn="l">
              <a:spcBef>
                <a:spcPct val="50000"/>
              </a:spcBef>
            </a:pPr>
            <a:r>
              <a:rPr lang="en-US" altLang="zh-CN" sz="2800" b="1">
                <a:sym typeface="Symbol" pitchFamily="18" charset="2"/>
              </a:rPr>
              <a:t>(x)(H(x, y)(y)</a:t>
            </a:r>
            <a:r>
              <a:rPr lang="en-US" altLang="zh-CN" sz="2800" b="1">
                <a:solidFill>
                  <a:schemeClr val="hlink"/>
                </a:solidFill>
                <a:sym typeface="Symbol" pitchFamily="18" charset="2"/>
              </a:rPr>
              <a:t>(</a:t>
            </a:r>
            <a:r>
              <a:rPr lang="en-US" altLang="zh-CN" sz="2800" b="1">
                <a:sym typeface="Symbol" pitchFamily="18" charset="2"/>
              </a:rPr>
              <a:t>W(y)∧L(x, y, z)</a:t>
            </a:r>
            <a:r>
              <a:rPr lang="en-US" altLang="zh-CN" sz="2800" b="1">
                <a:solidFill>
                  <a:schemeClr val="hlink"/>
                </a:solidFill>
                <a:sym typeface="Symbol" pitchFamily="18" charset="2"/>
              </a:rPr>
              <a:t>)</a:t>
            </a:r>
            <a:r>
              <a:rPr lang="en-US" altLang="zh-CN" sz="2800" b="1">
                <a:sym typeface="Symbol" pitchFamily="18" charset="2"/>
              </a:rPr>
              <a:t>)</a:t>
            </a:r>
          </a:p>
          <a:p>
            <a:pPr algn="l">
              <a:spcBef>
                <a:spcPct val="50000"/>
              </a:spcBef>
            </a:pPr>
            <a:r>
              <a:rPr lang="zh-CN" altLang="en-US" sz="2800" b="1">
                <a:sym typeface="Symbol" pitchFamily="18" charset="2"/>
              </a:rPr>
              <a:t>变元</a:t>
            </a:r>
            <a:r>
              <a:rPr lang="en-US" altLang="zh-CN" sz="2800" b="1">
                <a:sym typeface="Symbol" pitchFamily="18" charset="2"/>
              </a:rPr>
              <a:t>y</a:t>
            </a:r>
            <a:r>
              <a:rPr lang="zh-CN" altLang="en-US" sz="2800" b="1">
                <a:sym typeface="Symbol" pitchFamily="18" charset="2"/>
              </a:rPr>
              <a:t>即以自由变元出现，又以约束变元出现。</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58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5811">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58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53B12B1E-3228-4306-952F-0FF380081B0F}" type="slidenum">
              <a:rPr lang="en-US" altLang="zh-CN"/>
              <a:pPr/>
              <a:t>46</a:t>
            </a:fld>
            <a:endParaRPr lang="en-US" altLang="zh-CN"/>
          </a:p>
        </p:txBody>
      </p:sp>
      <p:sp>
        <p:nvSpPr>
          <p:cNvPr id="376834" name="Text Box 2"/>
          <p:cNvSpPr txBox="1">
            <a:spLocks noChangeArrowheads="1"/>
          </p:cNvSpPr>
          <p:nvPr/>
        </p:nvSpPr>
        <p:spPr bwMode="auto">
          <a:xfrm>
            <a:off x="539750" y="1268413"/>
            <a:ext cx="8353425" cy="45005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30000"/>
              </a:lnSpc>
              <a:spcBef>
                <a:spcPct val="10000"/>
              </a:spcBef>
            </a:pPr>
            <a:r>
              <a:rPr kumimoji="0" lang="en-US" altLang="zh-CN" sz="2800" b="1">
                <a:solidFill>
                  <a:schemeClr val="hlink"/>
                </a:solidFill>
              </a:rPr>
              <a:t>1</a:t>
            </a:r>
            <a:r>
              <a:rPr kumimoji="0" lang="zh-CN" altLang="en-US" sz="2800" b="1">
                <a:solidFill>
                  <a:schemeClr val="hlink"/>
                </a:solidFill>
              </a:rPr>
              <a:t>、约束变元的换名：</a:t>
            </a:r>
          </a:p>
          <a:p>
            <a:pPr algn="l">
              <a:lnSpc>
                <a:spcPct val="130000"/>
              </a:lnSpc>
              <a:spcBef>
                <a:spcPct val="10000"/>
              </a:spcBef>
            </a:pPr>
            <a:r>
              <a:rPr kumimoji="0" lang="en-US" altLang="zh-CN" sz="2600" b="1">
                <a:solidFill>
                  <a:schemeClr val="bg2"/>
                </a:solidFill>
              </a:rPr>
              <a:t>1)</a:t>
            </a:r>
            <a:r>
              <a:rPr kumimoji="0" lang="zh-CN" altLang="en-US" sz="2600" b="1">
                <a:solidFill>
                  <a:schemeClr val="bg2"/>
                </a:solidFill>
              </a:rPr>
              <a:t>更改的变元名称</a:t>
            </a:r>
            <a:r>
              <a:rPr kumimoji="0" lang="zh-CN" altLang="en-US" sz="2600" b="1" u="sng">
                <a:solidFill>
                  <a:schemeClr val="hlink"/>
                </a:solidFill>
              </a:rPr>
              <a:t>范围是</a:t>
            </a:r>
            <a:r>
              <a:rPr kumimoji="0" lang="zh-CN" altLang="en-US" sz="2600" b="1">
                <a:solidFill>
                  <a:schemeClr val="bg2"/>
                </a:solidFill>
              </a:rPr>
              <a:t>量词中的指导变元，以及该量词作用域中所出现的该变元，在公式的其余部分不变；</a:t>
            </a:r>
          </a:p>
          <a:p>
            <a:pPr algn="l">
              <a:lnSpc>
                <a:spcPct val="130000"/>
              </a:lnSpc>
              <a:spcBef>
                <a:spcPct val="10000"/>
              </a:spcBef>
            </a:pPr>
            <a:r>
              <a:rPr kumimoji="0" lang="en-US" altLang="zh-CN" sz="2600" b="1">
                <a:solidFill>
                  <a:schemeClr val="bg2"/>
                </a:solidFill>
              </a:rPr>
              <a:t>2)</a:t>
            </a:r>
            <a:r>
              <a:rPr kumimoji="0" lang="zh-CN" altLang="en-US" sz="2600" b="1">
                <a:solidFill>
                  <a:schemeClr val="bg2"/>
                </a:solidFill>
              </a:rPr>
              <a:t>换名时一定要更改为作用域中</a:t>
            </a:r>
            <a:r>
              <a:rPr kumimoji="0" lang="zh-CN" altLang="en-US" sz="2600" b="1" u="sng">
                <a:solidFill>
                  <a:schemeClr val="hlink"/>
                </a:solidFill>
              </a:rPr>
              <a:t>没有出现</a:t>
            </a:r>
            <a:r>
              <a:rPr kumimoji="0" lang="zh-CN" altLang="en-US" sz="2600" b="1">
                <a:solidFill>
                  <a:schemeClr val="bg2"/>
                </a:solidFill>
              </a:rPr>
              <a:t>的变元名称。</a:t>
            </a:r>
          </a:p>
          <a:p>
            <a:pPr algn="l">
              <a:lnSpc>
                <a:spcPct val="130000"/>
              </a:lnSpc>
              <a:spcBef>
                <a:spcPct val="10000"/>
              </a:spcBef>
            </a:pPr>
            <a:r>
              <a:rPr kumimoji="0" lang="en-US" altLang="zh-CN" sz="2800" b="1">
                <a:solidFill>
                  <a:schemeClr val="hlink"/>
                </a:solidFill>
              </a:rPr>
              <a:t>2</a:t>
            </a:r>
            <a:r>
              <a:rPr kumimoji="0" lang="zh-CN" altLang="en-US" sz="2800" b="1">
                <a:solidFill>
                  <a:schemeClr val="hlink"/>
                </a:solidFill>
              </a:rPr>
              <a:t>、自由变元的代入</a:t>
            </a:r>
          </a:p>
          <a:p>
            <a:pPr algn="l">
              <a:lnSpc>
                <a:spcPct val="130000"/>
              </a:lnSpc>
              <a:spcBef>
                <a:spcPct val="10000"/>
              </a:spcBef>
            </a:pPr>
            <a:r>
              <a:rPr kumimoji="0" lang="en-US" altLang="zh-CN" sz="2600" b="1">
                <a:solidFill>
                  <a:schemeClr val="bg2"/>
                </a:solidFill>
              </a:rPr>
              <a:t>1)</a:t>
            </a:r>
            <a:r>
              <a:rPr kumimoji="0" lang="zh-CN" altLang="en-US" sz="2600" b="1">
                <a:solidFill>
                  <a:schemeClr val="bg2"/>
                </a:solidFill>
              </a:rPr>
              <a:t>对公式中出现该自由变元的</a:t>
            </a:r>
            <a:r>
              <a:rPr kumimoji="0" lang="zh-CN" altLang="en-US" sz="2600" b="1" u="sng">
                <a:solidFill>
                  <a:schemeClr val="hlink"/>
                </a:solidFill>
              </a:rPr>
              <a:t>每一处</a:t>
            </a:r>
            <a:r>
              <a:rPr kumimoji="0" lang="zh-CN" altLang="en-US" sz="2600" b="1">
                <a:solidFill>
                  <a:schemeClr val="bg2"/>
                </a:solidFill>
              </a:rPr>
              <a:t>进行代入；</a:t>
            </a:r>
          </a:p>
          <a:p>
            <a:pPr algn="l">
              <a:lnSpc>
                <a:spcPct val="130000"/>
              </a:lnSpc>
              <a:spcBef>
                <a:spcPct val="10000"/>
              </a:spcBef>
            </a:pPr>
            <a:r>
              <a:rPr kumimoji="0" lang="en-US" altLang="zh-CN" sz="2600" b="1">
                <a:solidFill>
                  <a:schemeClr val="bg2"/>
                </a:solidFill>
              </a:rPr>
              <a:t>2)</a:t>
            </a:r>
            <a:r>
              <a:rPr kumimoji="0" lang="zh-CN" altLang="en-US" sz="2600" b="1">
                <a:solidFill>
                  <a:schemeClr val="bg2"/>
                </a:solidFill>
              </a:rPr>
              <a:t>用以代入的变元与原公式中所有变元的名称</a:t>
            </a:r>
            <a:r>
              <a:rPr kumimoji="0" lang="zh-CN" altLang="en-US" sz="2600" b="1" u="sng">
                <a:solidFill>
                  <a:schemeClr val="hlink"/>
                </a:solidFill>
              </a:rPr>
              <a:t>不能相同</a:t>
            </a:r>
            <a:r>
              <a:rPr kumimoji="0" lang="zh-CN" altLang="en-US" sz="2600" b="1">
                <a:solidFill>
                  <a:schemeClr val="bg2"/>
                </a:solidFill>
              </a:rPr>
              <a:t>。</a:t>
            </a:r>
          </a:p>
        </p:txBody>
      </p:sp>
      <p:sp>
        <p:nvSpPr>
          <p:cNvPr id="376835" name="Rectangle 3"/>
          <p:cNvSpPr>
            <a:spLocks noChangeArrowheads="1"/>
          </p:cNvSpPr>
          <p:nvPr/>
        </p:nvSpPr>
        <p:spPr bwMode="auto">
          <a:xfrm>
            <a:off x="1258888" y="647700"/>
            <a:ext cx="540067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zh-CN" altLang="en-US" sz="3200" b="1">
                <a:solidFill>
                  <a:schemeClr val="folHlink"/>
                </a:solidFill>
                <a:ea typeface="楷体_GB2312" pitchFamily="49" charset="-122"/>
              </a:rPr>
              <a:t>二、变元名称的更改</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68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683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6834">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7683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C05D5FB9-A3A6-423B-B9E8-8B06E0E71DE3}" type="slidenum">
              <a:rPr lang="en-US" altLang="zh-CN"/>
              <a:pPr/>
              <a:t>47</a:t>
            </a:fld>
            <a:endParaRPr lang="en-US" altLang="zh-CN"/>
          </a:p>
        </p:txBody>
      </p:sp>
      <p:sp>
        <p:nvSpPr>
          <p:cNvPr id="377858" name="Text Box 2"/>
          <p:cNvSpPr txBox="1">
            <a:spLocks noChangeArrowheads="1"/>
          </p:cNvSpPr>
          <p:nvPr/>
        </p:nvSpPr>
        <p:spPr bwMode="auto">
          <a:xfrm>
            <a:off x="755650" y="1557338"/>
            <a:ext cx="7848600" cy="2187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just">
              <a:lnSpc>
                <a:spcPct val="130000"/>
              </a:lnSpc>
              <a:spcBef>
                <a:spcPct val="50000"/>
              </a:spcBef>
            </a:pPr>
            <a:r>
              <a:rPr kumimoji="0" lang="zh-CN" altLang="en-US" sz="2800" b="1">
                <a:solidFill>
                  <a:schemeClr val="hlink"/>
                </a:solidFill>
              </a:rPr>
              <a:t>例</a:t>
            </a:r>
            <a:r>
              <a:rPr kumimoji="0" lang="en-US" altLang="zh-CN" sz="2800" b="1">
                <a:solidFill>
                  <a:schemeClr val="hlink"/>
                </a:solidFill>
              </a:rPr>
              <a:t>3: </a:t>
            </a:r>
            <a:r>
              <a:rPr kumimoji="0" lang="en-US" altLang="zh-CN" sz="2800" b="1">
                <a:solidFill>
                  <a:schemeClr val="bg2"/>
                </a:solidFill>
              </a:rPr>
              <a:t> </a:t>
            </a:r>
            <a:r>
              <a:rPr kumimoji="0" lang="zh-CN" altLang="en-US" sz="2800" b="1">
                <a:solidFill>
                  <a:schemeClr val="bg2"/>
                </a:solidFill>
              </a:rPr>
              <a:t>对</a:t>
            </a:r>
            <a:r>
              <a:rPr kumimoji="0" lang="en-US" altLang="zh-CN" sz="2800" b="1">
                <a:solidFill>
                  <a:schemeClr val="bg2"/>
                </a:solidFill>
              </a:rPr>
              <a:t>(</a:t>
            </a:r>
            <a:r>
              <a:rPr kumimoji="0" lang="en-US" altLang="zh-CN" sz="2800" b="1">
                <a:sym typeface="Symbol" pitchFamily="18" charset="2"/>
              </a:rPr>
              <a:t></a:t>
            </a:r>
            <a:r>
              <a:rPr kumimoji="0" lang="en-US" altLang="zh-CN" sz="2800" b="1">
                <a:solidFill>
                  <a:schemeClr val="bg2"/>
                </a:solidFill>
              </a:rPr>
              <a:t>x)(P(x)→R(x, y))∧Q(x, y)</a:t>
            </a:r>
            <a:r>
              <a:rPr kumimoji="0" lang="zh-CN" altLang="en-US" sz="2800" b="1">
                <a:solidFill>
                  <a:schemeClr val="bg2"/>
                </a:solidFill>
              </a:rPr>
              <a:t>换名</a:t>
            </a:r>
          </a:p>
          <a:p>
            <a:pPr algn="just">
              <a:lnSpc>
                <a:spcPct val="130000"/>
              </a:lnSpc>
              <a:spcBef>
                <a:spcPct val="50000"/>
              </a:spcBef>
            </a:pPr>
            <a:r>
              <a:rPr kumimoji="0" lang="zh-CN" altLang="en-US" sz="2800" b="1">
                <a:solidFill>
                  <a:schemeClr val="bg2"/>
                </a:solidFill>
              </a:rPr>
              <a:t>      </a:t>
            </a:r>
          </a:p>
          <a:p>
            <a:pPr algn="just">
              <a:lnSpc>
                <a:spcPct val="130000"/>
              </a:lnSpc>
              <a:spcBef>
                <a:spcPct val="50000"/>
              </a:spcBef>
            </a:pPr>
            <a:r>
              <a:rPr kumimoji="0" lang="zh-CN" altLang="en-US" sz="2800" b="1">
                <a:solidFill>
                  <a:schemeClr val="hlink"/>
                </a:solidFill>
              </a:rPr>
              <a:t>例</a:t>
            </a:r>
            <a:r>
              <a:rPr kumimoji="0" lang="en-US" altLang="zh-CN" sz="2800" b="1">
                <a:solidFill>
                  <a:schemeClr val="hlink"/>
                </a:solidFill>
              </a:rPr>
              <a:t>4: </a:t>
            </a:r>
            <a:r>
              <a:rPr kumimoji="0" lang="en-US" altLang="zh-CN" sz="2800" b="1">
                <a:solidFill>
                  <a:schemeClr val="bg2"/>
                </a:solidFill>
              </a:rPr>
              <a:t> </a:t>
            </a:r>
            <a:r>
              <a:rPr kumimoji="0" lang="zh-CN" altLang="en-US" sz="2800" b="1">
                <a:solidFill>
                  <a:schemeClr val="bg2"/>
                </a:solidFill>
              </a:rPr>
              <a:t>对</a:t>
            </a:r>
            <a:r>
              <a:rPr lang="en-US" altLang="zh-CN" sz="2800" b="1">
                <a:sym typeface="Symbol" pitchFamily="18" charset="2"/>
              </a:rPr>
              <a:t>(x)H(x, y)(y)(W(y)∧L(x, y, z))</a:t>
            </a:r>
            <a:r>
              <a:rPr kumimoji="0" lang="zh-CN" altLang="en-US" sz="2800" b="1">
                <a:solidFill>
                  <a:schemeClr val="bg2"/>
                </a:solidFill>
              </a:rPr>
              <a:t>代入</a:t>
            </a:r>
          </a:p>
        </p:txBody>
      </p:sp>
      <p:sp>
        <p:nvSpPr>
          <p:cNvPr id="377859" name="Rectangle 3"/>
          <p:cNvSpPr>
            <a:spLocks noChangeArrowheads="1"/>
          </p:cNvSpPr>
          <p:nvPr/>
        </p:nvSpPr>
        <p:spPr bwMode="auto">
          <a:xfrm>
            <a:off x="755650" y="2349500"/>
            <a:ext cx="5437188" cy="647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spcBef>
                <a:spcPct val="50000"/>
              </a:spcBef>
            </a:pPr>
            <a:r>
              <a:rPr kumimoji="0" lang="zh-CN" altLang="en-US" sz="2800" b="1">
                <a:solidFill>
                  <a:schemeClr val="bg2"/>
                </a:solidFill>
              </a:rPr>
              <a:t>解</a:t>
            </a:r>
            <a:r>
              <a:rPr kumimoji="0" lang="en-US" altLang="zh-CN" sz="2800" b="1">
                <a:solidFill>
                  <a:schemeClr val="bg2"/>
                </a:solidFill>
              </a:rPr>
              <a:t>: (</a:t>
            </a:r>
            <a:r>
              <a:rPr kumimoji="0" lang="en-US" altLang="zh-CN" sz="2800" b="1">
                <a:sym typeface="Symbol" pitchFamily="18" charset="2"/>
              </a:rPr>
              <a:t></a:t>
            </a:r>
            <a:r>
              <a:rPr kumimoji="0" lang="en-US" altLang="zh-CN" sz="2800" b="1">
                <a:solidFill>
                  <a:schemeClr val="bg2"/>
                </a:solidFill>
              </a:rPr>
              <a:t>z)(P(z)→R(z, y))∧Q(x, y)</a:t>
            </a:r>
          </a:p>
        </p:txBody>
      </p:sp>
      <p:sp>
        <p:nvSpPr>
          <p:cNvPr id="377860" name="Rectangle 4"/>
          <p:cNvSpPr>
            <a:spLocks noChangeArrowheads="1"/>
          </p:cNvSpPr>
          <p:nvPr/>
        </p:nvSpPr>
        <p:spPr bwMode="auto">
          <a:xfrm>
            <a:off x="755650" y="3933825"/>
            <a:ext cx="70564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2800" b="1"/>
              <a:t>解：</a:t>
            </a:r>
            <a:r>
              <a:rPr lang="en-US" altLang="zh-CN" sz="2800" b="1">
                <a:sym typeface="Symbol" pitchFamily="18" charset="2"/>
              </a:rPr>
              <a:t>(x)H(x, u)(y)(W(y)∧L(v, y, z))</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7859"/>
                                        </p:tgtEl>
                                        <p:attrNameLst>
                                          <p:attrName>style.visibility</p:attrName>
                                        </p:attrNameLst>
                                      </p:cBhvr>
                                      <p:to>
                                        <p:strVal val="visible"/>
                                      </p:to>
                                    </p:set>
                                    <p:anim calcmode="lin" valueType="num">
                                      <p:cBhvr additive="base">
                                        <p:cTn id="7" dur="500" fill="hold"/>
                                        <p:tgtEl>
                                          <p:spTgt spid="377859"/>
                                        </p:tgtEl>
                                        <p:attrNameLst>
                                          <p:attrName>ppt_x</p:attrName>
                                        </p:attrNameLst>
                                      </p:cBhvr>
                                      <p:tavLst>
                                        <p:tav tm="0">
                                          <p:val>
                                            <p:strVal val="0-#ppt_w/2"/>
                                          </p:val>
                                        </p:tav>
                                        <p:tav tm="100000">
                                          <p:val>
                                            <p:strVal val="#ppt_x"/>
                                          </p:val>
                                        </p:tav>
                                      </p:tavLst>
                                    </p:anim>
                                    <p:anim calcmode="lin" valueType="num">
                                      <p:cBhvr additive="base">
                                        <p:cTn id="8" dur="500" fill="hold"/>
                                        <p:tgtEl>
                                          <p:spTgt spid="377859"/>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77860"/>
                                        </p:tgtEl>
                                        <p:attrNameLst>
                                          <p:attrName>style.visibility</p:attrName>
                                        </p:attrNameLst>
                                      </p:cBhvr>
                                      <p:to>
                                        <p:strVal val="visible"/>
                                      </p:to>
                                    </p:set>
                                    <p:anim calcmode="lin" valueType="num">
                                      <p:cBhvr additive="base">
                                        <p:cTn id="13" dur="500" fill="hold"/>
                                        <p:tgtEl>
                                          <p:spTgt spid="377860"/>
                                        </p:tgtEl>
                                        <p:attrNameLst>
                                          <p:attrName>ppt_x</p:attrName>
                                        </p:attrNameLst>
                                      </p:cBhvr>
                                      <p:tavLst>
                                        <p:tav tm="0">
                                          <p:val>
                                            <p:strVal val="0-#ppt_w/2"/>
                                          </p:val>
                                        </p:tav>
                                        <p:tav tm="100000">
                                          <p:val>
                                            <p:strVal val="#ppt_x"/>
                                          </p:val>
                                        </p:tav>
                                      </p:tavLst>
                                    </p:anim>
                                    <p:anim calcmode="lin" valueType="num">
                                      <p:cBhvr additive="base">
                                        <p:cTn id="14" dur="500" fill="hold"/>
                                        <p:tgtEl>
                                          <p:spTgt spid="37786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7859" grpId="0"/>
      <p:bldP spid="377860" grpId="0"/>
    </p:bldLst>
  </p:timing>
</p:sld>
</file>

<file path=ppt/slides/slide48.xml><?xml version="1.0" encoding="utf-8"?>
<p:sld xmlns:a="http://schemas.openxmlformats.org/drawingml/2006/main" xmlns:r="http://schemas.openxmlformats.org/officeDocument/2006/relationships" xmlns:p="http://schemas.openxmlformats.org/presentationml/2006/main" showMasterPhAnim="0" show="0">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3A0EF6C3-12B6-40C1-914F-DDF7DD969C95}" type="slidenum">
              <a:rPr lang="en-US" altLang="zh-CN"/>
              <a:pPr/>
              <a:t>48</a:t>
            </a:fld>
            <a:endParaRPr lang="en-US" altLang="zh-CN"/>
          </a:p>
        </p:txBody>
      </p:sp>
      <p:sp>
        <p:nvSpPr>
          <p:cNvPr id="422914" name="Rectangle 2"/>
          <p:cNvSpPr>
            <a:spLocks noChangeArrowheads="1"/>
          </p:cNvSpPr>
          <p:nvPr/>
        </p:nvSpPr>
        <p:spPr bwMode="auto">
          <a:xfrm>
            <a:off x="971550" y="1412875"/>
            <a:ext cx="7488238" cy="2913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spcBef>
                <a:spcPct val="20000"/>
              </a:spcBef>
              <a:buClr>
                <a:schemeClr val="folHlink"/>
              </a:buClr>
              <a:buSzPct val="60000"/>
              <a:buFont typeface="Wingdings" pitchFamily="2" charset="2"/>
              <a:defRPr sz="2800" b="1">
                <a:solidFill>
                  <a:schemeClr val="tx1"/>
                </a:solidFill>
                <a:latin typeface="Times New Roman" pitchFamily="18" charset="0"/>
                <a:ea typeface="宋体" charset="-122"/>
              </a:defRPr>
            </a:lvl1pPr>
            <a:lvl2pPr marL="439738" indent="4763" algn="l">
              <a:spcBef>
                <a:spcPct val="20000"/>
              </a:spcBef>
              <a:buClr>
                <a:schemeClr val="hlink"/>
              </a:buClr>
              <a:buSzPct val="55000"/>
              <a:buFont typeface="Wingdings" pitchFamily="2" charset="2"/>
              <a:defRPr sz="2800" b="1">
                <a:solidFill>
                  <a:schemeClr val="tx1"/>
                </a:solidFill>
                <a:latin typeface="Times New Roman" pitchFamily="18" charset="0"/>
                <a:ea typeface="宋体" charset="-122"/>
              </a:defRPr>
            </a:lvl2pPr>
            <a:lvl3pPr marL="901700" algn="l">
              <a:spcBef>
                <a:spcPct val="20000"/>
              </a:spcBef>
              <a:buClr>
                <a:schemeClr val="folHlink"/>
              </a:buClr>
              <a:buSzPct val="50000"/>
              <a:buFont typeface="Wingdings" pitchFamily="2" charset="2"/>
              <a:defRPr sz="2800" b="1">
                <a:solidFill>
                  <a:schemeClr val="tx1"/>
                </a:solidFill>
                <a:latin typeface="Times New Roman" pitchFamily="18" charset="0"/>
                <a:ea typeface="宋体" charset="-122"/>
              </a:defRPr>
            </a:lvl3pPr>
            <a:lvl4pPr marL="1346200" algn="l">
              <a:spcBef>
                <a:spcPct val="20000"/>
              </a:spcBef>
              <a:buClr>
                <a:schemeClr val="accent2"/>
              </a:buClr>
              <a:buSzPct val="55000"/>
              <a:buFont typeface="Wingdings" pitchFamily="2" charset="2"/>
              <a:defRPr sz="2800" b="1">
                <a:solidFill>
                  <a:schemeClr val="tx1"/>
                </a:solidFill>
                <a:latin typeface="Times New Roman" pitchFamily="18" charset="0"/>
                <a:ea typeface="宋体" charset="-122"/>
              </a:defRPr>
            </a:lvl4pPr>
            <a:lvl5pPr marL="1789113" algn="l">
              <a:spcBef>
                <a:spcPct val="20000"/>
              </a:spcBef>
              <a:buClr>
                <a:schemeClr val="accent1"/>
              </a:buClr>
              <a:buSzPct val="50000"/>
              <a:buFont typeface="Wingdings" pitchFamily="2" charset="2"/>
              <a:defRPr sz="2800" b="1">
                <a:solidFill>
                  <a:schemeClr val="tx1"/>
                </a:solidFill>
                <a:latin typeface="Times New Roman" pitchFamily="18" charset="0"/>
                <a:ea typeface="宋体" charset="-122"/>
              </a:defRPr>
            </a:lvl5pPr>
            <a:lvl6pPr marL="2246313" fontAlgn="base">
              <a:spcBef>
                <a:spcPct val="20000"/>
              </a:spcBef>
              <a:spcAft>
                <a:spcPct val="0"/>
              </a:spcAft>
              <a:buClr>
                <a:schemeClr val="accent1"/>
              </a:buClr>
              <a:buSzPct val="50000"/>
              <a:buFont typeface="Wingdings" pitchFamily="2" charset="2"/>
              <a:defRPr sz="2800" b="1">
                <a:solidFill>
                  <a:schemeClr val="tx1"/>
                </a:solidFill>
                <a:latin typeface="Times New Roman" pitchFamily="18" charset="0"/>
                <a:ea typeface="宋体" charset="-122"/>
              </a:defRPr>
            </a:lvl6pPr>
            <a:lvl7pPr marL="2703513" fontAlgn="base">
              <a:spcBef>
                <a:spcPct val="20000"/>
              </a:spcBef>
              <a:spcAft>
                <a:spcPct val="0"/>
              </a:spcAft>
              <a:buClr>
                <a:schemeClr val="accent1"/>
              </a:buClr>
              <a:buSzPct val="50000"/>
              <a:buFont typeface="Wingdings" pitchFamily="2" charset="2"/>
              <a:defRPr sz="2800" b="1">
                <a:solidFill>
                  <a:schemeClr val="tx1"/>
                </a:solidFill>
                <a:latin typeface="Times New Roman" pitchFamily="18" charset="0"/>
                <a:ea typeface="宋体" charset="-122"/>
              </a:defRPr>
            </a:lvl7pPr>
            <a:lvl8pPr marL="3160713" fontAlgn="base">
              <a:spcBef>
                <a:spcPct val="20000"/>
              </a:spcBef>
              <a:spcAft>
                <a:spcPct val="0"/>
              </a:spcAft>
              <a:buClr>
                <a:schemeClr val="accent1"/>
              </a:buClr>
              <a:buSzPct val="50000"/>
              <a:buFont typeface="Wingdings" pitchFamily="2" charset="2"/>
              <a:defRPr sz="2800" b="1">
                <a:solidFill>
                  <a:schemeClr val="tx1"/>
                </a:solidFill>
                <a:latin typeface="Times New Roman" pitchFamily="18" charset="0"/>
                <a:ea typeface="宋体" charset="-122"/>
              </a:defRPr>
            </a:lvl8pPr>
            <a:lvl9pPr marL="3617913" fontAlgn="base">
              <a:spcBef>
                <a:spcPct val="20000"/>
              </a:spcBef>
              <a:spcAft>
                <a:spcPct val="0"/>
              </a:spcAft>
              <a:buClr>
                <a:schemeClr val="accent1"/>
              </a:buClr>
              <a:buSzPct val="50000"/>
              <a:buFont typeface="Wingdings" pitchFamily="2" charset="2"/>
              <a:defRPr sz="2800" b="1">
                <a:solidFill>
                  <a:schemeClr val="tx1"/>
                </a:solidFill>
                <a:latin typeface="Times New Roman" pitchFamily="18" charset="0"/>
                <a:ea typeface="宋体" charset="-122"/>
              </a:defRPr>
            </a:lvl9pPr>
          </a:lstStyle>
          <a:p>
            <a:pPr>
              <a:lnSpc>
                <a:spcPct val="120000"/>
              </a:lnSpc>
            </a:pPr>
            <a:r>
              <a:rPr kumimoji="0" lang="zh-CN" altLang="en-US"/>
              <a:t>改名规则与代入规则的</a:t>
            </a:r>
            <a:r>
              <a:rPr kumimoji="0" lang="zh-CN" altLang="en-US">
                <a:solidFill>
                  <a:schemeClr val="hlink"/>
                </a:solidFill>
              </a:rPr>
              <a:t>共同点</a:t>
            </a:r>
            <a:r>
              <a:rPr kumimoji="0" lang="zh-CN" altLang="en-US"/>
              <a:t>都是</a:t>
            </a:r>
            <a:r>
              <a:rPr kumimoji="0" lang="zh-CN" altLang="en-US" u="sng"/>
              <a:t>不能改变约束关系</a:t>
            </a:r>
            <a:r>
              <a:rPr kumimoji="0" lang="zh-CN" altLang="en-US"/>
              <a:t>，而</a:t>
            </a:r>
            <a:r>
              <a:rPr kumimoji="0" lang="zh-CN" altLang="en-US">
                <a:solidFill>
                  <a:schemeClr val="hlink"/>
                </a:solidFill>
              </a:rPr>
              <a:t>不同点</a:t>
            </a:r>
            <a:r>
              <a:rPr kumimoji="0" lang="zh-CN" altLang="en-US"/>
              <a:t>是：</a:t>
            </a:r>
            <a:endParaRPr kumimoji="0" lang="zh-CN" altLang="en-US">
              <a:latin typeface="宋体" charset="-122"/>
            </a:endParaRPr>
          </a:p>
          <a:p>
            <a:pPr>
              <a:lnSpc>
                <a:spcPct val="120000"/>
              </a:lnSpc>
            </a:pPr>
            <a:r>
              <a:rPr kumimoji="0" lang="zh-CN" altLang="en-US"/>
              <a:t>①施行的</a:t>
            </a:r>
            <a:r>
              <a:rPr kumimoji="0" lang="zh-CN" altLang="en-US" u="sng"/>
              <a:t>对象不同</a:t>
            </a:r>
            <a:r>
              <a:rPr kumimoji="0" lang="zh-CN" altLang="en-US"/>
              <a:t>。</a:t>
            </a:r>
          </a:p>
          <a:p>
            <a:pPr>
              <a:lnSpc>
                <a:spcPct val="120000"/>
              </a:lnSpc>
            </a:pPr>
            <a:r>
              <a:rPr kumimoji="0" lang="zh-CN" altLang="en-US"/>
              <a:t>②施行的</a:t>
            </a:r>
            <a:r>
              <a:rPr kumimoji="0" lang="zh-CN" altLang="en-US" u="sng"/>
              <a:t>范围不同</a:t>
            </a:r>
            <a:r>
              <a:rPr kumimoji="0" lang="zh-CN" altLang="en-US"/>
              <a:t>。</a:t>
            </a:r>
          </a:p>
          <a:p>
            <a:pPr>
              <a:lnSpc>
                <a:spcPct val="120000"/>
              </a:lnSpc>
            </a:pPr>
            <a:r>
              <a:rPr lang="zh-CN" altLang="en-US"/>
              <a:t>③施行后的</a:t>
            </a:r>
            <a:r>
              <a:rPr lang="zh-CN" altLang="en-US" u="sng"/>
              <a:t>结果不同</a:t>
            </a:r>
            <a:r>
              <a:rPr lang="zh-CN" altLang="en-US"/>
              <a:t>。</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291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2291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229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2"/>
          <p:cNvSpPr>
            <a:spLocks noGrp="1"/>
          </p:cNvSpPr>
          <p:nvPr>
            <p:ph type="sldNum" sz="quarter" idx="11"/>
          </p:nvPr>
        </p:nvSpPr>
        <p:spPr/>
        <p:txBody>
          <a:bodyPr/>
          <a:lstStyle/>
          <a:p>
            <a:fld id="{15FFBCDE-8B33-4E7D-B6E2-23F59B9F0085}" type="slidenum">
              <a:rPr lang="en-US" altLang="zh-CN"/>
              <a:pPr/>
              <a:t>49</a:t>
            </a:fld>
            <a:endParaRPr lang="en-US" altLang="zh-CN"/>
          </a:p>
        </p:txBody>
      </p:sp>
      <p:sp>
        <p:nvSpPr>
          <p:cNvPr id="378882" name="Text Box 2"/>
          <p:cNvSpPr txBox="1">
            <a:spLocks noChangeArrowheads="1"/>
          </p:cNvSpPr>
          <p:nvPr/>
        </p:nvSpPr>
        <p:spPr bwMode="auto">
          <a:xfrm>
            <a:off x="1079500" y="1341438"/>
            <a:ext cx="7380288" cy="28273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lnSpc>
                <a:spcPct val="110000"/>
              </a:lnSpc>
              <a:spcBef>
                <a:spcPct val="50000"/>
              </a:spcBef>
              <a:buClr>
                <a:srgbClr val="993300"/>
              </a:buClr>
              <a:buFont typeface="Wingdings" pitchFamily="2" charset="2"/>
              <a:buChar char="u"/>
            </a:pPr>
            <a:r>
              <a:rPr kumimoji="0" lang="zh-CN" altLang="en-US" sz="2800" b="1">
                <a:solidFill>
                  <a:schemeClr val="bg2"/>
                </a:solidFill>
              </a:rPr>
              <a:t>对约束变元而言，当论域的元素是有限的，客体变元的所有取代是可枚举的。</a:t>
            </a:r>
          </a:p>
          <a:p>
            <a:pPr algn="l">
              <a:lnSpc>
                <a:spcPct val="90000"/>
              </a:lnSpc>
              <a:spcBef>
                <a:spcPct val="50000"/>
              </a:spcBef>
            </a:pPr>
            <a:r>
              <a:rPr kumimoji="0" lang="zh-CN" altLang="en-US" sz="2800" b="1">
                <a:solidFill>
                  <a:schemeClr val="bg2"/>
                </a:solidFill>
              </a:rPr>
              <a:t>设论域元素为</a:t>
            </a:r>
            <a:r>
              <a:rPr kumimoji="0" lang="en-US" altLang="zh-CN" sz="2800" b="1">
                <a:solidFill>
                  <a:schemeClr val="bg2"/>
                </a:solidFill>
              </a:rPr>
              <a:t>a</a:t>
            </a:r>
            <a:r>
              <a:rPr kumimoji="0" lang="en-US" altLang="zh-CN" sz="2800" b="1" baseline="-25000">
                <a:solidFill>
                  <a:schemeClr val="bg2"/>
                </a:solidFill>
              </a:rPr>
              <a:t>1</a:t>
            </a:r>
            <a:r>
              <a:rPr kumimoji="0" lang="en-US" altLang="zh-CN" sz="2800" b="1">
                <a:solidFill>
                  <a:schemeClr val="bg2"/>
                </a:solidFill>
              </a:rPr>
              <a:t>, a</a:t>
            </a:r>
            <a:r>
              <a:rPr kumimoji="0" lang="en-US" altLang="zh-CN" sz="2800" b="1" baseline="-25000">
                <a:solidFill>
                  <a:schemeClr val="bg2"/>
                </a:solidFill>
              </a:rPr>
              <a:t>2</a:t>
            </a:r>
            <a:r>
              <a:rPr kumimoji="0" lang="en-US" altLang="zh-CN" sz="2800" b="1">
                <a:solidFill>
                  <a:schemeClr val="bg2"/>
                </a:solidFill>
              </a:rPr>
              <a:t>, a</a:t>
            </a:r>
            <a:r>
              <a:rPr kumimoji="0" lang="en-US" altLang="zh-CN" sz="2800" b="1" baseline="-25000">
                <a:solidFill>
                  <a:schemeClr val="bg2"/>
                </a:solidFill>
              </a:rPr>
              <a:t>3</a:t>
            </a:r>
            <a:r>
              <a:rPr kumimoji="0" lang="en-US" altLang="zh-CN" sz="2800" b="1">
                <a:solidFill>
                  <a:schemeClr val="bg2"/>
                </a:solidFill>
              </a:rPr>
              <a:t>, …,a</a:t>
            </a:r>
            <a:r>
              <a:rPr kumimoji="0" lang="en-US" altLang="zh-CN" sz="2800" b="1" baseline="-25000">
                <a:solidFill>
                  <a:schemeClr val="bg2"/>
                </a:solidFill>
              </a:rPr>
              <a:t>n</a:t>
            </a:r>
          </a:p>
          <a:p>
            <a:pPr algn="l">
              <a:lnSpc>
                <a:spcPct val="90000"/>
              </a:lnSpc>
              <a:spcBef>
                <a:spcPct val="50000"/>
              </a:spcBef>
            </a:pPr>
            <a:r>
              <a:rPr kumimoji="0" lang="zh-CN" altLang="en-US" sz="2800" b="1">
                <a:solidFill>
                  <a:schemeClr val="bg2"/>
                </a:solidFill>
              </a:rPr>
              <a:t>则：</a:t>
            </a:r>
            <a:r>
              <a:rPr kumimoji="0" lang="en-US" altLang="zh-CN" sz="2800" b="1">
                <a:solidFill>
                  <a:schemeClr val="bg2"/>
                </a:solidFill>
              </a:rPr>
              <a:t>(</a:t>
            </a:r>
            <a:r>
              <a:rPr kumimoji="0" lang="en-US" altLang="zh-CN" sz="2800" b="1">
                <a:sym typeface="Symbol" pitchFamily="18" charset="2"/>
              </a:rPr>
              <a:t></a:t>
            </a:r>
            <a:r>
              <a:rPr kumimoji="0" lang="en-US" altLang="zh-CN" sz="2800" b="1">
                <a:solidFill>
                  <a:schemeClr val="bg2"/>
                </a:solidFill>
              </a:rPr>
              <a:t>x)A(x)</a:t>
            </a:r>
            <a:r>
              <a:rPr kumimoji="0" lang="en-US" altLang="zh-CN" sz="2800" b="1">
                <a:solidFill>
                  <a:schemeClr val="bg2"/>
                </a:solidFill>
                <a:latin typeface="Arial" charset="0"/>
                <a:sym typeface="Symbol" pitchFamily="18" charset="2"/>
              </a:rPr>
              <a:t></a:t>
            </a:r>
            <a:r>
              <a:rPr kumimoji="0" lang="en-US" altLang="zh-CN" sz="2800" b="1">
                <a:solidFill>
                  <a:schemeClr val="bg2"/>
                </a:solidFill>
              </a:rPr>
              <a:t>A(a</a:t>
            </a:r>
            <a:r>
              <a:rPr kumimoji="0" lang="en-US" altLang="zh-CN" sz="2800" b="1" baseline="-25000">
                <a:solidFill>
                  <a:schemeClr val="bg2"/>
                </a:solidFill>
              </a:rPr>
              <a:t>1</a:t>
            </a:r>
            <a:r>
              <a:rPr kumimoji="0" lang="en-US" altLang="zh-CN" sz="2800" b="1">
                <a:solidFill>
                  <a:schemeClr val="bg2"/>
                </a:solidFill>
              </a:rPr>
              <a:t>)∧A(a</a:t>
            </a:r>
            <a:r>
              <a:rPr kumimoji="0" lang="en-US" altLang="zh-CN" sz="2800" b="1" baseline="-25000">
                <a:solidFill>
                  <a:schemeClr val="bg2"/>
                </a:solidFill>
              </a:rPr>
              <a:t>2</a:t>
            </a:r>
            <a:r>
              <a:rPr kumimoji="0" lang="en-US" altLang="zh-CN" sz="2800" b="1">
                <a:solidFill>
                  <a:schemeClr val="bg2"/>
                </a:solidFill>
              </a:rPr>
              <a:t>)∧…∧A(a</a:t>
            </a:r>
            <a:r>
              <a:rPr kumimoji="0" lang="en-US" altLang="zh-CN" sz="2800" b="1" baseline="-25000">
                <a:solidFill>
                  <a:schemeClr val="bg2"/>
                </a:solidFill>
              </a:rPr>
              <a:t>n</a:t>
            </a:r>
            <a:r>
              <a:rPr kumimoji="0" lang="en-US" altLang="zh-CN" sz="2800" b="1">
                <a:solidFill>
                  <a:schemeClr val="bg2"/>
                </a:solidFill>
              </a:rPr>
              <a:t>)</a:t>
            </a:r>
          </a:p>
          <a:p>
            <a:pPr algn="l">
              <a:lnSpc>
                <a:spcPct val="90000"/>
              </a:lnSpc>
              <a:spcBef>
                <a:spcPct val="50000"/>
              </a:spcBef>
            </a:pPr>
            <a:r>
              <a:rPr kumimoji="0" lang="en-US" altLang="zh-CN" sz="2800" b="1">
                <a:solidFill>
                  <a:schemeClr val="bg2"/>
                </a:solidFill>
              </a:rPr>
              <a:t>        (</a:t>
            </a:r>
            <a:r>
              <a:rPr kumimoji="0" lang="en-US" altLang="zh-CN" sz="2800" b="1">
                <a:sym typeface="Symbol" pitchFamily="18" charset="2"/>
              </a:rPr>
              <a:t></a:t>
            </a:r>
            <a:r>
              <a:rPr kumimoji="0" lang="en-US" altLang="zh-CN" sz="2800" b="1">
                <a:solidFill>
                  <a:schemeClr val="bg2"/>
                </a:solidFill>
              </a:rPr>
              <a:t>x)A(x)</a:t>
            </a:r>
            <a:r>
              <a:rPr kumimoji="0" lang="en-US" altLang="zh-CN" sz="2800" b="1">
                <a:solidFill>
                  <a:schemeClr val="bg2"/>
                </a:solidFill>
                <a:latin typeface="Arial" charset="0"/>
                <a:sym typeface="Symbol" pitchFamily="18" charset="2"/>
              </a:rPr>
              <a:t></a:t>
            </a:r>
            <a:r>
              <a:rPr kumimoji="0" lang="en-US" altLang="zh-CN" sz="2800" b="1">
                <a:solidFill>
                  <a:schemeClr val="bg2"/>
                </a:solidFill>
              </a:rPr>
              <a:t>A(a</a:t>
            </a:r>
            <a:r>
              <a:rPr kumimoji="0" lang="en-US" altLang="zh-CN" sz="2800" b="1" baseline="-25000">
                <a:solidFill>
                  <a:schemeClr val="bg2"/>
                </a:solidFill>
              </a:rPr>
              <a:t>1</a:t>
            </a:r>
            <a:r>
              <a:rPr kumimoji="0" lang="en-US" altLang="zh-CN" sz="2800" b="1">
                <a:solidFill>
                  <a:schemeClr val="bg2"/>
                </a:solidFill>
              </a:rPr>
              <a:t>)∨A(a</a:t>
            </a:r>
            <a:r>
              <a:rPr kumimoji="0" lang="en-US" altLang="zh-CN" sz="2800" b="1" baseline="-25000">
                <a:solidFill>
                  <a:schemeClr val="bg2"/>
                </a:solidFill>
              </a:rPr>
              <a:t>2</a:t>
            </a:r>
            <a:r>
              <a:rPr kumimoji="0" lang="en-US" altLang="zh-CN" sz="2800" b="1">
                <a:solidFill>
                  <a:schemeClr val="bg2"/>
                </a:solidFill>
              </a:rPr>
              <a:t>)∨…∨A(a</a:t>
            </a:r>
            <a:r>
              <a:rPr kumimoji="0" lang="en-US" altLang="zh-CN" sz="2800" b="1" baseline="-25000">
                <a:solidFill>
                  <a:schemeClr val="bg2"/>
                </a:solidFill>
              </a:rPr>
              <a:t>n</a:t>
            </a:r>
            <a:r>
              <a:rPr kumimoji="0" lang="en-US" altLang="zh-CN" sz="2800" b="1">
                <a:solidFill>
                  <a:schemeClr val="bg2"/>
                </a:solidFill>
              </a:rPr>
              <a:t>)</a:t>
            </a:r>
          </a:p>
        </p:txBody>
      </p:sp>
      <p:sp>
        <p:nvSpPr>
          <p:cNvPr id="378883" name="Text Box 3"/>
          <p:cNvSpPr txBox="1">
            <a:spLocks noChangeArrowheads="1"/>
          </p:cNvSpPr>
          <p:nvPr/>
        </p:nvSpPr>
        <p:spPr bwMode="auto">
          <a:xfrm>
            <a:off x="1079500" y="4424363"/>
            <a:ext cx="7416800" cy="18018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l">
              <a:spcBef>
                <a:spcPct val="50000"/>
              </a:spcBef>
              <a:buClr>
                <a:srgbClr val="993300"/>
              </a:buClr>
              <a:buFont typeface="Wingdings" pitchFamily="2" charset="2"/>
              <a:buChar char="u"/>
            </a:pPr>
            <a:r>
              <a:rPr kumimoji="0" lang="zh-CN" altLang="en-US" sz="2800" b="1">
                <a:solidFill>
                  <a:schemeClr val="bg2"/>
                </a:solidFill>
              </a:rPr>
              <a:t>量词对变元的约束，与量词的次序有关。</a:t>
            </a:r>
          </a:p>
          <a:p>
            <a:pPr algn="l">
              <a:spcBef>
                <a:spcPct val="50000"/>
              </a:spcBef>
            </a:pPr>
            <a:r>
              <a:rPr kumimoji="0" lang="zh-CN" altLang="en-US" sz="2800" b="1">
                <a:solidFill>
                  <a:schemeClr val="hlink"/>
                </a:solidFill>
              </a:rPr>
              <a:t>例如</a:t>
            </a:r>
            <a:r>
              <a:rPr kumimoji="0" lang="en-US" altLang="zh-CN" sz="2800" b="1">
                <a:solidFill>
                  <a:schemeClr val="hlink"/>
                </a:solidFill>
              </a:rPr>
              <a:t>:</a:t>
            </a:r>
            <a:r>
              <a:rPr kumimoji="0" lang="en-US" altLang="zh-CN" sz="2800" b="1">
                <a:solidFill>
                  <a:schemeClr val="bg2"/>
                </a:solidFill>
              </a:rPr>
              <a:t>  (</a:t>
            </a:r>
            <a:r>
              <a:rPr kumimoji="0" lang="en-US" altLang="zh-CN" sz="2800" b="1">
                <a:sym typeface="Symbol" pitchFamily="18" charset="2"/>
              </a:rPr>
              <a:t></a:t>
            </a:r>
            <a:r>
              <a:rPr kumimoji="0" lang="en-US" altLang="zh-CN" sz="2800" b="1">
                <a:solidFill>
                  <a:schemeClr val="bg2"/>
                </a:solidFill>
              </a:rPr>
              <a:t>x)(</a:t>
            </a:r>
            <a:r>
              <a:rPr kumimoji="0" lang="en-US" altLang="zh-CN" sz="2800" b="1">
                <a:sym typeface="Symbol" pitchFamily="18" charset="2"/>
              </a:rPr>
              <a:t></a:t>
            </a:r>
            <a:r>
              <a:rPr kumimoji="0" lang="en-US" altLang="zh-CN" sz="2800" b="1">
                <a:solidFill>
                  <a:schemeClr val="bg2"/>
                </a:solidFill>
              </a:rPr>
              <a:t>y)(x+y=0) </a:t>
            </a:r>
          </a:p>
          <a:p>
            <a:pPr algn="l">
              <a:spcBef>
                <a:spcPct val="50000"/>
              </a:spcBef>
            </a:pPr>
            <a:r>
              <a:rPr kumimoji="0" lang="en-US" altLang="zh-CN" sz="2800" b="1">
                <a:solidFill>
                  <a:schemeClr val="bg2"/>
                </a:solidFill>
              </a:rPr>
              <a:t>           (</a:t>
            </a:r>
            <a:r>
              <a:rPr kumimoji="0" lang="en-US" altLang="zh-CN" sz="2800" b="1">
                <a:sym typeface="Symbol" pitchFamily="18" charset="2"/>
              </a:rPr>
              <a:t></a:t>
            </a:r>
            <a:r>
              <a:rPr kumimoji="0" lang="en-US" altLang="zh-CN" sz="2800" b="1">
                <a:solidFill>
                  <a:schemeClr val="bg2"/>
                </a:solidFill>
              </a:rPr>
              <a:t>y)(</a:t>
            </a:r>
            <a:r>
              <a:rPr kumimoji="0" lang="en-US" altLang="zh-CN" sz="2800" b="1">
                <a:sym typeface="Symbol" pitchFamily="18" charset="2"/>
              </a:rPr>
              <a:t></a:t>
            </a:r>
            <a:r>
              <a:rPr kumimoji="0" lang="en-US" altLang="zh-CN" sz="2800" b="1">
                <a:solidFill>
                  <a:schemeClr val="bg2"/>
                </a:solidFill>
              </a:rPr>
              <a:t>x)(x+y=0)</a:t>
            </a:r>
          </a:p>
        </p:txBody>
      </p:sp>
      <p:sp>
        <p:nvSpPr>
          <p:cNvPr id="378884" name="Rectangle 4"/>
          <p:cNvSpPr>
            <a:spLocks noChangeArrowheads="1"/>
          </p:cNvSpPr>
          <p:nvPr/>
        </p:nvSpPr>
        <p:spPr bwMode="auto">
          <a:xfrm>
            <a:off x="1258888" y="647700"/>
            <a:ext cx="4572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3200" b="1">
                <a:solidFill>
                  <a:schemeClr val="hlink"/>
                </a:solidFill>
              </a:rPr>
              <a:t>注意：</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888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7888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7888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8883">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7888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8F73101E-6862-4F28-8FAD-0A0F88EDEDDF}" type="slidenum">
              <a:rPr lang="en-US" altLang="zh-CN"/>
              <a:pPr/>
              <a:t>50</a:t>
            </a:fld>
            <a:endParaRPr lang="en-US" altLang="zh-CN"/>
          </a:p>
        </p:txBody>
      </p:sp>
      <p:sp>
        <p:nvSpPr>
          <p:cNvPr id="379906" name="Rectangle 2"/>
          <p:cNvSpPr>
            <a:spLocks noChangeArrowheads="1"/>
          </p:cNvSpPr>
          <p:nvPr/>
        </p:nvSpPr>
        <p:spPr bwMode="auto">
          <a:xfrm>
            <a:off x="1189038" y="549275"/>
            <a:ext cx="6911975" cy="50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zh-CN" altLang="en-US" sz="2800" b="1">
                <a:solidFill>
                  <a:schemeClr val="hlink"/>
                </a:solidFill>
              </a:rPr>
              <a:t>例</a:t>
            </a:r>
            <a:r>
              <a:rPr lang="en-US" altLang="zh-CN" sz="2800" b="1">
                <a:solidFill>
                  <a:schemeClr val="hlink"/>
                </a:solidFill>
              </a:rPr>
              <a:t>5</a:t>
            </a:r>
            <a:r>
              <a:rPr lang="zh-CN" altLang="en-US" sz="2800" b="1">
                <a:solidFill>
                  <a:schemeClr val="hlink"/>
                </a:solidFill>
              </a:rPr>
              <a:t>：</a:t>
            </a:r>
            <a:r>
              <a:rPr lang="zh-CN" altLang="en-US" sz="2800" b="1"/>
              <a:t>给定个体域</a:t>
            </a:r>
            <a:r>
              <a:rPr lang="en-US" altLang="zh-CN" sz="2800" b="1"/>
              <a:t>I</a:t>
            </a:r>
            <a:r>
              <a:rPr lang="zh-CN" altLang="en-US" sz="2800" b="1"/>
              <a:t>及域上相关定义如下：</a:t>
            </a:r>
          </a:p>
          <a:p>
            <a:pPr algn="l">
              <a:lnSpc>
                <a:spcPct val="130000"/>
              </a:lnSpc>
            </a:pPr>
            <a:r>
              <a:rPr lang="en-US" altLang="zh-CN" sz="2800" b="1"/>
              <a:t>(1)I={2, 3}</a:t>
            </a:r>
            <a:r>
              <a:rPr lang="zh-CN" altLang="en-US" sz="2800" b="1"/>
              <a:t>；</a:t>
            </a:r>
          </a:p>
          <a:p>
            <a:pPr algn="l">
              <a:lnSpc>
                <a:spcPct val="130000"/>
              </a:lnSpc>
            </a:pPr>
            <a:r>
              <a:rPr lang="en-US" altLang="zh-CN" sz="2800" b="1"/>
              <a:t>(2)I</a:t>
            </a:r>
            <a:r>
              <a:rPr lang="zh-CN" altLang="en-US" sz="2800" b="1"/>
              <a:t>中的特定元素</a:t>
            </a:r>
            <a:r>
              <a:rPr lang="en-US" altLang="zh-CN" sz="2800" b="1"/>
              <a:t>a=2</a:t>
            </a:r>
            <a:r>
              <a:rPr lang="zh-CN" altLang="en-US" sz="2800" b="1"/>
              <a:t>；</a:t>
            </a:r>
          </a:p>
          <a:p>
            <a:pPr algn="l">
              <a:lnSpc>
                <a:spcPct val="130000"/>
              </a:lnSpc>
            </a:pPr>
            <a:r>
              <a:rPr lang="en-US" altLang="zh-CN" sz="2800" b="1"/>
              <a:t>(3)I</a:t>
            </a:r>
            <a:r>
              <a:rPr lang="zh-CN" altLang="en-US" sz="2800" b="1"/>
              <a:t>上的函数</a:t>
            </a:r>
            <a:r>
              <a:rPr lang="en-US" altLang="zh-CN" sz="2800" b="1"/>
              <a:t>f(x)</a:t>
            </a:r>
            <a:r>
              <a:rPr lang="zh-CN" altLang="en-US" sz="2800" b="1"/>
              <a:t>为</a:t>
            </a:r>
            <a:r>
              <a:rPr lang="en-US" altLang="zh-CN" sz="2800" b="1"/>
              <a:t>f(2)=3</a:t>
            </a:r>
            <a:r>
              <a:rPr lang="zh-CN" altLang="en-US" sz="2800" b="1"/>
              <a:t>，</a:t>
            </a:r>
            <a:r>
              <a:rPr lang="en-US" altLang="zh-CN" sz="2800" b="1"/>
              <a:t>f(3)=2</a:t>
            </a:r>
            <a:r>
              <a:rPr lang="zh-CN" altLang="en-US" sz="2800" b="1"/>
              <a:t>；</a:t>
            </a:r>
          </a:p>
          <a:p>
            <a:pPr algn="l">
              <a:lnSpc>
                <a:spcPct val="130000"/>
              </a:lnSpc>
            </a:pPr>
            <a:r>
              <a:rPr lang="en-US" altLang="zh-CN" sz="2800" b="1"/>
              <a:t>(4)I</a:t>
            </a:r>
            <a:r>
              <a:rPr lang="zh-CN" altLang="en-US" sz="2800" b="1"/>
              <a:t>上的谓词</a:t>
            </a:r>
            <a:r>
              <a:rPr lang="en-US" altLang="zh-CN" sz="2800" b="1"/>
              <a:t>F(x)</a:t>
            </a:r>
            <a:r>
              <a:rPr lang="zh-CN" altLang="en-US" sz="2800" b="1"/>
              <a:t>为</a:t>
            </a:r>
            <a:r>
              <a:rPr lang="en-US" altLang="zh-CN" sz="2800" b="1"/>
              <a:t>F(2)</a:t>
            </a:r>
            <a:r>
              <a:rPr kumimoji="0" lang="en-US" altLang="zh-CN" sz="2800" b="1">
                <a:sym typeface="Symbol" pitchFamily="18" charset="2"/>
              </a:rPr>
              <a:t></a:t>
            </a:r>
            <a:r>
              <a:rPr lang="en-US" altLang="zh-CN" sz="2800" b="1"/>
              <a:t>F</a:t>
            </a:r>
            <a:r>
              <a:rPr lang="zh-CN" altLang="en-US" sz="2800" b="1"/>
              <a:t>，</a:t>
            </a:r>
            <a:r>
              <a:rPr lang="en-US" altLang="zh-CN" sz="2800" b="1"/>
              <a:t>F(3)</a:t>
            </a:r>
            <a:r>
              <a:rPr kumimoji="0" lang="en-US" altLang="zh-CN" sz="2800" b="1">
                <a:sym typeface="Symbol" pitchFamily="18" charset="2"/>
              </a:rPr>
              <a:t></a:t>
            </a:r>
            <a:r>
              <a:rPr lang="en-US" altLang="zh-CN" sz="2800" b="1"/>
              <a:t>T</a:t>
            </a:r>
            <a:r>
              <a:rPr lang="zh-CN" altLang="en-US" sz="2800" b="1"/>
              <a:t>；</a:t>
            </a:r>
          </a:p>
          <a:p>
            <a:pPr algn="l">
              <a:lnSpc>
                <a:spcPct val="130000"/>
              </a:lnSpc>
            </a:pPr>
            <a:r>
              <a:rPr lang="en-US" altLang="zh-CN" sz="2800" b="1"/>
              <a:t>G(x, y)</a:t>
            </a:r>
            <a:r>
              <a:rPr lang="zh-CN" altLang="en-US" sz="2800" b="1"/>
              <a:t>为</a:t>
            </a:r>
            <a:r>
              <a:rPr lang="en-US" altLang="zh-CN" sz="2800" b="1"/>
              <a:t>G(2,2)</a:t>
            </a:r>
            <a:r>
              <a:rPr kumimoji="0" lang="en-US" altLang="zh-CN" sz="2800" b="1">
                <a:sym typeface="Symbol" pitchFamily="18" charset="2"/>
              </a:rPr>
              <a:t></a:t>
            </a:r>
            <a:r>
              <a:rPr lang="en-US" altLang="zh-CN" sz="2800" b="1"/>
              <a:t>G(2,3)</a:t>
            </a:r>
            <a:r>
              <a:rPr kumimoji="0" lang="en-US" altLang="zh-CN" sz="2800" b="1">
                <a:sym typeface="Symbol" pitchFamily="18" charset="2"/>
              </a:rPr>
              <a:t></a:t>
            </a:r>
            <a:r>
              <a:rPr lang="en-US" altLang="zh-CN" sz="2800" b="1"/>
              <a:t>G(3,2)</a:t>
            </a:r>
            <a:r>
              <a:rPr kumimoji="0" lang="en-US" altLang="zh-CN" sz="2800" b="1">
                <a:sym typeface="Symbol" pitchFamily="18" charset="2"/>
              </a:rPr>
              <a:t></a:t>
            </a:r>
            <a:r>
              <a:rPr lang="en-US" altLang="zh-CN" sz="2800" b="1"/>
              <a:t>T</a:t>
            </a:r>
            <a:r>
              <a:rPr lang="zh-CN" altLang="en-US" sz="2800" b="1"/>
              <a:t>，</a:t>
            </a:r>
          </a:p>
          <a:p>
            <a:pPr algn="l">
              <a:lnSpc>
                <a:spcPct val="130000"/>
              </a:lnSpc>
            </a:pPr>
            <a:r>
              <a:rPr lang="zh-CN" altLang="en-US" sz="2800" b="1"/>
              <a:t>                </a:t>
            </a:r>
            <a:r>
              <a:rPr lang="en-US" altLang="zh-CN" sz="2800" b="1"/>
              <a:t>G(3,3)</a:t>
            </a:r>
            <a:r>
              <a:rPr kumimoji="0" lang="en-US" altLang="zh-CN" sz="2800" b="1">
                <a:sym typeface="Symbol" pitchFamily="18" charset="2"/>
              </a:rPr>
              <a:t></a:t>
            </a:r>
            <a:r>
              <a:rPr lang="en-US" altLang="zh-CN" sz="2800" b="1"/>
              <a:t>F</a:t>
            </a:r>
            <a:r>
              <a:rPr lang="zh-CN" altLang="en-US" sz="2800" b="1"/>
              <a:t>；</a:t>
            </a:r>
          </a:p>
          <a:p>
            <a:pPr algn="l">
              <a:lnSpc>
                <a:spcPct val="130000"/>
              </a:lnSpc>
            </a:pPr>
            <a:r>
              <a:rPr lang="en-US" altLang="zh-CN" sz="2800" b="1"/>
              <a:t>L(x, y)</a:t>
            </a:r>
            <a:r>
              <a:rPr lang="zh-CN" altLang="en-US" sz="2800" b="1"/>
              <a:t>为</a:t>
            </a:r>
            <a:r>
              <a:rPr lang="en-US" altLang="zh-CN" sz="2800" b="1"/>
              <a:t>L(2,2)</a:t>
            </a:r>
            <a:r>
              <a:rPr kumimoji="0" lang="en-US" altLang="zh-CN" sz="2800" b="1">
                <a:sym typeface="Symbol" pitchFamily="18" charset="2"/>
              </a:rPr>
              <a:t></a:t>
            </a:r>
            <a:r>
              <a:rPr lang="en-US" altLang="zh-CN" sz="2800" b="1"/>
              <a:t>L(3,3)</a:t>
            </a:r>
            <a:r>
              <a:rPr kumimoji="0" lang="en-US" altLang="zh-CN" sz="2800" b="1">
                <a:sym typeface="Symbol" pitchFamily="18" charset="2"/>
              </a:rPr>
              <a:t></a:t>
            </a:r>
            <a:r>
              <a:rPr lang="en-US" altLang="zh-CN" sz="2800" b="1"/>
              <a:t>T</a:t>
            </a:r>
            <a:r>
              <a:rPr lang="zh-CN" altLang="en-US" sz="2800" b="1"/>
              <a:t>，</a:t>
            </a:r>
          </a:p>
          <a:p>
            <a:pPr algn="l">
              <a:lnSpc>
                <a:spcPct val="130000"/>
              </a:lnSpc>
            </a:pPr>
            <a:r>
              <a:rPr lang="zh-CN" altLang="en-US" sz="2800" b="1"/>
              <a:t>               </a:t>
            </a:r>
            <a:r>
              <a:rPr lang="en-US" altLang="zh-CN" sz="2800" b="1"/>
              <a:t>L(2,3)</a:t>
            </a:r>
            <a:r>
              <a:rPr kumimoji="0" lang="en-US" altLang="zh-CN" sz="2800" b="1">
                <a:sym typeface="Symbol" pitchFamily="18" charset="2"/>
              </a:rPr>
              <a:t></a:t>
            </a:r>
            <a:r>
              <a:rPr lang="en-US" altLang="zh-CN" sz="2800" b="1"/>
              <a:t>L(3,2)</a:t>
            </a:r>
            <a:r>
              <a:rPr kumimoji="0" lang="en-US" altLang="zh-CN" sz="2800" b="1">
                <a:sym typeface="Symbol" pitchFamily="18" charset="2"/>
              </a:rPr>
              <a:t></a:t>
            </a:r>
            <a:r>
              <a:rPr lang="en-US" altLang="zh-CN" sz="2800" b="1"/>
              <a:t>F</a:t>
            </a:r>
            <a:r>
              <a:rPr lang="zh-CN" altLang="en-US" sz="2800" b="1"/>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7990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7990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7990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79906">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7990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79906">
                                            <p:txEl>
                                              <p:pRg st="6" end="6"/>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379906">
                                            <p:txEl>
                                              <p:pRg st="7" end="7"/>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7990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B9D0C0D7-2F21-462F-885C-7CBE156902DE}" type="slidenum">
              <a:rPr lang="en-US" altLang="zh-CN"/>
              <a:pPr/>
              <a:t>51</a:t>
            </a:fld>
            <a:endParaRPr lang="en-US" altLang="zh-CN"/>
          </a:p>
        </p:txBody>
      </p:sp>
      <p:sp>
        <p:nvSpPr>
          <p:cNvPr id="380930" name="Rectangle 2"/>
          <p:cNvSpPr>
            <a:spLocks noChangeArrowheads="1"/>
          </p:cNvSpPr>
          <p:nvPr/>
        </p:nvSpPr>
        <p:spPr bwMode="auto">
          <a:xfrm>
            <a:off x="1128713" y="577850"/>
            <a:ext cx="6913562"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a:solidFill>
                  <a:schemeClr val="hlink"/>
                </a:solidFill>
                <a:sym typeface="Symbol" pitchFamily="18" charset="2"/>
              </a:rPr>
              <a:t>求下列各式的值：</a:t>
            </a:r>
          </a:p>
          <a:p>
            <a:pPr algn="l">
              <a:lnSpc>
                <a:spcPct val="130000"/>
              </a:lnSpc>
            </a:pPr>
            <a:r>
              <a:rPr kumimoji="0" lang="en-US" altLang="zh-CN" sz="2800" b="1">
                <a:sym typeface="Symbol" pitchFamily="18" charset="2"/>
              </a:rPr>
              <a:t>(1)(x)G(x,a)</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G(2,2)∧G(3,2)</a:t>
            </a:r>
          </a:p>
          <a:p>
            <a:pPr algn="l">
              <a:lnSpc>
                <a:spcPct val="130000"/>
              </a:lnSpc>
            </a:pPr>
            <a:r>
              <a:rPr kumimoji="0" lang="en-US" altLang="zh-CN" sz="2800" b="1">
                <a:solidFill>
                  <a:schemeClr val="hlink"/>
                </a:solidFill>
                <a:sym typeface="Symbol" pitchFamily="18" charset="2"/>
              </a:rPr>
              <a:t></a:t>
            </a:r>
            <a:r>
              <a:rPr kumimoji="0" lang="en-US" altLang="zh-CN" sz="2800" b="1">
                <a:sym typeface="Wingdings" pitchFamily="2" charset="2"/>
              </a:rPr>
              <a:t>T</a:t>
            </a:r>
            <a:r>
              <a:rPr kumimoji="0" lang="en-US" altLang="zh-CN" sz="2800" b="1">
                <a:sym typeface="Symbol" pitchFamily="18" charset="2"/>
              </a:rPr>
              <a:t>∧T</a:t>
            </a:r>
            <a:r>
              <a:rPr kumimoji="0" lang="en-US" altLang="zh-CN" sz="2800" b="1">
                <a:solidFill>
                  <a:schemeClr val="hlink"/>
                </a:solidFill>
                <a:sym typeface="Symbol" pitchFamily="18" charset="2"/>
              </a:rPr>
              <a:t></a:t>
            </a:r>
            <a:r>
              <a:rPr kumimoji="0" lang="en-US" altLang="zh-CN" sz="2800" b="1">
                <a:sym typeface="Wingdings" pitchFamily="2" charset="2"/>
              </a:rPr>
              <a:t>T</a:t>
            </a:r>
          </a:p>
          <a:p>
            <a:pPr algn="l">
              <a:lnSpc>
                <a:spcPct val="130000"/>
              </a:lnSpc>
            </a:pPr>
            <a:r>
              <a:rPr kumimoji="0" lang="en-US" altLang="zh-CN" sz="2800" b="1">
                <a:sym typeface="Symbol" pitchFamily="18" charset="2"/>
              </a:rPr>
              <a:t>(2) (x)(F(f(x))∧G(x, f(x))) </a:t>
            </a:r>
          </a:p>
          <a:p>
            <a:pPr algn="l">
              <a:lnSpc>
                <a:spcPct val="130000"/>
              </a:lnSpc>
            </a:pPr>
            <a:r>
              <a:rPr kumimoji="0" lang="en-US" altLang="zh-CN" sz="2800" b="1">
                <a:solidFill>
                  <a:schemeClr val="hlink"/>
                </a:solidFill>
                <a:sym typeface="Symbol" pitchFamily="18" charset="2"/>
              </a:rPr>
              <a:t></a:t>
            </a:r>
            <a:r>
              <a:rPr kumimoji="0" lang="en-US" altLang="zh-CN" sz="2800" b="1">
                <a:sym typeface="Wingdings" pitchFamily="2" charset="2"/>
              </a:rPr>
              <a:t>(</a:t>
            </a:r>
            <a:r>
              <a:rPr kumimoji="0" lang="en-US" altLang="zh-CN" sz="2800" b="1">
                <a:sym typeface="Symbol" pitchFamily="18" charset="2"/>
              </a:rPr>
              <a:t>F(f(2))∧G(2,f(2)))∨</a:t>
            </a:r>
            <a:r>
              <a:rPr kumimoji="0" lang="en-US" altLang="zh-CN" sz="2800" b="1">
                <a:sym typeface="Wingdings" pitchFamily="2" charset="2"/>
              </a:rPr>
              <a:t>(</a:t>
            </a:r>
            <a:r>
              <a:rPr kumimoji="0" lang="en-US" altLang="zh-CN" sz="2800" b="1">
                <a:sym typeface="Symbol" pitchFamily="18" charset="2"/>
              </a:rPr>
              <a:t>F(f(3))∧G(3, f(3)))</a:t>
            </a:r>
          </a:p>
          <a:p>
            <a:pPr algn="l">
              <a:lnSpc>
                <a:spcPct val="130000"/>
              </a:lnSpc>
            </a:pPr>
            <a:r>
              <a:rPr kumimoji="0" lang="en-US" altLang="zh-CN" sz="2800" b="1">
                <a:solidFill>
                  <a:schemeClr val="hlink"/>
                </a:solidFill>
                <a:sym typeface="Symbol" pitchFamily="18" charset="2"/>
              </a:rPr>
              <a:t></a:t>
            </a:r>
            <a:r>
              <a:rPr kumimoji="0" lang="en-US" altLang="zh-CN" sz="2800" b="1">
                <a:solidFill>
                  <a:schemeClr val="hlink"/>
                </a:solidFill>
                <a:sym typeface="Wingdings" pitchFamily="2" charset="2"/>
              </a:rPr>
              <a:t> </a:t>
            </a:r>
            <a:r>
              <a:rPr kumimoji="0" lang="en-US" altLang="zh-CN" sz="2800" b="1">
                <a:sym typeface="Wingdings" pitchFamily="2" charset="2"/>
              </a:rPr>
              <a:t>(</a:t>
            </a:r>
            <a:r>
              <a:rPr kumimoji="0" lang="en-US" altLang="zh-CN" sz="2800" b="1">
                <a:sym typeface="Symbol" pitchFamily="18" charset="2"/>
              </a:rPr>
              <a:t>F(3)∧G(2,3))∨</a:t>
            </a:r>
            <a:r>
              <a:rPr kumimoji="0" lang="en-US" altLang="zh-CN" sz="2800" b="1">
                <a:sym typeface="Wingdings" pitchFamily="2" charset="2"/>
              </a:rPr>
              <a:t>(</a:t>
            </a:r>
            <a:r>
              <a:rPr kumimoji="0" lang="en-US" altLang="zh-CN" sz="2800" b="1">
                <a:sym typeface="Symbol" pitchFamily="18" charset="2"/>
              </a:rPr>
              <a:t>F(2)∧G(3,2))</a:t>
            </a:r>
            <a:endParaRPr kumimoji="0" lang="en-US" altLang="zh-CN" sz="2800" b="1">
              <a:solidFill>
                <a:schemeClr val="hlink"/>
              </a:solidFill>
              <a:sym typeface="Wingdings" pitchFamily="2" charset="2"/>
            </a:endParaRPr>
          </a:p>
          <a:p>
            <a:pPr algn="l">
              <a:lnSpc>
                <a:spcPct val="130000"/>
              </a:lnSpc>
            </a:pPr>
            <a:r>
              <a:rPr kumimoji="0" lang="en-US" altLang="zh-CN" sz="2800" b="1">
                <a:solidFill>
                  <a:schemeClr val="hlink"/>
                </a:solidFill>
                <a:sym typeface="Symbol" pitchFamily="18" charset="2"/>
              </a:rPr>
              <a:t></a:t>
            </a:r>
            <a:r>
              <a:rPr kumimoji="0" lang="en-US" altLang="zh-CN" sz="2800" b="1">
                <a:sym typeface="Wingdings" pitchFamily="2" charset="2"/>
              </a:rPr>
              <a:t>(T</a:t>
            </a:r>
            <a:r>
              <a:rPr kumimoji="0" lang="en-US" altLang="zh-CN" sz="2800" b="1">
                <a:sym typeface="Symbol" pitchFamily="18" charset="2"/>
              </a:rPr>
              <a:t>∧T)</a:t>
            </a:r>
            <a:r>
              <a:rPr kumimoji="0" lang="en-US" altLang="zh-CN" sz="2800" b="1">
                <a:sym typeface="Wingdings" pitchFamily="2" charset="2"/>
              </a:rPr>
              <a:t> </a:t>
            </a:r>
            <a:r>
              <a:rPr kumimoji="0" lang="en-US" altLang="zh-CN" sz="2800" b="1">
                <a:sym typeface="Symbol" pitchFamily="18" charset="2"/>
              </a:rPr>
              <a:t>∨</a:t>
            </a:r>
            <a:r>
              <a:rPr kumimoji="0" lang="en-US" altLang="zh-CN" sz="2800" b="1">
                <a:sym typeface="Wingdings" pitchFamily="2" charset="2"/>
              </a:rPr>
              <a:t>(F</a:t>
            </a:r>
            <a:r>
              <a:rPr kumimoji="0" lang="en-US" altLang="zh-CN" sz="2800" b="1">
                <a:sym typeface="Symbol" pitchFamily="18" charset="2"/>
              </a:rPr>
              <a:t>∧T) </a:t>
            </a:r>
            <a:r>
              <a:rPr kumimoji="0" lang="en-US" altLang="zh-CN" sz="2800" b="1">
                <a:solidFill>
                  <a:schemeClr val="hlink"/>
                </a:solidFill>
                <a:sym typeface="Symbol" pitchFamily="18" charset="2"/>
              </a:rPr>
              <a:t></a:t>
            </a:r>
            <a:r>
              <a:rPr kumimoji="0" lang="en-US" altLang="zh-CN" sz="2800" b="1">
                <a:sym typeface="Wingdings" pitchFamily="2" charset="2"/>
              </a:rPr>
              <a:t>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093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0930">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0930">
                                            <p:txEl>
                                              <p:pRg st="5" end="5"/>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0930">
                                            <p:txEl>
                                              <p:pRg st="6" end="6"/>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809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0EC61658-7555-47F8-B87B-84811345F6C7}" type="slidenum">
              <a:rPr lang="en-US" altLang="zh-CN"/>
              <a:pPr/>
              <a:t>52</a:t>
            </a:fld>
            <a:endParaRPr lang="en-US" altLang="zh-CN"/>
          </a:p>
        </p:txBody>
      </p:sp>
      <p:sp>
        <p:nvSpPr>
          <p:cNvPr id="381954" name="Rectangle 2"/>
          <p:cNvSpPr>
            <a:spLocks noChangeArrowheads="1"/>
          </p:cNvSpPr>
          <p:nvPr/>
        </p:nvSpPr>
        <p:spPr bwMode="auto">
          <a:xfrm>
            <a:off x="1187450" y="1196975"/>
            <a:ext cx="6408738"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en-US" altLang="zh-CN" sz="2800" b="1">
                <a:sym typeface="Symbol" pitchFamily="18" charset="2"/>
              </a:rPr>
              <a:t>(3) (x) (y)L(x,y)</a:t>
            </a:r>
            <a:r>
              <a:rPr kumimoji="0" lang="en-US" altLang="zh-CN" sz="2800" b="1">
                <a:sym typeface="Wingdings" pitchFamily="2" charset="2"/>
              </a:rPr>
              <a:t> </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(x)(L(x,2)∨L(x,3))</a:t>
            </a:r>
            <a:endParaRPr kumimoji="0" lang="en-US" altLang="zh-CN" sz="2800" b="1">
              <a:sym typeface="Wingdings" pitchFamily="2" charset="2"/>
            </a:endParaRPr>
          </a:p>
          <a:p>
            <a:pPr algn="l">
              <a:lnSpc>
                <a:spcPct val="130000"/>
              </a:lnSpc>
            </a:pPr>
            <a:r>
              <a:rPr kumimoji="0" lang="en-US" altLang="zh-CN" sz="2800" b="1">
                <a:solidFill>
                  <a:schemeClr val="hlink"/>
                </a:solidFill>
                <a:sym typeface="Symbol" pitchFamily="18" charset="2"/>
              </a:rPr>
              <a:t></a:t>
            </a:r>
            <a:r>
              <a:rPr kumimoji="0" lang="en-US" altLang="zh-CN" sz="2800" b="1">
                <a:sym typeface="Wingdings" pitchFamily="2" charset="2"/>
              </a:rPr>
              <a:t>(</a:t>
            </a:r>
            <a:r>
              <a:rPr kumimoji="0" lang="en-US" altLang="zh-CN" sz="2800" b="1">
                <a:sym typeface="Symbol" pitchFamily="18" charset="2"/>
              </a:rPr>
              <a:t>L(2,2)∨L(2,3))∧</a:t>
            </a:r>
            <a:r>
              <a:rPr kumimoji="0" lang="en-US" altLang="zh-CN" sz="2800" b="1">
                <a:sym typeface="Wingdings" pitchFamily="2" charset="2"/>
              </a:rPr>
              <a:t>((</a:t>
            </a:r>
            <a:r>
              <a:rPr kumimoji="0" lang="en-US" altLang="zh-CN" sz="2800" b="1">
                <a:sym typeface="Symbol" pitchFamily="18" charset="2"/>
              </a:rPr>
              <a:t>L(3,2)∨L(3,3))</a:t>
            </a:r>
          </a:p>
          <a:p>
            <a:pPr algn="l">
              <a:lnSpc>
                <a:spcPct val="130000"/>
              </a:lnSpc>
            </a:pPr>
            <a:r>
              <a:rPr kumimoji="0" lang="en-US" altLang="zh-CN" sz="2800" b="1">
                <a:solidFill>
                  <a:schemeClr val="hlink"/>
                </a:solidFill>
                <a:sym typeface="Symbol" pitchFamily="18" charset="2"/>
              </a:rPr>
              <a:t></a:t>
            </a:r>
            <a:r>
              <a:rPr kumimoji="0" lang="en-US" altLang="zh-CN" sz="2800" b="1">
                <a:sym typeface="Wingdings" pitchFamily="2" charset="2"/>
              </a:rPr>
              <a:t>T</a:t>
            </a:r>
            <a:r>
              <a:rPr kumimoji="0" lang="en-US" altLang="zh-CN" sz="2800" b="1">
                <a:sym typeface="Symbol" pitchFamily="18" charset="2"/>
              </a:rPr>
              <a:t>∧T</a:t>
            </a:r>
            <a:r>
              <a:rPr kumimoji="0" lang="en-US" altLang="zh-CN" sz="2800" b="1">
                <a:solidFill>
                  <a:schemeClr val="hlink"/>
                </a:solidFill>
                <a:sym typeface="Symbol" pitchFamily="18" charset="2"/>
              </a:rPr>
              <a:t></a:t>
            </a:r>
            <a:r>
              <a:rPr kumimoji="0" lang="en-US" altLang="zh-CN" sz="2800" b="1">
                <a:sym typeface="Wingdings" pitchFamily="2" charset="2"/>
              </a:rPr>
              <a:t>T</a:t>
            </a:r>
          </a:p>
          <a:p>
            <a:pPr algn="l">
              <a:lnSpc>
                <a:spcPct val="130000"/>
              </a:lnSpc>
            </a:pPr>
            <a:r>
              <a:rPr kumimoji="0" lang="en-US" altLang="zh-CN" sz="2800" b="1">
                <a:sym typeface="Wingdings" pitchFamily="2" charset="2"/>
              </a:rPr>
              <a:t>(4)(</a:t>
            </a:r>
            <a:r>
              <a:rPr kumimoji="0" lang="en-US" altLang="zh-CN" sz="2800" b="1">
                <a:sym typeface="Symbol" pitchFamily="18" charset="2"/>
              </a:rPr>
              <a:t>y)(x)L(x,y)</a:t>
            </a:r>
            <a:endParaRPr kumimoji="0" lang="en-US" altLang="zh-CN" sz="2800" b="1">
              <a:sym typeface="Wingdings" pitchFamily="2" charset="2"/>
            </a:endParaRPr>
          </a:p>
          <a:p>
            <a:pPr algn="l">
              <a:lnSpc>
                <a:spcPct val="130000"/>
              </a:lnSpc>
            </a:pPr>
            <a:r>
              <a:rPr kumimoji="0" lang="en-US" altLang="zh-CN" sz="2800" b="1">
                <a:solidFill>
                  <a:schemeClr val="hlink"/>
                </a:solidFill>
                <a:sym typeface="Symbol" pitchFamily="18" charset="2"/>
              </a:rPr>
              <a:t></a:t>
            </a:r>
            <a:r>
              <a:rPr kumimoji="0" lang="en-US" altLang="zh-CN" sz="2800" b="1">
                <a:sym typeface="Wingdings" pitchFamily="2" charset="2"/>
              </a:rPr>
              <a:t>(</a:t>
            </a:r>
            <a:r>
              <a:rPr kumimoji="0" lang="en-US" altLang="zh-CN" sz="2800" b="1">
                <a:sym typeface="Symbol" pitchFamily="18" charset="2"/>
              </a:rPr>
              <a:t>y)(L(2,y)∧ L(3,y))</a:t>
            </a:r>
            <a:endParaRPr kumimoji="0" lang="en-US" altLang="zh-CN" sz="2800" b="1">
              <a:sym typeface="Wingdings" pitchFamily="2" charset="2"/>
            </a:endParaRPr>
          </a:p>
          <a:p>
            <a:pPr algn="l">
              <a:lnSpc>
                <a:spcPct val="130000"/>
              </a:lnSpc>
            </a:pPr>
            <a:r>
              <a:rPr kumimoji="0" lang="en-US" altLang="zh-CN" sz="2800" b="1">
                <a:solidFill>
                  <a:schemeClr val="hlink"/>
                </a:solidFill>
                <a:sym typeface="Symbol" pitchFamily="18" charset="2"/>
              </a:rPr>
              <a:t></a:t>
            </a:r>
            <a:r>
              <a:rPr kumimoji="0" lang="en-US" altLang="zh-CN" sz="2800" b="1">
                <a:solidFill>
                  <a:schemeClr val="hlink"/>
                </a:solidFill>
                <a:sym typeface="Wingdings" pitchFamily="2" charset="2"/>
              </a:rPr>
              <a:t> </a:t>
            </a:r>
            <a:r>
              <a:rPr kumimoji="0" lang="en-US" altLang="zh-CN" sz="2800" b="1">
                <a:sym typeface="Symbol" pitchFamily="18" charset="2"/>
              </a:rPr>
              <a:t>(L(2,2)∧ L(3,2))∨ (L(2,3)∧ L(3,3))</a:t>
            </a:r>
          </a:p>
          <a:p>
            <a:pPr algn="l">
              <a:lnSpc>
                <a:spcPct val="130000"/>
              </a:lnSpc>
            </a:pPr>
            <a:r>
              <a:rPr kumimoji="0" lang="en-US" altLang="zh-CN" sz="2800" b="1">
                <a:solidFill>
                  <a:schemeClr val="hlink"/>
                </a:solidFill>
                <a:sym typeface="Symbol" pitchFamily="18" charset="2"/>
              </a:rPr>
              <a:t></a:t>
            </a:r>
            <a:r>
              <a:rPr kumimoji="0" lang="en-US" altLang="zh-CN" sz="2800" b="1">
                <a:solidFill>
                  <a:schemeClr val="hlink"/>
                </a:solidFill>
                <a:sym typeface="Wingdings" pitchFamily="2" charset="2"/>
              </a:rPr>
              <a:t> </a:t>
            </a:r>
            <a:r>
              <a:rPr kumimoji="0" lang="en-US" altLang="zh-CN" sz="2800" b="1">
                <a:sym typeface="Wingdings" pitchFamily="2" charset="2"/>
              </a:rPr>
              <a:t>F</a:t>
            </a:r>
            <a:r>
              <a:rPr kumimoji="0" lang="en-US" altLang="zh-CN" sz="2800" b="1">
                <a:sym typeface="Symbol" pitchFamily="18" charset="2"/>
              </a:rPr>
              <a:t>∨F </a:t>
            </a:r>
            <a:r>
              <a:rPr kumimoji="0" lang="en-US" altLang="zh-CN" sz="2800" b="1">
                <a:solidFill>
                  <a:schemeClr val="hlink"/>
                </a:solidFill>
                <a:sym typeface="Symbol" pitchFamily="18" charset="2"/>
              </a:rPr>
              <a:t></a:t>
            </a:r>
            <a:r>
              <a:rPr kumimoji="0" lang="en-US" altLang="zh-CN" sz="2800" b="1">
                <a:sym typeface="Wingdings" pitchFamily="2" charset="2"/>
              </a:rPr>
              <a:t>F</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195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195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195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1954">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81954">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8195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3D08D014-7AC7-4CB9-A9EB-8E0D6606FC70}" type="slidenum">
              <a:rPr lang="en-US" altLang="zh-CN"/>
              <a:pPr/>
              <a:t>53</a:t>
            </a:fld>
            <a:endParaRPr lang="en-US" altLang="zh-CN"/>
          </a:p>
        </p:txBody>
      </p:sp>
      <p:sp>
        <p:nvSpPr>
          <p:cNvPr id="424962" name="Rectangle 2"/>
          <p:cNvSpPr>
            <a:spLocks noChangeArrowheads="1"/>
          </p:cNvSpPr>
          <p:nvPr/>
        </p:nvSpPr>
        <p:spPr bwMode="auto">
          <a:xfrm>
            <a:off x="1187450" y="1196975"/>
            <a:ext cx="7056438" cy="5092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a:solidFill>
                  <a:schemeClr val="hlink"/>
                </a:solidFill>
              </a:rPr>
              <a:t>练习：</a:t>
            </a:r>
            <a:r>
              <a:rPr kumimoji="0" lang="zh-CN" altLang="en-US" sz="2800" b="1"/>
              <a:t>给定个体域</a:t>
            </a:r>
            <a:r>
              <a:rPr kumimoji="0" lang="en-US" altLang="zh-CN" sz="2800" b="1"/>
              <a:t>D</a:t>
            </a:r>
            <a:r>
              <a:rPr kumimoji="0" lang="zh-CN" altLang="en-US" sz="2800" b="1"/>
              <a:t>及域上相关定义如下：</a:t>
            </a:r>
          </a:p>
          <a:p>
            <a:pPr algn="l">
              <a:lnSpc>
                <a:spcPct val="130000"/>
              </a:lnSpc>
            </a:pPr>
            <a:r>
              <a:rPr kumimoji="0" lang="en-US" altLang="zh-CN" sz="2800" b="1">
                <a:sym typeface="Symbol" pitchFamily="18" charset="2"/>
              </a:rPr>
              <a:t>(a)</a:t>
            </a:r>
            <a:r>
              <a:rPr kumimoji="0" lang="zh-CN" altLang="en-US" sz="2800" b="1">
                <a:sym typeface="Symbol" pitchFamily="18" charset="2"/>
              </a:rPr>
              <a:t>个体域</a:t>
            </a:r>
            <a:r>
              <a:rPr kumimoji="0" lang="en-US" altLang="zh-CN" sz="2800" b="1">
                <a:sym typeface="Symbol" pitchFamily="18" charset="2"/>
              </a:rPr>
              <a:t>D={3,4}</a:t>
            </a:r>
            <a:r>
              <a:rPr kumimoji="0" lang="zh-CN" altLang="en-US" sz="2800" b="1">
                <a:sym typeface="Symbol" pitchFamily="18" charset="2"/>
              </a:rPr>
              <a:t>；</a:t>
            </a:r>
          </a:p>
          <a:p>
            <a:pPr algn="l">
              <a:lnSpc>
                <a:spcPct val="130000"/>
              </a:lnSpc>
            </a:pPr>
            <a:r>
              <a:rPr kumimoji="0" lang="en-US" altLang="zh-CN" sz="2800" b="1">
                <a:sym typeface="Symbol" pitchFamily="18" charset="2"/>
              </a:rPr>
              <a:t>(b) D</a:t>
            </a:r>
            <a:r>
              <a:rPr kumimoji="0" lang="zh-CN" altLang="en-US" sz="2800" b="1">
                <a:sym typeface="Symbol" pitchFamily="18" charset="2"/>
              </a:rPr>
              <a:t>上特定函数</a:t>
            </a:r>
            <a:r>
              <a:rPr kumimoji="0" lang="en-US" altLang="zh-CN" sz="2800" b="1">
                <a:sym typeface="Symbol" pitchFamily="18" charset="2"/>
              </a:rPr>
              <a:t>f(x)</a:t>
            </a:r>
            <a:r>
              <a:rPr kumimoji="0" lang="zh-CN" altLang="en-US" sz="2800" b="1">
                <a:sym typeface="Symbol" pitchFamily="18" charset="2"/>
              </a:rPr>
              <a:t>：</a:t>
            </a:r>
            <a:r>
              <a:rPr kumimoji="0" lang="en-US" altLang="zh-CN" sz="2800" b="1">
                <a:sym typeface="Symbol" pitchFamily="18" charset="2"/>
              </a:rPr>
              <a:t>f(3)=4</a:t>
            </a:r>
            <a:r>
              <a:rPr kumimoji="0" lang="zh-CN" altLang="en-US" sz="2800" b="1">
                <a:sym typeface="Symbol" pitchFamily="18" charset="2"/>
              </a:rPr>
              <a:t>，</a:t>
            </a:r>
            <a:r>
              <a:rPr kumimoji="0" lang="en-US" altLang="zh-CN" sz="2800" b="1">
                <a:sym typeface="Symbol" pitchFamily="18" charset="2"/>
              </a:rPr>
              <a:t>f(4)=3</a:t>
            </a:r>
            <a:r>
              <a:rPr kumimoji="0" lang="zh-CN" altLang="en-US" sz="2800" b="1">
                <a:sym typeface="Symbol" pitchFamily="18" charset="2"/>
              </a:rPr>
              <a:t>；</a:t>
            </a:r>
          </a:p>
          <a:p>
            <a:pPr algn="l">
              <a:lnSpc>
                <a:spcPct val="130000"/>
              </a:lnSpc>
            </a:pPr>
            <a:r>
              <a:rPr kumimoji="0" lang="en-US" altLang="zh-CN" sz="2800" b="1">
                <a:sym typeface="Symbol" pitchFamily="18" charset="2"/>
              </a:rPr>
              <a:t>(c) D</a:t>
            </a:r>
            <a:r>
              <a:rPr kumimoji="0" lang="zh-CN" altLang="en-US" sz="2800" b="1">
                <a:sym typeface="Symbol" pitchFamily="18" charset="2"/>
              </a:rPr>
              <a:t>上特定谓词</a:t>
            </a:r>
            <a:r>
              <a:rPr kumimoji="0" lang="en-US" altLang="zh-CN" sz="2800" b="1">
                <a:sym typeface="Symbol" pitchFamily="18" charset="2"/>
              </a:rPr>
              <a:t>F(x,y)</a:t>
            </a:r>
            <a:r>
              <a:rPr kumimoji="0" lang="zh-CN" altLang="en-US" sz="2800" b="1">
                <a:sym typeface="Symbol" pitchFamily="18" charset="2"/>
              </a:rPr>
              <a:t>：</a:t>
            </a:r>
            <a:r>
              <a:rPr kumimoji="0" lang="en-US" altLang="zh-CN" sz="2800" b="1">
                <a:sym typeface="Symbol" pitchFamily="18" charset="2"/>
              </a:rPr>
              <a:t>F(3,3)= F(4,4)=F</a:t>
            </a:r>
            <a:r>
              <a:rPr kumimoji="0" lang="zh-CN" altLang="en-US" sz="2800" b="1">
                <a:sym typeface="Symbol" pitchFamily="18" charset="2"/>
              </a:rPr>
              <a:t>，</a:t>
            </a:r>
            <a:r>
              <a:rPr kumimoji="0" lang="en-US" altLang="zh-CN" sz="2800" b="1">
                <a:sym typeface="Symbol" pitchFamily="18" charset="2"/>
              </a:rPr>
              <a:t>F(3,4)=F(4,3)=T</a:t>
            </a:r>
            <a:r>
              <a:rPr kumimoji="0" lang="zh-CN" altLang="en-US" sz="2800" b="1">
                <a:sym typeface="Symbol" pitchFamily="18" charset="2"/>
              </a:rPr>
              <a:t>；</a:t>
            </a:r>
          </a:p>
          <a:p>
            <a:pPr algn="l">
              <a:lnSpc>
                <a:spcPct val="130000"/>
              </a:lnSpc>
            </a:pPr>
            <a:r>
              <a:rPr kumimoji="0" lang="zh-CN" altLang="en-US" sz="2800" b="1">
                <a:sym typeface="Symbol" pitchFamily="18" charset="2"/>
              </a:rPr>
              <a:t>求下列各式的真值。 </a:t>
            </a:r>
          </a:p>
          <a:p>
            <a:pPr algn="l">
              <a:lnSpc>
                <a:spcPct val="130000"/>
              </a:lnSpc>
            </a:pPr>
            <a:r>
              <a:rPr kumimoji="0" lang="en-US" altLang="zh-CN" sz="2800" b="1">
                <a:sym typeface="Wingdings" pitchFamily="2" charset="2"/>
              </a:rPr>
              <a:t>(1) </a:t>
            </a:r>
            <a:r>
              <a:rPr kumimoji="0" lang="en-US" altLang="zh-CN" sz="2800" b="1">
                <a:sym typeface="Symbol" pitchFamily="18" charset="2"/>
              </a:rPr>
              <a:t>(x)(y)F(x,y)</a:t>
            </a:r>
          </a:p>
          <a:p>
            <a:pPr algn="l">
              <a:lnSpc>
                <a:spcPct val="130000"/>
              </a:lnSpc>
            </a:pPr>
            <a:r>
              <a:rPr kumimoji="0" lang="en-US" altLang="zh-CN" sz="2800" b="1">
                <a:sym typeface="Wingdings" pitchFamily="2" charset="2"/>
              </a:rPr>
              <a:t>(2) </a:t>
            </a:r>
            <a:r>
              <a:rPr kumimoji="0" lang="en-US" altLang="zh-CN" sz="2800" b="1">
                <a:sym typeface="Symbol" pitchFamily="18" charset="2"/>
              </a:rPr>
              <a:t>(y)(x)F(x,y)</a:t>
            </a:r>
          </a:p>
          <a:p>
            <a:pPr algn="l">
              <a:lnSpc>
                <a:spcPct val="130000"/>
              </a:lnSpc>
            </a:pPr>
            <a:r>
              <a:rPr kumimoji="0" lang="en-US" altLang="zh-CN" sz="2800" b="1">
                <a:sym typeface="Wingdings" pitchFamily="2" charset="2"/>
              </a:rPr>
              <a:t>(3) </a:t>
            </a:r>
            <a:r>
              <a:rPr kumimoji="0" lang="en-US" altLang="zh-CN" sz="2800" b="1">
                <a:sym typeface="Symbol" pitchFamily="18" charset="2"/>
              </a:rPr>
              <a:t>(x)(y)(F(x,y)F(f(x),f(y)))</a:t>
            </a:r>
          </a:p>
        </p:txBody>
      </p:sp>
    </p:spTree>
  </p:cSld>
  <p:clrMapOvr>
    <a:masterClrMapping/>
  </p:clrMapOvr>
  <p:transition spd="slow">
    <p:pull dir="ru"/>
  </p:transition>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03D1C097-B3EC-4049-953F-9B62C092F910}" type="slidenum">
              <a:rPr lang="en-US" altLang="zh-CN"/>
              <a:pPr/>
              <a:t>54</a:t>
            </a:fld>
            <a:endParaRPr lang="en-US" altLang="zh-CN"/>
          </a:p>
        </p:txBody>
      </p:sp>
      <p:sp>
        <p:nvSpPr>
          <p:cNvPr id="425986" name="Rectangle 2"/>
          <p:cNvSpPr>
            <a:spLocks noChangeArrowheads="1"/>
          </p:cNvSpPr>
          <p:nvPr/>
        </p:nvSpPr>
        <p:spPr bwMode="auto">
          <a:xfrm>
            <a:off x="1187450" y="1341438"/>
            <a:ext cx="5976938"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a:sym typeface="Symbol" pitchFamily="18" charset="2"/>
              </a:rPr>
              <a:t>解</a:t>
            </a:r>
            <a:r>
              <a:rPr kumimoji="0" lang="zh-CN" altLang="en-US" sz="2800" b="1">
                <a:sym typeface="Wingdings" pitchFamily="2" charset="2"/>
              </a:rPr>
              <a:t>：</a:t>
            </a:r>
            <a:r>
              <a:rPr kumimoji="0" lang="en-US" altLang="zh-CN" sz="2800" b="1">
                <a:sym typeface="Wingdings" pitchFamily="2" charset="2"/>
              </a:rPr>
              <a:t>(1) </a:t>
            </a:r>
            <a:r>
              <a:rPr kumimoji="0" lang="en-US" altLang="zh-CN" sz="2800" b="1">
                <a:sym typeface="Symbol" pitchFamily="18" charset="2"/>
              </a:rPr>
              <a:t>(x)(y)F(x,y)</a:t>
            </a:r>
            <a:r>
              <a:rPr kumimoji="0" lang="en-US" altLang="zh-CN" sz="2800" b="1">
                <a:sym typeface="Wingdings" pitchFamily="2" charset="2"/>
              </a:rPr>
              <a:t> </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(x)(F(x,3)∨F(x,4))</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(F(3,3)∨F(3,4))∧(F(4,3)∨F(4,4))</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(F∨T)∧(T∨F)</a:t>
            </a:r>
            <a:r>
              <a:rPr kumimoji="0" lang="en-US" altLang="zh-CN" sz="2800" b="1">
                <a:solidFill>
                  <a:schemeClr val="hlink"/>
                </a:solidFill>
                <a:sym typeface="Symbol" pitchFamily="18" charset="2"/>
              </a:rPr>
              <a:t></a:t>
            </a:r>
            <a:r>
              <a:rPr kumimoji="0" lang="en-US" altLang="zh-CN" sz="2800" b="1">
                <a:sym typeface="Wingdings" pitchFamily="2" charset="2"/>
              </a:rPr>
              <a:t>T</a:t>
            </a:r>
            <a:endParaRPr kumimoji="0" lang="en-US" altLang="zh-CN" sz="2800" b="1">
              <a:sym typeface="Symbol" pitchFamily="18" charset="2"/>
            </a:endParaRPr>
          </a:p>
          <a:p>
            <a:pPr algn="l">
              <a:lnSpc>
                <a:spcPct val="130000"/>
              </a:lnSpc>
            </a:pPr>
            <a:r>
              <a:rPr kumimoji="0" lang="en-US" altLang="zh-CN" sz="2800" b="1">
                <a:sym typeface="Wingdings" pitchFamily="2" charset="2"/>
              </a:rPr>
              <a:t>        (2) </a:t>
            </a:r>
            <a:r>
              <a:rPr kumimoji="0" lang="en-US" altLang="zh-CN" sz="2800" b="1">
                <a:sym typeface="Symbol" pitchFamily="18" charset="2"/>
              </a:rPr>
              <a:t>(y)(x)F(x,y)</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(y)(F(3,y)∧F(4,y))</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(F(3,3)∧F(4,3))∨(F(3,4)∧F(4,4)) </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(F∧T)∨(T∧F)</a:t>
            </a:r>
            <a:r>
              <a:rPr kumimoji="0" lang="en-US" altLang="zh-CN" sz="2800" b="1">
                <a:solidFill>
                  <a:schemeClr val="hlink"/>
                </a:solidFill>
                <a:sym typeface="Symbol" pitchFamily="18" charset="2"/>
              </a:rPr>
              <a:t></a:t>
            </a:r>
            <a:r>
              <a:rPr kumimoji="0" lang="en-US" altLang="zh-CN" sz="2800" b="1">
                <a:sym typeface="Symbol" pitchFamily="18" charset="2"/>
              </a:rPr>
              <a:t>F</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598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2598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2598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25986">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25986">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25986">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2598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AF44D94C-5147-4864-8068-38E4A1C5D582}" type="slidenum">
              <a:rPr lang="en-US" altLang="zh-CN"/>
              <a:pPr/>
              <a:t>55</a:t>
            </a:fld>
            <a:endParaRPr lang="en-US" altLang="zh-CN"/>
          </a:p>
        </p:txBody>
      </p:sp>
      <p:sp>
        <p:nvSpPr>
          <p:cNvPr id="427010" name="Rectangle 2"/>
          <p:cNvSpPr>
            <a:spLocks noChangeArrowheads="1"/>
          </p:cNvSpPr>
          <p:nvPr/>
        </p:nvSpPr>
        <p:spPr bwMode="auto">
          <a:xfrm>
            <a:off x="323850" y="1484313"/>
            <a:ext cx="8496300"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a:sym typeface="Symbol" pitchFamily="18" charset="2"/>
              </a:rPr>
              <a:t>解</a:t>
            </a:r>
            <a:r>
              <a:rPr kumimoji="0" lang="en-US" altLang="zh-CN" sz="2800" b="1">
                <a:sym typeface="Wingdings" pitchFamily="2" charset="2"/>
              </a:rPr>
              <a:t>:</a:t>
            </a:r>
            <a:r>
              <a:rPr kumimoji="0" lang="en-US" altLang="zh-CN" sz="2800" b="1">
                <a:sym typeface="Symbol" pitchFamily="18" charset="2"/>
              </a:rPr>
              <a:t>(3) (x)(y)(F(x,y)F(f(x),f(y)))</a:t>
            </a:r>
          </a:p>
          <a:p>
            <a:pPr algn="l">
              <a:lnSpc>
                <a:spcPct val="130000"/>
              </a:lnSpc>
              <a:buFont typeface="Symbol" pitchFamily="18" charset="2"/>
              <a:buNone/>
            </a:pPr>
            <a:r>
              <a:rPr kumimoji="0" lang="en-US" altLang="zh-CN" sz="2800" b="1">
                <a:solidFill>
                  <a:schemeClr val="hlink"/>
                </a:solidFill>
                <a:sym typeface="Symbol" pitchFamily="18" charset="2"/>
              </a:rPr>
              <a:t></a:t>
            </a:r>
            <a:r>
              <a:rPr kumimoji="0" lang="en-US" altLang="zh-CN" sz="2800" b="1">
                <a:sym typeface="Symbol" pitchFamily="18" charset="2"/>
              </a:rPr>
              <a:t>(x)</a:t>
            </a:r>
            <a:r>
              <a:rPr kumimoji="0" lang="en-US" altLang="zh-CN" sz="2800" b="1">
                <a:solidFill>
                  <a:schemeClr val="hlink"/>
                </a:solidFill>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F(x,3)F(f(x),f(3))</a:t>
            </a:r>
            <a:r>
              <a:rPr kumimoji="0" lang="en-US" altLang="zh-CN" sz="2800" b="1">
                <a:solidFill>
                  <a:schemeClr val="folHlink"/>
                </a:solidFill>
                <a:sym typeface="Symbol" pitchFamily="18" charset="2"/>
              </a:rPr>
              <a:t>)</a:t>
            </a:r>
            <a:r>
              <a:rPr kumimoji="0" lang="en-US" altLang="zh-CN" sz="2800" b="1">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F(x,4)F(f(x),f(4))</a:t>
            </a:r>
            <a:r>
              <a:rPr kumimoji="0" lang="en-US" altLang="zh-CN" sz="2800" b="1">
                <a:solidFill>
                  <a:schemeClr val="folHlink"/>
                </a:solidFill>
                <a:sym typeface="Symbol" pitchFamily="18" charset="2"/>
              </a:rPr>
              <a:t>)</a:t>
            </a:r>
            <a:r>
              <a:rPr kumimoji="0" lang="en-US" altLang="zh-CN" sz="2800" b="1">
                <a:solidFill>
                  <a:schemeClr val="hlink"/>
                </a:solidFill>
                <a:sym typeface="Symbol" pitchFamily="18" charset="2"/>
              </a:rPr>
              <a:t>)</a:t>
            </a:r>
          </a:p>
          <a:p>
            <a:pPr algn="l">
              <a:lnSpc>
                <a:spcPct val="130000"/>
              </a:lnSpc>
              <a:buFont typeface="Symbol" pitchFamily="18" charset="2"/>
              <a:buNone/>
            </a:pPr>
            <a:r>
              <a:rPr kumimoji="0" lang="en-US" altLang="zh-CN" sz="2800" b="1">
                <a:solidFill>
                  <a:schemeClr val="hlink"/>
                </a:solidFill>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F(3,3)F(f(3),f(3))</a:t>
            </a:r>
            <a:r>
              <a:rPr kumimoji="0" lang="en-US" altLang="zh-CN" sz="2800" b="1">
                <a:solidFill>
                  <a:schemeClr val="folHlink"/>
                </a:solidFill>
                <a:sym typeface="Symbol" pitchFamily="18" charset="2"/>
              </a:rPr>
              <a:t>)</a:t>
            </a:r>
            <a:r>
              <a:rPr kumimoji="0" lang="en-US" altLang="zh-CN" sz="2800" b="1">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F(3,4)F(f(3),f(4))</a:t>
            </a:r>
            <a:r>
              <a:rPr kumimoji="0" lang="en-US" altLang="zh-CN" sz="2800" b="1">
                <a:solidFill>
                  <a:schemeClr val="folHlink"/>
                </a:solidFill>
                <a:sym typeface="Symbol" pitchFamily="18" charset="2"/>
              </a:rPr>
              <a:t>)</a:t>
            </a:r>
          </a:p>
          <a:p>
            <a:pPr algn="l">
              <a:lnSpc>
                <a:spcPct val="130000"/>
              </a:lnSpc>
            </a:pPr>
            <a:r>
              <a:rPr kumimoji="0" lang="en-US" altLang="zh-CN" sz="2800" b="1">
                <a:sym typeface="Symbol" pitchFamily="18" charset="2"/>
              </a:rPr>
              <a:t>    ∧</a:t>
            </a:r>
            <a:r>
              <a:rPr kumimoji="0" lang="en-US" altLang="zh-CN" sz="2800" b="1">
                <a:solidFill>
                  <a:schemeClr val="folHlink"/>
                </a:solidFill>
                <a:sym typeface="Symbol" pitchFamily="18" charset="2"/>
              </a:rPr>
              <a:t>(</a:t>
            </a:r>
            <a:r>
              <a:rPr kumimoji="0" lang="en-US" altLang="zh-CN" sz="2800" b="1">
                <a:sym typeface="Symbol" pitchFamily="18" charset="2"/>
              </a:rPr>
              <a:t>F(4,3)F(f(4),f(3))</a:t>
            </a:r>
            <a:r>
              <a:rPr kumimoji="0" lang="en-US" altLang="zh-CN" sz="2800" b="1">
                <a:solidFill>
                  <a:schemeClr val="folHlink"/>
                </a:solidFill>
                <a:sym typeface="Symbol" pitchFamily="18" charset="2"/>
              </a:rPr>
              <a:t>)</a:t>
            </a:r>
            <a:r>
              <a:rPr kumimoji="0" lang="en-US" altLang="zh-CN" sz="2800" b="1">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F(4,4)F(f(4),f(4))</a:t>
            </a:r>
            <a:r>
              <a:rPr kumimoji="0" lang="en-US" altLang="zh-CN" sz="2800" b="1">
                <a:solidFill>
                  <a:schemeClr val="folHlink"/>
                </a:solidFill>
                <a:sym typeface="Symbol" pitchFamily="18" charset="2"/>
              </a:rPr>
              <a:t>)</a:t>
            </a:r>
            <a:r>
              <a:rPr kumimoji="0" lang="en-US" altLang="zh-CN" sz="2800" b="1">
                <a:sym typeface="Wingdings" pitchFamily="2" charset="2"/>
              </a:rPr>
              <a:t> </a:t>
            </a:r>
          </a:p>
          <a:p>
            <a:pPr algn="l">
              <a:lnSpc>
                <a:spcPct val="130000"/>
              </a:lnSpc>
            </a:pPr>
            <a:r>
              <a:rPr kumimoji="0" lang="en-US" altLang="zh-CN" sz="2800" b="1">
                <a:solidFill>
                  <a:schemeClr val="hlink"/>
                </a:solidFill>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FF(4,4)</a:t>
            </a:r>
            <a:r>
              <a:rPr kumimoji="0" lang="en-US" altLang="zh-CN" sz="2800" b="1">
                <a:solidFill>
                  <a:schemeClr val="folHlink"/>
                </a:solidFill>
                <a:sym typeface="Symbol" pitchFamily="18" charset="2"/>
              </a:rPr>
              <a:t>)</a:t>
            </a:r>
            <a:r>
              <a:rPr kumimoji="0" lang="en-US" altLang="zh-CN" sz="2800" b="1">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TF(4,3)</a:t>
            </a:r>
            <a:r>
              <a:rPr kumimoji="0" lang="en-US" altLang="zh-CN" sz="2800" b="1">
                <a:solidFill>
                  <a:schemeClr val="folHlink"/>
                </a:solidFill>
                <a:sym typeface="Symbol" pitchFamily="18" charset="2"/>
              </a:rPr>
              <a:t>)</a:t>
            </a:r>
            <a:r>
              <a:rPr kumimoji="0" lang="en-US" altLang="zh-CN" sz="2800" b="1">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TF(3,4)</a:t>
            </a:r>
            <a:r>
              <a:rPr kumimoji="0" lang="en-US" altLang="zh-CN" sz="2800" b="1">
                <a:solidFill>
                  <a:schemeClr val="folHlink"/>
                </a:solidFill>
                <a:sym typeface="Symbol" pitchFamily="18" charset="2"/>
              </a:rPr>
              <a:t>)</a:t>
            </a:r>
            <a:r>
              <a:rPr kumimoji="0" lang="en-US" altLang="zh-CN" sz="2800" b="1">
                <a:sym typeface="Symbol" pitchFamily="18" charset="2"/>
              </a:rPr>
              <a:t>∧</a:t>
            </a:r>
            <a:r>
              <a:rPr kumimoji="0" lang="en-US" altLang="zh-CN" sz="2800" b="1">
                <a:solidFill>
                  <a:schemeClr val="folHlink"/>
                </a:solidFill>
                <a:sym typeface="Symbol" pitchFamily="18" charset="2"/>
              </a:rPr>
              <a:t>(</a:t>
            </a:r>
            <a:r>
              <a:rPr kumimoji="0" lang="en-US" altLang="zh-CN" sz="2800" b="1">
                <a:sym typeface="Symbol" pitchFamily="18" charset="2"/>
              </a:rPr>
              <a:t>FF(3,3)</a:t>
            </a:r>
            <a:r>
              <a:rPr kumimoji="0" lang="en-US" altLang="zh-CN" sz="2800" b="1">
                <a:solidFill>
                  <a:schemeClr val="folHlink"/>
                </a:solidFill>
                <a:sym typeface="Symbol" pitchFamily="18" charset="2"/>
              </a:rPr>
              <a:t>)</a:t>
            </a:r>
          </a:p>
          <a:p>
            <a:pPr algn="l">
              <a:lnSpc>
                <a:spcPct val="130000"/>
              </a:lnSpc>
            </a:pPr>
            <a:r>
              <a:rPr kumimoji="0" lang="en-US" altLang="zh-CN" sz="2800" b="1">
                <a:solidFill>
                  <a:schemeClr val="hlink"/>
                </a:solidFill>
                <a:sym typeface="Symbol" pitchFamily="18" charset="2"/>
              </a:rPr>
              <a:t></a:t>
            </a:r>
            <a:r>
              <a:rPr kumimoji="0" lang="en-US" altLang="zh-CN" sz="2800" b="1">
                <a:sym typeface="Wingdings" pitchFamily="2" charset="2"/>
              </a:rPr>
              <a:t>T</a:t>
            </a:r>
            <a:r>
              <a:rPr kumimoji="0" lang="en-US" altLang="zh-CN" sz="2800" b="1">
                <a:sym typeface="Symbol" pitchFamily="18" charset="2"/>
              </a:rPr>
              <a:t>∧(TT)∧(TT)∧T</a:t>
            </a:r>
          </a:p>
          <a:p>
            <a:pPr algn="l">
              <a:lnSpc>
                <a:spcPct val="130000"/>
              </a:lnSpc>
            </a:pPr>
            <a:r>
              <a:rPr kumimoji="0" lang="en-US" altLang="zh-CN" sz="2800" b="1">
                <a:solidFill>
                  <a:schemeClr val="hlink"/>
                </a:solidFill>
                <a:sym typeface="Symbol" pitchFamily="18" charset="2"/>
              </a:rPr>
              <a:t></a:t>
            </a:r>
            <a:r>
              <a:rPr kumimoji="0" lang="en-US" altLang="zh-CN" sz="2800" b="1">
                <a:sym typeface="Symbol" pitchFamily="18" charset="2"/>
              </a:rPr>
              <a:t>T∧T∧T∧T</a:t>
            </a:r>
            <a:r>
              <a:rPr kumimoji="0" lang="en-US" altLang="zh-CN" sz="2800" b="1">
                <a:solidFill>
                  <a:schemeClr val="hlink"/>
                </a:solidFill>
                <a:sym typeface="Symbol" pitchFamily="18" charset="2"/>
              </a:rPr>
              <a:t></a:t>
            </a:r>
            <a:r>
              <a:rPr kumimoji="0" lang="en-US" altLang="zh-CN" sz="2800" b="1">
                <a:sym typeface="Symbol" pitchFamily="18" charset="2"/>
              </a:rPr>
              <a:t>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2701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270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27010">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27010">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27010">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2701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5B8EBAE3-D5F7-4BF7-9448-4CEA9AA0C752}" type="slidenum">
              <a:rPr lang="en-US" altLang="zh-CN"/>
              <a:pPr/>
              <a:t>56</a:t>
            </a:fld>
            <a:endParaRPr lang="en-US" altLang="zh-CN"/>
          </a:p>
        </p:txBody>
      </p:sp>
      <p:sp>
        <p:nvSpPr>
          <p:cNvPr id="415746" name="Rectangle 2"/>
          <p:cNvSpPr>
            <a:spLocks noChangeArrowheads="1"/>
          </p:cNvSpPr>
          <p:nvPr/>
        </p:nvSpPr>
        <p:spPr bwMode="auto">
          <a:xfrm>
            <a:off x="971601" y="2820769"/>
            <a:ext cx="72007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lvl1pPr algn="l">
              <a:defRPr sz="4000">
                <a:solidFill>
                  <a:schemeClr val="tx2"/>
                </a:solidFill>
                <a:latin typeface="Tahoma" pitchFamily="34" charset="0"/>
                <a:ea typeface="宋体" charset="-122"/>
              </a:defRPr>
            </a:lvl1pPr>
            <a:lvl2pPr algn="l">
              <a:defRPr sz="4000">
                <a:solidFill>
                  <a:schemeClr val="tx2"/>
                </a:solidFill>
                <a:latin typeface="Tahoma" pitchFamily="34" charset="0"/>
                <a:ea typeface="宋体" charset="-122"/>
              </a:defRPr>
            </a:lvl2pPr>
            <a:lvl3pPr algn="l">
              <a:defRPr sz="4000">
                <a:solidFill>
                  <a:schemeClr val="tx2"/>
                </a:solidFill>
                <a:latin typeface="Tahoma" pitchFamily="34" charset="0"/>
                <a:ea typeface="宋体" charset="-122"/>
              </a:defRPr>
            </a:lvl3pPr>
            <a:lvl4pPr algn="l">
              <a:defRPr sz="4000">
                <a:solidFill>
                  <a:schemeClr val="tx2"/>
                </a:solidFill>
                <a:latin typeface="Tahoma" pitchFamily="34" charset="0"/>
                <a:ea typeface="宋体" charset="-122"/>
              </a:defRPr>
            </a:lvl4pPr>
            <a:lvl5pPr algn="l">
              <a:defRPr sz="4000">
                <a:solidFill>
                  <a:schemeClr val="tx2"/>
                </a:solidFill>
                <a:latin typeface="Tahoma" pitchFamily="34" charset="0"/>
                <a:ea typeface="宋体" charset="-122"/>
              </a:defRPr>
            </a:lvl5pPr>
            <a:lvl6pPr marL="457200" fontAlgn="base">
              <a:spcBef>
                <a:spcPct val="0"/>
              </a:spcBef>
              <a:spcAft>
                <a:spcPct val="0"/>
              </a:spcAft>
              <a:defRPr sz="4000">
                <a:solidFill>
                  <a:schemeClr val="tx2"/>
                </a:solidFill>
                <a:latin typeface="Tahoma" pitchFamily="34" charset="0"/>
                <a:ea typeface="宋体" charset="-122"/>
              </a:defRPr>
            </a:lvl6pPr>
            <a:lvl7pPr marL="914400" fontAlgn="base">
              <a:spcBef>
                <a:spcPct val="0"/>
              </a:spcBef>
              <a:spcAft>
                <a:spcPct val="0"/>
              </a:spcAft>
              <a:defRPr sz="4000">
                <a:solidFill>
                  <a:schemeClr val="tx2"/>
                </a:solidFill>
                <a:latin typeface="Tahoma" pitchFamily="34" charset="0"/>
                <a:ea typeface="宋体" charset="-122"/>
              </a:defRPr>
            </a:lvl7pPr>
            <a:lvl8pPr marL="1371600" fontAlgn="base">
              <a:spcBef>
                <a:spcPct val="0"/>
              </a:spcBef>
              <a:spcAft>
                <a:spcPct val="0"/>
              </a:spcAft>
              <a:defRPr sz="4000">
                <a:solidFill>
                  <a:schemeClr val="tx2"/>
                </a:solidFill>
                <a:latin typeface="Tahoma" pitchFamily="34" charset="0"/>
                <a:ea typeface="宋体" charset="-122"/>
              </a:defRPr>
            </a:lvl8pPr>
            <a:lvl9pPr marL="1828800" fontAlgn="base">
              <a:spcBef>
                <a:spcPct val="0"/>
              </a:spcBef>
              <a:spcAft>
                <a:spcPct val="0"/>
              </a:spcAft>
              <a:defRPr sz="4000">
                <a:solidFill>
                  <a:schemeClr val="tx2"/>
                </a:solidFill>
                <a:latin typeface="Tahoma" pitchFamily="34" charset="0"/>
                <a:ea typeface="宋体" charset="-122"/>
              </a:defRPr>
            </a:lvl9pPr>
          </a:lstStyle>
          <a:p>
            <a:r>
              <a:rPr kumimoji="0" lang="zh-CN" altLang="en-US" sz="3600" b="1" dirty="0">
                <a:solidFill>
                  <a:schemeClr val="tx1"/>
                </a:solidFill>
                <a:latin typeface="楷体_GB2312" pitchFamily="49" charset="-122"/>
                <a:ea typeface="楷体_GB2312" pitchFamily="49" charset="-122"/>
              </a:rPr>
              <a:t>作业：</a:t>
            </a:r>
            <a:r>
              <a:rPr kumimoji="0" lang="en-US" altLang="zh-CN" sz="3600" b="1" dirty="0">
                <a:solidFill>
                  <a:schemeClr val="tx1"/>
                </a:solidFill>
                <a:latin typeface="Times New Roman" pitchFamily="18" charset="0"/>
                <a:ea typeface="楷体_GB2312" pitchFamily="49" charset="-122"/>
              </a:rPr>
              <a:t>P59(1</a:t>
            </a:r>
            <a:r>
              <a:rPr kumimoji="0" lang="en-US" altLang="zh-CN" sz="3600" b="1" dirty="0" smtClean="0">
                <a:solidFill>
                  <a:schemeClr val="tx1"/>
                </a:solidFill>
                <a:latin typeface="Times New Roman" pitchFamily="18" charset="0"/>
                <a:ea typeface="楷体_GB2312" pitchFamily="49" charset="-122"/>
              </a:rPr>
              <a:t>)</a:t>
            </a:r>
            <a:r>
              <a:rPr kumimoji="0" lang="zh-CN" altLang="en-US" sz="3600" b="1" dirty="0" smtClean="0">
                <a:solidFill>
                  <a:schemeClr val="tx1"/>
                </a:solidFill>
                <a:latin typeface="Times New Roman" pitchFamily="18" charset="0"/>
                <a:ea typeface="楷体_GB2312" pitchFamily="49" charset="-122"/>
              </a:rPr>
              <a:t>，</a:t>
            </a:r>
            <a:r>
              <a:rPr kumimoji="0" lang="en-US" altLang="zh-CN" sz="3600" b="1" dirty="0" smtClean="0">
                <a:solidFill>
                  <a:schemeClr val="tx1"/>
                </a:solidFill>
                <a:latin typeface="Times New Roman" pitchFamily="18" charset="0"/>
                <a:ea typeface="楷体_GB2312" pitchFamily="49" charset="-122"/>
              </a:rPr>
              <a:t>P62(3)</a:t>
            </a:r>
            <a:r>
              <a:rPr kumimoji="0" lang="zh-CN" altLang="en-US" sz="3600" b="1" dirty="0" smtClean="0">
                <a:solidFill>
                  <a:schemeClr val="tx1"/>
                </a:solidFill>
                <a:latin typeface="Times New Roman" pitchFamily="18" charset="0"/>
                <a:ea typeface="楷体_GB2312" pitchFamily="49" charset="-122"/>
              </a:rPr>
              <a:t>，</a:t>
            </a:r>
            <a:r>
              <a:rPr kumimoji="0" lang="en-US" altLang="zh-CN" sz="3600" b="1" smtClean="0">
                <a:solidFill>
                  <a:schemeClr val="tx1"/>
                </a:solidFill>
                <a:latin typeface="Times New Roman" pitchFamily="18" charset="0"/>
                <a:ea typeface="楷体_GB2312" pitchFamily="49" charset="-122"/>
              </a:rPr>
              <a:t>P66(3)</a:t>
            </a:r>
            <a:endParaRPr kumimoji="0" lang="en-US" altLang="zh-CN" sz="3600" b="1" dirty="0">
              <a:solidFill>
                <a:schemeClr val="tx1"/>
              </a:solidFill>
              <a:latin typeface="Times New Roman" pitchFamily="18" charset="0"/>
              <a:ea typeface="楷体_GB2312" pitchFamily="49" charset="-122"/>
            </a:endParaRPr>
          </a:p>
        </p:txBody>
      </p:sp>
    </p:spTree>
    <p:extLst>
      <p:ext uri="{BB962C8B-B14F-4D97-AF65-F5344CB8AC3E}">
        <p14:creationId xmlns:p14="http://schemas.microsoft.com/office/powerpoint/2010/main" val="2274265362"/>
      </p:ext>
    </p:extLst>
  </p:cSld>
  <p:clrMapOvr>
    <a:masterClrMapping/>
  </p:clrMapOvr>
  <p:transition spd="slow">
    <p:pull dir="ru"/>
  </p:transition>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61A5C4B4-B15F-4095-853E-E4A7560FD70D}" type="slidenum">
              <a:rPr lang="en-US" altLang="zh-CN"/>
              <a:pPr/>
              <a:t>57</a:t>
            </a:fld>
            <a:endParaRPr lang="en-US" altLang="zh-CN"/>
          </a:p>
        </p:txBody>
      </p:sp>
      <p:sp>
        <p:nvSpPr>
          <p:cNvPr id="450562" name="Rectangle 2"/>
          <p:cNvSpPr>
            <a:spLocks noChangeArrowheads="1"/>
          </p:cNvSpPr>
          <p:nvPr/>
        </p:nvSpPr>
        <p:spPr bwMode="auto">
          <a:xfrm>
            <a:off x="3419475" y="609600"/>
            <a:ext cx="23034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lgn="l">
              <a:defRPr sz="4000">
                <a:solidFill>
                  <a:schemeClr val="tx2"/>
                </a:solidFill>
                <a:latin typeface="Tahoma" pitchFamily="34" charset="0"/>
                <a:ea typeface="宋体" charset="-122"/>
              </a:defRPr>
            </a:lvl1pPr>
            <a:lvl2pPr algn="l">
              <a:defRPr sz="4000">
                <a:solidFill>
                  <a:schemeClr val="tx2"/>
                </a:solidFill>
                <a:latin typeface="Tahoma" pitchFamily="34" charset="0"/>
                <a:ea typeface="宋体" charset="-122"/>
              </a:defRPr>
            </a:lvl2pPr>
            <a:lvl3pPr algn="l">
              <a:defRPr sz="4000">
                <a:solidFill>
                  <a:schemeClr val="tx2"/>
                </a:solidFill>
                <a:latin typeface="Tahoma" pitchFamily="34" charset="0"/>
                <a:ea typeface="宋体" charset="-122"/>
              </a:defRPr>
            </a:lvl3pPr>
            <a:lvl4pPr algn="l">
              <a:defRPr sz="4000">
                <a:solidFill>
                  <a:schemeClr val="tx2"/>
                </a:solidFill>
                <a:latin typeface="Tahoma" pitchFamily="34" charset="0"/>
                <a:ea typeface="宋体" charset="-122"/>
              </a:defRPr>
            </a:lvl4pPr>
            <a:lvl5pPr algn="l">
              <a:defRPr sz="4000">
                <a:solidFill>
                  <a:schemeClr val="tx2"/>
                </a:solidFill>
                <a:latin typeface="Tahoma" pitchFamily="34" charset="0"/>
                <a:ea typeface="宋体" charset="-122"/>
              </a:defRPr>
            </a:lvl5pPr>
            <a:lvl6pPr marL="457200" fontAlgn="base">
              <a:spcBef>
                <a:spcPct val="0"/>
              </a:spcBef>
              <a:spcAft>
                <a:spcPct val="0"/>
              </a:spcAft>
              <a:defRPr sz="4000">
                <a:solidFill>
                  <a:schemeClr val="tx2"/>
                </a:solidFill>
                <a:latin typeface="Tahoma" pitchFamily="34" charset="0"/>
                <a:ea typeface="宋体" charset="-122"/>
              </a:defRPr>
            </a:lvl6pPr>
            <a:lvl7pPr marL="914400" fontAlgn="base">
              <a:spcBef>
                <a:spcPct val="0"/>
              </a:spcBef>
              <a:spcAft>
                <a:spcPct val="0"/>
              </a:spcAft>
              <a:defRPr sz="4000">
                <a:solidFill>
                  <a:schemeClr val="tx2"/>
                </a:solidFill>
                <a:latin typeface="Tahoma" pitchFamily="34" charset="0"/>
                <a:ea typeface="宋体" charset="-122"/>
              </a:defRPr>
            </a:lvl7pPr>
            <a:lvl8pPr marL="1371600" fontAlgn="base">
              <a:spcBef>
                <a:spcPct val="0"/>
              </a:spcBef>
              <a:spcAft>
                <a:spcPct val="0"/>
              </a:spcAft>
              <a:defRPr sz="4000">
                <a:solidFill>
                  <a:schemeClr val="tx2"/>
                </a:solidFill>
                <a:latin typeface="Tahoma" pitchFamily="34" charset="0"/>
                <a:ea typeface="宋体" charset="-122"/>
              </a:defRPr>
            </a:lvl8pPr>
            <a:lvl9pPr marL="1828800" fontAlgn="base">
              <a:spcBef>
                <a:spcPct val="0"/>
              </a:spcBef>
              <a:spcAft>
                <a:spcPct val="0"/>
              </a:spcAft>
              <a:defRPr sz="4000">
                <a:solidFill>
                  <a:schemeClr val="tx2"/>
                </a:solidFill>
                <a:latin typeface="Tahoma" pitchFamily="34" charset="0"/>
                <a:ea typeface="宋体" charset="-122"/>
              </a:defRPr>
            </a:lvl9pPr>
          </a:lstStyle>
          <a:p>
            <a:pPr algn="ctr"/>
            <a:r>
              <a:rPr kumimoji="0" lang="zh-CN" altLang="en-US" sz="3600" b="1">
                <a:solidFill>
                  <a:schemeClr val="tx1"/>
                </a:solidFill>
                <a:latin typeface="华文行楷" pitchFamily="2" charset="-122"/>
                <a:ea typeface="华文行楷" pitchFamily="2" charset="-122"/>
              </a:rPr>
              <a:t>复习</a:t>
            </a:r>
          </a:p>
        </p:txBody>
      </p:sp>
      <p:sp>
        <p:nvSpPr>
          <p:cNvPr id="450563" name="Rectangle 3"/>
          <p:cNvSpPr>
            <a:spLocks noChangeArrowheads="1"/>
          </p:cNvSpPr>
          <p:nvPr/>
        </p:nvSpPr>
        <p:spPr bwMode="auto">
          <a:xfrm>
            <a:off x="1187450" y="1196975"/>
            <a:ext cx="7056438" cy="31208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rPr>
              <a:t>一、谓词公式与翻译</a:t>
            </a:r>
          </a:p>
          <a:p>
            <a:pPr algn="l">
              <a:lnSpc>
                <a:spcPct val="120000"/>
              </a:lnSpc>
            </a:pPr>
            <a:r>
              <a:rPr kumimoji="0" lang="zh-CN" altLang="en-US" b="1" dirty="0"/>
              <a:t>客体，谓词，量词，联结词</a:t>
            </a:r>
          </a:p>
          <a:p>
            <a:pPr algn="l">
              <a:lnSpc>
                <a:spcPct val="120000"/>
              </a:lnSpc>
            </a:pPr>
            <a:r>
              <a:rPr kumimoji="0" lang="zh-CN" altLang="en-US" sz="2800" b="1" dirty="0">
                <a:solidFill>
                  <a:schemeClr val="hlink"/>
                </a:solidFill>
              </a:rPr>
              <a:t>二、变元的约束</a:t>
            </a:r>
          </a:p>
          <a:p>
            <a:pPr algn="l">
              <a:lnSpc>
                <a:spcPct val="120000"/>
              </a:lnSpc>
            </a:pPr>
            <a:r>
              <a:rPr kumimoji="0" lang="zh-CN" altLang="en-US" b="1" dirty="0" smtClean="0"/>
              <a:t>自由变元代入，</a:t>
            </a:r>
            <a:r>
              <a:rPr kumimoji="0" lang="zh-CN" altLang="en-US" b="1" dirty="0"/>
              <a:t>约束变</a:t>
            </a:r>
            <a:r>
              <a:rPr kumimoji="0" lang="zh-CN" altLang="en-US" b="1" dirty="0" smtClean="0"/>
              <a:t>元换名</a:t>
            </a:r>
            <a:endParaRPr kumimoji="0" lang="zh-CN" altLang="en-US" b="1" dirty="0"/>
          </a:p>
          <a:p>
            <a:pPr algn="l">
              <a:spcBef>
                <a:spcPct val="50000"/>
              </a:spcBef>
            </a:pPr>
            <a:r>
              <a:rPr kumimoji="0" lang="en-US" altLang="zh-CN" b="1" dirty="0">
                <a:solidFill>
                  <a:schemeClr val="bg2"/>
                </a:solidFill>
              </a:rPr>
              <a:t>(</a:t>
            </a:r>
            <a:r>
              <a:rPr kumimoji="0" lang="en-US" altLang="zh-CN" b="1" dirty="0">
                <a:sym typeface="Symbol" pitchFamily="18" charset="2"/>
              </a:rPr>
              <a:t></a:t>
            </a:r>
            <a:r>
              <a:rPr kumimoji="0" lang="en-US" altLang="zh-CN" b="1" dirty="0">
                <a:solidFill>
                  <a:schemeClr val="bg2"/>
                </a:solidFill>
              </a:rPr>
              <a:t>x)A(x)</a:t>
            </a:r>
            <a:r>
              <a:rPr kumimoji="0" lang="en-US" altLang="zh-CN" b="1" dirty="0">
                <a:solidFill>
                  <a:schemeClr val="bg2"/>
                </a:solidFill>
                <a:latin typeface="Arial" charset="0"/>
                <a:sym typeface="Symbol" pitchFamily="18" charset="2"/>
              </a:rPr>
              <a:t></a:t>
            </a:r>
            <a:r>
              <a:rPr kumimoji="0" lang="en-US" altLang="zh-CN" b="1" dirty="0">
                <a:solidFill>
                  <a:schemeClr val="bg2"/>
                </a:solidFill>
              </a:rPr>
              <a:t>A(a</a:t>
            </a:r>
            <a:r>
              <a:rPr kumimoji="0" lang="en-US" altLang="zh-CN" b="1" baseline="-25000" dirty="0">
                <a:solidFill>
                  <a:schemeClr val="bg2"/>
                </a:solidFill>
              </a:rPr>
              <a:t>1</a:t>
            </a:r>
            <a:r>
              <a:rPr kumimoji="0" lang="en-US" altLang="zh-CN" b="1" dirty="0">
                <a:solidFill>
                  <a:schemeClr val="bg2"/>
                </a:solidFill>
              </a:rPr>
              <a:t>)∧A(a</a:t>
            </a:r>
            <a:r>
              <a:rPr kumimoji="0" lang="en-US" altLang="zh-CN" b="1" baseline="-25000" dirty="0">
                <a:solidFill>
                  <a:schemeClr val="bg2"/>
                </a:solidFill>
              </a:rPr>
              <a:t>2</a:t>
            </a:r>
            <a:r>
              <a:rPr kumimoji="0" lang="en-US" altLang="zh-CN" b="1" dirty="0">
                <a:solidFill>
                  <a:schemeClr val="bg2"/>
                </a:solidFill>
              </a:rPr>
              <a:t>)∧…∧A(a</a:t>
            </a:r>
            <a:r>
              <a:rPr kumimoji="0" lang="en-US" altLang="zh-CN" b="1" baseline="-25000" dirty="0">
                <a:solidFill>
                  <a:schemeClr val="bg2"/>
                </a:solidFill>
              </a:rPr>
              <a:t>n</a:t>
            </a:r>
            <a:r>
              <a:rPr kumimoji="0" lang="en-US" altLang="zh-CN" b="1" dirty="0">
                <a:solidFill>
                  <a:schemeClr val="bg2"/>
                </a:solidFill>
              </a:rPr>
              <a:t>)</a:t>
            </a:r>
          </a:p>
          <a:p>
            <a:pPr algn="l">
              <a:spcBef>
                <a:spcPct val="50000"/>
              </a:spcBef>
            </a:pPr>
            <a:r>
              <a:rPr kumimoji="0" lang="en-US" altLang="zh-CN" b="1" dirty="0">
                <a:solidFill>
                  <a:schemeClr val="bg2"/>
                </a:solidFill>
              </a:rPr>
              <a:t>(</a:t>
            </a:r>
            <a:r>
              <a:rPr kumimoji="0" lang="en-US" altLang="zh-CN" b="1" dirty="0">
                <a:sym typeface="Symbol" pitchFamily="18" charset="2"/>
              </a:rPr>
              <a:t></a:t>
            </a:r>
            <a:r>
              <a:rPr kumimoji="0" lang="en-US" altLang="zh-CN" b="1" dirty="0">
                <a:solidFill>
                  <a:schemeClr val="bg2"/>
                </a:solidFill>
              </a:rPr>
              <a:t>x)A(x)</a:t>
            </a:r>
            <a:r>
              <a:rPr kumimoji="0" lang="en-US" altLang="zh-CN" b="1" dirty="0">
                <a:solidFill>
                  <a:schemeClr val="bg2"/>
                </a:solidFill>
                <a:latin typeface="Arial" charset="0"/>
                <a:sym typeface="Symbol" pitchFamily="18" charset="2"/>
              </a:rPr>
              <a:t></a:t>
            </a:r>
            <a:r>
              <a:rPr kumimoji="0" lang="en-US" altLang="zh-CN" b="1" dirty="0">
                <a:solidFill>
                  <a:schemeClr val="bg2"/>
                </a:solidFill>
              </a:rPr>
              <a:t>A(a</a:t>
            </a:r>
            <a:r>
              <a:rPr kumimoji="0" lang="en-US" altLang="zh-CN" b="1" baseline="-25000" dirty="0">
                <a:solidFill>
                  <a:schemeClr val="bg2"/>
                </a:solidFill>
              </a:rPr>
              <a:t>1</a:t>
            </a:r>
            <a:r>
              <a:rPr kumimoji="0" lang="en-US" altLang="zh-CN" b="1" dirty="0">
                <a:solidFill>
                  <a:schemeClr val="bg2"/>
                </a:solidFill>
              </a:rPr>
              <a:t>)∨A(a</a:t>
            </a:r>
            <a:r>
              <a:rPr kumimoji="0" lang="en-US" altLang="zh-CN" b="1" baseline="-25000" dirty="0">
                <a:solidFill>
                  <a:schemeClr val="bg2"/>
                </a:solidFill>
              </a:rPr>
              <a:t>2</a:t>
            </a:r>
            <a:r>
              <a:rPr kumimoji="0" lang="en-US" altLang="zh-CN" b="1" dirty="0">
                <a:solidFill>
                  <a:schemeClr val="bg2"/>
                </a:solidFill>
              </a:rPr>
              <a:t>)∨…∨A(a</a:t>
            </a:r>
            <a:r>
              <a:rPr kumimoji="0" lang="en-US" altLang="zh-CN" b="1" baseline="-25000" dirty="0">
                <a:solidFill>
                  <a:schemeClr val="bg2"/>
                </a:solidFill>
              </a:rPr>
              <a:t>n</a:t>
            </a:r>
            <a:r>
              <a:rPr kumimoji="0" lang="en-US" altLang="zh-CN" b="1" dirty="0" smtClean="0">
                <a:solidFill>
                  <a:schemeClr val="bg2"/>
                </a:solidFill>
              </a:rPr>
              <a:t>)</a:t>
            </a:r>
            <a:endParaRPr kumimoji="0" lang="en-US" altLang="zh-CN" b="1" dirty="0"/>
          </a:p>
        </p:txBody>
      </p:sp>
    </p:spTree>
    <p:extLst>
      <p:ext uri="{BB962C8B-B14F-4D97-AF65-F5344CB8AC3E}">
        <p14:creationId xmlns:p14="http://schemas.microsoft.com/office/powerpoint/2010/main" val="229704636"/>
      </p:ext>
    </p:extLst>
  </p:cSld>
  <p:clrMapOvr>
    <a:masterClrMapping/>
  </p:clrMapOvr>
  <p:transition spd="slow">
    <p:pull dir="ru"/>
  </p:transition>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4"/>
          <p:cNvSpPr>
            <a:spLocks noGrp="1"/>
          </p:cNvSpPr>
          <p:nvPr>
            <p:ph type="sldNum" sz="quarter" idx="11"/>
          </p:nvPr>
        </p:nvSpPr>
        <p:spPr/>
        <p:txBody>
          <a:bodyPr/>
          <a:lstStyle/>
          <a:p>
            <a:fld id="{B32A6D56-7CAE-4CA8-B480-938736EF33EC}" type="slidenum">
              <a:rPr lang="en-US" altLang="zh-CN"/>
              <a:pPr/>
              <a:t>58</a:t>
            </a:fld>
            <a:endParaRPr lang="en-US" altLang="zh-CN"/>
          </a:p>
        </p:txBody>
      </p:sp>
      <p:sp>
        <p:nvSpPr>
          <p:cNvPr id="382978" name="Rectangle 2"/>
          <p:cNvSpPr>
            <a:spLocks noGrp="1" noChangeArrowheads="1"/>
          </p:cNvSpPr>
          <p:nvPr>
            <p:ph type="title"/>
          </p:nvPr>
        </p:nvSpPr>
        <p:spPr>
          <a:xfrm>
            <a:off x="1258888" y="606425"/>
            <a:ext cx="7200900" cy="641350"/>
          </a:xfrm>
          <a:noFill/>
        </p:spPr>
        <p:txBody>
          <a:bodyPr/>
          <a:lstStyle/>
          <a:p>
            <a:r>
              <a:rPr lang="en-US" altLang="zh-CN" sz="3600" b="1" dirty="0">
                <a:solidFill>
                  <a:schemeClr val="tx1"/>
                </a:solidFill>
                <a:latin typeface="华文行楷" pitchFamily="2" charset="-122"/>
                <a:ea typeface="华文行楷" pitchFamily="2" charset="-122"/>
              </a:rPr>
              <a:t>2.5  </a:t>
            </a:r>
            <a:r>
              <a:rPr lang="zh-CN" altLang="en-US" sz="3600" b="1" dirty="0">
                <a:solidFill>
                  <a:schemeClr val="tx1"/>
                </a:solidFill>
                <a:latin typeface="华文行楷" pitchFamily="2" charset="-122"/>
                <a:ea typeface="华文行楷" pitchFamily="2" charset="-122"/>
              </a:rPr>
              <a:t>谓词演算的等价式与蕴含式</a:t>
            </a:r>
          </a:p>
        </p:txBody>
      </p:sp>
      <p:sp>
        <p:nvSpPr>
          <p:cNvPr id="382979" name="Rectangle 3"/>
          <p:cNvSpPr>
            <a:spLocks noChangeArrowheads="1"/>
          </p:cNvSpPr>
          <p:nvPr/>
        </p:nvSpPr>
        <p:spPr bwMode="auto">
          <a:xfrm>
            <a:off x="466725" y="1281113"/>
            <a:ext cx="2952750"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3200" b="1">
                <a:solidFill>
                  <a:schemeClr val="folHlink"/>
                </a:solidFill>
                <a:ea typeface="楷体_GB2312" pitchFamily="49" charset="-122"/>
              </a:rPr>
              <a:t>一、基本概念</a:t>
            </a:r>
          </a:p>
        </p:txBody>
      </p:sp>
      <p:sp>
        <p:nvSpPr>
          <p:cNvPr id="382980" name="Rectangle 4"/>
          <p:cNvSpPr>
            <a:spLocks noChangeArrowheads="1"/>
          </p:cNvSpPr>
          <p:nvPr/>
        </p:nvSpPr>
        <p:spPr bwMode="auto">
          <a:xfrm>
            <a:off x="466725" y="1844675"/>
            <a:ext cx="8066088" cy="17589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lang="en-US" altLang="zh-CN" sz="2800" b="1"/>
              <a:t>        </a:t>
            </a:r>
            <a:r>
              <a:rPr lang="zh-CN" altLang="en-US" sz="2800" b="1">
                <a:solidFill>
                  <a:schemeClr val="hlink"/>
                </a:solidFill>
              </a:rPr>
              <a:t>谓词公式的赋值：</a:t>
            </a:r>
            <a:r>
              <a:rPr lang="zh-CN" altLang="en-US" sz="2800" b="1"/>
              <a:t>在谓词公式中，当客体变元由确定的客体所取代，命题变元用确定的命题所取代时，称之为谓词公式的赋值。 </a:t>
            </a:r>
          </a:p>
        </p:txBody>
      </p:sp>
      <p:sp>
        <p:nvSpPr>
          <p:cNvPr id="382981" name="Rectangle 5"/>
          <p:cNvSpPr>
            <a:spLocks noChangeArrowheads="1"/>
          </p:cNvSpPr>
          <p:nvPr/>
        </p:nvSpPr>
        <p:spPr bwMode="auto">
          <a:xfrm>
            <a:off x="466725" y="3571875"/>
            <a:ext cx="8208963"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a:solidFill>
                  <a:schemeClr val="hlink"/>
                </a:solidFill>
              </a:rPr>
              <a:t>例</a:t>
            </a:r>
            <a:r>
              <a:rPr kumimoji="0" lang="en-US" altLang="zh-CN" sz="2800" b="1">
                <a:solidFill>
                  <a:schemeClr val="hlink"/>
                </a:solidFill>
              </a:rPr>
              <a:t>1</a:t>
            </a:r>
            <a:r>
              <a:rPr kumimoji="0" lang="zh-CN" altLang="en-US" sz="2800" b="1">
                <a:solidFill>
                  <a:schemeClr val="hlink"/>
                </a:solidFill>
              </a:rPr>
              <a:t>：</a:t>
            </a:r>
            <a:r>
              <a:rPr kumimoji="0" lang="zh-CN" altLang="en-US" sz="2800" b="1">
                <a:solidFill>
                  <a:schemeClr val="bg2"/>
                </a:solidFill>
              </a:rPr>
              <a:t> </a:t>
            </a:r>
            <a:r>
              <a:rPr kumimoji="0" lang="en-US" altLang="zh-CN" sz="2800" b="1">
                <a:solidFill>
                  <a:schemeClr val="bg2"/>
                </a:solidFill>
              </a:rPr>
              <a:t>(</a:t>
            </a:r>
            <a:r>
              <a:rPr kumimoji="0" lang="en-US" altLang="zh-CN" sz="2800" b="1">
                <a:sym typeface="Symbol" pitchFamily="18" charset="2"/>
              </a:rPr>
              <a:t></a:t>
            </a:r>
            <a:r>
              <a:rPr kumimoji="0" lang="en-US" altLang="zh-CN" sz="2800" b="1">
                <a:solidFill>
                  <a:schemeClr val="bg2"/>
                </a:solidFill>
              </a:rPr>
              <a:t>x)Q(x)∧R(x)</a:t>
            </a:r>
          </a:p>
          <a:p>
            <a:pPr algn="l">
              <a:lnSpc>
                <a:spcPct val="130000"/>
              </a:lnSpc>
            </a:pPr>
            <a:r>
              <a:rPr kumimoji="0" lang="en-US" altLang="zh-CN" sz="2800" b="1">
                <a:solidFill>
                  <a:schemeClr val="bg2"/>
                </a:solidFill>
              </a:rPr>
              <a:t>E</a:t>
            </a:r>
            <a:r>
              <a:rPr kumimoji="0" lang="zh-CN" altLang="en-US" sz="2800" b="1">
                <a:solidFill>
                  <a:schemeClr val="bg2"/>
                </a:solidFill>
              </a:rPr>
              <a:t>：某大学的学生</a:t>
            </a:r>
          </a:p>
          <a:p>
            <a:pPr algn="l">
              <a:lnSpc>
                <a:spcPct val="130000"/>
              </a:lnSpc>
            </a:pPr>
            <a:r>
              <a:rPr kumimoji="0" lang="en-US" altLang="zh-CN" sz="2800" b="1">
                <a:solidFill>
                  <a:schemeClr val="bg2"/>
                </a:solidFill>
              </a:rPr>
              <a:t>Q(x)</a:t>
            </a:r>
            <a:r>
              <a:rPr kumimoji="0" lang="zh-CN" altLang="en-US" sz="2800" b="1">
                <a:solidFill>
                  <a:schemeClr val="bg2"/>
                </a:solidFill>
              </a:rPr>
              <a:t>：</a:t>
            </a:r>
            <a:r>
              <a:rPr kumimoji="0" lang="en-US" altLang="zh-CN" sz="2800" b="1">
                <a:solidFill>
                  <a:schemeClr val="bg2"/>
                </a:solidFill>
              </a:rPr>
              <a:t>x</a:t>
            </a:r>
            <a:r>
              <a:rPr kumimoji="0" lang="zh-CN" altLang="en-US" sz="2800" b="1">
                <a:solidFill>
                  <a:schemeClr val="bg2"/>
                </a:solidFill>
              </a:rPr>
              <a:t>是大学生；</a:t>
            </a:r>
            <a:r>
              <a:rPr kumimoji="0" lang="en-US" altLang="zh-CN" sz="2800" b="1">
                <a:solidFill>
                  <a:schemeClr val="bg2"/>
                </a:solidFill>
              </a:rPr>
              <a:t>R(x)</a:t>
            </a:r>
            <a:r>
              <a:rPr kumimoji="0" lang="zh-CN" altLang="en-US" sz="2800" b="1">
                <a:solidFill>
                  <a:schemeClr val="bg2"/>
                </a:solidFill>
              </a:rPr>
              <a:t>：</a:t>
            </a:r>
            <a:r>
              <a:rPr kumimoji="0" lang="en-US" altLang="zh-CN" sz="2800" b="1">
                <a:solidFill>
                  <a:schemeClr val="bg2"/>
                </a:solidFill>
              </a:rPr>
              <a:t>x</a:t>
            </a:r>
            <a:r>
              <a:rPr kumimoji="0" lang="zh-CN" altLang="en-US" sz="2800" b="1">
                <a:solidFill>
                  <a:schemeClr val="bg2"/>
                </a:solidFill>
              </a:rPr>
              <a:t>学习好；</a:t>
            </a:r>
          </a:p>
          <a:p>
            <a:pPr algn="l">
              <a:lnSpc>
                <a:spcPct val="130000"/>
              </a:lnSpc>
            </a:pPr>
            <a:r>
              <a:rPr kumimoji="0" lang="en-US" altLang="zh-CN" sz="2800" b="1">
                <a:solidFill>
                  <a:schemeClr val="bg2"/>
                </a:solidFill>
              </a:rPr>
              <a:t>a</a:t>
            </a:r>
            <a:r>
              <a:rPr kumimoji="0" lang="zh-CN" altLang="en-US" sz="2800" b="1">
                <a:solidFill>
                  <a:schemeClr val="bg2"/>
                </a:solidFill>
              </a:rPr>
              <a:t>：张三</a:t>
            </a:r>
          </a:p>
          <a:p>
            <a:pPr algn="l">
              <a:lnSpc>
                <a:spcPct val="130000"/>
              </a:lnSpc>
            </a:pPr>
            <a:r>
              <a:rPr kumimoji="0" lang="en-US" altLang="zh-CN" sz="2800" b="1">
                <a:solidFill>
                  <a:schemeClr val="bg2"/>
                </a:solidFill>
              </a:rPr>
              <a:t>(</a:t>
            </a:r>
            <a:r>
              <a:rPr kumimoji="0" lang="en-US" altLang="zh-CN" sz="2800" b="1">
                <a:sym typeface="Symbol" pitchFamily="18" charset="2"/>
              </a:rPr>
              <a:t></a:t>
            </a:r>
            <a:r>
              <a:rPr kumimoji="0" lang="en-US" altLang="zh-CN" sz="2800" b="1">
                <a:solidFill>
                  <a:schemeClr val="bg2"/>
                </a:solidFill>
              </a:rPr>
              <a:t>x)Q(x)∧R(a)</a:t>
            </a:r>
            <a:r>
              <a:rPr kumimoji="0" lang="zh-CN" altLang="en-US" sz="2800" b="1">
                <a:solidFill>
                  <a:schemeClr val="bg2"/>
                </a:solidFill>
              </a:rPr>
              <a:t>为一命题。</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298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2981">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82981">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82981">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38298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73FD5D80-9369-4B34-9CF7-5230A64AEA2A}" type="slidenum">
              <a:rPr lang="en-US" altLang="zh-CN"/>
              <a:pPr/>
              <a:t>59</a:t>
            </a:fld>
            <a:endParaRPr lang="en-US" altLang="zh-CN"/>
          </a:p>
        </p:txBody>
      </p:sp>
      <p:sp>
        <p:nvSpPr>
          <p:cNvPr id="384002" name="Rectangle 2"/>
          <p:cNvSpPr>
            <a:spLocks noChangeArrowheads="1"/>
          </p:cNvSpPr>
          <p:nvPr/>
        </p:nvSpPr>
        <p:spPr bwMode="auto">
          <a:xfrm>
            <a:off x="466725" y="1209675"/>
            <a:ext cx="8277225" cy="5172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l">
              <a:lnSpc>
                <a:spcPct val="120000"/>
              </a:lnSpc>
            </a:pPr>
            <a:r>
              <a:rPr lang="en-US" altLang="zh-CN" sz="2600" b="1"/>
              <a:t>        </a:t>
            </a:r>
            <a:r>
              <a:rPr lang="zh-CN" altLang="en-US" sz="2600" b="1">
                <a:solidFill>
                  <a:schemeClr val="hlink"/>
                </a:solidFill>
              </a:rPr>
              <a:t>定义</a:t>
            </a:r>
            <a:r>
              <a:rPr lang="en-US" altLang="zh-CN" sz="2600" b="1">
                <a:solidFill>
                  <a:schemeClr val="hlink"/>
                </a:solidFill>
              </a:rPr>
              <a:t>2-5.1</a:t>
            </a:r>
            <a:r>
              <a:rPr lang="zh-CN" altLang="en-US" sz="2600" b="1">
                <a:solidFill>
                  <a:schemeClr val="hlink"/>
                </a:solidFill>
              </a:rPr>
              <a:t>：</a:t>
            </a:r>
            <a:r>
              <a:rPr lang="zh-CN" altLang="en-US" sz="2600" b="1"/>
              <a:t>给定任何两个谓词公式</a:t>
            </a:r>
            <a:r>
              <a:rPr lang="en-US" altLang="zh-CN" sz="2600" b="1"/>
              <a:t>wff A</a:t>
            </a:r>
            <a:r>
              <a:rPr lang="zh-CN" altLang="en-US" sz="2600" b="1"/>
              <a:t>和</a:t>
            </a:r>
            <a:r>
              <a:rPr lang="en-US" altLang="zh-CN" sz="2600" b="1"/>
              <a:t>wff B</a:t>
            </a:r>
            <a:r>
              <a:rPr lang="zh-CN" altLang="en-US" sz="2600" b="1"/>
              <a:t>，设它们有共同的个体域</a:t>
            </a:r>
            <a:r>
              <a:rPr lang="en-US" altLang="zh-CN" sz="2600" b="1"/>
              <a:t>E</a:t>
            </a:r>
            <a:r>
              <a:rPr lang="zh-CN" altLang="en-US" sz="2600" b="1"/>
              <a:t>，若对</a:t>
            </a:r>
            <a:r>
              <a:rPr lang="en-US" altLang="zh-CN" sz="2600" b="1"/>
              <a:t>A</a:t>
            </a:r>
            <a:r>
              <a:rPr lang="zh-CN" altLang="en-US" sz="2600" b="1"/>
              <a:t>和</a:t>
            </a:r>
            <a:r>
              <a:rPr lang="en-US" altLang="zh-CN" sz="2600" b="1"/>
              <a:t>B</a:t>
            </a:r>
            <a:r>
              <a:rPr lang="zh-CN" altLang="en-US" sz="2600" b="1"/>
              <a:t>的任一组变元进行赋值，所得命题的真值相同，则称谓词公式</a:t>
            </a:r>
            <a:r>
              <a:rPr lang="en-US" altLang="zh-CN" sz="2600" b="1"/>
              <a:t>A</a:t>
            </a:r>
            <a:r>
              <a:rPr lang="zh-CN" altLang="en-US" sz="2600" b="1"/>
              <a:t>和</a:t>
            </a:r>
            <a:r>
              <a:rPr lang="en-US" altLang="zh-CN" sz="2600" b="1"/>
              <a:t>B</a:t>
            </a:r>
            <a:r>
              <a:rPr lang="zh-CN" altLang="en-US" sz="2600" b="1"/>
              <a:t>在</a:t>
            </a:r>
            <a:r>
              <a:rPr lang="en-US" altLang="zh-CN" sz="2600" b="1"/>
              <a:t>E</a:t>
            </a:r>
            <a:r>
              <a:rPr lang="zh-CN" altLang="en-US" sz="2600" b="1"/>
              <a:t>上是等价的，并记为</a:t>
            </a:r>
            <a:r>
              <a:rPr lang="en-US" altLang="zh-CN" sz="2600" b="1"/>
              <a:t>A</a:t>
            </a:r>
            <a:r>
              <a:rPr kumimoji="0" lang="en-US" altLang="zh-CN" sz="2600" b="1">
                <a:sym typeface="Symbol" pitchFamily="18" charset="2"/>
              </a:rPr>
              <a:t></a:t>
            </a:r>
            <a:r>
              <a:rPr lang="en-US" altLang="zh-CN" sz="2600" b="1"/>
              <a:t>B</a:t>
            </a:r>
            <a:r>
              <a:rPr lang="zh-CN" altLang="en-US" sz="2600" b="1"/>
              <a:t>。</a:t>
            </a:r>
          </a:p>
          <a:p>
            <a:pPr algn="l"/>
            <a:r>
              <a:rPr lang="zh-CN" altLang="en-US" sz="2600" b="1">
                <a:solidFill>
                  <a:schemeClr val="hlink"/>
                </a:solidFill>
              </a:rPr>
              <a:t>        定义</a:t>
            </a:r>
            <a:r>
              <a:rPr lang="en-US" altLang="zh-CN" sz="2600" b="1">
                <a:solidFill>
                  <a:schemeClr val="hlink"/>
                </a:solidFill>
              </a:rPr>
              <a:t>2-5.2</a:t>
            </a:r>
            <a:r>
              <a:rPr lang="zh-CN" altLang="en-US" sz="2600" b="1">
                <a:solidFill>
                  <a:schemeClr val="hlink"/>
                </a:solidFill>
              </a:rPr>
              <a:t>：</a:t>
            </a:r>
            <a:r>
              <a:rPr lang="zh-CN" altLang="en-US" sz="2600" b="1"/>
              <a:t>一个谓词公式</a:t>
            </a:r>
            <a:r>
              <a:rPr lang="en-US" altLang="zh-CN" sz="2600" b="1"/>
              <a:t>wff A</a:t>
            </a:r>
            <a:r>
              <a:rPr lang="zh-CN" altLang="en-US" sz="2600" b="1"/>
              <a:t>，其个体域为</a:t>
            </a:r>
            <a:r>
              <a:rPr lang="en-US" altLang="zh-CN" sz="2600" b="1"/>
              <a:t>E</a:t>
            </a:r>
            <a:r>
              <a:rPr lang="zh-CN" altLang="en-US" sz="2600" b="1"/>
              <a:t>，对</a:t>
            </a:r>
            <a:r>
              <a:rPr lang="en-US" altLang="zh-CN" sz="2600" b="1"/>
              <a:t>A</a:t>
            </a:r>
            <a:r>
              <a:rPr lang="zh-CN" altLang="en-US" sz="2600" b="1"/>
              <a:t>的所有赋值，</a:t>
            </a:r>
            <a:r>
              <a:rPr lang="en-US" altLang="zh-CN" sz="2600" b="1"/>
              <a:t>wff A </a:t>
            </a:r>
            <a:r>
              <a:rPr lang="zh-CN" altLang="en-US" sz="2600" b="1"/>
              <a:t>都为真，则称该</a:t>
            </a:r>
            <a:r>
              <a:rPr lang="en-US" altLang="zh-CN" sz="2600" b="1"/>
              <a:t>wff A</a:t>
            </a:r>
            <a:r>
              <a:rPr lang="zh-CN" altLang="en-US" sz="2600" b="1"/>
              <a:t>是</a:t>
            </a:r>
            <a:r>
              <a:rPr lang="zh-CN" altLang="en-US" sz="2600" b="1">
                <a:solidFill>
                  <a:schemeClr val="hlink"/>
                </a:solidFill>
              </a:rPr>
              <a:t>有效的（或永真的）</a:t>
            </a:r>
            <a:r>
              <a:rPr lang="zh-CN" altLang="en-US" sz="2600" b="1"/>
              <a:t>。</a:t>
            </a:r>
          </a:p>
          <a:p>
            <a:pPr algn="l"/>
            <a:r>
              <a:rPr kumimoji="0" lang="zh-CN" altLang="en-US" sz="2600" b="1">
                <a:solidFill>
                  <a:srgbClr val="993300"/>
                </a:solidFill>
              </a:rPr>
              <a:t>        </a:t>
            </a:r>
            <a:r>
              <a:rPr kumimoji="0" lang="zh-CN" altLang="en-US" sz="2600" b="1">
                <a:solidFill>
                  <a:schemeClr val="hlink"/>
                </a:solidFill>
              </a:rPr>
              <a:t>定义</a:t>
            </a:r>
            <a:r>
              <a:rPr kumimoji="0" lang="en-US" altLang="zh-CN" sz="2600" b="1">
                <a:solidFill>
                  <a:schemeClr val="hlink"/>
                </a:solidFill>
              </a:rPr>
              <a:t>2-5.3</a:t>
            </a:r>
            <a:r>
              <a:rPr kumimoji="0" lang="zh-CN" altLang="en-US" sz="2600" b="1">
                <a:solidFill>
                  <a:schemeClr val="hlink"/>
                </a:solidFill>
              </a:rPr>
              <a:t>：</a:t>
            </a:r>
            <a:r>
              <a:rPr kumimoji="0" lang="zh-CN" altLang="en-US" sz="2600" b="1">
                <a:solidFill>
                  <a:schemeClr val="bg2"/>
                </a:solidFill>
              </a:rPr>
              <a:t>一个谓词公式</a:t>
            </a:r>
            <a:r>
              <a:rPr kumimoji="0" lang="en-US" altLang="zh-CN" sz="2600" b="1">
                <a:solidFill>
                  <a:schemeClr val="bg2"/>
                </a:solidFill>
              </a:rPr>
              <a:t>wff A</a:t>
            </a:r>
            <a:r>
              <a:rPr kumimoji="0" lang="zh-CN" altLang="en-US" sz="2600" b="1">
                <a:solidFill>
                  <a:schemeClr val="bg2"/>
                </a:solidFill>
              </a:rPr>
              <a:t>，其个体域为</a:t>
            </a:r>
            <a:r>
              <a:rPr kumimoji="0" lang="en-US" altLang="zh-CN" sz="2600" b="1">
                <a:solidFill>
                  <a:schemeClr val="bg2"/>
                </a:solidFill>
              </a:rPr>
              <a:t>E</a:t>
            </a:r>
            <a:r>
              <a:rPr kumimoji="0" lang="zh-CN" altLang="en-US" sz="2600" b="1">
                <a:solidFill>
                  <a:schemeClr val="bg2"/>
                </a:solidFill>
              </a:rPr>
              <a:t>，对</a:t>
            </a:r>
            <a:r>
              <a:rPr kumimoji="0" lang="en-US" altLang="zh-CN" sz="2600" b="1">
                <a:solidFill>
                  <a:schemeClr val="bg2"/>
                </a:solidFill>
              </a:rPr>
              <a:t>A</a:t>
            </a:r>
            <a:r>
              <a:rPr kumimoji="0" lang="zh-CN" altLang="en-US" sz="2600" b="1">
                <a:solidFill>
                  <a:schemeClr val="bg2"/>
                </a:solidFill>
              </a:rPr>
              <a:t>的所有赋值，</a:t>
            </a:r>
            <a:r>
              <a:rPr kumimoji="0" lang="en-US" altLang="zh-CN" sz="2600" b="1">
                <a:solidFill>
                  <a:schemeClr val="bg2"/>
                </a:solidFill>
              </a:rPr>
              <a:t>wff A </a:t>
            </a:r>
            <a:r>
              <a:rPr kumimoji="0" lang="zh-CN" altLang="en-US" sz="2600" b="1">
                <a:solidFill>
                  <a:schemeClr val="bg2"/>
                </a:solidFill>
              </a:rPr>
              <a:t>都为假，则称该</a:t>
            </a:r>
            <a:r>
              <a:rPr kumimoji="0" lang="en-US" altLang="zh-CN" sz="2600" b="1">
                <a:solidFill>
                  <a:schemeClr val="bg2"/>
                </a:solidFill>
              </a:rPr>
              <a:t>wff A</a:t>
            </a:r>
            <a:r>
              <a:rPr kumimoji="0" lang="zh-CN" altLang="en-US" sz="2600" b="1">
                <a:solidFill>
                  <a:schemeClr val="bg2"/>
                </a:solidFill>
              </a:rPr>
              <a:t>为</a:t>
            </a:r>
            <a:r>
              <a:rPr kumimoji="0" lang="zh-CN" altLang="en-US" sz="2600" b="1">
                <a:solidFill>
                  <a:schemeClr val="hlink"/>
                </a:solidFill>
              </a:rPr>
              <a:t>不可满足的</a:t>
            </a:r>
            <a:r>
              <a:rPr kumimoji="0" lang="zh-CN" altLang="en-US" sz="2600" b="1">
                <a:solidFill>
                  <a:schemeClr val="bg2"/>
                </a:solidFill>
              </a:rPr>
              <a:t>。</a:t>
            </a:r>
          </a:p>
          <a:p>
            <a:pPr algn="l"/>
            <a:r>
              <a:rPr kumimoji="0" lang="zh-CN" altLang="en-US" sz="2600" b="1">
                <a:solidFill>
                  <a:schemeClr val="hlink"/>
                </a:solidFill>
              </a:rPr>
              <a:t>        定义</a:t>
            </a:r>
            <a:r>
              <a:rPr kumimoji="0" lang="en-US" altLang="zh-CN" sz="2600" b="1">
                <a:solidFill>
                  <a:schemeClr val="hlink"/>
                </a:solidFill>
              </a:rPr>
              <a:t>2-5.4</a:t>
            </a:r>
            <a:r>
              <a:rPr kumimoji="0" lang="zh-CN" altLang="en-US" sz="2600" b="1">
                <a:solidFill>
                  <a:schemeClr val="hlink"/>
                </a:solidFill>
              </a:rPr>
              <a:t>：</a:t>
            </a:r>
            <a:r>
              <a:rPr kumimoji="0" lang="zh-CN" altLang="en-US" sz="2600" b="1">
                <a:solidFill>
                  <a:schemeClr val="bg2"/>
                </a:solidFill>
              </a:rPr>
              <a:t>一个谓词公式</a:t>
            </a:r>
            <a:r>
              <a:rPr kumimoji="0" lang="en-US" altLang="zh-CN" sz="2600" b="1">
                <a:solidFill>
                  <a:schemeClr val="bg2"/>
                </a:solidFill>
              </a:rPr>
              <a:t>wff A</a:t>
            </a:r>
            <a:r>
              <a:rPr kumimoji="0" lang="zh-CN" altLang="en-US" sz="2600" b="1">
                <a:solidFill>
                  <a:schemeClr val="bg2"/>
                </a:solidFill>
              </a:rPr>
              <a:t>，如果至少在一种赋值下为真，则称该</a:t>
            </a:r>
            <a:r>
              <a:rPr kumimoji="0" lang="en-US" altLang="zh-CN" sz="2600" b="1">
                <a:solidFill>
                  <a:schemeClr val="bg2"/>
                </a:solidFill>
              </a:rPr>
              <a:t>wff A</a:t>
            </a:r>
            <a:r>
              <a:rPr kumimoji="0" lang="zh-CN" altLang="en-US" sz="2600" b="1">
                <a:solidFill>
                  <a:schemeClr val="bg2"/>
                </a:solidFill>
              </a:rPr>
              <a:t>为</a:t>
            </a:r>
            <a:r>
              <a:rPr kumimoji="0" lang="zh-CN" altLang="en-US" sz="2600" b="1">
                <a:solidFill>
                  <a:schemeClr val="hlink"/>
                </a:solidFill>
              </a:rPr>
              <a:t>可满足的</a:t>
            </a:r>
            <a:r>
              <a:rPr kumimoji="0" lang="zh-CN" altLang="en-US" sz="2600" b="1">
                <a:solidFill>
                  <a:schemeClr val="bg2"/>
                </a:solidFill>
              </a:rPr>
              <a:t>。</a:t>
            </a:r>
            <a:endParaRPr lang="zh-CN" altLang="en-US" sz="2600" b="1"/>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400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400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8400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09959640-42C2-4BB3-913C-83E2409F18BF}" type="slidenum">
              <a:rPr lang="en-US" altLang="zh-CN"/>
              <a:pPr/>
              <a:t>60</a:t>
            </a:fld>
            <a:endParaRPr lang="en-US" altLang="zh-CN"/>
          </a:p>
        </p:txBody>
      </p:sp>
      <p:sp>
        <p:nvSpPr>
          <p:cNvPr id="385026" name="Rectangle 2"/>
          <p:cNvSpPr>
            <a:spLocks noChangeArrowheads="1"/>
          </p:cNvSpPr>
          <p:nvPr/>
        </p:nvSpPr>
        <p:spPr bwMode="auto">
          <a:xfrm>
            <a:off x="1258888" y="647700"/>
            <a:ext cx="63373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kumimoji="0" lang="zh-CN" altLang="en-US" sz="3200" b="1" dirty="0">
                <a:solidFill>
                  <a:schemeClr val="folHlink"/>
                </a:solidFill>
                <a:ea typeface="楷体_GB2312" pitchFamily="49" charset="-122"/>
              </a:rPr>
              <a:t>二、谓词演算的等价式和蕴含式</a:t>
            </a:r>
          </a:p>
        </p:txBody>
      </p:sp>
      <p:sp>
        <p:nvSpPr>
          <p:cNvPr id="385027" name="Rectangle 3"/>
          <p:cNvSpPr>
            <a:spLocks noChangeArrowheads="1"/>
          </p:cNvSpPr>
          <p:nvPr/>
        </p:nvSpPr>
        <p:spPr bwMode="auto">
          <a:xfrm>
            <a:off x="827088" y="1484313"/>
            <a:ext cx="7704137" cy="316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a:solidFill>
                  <a:schemeClr val="hlink"/>
                </a:solidFill>
              </a:rPr>
              <a:t>（</a:t>
            </a:r>
            <a:r>
              <a:rPr kumimoji="0" lang="en-US" altLang="zh-CN" sz="2800" b="1">
                <a:solidFill>
                  <a:schemeClr val="hlink"/>
                </a:solidFill>
              </a:rPr>
              <a:t>1</a:t>
            </a:r>
            <a:r>
              <a:rPr kumimoji="0" lang="zh-CN" altLang="en-US" sz="2800" b="1">
                <a:solidFill>
                  <a:schemeClr val="hlink"/>
                </a:solidFill>
              </a:rPr>
              <a:t>）命题公式的推广</a:t>
            </a:r>
          </a:p>
          <a:p>
            <a:pPr algn="l">
              <a:lnSpc>
                <a:spcPct val="120000"/>
              </a:lnSpc>
            </a:pPr>
            <a:r>
              <a:rPr kumimoji="0" lang="zh-CN" altLang="en-US" sz="2800" b="1">
                <a:solidFill>
                  <a:schemeClr val="bg2"/>
                </a:solidFill>
              </a:rPr>
              <a:t>        谓词演算中的公式代替命题演算中的永真公式的变元时，所得的谓词公式即为</a:t>
            </a:r>
            <a:r>
              <a:rPr kumimoji="0" lang="zh-CN" altLang="en-US" sz="2800" b="1" u="sng">
                <a:solidFill>
                  <a:schemeClr val="hlink"/>
                </a:solidFill>
              </a:rPr>
              <a:t>有效公式（等价式）</a:t>
            </a:r>
            <a:r>
              <a:rPr kumimoji="0" lang="zh-CN" altLang="en-US" sz="2800" b="1">
                <a:solidFill>
                  <a:schemeClr val="bg2"/>
                </a:solidFill>
              </a:rPr>
              <a:t>。</a:t>
            </a:r>
          </a:p>
          <a:p>
            <a:pPr algn="l">
              <a:lnSpc>
                <a:spcPct val="120000"/>
              </a:lnSpc>
            </a:pPr>
            <a:r>
              <a:rPr kumimoji="0" lang="zh-CN" altLang="en-US" sz="2800" b="1">
                <a:solidFill>
                  <a:schemeClr val="hlink"/>
                </a:solidFill>
              </a:rPr>
              <a:t>如</a:t>
            </a:r>
            <a:r>
              <a:rPr kumimoji="0" lang="en-US" altLang="zh-CN" sz="2800" b="1">
                <a:solidFill>
                  <a:schemeClr val="hlink"/>
                </a:solidFill>
                <a:sym typeface="Wingdings" pitchFamily="2" charset="2"/>
              </a:rPr>
              <a:t>:</a:t>
            </a:r>
            <a:r>
              <a:rPr kumimoji="0" lang="en-US" altLang="zh-CN" sz="2800" b="1">
                <a:solidFill>
                  <a:schemeClr val="bg2"/>
                </a:solidFill>
                <a:sym typeface="Wingdings" pitchFamily="2" charset="2"/>
              </a:rPr>
              <a:t> (</a:t>
            </a:r>
            <a:r>
              <a:rPr kumimoji="0" lang="en-US" altLang="zh-CN" sz="2800" b="1">
                <a:solidFill>
                  <a:schemeClr val="bg2"/>
                </a:solidFill>
                <a:sym typeface="Symbol" pitchFamily="18" charset="2"/>
              </a:rPr>
              <a:t></a:t>
            </a:r>
            <a:r>
              <a:rPr kumimoji="0" lang="en-US" altLang="zh-CN" sz="2800" b="1">
                <a:solidFill>
                  <a:schemeClr val="bg2"/>
                </a:solidFill>
                <a:sym typeface="Wingdings" pitchFamily="2" charset="2"/>
              </a:rPr>
              <a:t>x)P(x)→</a:t>
            </a:r>
            <a:r>
              <a:rPr kumimoji="0" lang="en-US" altLang="zh-CN" sz="2800" b="1">
                <a:solidFill>
                  <a:schemeClr val="bg2"/>
                </a:solidFill>
              </a:rPr>
              <a:t>(</a:t>
            </a:r>
            <a:r>
              <a:rPr kumimoji="0" lang="en-US" altLang="zh-CN" sz="2800" b="1">
                <a:solidFill>
                  <a:schemeClr val="bg2"/>
                </a:solidFill>
                <a:sym typeface="Symbol" pitchFamily="18" charset="2"/>
              </a:rPr>
              <a:t></a:t>
            </a:r>
            <a:r>
              <a:rPr kumimoji="0" lang="en-US" altLang="zh-CN" sz="2800" b="1">
                <a:solidFill>
                  <a:schemeClr val="bg2"/>
                </a:solidFill>
              </a:rPr>
              <a:t>x)</a:t>
            </a:r>
            <a:r>
              <a:rPr kumimoji="0" lang="en-US" altLang="zh-CN" sz="2800" b="1">
                <a:solidFill>
                  <a:schemeClr val="bg2"/>
                </a:solidFill>
                <a:sym typeface="Wingdings" pitchFamily="2" charset="2"/>
              </a:rPr>
              <a:t>Q(x)</a:t>
            </a:r>
            <a:r>
              <a:rPr kumimoji="0" lang="en-US" altLang="zh-CN" sz="2800" b="1">
                <a:solidFill>
                  <a:schemeClr val="bg2"/>
                </a:solidFill>
                <a:sym typeface="Symbol" pitchFamily="18" charset="2"/>
              </a:rPr>
              <a:t></a:t>
            </a:r>
            <a:r>
              <a:rPr kumimoji="0" lang="en-US" altLang="zh-CN" sz="2800" b="1">
                <a:solidFill>
                  <a:schemeClr val="bg2"/>
                </a:solidFill>
              </a:rPr>
              <a:t>┐</a:t>
            </a:r>
            <a:r>
              <a:rPr kumimoji="0" lang="en-US" altLang="zh-CN" sz="2800" b="1">
                <a:solidFill>
                  <a:schemeClr val="bg2"/>
                </a:solidFill>
                <a:sym typeface="Wingdings" pitchFamily="2" charset="2"/>
              </a:rPr>
              <a:t>(</a:t>
            </a:r>
            <a:r>
              <a:rPr kumimoji="0" lang="en-US" altLang="zh-CN" sz="2800" b="1">
                <a:solidFill>
                  <a:schemeClr val="bg2"/>
                </a:solidFill>
                <a:sym typeface="Symbol" pitchFamily="18" charset="2"/>
              </a:rPr>
              <a:t></a:t>
            </a:r>
            <a:r>
              <a:rPr kumimoji="0" lang="en-US" altLang="zh-CN" sz="2800" b="1">
                <a:solidFill>
                  <a:schemeClr val="bg2"/>
                </a:solidFill>
                <a:sym typeface="Wingdings" pitchFamily="2" charset="2"/>
              </a:rPr>
              <a:t>x)P(x)∨</a:t>
            </a:r>
            <a:r>
              <a:rPr kumimoji="0" lang="en-US" altLang="zh-CN" sz="2800" b="1">
                <a:solidFill>
                  <a:schemeClr val="bg2"/>
                </a:solidFill>
              </a:rPr>
              <a:t>(</a:t>
            </a:r>
            <a:r>
              <a:rPr kumimoji="0" lang="en-US" altLang="zh-CN" sz="2800" b="1">
                <a:solidFill>
                  <a:schemeClr val="bg2"/>
                </a:solidFill>
                <a:sym typeface="Symbol" pitchFamily="18" charset="2"/>
              </a:rPr>
              <a:t></a:t>
            </a:r>
            <a:r>
              <a:rPr kumimoji="0" lang="en-US" altLang="zh-CN" sz="2800" b="1">
                <a:solidFill>
                  <a:schemeClr val="bg2"/>
                </a:solidFill>
              </a:rPr>
              <a:t>x)</a:t>
            </a:r>
            <a:r>
              <a:rPr kumimoji="0" lang="en-US" altLang="zh-CN" sz="2800" b="1">
                <a:solidFill>
                  <a:schemeClr val="bg2"/>
                </a:solidFill>
                <a:sym typeface="Wingdings" pitchFamily="2" charset="2"/>
              </a:rPr>
              <a:t>Q(x)</a:t>
            </a:r>
          </a:p>
          <a:p>
            <a:pPr algn="l">
              <a:lnSpc>
                <a:spcPct val="120000"/>
              </a:lnSpc>
            </a:pPr>
            <a:r>
              <a:rPr kumimoji="0" lang="en-US" altLang="zh-CN" sz="2800" b="1">
                <a:solidFill>
                  <a:schemeClr val="bg2"/>
                </a:solidFill>
                <a:sym typeface="Wingdings" pitchFamily="2" charset="2"/>
              </a:rPr>
              <a:t>        P</a:t>
            </a:r>
            <a:r>
              <a:rPr kumimoji="0" lang="en-US" altLang="zh-CN" sz="2800" b="1">
                <a:solidFill>
                  <a:schemeClr val="bg2"/>
                </a:solidFill>
                <a:cs typeface="Times New Roman" pitchFamily="18" charset="0"/>
                <a:sym typeface="Wingdings" pitchFamily="2" charset="2"/>
              </a:rPr>
              <a:t>→Q</a:t>
            </a:r>
            <a:r>
              <a:rPr kumimoji="0" lang="en-US" altLang="zh-CN" sz="2800" b="1">
                <a:solidFill>
                  <a:schemeClr val="bg2"/>
                </a:solidFill>
                <a:sym typeface="Symbol" pitchFamily="18" charset="2"/>
              </a:rPr>
              <a:t></a:t>
            </a:r>
            <a:r>
              <a:rPr kumimoji="0" lang="en-US" altLang="zh-CN" sz="2800" b="1">
                <a:solidFill>
                  <a:schemeClr val="bg2"/>
                </a:solidFill>
              </a:rPr>
              <a:t>┐P</a:t>
            </a:r>
            <a:r>
              <a:rPr kumimoji="0" lang="en-US" altLang="zh-CN" sz="2800" b="1">
                <a:solidFill>
                  <a:schemeClr val="bg2"/>
                </a:solidFill>
                <a:sym typeface="Wingdings" pitchFamily="2" charset="2"/>
              </a:rPr>
              <a:t>∨Q</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5027">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50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灯片编号占位符 2"/>
          <p:cNvSpPr>
            <a:spLocks noGrp="1"/>
          </p:cNvSpPr>
          <p:nvPr>
            <p:ph type="sldNum" sz="quarter" idx="11"/>
          </p:nvPr>
        </p:nvSpPr>
        <p:spPr/>
        <p:txBody>
          <a:bodyPr/>
          <a:lstStyle/>
          <a:p>
            <a:fld id="{DCDD2DE7-F484-4244-9EFE-7ABF3E015882}" type="slidenum">
              <a:rPr lang="en-US" altLang="zh-CN"/>
              <a:pPr/>
              <a:t>61</a:t>
            </a:fld>
            <a:endParaRPr lang="en-US" altLang="zh-CN"/>
          </a:p>
        </p:txBody>
      </p:sp>
      <p:sp>
        <p:nvSpPr>
          <p:cNvPr id="386050" name="Rectangle 2"/>
          <p:cNvSpPr>
            <a:spLocks noChangeArrowheads="1"/>
          </p:cNvSpPr>
          <p:nvPr/>
        </p:nvSpPr>
        <p:spPr bwMode="auto">
          <a:xfrm>
            <a:off x="898525" y="641350"/>
            <a:ext cx="7705725" cy="3509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sym typeface="Wingdings" pitchFamily="2" charset="2"/>
              </a:rPr>
              <a:t>（</a:t>
            </a:r>
            <a:r>
              <a:rPr kumimoji="0" lang="en-US" altLang="zh-CN" sz="2800" b="1" dirty="0">
                <a:solidFill>
                  <a:schemeClr val="hlink"/>
                </a:solidFill>
                <a:sym typeface="Wingdings" pitchFamily="2" charset="2"/>
              </a:rPr>
              <a:t>2</a:t>
            </a:r>
            <a:r>
              <a:rPr kumimoji="0" lang="zh-CN" altLang="en-US" sz="2800" b="1" dirty="0">
                <a:solidFill>
                  <a:schemeClr val="hlink"/>
                </a:solidFill>
                <a:sym typeface="Wingdings" pitchFamily="2" charset="2"/>
              </a:rPr>
              <a:t>）量词与联结词</a:t>
            </a:r>
            <a:r>
              <a:rPr kumimoji="0" lang="zh-CN" altLang="en-US" sz="2800" b="1" dirty="0">
                <a:solidFill>
                  <a:schemeClr val="hlink"/>
                </a:solidFill>
              </a:rPr>
              <a:t>┐之间的关系</a:t>
            </a:r>
          </a:p>
          <a:p>
            <a:pPr algn="l">
              <a:lnSpc>
                <a:spcPct val="120000"/>
              </a:lnSpc>
            </a:pPr>
            <a:r>
              <a:rPr kumimoji="0" lang="zh-CN" altLang="en-US" sz="2800" b="1" dirty="0">
                <a:solidFill>
                  <a:schemeClr val="bg2"/>
                </a:solidFill>
              </a:rPr>
              <a:t>        </a:t>
            </a:r>
            <a:r>
              <a:rPr kumimoji="0" lang="zh-CN" altLang="en-US" sz="2800" b="1" dirty="0">
                <a:solidFill>
                  <a:srgbClr val="FF0000"/>
                </a:solidFill>
              </a:rPr>
              <a:t>例</a:t>
            </a:r>
            <a:r>
              <a:rPr kumimoji="0" lang="en-US" altLang="zh-CN" sz="2800" b="1" dirty="0">
                <a:solidFill>
                  <a:srgbClr val="FF0000"/>
                </a:solidFill>
              </a:rPr>
              <a:t>1</a:t>
            </a:r>
            <a:r>
              <a:rPr kumimoji="0" lang="zh-CN" altLang="en-US" sz="2800" b="1" dirty="0">
                <a:solidFill>
                  <a:schemeClr val="bg2"/>
                </a:solidFill>
              </a:rPr>
              <a:t>：设</a:t>
            </a:r>
            <a:r>
              <a:rPr kumimoji="0" lang="en-US" altLang="zh-CN" sz="2800" b="1" dirty="0">
                <a:solidFill>
                  <a:schemeClr val="bg2"/>
                </a:solidFill>
              </a:rPr>
              <a:t>P(x)</a:t>
            </a:r>
            <a:r>
              <a:rPr kumimoji="0" lang="zh-CN" altLang="en-US" sz="2800" b="1" dirty="0">
                <a:solidFill>
                  <a:schemeClr val="bg2"/>
                </a:solidFill>
              </a:rPr>
              <a:t>表示</a:t>
            </a:r>
            <a:r>
              <a:rPr kumimoji="0" lang="en-US" altLang="zh-CN" sz="2800" b="1" dirty="0">
                <a:solidFill>
                  <a:schemeClr val="bg2"/>
                </a:solidFill>
              </a:rPr>
              <a:t>x</a:t>
            </a:r>
            <a:r>
              <a:rPr kumimoji="0" lang="zh-CN" altLang="en-US" sz="2800" b="1" dirty="0">
                <a:solidFill>
                  <a:schemeClr val="bg2"/>
                </a:solidFill>
              </a:rPr>
              <a:t>今天来校上课，则┐</a:t>
            </a:r>
            <a:r>
              <a:rPr kumimoji="0" lang="en-US" altLang="zh-CN" sz="2800" b="1" dirty="0">
                <a:solidFill>
                  <a:schemeClr val="bg2"/>
                </a:solidFill>
              </a:rPr>
              <a:t>P(x)</a:t>
            </a:r>
            <a:r>
              <a:rPr kumimoji="0" lang="zh-CN" altLang="en-US" sz="2800" b="1" dirty="0">
                <a:solidFill>
                  <a:schemeClr val="bg2"/>
                </a:solidFill>
              </a:rPr>
              <a:t>表示</a:t>
            </a:r>
            <a:r>
              <a:rPr kumimoji="0" lang="en-US" altLang="zh-CN" sz="2800" b="1" dirty="0">
                <a:solidFill>
                  <a:schemeClr val="bg2"/>
                </a:solidFill>
              </a:rPr>
              <a:t>x</a:t>
            </a:r>
            <a:r>
              <a:rPr kumimoji="0" lang="zh-CN" altLang="en-US" sz="2800" b="1" dirty="0">
                <a:solidFill>
                  <a:schemeClr val="bg2"/>
                </a:solidFill>
              </a:rPr>
              <a:t>今天没有来校上课。</a:t>
            </a:r>
          </a:p>
          <a:p>
            <a:pPr algn="l">
              <a:lnSpc>
                <a:spcPct val="110000"/>
              </a:lnSpc>
            </a:pPr>
            <a:r>
              <a:rPr kumimoji="0" lang="zh-CN" altLang="en-US" sz="2800" b="1" dirty="0">
                <a:solidFill>
                  <a:schemeClr val="bg2"/>
                </a:solidFill>
              </a:rPr>
              <a:t>并不是所有人都来上课了。</a:t>
            </a:r>
            <a:endParaRPr kumimoji="0" lang="zh-CN" altLang="en-US" sz="2800" b="1" dirty="0"/>
          </a:p>
          <a:p>
            <a:pPr>
              <a:lnSpc>
                <a:spcPct val="110000"/>
              </a:lnSpc>
            </a:pPr>
            <a:r>
              <a:rPr kumimoji="0" lang="zh-CN" altLang="en-US" sz="2800" b="1" dirty="0"/>
              <a:t>┐</a:t>
            </a:r>
            <a:r>
              <a:rPr kumimoji="0" lang="en-US" altLang="zh-CN" sz="2800" b="1" dirty="0"/>
              <a:t>(</a:t>
            </a:r>
            <a:r>
              <a:rPr kumimoji="0" lang="en-US" altLang="zh-CN" sz="2800" b="1" dirty="0">
                <a:sym typeface="Symbol" pitchFamily="18" charset="2"/>
              </a:rPr>
              <a:t></a:t>
            </a:r>
            <a:r>
              <a:rPr kumimoji="0" lang="en-US" altLang="zh-CN" sz="2800" b="1" dirty="0"/>
              <a:t>x)P(x)</a:t>
            </a:r>
            <a:r>
              <a:rPr kumimoji="0" lang="en-US" altLang="zh-CN" sz="2800" b="1" dirty="0">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 ┐P(x)</a:t>
            </a:r>
          </a:p>
          <a:p>
            <a:pPr algn="l">
              <a:lnSpc>
                <a:spcPct val="110000"/>
              </a:lnSpc>
            </a:pPr>
            <a:r>
              <a:rPr kumimoji="0" lang="zh-CN" altLang="en-US" sz="2800" b="1" dirty="0">
                <a:solidFill>
                  <a:schemeClr val="bg2"/>
                </a:solidFill>
              </a:rPr>
              <a:t>没有人来上课。</a:t>
            </a:r>
            <a:endParaRPr kumimoji="0" lang="zh-CN" altLang="en-US" sz="2800" b="1" dirty="0"/>
          </a:p>
          <a:p>
            <a:pPr>
              <a:lnSpc>
                <a:spcPct val="110000"/>
              </a:lnSpc>
            </a:pPr>
            <a:r>
              <a:rPr kumimoji="0" lang="zh-CN" altLang="en-US" sz="2800" b="1" dirty="0"/>
              <a:t>┐</a:t>
            </a:r>
            <a:r>
              <a:rPr kumimoji="0" lang="en-US" altLang="zh-CN" sz="2800" b="1" dirty="0"/>
              <a:t>(</a:t>
            </a:r>
            <a:r>
              <a:rPr kumimoji="0" lang="en-US" altLang="zh-CN" sz="2800" b="1" dirty="0">
                <a:sym typeface="Symbol" pitchFamily="18" charset="2"/>
              </a:rPr>
              <a:t></a:t>
            </a:r>
            <a:r>
              <a:rPr kumimoji="0" lang="en-US" altLang="zh-CN" sz="2800" b="1" dirty="0"/>
              <a:t>x)P(x)</a:t>
            </a:r>
            <a:r>
              <a:rPr kumimoji="0" lang="en-US" altLang="zh-CN" sz="2800" b="1" dirty="0">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x)┐P(x)</a:t>
            </a:r>
          </a:p>
        </p:txBody>
      </p:sp>
      <p:sp>
        <p:nvSpPr>
          <p:cNvPr id="386051" name="Rectangle 3"/>
          <p:cNvSpPr>
            <a:spLocks noChangeArrowheads="1"/>
          </p:cNvSpPr>
          <p:nvPr/>
        </p:nvSpPr>
        <p:spPr bwMode="auto">
          <a:xfrm>
            <a:off x="898525" y="4149725"/>
            <a:ext cx="7561263"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a:solidFill>
                  <a:schemeClr val="bg2"/>
                </a:solidFill>
              </a:rPr>
              <a:t>证明：设在有限个体域上</a:t>
            </a:r>
            <a:r>
              <a:rPr kumimoji="0" lang="en-US" altLang="zh-CN" sz="2800" b="1">
                <a:solidFill>
                  <a:schemeClr val="bg2"/>
                </a:solidFill>
              </a:rPr>
              <a:t>a</a:t>
            </a:r>
            <a:r>
              <a:rPr kumimoji="0" lang="en-US" altLang="zh-CN" sz="2800" b="1" baseline="-25000">
                <a:solidFill>
                  <a:schemeClr val="bg2"/>
                </a:solidFill>
              </a:rPr>
              <a:t>1</a:t>
            </a:r>
            <a:r>
              <a:rPr kumimoji="0" lang="zh-CN" altLang="en-US" sz="2800" b="1">
                <a:solidFill>
                  <a:schemeClr val="bg2"/>
                </a:solidFill>
              </a:rPr>
              <a:t>，</a:t>
            </a:r>
            <a:r>
              <a:rPr kumimoji="0" lang="en-US" altLang="zh-CN" sz="2800" b="1">
                <a:solidFill>
                  <a:schemeClr val="bg2"/>
                </a:solidFill>
              </a:rPr>
              <a:t>a</a:t>
            </a:r>
            <a:r>
              <a:rPr kumimoji="0" lang="en-US" altLang="zh-CN" sz="2800" b="1" baseline="-25000">
                <a:solidFill>
                  <a:schemeClr val="bg2"/>
                </a:solidFill>
              </a:rPr>
              <a:t>2</a:t>
            </a:r>
            <a:r>
              <a:rPr kumimoji="0" lang="zh-CN" altLang="en-US" sz="2800" b="1">
                <a:solidFill>
                  <a:schemeClr val="bg2"/>
                </a:solidFill>
              </a:rPr>
              <a:t>，</a:t>
            </a:r>
            <a:r>
              <a:rPr kumimoji="0" lang="en-US" altLang="zh-CN" sz="2800" b="1">
                <a:solidFill>
                  <a:schemeClr val="bg2"/>
                </a:solidFill>
              </a:rPr>
              <a:t>…</a:t>
            </a:r>
            <a:r>
              <a:rPr kumimoji="0" lang="zh-CN" altLang="en-US" sz="2800" b="1">
                <a:solidFill>
                  <a:schemeClr val="bg2"/>
                </a:solidFill>
              </a:rPr>
              <a:t>，</a:t>
            </a:r>
            <a:r>
              <a:rPr kumimoji="0" lang="en-US" altLang="zh-CN" sz="2800" b="1">
                <a:solidFill>
                  <a:schemeClr val="bg2"/>
                </a:solidFill>
              </a:rPr>
              <a:t>a</a:t>
            </a:r>
            <a:r>
              <a:rPr kumimoji="0" lang="en-US" altLang="zh-CN" sz="2800" b="1" baseline="-25000">
                <a:solidFill>
                  <a:schemeClr val="bg2"/>
                </a:solidFill>
              </a:rPr>
              <a:t>n</a:t>
            </a:r>
            <a:r>
              <a:rPr kumimoji="0" lang="zh-CN" altLang="en-US" sz="2800" b="1">
                <a:solidFill>
                  <a:schemeClr val="bg2"/>
                </a:solidFill>
              </a:rPr>
              <a:t>，则</a:t>
            </a:r>
          </a:p>
          <a:p>
            <a:pPr algn="l">
              <a:lnSpc>
                <a:spcPct val="120000"/>
              </a:lnSpc>
            </a:pPr>
            <a:r>
              <a:rPr kumimoji="0" lang="zh-CN" altLang="en-US" sz="2800" b="1">
                <a:solidFill>
                  <a:schemeClr val="bg2"/>
                </a:solidFill>
              </a:rPr>
              <a:t>┐</a:t>
            </a:r>
            <a:r>
              <a:rPr kumimoji="0" lang="en-US" altLang="zh-CN" sz="2800" b="1">
                <a:solidFill>
                  <a:schemeClr val="bg2"/>
                </a:solidFill>
              </a:rPr>
              <a:t>(</a:t>
            </a:r>
            <a:r>
              <a:rPr kumimoji="0" lang="en-US" altLang="zh-CN" sz="2800" b="1">
                <a:solidFill>
                  <a:schemeClr val="bg2"/>
                </a:solidFill>
                <a:sym typeface="Symbol" pitchFamily="18" charset="2"/>
              </a:rPr>
              <a:t></a:t>
            </a:r>
            <a:r>
              <a:rPr kumimoji="0" lang="en-US" altLang="zh-CN" sz="2800" b="1">
                <a:solidFill>
                  <a:schemeClr val="bg2"/>
                </a:solidFill>
              </a:rPr>
              <a:t>x)P(x)</a:t>
            </a:r>
            <a:r>
              <a:rPr kumimoji="0" lang="en-US" altLang="zh-CN" sz="2800" b="1">
                <a:solidFill>
                  <a:schemeClr val="bg2"/>
                </a:solidFill>
                <a:sym typeface="Symbol" pitchFamily="18" charset="2"/>
              </a:rPr>
              <a:t></a:t>
            </a:r>
            <a:r>
              <a:rPr kumimoji="0" lang="en-US" altLang="zh-CN" sz="2800" b="1">
                <a:solidFill>
                  <a:schemeClr val="bg2"/>
                </a:solidFill>
              </a:rPr>
              <a:t>┐(P(a</a:t>
            </a:r>
            <a:r>
              <a:rPr kumimoji="0" lang="en-US" altLang="zh-CN" sz="2800" b="1" baseline="-25000">
                <a:solidFill>
                  <a:schemeClr val="bg2"/>
                </a:solidFill>
              </a:rPr>
              <a:t>1</a:t>
            </a:r>
            <a:r>
              <a:rPr kumimoji="0" lang="en-US" altLang="zh-CN" sz="2800" b="1">
                <a:solidFill>
                  <a:schemeClr val="bg2"/>
                </a:solidFill>
              </a:rPr>
              <a:t>)∧P(a</a:t>
            </a:r>
            <a:r>
              <a:rPr kumimoji="0" lang="en-US" altLang="zh-CN" sz="2800" b="1" baseline="-25000">
                <a:solidFill>
                  <a:schemeClr val="bg2"/>
                </a:solidFill>
              </a:rPr>
              <a:t>2</a:t>
            </a:r>
            <a:r>
              <a:rPr kumimoji="0" lang="en-US" altLang="zh-CN" sz="2800" b="1">
                <a:solidFill>
                  <a:schemeClr val="bg2"/>
                </a:solidFill>
              </a:rPr>
              <a:t>)∧…∧P(a</a:t>
            </a:r>
            <a:r>
              <a:rPr kumimoji="0" lang="en-US" altLang="zh-CN" sz="2800" b="1" baseline="-25000">
                <a:solidFill>
                  <a:schemeClr val="bg2"/>
                </a:solidFill>
              </a:rPr>
              <a:t>n</a:t>
            </a:r>
            <a:r>
              <a:rPr kumimoji="0" lang="en-US" altLang="zh-CN" sz="2800" b="1">
                <a:solidFill>
                  <a:schemeClr val="bg2"/>
                </a:solidFill>
              </a:rPr>
              <a:t>))</a:t>
            </a:r>
          </a:p>
          <a:p>
            <a:pPr algn="l">
              <a:lnSpc>
                <a:spcPct val="120000"/>
              </a:lnSpc>
            </a:pPr>
            <a:r>
              <a:rPr kumimoji="0" lang="en-US" altLang="zh-CN" sz="2800" b="1">
                <a:solidFill>
                  <a:schemeClr val="bg2"/>
                </a:solidFill>
                <a:sym typeface="Symbol" pitchFamily="18" charset="2"/>
              </a:rPr>
              <a:t></a:t>
            </a:r>
            <a:r>
              <a:rPr kumimoji="0" lang="en-US" altLang="zh-CN" sz="2800" b="1">
                <a:solidFill>
                  <a:schemeClr val="bg2"/>
                </a:solidFill>
              </a:rPr>
              <a:t>┐P(a</a:t>
            </a:r>
            <a:r>
              <a:rPr kumimoji="0" lang="en-US" altLang="zh-CN" sz="2800" b="1" baseline="-25000">
                <a:solidFill>
                  <a:schemeClr val="bg2"/>
                </a:solidFill>
              </a:rPr>
              <a:t>1</a:t>
            </a:r>
            <a:r>
              <a:rPr kumimoji="0" lang="en-US" altLang="zh-CN" sz="2800" b="1">
                <a:solidFill>
                  <a:schemeClr val="bg2"/>
                </a:solidFill>
              </a:rPr>
              <a:t>)∨┐P(a</a:t>
            </a:r>
            <a:r>
              <a:rPr kumimoji="0" lang="en-US" altLang="zh-CN" sz="2800" b="1" baseline="-25000">
                <a:solidFill>
                  <a:schemeClr val="bg2"/>
                </a:solidFill>
              </a:rPr>
              <a:t>2</a:t>
            </a:r>
            <a:r>
              <a:rPr kumimoji="0" lang="en-US" altLang="zh-CN" sz="2800" b="1">
                <a:solidFill>
                  <a:schemeClr val="bg2"/>
                </a:solidFill>
              </a:rPr>
              <a:t>)∨…∨┐P(a</a:t>
            </a:r>
            <a:r>
              <a:rPr kumimoji="0" lang="en-US" altLang="zh-CN" sz="2800" b="1" baseline="-25000">
                <a:solidFill>
                  <a:schemeClr val="bg2"/>
                </a:solidFill>
              </a:rPr>
              <a:t>n</a:t>
            </a:r>
            <a:r>
              <a:rPr kumimoji="0" lang="en-US" altLang="zh-CN" sz="2800" b="1">
                <a:solidFill>
                  <a:schemeClr val="bg2"/>
                </a:solidFill>
              </a:rPr>
              <a:t>)</a:t>
            </a:r>
          </a:p>
          <a:p>
            <a:pPr algn="l">
              <a:lnSpc>
                <a:spcPct val="120000"/>
              </a:lnSpc>
            </a:pPr>
            <a:r>
              <a:rPr kumimoji="0" lang="en-US" altLang="zh-CN" sz="2800" b="1">
                <a:solidFill>
                  <a:schemeClr val="bg2"/>
                </a:solidFill>
                <a:sym typeface="Symbol" pitchFamily="18" charset="2"/>
              </a:rPr>
              <a:t></a:t>
            </a:r>
            <a:r>
              <a:rPr kumimoji="0" lang="en-US" altLang="zh-CN" sz="2800" b="1">
                <a:solidFill>
                  <a:schemeClr val="bg2"/>
                </a:solidFill>
              </a:rPr>
              <a:t>(</a:t>
            </a:r>
            <a:r>
              <a:rPr kumimoji="0" lang="en-US" altLang="zh-CN" sz="2800" b="1">
                <a:solidFill>
                  <a:schemeClr val="bg2"/>
                </a:solidFill>
                <a:sym typeface="Symbol" pitchFamily="18" charset="2"/>
              </a:rPr>
              <a:t></a:t>
            </a:r>
            <a:r>
              <a:rPr kumimoji="0" lang="en-US" altLang="zh-CN" sz="2800" b="1">
                <a:solidFill>
                  <a:schemeClr val="bg2"/>
                </a:solidFill>
              </a:rPr>
              <a:t>x)┐P(x)</a:t>
            </a:r>
            <a:r>
              <a:rPr kumimoji="0" lang="en-US" altLang="zh-CN" sz="2800"/>
              <a:t> </a:t>
            </a:r>
          </a:p>
        </p:txBody>
      </p:sp>
      <p:sp>
        <p:nvSpPr>
          <p:cNvPr id="386052" name="Line 4"/>
          <p:cNvSpPr>
            <a:spLocks noChangeShapeType="1"/>
          </p:cNvSpPr>
          <p:nvPr/>
        </p:nvSpPr>
        <p:spPr bwMode="auto">
          <a:xfrm>
            <a:off x="2843213" y="3213100"/>
            <a:ext cx="3778250" cy="0"/>
          </a:xfrm>
          <a:prstGeom prst="line">
            <a:avLst/>
          </a:prstGeom>
          <a:noFill/>
          <a:ln w="34925" cap="rnd">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386053" name="Line 5"/>
          <p:cNvSpPr>
            <a:spLocks noChangeShapeType="1"/>
          </p:cNvSpPr>
          <p:nvPr/>
        </p:nvSpPr>
        <p:spPr bwMode="auto">
          <a:xfrm>
            <a:off x="2873375" y="4149725"/>
            <a:ext cx="3778250" cy="0"/>
          </a:xfrm>
          <a:prstGeom prst="line">
            <a:avLst/>
          </a:prstGeom>
          <a:noFill/>
          <a:ln w="34925" cap="rnd">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6050">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6050">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6050">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6050">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86051">
                                            <p:txEl>
                                              <p:pRg st="0" end="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86051">
                                            <p:txEl>
                                              <p:pRg st="1" end="1"/>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86051">
                                            <p:txEl>
                                              <p:pRg st="2" end="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386051">
                                            <p:txEl>
                                              <p:pRg st="3" end="3"/>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86052"/>
                                        </p:tgtEl>
                                        <p:attrNameLst>
                                          <p:attrName>style.visibility</p:attrName>
                                        </p:attrNameLst>
                                      </p:cBhvr>
                                      <p:to>
                                        <p:strVal val="visible"/>
                                      </p:to>
                                    </p:set>
                                    <p:anim calcmode="lin" valueType="num">
                                      <p:cBhvr additive="base">
                                        <p:cTn id="39" dur="500" fill="hold"/>
                                        <p:tgtEl>
                                          <p:spTgt spid="386052"/>
                                        </p:tgtEl>
                                        <p:attrNameLst>
                                          <p:attrName>ppt_x</p:attrName>
                                        </p:attrNameLst>
                                      </p:cBhvr>
                                      <p:tavLst>
                                        <p:tav tm="0">
                                          <p:val>
                                            <p:strVal val="#ppt_x"/>
                                          </p:val>
                                        </p:tav>
                                        <p:tav tm="100000">
                                          <p:val>
                                            <p:strVal val="#ppt_x"/>
                                          </p:val>
                                        </p:tav>
                                      </p:tavLst>
                                    </p:anim>
                                    <p:anim calcmode="lin" valueType="num">
                                      <p:cBhvr additive="base">
                                        <p:cTn id="40" dur="500" fill="hold"/>
                                        <p:tgtEl>
                                          <p:spTgt spid="38605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86053"/>
                                        </p:tgtEl>
                                        <p:attrNameLst>
                                          <p:attrName>style.visibility</p:attrName>
                                        </p:attrNameLst>
                                      </p:cBhvr>
                                      <p:to>
                                        <p:strVal val="visible"/>
                                      </p:to>
                                    </p:set>
                                    <p:anim calcmode="lin" valueType="num">
                                      <p:cBhvr additive="base">
                                        <p:cTn id="43" dur="500" fill="hold"/>
                                        <p:tgtEl>
                                          <p:spTgt spid="386053"/>
                                        </p:tgtEl>
                                        <p:attrNameLst>
                                          <p:attrName>ppt_x</p:attrName>
                                        </p:attrNameLst>
                                      </p:cBhvr>
                                      <p:tavLst>
                                        <p:tav tm="0">
                                          <p:val>
                                            <p:strVal val="#ppt_x"/>
                                          </p:val>
                                        </p:tav>
                                        <p:tav tm="100000">
                                          <p:val>
                                            <p:strVal val="#ppt_x"/>
                                          </p:val>
                                        </p:tav>
                                      </p:tavLst>
                                    </p:anim>
                                    <p:anim calcmode="lin" valueType="num">
                                      <p:cBhvr additive="base">
                                        <p:cTn id="44" dur="500" fill="hold"/>
                                        <p:tgtEl>
                                          <p:spTgt spid="38605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6052" grpId="0" animBg="1"/>
      <p:bldP spid="38605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07175773-AA78-449E-B833-6287867062DE}" type="slidenum">
              <a:rPr lang="en-US" altLang="zh-CN"/>
              <a:pPr/>
              <a:t>62</a:t>
            </a:fld>
            <a:endParaRPr lang="en-US" altLang="zh-CN"/>
          </a:p>
        </p:txBody>
      </p:sp>
      <p:sp>
        <p:nvSpPr>
          <p:cNvPr id="428034" name="Rectangle 2"/>
          <p:cNvSpPr>
            <a:spLocks noChangeArrowheads="1"/>
          </p:cNvSpPr>
          <p:nvPr/>
        </p:nvSpPr>
        <p:spPr bwMode="auto">
          <a:xfrm>
            <a:off x="539750" y="1196975"/>
            <a:ext cx="806450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en-US" altLang="zh-CN" sz="2800" b="1"/>
              <a:t>        </a:t>
            </a:r>
            <a:r>
              <a:rPr kumimoji="0" lang="zh-CN" altLang="en-US" sz="2800" b="1"/>
              <a:t>两个等价式说明 “并非对一切</a:t>
            </a:r>
            <a:r>
              <a:rPr kumimoji="0" lang="en-US" altLang="zh-CN" sz="2800" b="1" i="1"/>
              <a:t>x</a:t>
            </a:r>
            <a:r>
              <a:rPr kumimoji="0" lang="zh-CN" altLang="en-US" sz="2800" b="1"/>
              <a:t>，</a:t>
            </a:r>
            <a:r>
              <a:rPr kumimoji="0" lang="en-US" altLang="zh-CN" sz="2800" b="1" i="1"/>
              <a:t>A</a:t>
            </a:r>
            <a:r>
              <a:rPr kumimoji="0" lang="zh-CN" altLang="en-US" sz="2800" b="1"/>
              <a:t>为真”</a:t>
            </a:r>
            <a:r>
              <a:rPr kumimoji="0" lang="zh-CN" altLang="en-US" sz="2800" b="1" u="sng">
                <a:solidFill>
                  <a:schemeClr val="hlink"/>
                </a:solidFill>
              </a:rPr>
              <a:t>等价于</a:t>
            </a:r>
            <a:r>
              <a:rPr kumimoji="0" lang="zh-CN" altLang="en-US" sz="2800" b="1"/>
              <a:t>“存在一些</a:t>
            </a:r>
            <a:r>
              <a:rPr kumimoji="0" lang="en-US" altLang="zh-CN" sz="2800" b="1" i="1"/>
              <a:t>x</a:t>
            </a:r>
            <a:r>
              <a:rPr kumimoji="0" lang="zh-CN" altLang="en-US" sz="2800" b="1"/>
              <a:t>，</a:t>
            </a:r>
            <a:r>
              <a:rPr kumimoji="0" lang="zh-CN" altLang="en-US" sz="2800" b="1">
                <a:latin typeface="宋体" charset="-122"/>
              </a:rPr>
              <a:t>┐</a:t>
            </a:r>
            <a:r>
              <a:rPr kumimoji="0" lang="en-US" altLang="zh-CN" sz="2800" b="1" i="1"/>
              <a:t>A</a:t>
            </a:r>
            <a:r>
              <a:rPr kumimoji="0" lang="zh-CN" altLang="en-US" sz="2800" b="1"/>
              <a:t>为真”；“不存在一些</a:t>
            </a:r>
            <a:r>
              <a:rPr kumimoji="0" lang="en-US" altLang="zh-CN" sz="2800" b="1" i="1"/>
              <a:t>x</a:t>
            </a:r>
            <a:r>
              <a:rPr kumimoji="0" lang="zh-CN" altLang="en-US" sz="2800" b="1"/>
              <a:t>，</a:t>
            </a:r>
            <a:r>
              <a:rPr kumimoji="0" lang="en-US" altLang="zh-CN" sz="2800" b="1" i="1"/>
              <a:t>A</a:t>
            </a:r>
            <a:r>
              <a:rPr kumimoji="0" lang="zh-CN" altLang="en-US" sz="2800" b="1"/>
              <a:t>为真”</a:t>
            </a:r>
            <a:r>
              <a:rPr kumimoji="0" lang="zh-CN" altLang="en-US" sz="2800" b="1" u="sng">
                <a:solidFill>
                  <a:schemeClr val="hlink"/>
                </a:solidFill>
              </a:rPr>
              <a:t>等价于</a:t>
            </a:r>
            <a:r>
              <a:rPr kumimoji="0" lang="zh-CN" altLang="en-US" sz="2800" b="1"/>
              <a:t>“对一切</a:t>
            </a:r>
            <a:r>
              <a:rPr kumimoji="0" lang="en-US" altLang="zh-CN" sz="2800" b="1" i="1"/>
              <a:t>x</a:t>
            </a:r>
            <a:r>
              <a:rPr kumimoji="0" lang="zh-CN" altLang="en-US" sz="2800" b="1"/>
              <a:t>，</a:t>
            </a:r>
            <a:r>
              <a:rPr kumimoji="0" lang="zh-CN" altLang="en-US" sz="2800" b="1">
                <a:latin typeface="宋体" charset="-122"/>
              </a:rPr>
              <a:t>┐</a:t>
            </a:r>
            <a:r>
              <a:rPr kumimoji="0" lang="en-US" altLang="zh-CN" sz="2800" b="1" i="1"/>
              <a:t>A</a:t>
            </a:r>
            <a:r>
              <a:rPr kumimoji="0" lang="zh-CN" altLang="en-US" sz="2800" b="1"/>
              <a:t>为真” 。</a:t>
            </a:r>
          </a:p>
          <a:p>
            <a:pPr algn="l">
              <a:lnSpc>
                <a:spcPct val="120000"/>
              </a:lnSpc>
            </a:pPr>
            <a:r>
              <a:rPr kumimoji="0" lang="zh-CN" altLang="en-US" sz="2800" b="1"/>
              <a:t>        否定联结词可</a:t>
            </a:r>
            <a:r>
              <a:rPr kumimoji="0" lang="zh-CN" altLang="en-US" sz="2800" b="1" u="sng"/>
              <a:t>通过量词</a:t>
            </a:r>
            <a:r>
              <a:rPr kumimoji="0" lang="zh-CN" altLang="en-US" sz="2800" b="1"/>
              <a:t>深入到辖域。</a:t>
            </a:r>
          </a:p>
          <a:p>
            <a:pPr algn="l">
              <a:lnSpc>
                <a:spcPct val="120000"/>
              </a:lnSpc>
            </a:pPr>
            <a:r>
              <a:rPr kumimoji="0" lang="zh-CN" altLang="en-US" sz="2800" b="1"/>
              <a:t>        将</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zh-CN" altLang="en-US" sz="2800" b="1"/>
              <a:t>与</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zh-CN" altLang="en-US" sz="2800" b="1"/>
              <a:t>两者互换，可从一个式子得到另一个式子，表明</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zh-CN" altLang="en-US" sz="2800" b="1"/>
              <a:t>与</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zh-CN" altLang="en-US" sz="2800" b="1" u="sng"/>
              <a:t>具有对偶性</a:t>
            </a:r>
            <a:r>
              <a:rPr kumimoji="0" lang="zh-CN" altLang="en-US" sz="2800" b="1"/>
              <a:t>。</a:t>
            </a:r>
          </a:p>
          <a:p>
            <a:pPr algn="l">
              <a:lnSpc>
                <a:spcPct val="120000"/>
              </a:lnSpc>
            </a:pPr>
            <a:r>
              <a:rPr kumimoji="0" lang="zh-CN" altLang="en-US" sz="2800" b="1"/>
              <a:t>         这两个公式成立表明两个量词</a:t>
            </a:r>
            <a:r>
              <a:rPr kumimoji="0" lang="zh-CN" altLang="en-US" sz="2800" b="1" u="sng"/>
              <a:t>是不独立的</a:t>
            </a:r>
            <a:r>
              <a:rPr kumimoji="0" lang="zh-CN" altLang="en-US" sz="2800" b="1"/>
              <a:t>，可以互相表示，所以只有一个量词就够了。</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28034">
                                            <p:txEl>
                                              <p:pRg st="1" end="1"/>
                                            </p:txEl>
                                          </p:spTgt>
                                        </p:tgtEl>
                                        <p:attrNameLst>
                                          <p:attrName>style.visibility</p:attrName>
                                        </p:attrNameLst>
                                      </p:cBhvr>
                                      <p:to>
                                        <p:strVal val="visible"/>
                                      </p:to>
                                    </p:set>
                                    <p:anim calcmode="lin" valueType="num">
                                      <p:cBhvr additive="base">
                                        <p:cTn id="7" dur="500" fill="hold"/>
                                        <p:tgtEl>
                                          <p:spTgt spid="428034">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2803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28034">
                                            <p:txEl>
                                              <p:pRg st="2" end="2"/>
                                            </p:txEl>
                                          </p:spTgt>
                                        </p:tgtEl>
                                        <p:attrNameLst>
                                          <p:attrName>style.visibility</p:attrName>
                                        </p:attrNameLst>
                                      </p:cBhvr>
                                      <p:to>
                                        <p:strVal val="visible"/>
                                      </p:to>
                                    </p:set>
                                    <p:anim calcmode="lin" valueType="num">
                                      <p:cBhvr additive="base">
                                        <p:cTn id="13" dur="500" fill="hold"/>
                                        <p:tgtEl>
                                          <p:spTgt spid="42803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2803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28034">
                                            <p:txEl>
                                              <p:pRg st="3" end="3"/>
                                            </p:txEl>
                                          </p:spTgt>
                                        </p:tgtEl>
                                        <p:attrNameLst>
                                          <p:attrName>style.visibility</p:attrName>
                                        </p:attrNameLst>
                                      </p:cBhvr>
                                      <p:to>
                                        <p:strVal val="visible"/>
                                      </p:to>
                                    </p:set>
                                    <p:anim calcmode="lin" valueType="num">
                                      <p:cBhvr additive="base">
                                        <p:cTn id="19" dur="500" fill="hold"/>
                                        <p:tgtEl>
                                          <p:spTgt spid="428034">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2803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4" grpId="0" build="allAtOnce"/>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DF080B1B-7291-4FF3-8E7D-103119BEE789}" type="slidenum">
              <a:rPr lang="en-US" altLang="zh-CN"/>
              <a:pPr/>
              <a:t>63</a:t>
            </a:fld>
            <a:endParaRPr lang="en-US" altLang="zh-CN"/>
          </a:p>
        </p:txBody>
      </p:sp>
      <p:sp>
        <p:nvSpPr>
          <p:cNvPr id="387074" name="Rectangle 2"/>
          <p:cNvSpPr>
            <a:spLocks noChangeArrowheads="1"/>
          </p:cNvSpPr>
          <p:nvPr/>
        </p:nvSpPr>
        <p:spPr bwMode="auto">
          <a:xfrm>
            <a:off x="1187450" y="1341438"/>
            <a:ext cx="6264275"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en-US" altLang="zh-CN" sz="2800" b="1"/>
              <a:t>(</a:t>
            </a:r>
            <a:r>
              <a:rPr kumimoji="0" lang="en-US" altLang="zh-CN" sz="2800" b="1" i="1"/>
              <a:t>a</a:t>
            </a:r>
            <a:r>
              <a:rPr kumimoji="0" lang="en-US" altLang="zh-CN" sz="2800" b="1"/>
              <a:t>)  (</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r>
              <a:rPr kumimoji="0" lang="en-US" altLang="zh-CN" sz="2800" b="1"/>
              <a:t>)</a:t>
            </a:r>
            <a:r>
              <a:rPr kumimoji="0" lang="en-US" altLang="zh-CN" sz="2800" b="1">
                <a:sym typeface="Symbol" pitchFamily="18" charset="2"/>
              </a:rPr>
              <a:t></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r>
              <a:rPr kumimoji="0" lang="en-US" altLang="zh-CN" sz="2800" b="1"/>
              <a:t> </a:t>
            </a:r>
          </a:p>
          <a:p>
            <a:pPr algn="l">
              <a:lnSpc>
                <a:spcPct val="120000"/>
              </a:lnSpc>
            </a:pPr>
            <a:r>
              <a:rPr kumimoji="0" lang="en-US" altLang="zh-CN" sz="2800" b="1"/>
              <a:t>(</a:t>
            </a:r>
            <a:r>
              <a:rPr kumimoji="0" lang="en-US" altLang="zh-CN" sz="2800" b="1" i="1"/>
              <a:t>b</a:t>
            </a:r>
            <a:r>
              <a:rPr kumimoji="0" lang="en-US" altLang="zh-CN" sz="2800" b="1"/>
              <a:t>)  (</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r>
              <a:rPr kumimoji="0" lang="en-US" altLang="zh-CN" sz="2800" b="1"/>
              <a:t>)</a:t>
            </a:r>
            <a:r>
              <a:rPr kumimoji="0" lang="en-US" altLang="zh-CN" sz="2800" b="1">
                <a:sym typeface="Symbol" pitchFamily="18" charset="2"/>
              </a:rPr>
              <a:t></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endParaRPr kumimoji="0" lang="en-US" altLang="zh-CN" sz="2800" b="1"/>
          </a:p>
          <a:p>
            <a:pPr algn="l">
              <a:lnSpc>
                <a:spcPct val="120000"/>
              </a:lnSpc>
            </a:pPr>
            <a:r>
              <a:rPr kumimoji="0" lang="en-US" altLang="zh-CN" sz="2800" b="1"/>
              <a:t>(</a:t>
            </a:r>
            <a:r>
              <a:rPr kumimoji="0" lang="en-US" altLang="zh-CN" sz="2800" b="1" i="1"/>
              <a:t>c</a:t>
            </a:r>
            <a:r>
              <a:rPr kumimoji="0" lang="en-US" altLang="zh-CN" sz="2800" b="1"/>
              <a:t>)  (</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r>
              <a:rPr kumimoji="0" lang="en-US" altLang="zh-CN" sz="2800" b="1"/>
              <a:t>)</a:t>
            </a:r>
            <a:r>
              <a:rPr kumimoji="0" lang="en-US" altLang="zh-CN" sz="2800" b="1">
                <a:sym typeface="Symbol" pitchFamily="18" charset="2"/>
              </a:rPr>
              <a:t></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endParaRPr kumimoji="0" lang="en-US" altLang="zh-CN" sz="2800" b="1"/>
          </a:p>
          <a:p>
            <a:pPr algn="l">
              <a:lnSpc>
                <a:spcPct val="120000"/>
              </a:lnSpc>
            </a:pPr>
            <a:r>
              <a:rPr kumimoji="0" lang="en-US" altLang="zh-CN" sz="2800" b="1"/>
              <a:t>(</a:t>
            </a:r>
            <a:r>
              <a:rPr kumimoji="0" lang="en-US" altLang="zh-CN" sz="2800" b="1" i="1"/>
              <a:t>d</a:t>
            </a:r>
            <a:r>
              <a:rPr kumimoji="0" lang="en-US" altLang="zh-CN" sz="2800" b="1"/>
              <a:t>)  (</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B</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a:sym typeface="Symbol" pitchFamily="18" charset="2"/>
              </a:rPr>
              <a:t></a:t>
            </a:r>
            <a:r>
              <a:rPr kumimoji="0" lang="en-US" altLang="zh-CN" sz="2800" b="1" i="1"/>
              <a:t>B</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p>
          <a:p>
            <a:pPr algn="l">
              <a:lnSpc>
                <a:spcPct val="120000"/>
              </a:lnSpc>
            </a:pPr>
            <a:r>
              <a:rPr kumimoji="0" lang="en-US" altLang="zh-CN" sz="2800" b="1"/>
              <a:t>(</a:t>
            </a:r>
            <a:r>
              <a:rPr kumimoji="0" lang="en-US" altLang="zh-CN" sz="2800" b="1" i="1"/>
              <a:t>e</a:t>
            </a:r>
            <a:r>
              <a:rPr kumimoji="0" lang="en-US" altLang="zh-CN" sz="2800" b="1"/>
              <a:t>)  (</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r>
              <a:rPr kumimoji="0" lang="en-US" altLang="zh-CN" sz="2800" b="1"/>
              <a:t>)</a:t>
            </a:r>
            <a:r>
              <a:rPr kumimoji="0" lang="en-US" altLang="zh-CN" sz="2800" b="1">
                <a:sym typeface="Symbol" pitchFamily="18" charset="2"/>
              </a:rPr>
              <a:t></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endParaRPr kumimoji="0" lang="en-US" altLang="zh-CN" sz="2800" b="1"/>
          </a:p>
          <a:p>
            <a:pPr algn="l">
              <a:lnSpc>
                <a:spcPct val="120000"/>
              </a:lnSpc>
            </a:pPr>
            <a:r>
              <a:rPr kumimoji="0" lang="en-US" altLang="zh-CN" sz="2800" b="1"/>
              <a:t>(</a:t>
            </a:r>
            <a:r>
              <a:rPr kumimoji="0" lang="en-US" altLang="zh-CN" sz="2800" b="1" i="1"/>
              <a:t>f</a:t>
            </a:r>
            <a:r>
              <a:rPr kumimoji="0" lang="en-US" altLang="zh-CN" sz="2800" b="1"/>
              <a:t>)  (</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r>
              <a:rPr kumimoji="0" lang="en-US" altLang="zh-CN" sz="2800" b="1"/>
              <a:t>)</a:t>
            </a:r>
            <a:r>
              <a:rPr kumimoji="0" lang="en-US" altLang="zh-CN" sz="2800" b="1">
                <a:sym typeface="Symbol" pitchFamily="18" charset="2"/>
              </a:rPr>
              <a:t></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r>
              <a:rPr kumimoji="0" lang="en-US" altLang="zh-CN" sz="2800" b="1"/>
              <a:t> </a:t>
            </a:r>
          </a:p>
          <a:p>
            <a:pPr algn="l">
              <a:lnSpc>
                <a:spcPct val="120000"/>
              </a:lnSpc>
            </a:pPr>
            <a:r>
              <a:rPr kumimoji="0" lang="en-US" altLang="zh-CN" sz="2800" b="1"/>
              <a:t>(</a:t>
            </a:r>
            <a:r>
              <a:rPr kumimoji="0" lang="en-US" altLang="zh-CN" sz="2800" b="1" i="1"/>
              <a:t>g</a:t>
            </a:r>
            <a:r>
              <a:rPr kumimoji="0" lang="en-US" altLang="zh-CN" sz="2800" b="1"/>
              <a:t>)  (</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r>
              <a:rPr kumimoji="0" lang="en-US" altLang="zh-CN" sz="2800" b="1"/>
              <a:t>)</a:t>
            </a:r>
            <a:r>
              <a:rPr kumimoji="0" lang="en-US" altLang="zh-CN" sz="2800" b="1">
                <a:sym typeface="Symbol" pitchFamily="18" charset="2"/>
              </a:rPr>
              <a:t></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i="1"/>
              <a:t>B</a:t>
            </a:r>
            <a:endParaRPr kumimoji="0" lang="en-US" altLang="zh-CN" sz="2800" b="1"/>
          </a:p>
          <a:p>
            <a:pPr algn="l">
              <a:lnSpc>
                <a:spcPct val="120000"/>
              </a:lnSpc>
            </a:pPr>
            <a:r>
              <a:rPr kumimoji="0" lang="en-US" altLang="zh-CN" sz="2800" b="1"/>
              <a:t>(</a:t>
            </a:r>
            <a:r>
              <a:rPr kumimoji="0" lang="en-US" altLang="zh-CN" sz="2800" b="1" i="1"/>
              <a:t>h</a:t>
            </a:r>
            <a:r>
              <a:rPr kumimoji="0" lang="en-US" altLang="zh-CN" sz="2800" b="1"/>
              <a:t>)  (</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B</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r>
              <a:rPr kumimoji="0" lang="en-US" altLang="zh-CN" sz="2800" b="1">
                <a:sym typeface="Symbol" pitchFamily="18" charset="2"/>
              </a:rPr>
              <a:t></a:t>
            </a:r>
            <a:r>
              <a:rPr kumimoji="0" lang="en-US" altLang="zh-CN" sz="2800" b="1" i="1"/>
              <a:t>B</a:t>
            </a:r>
            <a:r>
              <a:rPr kumimoji="0" lang="en-US" altLang="zh-CN" sz="2800" b="1"/>
              <a:t>→(</a:t>
            </a:r>
            <a:r>
              <a:rPr kumimoji="0" lang="en-US" altLang="zh-CN" sz="2800" b="1">
                <a:sym typeface="Symbol" pitchFamily="18" charset="2"/>
              </a:rPr>
              <a:t></a:t>
            </a:r>
            <a:r>
              <a:rPr kumimoji="0" lang="en-US" altLang="zh-CN" sz="2800" b="1" i="1"/>
              <a:t>x</a:t>
            </a:r>
            <a:r>
              <a:rPr kumimoji="0" lang="en-US" altLang="zh-CN" sz="2800" b="1"/>
              <a:t>)</a:t>
            </a:r>
            <a:r>
              <a:rPr kumimoji="0" lang="en-US" altLang="zh-CN" sz="2800" b="1" i="1"/>
              <a:t>A</a:t>
            </a:r>
            <a:r>
              <a:rPr kumimoji="0" lang="en-US" altLang="zh-CN" sz="2800" b="1"/>
              <a:t>(</a:t>
            </a:r>
            <a:r>
              <a:rPr kumimoji="0" lang="en-US" altLang="zh-CN" sz="2800" b="1" i="1"/>
              <a:t>x</a:t>
            </a:r>
            <a:r>
              <a:rPr kumimoji="0" lang="en-US" altLang="zh-CN" sz="2800" b="1"/>
              <a:t>)</a:t>
            </a:r>
          </a:p>
        </p:txBody>
      </p:sp>
      <p:sp>
        <p:nvSpPr>
          <p:cNvPr id="387075" name="Rectangle 3"/>
          <p:cNvSpPr>
            <a:spLocks noChangeArrowheads="1"/>
          </p:cNvSpPr>
          <p:nvPr/>
        </p:nvSpPr>
        <p:spPr bwMode="auto">
          <a:xfrm>
            <a:off x="1331913" y="592138"/>
            <a:ext cx="6553200" cy="60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en-US" altLang="zh-CN" sz="2800" b="1">
                <a:solidFill>
                  <a:schemeClr val="hlink"/>
                </a:solidFill>
              </a:rPr>
              <a:t>(3) </a:t>
            </a:r>
            <a:r>
              <a:rPr kumimoji="0" lang="zh-CN" altLang="en-US" sz="2800" b="1">
                <a:solidFill>
                  <a:schemeClr val="hlink"/>
                </a:solidFill>
              </a:rPr>
              <a:t>量词作用域的扩张与收缩（等价式）</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707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707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707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7074">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87074">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87074">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8707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2D4335E7-B04A-4EDB-8E20-C6208D42289E}" type="slidenum">
              <a:rPr lang="en-US" altLang="zh-CN"/>
              <a:pPr/>
              <a:t>64</a:t>
            </a:fld>
            <a:endParaRPr lang="en-US" altLang="zh-CN"/>
          </a:p>
        </p:txBody>
      </p:sp>
      <p:sp>
        <p:nvSpPr>
          <p:cNvPr id="388098" name="Text Box 2"/>
          <p:cNvSpPr txBox="1">
            <a:spLocks noChangeArrowheads="1"/>
          </p:cNvSpPr>
          <p:nvPr/>
        </p:nvSpPr>
        <p:spPr bwMode="auto">
          <a:xfrm>
            <a:off x="323850" y="1377950"/>
            <a:ext cx="8497888" cy="4194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l">
              <a:defRPr kumimoji="1" sz="2400">
                <a:solidFill>
                  <a:schemeClr val="tx1"/>
                </a:solidFill>
                <a:latin typeface="Times New Roman" pitchFamily="18" charset="0"/>
                <a:ea typeface="宋体" charset="-122"/>
              </a:defRPr>
            </a:lvl1pPr>
            <a:lvl2pPr marL="1085850" indent="-457200" algn="l">
              <a:defRPr kumimoji="1" sz="2400">
                <a:solidFill>
                  <a:schemeClr val="tx1"/>
                </a:solidFill>
                <a:latin typeface="Times New Roman" pitchFamily="18" charset="0"/>
                <a:ea typeface="宋体" charset="-122"/>
              </a:defRPr>
            </a:lvl2pPr>
            <a:lvl3pPr marL="1722438" indent="-457200" algn="l">
              <a:defRPr kumimoji="1" sz="2400">
                <a:solidFill>
                  <a:schemeClr val="tx1"/>
                </a:solidFill>
                <a:latin typeface="Times New Roman" pitchFamily="18" charset="0"/>
                <a:ea typeface="宋体" charset="-122"/>
              </a:defRPr>
            </a:lvl3pPr>
            <a:lvl4pPr marL="2359025" indent="-457200" algn="l">
              <a:defRPr kumimoji="1" sz="2400">
                <a:solidFill>
                  <a:schemeClr val="tx1"/>
                </a:solidFill>
                <a:latin typeface="Times New Roman" pitchFamily="18" charset="0"/>
                <a:ea typeface="宋体" charset="-122"/>
              </a:defRPr>
            </a:lvl4pPr>
            <a:lvl5pPr marL="2995613" indent="-457200" algn="l">
              <a:defRPr kumimoji="1" sz="2400">
                <a:solidFill>
                  <a:schemeClr val="tx1"/>
                </a:solidFill>
                <a:latin typeface="Times New Roman" pitchFamily="18" charset="0"/>
                <a:ea typeface="宋体" charset="-122"/>
              </a:defRPr>
            </a:lvl5pPr>
            <a:lvl6pPr marL="3452813" indent="-457200" fontAlgn="base">
              <a:spcBef>
                <a:spcPct val="0"/>
              </a:spcBef>
              <a:spcAft>
                <a:spcPct val="0"/>
              </a:spcAft>
              <a:defRPr kumimoji="1" sz="2400">
                <a:solidFill>
                  <a:schemeClr val="tx1"/>
                </a:solidFill>
                <a:latin typeface="Times New Roman" pitchFamily="18" charset="0"/>
                <a:ea typeface="宋体" charset="-122"/>
              </a:defRPr>
            </a:lvl6pPr>
            <a:lvl7pPr marL="3910013" indent="-457200" fontAlgn="base">
              <a:spcBef>
                <a:spcPct val="0"/>
              </a:spcBef>
              <a:spcAft>
                <a:spcPct val="0"/>
              </a:spcAft>
              <a:defRPr kumimoji="1" sz="2400">
                <a:solidFill>
                  <a:schemeClr val="tx1"/>
                </a:solidFill>
                <a:latin typeface="Times New Roman" pitchFamily="18" charset="0"/>
                <a:ea typeface="宋体" charset="-122"/>
              </a:defRPr>
            </a:lvl7pPr>
            <a:lvl8pPr marL="4367213" indent="-457200" fontAlgn="base">
              <a:spcBef>
                <a:spcPct val="0"/>
              </a:spcBef>
              <a:spcAft>
                <a:spcPct val="0"/>
              </a:spcAft>
              <a:defRPr kumimoji="1" sz="2400">
                <a:solidFill>
                  <a:schemeClr val="tx1"/>
                </a:solidFill>
                <a:latin typeface="Times New Roman" pitchFamily="18" charset="0"/>
                <a:ea typeface="宋体" charset="-122"/>
              </a:defRPr>
            </a:lvl8pPr>
            <a:lvl9pPr marL="4824413" indent="-457200" fontAlgn="base">
              <a:spcBef>
                <a:spcPct val="0"/>
              </a:spcBef>
              <a:spcAft>
                <a:spcPct val="0"/>
              </a:spcAft>
              <a:defRPr kumimoji="1" sz="2400">
                <a:solidFill>
                  <a:schemeClr val="tx1"/>
                </a:solidFill>
                <a:latin typeface="Times New Roman" pitchFamily="18" charset="0"/>
                <a:ea typeface="宋体" charset="-122"/>
              </a:defRPr>
            </a:lvl9pPr>
          </a:lstStyle>
          <a:p>
            <a:pPr>
              <a:lnSpc>
                <a:spcPct val="120000"/>
              </a:lnSpc>
            </a:pPr>
            <a:r>
              <a:rPr kumimoji="0" lang="zh-CN" altLang="en-US" sz="2800" b="1" dirty="0">
                <a:solidFill>
                  <a:schemeClr val="hlink"/>
                </a:solidFill>
              </a:rPr>
              <a:t>（</a:t>
            </a:r>
            <a:r>
              <a:rPr kumimoji="0" lang="en-US" altLang="zh-CN" sz="2800" b="1" dirty="0">
                <a:solidFill>
                  <a:schemeClr val="hlink"/>
                </a:solidFill>
              </a:rPr>
              <a:t>4</a:t>
            </a:r>
            <a:r>
              <a:rPr kumimoji="0" lang="zh-CN" altLang="en-US" sz="2800" b="1" dirty="0">
                <a:solidFill>
                  <a:schemeClr val="hlink"/>
                </a:solidFill>
              </a:rPr>
              <a:t>）量词与命题联结词之间的一些等价式</a:t>
            </a:r>
            <a:r>
              <a:rPr kumimoji="0" lang="en-US" altLang="zh-CN" sz="2800" b="1" dirty="0">
                <a:solidFill>
                  <a:schemeClr val="hlink"/>
                </a:solidFill>
              </a:rPr>
              <a:t>(</a:t>
            </a:r>
            <a:r>
              <a:rPr kumimoji="0" lang="zh-CN" altLang="en-US" sz="2800" b="1" dirty="0">
                <a:solidFill>
                  <a:schemeClr val="hlink"/>
                </a:solidFill>
              </a:rPr>
              <a:t>分配律</a:t>
            </a:r>
            <a:r>
              <a:rPr kumimoji="0" lang="en-US" altLang="zh-CN" sz="2800" b="1" dirty="0">
                <a:solidFill>
                  <a:schemeClr val="hlink"/>
                </a:solidFill>
              </a:rPr>
              <a:t>)</a:t>
            </a:r>
          </a:p>
          <a:p>
            <a:pPr>
              <a:lnSpc>
                <a:spcPct val="120000"/>
              </a:lnSpc>
            </a:pPr>
            <a:r>
              <a:rPr kumimoji="0" lang="en-US" altLang="zh-CN" sz="2800" b="1" dirty="0">
                <a:solidFill>
                  <a:schemeClr val="bg2"/>
                </a:solidFill>
              </a:rPr>
              <a:t>        </a:t>
            </a:r>
            <a:r>
              <a:rPr kumimoji="0" lang="zh-CN" altLang="en-US" sz="2800" b="1" dirty="0">
                <a:solidFill>
                  <a:schemeClr val="hlink"/>
                </a:solidFill>
              </a:rPr>
              <a:t>如：</a:t>
            </a:r>
            <a:r>
              <a:rPr kumimoji="0" lang="zh-CN" altLang="en-US" sz="2800" b="1" dirty="0"/>
              <a:t>联欢会上所有人既唱歌又跳舞和联欢会上所有人唱歌且所有人跳舞。</a:t>
            </a:r>
          </a:p>
          <a:p>
            <a:pPr algn="ctr">
              <a:lnSpc>
                <a:spcPct val="120000"/>
              </a:lnSpc>
            </a:pPr>
            <a:r>
              <a:rPr kumimoji="0" lang="en-US" altLang="zh-CN" sz="2800" b="1" dirty="0"/>
              <a:t>(</a:t>
            </a:r>
            <a:r>
              <a:rPr kumimoji="0" lang="en-US" altLang="zh-CN" sz="2800" b="1" dirty="0">
                <a:sym typeface="Symbol" pitchFamily="18" charset="2"/>
              </a:rPr>
              <a:t></a:t>
            </a:r>
            <a:r>
              <a:rPr kumimoji="0" lang="en-US" altLang="zh-CN" sz="2800" b="1" dirty="0"/>
              <a:t>x)(A(x)∧B(x))</a:t>
            </a:r>
            <a:r>
              <a:rPr kumimoji="0" lang="en-US" altLang="zh-CN" sz="2800" b="1" dirty="0">
                <a:latin typeface="Arial" charset="0"/>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x)A(x)∧(</a:t>
            </a:r>
            <a:r>
              <a:rPr kumimoji="0" lang="en-US" altLang="zh-CN" sz="2800" b="1" dirty="0">
                <a:sym typeface="Symbol" pitchFamily="18" charset="2"/>
              </a:rPr>
              <a:t></a:t>
            </a:r>
            <a:r>
              <a:rPr kumimoji="0" lang="en-US" altLang="zh-CN" sz="2800" b="1" dirty="0"/>
              <a:t>x)B(x)</a:t>
            </a:r>
          </a:p>
          <a:p>
            <a:pPr algn="ctr">
              <a:lnSpc>
                <a:spcPct val="120000"/>
              </a:lnSpc>
            </a:pPr>
            <a:r>
              <a:rPr kumimoji="0" lang="en-US" altLang="zh-CN" sz="2800" b="1" dirty="0">
                <a:latin typeface="宋体" charset="-122"/>
              </a:rPr>
              <a:t>┐</a:t>
            </a:r>
            <a:r>
              <a:rPr kumimoji="0" lang="en-US" altLang="zh-CN" sz="2800" b="1" dirty="0"/>
              <a:t>(</a:t>
            </a:r>
            <a:r>
              <a:rPr kumimoji="0" lang="en-US" altLang="zh-CN" sz="2800" b="1" dirty="0">
                <a:sym typeface="Symbol" pitchFamily="18" charset="2"/>
              </a:rPr>
              <a:t></a:t>
            </a:r>
            <a:r>
              <a:rPr kumimoji="0" lang="en-US" altLang="zh-CN" sz="2800" b="1" dirty="0"/>
              <a:t>x)(A(x) ∧ B(x)) </a:t>
            </a:r>
            <a:r>
              <a:rPr kumimoji="0" lang="en-US" altLang="zh-CN" sz="2800" b="1" dirty="0">
                <a:latin typeface="Arial" charset="0"/>
                <a:sym typeface="Symbol" pitchFamily="18" charset="2"/>
              </a:rPr>
              <a:t></a:t>
            </a:r>
            <a:r>
              <a:rPr kumimoji="0" lang="en-US" altLang="zh-CN" sz="2800" b="1" dirty="0">
                <a:latin typeface="宋体" charset="-122"/>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x)A(x)∧(</a:t>
            </a:r>
            <a:r>
              <a:rPr kumimoji="0" lang="en-US" altLang="zh-CN" sz="2800" b="1" dirty="0">
                <a:sym typeface="Symbol" pitchFamily="18" charset="2"/>
              </a:rPr>
              <a:t></a:t>
            </a:r>
            <a:r>
              <a:rPr kumimoji="0" lang="en-US" altLang="zh-CN" sz="2800" b="1" dirty="0"/>
              <a:t>x)B(x))</a:t>
            </a:r>
          </a:p>
          <a:p>
            <a:pPr algn="ctr">
              <a:lnSpc>
                <a:spcPct val="120000"/>
              </a:lnSpc>
            </a:pPr>
            <a:r>
              <a:rPr kumimoji="0" lang="en-US" altLang="zh-CN" sz="2800" b="1" dirty="0"/>
              <a:t>(</a:t>
            </a:r>
            <a:r>
              <a:rPr kumimoji="0" lang="en-US" altLang="zh-CN" sz="2800" b="1" dirty="0">
                <a:sym typeface="Symbol" pitchFamily="18" charset="2"/>
              </a:rPr>
              <a:t>x</a:t>
            </a:r>
            <a:r>
              <a:rPr kumimoji="0" lang="en-US" altLang="zh-CN" sz="2800" b="1" dirty="0"/>
              <a:t>) </a:t>
            </a:r>
            <a:r>
              <a:rPr kumimoji="0" lang="en-US" altLang="zh-CN" sz="2800" b="1" dirty="0">
                <a:latin typeface="宋体" charset="-122"/>
              </a:rPr>
              <a:t>┐</a:t>
            </a:r>
            <a:r>
              <a:rPr kumimoji="0" lang="en-US" altLang="zh-CN" sz="2800" b="1" dirty="0"/>
              <a:t>(A(x) ∧ B(x)) </a:t>
            </a:r>
            <a:r>
              <a:rPr kumimoji="0" lang="en-US" altLang="zh-CN" sz="2800" b="1" dirty="0">
                <a:latin typeface="Arial" charset="0"/>
                <a:sym typeface="Symbol" pitchFamily="18" charset="2"/>
              </a:rPr>
              <a:t></a:t>
            </a:r>
            <a:r>
              <a:rPr kumimoji="0" lang="en-US" altLang="zh-CN" sz="2800" b="1" dirty="0">
                <a:latin typeface="宋体" charset="-122"/>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x)A(x)</a:t>
            </a:r>
            <a:r>
              <a:rPr kumimoji="0" lang="en-US" altLang="zh-CN" sz="2800" b="1" dirty="0">
                <a:latin typeface="宋体" charset="-122"/>
              </a:rPr>
              <a:t>∨┐</a:t>
            </a:r>
            <a:r>
              <a:rPr kumimoji="0" lang="en-US" altLang="zh-CN" sz="2800" b="1" dirty="0"/>
              <a:t>(</a:t>
            </a:r>
            <a:r>
              <a:rPr kumimoji="0" lang="en-US" altLang="zh-CN" sz="2800" b="1" dirty="0">
                <a:sym typeface="Symbol" pitchFamily="18" charset="2"/>
              </a:rPr>
              <a:t></a:t>
            </a:r>
            <a:r>
              <a:rPr kumimoji="0" lang="en-US" altLang="zh-CN" sz="2800" b="1" dirty="0"/>
              <a:t>x)B(x)</a:t>
            </a:r>
          </a:p>
          <a:p>
            <a:pPr algn="ctr">
              <a:lnSpc>
                <a:spcPct val="120000"/>
              </a:lnSpc>
            </a:pPr>
            <a:r>
              <a:rPr kumimoji="0" lang="en-US" altLang="zh-CN" sz="2800" b="1" dirty="0"/>
              <a:t>(</a:t>
            </a:r>
            <a:r>
              <a:rPr kumimoji="0" lang="en-US" altLang="zh-CN" sz="2800" b="1" dirty="0">
                <a:sym typeface="Symbol" pitchFamily="18" charset="2"/>
              </a:rPr>
              <a:t>x</a:t>
            </a:r>
            <a:r>
              <a:rPr kumimoji="0" lang="en-US" altLang="zh-CN" sz="2800" b="1" dirty="0"/>
              <a:t>)(</a:t>
            </a:r>
            <a:r>
              <a:rPr kumimoji="0" lang="en-US" altLang="zh-CN" sz="2800" b="1" dirty="0">
                <a:latin typeface="宋体" charset="-122"/>
              </a:rPr>
              <a:t>┐</a:t>
            </a:r>
            <a:r>
              <a:rPr kumimoji="0" lang="en-US" altLang="zh-CN" sz="2800" b="1" dirty="0"/>
              <a:t>A(x)</a:t>
            </a:r>
            <a:r>
              <a:rPr kumimoji="0" lang="en-US" altLang="zh-CN" sz="2800" b="1" dirty="0">
                <a:latin typeface="宋体" charset="-122"/>
              </a:rPr>
              <a:t>∨┐</a:t>
            </a:r>
            <a:r>
              <a:rPr kumimoji="0" lang="en-US" altLang="zh-CN" sz="2800" b="1" dirty="0"/>
              <a:t>B(x))</a:t>
            </a:r>
            <a:r>
              <a:rPr kumimoji="0" lang="en-US" altLang="zh-CN" sz="2800" b="1" dirty="0">
                <a:latin typeface="Arial" charset="0"/>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a:t>
            </a:r>
            <a:r>
              <a:rPr kumimoji="0" lang="en-US" altLang="zh-CN" sz="2800" b="1" dirty="0">
                <a:latin typeface="宋体" charset="-122"/>
                <a:sym typeface="Symbol" pitchFamily="18" charset="2"/>
              </a:rPr>
              <a:t>┐</a:t>
            </a:r>
            <a:r>
              <a:rPr kumimoji="0" lang="en-US" altLang="zh-CN" sz="2800" b="1" dirty="0"/>
              <a:t>A(x)</a:t>
            </a:r>
            <a:r>
              <a:rPr kumimoji="0" lang="en-US" altLang="zh-CN" sz="2800" b="1" dirty="0">
                <a:latin typeface="宋体" charset="-122"/>
              </a:rPr>
              <a:t>∨</a:t>
            </a:r>
            <a:r>
              <a:rPr kumimoji="0" lang="en-US" altLang="zh-CN" sz="2800" b="1" dirty="0"/>
              <a:t>(</a:t>
            </a:r>
            <a:r>
              <a:rPr kumimoji="0" lang="en-US" altLang="zh-CN" sz="2800" b="1" dirty="0">
                <a:sym typeface="Symbol" pitchFamily="18" charset="2"/>
              </a:rPr>
              <a:t></a:t>
            </a:r>
            <a:r>
              <a:rPr kumimoji="0" lang="en-US" altLang="zh-CN" sz="2800" b="1" dirty="0"/>
              <a:t>x)</a:t>
            </a:r>
            <a:r>
              <a:rPr kumimoji="0" lang="en-US" altLang="zh-CN" sz="2800" b="1" dirty="0">
                <a:latin typeface="宋体" charset="-122"/>
              </a:rPr>
              <a:t>┐</a:t>
            </a:r>
            <a:r>
              <a:rPr kumimoji="0" lang="en-US" altLang="zh-CN" sz="2800" b="1" dirty="0"/>
              <a:t>B(x)</a:t>
            </a:r>
          </a:p>
          <a:p>
            <a:pPr algn="ctr">
              <a:lnSpc>
                <a:spcPct val="120000"/>
              </a:lnSpc>
            </a:pPr>
            <a:r>
              <a:rPr kumimoji="0" lang="en-US" altLang="zh-CN" sz="2800" b="1" dirty="0"/>
              <a:t>(</a:t>
            </a:r>
            <a:r>
              <a:rPr kumimoji="0" lang="en-US" altLang="zh-CN" sz="2800" b="1" dirty="0">
                <a:sym typeface="Symbol" pitchFamily="18" charset="2"/>
              </a:rPr>
              <a:t></a:t>
            </a:r>
            <a:r>
              <a:rPr kumimoji="0" lang="en-US" altLang="zh-CN" sz="2800" b="1" dirty="0"/>
              <a:t>x)(A(x)∨B(x))</a:t>
            </a:r>
            <a:r>
              <a:rPr kumimoji="0" lang="en-US" altLang="zh-CN" sz="2800" b="1" dirty="0">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x)A(x)∨(</a:t>
            </a:r>
            <a:r>
              <a:rPr kumimoji="0" lang="en-US" altLang="zh-CN" sz="2800" b="1" dirty="0">
                <a:sym typeface="Symbol" pitchFamily="18" charset="2"/>
              </a:rPr>
              <a:t></a:t>
            </a:r>
            <a:r>
              <a:rPr kumimoji="0" lang="en-US" altLang="zh-CN" sz="2800" b="1" dirty="0"/>
              <a:t>x)B(x)</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809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809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809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8098">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8809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243D513C-5C78-4E0F-B1C3-AE31B78408DA}" type="slidenum">
              <a:rPr lang="en-US" altLang="zh-CN"/>
              <a:pPr/>
              <a:t>65</a:t>
            </a:fld>
            <a:endParaRPr lang="en-US" altLang="zh-CN"/>
          </a:p>
        </p:txBody>
      </p:sp>
      <p:sp>
        <p:nvSpPr>
          <p:cNvPr id="389122" name="Rectangle 2"/>
          <p:cNvSpPr>
            <a:spLocks noChangeArrowheads="1"/>
          </p:cNvSpPr>
          <p:nvPr/>
        </p:nvSpPr>
        <p:spPr bwMode="auto">
          <a:xfrm>
            <a:off x="971550" y="1268413"/>
            <a:ext cx="6985000"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dirty="0">
                <a:solidFill>
                  <a:schemeClr val="hlink"/>
                </a:solidFill>
              </a:rPr>
              <a:t>（</a:t>
            </a:r>
            <a:r>
              <a:rPr kumimoji="0" lang="en-US" altLang="zh-CN" sz="2800" b="1" dirty="0">
                <a:solidFill>
                  <a:schemeClr val="hlink"/>
                </a:solidFill>
              </a:rPr>
              <a:t>5</a:t>
            </a:r>
            <a:r>
              <a:rPr kumimoji="0" lang="zh-CN" altLang="en-US" sz="2800" b="1" dirty="0">
                <a:solidFill>
                  <a:schemeClr val="hlink"/>
                </a:solidFill>
              </a:rPr>
              <a:t>）量词与命题联结词之间的一些蕴含式</a:t>
            </a:r>
          </a:p>
          <a:p>
            <a:pPr algn="l">
              <a:lnSpc>
                <a:spcPct val="130000"/>
              </a:lnSpc>
            </a:pPr>
            <a:r>
              <a:rPr kumimoji="0" lang="zh-CN" altLang="en-US" sz="2800" b="1" dirty="0"/>
              <a:t>设：</a:t>
            </a:r>
            <a:r>
              <a:rPr kumimoji="0" lang="en-US" altLang="zh-CN" sz="2800" b="1" dirty="0"/>
              <a:t>A(x)</a:t>
            </a:r>
            <a:r>
              <a:rPr kumimoji="0" lang="zh-CN" altLang="en-US" sz="2800" b="1" dirty="0"/>
              <a:t>：</a:t>
            </a:r>
            <a:r>
              <a:rPr kumimoji="0" lang="en-US" altLang="zh-CN" sz="2800" b="1" dirty="0"/>
              <a:t>x</a:t>
            </a:r>
            <a:r>
              <a:rPr kumimoji="0" lang="zh-CN" altLang="en-US" sz="2800" b="1" dirty="0"/>
              <a:t>聪明</a:t>
            </a:r>
            <a:r>
              <a:rPr kumimoji="0" lang="en-US" altLang="zh-CN" sz="2800" b="1" dirty="0"/>
              <a:t>;      B(x)</a:t>
            </a:r>
            <a:r>
              <a:rPr kumimoji="0" lang="zh-CN" altLang="en-US" sz="2800" b="1" dirty="0"/>
              <a:t>：</a:t>
            </a:r>
            <a:r>
              <a:rPr kumimoji="0" lang="en-US" altLang="zh-CN" sz="2800" b="1" dirty="0"/>
              <a:t>x</a:t>
            </a:r>
            <a:r>
              <a:rPr kumimoji="0" lang="zh-CN" altLang="en-US" sz="2800" b="1" dirty="0"/>
              <a:t>努力</a:t>
            </a:r>
          </a:p>
          <a:p>
            <a:pPr algn="l">
              <a:lnSpc>
                <a:spcPct val="130000"/>
              </a:lnSpc>
            </a:pPr>
            <a:r>
              <a:rPr kumimoji="0" lang="zh-CN" altLang="en-US" sz="2800" b="1" dirty="0"/>
              <a:t>这些学生都聪明或都努力与这些学生都聪明或努力的关系？</a:t>
            </a:r>
          </a:p>
          <a:p>
            <a:pPr>
              <a:lnSpc>
                <a:spcPct val="130000"/>
              </a:lnSpc>
            </a:pPr>
            <a:r>
              <a:rPr kumimoji="0" lang="en-US" altLang="zh-CN" sz="2800" b="1" dirty="0"/>
              <a:t>(</a:t>
            </a:r>
            <a:r>
              <a:rPr kumimoji="0" lang="en-US" altLang="zh-CN" sz="2800" b="1" dirty="0">
                <a:sym typeface="Symbol" pitchFamily="18" charset="2"/>
              </a:rPr>
              <a:t></a:t>
            </a:r>
            <a:r>
              <a:rPr kumimoji="0" lang="en-US" altLang="zh-CN" sz="2800" b="1" dirty="0"/>
              <a:t>x)A(x)∨(</a:t>
            </a:r>
            <a:r>
              <a:rPr kumimoji="0" lang="en-US" altLang="zh-CN" sz="2800" b="1" dirty="0">
                <a:sym typeface="Symbol" pitchFamily="18" charset="2"/>
              </a:rPr>
              <a:t></a:t>
            </a:r>
            <a:r>
              <a:rPr kumimoji="0" lang="en-US" altLang="zh-CN" sz="2800" b="1" dirty="0"/>
              <a:t>x)B(x)</a:t>
            </a:r>
            <a:r>
              <a:rPr kumimoji="0" lang="en-US" altLang="zh-CN" sz="2800" b="1" dirty="0">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x)(A(x)∨B(x))</a:t>
            </a:r>
          </a:p>
          <a:p>
            <a:pPr algn="l">
              <a:lnSpc>
                <a:spcPct val="130000"/>
              </a:lnSpc>
            </a:pPr>
            <a:r>
              <a:rPr kumimoji="0" lang="zh-CN" altLang="en-US" sz="2800" b="1" dirty="0"/>
              <a:t>存在一些学生聪明且努力与存在一些学生聪明且存在一些学生努力的关系？</a:t>
            </a:r>
          </a:p>
          <a:p>
            <a:pPr>
              <a:lnSpc>
                <a:spcPct val="130000"/>
              </a:lnSpc>
            </a:pPr>
            <a:r>
              <a:rPr kumimoji="0" lang="en-US" altLang="zh-CN" sz="2800" b="1" dirty="0"/>
              <a:t>(</a:t>
            </a:r>
            <a:r>
              <a:rPr kumimoji="0" lang="en-US" altLang="zh-CN" sz="2800" b="1" dirty="0">
                <a:sym typeface="Symbol" pitchFamily="18" charset="2"/>
              </a:rPr>
              <a:t></a:t>
            </a:r>
            <a:r>
              <a:rPr kumimoji="0" lang="en-US" altLang="zh-CN" sz="2800" b="1" dirty="0"/>
              <a:t>x)(A(x)∧B(x))</a:t>
            </a:r>
            <a:r>
              <a:rPr kumimoji="0" lang="en-US" altLang="zh-CN" sz="2800" b="1" dirty="0">
                <a:sym typeface="Symbol" pitchFamily="18" charset="2"/>
              </a:rPr>
              <a:t></a:t>
            </a:r>
            <a:r>
              <a:rPr kumimoji="0" lang="en-US" altLang="zh-CN" sz="2800" b="1" dirty="0"/>
              <a:t>(</a:t>
            </a:r>
            <a:r>
              <a:rPr kumimoji="0" lang="en-US" altLang="zh-CN" sz="2800" b="1" dirty="0">
                <a:sym typeface="Symbol" pitchFamily="18" charset="2"/>
              </a:rPr>
              <a:t></a:t>
            </a:r>
            <a:r>
              <a:rPr kumimoji="0" lang="en-US" altLang="zh-CN" sz="2800" b="1" dirty="0"/>
              <a:t>x)A(x)∧(</a:t>
            </a:r>
            <a:r>
              <a:rPr kumimoji="0" lang="en-US" altLang="zh-CN" sz="2800" b="1" dirty="0">
                <a:sym typeface="Symbol" pitchFamily="18" charset="2"/>
              </a:rPr>
              <a:t></a:t>
            </a:r>
            <a:r>
              <a:rPr kumimoji="0" lang="en-US" altLang="zh-CN" sz="2800" b="1" dirty="0"/>
              <a:t>x)B(x)</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8912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8912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8912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8912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7B936C36-0EE1-4044-B1F9-B6A20723A470}" type="slidenum">
              <a:rPr lang="en-US" altLang="zh-CN"/>
              <a:pPr/>
              <a:t>66</a:t>
            </a:fld>
            <a:endParaRPr lang="en-US" altLang="zh-CN"/>
          </a:p>
        </p:txBody>
      </p:sp>
      <p:sp>
        <p:nvSpPr>
          <p:cNvPr id="390146" name="Rectangle 2"/>
          <p:cNvSpPr>
            <a:spLocks noChangeArrowheads="1"/>
          </p:cNvSpPr>
          <p:nvPr/>
        </p:nvSpPr>
        <p:spPr bwMode="auto">
          <a:xfrm>
            <a:off x="1101725" y="663575"/>
            <a:ext cx="7272338" cy="5732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a:solidFill>
                  <a:schemeClr val="hlink"/>
                </a:solidFill>
              </a:rPr>
              <a:t>（</a:t>
            </a:r>
            <a:r>
              <a:rPr kumimoji="0" lang="en-US" altLang="zh-CN" sz="2800" b="1">
                <a:solidFill>
                  <a:schemeClr val="hlink"/>
                </a:solidFill>
              </a:rPr>
              <a:t>6</a:t>
            </a:r>
            <a:r>
              <a:rPr kumimoji="0" lang="zh-CN" altLang="en-US" sz="2800" b="1">
                <a:solidFill>
                  <a:schemeClr val="hlink"/>
                </a:solidFill>
              </a:rPr>
              <a:t>）多个量词的使用</a:t>
            </a:r>
          </a:p>
          <a:p>
            <a:pPr algn="l">
              <a:lnSpc>
                <a:spcPct val="120000"/>
              </a:lnSpc>
            </a:pPr>
            <a:r>
              <a:rPr kumimoji="0" lang="zh-CN" altLang="en-US" sz="2800" b="1">
                <a:solidFill>
                  <a:schemeClr val="hlink"/>
                </a:solidFill>
              </a:rPr>
              <a:t>如：</a:t>
            </a:r>
            <a:r>
              <a:rPr kumimoji="0" lang="zh-CN" altLang="en-US" sz="2800" b="1">
                <a:solidFill>
                  <a:schemeClr val="bg2"/>
                </a:solidFill>
              </a:rPr>
              <a:t>设</a:t>
            </a:r>
            <a:r>
              <a:rPr kumimoji="0" lang="en-US" altLang="zh-CN" sz="2800" b="1">
                <a:solidFill>
                  <a:schemeClr val="bg2"/>
                </a:solidFill>
              </a:rPr>
              <a:t>A(x,y)</a:t>
            </a:r>
            <a:r>
              <a:rPr kumimoji="0" lang="zh-CN" altLang="en-US" sz="2800" b="1">
                <a:solidFill>
                  <a:schemeClr val="bg2"/>
                </a:solidFill>
              </a:rPr>
              <a:t>表示</a:t>
            </a:r>
            <a:r>
              <a:rPr kumimoji="0" lang="en-US" altLang="zh-CN" sz="2800" b="1">
                <a:solidFill>
                  <a:schemeClr val="bg2"/>
                </a:solidFill>
              </a:rPr>
              <a:t>x</a:t>
            </a:r>
            <a:r>
              <a:rPr kumimoji="0" lang="zh-CN" altLang="en-US" sz="2800" b="1">
                <a:solidFill>
                  <a:schemeClr val="bg2"/>
                </a:solidFill>
              </a:rPr>
              <a:t>，</a:t>
            </a:r>
            <a:r>
              <a:rPr kumimoji="0" lang="en-US" altLang="zh-CN" sz="2800" b="1">
                <a:solidFill>
                  <a:schemeClr val="bg2"/>
                </a:solidFill>
              </a:rPr>
              <a:t>y</a:t>
            </a:r>
            <a:r>
              <a:rPr kumimoji="0" lang="zh-CN" altLang="en-US" sz="2800" b="1">
                <a:solidFill>
                  <a:schemeClr val="bg2"/>
                </a:solidFill>
              </a:rPr>
              <a:t>同姓，论域</a:t>
            </a:r>
            <a:r>
              <a:rPr kumimoji="0" lang="en-US" altLang="zh-CN" sz="2800" b="1">
                <a:solidFill>
                  <a:schemeClr val="bg2"/>
                </a:solidFill>
              </a:rPr>
              <a:t>x</a:t>
            </a:r>
            <a:r>
              <a:rPr kumimoji="0" lang="zh-CN" altLang="en-US" sz="2800" b="1">
                <a:solidFill>
                  <a:schemeClr val="bg2"/>
                </a:solidFill>
              </a:rPr>
              <a:t>是甲村的人，</a:t>
            </a:r>
            <a:r>
              <a:rPr kumimoji="0" lang="en-US" altLang="zh-CN" sz="2800" b="1">
                <a:solidFill>
                  <a:schemeClr val="bg2"/>
                </a:solidFill>
              </a:rPr>
              <a:t>y</a:t>
            </a:r>
            <a:r>
              <a:rPr kumimoji="0" lang="zh-CN" altLang="en-US" sz="2800" b="1">
                <a:solidFill>
                  <a:schemeClr val="bg2"/>
                </a:solidFill>
              </a:rPr>
              <a:t>是乙村的人，则</a:t>
            </a:r>
          </a:p>
          <a:p>
            <a:pPr algn="l">
              <a:lnSpc>
                <a:spcPct val="120000"/>
              </a:lnSpc>
            </a:pPr>
            <a:r>
              <a:rPr kumimoji="0" lang="zh-CN" altLang="en-US" sz="2800" b="1">
                <a:solidFill>
                  <a:schemeClr val="bg2"/>
                </a:solidFill>
              </a:rPr>
              <a:t>           </a:t>
            </a:r>
            <a:r>
              <a:rPr kumimoji="0" lang="en-US" altLang="zh-CN" sz="2800" b="1">
                <a:solidFill>
                  <a:schemeClr val="bg2"/>
                </a:solidFill>
              </a:rPr>
              <a:t>(</a:t>
            </a:r>
            <a:r>
              <a:rPr kumimoji="0" lang="en-US" altLang="zh-CN" sz="2800" b="1">
                <a:solidFill>
                  <a:schemeClr val="bg2"/>
                </a:solidFill>
                <a:sym typeface="Symbol" pitchFamily="18" charset="2"/>
              </a:rPr>
              <a:t></a:t>
            </a:r>
            <a:r>
              <a:rPr kumimoji="0" lang="en-US" altLang="zh-CN" sz="2800" b="1">
                <a:solidFill>
                  <a:schemeClr val="bg2"/>
                </a:solidFill>
              </a:rPr>
              <a:t>x)(</a:t>
            </a:r>
            <a:r>
              <a:rPr kumimoji="0" lang="en-US" altLang="zh-CN" sz="2800" b="1">
                <a:solidFill>
                  <a:schemeClr val="bg2"/>
                </a:solidFill>
                <a:sym typeface="Symbol" pitchFamily="18" charset="2"/>
              </a:rPr>
              <a:t></a:t>
            </a:r>
            <a:r>
              <a:rPr kumimoji="0" lang="en-US" altLang="zh-CN" sz="2800" b="1">
                <a:solidFill>
                  <a:schemeClr val="bg2"/>
                </a:solidFill>
              </a:rPr>
              <a:t>y)A(x,y)</a:t>
            </a:r>
            <a:r>
              <a:rPr kumimoji="0" lang="en-US" altLang="zh-CN" sz="2800" b="1">
                <a:solidFill>
                  <a:schemeClr val="bg2"/>
                </a:solidFill>
                <a:sym typeface="Symbol" pitchFamily="18" charset="2"/>
              </a:rPr>
              <a:t></a:t>
            </a:r>
            <a:r>
              <a:rPr kumimoji="0" lang="en-US" altLang="zh-CN" sz="2800" b="1">
                <a:solidFill>
                  <a:schemeClr val="bg2"/>
                </a:solidFill>
              </a:rPr>
              <a:t>(</a:t>
            </a:r>
            <a:r>
              <a:rPr kumimoji="0" lang="en-US" altLang="zh-CN" sz="2800" b="1">
                <a:solidFill>
                  <a:schemeClr val="bg2"/>
                </a:solidFill>
                <a:sym typeface="Symbol" pitchFamily="18" charset="2"/>
              </a:rPr>
              <a:t></a:t>
            </a:r>
            <a:r>
              <a:rPr kumimoji="0" lang="en-US" altLang="zh-CN" sz="2800" b="1">
                <a:solidFill>
                  <a:schemeClr val="bg2"/>
                </a:solidFill>
              </a:rPr>
              <a:t>y)(</a:t>
            </a:r>
            <a:r>
              <a:rPr kumimoji="0" lang="en-US" altLang="zh-CN" sz="2800" b="1">
                <a:solidFill>
                  <a:schemeClr val="bg2"/>
                </a:solidFill>
                <a:sym typeface="Symbol" pitchFamily="18" charset="2"/>
              </a:rPr>
              <a:t></a:t>
            </a:r>
            <a:r>
              <a:rPr kumimoji="0" lang="en-US" altLang="zh-CN" sz="2800" b="1">
                <a:solidFill>
                  <a:schemeClr val="bg2"/>
                </a:solidFill>
              </a:rPr>
              <a:t>x)A(x,y)</a:t>
            </a:r>
          </a:p>
          <a:p>
            <a:pPr algn="l">
              <a:lnSpc>
                <a:spcPct val="120000"/>
              </a:lnSpc>
            </a:pPr>
            <a:r>
              <a:rPr kumimoji="0" lang="en-US" altLang="zh-CN" sz="2800" b="1">
                <a:solidFill>
                  <a:schemeClr val="bg2"/>
                </a:solidFill>
              </a:rPr>
              <a:t>           (</a:t>
            </a:r>
            <a:r>
              <a:rPr kumimoji="0" lang="en-US" altLang="zh-CN" sz="2800" b="1">
                <a:solidFill>
                  <a:schemeClr val="bg2"/>
                </a:solidFill>
                <a:sym typeface="Symbol" pitchFamily="18" charset="2"/>
              </a:rPr>
              <a:t></a:t>
            </a:r>
            <a:r>
              <a:rPr kumimoji="0" lang="en-US" altLang="zh-CN" sz="2800" b="1">
                <a:solidFill>
                  <a:schemeClr val="bg2"/>
                </a:solidFill>
              </a:rPr>
              <a:t>x)(</a:t>
            </a:r>
            <a:r>
              <a:rPr kumimoji="0" lang="en-US" altLang="zh-CN" sz="2800" b="1">
                <a:solidFill>
                  <a:schemeClr val="bg2"/>
                </a:solidFill>
                <a:sym typeface="Symbol" pitchFamily="18" charset="2"/>
              </a:rPr>
              <a:t></a:t>
            </a:r>
            <a:r>
              <a:rPr kumimoji="0" lang="en-US" altLang="zh-CN" sz="2800" b="1">
                <a:solidFill>
                  <a:schemeClr val="bg2"/>
                </a:solidFill>
              </a:rPr>
              <a:t>y)A(x,y)</a:t>
            </a:r>
            <a:r>
              <a:rPr kumimoji="0" lang="en-US" altLang="zh-CN" sz="2800" b="1">
                <a:solidFill>
                  <a:schemeClr val="bg2"/>
                </a:solidFill>
                <a:sym typeface="Symbol" pitchFamily="18" charset="2"/>
              </a:rPr>
              <a:t></a:t>
            </a:r>
            <a:r>
              <a:rPr kumimoji="0" lang="en-US" altLang="zh-CN" sz="2800" b="1">
                <a:solidFill>
                  <a:schemeClr val="bg2"/>
                </a:solidFill>
              </a:rPr>
              <a:t>(</a:t>
            </a:r>
            <a:r>
              <a:rPr kumimoji="0" lang="en-US" altLang="zh-CN" sz="2800" b="1">
                <a:solidFill>
                  <a:schemeClr val="bg2"/>
                </a:solidFill>
                <a:sym typeface="Symbol" pitchFamily="18" charset="2"/>
              </a:rPr>
              <a:t></a:t>
            </a:r>
            <a:r>
              <a:rPr kumimoji="0" lang="en-US" altLang="zh-CN" sz="2800" b="1">
                <a:solidFill>
                  <a:schemeClr val="bg2"/>
                </a:solidFill>
              </a:rPr>
              <a:t>y)(</a:t>
            </a:r>
            <a:r>
              <a:rPr kumimoji="0" lang="en-US" altLang="zh-CN" sz="2800" b="1">
                <a:solidFill>
                  <a:schemeClr val="bg2"/>
                </a:solidFill>
                <a:sym typeface="Symbol" pitchFamily="18" charset="2"/>
              </a:rPr>
              <a:t></a:t>
            </a:r>
            <a:r>
              <a:rPr kumimoji="0" lang="en-US" altLang="zh-CN" sz="2800" b="1">
                <a:solidFill>
                  <a:schemeClr val="bg2"/>
                </a:solidFill>
              </a:rPr>
              <a:t>x)A(x,y)</a:t>
            </a:r>
          </a:p>
          <a:p>
            <a:pPr algn="l">
              <a:lnSpc>
                <a:spcPct val="120000"/>
              </a:lnSpc>
            </a:pPr>
            <a:r>
              <a:rPr kumimoji="0" lang="zh-CN" altLang="en-US" sz="2800" b="1">
                <a:solidFill>
                  <a:schemeClr val="bg2"/>
                </a:solidFill>
              </a:rPr>
              <a:t>其它情况</a:t>
            </a:r>
            <a:r>
              <a:rPr kumimoji="0" lang="en-US" altLang="zh-CN" sz="2800" b="1">
                <a:solidFill>
                  <a:schemeClr val="bg2"/>
                </a:solidFill>
              </a:rPr>
              <a:t>:</a:t>
            </a:r>
          </a:p>
          <a:p>
            <a:pPr algn="l">
              <a:lnSpc>
                <a:spcPct val="120000"/>
              </a:lnSpc>
            </a:pPr>
            <a:r>
              <a:rPr kumimoji="0" lang="en-US" altLang="zh-CN" sz="2800" b="1">
                <a:solidFill>
                  <a:schemeClr val="bg2"/>
                </a:solidFill>
              </a:rPr>
              <a:t>            (</a:t>
            </a:r>
            <a:r>
              <a:rPr kumimoji="0" lang="en-US" altLang="zh-CN" sz="2800" b="1">
                <a:solidFill>
                  <a:schemeClr val="bg2"/>
                </a:solidFill>
                <a:sym typeface="Symbol" pitchFamily="18" charset="2"/>
              </a:rPr>
              <a:t></a:t>
            </a:r>
            <a:r>
              <a:rPr kumimoji="0" lang="en-US" altLang="zh-CN" sz="2800" b="1">
                <a:solidFill>
                  <a:schemeClr val="bg2"/>
                </a:solidFill>
              </a:rPr>
              <a:t>x)(</a:t>
            </a:r>
            <a:r>
              <a:rPr kumimoji="0" lang="en-US" altLang="zh-CN" sz="2800" b="1">
                <a:solidFill>
                  <a:schemeClr val="bg2"/>
                </a:solidFill>
                <a:sym typeface="Symbol" pitchFamily="18" charset="2"/>
              </a:rPr>
              <a:t></a:t>
            </a:r>
            <a:r>
              <a:rPr kumimoji="0" lang="en-US" altLang="zh-CN" sz="2800" b="1">
                <a:solidFill>
                  <a:schemeClr val="bg2"/>
                </a:solidFill>
              </a:rPr>
              <a:t>y)A(x,y)</a:t>
            </a:r>
            <a:r>
              <a:rPr kumimoji="0" lang="en-US" altLang="zh-CN" sz="2800" b="1">
                <a:solidFill>
                  <a:schemeClr val="bg2"/>
                </a:solidFill>
                <a:sym typeface="Symbol" pitchFamily="18" charset="2"/>
              </a:rPr>
              <a:t>?</a:t>
            </a:r>
            <a:endParaRPr kumimoji="0" lang="en-US" altLang="zh-CN" sz="2800" b="1">
              <a:solidFill>
                <a:schemeClr val="bg2"/>
              </a:solidFill>
            </a:endParaRPr>
          </a:p>
          <a:p>
            <a:pPr algn="l">
              <a:lnSpc>
                <a:spcPct val="120000"/>
              </a:lnSpc>
            </a:pPr>
            <a:r>
              <a:rPr kumimoji="0" lang="en-US" altLang="zh-CN" sz="2800" b="1">
                <a:solidFill>
                  <a:schemeClr val="bg2"/>
                </a:solidFill>
              </a:rPr>
              <a:t>            (</a:t>
            </a:r>
            <a:r>
              <a:rPr kumimoji="0" lang="en-US" altLang="zh-CN" sz="2800" b="1">
                <a:solidFill>
                  <a:schemeClr val="bg2"/>
                </a:solidFill>
                <a:sym typeface="Symbol" pitchFamily="18" charset="2"/>
              </a:rPr>
              <a:t></a:t>
            </a:r>
            <a:r>
              <a:rPr kumimoji="0" lang="en-US" altLang="zh-CN" sz="2800" b="1">
                <a:solidFill>
                  <a:schemeClr val="bg2"/>
                </a:solidFill>
              </a:rPr>
              <a:t>y)(</a:t>
            </a:r>
            <a:r>
              <a:rPr kumimoji="0" lang="en-US" altLang="zh-CN" sz="2800" b="1">
                <a:solidFill>
                  <a:schemeClr val="bg2"/>
                </a:solidFill>
                <a:sym typeface="Symbol" pitchFamily="18" charset="2"/>
              </a:rPr>
              <a:t></a:t>
            </a:r>
            <a:r>
              <a:rPr kumimoji="0" lang="en-US" altLang="zh-CN" sz="2800" b="1">
                <a:solidFill>
                  <a:schemeClr val="bg2"/>
                </a:solidFill>
              </a:rPr>
              <a:t>x)A(x,y)</a:t>
            </a:r>
            <a:r>
              <a:rPr kumimoji="0" lang="en-US" altLang="zh-CN" sz="2800" b="1">
                <a:solidFill>
                  <a:schemeClr val="bg2"/>
                </a:solidFill>
                <a:sym typeface="Symbol" pitchFamily="18" charset="2"/>
              </a:rPr>
              <a:t>?</a:t>
            </a:r>
            <a:endParaRPr kumimoji="0" lang="en-US" altLang="zh-CN" sz="2800" b="1">
              <a:solidFill>
                <a:schemeClr val="bg2"/>
              </a:solidFill>
            </a:endParaRPr>
          </a:p>
          <a:p>
            <a:pPr algn="l">
              <a:lnSpc>
                <a:spcPct val="120000"/>
              </a:lnSpc>
            </a:pPr>
            <a:r>
              <a:rPr kumimoji="0" lang="en-US" altLang="zh-CN" sz="2800" b="1">
                <a:solidFill>
                  <a:schemeClr val="bg2"/>
                </a:solidFill>
              </a:rPr>
              <a:t>            (</a:t>
            </a:r>
            <a:r>
              <a:rPr kumimoji="0" lang="en-US" altLang="zh-CN" sz="2800" b="1">
                <a:solidFill>
                  <a:schemeClr val="bg2"/>
                </a:solidFill>
                <a:sym typeface="Symbol" pitchFamily="18" charset="2"/>
              </a:rPr>
              <a:t></a:t>
            </a:r>
            <a:r>
              <a:rPr kumimoji="0" lang="en-US" altLang="zh-CN" sz="2800" b="1">
                <a:solidFill>
                  <a:schemeClr val="bg2"/>
                </a:solidFill>
              </a:rPr>
              <a:t>y)(</a:t>
            </a:r>
            <a:r>
              <a:rPr kumimoji="0" lang="en-US" altLang="zh-CN" sz="2800" b="1">
                <a:solidFill>
                  <a:schemeClr val="bg2"/>
                </a:solidFill>
                <a:sym typeface="Symbol" pitchFamily="18" charset="2"/>
              </a:rPr>
              <a:t></a:t>
            </a:r>
            <a:r>
              <a:rPr kumimoji="0" lang="en-US" altLang="zh-CN" sz="2800" b="1">
                <a:solidFill>
                  <a:schemeClr val="bg2"/>
                </a:solidFill>
              </a:rPr>
              <a:t>x)A(x,y)</a:t>
            </a:r>
            <a:r>
              <a:rPr kumimoji="0" lang="en-US" altLang="zh-CN" sz="2800" b="1">
                <a:solidFill>
                  <a:schemeClr val="bg2"/>
                </a:solidFill>
                <a:sym typeface="Symbol" pitchFamily="18" charset="2"/>
              </a:rPr>
              <a:t>?</a:t>
            </a:r>
            <a:endParaRPr kumimoji="0" lang="en-US" altLang="zh-CN" sz="2800" b="1">
              <a:solidFill>
                <a:schemeClr val="bg2"/>
              </a:solidFill>
            </a:endParaRPr>
          </a:p>
          <a:p>
            <a:pPr algn="l">
              <a:lnSpc>
                <a:spcPct val="120000"/>
              </a:lnSpc>
            </a:pPr>
            <a:r>
              <a:rPr kumimoji="0" lang="en-US" altLang="zh-CN" sz="2800" b="1">
                <a:solidFill>
                  <a:schemeClr val="bg2"/>
                </a:solidFill>
              </a:rPr>
              <a:t>            (</a:t>
            </a:r>
            <a:r>
              <a:rPr kumimoji="0" lang="en-US" altLang="zh-CN" sz="2800" b="1">
                <a:solidFill>
                  <a:schemeClr val="bg2"/>
                </a:solidFill>
                <a:sym typeface="Symbol" pitchFamily="18" charset="2"/>
              </a:rPr>
              <a:t></a:t>
            </a:r>
            <a:r>
              <a:rPr kumimoji="0" lang="en-US" altLang="zh-CN" sz="2800" b="1">
                <a:solidFill>
                  <a:schemeClr val="bg2"/>
                </a:solidFill>
              </a:rPr>
              <a:t>x)(</a:t>
            </a:r>
            <a:r>
              <a:rPr kumimoji="0" lang="en-US" altLang="zh-CN" sz="2800" b="1">
                <a:solidFill>
                  <a:schemeClr val="bg2"/>
                </a:solidFill>
                <a:sym typeface="Symbol" pitchFamily="18" charset="2"/>
              </a:rPr>
              <a:t></a:t>
            </a:r>
            <a:r>
              <a:rPr kumimoji="0" lang="en-US" altLang="zh-CN" sz="2800" b="1">
                <a:solidFill>
                  <a:schemeClr val="bg2"/>
                </a:solidFill>
              </a:rPr>
              <a:t>y)A(x,y)</a:t>
            </a:r>
            <a:r>
              <a:rPr kumimoji="0" lang="en-US" altLang="zh-CN" sz="2800" b="1">
                <a:solidFill>
                  <a:schemeClr val="bg2"/>
                </a:solidFill>
                <a:sym typeface="Symbol" pitchFamily="18" charset="2"/>
              </a:rPr>
              <a:t>?</a:t>
            </a:r>
            <a:endParaRPr kumimoji="0" lang="en-US" altLang="zh-CN" sz="2800" b="1">
              <a:solidFill>
                <a:schemeClr val="bg2"/>
              </a:solidFill>
            </a:endParaRPr>
          </a:p>
          <a:p>
            <a:pPr algn="l">
              <a:lnSpc>
                <a:spcPct val="120000"/>
              </a:lnSpc>
            </a:pPr>
            <a:r>
              <a:rPr kumimoji="0" lang="zh-CN" altLang="en-US" sz="2800" b="1">
                <a:solidFill>
                  <a:schemeClr val="bg2"/>
                </a:solidFill>
              </a:rPr>
              <a:t>常用的等价式和蕴含式见</a:t>
            </a:r>
            <a:r>
              <a:rPr kumimoji="0" lang="en-US" altLang="zh-CN" sz="2800" b="1">
                <a:solidFill>
                  <a:schemeClr val="bg2"/>
                </a:solidFill>
              </a:rPr>
              <a:t>P70</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014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014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9014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90146">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90146">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0146">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0146">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90146">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34582C8A-7E69-42DC-91B7-A508BE2EF2C7}" type="slidenum">
              <a:rPr lang="en-US" altLang="zh-CN"/>
              <a:pPr/>
              <a:t>67</a:t>
            </a:fld>
            <a:endParaRPr lang="en-US" altLang="zh-CN"/>
          </a:p>
        </p:txBody>
      </p:sp>
      <p:sp>
        <p:nvSpPr>
          <p:cNvPr id="430082" name="Rectangle 2"/>
          <p:cNvSpPr>
            <a:spLocks noChangeArrowheads="1"/>
          </p:cNvSpPr>
          <p:nvPr/>
        </p:nvSpPr>
        <p:spPr bwMode="auto">
          <a:xfrm>
            <a:off x="971550" y="1268413"/>
            <a:ext cx="6913563"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dirty="0">
                <a:solidFill>
                  <a:schemeClr val="hlink"/>
                </a:solidFill>
              </a:rPr>
              <a:t>例</a:t>
            </a:r>
            <a:r>
              <a:rPr kumimoji="0" lang="en-US" altLang="zh-CN" sz="2800" b="1" dirty="0">
                <a:solidFill>
                  <a:schemeClr val="hlink"/>
                </a:solidFill>
              </a:rPr>
              <a:t>2</a:t>
            </a:r>
            <a:r>
              <a:rPr kumimoji="0" lang="zh-CN" altLang="en-US" sz="2800" b="1" dirty="0">
                <a:solidFill>
                  <a:schemeClr val="hlink"/>
                </a:solidFill>
              </a:rPr>
              <a:t>：</a:t>
            </a:r>
            <a:r>
              <a:rPr kumimoji="0" lang="zh-CN" altLang="en-US" sz="2800" b="1" dirty="0"/>
              <a:t>证明下列各式为等价式。</a:t>
            </a:r>
          </a:p>
          <a:p>
            <a:pPr algn="l">
              <a:lnSpc>
                <a:spcPct val="130000"/>
              </a:lnSpc>
            </a:pPr>
            <a:r>
              <a:rPr kumimoji="0" lang="en-US" altLang="zh-CN" sz="2800" b="1" dirty="0">
                <a:sym typeface="Wingdings" pitchFamily="2" charset="2"/>
              </a:rPr>
              <a:t>(1)</a:t>
            </a:r>
            <a:r>
              <a:rPr kumimoji="0" lang="en-US" altLang="zh-CN" sz="2800" b="1" dirty="0">
                <a:latin typeface="宋体" charset="-122"/>
                <a:sym typeface="Symbol" pitchFamily="18" charset="2"/>
              </a:rPr>
              <a:t>┐</a:t>
            </a:r>
            <a:r>
              <a:rPr kumimoji="0" lang="en-US" altLang="zh-CN" sz="2800" b="1" dirty="0">
                <a:sym typeface="Symbol" pitchFamily="18" charset="2"/>
              </a:rPr>
              <a:t>(x)(F(x)∧G(x))(x)(F(x)┐G(x))</a:t>
            </a:r>
          </a:p>
          <a:p>
            <a:pPr algn="l">
              <a:lnSpc>
                <a:spcPct val="130000"/>
              </a:lnSpc>
            </a:pPr>
            <a:r>
              <a:rPr kumimoji="0" lang="en-US" altLang="zh-CN" sz="2800" b="1" dirty="0">
                <a:sym typeface="Wingdings" pitchFamily="2" charset="2"/>
              </a:rPr>
              <a:t>(2</a:t>
            </a:r>
            <a:r>
              <a:rPr kumimoji="0" lang="en-US" altLang="zh-CN" sz="2800" b="1" dirty="0" smtClean="0">
                <a:sym typeface="Wingdings" pitchFamily="2" charset="2"/>
              </a:rPr>
              <a:t>)</a:t>
            </a:r>
            <a:r>
              <a:rPr kumimoji="0" lang="en-US" altLang="zh-CN" sz="2800" b="1" dirty="0" smtClean="0">
                <a:latin typeface="宋体" charset="-122"/>
                <a:sym typeface="Symbol" pitchFamily="18" charset="2"/>
              </a:rPr>
              <a:t>┐</a:t>
            </a:r>
            <a:r>
              <a:rPr kumimoji="0" lang="en-US" altLang="zh-CN" sz="2800" b="1" dirty="0" smtClean="0">
                <a:sym typeface="Symbol" pitchFamily="18" charset="2"/>
              </a:rPr>
              <a:t>(x)(F(x)G(x)) </a:t>
            </a:r>
            <a:r>
              <a:rPr kumimoji="0" lang="en-US" altLang="zh-CN" sz="2800" b="1" dirty="0" smtClean="0">
                <a:sym typeface="Wingdings" pitchFamily="2" charset="2"/>
              </a:rPr>
              <a:t> </a:t>
            </a:r>
            <a:r>
              <a:rPr kumimoji="0" lang="en-US" altLang="zh-CN" sz="2800" b="1" dirty="0" smtClean="0">
                <a:sym typeface="Symbol" pitchFamily="18" charset="2"/>
              </a:rPr>
              <a:t>(x)(F(x)∧</a:t>
            </a:r>
            <a:r>
              <a:rPr kumimoji="0" lang="en-US" altLang="zh-CN" sz="2800" b="1" dirty="0" smtClean="0">
                <a:latin typeface="宋体" charset="-122"/>
                <a:sym typeface="Symbol" pitchFamily="18" charset="2"/>
              </a:rPr>
              <a:t>┐</a:t>
            </a:r>
            <a:r>
              <a:rPr kumimoji="0" lang="en-US" altLang="zh-CN" sz="2800" b="1" dirty="0" smtClean="0">
                <a:sym typeface="Symbol" pitchFamily="18" charset="2"/>
              </a:rPr>
              <a:t>G(x))</a:t>
            </a:r>
          </a:p>
          <a:p>
            <a:pPr algn="l">
              <a:lnSpc>
                <a:spcPct val="130000"/>
              </a:lnSpc>
            </a:pPr>
            <a:r>
              <a:rPr kumimoji="0" lang="en-US" altLang="zh-CN" sz="2800" b="1" dirty="0" smtClean="0">
                <a:sym typeface="Wingdings" pitchFamily="2" charset="2"/>
              </a:rPr>
              <a:t>(3)</a:t>
            </a:r>
            <a:r>
              <a:rPr kumimoji="0" lang="en-US" altLang="zh-CN" sz="2800" b="1" dirty="0" smtClean="0">
                <a:latin typeface="宋体" charset="-122"/>
                <a:sym typeface="Symbol" pitchFamily="18" charset="2"/>
              </a:rPr>
              <a:t>┐</a:t>
            </a:r>
            <a:r>
              <a:rPr kumimoji="0" lang="en-US" altLang="zh-CN" sz="2800" b="1" dirty="0" smtClean="0">
                <a:sym typeface="Symbol" pitchFamily="18" charset="2"/>
              </a:rPr>
              <a:t>(x)(y)(F(x)∧G(y)H(</a:t>
            </a:r>
            <a:r>
              <a:rPr kumimoji="0" lang="en-US" altLang="zh-CN" sz="2800" b="1" dirty="0" err="1" smtClean="0">
                <a:sym typeface="Symbol" pitchFamily="18" charset="2"/>
              </a:rPr>
              <a:t>x,y</a:t>
            </a:r>
            <a:r>
              <a:rPr kumimoji="0" lang="en-US" altLang="zh-CN" sz="2800" b="1" dirty="0" smtClean="0">
                <a:sym typeface="Symbol" pitchFamily="18" charset="2"/>
              </a:rPr>
              <a:t>)) </a:t>
            </a:r>
          </a:p>
          <a:p>
            <a:pPr algn="l">
              <a:lnSpc>
                <a:spcPct val="130000"/>
              </a:lnSpc>
            </a:pPr>
            <a:r>
              <a:rPr kumimoji="0" lang="en-US" altLang="zh-CN" sz="2800" b="1" dirty="0" smtClean="0">
                <a:sym typeface="Symbol" pitchFamily="18" charset="2"/>
              </a:rPr>
              <a:t></a:t>
            </a:r>
            <a:r>
              <a:rPr kumimoji="0" lang="en-US" altLang="zh-CN" sz="2800" b="1" dirty="0">
                <a:sym typeface="Symbol" pitchFamily="18" charset="2"/>
              </a:rPr>
              <a:t>(x)(y)(F(x)∧G(y)∧</a:t>
            </a:r>
            <a:r>
              <a:rPr kumimoji="0" lang="en-US" altLang="zh-CN" sz="2800" b="1" dirty="0">
                <a:latin typeface="宋体" charset="-122"/>
                <a:sym typeface="Symbol" pitchFamily="18" charset="2"/>
              </a:rPr>
              <a:t>┐</a:t>
            </a:r>
            <a:r>
              <a:rPr kumimoji="0" lang="en-US" altLang="zh-CN" sz="2800" b="1" dirty="0">
                <a:sym typeface="Symbol" pitchFamily="18" charset="2"/>
              </a:rPr>
              <a:t>H(</a:t>
            </a:r>
            <a:r>
              <a:rPr kumimoji="0" lang="en-US" altLang="zh-CN" sz="2800" b="1" dirty="0" err="1">
                <a:sym typeface="Symbol" pitchFamily="18" charset="2"/>
              </a:rPr>
              <a:t>x,y</a:t>
            </a:r>
            <a:r>
              <a:rPr kumimoji="0" lang="en-US" altLang="zh-CN" sz="2800" b="1" dirty="0">
                <a:sym typeface="Symbol" pitchFamily="18" charset="2"/>
              </a:rPr>
              <a:t>)) </a:t>
            </a:r>
          </a:p>
          <a:p>
            <a:pPr algn="l">
              <a:lnSpc>
                <a:spcPct val="130000"/>
              </a:lnSpc>
            </a:pPr>
            <a:r>
              <a:rPr kumimoji="0" lang="en-US" altLang="zh-CN" sz="2800" b="1" dirty="0" smtClean="0">
                <a:sym typeface="Wingdings" pitchFamily="2" charset="2"/>
              </a:rPr>
              <a:t>(4)</a:t>
            </a:r>
            <a:r>
              <a:rPr kumimoji="0" lang="en-US" altLang="zh-CN" sz="2800" b="1" dirty="0" smtClean="0">
                <a:latin typeface="宋体" charset="-122"/>
                <a:sym typeface="Symbol" pitchFamily="18" charset="2"/>
              </a:rPr>
              <a:t>┐</a:t>
            </a:r>
            <a:r>
              <a:rPr kumimoji="0" lang="en-US" altLang="zh-CN" sz="2800" b="1" dirty="0" smtClean="0">
                <a:sym typeface="Symbol" pitchFamily="18" charset="2"/>
              </a:rPr>
              <a:t>(x)(y)(F(x)∧G(y)∧H(</a:t>
            </a:r>
            <a:r>
              <a:rPr kumimoji="0" lang="en-US" altLang="zh-CN" sz="2800" b="1" dirty="0" err="1" smtClean="0">
                <a:sym typeface="Symbol" pitchFamily="18" charset="2"/>
              </a:rPr>
              <a:t>x,y</a:t>
            </a:r>
            <a:r>
              <a:rPr kumimoji="0" lang="en-US" altLang="zh-CN" sz="2800" b="1" dirty="0" smtClean="0">
                <a:sym typeface="Symbol" pitchFamily="18" charset="2"/>
              </a:rPr>
              <a:t>))</a:t>
            </a:r>
          </a:p>
          <a:p>
            <a:pPr algn="l">
              <a:lnSpc>
                <a:spcPct val="130000"/>
              </a:lnSpc>
            </a:pPr>
            <a:r>
              <a:rPr kumimoji="0" lang="en-US" altLang="zh-CN" sz="2800" b="1" dirty="0" smtClean="0">
                <a:sym typeface="Symbol" pitchFamily="18" charset="2"/>
              </a:rPr>
              <a:t>(x)(y)(F(x)∧G(y)</a:t>
            </a:r>
            <a:r>
              <a:rPr kumimoji="0" lang="en-US" altLang="zh-CN" sz="2800" b="1" dirty="0" smtClean="0">
                <a:latin typeface="宋体" charset="-122"/>
                <a:sym typeface="Symbol" pitchFamily="18" charset="2"/>
              </a:rPr>
              <a:t>┐</a:t>
            </a:r>
            <a:r>
              <a:rPr kumimoji="0" lang="en-US" altLang="zh-CN" sz="2800" b="1" dirty="0" smtClean="0">
                <a:sym typeface="Symbol" pitchFamily="18" charset="2"/>
              </a:rPr>
              <a:t>H(</a:t>
            </a:r>
            <a:r>
              <a:rPr kumimoji="0" lang="en-US" altLang="zh-CN" sz="2800" b="1" dirty="0" err="1" smtClean="0">
                <a:sym typeface="Symbol" pitchFamily="18" charset="2"/>
              </a:rPr>
              <a:t>x,y</a:t>
            </a:r>
            <a:r>
              <a:rPr kumimoji="0" lang="en-US" altLang="zh-CN" sz="2800" b="1" dirty="0" smtClean="0">
                <a:sym typeface="Symbol" pitchFamily="18" charset="2"/>
              </a:rPr>
              <a:t>))</a:t>
            </a:r>
            <a:endParaRPr kumimoji="0" lang="en-US" altLang="zh-CN" sz="2800" b="1" dirty="0">
              <a:sym typeface="Symbol" pitchFamily="18" charset="2"/>
            </a:endParaRPr>
          </a:p>
        </p:txBody>
      </p:sp>
    </p:spTree>
  </p:cSld>
  <p:clrMapOvr>
    <a:masterClrMapping/>
  </p:clrMapOvr>
  <p:transition spd="slow">
    <p:pull dir="ru"/>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7C13C21E-B131-4D57-9A20-BDE4CABC8419}" type="slidenum">
              <a:rPr lang="en-US" altLang="zh-CN"/>
              <a:pPr/>
              <a:t>68</a:t>
            </a:fld>
            <a:endParaRPr lang="en-US" altLang="zh-CN"/>
          </a:p>
        </p:txBody>
      </p:sp>
      <p:sp>
        <p:nvSpPr>
          <p:cNvPr id="431106" name="Rectangle 2"/>
          <p:cNvSpPr>
            <a:spLocks noChangeArrowheads="1"/>
          </p:cNvSpPr>
          <p:nvPr/>
        </p:nvSpPr>
        <p:spPr bwMode="auto">
          <a:xfrm>
            <a:off x="900113" y="1412875"/>
            <a:ext cx="7056437" cy="4537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dirty="0"/>
              <a:t>证：</a:t>
            </a:r>
            <a:r>
              <a:rPr kumimoji="0" lang="en-US" altLang="zh-CN" sz="2800" b="1" dirty="0">
                <a:sym typeface="Wingdings" pitchFamily="2" charset="2"/>
              </a:rPr>
              <a:t>(1)</a:t>
            </a:r>
            <a:r>
              <a:rPr kumimoji="0" lang="en-US" altLang="zh-CN" sz="2800" b="1" dirty="0">
                <a:latin typeface="宋体" charset="-122"/>
                <a:sym typeface="Symbol" pitchFamily="18" charset="2"/>
              </a:rPr>
              <a:t>┐</a:t>
            </a:r>
            <a:r>
              <a:rPr kumimoji="0" lang="en-US" altLang="zh-CN" sz="2800" b="1" dirty="0">
                <a:sym typeface="Symbol" pitchFamily="18" charset="2"/>
              </a:rPr>
              <a:t>(x)(F(x)∧G(x))</a:t>
            </a:r>
            <a:endParaRPr kumimoji="0" lang="en-US" altLang="zh-CN" sz="2800" b="1" dirty="0">
              <a:sym typeface="Wingdings" pitchFamily="2" charset="2"/>
            </a:endParaRPr>
          </a:p>
          <a:p>
            <a:pPr algn="l">
              <a:lnSpc>
                <a:spcPct val="130000"/>
              </a:lnSpc>
            </a:pPr>
            <a:r>
              <a:rPr kumimoji="0" lang="en-US" altLang="zh-CN" sz="2800" b="1" dirty="0">
                <a:sym typeface="Symbol" pitchFamily="18" charset="2"/>
              </a:rPr>
              <a:t>        (x)</a:t>
            </a:r>
            <a:r>
              <a:rPr kumimoji="0" lang="en-US" altLang="zh-CN" sz="2800" b="1" dirty="0">
                <a:latin typeface="宋体" charset="-122"/>
                <a:sym typeface="Symbol" pitchFamily="18" charset="2"/>
              </a:rPr>
              <a:t>┐</a:t>
            </a:r>
            <a:r>
              <a:rPr kumimoji="0" lang="en-US" altLang="zh-CN" sz="2800" b="1" dirty="0">
                <a:sym typeface="Symbol" pitchFamily="18" charset="2"/>
              </a:rPr>
              <a:t>(F(x)∧G(x))    </a:t>
            </a:r>
          </a:p>
          <a:p>
            <a:pPr algn="l">
              <a:lnSpc>
                <a:spcPct val="130000"/>
              </a:lnSpc>
            </a:pPr>
            <a:r>
              <a:rPr kumimoji="0" lang="en-US" altLang="zh-CN" sz="2800" b="1" dirty="0">
                <a:sym typeface="Wingdings" pitchFamily="2" charset="2"/>
              </a:rPr>
              <a:t>        </a:t>
            </a:r>
            <a:r>
              <a:rPr kumimoji="0" lang="en-US" altLang="zh-CN" sz="2800" b="1" dirty="0">
                <a:sym typeface="Symbol" pitchFamily="18" charset="2"/>
              </a:rPr>
              <a:t>(x)(</a:t>
            </a:r>
            <a:r>
              <a:rPr kumimoji="0" lang="en-US" altLang="zh-CN" sz="2800" b="1" dirty="0">
                <a:latin typeface="宋体" charset="-122"/>
                <a:sym typeface="Symbol" pitchFamily="18" charset="2"/>
              </a:rPr>
              <a:t>┐</a:t>
            </a:r>
            <a:r>
              <a:rPr kumimoji="0" lang="en-US" altLang="zh-CN" sz="2800" b="1" dirty="0">
                <a:sym typeface="Symbol" pitchFamily="18" charset="2"/>
              </a:rPr>
              <a:t>F(x)∨</a:t>
            </a:r>
            <a:r>
              <a:rPr kumimoji="0" lang="en-US" altLang="zh-CN" sz="2800" b="1" dirty="0">
                <a:latin typeface="宋体" charset="-122"/>
                <a:sym typeface="Symbol" pitchFamily="18" charset="2"/>
              </a:rPr>
              <a:t>┐</a:t>
            </a:r>
            <a:r>
              <a:rPr kumimoji="0" lang="en-US" altLang="zh-CN" sz="2800" b="1" dirty="0">
                <a:sym typeface="Symbol" pitchFamily="18" charset="2"/>
              </a:rPr>
              <a:t>G(x))</a:t>
            </a:r>
          </a:p>
          <a:p>
            <a:pPr algn="l">
              <a:lnSpc>
                <a:spcPct val="130000"/>
              </a:lnSpc>
            </a:pPr>
            <a:r>
              <a:rPr kumimoji="0" lang="en-US" altLang="zh-CN" sz="2800" b="1" dirty="0">
                <a:sym typeface="Wingdings" pitchFamily="2" charset="2"/>
              </a:rPr>
              <a:t>        </a:t>
            </a:r>
            <a:r>
              <a:rPr kumimoji="0" lang="en-US" altLang="zh-CN" sz="2800" b="1" dirty="0">
                <a:sym typeface="Symbol" pitchFamily="18" charset="2"/>
              </a:rPr>
              <a:t>(x)(F(x)┐G(x))</a:t>
            </a:r>
          </a:p>
          <a:p>
            <a:pPr algn="l">
              <a:lnSpc>
                <a:spcPct val="130000"/>
              </a:lnSpc>
            </a:pPr>
            <a:r>
              <a:rPr kumimoji="0" lang="en-US" altLang="zh-CN" sz="2800" b="1" dirty="0" smtClean="0">
                <a:sym typeface="Wingdings" pitchFamily="2" charset="2"/>
              </a:rPr>
              <a:t>        (2)</a:t>
            </a:r>
            <a:r>
              <a:rPr kumimoji="0" lang="en-US" altLang="zh-CN" sz="2800" b="1" dirty="0" smtClean="0">
                <a:latin typeface="宋体" charset="-122"/>
                <a:sym typeface="Symbol" pitchFamily="18" charset="2"/>
              </a:rPr>
              <a:t>┐</a:t>
            </a:r>
            <a:r>
              <a:rPr kumimoji="0" lang="en-US" altLang="zh-CN" sz="2800" b="1" dirty="0" smtClean="0">
                <a:sym typeface="Symbol" pitchFamily="18" charset="2"/>
              </a:rPr>
              <a:t>(x)(F(x)G(x)) </a:t>
            </a:r>
          </a:p>
          <a:p>
            <a:pPr algn="l">
              <a:lnSpc>
                <a:spcPct val="130000"/>
              </a:lnSpc>
            </a:pPr>
            <a:r>
              <a:rPr kumimoji="0" lang="en-US" altLang="zh-CN" sz="2800" b="1" dirty="0" smtClean="0">
                <a:sym typeface="Symbol" pitchFamily="18" charset="2"/>
              </a:rPr>
              <a:t>        (x)</a:t>
            </a:r>
            <a:r>
              <a:rPr kumimoji="0" lang="en-US" altLang="zh-CN" sz="2800" b="1" dirty="0" smtClean="0">
                <a:latin typeface="宋体" charset="-122"/>
                <a:sym typeface="Symbol" pitchFamily="18" charset="2"/>
              </a:rPr>
              <a:t>┐</a:t>
            </a:r>
            <a:r>
              <a:rPr kumimoji="0" lang="en-US" altLang="zh-CN" sz="2800" b="1" dirty="0" smtClean="0">
                <a:sym typeface="Symbol" pitchFamily="18" charset="2"/>
              </a:rPr>
              <a:t>(F(x)G(x))</a:t>
            </a:r>
          </a:p>
          <a:p>
            <a:pPr algn="l">
              <a:lnSpc>
                <a:spcPct val="130000"/>
              </a:lnSpc>
            </a:pPr>
            <a:r>
              <a:rPr kumimoji="0" lang="en-US" altLang="zh-CN" sz="2800" b="1" dirty="0" smtClean="0">
                <a:sym typeface="Symbol" pitchFamily="18" charset="2"/>
              </a:rPr>
              <a:t>        (x)</a:t>
            </a:r>
            <a:r>
              <a:rPr kumimoji="0" lang="en-US" altLang="zh-CN" sz="2800" b="1" dirty="0" smtClean="0">
                <a:latin typeface="宋体" charset="-122"/>
                <a:sym typeface="Symbol" pitchFamily="18" charset="2"/>
              </a:rPr>
              <a:t>┐</a:t>
            </a:r>
            <a:r>
              <a:rPr kumimoji="0" lang="en-US" altLang="zh-CN" sz="2800" b="1" dirty="0" smtClean="0">
                <a:sym typeface="Symbol" pitchFamily="18" charset="2"/>
              </a:rPr>
              <a:t>(</a:t>
            </a:r>
            <a:r>
              <a:rPr kumimoji="0" lang="en-US" altLang="zh-CN" sz="2800" b="1" dirty="0" smtClean="0">
                <a:latin typeface="宋体" charset="-122"/>
                <a:sym typeface="Symbol" pitchFamily="18" charset="2"/>
              </a:rPr>
              <a:t>┐</a:t>
            </a:r>
            <a:r>
              <a:rPr kumimoji="0" lang="en-US" altLang="zh-CN" sz="2800" b="1" dirty="0" smtClean="0">
                <a:sym typeface="Symbol" pitchFamily="18" charset="2"/>
              </a:rPr>
              <a:t>F(x)∨G(x))</a:t>
            </a:r>
          </a:p>
          <a:p>
            <a:pPr algn="l">
              <a:lnSpc>
                <a:spcPct val="130000"/>
              </a:lnSpc>
            </a:pPr>
            <a:r>
              <a:rPr kumimoji="0" lang="en-US" altLang="zh-CN" sz="2800" b="1" dirty="0" smtClean="0">
                <a:sym typeface="Symbol" pitchFamily="18" charset="2"/>
              </a:rPr>
              <a:t>        (x)(F(x)∧</a:t>
            </a:r>
            <a:r>
              <a:rPr kumimoji="0" lang="en-US" altLang="zh-CN" sz="2800" b="1" dirty="0" smtClean="0">
                <a:latin typeface="宋体" charset="-122"/>
                <a:sym typeface="Symbol" pitchFamily="18" charset="2"/>
              </a:rPr>
              <a:t>┐</a:t>
            </a:r>
            <a:r>
              <a:rPr kumimoji="0" lang="en-US" altLang="zh-CN" sz="2800" b="1" dirty="0" smtClean="0">
                <a:sym typeface="Symbol" pitchFamily="18" charset="2"/>
              </a:rPr>
              <a:t>G(x))</a:t>
            </a:r>
            <a:endParaRPr kumimoji="0" lang="en-US" altLang="zh-CN" sz="2800" b="1" dirty="0">
              <a:sym typeface="Symbol" pitchFamily="18" charset="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110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3110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31106">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31106">
                                            <p:txEl>
                                              <p:pRg st="7" end="7"/>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31106">
                                            <p:txEl>
                                              <p:pRg st="5" end="5"/>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3110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8BCC72CD-6B55-4A6A-87C3-E7DFB6A43B48}" type="slidenum">
              <a:rPr lang="en-US" altLang="zh-CN"/>
              <a:pPr/>
              <a:t>69</a:t>
            </a:fld>
            <a:endParaRPr lang="en-US" altLang="zh-CN"/>
          </a:p>
        </p:txBody>
      </p:sp>
      <p:sp>
        <p:nvSpPr>
          <p:cNvPr id="432130" name="Rectangle 2"/>
          <p:cNvSpPr>
            <a:spLocks noChangeArrowheads="1"/>
          </p:cNvSpPr>
          <p:nvPr/>
        </p:nvSpPr>
        <p:spPr bwMode="auto">
          <a:xfrm>
            <a:off x="971550" y="1268413"/>
            <a:ext cx="7345363" cy="3981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en-US" altLang="zh-CN" sz="2800" b="1" dirty="0"/>
              <a:t>     </a:t>
            </a:r>
            <a:r>
              <a:rPr kumimoji="0" lang="en-US" altLang="zh-CN" sz="2800" b="1" dirty="0">
                <a:sym typeface="Wingdings" pitchFamily="2" charset="2"/>
              </a:rPr>
              <a:t>(3</a:t>
            </a:r>
            <a:r>
              <a:rPr kumimoji="0" lang="en-US" altLang="zh-CN" sz="2800" b="1" dirty="0" smtClean="0">
                <a:sym typeface="Wingdings" pitchFamily="2" charset="2"/>
              </a:rPr>
              <a:t>)</a:t>
            </a:r>
            <a:r>
              <a:rPr kumimoji="0" lang="en-US" altLang="zh-CN" sz="2800" b="1" dirty="0" smtClean="0">
                <a:latin typeface="宋体" charset="-122"/>
                <a:sym typeface="Wingdings" pitchFamily="2" charset="2"/>
              </a:rPr>
              <a:t>┐</a:t>
            </a:r>
            <a:r>
              <a:rPr kumimoji="0" lang="en-US" altLang="zh-CN" sz="2800" b="1" dirty="0" smtClean="0">
                <a:sym typeface="Symbol" pitchFamily="18" charset="2"/>
              </a:rPr>
              <a:t>(x)(y)(F(x)∧G(y)H(</a:t>
            </a:r>
            <a:r>
              <a:rPr kumimoji="0" lang="en-US" altLang="zh-CN" sz="2800" b="1" dirty="0" err="1" smtClean="0">
                <a:sym typeface="Symbol" pitchFamily="18" charset="2"/>
              </a:rPr>
              <a:t>x,y</a:t>
            </a:r>
            <a:r>
              <a:rPr kumimoji="0" lang="en-US" altLang="zh-CN" sz="2800" b="1" dirty="0" smtClean="0">
                <a:sym typeface="Symbol" pitchFamily="18" charset="2"/>
              </a:rPr>
              <a:t>))</a:t>
            </a:r>
          </a:p>
          <a:p>
            <a:pPr algn="l">
              <a:lnSpc>
                <a:spcPct val="130000"/>
              </a:lnSpc>
            </a:pPr>
            <a:r>
              <a:rPr kumimoji="0" lang="en-US" altLang="zh-CN" sz="2800" b="1" dirty="0" smtClean="0">
                <a:sym typeface="Symbol" pitchFamily="18" charset="2"/>
              </a:rPr>
              <a:t></a:t>
            </a:r>
            <a:r>
              <a:rPr kumimoji="0" lang="en-US" altLang="zh-CN" sz="2800" b="1" dirty="0" smtClean="0">
                <a:sym typeface="Wingdings" pitchFamily="2" charset="2"/>
              </a:rPr>
              <a:t> </a:t>
            </a:r>
            <a:r>
              <a:rPr kumimoji="0" lang="en-US" altLang="zh-CN" sz="2800" b="1" dirty="0" smtClean="0">
                <a:sym typeface="Symbol" pitchFamily="18" charset="2"/>
              </a:rPr>
              <a:t>(x)</a:t>
            </a:r>
            <a:r>
              <a:rPr kumimoji="0" lang="en-US" altLang="zh-CN" sz="2800" b="1" dirty="0" smtClean="0">
                <a:latin typeface="宋体" charset="-122"/>
                <a:sym typeface="Wingdings" pitchFamily="2" charset="2"/>
              </a:rPr>
              <a:t>┐</a:t>
            </a:r>
            <a:r>
              <a:rPr kumimoji="0" lang="en-US" altLang="zh-CN" sz="2800" b="1" dirty="0" smtClean="0">
                <a:solidFill>
                  <a:schemeClr val="hlink"/>
                </a:solidFill>
                <a:sym typeface="Wingdings" pitchFamily="2" charset="2"/>
              </a:rPr>
              <a:t>(</a:t>
            </a:r>
            <a:r>
              <a:rPr kumimoji="0" lang="en-US" altLang="zh-CN" sz="2800" b="1" dirty="0" smtClean="0">
                <a:sym typeface="Symbol" pitchFamily="18" charset="2"/>
              </a:rPr>
              <a:t>(y)(F(x)∧G(y)H(</a:t>
            </a:r>
            <a:r>
              <a:rPr kumimoji="0" lang="en-US" altLang="zh-CN" sz="2800" b="1" dirty="0" err="1" smtClean="0">
                <a:sym typeface="Symbol" pitchFamily="18" charset="2"/>
              </a:rPr>
              <a:t>x,y</a:t>
            </a:r>
            <a:r>
              <a:rPr kumimoji="0" lang="en-US" altLang="zh-CN" sz="2800" b="1" dirty="0" smtClean="0">
                <a:sym typeface="Symbol" pitchFamily="18" charset="2"/>
              </a:rPr>
              <a:t>))</a:t>
            </a:r>
            <a:r>
              <a:rPr kumimoji="0" lang="en-US" altLang="zh-CN" sz="2800" b="1" dirty="0" smtClean="0">
                <a:solidFill>
                  <a:schemeClr val="hlink"/>
                </a:solidFill>
                <a:sym typeface="Symbol" pitchFamily="18" charset="2"/>
              </a:rPr>
              <a:t>)</a:t>
            </a:r>
          </a:p>
          <a:p>
            <a:pPr algn="l">
              <a:lnSpc>
                <a:spcPct val="130000"/>
              </a:lnSpc>
            </a:pPr>
            <a:r>
              <a:rPr kumimoji="0" lang="en-US" altLang="zh-CN" sz="2800" b="1" dirty="0" smtClean="0">
                <a:sym typeface="Symbol" pitchFamily="18" charset="2"/>
              </a:rPr>
              <a:t></a:t>
            </a:r>
            <a:r>
              <a:rPr kumimoji="0" lang="en-US" altLang="zh-CN" sz="2800" b="1" dirty="0" smtClean="0">
                <a:sym typeface="Wingdings" pitchFamily="2" charset="2"/>
              </a:rPr>
              <a:t> </a:t>
            </a:r>
            <a:r>
              <a:rPr kumimoji="0" lang="en-US" altLang="zh-CN" sz="2800" b="1" dirty="0" smtClean="0">
                <a:sym typeface="Symbol" pitchFamily="18" charset="2"/>
              </a:rPr>
              <a:t>(x)(y)</a:t>
            </a:r>
            <a:r>
              <a:rPr kumimoji="0" lang="en-US" altLang="zh-CN" sz="2800" b="1" dirty="0" smtClean="0">
                <a:latin typeface="宋体" charset="-122"/>
                <a:sym typeface="Wingdings" pitchFamily="2" charset="2"/>
              </a:rPr>
              <a:t>┐</a:t>
            </a:r>
            <a:r>
              <a:rPr kumimoji="0" lang="en-US" altLang="zh-CN" sz="2800" b="1" dirty="0" smtClean="0">
                <a:sym typeface="Symbol" pitchFamily="18" charset="2"/>
              </a:rPr>
              <a:t>(F(x)∧G(y)H(</a:t>
            </a:r>
            <a:r>
              <a:rPr kumimoji="0" lang="en-US" altLang="zh-CN" sz="2800" b="1" dirty="0" err="1" smtClean="0">
                <a:sym typeface="Symbol" pitchFamily="18" charset="2"/>
              </a:rPr>
              <a:t>x,y</a:t>
            </a:r>
            <a:r>
              <a:rPr kumimoji="0" lang="en-US" altLang="zh-CN" sz="2800" b="1" dirty="0" smtClean="0">
                <a:sym typeface="Symbol" pitchFamily="18" charset="2"/>
              </a:rPr>
              <a:t>))</a:t>
            </a:r>
            <a:endParaRPr kumimoji="0" lang="en-US" altLang="zh-CN" sz="2800" b="1" dirty="0" smtClean="0">
              <a:sym typeface="Wingdings" pitchFamily="2" charset="2"/>
            </a:endParaRPr>
          </a:p>
          <a:p>
            <a:pPr algn="l">
              <a:lnSpc>
                <a:spcPct val="130000"/>
              </a:lnSpc>
            </a:pPr>
            <a:r>
              <a:rPr kumimoji="0" lang="en-US" altLang="zh-CN" sz="2800" b="1" dirty="0" smtClean="0">
                <a:sym typeface="Symbol" pitchFamily="18" charset="2"/>
              </a:rPr>
              <a:t>(x)(y)</a:t>
            </a:r>
            <a:r>
              <a:rPr kumimoji="0" lang="en-US" altLang="zh-CN" sz="2800" b="1" dirty="0" smtClean="0">
                <a:latin typeface="宋体" charset="-122"/>
                <a:sym typeface="Wingdings" pitchFamily="2" charset="2"/>
              </a:rPr>
              <a:t>┐</a:t>
            </a:r>
            <a:r>
              <a:rPr kumimoji="0" lang="en-US" altLang="zh-CN" sz="2800" b="1" dirty="0" smtClean="0">
                <a:sym typeface="Symbol" pitchFamily="18" charset="2"/>
              </a:rPr>
              <a:t>(</a:t>
            </a:r>
            <a:r>
              <a:rPr kumimoji="0" lang="en-US" altLang="zh-CN" sz="2800" b="1" dirty="0" smtClean="0">
                <a:latin typeface="宋体" charset="-122"/>
                <a:sym typeface="Wingdings" pitchFamily="2" charset="2"/>
              </a:rPr>
              <a:t>┐</a:t>
            </a:r>
            <a:r>
              <a:rPr kumimoji="0" lang="en-US" altLang="zh-CN" sz="2800" b="1" dirty="0" smtClean="0">
                <a:sym typeface="Symbol" pitchFamily="18" charset="2"/>
              </a:rPr>
              <a:t>(F(x)∧G(y))∨H(</a:t>
            </a:r>
            <a:r>
              <a:rPr kumimoji="0" lang="en-US" altLang="zh-CN" sz="2800" b="1" dirty="0" err="1" smtClean="0">
                <a:sym typeface="Symbol" pitchFamily="18" charset="2"/>
              </a:rPr>
              <a:t>x,y</a:t>
            </a:r>
            <a:r>
              <a:rPr kumimoji="0" lang="en-US" altLang="zh-CN" sz="2800" b="1" dirty="0" smtClean="0">
                <a:sym typeface="Symbol" pitchFamily="18" charset="2"/>
              </a:rPr>
              <a:t>))</a:t>
            </a:r>
          </a:p>
          <a:p>
            <a:pPr algn="l">
              <a:lnSpc>
                <a:spcPct val="130000"/>
              </a:lnSpc>
            </a:pPr>
            <a:r>
              <a:rPr kumimoji="0" lang="en-US" altLang="zh-CN" sz="2800" b="1" dirty="0" smtClean="0">
                <a:sym typeface="Symbol" pitchFamily="18" charset="2"/>
              </a:rPr>
              <a:t>(x)(y)((F(x)∧G(y))∧</a:t>
            </a:r>
            <a:r>
              <a:rPr kumimoji="0" lang="en-US" altLang="zh-CN" sz="2800" b="1" dirty="0" smtClean="0">
                <a:latin typeface="宋体" charset="-122"/>
                <a:sym typeface="Wingdings" pitchFamily="2" charset="2"/>
              </a:rPr>
              <a:t>┐</a:t>
            </a:r>
            <a:r>
              <a:rPr kumimoji="0" lang="en-US" altLang="zh-CN" sz="2800" b="1" dirty="0" smtClean="0">
                <a:sym typeface="Symbol" pitchFamily="18" charset="2"/>
              </a:rPr>
              <a:t>H(</a:t>
            </a:r>
            <a:r>
              <a:rPr kumimoji="0" lang="en-US" altLang="zh-CN" sz="2800" b="1" dirty="0" err="1" smtClean="0">
                <a:sym typeface="Symbol" pitchFamily="18" charset="2"/>
              </a:rPr>
              <a:t>x,y</a:t>
            </a:r>
            <a:r>
              <a:rPr kumimoji="0" lang="en-US" altLang="zh-CN" sz="2800" b="1" dirty="0" smtClean="0">
                <a:sym typeface="Symbol" pitchFamily="18" charset="2"/>
              </a:rPr>
              <a:t>))</a:t>
            </a:r>
          </a:p>
          <a:p>
            <a:pPr algn="l">
              <a:lnSpc>
                <a:spcPct val="130000"/>
              </a:lnSpc>
            </a:pPr>
            <a:r>
              <a:rPr kumimoji="0" lang="en-US" altLang="zh-CN" sz="2800" b="1" dirty="0" smtClean="0">
                <a:sym typeface="Wingdings" pitchFamily="2" charset="2"/>
              </a:rPr>
              <a:t>     (4)</a:t>
            </a:r>
            <a:r>
              <a:rPr kumimoji="0" lang="en-US" altLang="zh-CN" sz="2800" b="1" dirty="0" smtClean="0">
                <a:latin typeface="宋体" charset="-122"/>
                <a:sym typeface="Wingdings" pitchFamily="2" charset="2"/>
              </a:rPr>
              <a:t>┐</a:t>
            </a:r>
            <a:r>
              <a:rPr kumimoji="0" lang="en-US" altLang="zh-CN" sz="2800" b="1" dirty="0" smtClean="0">
                <a:sym typeface="Symbol" pitchFamily="18" charset="2"/>
              </a:rPr>
              <a:t>(x)(y)(F(x)∧G(y)∧H(</a:t>
            </a:r>
            <a:r>
              <a:rPr kumimoji="0" lang="en-US" altLang="zh-CN" sz="2800" b="1" dirty="0" err="1" smtClean="0">
                <a:sym typeface="Symbol" pitchFamily="18" charset="2"/>
              </a:rPr>
              <a:t>x,y</a:t>
            </a:r>
            <a:r>
              <a:rPr kumimoji="0" lang="en-US" altLang="zh-CN" sz="2800" b="1" dirty="0" smtClean="0">
                <a:sym typeface="Symbol" pitchFamily="18" charset="2"/>
              </a:rPr>
              <a:t>)) (x)(y)(F(x)∧G(y)</a:t>
            </a:r>
            <a:r>
              <a:rPr kumimoji="0" lang="en-US" altLang="zh-CN" sz="2800" b="1" dirty="0" smtClean="0">
                <a:latin typeface="宋体" charset="-122"/>
                <a:sym typeface="Wingdings" pitchFamily="2" charset="2"/>
              </a:rPr>
              <a:t>┐</a:t>
            </a:r>
            <a:r>
              <a:rPr kumimoji="0" lang="en-US" altLang="zh-CN" sz="2800" b="1" dirty="0" smtClean="0">
                <a:sym typeface="Symbol" pitchFamily="18" charset="2"/>
              </a:rPr>
              <a:t>H(</a:t>
            </a:r>
            <a:r>
              <a:rPr kumimoji="0" lang="en-US" altLang="zh-CN" sz="2800" b="1" dirty="0" err="1" smtClean="0">
                <a:sym typeface="Symbol" pitchFamily="18" charset="2"/>
              </a:rPr>
              <a:t>x,y</a:t>
            </a:r>
            <a:r>
              <a:rPr kumimoji="0" lang="en-US" altLang="zh-CN" sz="2800" b="1" dirty="0" smtClean="0">
                <a:sym typeface="Symbol" pitchFamily="18" charset="2"/>
              </a:rPr>
              <a:t>))</a:t>
            </a:r>
            <a:endParaRPr kumimoji="0" lang="en-US" altLang="zh-CN" sz="2800" b="1" dirty="0">
              <a:sym typeface="Symbol" pitchFamily="18" charset="2"/>
            </a:endParaRP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213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3213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3213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3213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灯片编号占位符 4"/>
          <p:cNvSpPr>
            <a:spLocks noGrp="1"/>
          </p:cNvSpPr>
          <p:nvPr>
            <p:ph type="sldNum" sz="quarter" idx="11"/>
          </p:nvPr>
        </p:nvSpPr>
        <p:spPr/>
        <p:txBody>
          <a:bodyPr/>
          <a:lstStyle/>
          <a:p>
            <a:fld id="{19B2176F-6D09-45C2-974E-08BBE666D08F}" type="slidenum">
              <a:rPr lang="en-US" altLang="zh-CN"/>
              <a:pPr/>
              <a:t>70</a:t>
            </a:fld>
            <a:endParaRPr lang="en-US" altLang="zh-CN"/>
          </a:p>
        </p:txBody>
      </p:sp>
      <p:sp>
        <p:nvSpPr>
          <p:cNvPr id="393218" name="Rectangle 2"/>
          <p:cNvSpPr>
            <a:spLocks noGrp="1" noChangeArrowheads="1"/>
          </p:cNvSpPr>
          <p:nvPr>
            <p:ph type="title"/>
          </p:nvPr>
        </p:nvSpPr>
        <p:spPr>
          <a:xfrm>
            <a:off x="1258888" y="546100"/>
            <a:ext cx="4318000" cy="701675"/>
          </a:xfrm>
          <a:noFill/>
        </p:spPr>
        <p:txBody>
          <a:bodyPr/>
          <a:lstStyle/>
          <a:p>
            <a:r>
              <a:rPr lang="en-US" altLang="zh-CN" sz="3600" b="1">
                <a:solidFill>
                  <a:schemeClr val="tx1"/>
                </a:solidFill>
                <a:latin typeface="华文行楷" pitchFamily="2" charset="-122"/>
                <a:ea typeface="华文行楷" pitchFamily="2" charset="-122"/>
              </a:rPr>
              <a:t>2.6  </a:t>
            </a:r>
            <a:r>
              <a:rPr lang="zh-CN" altLang="en-US" sz="3600" b="1">
                <a:solidFill>
                  <a:schemeClr val="tx1"/>
                </a:solidFill>
                <a:latin typeface="华文行楷" pitchFamily="2" charset="-122"/>
                <a:ea typeface="华文行楷" pitchFamily="2" charset="-122"/>
              </a:rPr>
              <a:t>前束范式</a:t>
            </a:r>
          </a:p>
        </p:txBody>
      </p:sp>
      <p:sp>
        <p:nvSpPr>
          <p:cNvPr id="393219" name="Rectangle 3"/>
          <p:cNvSpPr>
            <a:spLocks noChangeArrowheads="1"/>
          </p:cNvSpPr>
          <p:nvPr/>
        </p:nvSpPr>
        <p:spPr bwMode="auto">
          <a:xfrm>
            <a:off x="755650" y="1412875"/>
            <a:ext cx="7561263" cy="2655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dirty="0">
                <a:solidFill>
                  <a:schemeClr val="hlink"/>
                </a:solidFill>
                <a:sym typeface="Symbol" pitchFamily="18" charset="2"/>
              </a:rPr>
              <a:t>定义 </a:t>
            </a:r>
            <a:r>
              <a:rPr lang="en-US" altLang="zh-CN" sz="2800" b="1" dirty="0">
                <a:solidFill>
                  <a:schemeClr val="hlink"/>
                </a:solidFill>
                <a:sym typeface="Symbol" pitchFamily="18" charset="2"/>
              </a:rPr>
              <a:t>2-6.1</a:t>
            </a:r>
            <a:r>
              <a:rPr lang="zh-CN" altLang="en-US" sz="2800" b="1" dirty="0">
                <a:solidFill>
                  <a:schemeClr val="hlink"/>
                </a:solidFill>
                <a:sym typeface="Symbol" pitchFamily="18" charset="2"/>
              </a:rPr>
              <a:t>：</a:t>
            </a:r>
            <a:r>
              <a:rPr lang="zh-CN" altLang="en-US" sz="2800" b="1" dirty="0">
                <a:sym typeface="Symbol" pitchFamily="18" charset="2"/>
              </a:rPr>
              <a:t>设</a:t>
            </a:r>
            <a:r>
              <a:rPr lang="en-US" altLang="zh-CN" sz="2800" b="1" dirty="0">
                <a:sym typeface="Symbol" pitchFamily="18" charset="2"/>
              </a:rPr>
              <a:t>A </a:t>
            </a:r>
            <a:r>
              <a:rPr lang="zh-CN" altLang="en-US" sz="2800" b="1" dirty="0">
                <a:sym typeface="Symbol" pitchFamily="18" charset="2"/>
              </a:rPr>
              <a:t>是一个谓词逻辑公式，若</a:t>
            </a:r>
            <a:r>
              <a:rPr lang="en-US" altLang="zh-CN" sz="2800" b="1" dirty="0">
                <a:sym typeface="Symbol" pitchFamily="18" charset="2"/>
              </a:rPr>
              <a:t>A</a:t>
            </a:r>
            <a:r>
              <a:rPr lang="zh-CN" altLang="en-US" sz="2800" b="1" dirty="0">
                <a:sym typeface="Symbol" pitchFamily="18" charset="2"/>
              </a:rPr>
              <a:t>具有如下形式</a:t>
            </a:r>
          </a:p>
          <a:p>
            <a:pPr>
              <a:lnSpc>
                <a:spcPct val="120000"/>
              </a:lnSpc>
            </a:pPr>
            <a:r>
              <a:rPr lang="en-US" altLang="zh-CN" sz="2800" b="1" dirty="0">
                <a:sym typeface="Symbol" pitchFamily="18" charset="2"/>
              </a:rPr>
              <a:t>Q</a:t>
            </a:r>
            <a:r>
              <a:rPr lang="en-US" altLang="zh-CN" sz="2800" b="1" baseline="-25000" dirty="0">
                <a:sym typeface="Symbol" pitchFamily="18" charset="2"/>
              </a:rPr>
              <a:t>1</a:t>
            </a:r>
            <a:r>
              <a:rPr lang="en-US" altLang="zh-CN" sz="2800" b="1" dirty="0">
                <a:sym typeface="Symbol" pitchFamily="18" charset="2"/>
              </a:rPr>
              <a:t>x</a:t>
            </a:r>
            <a:r>
              <a:rPr lang="en-US" altLang="zh-CN" sz="2800" b="1" baseline="-25000" dirty="0">
                <a:sym typeface="Symbol" pitchFamily="18" charset="2"/>
              </a:rPr>
              <a:t>1</a:t>
            </a:r>
            <a:r>
              <a:rPr lang="en-US" altLang="zh-CN" sz="2800" b="1" dirty="0">
                <a:sym typeface="Symbol" pitchFamily="18" charset="2"/>
              </a:rPr>
              <a:t>Q</a:t>
            </a:r>
            <a:r>
              <a:rPr lang="en-US" altLang="zh-CN" sz="2800" b="1" baseline="-25000" dirty="0">
                <a:sym typeface="Symbol" pitchFamily="18" charset="2"/>
              </a:rPr>
              <a:t>2</a:t>
            </a:r>
            <a:r>
              <a:rPr lang="en-US" altLang="zh-CN" sz="2800" b="1" dirty="0">
                <a:sym typeface="Symbol" pitchFamily="18" charset="2"/>
              </a:rPr>
              <a:t>x</a:t>
            </a:r>
            <a:r>
              <a:rPr lang="en-US" altLang="zh-CN" sz="2800" b="1" baseline="-25000" dirty="0">
                <a:sym typeface="Symbol" pitchFamily="18" charset="2"/>
              </a:rPr>
              <a:t>2</a:t>
            </a:r>
            <a:r>
              <a:rPr lang="en-US" altLang="zh-CN" sz="2800" b="1" dirty="0">
                <a:sym typeface="Symbol" pitchFamily="18" charset="2"/>
              </a:rPr>
              <a:t>…</a:t>
            </a:r>
            <a:r>
              <a:rPr lang="en-US" altLang="zh-CN" sz="2800" b="1" dirty="0" err="1">
                <a:sym typeface="Symbol" pitchFamily="18" charset="2"/>
              </a:rPr>
              <a:t>Q</a:t>
            </a:r>
            <a:r>
              <a:rPr lang="en-US" altLang="zh-CN" sz="2800" b="1" baseline="-25000" dirty="0" err="1">
                <a:sym typeface="Symbol" pitchFamily="18" charset="2"/>
              </a:rPr>
              <a:t>k</a:t>
            </a:r>
            <a:r>
              <a:rPr lang="en-US" altLang="zh-CN" sz="2800" b="1" dirty="0" err="1">
                <a:sym typeface="Symbol" pitchFamily="18" charset="2"/>
              </a:rPr>
              <a:t>x</a:t>
            </a:r>
            <a:r>
              <a:rPr lang="en-US" altLang="zh-CN" sz="2800" b="1" baseline="-25000" dirty="0" err="1">
                <a:sym typeface="Symbol" pitchFamily="18" charset="2"/>
              </a:rPr>
              <a:t>k</a:t>
            </a:r>
            <a:r>
              <a:rPr lang="en-US" altLang="zh-CN" sz="2800" b="1" dirty="0" err="1">
                <a:sym typeface="Symbol" pitchFamily="18" charset="2"/>
              </a:rPr>
              <a:t>B</a:t>
            </a:r>
            <a:r>
              <a:rPr lang="en-US" altLang="zh-CN" sz="2800" b="1" dirty="0">
                <a:sym typeface="Symbol" pitchFamily="18" charset="2"/>
              </a:rPr>
              <a:t> </a:t>
            </a:r>
          </a:p>
          <a:p>
            <a:pPr algn="l">
              <a:lnSpc>
                <a:spcPct val="120000"/>
              </a:lnSpc>
            </a:pPr>
            <a:r>
              <a:rPr lang="zh-CN" altLang="en-US" sz="2800" b="1" dirty="0">
                <a:sym typeface="Symbol" pitchFamily="18" charset="2"/>
              </a:rPr>
              <a:t>则称</a:t>
            </a:r>
            <a:r>
              <a:rPr lang="en-US" altLang="zh-CN" sz="2800" b="1" dirty="0">
                <a:sym typeface="Symbol" pitchFamily="18" charset="2"/>
              </a:rPr>
              <a:t>A</a:t>
            </a:r>
            <a:r>
              <a:rPr lang="zh-CN" altLang="en-US" sz="2800" b="1" dirty="0">
                <a:sym typeface="Symbol" pitchFamily="18" charset="2"/>
              </a:rPr>
              <a:t>为</a:t>
            </a:r>
            <a:r>
              <a:rPr lang="zh-CN" altLang="en-US" sz="2800" b="1" u="sng" dirty="0">
                <a:solidFill>
                  <a:schemeClr val="hlink"/>
                </a:solidFill>
                <a:sym typeface="Symbol" pitchFamily="18" charset="2"/>
              </a:rPr>
              <a:t>前束范式</a:t>
            </a:r>
            <a:r>
              <a:rPr lang="zh-CN" altLang="en-US" sz="2800" b="1" dirty="0">
                <a:sym typeface="Symbol" pitchFamily="18" charset="2"/>
              </a:rPr>
              <a:t>，其中</a:t>
            </a:r>
            <a:r>
              <a:rPr lang="en-US" altLang="zh-CN" sz="2800" b="1" dirty="0">
                <a:sym typeface="Symbol" pitchFamily="18" charset="2"/>
              </a:rPr>
              <a:t>Q</a:t>
            </a:r>
            <a:r>
              <a:rPr lang="en-US" altLang="zh-CN" sz="2800" b="1" baseline="-25000" dirty="0">
                <a:sym typeface="Symbol" pitchFamily="18" charset="2"/>
              </a:rPr>
              <a:t>i</a:t>
            </a:r>
            <a:r>
              <a:rPr lang="zh-CN" altLang="en-US" sz="2800" b="1" dirty="0">
                <a:sym typeface="Symbol" pitchFamily="18" charset="2"/>
              </a:rPr>
              <a:t>为或，</a:t>
            </a:r>
            <a:r>
              <a:rPr lang="en-US" altLang="zh-CN" sz="2800" b="1" dirty="0">
                <a:sym typeface="Symbol" pitchFamily="18" charset="2"/>
              </a:rPr>
              <a:t>B</a:t>
            </a:r>
            <a:r>
              <a:rPr lang="zh-CN" altLang="en-US" sz="2800" b="1" dirty="0">
                <a:sym typeface="Symbol" pitchFamily="18" charset="2"/>
              </a:rPr>
              <a:t>为不含量词的公式</a:t>
            </a:r>
            <a:r>
              <a:rPr lang="en-US" altLang="zh-CN" sz="2800" b="1" dirty="0">
                <a:sym typeface="Symbol" pitchFamily="18" charset="2"/>
              </a:rPr>
              <a:t>(</a:t>
            </a:r>
            <a:r>
              <a:rPr lang="zh-CN" altLang="en-US" sz="2800" b="1" dirty="0">
                <a:sym typeface="Symbol" pitchFamily="18" charset="2"/>
              </a:rPr>
              <a:t>作用域</a:t>
            </a:r>
            <a:r>
              <a:rPr lang="en-US" altLang="zh-CN" sz="2800" b="1" dirty="0">
                <a:sym typeface="Symbol" pitchFamily="18" charset="2"/>
              </a:rPr>
              <a:t>)</a:t>
            </a:r>
            <a:r>
              <a:rPr lang="zh-CN" altLang="en-US" sz="2800" b="1" dirty="0">
                <a:sym typeface="Symbol" pitchFamily="18" charset="2"/>
              </a:rPr>
              <a:t>。</a:t>
            </a:r>
          </a:p>
        </p:txBody>
      </p:sp>
      <p:sp>
        <p:nvSpPr>
          <p:cNvPr id="393220" name="Rectangle 4"/>
          <p:cNvSpPr>
            <a:spLocks noChangeArrowheads="1"/>
          </p:cNvSpPr>
          <p:nvPr/>
        </p:nvSpPr>
        <p:spPr bwMode="auto">
          <a:xfrm>
            <a:off x="755650" y="3959225"/>
            <a:ext cx="7704138" cy="1630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olidFill>
                  <a:schemeClr val="hlink"/>
                </a:solidFill>
                <a:sym typeface="Symbol" pitchFamily="18" charset="2"/>
              </a:rPr>
              <a:t>如：</a:t>
            </a:r>
          </a:p>
          <a:p>
            <a:pPr algn="l">
              <a:lnSpc>
                <a:spcPct val="120000"/>
              </a:lnSpc>
            </a:pPr>
            <a:r>
              <a:rPr lang="en-US" altLang="zh-CN" sz="2800" b="1">
                <a:sym typeface="Symbol" pitchFamily="18" charset="2"/>
              </a:rPr>
              <a:t>(x)(y)((F(x)∧G(y))∧</a:t>
            </a:r>
            <a:r>
              <a:rPr lang="en-US" altLang="zh-CN" sz="2800" b="1">
                <a:latin typeface="宋体" charset="-122"/>
                <a:sym typeface="Symbol" pitchFamily="18" charset="2"/>
              </a:rPr>
              <a:t>┐</a:t>
            </a:r>
            <a:r>
              <a:rPr lang="en-US" altLang="zh-CN" sz="2800" b="1">
                <a:sym typeface="Symbol" pitchFamily="18" charset="2"/>
              </a:rPr>
              <a:t>H(x,y)) </a:t>
            </a:r>
            <a:endParaRPr lang="en-US" altLang="zh-CN" sz="2800" b="1"/>
          </a:p>
          <a:p>
            <a:pPr algn="l">
              <a:lnSpc>
                <a:spcPct val="120000"/>
              </a:lnSpc>
            </a:pPr>
            <a:r>
              <a:rPr lang="en-US" altLang="zh-CN" sz="2800" b="1">
                <a:sym typeface="Symbol" pitchFamily="18" charset="2"/>
              </a:rPr>
              <a:t>(x)(y)(F(x,y)∧G(y,z))∨(x)H(x,y,z)</a:t>
            </a:r>
            <a:endParaRPr lang="en-US" altLang="zh-CN" sz="2800" b="1">
              <a:solidFill>
                <a:schemeClr val="hlink"/>
              </a:solidFill>
              <a:sym typeface="Symbol" pitchFamily="18" charset="2"/>
            </a:endParaRPr>
          </a:p>
        </p:txBody>
      </p:sp>
      <p:sp>
        <p:nvSpPr>
          <p:cNvPr id="393221" name="Rectangle 5"/>
          <p:cNvSpPr>
            <a:spLocks noChangeArrowheads="1"/>
          </p:cNvSpPr>
          <p:nvPr/>
        </p:nvSpPr>
        <p:spPr bwMode="auto">
          <a:xfrm>
            <a:off x="7264400" y="4537075"/>
            <a:ext cx="5413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zh-CN" sz="2800" b="1">
                <a:solidFill>
                  <a:schemeClr val="hlink"/>
                </a:solidFill>
                <a:sym typeface="Symbol" pitchFamily="18" charset="2"/>
              </a:rPr>
              <a:t>√</a:t>
            </a:r>
          </a:p>
        </p:txBody>
      </p:sp>
      <p:sp>
        <p:nvSpPr>
          <p:cNvPr id="393222" name="Rectangle 6"/>
          <p:cNvSpPr>
            <a:spLocks noChangeArrowheads="1"/>
          </p:cNvSpPr>
          <p:nvPr/>
        </p:nvSpPr>
        <p:spPr bwMode="auto">
          <a:xfrm>
            <a:off x="7308850" y="5070475"/>
            <a:ext cx="490538"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r>
              <a:rPr lang="en-US" altLang="zh-CN" sz="2800" b="1">
                <a:solidFill>
                  <a:schemeClr val="hlink"/>
                </a:solidFill>
                <a:sym typeface="Symbol" pitchFamily="18" charset="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322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9322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32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3220" grpId="0"/>
      <p:bldP spid="393221" grpId="0"/>
      <p:bldP spid="393222" grpId="0"/>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721C5DD6-CAE1-428D-B364-1AA9BAAB453F}" type="slidenum">
              <a:rPr lang="en-US" altLang="zh-CN"/>
              <a:pPr/>
              <a:t>71</a:t>
            </a:fld>
            <a:endParaRPr lang="en-US" altLang="zh-CN"/>
          </a:p>
        </p:txBody>
      </p:sp>
      <p:sp>
        <p:nvSpPr>
          <p:cNvPr id="394242" name="Rectangle 2"/>
          <p:cNvSpPr>
            <a:spLocks noGrp="1" noChangeArrowheads="1"/>
          </p:cNvSpPr>
          <p:nvPr>
            <p:ph type="body" idx="1"/>
          </p:nvPr>
        </p:nvSpPr>
        <p:spPr>
          <a:xfrm>
            <a:off x="755650" y="1374775"/>
            <a:ext cx="7772400" cy="1117600"/>
          </a:xfrm>
        </p:spPr>
        <p:txBody>
          <a:bodyPr/>
          <a:lstStyle/>
          <a:p>
            <a:pPr>
              <a:lnSpc>
                <a:spcPct val="120000"/>
              </a:lnSpc>
              <a:spcBef>
                <a:spcPct val="0"/>
              </a:spcBef>
            </a:pPr>
            <a:r>
              <a:rPr lang="zh-CN" altLang="en-US">
                <a:solidFill>
                  <a:schemeClr val="hlink"/>
                </a:solidFill>
              </a:rPr>
              <a:t>定理</a:t>
            </a:r>
            <a:r>
              <a:rPr lang="en-US" altLang="zh-CN">
                <a:solidFill>
                  <a:schemeClr val="hlink"/>
                </a:solidFill>
              </a:rPr>
              <a:t>2.6.1  (</a:t>
            </a:r>
            <a:r>
              <a:rPr lang="zh-CN" altLang="en-US">
                <a:solidFill>
                  <a:schemeClr val="hlink"/>
                </a:solidFill>
              </a:rPr>
              <a:t>前束范式存在定理</a:t>
            </a:r>
            <a:r>
              <a:rPr lang="en-US" altLang="zh-CN">
                <a:solidFill>
                  <a:schemeClr val="hlink"/>
                </a:solidFill>
              </a:rPr>
              <a:t>)</a:t>
            </a:r>
            <a:r>
              <a:rPr lang="zh-CN" altLang="en-US">
                <a:solidFill>
                  <a:schemeClr val="bg2"/>
                </a:solidFill>
              </a:rPr>
              <a:t>任意一个谓词公式，均和一个前束范式等价</a:t>
            </a:r>
            <a:r>
              <a:rPr lang="zh-CN" altLang="en-US"/>
              <a:t>。</a:t>
            </a:r>
          </a:p>
        </p:txBody>
      </p:sp>
      <p:sp>
        <p:nvSpPr>
          <p:cNvPr id="394243" name="Rectangle 3"/>
          <p:cNvSpPr>
            <a:spLocks noChangeArrowheads="1"/>
          </p:cNvSpPr>
          <p:nvPr/>
        </p:nvSpPr>
        <p:spPr bwMode="auto">
          <a:xfrm>
            <a:off x="755650" y="2565400"/>
            <a:ext cx="7561263" cy="2985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spcBef>
                <a:spcPts val="1200"/>
              </a:spcBef>
            </a:pPr>
            <a:r>
              <a:rPr lang="zh-CN" altLang="en-US" sz="2800" b="1" dirty="0">
                <a:sym typeface="Symbol" pitchFamily="18" charset="2"/>
              </a:rPr>
              <a:t>证明：首先利用量词转化公式，否定深入；</a:t>
            </a:r>
          </a:p>
          <a:p>
            <a:pPr algn="l">
              <a:lnSpc>
                <a:spcPct val="120000"/>
              </a:lnSpc>
              <a:spcBef>
                <a:spcPts val="1200"/>
              </a:spcBef>
            </a:pPr>
            <a:r>
              <a:rPr lang="zh-CN" altLang="en-US" sz="2800" b="1" dirty="0">
                <a:sym typeface="Symbol" pitchFamily="18" charset="2"/>
              </a:rPr>
              <a:t>            其次利用</a:t>
            </a:r>
            <a:r>
              <a:rPr lang="en-US" altLang="zh-CN" sz="2800" b="1" dirty="0">
                <a:sym typeface="Symbol" pitchFamily="18" charset="2"/>
              </a:rPr>
              <a:t>(x)(A(x)∨B)(x)A(x)∨B</a:t>
            </a:r>
          </a:p>
          <a:p>
            <a:pPr algn="l">
              <a:lnSpc>
                <a:spcPct val="120000"/>
              </a:lnSpc>
            </a:pPr>
            <a:r>
              <a:rPr lang="en-US" altLang="zh-CN" sz="2800" b="1" dirty="0">
                <a:sym typeface="Symbol" pitchFamily="18" charset="2"/>
              </a:rPr>
              <a:t>            </a:t>
            </a:r>
            <a:r>
              <a:rPr lang="zh-CN" altLang="en-US" sz="2800" b="1" dirty="0">
                <a:sym typeface="Symbol" pitchFamily="18" charset="2"/>
              </a:rPr>
              <a:t>和</a:t>
            </a:r>
            <a:r>
              <a:rPr lang="en-US" altLang="zh-CN" sz="2800" b="1" dirty="0">
                <a:sym typeface="Symbol" pitchFamily="18" charset="2"/>
              </a:rPr>
              <a:t>(x)(A(x)∧B)(x)A(x)∧B</a:t>
            </a:r>
            <a:r>
              <a:rPr lang="zh-CN" altLang="en-US" sz="2800" b="1" dirty="0">
                <a:sym typeface="Symbol" pitchFamily="18" charset="2"/>
              </a:rPr>
              <a:t>，把量词</a:t>
            </a:r>
          </a:p>
          <a:p>
            <a:pPr algn="l">
              <a:lnSpc>
                <a:spcPct val="120000"/>
              </a:lnSpc>
            </a:pPr>
            <a:r>
              <a:rPr lang="zh-CN" altLang="en-US" sz="2800" b="1" dirty="0">
                <a:sym typeface="Symbol" pitchFamily="18" charset="2"/>
              </a:rPr>
              <a:t>            移到全式的最前面；</a:t>
            </a:r>
          </a:p>
          <a:p>
            <a:pPr algn="l">
              <a:lnSpc>
                <a:spcPct val="120000"/>
              </a:lnSpc>
              <a:spcBef>
                <a:spcPts val="1200"/>
              </a:spcBef>
            </a:pPr>
            <a:r>
              <a:rPr lang="zh-CN" altLang="en-US" sz="2800" b="1" dirty="0">
                <a:sym typeface="Symbol" pitchFamily="18" charset="2"/>
              </a:rPr>
              <a:t>            即可得到公式的前束范式。</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4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942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942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4243">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9424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18CE4A2C-DA88-422F-BED7-8AD49B5A880F}" type="slidenum">
              <a:rPr lang="en-US" altLang="zh-CN"/>
              <a:pPr/>
              <a:t>72</a:t>
            </a:fld>
            <a:endParaRPr lang="en-US" altLang="zh-CN"/>
          </a:p>
        </p:txBody>
      </p:sp>
      <p:sp>
        <p:nvSpPr>
          <p:cNvPr id="434178" name="Rectangle 2"/>
          <p:cNvSpPr>
            <a:spLocks noChangeArrowheads="1"/>
          </p:cNvSpPr>
          <p:nvPr/>
        </p:nvSpPr>
        <p:spPr bwMode="auto">
          <a:xfrm>
            <a:off x="288925" y="1412875"/>
            <a:ext cx="8675688" cy="49490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b="1" dirty="0">
                <a:solidFill>
                  <a:schemeClr val="hlink"/>
                </a:solidFill>
              </a:rPr>
              <a:t>例</a:t>
            </a:r>
            <a:r>
              <a:rPr kumimoji="0" lang="en-US" altLang="zh-CN" b="1" dirty="0">
                <a:solidFill>
                  <a:schemeClr val="hlink"/>
                </a:solidFill>
              </a:rPr>
              <a:t>1</a:t>
            </a:r>
            <a:r>
              <a:rPr kumimoji="0" lang="zh-CN" altLang="en-US" b="1" dirty="0">
                <a:solidFill>
                  <a:schemeClr val="hlink"/>
                </a:solidFill>
              </a:rPr>
              <a:t>：</a:t>
            </a:r>
            <a:r>
              <a:rPr kumimoji="0" lang="zh-CN" altLang="en-US" b="1" dirty="0">
                <a:solidFill>
                  <a:schemeClr val="bg2"/>
                </a:solidFill>
              </a:rPr>
              <a:t>把公式┐</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x)</a:t>
            </a:r>
            <a:r>
              <a:rPr kumimoji="0" lang="en-US" altLang="zh-CN" b="1" dirty="0">
                <a:solidFill>
                  <a:schemeClr val="folHlink"/>
                </a:solidFill>
              </a:rPr>
              <a:t>(</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y)A(</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x)(</a:t>
            </a:r>
            <a:r>
              <a:rPr kumimoji="0" lang="en-US" altLang="zh-CN" b="1" dirty="0">
                <a:solidFill>
                  <a:schemeClr val="bg2"/>
                </a:solidFill>
                <a:sym typeface="Symbol" pitchFamily="18" charset="2"/>
              </a:rPr>
              <a:t></a:t>
            </a:r>
            <a:r>
              <a:rPr kumimoji="0" lang="en-US" altLang="zh-CN" b="1" dirty="0">
                <a:solidFill>
                  <a:schemeClr val="bg2"/>
                </a:solidFill>
              </a:rPr>
              <a:t>y)</a:t>
            </a:r>
            <a:r>
              <a:rPr kumimoji="0" lang="en-US" altLang="zh-CN" b="1" dirty="0">
                <a:solidFill>
                  <a:schemeClr val="hlink"/>
                </a:solidFill>
              </a:rPr>
              <a:t>(</a:t>
            </a:r>
            <a:r>
              <a:rPr kumimoji="0" lang="en-US" altLang="zh-CN" b="1" dirty="0">
                <a:solidFill>
                  <a:schemeClr val="bg2"/>
                </a:solidFill>
              </a:rPr>
              <a:t>B(</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y)(A(</a:t>
            </a:r>
            <a:r>
              <a:rPr kumimoji="0" lang="en-US" altLang="zh-CN" b="1" dirty="0" err="1">
                <a:solidFill>
                  <a:schemeClr val="bg2"/>
                </a:solidFill>
              </a:rPr>
              <a:t>y,x</a:t>
            </a:r>
            <a:r>
              <a:rPr kumimoji="0" lang="en-US" altLang="zh-CN" b="1" dirty="0">
                <a:solidFill>
                  <a:schemeClr val="bg2"/>
                </a:solidFill>
              </a:rPr>
              <a:t>) →B(</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hlink"/>
                </a:solidFill>
              </a:rPr>
              <a:t>)</a:t>
            </a:r>
            <a:r>
              <a:rPr kumimoji="0" lang="en-US" altLang="zh-CN" b="1" dirty="0">
                <a:solidFill>
                  <a:schemeClr val="folHlink"/>
                </a:solidFill>
              </a:rPr>
              <a:t>)</a:t>
            </a:r>
            <a:r>
              <a:rPr kumimoji="0" lang="zh-CN" altLang="en-US" b="1" dirty="0">
                <a:solidFill>
                  <a:schemeClr val="bg2"/>
                </a:solidFill>
              </a:rPr>
              <a:t>化为前束范式</a:t>
            </a:r>
          </a:p>
          <a:p>
            <a:pPr algn="l">
              <a:lnSpc>
                <a:spcPct val="130000"/>
              </a:lnSpc>
              <a:spcBef>
                <a:spcPts val="1200"/>
              </a:spcBef>
            </a:pPr>
            <a:r>
              <a:rPr kumimoji="0" lang="zh-CN" altLang="en-US" b="1" dirty="0">
                <a:solidFill>
                  <a:schemeClr val="bg2"/>
                </a:solidFill>
              </a:rPr>
              <a:t>解：第一步：化为┐∧ ∨的等价公式及否定深入</a:t>
            </a:r>
          </a:p>
          <a:p>
            <a:pPr algn="l">
              <a:lnSpc>
                <a:spcPct val="130000"/>
              </a:lnSpc>
            </a:pPr>
            <a:r>
              <a:rPr kumimoji="0" lang="zh-CN" altLang="en-US" b="1" dirty="0">
                <a:solidFill>
                  <a:schemeClr val="bg2"/>
                </a:solidFill>
                <a:sym typeface="Symbol" pitchFamily="18" charset="2"/>
              </a:rPr>
              <a:t></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x)┐</a:t>
            </a:r>
            <a:r>
              <a:rPr kumimoji="0" lang="en-US" altLang="zh-CN" b="1" dirty="0">
                <a:solidFill>
                  <a:schemeClr val="folHlink"/>
                </a:solidFill>
              </a:rPr>
              <a:t>(</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y)A(</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x)(</a:t>
            </a:r>
            <a:r>
              <a:rPr kumimoji="0" lang="en-US" altLang="zh-CN" b="1" dirty="0">
                <a:solidFill>
                  <a:schemeClr val="bg2"/>
                </a:solidFill>
                <a:sym typeface="Symbol" pitchFamily="18" charset="2"/>
              </a:rPr>
              <a:t></a:t>
            </a:r>
            <a:r>
              <a:rPr kumimoji="0" lang="en-US" altLang="zh-CN" b="1" dirty="0">
                <a:solidFill>
                  <a:schemeClr val="bg2"/>
                </a:solidFill>
              </a:rPr>
              <a:t>y)</a:t>
            </a:r>
            <a:r>
              <a:rPr kumimoji="0" lang="en-US" altLang="zh-CN" b="1" dirty="0">
                <a:solidFill>
                  <a:schemeClr val="hlink"/>
                </a:solidFill>
              </a:rPr>
              <a:t>(</a:t>
            </a:r>
            <a:r>
              <a:rPr kumimoji="0" lang="en-US" altLang="zh-CN" b="1" dirty="0">
                <a:solidFill>
                  <a:schemeClr val="bg2"/>
                </a:solidFill>
              </a:rPr>
              <a:t>B(</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y)(A(</a:t>
            </a:r>
            <a:r>
              <a:rPr kumimoji="0" lang="en-US" altLang="zh-CN" b="1" dirty="0" err="1">
                <a:solidFill>
                  <a:schemeClr val="bg2"/>
                </a:solidFill>
              </a:rPr>
              <a:t>y,x</a:t>
            </a:r>
            <a:r>
              <a:rPr kumimoji="0" lang="en-US" altLang="zh-CN" b="1" dirty="0">
                <a:solidFill>
                  <a:schemeClr val="bg2"/>
                </a:solidFill>
              </a:rPr>
              <a:t>)→B(</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hlink"/>
                </a:solidFill>
              </a:rPr>
              <a:t>)</a:t>
            </a:r>
            <a:r>
              <a:rPr kumimoji="0" lang="en-US" altLang="zh-CN" b="1" dirty="0">
                <a:solidFill>
                  <a:schemeClr val="folHlink"/>
                </a:solidFill>
              </a:rPr>
              <a:t>)</a:t>
            </a:r>
          </a:p>
          <a:p>
            <a:pPr algn="l">
              <a:lnSpc>
                <a:spcPct val="130000"/>
              </a:lnSpc>
            </a:pPr>
            <a:r>
              <a:rPr kumimoji="0" lang="en-US" altLang="zh-CN" b="1" dirty="0">
                <a:solidFill>
                  <a:schemeClr val="bg2"/>
                </a:solidFill>
                <a:sym typeface="Symbol" pitchFamily="18" charset="2"/>
              </a:rPr>
              <a:t></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x)</a:t>
            </a:r>
            <a:r>
              <a:rPr kumimoji="0" lang="en-US" altLang="zh-CN" b="1" dirty="0">
                <a:solidFill>
                  <a:schemeClr val="folHlink"/>
                </a:solidFill>
              </a:rPr>
              <a:t>(</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y)A(</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x)(</a:t>
            </a:r>
            <a:r>
              <a:rPr kumimoji="0" lang="en-US" altLang="zh-CN" b="1" dirty="0">
                <a:solidFill>
                  <a:schemeClr val="bg2"/>
                </a:solidFill>
                <a:sym typeface="Symbol" pitchFamily="18" charset="2"/>
              </a:rPr>
              <a:t></a:t>
            </a:r>
            <a:r>
              <a:rPr kumimoji="0" lang="en-US" altLang="zh-CN" b="1" dirty="0">
                <a:solidFill>
                  <a:schemeClr val="bg2"/>
                </a:solidFill>
              </a:rPr>
              <a:t>y)</a:t>
            </a:r>
            <a:r>
              <a:rPr kumimoji="0" lang="en-US" altLang="zh-CN" b="1" dirty="0">
                <a:solidFill>
                  <a:schemeClr val="hlink"/>
                </a:solidFill>
              </a:rPr>
              <a:t>(</a:t>
            </a:r>
            <a:r>
              <a:rPr kumimoji="0" lang="en-US" altLang="zh-CN" b="1" dirty="0">
                <a:solidFill>
                  <a:schemeClr val="bg2"/>
                </a:solidFill>
              </a:rPr>
              <a:t>┐B(</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y)┐(A(</a:t>
            </a:r>
            <a:r>
              <a:rPr kumimoji="0" lang="en-US" altLang="zh-CN" b="1" dirty="0" err="1">
                <a:solidFill>
                  <a:schemeClr val="bg2"/>
                </a:solidFill>
              </a:rPr>
              <a:t>y,x</a:t>
            </a:r>
            <a:r>
              <a:rPr kumimoji="0" lang="en-US" altLang="zh-CN" b="1" dirty="0">
                <a:solidFill>
                  <a:schemeClr val="bg2"/>
                </a:solidFill>
              </a:rPr>
              <a:t>)→B(</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hlink"/>
                </a:solidFill>
              </a:rPr>
              <a:t>)</a:t>
            </a:r>
            <a:r>
              <a:rPr kumimoji="0" lang="en-US" altLang="zh-CN" b="1" dirty="0">
                <a:solidFill>
                  <a:schemeClr val="folHlink"/>
                </a:solidFill>
              </a:rPr>
              <a:t>)</a:t>
            </a:r>
            <a:endParaRPr kumimoji="0" lang="en-US" altLang="zh-CN" b="1" dirty="0">
              <a:solidFill>
                <a:schemeClr val="bg2"/>
              </a:solidFill>
            </a:endParaRPr>
          </a:p>
          <a:p>
            <a:pPr algn="l">
              <a:lnSpc>
                <a:spcPct val="130000"/>
              </a:lnSpc>
              <a:spcBef>
                <a:spcPts val="1200"/>
              </a:spcBef>
            </a:pPr>
            <a:r>
              <a:rPr kumimoji="0" lang="zh-CN" altLang="en-US" b="1" dirty="0">
                <a:solidFill>
                  <a:schemeClr val="bg2"/>
                </a:solidFill>
              </a:rPr>
              <a:t>第二步：改名</a:t>
            </a:r>
          </a:p>
          <a:p>
            <a:pPr algn="l">
              <a:lnSpc>
                <a:spcPct val="130000"/>
              </a:lnSpc>
            </a:pPr>
            <a:r>
              <a:rPr kumimoji="0" lang="zh-CN" altLang="en-US" b="1" dirty="0">
                <a:solidFill>
                  <a:schemeClr val="bg2"/>
                </a:solidFill>
                <a:sym typeface="Symbol" pitchFamily="18" charset="2"/>
              </a:rPr>
              <a:t></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x)</a:t>
            </a:r>
            <a:r>
              <a:rPr kumimoji="0" lang="en-US" altLang="zh-CN" b="1" dirty="0">
                <a:solidFill>
                  <a:schemeClr val="folHlink"/>
                </a:solidFill>
              </a:rPr>
              <a:t>(</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y)A(</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u)(</a:t>
            </a:r>
            <a:r>
              <a:rPr kumimoji="0" lang="en-US" altLang="zh-CN" b="1" dirty="0">
                <a:solidFill>
                  <a:schemeClr val="bg2"/>
                </a:solidFill>
                <a:sym typeface="Symbol" pitchFamily="18" charset="2"/>
              </a:rPr>
              <a:t></a:t>
            </a:r>
            <a:r>
              <a:rPr kumimoji="0" lang="en-US" altLang="zh-CN" b="1" dirty="0">
                <a:solidFill>
                  <a:schemeClr val="bg2"/>
                </a:solidFill>
              </a:rPr>
              <a:t>r)</a:t>
            </a:r>
            <a:r>
              <a:rPr kumimoji="0" lang="en-US" altLang="zh-CN" b="1" dirty="0">
                <a:solidFill>
                  <a:schemeClr val="hlink"/>
                </a:solidFill>
              </a:rPr>
              <a:t>(</a:t>
            </a:r>
            <a:r>
              <a:rPr kumimoji="0" lang="en-US" altLang="zh-CN" b="1" dirty="0">
                <a:solidFill>
                  <a:schemeClr val="bg2"/>
                </a:solidFill>
              </a:rPr>
              <a:t>┐B(</a:t>
            </a:r>
            <a:r>
              <a:rPr kumimoji="0" lang="en-US" altLang="zh-CN" b="1" dirty="0" err="1">
                <a:solidFill>
                  <a:schemeClr val="bg2"/>
                </a:solidFill>
              </a:rPr>
              <a:t>u,r</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z)(┐(A(</a:t>
            </a:r>
            <a:r>
              <a:rPr kumimoji="0" lang="en-US" altLang="zh-CN" b="1" dirty="0" err="1">
                <a:solidFill>
                  <a:schemeClr val="bg2"/>
                </a:solidFill>
              </a:rPr>
              <a:t>z,u</a:t>
            </a:r>
            <a:r>
              <a:rPr kumimoji="0" lang="en-US" altLang="zh-CN" b="1" dirty="0">
                <a:solidFill>
                  <a:schemeClr val="bg2"/>
                </a:solidFill>
              </a:rPr>
              <a:t>)→B(</a:t>
            </a:r>
            <a:r>
              <a:rPr kumimoji="0" lang="en-US" altLang="zh-CN" b="1" dirty="0" err="1">
                <a:solidFill>
                  <a:schemeClr val="bg2"/>
                </a:solidFill>
              </a:rPr>
              <a:t>u,z</a:t>
            </a:r>
            <a:r>
              <a:rPr kumimoji="0" lang="en-US" altLang="zh-CN" b="1" dirty="0">
                <a:solidFill>
                  <a:schemeClr val="bg2"/>
                </a:solidFill>
              </a:rPr>
              <a:t>))</a:t>
            </a:r>
            <a:r>
              <a:rPr kumimoji="0" lang="en-US" altLang="zh-CN" b="1" dirty="0">
                <a:solidFill>
                  <a:schemeClr val="hlink"/>
                </a:solidFill>
              </a:rPr>
              <a:t>)</a:t>
            </a:r>
            <a:r>
              <a:rPr kumimoji="0" lang="en-US" altLang="zh-CN" b="1" dirty="0">
                <a:solidFill>
                  <a:schemeClr val="folHlink"/>
                </a:solidFill>
              </a:rPr>
              <a:t>)</a:t>
            </a:r>
          </a:p>
          <a:p>
            <a:pPr algn="l">
              <a:lnSpc>
                <a:spcPct val="130000"/>
              </a:lnSpc>
              <a:spcBef>
                <a:spcPts val="1200"/>
              </a:spcBef>
            </a:pPr>
            <a:r>
              <a:rPr kumimoji="0" lang="zh-CN" altLang="en-US" b="1" dirty="0">
                <a:solidFill>
                  <a:schemeClr val="bg2"/>
                </a:solidFill>
                <a:sym typeface="Symbol" pitchFamily="18" charset="2"/>
              </a:rPr>
              <a:t>第三步：量词前移</a:t>
            </a:r>
          </a:p>
          <a:p>
            <a:pPr algn="l">
              <a:lnSpc>
                <a:spcPct val="130000"/>
              </a:lnSpc>
            </a:pPr>
            <a:r>
              <a:rPr kumimoji="0" lang="zh-CN" altLang="en-US" b="1" dirty="0">
                <a:solidFill>
                  <a:schemeClr val="bg2"/>
                </a:solidFill>
                <a:sym typeface="Symbol" pitchFamily="18" charset="2"/>
              </a:rPr>
              <a:t></a:t>
            </a:r>
            <a:r>
              <a:rPr kumimoji="0" lang="en-US" altLang="zh-CN" b="1" dirty="0">
                <a:solidFill>
                  <a:schemeClr val="bg2"/>
                </a:solidFill>
              </a:rPr>
              <a:t>(</a:t>
            </a:r>
            <a:r>
              <a:rPr kumimoji="0" lang="en-US" altLang="zh-CN" b="1" dirty="0">
                <a:solidFill>
                  <a:schemeClr val="bg2"/>
                </a:solidFill>
                <a:sym typeface="Symbol" pitchFamily="18" charset="2"/>
              </a:rPr>
              <a:t></a:t>
            </a:r>
            <a:r>
              <a:rPr kumimoji="0" lang="en-US" altLang="zh-CN" b="1" dirty="0">
                <a:solidFill>
                  <a:schemeClr val="bg2"/>
                </a:solidFill>
              </a:rPr>
              <a:t>x)(</a:t>
            </a:r>
            <a:r>
              <a:rPr kumimoji="0" lang="en-US" altLang="zh-CN" b="1" dirty="0">
                <a:solidFill>
                  <a:schemeClr val="bg2"/>
                </a:solidFill>
                <a:sym typeface="Symbol" pitchFamily="18" charset="2"/>
              </a:rPr>
              <a:t></a:t>
            </a:r>
            <a:r>
              <a:rPr kumimoji="0" lang="en-US" altLang="zh-CN" b="1" dirty="0">
                <a:solidFill>
                  <a:schemeClr val="bg2"/>
                </a:solidFill>
              </a:rPr>
              <a:t>y)(</a:t>
            </a:r>
            <a:r>
              <a:rPr kumimoji="0" lang="en-US" altLang="zh-CN" b="1" dirty="0">
                <a:solidFill>
                  <a:schemeClr val="bg2"/>
                </a:solidFill>
                <a:sym typeface="Symbol" pitchFamily="18" charset="2"/>
              </a:rPr>
              <a:t></a:t>
            </a:r>
            <a:r>
              <a:rPr kumimoji="0" lang="en-US" altLang="zh-CN" b="1" dirty="0">
                <a:solidFill>
                  <a:schemeClr val="bg2"/>
                </a:solidFill>
              </a:rPr>
              <a:t>u)(</a:t>
            </a:r>
            <a:r>
              <a:rPr kumimoji="0" lang="en-US" altLang="zh-CN" b="1" dirty="0">
                <a:solidFill>
                  <a:schemeClr val="bg2"/>
                </a:solidFill>
                <a:sym typeface="Symbol" pitchFamily="18" charset="2"/>
              </a:rPr>
              <a:t></a:t>
            </a:r>
            <a:r>
              <a:rPr kumimoji="0" lang="en-US" altLang="zh-CN" b="1" dirty="0">
                <a:solidFill>
                  <a:schemeClr val="bg2"/>
                </a:solidFill>
              </a:rPr>
              <a:t>r)(</a:t>
            </a:r>
            <a:r>
              <a:rPr kumimoji="0" lang="en-US" altLang="zh-CN" b="1" dirty="0">
                <a:solidFill>
                  <a:schemeClr val="bg2"/>
                </a:solidFill>
                <a:sym typeface="Symbol" pitchFamily="18" charset="2"/>
              </a:rPr>
              <a:t></a:t>
            </a:r>
            <a:r>
              <a:rPr kumimoji="0" lang="en-US" altLang="zh-CN" b="1" dirty="0">
                <a:solidFill>
                  <a:schemeClr val="bg2"/>
                </a:solidFill>
              </a:rPr>
              <a:t>z)</a:t>
            </a:r>
            <a:r>
              <a:rPr kumimoji="0" lang="en-US" altLang="zh-CN" b="1" dirty="0">
                <a:solidFill>
                  <a:schemeClr val="folHlink"/>
                </a:solidFill>
              </a:rPr>
              <a:t>(</a:t>
            </a:r>
            <a:r>
              <a:rPr kumimoji="0" lang="en-US" altLang="zh-CN" b="1" dirty="0">
                <a:solidFill>
                  <a:schemeClr val="bg2"/>
                </a:solidFill>
              </a:rPr>
              <a:t>A(</a:t>
            </a:r>
            <a:r>
              <a:rPr kumimoji="0" lang="en-US" altLang="zh-CN" b="1" dirty="0" err="1">
                <a:solidFill>
                  <a:schemeClr val="bg2"/>
                </a:solidFill>
              </a:rPr>
              <a:t>x,y</a:t>
            </a:r>
            <a:r>
              <a:rPr kumimoji="0" lang="en-US" altLang="zh-CN" b="1" dirty="0">
                <a:solidFill>
                  <a:schemeClr val="bg2"/>
                </a:solidFill>
              </a:rPr>
              <a:t>)∧</a:t>
            </a:r>
            <a:r>
              <a:rPr kumimoji="0" lang="en-US" altLang="zh-CN" b="1" dirty="0">
                <a:solidFill>
                  <a:schemeClr val="hlink"/>
                </a:solidFill>
              </a:rPr>
              <a:t>(</a:t>
            </a:r>
            <a:r>
              <a:rPr kumimoji="0" lang="en-US" altLang="zh-CN" b="1" dirty="0">
                <a:solidFill>
                  <a:schemeClr val="bg2"/>
                </a:solidFill>
              </a:rPr>
              <a:t>┐B(</a:t>
            </a:r>
            <a:r>
              <a:rPr kumimoji="0" lang="en-US" altLang="zh-CN" b="1" dirty="0" err="1">
                <a:solidFill>
                  <a:schemeClr val="bg2"/>
                </a:solidFill>
              </a:rPr>
              <a:t>u,r</a:t>
            </a:r>
            <a:r>
              <a:rPr kumimoji="0" lang="en-US" altLang="zh-CN" b="1" dirty="0">
                <a:solidFill>
                  <a:schemeClr val="bg2"/>
                </a:solidFill>
              </a:rPr>
              <a:t>)∨┐(A(</a:t>
            </a:r>
            <a:r>
              <a:rPr kumimoji="0" lang="en-US" altLang="zh-CN" b="1" dirty="0" err="1">
                <a:solidFill>
                  <a:schemeClr val="bg2"/>
                </a:solidFill>
              </a:rPr>
              <a:t>z,u</a:t>
            </a:r>
            <a:r>
              <a:rPr kumimoji="0" lang="en-US" altLang="zh-CN" b="1" dirty="0">
                <a:solidFill>
                  <a:schemeClr val="bg2"/>
                </a:solidFill>
              </a:rPr>
              <a:t>)→B(</a:t>
            </a:r>
            <a:r>
              <a:rPr kumimoji="0" lang="en-US" altLang="zh-CN" b="1" dirty="0" err="1">
                <a:solidFill>
                  <a:schemeClr val="bg2"/>
                </a:solidFill>
              </a:rPr>
              <a:t>u,z</a:t>
            </a:r>
            <a:r>
              <a:rPr kumimoji="0" lang="en-US" altLang="zh-CN" b="1" dirty="0">
                <a:solidFill>
                  <a:schemeClr val="bg2"/>
                </a:solidFill>
              </a:rPr>
              <a:t>))</a:t>
            </a:r>
            <a:r>
              <a:rPr kumimoji="0" lang="en-US" altLang="zh-CN" b="1" dirty="0">
                <a:solidFill>
                  <a:schemeClr val="hlink"/>
                </a:solidFill>
              </a:rPr>
              <a:t>)</a:t>
            </a:r>
            <a:r>
              <a:rPr kumimoji="0" lang="en-US" altLang="zh-CN" b="1" dirty="0">
                <a:solidFill>
                  <a:schemeClr val="folHlink"/>
                </a:solidFill>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417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34178">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34178">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34178">
                                            <p:txEl>
                                              <p:pRg st="3" end="3"/>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34178">
                                            <p:txEl>
                                              <p:pRg st="4" end="4"/>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434178">
                                            <p:txEl>
                                              <p:pRg st="5" end="5"/>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434178">
                                            <p:txEl>
                                              <p:pRg st="6" end="6"/>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434178">
                                            <p:txEl>
                                              <p:pRg st="6" end="6"/>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417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C4E30F32-D853-4720-8F49-A6B5A3744AA0}" type="slidenum">
              <a:rPr lang="en-US" altLang="zh-CN"/>
              <a:pPr/>
              <a:t>73</a:t>
            </a:fld>
            <a:endParaRPr lang="en-US" altLang="zh-CN"/>
          </a:p>
        </p:txBody>
      </p:sp>
      <p:sp>
        <p:nvSpPr>
          <p:cNvPr id="437250" name="Rectangle 2"/>
          <p:cNvSpPr>
            <a:spLocks noChangeArrowheads="1"/>
          </p:cNvSpPr>
          <p:nvPr/>
        </p:nvSpPr>
        <p:spPr bwMode="auto">
          <a:xfrm>
            <a:off x="468313" y="1781175"/>
            <a:ext cx="7991475" cy="2143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a:solidFill>
                  <a:schemeClr val="hlink"/>
                </a:solidFill>
              </a:rPr>
              <a:t>转化步骤</a:t>
            </a:r>
          </a:p>
          <a:p>
            <a:pPr algn="l">
              <a:lnSpc>
                <a:spcPct val="120000"/>
              </a:lnSpc>
            </a:pPr>
            <a:r>
              <a:rPr kumimoji="0" lang="zh-CN" altLang="en-US" sz="2800" b="1">
                <a:solidFill>
                  <a:schemeClr val="bg2"/>
                </a:solidFill>
              </a:rPr>
              <a:t>        </a:t>
            </a:r>
            <a:r>
              <a:rPr kumimoji="0" lang="en-US" altLang="zh-CN" sz="2800" b="1">
                <a:solidFill>
                  <a:schemeClr val="bg2"/>
                </a:solidFill>
              </a:rPr>
              <a:t>(1)</a:t>
            </a:r>
            <a:r>
              <a:rPr kumimoji="0" lang="zh-CN" altLang="en-US" sz="2800" b="1">
                <a:solidFill>
                  <a:schemeClr val="bg2"/>
                </a:solidFill>
              </a:rPr>
              <a:t>将否定移到公式内部；</a:t>
            </a:r>
          </a:p>
          <a:p>
            <a:pPr algn="l">
              <a:lnSpc>
                <a:spcPct val="120000"/>
              </a:lnSpc>
            </a:pPr>
            <a:r>
              <a:rPr kumimoji="0" lang="zh-CN" altLang="en-US" sz="2800" b="1">
                <a:solidFill>
                  <a:schemeClr val="bg2"/>
                </a:solidFill>
              </a:rPr>
              <a:t>        </a:t>
            </a:r>
            <a:r>
              <a:rPr kumimoji="0" lang="en-US" altLang="zh-CN" sz="2800" b="1">
                <a:solidFill>
                  <a:schemeClr val="bg2"/>
                </a:solidFill>
              </a:rPr>
              <a:t>(2)</a:t>
            </a:r>
            <a:r>
              <a:rPr kumimoji="0" lang="zh-CN" altLang="en-US" sz="2800" b="1">
                <a:solidFill>
                  <a:schemeClr val="bg2"/>
                </a:solidFill>
              </a:rPr>
              <a:t>改名；</a:t>
            </a:r>
          </a:p>
          <a:p>
            <a:pPr algn="l">
              <a:lnSpc>
                <a:spcPct val="120000"/>
              </a:lnSpc>
            </a:pPr>
            <a:r>
              <a:rPr kumimoji="0" lang="zh-CN" altLang="en-US" sz="2800" b="1">
                <a:solidFill>
                  <a:schemeClr val="bg2"/>
                </a:solidFill>
              </a:rPr>
              <a:t>        </a:t>
            </a:r>
            <a:r>
              <a:rPr kumimoji="0" lang="en-US" altLang="zh-CN" sz="2800" b="1">
                <a:solidFill>
                  <a:schemeClr val="bg2"/>
                </a:solidFill>
              </a:rPr>
              <a:t>(3)</a:t>
            </a:r>
            <a:r>
              <a:rPr kumimoji="0" lang="zh-CN" altLang="en-US" sz="2800" b="1">
                <a:solidFill>
                  <a:schemeClr val="bg2"/>
                </a:solidFill>
              </a:rPr>
              <a:t>利用公式将量词移到公式前面。</a:t>
            </a:r>
          </a:p>
        </p:txBody>
      </p:sp>
    </p:spTree>
  </p:cSld>
  <p:clrMapOvr>
    <a:masterClrMapping/>
  </p:clrMapOvr>
  <p:transition spd="slow">
    <p:pull dir="ru"/>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1EB891CB-8E31-48E8-B95E-C80645810F7F}" type="slidenum">
              <a:rPr lang="en-US" altLang="zh-CN"/>
              <a:pPr/>
              <a:t>74</a:t>
            </a:fld>
            <a:endParaRPr lang="en-US" altLang="zh-CN"/>
          </a:p>
        </p:txBody>
      </p:sp>
      <p:sp>
        <p:nvSpPr>
          <p:cNvPr id="396290" name="Rectangle 2"/>
          <p:cNvSpPr>
            <a:spLocks noChangeArrowheads="1"/>
          </p:cNvSpPr>
          <p:nvPr/>
        </p:nvSpPr>
        <p:spPr bwMode="auto">
          <a:xfrm>
            <a:off x="539750" y="1412875"/>
            <a:ext cx="799306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rPr>
              <a:t>定义</a:t>
            </a:r>
            <a:r>
              <a:rPr kumimoji="0" lang="en-US" altLang="zh-CN" sz="2800" b="1" dirty="0">
                <a:solidFill>
                  <a:schemeClr val="hlink"/>
                </a:solidFill>
              </a:rPr>
              <a:t>2-6.2</a:t>
            </a:r>
            <a:r>
              <a:rPr kumimoji="0" lang="zh-CN" altLang="en-US" sz="2800" b="1" dirty="0">
                <a:solidFill>
                  <a:schemeClr val="hlink"/>
                </a:solidFill>
              </a:rPr>
              <a:t>：</a:t>
            </a:r>
            <a:r>
              <a:rPr kumimoji="0" lang="zh-CN" altLang="en-US" sz="2800" b="1" dirty="0">
                <a:solidFill>
                  <a:schemeClr val="bg2"/>
                </a:solidFill>
              </a:rPr>
              <a:t>一个</a:t>
            </a:r>
            <a:r>
              <a:rPr kumimoji="0" lang="en-US" altLang="zh-CN" sz="2800" b="1" dirty="0" err="1">
                <a:solidFill>
                  <a:schemeClr val="bg2"/>
                </a:solidFill>
              </a:rPr>
              <a:t>wff</a:t>
            </a:r>
            <a:r>
              <a:rPr kumimoji="0" lang="en-US" altLang="zh-CN" sz="2800" b="1" dirty="0">
                <a:solidFill>
                  <a:schemeClr val="bg2"/>
                </a:solidFill>
              </a:rPr>
              <a:t> A</a:t>
            </a:r>
            <a:r>
              <a:rPr kumimoji="0" lang="zh-CN" altLang="en-US" sz="2800" b="1" dirty="0">
                <a:solidFill>
                  <a:schemeClr val="bg2"/>
                </a:solidFill>
              </a:rPr>
              <a:t>如果具有如下形式称为前束合取范式。</a:t>
            </a:r>
          </a:p>
          <a:p>
            <a:pPr>
              <a:lnSpc>
                <a:spcPct val="120000"/>
              </a:lnSpc>
            </a:pPr>
            <a:r>
              <a:rPr kumimoji="0" lang="en-US" altLang="zh-CN" sz="2800" b="1" dirty="0">
                <a:solidFill>
                  <a:schemeClr val="bg2"/>
                </a:solidFill>
              </a:rPr>
              <a:t>(Q</a:t>
            </a:r>
            <a:r>
              <a:rPr kumimoji="0" lang="en-US" altLang="zh-CN" sz="2800" b="1" baseline="-25000" dirty="0">
                <a:solidFill>
                  <a:schemeClr val="bg2"/>
                </a:solidFill>
              </a:rPr>
              <a:t>1</a:t>
            </a:r>
            <a:r>
              <a:rPr kumimoji="0" lang="en-US" altLang="zh-CN" sz="2800" b="1" i="1" dirty="0">
                <a:solidFill>
                  <a:schemeClr val="bg2"/>
                </a:solidFill>
              </a:rPr>
              <a:t>v</a:t>
            </a:r>
            <a:r>
              <a:rPr kumimoji="0" lang="en-US" altLang="zh-CN" sz="2800" b="1" baseline="-25000" dirty="0">
                <a:solidFill>
                  <a:schemeClr val="bg2"/>
                </a:solidFill>
              </a:rPr>
              <a:t>1</a:t>
            </a:r>
            <a:r>
              <a:rPr kumimoji="0" lang="en-US" altLang="zh-CN" sz="2800" b="1" dirty="0">
                <a:solidFill>
                  <a:schemeClr val="bg2"/>
                </a:solidFill>
              </a:rPr>
              <a:t>)(Q</a:t>
            </a:r>
            <a:r>
              <a:rPr kumimoji="0" lang="en-US" altLang="zh-CN" sz="2800" b="1" baseline="-25000" dirty="0">
                <a:solidFill>
                  <a:schemeClr val="bg2"/>
                </a:solidFill>
              </a:rPr>
              <a:t>2</a:t>
            </a:r>
            <a:r>
              <a:rPr kumimoji="0" lang="en-US" altLang="zh-CN" sz="2800" b="1" i="1" dirty="0">
                <a:solidFill>
                  <a:schemeClr val="bg2"/>
                </a:solidFill>
              </a:rPr>
              <a:t>v</a:t>
            </a:r>
            <a:r>
              <a:rPr kumimoji="0" lang="en-US" altLang="zh-CN" sz="2800" b="1" baseline="-25000" dirty="0">
                <a:solidFill>
                  <a:schemeClr val="bg2"/>
                </a:solidFill>
              </a:rPr>
              <a:t>2</a:t>
            </a:r>
            <a:r>
              <a:rPr kumimoji="0" lang="en-US" altLang="zh-CN" sz="2800" b="1" dirty="0">
                <a:solidFill>
                  <a:schemeClr val="bg2"/>
                </a:solidFill>
              </a:rPr>
              <a:t>)…(</a:t>
            </a:r>
            <a:r>
              <a:rPr kumimoji="0" lang="en-US" altLang="zh-CN" sz="2800" b="1" dirty="0" err="1">
                <a:solidFill>
                  <a:schemeClr val="bg2"/>
                </a:solidFill>
              </a:rPr>
              <a:t>Q</a:t>
            </a:r>
            <a:r>
              <a:rPr kumimoji="0" lang="en-US" altLang="zh-CN" sz="2800" b="1" baseline="-25000" dirty="0" err="1">
                <a:solidFill>
                  <a:schemeClr val="bg2"/>
                </a:solidFill>
              </a:rPr>
              <a:t>n</a:t>
            </a:r>
            <a:r>
              <a:rPr kumimoji="0" lang="en-US" altLang="zh-CN" sz="2800" b="1" i="1" dirty="0" err="1">
                <a:solidFill>
                  <a:schemeClr val="bg2"/>
                </a:solidFill>
              </a:rPr>
              <a:t>v</a:t>
            </a:r>
            <a:r>
              <a:rPr kumimoji="0" lang="en-US" altLang="zh-CN" sz="2800" b="1" baseline="-25000" dirty="0" err="1">
                <a:solidFill>
                  <a:schemeClr val="bg2"/>
                </a:solidFill>
              </a:rPr>
              <a:t>n</a:t>
            </a:r>
            <a:r>
              <a:rPr kumimoji="0" lang="en-US" altLang="zh-CN" sz="2800" b="1" dirty="0">
                <a:solidFill>
                  <a:schemeClr val="bg2"/>
                </a:solidFill>
              </a:rPr>
              <a:t>)</a:t>
            </a:r>
            <a:r>
              <a:rPr kumimoji="0" lang="en-US" altLang="zh-CN" sz="2800" b="1" dirty="0">
                <a:solidFill>
                  <a:schemeClr val="hlink"/>
                </a:solidFill>
              </a:rPr>
              <a:t>(</a:t>
            </a:r>
            <a:r>
              <a:rPr kumimoji="0" lang="en-US" altLang="zh-CN" sz="2800" b="1" dirty="0">
                <a:solidFill>
                  <a:schemeClr val="bg2"/>
                </a:solidFill>
              </a:rPr>
              <a:t>(A</a:t>
            </a:r>
            <a:r>
              <a:rPr kumimoji="0" lang="en-US" altLang="zh-CN" sz="2800" b="1" baseline="-25000" dirty="0">
                <a:solidFill>
                  <a:schemeClr val="bg2"/>
                </a:solidFill>
              </a:rPr>
              <a:t>11</a:t>
            </a:r>
            <a:r>
              <a:rPr kumimoji="0" lang="en-US" altLang="zh-CN" sz="2800" b="1" dirty="0">
                <a:solidFill>
                  <a:schemeClr val="bg2"/>
                </a:solidFill>
              </a:rPr>
              <a:t>∨A</a:t>
            </a:r>
            <a:r>
              <a:rPr kumimoji="0" lang="en-US" altLang="zh-CN" sz="2800" b="1" baseline="-25000" dirty="0">
                <a:solidFill>
                  <a:schemeClr val="bg2"/>
                </a:solidFill>
              </a:rPr>
              <a:t>12</a:t>
            </a:r>
            <a:r>
              <a:rPr kumimoji="0" lang="en-US" altLang="zh-CN" sz="2800" b="1" dirty="0">
                <a:solidFill>
                  <a:schemeClr val="bg2"/>
                </a:solidFill>
              </a:rPr>
              <a:t>∨…∨A</a:t>
            </a:r>
            <a:r>
              <a:rPr kumimoji="0" lang="en-US" altLang="zh-CN" sz="2800" b="1" baseline="-25000" dirty="0">
                <a:solidFill>
                  <a:schemeClr val="bg2"/>
                </a:solidFill>
              </a:rPr>
              <a:t>1</a:t>
            </a:r>
            <a:r>
              <a:rPr kumimoji="0" lang="en-US" altLang="zh-CN" sz="2800" b="1" i="1" baseline="-25000" dirty="0">
                <a:solidFill>
                  <a:schemeClr val="bg2"/>
                </a:solidFill>
              </a:rPr>
              <a:t>l</a:t>
            </a:r>
            <a:r>
              <a:rPr kumimoji="0" lang="en-US" altLang="zh-CN" sz="2800" b="1" baseline="-25000" dirty="0">
                <a:solidFill>
                  <a:schemeClr val="bg2"/>
                </a:solidFill>
              </a:rPr>
              <a:t>1</a:t>
            </a:r>
            <a:r>
              <a:rPr kumimoji="0" lang="en-US" altLang="zh-CN" sz="2800" b="1" dirty="0">
                <a:solidFill>
                  <a:schemeClr val="bg2"/>
                </a:solidFill>
              </a:rPr>
              <a:t>) </a:t>
            </a:r>
          </a:p>
          <a:p>
            <a:pPr>
              <a:lnSpc>
                <a:spcPct val="120000"/>
              </a:lnSpc>
            </a:pPr>
            <a:r>
              <a:rPr kumimoji="0" lang="en-US" altLang="zh-CN" sz="2800" b="1" dirty="0">
                <a:solidFill>
                  <a:schemeClr val="hlink"/>
                </a:solidFill>
              </a:rPr>
              <a:t>∧</a:t>
            </a:r>
            <a:r>
              <a:rPr kumimoji="0" lang="en-US" altLang="zh-CN" sz="2800" b="1" dirty="0">
                <a:solidFill>
                  <a:schemeClr val="bg2"/>
                </a:solidFill>
              </a:rPr>
              <a:t>(A</a:t>
            </a:r>
            <a:r>
              <a:rPr kumimoji="0" lang="en-US" altLang="zh-CN" sz="2800" b="1" baseline="-25000" dirty="0">
                <a:solidFill>
                  <a:schemeClr val="bg2"/>
                </a:solidFill>
              </a:rPr>
              <a:t>21</a:t>
            </a:r>
            <a:r>
              <a:rPr kumimoji="0" lang="en-US" altLang="zh-CN" sz="2800" b="1" dirty="0">
                <a:solidFill>
                  <a:schemeClr val="bg2"/>
                </a:solidFill>
              </a:rPr>
              <a:t>∨…∨A</a:t>
            </a:r>
            <a:r>
              <a:rPr kumimoji="0" lang="en-US" altLang="zh-CN" sz="2800" b="1" baseline="-25000" dirty="0">
                <a:solidFill>
                  <a:schemeClr val="bg2"/>
                </a:solidFill>
              </a:rPr>
              <a:t>2</a:t>
            </a:r>
            <a:r>
              <a:rPr kumimoji="0" lang="en-US" altLang="zh-CN" sz="2800" b="1" i="1" baseline="-25000" dirty="0">
                <a:solidFill>
                  <a:schemeClr val="bg2"/>
                </a:solidFill>
              </a:rPr>
              <a:t>l</a:t>
            </a:r>
            <a:r>
              <a:rPr kumimoji="0" lang="en-US" altLang="zh-CN" sz="2800" b="1" baseline="-25000" dirty="0">
                <a:solidFill>
                  <a:schemeClr val="bg2"/>
                </a:solidFill>
              </a:rPr>
              <a:t>2</a:t>
            </a:r>
            <a:r>
              <a:rPr kumimoji="0" lang="en-US" altLang="zh-CN" sz="2800" b="1" dirty="0">
                <a:solidFill>
                  <a:schemeClr val="bg2"/>
                </a:solidFill>
              </a:rPr>
              <a:t>)</a:t>
            </a:r>
            <a:r>
              <a:rPr kumimoji="0" lang="en-US" altLang="zh-CN" sz="2800" b="1" dirty="0">
                <a:solidFill>
                  <a:schemeClr val="hlink"/>
                </a:solidFill>
              </a:rPr>
              <a:t>∧</a:t>
            </a:r>
            <a:r>
              <a:rPr kumimoji="0" lang="en-US" altLang="zh-CN" sz="2800" b="1" dirty="0">
                <a:solidFill>
                  <a:schemeClr val="bg2"/>
                </a:solidFill>
              </a:rPr>
              <a:t>…</a:t>
            </a:r>
            <a:r>
              <a:rPr kumimoji="0" lang="en-US" altLang="zh-CN" sz="2800" b="1" dirty="0">
                <a:solidFill>
                  <a:schemeClr val="hlink"/>
                </a:solidFill>
              </a:rPr>
              <a:t>∧</a:t>
            </a:r>
            <a:r>
              <a:rPr kumimoji="0" lang="en-US" altLang="zh-CN" sz="2800" b="1" dirty="0">
                <a:solidFill>
                  <a:schemeClr val="bg2"/>
                </a:solidFill>
              </a:rPr>
              <a:t>(A</a:t>
            </a:r>
            <a:r>
              <a:rPr kumimoji="0" lang="en-US" altLang="zh-CN" sz="2800" b="1" baseline="-25000" dirty="0">
                <a:solidFill>
                  <a:schemeClr val="bg2"/>
                </a:solidFill>
              </a:rPr>
              <a:t>m1</a:t>
            </a:r>
            <a:r>
              <a:rPr kumimoji="0" lang="en-US" altLang="zh-CN" sz="2800" b="1" dirty="0">
                <a:solidFill>
                  <a:schemeClr val="bg2"/>
                </a:solidFill>
              </a:rPr>
              <a:t>∨…∨</a:t>
            </a:r>
            <a:r>
              <a:rPr kumimoji="0" lang="en-US" altLang="zh-CN" sz="2800" b="1" dirty="0" err="1">
                <a:solidFill>
                  <a:schemeClr val="bg2"/>
                </a:solidFill>
              </a:rPr>
              <a:t>A</a:t>
            </a:r>
            <a:r>
              <a:rPr kumimoji="0" lang="en-US" altLang="zh-CN" sz="2800" b="1" baseline="-25000" dirty="0" err="1">
                <a:solidFill>
                  <a:schemeClr val="bg2"/>
                </a:solidFill>
              </a:rPr>
              <a:t>m</a:t>
            </a:r>
            <a:r>
              <a:rPr kumimoji="0" lang="en-US" altLang="zh-CN" sz="2800" b="1" i="1" baseline="-25000" dirty="0" err="1">
                <a:solidFill>
                  <a:schemeClr val="bg2"/>
                </a:solidFill>
              </a:rPr>
              <a:t>l</a:t>
            </a:r>
            <a:r>
              <a:rPr kumimoji="0" lang="en-US" altLang="zh-CN" sz="2800" b="1" baseline="-25000" dirty="0" err="1">
                <a:solidFill>
                  <a:schemeClr val="bg2"/>
                </a:solidFill>
              </a:rPr>
              <a:t>m</a:t>
            </a:r>
            <a:r>
              <a:rPr kumimoji="0" lang="en-US" altLang="zh-CN" sz="2800" b="1" dirty="0">
                <a:solidFill>
                  <a:schemeClr val="bg2"/>
                </a:solidFill>
              </a:rPr>
              <a:t>)</a:t>
            </a:r>
            <a:r>
              <a:rPr kumimoji="0" lang="en-US" altLang="zh-CN" sz="2800" b="1" dirty="0">
                <a:solidFill>
                  <a:schemeClr val="hlink"/>
                </a:solidFill>
              </a:rPr>
              <a:t>)</a:t>
            </a:r>
          </a:p>
          <a:p>
            <a:pPr algn="l">
              <a:lnSpc>
                <a:spcPct val="120000"/>
              </a:lnSpc>
            </a:pPr>
            <a:r>
              <a:rPr kumimoji="0" lang="zh-CN" altLang="en-US" sz="2800" b="1" dirty="0">
                <a:solidFill>
                  <a:schemeClr val="hlink"/>
                </a:solidFill>
              </a:rPr>
              <a:t>例如：</a:t>
            </a:r>
          </a:p>
          <a:p>
            <a:pPr>
              <a:lnSpc>
                <a:spcPct val="120000"/>
              </a:lnSpc>
            </a:pPr>
            <a:r>
              <a:rPr kumimoji="0" lang="en-US" altLang="zh-CN" sz="2800" b="1" dirty="0">
                <a:solidFill>
                  <a:schemeClr val="bg2"/>
                </a:solidFill>
              </a:rPr>
              <a:t>(</a:t>
            </a:r>
            <a:r>
              <a:rPr kumimoji="0" lang="en-US" altLang="zh-CN" sz="2800" b="1" dirty="0">
                <a:solidFill>
                  <a:schemeClr val="bg2"/>
                </a:solidFill>
                <a:sym typeface="Symbol" pitchFamily="18" charset="2"/>
              </a:rPr>
              <a:t></a:t>
            </a:r>
            <a:r>
              <a:rPr kumimoji="0" lang="en-US" altLang="zh-CN" sz="2800" b="1" dirty="0">
                <a:solidFill>
                  <a:schemeClr val="bg2"/>
                </a:solidFill>
              </a:rPr>
              <a:t>x)(</a:t>
            </a:r>
            <a:r>
              <a:rPr kumimoji="0" lang="en-US" altLang="zh-CN" sz="2800" b="1" dirty="0">
                <a:solidFill>
                  <a:schemeClr val="bg2"/>
                </a:solidFill>
                <a:sym typeface="Symbol" pitchFamily="18" charset="2"/>
              </a:rPr>
              <a:t></a:t>
            </a:r>
            <a:r>
              <a:rPr kumimoji="0" lang="en-US" altLang="zh-CN" sz="2800" b="1" dirty="0">
                <a:solidFill>
                  <a:schemeClr val="bg2"/>
                </a:solidFill>
              </a:rPr>
              <a:t>y)((P(</a:t>
            </a:r>
            <a:r>
              <a:rPr kumimoji="0" lang="en-US" altLang="zh-CN" sz="2800" b="1" dirty="0" err="1">
                <a:solidFill>
                  <a:schemeClr val="bg2"/>
                </a:solidFill>
              </a:rPr>
              <a:t>x,y</a:t>
            </a:r>
            <a:r>
              <a:rPr kumimoji="0" lang="en-US" altLang="zh-CN" sz="2800" b="1" dirty="0">
                <a:solidFill>
                  <a:schemeClr val="bg2"/>
                </a:solidFill>
              </a:rPr>
              <a:t>)∨┐Q(x))∧(┐P(</a:t>
            </a:r>
            <a:r>
              <a:rPr kumimoji="0" lang="en-US" altLang="zh-CN" sz="2800" b="1" dirty="0" err="1">
                <a:solidFill>
                  <a:schemeClr val="bg2"/>
                </a:solidFill>
              </a:rPr>
              <a:t>x,y</a:t>
            </a:r>
            <a:r>
              <a:rPr kumimoji="0" lang="en-US" altLang="zh-CN" sz="2800" b="1" dirty="0">
                <a:solidFill>
                  <a:schemeClr val="bg2"/>
                </a:solidFill>
              </a:rPr>
              <a:t>)∨Q(x)))</a:t>
            </a:r>
          </a:p>
          <a:p>
            <a:pPr algn="l">
              <a:lnSpc>
                <a:spcPct val="120000"/>
              </a:lnSpc>
            </a:pPr>
            <a:r>
              <a:rPr kumimoji="0" lang="zh-CN" altLang="en-US" sz="2800" b="1" dirty="0">
                <a:solidFill>
                  <a:schemeClr val="hlink"/>
                </a:solidFill>
              </a:rPr>
              <a:t>定理</a:t>
            </a:r>
            <a:r>
              <a:rPr kumimoji="0" lang="en-US" altLang="zh-CN" sz="2800" b="1" dirty="0">
                <a:solidFill>
                  <a:schemeClr val="hlink"/>
                </a:solidFill>
              </a:rPr>
              <a:t>2-6.2</a:t>
            </a:r>
            <a:r>
              <a:rPr kumimoji="0" lang="zh-CN" altLang="en-US" sz="2800" b="1" dirty="0">
                <a:solidFill>
                  <a:schemeClr val="hlink"/>
                </a:solidFill>
              </a:rPr>
              <a:t>：</a:t>
            </a:r>
            <a:r>
              <a:rPr kumimoji="0" lang="zh-CN" altLang="en-US" sz="2800" b="1" dirty="0">
                <a:solidFill>
                  <a:schemeClr val="bg2"/>
                </a:solidFill>
              </a:rPr>
              <a:t>每一个</a:t>
            </a:r>
            <a:r>
              <a:rPr kumimoji="0" lang="en-US" altLang="zh-CN" sz="2800" b="1" dirty="0" err="1">
                <a:solidFill>
                  <a:schemeClr val="bg2"/>
                </a:solidFill>
              </a:rPr>
              <a:t>wff</a:t>
            </a:r>
            <a:r>
              <a:rPr kumimoji="0" lang="en-US" altLang="zh-CN" sz="2800" b="1" dirty="0">
                <a:solidFill>
                  <a:schemeClr val="bg2"/>
                </a:solidFill>
              </a:rPr>
              <a:t> A</a:t>
            </a:r>
            <a:r>
              <a:rPr kumimoji="0" lang="zh-CN" altLang="en-US" sz="2800" b="1" dirty="0">
                <a:solidFill>
                  <a:schemeClr val="bg2"/>
                </a:solidFill>
              </a:rPr>
              <a:t>都可转换为与其等价的前束合取范式。</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6290">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6290">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96290">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0CB638B3-4819-472A-976B-98D7C8393457}" type="slidenum">
              <a:rPr lang="en-US" altLang="zh-CN"/>
              <a:pPr/>
              <a:t>75</a:t>
            </a:fld>
            <a:endParaRPr lang="en-US" altLang="zh-CN"/>
          </a:p>
        </p:txBody>
      </p:sp>
      <p:sp>
        <p:nvSpPr>
          <p:cNvPr id="397314" name="Rectangle 2"/>
          <p:cNvSpPr>
            <a:spLocks noChangeArrowheads="1"/>
          </p:cNvSpPr>
          <p:nvPr/>
        </p:nvSpPr>
        <p:spPr bwMode="auto">
          <a:xfrm>
            <a:off x="540000" y="1414800"/>
            <a:ext cx="7991475"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rPr>
              <a:t>定义</a:t>
            </a:r>
            <a:r>
              <a:rPr kumimoji="0" lang="en-US" altLang="zh-CN" sz="2800" b="1" dirty="0">
                <a:solidFill>
                  <a:schemeClr val="hlink"/>
                </a:solidFill>
              </a:rPr>
              <a:t>2-6.3</a:t>
            </a:r>
            <a:r>
              <a:rPr kumimoji="0" lang="zh-CN" altLang="en-US" sz="2800" b="1" dirty="0">
                <a:solidFill>
                  <a:schemeClr val="hlink"/>
                </a:solidFill>
              </a:rPr>
              <a:t>：</a:t>
            </a:r>
            <a:r>
              <a:rPr kumimoji="0" lang="zh-CN" altLang="en-US" sz="2800" b="1" dirty="0">
                <a:solidFill>
                  <a:schemeClr val="bg2"/>
                </a:solidFill>
              </a:rPr>
              <a:t>一个</a:t>
            </a:r>
            <a:r>
              <a:rPr kumimoji="0" lang="en-US" altLang="zh-CN" sz="2800" b="1" dirty="0" err="1">
                <a:solidFill>
                  <a:schemeClr val="bg2"/>
                </a:solidFill>
              </a:rPr>
              <a:t>wff</a:t>
            </a:r>
            <a:r>
              <a:rPr kumimoji="0" lang="en-US" altLang="zh-CN" sz="2800" b="1" dirty="0">
                <a:solidFill>
                  <a:schemeClr val="bg2"/>
                </a:solidFill>
              </a:rPr>
              <a:t> A</a:t>
            </a:r>
            <a:r>
              <a:rPr kumimoji="0" lang="zh-CN" altLang="en-US" sz="2800" b="1" dirty="0">
                <a:solidFill>
                  <a:schemeClr val="bg2"/>
                </a:solidFill>
              </a:rPr>
              <a:t>如果具有如下形式称为前束析取范式。</a:t>
            </a:r>
          </a:p>
          <a:p>
            <a:pPr>
              <a:lnSpc>
                <a:spcPct val="120000"/>
              </a:lnSpc>
            </a:pPr>
            <a:r>
              <a:rPr kumimoji="0" lang="en-US" altLang="zh-CN" sz="2800" b="1" dirty="0">
                <a:solidFill>
                  <a:schemeClr val="bg2"/>
                </a:solidFill>
              </a:rPr>
              <a:t>(Q</a:t>
            </a:r>
            <a:r>
              <a:rPr kumimoji="0" lang="en-US" altLang="zh-CN" sz="2800" b="1" baseline="-25000" dirty="0">
                <a:solidFill>
                  <a:schemeClr val="bg2"/>
                </a:solidFill>
              </a:rPr>
              <a:t>1</a:t>
            </a:r>
            <a:r>
              <a:rPr kumimoji="0" lang="en-US" altLang="zh-CN" sz="2800" b="1" i="1" dirty="0">
                <a:solidFill>
                  <a:schemeClr val="bg2"/>
                </a:solidFill>
              </a:rPr>
              <a:t>v</a:t>
            </a:r>
            <a:r>
              <a:rPr kumimoji="0" lang="en-US" altLang="zh-CN" sz="2800" b="1" baseline="-25000" dirty="0">
                <a:solidFill>
                  <a:schemeClr val="bg2"/>
                </a:solidFill>
              </a:rPr>
              <a:t>1</a:t>
            </a:r>
            <a:r>
              <a:rPr kumimoji="0" lang="en-US" altLang="zh-CN" sz="2800" b="1" dirty="0">
                <a:solidFill>
                  <a:schemeClr val="bg2"/>
                </a:solidFill>
              </a:rPr>
              <a:t>)(Q</a:t>
            </a:r>
            <a:r>
              <a:rPr kumimoji="0" lang="en-US" altLang="zh-CN" sz="2800" b="1" baseline="-25000" dirty="0">
                <a:solidFill>
                  <a:schemeClr val="bg2"/>
                </a:solidFill>
              </a:rPr>
              <a:t>2</a:t>
            </a:r>
            <a:r>
              <a:rPr kumimoji="0" lang="en-US" altLang="zh-CN" sz="2800" b="1" i="1" dirty="0">
                <a:solidFill>
                  <a:schemeClr val="bg2"/>
                </a:solidFill>
              </a:rPr>
              <a:t>v</a:t>
            </a:r>
            <a:r>
              <a:rPr kumimoji="0" lang="en-US" altLang="zh-CN" sz="2800" b="1" baseline="-25000" dirty="0">
                <a:solidFill>
                  <a:schemeClr val="bg2"/>
                </a:solidFill>
              </a:rPr>
              <a:t>2</a:t>
            </a:r>
            <a:r>
              <a:rPr kumimoji="0" lang="en-US" altLang="zh-CN" sz="2800" b="1" dirty="0">
                <a:solidFill>
                  <a:schemeClr val="bg2"/>
                </a:solidFill>
              </a:rPr>
              <a:t>)…(</a:t>
            </a:r>
            <a:r>
              <a:rPr kumimoji="0" lang="en-US" altLang="zh-CN" sz="2800" b="1" dirty="0" err="1">
                <a:solidFill>
                  <a:schemeClr val="bg2"/>
                </a:solidFill>
              </a:rPr>
              <a:t>Q</a:t>
            </a:r>
            <a:r>
              <a:rPr kumimoji="0" lang="en-US" altLang="zh-CN" sz="2800" b="1" baseline="-25000" dirty="0" err="1">
                <a:solidFill>
                  <a:schemeClr val="bg2"/>
                </a:solidFill>
              </a:rPr>
              <a:t>n</a:t>
            </a:r>
            <a:r>
              <a:rPr kumimoji="0" lang="en-US" altLang="zh-CN" sz="2800" b="1" i="1" dirty="0" err="1">
                <a:solidFill>
                  <a:schemeClr val="bg2"/>
                </a:solidFill>
              </a:rPr>
              <a:t>v</a:t>
            </a:r>
            <a:r>
              <a:rPr kumimoji="0" lang="en-US" altLang="zh-CN" sz="2800" b="1" baseline="-25000" dirty="0" err="1">
                <a:solidFill>
                  <a:schemeClr val="bg2"/>
                </a:solidFill>
              </a:rPr>
              <a:t>n</a:t>
            </a:r>
            <a:r>
              <a:rPr kumimoji="0" lang="en-US" altLang="zh-CN" sz="2800" b="1" dirty="0">
                <a:solidFill>
                  <a:schemeClr val="bg2"/>
                </a:solidFill>
              </a:rPr>
              <a:t>)</a:t>
            </a:r>
            <a:r>
              <a:rPr kumimoji="0" lang="en-US" altLang="zh-CN" sz="2800" b="1" dirty="0">
                <a:solidFill>
                  <a:schemeClr val="hlink"/>
                </a:solidFill>
              </a:rPr>
              <a:t>(</a:t>
            </a:r>
            <a:r>
              <a:rPr kumimoji="0" lang="en-US" altLang="zh-CN" sz="2800" b="1" dirty="0">
                <a:solidFill>
                  <a:schemeClr val="bg2"/>
                </a:solidFill>
              </a:rPr>
              <a:t>(A</a:t>
            </a:r>
            <a:r>
              <a:rPr kumimoji="0" lang="en-US" altLang="zh-CN" sz="2800" b="1" baseline="-25000" dirty="0">
                <a:solidFill>
                  <a:schemeClr val="bg2"/>
                </a:solidFill>
              </a:rPr>
              <a:t>11</a:t>
            </a:r>
            <a:r>
              <a:rPr kumimoji="0" lang="en-US" altLang="zh-CN" sz="2800" b="1" dirty="0">
                <a:solidFill>
                  <a:schemeClr val="bg2"/>
                </a:solidFill>
              </a:rPr>
              <a:t>∧A</a:t>
            </a:r>
            <a:r>
              <a:rPr kumimoji="0" lang="en-US" altLang="zh-CN" sz="2800" b="1" baseline="-25000" dirty="0">
                <a:solidFill>
                  <a:schemeClr val="bg2"/>
                </a:solidFill>
              </a:rPr>
              <a:t>12</a:t>
            </a:r>
            <a:r>
              <a:rPr kumimoji="0" lang="en-US" altLang="zh-CN" sz="2800" b="1" dirty="0">
                <a:solidFill>
                  <a:schemeClr val="bg2"/>
                </a:solidFill>
              </a:rPr>
              <a:t>∧…∧A</a:t>
            </a:r>
            <a:r>
              <a:rPr kumimoji="0" lang="en-US" altLang="zh-CN" sz="2800" b="1" baseline="-25000" dirty="0">
                <a:solidFill>
                  <a:schemeClr val="bg2"/>
                </a:solidFill>
              </a:rPr>
              <a:t>1</a:t>
            </a:r>
            <a:r>
              <a:rPr kumimoji="0" lang="en-US" altLang="zh-CN" sz="2800" b="1" i="1" baseline="-25000" dirty="0">
                <a:solidFill>
                  <a:schemeClr val="bg2"/>
                </a:solidFill>
              </a:rPr>
              <a:t>l</a:t>
            </a:r>
            <a:r>
              <a:rPr kumimoji="0" lang="en-US" altLang="zh-CN" sz="2800" b="1" baseline="-25000" dirty="0">
                <a:solidFill>
                  <a:schemeClr val="bg2"/>
                </a:solidFill>
              </a:rPr>
              <a:t>1</a:t>
            </a:r>
            <a:r>
              <a:rPr kumimoji="0" lang="en-US" altLang="zh-CN" sz="2800" b="1" dirty="0">
                <a:solidFill>
                  <a:schemeClr val="bg2"/>
                </a:solidFill>
              </a:rPr>
              <a:t>) </a:t>
            </a:r>
            <a:r>
              <a:rPr kumimoji="0" lang="en-US" altLang="zh-CN" sz="2800" b="1" dirty="0">
                <a:solidFill>
                  <a:schemeClr val="hlink"/>
                </a:solidFill>
              </a:rPr>
              <a:t>∨</a:t>
            </a:r>
            <a:r>
              <a:rPr kumimoji="0" lang="en-US" altLang="zh-CN" sz="2800" b="1" dirty="0">
                <a:solidFill>
                  <a:schemeClr val="bg2"/>
                </a:solidFill>
              </a:rPr>
              <a:t>(A</a:t>
            </a:r>
            <a:r>
              <a:rPr kumimoji="0" lang="en-US" altLang="zh-CN" sz="2800" b="1" baseline="-25000" dirty="0">
                <a:solidFill>
                  <a:schemeClr val="bg2"/>
                </a:solidFill>
              </a:rPr>
              <a:t>21</a:t>
            </a:r>
            <a:r>
              <a:rPr kumimoji="0" lang="en-US" altLang="zh-CN" sz="2800" b="1" dirty="0">
                <a:solidFill>
                  <a:schemeClr val="bg2"/>
                </a:solidFill>
              </a:rPr>
              <a:t>∧…∧A</a:t>
            </a:r>
            <a:r>
              <a:rPr kumimoji="0" lang="en-US" altLang="zh-CN" sz="2800" b="1" baseline="-25000" dirty="0">
                <a:solidFill>
                  <a:schemeClr val="bg2"/>
                </a:solidFill>
              </a:rPr>
              <a:t>2</a:t>
            </a:r>
            <a:r>
              <a:rPr kumimoji="0" lang="en-US" altLang="zh-CN" sz="2800" b="1" i="1" baseline="-25000" dirty="0">
                <a:solidFill>
                  <a:schemeClr val="bg2"/>
                </a:solidFill>
              </a:rPr>
              <a:t>l</a:t>
            </a:r>
            <a:r>
              <a:rPr kumimoji="0" lang="en-US" altLang="zh-CN" sz="2800" b="1" baseline="-25000" dirty="0">
                <a:solidFill>
                  <a:schemeClr val="bg2"/>
                </a:solidFill>
              </a:rPr>
              <a:t>2</a:t>
            </a:r>
            <a:r>
              <a:rPr kumimoji="0" lang="en-US" altLang="zh-CN" sz="2800" b="1" dirty="0">
                <a:solidFill>
                  <a:schemeClr val="bg2"/>
                </a:solidFill>
              </a:rPr>
              <a:t>)</a:t>
            </a:r>
            <a:r>
              <a:rPr kumimoji="0" lang="en-US" altLang="zh-CN" sz="2800" b="1" dirty="0">
                <a:solidFill>
                  <a:schemeClr val="hlink"/>
                </a:solidFill>
              </a:rPr>
              <a:t>∨</a:t>
            </a:r>
            <a:r>
              <a:rPr kumimoji="0" lang="en-US" altLang="zh-CN" sz="2800" b="1" dirty="0">
                <a:solidFill>
                  <a:schemeClr val="bg2"/>
                </a:solidFill>
              </a:rPr>
              <a:t>…</a:t>
            </a:r>
            <a:r>
              <a:rPr kumimoji="0" lang="en-US" altLang="zh-CN" sz="2800" b="1" dirty="0">
                <a:solidFill>
                  <a:schemeClr val="hlink"/>
                </a:solidFill>
              </a:rPr>
              <a:t>∨</a:t>
            </a:r>
            <a:r>
              <a:rPr kumimoji="0" lang="en-US" altLang="zh-CN" sz="2800" b="1" dirty="0">
                <a:solidFill>
                  <a:schemeClr val="bg2"/>
                </a:solidFill>
              </a:rPr>
              <a:t>(A</a:t>
            </a:r>
            <a:r>
              <a:rPr kumimoji="0" lang="en-US" altLang="zh-CN" sz="2800" b="1" baseline="-25000" dirty="0">
                <a:solidFill>
                  <a:schemeClr val="bg2"/>
                </a:solidFill>
              </a:rPr>
              <a:t>m1</a:t>
            </a:r>
            <a:r>
              <a:rPr kumimoji="0" lang="en-US" altLang="zh-CN" sz="2800" b="1" dirty="0">
                <a:solidFill>
                  <a:schemeClr val="bg2"/>
                </a:solidFill>
              </a:rPr>
              <a:t>∧…∧</a:t>
            </a:r>
            <a:r>
              <a:rPr kumimoji="0" lang="en-US" altLang="zh-CN" sz="2800" b="1" dirty="0" err="1">
                <a:solidFill>
                  <a:schemeClr val="bg2"/>
                </a:solidFill>
              </a:rPr>
              <a:t>A</a:t>
            </a:r>
            <a:r>
              <a:rPr kumimoji="0" lang="en-US" altLang="zh-CN" sz="2800" b="1" baseline="-25000" dirty="0" err="1">
                <a:solidFill>
                  <a:schemeClr val="bg2"/>
                </a:solidFill>
              </a:rPr>
              <a:t>m</a:t>
            </a:r>
            <a:r>
              <a:rPr kumimoji="0" lang="en-US" altLang="zh-CN" sz="2800" b="1" i="1" baseline="-25000" dirty="0" err="1">
                <a:solidFill>
                  <a:schemeClr val="bg2"/>
                </a:solidFill>
              </a:rPr>
              <a:t>l</a:t>
            </a:r>
            <a:r>
              <a:rPr kumimoji="0" lang="en-US" altLang="zh-CN" sz="2800" b="1" baseline="-25000" dirty="0" err="1">
                <a:solidFill>
                  <a:schemeClr val="bg2"/>
                </a:solidFill>
              </a:rPr>
              <a:t>m</a:t>
            </a:r>
            <a:r>
              <a:rPr kumimoji="0" lang="en-US" altLang="zh-CN" sz="2800" b="1" dirty="0">
                <a:solidFill>
                  <a:schemeClr val="bg2"/>
                </a:solidFill>
              </a:rPr>
              <a:t>)</a:t>
            </a:r>
            <a:r>
              <a:rPr kumimoji="0" lang="en-US" altLang="zh-CN" sz="2800" b="1" dirty="0">
                <a:solidFill>
                  <a:schemeClr val="hlink"/>
                </a:solidFill>
              </a:rPr>
              <a:t>)</a:t>
            </a:r>
          </a:p>
          <a:p>
            <a:pPr algn="l">
              <a:lnSpc>
                <a:spcPct val="120000"/>
              </a:lnSpc>
            </a:pPr>
            <a:r>
              <a:rPr kumimoji="0" lang="zh-CN" altLang="en-US" sz="2800" b="1" dirty="0">
                <a:solidFill>
                  <a:schemeClr val="hlink"/>
                </a:solidFill>
              </a:rPr>
              <a:t>例如：</a:t>
            </a:r>
          </a:p>
          <a:p>
            <a:pPr algn="l">
              <a:lnSpc>
                <a:spcPct val="120000"/>
              </a:lnSpc>
            </a:pPr>
            <a:r>
              <a:rPr kumimoji="0" lang="en-US" altLang="zh-CN" sz="2800" b="1" dirty="0" smtClean="0">
                <a:solidFill>
                  <a:schemeClr val="bg2"/>
                </a:solidFill>
              </a:rPr>
              <a:t>     (</a:t>
            </a:r>
            <a:r>
              <a:rPr kumimoji="0" lang="en-US" altLang="zh-CN" sz="2800" b="1" dirty="0">
                <a:solidFill>
                  <a:schemeClr val="bg2"/>
                </a:solidFill>
                <a:sym typeface="Symbol" pitchFamily="18" charset="2"/>
              </a:rPr>
              <a:t></a:t>
            </a:r>
            <a:r>
              <a:rPr kumimoji="0" lang="en-US" altLang="zh-CN" sz="2800" b="1" dirty="0">
                <a:solidFill>
                  <a:schemeClr val="bg2"/>
                </a:solidFill>
              </a:rPr>
              <a:t>x)(</a:t>
            </a:r>
            <a:r>
              <a:rPr kumimoji="0" lang="en-US" altLang="zh-CN" sz="2800" b="1" dirty="0">
                <a:solidFill>
                  <a:schemeClr val="bg2"/>
                </a:solidFill>
                <a:sym typeface="Symbol" pitchFamily="18" charset="2"/>
              </a:rPr>
              <a:t></a:t>
            </a:r>
            <a:r>
              <a:rPr kumimoji="0" lang="en-US" altLang="zh-CN" sz="2800" b="1" dirty="0">
                <a:solidFill>
                  <a:schemeClr val="bg2"/>
                </a:solidFill>
              </a:rPr>
              <a:t>y)((P(</a:t>
            </a:r>
            <a:r>
              <a:rPr kumimoji="0" lang="en-US" altLang="zh-CN" sz="2800" b="1" dirty="0" err="1">
                <a:solidFill>
                  <a:schemeClr val="bg2"/>
                </a:solidFill>
              </a:rPr>
              <a:t>x,y</a:t>
            </a:r>
            <a:r>
              <a:rPr kumimoji="0" lang="en-US" altLang="zh-CN" sz="2800" b="1" dirty="0">
                <a:solidFill>
                  <a:schemeClr val="bg2"/>
                </a:solidFill>
              </a:rPr>
              <a:t>) ∧┐Q(x))∨(┐P(</a:t>
            </a:r>
            <a:r>
              <a:rPr kumimoji="0" lang="en-US" altLang="zh-CN" sz="2800" b="1" dirty="0" err="1">
                <a:solidFill>
                  <a:schemeClr val="bg2"/>
                </a:solidFill>
              </a:rPr>
              <a:t>x,y</a:t>
            </a:r>
            <a:r>
              <a:rPr kumimoji="0" lang="en-US" altLang="zh-CN" sz="2800" b="1" dirty="0">
                <a:solidFill>
                  <a:schemeClr val="bg2"/>
                </a:solidFill>
              </a:rPr>
              <a:t>) ∧Q(x)))</a:t>
            </a:r>
          </a:p>
          <a:p>
            <a:pPr algn="l">
              <a:lnSpc>
                <a:spcPct val="120000"/>
              </a:lnSpc>
            </a:pPr>
            <a:r>
              <a:rPr kumimoji="0" lang="zh-CN" altLang="en-US" sz="2800" b="1" dirty="0">
                <a:solidFill>
                  <a:schemeClr val="hlink"/>
                </a:solidFill>
              </a:rPr>
              <a:t>定理</a:t>
            </a:r>
            <a:r>
              <a:rPr kumimoji="0" lang="en-US" altLang="zh-CN" sz="2800" b="1" dirty="0">
                <a:solidFill>
                  <a:schemeClr val="hlink"/>
                </a:solidFill>
              </a:rPr>
              <a:t>2-6.3</a:t>
            </a:r>
            <a:r>
              <a:rPr kumimoji="0" lang="zh-CN" altLang="en-US" sz="2800" b="1" dirty="0">
                <a:solidFill>
                  <a:schemeClr val="hlink"/>
                </a:solidFill>
              </a:rPr>
              <a:t>：</a:t>
            </a:r>
            <a:r>
              <a:rPr kumimoji="0" lang="zh-CN" altLang="en-US" sz="2800" b="1" dirty="0">
                <a:solidFill>
                  <a:schemeClr val="bg2"/>
                </a:solidFill>
              </a:rPr>
              <a:t>每一个</a:t>
            </a:r>
            <a:r>
              <a:rPr kumimoji="0" lang="en-US" altLang="zh-CN" sz="2800" b="1" dirty="0" err="1">
                <a:solidFill>
                  <a:schemeClr val="bg2"/>
                </a:solidFill>
              </a:rPr>
              <a:t>wffA</a:t>
            </a:r>
            <a:r>
              <a:rPr kumimoji="0" lang="zh-CN" altLang="en-US" sz="2800" b="1" dirty="0">
                <a:solidFill>
                  <a:schemeClr val="bg2"/>
                </a:solidFill>
              </a:rPr>
              <a:t>都可转换为与其等价的前束析取范式。</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731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7314">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9731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43980B73-AF54-446F-BF55-C8C8AA4357C8}" type="slidenum">
              <a:rPr lang="en-US" altLang="zh-CN"/>
              <a:pPr/>
              <a:t>76</a:t>
            </a:fld>
            <a:endParaRPr lang="en-US" altLang="zh-CN"/>
          </a:p>
        </p:txBody>
      </p:sp>
      <p:sp>
        <p:nvSpPr>
          <p:cNvPr id="398338" name="Rectangle 2"/>
          <p:cNvSpPr>
            <a:spLocks noChangeArrowheads="1"/>
          </p:cNvSpPr>
          <p:nvPr/>
        </p:nvSpPr>
        <p:spPr bwMode="auto">
          <a:xfrm>
            <a:off x="962025" y="1196975"/>
            <a:ext cx="7426325" cy="5313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10000"/>
              </a:lnSpc>
            </a:pPr>
            <a:r>
              <a:rPr kumimoji="0" lang="zh-CN" altLang="en-US" b="1">
                <a:solidFill>
                  <a:schemeClr val="hlink"/>
                </a:solidFill>
              </a:rPr>
              <a:t>例</a:t>
            </a:r>
            <a:r>
              <a:rPr kumimoji="0" lang="en-US" altLang="zh-CN" b="1">
                <a:solidFill>
                  <a:schemeClr val="hlink"/>
                </a:solidFill>
              </a:rPr>
              <a:t>2</a:t>
            </a:r>
            <a:r>
              <a:rPr kumimoji="0" lang="zh-CN" altLang="en-US" b="1">
                <a:solidFill>
                  <a:schemeClr val="hlink"/>
                </a:solidFill>
              </a:rPr>
              <a:t>：</a:t>
            </a:r>
            <a:r>
              <a:rPr kumimoji="0" lang="zh-CN" altLang="en-US" b="1">
                <a:solidFill>
                  <a:schemeClr val="bg2"/>
                </a:solidFill>
              </a:rPr>
              <a:t>求</a:t>
            </a:r>
            <a:r>
              <a:rPr kumimoji="0" lang="en-US" altLang="zh-CN" b="1">
                <a:solidFill>
                  <a:schemeClr val="bg2"/>
                </a:solidFill>
              </a:rPr>
              <a:t>(</a:t>
            </a:r>
            <a:r>
              <a:rPr kumimoji="0" lang="en-US" altLang="zh-CN" b="1">
                <a:solidFill>
                  <a:schemeClr val="bg2"/>
                </a:solidFill>
                <a:sym typeface="Symbol" pitchFamily="18" charset="2"/>
              </a:rPr>
              <a:t></a:t>
            </a:r>
            <a:r>
              <a:rPr kumimoji="0" lang="en-US" altLang="zh-CN" b="1">
                <a:solidFill>
                  <a:schemeClr val="bg2"/>
                </a:solidFill>
              </a:rPr>
              <a:t>x)</a:t>
            </a:r>
            <a:r>
              <a:rPr kumimoji="0" lang="en-US" altLang="zh-CN" b="1">
                <a:solidFill>
                  <a:schemeClr val="hlink"/>
                </a:solidFill>
              </a:rPr>
              <a:t>(</a:t>
            </a:r>
            <a:r>
              <a:rPr kumimoji="0" lang="en-US" altLang="zh-CN" b="1">
                <a:solidFill>
                  <a:schemeClr val="bg2"/>
                </a:solidFill>
              </a:rPr>
              <a:t>(</a:t>
            </a:r>
            <a:r>
              <a:rPr kumimoji="0" lang="en-US" altLang="zh-CN" b="1">
                <a:solidFill>
                  <a:schemeClr val="bg2"/>
                </a:solidFill>
                <a:sym typeface="Symbol" pitchFamily="18" charset="2"/>
              </a:rPr>
              <a:t></a:t>
            </a:r>
            <a:r>
              <a:rPr kumimoji="0" lang="en-US" altLang="zh-CN" b="1">
                <a:solidFill>
                  <a:schemeClr val="bg2"/>
                </a:solidFill>
              </a:rPr>
              <a:t>y)P(x)∨(</a:t>
            </a:r>
            <a:r>
              <a:rPr kumimoji="0" lang="en-US" altLang="zh-CN" b="1">
                <a:solidFill>
                  <a:schemeClr val="bg2"/>
                </a:solidFill>
                <a:sym typeface="Symbol" pitchFamily="18" charset="2"/>
              </a:rPr>
              <a:t></a:t>
            </a:r>
            <a:r>
              <a:rPr kumimoji="0" lang="en-US" altLang="zh-CN" b="1">
                <a:solidFill>
                  <a:schemeClr val="bg2"/>
                </a:solidFill>
              </a:rPr>
              <a:t>z)q(z,y)→┐(</a:t>
            </a:r>
            <a:r>
              <a:rPr kumimoji="0" lang="en-US" altLang="zh-CN" b="1">
                <a:solidFill>
                  <a:schemeClr val="bg2"/>
                </a:solidFill>
                <a:sym typeface="Symbol" pitchFamily="18" charset="2"/>
              </a:rPr>
              <a:t></a:t>
            </a:r>
            <a:r>
              <a:rPr kumimoji="0" lang="en-US" altLang="zh-CN" b="1">
                <a:solidFill>
                  <a:schemeClr val="bg2"/>
                </a:solidFill>
              </a:rPr>
              <a:t>y)R(x,y)</a:t>
            </a:r>
            <a:r>
              <a:rPr kumimoji="0" lang="en-US" altLang="zh-CN" b="1">
                <a:solidFill>
                  <a:schemeClr val="hlink"/>
                </a:solidFill>
              </a:rPr>
              <a:t>)</a:t>
            </a:r>
            <a:r>
              <a:rPr kumimoji="0" lang="zh-CN" altLang="en-US" b="1">
                <a:solidFill>
                  <a:schemeClr val="bg2"/>
                </a:solidFill>
              </a:rPr>
              <a:t>的前束析取范式。</a:t>
            </a:r>
          </a:p>
          <a:p>
            <a:pPr algn="l">
              <a:lnSpc>
                <a:spcPct val="110000"/>
              </a:lnSpc>
            </a:pPr>
            <a:r>
              <a:rPr kumimoji="0" lang="zh-CN" altLang="en-US" b="1">
                <a:solidFill>
                  <a:schemeClr val="bg2"/>
                </a:solidFill>
              </a:rPr>
              <a:t>解：</a:t>
            </a:r>
            <a:r>
              <a:rPr kumimoji="0" lang="en-US" altLang="zh-CN" b="1">
                <a:solidFill>
                  <a:schemeClr val="bg2"/>
                </a:solidFill>
              </a:rPr>
              <a:t>1</a:t>
            </a:r>
            <a:r>
              <a:rPr kumimoji="0" lang="zh-CN" altLang="en-US" b="1">
                <a:solidFill>
                  <a:schemeClr val="bg2"/>
                </a:solidFill>
              </a:rPr>
              <a:t>、取消多余量词</a:t>
            </a:r>
          </a:p>
          <a:p>
            <a:pPr algn="l">
              <a:lnSpc>
                <a:spcPct val="110000"/>
              </a:lnSpc>
            </a:pPr>
            <a:r>
              <a:rPr kumimoji="0" lang="zh-CN" altLang="en-US" b="1">
                <a:solidFill>
                  <a:schemeClr val="bg2"/>
                </a:solidFill>
                <a:sym typeface="Symbol" pitchFamily="18" charset="2"/>
              </a:rPr>
              <a:t></a:t>
            </a:r>
            <a:r>
              <a:rPr kumimoji="0" lang="en-US" altLang="zh-CN" b="1">
                <a:solidFill>
                  <a:schemeClr val="bg2"/>
                </a:solidFill>
              </a:rPr>
              <a:t>(</a:t>
            </a:r>
            <a:r>
              <a:rPr kumimoji="0" lang="en-US" altLang="zh-CN" b="1">
                <a:solidFill>
                  <a:schemeClr val="bg2"/>
                </a:solidFill>
                <a:sym typeface="Symbol" pitchFamily="18" charset="2"/>
              </a:rPr>
              <a:t></a:t>
            </a:r>
            <a:r>
              <a:rPr kumimoji="0" lang="en-US" altLang="zh-CN" b="1">
                <a:solidFill>
                  <a:schemeClr val="bg2"/>
                </a:solidFill>
              </a:rPr>
              <a:t>x)</a:t>
            </a:r>
            <a:r>
              <a:rPr kumimoji="0" lang="en-US" altLang="zh-CN" b="1">
                <a:solidFill>
                  <a:schemeClr val="hlink"/>
                </a:solidFill>
              </a:rPr>
              <a:t>(</a:t>
            </a:r>
            <a:r>
              <a:rPr kumimoji="0" lang="en-US" altLang="zh-CN" b="1">
                <a:solidFill>
                  <a:schemeClr val="bg2"/>
                </a:solidFill>
              </a:rPr>
              <a:t>P(x)∨(</a:t>
            </a:r>
            <a:r>
              <a:rPr kumimoji="0" lang="en-US" altLang="zh-CN" b="1">
                <a:solidFill>
                  <a:schemeClr val="bg2"/>
                </a:solidFill>
                <a:sym typeface="Symbol" pitchFamily="18" charset="2"/>
              </a:rPr>
              <a:t></a:t>
            </a:r>
            <a:r>
              <a:rPr kumimoji="0" lang="en-US" altLang="zh-CN" b="1">
                <a:solidFill>
                  <a:schemeClr val="bg2"/>
                </a:solidFill>
              </a:rPr>
              <a:t>z)q(z,y)→┐(</a:t>
            </a:r>
            <a:r>
              <a:rPr kumimoji="0" lang="en-US" altLang="zh-CN" b="1">
                <a:solidFill>
                  <a:schemeClr val="bg2"/>
                </a:solidFill>
                <a:sym typeface="Symbol" pitchFamily="18" charset="2"/>
              </a:rPr>
              <a:t></a:t>
            </a:r>
            <a:r>
              <a:rPr kumimoji="0" lang="en-US" altLang="zh-CN" b="1">
                <a:solidFill>
                  <a:schemeClr val="bg2"/>
                </a:solidFill>
              </a:rPr>
              <a:t>y)R(x,y)</a:t>
            </a:r>
            <a:r>
              <a:rPr kumimoji="0" lang="en-US" altLang="zh-CN" b="1">
                <a:solidFill>
                  <a:schemeClr val="hlink"/>
                </a:solidFill>
              </a:rPr>
              <a:t>)</a:t>
            </a:r>
            <a:r>
              <a:rPr kumimoji="0" lang="en-US" altLang="zh-CN" b="1">
                <a:solidFill>
                  <a:schemeClr val="bg2"/>
                </a:solidFill>
              </a:rPr>
              <a:t> </a:t>
            </a:r>
          </a:p>
          <a:p>
            <a:pPr algn="l">
              <a:lnSpc>
                <a:spcPct val="110000"/>
              </a:lnSpc>
            </a:pPr>
            <a:r>
              <a:rPr kumimoji="0" lang="en-US" altLang="zh-CN" b="1">
                <a:solidFill>
                  <a:schemeClr val="bg2"/>
                </a:solidFill>
              </a:rPr>
              <a:t>2. </a:t>
            </a:r>
            <a:r>
              <a:rPr kumimoji="0" lang="zh-CN" altLang="en-US" b="1">
                <a:solidFill>
                  <a:schemeClr val="bg2"/>
                </a:solidFill>
              </a:rPr>
              <a:t>换名</a:t>
            </a:r>
          </a:p>
          <a:p>
            <a:pPr algn="l">
              <a:lnSpc>
                <a:spcPct val="110000"/>
              </a:lnSpc>
            </a:pPr>
            <a:r>
              <a:rPr kumimoji="0" lang="zh-CN" altLang="en-US" b="1">
                <a:solidFill>
                  <a:schemeClr val="bg2"/>
                </a:solidFill>
                <a:sym typeface="Symbol" pitchFamily="18" charset="2"/>
              </a:rPr>
              <a:t></a:t>
            </a:r>
            <a:r>
              <a:rPr kumimoji="0" lang="en-US" altLang="zh-CN" b="1">
                <a:solidFill>
                  <a:schemeClr val="bg2"/>
                </a:solidFill>
              </a:rPr>
              <a:t>(</a:t>
            </a:r>
            <a:r>
              <a:rPr kumimoji="0" lang="en-US" altLang="zh-CN" b="1">
                <a:solidFill>
                  <a:schemeClr val="bg2"/>
                </a:solidFill>
                <a:sym typeface="Symbol" pitchFamily="18" charset="2"/>
              </a:rPr>
              <a:t></a:t>
            </a:r>
            <a:r>
              <a:rPr kumimoji="0" lang="en-US" altLang="zh-CN" b="1">
                <a:solidFill>
                  <a:schemeClr val="bg2"/>
                </a:solidFill>
              </a:rPr>
              <a:t>x)</a:t>
            </a:r>
            <a:r>
              <a:rPr kumimoji="0" lang="en-US" altLang="zh-CN" b="1">
                <a:solidFill>
                  <a:schemeClr val="hlink"/>
                </a:solidFill>
              </a:rPr>
              <a:t>(</a:t>
            </a:r>
            <a:r>
              <a:rPr kumimoji="0" lang="en-US" altLang="zh-CN" b="1">
                <a:solidFill>
                  <a:schemeClr val="bg2"/>
                </a:solidFill>
              </a:rPr>
              <a:t>P(x)∨(</a:t>
            </a:r>
            <a:r>
              <a:rPr kumimoji="0" lang="en-US" altLang="zh-CN" b="1">
                <a:solidFill>
                  <a:schemeClr val="bg2"/>
                </a:solidFill>
                <a:sym typeface="Symbol" pitchFamily="18" charset="2"/>
              </a:rPr>
              <a:t></a:t>
            </a:r>
            <a:r>
              <a:rPr kumimoji="0" lang="en-US" altLang="zh-CN" b="1">
                <a:solidFill>
                  <a:schemeClr val="bg2"/>
                </a:solidFill>
              </a:rPr>
              <a:t>z)q(z,y)→┐(</a:t>
            </a:r>
            <a:r>
              <a:rPr kumimoji="0" lang="en-US" altLang="zh-CN" b="1">
                <a:solidFill>
                  <a:schemeClr val="bg2"/>
                </a:solidFill>
                <a:sym typeface="Symbol" pitchFamily="18" charset="2"/>
              </a:rPr>
              <a:t></a:t>
            </a:r>
            <a:r>
              <a:rPr kumimoji="0" lang="en-US" altLang="zh-CN" b="1">
                <a:solidFill>
                  <a:schemeClr val="bg2"/>
                </a:solidFill>
              </a:rPr>
              <a:t>w)R(x,w)</a:t>
            </a:r>
            <a:r>
              <a:rPr kumimoji="0" lang="en-US" altLang="zh-CN" b="1">
                <a:solidFill>
                  <a:schemeClr val="hlink"/>
                </a:solidFill>
              </a:rPr>
              <a:t>)</a:t>
            </a:r>
          </a:p>
          <a:p>
            <a:pPr algn="l">
              <a:lnSpc>
                <a:spcPct val="110000"/>
              </a:lnSpc>
            </a:pPr>
            <a:r>
              <a:rPr kumimoji="0" lang="en-US" altLang="zh-CN" b="1">
                <a:solidFill>
                  <a:schemeClr val="bg2"/>
                </a:solidFill>
              </a:rPr>
              <a:t>3</a:t>
            </a:r>
            <a:r>
              <a:rPr kumimoji="0" lang="zh-CN" altLang="en-US" b="1">
                <a:solidFill>
                  <a:schemeClr val="bg2"/>
                </a:solidFill>
              </a:rPr>
              <a:t>、消去条件联结词</a:t>
            </a:r>
          </a:p>
          <a:p>
            <a:pPr algn="l">
              <a:lnSpc>
                <a:spcPct val="110000"/>
              </a:lnSpc>
            </a:pPr>
            <a:r>
              <a:rPr kumimoji="0" lang="zh-CN" altLang="en-US" b="1">
                <a:solidFill>
                  <a:schemeClr val="bg2"/>
                </a:solidFill>
                <a:sym typeface="Symbol" pitchFamily="18" charset="2"/>
              </a:rPr>
              <a:t></a:t>
            </a:r>
            <a:r>
              <a:rPr kumimoji="0" lang="en-US" altLang="zh-CN" b="1">
                <a:solidFill>
                  <a:schemeClr val="bg2"/>
                </a:solidFill>
              </a:rPr>
              <a:t>(</a:t>
            </a:r>
            <a:r>
              <a:rPr kumimoji="0" lang="en-US" altLang="zh-CN" b="1">
                <a:solidFill>
                  <a:schemeClr val="bg2"/>
                </a:solidFill>
                <a:sym typeface="Symbol" pitchFamily="18" charset="2"/>
              </a:rPr>
              <a:t></a:t>
            </a:r>
            <a:r>
              <a:rPr kumimoji="0" lang="en-US" altLang="zh-CN" b="1">
                <a:solidFill>
                  <a:schemeClr val="bg2"/>
                </a:solidFill>
              </a:rPr>
              <a:t>x)</a:t>
            </a:r>
            <a:r>
              <a:rPr kumimoji="0" lang="en-US" altLang="zh-CN" b="1">
                <a:solidFill>
                  <a:schemeClr val="hlink"/>
                </a:solidFill>
              </a:rPr>
              <a:t>(</a:t>
            </a:r>
            <a:r>
              <a:rPr kumimoji="0" lang="en-US" altLang="zh-CN" b="1">
                <a:solidFill>
                  <a:schemeClr val="bg2"/>
                </a:solidFill>
              </a:rPr>
              <a:t>┐( P(x)∨(</a:t>
            </a:r>
            <a:r>
              <a:rPr kumimoji="0" lang="en-US" altLang="zh-CN" b="1">
                <a:solidFill>
                  <a:schemeClr val="bg2"/>
                </a:solidFill>
                <a:sym typeface="Symbol" pitchFamily="18" charset="2"/>
              </a:rPr>
              <a:t></a:t>
            </a:r>
            <a:r>
              <a:rPr kumimoji="0" lang="en-US" altLang="zh-CN" b="1">
                <a:solidFill>
                  <a:schemeClr val="bg2"/>
                </a:solidFill>
              </a:rPr>
              <a:t>z)q(z,y))∨┐(</a:t>
            </a:r>
            <a:r>
              <a:rPr kumimoji="0" lang="en-US" altLang="zh-CN" b="1">
                <a:solidFill>
                  <a:schemeClr val="bg2"/>
                </a:solidFill>
                <a:sym typeface="Symbol" pitchFamily="18" charset="2"/>
              </a:rPr>
              <a:t></a:t>
            </a:r>
            <a:r>
              <a:rPr kumimoji="0" lang="en-US" altLang="zh-CN" b="1">
                <a:solidFill>
                  <a:schemeClr val="bg2"/>
                </a:solidFill>
              </a:rPr>
              <a:t>w)R(x,w)</a:t>
            </a:r>
            <a:r>
              <a:rPr kumimoji="0" lang="en-US" altLang="zh-CN" b="1">
                <a:solidFill>
                  <a:schemeClr val="hlink"/>
                </a:solidFill>
              </a:rPr>
              <a:t>)</a:t>
            </a:r>
          </a:p>
          <a:p>
            <a:pPr algn="l">
              <a:lnSpc>
                <a:spcPct val="110000"/>
              </a:lnSpc>
            </a:pPr>
            <a:r>
              <a:rPr kumimoji="0" lang="en-US" altLang="zh-CN" b="1">
                <a:solidFill>
                  <a:schemeClr val="bg2"/>
                </a:solidFill>
              </a:rPr>
              <a:t>4</a:t>
            </a:r>
            <a:r>
              <a:rPr kumimoji="0" lang="zh-CN" altLang="en-US" b="1">
                <a:solidFill>
                  <a:schemeClr val="bg2"/>
                </a:solidFill>
              </a:rPr>
              <a:t>、┐带入</a:t>
            </a:r>
          </a:p>
          <a:p>
            <a:pPr algn="l">
              <a:lnSpc>
                <a:spcPct val="110000"/>
              </a:lnSpc>
            </a:pPr>
            <a:r>
              <a:rPr kumimoji="0" lang="zh-CN" altLang="en-US" b="1">
                <a:solidFill>
                  <a:schemeClr val="bg2"/>
                </a:solidFill>
                <a:sym typeface="Symbol" pitchFamily="18" charset="2"/>
              </a:rPr>
              <a:t></a:t>
            </a:r>
            <a:r>
              <a:rPr kumimoji="0" lang="en-US" altLang="zh-CN" b="1">
                <a:solidFill>
                  <a:schemeClr val="bg2"/>
                </a:solidFill>
              </a:rPr>
              <a:t>(</a:t>
            </a:r>
            <a:r>
              <a:rPr kumimoji="0" lang="en-US" altLang="zh-CN" b="1">
                <a:solidFill>
                  <a:schemeClr val="bg2"/>
                </a:solidFill>
                <a:sym typeface="Symbol" pitchFamily="18" charset="2"/>
              </a:rPr>
              <a:t></a:t>
            </a:r>
            <a:r>
              <a:rPr kumimoji="0" lang="en-US" altLang="zh-CN" b="1">
                <a:solidFill>
                  <a:schemeClr val="bg2"/>
                </a:solidFill>
              </a:rPr>
              <a:t>x)</a:t>
            </a:r>
            <a:r>
              <a:rPr kumimoji="0" lang="en-US" altLang="zh-CN" b="1">
                <a:solidFill>
                  <a:schemeClr val="hlink"/>
                </a:solidFill>
              </a:rPr>
              <a:t>(</a:t>
            </a:r>
            <a:r>
              <a:rPr kumimoji="0" lang="en-US" altLang="zh-CN" b="1">
                <a:solidFill>
                  <a:schemeClr val="bg2"/>
                </a:solidFill>
              </a:rPr>
              <a:t>(┐P(x)∧(</a:t>
            </a:r>
            <a:r>
              <a:rPr kumimoji="0" lang="en-US" altLang="zh-CN" b="1">
                <a:solidFill>
                  <a:schemeClr val="bg2"/>
                </a:solidFill>
                <a:sym typeface="Symbol" pitchFamily="18" charset="2"/>
              </a:rPr>
              <a:t></a:t>
            </a:r>
            <a:r>
              <a:rPr kumimoji="0" lang="en-US" altLang="zh-CN" b="1">
                <a:solidFill>
                  <a:schemeClr val="bg2"/>
                </a:solidFill>
              </a:rPr>
              <a:t>z)┐q(z,y))∨(</a:t>
            </a:r>
            <a:r>
              <a:rPr kumimoji="0" lang="en-US" altLang="zh-CN" b="1">
                <a:solidFill>
                  <a:schemeClr val="bg2"/>
                </a:solidFill>
                <a:sym typeface="Symbol" pitchFamily="18" charset="2"/>
              </a:rPr>
              <a:t></a:t>
            </a:r>
            <a:r>
              <a:rPr kumimoji="0" lang="en-US" altLang="zh-CN" b="1">
                <a:solidFill>
                  <a:schemeClr val="bg2"/>
                </a:solidFill>
              </a:rPr>
              <a:t>w)┐R(x,w)</a:t>
            </a:r>
            <a:r>
              <a:rPr kumimoji="0" lang="en-US" altLang="zh-CN" b="1">
                <a:solidFill>
                  <a:schemeClr val="hlink"/>
                </a:solidFill>
              </a:rPr>
              <a:t>)</a:t>
            </a:r>
          </a:p>
          <a:p>
            <a:pPr algn="l">
              <a:lnSpc>
                <a:spcPct val="110000"/>
              </a:lnSpc>
            </a:pPr>
            <a:r>
              <a:rPr kumimoji="0" lang="en-US" altLang="zh-CN" b="1">
                <a:solidFill>
                  <a:schemeClr val="bg2"/>
                </a:solidFill>
              </a:rPr>
              <a:t>5</a:t>
            </a:r>
            <a:r>
              <a:rPr kumimoji="0" lang="zh-CN" altLang="en-US" b="1">
                <a:solidFill>
                  <a:schemeClr val="bg2"/>
                </a:solidFill>
              </a:rPr>
              <a:t>、量词推到左边</a:t>
            </a:r>
          </a:p>
          <a:p>
            <a:pPr algn="l">
              <a:lnSpc>
                <a:spcPct val="110000"/>
              </a:lnSpc>
            </a:pPr>
            <a:r>
              <a:rPr kumimoji="0" lang="zh-CN" altLang="en-US" b="1">
                <a:solidFill>
                  <a:schemeClr val="bg2"/>
                </a:solidFill>
                <a:sym typeface="Symbol" pitchFamily="18" charset="2"/>
              </a:rPr>
              <a:t></a:t>
            </a:r>
            <a:r>
              <a:rPr kumimoji="0" lang="en-US" altLang="zh-CN" b="1">
                <a:solidFill>
                  <a:schemeClr val="bg2"/>
                </a:solidFill>
              </a:rPr>
              <a:t>(</a:t>
            </a:r>
            <a:r>
              <a:rPr kumimoji="0" lang="en-US" altLang="zh-CN" b="1">
                <a:solidFill>
                  <a:schemeClr val="bg2"/>
                </a:solidFill>
                <a:sym typeface="Symbol" pitchFamily="18" charset="2"/>
              </a:rPr>
              <a:t></a:t>
            </a:r>
            <a:r>
              <a:rPr kumimoji="0" lang="en-US" altLang="zh-CN" b="1">
                <a:solidFill>
                  <a:schemeClr val="bg2"/>
                </a:solidFill>
              </a:rPr>
              <a:t>x)(</a:t>
            </a:r>
            <a:r>
              <a:rPr kumimoji="0" lang="en-US" altLang="zh-CN" b="1">
                <a:solidFill>
                  <a:schemeClr val="bg2"/>
                </a:solidFill>
                <a:sym typeface="Symbol" pitchFamily="18" charset="2"/>
              </a:rPr>
              <a:t></a:t>
            </a:r>
            <a:r>
              <a:rPr kumimoji="0" lang="en-US" altLang="zh-CN" b="1">
                <a:solidFill>
                  <a:schemeClr val="bg2"/>
                </a:solidFill>
              </a:rPr>
              <a:t>z)(</a:t>
            </a:r>
            <a:r>
              <a:rPr kumimoji="0" lang="en-US" altLang="zh-CN" b="1">
                <a:solidFill>
                  <a:schemeClr val="bg2"/>
                </a:solidFill>
                <a:sym typeface="Symbol" pitchFamily="18" charset="2"/>
              </a:rPr>
              <a:t></a:t>
            </a:r>
            <a:r>
              <a:rPr kumimoji="0" lang="en-US" altLang="zh-CN" b="1">
                <a:solidFill>
                  <a:schemeClr val="bg2"/>
                </a:solidFill>
              </a:rPr>
              <a:t>w)</a:t>
            </a:r>
            <a:r>
              <a:rPr kumimoji="0" lang="en-US" altLang="zh-CN" b="1">
                <a:solidFill>
                  <a:schemeClr val="hlink"/>
                </a:solidFill>
              </a:rPr>
              <a:t>(</a:t>
            </a:r>
            <a:r>
              <a:rPr kumimoji="0" lang="en-US" altLang="zh-CN" b="1">
                <a:solidFill>
                  <a:schemeClr val="bg2"/>
                </a:solidFill>
              </a:rPr>
              <a:t>(┐P(x)∧┐q(z,y))∨┐R(x,w)</a:t>
            </a:r>
            <a:r>
              <a:rPr kumimoji="0" lang="en-US" altLang="zh-CN" b="1">
                <a:solidFill>
                  <a:schemeClr val="hlink"/>
                </a:solidFill>
              </a:rPr>
              <a:t>)</a:t>
            </a:r>
          </a:p>
          <a:p>
            <a:pPr algn="l">
              <a:lnSpc>
                <a:spcPct val="110000"/>
              </a:lnSpc>
            </a:pPr>
            <a:r>
              <a:rPr kumimoji="0" lang="en-US" altLang="zh-CN" b="1">
                <a:solidFill>
                  <a:schemeClr val="bg2"/>
                </a:solidFill>
              </a:rPr>
              <a:t>6</a:t>
            </a:r>
            <a:r>
              <a:rPr kumimoji="0" lang="zh-CN" altLang="en-US" b="1">
                <a:solidFill>
                  <a:schemeClr val="bg2"/>
                </a:solidFill>
              </a:rPr>
              <a:t>、整理成析取范式</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98338">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98338">
                                            <p:txEl>
                                              <p:pRg st="2" end="2"/>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98338">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9833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98338">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98338">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98338">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98338">
                                            <p:txEl>
                                              <p:pRg st="8" end="8"/>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398338">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8338">
                                            <p:txEl>
                                              <p:pRg st="10" end="10"/>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398338">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5B8EBAE3-D5F7-4BF7-9448-4CEA9AA0C752}" type="slidenum">
              <a:rPr lang="en-US" altLang="zh-CN"/>
              <a:pPr/>
              <a:t>77</a:t>
            </a:fld>
            <a:endParaRPr lang="en-US" altLang="zh-CN"/>
          </a:p>
        </p:txBody>
      </p:sp>
      <p:sp>
        <p:nvSpPr>
          <p:cNvPr id="415746" name="Rectangle 2"/>
          <p:cNvSpPr>
            <a:spLocks noChangeArrowheads="1"/>
          </p:cNvSpPr>
          <p:nvPr/>
        </p:nvSpPr>
        <p:spPr bwMode="auto">
          <a:xfrm>
            <a:off x="971601" y="2820769"/>
            <a:ext cx="7200799"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b">
            <a:spAutoFit/>
          </a:bodyPr>
          <a:lstStyle>
            <a:lvl1pPr algn="l">
              <a:defRPr sz="4000">
                <a:solidFill>
                  <a:schemeClr val="tx2"/>
                </a:solidFill>
                <a:latin typeface="Tahoma" pitchFamily="34" charset="0"/>
                <a:ea typeface="宋体" charset="-122"/>
              </a:defRPr>
            </a:lvl1pPr>
            <a:lvl2pPr algn="l">
              <a:defRPr sz="4000">
                <a:solidFill>
                  <a:schemeClr val="tx2"/>
                </a:solidFill>
                <a:latin typeface="Tahoma" pitchFamily="34" charset="0"/>
                <a:ea typeface="宋体" charset="-122"/>
              </a:defRPr>
            </a:lvl2pPr>
            <a:lvl3pPr algn="l">
              <a:defRPr sz="4000">
                <a:solidFill>
                  <a:schemeClr val="tx2"/>
                </a:solidFill>
                <a:latin typeface="Tahoma" pitchFamily="34" charset="0"/>
                <a:ea typeface="宋体" charset="-122"/>
              </a:defRPr>
            </a:lvl3pPr>
            <a:lvl4pPr algn="l">
              <a:defRPr sz="4000">
                <a:solidFill>
                  <a:schemeClr val="tx2"/>
                </a:solidFill>
                <a:latin typeface="Tahoma" pitchFamily="34" charset="0"/>
                <a:ea typeface="宋体" charset="-122"/>
              </a:defRPr>
            </a:lvl4pPr>
            <a:lvl5pPr algn="l">
              <a:defRPr sz="4000">
                <a:solidFill>
                  <a:schemeClr val="tx2"/>
                </a:solidFill>
                <a:latin typeface="Tahoma" pitchFamily="34" charset="0"/>
                <a:ea typeface="宋体" charset="-122"/>
              </a:defRPr>
            </a:lvl5pPr>
            <a:lvl6pPr marL="457200" fontAlgn="base">
              <a:spcBef>
                <a:spcPct val="0"/>
              </a:spcBef>
              <a:spcAft>
                <a:spcPct val="0"/>
              </a:spcAft>
              <a:defRPr sz="4000">
                <a:solidFill>
                  <a:schemeClr val="tx2"/>
                </a:solidFill>
                <a:latin typeface="Tahoma" pitchFamily="34" charset="0"/>
                <a:ea typeface="宋体" charset="-122"/>
              </a:defRPr>
            </a:lvl6pPr>
            <a:lvl7pPr marL="914400" fontAlgn="base">
              <a:spcBef>
                <a:spcPct val="0"/>
              </a:spcBef>
              <a:spcAft>
                <a:spcPct val="0"/>
              </a:spcAft>
              <a:defRPr sz="4000">
                <a:solidFill>
                  <a:schemeClr val="tx2"/>
                </a:solidFill>
                <a:latin typeface="Tahoma" pitchFamily="34" charset="0"/>
                <a:ea typeface="宋体" charset="-122"/>
              </a:defRPr>
            </a:lvl7pPr>
            <a:lvl8pPr marL="1371600" fontAlgn="base">
              <a:spcBef>
                <a:spcPct val="0"/>
              </a:spcBef>
              <a:spcAft>
                <a:spcPct val="0"/>
              </a:spcAft>
              <a:defRPr sz="4000">
                <a:solidFill>
                  <a:schemeClr val="tx2"/>
                </a:solidFill>
                <a:latin typeface="Tahoma" pitchFamily="34" charset="0"/>
                <a:ea typeface="宋体" charset="-122"/>
              </a:defRPr>
            </a:lvl8pPr>
            <a:lvl9pPr marL="1828800" fontAlgn="base">
              <a:spcBef>
                <a:spcPct val="0"/>
              </a:spcBef>
              <a:spcAft>
                <a:spcPct val="0"/>
              </a:spcAft>
              <a:defRPr sz="4000">
                <a:solidFill>
                  <a:schemeClr val="tx2"/>
                </a:solidFill>
                <a:latin typeface="Tahoma" pitchFamily="34" charset="0"/>
                <a:ea typeface="宋体" charset="-122"/>
              </a:defRPr>
            </a:lvl9pPr>
          </a:lstStyle>
          <a:p>
            <a:r>
              <a:rPr kumimoji="0" lang="zh-CN" altLang="en-US" sz="3600" b="1" dirty="0">
                <a:solidFill>
                  <a:schemeClr val="tx1"/>
                </a:solidFill>
                <a:latin typeface="楷体_GB2312" pitchFamily="49" charset="-122"/>
                <a:ea typeface="楷体_GB2312" pitchFamily="49" charset="-122"/>
              </a:rPr>
              <a:t>作业</a:t>
            </a:r>
            <a:r>
              <a:rPr kumimoji="0" lang="zh-CN" altLang="en-US" sz="3600" b="1" dirty="0" smtClean="0">
                <a:solidFill>
                  <a:schemeClr val="tx1"/>
                </a:solidFill>
                <a:latin typeface="楷体_GB2312" pitchFamily="49" charset="-122"/>
                <a:ea typeface="楷体_GB2312" pitchFamily="49" charset="-122"/>
              </a:rPr>
              <a:t>：</a:t>
            </a:r>
            <a:r>
              <a:rPr kumimoji="0" lang="en-US" altLang="zh-CN" sz="3600" b="1" dirty="0" smtClean="0">
                <a:solidFill>
                  <a:schemeClr val="tx1"/>
                </a:solidFill>
                <a:latin typeface="Times New Roman" pitchFamily="18" charset="0"/>
                <a:ea typeface="楷体_GB2312" pitchFamily="49" charset="-122"/>
              </a:rPr>
              <a:t>P72(4)</a:t>
            </a:r>
            <a:endParaRPr kumimoji="0" lang="en-US" altLang="zh-CN" sz="3600" b="1" dirty="0">
              <a:solidFill>
                <a:schemeClr val="tx1"/>
              </a:solidFill>
              <a:latin typeface="Times New Roman" pitchFamily="18" charset="0"/>
              <a:ea typeface="楷体_GB2312" pitchFamily="49" charset="-122"/>
            </a:endParaRPr>
          </a:p>
        </p:txBody>
      </p:sp>
    </p:spTree>
    <p:extLst>
      <p:ext uri="{BB962C8B-B14F-4D97-AF65-F5344CB8AC3E}">
        <p14:creationId xmlns:p14="http://schemas.microsoft.com/office/powerpoint/2010/main" val="1123628531"/>
      </p:ext>
    </p:extLst>
  </p:cSld>
  <p:clrMapOvr>
    <a:masterClrMapping/>
  </p:clrMapOvr>
  <p:transition spd="slow">
    <p:pull dir="ru"/>
  </p:transition>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2"/>
          <p:cNvSpPr>
            <a:spLocks noGrp="1"/>
          </p:cNvSpPr>
          <p:nvPr>
            <p:ph type="sldNum" sz="quarter" idx="11"/>
          </p:nvPr>
        </p:nvSpPr>
        <p:spPr/>
        <p:txBody>
          <a:bodyPr/>
          <a:lstStyle/>
          <a:p>
            <a:fld id="{61A5C4B4-B15F-4095-853E-E4A7560FD70D}" type="slidenum">
              <a:rPr lang="en-US" altLang="zh-CN"/>
              <a:pPr/>
              <a:t>78</a:t>
            </a:fld>
            <a:endParaRPr lang="en-US" altLang="zh-CN"/>
          </a:p>
        </p:txBody>
      </p:sp>
      <p:sp>
        <p:nvSpPr>
          <p:cNvPr id="450562" name="Rectangle 2"/>
          <p:cNvSpPr>
            <a:spLocks noChangeArrowheads="1"/>
          </p:cNvSpPr>
          <p:nvPr/>
        </p:nvSpPr>
        <p:spPr bwMode="auto">
          <a:xfrm>
            <a:off x="3419475" y="609600"/>
            <a:ext cx="23034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b">
            <a:spAutoFit/>
          </a:bodyPr>
          <a:lstStyle>
            <a:lvl1pPr algn="l">
              <a:defRPr sz="4000">
                <a:solidFill>
                  <a:schemeClr val="tx2"/>
                </a:solidFill>
                <a:latin typeface="Tahoma" pitchFamily="34" charset="0"/>
                <a:ea typeface="宋体" charset="-122"/>
              </a:defRPr>
            </a:lvl1pPr>
            <a:lvl2pPr algn="l">
              <a:defRPr sz="4000">
                <a:solidFill>
                  <a:schemeClr val="tx2"/>
                </a:solidFill>
                <a:latin typeface="Tahoma" pitchFamily="34" charset="0"/>
                <a:ea typeface="宋体" charset="-122"/>
              </a:defRPr>
            </a:lvl2pPr>
            <a:lvl3pPr algn="l">
              <a:defRPr sz="4000">
                <a:solidFill>
                  <a:schemeClr val="tx2"/>
                </a:solidFill>
                <a:latin typeface="Tahoma" pitchFamily="34" charset="0"/>
                <a:ea typeface="宋体" charset="-122"/>
              </a:defRPr>
            </a:lvl3pPr>
            <a:lvl4pPr algn="l">
              <a:defRPr sz="4000">
                <a:solidFill>
                  <a:schemeClr val="tx2"/>
                </a:solidFill>
                <a:latin typeface="Tahoma" pitchFamily="34" charset="0"/>
                <a:ea typeface="宋体" charset="-122"/>
              </a:defRPr>
            </a:lvl4pPr>
            <a:lvl5pPr algn="l">
              <a:defRPr sz="4000">
                <a:solidFill>
                  <a:schemeClr val="tx2"/>
                </a:solidFill>
                <a:latin typeface="Tahoma" pitchFamily="34" charset="0"/>
                <a:ea typeface="宋体" charset="-122"/>
              </a:defRPr>
            </a:lvl5pPr>
            <a:lvl6pPr marL="457200" fontAlgn="base">
              <a:spcBef>
                <a:spcPct val="0"/>
              </a:spcBef>
              <a:spcAft>
                <a:spcPct val="0"/>
              </a:spcAft>
              <a:defRPr sz="4000">
                <a:solidFill>
                  <a:schemeClr val="tx2"/>
                </a:solidFill>
                <a:latin typeface="Tahoma" pitchFamily="34" charset="0"/>
                <a:ea typeface="宋体" charset="-122"/>
              </a:defRPr>
            </a:lvl6pPr>
            <a:lvl7pPr marL="914400" fontAlgn="base">
              <a:spcBef>
                <a:spcPct val="0"/>
              </a:spcBef>
              <a:spcAft>
                <a:spcPct val="0"/>
              </a:spcAft>
              <a:defRPr sz="4000">
                <a:solidFill>
                  <a:schemeClr val="tx2"/>
                </a:solidFill>
                <a:latin typeface="Tahoma" pitchFamily="34" charset="0"/>
                <a:ea typeface="宋体" charset="-122"/>
              </a:defRPr>
            </a:lvl7pPr>
            <a:lvl8pPr marL="1371600" fontAlgn="base">
              <a:spcBef>
                <a:spcPct val="0"/>
              </a:spcBef>
              <a:spcAft>
                <a:spcPct val="0"/>
              </a:spcAft>
              <a:defRPr sz="4000">
                <a:solidFill>
                  <a:schemeClr val="tx2"/>
                </a:solidFill>
                <a:latin typeface="Tahoma" pitchFamily="34" charset="0"/>
                <a:ea typeface="宋体" charset="-122"/>
              </a:defRPr>
            </a:lvl8pPr>
            <a:lvl9pPr marL="1828800" fontAlgn="base">
              <a:spcBef>
                <a:spcPct val="0"/>
              </a:spcBef>
              <a:spcAft>
                <a:spcPct val="0"/>
              </a:spcAft>
              <a:defRPr sz="4000">
                <a:solidFill>
                  <a:schemeClr val="tx2"/>
                </a:solidFill>
                <a:latin typeface="Tahoma" pitchFamily="34" charset="0"/>
                <a:ea typeface="宋体" charset="-122"/>
              </a:defRPr>
            </a:lvl9pPr>
          </a:lstStyle>
          <a:p>
            <a:pPr algn="ctr"/>
            <a:r>
              <a:rPr kumimoji="0" lang="zh-CN" altLang="en-US" sz="3600" b="1">
                <a:solidFill>
                  <a:schemeClr val="tx1"/>
                </a:solidFill>
                <a:latin typeface="华文行楷" pitchFamily="2" charset="-122"/>
                <a:ea typeface="华文行楷" pitchFamily="2" charset="-122"/>
              </a:rPr>
              <a:t>复习</a:t>
            </a:r>
          </a:p>
        </p:txBody>
      </p:sp>
      <p:sp>
        <p:nvSpPr>
          <p:cNvPr id="450563" name="Rectangle 3"/>
          <p:cNvSpPr>
            <a:spLocks noChangeArrowheads="1"/>
          </p:cNvSpPr>
          <p:nvPr/>
        </p:nvSpPr>
        <p:spPr bwMode="auto">
          <a:xfrm>
            <a:off x="1187450" y="1196975"/>
            <a:ext cx="7056438" cy="47459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rPr>
              <a:t>一</a:t>
            </a:r>
            <a:r>
              <a:rPr kumimoji="0" lang="zh-CN" altLang="en-US" sz="2800" b="1" dirty="0" smtClean="0">
                <a:solidFill>
                  <a:schemeClr val="hlink"/>
                </a:solidFill>
              </a:rPr>
              <a:t>、</a:t>
            </a:r>
            <a:r>
              <a:rPr kumimoji="0" lang="zh-CN" altLang="en-US" sz="2800" b="1" dirty="0">
                <a:solidFill>
                  <a:schemeClr val="hlink"/>
                </a:solidFill>
              </a:rPr>
              <a:t>谓词演算的等价式与蕴含</a:t>
            </a:r>
            <a:r>
              <a:rPr kumimoji="0" lang="zh-CN" altLang="en-US" sz="2800" b="1" dirty="0" smtClean="0">
                <a:solidFill>
                  <a:schemeClr val="hlink"/>
                </a:solidFill>
              </a:rPr>
              <a:t>式</a:t>
            </a:r>
            <a:endParaRPr kumimoji="0" lang="en-US" altLang="zh-CN" sz="2800" b="1" dirty="0" smtClean="0">
              <a:solidFill>
                <a:schemeClr val="hlink"/>
              </a:solidFill>
            </a:endParaRPr>
          </a:p>
          <a:p>
            <a:pPr marL="514350" indent="-514350" algn="l">
              <a:lnSpc>
                <a:spcPct val="120000"/>
              </a:lnSpc>
              <a:buAutoNum type="arabicPeriod"/>
            </a:pPr>
            <a:r>
              <a:rPr kumimoji="0" lang="zh-CN" altLang="en-US" sz="2800" b="1" dirty="0" smtClean="0"/>
              <a:t>命题公式的推广</a:t>
            </a:r>
            <a:endParaRPr kumimoji="0" lang="en-US" altLang="zh-CN" sz="2800" b="1" dirty="0" smtClean="0"/>
          </a:p>
          <a:p>
            <a:pPr marL="457200" indent="-457200" algn="l">
              <a:lnSpc>
                <a:spcPct val="120000"/>
              </a:lnSpc>
              <a:buAutoNum type="arabicPeriod"/>
            </a:pPr>
            <a:r>
              <a:rPr kumimoji="0" lang="zh-CN" altLang="en-US" sz="2800" b="1" dirty="0" smtClean="0"/>
              <a:t>量词与否定的关系</a:t>
            </a:r>
            <a:endParaRPr kumimoji="0" lang="en-US" altLang="zh-CN" sz="2800" b="1" dirty="0" smtClean="0"/>
          </a:p>
          <a:p>
            <a:pPr marL="457200" indent="-457200" algn="l">
              <a:lnSpc>
                <a:spcPct val="120000"/>
              </a:lnSpc>
              <a:buAutoNum type="arabicPeriod"/>
            </a:pPr>
            <a:r>
              <a:rPr kumimoji="0" lang="zh-CN" altLang="en-US" sz="2800" b="1" dirty="0" smtClean="0"/>
              <a:t>作用域的收缩与扩张</a:t>
            </a:r>
            <a:endParaRPr kumimoji="0" lang="en-US" altLang="zh-CN" sz="2800" b="1" dirty="0" smtClean="0"/>
          </a:p>
          <a:p>
            <a:pPr marL="457200" indent="-457200" algn="l">
              <a:lnSpc>
                <a:spcPct val="120000"/>
              </a:lnSpc>
              <a:buAutoNum type="arabicPeriod"/>
            </a:pPr>
            <a:r>
              <a:rPr kumimoji="0" lang="zh-CN" altLang="en-US" sz="2800" b="1" dirty="0" smtClean="0"/>
              <a:t>分配律</a:t>
            </a:r>
            <a:endParaRPr kumimoji="0" lang="en-US" altLang="zh-CN" sz="2800" b="1" dirty="0" smtClean="0"/>
          </a:p>
          <a:p>
            <a:pPr marL="457200" indent="-457200" algn="l">
              <a:lnSpc>
                <a:spcPct val="120000"/>
              </a:lnSpc>
              <a:buAutoNum type="arabicPeriod"/>
            </a:pPr>
            <a:r>
              <a:rPr kumimoji="0" lang="zh-CN" altLang="en-US" sz="2800" b="1" dirty="0" smtClean="0"/>
              <a:t>量词与联结词间的蕴含式</a:t>
            </a:r>
            <a:endParaRPr kumimoji="0" lang="en-US" altLang="zh-CN" sz="2800" b="1" dirty="0" smtClean="0"/>
          </a:p>
          <a:p>
            <a:pPr marL="457200" indent="-457200" algn="l">
              <a:lnSpc>
                <a:spcPct val="120000"/>
              </a:lnSpc>
              <a:buAutoNum type="arabicPeriod"/>
            </a:pPr>
            <a:r>
              <a:rPr kumimoji="0" lang="zh-CN" altLang="en-US" sz="2800" b="1" dirty="0"/>
              <a:t>多</a:t>
            </a:r>
            <a:r>
              <a:rPr kumimoji="0" lang="zh-CN" altLang="en-US" sz="2800" b="1" dirty="0" smtClean="0"/>
              <a:t>个量词的使用</a:t>
            </a:r>
            <a:endParaRPr kumimoji="0" lang="en-US" altLang="zh-CN" sz="2800" b="1" dirty="0" smtClean="0"/>
          </a:p>
          <a:p>
            <a:pPr algn="l">
              <a:lnSpc>
                <a:spcPct val="120000"/>
              </a:lnSpc>
            </a:pPr>
            <a:r>
              <a:rPr kumimoji="0" lang="zh-CN" altLang="en-US" sz="2800" b="1" dirty="0" smtClean="0">
                <a:solidFill>
                  <a:srgbClr val="FF0000"/>
                </a:solidFill>
              </a:rPr>
              <a:t>二、前束范式</a:t>
            </a:r>
            <a:endParaRPr kumimoji="0" lang="en-US" altLang="zh-CN" sz="2800" b="1" dirty="0" smtClean="0">
              <a:solidFill>
                <a:srgbClr val="FF0000"/>
              </a:solidFill>
            </a:endParaRPr>
          </a:p>
          <a:p>
            <a:pPr algn="l">
              <a:lnSpc>
                <a:spcPct val="120000"/>
              </a:lnSpc>
            </a:pPr>
            <a:r>
              <a:rPr lang="en-US" altLang="zh-CN" sz="2800" b="1" dirty="0">
                <a:sym typeface="Symbol" pitchFamily="18" charset="2"/>
              </a:rPr>
              <a:t>Q</a:t>
            </a:r>
            <a:r>
              <a:rPr lang="en-US" altLang="zh-CN" sz="2800" b="1" baseline="-25000" dirty="0">
                <a:sym typeface="Symbol" pitchFamily="18" charset="2"/>
              </a:rPr>
              <a:t>1</a:t>
            </a:r>
            <a:r>
              <a:rPr lang="en-US" altLang="zh-CN" sz="2800" b="1" dirty="0">
                <a:sym typeface="Symbol" pitchFamily="18" charset="2"/>
              </a:rPr>
              <a:t>x</a:t>
            </a:r>
            <a:r>
              <a:rPr lang="en-US" altLang="zh-CN" sz="2800" b="1" baseline="-25000" dirty="0">
                <a:sym typeface="Symbol" pitchFamily="18" charset="2"/>
              </a:rPr>
              <a:t>1</a:t>
            </a:r>
            <a:r>
              <a:rPr lang="en-US" altLang="zh-CN" sz="2800" b="1" dirty="0">
                <a:sym typeface="Symbol" pitchFamily="18" charset="2"/>
              </a:rPr>
              <a:t>Q</a:t>
            </a:r>
            <a:r>
              <a:rPr lang="en-US" altLang="zh-CN" sz="2800" b="1" baseline="-25000" dirty="0">
                <a:sym typeface="Symbol" pitchFamily="18" charset="2"/>
              </a:rPr>
              <a:t>2</a:t>
            </a:r>
            <a:r>
              <a:rPr lang="en-US" altLang="zh-CN" sz="2800" b="1" dirty="0">
                <a:sym typeface="Symbol" pitchFamily="18" charset="2"/>
              </a:rPr>
              <a:t>x</a:t>
            </a:r>
            <a:r>
              <a:rPr lang="en-US" altLang="zh-CN" sz="2800" b="1" baseline="-25000" dirty="0">
                <a:sym typeface="Symbol" pitchFamily="18" charset="2"/>
              </a:rPr>
              <a:t>2</a:t>
            </a:r>
            <a:r>
              <a:rPr lang="en-US" altLang="zh-CN" sz="2800" b="1" dirty="0">
                <a:sym typeface="Symbol" pitchFamily="18" charset="2"/>
              </a:rPr>
              <a:t>…</a:t>
            </a:r>
            <a:r>
              <a:rPr lang="en-US" altLang="zh-CN" sz="2800" b="1" dirty="0" err="1">
                <a:sym typeface="Symbol" pitchFamily="18" charset="2"/>
              </a:rPr>
              <a:t>Q</a:t>
            </a:r>
            <a:r>
              <a:rPr lang="en-US" altLang="zh-CN" sz="2800" b="1" baseline="-25000" dirty="0" err="1">
                <a:sym typeface="Symbol" pitchFamily="18" charset="2"/>
              </a:rPr>
              <a:t>k</a:t>
            </a:r>
            <a:r>
              <a:rPr lang="en-US" altLang="zh-CN" sz="2800" b="1" dirty="0" err="1">
                <a:sym typeface="Symbol" pitchFamily="18" charset="2"/>
              </a:rPr>
              <a:t>x</a:t>
            </a:r>
            <a:r>
              <a:rPr lang="en-US" altLang="zh-CN" sz="2800" b="1" baseline="-25000" dirty="0" err="1">
                <a:sym typeface="Symbol" pitchFamily="18" charset="2"/>
              </a:rPr>
              <a:t>k</a:t>
            </a:r>
            <a:r>
              <a:rPr lang="en-US" altLang="zh-CN" sz="2800" b="1" dirty="0" err="1">
                <a:sym typeface="Symbol" pitchFamily="18" charset="2"/>
              </a:rPr>
              <a:t>B</a:t>
            </a:r>
            <a:endParaRPr kumimoji="0" lang="en-US" altLang="zh-CN" sz="2800" b="1" dirty="0" smtClean="0"/>
          </a:p>
        </p:txBody>
      </p:sp>
    </p:spTree>
    <p:extLst>
      <p:ext uri="{BB962C8B-B14F-4D97-AF65-F5344CB8AC3E}">
        <p14:creationId xmlns:p14="http://schemas.microsoft.com/office/powerpoint/2010/main" val="3650483051"/>
      </p:ext>
    </p:extLst>
  </p:cSld>
  <p:clrMapOvr>
    <a:masterClrMapping/>
  </p:clrMapOvr>
  <p:transition spd="slow">
    <p:pull dir="ru"/>
  </p:transition>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4"/>
          <p:cNvSpPr>
            <a:spLocks noGrp="1"/>
          </p:cNvSpPr>
          <p:nvPr>
            <p:ph type="sldNum" sz="quarter" idx="11"/>
          </p:nvPr>
        </p:nvSpPr>
        <p:spPr/>
        <p:txBody>
          <a:bodyPr/>
          <a:lstStyle/>
          <a:p>
            <a:fld id="{8FD16B27-3F94-4335-B8AD-3F4DC70F8E20}" type="slidenum">
              <a:rPr lang="en-US" altLang="zh-CN"/>
              <a:pPr/>
              <a:t>79</a:t>
            </a:fld>
            <a:endParaRPr lang="en-US" altLang="zh-CN"/>
          </a:p>
        </p:txBody>
      </p:sp>
      <p:sp>
        <p:nvSpPr>
          <p:cNvPr id="399362" name="Rectangle 2"/>
          <p:cNvSpPr>
            <a:spLocks noGrp="1" noChangeArrowheads="1"/>
          </p:cNvSpPr>
          <p:nvPr>
            <p:ph type="title"/>
          </p:nvPr>
        </p:nvSpPr>
        <p:spPr>
          <a:xfrm>
            <a:off x="1258888" y="606425"/>
            <a:ext cx="5757862" cy="641350"/>
          </a:xfrm>
          <a:noFill/>
        </p:spPr>
        <p:txBody>
          <a:bodyPr/>
          <a:lstStyle/>
          <a:p>
            <a:r>
              <a:rPr lang="en-US" altLang="zh-CN" sz="3600" b="1">
                <a:solidFill>
                  <a:schemeClr val="tx1"/>
                </a:solidFill>
                <a:latin typeface="华文行楷" pitchFamily="2" charset="-122"/>
                <a:ea typeface="华文行楷" pitchFamily="2" charset="-122"/>
              </a:rPr>
              <a:t>2.7  </a:t>
            </a:r>
            <a:r>
              <a:rPr lang="zh-CN" altLang="en-US" sz="3600" b="1">
                <a:solidFill>
                  <a:schemeClr val="tx1"/>
                </a:solidFill>
                <a:latin typeface="华文行楷" pitchFamily="2" charset="-122"/>
                <a:ea typeface="华文行楷" pitchFamily="2" charset="-122"/>
              </a:rPr>
              <a:t>谓词演算的推理理论</a:t>
            </a:r>
            <a:endParaRPr lang="zh-CN" altLang="en-US" sz="3600" b="1" i="1">
              <a:solidFill>
                <a:schemeClr val="tx1"/>
              </a:solidFill>
              <a:latin typeface="华文行楷" pitchFamily="2" charset="-122"/>
              <a:ea typeface="华文行楷" pitchFamily="2" charset="-122"/>
            </a:endParaRPr>
          </a:p>
        </p:txBody>
      </p:sp>
      <p:sp>
        <p:nvSpPr>
          <p:cNvPr id="399363" name="Rectangle 3"/>
          <p:cNvSpPr>
            <a:spLocks noChangeArrowheads="1"/>
          </p:cNvSpPr>
          <p:nvPr/>
        </p:nvSpPr>
        <p:spPr bwMode="auto">
          <a:xfrm>
            <a:off x="755650" y="1628775"/>
            <a:ext cx="7488238" cy="287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363538" indent="-363538" algn="l">
              <a:defRPr kumimoji="1" sz="2400">
                <a:solidFill>
                  <a:schemeClr val="tx1"/>
                </a:solidFill>
                <a:latin typeface="Times New Roman" pitchFamily="18" charset="0"/>
                <a:ea typeface="宋体" charset="-122"/>
              </a:defRPr>
            </a:lvl1pPr>
            <a:lvl2pPr marL="542925" algn="l">
              <a:defRPr kumimoji="1" sz="2400">
                <a:solidFill>
                  <a:schemeClr val="tx1"/>
                </a:solidFill>
                <a:latin typeface="Times New Roman" pitchFamily="18" charset="0"/>
                <a:ea typeface="宋体" charset="-122"/>
              </a:defRPr>
            </a:lvl2pPr>
            <a:lvl3pPr algn="l">
              <a:defRPr kumimoji="1" sz="2400">
                <a:solidFill>
                  <a:schemeClr val="tx1"/>
                </a:solidFill>
                <a:latin typeface="Times New Roman" pitchFamily="18" charset="0"/>
                <a:ea typeface="宋体" charset="-122"/>
              </a:defRPr>
            </a:lvl3pPr>
            <a:lvl4pPr algn="l">
              <a:defRPr kumimoji="1" sz="2400">
                <a:solidFill>
                  <a:schemeClr val="tx1"/>
                </a:solidFill>
                <a:latin typeface="Times New Roman" pitchFamily="18" charset="0"/>
                <a:ea typeface="宋体" charset="-122"/>
              </a:defRPr>
            </a:lvl4pPr>
            <a:lvl5pPr algn="l">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a:lnSpc>
                <a:spcPct val="130000"/>
              </a:lnSpc>
              <a:buClr>
                <a:schemeClr val="hlink"/>
              </a:buClr>
              <a:buFont typeface="Wingdings" pitchFamily="2" charset="2"/>
              <a:buChar char="Ø"/>
            </a:pPr>
            <a:r>
              <a:rPr lang="zh-CN" altLang="en-US" sz="2800" b="1">
                <a:sym typeface="Symbol" pitchFamily="18" charset="2"/>
              </a:rPr>
              <a:t>谓词演算中的推理方法可以看作是命题演算推理方法的</a:t>
            </a:r>
            <a:r>
              <a:rPr lang="zh-CN" altLang="en-US" sz="2800" b="1" u="sng">
                <a:sym typeface="Symbol" pitchFamily="18" charset="2"/>
              </a:rPr>
              <a:t>扩张</a:t>
            </a:r>
            <a:r>
              <a:rPr lang="zh-CN" altLang="en-US" sz="2800" b="1">
                <a:sym typeface="Symbol" pitchFamily="18" charset="2"/>
              </a:rPr>
              <a:t>。</a:t>
            </a:r>
          </a:p>
          <a:p>
            <a:pPr>
              <a:lnSpc>
                <a:spcPct val="130000"/>
              </a:lnSpc>
              <a:buClr>
                <a:schemeClr val="hlink"/>
              </a:buClr>
              <a:buFont typeface="Wingdings" pitchFamily="2" charset="2"/>
              <a:buChar char="Ø"/>
            </a:pPr>
            <a:r>
              <a:rPr lang="zh-CN" altLang="en-US" sz="2800" b="1">
                <a:sym typeface="Symbol" pitchFamily="18" charset="2"/>
              </a:rPr>
              <a:t>命题演算中的推理规则，如</a:t>
            </a:r>
            <a:r>
              <a:rPr lang="en-US" altLang="zh-CN" sz="2800" b="1" u="sng">
                <a:sym typeface="Symbol" pitchFamily="18" charset="2"/>
              </a:rPr>
              <a:t>P</a:t>
            </a:r>
            <a:r>
              <a:rPr lang="zh-CN" altLang="en-US" sz="2800" b="1" u="sng">
                <a:sym typeface="Symbol" pitchFamily="18" charset="2"/>
              </a:rPr>
              <a:t>、</a:t>
            </a:r>
            <a:r>
              <a:rPr lang="en-US" altLang="zh-CN" sz="2800" b="1" u="sng">
                <a:sym typeface="Symbol" pitchFamily="18" charset="2"/>
              </a:rPr>
              <a:t>T</a:t>
            </a:r>
            <a:r>
              <a:rPr lang="zh-CN" altLang="en-US" sz="2800" b="1" u="sng">
                <a:sym typeface="Symbol" pitchFamily="18" charset="2"/>
              </a:rPr>
              <a:t>、</a:t>
            </a:r>
            <a:r>
              <a:rPr lang="en-US" altLang="zh-CN" sz="2800" b="1" u="sng">
                <a:sym typeface="Symbol" pitchFamily="18" charset="2"/>
              </a:rPr>
              <a:t>CP</a:t>
            </a:r>
            <a:r>
              <a:rPr lang="zh-CN" altLang="en-US" sz="2800" b="1">
                <a:sym typeface="Symbol" pitchFamily="18" charset="2"/>
              </a:rPr>
              <a:t>等规则依然可以使用。</a:t>
            </a:r>
          </a:p>
          <a:p>
            <a:pPr>
              <a:lnSpc>
                <a:spcPct val="130000"/>
              </a:lnSpc>
              <a:buClr>
                <a:schemeClr val="hlink"/>
              </a:buClr>
              <a:buFont typeface="Wingdings" pitchFamily="2" charset="2"/>
              <a:buChar char="Ø"/>
            </a:pPr>
            <a:r>
              <a:rPr lang="zh-CN" altLang="en-US" sz="2800" b="1">
                <a:sym typeface="Symbol" pitchFamily="18" charset="2"/>
              </a:rPr>
              <a:t>在推理过程中有</a:t>
            </a:r>
            <a:r>
              <a:rPr lang="zh-CN" altLang="en-US" sz="2800" b="1" u="sng">
                <a:sym typeface="Symbol" pitchFamily="18" charset="2"/>
              </a:rPr>
              <a:t>消去或添加量词</a:t>
            </a:r>
            <a:r>
              <a:rPr lang="zh-CN" altLang="en-US" sz="2800" b="1">
                <a:sym typeface="Symbol" pitchFamily="18" charset="2"/>
              </a:rPr>
              <a:t>的规则。</a:t>
            </a:r>
          </a:p>
        </p:txBody>
      </p:sp>
    </p:spTree>
  </p:cSld>
  <p:clrMapOvr>
    <a:masterClrMapping/>
  </p:clrMapOvr>
  <p:transition spd="slow">
    <p:pull dir="ru"/>
  </p:transition>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11E837B3-05F4-4E78-9E96-6E2375976207}" type="slidenum">
              <a:rPr lang="en-US" altLang="zh-CN"/>
              <a:pPr/>
              <a:t>80</a:t>
            </a:fld>
            <a:endParaRPr lang="en-US" altLang="zh-CN"/>
          </a:p>
        </p:txBody>
      </p:sp>
      <p:sp>
        <p:nvSpPr>
          <p:cNvPr id="400386" name="Rectangle 2"/>
          <p:cNvSpPr>
            <a:spLocks noChangeArrowheads="1"/>
          </p:cNvSpPr>
          <p:nvPr/>
        </p:nvSpPr>
        <p:spPr bwMode="auto">
          <a:xfrm>
            <a:off x="1042988" y="1484313"/>
            <a:ext cx="7058025" cy="2655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a:sym typeface="Symbol" pitchFamily="18" charset="2"/>
              </a:rPr>
              <a:t>四条重要推理规则：</a:t>
            </a:r>
          </a:p>
          <a:p>
            <a:pPr algn="l">
              <a:lnSpc>
                <a:spcPct val="120000"/>
              </a:lnSpc>
            </a:pPr>
            <a:r>
              <a:rPr lang="en-US" altLang="zh-CN" sz="2800" b="1">
                <a:sym typeface="Symbol" pitchFamily="18" charset="2"/>
              </a:rPr>
              <a:t>1</a:t>
            </a:r>
            <a:r>
              <a:rPr lang="zh-CN" altLang="en-US" sz="2800" b="1">
                <a:sym typeface="Symbol" pitchFamily="18" charset="2"/>
              </a:rPr>
              <a:t>、全称指定规则（</a:t>
            </a:r>
            <a:r>
              <a:rPr lang="en-US" altLang="zh-CN" sz="2800" b="1">
                <a:sym typeface="Symbol" pitchFamily="18" charset="2"/>
              </a:rPr>
              <a:t>US</a:t>
            </a:r>
            <a:r>
              <a:rPr lang="zh-CN" altLang="en-US" sz="2800" b="1">
                <a:sym typeface="Symbol" pitchFamily="18" charset="2"/>
              </a:rPr>
              <a:t>规则）</a:t>
            </a:r>
          </a:p>
          <a:p>
            <a:pPr algn="l">
              <a:lnSpc>
                <a:spcPct val="120000"/>
              </a:lnSpc>
            </a:pPr>
            <a:r>
              <a:rPr lang="en-US" altLang="zh-CN" sz="2800" b="1">
                <a:sym typeface="Symbol" pitchFamily="18" charset="2"/>
              </a:rPr>
              <a:t>2</a:t>
            </a:r>
            <a:r>
              <a:rPr lang="zh-CN" altLang="en-US" sz="2800" b="1">
                <a:sym typeface="Symbol" pitchFamily="18" charset="2"/>
              </a:rPr>
              <a:t>、全称推广规则（</a:t>
            </a:r>
            <a:r>
              <a:rPr lang="en-US" altLang="zh-CN" sz="2800" b="1">
                <a:sym typeface="Symbol" pitchFamily="18" charset="2"/>
              </a:rPr>
              <a:t>UG</a:t>
            </a:r>
            <a:r>
              <a:rPr lang="zh-CN" altLang="en-US" sz="2800" b="1">
                <a:sym typeface="Symbol" pitchFamily="18" charset="2"/>
              </a:rPr>
              <a:t>规则）</a:t>
            </a:r>
          </a:p>
          <a:p>
            <a:pPr algn="l">
              <a:lnSpc>
                <a:spcPct val="120000"/>
              </a:lnSpc>
            </a:pPr>
            <a:r>
              <a:rPr lang="en-US" altLang="zh-CN" sz="2800" b="1">
                <a:sym typeface="Symbol" pitchFamily="18" charset="2"/>
              </a:rPr>
              <a:t>3</a:t>
            </a:r>
            <a:r>
              <a:rPr lang="zh-CN" altLang="en-US" sz="2800" b="1">
                <a:sym typeface="Symbol" pitchFamily="18" charset="2"/>
              </a:rPr>
              <a:t>、存在指定规则（</a:t>
            </a:r>
            <a:r>
              <a:rPr lang="en-US" altLang="zh-CN" sz="2800" b="1">
                <a:sym typeface="Symbol" pitchFamily="18" charset="2"/>
              </a:rPr>
              <a:t>ES</a:t>
            </a:r>
            <a:r>
              <a:rPr lang="zh-CN" altLang="en-US" sz="2800" b="1">
                <a:sym typeface="Symbol" pitchFamily="18" charset="2"/>
              </a:rPr>
              <a:t>规则）</a:t>
            </a:r>
          </a:p>
          <a:p>
            <a:pPr algn="l">
              <a:lnSpc>
                <a:spcPct val="120000"/>
              </a:lnSpc>
            </a:pPr>
            <a:r>
              <a:rPr lang="en-US" altLang="zh-CN" sz="2800" b="1">
                <a:sym typeface="Symbol" pitchFamily="18" charset="2"/>
              </a:rPr>
              <a:t>4</a:t>
            </a:r>
            <a:r>
              <a:rPr lang="zh-CN" altLang="en-US" sz="2800" b="1">
                <a:sym typeface="Symbol" pitchFamily="18" charset="2"/>
              </a:rPr>
              <a:t>、存在推广规则（</a:t>
            </a:r>
            <a:r>
              <a:rPr lang="en-US" altLang="zh-CN" sz="2800" b="1">
                <a:sym typeface="Symbol" pitchFamily="18" charset="2"/>
              </a:rPr>
              <a:t>EG</a:t>
            </a:r>
            <a:r>
              <a:rPr lang="zh-CN" altLang="en-US" sz="2800" b="1">
                <a:sym typeface="Symbol" pitchFamily="18" charset="2"/>
              </a:rPr>
              <a:t>规则）</a:t>
            </a:r>
          </a:p>
        </p:txBody>
      </p:sp>
    </p:spTree>
  </p:cSld>
  <p:clrMapOvr>
    <a:masterClrMapping/>
  </p:clrMapOvr>
  <p:transition spd="slow">
    <p:pull dir="ru"/>
  </p:transition>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4"/>
          <p:cNvSpPr>
            <a:spLocks noGrp="1"/>
          </p:cNvSpPr>
          <p:nvPr>
            <p:ph type="sldNum" sz="quarter" idx="11"/>
          </p:nvPr>
        </p:nvSpPr>
        <p:spPr/>
        <p:txBody>
          <a:bodyPr/>
          <a:lstStyle/>
          <a:p>
            <a:fld id="{26099FB6-F33F-4870-A745-D35986F56C2B}" type="slidenum">
              <a:rPr lang="en-US" altLang="zh-CN"/>
              <a:pPr/>
              <a:t>81</a:t>
            </a:fld>
            <a:endParaRPr lang="en-US" altLang="zh-CN"/>
          </a:p>
        </p:txBody>
      </p:sp>
      <p:sp>
        <p:nvSpPr>
          <p:cNvPr id="401410" name="Rectangle 2"/>
          <p:cNvSpPr>
            <a:spLocks noChangeArrowheads="1"/>
          </p:cNvSpPr>
          <p:nvPr/>
        </p:nvSpPr>
        <p:spPr bwMode="auto">
          <a:xfrm>
            <a:off x="1438275" y="1268413"/>
            <a:ext cx="6121400" cy="474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a:defRPr kumimoji="1" sz="2400">
                <a:solidFill>
                  <a:schemeClr val="tx1"/>
                </a:solidFill>
                <a:latin typeface="Times New Roman" pitchFamily="18" charset="0"/>
                <a:ea typeface="宋体" charset="-122"/>
              </a:defRPr>
            </a:lvl1pPr>
            <a:lvl2pPr marL="179388" algn="l">
              <a:defRPr kumimoji="1" sz="2400">
                <a:solidFill>
                  <a:schemeClr val="tx1"/>
                </a:solidFill>
                <a:latin typeface="Times New Roman" pitchFamily="18" charset="0"/>
                <a:ea typeface="宋体" charset="-122"/>
              </a:defRPr>
            </a:lvl2pPr>
            <a:lvl3pPr algn="l">
              <a:defRPr kumimoji="1" sz="2400">
                <a:solidFill>
                  <a:schemeClr val="tx1"/>
                </a:solidFill>
                <a:latin typeface="Times New Roman" pitchFamily="18" charset="0"/>
                <a:ea typeface="宋体" charset="-122"/>
              </a:defRPr>
            </a:lvl3pPr>
            <a:lvl4pPr algn="l">
              <a:defRPr kumimoji="1" sz="2400">
                <a:solidFill>
                  <a:schemeClr val="tx1"/>
                </a:solidFill>
                <a:latin typeface="Times New Roman" pitchFamily="18" charset="0"/>
                <a:ea typeface="宋体" charset="-122"/>
              </a:defRPr>
            </a:lvl4pPr>
            <a:lvl5pPr algn="l">
              <a:defRPr kumimoji="1" sz="2400">
                <a:solidFill>
                  <a:schemeClr val="tx1"/>
                </a:solidFill>
                <a:latin typeface="Times New Roman" pitchFamily="18" charset="0"/>
                <a:ea typeface="宋体" charset="-122"/>
              </a:defRPr>
            </a:lvl5pPr>
            <a:lvl6pPr fontAlgn="base">
              <a:spcBef>
                <a:spcPct val="0"/>
              </a:spcBef>
              <a:spcAft>
                <a:spcPct val="0"/>
              </a:spcAft>
              <a:defRPr kumimoji="1" sz="2400">
                <a:solidFill>
                  <a:schemeClr val="tx1"/>
                </a:solidFill>
                <a:latin typeface="Times New Roman" pitchFamily="18" charset="0"/>
                <a:ea typeface="宋体" charset="-122"/>
              </a:defRPr>
            </a:lvl6pPr>
            <a:lvl7pPr fontAlgn="base">
              <a:spcBef>
                <a:spcPct val="0"/>
              </a:spcBef>
              <a:spcAft>
                <a:spcPct val="0"/>
              </a:spcAft>
              <a:defRPr kumimoji="1" sz="2400">
                <a:solidFill>
                  <a:schemeClr val="tx1"/>
                </a:solidFill>
                <a:latin typeface="Times New Roman" pitchFamily="18" charset="0"/>
                <a:ea typeface="宋体" charset="-122"/>
              </a:defRPr>
            </a:lvl7pPr>
            <a:lvl8pPr fontAlgn="base">
              <a:spcBef>
                <a:spcPct val="0"/>
              </a:spcBef>
              <a:spcAft>
                <a:spcPct val="0"/>
              </a:spcAft>
              <a:defRPr kumimoji="1" sz="2400">
                <a:solidFill>
                  <a:schemeClr val="tx1"/>
                </a:solidFill>
                <a:latin typeface="Times New Roman" pitchFamily="18" charset="0"/>
                <a:ea typeface="宋体" charset="-122"/>
              </a:defRPr>
            </a:lvl8pPr>
            <a:lvl9pPr fontAlgn="base">
              <a:spcBef>
                <a:spcPct val="0"/>
              </a:spcBef>
              <a:spcAft>
                <a:spcPct val="0"/>
              </a:spcAft>
              <a:defRPr kumimoji="1" sz="2400">
                <a:solidFill>
                  <a:schemeClr val="tx1"/>
                </a:solidFill>
                <a:latin typeface="Times New Roman" pitchFamily="18" charset="0"/>
                <a:ea typeface="宋体" charset="-122"/>
              </a:defRPr>
            </a:lvl9pPr>
          </a:lstStyle>
          <a:p>
            <a:pPr>
              <a:lnSpc>
                <a:spcPct val="130000"/>
              </a:lnSpc>
            </a:pPr>
            <a:r>
              <a:rPr kumimoji="0" lang="zh-CN" altLang="en-US" sz="3200" b="1" dirty="0">
                <a:solidFill>
                  <a:schemeClr val="folHlink"/>
                </a:solidFill>
                <a:ea typeface="楷体_GB2312" pitchFamily="49" charset="-122"/>
              </a:rPr>
              <a:t>量词消去规则：</a:t>
            </a:r>
          </a:p>
          <a:p>
            <a:pPr>
              <a:lnSpc>
                <a:spcPct val="130000"/>
              </a:lnSpc>
            </a:pPr>
            <a:r>
              <a:rPr kumimoji="0" lang="en-US" altLang="zh-CN" sz="2800" b="1" dirty="0">
                <a:solidFill>
                  <a:schemeClr val="hlink"/>
                </a:solidFill>
              </a:rPr>
              <a:t>(1)</a:t>
            </a:r>
            <a:r>
              <a:rPr kumimoji="0" lang="zh-CN" altLang="en-US" sz="2800" b="1" dirty="0">
                <a:solidFill>
                  <a:schemeClr val="hlink"/>
                </a:solidFill>
              </a:rPr>
              <a:t>全称指定规则</a:t>
            </a:r>
            <a:r>
              <a:rPr kumimoji="0" lang="en-US" altLang="zh-CN" sz="2800" b="1" dirty="0">
                <a:solidFill>
                  <a:schemeClr val="hlink"/>
                </a:solidFill>
              </a:rPr>
              <a:t>(</a:t>
            </a:r>
            <a:r>
              <a:rPr kumimoji="0" lang="zh-CN" altLang="en-US" sz="2800" b="1" dirty="0">
                <a:solidFill>
                  <a:schemeClr val="hlink"/>
                </a:solidFill>
              </a:rPr>
              <a:t>简称</a:t>
            </a:r>
            <a:r>
              <a:rPr kumimoji="0" lang="en-US" altLang="zh-CN" sz="2800" b="1" dirty="0">
                <a:solidFill>
                  <a:schemeClr val="hlink"/>
                </a:solidFill>
              </a:rPr>
              <a:t>US</a:t>
            </a:r>
            <a:r>
              <a:rPr kumimoji="0" lang="zh-CN" altLang="en-US" sz="2800" b="1" dirty="0">
                <a:solidFill>
                  <a:schemeClr val="hlink"/>
                </a:solidFill>
              </a:rPr>
              <a:t>规则</a:t>
            </a:r>
            <a:r>
              <a:rPr kumimoji="0" lang="en-US" altLang="zh-CN" sz="2800" b="1" dirty="0">
                <a:solidFill>
                  <a:schemeClr val="hlink"/>
                </a:solidFill>
              </a:rPr>
              <a:t>)</a:t>
            </a:r>
          </a:p>
          <a:p>
            <a:pPr>
              <a:lnSpc>
                <a:spcPct val="130000"/>
              </a:lnSpc>
            </a:pPr>
            <a:r>
              <a:rPr kumimoji="0" lang="en-US" altLang="zh-CN" sz="2800" b="1" dirty="0"/>
              <a:t>                 </a:t>
            </a:r>
            <a:r>
              <a:rPr lang="en-US" altLang="zh-CN" sz="2800" b="1" u="sng" dirty="0">
                <a:sym typeface="Symbol" pitchFamily="18" charset="2"/>
              </a:rPr>
              <a:t>(x)A(x)</a:t>
            </a:r>
            <a:r>
              <a:rPr lang="en-US" altLang="zh-CN" sz="2800" b="1" dirty="0">
                <a:sym typeface="Symbol" pitchFamily="18" charset="2"/>
              </a:rPr>
              <a:t> </a:t>
            </a:r>
          </a:p>
          <a:p>
            <a:pPr>
              <a:lnSpc>
                <a:spcPct val="80000"/>
              </a:lnSpc>
            </a:pPr>
            <a:r>
              <a:rPr lang="en-US" altLang="zh-CN" sz="2800" b="1" dirty="0">
                <a:sym typeface="Symbol" pitchFamily="18" charset="2"/>
              </a:rPr>
              <a:t>                  ∴A(c)</a:t>
            </a:r>
          </a:p>
          <a:p>
            <a:pPr>
              <a:lnSpc>
                <a:spcPct val="130000"/>
              </a:lnSpc>
            </a:pPr>
            <a:r>
              <a:rPr kumimoji="0" lang="zh-CN" altLang="en-US" sz="2800" b="1" dirty="0"/>
              <a:t>其中</a:t>
            </a:r>
            <a:r>
              <a:rPr kumimoji="0" lang="en-US" altLang="zh-CN" sz="2800" b="1" i="1" dirty="0"/>
              <a:t>c</a:t>
            </a:r>
            <a:r>
              <a:rPr kumimoji="0" lang="zh-CN" altLang="en-US" sz="2800" b="1" dirty="0"/>
              <a:t>为任意个体常元。</a:t>
            </a:r>
          </a:p>
          <a:p>
            <a:pPr>
              <a:lnSpc>
                <a:spcPct val="130000"/>
              </a:lnSpc>
              <a:buClr>
                <a:schemeClr val="folHlink"/>
              </a:buClr>
              <a:buFont typeface="Wingdings" pitchFamily="2" charset="2"/>
              <a:buNone/>
            </a:pPr>
            <a:r>
              <a:rPr kumimoji="0" lang="en-US" altLang="zh-CN" sz="2800" b="1" dirty="0">
                <a:solidFill>
                  <a:schemeClr val="hlink"/>
                </a:solidFill>
              </a:rPr>
              <a:t>(2)</a:t>
            </a:r>
            <a:r>
              <a:rPr kumimoji="0" lang="zh-CN" altLang="en-US" sz="2800" b="1" dirty="0">
                <a:solidFill>
                  <a:schemeClr val="hlink"/>
                </a:solidFill>
              </a:rPr>
              <a:t>存在指定规则</a:t>
            </a:r>
            <a:r>
              <a:rPr kumimoji="0" lang="en-US" altLang="zh-CN" sz="2800" b="1" dirty="0">
                <a:solidFill>
                  <a:schemeClr val="hlink"/>
                </a:solidFill>
              </a:rPr>
              <a:t>(</a:t>
            </a:r>
            <a:r>
              <a:rPr kumimoji="0" lang="zh-CN" altLang="en-US" sz="2800" b="1" dirty="0">
                <a:solidFill>
                  <a:schemeClr val="hlink"/>
                </a:solidFill>
              </a:rPr>
              <a:t>简称</a:t>
            </a:r>
            <a:r>
              <a:rPr kumimoji="0" lang="en-US" altLang="zh-CN" sz="2800" b="1" dirty="0">
                <a:solidFill>
                  <a:schemeClr val="hlink"/>
                </a:solidFill>
              </a:rPr>
              <a:t>ES</a:t>
            </a:r>
            <a:r>
              <a:rPr kumimoji="0" lang="zh-CN" altLang="en-US" sz="2800" b="1" dirty="0">
                <a:solidFill>
                  <a:schemeClr val="hlink"/>
                </a:solidFill>
              </a:rPr>
              <a:t>规则</a:t>
            </a:r>
            <a:r>
              <a:rPr kumimoji="0" lang="en-US" altLang="zh-CN" sz="2800" b="1" dirty="0">
                <a:solidFill>
                  <a:schemeClr val="hlink"/>
                </a:solidFill>
              </a:rPr>
              <a:t>)</a:t>
            </a:r>
            <a:endParaRPr kumimoji="0" lang="en-US" altLang="zh-CN" sz="2800" b="1" dirty="0">
              <a:solidFill>
                <a:schemeClr val="hlink"/>
              </a:solidFill>
              <a:latin typeface="宋体" charset="-122"/>
            </a:endParaRPr>
          </a:p>
          <a:p>
            <a:pPr>
              <a:lnSpc>
                <a:spcPct val="130000"/>
              </a:lnSpc>
              <a:buClr>
                <a:schemeClr val="folHlink"/>
              </a:buClr>
              <a:buFont typeface="Wingdings" pitchFamily="2" charset="2"/>
              <a:buNone/>
            </a:pPr>
            <a:r>
              <a:rPr kumimoji="0" lang="en-US" altLang="zh-CN" sz="2800" b="1" dirty="0"/>
              <a:t>                  </a:t>
            </a:r>
            <a:r>
              <a:rPr kumimoji="0" lang="en-US" altLang="zh-CN" sz="2800" b="1" u="sng" dirty="0">
                <a:sym typeface="Symbol" pitchFamily="18" charset="2"/>
              </a:rPr>
              <a:t>(x)A(x)</a:t>
            </a:r>
          </a:p>
          <a:p>
            <a:pPr>
              <a:lnSpc>
                <a:spcPct val="80000"/>
              </a:lnSpc>
              <a:buClr>
                <a:schemeClr val="folHlink"/>
              </a:buClr>
              <a:buFont typeface="Wingdings" pitchFamily="2" charset="2"/>
              <a:buNone/>
            </a:pPr>
            <a:r>
              <a:rPr kumimoji="0" lang="en-US" altLang="zh-CN" sz="2800" b="1" dirty="0">
                <a:sym typeface="Symbol" pitchFamily="18" charset="2"/>
              </a:rPr>
              <a:t>                   ∴A(c)</a:t>
            </a:r>
            <a:r>
              <a:rPr kumimoji="0" lang="en-US" altLang="zh-CN" sz="2800" b="1" dirty="0">
                <a:latin typeface="宋体" charset="-122"/>
                <a:sym typeface="Symbol" pitchFamily="18" charset="2"/>
              </a:rPr>
              <a:t> </a:t>
            </a:r>
            <a:endParaRPr kumimoji="0" lang="en-US" altLang="zh-CN" sz="2800" b="1" dirty="0"/>
          </a:p>
          <a:p>
            <a:pPr>
              <a:lnSpc>
                <a:spcPct val="130000"/>
              </a:lnSpc>
              <a:buClr>
                <a:schemeClr val="folHlink"/>
              </a:buClr>
              <a:buFont typeface="Wingdings" pitchFamily="2" charset="2"/>
              <a:buNone/>
            </a:pPr>
            <a:r>
              <a:rPr kumimoji="0" lang="zh-CN" altLang="en-US" sz="2800" b="1" dirty="0"/>
              <a:t>其中</a:t>
            </a:r>
            <a:r>
              <a:rPr kumimoji="0" lang="en-US" altLang="zh-CN" sz="2800" b="1" i="1" dirty="0"/>
              <a:t>c</a:t>
            </a:r>
            <a:r>
              <a:rPr kumimoji="0" lang="zh-CN" altLang="en-US" sz="2800" b="1" dirty="0"/>
              <a:t>为特定个体常元。</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1410">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1410">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1410">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1410">
                                            <p:txEl>
                                              <p:pRg st="7" end="7"/>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1410">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0B10384F-299B-4F5C-8B42-4DCBA2F13EDC}" type="slidenum">
              <a:rPr lang="en-US" altLang="zh-CN"/>
              <a:pPr/>
              <a:t>82</a:t>
            </a:fld>
            <a:endParaRPr lang="en-US" altLang="zh-CN"/>
          </a:p>
        </p:txBody>
      </p:sp>
      <p:sp>
        <p:nvSpPr>
          <p:cNvPr id="402434" name="Rectangle 2"/>
          <p:cNvSpPr>
            <a:spLocks noChangeArrowheads="1"/>
          </p:cNvSpPr>
          <p:nvPr/>
        </p:nvSpPr>
        <p:spPr bwMode="auto">
          <a:xfrm>
            <a:off x="1044575" y="1125538"/>
            <a:ext cx="7488238"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rPr>
              <a:t>例</a:t>
            </a:r>
            <a:r>
              <a:rPr kumimoji="0" lang="en-US" altLang="zh-CN" sz="2800" b="1" dirty="0">
                <a:solidFill>
                  <a:schemeClr val="hlink"/>
                </a:solidFill>
              </a:rPr>
              <a:t>1</a:t>
            </a:r>
            <a:r>
              <a:rPr kumimoji="0" lang="zh-CN" altLang="en-US" sz="2800" b="1" dirty="0">
                <a:solidFill>
                  <a:schemeClr val="hlink"/>
                </a:solidFill>
              </a:rPr>
              <a:t>：</a:t>
            </a:r>
            <a:r>
              <a:rPr kumimoji="0" lang="en-US" altLang="zh-CN" sz="2800" b="1" dirty="0">
                <a:solidFill>
                  <a:schemeClr val="bg2"/>
                </a:solidFill>
              </a:rPr>
              <a:t>E</a:t>
            </a:r>
            <a:r>
              <a:rPr kumimoji="0" lang="zh-CN" altLang="en-US" sz="2800" b="1" dirty="0">
                <a:solidFill>
                  <a:schemeClr val="bg2"/>
                </a:solidFill>
              </a:rPr>
              <a:t>：全体自然数；</a:t>
            </a:r>
            <a:r>
              <a:rPr kumimoji="0" lang="en-US" altLang="zh-CN" sz="2800" b="1" dirty="0">
                <a:solidFill>
                  <a:schemeClr val="bg2"/>
                </a:solidFill>
              </a:rPr>
              <a:t>O(x)</a:t>
            </a:r>
            <a:r>
              <a:rPr kumimoji="0" lang="zh-CN" altLang="en-US" sz="2800" b="1" dirty="0">
                <a:solidFill>
                  <a:schemeClr val="bg2"/>
                </a:solidFill>
              </a:rPr>
              <a:t>：</a:t>
            </a:r>
            <a:r>
              <a:rPr kumimoji="0" lang="en-US" altLang="zh-CN" sz="2800" b="1" dirty="0">
                <a:solidFill>
                  <a:schemeClr val="bg2"/>
                </a:solidFill>
              </a:rPr>
              <a:t>x</a:t>
            </a:r>
            <a:r>
              <a:rPr kumimoji="0" lang="zh-CN" altLang="en-US" sz="2800" b="1" dirty="0">
                <a:solidFill>
                  <a:schemeClr val="bg2"/>
                </a:solidFill>
              </a:rPr>
              <a:t>是奇数；</a:t>
            </a:r>
            <a:r>
              <a:rPr kumimoji="0" lang="en-US" altLang="zh-CN" sz="2800" b="1" dirty="0">
                <a:solidFill>
                  <a:schemeClr val="bg2"/>
                </a:solidFill>
              </a:rPr>
              <a:t>E(x)</a:t>
            </a:r>
            <a:r>
              <a:rPr kumimoji="0" lang="zh-CN" altLang="en-US" sz="2800" b="1" dirty="0">
                <a:solidFill>
                  <a:schemeClr val="bg2"/>
                </a:solidFill>
              </a:rPr>
              <a:t>：</a:t>
            </a:r>
            <a:r>
              <a:rPr kumimoji="0" lang="en-US" altLang="zh-CN" sz="2800" b="1" dirty="0">
                <a:solidFill>
                  <a:schemeClr val="bg2"/>
                </a:solidFill>
              </a:rPr>
              <a:t>x</a:t>
            </a:r>
            <a:r>
              <a:rPr kumimoji="0" lang="zh-CN" altLang="en-US" sz="2800" b="1" dirty="0">
                <a:solidFill>
                  <a:schemeClr val="bg2"/>
                </a:solidFill>
              </a:rPr>
              <a:t>是偶数。</a:t>
            </a:r>
          </a:p>
          <a:p>
            <a:pPr algn="l">
              <a:lnSpc>
                <a:spcPct val="120000"/>
              </a:lnSpc>
            </a:pPr>
            <a:r>
              <a:rPr kumimoji="0" lang="zh-CN" altLang="en-US" sz="2800" b="1" dirty="0">
                <a:solidFill>
                  <a:schemeClr val="bg2"/>
                </a:solidFill>
              </a:rPr>
              <a:t>推导</a:t>
            </a:r>
            <a:r>
              <a:rPr kumimoji="0" lang="zh-CN" altLang="en-US" sz="2800" b="1" dirty="0">
                <a:solidFill>
                  <a:schemeClr val="bg2"/>
                </a:solidFill>
                <a:sym typeface="Wingdings" pitchFamily="2" charset="2"/>
              </a:rPr>
              <a:t>：</a:t>
            </a:r>
            <a:r>
              <a:rPr kumimoji="0" lang="en-US" altLang="zh-CN" sz="2800" b="1" dirty="0">
                <a:solidFill>
                  <a:schemeClr val="bg2"/>
                </a:solidFill>
                <a:sym typeface="Wingdings" pitchFamily="2" charset="2"/>
              </a:rPr>
              <a:t>(1)</a:t>
            </a:r>
            <a:r>
              <a:rPr kumimoji="0" lang="en-US" altLang="zh-CN" sz="2800" b="1" dirty="0">
                <a:solidFill>
                  <a:schemeClr val="bg2"/>
                </a:solidFill>
              </a:rPr>
              <a:t>(</a:t>
            </a:r>
            <a:r>
              <a:rPr kumimoji="0" lang="en-US" altLang="zh-CN" sz="2800" b="1" dirty="0">
                <a:solidFill>
                  <a:schemeClr val="bg2"/>
                </a:solidFill>
                <a:sym typeface="Symbol" pitchFamily="18" charset="2"/>
              </a:rPr>
              <a:t></a:t>
            </a:r>
            <a:r>
              <a:rPr kumimoji="0" lang="en-US" altLang="zh-CN" sz="2800" b="1" dirty="0">
                <a:solidFill>
                  <a:schemeClr val="bg2"/>
                </a:solidFill>
              </a:rPr>
              <a:t>x)O(x)     </a:t>
            </a:r>
            <a:r>
              <a:rPr kumimoji="0" lang="en-US" altLang="zh-CN" sz="2800" b="1" dirty="0" smtClean="0">
                <a:solidFill>
                  <a:schemeClr val="bg2"/>
                </a:solidFill>
              </a:rPr>
              <a:t>	P</a:t>
            </a:r>
            <a:endParaRPr kumimoji="0" lang="en-US" altLang="zh-CN" sz="2800" b="1" dirty="0">
              <a:solidFill>
                <a:schemeClr val="bg2"/>
              </a:solidFill>
            </a:endParaRPr>
          </a:p>
          <a:p>
            <a:pPr algn="l">
              <a:lnSpc>
                <a:spcPct val="120000"/>
              </a:lnSpc>
            </a:pPr>
            <a:r>
              <a:rPr kumimoji="0" lang="en-US" altLang="zh-CN" sz="2800" b="1" dirty="0">
                <a:solidFill>
                  <a:schemeClr val="bg2"/>
                </a:solidFill>
              </a:rPr>
              <a:t>            (2)O(c)             </a:t>
            </a:r>
            <a:r>
              <a:rPr kumimoji="0" lang="en-US" altLang="zh-CN" sz="2800" b="1" dirty="0" smtClean="0">
                <a:solidFill>
                  <a:schemeClr val="bg2"/>
                </a:solidFill>
              </a:rPr>
              <a:t>	ES(1</a:t>
            </a:r>
            <a:r>
              <a:rPr kumimoji="0" lang="en-US" altLang="zh-CN" sz="2800" b="1" dirty="0">
                <a:solidFill>
                  <a:schemeClr val="bg2"/>
                </a:solidFill>
              </a:rPr>
              <a:t>)</a:t>
            </a:r>
          </a:p>
          <a:p>
            <a:pPr algn="l">
              <a:lnSpc>
                <a:spcPct val="120000"/>
              </a:lnSpc>
            </a:pPr>
            <a:r>
              <a:rPr kumimoji="0" lang="en-US" altLang="zh-CN" sz="2800" b="1" dirty="0">
                <a:solidFill>
                  <a:schemeClr val="bg2"/>
                </a:solidFill>
              </a:rPr>
              <a:t>            (3)(</a:t>
            </a:r>
            <a:r>
              <a:rPr kumimoji="0" lang="en-US" altLang="zh-CN" sz="2800" b="1" dirty="0">
                <a:solidFill>
                  <a:schemeClr val="bg2"/>
                </a:solidFill>
                <a:sym typeface="Symbol" pitchFamily="18" charset="2"/>
              </a:rPr>
              <a:t></a:t>
            </a:r>
            <a:r>
              <a:rPr kumimoji="0" lang="en-US" altLang="zh-CN" sz="2800" b="1" dirty="0">
                <a:solidFill>
                  <a:schemeClr val="bg2"/>
                </a:solidFill>
              </a:rPr>
              <a:t>x)E(x)       </a:t>
            </a:r>
            <a:r>
              <a:rPr kumimoji="0" lang="en-US" altLang="zh-CN" sz="2800" b="1" dirty="0" smtClean="0">
                <a:solidFill>
                  <a:schemeClr val="bg2"/>
                </a:solidFill>
              </a:rPr>
              <a:t>	P</a:t>
            </a:r>
            <a:endParaRPr kumimoji="0" lang="en-US" altLang="zh-CN" sz="2800" b="1" dirty="0">
              <a:solidFill>
                <a:schemeClr val="bg2"/>
              </a:solidFill>
            </a:endParaRPr>
          </a:p>
          <a:p>
            <a:pPr algn="l">
              <a:lnSpc>
                <a:spcPct val="120000"/>
              </a:lnSpc>
            </a:pPr>
            <a:r>
              <a:rPr kumimoji="0" lang="en-US" altLang="zh-CN" sz="2800" b="1" dirty="0">
                <a:solidFill>
                  <a:schemeClr val="bg2"/>
                </a:solidFill>
              </a:rPr>
              <a:t>            (4)E(c)              </a:t>
            </a:r>
            <a:r>
              <a:rPr kumimoji="0" lang="en-US" altLang="zh-CN" sz="2800" b="1" dirty="0" smtClean="0">
                <a:solidFill>
                  <a:schemeClr val="bg2"/>
                </a:solidFill>
              </a:rPr>
              <a:t>	ES(3</a:t>
            </a:r>
            <a:r>
              <a:rPr kumimoji="0" lang="en-US" altLang="zh-CN" sz="2800" b="1" dirty="0">
                <a:solidFill>
                  <a:schemeClr val="bg2"/>
                </a:solidFill>
              </a:rPr>
              <a:t>) </a:t>
            </a:r>
          </a:p>
          <a:p>
            <a:pPr algn="l">
              <a:lnSpc>
                <a:spcPct val="120000"/>
              </a:lnSpc>
            </a:pPr>
            <a:r>
              <a:rPr kumimoji="0" lang="en-US" altLang="zh-CN" sz="2800" b="1" dirty="0">
                <a:solidFill>
                  <a:schemeClr val="bg2"/>
                </a:solidFill>
              </a:rPr>
              <a:t>            (5)O(c)∧E(c)  </a:t>
            </a:r>
            <a:r>
              <a:rPr kumimoji="0" lang="en-US" altLang="zh-CN" sz="2800" b="1" dirty="0" smtClean="0">
                <a:solidFill>
                  <a:schemeClr val="bg2"/>
                </a:solidFill>
              </a:rPr>
              <a:t>	T(2</a:t>
            </a:r>
            <a:r>
              <a:rPr kumimoji="0" lang="en-US" altLang="zh-CN" sz="2800" b="1" dirty="0">
                <a:solidFill>
                  <a:schemeClr val="bg2"/>
                </a:solidFill>
              </a:rPr>
              <a:t>)(3) I  </a:t>
            </a:r>
          </a:p>
          <a:p>
            <a:pPr algn="l">
              <a:lnSpc>
                <a:spcPct val="120000"/>
              </a:lnSpc>
            </a:pPr>
            <a:r>
              <a:rPr kumimoji="0" lang="zh-CN" altLang="en-US" sz="2800" b="1" dirty="0">
                <a:solidFill>
                  <a:schemeClr val="hlink"/>
                </a:solidFill>
              </a:rPr>
              <a:t>问题：推导过程是否正确？</a:t>
            </a:r>
          </a:p>
          <a:p>
            <a:pPr algn="l">
              <a:lnSpc>
                <a:spcPct val="120000"/>
              </a:lnSpc>
            </a:pPr>
            <a:r>
              <a:rPr kumimoji="0" lang="zh-CN" altLang="en-US" sz="2800" b="1" dirty="0">
                <a:solidFill>
                  <a:schemeClr val="folHlink"/>
                </a:solidFill>
              </a:rPr>
              <a:t>说明：</a:t>
            </a:r>
            <a:r>
              <a:rPr kumimoji="0" lang="en-US" altLang="zh-CN" sz="2800" b="1" i="1" dirty="0"/>
              <a:t>c</a:t>
            </a:r>
            <a:r>
              <a:rPr kumimoji="0" lang="zh-CN" altLang="en-US" sz="2800" b="1" dirty="0"/>
              <a:t>不得在前提中或者居先推导公式中出现或自由出现。</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243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243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243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2434">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02434">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02434">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0243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262E1E1D-5EAF-45E4-9A08-99399A85B901}" type="slidenum">
              <a:rPr lang="en-US" altLang="zh-CN"/>
              <a:pPr/>
              <a:t>83</a:t>
            </a:fld>
            <a:endParaRPr lang="en-US" altLang="zh-CN"/>
          </a:p>
        </p:txBody>
      </p:sp>
      <p:sp>
        <p:nvSpPr>
          <p:cNvPr id="403458" name="Rectangle 2"/>
          <p:cNvSpPr>
            <a:spLocks noChangeArrowheads="1"/>
          </p:cNvSpPr>
          <p:nvPr/>
        </p:nvSpPr>
        <p:spPr bwMode="auto">
          <a:xfrm>
            <a:off x="1042988" y="1066800"/>
            <a:ext cx="7489825" cy="4878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dirty="0">
                <a:solidFill>
                  <a:schemeClr val="hlink"/>
                </a:solidFill>
              </a:rPr>
              <a:t>例</a:t>
            </a:r>
            <a:r>
              <a:rPr kumimoji="0" lang="en-US" altLang="zh-CN" sz="2800" b="1" dirty="0">
                <a:solidFill>
                  <a:schemeClr val="hlink"/>
                </a:solidFill>
              </a:rPr>
              <a:t>2</a:t>
            </a:r>
            <a:r>
              <a:rPr kumimoji="0" lang="zh-CN" altLang="en-US" sz="2800" b="1" dirty="0">
                <a:solidFill>
                  <a:schemeClr val="hlink"/>
                </a:solidFill>
              </a:rPr>
              <a:t>：</a:t>
            </a:r>
            <a:r>
              <a:rPr kumimoji="0" lang="en-US" altLang="zh-CN" sz="2800" b="1" dirty="0">
                <a:solidFill>
                  <a:schemeClr val="bg2"/>
                </a:solidFill>
              </a:rPr>
              <a:t>E</a:t>
            </a:r>
            <a:r>
              <a:rPr kumimoji="0" lang="zh-CN" altLang="en-US" sz="2800" b="1" dirty="0">
                <a:solidFill>
                  <a:schemeClr val="bg2"/>
                </a:solidFill>
              </a:rPr>
              <a:t>：全体实数；</a:t>
            </a:r>
            <a:r>
              <a:rPr kumimoji="0" lang="en-US" altLang="zh-CN" sz="2800" b="1" dirty="0">
                <a:solidFill>
                  <a:schemeClr val="bg2"/>
                </a:solidFill>
              </a:rPr>
              <a:t>G(</a:t>
            </a:r>
            <a:r>
              <a:rPr kumimoji="0" lang="en-US" altLang="zh-CN" sz="2800" b="1" dirty="0" err="1">
                <a:solidFill>
                  <a:schemeClr val="bg2"/>
                </a:solidFill>
              </a:rPr>
              <a:t>x,z</a:t>
            </a:r>
            <a:r>
              <a:rPr kumimoji="0" lang="en-US" altLang="zh-CN" sz="2800" b="1" dirty="0">
                <a:solidFill>
                  <a:schemeClr val="bg2"/>
                </a:solidFill>
              </a:rPr>
              <a:t>)</a:t>
            </a:r>
            <a:r>
              <a:rPr kumimoji="0" lang="zh-CN" altLang="en-US" sz="2800" b="1" dirty="0">
                <a:solidFill>
                  <a:schemeClr val="bg2"/>
                </a:solidFill>
              </a:rPr>
              <a:t>：</a:t>
            </a:r>
            <a:r>
              <a:rPr kumimoji="0" lang="en-US" altLang="zh-CN" sz="2800" b="1" dirty="0">
                <a:solidFill>
                  <a:schemeClr val="bg2"/>
                </a:solidFill>
              </a:rPr>
              <a:t>x&gt;z</a:t>
            </a:r>
            <a:r>
              <a:rPr kumimoji="0" lang="zh-CN" altLang="en-US" sz="2800" b="1" dirty="0">
                <a:solidFill>
                  <a:schemeClr val="bg2"/>
                </a:solidFill>
              </a:rPr>
              <a:t>。</a:t>
            </a:r>
          </a:p>
          <a:p>
            <a:pPr algn="l">
              <a:lnSpc>
                <a:spcPct val="130000"/>
              </a:lnSpc>
            </a:pPr>
            <a:r>
              <a:rPr kumimoji="0" lang="zh-CN" altLang="en-US" sz="2800" b="1" dirty="0">
                <a:solidFill>
                  <a:schemeClr val="bg2"/>
                </a:solidFill>
              </a:rPr>
              <a:t>推导</a:t>
            </a:r>
            <a:r>
              <a:rPr kumimoji="0" lang="zh-CN" altLang="en-US" sz="2800" b="1" dirty="0">
                <a:solidFill>
                  <a:schemeClr val="bg2"/>
                </a:solidFill>
                <a:sym typeface="Wingdings" pitchFamily="2" charset="2"/>
              </a:rPr>
              <a:t>：</a:t>
            </a:r>
            <a:r>
              <a:rPr kumimoji="0" lang="en-US" altLang="zh-CN" sz="2800" b="1" dirty="0">
                <a:solidFill>
                  <a:schemeClr val="bg2"/>
                </a:solidFill>
                <a:sym typeface="Wingdings" pitchFamily="2" charset="2"/>
              </a:rPr>
              <a:t>(1)</a:t>
            </a:r>
            <a:r>
              <a:rPr kumimoji="0" lang="en-US" altLang="zh-CN" sz="2800" b="1" dirty="0">
                <a:solidFill>
                  <a:schemeClr val="bg2"/>
                </a:solidFill>
              </a:rPr>
              <a:t>(</a:t>
            </a:r>
            <a:r>
              <a:rPr kumimoji="0" lang="en-US" altLang="zh-CN" sz="2800" b="1" dirty="0">
                <a:solidFill>
                  <a:schemeClr val="bg2"/>
                </a:solidFill>
                <a:sym typeface="Symbol" pitchFamily="18" charset="2"/>
              </a:rPr>
              <a:t></a:t>
            </a:r>
            <a:r>
              <a:rPr kumimoji="0" lang="en-US" altLang="zh-CN" sz="2800" b="1" dirty="0">
                <a:solidFill>
                  <a:schemeClr val="bg2"/>
                </a:solidFill>
              </a:rPr>
              <a:t>x)(</a:t>
            </a:r>
            <a:r>
              <a:rPr kumimoji="0" lang="en-US" altLang="zh-CN" sz="2800" b="1" dirty="0">
                <a:solidFill>
                  <a:schemeClr val="bg2"/>
                </a:solidFill>
                <a:sym typeface="Symbol" pitchFamily="18" charset="2"/>
              </a:rPr>
              <a:t></a:t>
            </a:r>
            <a:r>
              <a:rPr kumimoji="0" lang="en-US" altLang="zh-CN" sz="2800" b="1" dirty="0">
                <a:solidFill>
                  <a:schemeClr val="bg2"/>
                </a:solidFill>
              </a:rPr>
              <a:t>z)G(</a:t>
            </a:r>
            <a:r>
              <a:rPr kumimoji="0" lang="en-US" altLang="zh-CN" sz="2800" b="1" dirty="0" err="1">
                <a:solidFill>
                  <a:schemeClr val="bg2"/>
                </a:solidFill>
              </a:rPr>
              <a:t>x,z</a:t>
            </a:r>
            <a:r>
              <a:rPr kumimoji="0" lang="en-US" altLang="zh-CN" sz="2800" b="1" dirty="0">
                <a:solidFill>
                  <a:schemeClr val="bg2"/>
                </a:solidFill>
              </a:rPr>
              <a:t>)         </a:t>
            </a:r>
            <a:r>
              <a:rPr kumimoji="0" lang="en-US" altLang="zh-CN" sz="2800" b="1" dirty="0" smtClean="0">
                <a:solidFill>
                  <a:schemeClr val="bg2"/>
                </a:solidFill>
              </a:rPr>
              <a:t>	P  </a:t>
            </a:r>
            <a:endParaRPr kumimoji="0" lang="en-US" altLang="zh-CN" sz="2800" b="1" dirty="0">
              <a:solidFill>
                <a:schemeClr val="bg2"/>
              </a:solidFill>
            </a:endParaRPr>
          </a:p>
          <a:p>
            <a:pPr algn="l">
              <a:lnSpc>
                <a:spcPct val="130000"/>
              </a:lnSpc>
            </a:pPr>
            <a:r>
              <a:rPr kumimoji="0" lang="en-US" altLang="zh-CN" sz="2800" b="1" dirty="0">
                <a:solidFill>
                  <a:schemeClr val="bg2"/>
                </a:solidFill>
              </a:rPr>
              <a:t>            (2)(</a:t>
            </a:r>
            <a:r>
              <a:rPr kumimoji="0" lang="en-US" altLang="zh-CN" sz="2800" b="1" dirty="0">
                <a:solidFill>
                  <a:schemeClr val="bg2"/>
                </a:solidFill>
                <a:sym typeface="Symbol" pitchFamily="18" charset="2"/>
              </a:rPr>
              <a:t></a:t>
            </a:r>
            <a:r>
              <a:rPr kumimoji="0" lang="en-US" altLang="zh-CN" sz="2800" b="1" dirty="0">
                <a:solidFill>
                  <a:schemeClr val="bg2"/>
                </a:solidFill>
              </a:rPr>
              <a:t>x)G(x</a:t>
            </a:r>
            <a:r>
              <a:rPr kumimoji="0" lang="en-US" altLang="zh-CN" sz="2800" b="1" dirty="0" smtClean="0">
                <a:solidFill>
                  <a:schemeClr val="bg2"/>
                </a:solidFill>
              </a:rPr>
              <a:t>, a</a:t>
            </a:r>
            <a:r>
              <a:rPr kumimoji="0" lang="en-US" altLang="zh-CN" sz="2800" b="1" dirty="0">
                <a:solidFill>
                  <a:schemeClr val="bg2"/>
                </a:solidFill>
              </a:rPr>
              <a:t>)             </a:t>
            </a:r>
            <a:r>
              <a:rPr kumimoji="0" lang="en-US" altLang="zh-CN" sz="2800" b="1" dirty="0" smtClean="0">
                <a:solidFill>
                  <a:schemeClr val="bg2"/>
                </a:solidFill>
              </a:rPr>
              <a:t>	ES </a:t>
            </a:r>
            <a:r>
              <a:rPr kumimoji="0" lang="en-US" altLang="zh-CN" sz="2800" b="1" dirty="0">
                <a:solidFill>
                  <a:schemeClr val="bg2"/>
                </a:solidFill>
              </a:rPr>
              <a:t>(1)    </a:t>
            </a:r>
          </a:p>
          <a:p>
            <a:pPr algn="l">
              <a:lnSpc>
                <a:spcPct val="130000"/>
              </a:lnSpc>
            </a:pPr>
            <a:r>
              <a:rPr kumimoji="0" lang="en-US" altLang="zh-CN" sz="2800" b="1" dirty="0">
                <a:solidFill>
                  <a:schemeClr val="bg2"/>
                </a:solidFill>
              </a:rPr>
              <a:t>            (3)G(a</a:t>
            </a:r>
            <a:r>
              <a:rPr kumimoji="0" lang="en-US" altLang="zh-CN" sz="2800" b="1" dirty="0" smtClean="0">
                <a:solidFill>
                  <a:schemeClr val="bg2"/>
                </a:solidFill>
              </a:rPr>
              <a:t>, a</a:t>
            </a:r>
            <a:r>
              <a:rPr kumimoji="0" lang="en-US" altLang="zh-CN" sz="2800" b="1" dirty="0">
                <a:solidFill>
                  <a:schemeClr val="bg2"/>
                </a:solidFill>
              </a:rPr>
              <a:t>)                  </a:t>
            </a:r>
            <a:r>
              <a:rPr kumimoji="0" lang="en-US" altLang="zh-CN" sz="2800" b="1" dirty="0" smtClean="0">
                <a:solidFill>
                  <a:schemeClr val="bg2"/>
                </a:solidFill>
              </a:rPr>
              <a:t>	US </a:t>
            </a:r>
            <a:r>
              <a:rPr kumimoji="0" lang="en-US" altLang="zh-CN" sz="2800" b="1" dirty="0">
                <a:solidFill>
                  <a:schemeClr val="bg2"/>
                </a:solidFill>
              </a:rPr>
              <a:t>(2)            </a:t>
            </a:r>
          </a:p>
          <a:p>
            <a:pPr algn="l">
              <a:lnSpc>
                <a:spcPct val="130000"/>
              </a:lnSpc>
            </a:pPr>
            <a:r>
              <a:rPr kumimoji="0" lang="zh-CN" altLang="en-US" sz="2800" b="1" dirty="0">
                <a:solidFill>
                  <a:schemeClr val="hlink"/>
                </a:solidFill>
              </a:rPr>
              <a:t>问题：推导过程是否正确？</a:t>
            </a:r>
          </a:p>
          <a:p>
            <a:pPr algn="l">
              <a:lnSpc>
                <a:spcPct val="130000"/>
              </a:lnSpc>
            </a:pPr>
            <a:r>
              <a:rPr kumimoji="0" lang="zh-CN" altLang="en-US" sz="2800" b="1" dirty="0">
                <a:solidFill>
                  <a:schemeClr val="folHlink"/>
                </a:solidFill>
              </a:rPr>
              <a:t>说明：</a:t>
            </a:r>
            <a:r>
              <a:rPr kumimoji="0" lang="zh-CN" altLang="en-US" sz="2800" b="1" dirty="0"/>
              <a:t>若</a:t>
            </a:r>
            <a:r>
              <a:rPr kumimoji="0" lang="en-US" altLang="zh-CN" sz="2800" b="1" i="1" dirty="0"/>
              <a:t>A</a:t>
            </a:r>
            <a:r>
              <a:rPr kumimoji="0" lang="zh-CN" altLang="en-US" sz="2800" b="1" dirty="0"/>
              <a:t>中有其它自由变元时，不能应用本规则。</a:t>
            </a:r>
            <a:endParaRPr kumimoji="0" lang="zh-CN" altLang="en-US" sz="2800" b="1" dirty="0">
              <a:solidFill>
                <a:schemeClr val="hlink"/>
              </a:solidFill>
              <a:sym typeface="Symbol" pitchFamily="18" charset="2"/>
            </a:endParaRPr>
          </a:p>
          <a:p>
            <a:pPr algn="l">
              <a:lnSpc>
                <a:spcPct val="130000"/>
              </a:lnSpc>
            </a:pPr>
            <a:r>
              <a:rPr kumimoji="0" lang="zh-CN" altLang="en-US" sz="2800" b="1" dirty="0">
                <a:solidFill>
                  <a:schemeClr val="hlink"/>
                </a:solidFill>
                <a:sym typeface="Symbol" pitchFamily="18" charset="2"/>
              </a:rPr>
              <a:t>如</a:t>
            </a:r>
            <a:r>
              <a:rPr kumimoji="0" lang="en-US" altLang="zh-CN" sz="2800" b="1" dirty="0">
                <a:solidFill>
                  <a:schemeClr val="hlink"/>
                </a:solidFill>
                <a:sym typeface="Symbol" pitchFamily="18" charset="2"/>
              </a:rPr>
              <a:t>:</a:t>
            </a:r>
            <a:r>
              <a:rPr kumimoji="0" lang="en-US" altLang="zh-CN" sz="2800" b="1" dirty="0">
                <a:sym typeface="Symbol" pitchFamily="18" charset="2"/>
              </a:rPr>
              <a:t>        </a:t>
            </a:r>
            <a:r>
              <a:rPr kumimoji="0" lang="en-US" altLang="zh-CN" sz="2800" b="1" u="sng" dirty="0">
                <a:sym typeface="Symbol" pitchFamily="18" charset="2"/>
              </a:rPr>
              <a:t>(x)A(</a:t>
            </a:r>
            <a:r>
              <a:rPr kumimoji="0" lang="en-US" altLang="zh-CN" sz="2800" b="1" u="sng" dirty="0" err="1">
                <a:sym typeface="Symbol" pitchFamily="18" charset="2"/>
              </a:rPr>
              <a:t>x,y</a:t>
            </a:r>
            <a:r>
              <a:rPr kumimoji="0" lang="en-US" altLang="zh-CN" sz="2800" b="1" u="sng" dirty="0">
                <a:sym typeface="Symbol" pitchFamily="18" charset="2"/>
              </a:rPr>
              <a:t>)</a:t>
            </a:r>
          </a:p>
          <a:p>
            <a:pPr algn="l">
              <a:lnSpc>
                <a:spcPct val="80000"/>
              </a:lnSpc>
            </a:pPr>
            <a:r>
              <a:rPr kumimoji="0" lang="en-US" altLang="zh-CN" sz="2800" b="1" dirty="0">
                <a:sym typeface="Symbol" pitchFamily="18" charset="2"/>
              </a:rPr>
              <a:t>              ∴ A(</a:t>
            </a:r>
            <a:r>
              <a:rPr kumimoji="0" lang="en-US" altLang="zh-CN" sz="2800" b="1" dirty="0" err="1">
                <a:sym typeface="Symbol" pitchFamily="18" charset="2"/>
              </a:rPr>
              <a:t>c,y</a:t>
            </a:r>
            <a:r>
              <a:rPr kumimoji="0" lang="en-US" altLang="zh-CN" sz="2800" b="1" dirty="0">
                <a:sym typeface="Symbol" pitchFamily="18" charset="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3458">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3458">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3458">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3458">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03458">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03458">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03458">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49D5ED51-0BCC-4090-AF24-A158172222F2}" type="slidenum">
              <a:rPr lang="en-US" altLang="zh-CN"/>
              <a:pPr/>
              <a:t>84</a:t>
            </a:fld>
            <a:endParaRPr lang="en-US" altLang="zh-CN"/>
          </a:p>
        </p:txBody>
      </p:sp>
      <p:sp>
        <p:nvSpPr>
          <p:cNvPr id="404482" name="Rectangle 2"/>
          <p:cNvSpPr>
            <a:spLocks noChangeArrowheads="1"/>
          </p:cNvSpPr>
          <p:nvPr/>
        </p:nvSpPr>
        <p:spPr bwMode="auto">
          <a:xfrm>
            <a:off x="1438275" y="1285875"/>
            <a:ext cx="6624638" cy="466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30000"/>
              </a:lnSpc>
            </a:pPr>
            <a:r>
              <a:rPr kumimoji="0" lang="zh-CN" altLang="en-US" sz="2800" b="1" dirty="0">
                <a:solidFill>
                  <a:schemeClr val="folHlink"/>
                </a:solidFill>
                <a:ea typeface="楷体_GB2312" pitchFamily="49" charset="-122"/>
              </a:rPr>
              <a:t>量词产生规则：</a:t>
            </a:r>
          </a:p>
          <a:p>
            <a:pPr algn="l">
              <a:lnSpc>
                <a:spcPct val="130000"/>
              </a:lnSpc>
            </a:pPr>
            <a:r>
              <a:rPr kumimoji="0" lang="en-US" altLang="zh-CN" sz="2800" b="1" dirty="0">
                <a:solidFill>
                  <a:schemeClr val="hlink"/>
                </a:solidFill>
              </a:rPr>
              <a:t>(3)  </a:t>
            </a:r>
            <a:r>
              <a:rPr kumimoji="0" lang="zh-CN" altLang="en-US" sz="2800" b="1" dirty="0">
                <a:solidFill>
                  <a:schemeClr val="hlink"/>
                </a:solidFill>
              </a:rPr>
              <a:t>存在推广规则（</a:t>
            </a:r>
            <a:r>
              <a:rPr kumimoji="0" lang="en-US" altLang="zh-CN" sz="2800" b="1" dirty="0">
                <a:solidFill>
                  <a:schemeClr val="hlink"/>
                </a:solidFill>
              </a:rPr>
              <a:t>EG</a:t>
            </a:r>
            <a:r>
              <a:rPr kumimoji="0" lang="zh-CN" altLang="en-US" sz="2800" b="1" dirty="0">
                <a:solidFill>
                  <a:schemeClr val="hlink"/>
                </a:solidFill>
              </a:rPr>
              <a:t>）</a:t>
            </a:r>
          </a:p>
          <a:p>
            <a:pPr algn="l">
              <a:lnSpc>
                <a:spcPct val="130000"/>
              </a:lnSpc>
            </a:pPr>
            <a:r>
              <a:rPr lang="zh-CN" altLang="en-US" sz="2800" b="1" dirty="0">
                <a:sym typeface="Symbol" pitchFamily="18" charset="2"/>
              </a:rPr>
              <a:t>             </a:t>
            </a:r>
            <a:r>
              <a:rPr lang="zh-CN" altLang="en-US" sz="2800" b="1" u="sng" dirty="0">
                <a:sym typeface="Symbol" pitchFamily="18" charset="2"/>
              </a:rPr>
              <a:t>       </a:t>
            </a:r>
            <a:r>
              <a:rPr lang="en-US" altLang="zh-CN" sz="2800" b="1" u="sng" dirty="0">
                <a:sym typeface="Symbol" pitchFamily="18" charset="2"/>
              </a:rPr>
              <a:t>A(c)      </a:t>
            </a:r>
            <a:r>
              <a:rPr lang="en-US" altLang="zh-CN" sz="2800" b="1" u="sng" dirty="0">
                <a:solidFill>
                  <a:schemeClr val="bg1"/>
                </a:solidFill>
                <a:sym typeface="Symbol" pitchFamily="18" charset="2"/>
              </a:rPr>
              <a:t>0</a:t>
            </a:r>
            <a:endParaRPr lang="en-US" altLang="zh-CN" sz="2800" b="1" dirty="0">
              <a:solidFill>
                <a:schemeClr val="bg1"/>
              </a:solidFill>
              <a:sym typeface="Symbol" pitchFamily="18" charset="2"/>
            </a:endParaRPr>
          </a:p>
          <a:p>
            <a:pPr algn="l">
              <a:lnSpc>
                <a:spcPct val="80000"/>
              </a:lnSpc>
            </a:pPr>
            <a:r>
              <a:rPr lang="en-US" altLang="zh-CN" sz="2800" b="1" dirty="0">
                <a:sym typeface="Symbol" pitchFamily="18" charset="2"/>
              </a:rPr>
              <a:t>             ∴ (x)A(x)</a:t>
            </a:r>
            <a:endParaRPr kumimoji="0" lang="en-US" altLang="zh-CN" sz="2800" b="1" dirty="0">
              <a:solidFill>
                <a:schemeClr val="bg2"/>
              </a:solidFill>
            </a:endParaRPr>
          </a:p>
          <a:p>
            <a:pPr algn="l">
              <a:lnSpc>
                <a:spcPct val="130000"/>
              </a:lnSpc>
            </a:pPr>
            <a:r>
              <a:rPr kumimoji="0" lang="zh-CN" altLang="en-US" sz="2800" b="1" dirty="0">
                <a:solidFill>
                  <a:schemeClr val="bg2"/>
                </a:solidFill>
              </a:rPr>
              <a:t>其中</a:t>
            </a:r>
            <a:r>
              <a:rPr lang="en-US" altLang="zh-CN" sz="2800" b="1" dirty="0">
                <a:sym typeface="Symbol" pitchFamily="18" charset="2"/>
              </a:rPr>
              <a:t>c</a:t>
            </a:r>
            <a:r>
              <a:rPr lang="zh-CN" altLang="en-US" sz="2800" b="1" dirty="0">
                <a:sym typeface="Symbol" pitchFamily="18" charset="2"/>
              </a:rPr>
              <a:t>是特定的个体</a:t>
            </a:r>
            <a:r>
              <a:rPr kumimoji="0" lang="zh-CN" altLang="en-US" sz="2800" b="1" dirty="0"/>
              <a:t>常元</a:t>
            </a:r>
            <a:r>
              <a:rPr lang="zh-CN" altLang="en-US" sz="2800" b="1" dirty="0">
                <a:sym typeface="Symbol" pitchFamily="18" charset="2"/>
              </a:rPr>
              <a:t>。</a:t>
            </a:r>
          </a:p>
          <a:p>
            <a:pPr algn="l">
              <a:lnSpc>
                <a:spcPct val="130000"/>
              </a:lnSpc>
              <a:buClr>
                <a:schemeClr val="folHlink"/>
              </a:buClr>
              <a:buSzPct val="60000"/>
              <a:buFont typeface="Wingdings" pitchFamily="2" charset="2"/>
              <a:buNone/>
            </a:pPr>
            <a:r>
              <a:rPr kumimoji="0" lang="en-US" altLang="zh-CN" sz="2800" b="1" dirty="0">
                <a:solidFill>
                  <a:schemeClr val="hlink"/>
                </a:solidFill>
              </a:rPr>
              <a:t>(4)</a:t>
            </a:r>
            <a:r>
              <a:rPr kumimoji="0" lang="zh-CN" altLang="en-US" sz="2800" b="1" dirty="0">
                <a:solidFill>
                  <a:schemeClr val="hlink"/>
                </a:solidFill>
              </a:rPr>
              <a:t>全称推广规则</a:t>
            </a:r>
            <a:r>
              <a:rPr kumimoji="0" lang="en-US" altLang="zh-CN" sz="2800" b="1" dirty="0">
                <a:solidFill>
                  <a:schemeClr val="hlink"/>
                </a:solidFill>
              </a:rPr>
              <a:t>(</a:t>
            </a:r>
            <a:r>
              <a:rPr kumimoji="0" lang="zh-CN" altLang="en-US" sz="2800" b="1" dirty="0">
                <a:solidFill>
                  <a:schemeClr val="hlink"/>
                </a:solidFill>
              </a:rPr>
              <a:t>简称</a:t>
            </a:r>
            <a:r>
              <a:rPr kumimoji="0" lang="en-US" altLang="zh-CN" sz="2800" b="1" dirty="0">
                <a:solidFill>
                  <a:schemeClr val="hlink"/>
                </a:solidFill>
              </a:rPr>
              <a:t>UG</a:t>
            </a:r>
            <a:r>
              <a:rPr kumimoji="0" lang="zh-CN" altLang="en-US" sz="2800" b="1" dirty="0">
                <a:solidFill>
                  <a:schemeClr val="hlink"/>
                </a:solidFill>
              </a:rPr>
              <a:t>规则</a:t>
            </a:r>
            <a:r>
              <a:rPr kumimoji="0" lang="en-US" altLang="zh-CN" sz="2800" b="1" dirty="0">
                <a:solidFill>
                  <a:schemeClr val="hlink"/>
                </a:solidFill>
              </a:rPr>
              <a:t>)</a:t>
            </a:r>
            <a:endParaRPr kumimoji="0" lang="en-US" altLang="zh-CN" sz="2800" b="1" dirty="0">
              <a:solidFill>
                <a:schemeClr val="hlink"/>
              </a:solidFill>
              <a:latin typeface="宋体" charset="-122"/>
            </a:endParaRPr>
          </a:p>
          <a:p>
            <a:pPr algn="l">
              <a:lnSpc>
                <a:spcPct val="130000"/>
              </a:lnSpc>
              <a:buClr>
                <a:schemeClr val="folHlink"/>
              </a:buClr>
              <a:buSzPct val="60000"/>
              <a:buFont typeface="Wingdings" pitchFamily="2" charset="2"/>
              <a:buNone/>
            </a:pPr>
            <a:r>
              <a:rPr kumimoji="0" lang="en-US" altLang="zh-CN" sz="2800" b="1" dirty="0"/>
              <a:t>                </a:t>
            </a:r>
            <a:r>
              <a:rPr kumimoji="0" lang="en-US" altLang="zh-CN" sz="2800" b="1" u="sng" dirty="0"/>
              <a:t>      </a:t>
            </a:r>
            <a:r>
              <a:rPr kumimoji="0" lang="en-US" altLang="zh-CN" sz="2800" b="1" u="sng" dirty="0">
                <a:sym typeface="Symbol" pitchFamily="18" charset="2"/>
              </a:rPr>
              <a:t>A(c)     </a:t>
            </a:r>
            <a:r>
              <a:rPr kumimoji="0" lang="en-US" altLang="zh-CN" sz="2800" b="1" u="sng" dirty="0">
                <a:solidFill>
                  <a:schemeClr val="bg1"/>
                </a:solidFill>
                <a:sym typeface="Symbol" pitchFamily="18" charset="2"/>
              </a:rPr>
              <a:t>0</a:t>
            </a:r>
            <a:endParaRPr kumimoji="0" lang="en-US" altLang="zh-CN" sz="2800" b="1" u="sng" dirty="0">
              <a:solidFill>
                <a:schemeClr val="bg1"/>
              </a:solidFill>
            </a:endParaRPr>
          </a:p>
          <a:p>
            <a:pPr algn="l">
              <a:lnSpc>
                <a:spcPct val="80000"/>
              </a:lnSpc>
              <a:buClr>
                <a:schemeClr val="folHlink"/>
              </a:buClr>
              <a:buSzPct val="60000"/>
              <a:buFont typeface="Wingdings" pitchFamily="2" charset="2"/>
              <a:buNone/>
            </a:pPr>
            <a:r>
              <a:rPr kumimoji="0" lang="en-US" altLang="zh-CN" sz="2800" b="1" dirty="0"/>
              <a:t>                </a:t>
            </a:r>
            <a:r>
              <a:rPr kumimoji="0" lang="en-US" altLang="zh-CN" sz="2800" b="1" dirty="0">
                <a:sym typeface="Symbol" pitchFamily="18" charset="2"/>
              </a:rPr>
              <a:t>∴(x)A(x)</a:t>
            </a:r>
          </a:p>
          <a:p>
            <a:pPr algn="l">
              <a:lnSpc>
                <a:spcPct val="130000"/>
              </a:lnSpc>
              <a:buClr>
                <a:schemeClr val="folHlink"/>
              </a:buClr>
              <a:buSzPct val="60000"/>
              <a:buFont typeface="Wingdings" pitchFamily="2" charset="2"/>
              <a:buNone/>
            </a:pPr>
            <a:r>
              <a:rPr kumimoji="0" lang="en-US" altLang="zh-CN" sz="2800" b="1" dirty="0"/>
              <a:t>c</a:t>
            </a:r>
            <a:r>
              <a:rPr kumimoji="0" lang="zh-CN" altLang="en-US" sz="2800" b="1" dirty="0"/>
              <a:t>为任意个体常元。</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4482">
                                            <p:txEl>
                                              <p:pRg st="4" end="4"/>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4482">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4482">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04482">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448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1408F756-F44C-4DFF-A907-634C97AC4AAD}" type="slidenum">
              <a:rPr lang="en-US" altLang="zh-CN"/>
              <a:pPr/>
              <a:t>85</a:t>
            </a:fld>
            <a:endParaRPr lang="en-US" altLang="zh-CN"/>
          </a:p>
        </p:txBody>
      </p:sp>
      <p:sp>
        <p:nvSpPr>
          <p:cNvPr id="439298" name="Rectangle 2"/>
          <p:cNvSpPr>
            <a:spLocks noChangeArrowheads="1"/>
          </p:cNvSpPr>
          <p:nvPr/>
        </p:nvSpPr>
        <p:spPr bwMode="auto">
          <a:xfrm>
            <a:off x="1258888" y="1298575"/>
            <a:ext cx="6985000" cy="3711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rPr>
              <a:t>例</a:t>
            </a:r>
            <a:r>
              <a:rPr kumimoji="0" lang="en-US" altLang="zh-CN" sz="2800" b="1" dirty="0">
                <a:solidFill>
                  <a:schemeClr val="hlink"/>
                </a:solidFill>
              </a:rPr>
              <a:t>3</a:t>
            </a:r>
            <a:r>
              <a:rPr kumimoji="0" lang="zh-CN" altLang="en-US" sz="2800" b="1" dirty="0">
                <a:solidFill>
                  <a:schemeClr val="hlink"/>
                </a:solidFill>
              </a:rPr>
              <a:t>：</a:t>
            </a:r>
            <a:r>
              <a:rPr kumimoji="0" lang="en-US" altLang="zh-CN" sz="2800" b="1" dirty="0">
                <a:solidFill>
                  <a:schemeClr val="bg2"/>
                </a:solidFill>
              </a:rPr>
              <a:t>E</a:t>
            </a:r>
            <a:r>
              <a:rPr kumimoji="0" lang="zh-CN" altLang="en-US" sz="2800" b="1" dirty="0">
                <a:solidFill>
                  <a:schemeClr val="bg2"/>
                </a:solidFill>
              </a:rPr>
              <a:t>：全体实数；</a:t>
            </a:r>
            <a:r>
              <a:rPr kumimoji="0" lang="en-US" altLang="zh-CN" sz="2800" b="1" dirty="0">
                <a:solidFill>
                  <a:schemeClr val="bg2"/>
                </a:solidFill>
              </a:rPr>
              <a:t>G(</a:t>
            </a:r>
            <a:r>
              <a:rPr kumimoji="0" lang="en-US" altLang="zh-CN" sz="2800" b="1" dirty="0" err="1">
                <a:solidFill>
                  <a:schemeClr val="bg2"/>
                </a:solidFill>
              </a:rPr>
              <a:t>x,y</a:t>
            </a:r>
            <a:r>
              <a:rPr kumimoji="0" lang="en-US" altLang="zh-CN" sz="2800" b="1" dirty="0">
                <a:solidFill>
                  <a:schemeClr val="bg2"/>
                </a:solidFill>
              </a:rPr>
              <a:t>):  x&gt;y</a:t>
            </a:r>
            <a:r>
              <a:rPr kumimoji="0" lang="zh-CN" altLang="en-US" sz="2800" b="1" dirty="0">
                <a:solidFill>
                  <a:schemeClr val="bg2"/>
                </a:solidFill>
              </a:rPr>
              <a:t>；</a:t>
            </a:r>
          </a:p>
          <a:p>
            <a:pPr algn="l">
              <a:lnSpc>
                <a:spcPct val="120000"/>
              </a:lnSpc>
            </a:pPr>
            <a:r>
              <a:rPr kumimoji="0" lang="zh-CN" altLang="en-US" sz="2800" b="1" dirty="0">
                <a:solidFill>
                  <a:schemeClr val="bg2"/>
                </a:solidFill>
              </a:rPr>
              <a:t>推导：</a:t>
            </a:r>
          </a:p>
          <a:p>
            <a:pPr algn="l">
              <a:lnSpc>
                <a:spcPct val="120000"/>
              </a:lnSpc>
            </a:pPr>
            <a:r>
              <a:rPr kumimoji="0" lang="en-US" altLang="zh-CN" sz="2800" b="1" dirty="0" smtClean="0">
                <a:solidFill>
                  <a:schemeClr val="bg2"/>
                </a:solidFill>
              </a:rPr>
              <a:t>            (</a:t>
            </a:r>
            <a:r>
              <a:rPr kumimoji="0" lang="en-US" altLang="zh-CN" sz="2800" b="1" dirty="0">
                <a:solidFill>
                  <a:schemeClr val="bg2"/>
                </a:solidFill>
              </a:rPr>
              <a:t>1)(</a:t>
            </a:r>
            <a:r>
              <a:rPr kumimoji="0" lang="en-US" altLang="zh-CN" sz="2800" b="1" dirty="0">
                <a:solidFill>
                  <a:schemeClr val="bg2"/>
                </a:solidFill>
                <a:sym typeface="Symbol" pitchFamily="18" charset="2"/>
              </a:rPr>
              <a:t></a:t>
            </a:r>
            <a:r>
              <a:rPr kumimoji="0" lang="en-US" altLang="zh-CN" sz="2800" b="1" dirty="0">
                <a:solidFill>
                  <a:schemeClr val="bg2"/>
                </a:solidFill>
              </a:rPr>
              <a:t>z)(</a:t>
            </a:r>
            <a:r>
              <a:rPr kumimoji="0" lang="en-US" altLang="zh-CN" sz="2800" b="1" dirty="0">
                <a:solidFill>
                  <a:schemeClr val="bg2"/>
                </a:solidFill>
                <a:sym typeface="Symbol" pitchFamily="18" charset="2"/>
              </a:rPr>
              <a:t></a:t>
            </a:r>
            <a:r>
              <a:rPr kumimoji="0" lang="en-US" altLang="zh-CN" sz="2800" b="1" dirty="0">
                <a:solidFill>
                  <a:schemeClr val="bg2"/>
                </a:solidFill>
              </a:rPr>
              <a:t>y)G(</a:t>
            </a:r>
            <a:r>
              <a:rPr kumimoji="0" lang="en-US" altLang="zh-CN" sz="2800" b="1" dirty="0" err="1">
                <a:solidFill>
                  <a:schemeClr val="bg2"/>
                </a:solidFill>
              </a:rPr>
              <a:t>z,y</a:t>
            </a:r>
            <a:r>
              <a:rPr kumimoji="0" lang="en-US" altLang="zh-CN" sz="2800" b="1" dirty="0">
                <a:solidFill>
                  <a:schemeClr val="bg2"/>
                </a:solidFill>
              </a:rPr>
              <a:t>)        </a:t>
            </a:r>
            <a:r>
              <a:rPr kumimoji="0" lang="en-US" altLang="zh-CN" sz="2800" b="1" dirty="0" smtClean="0">
                <a:solidFill>
                  <a:schemeClr val="bg2"/>
                </a:solidFill>
              </a:rPr>
              <a:t>	P</a:t>
            </a:r>
            <a:endParaRPr kumimoji="0" lang="en-US" altLang="zh-CN" sz="2800" b="1" dirty="0">
              <a:solidFill>
                <a:schemeClr val="bg2"/>
              </a:solidFill>
            </a:endParaRPr>
          </a:p>
          <a:p>
            <a:pPr algn="l">
              <a:lnSpc>
                <a:spcPct val="120000"/>
              </a:lnSpc>
            </a:pPr>
            <a:r>
              <a:rPr kumimoji="0" lang="en-US" altLang="zh-CN" sz="2800" b="1" dirty="0">
                <a:solidFill>
                  <a:schemeClr val="bg2"/>
                </a:solidFill>
              </a:rPr>
              <a:t>            (2)(</a:t>
            </a:r>
            <a:r>
              <a:rPr kumimoji="0" lang="en-US" altLang="zh-CN" sz="2800" b="1" dirty="0">
                <a:solidFill>
                  <a:schemeClr val="bg2"/>
                </a:solidFill>
                <a:sym typeface="Symbol" pitchFamily="18" charset="2"/>
              </a:rPr>
              <a:t></a:t>
            </a:r>
            <a:r>
              <a:rPr kumimoji="0" lang="en-US" altLang="zh-CN" sz="2800" b="1" dirty="0">
                <a:solidFill>
                  <a:schemeClr val="bg2"/>
                </a:solidFill>
              </a:rPr>
              <a:t>y)G(</a:t>
            </a:r>
            <a:r>
              <a:rPr kumimoji="0" lang="en-US" altLang="zh-CN" sz="2800" b="1" dirty="0" err="1">
                <a:solidFill>
                  <a:schemeClr val="bg2"/>
                </a:solidFill>
              </a:rPr>
              <a:t>c,y</a:t>
            </a:r>
            <a:r>
              <a:rPr kumimoji="0" lang="en-US" altLang="zh-CN" sz="2800" b="1" dirty="0">
                <a:solidFill>
                  <a:schemeClr val="bg2"/>
                </a:solidFill>
              </a:rPr>
              <a:t>)               </a:t>
            </a:r>
            <a:r>
              <a:rPr kumimoji="0" lang="en-US" altLang="zh-CN" sz="2800" b="1" dirty="0" smtClean="0">
                <a:solidFill>
                  <a:schemeClr val="bg2"/>
                </a:solidFill>
              </a:rPr>
              <a:t>	ES</a:t>
            </a:r>
            <a:r>
              <a:rPr kumimoji="0" lang="en-US" altLang="zh-CN" sz="2800" b="1" dirty="0">
                <a:solidFill>
                  <a:schemeClr val="bg2"/>
                </a:solidFill>
              </a:rPr>
              <a:t>,(1)  </a:t>
            </a:r>
          </a:p>
          <a:p>
            <a:pPr algn="l">
              <a:lnSpc>
                <a:spcPct val="120000"/>
              </a:lnSpc>
            </a:pPr>
            <a:r>
              <a:rPr kumimoji="0" lang="en-US" altLang="zh-CN" sz="2800" b="1" dirty="0">
                <a:solidFill>
                  <a:schemeClr val="bg2"/>
                </a:solidFill>
              </a:rPr>
              <a:t>            (3)(</a:t>
            </a:r>
            <a:r>
              <a:rPr kumimoji="0" lang="en-US" altLang="zh-CN" sz="2800" b="1" dirty="0">
                <a:solidFill>
                  <a:schemeClr val="bg2"/>
                </a:solidFill>
                <a:sym typeface="Symbol" pitchFamily="18" charset="2"/>
              </a:rPr>
              <a:t></a:t>
            </a:r>
            <a:r>
              <a:rPr kumimoji="0" lang="en-US" altLang="zh-CN" sz="2800" b="1" dirty="0">
                <a:solidFill>
                  <a:schemeClr val="bg2"/>
                </a:solidFill>
              </a:rPr>
              <a:t>y)(</a:t>
            </a:r>
            <a:r>
              <a:rPr kumimoji="0" lang="en-US" altLang="zh-CN" sz="2800" b="1" dirty="0">
                <a:solidFill>
                  <a:schemeClr val="bg2"/>
                </a:solidFill>
                <a:sym typeface="Symbol" pitchFamily="18" charset="2"/>
              </a:rPr>
              <a:t></a:t>
            </a:r>
            <a:r>
              <a:rPr kumimoji="0" lang="en-US" altLang="zh-CN" sz="2800" b="1" dirty="0">
                <a:solidFill>
                  <a:schemeClr val="bg2"/>
                </a:solidFill>
              </a:rPr>
              <a:t>y)G(</a:t>
            </a:r>
            <a:r>
              <a:rPr kumimoji="0" lang="en-US" altLang="zh-CN" sz="2800" b="1" dirty="0" err="1">
                <a:solidFill>
                  <a:schemeClr val="bg2"/>
                </a:solidFill>
              </a:rPr>
              <a:t>y,y</a:t>
            </a:r>
            <a:r>
              <a:rPr kumimoji="0" lang="en-US" altLang="zh-CN" sz="2800" b="1" dirty="0">
                <a:solidFill>
                  <a:schemeClr val="bg2"/>
                </a:solidFill>
              </a:rPr>
              <a:t>)        </a:t>
            </a:r>
            <a:r>
              <a:rPr kumimoji="0" lang="en-US" altLang="zh-CN" sz="2800" b="1" dirty="0" smtClean="0">
                <a:solidFill>
                  <a:schemeClr val="bg2"/>
                </a:solidFill>
              </a:rPr>
              <a:t>	EG</a:t>
            </a:r>
            <a:r>
              <a:rPr kumimoji="0" lang="en-US" altLang="zh-CN" sz="2800" b="1" dirty="0">
                <a:solidFill>
                  <a:schemeClr val="bg2"/>
                </a:solidFill>
              </a:rPr>
              <a:t>,(2)</a:t>
            </a:r>
          </a:p>
          <a:p>
            <a:pPr algn="l">
              <a:lnSpc>
                <a:spcPct val="120000"/>
              </a:lnSpc>
            </a:pPr>
            <a:r>
              <a:rPr kumimoji="0" lang="zh-CN" altLang="en-US" sz="2800" b="1" dirty="0">
                <a:solidFill>
                  <a:schemeClr val="hlink"/>
                </a:solidFill>
              </a:rPr>
              <a:t>问题：推导过程是否正确？</a:t>
            </a:r>
          </a:p>
          <a:p>
            <a:pPr algn="l">
              <a:lnSpc>
                <a:spcPct val="120000"/>
              </a:lnSpc>
            </a:pPr>
            <a:r>
              <a:rPr kumimoji="0" lang="zh-CN" altLang="en-US" sz="2800" b="1" dirty="0">
                <a:solidFill>
                  <a:schemeClr val="folHlink"/>
                </a:solidFill>
              </a:rPr>
              <a:t>说明：</a:t>
            </a:r>
            <a:r>
              <a:rPr lang="zh-CN" altLang="en-US" sz="2800" b="1" dirty="0">
                <a:sym typeface="Symbol" pitchFamily="18" charset="2"/>
              </a:rPr>
              <a:t>取代</a:t>
            </a:r>
            <a:r>
              <a:rPr lang="en-US" altLang="zh-CN" sz="2800" b="1" dirty="0">
                <a:sym typeface="Symbol" pitchFamily="18" charset="2"/>
              </a:rPr>
              <a:t>c</a:t>
            </a:r>
            <a:r>
              <a:rPr lang="zh-CN" altLang="en-US" sz="2800" b="1" dirty="0">
                <a:sym typeface="Symbol" pitchFamily="18" charset="2"/>
              </a:rPr>
              <a:t>的</a:t>
            </a:r>
            <a:r>
              <a:rPr lang="en-US" altLang="zh-CN" sz="2800" b="1" dirty="0">
                <a:sym typeface="Symbol" pitchFamily="18" charset="2"/>
              </a:rPr>
              <a:t>x</a:t>
            </a:r>
            <a:r>
              <a:rPr lang="zh-CN" altLang="en-US" sz="2800" b="1" dirty="0">
                <a:sym typeface="Symbol" pitchFamily="18" charset="2"/>
              </a:rPr>
              <a:t>不能在</a:t>
            </a:r>
            <a:r>
              <a:rPr lang="en-US" altLang="zh-CN" sz="2800" b="1" dirty="0">
                <a:sym typeface="Symbol" pitchFamily="18" charset="2"/>
              </a:rPr>
              <a:t>A</a:t>
            </a:r>
            <a:r>
              <a:rPr lang="zh-CN" altLang="en-US" sz="2800" b="1" dirty="0">
                <a:sym typeface="Symbol" pitchFamily="18" charset="2"/>
              </a:rPr>
              <a:t>中出现过。</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3929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3929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3929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39298">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39298">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16276E94-8841-4D48-95BA-679EAC9D63CB}" type="slidenum">
              <a:rPr lang="en-US" altLang="zh-CN"/>
              <a:pPr/>
              <a:t>86</a:t>
            </a:fld>
            <a:endParaRPr lang="en-US" altLang="zh-CN"/>
          </a:p>
        </p:txBody>
      </p:sp>
      <p:sp>
        <p:nvSpPr>
          <p:cNvPr id="405506" name="Rectangle 2"/>
          <p:cNvSpPr>
            <a:spLocks noChangeArrowheads="1"/>
          </p:cNvSpPr>
          <p:nvPr/>
        </p:nvSpPr>
        <p:spPr bwMode="auto">
          <a:xfrm>
            <a:off x="1042988" y="649288"/>
            <a:ext cx="7273925" cy="556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kumimoji="0" lang="zh-CN" altLang="en-US" sz="2800" b="1" dirty="0">
                <a:solidFill>
                  <a:schemeClr val="hlink"/>
                </a:solidFill>
              </a:rPr>
              <a:t>例</a:t>
            </a:r>
            <a:r>
              <a:rPr kumimoji="0" lang="en-US" altLang="zh-CN" sz="2800" b="1" dirty="0">
                <a:solidFill>
                  <a:schemeClr val="hlink"/>
                </a:solidFill>
              </a:rPr>
              <a:t>4</a:t>
            </a:r>
            <a:r>
              <a:rPr kumimoji="0" lang="zh-CN" altLang="en-US" sz="2800" b="1" dirty="0">
                <a:solidFill>
                  <a:schemeClr val="hlink"/>
                </a:solidFill>
              </a:rPr>
              <a:t>：</a:t>
            </a:r>
            <a:r>
              <a:rPr kumimoji="0" lang="en-US" altLang="zh-CN" sz="2800" b="1" dirty="0">
                <a:solidFill>
                  <a:schemeClr val="bg2"/>
                </a:solidFill>
              </a:rPr>
              <a:t>E</a:t>
            </a:r>
            <a:r>
              <a:rPr kumimoji="0" lang="zh-CN" altLang="en-US" sz="2800" b="1" dirty="0">
                <a:solidFill>
                  <a:schemeClr val="bg2"/>
                </a:solidFill>
              </a:rPr>
              <a:t>：全体实数；</a:t>
            </a:r>
            <a:r>
              <a:rPr kumimoji="0" lang="en-US" altLang="zh-CN" sz="2800" b="1" dirty="0">
                <a:solidFill>
                  <a:schemeClr val="bg2"/>
                </a:solidFill>
              </a:rPr>
              <a:t>G(</a:t>
            </a:r>
            <a:r>
              <a:rPr kumimoji="0" lang="en-US" altLang="zh-CN" sz="2800" b="1" dirty="0" err="1">
                <a:solidFill>
                  <a:schemeClr val="bg2"/>
                </a:solidFill>
              </a:rPr>
              <a:t>x,y</a:t>
            </a:r>
            <a:r>
              <a:rPr kumimoji="0" lang="en-US" altLang="zh-CN" sz="2800" b="1" dirty="0">
                <a:solidFill>
                  <a:schemeClr val="bg2"/>
                </a:solidFill>
              </a:rPr>
              <a:t>)</a:t>
            </a:r>
            <a:r>
              <a:rPr kumimoji="0" lang="zh-CN" altLang="en-US" sz="2800" b="1" dirty="0">
                <a:solidFill>
                  <a:schemeClr val="bg2"/>
                </a:solidFill>
              </a:rPr>
              <a:t>：</a:t>
            </a:r>
            <a:r>
              <a:rPr kumimoji="0" lang="en-US" altLang="zh-CN" sz="2800" b="1" dirty="0">
                <a:solidFill>
                  <a:schemeClr val="bg2"/>
                </a:solidFill>
              </a:rPr>
              <a:t>x&gt;y</a:t>
            </a:r>
            <a:r>
              <a:rPr kumimoji="0" lang="zh-CN" altLang="en-US" sz="2800" b="1" dirty="0">
                <a:solidFill>
                  <a:schemeClr val="bg2"/>
                </a:solidFill>
              </a:rPr>
              <a:t>；</a:t>
            </a:r>
          </a:p>
          <a:p>
            <a:pPr algn="l">
              <a:lnSpc>
                <a:spcPct val="120000"/>
              </a:lnSpc>
            </a:pPr>
            <a:r>
              <a:rPr kumimoji="0" lang="zh-CN" altLang="en-US" sz="2800" b="1" dirty="0">
                <a:solidFill>
                  <a:schemeClr val="bg2"/>
                </a:solidFill>
              </a:rPr>
              <a:t>推导：  </a:t>
            </a:r>
            <a:r>
              <a:rPr kumimoji="0" lang="en-US" altLang="zh-CN" sz="2800" b="1" dirty="0">
                <a:solidFill>
                  <a:schemeClr val="bg2"/>
                </a:solidFill>
              </a:rPr>
              <a:t>(1) (</a:t>
            </a:r>
            <a:r>
              <a:rPr kumimoji="0" lang="en-US" altLang="zh-CN" sz="2800" b="1" dirty="0">
                <a:solidFill>
                  <a:schemeClr val="bg2"/>
                </a:solidFill>
                <a:sym typeface="Symbol" pitchFamily="18" charset="2"/>
              </a:rPr>
              <a:t></a:t>
            </a:r>
            <a:r>
              <a:rPr kumimoji="0" lang="en-US" altLang="zh-CN" sz="2800" b="1" dirty="0">
                <a:solidFill>
                  <a:schemeClr val="bg2"/>
                </a:solidFill>
              </a:rPr>
              <a:t>x)(</a:t>
            </a:r>
            <a:r>
              <a:rPr kumimoji="0" lang="en-US" altLang="zh-CN" sz="2800" b="1" dirty="0">
                <a:solidFill>
                  <a:schemeClr val="bg2"/>
                </a:solidFill>
                <a:sym typeface="Symbol" pitchFamily="18" charset="2"/>
              </a:rPr>
              <a:t></a:t>
            </a:r>
            <a:r>
              <a:rPr kumimoji="0" lang="en-US" altLang="zh-CN" sz="2800" b="1" dirty="0">
                <a:solidFill>
                  <a:schemeClr val="bg2"/>
                </a:solidFill>
              </a:rPr>
              <a:t>y)G(</a:t>
            </a:r>
            <a:r>
              <a:rPr kumimoji="0" lang="en-US" altLang="zh-CN" sz="2800" b="1" dirty="0" err="1">
                <a:solidFill>
                  <a:schemeClr val="bg2"/>
                </a:solidFill>
              </a:rPr>
              <a:t>x,y</a:t>
            </a:r>
            <a:r>
              <a:rPr kumimoji="0" lang="en-US" altLang="zh-CN" sz="2800" b="1" dirty="0">
                <a:solidFill>
                  <a:schemeClr val="bg2"/>
                </a:solidFill>
              </a:rPr>
              <a:t>)      </a:t>
            </a:r>
            <a:r>
              <a:rPr kumimoji="0" lang="en-US" altLang="zh-CN" sz="2800" b="1" dirty="0" smtClean="0">
                <a:solidFill>
                  <a:schemeClr val="bg2"/>
                </a:solidFill>
              </a:rPr>
              <a:t>	P</a:t>
            </a:r>
            <a:endParaRPr kumimoji="0" lang="en-US" altLang="zh-CN" sz="2800" b="1" dirty="0">
              <a:solidFill>
                <a:schemeClr val="bg2"/>
              </a:solidFill>
            </a:endParaRPr>
          </a:p>
          <a:p>
            <a:pPr algn="l">
              <a:lnSpc>
                <a:spcPct val="120000"/>
              </a:lnSpc>
            </a:pPr>
            <a:r>
              <a:rPr kumimoji="0" lang="en-US" altLang="zh-CN" sz="2800" b="1" dirty="0">
                <a:solidFill>
                  <a:schemeClr val="bg2"/>
                </a:solidFill>
              </a:rPr>
              <a:t>              (2) (</a:t>
            </a:r>
            <a:r>
              <a:rPr kumimoji="0" lang="en-US" altLang="zh-CN" sz="2800" b="1" dirty="0">
                <a:solidFill>
                  <a:schemeClr val="bg2"/>
                </a:solidFill>
                <a:sym typeface="Symbol" pitchFamily="18" charset="2"/>
              </a:rPr>
              <a:t></a:t>
            </a:r>
            <a:r>
              <a:rPr kumimoji="0" lang="en-US" altLang="zh-CN" sz="2800" b="1" dirty="0">
                <a:solidFill>
                  <a:schemeClr val="bg2"/>
                </a:solidFill>
              </a:rPr>
              <a:t>y)G(</a:t>
            </a:r>
            <a:r>
              <a:rPr kumimoji="0" lang="en-US" altLang="zh-CN" sz="2800" b="1" dirty="0" err="1">
                <a:solidFill>
                  <a:schemeClr val="bg2"/>
                </a:solidFill>
              </a:rPr>
              <a:t>c,y</a:t>
            </a:r>
            <a:r>
              <a:rPr kumimoji="0" lang="en-US" altLang="zh-CN" sz="2800" b="1" dirty="0">
                <a:solidFill>
                  <a:schemeClr val="bg2"/>
                </a:solidFill>
              </a:rPr>
              <a:t>)      </a:t>
            </a:r>
            <a:r>
              <a:rPr kumimoji="0" lang="en-US" altLang="zh-CN" sz="2800" b="1" dirty="0" smtClean="0">
                <a:solidFill>
                  <a:schemeClr val="bg2"/>
                </a:solidFill>
              </a:rPr>
              <a:t>	US(1</a:t>
            </a:r>
            <a:r>
              <a:rPr kumimoji="0" lang="en-US" altLang="zh-CN" sz="2800" b="1" dirty="0">
                <a:solidFill>
                  <a:schemeClr val="bg2"/>
                </a:solidFill>
              </a:rPr>
              <a:t>)  </a:t>
            </a:r>
          </a:p>
          <a:p>
            <a:pPr algn="l">
              <a:lnSpc>
                <a:spcPct val="120000"/>
              </a:lnSpc>
            </a:pPr>
            <a:r>
              <a:rPr kumimoji="0" lang="en-US" altLang="zh-CN" sz="2800" b="1" dirty="0">
                <a:solidFill>
                  <a:schemeClr val="bg2"/>
                </a:solidFill>
              </a:rPr>
              <a:t>              (3) G(</a:t>
            </a:r>
            <a:r>
              <a:rPr kumimoji="0" lang="en-US" altLang="zh-CN" sz="2800" b="1" dirty="0" err="1">
                <a:solidFill>
                  <a:schemeClr val="bg2"/>
                </a:solidFill>
              </a:rPr>
              <a:t>c,a</a:t>
            </a:r>
            <a:r>
              <a:rPr kumimoji="0" lang="en-US" altLang="zh-CN" sz="2800" b="1" dirty="0">
                <a:solidFill>
                  <a:schemeClr val="bg2"/>
                </a:solidFill>
              </a:rPr>
              <a:t>)            </a:t>
            </a:r>
            <a:r>
              <a:rPr kumimoji="0" lang="en-US" altLang="zh-CN" sz="2800" b="1" dirty="0" smtClean="0">
                <a:solidFill>
                  <a:schemeClr val="bg2"/>
                </a:solidFill>
              </a:rPr>
              <a:t>	ES(2</a:t>
            </a:r>
            <a:r>
              <a:rPr kumimoji="0" lang="en-US" altLang="zh-CN" sz="2800" b="1" dirty="0">
                <a:solidFill>
                  <a:schemeClr val="bg2"/>
                </a:solidFill>
              </a:rPr>
              <a:t>) </a:t>
            </a:r>
          </a:p>
          <a:p>
            <a:pPr algn="l">
              <a:lnSpc>
                <a:spcPct val="120000"/>
              </a:lnSpc>
            </a:pPr>
            <a:r>
              <a:rPr kumimoji="0" lang="en-US" altLang="zh-CN" sz="2800" b="1" dirty="0">
                <a:solidFill>
                  <a:schemeClr val="bg2"/>
                </a:solidFill>
              </a:rPr>
              <a:t>              (4) (</a:t>
            </a:r>
            <a:r>
              <a:rPr kumimoji="0" lang="en-US" altLang="zh-CN" sz="2800" b="1" dirty="0">
                <a:solidFill>
                  <a:schemeClr val="bg2"/>
                </a:solidFill>
                <a:sym typeface="Symbol" pitchFamily="18" charset="2"/>
              </a:rPr>
              <a:t></a:t>
            </a:r>
            <a:r>
              <a:rPr kumimoji="0" lang="en-US" altLang="zh-CN" sz="2800" b="1" dirty="0">
                <a:solidFill>
                  <a:schemeClr val="bg2"/>
                </a:solidFill>
              </a:rPr>
              <a:t>x)G(</a:t>
            </a:r>
            <a:r>
              <a:rPr kumimoji="0" lang="en-US" altLang="zh-CN" sz="2800" b="1" dirty="0" err="1">
                <a:solidFill>
                  <a:schemeClr val="bg2"/>
                </a:solidFill>
              </a:rPr>
              <a:t>x,a</a:t>
            </a:r>
            <a:r>
              <a:rPr kumimoji="0" lang="en-US" altLang="zh-CN" sz="2800" b="1" dirty="0">
                <a:solidFill>
                  <a:schemeClr val="bg2"/>
                </a:solidFill>
              </a:rPr>
              <a:t>)      </a:t>
            </a:r>
            <a:r>
              <a:rPr kumimoji="0" lang="en-US" altLang="zh-CN" sz="2800" b="1" dirty="0" smtClean="0">
                <a:solidFill>
                  <a:schemeClr val="bg2"/>
                </a:solidFill>
              </a:rPr>
              <a:t>	UG(3</a:t>
            </a:r>
            <a:r>
              <a:rPr kumimoji="0" lang="en-US" altLang="zh-CN" sz="2800" b="1" dirty="0">
                <a:solidFill>
                  <a:schemeClr val="bg2"/>
                </a:solidFill>
              </a:rPr>
              <a:t>)</a:t>
            </a:r>
          </a:p>
          <a:p>
            <a:pPr algn="l">
              <a:lnSpc>
                <a:spcPct val="120000"/>
              </a:lnSpc>
            </a:pPr>
            <a:r>
              <a:rPr kumimoji="0" lang="en-US" altLang="zh-CN" sz="2800" b="1" dirty="0">
                <a:solidFill>
                  <a:schemeClr val="bg2"/>
                </a:solidFill>
              </a:rPr>
              <a:t>              (5) (</a:t>
            </a:r>
            <a:r>
              <a:rPr kumimoji="0" lang="en-US" altLang="zh-CN" sz="2800" b="1" dirty="0">
                <a:solidFill>
                  <a:schemeClr val="bg2"/>
                </a:solidFill>
                <a:sym typeface="Symbol" pitchFamily="18" charset="2"/>
              </a:rPr>
              <a:t></a:t>
            </a:r>
            <a:r>
              <a:rPr kumimoji="0" lang="en-US" altLang="zh-CN" sz="2800" b="1" dirty="0">
                <a:solidFill>
                  <a:schemeClr val="bg2"/>
                </a:solidFill>
              </a:rPr>
              <a:t>y)(</a:t>
            </a:r>
            <a:r>
              <a:rPr kumimoji="0" lang="en-US" altLang="zh-CN" sz="2800" b="1" dirty="0">
                <a:solidFill>
                  <a:schemeClr val="bg2"/>
                </a:solidFill>
                <a:sym typeface="Symbol" pitchFamily="18" charset="2"/>
              </a:rPr>
              <a:t></a:t>
            </a:r>
            <a:r>
              <a:rPr kumimoji="0" lang="en-US" altLang="zh-CN" sz="2800" b="1" dirty="0">
                <a:solidFill>
                  <a:schemeClr val="bg2"/>
                </a:solidFill>
              </a:rPr>
              <a:t>x)G(</a:t>
            </a:r>
            <a:r>
              <a:rPr kumimoji="0" lang="en-US" altLang="zh-CN" sz="2800" b="1" dirty="0" err="1">
                <a:solidFill>
                  <a:schemeClr val="bg2"/>
                </a:solidFill>
              </a:rPr>
              <a:t>x,y</a:t>
            </a:r>
            <a:r>
              <a:rPr kumimoji="0" lang="en-US" altLang="zh-CN" sz="2800" b="1" dirty="0" smtClean="0">
                <a:solidFill>
                  <a:schemeClr val="bg2"/>
                </a:solidFill>
              </a:rPr>
              <a:t>)	EG(4</a:t>
            </a:r>
            <a:r>
              <a:rPr kumimoji="0" lang="en-US" altLang="zh-CN" sz="2800" b="1" dirty="0">
                <a:solidFill>
                  <a:schemeClr val="bg2"/>
                </a:solidFill>
              </a:rPr>
              <a:t>)</a:t>
            </a:r>
          </a:p>
          <a:p>
            <a:pPr algn="l">
              <a:lnSpc>
                <a:spcPct val="120000"/>
              </a:lnSpc>
            </a:pPr>
            <a:r>
              <a:rPr kumimoji="0" lang="zh-CN" altLang="en-US" sz="2800" b="1" dirty="0">
                <a:solidFill>
                  <a:schemeClr val="hlink"/>
                </a:solidFill>
              </a:rPr>
              <a:t>问题：推导过程是否正确？</a:t>
            </a:r>
          </a:p>
          <a:p>
            <a:pPr algn="l">
              <a:lnSpc>
                <a:spcPct val="120000"/>
              </a:lnSpc>
            </a:pPr>
            <a:r>
              <a:rPr kumimoji="0" lang="zh-CN" altLang="en-US" sz="2800" b="1" dirty="0">
                <a:sym typeface="Symbol" pitchFamily="18" charset="2"/>
              </a:rPr>
              <a:t>说明：</a:t>
            </a:r>
            <a:r>
              <a:rPr kumimoji="0" lang="en-US" altLang="zh-CN" sz="2800" b="1" dirty="0">
                <a:sym typeface="Symbol" pitchFamily="18" charset="2"/>
              </a:rPr>
              <a:t>(1)c</a:t>
            </a:r>
            <a:r>
              <a:rPr kumimoji="0" lang="zh-CN" altLang="en-US" sz="2800" b="1" dirty="0">
                <a:sym typeface="Symbol" pitchFamily="18" charset="2"/>
              </a:rPr>
              <a:t>取遍所有个体均有</a:t>
            </a:r>
            <a:r>
              <a:rPr kumimoji="0" lang="en-US" altLang="zh-CN" sz="2800" b="1" dirty="0">
                <a:sym typeface="Symbol" pitchFamily="18" charset="2"/>
              </a:rPr>
              <a:t>A(c)</a:t>
            </a:r>
            <a:r>
              <a:rPr kumimoji="0" lang="zh-CN" altLang="en-US" sz="2800" b="1" dirty="0">
                <a:sym typeface="Symbol" pitchFamily="18" charset="2"/>
              </a:rPr>
              <a:t>为真。</a:t>
            </a:r>
          </a:p>
          <a:p>
            <a:pPr algn="l">
              <a:lnSpc>
                <a:spcPct val="120000"/>
              </a:lnSpc>
            </a:pPr>
            <a:r>
              <a:rPr kumimoji="0" lang="en-US" altLang="zh-CN" sz="2800" b="1" dirty="0">
                <a:sym typeface="Symbol" pitchFamily="18" charset="2"/>
              </a:rPr>
              <a:t>(2)</a:t>
            </a:r>
            <a:r>
              <a:rPr kumimoji="0" lang="zh-CN" altLang="en-US" sz="2800" b="1" dirty="0">
                <a:sym typeface="Symbol" pitchFamily="18" charset="2"/>
              </a:rPr>
              <a:t>取代的</a:t>
            </a:r>
            <a:r>
              <a:rPr kumimoji="0" lang="en-US" altLang="zh-CN" sz="2800" b="1" dirty="0">
                <a:sym typeface="Symbol" pitchFamily="18" charset="2"/>
              </a:rPr>
              <a:t>c</a:t>
            </a:r>
            <a:r>
              <a:rPr kumimoji="0" lang="zh-CN" altLang="en-US" sz="2800" b="1" dirty="0">
                <a:sym typeface="Symbol" pitchFamily="18" charset="2"/>
              </a:rPr>
              <a:t>的</a:t>
            </a:r>
            <a:r>
              <a:rPr kumimoji="0" lang="en-US" altLang="zh-CN" sz="2800" b="1" dirty="0">
                <a:sym typeface="Symbol" pitchFamily="18" charset="2"/>
              </a:rPr>
              <a:t>x</a:t>
            </a:r>
            <a:r>
              <a:rPr kumimoji="0" lang="zh-CN" altLang="en-US" sz="2800" b="1" dirty="0">
                <a:sym typeface="Symbol" pitchFamily="18" charset="2"/>
              </a:rPr>
              <a:t>也不能在</a:t>
            </a:r>
            <a:r>
              <a:rPr kumimoji="0" lang="en-US" altLang="zh-CN" sz="2800" b="1" dirty="0">
                <a:sym typeface="Symbol" pitchFamily="18" charset="2"/>
              </a:rPr>
              <a:t>A</a:t>
            </a:r>
            <a:r>
              <a:rPr kumimoji="0" lang="zh-CN" altLang="en-US" sz="2800" b="1" dirty="0">
                <a:sym typeface="Symbol" pitchFamily="18" charset="2"/>
              </a:rPr>
              <a:t>中约束出现。</a:t>
            </a:r>
          </a:p>
          <a:p>
            <a:pPr algn="l">
              <a:lnSpc>
                <a:spcPct val="120000"/>
              </a:lnSpc>
            </a:pPr>
            <a:r>
              <a:rPr kumimoji="0" lang="zh-CN" altLang="en-US" sz="2800" b="1" dirty="0">
                <a:solidFill>
                  <a:schemeClr val="hlink"/>
                </a:solidFill>
                <a:sym typeface="Symbol" pitchFamily="18" charset="2"/>
              </a:rPr>
              <a:t>如：</a:t>
            </a:r>
            <a:r>
              <a:rPr kumimoji="0" lang="zh-CN" altLang="en-US" sz="2800" b="1" dirty="0">
                <a:sym typeface="Symbol" pitchFamily="18" charset="2"/>
              </a:rPr>
              <a:t>      </a:t>
            </a:r>
            <a:r>
              <a:rPr kumimoji="0" lang="zh-CN" altLang="en-US" sz="2800" b="1" u="sng" dirty="0">
                <a:sym typeface="Symbol" pitchFamily="18" charset="2"/>
              </a:rPr>
              <a:t>     </a:t>
            </a:r>
            <a:r>
              <a:rPr kumimoji="0" lang="en-US" altLang="zh-CN" sz="2800" b="1" u="sng" dirty="0">
                <a:solidFill>
                  <a:schemeClr val="bg2"/>
                </a:solidFill>
              </a:rPr>
              <a:t>(</a:t>
            </a:r>
            <a:r>
              <a:rPr kumimoji="0" lang="en-US" altLang="zh-CN" sz="2800" b="1" u="sng" dirty="0">
                <a:solidFill>
                  <a:schemeClr val="bg2"/>
                </a:solidFill>
                <a:sym typeface="Symbol" pitchFamily="18" charset="2"/>
              </a:rPr>
              <a:t></a:t>
            </a:r>
            <a:r>
              <a:rPr kumimoji="0" lang="en-US" altLang="zh-CN" sz="2800" b="1" u="sng" dirty="0">
                <a:solidFill>
                  <a:schemeClr val="bg2"/>
                </a:solidFill>
              </a:rPr>
              <a:t>x)G(</a:t>
            </a:r>
            <a:r>
              <a:rPr kumimoji="0" lang="en-US" altLang="zh-CN" sz="2800" b="1" u="sng" dirty="0" err="1">
                <a:solidFill>
                  <a:schemeClr val="bg2"/>
                </a:solidFill>
              </a:rPr>
              <a:t>c,x</a:t>
            </a:r>
            <a:r>
              <a:rPr kumimoji="0" lang="en-US" altLang="zh-CN" sz="2800" b="1" u="sng" dirty="0">
                <a:solidFill>
                  <a:schemeClr val="bg2"/>
                </a:solidFill>
              </a:rPr>
              <a:t>)    </a:t>
            </a:r>
            <a:r>
              <a:rPr kumimoji="0" lang="en-US" altLang="zh-CN" sz="2800" b="1" dirty="0">
                <a:solidFill>
                  <a:schemeClr val="bg1"/>
                </a:solidFill>
              </a:rPr>
              <a:t>0</a:t>
            </a:r>
            <a:r>
              <a:rPr kumimoji="0" lang="en-US" altLang="zh-CN" sz="2800" b="1" dirty="0">
                <a:solidFill>
                  <a:schemeClr val="bg2"/>
                </a:solidFill>
              </a:rPr>
              <a:t> </a:t>
            </a:r>
          </a:p>
          <a:p>
            <a:pPr algn="l">
              <a:lnSpc>
                <a:spcPct val="80000"/>
              </a:lnSpc>
            </a:pPr>
            <a:r>
              <a:rPr kumimoji="0" lang="en-US" altLang="zh-CN" sz="2800" b="1" dirty="0">
                <a:solidFill>
                  <a:schemeClr val="bg2"/>
                </a:solidFill>
              </a:rPr>
              <a:t>               (</a:t>
            </a:r>
            <a:r>
              <a:rPr kumimoji="0" lang="en-US" altLang="zh-CN" sz="2800" b="1" dirty="0">
                <a:solidFill>
                  <a:schemeClr val="bg2"/>
                </a:solidFill>
                <a:sym typeface="Symbol" pitchFamily="18" charset="2"/>
              </a:rPr>
              <a:t></a:t>
            </a:r>
            <a:r>
              <a:rPr kumimoji="0" lang="en-US" altLang="zh-CN" sz="2800" b="1" dirty="0">
                <a:solidFill>
                  <a:schemeClr val="bg2"/>
                </a:solidFill>
              </a:rPr>
              <a:t>x)(</a:t>
            </a:r>
            <a:r>
              <a:rPr kumimoji="0" lang="en-US" altLang="zh-CN" sz="2800" b="1" dirty="0">
                <a:solidFill>
                  <a:schemeClr val="bg2"/>
                </a:solidFill>
                <a:sym typeface="Symbol" pitchFamily="18" charset="2"/>
              </a:rPr>
              <a:t></a:t>
            </a:r>
            <a:r>
              <a:rPr kumimoji="0" lang="en-US" altLang="zh-CN" sz="2800" b="1" dirty="0">
                <a:solidFill>
                  <a:schemeClr val="bg2"/>
                </a:solidFill>
              </a:rPr>
              <a:t>x)G(</a:t>
            </a:r>
            <a:r>
              <a:rPr kumimoji="0" lang="en-US" altLang="zh-CN" sz="2800" b="1" dirty="0" err="1">
                <a:solidFill>
                  <a:schemeClr val="bg2"/>
                </a:solidFill>
              </a:rPr>
              <a:t>x,x</a:t>
            </a:r>
            <a:r>
              <a:rPr kumimoji="0" lang="en-US" altLang="zh-CN" sz="2800" b="1" dirty="0">
                <a:solidFill>
                  <a:schemeClr val="bg2"/>
                </a:solidFill>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5506">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5506">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5506">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5506">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05506">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05506">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05506">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05506">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05506">
                                            <p:txEl>
                                              <p:pRg st="9" end="9"/>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05506">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7B96DCF8-16AA-4563-A89D-3001B5CDD675}" type="slidenum">
              <a:rPr lang="en-US" altLang="zh-CN"/>
              <a:pPr/>
              <a:t>87</a:t>
            </a:fld>
            <a:endParaRPr lang="en-US" altLang="zh-CN"/>
          </a:p>
        </p:txBody>
      </p:sp>
      <p:sp>
        <p:nvSpPr>
          <p:cNvPr id="406530" name="Rectangle 2"/>
          <p:cNvSpPr>
            <a:spLocks noChangeArrowheads="1"/>
          </p:cNvSpPr>
          <p:nvPr/>
        </p:nvSpPr>
        <p:spPr bwMode="auto">
          <a:xfrm>
            <a:off x="539750" y="1484313"/>
            <a:ext cx="7848600"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dirty="0" smtClean="0">
                <a:solidFill>
                  <a:schemeClr val="hlink"/>
                </a:solidFill>
              </a:rPr>
              <a:t>例</a:t>
            </a:r>
            <a:r>
              <a:rPr lang="en-US" altLang="zh-CN" sz="2800" b="1" dirty="0" smtClean="0">
                <a:solidFill>
                  <a:schemeClr val="hlink"/>
                </a:solidFill>
              </a:rPr>
              <a:t>5</a:t>
            </a:r>
            <a:r>
              <a:rPr lang="zh-CN" altLang="en-US" sz="2800" b="1" dirty="0" smtClean="0">
                <a:solidFill>
                  <a:schemeClr val="hlink"/>
                </a:solidFill>
              </a:rPr>
              <a:t>：</a:t>
            </a:r>
            <a:r>
              <a:rPr lang="zh-CN" altLang="en-US" sz="2800" b="1" dirty="0">
                <a:solidFill>
                  <a:schemeClr val="hlink"/>
                </a:solidFill>
              </a:rPr>
              <a:t>证明</a:t>
            </a:r>
            <a:r>
              <a:rPr lang="en-US" altLang="zh-CN" sz="2800" b="1" dirty="0">
                <a:sym typeface="Symbol" pitchFamily="18" charset="2"/>
              </a:rPr>
              <a:t>(x)</a:t>
            </a:r>
            <a:r>
              <a:rPr lang="en-US" altLang="zh-CN" sz="2800" b="1" dirty="0">
                <a:solidFill>
                  <a:schemeClr val="hlink"/>
                </a:solidFill>
                <a:sym typeface="Symbol" pitchFamily="18" charset="2"/>
              </a:rPr>
              <a:t>(</a:t>
            </a:r>
            <a:r>
              <a:rPr lang="en-US" altLang="zh-CN" sz="2800" b="1" dirty="0">
                <a:sym typeface="Symbol" pitchFamily="18" charset="2"/>
              </a:rPr>
              <a:t>A(x)B(x)</a:t>
            </a:r>
            <a:r>
              <a:rPr lang="en-US" altLang="zh-CN" sz="2800" b="1" dirty="0">
                <a:solidFill>
                  <a:schemeClr val="hlink"/>
                </a:solidFill>
                <a:sym typeface="Symbol" pitchFamily="18" charset="2"/>
              </a:rPr>
              <a:t>)</a:t>
            </a:r>
            <a:r>
              <a:rPr lang="en-US" altLang="zh-CN" sz="2800" b="1" dirty="0">
                <a:sym typeface="Symbol" pitchFamily="18" charset="2"/>
              </a:rPr>
              <a:t>∧(x)A(x)(x)B(x)</a:t>
            </a:r>
          </a:p>
          <a:p>
            <a:pPr algn="l">
              <a:lnSpc>
                <a:spcPct val="120000"/>
              </a:lnSpc>
            </a:pPr>
            <a:r>
              <a:rPr lang="zh-CN" altLang="en-US" sz="2800" b="1" dirty="0">
                <a:sym typeface="Symbol" pitchFamily="18" charset="2"/>
              </a:rPr>
              <a:t>证明</a:t>
            </a:r>
            <a:r>
              <a:rPr lang="zh-CN" altLang="en-US" sz="2800" b="1" dirty="0">
                <a:sym typeface="Wingdings" pitchFamily="2" charset="2"/>
              </a:rPr>
              <a:t>：</a:t>
            </a:r>
            <a:r>
              <a:rPr lang="en-US" altLang="zh-CN" sz="2800" b="1" dirty="0">
                <a:sym typeface="Wingdings" pitchFamily="2" charset="2"/>
              </a:rPr>
              <a:t>(1) </a:t>
            </a:r>
            <a:r>
              <a:rPr lang="en-US" altLang="zh-CN" sz="2800" b="1" dirty="0">
                <a:sym typeface="Symbol" pitchFamily="18" charset="2"/>
              </a:rPr>
              <a:t>(x)A(x)           </a:t>
            </a:r>
            <a:r>
              <a:rPr lang="en-US" altLang="zh-CN" sz="2800" b="1" dirty="0" smtClean="0">
                <a:sym typeface="Symbol" pitchFamily="18" charset="2"/>
              </a:rPr>
              <a:t>		P</a:t>
            </a:r>
            <a:endParaRPr lang="en-US" altLang="zh-CN" sz="2800" b="1" dirty="0">
              <a:sym typeface="Symbol" pitchFamily="18" charset="2"/>
            </a:endParaRPr>
          </a:p>
          <a:p>
            <a:pPr algn="l">
              <a:lnSpc>
                <a:spcPct val="120000"/>
              </a:lnSpc>
            </a:pPr>
            <a:r>
              <a:rPr lang="en-US" altLang="zh-CN" sz="2800" b="1" dirty="0">
                <a:sym typeface="Symbol" pitchFamily="18" charset="2"/>
              </a:rPr>
              <a:t>            (2) A(c)                                 </a:t>
            </a:r>
            <a:r>
              <a:rPr lang="en-US" altLang="zh-CN" sz="2800" b="1" dirty="0" smtClean="0">
                <a:sym typeface="Symbol" pitchFamily="18" charset="2"/>
              </a:rPr>
              <a:t>	ES</a:t>
            </a:r>
            <a:r>
              <a:rPr lang="en-US" altLang="zh-CN" sz="2800" b="1" dirty="0" smtClean="0">
                <a:sym typeface="Wingdings" pitchFamily="2" charset="2"/>
              </a:rPr>
              <a:t>(1</a:t>
            </a:r>
            <a:r>
              <a:rPr lang="en-US" altLang="zh-CN" sz="2800" b="1" dirty="0">
                <a:sym typeface="Wingdings" pitchFamily="2" charset="2"/>
              </a:rPr>
              <a:t>)</a:t>
            </a:r>
            <a:r>
              <a:rPr lang="en-US" altLang="zh-CN" sz="2800" b="1" dirty="0">
                <a:sym typeface="Symbol" pitchFamily="18" charset="2"/>
              </a:rPr>
              <a:t> </a:t>
            </a:r>
            <a:endParaRPr lang="en-US" altLang="zh-CN" sz="2800" b="1" dirty="0"/>
          </a:p>
          <a:p>
            <a:pPr algn="l">
              <a:lnSpc>
                <a:spcPct val="120000"/>
              </a:lnSpc>
            </a:pPr>
            <a:r>
              <a:rPr lang="en-US" altLang="zh-CN" sz="2800" b="1" dirty="0">
                <a:sym typeface="Symbol" pitchFamily="18" charset="2"/>
              </a:rPr>
              <a:t>            (3) (x)(A(x)B(x))           </a:t>
            </a:r>
            <a:r>
              <a:rPr lang="en-US" altLang="zh-CN" sz="2800" b="1" dirty="0" smtClean="0">
                <a:sym typeface="Symbol" pitchFamily="18" charset="2"/>
              </a:rPr>
              <a:t>	P</a:t>
            </a:r>
            <a:endParaRPr lang="en-US" altLang="zh-CN" sz="2800" b="1" dirty="0">
              <a:sym typeface="Symbol" pitchFamily="18" charset="2"/>
            </a:endParaRPr>
          </a:p>
          <a:p>
            <a:pPr algn="l">
              <a:lnSpc>
                <a:spcPct val="120000"/>
              </a:lnSpc>
            </a:pPr>
            <a:r>
              <a:rPr lang="en-US" altLang="zh-CN" sz="2800" b="1" dirty="0">
                <a:sym typeface="Symbol" pitchFamily="18" charset="2"/>
              </a:rPr>
              <a:t>            (4) A(c)B(c)                      </a:t>
            </a:r>
            <a:r>
              <a:rPr lang="en-US" altLang="zh-CN" sz="2800" b="1" dirty="0" smtClean="0">
                <a:sym typeface="Symbol" pitchFamily="18" charset="2"/>
              </a:rPr>
              <a:t>	US(3</a:t>
            </a:r>
            <a:r>
              <a:rPr lang="en-US" altLang="zh-CN" sz="2800" b="1" dirty="0">
                <a:sym typeface="Symbol" pitchFamily="18" charset="2"/>
              </a:rPr>
              <a:t>) </a:t>
            </a:r>
            <a:endParaRPr lang="en-US" altLang="zh-CN" sz="2800" b="1" dirty="0"/>
          </a:p>
          <a:p>
            <a:pPr algn="l">
              <a:lnSpc>
                <a:spcPct val="120000"/>
              </a:lnSpc>
            </a:pPr>
            <a:r>
              <a:rPr lang="en-US" altLang="zh-CN" sz="2800" b="1" dirty="0">
                <a:sym typeface="Symbol" pitchFamily="18" charset="2"/>
              </a:rPr>
              <a:t>            (5) B(c) </a:t>
            </a:r>
            <a:r>
              <a:rPr lang="en-US" altLang="zh-CN" sz="2800" b="1" dirty="0"/>
              <a:t>                                </a:t>
            </a:r>
            <a:r>
              <a:rPr lang="en-US" altLang="zh-CN" sz="2800" b="1" dirty="0" smtClean="0"/>
              <a:t>	T</a:t>
            </a:r>
            <a:r>
              <a:rPr lang="en-US" altLang="zh-CN" sz="2800" b="1" dirty="0" smtClean="0">
                <a:sym typeface="Symbol" pitchFamily="18" charset="2"/>
              </a:rPr>
              <a:t>(2</a:t>
            </a:r>
            <a:r>
              <a:rPr lang="en-US" altLang="zh-CN" sz="2800" b="1" dirty="0">
                <a:sym typeface="Symbol" pitchFamily="18" charset="2"/>
              </a:rPr>
              <a:t>), (4)I          </a:t>
            </a:r>
          </a:p>
          <a:p>
            <a:pPr algn="l">
              <a:lnSpc>
                <a:spcPct val="120000"/>
              </a:lnSpc>
            </a:pPr>
            <a:r>
              <a:rPr lang="en-US" altLang="zh-CN" sz="2800" b="1" dirty="0">
                <a:sym typeface="Symbol" pitchFamily="18" charset="2"/>
              </a:rPr>
              <a:t>            (6) (x)B(x)                          </a:t>
            </a:r>
            <a:r>
              <a:rPr lang="en-US" altLang="zh-CN" sz="2800" b="1" dirty="0" smtClean="0">
                <a:sym typeface="Symbol" pitchFamily="18" charset="2"/>
              </a:rPr>
              <a:t>	EG(5</a:t>
            </a:r>
            <a:r>
              <a:rPr lang="en-US" altLang="zh-CN" sz="2800" b="1" dirty="0">
                <a:sym typeface="Symbol" pitchFamily="18" charset="2"/>
              </a:rPr>
              <a:t>)</a:t>
            </a:r>
          </a:p>
          <a:p>
            <a:pPr algn="l">
              <a:lnSpc>
                <a:spcPct val="120000"/>
              </a:lnSpc>
            </a:pPr>
            <a:r>
              <a:rPr lang="zh-CN" altLang="en-US" sz="2800" b="1" dirty="0">
                <a:solidFill>
                  <a:schemeClr val="hlink"/>
                </a:solidFill>
                <a:sym typeface="Symbol" pitchFamily="18" charset="2"/>
              </a:rPr>
              <a:t>注意： </a:t>
            </a:r>
            <a:r>
              <a:rPr lang="en-US" altLang="zh-CN" sz="2800" b="1" dirty="0">
                <a:solidFill>
                  <a:schemeClr val="hlink"/>
                </a:solidFill>
                <a:sym typeface="Symbol" pitchFamily="18" charset="2"/>
              </a:rPr>
              <a:t>(2)(4)</a:t>
            </a:r>
            <a:r>
              <a:rPr lang="zh-CN" altLang="en-US" sz="2800" b="1" dirty="0">
                <a:solidFill>
                  <a:schemeClr val="hlink"/>
                </a:solidFill>
                <a:sym typeface="Symbol" pitchFamily="18" charset="2"/>
              </a:rPr>
              <a:t>引入的顺序不可更改！</a:t>
            </a:r>
            <a:r>
              <a:rPr lang="zh-CN" altLang="en-US" sz="2800" b="1" dirty="0">
                <a:sym typeface="Symbol" pitchFamily="18" charset="2"/>
              </a:rPr>
              <a:t> </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6530">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6530">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6530">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6530">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06530">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06530">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06530">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FE134CEA-0009-4DCA-8FAE-B54C74074FCC}" type="slidenum">
              <a:rPr lang="en-US" altLang="zh-CN"/>
              <a:pPr/>
              <a:t>88</a:t>
            </a:fld>
            <a:endParaRPr lang="en-US" altLang="zh-CN"/>
          </a:p>
        </p:txBody>
      </p:sp>
      <p:sp>
        <p:nvSpPr>
          <p:cNvPr id="440322" name="Rectangle 2"/>
          <p:cNvSpPr>
            <a:spLocks noChangeArrowheads="1"/>
          </p:cNvSpPr>
          <p:nvPr/>
        </p:nvSpPr>
        <p:spPr bwMode="auto">
          <a:xfrm>
            <a:off x="1114425" y="1196975"/>
            <a:ext cx="6697663" cy="47069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dirty="0">
                <a:solidFill>
                  <a:schemeClr val="hlink"/>
                </a:solidFill>
              </a:rPr>
              <a:t>练</a:t>
            </a:r>
            <a:r>
              <a:rPr lang="en-US" altLang="zh-CN" sz="2800" b="1" dirty="0">
                <a:solidFill>
                  <a:schemeClr val="hlink"/>
                </a:solidFill>
              </a:rPr>
              <a:t>1</a:t>
            </a:r>
            <a:r>
              <a:rPr lang="zh-CN" altLang="en-US" sz="2800" b="1" dirty="0">
                <a:solidFill>
                  <a:schemeClr val="hlink"/>
                </a:solidFill>
              </a:rPr>
              <a:t>：证明</a:t>
            </a:r>
          </a:p>
          <a:p>
            <a:pPr algn="l">
              <a:lnSpc>
                <a:spcPct val="120000"/>
              </a:lnSpc>
            </a:pPr>
            <a:r>
              <a:rPr lang="zh-CN" altLang="en-US" sz="2800" b="1" dirty="0">
                <a:solidFill>
                  <a:schemeClr val="hlink"/>
                </a:solidFill>
              </a:rPr>
              <a:t> </a:t>
            </a:r>
            <a:r>
              <a:rPr lang="en-US" altLang="zh-CN" sz="2800" b="1" dirty="0">
                <a:sym typeface="Symbol" pitchFamily="18" charset="2"/>
              </a:rPr>
              <a:t>(x)</a:t>
            </a:r>
            <a:r>
              <a:rPr lang="en-US" altLang="zh-CN" sz="2800" b="1" dirty="0">
                <a:solidFill>
                  <a:schemeClr val="hlink"/>
                </a:solidFill>
                <a:sym typeface="Symbol" pitchFamily="18" charset="2"/>
              </a:rPr>
              <a:t>(</a:t>
            </a:r>
            <a:r>
              <a:rPr lang="en-US" altLang="zh-CN" sz="2800" b="1" dirty="0">
                <a:sym typeface="Symbol" pitchFamily="18" charset="2"/>
              </a:rPr>
              <a:t>F(x)∨G(x)</a:t>
            </a:r>
            <a:r>
              <a:rPr lang="en-US" altLang="zh-CN" sz="2800" b="1" dirty="0">
                <a:solidFill>
                  <a:schemeClr val="hlink"/>
                </a:solidFill>
                <a:sym typeface="Symbol" pitchFamily="18" charset="2"/>
              </a:rPr>
              <a:t>)</a:t>
            </a:r>
            <a:r>
              <a:rPr lang="en-US" altLang="zh-CN" sz="2800" b="1" dirty="0">
                <a:sym typeface="Symbol" pitchFamily="18" charset="2"/>
              </a:rPr>
              <a:t>∧</a:t>
            </a:r>
            <a:r>
              <a:rPr lang="en-US" altLang="zh-CN" sz="2800" b="1" dirty="0">
                <a:latin typeface="宋体" charset="-122"/>
                <a:sym typeface="Wingdings" pitchFamily="2" charset="2"/>
              </a:rPr>
              <a:t>┐</a:t>
            </a:r>
            <a:r>
              <a:rPr lang="en-US" altLang="zh-CN" sz="2800" b="1" dirty="0">
                <a:sym typeface="Symbol" pitchFamily="18" charset="2"/>
              </a:rPr>
              <a:t>(x)G(x)(x)F(x)</a:t>
            </a:r>
            <a:endParaRPr lang="en-US" altLang="zh-CN" sz="2800" b="1" dirty="0"/>
          </a:p>
          <a:p>
            <a:pPr algn="l">
              <a:lnSpc>
                <a:spcPct val="120000"/>
              </a:lnSpc>
            </a:pPr>
            <a:r>
              <a:rPr lang="zh-CN" altLang="en-US" sz="2800" b="1" dirty="0">
                <a:sym typeface="Symbol" pitchFamily="18" charset="2"/>
              </a:rPr>
              <a:t>证明</a:t>
            </a:r>
            <a:r>
              <a:rPr lang="zh-CN" altLang="en-US" sz="2800" b="1" dirty="0">
                <a:sym typeface="Wingdings" pitchFamily="2" charset="2"/>
              </a:rPr>
              <a:t>：</a:t>
            </a:r>
            <a:r>
              <a:rPr lang="en-US" altLang="zh-CN" sz="2800" b="1" dirty="0">
                <a:sym typeface="Wingdings" pitchFamily="2" charset="2"/>
              </a:rPr>
              <a:t>(1) </a:t>
            </a:r>
            <a:r>
              <a:rPr lang="en-US" altLang="zh-CN" sz="2800" b="1" dirty="0">
                <a:latin typeface="宋体" charset="-122"/>
                <a:sym typeface="Wingdings" pitchFamily="2" charset="2"/>
              </a:rPr>
              <a:t>┐</a:t>
            </a:r>
            <a:r>
              <a:rPr lang="en-US" altLang="zh-CN" sz="2800" b="1" dirty="0">
                <a:sym typeface="Symbol" pitchFamily="18" charset="2"/>
              </a:rPr>
              <a:t>(x)G(x)              </a:t>
            </a:r>
            <a:r>
              <a:rPr lang="en-US" altLang="zh-CN" sz="2800" b="1" dirty="0" smtClean="0">
                <a:sym typeface="Symbol" pitchFamily="18" charset="2"/>
              </a:rPr>
              <a:t>	P</a:t>
            </a:r>
            <a:endParaRPr lang="en-US" altLang="zh-CN" sz="2800" b="1" dirty="0">
              <a:sym typeface="Symbol" pitchFamily="18" charset="2"/>
            </a:endParaRPr>
          </a:p>
          <a:p>
            <a:pPr algn="l">
              <a:lnSpc>
                <a:spcPct val="120000"/>
              </a:lnSpc>
            </a:pPr>
            <a:r>
              <a:rPr lang="en-US" altLang="zh-CN" sz="2800" b="1" dirty="0">
                <a:sym typeface="Symbol" pitchFamily="18" charset="2"/>
              </a:rPr>
              <a:t>            (2) (x)</a:t>
            </a:r>
            <a:r>
              <a:rPr lang="en-US" altLang="zh-CN" sz="2800" b="1" dirty="0">
                <a:latin typeface="宋体" charset="-122"/>
                <a:sym typeface="Wingdings" pitchFamily="2" charset="2"/>
              </a:rPr>
              <a:t>┐</a:t>
            </a:r>
            <a:r>
              <a:rPr lang="en-US" altLang="zh-CN" sz="2800" b="1" dirty="0">
                <a:sym typeface="Symbol" pitchFamily="18" charset="2"/>
              </a:rPr>
              <a:t>G(x)             </a:t>
            </a:r>
            <a:r>
              <a:rPr lang="en-US" altLang="zh-CN" sz="2800" b="1" dirty="0" smtClean="0">
                <a:sym typeface="Symbol" pitchFamily="18" charset="2"/>
              </a:rPr>
              <a:t>	T(1)E</a:t>
            </a:r>
            <a:endParaRPr lang="en-US" altLang="zh-CN" sz="2800" b="1" dirty="0"/>
          </a:p>
          <a:p>
            <a:pPr algn="l">
              <a:lnSpc>
                <a:spcPct val="120000"/>
              </a:lnSpc>
            </a:pPr>
            <a:r>
              <a:rPr lang="en-US" altLang="zh-CN" sz="2800" b="1" dirty="0">
                <a:sym typeface="Symbol" pitchFamily="18" charset="2"/>
              </a:rPr>
              <a:t>            (3) </a:t>
            </a:r>
            <a:r>
              <a:rPr lang="en-US" altLang="zh-CN" sz="2800" b="1" dirty="0">
                <a:latin typeface="宋体" charset="-122"/>
                <a:sym typeface="Wingdings" pitchFamily="2" charset="2"/>
              </a:rPr>
              <a:t>┐</a:t>
            </a:r>
            <a:r>
              <a:rPr lang="en-US" altLang="zh-CN" sz="2800" b="1" dirty="0">
                <a:sym typeface="Symbol" pitchFamily="18" charset="2"/>
              </a:rPr>
              <a:t>G(a)                     </a:t>
            </a:r>
            <a:r>
              <a:rPr lang="en-US" altLang="zh-CN" sz="2800" b="1" dirty="0" smtClean="0">
                <a:sym typeface="Symbol" pitchFamily="18" charset="2"/>
              </a:rPr>
              <a:t>	US(2</a:t>
            </a:r>
            <a:r>
              <a:rPr lang="en-US" altLang="zh-CN" sz="2800" b="1" dirty="0">
                <a:sym typeface="Symbol" pitchFamily="18" charset="2"/>
              </a:rPr>
              <a:t>)</a:t>
            </a:r>
            <a:endParaRPr lang="en-US" altLang="zh-CN" sz="2800" b="1" dirty="0"/>
          </a:p>
          <a:p>
            <a:pPr algn="l">
              <a:lnSpc>
                <a:spcPct val="120000"/>
              </a:lnSpc>
            </a:pPr>
            <a:r>
              <a:rPr lang="en-US" altLang="zh-CN" sz="2800" b="1" dirty="0">
                <a:sym typeface="Symbol" pitchFamily="18" charset="2"/>
              </a:rPr>
              <a:t>            (4) (x)(F(x)∨G(x))    </a:t>
            </a:r>
            <a:r>
              <a:rPr lang="en-US" altLang="zh-CN" sz="2800" b="1" dirty="0" smtClean="0">
                <a:sym typeface="Symbol" pitchFamily="18" charset="2"/>
              </a:rPr>
              <a:t>	P</a:t>
            </a:r>
            <a:endParaRPr lang="en-US" altLang="zh-CN" sz="2800" b="1" dirty="0"/>
          </a:p>
          <a:p>
            <a:pPr algn="l">
              <a:lnSpc>
                <a:spcPct val="120000"/>
              </a:lnSpc>
            </a:pPr>
            <a:r>
              <a:rPr lang="en-US" altLang="zh-CN" sz="2800" b="1" dirty="0">
                <a:sym typeface="Symbol" pitchFamily="18" charset="2"/>
              </a:rPr>
              <a:t>            (5) F(a)∨G(a)             </a:t>
            </a:r>
            <a:r>
              <a:rPr lang="en-US" altLang="zh-CN" sz="2800" b="1" dirty="0" smtClean="0">
                <a:sym typeface="Symbol" pitchFamily="18" charset="2"/>
              </a:rPr>
              <a:t>	US(4</a:t>
            </a:r>
            <a:r>
              <a:rPr lang="en-US" altLang="zh-CN" sz="2800" b="1" dirty="0">
                <a:sym typeface="Symbol" pitchFamily="18" charset="2"/>
              </a:rPr>
              <a:t>)</a:t>
            </a:r>
          </a:p>
          <a:p>
            <a:pPr algn="l">
              <a:lnSpc>
                <a:spcPct val="120000"/>
              </a:lnSpc>
            </a:pPr>
            <a:r>
              <a:rPr lang="en-US" altLang="zh-CN" sz="2800" b="1" dirty="0">
                <a:sym typeface="Symbol" pitchFamily="18" charset="2"/>
              </a:rPr>
              <a:t>            (6) F(a)                          </a:t>
            </a:r>
            <a:r>
              <a:rPr lang="en-US" altLang="zh-CN" sz="2800" b="1" dirty="0" smtClean="0">
                <a:sym typeface="Symbol" pitchFamily="18" charset="2"/>
              </a:rPr>
              <a:t>	T(3</a:t>
            </a:r>
            <a:r>
              <a:rPr lang="en-US" altLang="zh-CN" sz="2800" b="1" dirty="0">
                <a:sym typeface="Symbol" pitchFamily="18" charset="2"/>
              </a:rPr>
              <a:t>), (5)I</a:t>
            </a:r>
          </a:p>
          <a:p>
            <a:pPr algn="l">
              <a:lnSpc>
                <a:spcPct val="120000"/>
              </a:lnSpc>
            </a:pPr>
            <a:r>
              <a:rPr lang="en-US" altLang="zh-CN" sz="2800" b="1" dirty="0">
                <a:sym typeface="Symbol" pitchFamily="18" charset="2"/>
              </a:rPr>
              <a:t>            (7) (x)F(x)</a:t>
            </a:r>
            <a:r>
              <a:rPr lang="en-US" altLang="zh-CN" sz="2800" b="1" dirty="0"/>
              <a:t>                   </a:t>
            </a:r>
            <a:r>
              <a:rPr lang="en-US" altLang="zh-CN" sz="2800" b="1" dirty="0" smtClean="0"/>
              <a:t>	EG</a:t>
            </a:r>
            <a:r>
              <a:rPr lang="en-US" altLang="zh-CN" sz="2800" b="1" dirty="0" smtClean="0">
                <a:sym typeface="Symbol" pitchFamily="18" charset="2"/>
              </a:rPr>
              <a:t>(6</a:t>
            </a:r>
            <a:r>
              <a:rPr lang="en-US" altLang="zh-CN" sz="2800" b="1" dirty="0">
                <a:sym typeface="Symbol" pitchFamily="18" charset="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2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032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032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0322">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0322">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0322">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4032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265B5187-6372-4DF5-B8F1-68F72429E63D}" type="slidenum">
              <a:rPr lang="en-US" altLang="zh-CN"/>
              <a:pPr/>
              <a:t>89</a:t>
            </a:fld>
            <a:endParaRPr lang="en-US" altLang="zh-CN"/>
          </a:p>
        </p:txBody>
      </p:sp>
      <p:sp>
        <p:nvSpPr>
          <p:cNvPr id="441346" name="Rectangle 2"/>
          <p:cNvSpPr>
            <a:spLocks noChangeArrowheads="1"/>
          </p:cNvSpPr>
          <p:nvPr/>
        </p:nvSpPr>
        <p:spPr bwMode="auto">
          <a:xfrm>
            <a:off x="1116013" y="692150"/>
            <a:ext cx="7056437"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dirty="0">
                <a:solidFill>
                  <a:schemeClr val="hlink"/>
                </a:solidFill>
              </a:rPr>
              <a:t>练</a:t>
            </a:r>
            <a:r>
              <a:rPr lang="en-US" altLang="zh-CN" sz="2800" b="1" dirty="0">
                <a:solidFill>
                  <a:schemeClr val="hlink"/>
                </a:solidFill>
              </a:rPr>
              <a:t>2</a:t>
            </a:r>
            <a:r>
              <a:rPr lang="zh-CN" altLang="en-US" sz="2800" b="1" dirty="0">
                <a:solidFill>
                  <a:schemeClr val="hlink"/>
                </a:solidFill>
              </a:rPr>
              <a:t>：指出下面证明中的错误。</a:t>
            </a:r>
          </a:p>
          <a:p>
            <a:pPr algn="l">
              <a:lnSpc>
                <a:spcPct val="120000"/>
              </a:lnSpc>
            </a:pPr>
            <a:r>
              <a:rPr lang="zh-CN" altLang="en-US" sz="2800" b="1" dirty="0">
                <a:solidFill>
                  <a:schemeClr val="hlink"/>
                </a:solidFill>
                <a:sym typeface="Symbol" pitchFamily="18" charset="2"/>
              </a:rPr>
              <a:t>证明：</a:t>
            </a:r>
            <a:r>
              <a:rPr lang="en-US" altLang="zh-CN" sz="2800" b="1" dirty="0">
                <a:sym typeface="Symbol" pitchFamily="18" charset="2"/>
              </a:rPr>
              <a:t>(1)(x) (F(x)G(x))  </a:t>
            </a:r>
            <a:r>
              <a:rPr lang="en-US" altLang="zh-CN" sz="2800" b="1" dirty="0" smtClean="0">
                <a:sym typeface="Symbol" pitchFamily="18" charset="2"/>
              </a:rPr>
              <a:t>	</a:t>
            </a:r>
            <a:r>
              <a:rPr lang="en-US" altLang="zh-CN" sz="2800" b="1" dirty="0" smtClean="0"/>
              <a:t>P</a:t>
            </a:r>
            <a:endParaRPr lang="en-US" altLang="zh-CN" sz="2800" b="1" dirty="0">
              <a:sym typeface="Symbol" pitchFamily="18" charset="2"/>
            </a:endParaRPr>
          </a:p>
          <a:p>
            <a:pPr algn="l">
              <a:lnSpc>
                <a:spcPct val="120000"/>
              </a:lnSpc>
            </a:pPr>
            <a:r>
              <a:rPr lang="en-US" altLang="zh-CN" sz="2800" b="1" dirty="0">
                <a:sym typeface="Symbol" pitchFamily="18" charset="2"/>
              </a:rPr>
              <a:t>            (2)F(y)G(y)            </a:t>
            </a:r>
            <a:r>
              <a:rPr lang="en-US" altLang="zh-CN" sz="2800" b="1" dirty="0" smtClean="0">
                <a:sym typeface="Symbol" pitchFamily="18" charset="2"/>
              </a:rPr>
              <a:t>	US(1</a:t>
            </a:r>
            <a:r>
              <a:rPr lang="en-US" altLang="zh-CN" sz="2800" b="1" dirty="0">
                <a:sym typeface="Symbol" pitchFamily="18" charset="2"/>
              </a:rPr>
              <a:t>)</a:t>
            </a:r>
            <a:endParaRPr lang="en-US" altLang="zh-CN" sz="2800" b="1" dirty="0"/>
          </a:p>
          <a:p>
            <a:pPr algn="l">
              <a:lnSpc>
                <a:spcPct val="120000"/>
              </a:lnSpc>
            </a:pPr>
            <a:r>
              <a:rPr lang="en-US" altLang="zh-CN" sz="2800" b="1" dirty="0">
                <a:sym typeface="Symbol" pitchFamily="18" charset="2"/>
              </a:rPr>
              <a:t>            (3)(x)F(x)                    </a:t>
            </a:r>
            <a:r>
              <a:rPr lang="en-US" altLang="zh-CN" sz="2800" b="1" dirty="0" smtClean="0">
                <a:sym typeface="Symbol" pitchFamily="18" charset="2"/>
              </a:rPr>
              <a:t>	P</a:t>
            </a:r>
            <a:endParaRPr lang="en-US" altLang="zh-CN" sz="2800" b="1" dirty="0"/>
          </a:p>
          <a:p>
            <a:pPr algn="l">
              <a:lnSpc>
                <a:spcPct val="120000"/>
              </a:lnSpc>
            </a:pPr>
            <a:r>
              <a:rPr lang="en-US" altLang="zh-CN" sz="2800" b="1" dirty="0">
                <a:sym typeface="Symbol" pitchFamily="18" charset="2"/>
              </a:rPr>
              <a:t>            (4)F(y)                  </a:t>
            </a:r>
            <a:r>
              <a:rPr lang="en-US" altLang="zh-CN" sz="2800" b="1" dirty="0" smtClean="0">
                <a:sym typeface="Symbol" pitchFamily="18" charset="2"/>
              </a:rPr>
              <a:t>	ES(3</a:t>
            </a:r>
            <a:r>
              <a:rPr lang="en-US" altLang="zh-CN" sz="2800" b="1" dirty="0">
                <a:sym typeface="Symbol" pitchFamily="18" charset="2"/>
              </a:rPr>
              <a:t>)</a:t>
            </a:r>
            <a:endParaRPr lang="en-US" altLang="zh-CN" sz="2800" b="1" dirty="0"/>
          </a:p>
          <a:p>
            <a:pPr algn="l">
              <a:lnSpc>
                <a:spcPct val="120000"/>
              </a:lnSpc>
            </a:pPr>
            <a:r>
              <a:rPr lang="en-US" altLang="zh-CN" sz="2800" b="1" dirty="0">
                <a:sym typeface="Symbol" pitchFamily="18" charset="2"/>
              </a:rPr>
              <a:t>            (5)G(y)                   </a:t>
            </a:r>
            <a:r>
              <a:rPr lang="en-US" altLang="zh-CN" sz="2800" b="1" dirty="0" smtClean="0">
                <a:sym typeface="Symbol" pitchFamily="18" charset="2"/>
              </a:rPr>
              <a:t>	T(2</a:t>
            </a:r>
            <a:r>
              <a:rPr lang="en-US" altLang="zh-CN" sz="2800" b="1" dirty="0">
                <a:sym typeface="Symbol" pitchFamily="18" charset="2"/>
              </a:rPr>
              <a:t>), (4)E</a:t>
            </a:r>
          </a:p>
          <a:p>
            <a:pPr algn="l">
              <a:lnSpc>
                <a:spcPct val="120000"/>
              </a:lnSpc>
            </a:pPr>
            <a:r>
              <a:rPr lang="en-US" altLang="zh-CN" sz="2800" b="1" dirty="0">
                <a:sym typeface="Symbol" pitchFamily="18" charset="2"/>
              </a:rPr>
              <a:t>            (6)(x)G(x)          </a:t>
            </a:r>
            <a:r>
              <a:rPr lang="en-US" altLang="zh-CN" sz="2800" b="1" dirty="0" smtClean="0">
                <a:sym typeface="Symbol" pitchFamily="18" charset="2"/>
              </a:rPr>
              <a:t>	UG(5</a:t>
            </a:r>
            <a:r>
              <a:rPr lang="en-US" altLang="zh-CN" sz="2800" b="1" dirty="0">
                <a:sym typeface="Symbol" pitchFamily="18" charset="2"/>
              </a:rPr>
              <a:t>)</a:t>
            </a:r>
          </a:p>
          <a:p>
            <a:pPr algn="l">
              <a:lnSpc>
                <a:spcPct val="120000"/>
              </a:lnSpc>
            </a:pPr>
            <a:r>
              <a:rPr lang="zh-CN" altLang="en-US" sz="2800" b="1" dirty="0">
                <a:solidFill>
                  <a:schemeClr val="folHlink"/>
                </a:solidFill>
                <a:sym typeface="Symbol" pitchFamily="18" charset="2"/>
              </a:rPr>
              <a:t>对</a:t>
            </a:r>
            <a:r>
              <a:rPr lang="en-US" altLang="zh-CN" sz="2800" b="1" dirty="0">
                <a:solidFill>
                  <a:schemeClr val="folHlink"/>
                </a:solidFill>
                <a:sym typeface="Symbol" pitchFamily="18" charset="2"/>
              </a:rPr>
              <a:t>(x)F(x)</a:t>
            </a:r>
            <a:r>
              <a:rPr lang="zh-CN" altLang="en-US" sz="2800" b="1" dirty="0">
                <a:solidFill>
                  <a:schemeClr val="folHlink"/>
                </a:solidFill>
                <a:sym typeface="Symbol" pitchFamily="18" charset="2"/>
              </a:rPr>
              <a:t>消去量词时，要求用特定的个体常项取代</a:t>
            </a:r>
            <a:r>
              <a:rPr lang="en-US" altLang="zh-CN" sz="2800" b="1" dirty="0">
                <a:solidFill>
                  <a:schemeClr val="folHlink"/>
                </a:solidFill>
                <a:sym typeface="Symbol" pitchFamily="18" charset="2"/>
              </a:rPr>
              <a:t>x</a:t>
            </a:r>
            <a:r>
              <a:rPr lang="zh-CN" altLang="en-US" sz="2800" b="1" dirty="0">
                <a:solidFill>
                  <a:schemeClr val="folHlink"/>
                </a:solidFill>
                <a:sym typeface="Symbol" pitchFamily="18" charset="2"/>
              </a:rPr>
              <a:t>，而不能用变项</a:t>
            </a:r>
            <a:r>
              <a:rPr lang="en-US" altLang="zh-CN" sz="2800" b="1" dirty="0">
                <a:solidFill>
                  <a:schemeClr val="folHlink"/>
                </a:solidFill>
                <a:sym typeface="Symbol" pitchFamily="18" charset="2"/>
              </a:rPr>
              <a:t>y</a:t>
            </a:r>
            <a:r>
              <a:rPr lang="zh-CN" altLang="en-US" sz="2800" b="1" dirty="0">
                <a:solidFill>
                  <a:schemeClr val="folHlink"/>
                </a:solidFill>
                <a:sym typeface="Symbol" pitchFamily="18" charset="2"/>
              </a:rPr>
              <a:t>取代</a:t>
            </a:r>
            <a:r>
              <a:rPr lang="en-US" altLang="zh-CN" sz="2800" b="1" dirty="0">
                <a:solidFill>
                  <a:schemeClr val="folHlink"/>
                </a:solidFill>
                <a:sym typeface="Symbol" pitchFamily="18" charset="2"/>
              </a:rPr>
              <a:t>x</a:t>
            </a:r>
            <a:r>
              <a:rPr lang="zh-CN" altLang="en-US" sz="2800" b="1" dirty="0">
                <a:solidFill>
                  <a:schemeClr val="folHlink"/>
                </a:solidFill>
                <a:sym typeface="Symbol" pitchFamily="18" charset="2"/>
              </a:rPr>
              <a:t>，所以</a:t>
            </a:r>
            <a:r>
              <a:rPr lang="en-US" altLang="zh-CN" sz="2800" b="1" dirty="0">
                <a:solidFill>
                  <a:schemeClr val="folHlink"/>
                </a:solidFill>
                <a:sym typeface="Symbol" pitchFamily="18" charset="2"/>
              </a:rPr>
              <a:t>(3)</a:t>
            </a:r>
            <a:r>
              <a:rPr lang="zh-CN" altLang="en-US" sz="2800" b="1" dirty="0">
                <a:solidFill>
                  <a:schemeClr val="folHlink"/>
                </a:solidFill>
                <a:sym typeface="Symbol" pitchFamily="18" charset="2"/>
              </a:rPr>
              <a:t>到</a:t>
            </a:r>
            <a:r>
              <a:rPr lang="en-US" altLang="zh-CN" sz="2800" b="1" dirty="0">
                <a:solidFill>
                  <a:schemeClr val="folHlink"/>
                </a:solidFill>
                <a:sym typeface="Symbol" pitchFamily="18" charset="2"/>
              </a:rPr>
              <a:t>(4)</a:t>
            </a:r>
            <a:r>
              <a:rPr lang="zh-CN" altLang="en-US" sz="2800" b="1" dirty="0">
                <a:solidFill>
                  <a:schemeClr val="folHlink"/>
                </a:solidFill>
                <a:sym typeface="Symbol" pitchFamily="18" charset="2"/>
              </a:rPr>
              <a:t>有错。</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134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0B49EA35-1094-46E9-8D82-0045EB0BC870}" type="slidenum">
              <a:rPr lang="en-US" altLang="zh-CN"/>
              <a:pPr/>
              <a:t>90</a:t>
            </a:fld>
            <a:endParaRPr lang="en-US" altLang="zh-CN"/>
          </a:p>
        </p:txBody>
      </p:sp>
      <p:sp>
        <p:nvSpPr>
          <p:cNvPr id="442370" name="Rectangle 2"/>
          <p:cNvSpPr>
            <a:spLocks noChangeArrowheads="1"/>
          </p:cNvSpPr>
          <p:nvPr/>
        </p:nvSpPr>
        <p:spPr bwMode="auto">
          <a:xfrm>
            <a:off x="1116013" y="663575"/>
            <a:ext cx="7272337" cy="4228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dirty="0">
                <a:solidFill>
                  <a:schemeClr val="hlink"/>
                </a:solidFill>
              </a:rPr>
              <a:t>练</a:t>
            </a:r>
            <a:r>
              <a:rPr lang="en-US" altLang="zh-CN" sz="2800" b="1" dirty="0">
                <a:solidFill>
                  <a:schemeClr val="hlink"/>
                </a:solidFill>
              </a:rPr>
              <a:t>3</a:t>
            </a:r>
            <a:r>
              <a:rPr lang="zh-CN" altLang="en-US" sz="2800" b="1" dirty="0">
                <a:solidFill>
                  <a:schemeClr val="hlink"/>
                </a:solidFill>
              </a:rPr>
              <a:t>：指出下面证明中的错误。</a:t>
            </a:r>
          </a:p>
          <a:p>
            <a:pPr algn="l">
              <a:lnSpc>
                <a:spcPct val="120000"/>
              </a:lnSpc>
            </a:pPr>
            <a:r>
              <a:rPr lang="zh-CN" altLang="en-US" sz="2800" b="1" dirty="0">
                <a:sym typeface="Symbol" pitchFamily="18" charset="2"/>
              </a:rPr>
              <a:t>证明：</a:t>
            </a:r>
            <a:r>
              <a:rPr lang="en-US" altLang="zh-CN" sz="2800" b="1" dirty="0">
                <a:sym typeface="Symbol" pitchFamily="18" charset="2"/>
              </a:rPr>
              <a:t>(1)(x)(y) F(</a:t>
            </a:r>
            <a:r>
              <a:rPr lang="en-US" altLang="zh-CN" sz="2800" b="1" dirty="0" err="1">
                <a:sym typeface="Symbol" pitchFamily="18" charset="2"/>
              </a:rPr>
              <a:t>x,y</a:t>
            </a:r>
            <a:r>
              <a:rPr lang="en-US" altLang="zh-CN" sz="2800" b="1" dirty="0">
                <a:sym typeface="Symbol" pitchFamily="18" charset="2"/>
              </a:rPr>
              <a:t>)     </a:t>
            </a:r>
            <a:r>
              <a:rPr lang="en-US" altLang="zh-CN" sz="2800" b="1" dirty="0"/>
              <a:t> </a:t>
            </a:r>
            <a:r>
              <a:rPr lang="en-US" altLang="zh-CN" sz="2800" b="1" dirty="0" smtClean="0"/>
              <a:t>	P </a:t>
            </a:r>
            <a:endParaRPr lang="en-US" altLang="zh-CN" sz="2800" b="1" dirty="0">
              <a:sym typeface="Symbol" pitchFamily="18" charset="2"/>
            </a:endParaRPr>
          </a:p>
          <a:p>
            <a:pPr algn="l">
              <a:lnSpc>
                <a:spcPct val="120000"/>
              </a:lnSpc>
            </a:pPr>
            <a:r>
              <a:rPr lang="en-US" altLang="zh-CN" sz="2800" b="1" dirty="0">
                <a:sym typeface="Symbol" pitchFamily="18" charset="2"/>
              </a:rPr>
              <a:t>            (2)(y) F(</a:t>
            </a:r>
            <a:r>
              <a:rPr lang="en-US" altLang="zh-CN" sz="2800" b="1" dirty="0" err="1">
                <a:sym typeface="Symbol" pitchFamily="18" charset="2"/>
              </a:rPr>
              <a:t>z,y</a:t>
            </a:r>
            <a:r>
              <a:rPr lang="en-US" altLang="zh-CN" sz="2800" b="1" dirty="0">
                <a:sym typeface="Symbol" pitchFamily="18" charset="2"/>
              </a:rPr>
              <a:t>)             </a:t>
            </a:r>
            <a:r>
              <a:rPr lang="en-US" altLang="zh-CN" sz="2800" b="1" dirty="0" smtClean="0">
                <a:sym typeface="Symbol" pitchFamily="18" charset="2"/>
              </a:rPr>
              <a:t>	US(1</a:t>
            </a:r>
            <a:r>
              <a:rPr lang="en-US" altLang="zh-CN" sz="2800" b="1" dirty="0">
                <a:sym typeface="Symbol" pitchFamily="18" charset="2"/>
              </a:rPr>
              <a:t>)</a:t>
            </a:r>
            <a:endParaRPr lang="en-US" altLang="zh-CN" sz="2800" b="1" dirty="0"/>
          </a:p>
          <a:p>
            <a:pPr algn="l">
              <a:lnSpc>
                <a:spcPct val="120000"/>
              </a:lnSpc>
            </a:pPr>
            <a:r>
              <a:rPr lang="en-US" altLang="zh-CN" sz="2800" b="1" dirty="0">
                <a:sym typeface="Symbol" pitchFamily="18" charset="2"/>
              </a:rPr>
              <a:t>            (3)F(</a:t>
            </a:r>
            <a:r>
              <a:rPr lang="en-US" altLang="zh-CN" sz="2800" b="1" dirty="0" err="1">
                <a:sym typeface="Symbol" pitchFamily="18" charset="2"/>
              </a:rPr>
              <a:t>z,c</a:t>
            </a:r>
            <a:r>
              <a:rPr lang="en-US" altLang="zh-CN" sz="2800" b="1" dirty="0">
                <a:sym typeface="Symbol" pitchFamily="18" charset="2"/>
              </a:rPr>
              <a:t>)                     </a:t>
            </a:r>
            <a:r>
              <a:rPr lang="en-US" altLang="zh-CN" sz="2800" b="1" dirty="0" smtClean="0">
                <a:sym typeface="Symbol" pitchFamily="18" charset="2"/>
              </a:rPr>
              <a:t>	ES(2</a:t>
            </a:r>
            <a:r>
              <a:rPr lang="en-US" altLang="zh-CN" sz="2800" b="1" dirty="0">
                <a:sym typeface="Symbol" pitchFamily="18" charset="2"/>
              </a:rPr>
              <a:t>) </a:t>
            </a:r>
          </a:p>
          <a:p>
            <a:pPr algn="l">
              <a:lnSpc>
                <a:spcPct val="120000"/>
              </a:lnSpc>
            </a:pPr>
            <a:r>
              <a:rPr lang="en-US" altLang="zh-CN" sz="2800" b="1" dirty="0">
                <a:sym typeface="Symbol" pitchFamily="18" charset="2"/>
              </a:rPr>
              <a:t>            (4)(x) F(</a:t>
            </a:r>
            <a:r>
              <a:rPr lang="en-US" altLang="zh-CN" sz="2800" b="1" dirty="0" err="1">
                <a:sym typeface="Symbol" pitchFamily="18" charset="2"/>
              </a:rPr>
              <a:t>x,c</a:t>
            </a:r>
            <a:r>
              <a:rPr lang="en-US" altLang="zh-CN" sz="2800" b="1" dirty="0">
                <a:sym typeface="Symbol" pitchFamily="18" charset="2"/>
              </a:rPr>
              <a:t>)            </a:t>
            </a:r>
            <a:r>
              <a:rPr lang="en-US" altLang="zh-CN" sz="2800" b="1" dirty="0" smtClean="0">
                <a:sym typeface="Symbol" pitchFamily="18" charset="2"/>
              </a:rPr>
              <a:t>	UG(3</a:t>
            </a:r>
            <a:r>
              <a:rPr lang="en-US" altLang="zh-CN" sz="2800" b="1" dirty="0">
                <a:sym typeface="Symbol" pitchFamily="18" charset="2"/>
              </a:rPr>
              <a:t>)</a:t>
            </a:r>
            <a:endParaRPr lang="en-US" altLang="zh-CN" sz="2800" b="1" dirty="0"/>
          </a:p>
          <a:p>
            <a:pPr algn="l">
              <a:lnSpc>
                <a:spcPct val="120000"/>
              </a:lnSpc>
            </a:pPr>
            <a:r>
              <a:rPr lang="en-US" altLang="zh-CN" sz="2800" b="1" dirty="0">
                <a:sym typeface="Symbol" pitchFamily="18" charset="2"/>
              </a:rPr>
              <a:t>            (5)(y)(x) F(</a:t>
            </a:r>
            <a:r>
              <a:rPr lang="en-US" altLang="zh-CN" sz="2800" b="1" dirty="0" err="1">
                <a:sym typeface="Symbol" pitchFamily="18" charset="2"/>
              </a:rPr>
              <a:t>x,y</a:t>
            </a:r>
            <a:r>
              <a:rPr lang="en-US" altLang="zh-CN" sz="2800" b="1" dirty="0">
                <a:sym typeface="Symbol" pitchFamily="18" charset="2"/>
              </a:rPr>
              <a:t>)     </a:t>
            </a:r>
            <a:r>
              <a:rPr lang="en-US" altLang="zh-CN" sz="2800" b="1" dirty="0" smtClean="0">
                <a:sym typeface="Symbol" pitchFamily="18" charset="2"/>
              </a:rPr>
              <a:t>	EG(4</a:t>
            </a:r>
            <a:r>
              <a:rPr lang="en-US" altLang="zh-CN" sz="2800" b="1" dirty="0">
                <a:sym typeface="Symbol" pitchFamily="18" charset="2"/>
              </a:rPr>
              <a:t>)</a:t>
            </a:r>
          </a:p>
          <a:p>
            <a:pPr algn="l">
              <a:lnSpc>
                <a:spcPct val="120000"/>
              </a:lnSpc>
            </a:pPr>
            <a:r>
              <a:rPr lang="zh-CN" altLang="en-US" sz="2800" b="1" dirty="0">
                <a:solidFill>
                  <a:schemeClr val="folHlink"/>
                </a:solidFill>
                <a:sym typeface="Symbol" pitchFamily="18" charset="2"/>
              </a:rPr>
              <a:t>因为</a:t>
            </a:r>
            <a:r>
              <a:rPr lang="en-US" altLang="zh-CN" sz="2800" b="1" dirty="0">
                <a:solidFill>
                  <a:schemeClr val="folHlink"/>
                </a:solidFill>
                <a:sym typeface="Symbol" pitchFamily="18" charset="2"/>
              </a:rPr>
              <a:t>(y) F(</a:t>
            </a:r>
            <a:r>
              <a:rPr lang="en-US" altLang="zh-CN" sz="2800" b="1" dirty="0" err="1">
                <a:solidFill>
                  <a:schemeClr val="folHlink"/>
                </a:solidFill>
                <a:sym typeface="Symbol" pitchFamily="18" charset="2"/>
              </a:rPr>
              <a:t>z,y</a:t>
            </a:r>
            <a:r>
              <a:rPr lang="en-US" altLang="zh-CN" sz="2800" b="1" dirty="0">
                <a:solidFill>
                  <a:schemeClr val="folHlink"/>
                </a:solidFill>
                <a:sym typeface="Symbol" pitchFamily="18" charset="2"/>
              </a:rPr>
              <a:t>)</a:t>
            </a:r>
            <a:r>
              <a:rPr lang="zh-CN" altLang="en-US" sz="2800" b="1" dirty="0">
                <a:solidFill>
                  <a:schemeClr val="folHlink"/>
                </a:solidFill>
                <a:sym typeface="Symbol" pitchFamily="18" charset="2"/>
              </a:rPr>
              <a:t>中存在自由出现的个体变项</a:t>
            </a:r>
            <a:r>
              <a:rPr lang="en-US" altLang="zh-CN" sz="2800" b="1" dirty="0">
                <a:solidFill>
                  <a:schemeClr val="folHlink"/>
                </a:solidFill>
                <a:sym typeface="Symbol" pitchFamily="18" charset="2"/>
              </a:rPr>
              <a:t>z</a:t>
            </a:r>
            <a:r>
              <a:rPr lang="zh-CN" altLang="en-US" sz="2800" b="1" dirty="0">
                <a:solidFill>
                  <a:schemeClr val="folHlink"/>
                </a:solidFill>
                <a:sym typeface="Symbol" pitchFamily="18" charset="2"/>
              </a:rPr>
              <a:t>，因而不能使用</a:t>
            </a:r>
            <a:r>
              <a:rPr lang="en-US" altLang="zh-CN" sz="2800" b="1" dirty="0">
                <a:solidFill>
                  <a:schemeClr val="folHlink"/>
                </a:solidFill>
                <a:sym typeface="Symbol" pitchFamily="18" charset="2"/>
              </a:rPr>
              <a:t>ES</a:t>
            </a:r>
            <a:r>
              <a:rPr lang="zh-CN" altLang="en-US" sz="2800" b="1" dirty="0">
                <a:solidFill>
                  <a:schemeClr val="folHlink"/>
                </a:solidFill>
                <a:sym typeface="Symbol" pitchFamily="18" charset="2"/>
              </a:rPr>
              <a:t>规则。所以</a:t>
            </a:r>
            <a:r>
              <a:rPr lang="en-US" altLang="zh-CN" sz="2800" b="1" dirty="0">
                <a:solidFill>
                  <a:schemeClr val="folHlink"/>
                </a:solidFill>
                <a:sym typeface="Symbol" pitchFamily="18" charset="2"/>
              </a:rPr>
              <a:t>(2)</a:t>
            </a:r>
            <a:r>
              <a:rPr lang="zh-CN" altLang="en-US" sz="2800" b="1" dirty="0">
                <a:solidFill>
                  <a:schemeClr val="folHlink"/>
                </a:solidFill>
                <a:sym typeface="Symbol" pitchFamily="18" charset="2"/>
              </a:rPr>
              <a:t>到</a:t>
            </a:r>
            <a:r>
              <a:rPr lang="en-US" altLang="zh-CN" sz="2800" b="1" dirty="0">
                <a:solidFill>
                  <a:schemeClr val="folHlink"/>
                </a:solidFill>
                <a:sym typeface="Symbol" pitchFamily="18" charset="2"/>
              </a:rPr>
              <a:t>(3)</a:t>
            </a:r>
            <a:r>
              <a:rPr lang="zh-CN" altLang="en-US" sz="2800" b="1" dirty="0">
                <a:solidFill>
                  <a:schemeClr val="folHlink"/>
                </a:solidFill>
                <a:sym typeface="Symbol" pitchFamily="18" charset="2"/>
              </a:rPr>
              <a:t>有错。</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237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5FF6E24B-4F69-4FEF-B891-21E08362AA52}" type="slidenum">
              <a:rPr lang="en-US" altLang="zh-CN"/>
              <a:pPr/>
              <a:t>91</a:t>
            </a:fld>
            <a:endParaRPr lang="en-US" altLang="zh-CN"/>
          </a:p>
        </p:txBody>
      </p:sp>
      <p:sp>
        <p:nvSpPr>
          <p:cNvPr id="443394" name="Rectangle 2"/>
          <p:cNvSpPr>
            <a:spLocks noChangeArrowheads="1"/>
          </p:cNvSpPr>
          <p:nvPr/>
        </p:nvSpPr>
        <p:spPr bwMode="auto">
          <a:xfrm>
            <a:off x="539750" y="1412875"/>
            <a:ext cx="7704138"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dirty="0" smtClean="0">
                <a:solidFill>
                  <a:schemeClr val="hlink"/>
                </a:solidFill>
              </a:rPr>
              <a:t>例</a:t>
            </a:r>
            <a:r>
              <a:rPr lang="en-US" altLang="zh-CN" sz="2800" b="1" dirty="0" smtClean="0">
                <a:solidFill>
                  <a:schemeClr val="hlink"/>
                </a:solidFill>
              </a:rPr>
              <a:t>6</a:t>
            </a:r>
            <a:r>
              <a:rPr lang="zh-CN" altLang="en-US" sz="2800" b="1" dirty="0" smtClean="0">
                <a:solidFill>
                  <a:schemeClr val="hlink"/>
                </a:solidFill>
              </a:rPr>
              <a:t>：</a:t>
            </a:r>
            <a:r>
              <a:rPr lang="zh-CN" altLang="en-US" sz="2800" b="1" dirty="0">
                <a:solidFill>
                  <a:schemeClr val="hlink"/>
                </a:solidFill>
              </a:rPr>
              <a:t>构造下列推理的证明。</a:t>
            </a:r>
            <a:endParaRPr lang="zh-CN" altLang="en-US" sz="2800" b="1" dirty="0">
              <a:sym typeface="Symbol" pitchFamily="18" charset="2"/>
            </a:endParaRPr>
          </a:p>
          <a:p>
            <a:pPr algn="l">
              <a:lnSpc>
                <a:spcPct val="120000"/>
              </a:lnSpc>
            </a:pPr>
            <a:r>
              <a:rPr lang="zh-CN" altLang="en-US" sz="2800" b="1" dirty="0"/>
              <a:t>设个体域为实数域。</a:t>
            </a:r>
          </a:p>
          <a:p>
            <a:pPr algn="l">
              <a:lnSpc>
                <a:spcPct val="120000"/>
              </a:lnSpc>
            </a:pPr>
            <a:r>
              <a:rPr lang="zh-CN" altLang="en-US" sz="2800" b="1" dirty="0"/>
              <a:t>        不存在能表示成分数的无理数。有理数都能表示成分数。因此，有理数都不是无理数。</a:t>
            </a:r>
          </a:p>
          <a:p>
            <a:pPr algn="l">
              <a:lnSpc>
                <a:spcPct val="120000"/>
              </a:lnSpc>
            </a:pPr>
            <a:r>
              <a:rPr lang="zh-CN" altLang="en-US" sz="2800" b="1" dirty="0"/>
              <a:t>解：设</a:t>
            </a:r>
            <a:r>
              <a:rPr lang="en-US" altLang="zh-CN" sz="2800" b="1" dirty="0"/>
              <a:t>F(x)</a:t>
            </a:r>
            <a:r>
              <a:rPr lang="zh-CN" altLang="en-US" sz="2800" b="1" dirty="0"/>
              <a:t>：</a:t>
            </a:r>
            <a:r>
              <a:rPr lang="en-US" altLang="zh-CN" sz="2800" b="1" dirty="0"/>
              <a:t>x</a:t>
            </a:r>
            <a:r>
              <a:rPr lang="zh-CN" altLang="en-US" sz="2800" b="1" dirty="0"/>
              <a:t>是无理数，</a:t>
            </a:r>
            <a:r>
              <a:rPr lang="en-US" altLang="zh-CN" sz="2800" b="1" dirty="0"/>
              <a:t>G(x)</a:t>
            </a:r>
            <a:r>
              <a:rPr lang="zh-CN" altLang="en-US" sz="2800" b="1" dirty="0"/>
              <a:t>：</a:t>
            </a:r>
            <a:r>
              <a:rPr lang="en-US" altLang="zh-CN" sz="2800" b="1" dirty="0"/>
              <a:t>x</a:t>
            </a:r>
            <a:r>
              <a:rPr lang="zh-CN" altLang="en-US" sz="2800" b="1" dirty="0"/>
              <a:t>是有理数，</a:t>
            </a:r>
            <a:r>
              <a:rPr lang="en-US" altLang="zh-CN" sz="2800" b="1" dirty="0"/>
              <a:t>H(x)</a:t>
            </a:r>
            <a:r>
              <a:rPr lang="zh-CN" altLang="en-US" sz="2800" b="1" dirty="0"/>
              <a:t>：</a:t>
            </a:r>
            <a:r>
              <a:rPr lang="en-US" altLang="zh-CN" sz="2800" b="1" dirty="0"/>
              <a:t>x</a:t>
            </a:r>
            <a:r>
              <a:rPr lang="zh-CN" altLang="en-US" sz="2800" b="1" dirty="0"/>
              <a:t>能表示成分数。</a:t>
            </a:r>
          </a:p>
          <a:p>
            <a:pPr algn="l">
              <a:lnSpc>
                <a:spcPct val="120000"/>
              </a:lnSpc>
            </a:pPr>
            <a:r>
              <a:rPr lang="zh-CN" altLang="en-US" sz="2800" b="1" dirty="0"/>
              <a:t>前提：</a:t>
            </a:r>
            <a:r>
              <a:rPr lang="zh-CN" altLang="en-US" sz="2800" b="1" dirty="0">
                <a:latin typeface="宋体" charset="-122"/>
              </a:rPr>
              <a:t>┐</a:t>
            </a:r>
            <a:r>
              <a:rPr lang="en-US" altLang="zh-CN" sz="2800" b="1" dirty="0">
                <a:sym typeface="Symbol" pitchFamily="18" charset="2"/>
              </a:rPr>
              <a:t>(x)(F(x)∧H(x))</a:t>
            </a:r>
            <a:r>
              <a:rPr lang="zh-CN" altLang="en-US" sz="2800" b="1" dirty="0">
                <a:sym typeface="Symbol" pitchFamily="18" charset="2"/>
              </a:rPr>
              <a:t>，</a:t>
            </a:r>
            <a:r>
              <a:rPr lang="en-US" altLang="zh-CN" sz="2800" b="1" dirty="0">
                <a:sym typeface="Symbol" pitchFamily="18" charset="2"/>
              </a:rPr>
              <a:t>(x)(G(x)H(x))</a:t>
            </a:r>
            <a:r>
              <a:rPr lang="zh-CN" altLang="en-US" sz="2800" b="1" dirty="0">
                <a:sym typeface="Symbol" pitchFamily="18" charset="2"/>
              </a:rPr>
              <a:t>。</a:t>
            </a:r>
          </a:p>
          <a:p>
            <a:pPr algn="l">
              <a:lnSpc>
                <a:spcPct val="120000"/>
              </a:lnSpc>
            </a:pPr>
            <a:r>
              <a:rPr lang="zh-CN" altLang="en-US" sz="2800" b="1" dirty="0">
                <a:sym typeface="Symbol" pitchFamily="18" charset="2"/>
              </a:rPr>
              <a:t>结论：</a:t>
            </a:r>
            <a:r>
              <a:rPr lang="en-US" altLang="zh-CN" sz="2800" b="1" dirty="0">
                <a:sym typeface="Symbol" pitchFamily="18" charset="2"/>
              </a:rPr>
              <a:t>(x)(G(x)</a:t>
            </a:r>
            <a:r>
              <a:rPr lang="en-US" altLang="zh-CN" sz="2800" b="1" dirty="0">
                <a:latin typeface="宋体" charset="-122"/>
                <a:sym typeface="Symbol" pitchFamily="18" charset="2"/>
              </a:rPr>
              <a:t>┐</a:t>
            </a:r>
            <a:r>
              <a:rPr lang="en-US" altLang="zh-CN" sz="2800" b="1" dirty="0">
                <a:sym typeface="Symbol" pitchFamily="18" charset="2"/>
              </a:rPr>
              <a:t>F(x))</a:t>
            </a:r>
            <a:r>
              <a:rPr lang="zh-CN" altLang="en-US" sz="2800" b="1" dirty="0"/>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3394">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3394">
                                            <p:txEl>
                                              <p:pRg st="4" end="4"/>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339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22C3FE83-CD87-4137-AF29-83F93E6299EE}" type="slidenum">
              <a:rPr lang="en-US" altLang="zh-CN"/>
              <a:pPr/>
              <a:t>92</a:t>
            </a:fld>
            <a:endParaRPr lang="en-US" altLang="zh-CN"/>
          </a:p>
        </p:txBody>
      </p:sp>
      <p:sp>
        <p:nvSpPr>
          <p:cNvPr id="444418" name="Rectangle 2"/>
          <p:cNvSpPr>
            <a:spLocks noChangeArrowheads="1"/>
          </p:cNvSpPr>
          <p:nvPr/>
        </p:nvSpPr>
        <p:spPr bwMode="auto">
          <a:xfrm>
            <a:off x="1185863" y="1125538"/>
            <a:ext cx="7273925" cy="5219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en-US" altLang="zh-CN" sz="2800" b="1" dirty="0">
                <a:sym typeface="Symbol" pitchFamily="18" charset="2"/>
              </a:rPr>
              <a:t>┐(x)</a:t>
            </a:r>
            <a:r>
              <a:rPr lang="en-US" altLang="zh-CN" sz="2800" b="1" dirty="0">
                <a:solidFill>
                  <a:schemeClr val="hlink"/>
                </a:solidFill>
                <a:sym typeface="Symbol" pitchFamily="18" charset="2"/>
              </a:rPr>
              <a:t>(</a:t>
            </a:r>
            <a:r>
              <a:rPr lang="en-US" altLang="zh-CN" sz="2800" b="1" dirty="0">
                <a:sym typeface="Symbol" pitchFamily="18" charset="2"/>
              </a:rPr>
              <a:t>F(x)∧H(x)</a:t>
            </a:r>
            <a:r>
              <a:rPr lang="en-US" altLang="zh-CN" sz="2800" b="1" dirty="0">
                <a:solidFill>
                  <a:schemeClr val="hlink"/>
                </a:solidFill>
                <a:sym typeface="Symbol" pitchFamily="18" charset="2"/>
              </a:rPr>
              <a:t>)</a:t>
            </a:r>
            <a:r>
              <a:rPr lang="en-US" altLang="zh-CN" sz="2800" b="1" dirty="0">
                <a:sym typeface="Symbol" pitchFamily="18" charset="2"/>
              </a:rPr>
              <a:t>∧(x)</a:t>
            </a:r>
            <a:r>
              <a:rPr lang="en-US" altLang="zh-CN" sz="2800" b="1" dirty="0">
                <a:solidFill>
                  <a:schemeClr val="hlink"/>
                </a:solidFill>
                <a:sym typeface="Symbol" pitchFamily="18" charset="2"/>
              </a:rPr>
              <a:t>(</a:t>
            </a:r>
            <a:r>
              <a:rPr lang="en-US" altLang="zh-CN" sz="2800" b="1" dirty="0">
                <a:sym typeface="Symbol" pitchFamily="18" charset="2"/>
              </a:rPr>
              <a:t>G(x)H(x)</a:t>
            </a:r>
            <a:r>
              <a:rPr lang="en-US" altLang="zh-CN" sz="2800" b="1" dirty="0">
                <a:solidFill>
                  <a:schemeClr val="hlink"/>
                </a:solidFill>
                <a:sym typeface="Symbol" pitchFamily="18" charset="2"/>
              </a:rPr>
              <a:t>)</a:t>
            </a:r>
          </a:p>
          <a:p>
            <a:pPr algn="l">
              <a:lnSpc>
                <a:spcPct val="120000"/>
              </a:lnSpc>
            </a:pPr>
            <a:r>
              <a:rPr lang="en-US" altLang="zh-CN" sz="2800" b="1" dirty="0">
                <a:sym typeface="Symbol" pitchFamily="18" charset="2"/>
              </a:rPr>
              <a:t>(x)</a:t>
            </a:r>
            <a:r>
              <a:rPr lang="en-US" altLang="zh-CN" sz="2800" b="1" dirty="0">
                <a:solidFill>
                  <a:schemeClr val="hlink"/>
                </a:solidFill>
                <a:sym typeface="Symbol" pitchFamily="18" charset="2"/>
              </a:rPr>
              <a:t>(</a:t>
            </a:r>
            <a:r>
              <a:rPr lang="en-US" altLang="zh-CN" sz="2800" b="1" dirty="0">
                <a:sym typeface="Symbol" pitchFamily="18" charset="2"/>
              </a:rPr>
              <a:t>G(x)</a:t>
            </a:r>
            <a:r>
              <a:rPr lang="en-US" altLang="zh-CN" sz="2800" b="1" dirty="0">
                <a:latin typeface="宋体" charset="-122"/>
                <a:sym typeface="Symbol" pitchFamily="18" charset="2"/>
              </a:rPr>
              <a:t>┐</a:t>
            </a:r>
            <a:r>
              <a:rPr lang="en-US" altLang="zh-CN" sz="2800" b="1" dirty="0">
                <a:sym typeface="Symbol" pitchFamily="18" charset="2"/>
              </a:rPr>
              <a:t>F(x)</a:t>
            </a:r>
            <a:r>
              <a:rPr lang="en-US" altLang="zh-CN" sz="2800" b="1" dirty="0">
                <a:solidFill>
                  <a:schemeClr val="hlink"/>
                </a:solidFill>
                <a:sym typeface="Symbol" pitchFamily="18" charset="2"/>
              </a:rPr>
              <a:t>)</a:t>
            </a:r>
          </a:p>
          <a:p>
            <a:pPr algn="l">
              <a:lnSpc>
                <a:spcPct val="120000"/>
              </a:lnSpc>
            </a:pPr>
            <a:r>
              <a:rPr lang="zh-CN" altLang="en-US" sz="2800" b="1" dirty="0">
                <a:sym typeface="Symbol" pitchFamily="18" charset="2"/>
              </a:rPr>
              <a:t>证明：</a:t>
            </a:r>
            <a:r>
              <a:rPr lang="en-US" altLang="zh-CN" sz="2800" b="1" dirty="0">
                <a:sym typeface="Symbol" pitchFamily="18" charset="2"/>
              </a:rPr>
              <a:t>(1) </a:t>
            </a:r>
            <a:r>
              <a:rPr lang="en-US" altLang="zh-CN" sz="2800" b="1" dirty="0">
                <a:latin typeface="宋体" charset="-122"/>
                <a:sym typeface="Symbol" pitchFamily="18" charset="2"/>
              </a:rPr>
              <a:t>┐</a:t>
            </a:r>
            <a:r>
              <a:rPr lang="en-US" altLang="zh-CN" sz="2800" b="1" dirty="0">
                <a:sym typeface="Symbol" pitchFamily="18" charset="2"/>
              </a:rPr>
              <a:t>(x)(F(x)∧H(x))           </a:t>
            </a:r>
            <a:r>
              <a:rPr lang="en-US" altLang="zh-CN" sz="2800" b="1" dirty="0" smtClean="0">
                <a:sym typeface="Symbol" pitchFamily="18" charset="2"/>
              </a:rPr>
              <a:t>	P</a:t>
            </a:r>
            <a:endParaRPr lang="en-US" altLang="zh-CN" sz="2800" b="1" dirty="0">
              <a:sym typeface="Symbol" pitchFamily="18" charset="2"/>
            </a:endParaRPr>
          </a:p>
          <a:p>
            <a:pPr algn="l">
              <a:lnSpc>
                <a:spcPct val="120000"/>
              </a:lnSpc>
            </a:pPr>
            <a:r>
              <a:rPr lang="en-US" altLang="zh-CN" sz="2800" b="1" dirty="0">
                <a:sym typeface="Symbol" pitchFamily="18" charset="2"/>
              </a:rPr>
              <a:t>            (2) (x)(</a:t>
            </a:r>
            <a:r>
              <a:rPr lang="en-US" altLang="zh-CN" sz="2800" b="1" dirty="0">
                <a:latin typeface="宋体" charset="-122"/>
                <a:sym typeface="Symbol" pitchFamily="18" charset="2"/>
              </a:rPr>
              <a:t>┐</a:t>
            </a:r>
            <a:r>
              <a:rPr lang="en-US" altLang="zh-CN" sz="2800" b="1" dirty="0">
                <a:sym typeface="Symbol" pitchFamily="18" charset="2"/>
              </a:rPr>
              <a:t>F(x)∨</a:t>
            </a:r>
            <a:r>
              <a:rPr lang="en-US" altLang="zh-CN" sz="2800" b="1" dirty="0">
                <a:latin typeface="宋体" charset="-122"/>
                <a:sym typeface="Symbol" pitchFamily="18" charset="2"/>
              </a:rPr>
              <a:t>┐</a:t>
            </a:r>
            <a:r>
              <a:rPr lang="en-US" altLang="zh-CN" sz="2800" b="1" dirty="0">
                <a:sym typeface="Symbol" pitchFamily="18" charset="2"/>
              </a:rPr>
              <a:t>H(x))   </a:t>
            </a:r>
            <a:r>
              <a:rPr lang="en-US" altLang="zh-CN" sz="2800" b="1" dirty="0" smtClean="0">
                <a:sym typeface="Symbol" pitchFamily="18" charset="2"/>
              </a:rPr>
              <a:t>	T(1)E</a:t>
            </a:r>
            <a:endParaRPr lang="en-US" altLang="zh-CN" sz="2800" b="1" dirty="0"/>
          </a:p>
          <a:p>
            <a:pPr algn="l">
              <a:lnSpc>
                <a:spcPct val="120000"/>
              </a:lnSpc>
            </a:pPr>
            <a:r>
              <a:rPr lang="en-US" altLang="zh-CN" sz="2800" b="1" dirty="0">
                <a:sym typeface="Symbol" pitchFamily="18" charset="2"/>
              </a:rPr>
              <a:t>            (3) (x)(H(x)</a:t>
            </a:r>
            <a:r>
              <a:rPr lang="en-US" altLang="zh-CN" sz="2800" b="1" dirty="0">
                <a:latin typeface="宋体" charset="-122"/>
                <a:sym typeface="Symbol" pitchFamily="18" charset="2"/>
              </a:rPr>
              <a:t>┐</a:t>
            </a:r>
            <a:r>
              <a:rPr lang="en-US" altLang="zh-CN" sz="2800" b="1" dirty="0">
                <a:sym typeface="Symbol" pitchFamily="18" charset="2"/>
              </a:rPr>
              <a:t>F(x))     </a:t>
            </a:r>
            <a:r>
              <a:rPr lang="en-US" altLang="zh-CN" sz="2800" b="1" dirty="0" smtClean="0">
                <a:sym typeface="Symbol" pitchFamily="18" charset="2"/>
              </a:rPr>
              <a:t>	T(2)E</a:t>
            </a:r>
            <a:endParaRPr lang="en-US" altLang="zh-CN" sz="2800" b="1" dirty="0"/>
          </a:p>
          <a:p>
            <a:pPr algn="l">
              <a:lnSpc>
                <a:spcPct val="120000"/>
              </a:lnSpc>
            </a:pPr>
            <a:r>
              <a:rPr lang="en-US" altLang="zh-CN" sz="2800" b="1" dirty="0">
                <a:sym typeface="Symbol" pitchFamily="18" charset="2"/>
              </a:rPr>
              <a:t>            (4) H(y)</a:t>
            </a:r>
            <a:r>
              <a:rPr lang="en-US" altLang="zh-CN" sz="2800" b="1" dirty="0">
                <a:latin typeface="宋体" charset="-122"/>
                <a:sym typeface="Symbol" pitchFamily="18" charset="2"/>
              </a:rPr>
              <a:t>┐</a:t>
            </a:r>
            <a:r>
              <a:rPr lang="en-US" altLang="zh-CN" sz="2800" b="1" dirty="0">
                <a:sym typeface="Symbol" pitchFamily="18" charset="2"/>
              </a:rPr>
              <a:t>F(y)             </a:t>
            </a:r>
            <a:r>
              <a:rPr lang="en-US" altLang="zh-CN" sz="2800" b="1" dirty="0" smtClean="0">
                <a:sym typeface="Symbol" pitchFamily="18" charset="2"/>
              </a:rPr>
              <a:t>	US(3</a:t>
            </a:r>
            <a:r>
              <a:rPr lang="en-US" altLang="zh-CN" sz="2800" b="1" dirty="0">
                <a:sym typeface="Symbol" pitchFamily="18" charset="2"/>
              </a:rPr>
              <a:t>)</a:t>
            </a:r>
            <a:endParaRPr lang="en-US" altLang="zh-CN" sz="2800" b="1" dirty="0"/>
          </a:p>
          <a:p>
            <a:pPr algn="l">
              <a:lnSpc>
                <a:spcPct val="120000"/>
              </a:lnSpc>
            </a:pPr>
            <a:r>
              <a:rPr lang="en-US" altLang="zh-CN" sz="2800" b="1" dirty="0">
                <a:sym typeface="Symbol" pitchFamily="18" charset="2"/>
              </a:rPr>
              <a:t>            (5) (x)(G(x)H(x))     </a:t>
            </a:r>
            <a:r>
              <a:rPr lang="en-US" altLang="zh-CN" sz="2800" b="1" dirty="0" smtClean="0">
                <a:sym typeface="Symbol" pitchFamily="18" charset="2"/>
              </a:rPr>
              <a:t>	P</a:t>
            </a:r>
            <a:endParaRPr lang="en-US" altLang="zh-CN" sz="2800" b="1" dirty="0">
              <a:sym typeface="Symbol" pitchFamily="18" charset="2"/>
            </a:endParaRPr>
          </a:p>
          <a:p>
            <a:pPr algn="l">
              <a:lnSpc>
                <a:spcPct val="120000"/>
              </a:lnSpc>
            </a:pPr>
            <a:r>
              <a:rPr lang="en-US" altLang="zh-CN" sz="2800" b="1" dirty="0">
                <a:sym typeface="Symbol" pitchFamily="18" charset="2"/>
              </a:rPr>
              <a:t>            (6) G(y)H(y)               </a:t>
            </a:r>
            <a:r>
              <a:rPr lang="en-US" altLang="zh-CN" sz="2800" b="1" dirty="0" smtClean="0">
                <a:sym typeface="Symbol" pitchFamily="18" charset="2"/>
              </a:rPr>
              <a:t>	US(5</a:t>
            </a:r>
            <a:r>
              <a:rPr lang="en-US" altLang="zh-CN" sz="2800" b="1" dirty="0">
                <a:sym typeface="Symbol" pitchFamily="18" charset="2"/>
              </a:rPr>
              <a:t>)</a:t>
            </a:r>
          </a:p>
          <a:p>
            <a:pPr algn="l">
              <a:lnSpc>
                <a:spcPct val="120000"/>
              </a:lnSpc>
            </a:pPr>
            <a:r>
              <a:rPr lang="en-US" altLang="zh-CN" sz="2800" b="1" dirty="0">
                <a:sym typeface="Symbol" pitchFamily="18" charset="2"/>
              </a:rPr>
              <a:t>            (7) G(y)</a:t>
            </a:r>
            <a:r>
              <a:rPr lang="en-US" altLang="zh-CN" sz="2800" b="1" dirty="0">
                <a:latin typeface="宋体" charset="-122"/>
                <a:sym typeface="Symbol" pitchFamily="18" charset="2"/>
              </a:rPr>
              <a:t>┐</a:t>
            </a:r>
            <a:r>
              <a:rPr lang="en-US" altLang="zh-CN" sz="2800" b="1" dirty="0">
                <a:sym typeface="Symbol" pitchFamily="18" charset="2"/>
              </a:rPr>
              <a:t>F(y)           </a:t>
            </a:r>
            <a:r>
              <a:rPr lang="en-US" altLang="zh-CN" sz="2800" b="1" dirty="0" smtClean="0">
                <a:sym typeface="Symbol" pitchFamily="18" charset="2"/>
              </a:rPr>
              <a:t>	T(4</a:t>
            </a:r>
            <a:r>
              <a:rPr lang="en-US" altLang="zh-CN" sz="2800" b="1" dirty="0">
                <a:sym typeface="Symbol" pitchFamily="18" charset="2"/>
              </a:rPr>
              <a:t>), (6)I</a:t>
            </a:r>
          </a:p>
          <a:p>
            <a:pPr algn="l">
              <a:lnSpc>
                <a:spcPct val="120000"/>
              </a:lnSpc>
            </a:pPr>
            <a:r>
              <a:rPr lang="en-US" altLang="zh-CN" sz="2800" b="1" dirty="0">
                <a:sym typeface="Symbol" pitchFamily="18" charset="2"/>
              </a:rPr>
              <a:t>            (8) (x)(G(x)</a:t>
            </a:r>
            <a:r>
              <a:rPr lang="en-US" altLang="zh-CN" sz="2800" b="1" dirty="0">
                <a:latin typeface="宋体" charset="-122"/>
                <a:sym typeface="Symbol" pitchFamily="18" charset="2"/>
              </a:rPr>
              <a:t>┐</a:t>
            </a:r>
            <a:r>
              <a:rPr lang="en-US" altLang="zh-CN" sz="2800" b="1" dirty="0">
                <a:sym typeface="Symbol" pitchFamily="18" charset="2"/>
              </a:rPr>
              <a:t>F(x))          </a:t>
            </a:r>
            <a:r>
              <a:rPr lang="en-US" altLang="zh-CN" sz="2800" b="1" dirty="0" smtClean="0">
                <a:sym typeface="Symbol" pitchFamily="18" charset="2"/>
              </a:rPr>
              <a:t>	UG(7</a:t>
            </a:r>
            <a:r>
              <a:rPr lang="en-US" altLang="zh-CN" sz="2800" b="1" dirty="0">
                <a:sym typeface="Symbol" pitchFamily="18" charset="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441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441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441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4418">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4418">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4418">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44418">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444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D2D3B8B0-390A-420D-92D4-24928091EE40}" type="slidenum">
              <a:rPr lang="en-US" altLang="zh-CN"/>
              <a:pPr/>
              <a:t>93</a:t>
            </a:fld>
            <a:endParaRPr lang="en-US" altLang="zh-CN"/>
          </a:p>
        </p:txBody>
      </p:sp>
      <p:sp>
        <p:nvSpPr>
          <p:cNvPr id="352260" name="Rectangle 4"/>
          <p:cNvSpPr>
            <a:spLocks noChangeArrowheads="1"/>
          </p:cNvSpPr>
          <p:nvPr/>
        </p:nvSpPr>
        <p:spPr bwMode="auto">
          <a:xfrm>
            <a:off x="1116013" y="1360488"/>
            <a:ext cx="7127875" cy="329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5000"/>
              </a:lnSpc>
            </a:pPr>
            <a:r>
              <a:rPr lang="zh-CN" altLang="en-US" sz="2800" b="1"/>
              <a:t>下列推理即可解决：</a:t>
            </a:r>
          </a:p>
          <a:p>
            <a:pPr algn="l">
              <a:lnSpc>
                <a:spcPct val="125000"/>
              </a:lnSpc>
            </a:pPr>
            <a:r>
              <a:rPr lang="zh-CN" altLang="en-US" sz="2800" b="1"/>
              <a:t>        凡是人都是 要死的。苏格拉底是人。        苏格拉底是要死的。</a:t>
            </a:r>
          </a:p>
          <a:p>
            <a:pPr algn="l">
              <a:lnSpc>
                <a:spcPct val="125000"/>
              </a:lnSpc>
            </a:pPr>
            <a:r>
              <a:rPr lang="zh-CN" altLang="en-US" sz="2800" b="1"/>
              <a:t>设：</a:t>
            </a:r>
            <a:r>
              <a:rPr lang="en-US" altLang="zh-CN" sz="2800" b="1"/>
              <a:t>M(x)</a:t>
            </a:r>
            <a:r>
              <a:rPr lang="zh-CN" altLang="en-US" sz="2800" b="1"/>
              <a:t>：</a:t>
            </a:r>
            <a:r>
              <a:rPr lang="en-US" altLang="zh-CN" sz="2800" b="1"/>
              <a:t>x</a:t>
            </a:r>
            <a:r>
              <a:rPr lang="zh-CN" altLang="en-US" sz="2800" b="1"/>
              <a:t>是人。</a:t>
            </a:r>
            <a:r>
              <a:rPr lang="en-US" altLang="zh-CN" sz="2800" b="1"/>
              <a:t>D(x)</a:t>
            </a:r>
            <a:r>
              <a:rPr lang="zh-CN" altLang="en-US" sz="2800" b="1"/>
              <a:t>：</a:t>
            </a:r>
            <a:r>
              <a:rPr lang="en-US" altLang="zh-CN" sz="2800" b="1"/>
              <a:t>x </a:t>
            </a:r>
            <a:r>
              <a:rPr lang="zh-CN" altLang="en-US" sz="2800" b="1"/>
              <a:t>是要死的。</a:t>
            </a:r>
            <a:r>
              <a:rPr lang="en-US" altLang="zh-CN" sz="2800" b="1"/>
              <a:t>a</a:t>
            </a:r>
            <a:r>
              <a:rPr lang="zh-CN" altLang="en-US" sz="2800" b="1"/>
              <a:t>：苏格拉底。则符号化为</a:t>
            </a:r>
          </a:p>
          <a:p>
            <a:pPr>
              <a:lnSpc>
                <a:spcPct val="125000"/>
              </a:lnSpc>
            </a:pPr>
            <a:r>
              <a:rPr lang="en-US" altLang="zh-CN" sz="2800" b="1"/>
              <a:t>(</a:t>
            </a:r>
            <a:r>
              <a:rPr lang="en-US" altLang="zh-CN" sz="2800" b="1">
                <a:sym typeface="Symbol" pitchFamily="18" charset="2"/>
              </a:rPr>
              <a:t></a:t>
            </a:r>
            <a:r>
              <a:rPr lang="en-US" altLang="zh-CN" sz="2800" b="1"/>
              <a:t>x)(M(x)→D(x))∧M(a)→D(a)        </a:t>
            </a:r>
          </a:p>
        </p:txBody>
      </p:sp>
    </p:spTree>
    <p:extLst>
      <p:ext uri="{BB962C8B-B14F-4D97-AF65-F5344CB8AC3E}">
        <p14:creationId xmlns:p14="http://schemas.microsoft.com/office/powerpoint/2010/main" val="2044243729"/>
      </p:ext>
    </p:extLst>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5226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52260">
                                            <p:txEl>
                                              <p:pRg st="1" end="1"/>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352260">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35226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19A2E59E-3577-40A6-A3B2-827A163DF9D4}" type="slidenum">
              <a:rPr lang="en-US" altLang="zh-CN"/>
              <a:pPr/>
              <a:t>94</a:t>
            </a:fld>
            <a:endParaRPr lang="en-US" altLang="zh-CN"/>
          </a:p>
        </p:txBody>
      </p:sp>
      <p:sp>
        <p:nvSpPr>
          <p:cNvPr id="445442" name="Rectangle 2"/>
          <p:cNvSpPr>
            <a:spLocks noChangeArrowheads="1"/>
          </p:cNvSpPr>
          <p:nvPr/>
        </p:nvSpPr>
        <p:spPr bwMode="auto">
          <a:xfrm>
            <a:off x="466725" y="1484313"/>
            <a:ext cx="8208963" cy="4194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zh-CN" altLang="en-US" sz="2800" b="1" dirty="0" smtClean="0">
                <a:solidFill>
                  <a:schemeClr val="hlink"/>
                </a:solidFill>
              </a:rPr>
              <a:t>练</a:t>
            </a:r>
            <a:r>
              <a:rPr lang="en-US" altLang="zh-CN" sz="2800" b="1" dirty="0" smtClean="0">
                <a:solidFill>
                  <a:schemeClr val="hlink"/>
                </a:solidFill>
              </a:rPr>
              <a:t>4</a:t>
            </a:r>
            <a:r>
              <a:rPr lang="zh-CN" altLang="en-US" sz="2800" b="1" dirty="0" smtClean="0">
                <a:solidFill>
                  <a:schemeClr val="hlink"/>
                </a:solidFill>
              </a:rPr>
              <a:t>：</a:t>
            </a:r>
            <a:r>
              <a:rPr lang="zh-CN" altLang="en-US" sz="2800" b="1" dirty="0">
                <a:solidFill>
                  <a:schemeClr val="hlink"/>
                </a:solidFill>
              </a:rPr>
              <a:t>构造下列推理的证明。</a:t>
            </a:r>
            <a:endParaRPr lang="zh-CN" altLang="en-US" sz="2800" b="1" dirty="0">
              <a:sym typeface="Symbol" pitchFamily="18" charset="2"/>
            </a:endParaRPr>
          </a:p>
          <a:p>
            <a:pPr algn="l">
              <a:lnSpc>
                <a:spcPct val="120000"/>
              </a:lnSpc>
            </a:pPr>
            <a:r>
              <a:rPr lang="zh-CN" altLang="en-US" sz="2800" b="1" dirty="0"/>
              <a:t>         学术委员会的每个成员都是博士并且是教授。有些成员是青年人。因而有的成员是青年教授。</a:t>
            </a:r>
          </a:p>
          <a:p>
            <a:pPr algn="l">
              <a:lnSpc>
                <a:spcPct val="120000"/>
              </a:lnSpc>
            </a:pPr>
            <a:r>
              <a:rPr lang="zh-CN" altLang="en-US" sz="2800" b="1" dirty="0"/>
              <a:t>解：先将简单命题符号化：</a:t>
            </a:r>
          </a:p>
          <a:p>
            <a:pPr algn="l">
              <a:lnSpc>
                <a:spcPct val="120000"/>
              </a:lnSpc>
            </a:pPr>
            <a:r>
              <a:rPr lang="zh-CN" altLang="en-US" sz="2800" b="1" dirty="0"/>
              <a:t>         </a:t>
            </a:r>
            <a:r>
              <a:rPr lang="en-US" altLang="zh-CN" sz="2800" b="1" dirty="0"/>
              <a:t>A(x)</a:t>
            </a:r>
            <a:r>
              <a:rPr lang="zh-CN" altLang="en-US" sz="2800" b="1" dirty="0"/>
              <a:t>：</a:t>
            </a:r>
            <a:r>
              <a:rPr lang="en-US" altLang="zh-CN" sz="2800" b="1" dirty="0"/>
              <a:t>x</a:t>
            </a:r>
            <a:r>
              <a:rPr lang="zh-CN" altLang="en-US" sz="2800" b="1" dirty="0"/>
              <a:t>是学术委员会成员，</a:t>
            </a:r>
            <a:r>
              <a:rPr lang="en-US" altLang="zh-CN" sz="2800" b="1" dirty="0"/>
              <a:t>B(x)</a:t>
            </a:r>
            <a:r>
              <a:rPr lang="zh-CN" altLang="en-US" sz="2800" b="1" dirty="0"/>
              <a:t>：</a:t>
            </a:r>
            <a:r>
              <a:rPr lang="en-US" altLang="zh-CN" sz="2800" b="1" dirty="0"/>
              <a:t>x</a:t>
            </a:r>
            <a:r>
              <a:rPr lang="zh-CN" altLang="en-US" sz="2800" b="1" dirty="0"/>
              <a:t>是博士，</a:t>
            </a:r>
            <a:r>
              <a:rPr lang="en-US" altLang="zh-CN" sz="2800" b="1" dirty="0"/>
              <a:t>J(x)</a:t>
            </a:r>
            <a:r>
              <a:rPr lang="zh-CN" altLang="en-US" sz="2800" b="1" dirty="0"/>
              <a:t>：</a:t>
            </a:r>
            <a:r>
              <a:rPr lang="en-US" altLang="zh-CN" sz="2800" b="1" dirty="0"/>
              <a:t>x</a:t>
            </a:r>
            <a:r>
              <a:rPr lang="zh-CN" altLang="en-US" sz="2800" b="1" dirty="0"/>
              <a:t>是教授，</a:t>
            </a:r>
            <a:r>
              <a:rPr lang="en-US" altLang="zh-CN" sz="2800" b="1" dirty="0"/>
              <a:t>H(x)</a:t>
            </a:r>
            <a:r>
              <a:rPr lang="zh-CN" altLang="en-US" sz="2800" b="1" dirty="0"/>
              <a:t>：</a:t>
            </a:r>
            <a:r>
              <a:rPr lang="en-US" altLang="zh-CN" sz="2800" b="1" dirty="0"/>
              <a:t>x</a:t>
            </a:r>
            <a:r>
              <a:rPr lang="zh-CN" altLang="en-US" sz="2800" b="1" dirty="0"/>
              <a:t>是青年人。</a:t>
            </a:r>
          </a:p>
          <a:p>
            <a:pPr algn="l">
              <a:lnSpc>
                <a:spcPct val="120000"/>
              </a:lnSpc>
            </a:pPr>
            <a:r>
              <a:rPr lang="zh-CN" altLang="en-US" sz="2800" b="1" dirty="0"/>
              <a:t>前提：</a:t>
            </a:r>
            <a:r>
              <a:rPr lang="en-US" altLang="zh-CN" sz="2800" b="1" dirty="0">
                <a:sym typeface="Symbol" pitchFamily="18" charset="2"/>
              </a:rPr>
              <a:t>(x)(A(x)B(x)∧J(x))</a:t>
            </a:r>
            <a:r>
              <a:rPr lang="zh-CN" altLang="en-US" sz="2800" b="1" dirty="0">
                <a:sym typeface="Symbol" pitchFamily="18" charset="2"/>
              </a:rPr>
              <a:t>，</a:t>
            </a:r>
            <a:r>
              <a:rPr lang="en-US" altLang="zh-CN" sz="2800" b="1" dirty="0">
                <a:sym typeface="Symbol" pitchFamily="18" charset="2"/>
              </a:rPr>
              <a:t>(x)(A(x)∧H(x))</a:t>
            </a:r>
          </a:p>
          <a:p>
            <a:pPr algn="l">
              <a:lnSpc>
                <a:spcPct val="120000"/>
              </a:lnSpc>
            </a:pPr>
            <a:r>
              <a:rPr lang="zh-CN" altLang="en-US" sz="2800" b="1" dirty="0">
                <a:sym typeface="Symbol" pitchFamily="18" charset="2"/>
              </a:rPr>
              <a:t>结论：</a:t>
            </a:r>
            <a:r>
              <a:rPr lang="en-US" altLang="zh-CN" sz="2800" b="1" dirty="0">
                <a:sym typeface="Symbol" pitchFamily="18" charset="2"/>
              </a:rPr>
              <a:t>(x)(A(x)∧H(x)∧J(x))</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5442">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5442">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544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544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A483D1E9-ED64-4B30-A074-7CC422495DDB}" type="slidenum">
              <a:rPr lang="en-US" altLang="zh-CN"/>
              <a:pPr/>
              <a:t>95</a:t>
            </a:fld>
            <a:endParaRPr lang="en-US" altLang="zh-CN"/>
          </a:p>
        </p:txBody>
      </p:sp>
      <p:sp>
        <p:nvSpPr>
          <p:cNvPr id="446466" name="Rectangle 2"/>
          <p:cNvSpPr>
            <a:spLocks noChangeArrowheads="1"/>
          </p:cNvSpPr>
          <p:nvPr/>
        </p:nvSpPr>
        <p:spPr bwMode="auto">
          <a:xfrm>
            <a:off x="466725" y="1268413"/>
            <a:ext cx="7993063" cy="5473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lnSpc>
                <a:spcPct val="120000"/>
              </a:lnSpc>
            </a:pPr>
            <a:r>
              <a:rPr lang="en-US" altLang="zh-CN" sz="2800" b="1" dirty="0">
                <a:sym typeface="Symbol" pitchFamily="18" charset="2"/>
              </a:rPr>
              <a:t>(x)(A(x)B(x)∧J(x))</a:t>
            </a:r>
            <a:r>
              <a:rPr lang="en-US" altLang="zh-CN" sz="2800" b="1" dirty="0">
                <a:latin typeface="宋体" charset="-122"/>
                <a:sym typeface="Symbol" pitchFamily="18" charset="2"/>
              </a:rPr>
              <a:t>∧</a:t>
            </a:r>
            <a:r>
              <a:rPr lang="en-US" altLang="zh-CN" sz="2800" b="1" dirty="0">
                <a:sym typeface="Symbol" pitchFamily="18" charset="2"/>
              </a:rPr>
              <a:t>(x)(A(x)∧H(x))</a:t>
            </a:r>
          </a:p>
          <a:p>
            <a:pPr algn="l">
              <a:lnSpc>
                <a:spcPct val="120000"/>
              </a:lnSpc>
            </a:pPr>
            <a:r>
              <a:rPr lang="en-US" altLang="zh-CN" sz="2800" b="1" dirty="0">
                <a:sym typeface="Symbol" pitchFamily="18" charset="2"/>
              </a:rPr>
              <a:t>(x)(A(x)∧H(x)∧J(x))</a:t>
            </a:r>
          </a:p>
          <a:p>
            <a:pPr algn="l">
              <a:lnSpc>
                <a:spcPct val="120000"/>
              </a:lnSpc>
            </a:pPr>
            <a:r>
              <a:rPr lang="zh-CN" altLang="en-US" sz="2800" b="1" dirty="0">
                <a:sym typeface="Symbol" pitchFamily="18" charset="2"/>
              </a:rPr>
              <a:t>证明：</a:t>
            </a:r>
            <a:r>
              <a:rPr lang="en-US" altLang="zh-CN" sz="2800" b="1" dirty="0">
                <a:sym typeface="Symbol" pitchFamily="18" charset="2"/>
              </a:rPr>
              <a:t>(1) (x)(A(x)∧H(x))          </a:t>
            </a:r>
            <a:r>
              <a:rPr lang="en-US" altLang="zh-CN" sz="2800" b="1" dirty="0" smtClean="0">
                <a:sym typeface="Symbol" pitchFamily="18" charset="2"/>
              </a:rPr>
              <a:t>	P</a:t>
            </a:r>
            <a:endParaRPr lang="en-US" altLang="zh-CN" sz="2800" b="1" dirty="0">
              <a:sym typeface="Symbol" pitchFamily="18" charset="2"/>
            </a:endParaRPr>
          </a:p>
          <a:p>
            <a:pPr algn="l"/>
            <a:r>
              <a:rPr lang="en-US" altLang="zh-CN" sz="2800" b="1" dirty="0">
                <a:sym typeface="Symbol" pitchFamily="18" charset="2"/>
              </a:rPr>
              <a:t>            (2) A(c)∧H(c)                   </a:t>
            </a:r>
            <a:r>
              <a:rPr lang="en-US" altLang="zh-CN" sz="2800" b="1" dirty="0" smtClean="0">
                <a:sym typeface="Symbol" pitchFamily="18" charset="2"/>
              </a:rPr>
              <a:t>	ES(1</a:t>
            </a:r>
            <a:r>
              <a:rPr lang="en-US" altLang="zh-CN" sz="2800" b="1" dirty="0">
                <a:sym typeface="Symbol" pitchFamily="18" charset="2"/>
              </a:rPr>
              <a:t>)</a:t>
            </a:r>
            <a:endParaRPr lang="en-US" altLang="zh-CN" sz="2800" b="1" dirty="0"/>
          </a:p>
          <a:p>
            <a:pPr algn="l"/>
            <a:r>
              <a:rPr lang="en-US" altLang="zh-CN" sz="2800" b="1" dirty="0">
                <a:sym typeface="Symbol" pitchFamily="18" charset="2"/>
              </a:rPr>
              <a:t>            (3) (x)(A(x)B(x)∧J(x)) </a:t>
            </a:r>
            <a:r>
              <a:rPr lang="en-US" altLang="zh-CN" sz="2800" b="1" dirty="0" smtClean="0">
                <a:sym typeface="Symbol" pitchFamily="18" charset="2"/>
              </a:rPr>
              <a:t>	P</a:t>
            </a:r>
            <a:endParaRPr lang="en-US" altLang="zh-CN" sz="2800" b="1" dirty="0">
              <a:sym typeface="Symbol" pitchFamily="18" charset="2"/>
            </a:endParaRPr>
          </a:p>
          <a:p>
            <a:pPr algn="l"/>
            <a:r>
              <a:rPr lang="en-US" altLang="zh-CN" sz="2800" b="1" dirty="0">
                <a:sym typeface="Symbol" pitchFamily="18" charset="2"/>
              </a:rPr>
              <a:t>            (4) A(c)B(c)∧J(c)           </a:t>
            </a:r>
            <a:r>
              <a:rPr lang="en-US" altLang="zh-CN" sz="2800" b="1" dirty="0" smtClean="0">
                <a:sym typeface="Symbol" pitchFamily="18" charset="2"/>
              </a:rPr>
              <a:t>	US(3</a:t>
            </a:r>
            <a:r>
              <a:rPr lang="en-US" altLang="zh-CN" sz="2800" b="1" dirty="0">
                <a:sym typeface="Symbol" pitchFamily="18" charset="2"/>
              </a:rPr>
              <a:t>)</a:t>
            </a:r>
            <a:endParaRPr lang="en-US" altLang="zh-CN" sz="2800" b="1" dirty="0"/>
          </a:p>
          <a:p>
            <a:pPr algn="l"/>
            <a:r>
              <a:rPr lang="en-US" altLang="zh-CN" sz="2800" b="1" dirty="0">
                <a:sym typeface="Symbol" pitchFamily="18" charset="2"/>
              </a:rPr>
              <a:t>            (5) A(c)                             </a:t>
            </a:r>
            <a:r>
              <a:rPr lang="en-US" altLang="zh-CN" sz="2800" b="1" dirty="0" smtClean="0">
                <a:sym typeface="Symbol" pitchFamily="18" charset="2"/>
              </a:rPr>
              <a:t>	T(2)I</a:t>
            </a:r>
            <a:endParaRPr lang="en-US" altLang="zh-CN" sz="2800" b="1" dirty="0">
              <a:sym typeface="Symbol" pitchFamily="18" charset="2"/>
            </a:endParaRPr>
          </a:p>
          <a:p>
            <a:pPr algn="l"/>
            <a:r>
              <a:rPr lang="en-US" altLang="zh-CN" sz="2800" b="1" dirty="0">
                <a:sym typeface="Symbol" pitchFamily="18" charset="2"/>
              </a:rPr>
              <a:t>            (6) H(c)                              </a:t>
            </a:r>
            <a:r>
              <a:rPr lang="en-US" altLang="zh-CN" sz="2800" b="1" dirty="0" smtClean="0">
                <a:sym typeface="Symbol" pitchFamily="18" charset="2"/>
              </a:rPr>
              <a:t>	T(2)I</a:t>
            </a:r>
            <a:endParaRPr lang="en-US" altLang="zh-CN" sz="2800" b="1" dirty="0">
              <a:sym typeface="Symbol" pitchFamily="18" charset="2"/>
            </a:endParaRPr>
          </a:p>
          <a:p>
            <a:pPr algn="l"/>
            <a:r>
              <a:rPr lang="en-US" altLang="zh-CN" sz="2800" b="1" dirty="0">
                <a:sym typeface="Symbol" pitchFamily="18" charset="2"/>
              </a:rPr>
              <a:t>            (7) B(c)∧J(c)                   </a:t>
            </a:r>
            <a:r>
              <a:rPr lang="en-US" altLang="zh-CN" sz="2800" b="1" dirty="0" smtClean="0">
                <a:sym typeface="Symbol" pitchFamily="18" charset="2"/>
              </a:rPr>
              <a:t>	T(4</a:t>
            </a:r>
            <a:r>
              <a:rPr lang="en-US" altLang="zh-CN" sz="2800" b="1" dirty="0">
                <a:sym typeface="Symbol" pitchFamily="18" charset="2"/>
              </a:rPr>
              <a:t>), (5)I</a:t>
            </a:r>
          </a:p>
          <a:p>
            <a:pPr algn="l"/>
            <a:r>
              <a:rPr lang="en-US" altLang="zh-CN" sz="2800" b="1" dirty="0">
                <a:sym typeface="Symbol" pitchFamily="18" charset="2"/>
              </a:rPr>
              <a:t>            (8) J(c)                            </a:t>
            </a:r>
            <a:r>
              <a:rPr lang="en-US" altLang="zh-CN" sz="2800" b="1" dirty="0" smtClean="0">
                <a:sym typeface="Symbol" pitchFamily="18" charset="2"/>
              </a:rPr>
              <a:t>	T(7)I</a:t>
            </a:r>
            <a:endParaRPr lang="en-US" altLang="zh-CN" sz="2800" b="1" dirty="0">
              <a:sym typeface="Symbol" pitchFamily="18" charset="2"/>
            </a:endParaRPr>
          </a:p>
          <a:p>
            <a:pPr algn="l"/>
            <a:r>
              <a:rPr lang="en-US" altLang="zh-CN" sz="2800" b="1" dirty="0">
                <a:sym typeface="Symbol" pitchFamily="18" charset="2"/>
              </a:rPr>
              <a:t>            (9) A(c)∧H(c)∧J(c)        </a:t>
            </a:r>
            <a:r>
              <a:rPr lang="en-US" altLang="zh-CN" sz="2800" b="1" dirty="0" smtClean="0">
                <a:sym typeface="Symbol" pitchFamily="18" charset="2"/>
              </a:rPr>
              <a:t>	T(6</a:t>
            </a:r>
            <a:r>
              <a:rPr lang="en-US" altLang="zh-CN" sz="2800" b="1" dirty="0">
                <a:sym typeface="Symbol" pitchFamily="18" charset="2"/>
              </a:rPr>
              <a:t>), (8)I</a:t>
            </a:r>
          </a:p>
          <a:p>
            <a:pPr algn="l"/>
            <a:r>
              <a:rPr lang="en-US" altLang="zh-CN" sz="2800" b="1" dirty="0">
                <a:sym typeface="Symbol" pitchFamily="18" charset="2"/>
              </a:rPr>
              <a:t>           (10)(x)(A(x)∧H(x)∧J(x)) </a:t>
            </a:r>
            <a:r>
              <a:rPr lang="en-US" altLang="zh-CN" sz="2800" b="1" dirty="0" smtClean="0">
                <a:sym typeface="Symbol" pitchFamily="18" charset="2"/>
              </a:rPr>
              <a:t>	EG(8</a:t>
            </a:r>
            <a:r>
              <a:rPr lang="en-US" altLang="zh-CN" sz="2800" b="1" dirty="0">
                <a:sym typeface="Symbol" pitchFamily="18" charset="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6466">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6466">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6466">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6466">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6466">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6466">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46466">
                                            <p:txEl>
                                              <p:pRg st="8" end="8"/>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46466">
                                            <p:txEl>
                                              <p:pRg st="9" end="9"/>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46466">
                                            <p:txEl>
                                              <p:pRg st="10" end="1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4646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7BEA4228-E4D5-4B4E-BEB8-1EFE06A9BDD9}" type="slidenum">
              <a:rPr lang="en-US" altLang="zh-CN"/>
              <a:pPr/>
              <a:t>96</a:t>
            </a:fld>
            <a:endParaRPr lang="en-US" altLang="zh-CN"/>
          </a:p>
        </p:txBody>
      </p:sp>
      <p:sp>
        <p:nvSpPr>
          <p:cNvPr id="447490" name="Rectangle 2"/>
          <p:cNvSpPr>
            <a:spLocks noChangeArrowheads="1"/>
          </p:cNvSpPr>
          <p:nvPr/>
        </p:nvSpPr>
        <p:spPr bwMode="auto">
          <a:xfrm>
            <a:off x="611188" y="1557338"/>
            <a:ext cx="7920037" cy="4449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20000"/>
              </a:spcBef>
              <a:buClr>
                <a:schemeClr val="folHlink"/>
              </a:buClr>
              <a:buSzPct val="60000"/>
              <a:buFont typeface="Wingdings" pitchFamily="2" charset="2"/>
              <a:buNone/>
            </a:pPr>
            <a:r>
              <a:rPr kumimoji="0" lang="zh-CN" altLang="en-US" sz="2800" b="1" dirty="0" smtClean="0">
                <a:solidFill>
                  <a:schemeClr val="hlink"/>
                </a:solidFill>
              </a:rPr>
              <a:t>练</a:t>
            </a:r>
            <a:r>
              <a:rPr kumimoji="0" lang="en-US" altLang="zh-CN" sz="2800" b="1" dirty="0" smtClean="0">
                <a:solidFill>
                  <a:schemeClr val="hlink"/>
                </a:solidFill>
              </a:rPr>
              <a:t>5</a:t>
            </a:r>
            <a:r>
              <a:rPr kumimoji="0" lang="zh-CN" altLang="en-US" sz="2800" b="1" dirty="0" smtClean="0">
                <a:solidFill>
                  <a:schemeClr val="hlink"/>
                </a:solidFill>
              </a:rPr>
              <a:t>：</a:t>
            </a:r>
            <a:r>
              <a:rPr kumimoji="0" lang="zh-CN" altLang="en-US" sz="2800" b="1" dirty="0">
                <a:solidFill>
                  <a:schemeClr val="hlink"/>
                </a:solidFill>
              </a:rPr>
              <a:t>构造下列推理的证明。</a:t>
            </a:r>
            <a:endParaRPr kumimoji="0" lang="zh-CN" altLang="en-US" sz="2800" b="1" dirty="0">
              <a:solidFill>
                <a:schemeClr val="hlink"/>
              </a:solidFill>
              <a:sym typeface="Symbol" pitchFamily="18" charset="2"/>
            </a:endParaRPr>
          </a:p>
          <a:p>
            <a:pPr algn="l">
              <a:spcBef>
                <a:spcPct val="20000"/>
              </a:spcBef>
              <a:buClr>
                <a:schemeClr val="folHlink"/>
              </a:buClr>
              <a:buSzPct val="60000"/>
              <a:buFont typeface="Wingdings" pitchFamily="2" charset="2"/>
              <a:buNone/>
            </a:pPr>
            <a:r>
              <a:rPr kumimoji="0" lang="zh-CN" altLang="en-US" sz="2800" b="1" dirty="0"/>
              <a:t>        有些病人相信所有的医生。但是病人都不相信骗子。所以，医生都不是骗子。</a:t>
            </a:r>
          </a:p>
          <a:p>
            <a:pPr algn="l">
              <a:spcBef>
                <a:spcPct val="20000"/>
              </a:spcBef>
              <a:buClr>
                <a:schemeClr val="folHlink"/>
              </a:buClr>
              <a:buSzPct val="60000"/>
              <a:buFont typeface="Wingdings" pitchFamily="2" charset="2"/>
              <a:buNone/>
            </a:pPr>
            <a:r>
              <a:rPr kumimoji="0" lang="zh-CN" altLang="en-US" sz="2800" b="1" dirty="0"/>
              <a:t>解： 先将简单命题符号化：</a:t>
            </a:r>
          </a:p>
          <a:p>
            <a:pPr algn="l">
              <a:spcBef>
                <a:spcPct val="20000"/>
              </a:spcBef>
              <a:buClr>
                <a:schemeClr val="folHlink"/>
              </a:buClr>
              <a:buSzPct val="60000"/>
              <a:buFont typeface="Wingdings" pitchFamily="2" charset="2"/>
              <a:buNone/>
            </a:pPr>
            <a:r>
              <a:rPr kumimoji="0" lang="zh-CN" altLang="en-US" sz="2800" b="1" dirty="0"/>
              <a:t>         </a:t>
            </a:r>
            <a:r>
              <a:rPr kumimoji="0" lang="en-US" altLang="zh-CN" sz="2800" b="1" dirty="0"/>
              <a:t>A(x)</a:t>
            </a:r>
            <a:r>
              <a:rPr kumimoji="0" lang="zh-CN" altLang="en-US" sz="2800" b="1" dirty="0"/>
              <a:t>：</a:t>
            </a:r>
            <a:r>
              <a:rPr kumimoji="0" lang="en-US" altLang="zh-CN" sz="2800" b="1" dirty="0"/>
              <a:t>x</a:t>
            </a:r>
            <a:r>
              <a:rPr kumimoji="0" lang="zh-CN" altLang="en-US" sz="2800" b="1" dirty="0"/>
              <a:t>是病人，</a:t>
            </a:r>
            <a:r>
              <a:rPr kumimoji="0" lang="en-US" altLang="zh-CN" sz="2800" b="1" dirty="0"/>
              <a:t>B(x)</a:t>
            </a:r>
            <a:r>
              <a:rPr kumimoji="0" lang="zh-CN" altLang="en-US" sz="2800" b="1" dirty="0"/>
              <a:t>：</a:t>
            </a:r>
            <a:r>
              <a:rPr kumimoji="0" lang="en-US" altLang="zh-CN" sz="2800" b="1" dirty="0"/>
              <a:t>x</a:t>
            </a:r>
            <a:r>
              <a:rPr kumimoji="0" lang="zh-CN" altLang="en-US" sz="2800" b="1" dirty="0"/>
              <a:t>是医生，</a:t>
            </a:r>
            <a:r>
              <a:rPr kumimoji="0" lang="en-US" altLang="zh-CN" sz="2800" b="1" dirty="0"/>
              <a:t>J(x)</a:t>
            </a:r>
            <a:r>
              <a:rPr kumimoji="0" lang="zh-CN" altLang="en-US" sz="2800" b="1" dirty="0"/>
              <a:t>：</a:t>
            </a:r>
            <a:r>
              <a:rPr kumimoji="0" lang="en-US" altLang="zh-CN" sz="2800" b="1" dirty="0"/>
              <a:t>x</a:t>
            </a:r>
            <a:r>
              <a:rPr kumimoji="0" lang="zh-CN" altLang="en-US" sz="2800" b="1" dirty="0"/>
              <a:t>是骗子，</a:t>
            </a:r>
            <a:r>
              <a:rPr kumimoji="0" lang="en-US" altLang="zh-CN" sz="2800" b="1" dirty="0"/>
              <a:t>H(</a:t>
            </a:r>
            <a:r>
              <a:rPr kumimoji="0" lang="en-US" altLang="zh-CN" sz="2800" b="1" dirty="0" err="1"/>
              <a:t>x,y</a:t>
            </a:r>
            <a:r>
              <a:rPr kumimoji="0" lang="en-US" altLang="zh-CN" sz="2800" b="1" dirty="0"/>
              <a:t>)</a:t>
            </a:r>
            <a:r>
              <a:rPr kumimoji="0" lang="zh-CN" altLang="en-US" sz="2800" b="1" dirty="0"/>
              <a:t>：</a:t>
            </a:r>
            <a:r>
              <a:rPr kumimoji="0" lang="en-US" altLang="zh-CN" sz="2800" b="1" dirty="0"/>
              <a:t>x</a:t>
            </a:r>
            <a:r>
              <a:rPr kumimoji="0" lang="zh-CN" altLang="en-US" sz="2800" b="1" dirty="0"/>
              <a:t>相信</a:t>
            </a:r>
            <a:r>
              <a:rPr kumimoji="0" lang="en-US" altLang="zh-CN" sz="2800" b="1" dirty="0"/>
              <a:t>y</a:t>
            </a:r>
            <a:r>
              <a:rPr kumimoji="0" lang="zh-CN" altLang="en-US" sz="2800" b="1" dirty="0"/>
              <a:t>。</a:t>
            </a:r>
          </a:p>
          <a:p>
            <a:pPr algn="l">
              <a:spcBef>
                <a:spcPct val="20000"/>
              </a:spcBef>
              <a:buClr>
                <a:schemeClr val="folHlink"/>
              </a:buClr>
              <a:buSzPct val="60000"/>
              <a:buFont typeface="Wingdings" pitchFamily="2" charset="2"/>
              <a:buNone/>
            </a:pPr>
            <a:r>
              <a:rPr kumimoji="0" lang="zh-CN" altLang="en-US" sz="2800" b="1" dirty="0"/>
              <a:t>前提</a:t>
            </a:r>
            <a:r>
              <a:rPr kumimoji="0" lang="zh-CN" altLang="en-US" sz="2800" b="1" dirty="0">
                <a:sym typeface="Wingdings" pitchFamily="2" charset="2"/>
              </a:rPr>
              <a:t>：</a:t>
            </a:r>
            <a:r>
              <a:rPr kumimoji="0" lang="en-US" altLang="zh-CN" sz="2800" b="1" dirty="0">
                <a:sym typeface="Wingdings" pitchFamily="2" charset="2"/>
              </a:rPr>
              <a:t>(</a:t>
            </a:r>
            <a:r>
              <a:rPr kumimoji="0" lang="en-US" altLang="zh-CN" sz="2800" b="1" dirty="0">
                <a:sym typeface="Symbol" pitchFamily="18" charset="2"/>
              </a:rPr>
              <a:t>x)(A(x)∧(y)(B(y)H(</a:t>
            </a:r>
            <a:r>
              <a:rPr kumimoji="0" lang="en-US" altLang="zh-CN" sz="2800" b="1" dirty="0" err="1">
                <a:sym typeface="Symbol" pitchFamily="18" charset="2"/>
              </a:rPr>
              <a:t>x,y</a:t>
            </a:r>
            <a:r>
              <a:rPr kumimoji="0" lang="en-US" altLang="zh-CN" sz="2800" b="1" dirty="0">
                <a:sym typeface="Symbol" pitchFamily="18" charset="2"/>
              </a:rPr>
              <a:t>)))</a:t>
            </a:r>
            <a:r>
              <a:rPr kumimoji="0" lang="zh-CN" altLang="en-US" sz="2800" b="1" dirty="0">
                <a:sym typeface="Symbol" pitchFamily="18" charset="2"/>
              </a:rPr>
              <a:t>，</a:t>
            </a:r>
          </a:p>
          <a:p>
            <a:pPr algn="l">
              <a:spcBef>
                <a:spcPct val="20000"/>
              </a:spcBef>
              <a:buClr>
                <a:schemeClr val="folHlink"/>
              </a:buClr>
              <a:buSzPct val="60000"/>
              <a:buFont typeface="Wingdings" pitchFamily="2" charset="2"/>
              <a:buNone/>
            </a:pPr>
            <a:r>
              <a:rPr kumimoji="0" lang="zh-CN" altLang="en-US" sz="2800" b="1" dirty="0">
                <a:sym typeface="Symbol" pitchFamily="18" charset="2"/>
              </a:rPr>
              <a:t>            </a:t>
            </a:r>
            <a:r>
              <a:rPr kumimoji="0" lang="en-US" altLang="zh-CN" sz="2800" b="1" dirty="0">
                <a:sym typeface="Symbol" pitchFamily="18" charset="2"/>
              </a:rPr>
              <a:t>(x)(A(x)(y)(J(y)┐H(</a:t>
            </a:r>
            <a:r>
              <a:rPr kumimoji="0" lang="en-US" altLang="zh-CN" sz="2800" b="1" dirty="0" err="1">
                <a:sym typeface="Symbol" pitchFamily="18" charset="2"/>
              </a:rPr>
              <a:t>x,y</a:t>
            </a:r>
            <a:r>
              <a:rPr kumimoji="0" lang="en-US" altLang="zh-CN" sz="2800" b="1" dirty="0">
                <a:sym typeface="Symbol" pitchFamily="18" charset="2"/>
              </a:rPr>
              <a:t>)))</a:t>
            </a:r>
          </a:p>
          <a:p>
            <a:pPr algn="l">
              <a:spcBef>
                <a:spcPct val="20000"/>
              </a:spcBef>
              <a:buClr>
                <a:schemeClr val="folHlink"/>
              </a:buClr>
              <a:buSzPct val="60000"/>
              <a:buFont typeface="Wingdings" pitchFamily="2" charset="2"/>
              <a:buNone/>
            </a:pPr>
            <a:r>
              <a:rPr kumimoji="0" lang="zh-CN" altLang="en-US" sz="2800" b="1" dirty="0">
                <a:sym typeface="Symbol" pitchFamily="18" charset="2"/>
              </a:rPr>
              <a:t>结论： </a:t>
            </a:r>
            <a:r>
              <a:rPr kumimoji="0" lang="en-US" altLang="zh-CN" sz="2800" b="1" dirty="0">
                <a:sym typeface="Symbol" pitchFamily="18" charset="2"/>
              </a:rPr>
              <a:t>(x)(B(x)┐J(x))</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7490">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7490">
                                            <p:txEl>
                                              <p:pRg st="3" end="3"/>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447490">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447490">
                                            <p:txEl>
                                              <p:pRg st="5" end="5"/>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447490">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2"/>
          <p:cNvSpPr>
            <a:spLocks noGrp="1"/>
          </p:cNvSpPr>
          <p:nvPr>
            <p:ph type="sldNum" sz="quarter" idx="11"/>
          </p:nvPr>
        </p:nvSpPr>
        <p:spPr/>
        <p:txBody>
          <a:bodyPr/>
          <a:lstStyle/>
          <a:p>
            <a:fld id="{5FB11B58-899E-40DA-A7B3-34EECCE7A987}" type="slidenum">
              <a:rPr lang="en-US" altLang="zh-CN"/>
              <a:pPr/>
              <a:t>97</a:t>
            </a:fld>
            <a:endParaRPr lang="en-US" altLang="zh-CN"/>
          </a:p>
        </p:txBody>
      </p:sp>
      <p:sp>
        <p:nvSpPr>
          <p:cNvPr id="448514" name="Rectangle 2"/>
          <p:cNvSpPr>
            <a:spLocks noChangeArrowheads="1"/>
          </p:cNvSpPr>
          <p:nvPr/>
        </p:nvSpPr>
        <p:spPr bwMode="auto">
          <a:xfrm>
            <a:off x="395536" y="1415673"/>
            <a:ext cx="8208912" cy="48936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just">
              <a:lnSpc>
                <a:spcPct val="90000"/>
              </a:lnSpc>
              <a:spcBef>
                <a:spcPct val="20000"/>
              </a:spcBef>
              <a:buClr>
                <a:schemeClr val="folHlink"/>
              </a:buClr>
              <a:buSzPct val="60000"/>
              <a:buFont typeface="Wingdings" pitchFamily="2" charset="2"/>
              <a:buNone/>
            </a:pPr>
            <a:r>
              <a:rPr kumimoji="0" lang="zh-CN" altLang="en-US" b="1" dirty="0">
                <a:sym typeface="Symbol" pitchFamily="18" charset="2"/>
              </a:rPr>
              <a:t>证明：</a:t>
            </a:r>
            <a:r>
              <a:rPr kumimoji="0" lang="en-US" altLang="zh-CN" b="1" dirty="0">
                <a:sym typeface="Symbol" pitchFamily="18" charset="2"/>
              </a:rPr>
              <a:t>(1) (x)(A(x)(y)(B(y)H(</a:t>
            </a:r>
            <a:r>
              <a:rPr kumimoji="0" lang="en-US" altLang="zh-CN" b="1" dirty="0" err="1">
                <a:sym typeface="Symbol" pitchFamily="18" charset="2"/>
              </a:rPr>
              <a:t>x,y</a:t>
            </a:r>
            <a:r>
              <a:rPr kumimoji="0" lang="en-US" altLang="zh-CN" b="1" dirty="0">
                <a:sym typeface="Symbol" pitchFamily="18" charset="2"/>
              </a:rPr>
              <a:t>)))   </a:t>
            </a:r>
            <a:r>
              <a:rPr kumimoji="0" lang="en-US" altLang="zh-CN" b="1" dirty="0" smtClean="0">
                <a:sym typeface="Symbol" pitchFamily="18" charset="2"/>
              </a:rPr>
              <a:t>	P</a:t>
            </a:r>
            <a:endParaRPr kumimoji="0" lang="en-US" altLang="zh-CN" b="1" dirty="0">
              <a:sym typeface="Symbol" pitchFamily="18" charset="2"/>
            </a:endParaRP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(2)</a:t>
            </a:r>
            <a:r>
              <a:rPr kumimoji="0" lang="en-US" altLang="zh-CN" b="1" dirty="0">
                <a:solidFill>
                  <a:srgbClr val="0000FF"/>
                </a:solidFill>
                <a:sym typeface="Symbol" pitchFamily="18" charset="2"/>
              </a:rPr>
              <a:t> A(c)∧(y)(B(y)H(</a:t>
            </a:r>
            <a:r>
              <a:rPr kumimoji="0" lang="en-US" altLang="zh-CN" b="1" dirty="0" err="1">
                <a:solidFill>
                  <a:srgbClr val="0000FF"/>
                </a:solidFill>
                <a:sym typeface="Symbol" pitchFamily="18" charset="2"/>
              </a:rPr>
              <a:t>c,y</a:t>
            </a:r>
            <a:r>
              <a:rPr kumimoji="0" lang="en-US" altLang="zh-CN" b="1" dirty="0">
                <a:solidFill>
                  <a:srgbClr val="0000FF"/>
                </a:solidFill>
                <a:sym typeface="Symbol" pitchFamily="18" charset="2"/>
              </a:rPr>
              <a:t>)                    </a:t>
            </a:r>
            <a:r>
              <a:rPr kumimoji="0" lang="en-US" altLang="zh-CN" b="1" dirty="0" smtClean="0">
                <a:solidFill>
                  <a:srgbClr val="0000FF"/>
                </a:solidFill>
                <a:sym typeface="Symbol" pitchFamily="18" charset="2"/>
              </a:rPr>
              <a:t>	ES(1</a:t>
            </a:r>
            <a:r>
              <a:rPr kumimoji="0" lang="en-US" altLang="zh-CN" b="1" dirty="0">
                <a:solidFill>
                  <a:srgbClr val="0000FF"/>
                </a:solidFill>
                <a:sym typeface="Symbol" pitchFamily="18" charset="2"/>
              </a:rPr>
              <a:t>)</a:t>
            </a:r>
            <a:endParaRPr kumimoji="0" lang="en-US" altLang="zh-CN" b="1" dirty="0">
              <a:solidFill>
                <a:srgbClr val="0000FF"/>
              </a:solidFill>
            </a:endParaRP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(3)</a:t>
            </a:r>
            <a:r>
              <a:rPr kumimoji="0" lang="en-US" altLang="zh-CN" b="1" dirty="0">
                <a:solidFill>
                  <a:srgbClr val="9900FF"/>
                </a:solidFill>
                <a:sym typeface="Symbol" pitchFamily="18" charset="2"/>
              </a:rPr>
              <a:t> A(c)                                                       </a:t>
            </a:r>
            <a:r>
              <a:rPr kumimoji="0" lang="en-US" altLang="zh-CN" b="1" dirty="0" smtClean="0">
                <a:solidFill>
                  <a:srgbClr val="9900FF"/>
                </a:solidFill>
                <a:sym typeface="Symbol" pitchFamily="18" charset="2"/>
              </a:rPr>
              <a:t>	T(2)I</a:t>
            </a:r>
            <a:endParaRPr kumimoji="0" lang="en-US" altLang="zh-CN" b="1" dirty="0">
              <a:solidFill>
                <a:srgbClr val="9900FF"/>
              </a:solidFill>
              <a:sym typeface="Symbol" pitchFamily="18" charset="2"/>
            </a:endParaRP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(4) (y)(B(y)H(</a:t>
            </a:r>
            <a:r>
              <a:rPr kumimoji="0" lang="en-US" altLang="zh-CN" b="1" dirty="0" err="1">
                <a:sym typeface="Symbol" pitchFamily="18" charset="2"/>
              </a:rPr>
              <a:t>c,y</a:t>
            </a:r>
            <a:r>
              <a:rPr kumimoji="0" lang="en-US" altLang="zh-CN" b="1" dirty="0">
                <a:sym typeface="Symbol" pitchFamily="18" charset="2"/>
              </a:rPr>
              <a:t>)                               </a:t>
            </a:r>
            <a:r>
              <a:rPr kumimoji="0" lang="en-US" altLang="zh-CN" b="1" dirty="0" smtClean="0">
                <a:sym typeface="Symbol" pitchFamily="18" charset="2"/>
              </a:rPr>
              <a:t>	T(2)I</a:t>
            </a:r>
            <a:endParaRPr kumimoji="0" lang="en-US" altLang="zh-CN" b="1" dirty="0"/>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(5)</a:t>
            </a:r>
            <a:r>
              <a:rPr kumimoji="0" lang="en-US" altLang="zh-CN" b="1" dirty="0">
                <a:solidFill>
                  <a:srgbClr val="FF33CC"/>
                </a:solidFill>
                <a:sym typeface="Symbol" pitchFamily="18" charset="2"/>
              </a:rPr>
              <a:t> (x)(A(x)(y)(J(y)</a:t>
            </a:r>
            <a:r>
              <a:rPr kumimoji="0" lang="en-US" altLang="zh-CN" b="1" dirty="0">
                <a:solidFill>
                  <a:srgbClr val="FF33CC"/>
                </a:solidFill>
                <a:latin typeface="宋体" charset="-122"/>
                <a:sym typeface="Symbol" pitchFamily="18" charset="2"/>
              </a:rPr>
              <a:t>┐</a:t>
            </a:r>
            <a:r>
              <a:rPr kumimoji="0" lang="en-US" altLang="zh-CN" b="1" dirty="0">
                <a:solidFill>
                  <a:srgbClr val="FF33CC"/>
                </a:solidFill>
                <a:sym typeface="Symbol" pitchFamily="18" charset="2"/>
              </a:rPr>
              <a:t>H(</a:t>
            </a:r>
            <a:r>
              <a:rPr kumimoji="0" lang="en-US" altLang="zh-CN" b="1" dirty="0" err="1">
                <a:solidFill>
                  <a:srgbClr val="FF33CC"/>
                </a:solidFill>
                <a:sym typeface="Symbol" pitchFamily="18" charset="2"/>
              </a:rPr>
              <a:t>x,y</a:t>
            </a:r>
            <a:r>
              <a:rPr kumimoji="0" lang="en-US" altLang="zh-CN" b="1" dirty="0">
                <a:solidFill>
                  <a:srgbClr val="FF33CC"/>
                </a:solidFill>
                <a:sym typeface="Symbol" pitchFamily="18" charset="2"/>
              </a:rPr>
              <a:t>)))     </a:t>
            </a:r>
            <a:r>
              <a:rPr kumimoji="0" lang="en-US" altLang="zh-CN" b="1" dirty="0" smtClean="0">
                <a:solidFill>
                  <a:srgbClr val="FF33CC"/>
                </a:solidFill>
                <a:sym typeface="Symbol" pitchFamily="18" charset="2"/>
              </a:rPr>
              <a:t>	P</a:t>
            </a:r>
            <a:endParaRPr kumimoji="0" lang="en-US" altLang="zh-CN" b="1" dirty="0">
              <a:solidFill>
                <a:srgbClr val="FF33CC"/>
              </a:solidFill>
              <a:sym typeface="Symbol" pitchFamily="18" charset="2"/>
            </a:endParaRP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(6) A(c)(y)(J(y)</a:t>
            </a:r>
            <a:r>
              <a:rPr kumimoji="0" lang="en-US" altLang="zh-CN" b="1" dirty="0">
                <a:solidFill>
                  <a:srgbClr val="FF33CC"/>
                </a:solidFill>
                <a:latin typeface="宋体" charset="-122"/>
                <a:sym typeface="Symbol" pitchFamily="18" charset="2"/>
              </a:rPr>
              <a:t>┐</a:t>
            </a:r>
            <a:r>
              <a:rPr kumimoji="0" lang="en-US" altLang="zh-CN" b="1" dirty="0">
                <a:sym typeface="Symbol" pitchFamily="18" charset="2"/>
              </a:rPr>
              <a:t>H(</a:t>
            </a:r>
            <a:r>
              <a:rPr kumimoji="0" lang="en-US" altLang="zh-CN" b="1" dirty="0" err="1">
                <a:sym typeface="Symbol" pitchFamily="18" charset="2"/>
              </a:rPr>
              <a:t>c,y</a:t>
            </a:r>
            <a:r>
              <a:rPr kumimoji="0" lang="en-US" altLang="zh-CN" b="1" dirty="0">
                <a:sym typeface="Symbol" pitchFamily="18" charset="2"/>
              </a:rPr>
              <a:t>))                </a:t>
            </a:r>
            <a:r>
              <a:rPr kumimoji="0" lang="en-US" altLang="zh-CN" b="1" dirty="0" smtClean="0">
                <a:sym typeface="Symbol" pitchFamily="18" charset="2"/>
              </a:rPr>
              <a:t>	US(5</a:t>
            </a:r>
            <a:r>
              <a:rPr kumimoji="0" lang="en-US" altLang="zh-CN" b="1" dirty="0">
                <a:sym typeface="Symbol" pitchFamily="18" charset="2"/>
              </a:rPr>
              <a:t>)</a:t>
            </a: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(7)</a:t>
            </a:r>
            <a:r>
              <a:rPr kumimoji="0" lang="en-US" altLang="zh-CN" b="1" dirty="0">
                <a:solidFill>
                  <a:srgbClr val="9900FF"/>
                </a:solidFill>
                <a:sym typeface="Symbol" pitchFamily="18" charset="2"/>
              </a:rPr>
              <a:t> (y)(J(y)┐H(</a:t>
            </a:r>
            <a:r>
              <a:rPr kumimoji="0" lang="en-US" altLang="zh-CN" b="1" dirty="0" err="1">
                <a:solidFill>
                  <a:srgbClr val="9900FF"/>
                </a:solidFill>
                <a:sym typeface="Symbol" pitchFamily="18" charset="2"/>
              </a:rPr>
              <a:t>c,y</a:t>
            </a:r>
            <a:r>
              <a:rPr kumimoji="0" lang="en-US" altLang="zh-CN" b="1" dirty="0">
                <a:solidFill>
                  <a:srgbClr val="9900FF"/>
                </a:solidFill>
                <a:sym typeface="Symbol" pitchFamily="18" charset="2"/>
              </a:rPr>
              <a:t>))                           </a:t>
            </a:r>
            <a:r>
              <a:rPr kumimoji="0" lang="en-US" altLang="zh-CN" b="1" dirty="0" smtClean="0">
                <a:solidFill>
                  <a:srgbClr val="9900FF"/>
                </a:solidFill>
                <a:sym typeface="Symbol" pitchFamily="18" charset="2"/>
              </a:rPr>
              <a:t>	T(3</a:t>
            </a:r>
            <a:r>
              <a:rPr kumimoji="0" lang="en-US" altLang="zh-CN" b="1" dirty="0">
                <a:solidFill>
                  <a:srgbClr val="9900FF"/>
                </a:solidFill>
                <a:sym typeface="Symbol" pitchFamily="18" charset="2"/>
              </a:rPr>
              <a:t>), (6)I</a:t>
            </a: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(8)</a:t>
            </a:r>
            <a:r>
              <a:rPr kumimoji="0" lang="en-US" altLang="zh-CN" b="1" dirty="0">
                <a:solidFill>
                  <a:srgbClr val="0000FF"/>
                </a:solidFill>
                <a:sym typeface="Symbol" pitchFamily="18" charset="2"/>
              </a:rPr>
              <a:t> (y)(H(</a:t>
            </a:r>
            <a:r>
              <a:rPr kumimoji="0" lang="en-US" altLang="zh-CN" b="1" dirty="0" err="1">
                <a:solidFill>
                  <a:srgbClr val="0000FF"/>
                </a:solidFill>
                <a:sym typeface="Symbol" pitchFamily="18" charset="2"/>
              </a:rPr>
              <a:t>c,y</a:t>
            </a:r>
            <a:r>
              <a:rPr kumimoji="0" lang="en-US" altLang="zh-CN" b="1" dirty="0">
                <a:solidFill>
                  <a:srgbClr val="0000FF"/>
                </a:solidFill>
                <a:sym typeface="Symbol" pitchFamily="18" charset="2"/>
              </a:rPr>
              <a:t>)┐J(y))                           </a:t>
            </a:r>
            <a:r>
              <a:rPr kumimoji="0" lang="en-US" altLang="zh-CN" b="1" dirty="0" smtClean="0">
                <a:solidFill>
                  <a:srgbClr val="0000FF"/>
                </a:solidFill>
                <a:sym typeface="Symbol" pitchFamily="18" charset="2"/>
              </a:rPr>
              <a:t>	T(7)E</a:t>
            </a:r>
            <a:endParaRPr kumimoji="0" lang="en-US" altLang="zh-CN" b="1" dirty="0">
              <a:solidFill>
                <a:srgbClr val="0000FF"/>
              </a:solidFill>
              <a:sym typeface="Symbol" pitchFamily="18" charset="2"/>
            </a:endParaRP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(9) </a:t>
            </a:r>
            <a:r>
              <a:rPr kumimoji="0" lang="en-US" altLang="zh-CN" b="1" dirty="0">
                <a:solidFill>
                  <a:srgbClr val="800000"/>
                </a:solidFill>
                <a:sym typeface="Symbol" pitchFamily="18" charset="2"/>
              </a:rPr>
              <a:t>B(z)H(</a:t>
            </a:r>
            <a:r>
              <a:rPr kumimoji="0" lang="en-US" altLang="zh-CN" b="1" dirty="0" err="1">
                <a:solidFill>
                  <a:srgbClr val="800000"/>
                </a:solidFill>
                <a:sym typeface="Symbol" pitchFamily="18" charset="2"/>
              </a:rPr>
              <a:t>c,z</a:t>
            </a:r>
            <a:r>
              <a:rPr kumimoji="0" lang="en-US" altLang="zh-CN" b="1" dirty="0">
                <a:solidFill>
                  <a:srgbClr val="800000"/>
                </a:solidFill>
                <a:sym typeface="Symbol" pitchFamily="18" charset="2"/>
              </a:rPr>
              <a:t>)                                         </a:t>
            </a:r>
            <a:r>
              <a:rPr kumimoji="0" lang="en-US" altLang="zh-CN" b="1" dirty="0" smtClean="0">
                <a:solidFill>
                  <a:srgbClr val="800000"/>
                </a:solidFill>
                <a:sym typeface="Symbol" pitchFamily="18" charset="2"/>
              </a:rPr>
              <a:t>	US(4</a:t>
            </a:r>
            <a:r>
              <a:rPr kumimoji="0" lang="en-US" altLang="zh-CN" b="1" dirty="0">
                <a:solidFill>
                  <a:srgbClr val="800000"/>
                </a:solidFill>
                <a:sym typeface="Symbol" pitchFamily="18" charset="2"/>
              </a:rPr>
              <a:t>)</a:t>
            </a: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(10)H(</a:t>
            </a:r>
            <a:r>
              <a:rPr kumimoji="0" lang="en-US" altLang="zh-CN" b="1" dirty="0" err="1">
                <a:sym typeface="Symbol" pitchFamily="18" charset="2"/>
              </a:rPr>
              <a:t>c,z</a:t>
            </a:r>
            <a:r>
              <a:rPr kumimoji="0" lang="en-US" altLang="zh-CN" b="1" dirty="0">
                <a:sym typeface="Symbol" pitchFamily="18" charset="2"/>
              </a:rPr>
              <a:t>)</a:t>
            </a:r>
            <a:r>
              <a:rPr kumimoji="0" lang="en-US" altLang="zh-CN" b="1" dirty="0">
                <a:latin typeface="宋体" charset="-122"/>
                <a:sym typeface="Symbol" pitchFamily="18" charset="2"/>
              </a:rPr>
              <a:t>┐</a:t>
            </a:r>
            <a:r>
              <a:rPr kumimoji="0" lang="en-US" altLang="zh-CN" b="1" dirty="0">
                <a:sym typeface="Symbol" pitchFamily="18" charset="2"/>
              </a:rPr>
              <a:t>J(z)                                     </a:t>
            </a:r>
            <a:r>
              <a:rPr kumimoji="0" lang="en-US" altLang="zh-CN" b="1" dirty="0" smtClean="0">
                <a:sym typeface="Symbol" pitchFamily="18" charset="2"/>
              </a:rPr>
              <a:t>	US(8</a:t>
            </a:r>
            <a:r>
              <a:rPr kumimoji="0" lang="en-US" altLang="zh-CN" b="1" dirty="0">
                <a:sym typeface="Symbol" pitchFamily="18" charset="2"/>
              </a:rPr>
              <a:t>)</a:t>
            </a: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a:t>
            </a:r>
            <a:r>
              <a:rPr kumimoji="0" lang="en-US" altLang="zh-CN" b="1" dirty="0">
                <a:solidFill>
                  <a:srgbClr val="FF3300"/>
                </a:solidFill>
                <a:sym typeface="Symbol" pitchFamily="18" charset="2"/>
              </a:rPr>
              <a:t>(11)B(z) ┐J(z)                                      </a:t>
            </a:r>
            <a:r>
              <a:rPr kumimoji="0" lang="en-US" altLang="zh-CN" b="1" dirty="0" smtClean="0">
                <a:solidFill>
                  <a:srgbClr val="FF3300"/>
                </a:solidFill>
                <a:sym typeface="Symbol" pitchFamily="18" charset="2"/>
              </a:rPr>
              <a:t>	T(9</a:t>
            </a:r>
            <a:r>
              <a:rPr kumimoji="0" lang="en-US" altLang="zh-CN" b="1" dirty="0">
                <a:solidFill>
                  <a:srgbClr val="FF3300"/>
                </a:solidFill>
                <a:sym typeface="Symbol" pitchFamily="18" charset="2"/>
              </a:rPr>
              <a:t>), (10)I</a:t>
            </a:r>
          </a:p>
          <a:p>
            <a:pPr algn="just">
              <a:lnSpc>
                <a:spcPct val="90000"/>
              </a:lnSpc>
              <a:spcBef>
                <a:spcPct val="20000"/>
              </a:spcBef>
              <a:buClr>
                <a:schemeClr val="folHlink"/>
              </a:buClr>
              <a:buSzPct val="60000"/>
              <a:buFont typeface="Wingdings" pitchFamily="2" charset="2"/>
              <a:buNone/>
            </a:pPr>
            <a:r>
              <a:rPr kumimoji="0" lang="en-US" altLang="zh-CN" b="1" dirty="0">
                <a:sym typeface="Symbol" pitchFamily="18" charset="2"/>
              </a:rPr>
              <a:t>            </a:t>
            </a:r>
            <a:r>
              <a:rPr kumimoji="0" lang="en-US" altLang="zh-CN" b="1" dirty="0">
                <a:solidFill>
                  <a:srgbClr val="9900FF"/>
                </a:solidFill>
                <a:sym typeface="Symbol" pitchFamily="18" charset="2"/>
              </a:rPr>
              <a:t>(12)(x)(B(x)┐J(x))                             </a:t>
            </a:r>
            <a:r>
              <a:rPr kumimoji="0" lang="en-US" altLang="zh-CN" b="1" dirty="0" smtClean="0">
                <a:solidFill>
                  <a:srgbClr val="9900FF"/>
                </a:solidFill>
                <a:sym typeface="Symbol" pitchFamily="18" charset="2"/>
              </a:rPr>
              <a:t>	UG(11</a:t>
            </a:r>
            <a:r>
              <a:rPr kumimoji="0" lang="en-US" altLang="zh-CN" b="1" dirty="0">
                <a:solidFill>
                  <a:srgbClr val="9900FF"/>
                </a:solidFill>
                <a:sym typeface="Symbol" pitchFamily="18" charset="2"/>
              </a:rPr>
              <a:t>)</a:t>
            </a:r>
          </a:p>
        </p:txBody>
      </p:sp>
    </p:spTree>
  </p:cSld>
  <p:clrMapOvr>
    <a:masterClrMapping/>
  </p:clrMapOvr>
  <p:transition spd="slow">
    <p:pull dir="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8514">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48514">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48514">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48514">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48514">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48514">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48514">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48514">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448514">
                                            <p:txEl>
                                              <p:pRg st="9" end="9"/>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448514">
                                            <p:txEl>
                                              <p:pRg st="10" end="1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44851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34925" cap="rnd"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spDef>
    <a:lnDef>
      <a:spPr bwMode="auto">
        <a:xfrm>
          <a:off x="0" y="0"/>
          <a:ext cx="1" cy="1"/>
        </a:xfrm>
        <a:custGeom>
          <a:avLst/>
          <a:gdLst/>
          <a:ahLst/>
          <a:cxnLst/>
          <a:rect l="0" t="0" r="0" b="0"/>
          <a:pathLst/>
        </a:custGeom>
        <a:solidFill>
          <a:schemeClr val="accent1"/>
        </a:solidFill>
        <a:ln w="34925" cap="rnd"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itchFamily="18" charset="0"/>
            <a:ea typeface="宋体"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行楷"/>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华文行楷"/>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12700" cap="sq"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zh-CN" altLang="en-US" sz="24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3254</TotalTime>
  <Words>7490</Words>
  <Application>Microsoft Office PowerPoint</Application>
  <PresentationFormat>全屏显示(4:3)</PresentationFormat>
  <Paragraphs>715</Paragraphs>
  <Slides>97</Slides>
  <Notes>0</Notes>
  <HiddenSlides>1</HiddenSlides>
  <MMClips>0</MMClips>
  <ScaleCrop>false</ScaleCrop>
  <HeadingPairs>
    <vt:vector size="4" baseType="variant">
      <vt:variant>
        <vt:lpstr>主题</vt:lpstr>
      </vt:variant>
      <vt:variant>
        <vt:i4>3</vt:i4>
      </vt:variant>
      <vt:variant>
        <vt:lpstr>幻灯片标题</vt:lpstr>
      </vt:variant>
      <vt:variant>
        <vt:i4>97</vt:i4>
      </vt:variant>
    </vt:vector>
  </HeadingPairs>
  <TitlesOfParts>
    <vt:vector size="100" baseType="lpstr">
      <vt:lpstr>Blends</vt:lpstr>
      <vt:lpstr>1_Blends</vt:lpstr>
      <vt:lpstr>2_Blends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第二章  谓词逻辑</vt:lpstr>
      <vt:lpstr>2.1  谓词的概念与表示</vt:lpstr>
      <vt:lpstr>PowerPoint 演示文稿</vt:lpstr>
      <vt:lpstr>PowerPoint 演示文稿</vt:lpstr>
      <vt:lpstr>PowerPoint 演示文稿</vt:lpstr>
      <vt:lpstr>PowerPoint 演示文稿</vt:lpstr>
      <vt:lpstr>PowerPoint 演示文稿</vt:lpstr>
      <vt:lpstr>PowerPoint 演示文稿</vt:lpstr>
      <vt:lpstr>2.2  命题函数与量词</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  谓词公式与翻译</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2.4  变元的约束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2.5  谓词演算的等价式与蕴含式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2.6  前束范式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2.7  谓词演算的推理理论</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没有幻灯片标题</dc:title>
  <dc:creator>丁伦</dc:creator>
  <cp:lastModifiedBy>Sky123.Org</cp:lastModifiedBy>
  <cp:revision>1506</cp:revision>
  <dcterms:created xsi:type="dcterms:W3CDTF">2002-08-05T07:56:52Z</dcterms:created>
  <dcterms:modified xsi:type="dcterms:W3CDTF">2019-09-24T01:01:04Z</dcterms:modified>
</cp:coreProperties>
</file>