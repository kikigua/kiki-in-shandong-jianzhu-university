
<file path=[Content_Types].xml><?xml version="1.0" encoding="utf-8"?>
<Types xmlns="http://schemas.openxmlformats.org/package/2006/content-types">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5" r:id="rId1"/>
  </p:sldMasterIdLst>
  <p:notesMasterIdLst>
    <p:notesMasterId r:id="rId93"/>
  </p:notesMasterIdLst>
  <p:sldIdLst>
    <p:sldId id="263" r:id="rId2"/>
    <p:sldId id="404" r:id="rId3"/>
    <p:sldId id="265" r:id="rId4"/>
    <p:sldId id="297" r:id="rId5"/>
    <p:sldId id="266" r:id="rId6"/>
    <p:sldId id="267" r:id="rId7"/>
    <p:sldId id="304" r:id="rId8"/>
    <p:sldId id="270" r:id="rId9"/>
    <p:sldId id="275" r:id="rId10"/>
    <p:sldId id="276" r:id="rId11"/>
    <p:sldId id="298" r:id="rId12"/>
    <p:sldId id="277" r:id="rId13"/>
    <p:sldId id="279" r:id="rId14"/>
    <p:sldId id="281" r:id="rId15"/>
    <p:sldId id="282" r:id="rId16"/>
    <p:sldId id="283" r:id="rId17"/>
    <p:sldId id="300" r:id="rId18"/>
    <p:sldId id="284" r:id="rId19"/>
    <p:sldId id="286" r:id="rId20"/>
    <p:sldId id="302" r:id="rId21"/>
    <p:sldId id="287" r:id="rId22"/>
    <p:sldId id="303" r:id="rId23"/>
    <p:sldId id="448" r:id="rId24"/>
    <p:sldId id="292" r:id="rId25"/>
    <p:sldId id="306" r:id="rId26"/>
    <p:sldId id="307" r:id="rId27"/>
    <p:sldId id="308" r:id="rId28"/>
    <p:sldId id="309" r:id="rId29"/>
    <p:sldId id="460" r:id="rId30"/>
    <p:sldId id="461" r:id="rId31"/>
    <p:sldId id="310" r:id="rId32"/>
    <p:sldId id="373" r:id="rId33"/>
    <p:sldId id="311" r:id="rId34"/>
    <p:sldId id="313" r:id="rId35"/>
    <p:sldId id="314" r:id="rId36"/>
    <p:sldId id="375" r:id="rId37"/>
    <p:sldId id="316" r:id="rId38"/>
    <p:sldId id="317" r:id="rId39"/>
    <p:sldId id="376" r:id="rId40"/>
    <p:sldId id="318" r:id="rId41"/>
    <p:sldId id="319" r:id="rId42"/>
    <p:sldId id="383" r:id="rId43"/>
    <p:sldId id="321" r:id="rId44"/>
    <p:sldId id="322" r:id="rId45"/>
    <p:sldId id="323" r:id="rId46"/>
    <p:sldId id="377" r:id="rId47"/>
    <p:sldId id="324" r:id="rId48"/>
    <p:sldId id="325" r:id="rId49"/>
    <p:sldId id="326" r:id="rId50"/>
    <p:sldId id="378" r:id="rId51"/>
    <p:sldId id="379" r:id="rId52"/>
    <p:sldId id="462" r:id="rId53"/>
    <p:sldId id="463" r:id="rId54"/>
    <p:sldId id="327" r:id="rId55"/>
    <p:sldId id="380" r:id="rId56"/>
    <p:sldId id="328" r:id="rId57"/>
    <p:sldId id="329" r:id="rId58"/>
    <p:sldId id="381" r:id="rId59"/>
    <p:sldId id="330" r:id="rId60"/>
    <p:sldId id="331" r:id="rId61"/>
    <p:sldId id="385" r:id="rId62"/>
    <p:sldId id="333" r:id="rId63"/>
    <p:sldId id="335" r:id="rId64"/>
    <p:sldId id="337" r:id="rId65"/>
    <p:sldId id="339" r:id="rId66"/>
    <p:sldId id="386" r:id="rId67"/>
    <p:sldId id="421" r:id="rId68"/>
    <p:sldId id="344" r:id="rId69"/>
    <p:sldId id="345" r:id="rId70"/>
    <p:sldId id="346" r:id="rId71"/>
    <p:sldId id="347" r:id="rId72"/>
    <p:sldId id="387" r:id="rId73"/>
    <p:sldId id="349" r:id="rId74"/>
    <p:sldId id="351" r:id="rId75"/>
    <p:sldId id="464" r:id="rId76"/>
    <p:sldId id="352" r:id="rId77"/>
    <p:sldId id="427" r:id="rId78"/>
    <p:sldId id="393" r:id="rId79"/>
    <p:sldId id="356" r:id="rId80"/>
    <p:sldId id="431" r:id="rId81"/>
    <p:sldId id="432" r:id="rId82"/>
    <p:sldId id="359" r:id="rId83"/>
    <p:sldId id="362" r:id="rId84"/>
    <p:sldId id="363" r:id="rId85"/>
    <p:sldId id="364" r:id="rId86"/>
    <p:sldId id="365" r:id="rId87"/>
    <p:sldId id="366" r:id="rId88"/>
    <p:sldId id="367" r:id="rId89"/>
    <p:sldId id="368" r:id="rId90"/>
    <p:sldId id="392" r:id="rId91"/>
    <p:sldId id="452" r:id="rId92"/>
  </p:sldIdLst>
  <p:sldSz cx="9144000" cy="6858000" type="screen4x3"/>
  <p:notesSz cx="6858000" cy="9144000"/>
  <p:defaultTextStyle>
    <a:defPPr>
      <a:defRPr lang="zh-CN"/>
    </a:defPPr>
    <a:lvl1pPr algn="ctr" rtl="0" fontAlgn="base">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ctr" rtl="0" fontAlgn="base">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ctr" rtl="0" fontAlgn="base">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ctr" rtl="0" fontAlgn="base">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ctr" rtl="0" fontAlgn="base">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066"/>
    <a:srgbClr val="FF9900"/>
    <a:srgbClr val="FFFFCC"/>
    <a:srgbClr val="0000CC"/>
    <a:srgbClr val="003300"/>
    <a:srgbClr val="FFFF00"/>
    <a:srgbClr val="00FF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77" autoAdjust="0"/>
    <p:restoredTop sz="93894" autoAdjust="0"/>
  </p:normalViewPr>
  <p:slideViewPr>
    <p:cSldViewPr>
      <p:cViewPr varScale="1">
        <p:scale>
          <a:sx n="63" d="100"/>
          <a:sy n="63" d="100"/>
        </p:scale>
        <p:origin x="-151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image" Target="../media/image3.emf"/><Relationship Id="rId7" Type="http://schemas.openxmlformats.org/officeDocument/2006/relationships/image" Target="../media/image7.wmf"/><Relationship Id="rId2" Type="http://schemas.openxmlformats.org/officeDocument/2006/relationships/image" Target="../media/image2.emf"/><Relationship Id="rId1" Type="http://schemas.openxmlformats.org/officeDocument/2006/relationships/image" Target="../media/image1.wmf"/><Relationship Id="rId6" Type="http://schemas.openxmlformats.org/officeDocument/2006/relationships/image" Target="../media/image6.wmf"/><Relationship Id="rId5" Type="http://schemas.openxmlformats.org/officeDocument/2006/relationships/image" Target="../media/image5.wmf"/><Relationship Id="rId4"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image" Target="../media/image10.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45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vl1pPr>
          </a:lstStyle>
          <a:p>
            <a:endParaRPr lang="en-US" altLang="zh-CN"/>
          </a:p>
        </p:txBody>
      </p:sp>
      <p:sp>
        <p:nvSpPr>
          <p:cNvPr id="104451"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1044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4453"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4454"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vl1pPr>
          </a:lstStyle>
          <a:p>
            <a:endParaRPr lang="en-US" altLang="zh-CN"/>
          </a:p>
        </p:txBody>
      </p:sp>
      <p:sp>
        <p:nvSpPr>
          <p:cNvPr id="104455"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C5ADE3FB-15C0-4D6E-B163-1B061E98209E}" type="slidenum">
              <a:rPr lang="en-US" altLang="zh-CN"/>
              <a:pPr/>
              <a:t>‹#›</a:t>
            </a:fld>
            <a:endParaRPr lang="en-US" altLang="zh-CN"/>
          </a:p>
        </p:txBody>
      </p:sp>
    </p:spTree>
    <p:extLst>
      <p:ext uri="{BB962C8B-B14F-4D97-AF65-F5344CB8AC3E}">
        <p14:creationId xmlns:p14="http://schemas.microsoft.com/office/powerpoint/2010/main" val="124234104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175106" name="Group 2"/>
          <p:cNvGrpSpPr>
            <a:grpSpLocks/>
          </p:cNvGrpSpPr>
          <p:nvPr/>
        </p:nvGrpSpPr>
        <p:grpSpPr bwMode="auto">
          <a:xfrm>
            <a:off x="0" y="1728788"/>
            <a:ext cx="9009063" cy="1052512"/>
            <a:chOff x="0" y="1536"/>
            <a:chExt cx="5675" cy="663"/>
          </a:xfrm>
        </p:grpSpPr>
        <p:grpSp>
          <p:nvGrpSpPr>
            <p:cNvPr id="175107" name="Group 3"/>
            <p:cNvGrpSpPr>
              <a:grpSpLocks/>
            </p:cNvGrpSpPr>
            <p:nvPr/>
          </p:nvGrpSpPr>
          <p:grpSpPr bwMode="auto">
            <a:xfrm>
              <a:off x="183" y="1604"/>
              <a:ext cx="448" cy="299"/>
              <a:chOff x="720" y="336"/>
              <a:chExt cx="624" cy="432"/>
            </a:xfrm>
          </p:grpSpPr>
          <p:sp>
            <p:nvSpPr>
              <p:cNvPr id="175108"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09"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75110" name="Group 6"/>
            <p:cNvGrpSpPr>
              <a:grpSpLocks/>
            </p:cNvGrpSpPr>
            <p:nvPr/>
          </p:nvGrpSpPr>
          <p:grpSpPr bwMode="auto">
            <a:xfrm>
              <a:off x="261" y="1870"/>
              <a:ext cx="465" cy="299"/>
              <a:chOff x="912" y="2640"/>
              <a:chExt cx="672" cy="432"/>
            </a:xfrm>
          </p:grpSpPr>
          <p:sp>
            <p:nvSpPr>
              <p:cNvPr id="175111"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12"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75113"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14"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15"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75116" name="Rectangle 12"/>
          <p:cNvSpPr>
            <a:spLocks noGrp="1" noChangeArrowheads="1"/>
          </p:cNvSpPr>
          <p:nvPr>
            <p:ph type="ctrTitle"/>
          </p:nvPr>
        </p:nvSpPr>
        <p:spPr>
          <a:xfrm>
            <a:off x="1062038" y="1196975"/>
            <a:ext cx="7397750" cy="1223963"/>
          </a:xfrm>
        </p:spPr>
        <p:txBody>
          <a:bodyPr/>
          <a:lstStyle>
            <a:lvl1pPr>
              <a:defRPr/>
            </a:lvl1pPr>
          </a:lstStyle>
          <a:p>
            <a:pPr lvl="0"/>
            <a:r>
              <a:rPr lang="zh-CN" altLang="en-US" noProof="0" smtClean="0"/>
              <a:t>单击此处编辑母版标题样式</a:t>
            </a:r>
          </a:p>
        </p:txBody>
      </p:sp>
      <p:sp>
        <p:nvSpPr>
          <p:cNvPr id="175117" name="Rectangle 13"/>
          <p:cNvSpPr>
            <a:spLocks noGrp="1" noChangeArrowheads="1"/>
          </p:cNvSpPr>
          <p:nvPr>
            <p:ph type="subTitle" idx="1"/>
          </p:nvPr>
        </p:nvSpPr>
        <p:spPr>
          <a:xfrm>
            <a:off x="1371600" y="2924175"/>
            <a:ext cx="6400800" cy="1752600"/>
          </a:xfrm>
        </p:spPr>
        <p:txBody>
          <a:bodyPr/>
          <a:lstStyle>
            <a:lvl1pPr algn="ctr">
              <a:defRPr/>
            </a:lvl1pPr>
          </a:lstStyle>
          <a:p>
            <a:pPr lvl="0"/>
            <a:r>
              <a:rPr lang="zh-CN" altLang="en-US" noProof="0" smtClean="0"/>
              <a:t>单击此处编辑母版副标题样式</a:t>
            </a:r>
          </a:p>
        </p:txBody>
      </p:sp>
      <p:sp>
        <p:nvSpPr>
          <p:cNvPr id="175118" name="Rectangle 14"/>
          <p:cNvSpPr>
            <a:spLocks noGrp="1" noChangeArrowheads="1"/>
          </p:cNvSpPr>
          <p:nvPr>
            <p:ph type="ftr" sz="quarter" idx="3"/>
          </p:nvPr>
        </p:nvSpPr>
        <p:spPr>
          <a:xfrm>
            <a:off x="3429000" y="6248400"/>
            <a:ext cx="2895600" cy="457200"/>
          </a:xfrm>
        </p:spPr>
        <p:txBody>
          <a:bodyPr/>
          <a:lstStyle>
            <a:lvl1pPr>
              <a:defRPr>
                <a:solidFill>
                  <a:schemeClr val="bg2"/>
                </a:solidFill>
              </a:defRPr>
            </a:lvl1pPr>
          </a:lstStyle>
          <a:p>
            <a:endParaRPr lang="en-US" altLang="zh-CN"/>
          </a:p>
        </p:txBody>
      </p:sp>
    </p:spTree>
  </p:cSld>
  <p:clrMapOvr>
    <a:masterClrMapping/>
  </p:clrMapOvr>
  <p:transition spd="slow">
    <p:pull dir="ru"/>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页脚占位符 3"/>
          <p:cNvSpPr>
            <a:spLocks noGrp="1"/>
          </p:cNvSpPr>
          <p:nvPr>
            <p:ph type="ftr" sz="quarter" idx="10"/>
          </p:nvPr>
        </p:nvSpPr>
        <p:spPr/>
        <p:txBody>
          <a:bodyPr/>
          <a:lstStyle>
            <a:lvl1pPr>
              <a:defRPr/>
            </a:lvl1pPr>
          </a:lstStyle>
          <a:p>
            <a:endParaRPr lang="en-US" altLang="zh-CN"/>
          </a:p>
        </p:txBody>
      </p:sp>
      <p:sp>
        <p:nvSpPr>
          <p:cNvPr id="5" name="灯片编号占位符 4"/>
          <p:cNvSpPr>
            <a:spLocks noGrp="1"/>
          </p:cNvSpPr>
          <p:nvPr>
            <p:ph type="sldNum" sz="quarter" idx="11"/>
          </p:nvPr>
        </p:nvSpPr>
        <p:spPr/>
        <p:txBody>
          <a:bodyPr/>
          <a:lstStyle>
            <a:lvl1pPr>
              <a:defRPr/>
            </a:lvl1pPr>
          </a:lstStyle>
          <a:p>
            <a:fld id="{F04B9D1E-DEAE-44DA-8EE9-4BD7F4DBB43C}" type="slidenum">
              <a:rPr lang="en-US" altLang="zh-CN"/>
              <a:pPr/>
              <a:t>‹#›</a:t>
            </a:fld>
            <a:endParaRPr lang="en-US" altLang="zh-CN"/>
          </a:p>
        </p:txBody>
      </p:sp>
    </p:spTree>
    <p:extLst>
      <p:ext uri="{BB962C8B-B14F-4D97-AF65-F5344CB8AC3E}">
        <p14:creationId xmlns:p14="http://schemas.microsoft.com/office/powerpoint/2010/main" val="1256303452"/>
      </p:ext>
    </p:extLst>
  </p:cSld>
  <p:clrMapOvr>
    <a:masterClrMapping/>
  </p:clrMapOvr>
  <p:transition spd="slow">
    <p:pull dir="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页脚占位符 3"/>
          <p:cNvSpPr>
            <a:spLocks noGrp="1"/>
          </p:cNvSpPr>
          <p:nvPr>
            <p:ph type="ftr" sz="quarter" idx="10"/>
          </p:nvPr>
        </p:nvSpPr>
        <p:spPr/>
        <p:txBody>
          <a:bodyPr/>
          <a:lstStyle>
            <a:lvl1pPr>
              <a:defRPr/>
            </a:lvl1pPr>
          </a:lstStyle>
          <a:p>
            <a:endParaRPr lang="en-US" altLang="zh-CN"/>
          </a:p>
        </p:txBody>
      </p:sp>
      <p:sp>
        <p:nvSpPr>
          <p:cNvPr id="5" name="灯片编号占位符 4"/>
          <p:cNvSpPr>
            <a:spLocks noGrp="1"/>
          </p:cNvSpPr>
          <p:nvPr>
            <p:ph type="sldNum" sz="quarter" idx="11"/>
          </p:nvPr>
        </p:nvSpPr>
        <p:spPr/>
        <p:txBody>
          <a:bodyPr/>
          <a:lstStyle>
            <a:lvl1pPr>
              <a:defRPr/>
            </a:lvl1pPr>
          </a:lstStyle>
          <a:p>
            <a:fld id="{72DC6420-D691-4B72-BE3A-D142D8B5021D}" type="slidenum">
              <a:rPr lang="en-US" altLang="zh-CN"/>
              <a:pPr/>
              <a:t>‹#›</a:t>
            </a:fld>
            <a:endParaRPr lang="en-US" altLang="zh-CN"/>
          </a:p>
        </p:txBody>
      </p:sp>
    </p:spTree>
    <p:extLst>
      <p:ext uri="{BB962C8B-B14F-4D97-AF65-F5344CB8AC3E}">
        <p14:creationId xmlns:p14="http://schemas.microsoft.com/office/powerpoint/2010/main" val="3122420325"/>
      </p:ext>
    </p:extLst>
  </p:cSld>
  <p:clrMapOvr>
    <a:masterClrMapping/>
  </p:clrMapOvr>
  <p:transition spd="slow">
    <p:pull dir="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762000" y="1371600"/>
            <a:ext cx="3810000" cy="25701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24400" y="1371600"/>
            <a:ext cx="3810000" cy="25701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页脚占位符 4"/>
          <p:cNvSpPr>
            <a:spLocks noGrp="1"/>
          </p:cNvSpPr>
          <p:nvPr>
            <p:ph type="ftr" sz="quarter" idx="10"/>
          </p:nvPr>
        </p:nvSpPr>
        <p:spPr/>
        <p:txBody>
          <a:bodyPr/>
          <a:lstStyle>
            <a:lvl1pPr>
              <a:defRPr/>
            </a:lvl1pPr>
          </a:lstStyle>
          <a:p>
            <a:endParaRPr lang="en-US" altLang="zh-CN"/>
          </a:p>
        </p:txBody>
      </p:sp>
      <p:sp>
        <p:nvSpPr>
          <p:cNvPr id="6" name="灯片编号占位符 5"/>
          <p:cNvSpPr>
            <a:spLocks noGrp="1"/>
          </p:cNvSpPr>
          <p:nvPr>
            <p:ph type="sldNum" sz="quarter" idx="11"/>
          </p:nvPr>
        </p:nvSpPr>
        <p:spPr/>
        <p:txBody>
          <a:bodyPr/>
          <a:lstStyle>
            <a:lvl1pPr>
              <a:defRPr/>
            </a:lvl1pPr>
          </a:lstStyle>
          <a:p>
            <a:fld id="{F3FB709D-0685-4BB3-A001-53CBFC8699CD}" type="slidenum">
              <a:rPr lang="en-US" altLang="zh-CN"/>
              <a:pPr/>
              <a:t>‹#›</a:t>
            </a:fld>
            <a:endParaRPr lang="en-US" altLang="zh-CN"/>
          </a:p>
        </p:txBody>
      </p:sp>
    </p:spTree>
    <p:extLst>
      <p:ext uri="{BB962C8B-B14F-4D97-AF65-F5344CB8AC3E}">
        <p14:creationId xmlns:p14="http://schemas.microsoft.com/office/powerpoint/2010/main" val="340882465"/>
      </p:ext>
    </p:extLst>
  </p:cSld>
  <p:clrMapOvr>
    <a:masterClrMapping/>
  </p:clrMapOvr>
  <p:transition spd="slow">
    <p:pull dir="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页脚占位符 6"/>
          <p:cNvSpPr>
            <a:spLocks noGrp="1"/>
          </p:cNvSpPr>
          <p:nvPr>
            <p:ph type="ftr" sz="quarter" idx="10"/>
          </p:nvPr>
        </p:nvSpPr>
        <p:spPr/>
        <p:txBody>
          <a:bodyPr/>
          <a:lstStyle>
            <a:lvl1pPr>
              <a:defRPr/>
            </a:lvl1pPr>
          </a:lstStyle>
          <a:p>
            <a:endParaRPr lang="en-US" altLang="zh-CN"/>
          </a:p>
        </p:txBody>
      </p:sp>
      <p:sp>
        <p:nvSpPr>
          <p:cNvPr id="8" name="灯片编号占位符 7"/>
          <p:cNvSpPr>
            <a:spLocks noGrp="1"/>
          </p:cNvSpPr>
          <p:nvPr>
            <p:ph type="sldNum" sz="quarter" idx="11"/>
          </p:nvPr>
        </p:nvSpPr>
        <p:spPr/>
        <p:txBody>
          <a:bodyPr/>
          <a:lstStyle>
            <a:lvl1pPr>
              <a:defRPr/>
            </a:lvl1pPr>
          </a:lstStyle>
          <a:p>
            <a:fld id="{43E5ECDF-F9CB-4D0E-92F8-0294F1CB6FC1}" type="slidenum">
              <a:rPr lang="en-US" altLang="zh-CN"/>
              <a:pPr/>
              <a:t>‹#›</a:t>
            </a:fld>
            <a:endParaRPr lang="en-US" altLang="zh-CN"/>
          </a:p>
        </p:txBody>
      </p:sp>
    </p:spTree>
    <p:extLst>
      <p:ext uri="{BB962C8B-B14F-4D97-AF65-F5344CB8AC3E}">
        <p14:creationId xmlns:p14="http://schemas.microsoft.com/office/powerpoint/2010/main" val="286785490"/>
      </p:ext>
    </p:extLst>
  </p:cSld>
  <p:clrMapOvr>
    <a:masterClrMapping/>
  </p:clrMapOvr>
  <p:transition spd="slow">
    <p:pull dir="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页脚占位符 2"/>
          <p:cNvSpPr>
            <a:spLocks noGrp="1"/>
          </p:cNvSpPr>
          <p:nvPr>
            <p:ph type="ftr" sz="quarter" idx="10"/>
          </p:nvPr>
        </p:nvSpPr>
        <p:spPr/>
        <p:txBody>
          <a:bodyPr/>
          <a:lstStyle>
            <a:lvl1pPr>
              <a:defRPr/>
            </a:lvl1pPr>
          </a:lstStyle>
          <a:p>
            <a:endParaRPr lang="en-US" altLang="zh-CN"/>
          </a:p>
        </p:txBody>
      </p:sp>
      <p:sp>
        <p:nvSpPr>
          <p:cNvPr id="4" name="灯片编号占位符 3"/>
          <p:cNvSpPr>
            <a:spLocks noGrp="1"/>
          </p:cNvSpPr>
          <p:nvPr>
            <p:ph type="sldNum" sz="quarter" idx="11"/>
          </p:nvPr>
        </p:nvSpPr>
        <p:spPr/>
        <p:txBody>
          <a:bodyPr/>
          <a:lstStyle>
            <a:lvl1pPr>
              <a:defRPr/>
            </a:lvl1pPr>
          </a:lstStyle>
          <a:p>
            <a:fld id="{99B4D144-F6AB-4CC1-890E-227AD813E664}" type="slidenum">
              <a:rPr lang="en-US" altLang="zh-CN"/>
              <a:pPr/>
              <a:t>‹#›</a:t>
            </a:fld>
            <a:endParaRPr lang="en-US" altLang="zh-CN"/>
          </a:p>
        </p:txBody>
      </p:sp>
    </p:spTree>
    <p:extLst>
      <p:ext uri="{BB962C8B-B14F-4D97-AF65-F5344CB8AC3E}">
        <p14:creationId xmlns:p14="http://schemas.microsoft.com/office/powerpoint/2010/main" val="2693458932"/>
      </p:ext>
    </p:extLst>
  </p:cSld>
  <p:clrMapOvr>
    <a:masterClrMapping/>
  </p:clrMapOvr>
  <p:transition spd="slow">
    <p:pull dir="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lvl1pPr>
              <a:defRPr/>
            </a:lvl1pPr>
          </a:lstStyle>
          <a:p>
            <a:endParaRPr lang="en-US" altLang="zh-CN"/>
          </a:p>
        </p:txBody>
      </p:sp>
      <p:sp>
        <p:nvSpPr>
          <p:cNvPr id="3" name="灯片编号占位符 2"/>
          <p:cNvSpPr>
            <a:spLocks noGrp="1"/>
          </p:cNvSpPr>
          <p:nvPr>
            <p:ph type="sldNum" sz="quarter" idx="11"/>
          </p:nvPr>
        </p:nvSpPr>
        <p:spPr/>
        <p:txBody>
          <a:bodyPr/>
          <a:lstStyle>
            <a:lvl1pPr>
              <a:defRPr/>
            </a:lvl1pPr>
          </a:lstStyle>
          <a:p>
            <a:fld id="{45BD0BDE-06D0-49EF-8F05-A4D90E82AFA2}" type="slidenum">
              <a:rPr lang="en-US" altLang="zh-CN"/>
              <a:pPr/>
              <a:t>‹#›</a:t>
            </a:fld>
            <a:endParaRPr lang="en-US" altLang="zh-CN"/>
          </a:p>
        </p:txBody>
      </p:sp>
    </p:spTree>
    <p:extLst>
      <p:ext uri="{BB962C8B-B14F-4D97-AF65-F5344CB8AC3E}">
        <p14:creationId xmlns:p14="http://schemas.microsoft.com/office/powerpoint/2010/main" val="681411736"/>
      </p:ext>
    </p:extLst>
  </p:cSld>
  <p:clrMapOvr>
    <a:masterClrMapping/>
  </p:clrMapOvr>
  <p:transition spd="slow">
    <p:pull dir="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页脚占位符 4"/>
          <p:cNvSpPr>
            <a:spLocks noGrp="1"/>
          </p:cNvSpPr>
          <p:nvPr>
            <p:ph type="ftr" sz="quarter" idx="10"/>
          </p:nvPr>
        </p:nvSpPr>
        <p:spPr/>
        <p:txBody>
          <a:bodyPr/>
          <a:lstStyle>
            <a:lvl1pPr>
              <a:defRPr/>
            </a:lvl1pPr>
          </a:lstStyle>
          <a:p>
            <a:endParaRPr lang="en-US" altLang="zh-CN"/>
          </a:p>
        </p:txBody>
      </p:sp>
      <p:sp>
        <p:nvSpPr>
          <p:cNvPr id="6" name="灯片编号占位符 5"/>
          <p:cNvSpPr>
            <a:spLocks noGrp="1"/>
          </p:cNvSpPr>
          <p:nvPr>
            <p:ph type="sldNum" sz="quarter" idx="11"/>
          </p:nvPr>
        </p:nvSpPr>
        <p:spPr/>
        <p:txBody>
          <a:bodyPr/>
          <a:lstStyle>
            <a:lvl1pPr>
              <a:defRPr/>
            </a:lvl1pPr>
          </a:lstStyle>
          <a:p>
            <a:fld id="{59BD5EB9-1E45-4032-A230-2CC80D261AE2}" type="slidenum">
              <a:rPr lang="en-US" altLang="zh-CN"/>
              <a:pPr/>
              <a:t>‹#›</a:t>
            </a:fld>
            <a:endParaRPr lang="en-US" altLang="zh-CN"/>
          </a:p>
        </p:txBody>
      </p:sp>
    </p:spTree>
    <p:extLst>
      <p:ext uri="{BB962C8B-B14F-4D97-AF65-F5344CB8AC3E}">
        <p14:creationId xmlns:p14="http://schemas.microsoft.com/office/powerpoint/2010/main" val="3860790950"/>
      </p:ext>
    </p:extLst>
  </p:cSld>
  <p:clrMapOvr>
    <a:masterClrMapping/>
  </p:clrMapOvr>
  <p:transition spd="slow">
    <p:pull dir="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页脚占位符 4"/>
          <p:cNvSpPr>
            <a:spLocks noGrp="1"/>
          </p:cNvSpPr>
          <p:nvPr>
            <p:ph type="ftr" sz="quarter" idx="10"/>
          </p:nvPr>
        </p:nvSpPr>
        <p:spPr/>
        <p:txBody>
          <a:bodyPr/>
          <a:lstStyle>
            <a:lvl1pPr>
              <a:defRPr/>
            </a:lvl1pPr>
          </a:lstStyle>
          <a:p>
            <a:endParaRPr lang="en-US" altLang="zh-CN"/>
          </a:p>
        </p:txBody>
      </p:sp>
      <p:sp>
        <p:nvSpPr>
          <p:cNvPr id="6" name="灯片编号占位符 5"/>
          <p:cNvSpPr>
            <a:spLocks noGrp="1"/>
          </p:cNvSpPr>
          <p:nvPr>
            <p:ph type="sldNum" sz="quarter" idx="11"/>
          </p:nvPr>
        </p:nvSpPr>
        <p:spPr/>
        <p:txBody>
          <a:bodyPr/>
          <a:lstStyle>
            <a:lvl1pPr>
              <a:defRPr/>
            </a:lvl1pPr>
          </a:lstStyle>
          <a:p>
            <a:fld id="{101BD1D1-DDBE-4A78-A3BF-6E6D495FEADF}" type="slidenum">
              <a:rPr lang="en-US" altLang="zh-CN"/>
              <a:pPr/>
              <a:t>‹#›</a:t>
            </a:fld>
            <a:endParaRPr lang="en-US" altLang="zh-CN"/>
          </a:p>
        </p:txBody>
      </p:sp>
    </p:spTree>
    <p:extLst>
      <p:ext uri="{BB962C8B-B14F-4D97-AF65-F5344CB8AC3E}">
        <p14:creationId xmlns:p14="http://schemas.microsoft.com/office/powerpoint/2010/main" val="3000264159"/>
      </p:ext>
    </p:extLst>
  </p:cSld>
  <p:clrMapOvr>
    <a:masterClrMapping/>
  </p:clrMapOvr>
  <p:transition spd="slow">
    <p:pull dir="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页脚占位符 3"/>
          <p:cNvSpPr>
            <a:spLocks noGrp="1"/>
          </p:cNvSpPr>
          <p:nvPr>
            <p:ph type="ftr" sz="quarter" idx="10"/>
          </p:nvPr>
        </p:nvSpPr>
        <p:spPr/>
        <p:txBody>
          <a:bodyPr/>
          <a:lstStyle>
            <a:lvl1pPr>
              <a:defRPr/>
            </a:lvl1pPr>
          </a:lstStyle>
          <a:p>
            <a:endParaRPr lang="en-US" altLang="zh-CN"/>
          </a:p>
        </p:txBody>
      </p:sp>
      <p:sp>
        <p:nvSpPr>
          <p:cNvPr id="5" name="灯片编号占位符 4"/>
          <p:cNvSpPr>
            <a:spLocks noGrp="1"/>
          </p:cNvSpPr>
          <p:nvPr>
            <p:ph type="sldNum" sz="quarter" idx="11"/>
          </p:nvPr>
        </p:nvSpPr>
        <p:spPr/>
        <p:txBody>
          <a:bodyPr/>
          <a:lstStyle>
            <a:lvl1pPr>
              <a:defRPr/>
            </a:lvl1pPr>
          </a:lstStyle>
          <a:p>
            <a:fld id="{90359936-4158-4298-BEF0-4CF5B955FABC}" type="slidenum">
              <a:rPr lang="en-US" altLang="zh-CN"/>
              <a:pPr/>
              <a:t>‹#›</a:t>
            </a:fld>
            <a:endParaRPr lang="en-US" altLang="zh-CN"/>
          </a:p>
        </p:txBody>
      </p:sp>
    </p:spTree>
    <p:extLst>
      <p:ext uri="{BB962C8B-B14F-4D97-AF65-F5344CB8AC3E}">
        <p14:creationId xmlns:p14="http://schemas.microsoft.com/office/powerpoint/2010/main" val="2380220797"/>
      </p:ext>
    </p:extLst>
  </p:cSld>
  <p:clrMapOvr>
    <a:masterClrMapping/>
  </p:clrMapOvr>
  <p:transition spd="slow">
    <p:pull dir="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91300" y="212725"/>
            <a:ext cx="1943100" cy="37290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762000" y="212725"/>
            <a:ext cx="5676900" cy="37290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页脚占位符 3"/>
          <p:cNvSpPr>
            <a:spLocks noGrp="1"/>
          </p:cNvSpPr>
          <p:nvPr>
            <p:ph type="ftr" sz="quarter" idx="10"/>
          </p:nvPr>
        </p:nvSpPr>
        <p:spPr/>
        <p:txBody>
          <a:bodyPr/>
          <a:lstStyle>
            <a:lvl1pPr>
              <a:defRPr/>
            </a:lvl1pPr>
          </a:lstStyle>
          <a:p>
            <a:endParaRPr lang="en-US" altLang="zh-CN"/>
          </a:p>
        </p:txBody>
      </p:sp>
      <p:sp>
        <p:nvSpPr>
          <p:cNvPr id="5" name="灯片编号占位符 4"/>
          <p:cNvSpPr>
            <a:spLocks noGrp="1"/>
          </p:cNvSpPr>
          <p:nvPr>
            <p:ph type="sldNum" sz="quarter" idx="11"/>
          </p:nvPr>
        </p:nvSpPr>
        <p:spPr/>
        <p:txBody>
          <a:bodyPr/>
          <a:lstStyle>
            <a:lvl1pPr>
              <a:defRPr/>
            </a:lvl1pPr>
          </a:lstStyle>
          <a:p>
            <a:fld id="{1FCE9B2C-AC35-471C-830D-EEA6174DAA1E}" type="slidenum">
              <a:rPr lang="en-US" altLang="zh-CN"/>
              <a:pPr/>
              <a:t>‹#›</a:t>
            </a:fld>
            <a:endParaRPr lang="en-US" altLang="zh-CN"/>
          </a:p>
        </p:txBody>
      </p:sp>
    </p:spTree>
    <p:extLst>
      <p:ext uri="{BB962C8B-B14F-4D97-AF65-F5344CB8AC3E}">
        <p14:creationId xmlns:p14="http://schemas.microsoft.com/office/powerpoint/2010/main" val="2186999653"/>
      </p:ext>
    </p:extLst>
  </p:cSld>
  <p:clrMapOvr>
    <a:masterClrMapping/>
  </p:clrMapOvr>
  <p:transition spd="slow">
    <p:pull dir="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74082" name="Group 2"/>
          <p:cNvGrpSpPr>
            <a:grpSpLocks/>
          </p:cNvGrpSpPr>
          <p:nvPr userDrawn="1"/>
        </p:nvGrpSpPr>
        <p:grpSpPr bwMode="auto">
          <a:xfrm>
            <a:off x="0" y="44450"/>
            <a:ext cx="8542338" cy="1052513"/>
            <a:chOff x="80" y="624"/>
            <a:chExt cx="5381" cy="663"/>
          </a:xfrm>
        </p:grpSpPr>
        <p:sp>
          <p:nvSpPr>
            <p:cNvPr id="174083" name="Rectangle 3"/>
            <p:cNvSpPr>
              <a:spLocks noChangeArrowheads="1"/>
            </p:cNvSpPr>
            <p:nvPr/>
          </p:nvSpPr>
          <p:spPr bwMode="ltGray">
            <a:xfrm>
              <a:off x="504" y="692"/>
              <a:ext cx="207" cy="299"/>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a:latin typeface="Tahoma" pitchFamily="34" charset="0"/>
              </a:endParaRPr>
            </a:p>
          </p:txBody>
        </p:sp>
        <p:sp>
          <p:nvSpPr>
            <p:cNvPr id="174084" name="Rectangle 4"/>
            <p:cNvSpPr>
              <a:spLocks noChangeArrowheads="1"/>
            </p:cNvSpPr>
            <p:nvPr/>
          </p:nvSpPr>
          <p:spPr bwMode="ltGray">
            <a:xfrm>
              <a:off x="574" y="958"/>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a:latin typeface="Tahoma" pitchFamily="34" charset="0"/>
              </a:endParaRPr>
            </a:p>
          </p:txBody>
        </p:sp>
        <p:sp>
          <p:nvSpPr>
            <p:cNvPr id="174085" name="Rectangle 5"/>
            <p:cNvSpPr>
              <a:spLocks noChangeArrowheads="1"/>
            </p:cNvSpPr>
            <p:nvPr/>
          </p:nvSpPr>
          <p:spPr bwMode="gray">
            <a:xfrm>
              <a:off x="480" y="624"/>
              <a:ext cx="20" cy="66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a:latin typeface="Tahoma" pitchFamily="34" charset="0"/>
              </a:endParaRPr>
            </a:p>
          </p:txBody>
        </p:sp>
        <p:sp>
          <p:nvSpPr>
            <p:cNvPr id="174086" name="Rectangle 6"/>
            <p:cNvSpPr>
              <a:spLocks noChangeArrowheads="1"/>
            </p:cNvSpPr>
            <p:nvPr userDrawn="1"/>
          </p:nvSpPr>
          <p:spPr bwMode="ltGray">
            <a:xfrm>
              <a:off x="263" y="692"/>
              <a:ext cx="276" cy="299"/>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a:latin typeface="Tahoma" pitchFamily="34" charset="0"/>
              </a:endParaRPr>
            </a:p>
          </p:txBody>
        </p:sp>
        <p:sp>
          <p:nvSpPr>
            <p:cNvPr id="174087" name="Rectangle 7"/>
            <p:cNvSpPr>
              <a:spLocks noChangeArrowheads="1"/>
            </p:cNvSpPr>
            <p:nvPr userDrawn="1"/>
          </p:nvSpPr>
          <p:spPr bwMode="ltGray">
            <a:xfrm>
              <a:off x="341" y="958"/>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a:latin typeface="Tahoma" pitchFamily="34" charset="0"/>
              </a:endParaRPr>
            </a:p>
          </p:txBody>
        </p:sp>
        <p:sp>
          <p:nvSpPr>
            <p:cNvPr id="174088" name="Rectangle 8"/>
            <p:cNvSpPr>
              <a:spLocks noChangeArrowheads="1"/>
            </p:cNvSpPr>
            <p:nvPr userDrawn="1"/>
          </p:nvSpPr>
          <p:spPr bwMode="ltGray">
            <a:xfrm>
              <a:off x="80" y="912"/>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a:latin typeface="Tahoma" pitchFamily="34" charset="0"/>
              </a:endParaRPr>
            </a:p>
          </p:txBody>
        </p:sp>
        <p:sp>
          <p:nvSpPr>
            <p:cNvPr id="174089" name="Rectangle 9"/>
            <p:cNvSpPr>
              <a:spLocks noChangeArrowheads="1"/>
            </p:cNvSpPr>
            <p:nvPr userDrawn="1"/>
          </p:nvSpPr>
          <p:spPr bwMode="gray">
            <a:xfrm>
              <a:off x="279" y="1122"/>
              <a:ext cx="5182" cy="2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a:latin typeface="Tahoma" pitchFamily="34" charset="0"/>
              </a:endParaRPr>
            </a:p>
          </p:txBody>
        </p:sp>
      </p:grpSp>
      <p:sp>
        <p:nvSpPr>
          <p:cNvPr id="174090" name="Rectangle 10"/>
          <p:cNvSpPr>
            <a:spLocks noGrp="1" noChangeArrowheads="1"/>
          </p:cNvSpPr>
          <p:nvPr>
            <p:ph type="title"/>
          </p:nvPr>
        </p:nvSpPr>
        <p:spPr bwMode="auto">
          <a:xfrm>
            <a:off x="990600" y="212725"/>
            <a:ext cx="72374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spAutoFit/>
          </a:bodyPr>
          <a:lstStyle/>
          <a:p>
            <a:pPr lvl="0"/>
            <a:r>
              <a:rPr lang="zh-CN" altLang="en-US" smtClean="0"/>
              <a:t>单击此处编辑母版标题样式</a:t>
            </a:r>
          </a:p>
        </p:txBody>
      </p:sp>
      <p:sp>
        <p:nvSpPr>
          <p:cNvPr id="174091" name="Rectangle 11"/>
          <p:cNvSpPr>
            <a:spLocks noGrp="1" noChangeArrowheads="1"/>
          </p:cNvSpPr>
          <p:nvPr>
            <p:ph type="body" idx="1"/>
          </p:nvPr>
        </p:nvSpPr>
        <p:spPr bwMode="auto">
          <a:xfrm>
            <a:off x="762000" y="1371600"/>
            <a:ext cx="7772400" cy="2570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74092" name="Rectangle 12"/>
          <p:cNvSpPr>
            <a:spLocks noGrp="1" noChangeArrowheads="1"/>
          </p:cNvSpPr>
          <p:nvPr>
            <p:ph type="ftr" sz="quarter" idx="3"/>
          </p:nvPr>
        </p:nvSpPr>
        <p:spPr bwMode="auto">
          <a:xfrm>
            <a:off x="3657600" y="624363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kumimoji="0" sz="1400">
                <a:latin typeface="+mj-lt"/>
              </a:defRPr>
            </a:lvl1pPr>
          </a:lstStyle>
          <a:p>
            <a:endParaRPr lang="en-US" altLang="zh-CN"/>
          </a:p>
        </p:txBody>
      </p:sp>
      <p:sp>
        <p:nvSpPr>
          <p:cNvPr id="174093" name="Rectangle 13"/>
          <p:cNvSpPr>
            <a:spLocks noGrp="1" noChangeArrowheads="1"/>
          </p:cNvSpPr>
          <p:nvPr>
            <p:ph type="sldNum" sz="quarter" idx="4"/>
          </p:nvPr>
        </p:nvSpPr>
        <p:spPr bwMode="auto">
          <a:xfrm>
            <a:off x="70421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kumimoji="0" sz="1400">
                <a:latin typeface="+mj-lt"/>
              </a:defRPr>
            </a:lvl1pPr>
          </a:lstStyle>
          <a:p>
            <a:fld id="{331D7166-A55B-4DD9-B7FE-0964FE3955E8}"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transition spd="slow">
    <p:pull dir="ru"/>
  </p:transition>
  <p:timing>
    <p:tnLst>
      <p:par>
        <p:cTn id="1" dur="indefinite" restart="never" nodeType="tmRoot"/>
      </p:par>
    </p:tnLst>
  </p:timing>
  <p:hf hdr="0" ftr="0" dt="0"/>
  <p:txStyles>
    <p:titleStyle>
      <a:lvl1pPr algn="l" rtl="0" fontAlgn="base">
        <a:spcBef>
          <a:spcPct val="0"/>
        </a:spcBef>
        <a:spcAft>
          <a:spcPct val="0"/>
        </a:spcAft>
        <a:defRPr sz="4000" b="1">
          <a:solidFill>
            <a:schemeClr val="tx2"/>
          </a:solidFill>
          <a:latin typeface="+mj-lt"/>
          <a:ea typeface="+mj-ea"/>
          <a:cs typeface="+mj-cs"/>
        </a:defRPr>
      </a:lvl1pPr>
      <a:lvl2pPr algn="l" rtl="0" fontAlgn="base">
        <a:spcBef>
          <a:spcPct val="0"/>
        </a:spcBef>
        <a:spcAft>
          <a:spcPct val="0"/>
        </a:spcAft>
        <a:defRPr sz="4000" b="1">
          <a:solidFill>
            <a:schemeClr val="tx2"/>
          </a:solidFill>
          <a:latin typeface="Tahoma" pitchFamily="34" charset="0"/>
          <a:ea typeface="楷体_GB2312" pitchFamily="49" charset="-122"/>
        </a:defRPr>
      </a:lvl2pPr>
      <a:lvl3pPr algn="l" rtl="0" fontAlgn="base">
        <a:spcBef>
          <a:spcPct val="0"/>
        </a:spcBef>
        <a:spcAft>
          <a:spcPct val="0"/>
        </a:spcAft>
        <a:defRPr sz="4000" b="1">
          <a:solidFill>
            <a:schemeClr val="tx2"/>
          </a:solidFill>
          <a:latin typeface="Tahoma" pitchFamily="34" charset="0"/>
          <a:ea typeface="楷体_GB2312" pitchFamily="49" charset="-122"/>
        </a:defRPr>
      </a:lvl3pPr>
      <a:lvl4pPr algn="l" rtl="0" fontAlgn="base">
        <a:spcBef>
          <a:spcPct val="0"/>
        </a:spcBef>
        <a:spcAft>
          <a:spcPct val="0"/>
        </a:spcAft>
        <a:defRPr sz="4000" b="1">
          <a:solidFill>
            <a:schemeClr val="tx2"/>
          </a:solidFill>
          <a:latin typeface="Tahoma" pitchFamily="34" charset="0"/>
          <a:ea typeface="楷体_GB2312" pitchFamily="49" charset="-122"/>
        </a:defRPr>
      </a:lvl4pPr>
      <a:lvl5pPr algn="l" rtl="0" fontAlgn="base">
        <a:spcBef>
          <a:spcPct val="0"/>
        </a:spcBef>
        <a:spcAft>
          <a:spcPct val="0"/>
        </a:spcAft>
        <a:defRPr sz="4000" b="1">
          <a:solidFill>
            <a:schemeClr val="tx2"/>
          </a:solidFill>
          <a:latin typeface="Tahoma" pitchFamily="34" charset="0"/>
          <a:ea typeface="楷体_GB2312" pitchFamily="49" charset="-122"/>
        </a:defRPr>
      </a:lvl5pPr>
      <a:lvl6pPr marL="457200" algn="l" rtl="0" fontAlgn="base">
        <a:spcBef>
          <a:spcPct val="0"/>
        </a:spcBef>
        <a:spcAft>
          <a:spcPct val="0"/>
        </a:spcAft>
        <a:defRPr sz="4000" b="1">
          <a:solidFill>
            <a:schemeClr val="tx2"/>
          </a:solidFill>
          <a:latin typeface="Tahoma" pitchFamily="34" charset="0"/>
          <a:ea typeface="楷体_GB2312" pitchFamily="49" charset="-122"/>
        </a:defRPr>
      </a:lvl6pPr>
      <a:lvl7pPr marL="914400" algn="l" rtl="0" fontAlgn="base">
        <a:spcBef>
          <a:spcPct val="0"/>
        </a:spcBef>
        <a:spcAft>
          <a:spcPct val="0"/>
        </a:spcAft>
        <a:defRPr sz="4000" b="1">
          <a:solidFill>
            <a:schemeClr val="tx2"/>
          </a:solidFill>
          <a:latin typeface="Tahoma" pitchFamily="34" charset="0"/>
          <a:ea typeface="楷体_GB2312" pitchFamily="49" charset="-122"/>
        </a:defRPr>
      </a:lvl7pPr>
      <a:lvl8pPr marL="1371600" algn="l" rtl="0" fontAlgn="base">
        <a:spcBef>
          <a:spcPct val="0"/>
        </a:spcBef>
        <a:spcAft>
          <a:spcPct val="0"/>
        </a:spcAft>
        <a:defRPr sz="4000" b="1">
          <a:solidFill>
            <a:schemeClr val="tx2"/>
          </a:solidFill>
          <a:latin typeface="Tahoma" pitchFamily="34" charset="0"/>
          <a:ea typeface="楷体_GB2312" pitchFamily="49" charset="-122"/>
        </a:defRPr>
      </a:lvl8pPr>
      <a:lvl9pPr marL="1828800" algn="l" rtl="0" fontAlgn="base">
        <a:spcBef>
          <a:spcPct val="0"/>
        </a:spcBef>
        <a:spcAft>
          <a:spcPct val="0"/>
        </a:spcAft>
        <a:defRPr sz="4000" b="1">
          <a:solidFill>
            <a:schemeClr val="tx2"/>
          </a:solidFill>
          <a:latin typeface="Tahoma" pitchFamily="34" charset="0"/>
          <a:ea typeface="楷体_GB2312" pitchFamily="49" charset="-122"/>
        </a:defRPr>
      </a:lvl9pPr>
    </p:titleStyle>
    <p:bodyStyle>
      <a:lvl1pPr algn="l" rtl="0" fontAlgn="base">
        <a:spcBef>
          <a:spcPct val="20000"/>
        </a:spcBef>
        <a:spcAft>
          <a:spcPct val="0"/>
        </a:spcAft>
        <a:buClr>
          <a:schemeClr val="folHlink"/>
        </a:buClr>
        <a:buSzPct val="60000"/>
        <a:buFont typeface="Wingdings" pitchFamily="2" charset="2"/>
        <a:defRPr sz="2800" b="1">
          <a:solidFill>
            <a:schemeClr val="tx1"/>
          </a:solidFill>
          <a:latin typeface="+mn-lt"/>
          <a:ea typeface="+mn-ea"/>
          <a:cs typeface="+mn-cs"/>
        </a:defRPr>
      </a:lvl1pPr>
      <a:lvl2pPr marL="439738" indent="4763" algn="l" rtl="0" fontAlgn="base">
        <a:spcBef>
          <a:spcPct val="20000"/>
        </a:spcBef>
        <a:spcAft>
          <a:spcPct val="0"/>
        </a:spcAft>
        <a:buClr>
          <a:schemeClr val="hlink"/>
        </a:buClr>
        <a:buSzPct val="55000"/>
        <a:buFont typeface="Wingdings" pitchFamily="2" charset="2"/>
        <a:defRPr sz="2800" b="1">
          <a:solidFill>
            <a:schemeClr val="tx1"/>
          </a:solidFill>
          <a:latin typeface="+mn-lt"/>
          <a:ea typeface="+mn-ea"/>
        </a:defRPr>
      </a:lvl2pPr>
      <a:lvl3pPr marL="901700" algn="l" rtl="0" fontAlgn="base">
        <a:spcBef>
          <a:spcPct val="20000"/>
        </a:spcBef>
        <a:spcAft>
          <a:spcPct val="0"/>
        </a:spcAft>
        <a:buClr>
          <a:schemeClr val="folHlink"/>
        </a:buClr>
        <a:buSzPct val="50000"/>
        <a:buFont typeface="Wingdings" pitchFamily="2" charset="2"/>
        <a:defRPr sz="2800" b="1">
          <a:solidFill>
            <a:schemeClr val="tx1"/>
          </a:solidFill>
          <a:latin typeface="+mn-lt"/>
          <a:ea typeface="+mn-ea"/>
        </a:defRPr>
      </a:lvl3pPr>
      <a:lvl4pPr marL="1346200" algn="l" rtl="0" fontAlgn="base">
        <a:spcBef>
          <a:spcPct val="20000"/>
        </a:spcBef>
        <a:spcAft>
          <a:spcPct val="0"/>
        </a:spcAft>
        <a:buClr>
          <a:schemeClr val="accent2"/>
        </a:buClr>
        <a:buSzPct val="55000"/>
        <a:buFont typeface="Wingdings" pitchFamily="2" charset="2"/>
        <a:defRPr sz="2800" b="1">
          <a:solidFill>
            <a:schemeClr val="tx1"/>
          </a:solidFill>
          <a:latin typeface="+mn-lt"/>
          <a:ea typeface="+mn-ea"/>
        </a:defRPr>
      </a:lvl4pPr>
      <a:lvl5pPr marL="1789113" algn="l" rtl="0" fontAlgn="base">
        <a:spcBef>
          <a:spcPct val="20000"/>
        </a:spcBef>
        <a:spcAft>
          <a:spcPct val="0"/>
        </a:spcAft>
        <a:buClr>
          <a:schemeClr val="accent1"/>
        </a:buClr>
        <a:buSzPct val="50000"/>
        <a:buFont typeface="Wingdings" pitchFamily="2" charset="2"/>
        <a:defRPr sz="2800" b="1">
          <a:solidFill>
            <a:schemeClr val="tx1"/>
          </a:solidFill>
          <a:latin typeface="+mn-lt"/>
          <a:ea typeface="+mn-ea"/>
        </a:defRPr>
      </a:lvl5pPr>
      <a:lvl6pPr marL="2246313" algn="l" rtl="0" fontAlgn="base">
        <a:spcBef>
          <a:spcPct val="20000"/>
        </a:spcBef>
        <a:spcAft>
          <a:spcPct val="0"/>
        </a:spcAft>
        <a:buClr>
          <a:schemeClr val="accent1"/>
        </a:buClr>
        <a:buSzPct val="50000"/>
        <a:buFont typeface="Wingdings" pitchFamily="2" charset="2"/>
        <a:defRPr sz="2800" b="1">
          <a:solidFill>
            <a:schemeClr val="tx1"/>
          </a:solidFill>
          <a:latin typeface="+mn-lt"/>
          <a:ea typeface="+mn-ea"/>
        </a:defRPr>
      </a:lvl6pPr>
      <a:lvl7pPr marL="2703513" algn="l" rtl="0" fontAlgn="base">
        <a:spcBef>
          <a:spcPct val="20000"/>
        </a:spcBef>
        <a:spcAft>
          <a:spcPct val="0"/>
        </a:spcAft>
        <a:buClr>
          <a:schemeClr val="accent1"/>
        </a:buClr>
        <a:buSzPct val="50000"/>
        <a:buFont typeface="Wingdings" pitchFamily="2" charset="2"/>
        <a:defRPr sz="2800" b="1">
          <a:solidFill>
            <a:schemeClr val="tx1"/>
          </a:solidFill>
          <a:latin typeface="+mn-lt"/>
          <a:ea typeface="+mn-ea"/>
        </a:defRPr>
      </a:lvl7pPr>
      <a:lvl8pPr marL="3160713" algn="l" rtl="0" fontAlgn="base">
        <a:spcBef>
          <a:spcPct val="20000"/>
        </a:spcBef>
        <a:spcAft>
          <a:spcPct val="0"/>
        </a:spcAft>
        <a:buClr>
          <a:schemeClr val="accent1"/>
        </a:buClr>
        <a:buSzPct val="50000"/>
        <a:buFont typeface="Wingdings" pitchFamily="2" charset="2"/>
        <a:defRPr sz="2800" b="1">
          <a:solidFill>
            <a:schemeClr val="tx1"/>
          </a:solidFill>
          <a:latin typeface="+mn-lt"/>
          <a:ea typeface="+mn-ea"/>
        </a:defRPr>
      </a:lvl8pPr>
      <a:lvl9pPr marL="3617913" algn="l" rtl="0" fontAlgn="base">
        <a:spcBef>
          <a:spcPct val="20000"/>
        </a:spcBef>
        <a:spcAft>
          <a:spcPct val="0"/>
        </a:spcAft>
        <a:buClr>
          <a:schemeClr val="accent1"/>
        </a:buClr>
        <a:buSzPct val="50000"/>
        <a:buFont typeface="Wingdings" pitchFamily="2" charset="2"/>
        <a:defRPr sz="28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slide" Target="slide66.xml"/><Relationship Id="rId3" Type="http://schemas.openxmlformats.org/officeDocument/2006/relationships/slide" Target="slide8.xml"/><Relationship Id="rId7" Type="http://schemas.openxmlformats.org/officeDocument/2006/relationships/slide" Target="slide61.xml"/><Relationship Id="rId2" Type="http://schemas.openxmlformats.org/officeDocument/2006/relationships/slide" Target="slide4.xml"/><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35.xml"/><Relationship Id="rId4" Type="http://schemas.openxmlformats.org/officeDocument/2006/relationships/slide" Target="slide25.xml"/><Relationship Id="rId9" Type="http://schemas.openxmlformats.org/officeDocument/2006/relationships/slide" Target="slide8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3.emf"/><Relationship Id="rId13" Type="http://schemas.openxmlformats.org/officeDocument/2006/relationships/oleObject" Target="../embeddings/oleObject6.bin"/><Relationship Id="rId18" Type="http://schemas.openxmlformats.org/officeDocument/2006/relationships/image" Target="../media/image8.wmf"/><Relationship Id="rId3" Type="http://schemas.openxmlformats.org/officeDocument/2006/relationships/oleObject" Target="../embeddings/oleObject1.bin"/><Relationship Id="rId21" Type="http://schemas.openxmlformats.org/officeDocument/2006/relationships/oleObject" Target="../embeddings/oleObject11.bin"/><Relationship Id="rId7" Type="http://schemas.openxmlformats.org/officeDocument/2006/relationships/oleObject" Target="../embeddings/oleObject3.bin"/><Relationship Id="rId12" Type="http://schemas.openxmlformats.org/officeDocument/2006/relationships/image" Target="../media/image5.wmf"/><Relationship Id="rId17" Type="http://schemas.openxmlformats.org/officeDocument/2006/relationships/oleObject" Target="../embeddings/oleObject8.bin"/><Relationship Id="rId2" Type="http://schemas.openxmlformats.org/officeDocument/2006/relationships/slideLayout" Target="../slideLayouts/slideLayout2.xml"/><Relationship Id="rId16" Type="http://schemas.openxmlformats.org/officeDocument/2006/relationships/image" Target="../media/image7.wmf"/><Relationship Id="rId20" Type="http://schemas.openxmlformats.org/officeDocument/2006/relationships/oleObject" Target="../embeddings/oleObject10.bin"/><Relationship Id="rId1" Type="http://schemas.openxmlformats.org/officeDocument/2006/relationships/vmlDrawing" Target="../drawings/vmlDrawing1.vml"/><Relationship Id="rId6" Type="http://schemas.openxmlformats.org/officeDocument/2006/relationships/image" Target="../media/image2.e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oleObject" Target="../embeddings/oleObject7.bin"/><Relationship Id="rId10" Type="http://schemas.openxmlformats.org/officeDocument/2006/relationships/image" Target="../media/image4.wmf"/><Relationship Id="rId19" Type="http://schemas.openxmlformats.org/officeDocument/2006/relationships/oleObject" Target="../embeddings/oleObject9.bin"/><Relationship Id="rId4" Type="http://schemas.openxmlformats.org/officeDocument/2006/relationships/image" Target="../media/image1.wmf"/><Relationship Id="rId9" Type="http://schemas.openxmlformats.org/officeDocument/2006/relationships/oleObject" Target="../embeddings/oleObject4.bin"/><Relationship Id="rId14" Type="http://schemas.openxmlformats.org/officeDocument/2006/relationships/image" Target="../media/image6.wmf"/><Relationship Id="rId22" Type="http://schemas.openxmlformats.org/officeDocument/2006/relationships/oleObject" Target="../embeddings/oleObject12.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9.emf"/></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11.emf"/><Relationship Id="rId5" Type="http://schemas.openxmlformats.org/officeDocument/2006/relationships/oleObject" Target="../embeddings/oleObject15.bin"/><Relationship Id="rId4" Type="http://schemas.openxmlformats.org/officeDocument/2006/relationships/image" Target="../media/image10.e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12.emf"/></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D22BB462-5781-46FC-BF74-A03F3064FAC7}" type="slidenum">
              <a:rPr lang="en-US" altLang="zh-CN"/>
              <a:pPr/>
              <a:t>1</a:t>
            </a:fld>
            <a:endParaRPr lang="en-US" altLang="zh-CN"/>
          </a:p>
        </p:txBody>
      </p:sp>
      <p:sp>
        <p:nvSpPr>
          <p:cNvPr id="343042" name="Text Box 2"/>
          <p:cNvSpPr txBox="1">
            <a:spLocks noChangeArrowheads="1"/>
          </p:cNvSpPr>
          <p:nvPr/>
        </p:nvSpPr>
        <p:spPr bwMode="auto">
          <a:xfrm>
            <a:off x="596900" y="1412875"/>
            <a:ext cx="7935913"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lang="en-US" altLang="zh-CN" b="1">
                <a:solidFill>
                  <a:srgbClr val="FF3300"/>
                </a:solidFill>
              </a:rPr>
              <a:t>        </a:t>
            </a:r>
            <a:r>
              <a:rPr lang="zh-CN" altLang="en-US" b="1">
                <a:solidFill>
                  <a:srgbClr val="FF0000"/>
                </a:solidFill>
              </a:rPr>
              <a:t>代数系统</a:t>
            </a:r>
            <a:r>
              <a:rPr lang="en-US" altLang="zh-CN" b="1">
                <a:sym typeface="Wingdings" pitchFamily="2" charset="2"/>
              </a:rPr>
              <a:t>——</a:t>
            </a:r>
            <a:r>
              <a:rPr lang="zh-CN" altLang="en-US" b="1">
                <a:sym typeface="Wingdings" pitchFamily="2" charset="2"/>
              </a:rPr>
              <a:t>由集合和该集合中的一个或多个</a:t>
            </a:r>
            <a:r>
              <a:rPr lang="en-US" altLang="zh-CN" b="1">
                <a:sym typeface="Wingdings" pitchFamily="2" charset="2"/>
              </a:rPr>
              <a:t>n</a:t>
            </a:r>
            <a:r>
              <a:rPr lang="zh-CN" altLang="en-US" b="1">
                <a:sym typeface="Wingdings" pitchFamily="2" charset="2"/>
              </a:rPr>
              <a:t>元运算所组成的系统，称为代数系统。</a:t>
            </a:r>
            <a:r>
              <a:rPr lang="zh-CN" altLang="en-US" b="1"/>
              <a:t>       </a:t>
            </a:r>
          </a:p>
          <a:p>
            <a:pPr algn="l">
              <a:lnSpc>
                <a:spcPct val="130000"/>
              </a:lnSpc>
            </a:pPr>
            <a:r>
              <a:rPr lang="zh-CN" altLang="en-US" b="1"/>
              <a:t>        代数系统是一种数学结构，它由集合、关系、运算、定义、公理、定理和算法组成。</a:t>
            </a:r>
            <a:r>
              <a:rPr lang="zh-CN" altLang="en-US" b="1">
                <a:sym typeface="Wingdings" pitchFamily="2" charset="2"/>
              </a:rPr>
              <a:t>        </a:t>
            </a:r>
            <a:endParaRPr lang="zh-CN" altLang="en-US" b="1"/>
          </a:p>
        </p:txBody>
      </p:sp>
      <p:sp>
        <p:nvSpPr>
          <p:cNvPr id="343044" name="Rectangle 4"/>
          <p:cNvSpPr>
            <a:spLocks noGrp="1" noChangeArrowheads="1"/>
          </p:cNvSpPr>
          <p:nvPr>
            <p:ph type="title"/>
          </p:nvPr>
        </p:nvSpPr>
        <p:spPr>
          <a:xfrm>
            <a:off x="1031875" y="158750"/>
            <a:ext cx="6276975" cy="701675"/>
          </a:xfrm>
        </p:spPr>
        <p:txBody>
          <a:bodyPr/>
          <a:lstStyle/>
          <a:p>
            <a:pPr algn="ctr"/>
            <a:r>
              <a:rPr kumimoji="1" lang="zh-CN" altLang="en-US">
                <a:solidFill>
                  <a:schemeClr val="tx1"/>
                </a:solidFill>
                <a:latin typeface="华文行楷" pitchFamily="2" charset="-122"/>
                <a:ea typeface="华文行楷" pitchFamily="2" charset="-122"/>
              </a:rPr>
              <a:t>第三篇   代数系统</a:t>
            </a:r>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43042">
                                            <p:txEl>
                                              <p:pRg st="1" end="1"/>
                                            </p:txEl>
                                          </p:spTgt>
                                        </p:tgtEl>
                                        <p:attrNameLst>
                                          <p:attrName>style.visibility</p:attrName>
                                        </p:attrNameLst>
                                      </p:cBhvr>
                                      <p:to>
                                        <p:strVal val="visible"/>
                                      </p:to>
                                    </p:set>
                                    <p:anim calcmode="lin" valueType="num">
                                      <p:cBhvr additive="base">
                                        <p:cTn id="7" dur="500" fill="hold"/>
                                        <p:tgtEl>
                                          <p:spTgt spid="34304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304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6B3A3718-88F6-42B7-8368-3CF09970FE43}" type="slidenum">
              <a:rPr lang="en-US" altLang="zh-CN"/>
              <a:pPr/>
              <a:t>2</a:t>
            </a:fld>
            <a:endParaRPr lang="en-US" altLang="zh-CN"/>
          </a:p>
        </p:txBody>
      </p:sp>
      <p:sp>
        <p:nvSpPr>
          <p:cNvPr id="565250" name="Rectangle 2"/>
          <p:cNvSpPr>
            <a:spLocks noChangeArrowheads="1"/>
          </p:cNvSpPr>
          <p:nvPr/>
        </p:nvSpPr>
        <p:spPr bwMode="auto">
          <a:xfrm>
            <a:off x="539750" y="1052513"/>
            <a:ext cx="7920038" cy="3453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buClr>
                <a:srgbClr val="FF00FF"/>
              </a:buClr>
            </a:pPr>
            <a:r>
              <a:rPr lang="zh-CN" altLang="en-US" b="1" dirty="0" smtClean="0">
                <a:sym typeface="Wingdings" pitchFamily="2" charset="2"/>
              </a:rPr>
              <a:t>一、代数</a:t>
            </a:r>
            <a:r>
              <a:rPr lang="zh-CN" altLang="en-US" b="1" dirty="0">
                <a:sym typeface="Wingdings" pitchFamily="2" charset="2"/>
              </a:rPr>
              <a:t>结构：引入一般代数系统的概念；研究一些特殊的代数系统，如群、环及域；并确定这些代数系统的数学结构</a:t>
            </a:r>
            <a:r>
              <a:rPr lang="zh-CN" altLang="en-US" b="1" dirty="0" smtClean="0">
                <a:sym typeface="Wingdings" pitchFamily="2" charset="2"/>
              </a:rPr>
              <a:t>。</a:t>
            </a:r>
          </a:p>
          <a:p>
            <a:pPr algn="l">
              <a:lnSpc>
                <a:spcPct val="130000"/>
              </a:lnSpc>
              <a:buClr>
                <a:srgbClr val="FF66CC"/>
              </a:buClr>
              <a:buFont typeface="Wingdings" pitchFamily="2" charset="2"/>
              <a:buNone/>
            </a:pPr>
            <a:r>
              <a:rPr lang="zh-CN" altLang="en-US" b="1" dirty="0" smtClean="0">
                <a:ea typeface="楷体_GB2312" pitchFamily="49" charset="-122"/>
              </a:rPr>
              <a:t>         代数系统是一类特殊的数学结构，研究代数系统的一般性质及各种特殊代数系统，其理论和方法不仅对数学学科产生着深远的影响，在计算机科学领域也有着广泛应用。</a:t>
            </a:r>
            <a:r>
              <a:rPr lang="zh-CN" altLang="en-US" b="1" dirty="0" smtClean="0">
                <a:solidFill>
                  <a:srgbClr val="FF0000"/>
                </a:solidFill>
                <a:ea typeface="楷体_GB2312" pitchFamily="49" charset="-122"/>
              </a:rPr>
              <a:t>例如半群理论在自动机和形式语言研究中发挥重要作用。</a:t>
            </a:r>
            <a:endParaRPr lang="zh-CN" altLang="en-US" b="1" dirty="0">
              <a:solidFill>
                <a:srgbClr val="FF0000"/>
              </a:solidFill>
              <a:ea typeface="楷体_GB2312" pitchFamily="49" charset="-122"/>
            </a:endParaRPr>
          </a:p>
        </p:txBody>
      </p:sp>
      <p:sp>
        <p:nvSpPr>
          <p:cNvPr id="565251" name="Rectangle 3"/>
          <p:cNvSpPr>
            <a:spLocks noGrp="1" noChangeArrowheads="1"/>
          </p:cNvSpPr>
          <p:nvPr>
            <p:ph type="title"/>
          </p:nvPr>
        </p:nvSpPr>
        <p:spPr>
          <a:xfrm>
            <a:off x="1143000" y="188913"/>
            <a:ext cx="6669088" cy="641350"/>
          </a:xfrm>
        </p:spPr>
        <p:txBody>
          <a:bodyPr/>
          <a:lstStyle/>
          <a:p>
            <a:r>
              <a:rPr kumimoji="1" lang="zh-CN" altLang="en-US" sz="3600">
                <a:solidFill>
                  <a:schemeClr val="tx1"/>
                </a:solidFill>
                <a:latin typeface="Times New Roman" pitchFamily="18" charset="0"/>
                <a:ea typeface="华文行楷" pitchFamily="2" charset="-122"/>
                <a:sym typeface="Wingdings" pitchFamily="2" charset="2"/>
              </a:rPr>
              <a:t>本篇主要介绍</a:t>
            </a:r>
          </a:p>
        </p:txBody>
      </p:sp>
      <p:sp>
        <p:nvSpPr>
          <p:cNvPr id="6" name="Rectangle 2"/>
          <p:cNvSpPr>
            <a:spLocks noChangeArrowheads="1"/>
          </p:cNvSpPr>
          <p:nvPr/>
        </p:nvSpPr>
        <p:spPr bwMode="auto">
          <a:xfrm>
            <a:off x="539750" y="4437112"/>
            <a:ext cx="7920038"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buClr>
                <a:srgbClr val="FF00FF"/>
              </a:buClr>
            </a:pPr>
            <a:r>
              <a:rPr lang="zh-CN" altLang="en-US" b="1" dirty="0" smtClean="0">
                <a:sym typeface="Wingdings" pitchFamily="2" charset="2"/>
              </a:rPr>
              <a:t>二、格</a:t>
            </a:r>
            <a:r>
              <a:rPr lang="zh-CN" altLang="en-US" b="1" dirty="0">
                <a:sym typeface="Wingdings" pitchFamily="2" charset="2"/>
              </a:rPr>
              <a:t>和布尔代数：</a:t>
            </a:r>
            <a:r>
              <a:rPr lang="zh-CN" altLang="en-US" b="1" dirty="0"/>
              <a:t>介绍另一种特殊的代数系统格；在格的基础上研究和计算机科学密切相关的布尔代数。</a:t>
            </a:r>
          </a:p>
          <a:p>
            <a:pPr algn="l">
              <a:lnSpc>
                <a:spcPct val="130000"/>
              </a:lnSpc>
              <a:buClr>
                <a:srgbClr val="FF00FF"/>
              </a:buClr>
              <a:buFont typeface="Wingdings" pitchFamily="2" charset="2"/>
              <a:buNone/>
            </a:pPr>
            <a:r>
              <a:rPr lang="zh-CN" altLang="en-US" b="1" dirty="0"/>
              <a:t>        </a:t>
            </a:r>
            <a:r>
              <a:rPr lang="zh-CN" altLang="en-US" b="1" dirty="0">
                <a:solidFill>
                  <a:schemeClr val="hlink"/>
                </a:solidFill>
              </a:rPr>
              <a:t>格与布尔代数的理论成为电子计算机硬件设计和通讯系统设计中的重要工具。</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6525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AE7B5DB1-599E-4AE1-9556-041B11711C75}" type="slidenum">
              <a:rPr lang="en-US" altLang="zh-CN"/>
              <a:pPr/>
              <a:t>3</a:t>
            </a:fld>
            <a:endParaRPr lang="en-US" altLang="zh-CN"/>
          </a:p>
        </p:txBody>
      </p:sp>
      <p:sp>
        <p:nvSpPr>
          <p:cNvPr id="345095" name="Rectangle 7"/>
          <p:cNvSpPr>
            <a:spLocks noGrp="1" noChangeArrowheads="1"/>
          </p:cNvSpPr>
          <p:nvPr>
            <p:ph type="title"/>
          </p:nvPr>
        </p:nvSpPr>
        <p:spPr>
          <a:xfrm>
            <a:off x="911225" y="134938"/>
            <a:ext cx="6613525" cy="701675"/>
          </a:xfrm>
        </p:spPr>
        <p:txBody>
          <a:bodyPr/>
          <a:lstStyle/>
          <a:p>
            <a:pPr algn="ctr"/>
            <a:r>
              <a:rPr kumimoji="1" lang="zh-CN" altLang="en-US">
                <a:solidFill>
                  <a:schemeClr val="tx1"/>
                </a:solidFill>
                <a:latin typeface="华文行楷" pitchFamily="2" charset="-122"/>
                <a:ea typeface="华文行楷" pitchFamily="2" charset="-122"/>
              </a:rPr>
              <a:t>第五章   代数结构</a:t>
            </a:r>
          </a:p>
        </p:txBody>
      </p:sp>
      <p:sp>
        <p:nvSpPr>
          <p:cNvPr id="345097" name="Text Box 9"/>
          <p:cNvSpPr txBox="1">
            <a:spLocks noChangeArrowheads="1"/>
          </p:cNvSpPr>
          <p:nvPr/>
        </p:nvSpPr>
        <p:spPr bwMode="auto">
          <a:xfrm>
            <a:off x="1998663" y="1268413"/>
            <a:ext cx="5668962" cy="5008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800" b="1">
                <a:hlinkClick r:id="rId2" action="ppaction://hlinksldjump"/>
              </a:rPr>
              <a:t>5.1  </a:t>
            </a:r>
            <a:r>
              <a:rPr lang="zh-CN" altLang="en-US" sz="2800" b="1">
                <a:hlinkClick r:id="rId2" action="ppaction://hlinksldjump"/>
              </a:rPr>
              <a:t>代数系统的引入</a:t>
            </a:r>
            <a:endParaRPr lang="zh-CN" altLang="en-US" sz="2800" b="1"/>
          </a:p>
          <a:p>
            <a:pPr algn="l">
              <a:spcBef>
                <a:spcPct val="50000"/>
              </a:spcBef>
            </a:pPr>
            <a:r>
              <a:rPr lang="en-US" altLang="zh-CN" sz="2800" b="1">
                <a:hlinkClick r:id="rId3" action="ppaction://hlinksldjump"/>
              </a:rPr>
              <a:t>5.2  </a:t>
            </a:r>
            <a:r>
              <a:rPr lang="zh-CN" altLang="en-US" sz="2800" b="1">
                <a:hlinkClick r:id="rId3" action="ppaction://hlinksldjump"/>
              </a:rPr>
              <a:t>运算及其性质</a:t>
            </a:r>
            <a:endParaRPr lang="zh-CN" altLang="en-US" sz="2800" b="1"/>
          </a:p>
          <a:p>
            <a:pPr algn="l">
              <a:spcBef>
                <a:spcPct val="50000"/>
              </a:spcBef>
            </a:pPr>
            <a:r>
              <a:rPr lang="en-US" altLang="zh-CN" sz="2800" b="1">
                <a:hlinkClick r:id="rId4" action="ppaction://hlinksldjump"/>
              </a:rPr>
              <a:t>5.3  </a:t>
            </a:r>
            <a:r>
              <a:rPr lang="zh-CN" altLang="en-US" sz="2800" b="1">
                <a:hlinkClick r:id="rId4" action="ppaction://hlinksldjump"/>
              </a:rPr>
              <a:t>半群</a:t>
            </a:r>
            <a:endParaRPr lang="zh-CN" altLang="en-US" sz="2800" b="1"/>
          </a:p>
          <a:p>
            <a:pPr algn="l">
              <a:spcBef>
                <a:spcPct val="50000"/>
              </a:spcBef>
            </a:pPr>
            <a:r>
              <a:rPr lang="en-US" altLang="zh-CN" sz="2800" b="1">
                <a:hlinkClick r:id="rId5" action="ppaction://hlinksldjump"/>
              </a:rPr>
              <a:t>5.4  </a:t>
            </a:r>
            <a:r>
              <a:rPr lang="zh-CN" altLang="en-US" sz="2800" b="1">
                <a:hlinkClick r:id="rId5" action="ppaction://hlinksldjump"/>
              </a:rPr>
              <a:t>群与子群</a:t>
            </a:r>
            <a:endParaRPr lang="zh-CN" altLang="en-US" sz="2800" b="1"/>
          </a:p>
          <a:p>
            <a:pPr algn="l">
              <a:spcBef>
                <a:spcPct val="50000"/>
              </a:spcBef>
            </a:pPr>
            <a:r>
              <a:rPr lang="en-US" altLang="zh-CN" sz="2800" b="1">
                <a:hlinkClick r:id="rId6" action="ppaction://hlinksldjump"/>
              </a:rPr>
              <a:t>5.5  </a:t>
            </a:r>
            <a:r>
              <a:rPr lang="zh-CN" altLang="en-US" sz="2800" b="1">
                <a:hlinkClick r:id="rId6" action="ppaction://hlinksldjump"/>
              </a:rPr>
              <a:t>阿贝尔群和循环群</a:t>
            </a:r>
            <a:endParaRPr lang="zh-CN" altLang="en-US" sz="2800" b="1"/>
          </a:p>
          <a:p>
            <a:pPr algn="l">
              <a:spcBef>
                <a:spcPct val="50000"/>
              </a:spcBef>
            </a:pPr>
            <a:r>
              <a:rPr lang="en-US" altLang="zh-CN" sz="2800" b="1">
                <a:hlinkClick r:id="rId7" action="ppaction://hlinksldjump"/>
              </a:rPr>
              <a:t>5.7  </a:t>
            </a:r>
            <a:r>
              <a:rPr lang="zh-CN" altLang="en-US" sz="2800" b="1">
                <a:hlinkClick r:id="rId7" action="ppaction://hlinksldjump"/>
              </a:rPr>
              <a:t>陪集与拉格朗日定理</a:t>
            </a:r>
            <a:endParaRPr lang="zh-CN" altLang="en-US" sz="2800" b="1"/>
          </a:p>
          <a:p>
            <a:pPr algn="l">
              <a:spcBef>
                <a:spcPct val="50000"/>
              </a:spcBef>
            </a:pPr>
            <a:r>
              <a:rPr lang="en-US" altLang="zh-CN" sz="2800" b="1">
                <a:hlinkClick r:id="rId8" action="ppaction://hlinksldjump"/>
              </a:rPr>
              <a:t>5.8  </a:t>
            </a:r>
            <a:r>
              <a:rPr lang="zh-CN" altLang="en-US" sz="2800" b="1">
                <a:hlinkClick r:id="rId8" action="ppaction://hlinksldjump"/>
              </a:rPr>
              <a:t>同态与同构</a:t>
            </a:r>
            <a:endParaRPr lang="zh-CN" altLang="en-US" sz="2800" b="1"/>
          </a:p>
          <a:p>
            <a:pPr algn="l">
              <a:spcBef>
                <a:spcPct val="50000"/>
              </a:spcBef>
            </a:pPr>
            <a:r>
              <a:rPr lang="en-US" altLang="zh-CN" sz="2800" b="1">
                <a:hlinkClick r:id="rId9" action="ppaction://hlinksldjump"/>
              </a:rPr>
              <a:t>5.9  </a:t>
            </a:r>
            <a:r>
              <a:rPr lang="zh-CN" altLang="en-US" sz="2800" b="1">
                <a:hlinkClick r:id="rId9" action="ppaction://hlinksldjump"/>
              </a:rPr>
              <a:t>环与域</a:t>
            </a:r>
            <a:endParaRPr lang="zh-CN" altLang="en-US" sz="2800" b="1"/>
          </a:p>
        </p:txBody>
      </p:sp>
    </p:spTree>
  </p:cSld>
  <p:clrMapOvr>
    <a:masterClrMapping/>
  </p:clrMapOvr>
  <p:transition>
    <p:strips dir="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11"/>
          </p:nvPr>
        </p:nvSpPr>
        <p:spPr/>
        <p:txBody>
          <a:bodyPr/>
          <a:lstStyle/>
          <a:p>
            <a:fld id="{2A78608A-8C14-4326-983E-74FFBAF18E8E}" type="slidenum">
              <a:rPr lang="en-US" altLang="zh-CN"/>
              <a:pPr/>
              <a:t>4</a:t>
            </a:fld>
            <a:endParaRPr lang="en-US" altLang="zh-CN"/>
          </a:p>
        </p:txBody>
      </p:sp>
      <p:sp>
        <p:nvSpPr>
          <p:cNvPr id="412674" name="Rectangle 2"/>
          <p:cNvSpPr>
            <a:spLocks noGrp="1" noChangeArrowheads="1"/>
          </p:cNvSpPr>
          <p:nvPr>
            <p:ph type="title"/>
          </p:nvPr>
        </p:nvSpPr>
        <p:spPr>
          <a:xfrm>
            <a:off x="1079500" y="179388"/>
            <a:ext cx="5813425" cy="641350"/>
          </a:xfrm>
          <a:noFill/>
        </p:spPr>
        <p:txBody>
          <a:bodyPr anchor="ctr"/>
          <a:lstStyle/>
          <a:p>
            <a:r>
              <a:rPr kumimoji="1" lang="en-US" altLang="zh-CN" sz="3600">
                <a:solidFill>
                  <a:schemeClr val="tx1"/>
                </a:solidFill>
                <a:latin typeface="华文行楷" pitchFamily="2" charset="-122"/>
                <a:ea typeface="华文行楷" pitchFamily="2" charset="-122"/>
              </a:rPr>
              <a:t>5.1 </a:t>
            </a:r>
            <a:r>
              <a:rPr kumimoji="1" lang="zh-CN" altLang="en-US" sz="3600">
                <a:solidFill>
                  <a:schemeClr val="tx1"/>
                </a:solidFill>
                <a:latin typeface="华文行楷" pitchFamily="2" charset="-122"/>
                <a:ea typeface="华文行楷" pitchFamily="2" charset="-122"/>
              </a:rPr>
              <a:t>代数系统的引入</a:t>
            </a:r>
            <a:endParaRPr lang="zh-CN" altLang="en-US" sz="3600">
              <a:solidFill>
                <a:schemeClr val="tx1"/>
              </a:solidFill>
              <a:latin typeface="华文行楷" pitchFamily="2" charset="-122"/>
              <a:ea typeface="华文行楷" pitchFamily="2" charset="-122"/>
            </a:endParaRPr>
          </a:p>
        </p:txBody>
      </p:sp>
      <p:sp>
        <p:nvSpPr>
          <p:cNvPr id="412676" name="Text Box 4"/>
          <p:cNvSpPr txBox="1">
            <a:spLocks noChangeArrowheads="1"/>
          </p:cNvSpPr>
          <p:nvPr/>
        </p:nvSpPr>
        <p:spPr bwMode="auto">
          <a:xfrm>
            <a:off x="539750" y="1065213"/>
            <a:ext cx="7558088" cy="2653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kumimoji="0" lang="en-US" altLang="zh-CN" sz="3200" b="1" dirty="0">
                <a:solidFill>
                  <a:schemeClr val="folHlink"/>
                </a:solidFill>
                <a:latin typeface="楷体_GB2312" pitchFamily="49" charset="-122"/>
                <a:ea typeface="楷体_GB2312" pitchFamily="49" charset="-122"/>
              </a:rPr>
              <a:t>1</a:t>
            </a:r>
            <a:r>
              <a:rPr kumimoji="0" lang="zh-CN" altLang="en-US" sz="3200" b="1" dirty="0">
                <a:solidFill>
                  <a:schemeClr val="folHlink"/>
                </a:solidFill>
                <a:latin typeface="楷体_GB2312" pitchFamily="49" charset="-122"/>
                <a:ea typeface="楷体_GB2312" pitchFamily="49" charset="-122"/>
              </a:rPr>
              <a:t>、</a:t>
            </a:r>
            <a:r>
              <a:rPr kumimoji="0" lang="en-US" altLang="zh-CN" sz="3200" b="1" dirty="0">
                <a:solidFill>
                  <a:schemeClr val="folHlink"/>
                </a:solidFill>
                <a:latin typeface="楷体_GB2312" pitchFamily="49" charset="-122"/>
                <a:ea typeface="楷体_GB2312" pitchFamily="49" charset="-122"/>
              </a:rPr>
              <a:t>n</a:t>
            </a:r>
            <a:r>
              <a:rPr kumimoji="0" lang="zh-CN" altLang="en-US" sz="3200" b="1" dirty="0">
                <a:solidFill>
                  <a:schemeClr val="folHlink"/>
                </a:solidFill>
                <a:latin typeface="楷体_GB2312" pitchFamily="49" charset="-122"/>
                <a:ea typeface="楷体_GB2312" pitchFamily="49" charset="-122"/>
              </a:rPr>
              <a:t>元运算、运算表</a:t>
            </a:r>
          </a:p>
          <a:p>
            <a:pPr algn="l">
              <a:lnSpc>
                <a:spcPct val="130000"/>
              </a:lnSpc>
            </a:pPr>
            <a:r>
              <a:rPr kumimoji="0" lang="zh-CN" altLang="en-US" b="1" dirty="0" smtClean="0"/>
              <a:t>例如：实数</a:t>
            </a:r>
            <a:r>
              <a:rPr kumimoji="0" lang="en-US" altLang="zh-CN" b="1" dirty="0"/>
              <a:t>R</a:t>
            </a:r>
            <a:r>
              <a:rPr kumimoji="0" lang="zh-CN" altLang="en-US" b="1" dirty="0" smtClean="0"/>
              <a:t>上的运算</a:t>
            </a:r>
            <a:endParaRPr kumimoji="0" lang="zh-CN" altLang="en-US" b="1" dirty="0"/>
          </a:p>
          <a:p>
            <a:pPr algn="l">
              <a:lnSpc>
                <a:spcPct val="130000"/>
              </a:lnSpc>
            </a:pPr>
            <a:r>
              <a:rPr kumimoji="0" lang="en-US" altLang="zh-CN" b="1" dirty="0" smtClean="0"/>
              <a:t>f(a</a:t>
            </a:r>
            <a:r>
              <a:rPr kumimoji="0" lang="en-US" altLang="zh-CN" b="1" dirty="0"/>
              <a:t>)=1/a</a:t>
            </a:r>
            <a:r>
              <a:rPr kumimoji="0" lang="zh-CN" altLang="en-US" b="1" dirty="0"/>
              <a:t>，</a:t>
            </a:r>
            <a:r>
              <a:rPr kumimoji="0" lang="en-US" altLang="zh-CN" b="1" dirty="0"/>
              <a:t>f(a</a:t>
            </a:r>
            <a:r>
              <a:rPr kumimoji="0" lang="en-US" altLang="zh-CN" b="1" dirty="0" smtClean="0"/>
              <a:t>)=-a               </a:t>
            </a:r>
            <a:r>
              <a:rPr kumimoji="0" lang="zh-CN" altLang="en-US" b="1" dirty="0" smtClean="0"/>
              <a:t>一元运算</a:t>
            </a:r>
            <a:endParaRPr kumimoji="0" lang="en-US" altLang="zh-CN" b="1" dirty="0"/>
          </a:p>
          <a:p>
            <a:pPr algn="l">
              <a:lnSpc>
                <a:spcPct val="130000"/>
              </a:lnSpc>
            </a:pPr>
            <a:r>
              <a:rPr kumimoji="0" lang="en-US" altLang="zh-CN" b="1" dirty="0" smtClean="0"/>
              <a:t>f(</a:t>
            </a:r>
            <a:r>
              <a:rPr kumimoji="0" lang="en-US" altLang="zh-CN" b="1" dirty="0" err="1" smtClean="0"/>
              <a:t>a,b</a:t>
            </a:r>
            <a:r>
              <a:rPr kumimoji="0" lang="en-US" altLang="zh-CN" b="1" dirty="0"/>
              <a:t>)=</a:t>
            </a:r>
            <a:r>
              <a:rPr kumimoji="0" lang="en-US" altLang="zh-CN" b="1" dirty="0" err="1" smtClean="0"/>
              <a:t>a+b</a:t>
            </a:r>
            <a:r>
              <a:rPr kumimoji="0" lang="en-US" altLang="zh-CN" b="1" dirty="0" smtClean="0"/>
              <a:t>                          </a:t>
            </a:r>
            <a:r>
              <a:rPr kumimoji="0" lang="zh-CN" altLang="en-US" b="1" dirty="0" smtClean="0"/>
              <a:t>二元运算</a:t>
            </a:r>
            <a:endParaRPr kumimoji="0" lang="en-US" altLang="zh-CN" b="1" dirty="0"/>
          </a:p>
          <a:p>
            <a:pPr algn="l">
              <a:lnSpc>
                <a:spcPct val="130000"/>
              </a:lnSpc>
            </a:pPr>
            <a:r>
              <a:rPr kumimoji="0" lang="en-US" altLang="zh-CN" b="1" dirty="0"/>
              <a:t>                     </a:t>
            </a:r>
            <a:r>
              <a:rPr kumimoji="0" lang="en-US" altLang="zh-CN" b="1" dirty="0" smtClean="0"/>
              <a:t>……</a:t>
            </a:r>
            <a:endParaRPr kumimoji="0" lang="en-US" altLang="zh-CN" b="1" dirty="0"/>
          </a:p>
        </p:txBody>
      </p:sp>
      <p:sp>
        <p:nvSpPr>
          <p:cNvPr id="412677" name="Text Box 5"/>
          <p:cNvSpPr txBox="1">
            <a:spLocks noChangeArrowheads="1"/>
          </p:cNvSpPr>
          <p:nvPr/>
        </p:nvSpPr>
        <p:spPr bwMode="auto">
          <a:xfrm>
            <a:off x="539750" y="3756025"/>
            <a:ext cx="7777163" cy="1052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lnSpc>
                <a:spcPct val="130000"/>
              </a:lnSpc>
            </a:pPr>
            <a:r>
              <a:rPr kumimoji="0" lang="zh-CN" altLang="en-US" b="1" dirty="0" smtClean="0">
                <a:solidFill>
                  <a:srgbClr val="FF0000"/>
                </a:solidFill>
              </a:rPr>
              <a:t>定义</a:t>
            </a:r>
            <a:r>
              <a:rPr kumimoji="0" lang="en-US" altLang="zh-CN" b="1" dirty="0" smtClean="0">
                <a:solidFill>
                  <a:srgbClr val="FF0000"/>
                </a:solidFill>
              </a:rPr>
              <a:t>5.1.1</a:t>
            </a:r>
            <a:r>
              <a:rPr kumimoji="0" lang="zh-CN" altLang="en-US" b="1" dirty="0">
                <a:solidFill>
                  <a:srgbClr val="FF0000"/>
                </a:solidFill>
              </a:rPr>
              <a:t>：</a:t>
            </a:r>
            <a:r>
              <a:rPr kumimoji="0" lang="zh-CN" altLang="en-US" b="1" dirty="0"/>
              <a:t>设</a:t>
            </a:r>
            <a:r>
              <a:rPr kumimoji="0" lang="en-US" altLang="zh-CN" b="1" dirty="0"/>
              <a:t>A</a:t>
            </a:r>
            <a:r>
              <a:rPr kumimoji="0" lang="zh-CN" altLang="en-US" b="1" dirty="0"/>
              <a:t>是一个集合，</a:t>
            </a:r>
            <a:r>
              <a:rPr kumimoji="0" lang="en-US" altLang="zh-CN" b="1" dirty="0"/>
              <a:t>A</a:t>
            </a:r>
            <a:r>
              <a:rPr lang="en-US" altLang="zh-CN" b="1" dirty="0">
                <a:solidFill>
                  <a:srgbClr val="000000"/>
                </a:solidFill>
              </a:rPr>
              <a:t>×A</a:t>
            </a:r>
            <a:r>
              <a:rPr lang="zh-CN" altLang="en-US" b="1" dirty="0">
                <a:solidFill>
                  <a:srgbClr val="000000"/>
                </a:solidFill>
              </a:rPr>
              <a:t>到</a:t>
            </a:r>
            <a:r>
              <a:rPr lang="en-US" altLang="zh-CN" b="1" dirty="0">
                <a:solidFill>
                  <a:srgbClr val="000000"/>
                </a:solidFill>
              </a:rPr>
              <a:t>B</a:t>
            </a:r>
            <a:r>
              <a:rPr lang="zh-CN" altLang="en-US" b="1" dirty="0">
                <a:solidFill>
                  <a:srgbClr val="000000"/>
                </a:solidFill>
              </a:rPr>
              <a:t>的映射称为</a:t>
            </a:r>
            <a:r>
              <a:rPr lang="en-US" altLang="zh-CN" b="1" dirty="0">
                <a:solidFill>
                  <a:srgbClr val="000000"/>
                </a:solidFill>
              </a:rPr>
              <a:t>A</a:t>
            </a:r>
            <a:r>
              <a:rPr lang="zh-CN" altLang="en-US" b="1" dirty="0">
                <a:solidFill>
                  <a:srgbClr val="000000"/>
                </a:solidFill>
              </a:rPr>
              <a:t>上的</a:t>
            </a:r>
            <a:r>
              <a:rPr lang="zh-CN" altLang="en-US" b="1" i="1" dirty="0">
                <a:solidFill>
                  <a:srgbClr val="FF0000"/>
                </a:solidFill>
              </a:rPr>
              <a:t>二元运算</a:t>
            </a:r>
            <a:r>
              <a:rPr lang="zh-CN" altLang="en-US" b="1" dirty="0">
                <a:solidFill>
                  <a:srgbClr val="000000"/>
                </a:solidFill>
              </a:rPr>
              <a:t>，一般地，</a:t>
            </a:r>
            <a:r>
              <a:rPr lang="en-US" altLang="zh-CN" b="1" dirty="0">
                <a:solidFill>
                  <a:srgbClr val="000000"/>
                </a:solidFill>
              </a:rPr>
              <a:t>A</a:t>
            </a:r>
            <a:r>
              <a:rPr lang="en-US" altLang="zh-CN" b="1" baseline="30000" dirty="0">
                <a:solidFill>
                  <a:srgbClr val="000000"/>
                </a:solidFill>
              </a:rPr>
              <a:t>n</a:t>
            </a:r>
            <a:r>
              <a:rPr lang="zh-CN" altLang="en-US" b="1" dirty="0">
                <a:solidFill>
                  <a:srgbClr val="000000"/>
                </a:solidFill>
              </a:rPr>
              <a:t>到</a:t>
            </a:r>
            <a:r>
              <a:rPr lang="en-US" altLang="zh-CN" b="1" dirty="0">
                <a:solidFill>
                  <a:srgbClr val="000000"/>
                </a:solidFill>
              </a:rPr>
              <a:t>B</a:t>
            </a:r>
            <a:r>
              <a:rPr lang="zh-CN" altLang="en-US" b="1" dirty="0">
                <a:solidFill>
                  <a:srgbClr val="000000"/>
                </a:solidFill>
              </a:rPr>
              <a:t>的映射称为</a:t>
            </a:r>
            <a:r>
              <a:rPr lang="en-US" altLang="zh-CN" b="1" dirty="0">
                <a:solidFill>
                  <a:srgbClr val="000000"/>
                </a:solidFill>
              </a:rPr>
              <a:t>A</a:t>
            </a:r>
            <a:r>
              <a:rPr lang="zh-CN" altLang="en-US" b="1" dirty="0">
                <a:solidFill>
                  <a:srgbClr val="000000"/>
                </a:solidFill>
              </a:rPr>
              <a:t>上的</a:t>
            </a:r>
            <a:r>
              <a:rPr lang="en-US" altLang="zh-CN" b="1" i="1" dirty="0">
                <a:solidFill>
                  <a:srgbClr val="FF0000"/>
                </a:solidFill>
              </a:rPr>
              <a:t>n</a:t>
            </a:r>
            <a:r>
              <a:rPr lang="zh-CN" altLang="en-US" b="1" i="1" dirty="0">
                <a:solidFill>
                  <a:srgbClr val="FF0000"/>
                </a:solidFill>
              </a:rPr>
              <a:t>元运算</a:t>
            </a:r>
            <a:r>
              <a:rPr lang="zh-CN" altLang="en-US" b="1" dirty="0"/>
              <a:t>。</a:t>
            </a:r>
          </a:p>
        </p:txBody>
      </p:sp>
      <p:sp>
        <p:nvSpPr>
          <p:cNvPr id="412678" name="Text Box 6"/>
          <p:cNvSpPr txBox="1">
            <a:spLocks noChangeArrowheads="1"/>
          </p:cNvSpPr>
          <p:nvPr/>
        </p:nvSpPr>
        <p:spPr bwMode="auto">
          <a:xfrm>
            <a:off x="539750" y="4764088"/>
            <a:ext cx="7916863" cy="1000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kumimoji="0" lang="zh-CN" altLang="en-US" b="1" dirty="0">
                <a:solidFill>
                  <a:schemeClr val="hlink"/>
                </a:solidFill>
              </a:rPr>
              <a:t>例</a:t>
            </a:r>
            <a:r>
              <a:rPr kumimoji="0" lang="en-US" altLang="zh-CN" b="1" dirty="0">
                <a:solidFill>
                  <a:schemeClr val="hlink"/>
                </a:solidFill>
              </a:rPr>
              <a:t>1</a:t>
            </a:r>
            <a:r>
              <a:rPr kumimoji="0" lang="zh-CN" altLang="en-US" b="1" dirty="0">
                <a:solidFill>
                  <a:schemeClr val="hlink"/>
                </a:solidFill>
              </a:rPr>
              <a:t>：</a:t>
            </a:r>
            <a:r>
              <a:rPr kumimoji="0" lang="en-US" altLang="zh-CN" b="1" dirty="0"/>
              <a:t>(1</a:t>
            </a:r>
            <a:r>
              <a:rPr kumimoji="0" lang="en-US" altLang="zh-CN" b="1" dirty="0" smtClean="0"/>
              <a:t>) </a:t>
            </a:r>
            <a:r>
              <a:rPr kumimoji="0" lang="zh-CN" altLang="en-US" b="1" dirty="0" smtClean="0"/>
              <a:t>实数</a:t>
            </a:r>
            <a:r>
              <a:rPr kumimoji="0" lang="zh-CN" altLang="en-US" b="1" dirty="0"/>
              <a:t>集</a:t>
            </a:r>
            <a:r>
              <a:rPr kumimoji="0" lang="en-US" altLang="zh-CN" b="1" dirty="0"/>
              <a:t>R</a:t>
            </a:r>
            <a:r>
              <a:rPr kumimoji="0" lang="zh-CN" altLang="en-US" b="1" dirty="0"/>
              <a:t>上数的</a:t>
            </a:r>
            <a:r>
              <a:rPr kumimoji="0" lang="zh-CN" altLang="en-US" b="1" dirty="0" smtClean="0"/>
              <a:t>加法</a:t>
            </a:r>
            <a:endParaRPr kumimoji="0" lang="zh-CN" altLang="en-US" b="1" dirty="0"/>
          </a:p>
          <a:p>
            <a:pPr algn="l">
              <a:lnSpc>
                <a:spcPct val="130000"/>
              </a:lnSpc>
            </a:pPr>
            <a:r>
              <a:rPr kumimoji="0" lang="en-US" altLang="zh-CN" b="1" dirty="0" smtClean="0"/>
              <a:t>          (</a:t>
            </a:r>
            <a:r>
              <a:rPr kumimoji="0" lang="en-US" altLang="zh-CN" b="1" dirty="0"/>
              <a:t>2</a:t>
            </a:r>
            <a:r>
              <a:rPr kumimoji="0" lang="en-US" altLang="zh-CN" b="1" dirty="0" smtClean="0"/>
              <a:t>)</a:t>
            </a:r>
            <a:r>
              <a:rPr kumimoji="0" lang="zh-CN" altLang="en-US" b="1" dirty="0" smtClean="0"/>
              <a:t> 集合</a:t>
            </a:r>
            <a:r>
              <a:rPr kumimoji="0" lang="zh-CN" altLang="en-US" b="1" dirty="0"/>
              <a:t>的并、</a:t>
            </a:r>
            <a:r>
              <a:rPr kumimoji="0" lang="zh-CN" altLang="en-US" b="1" dirty="0" smtClean="0"/>
              <a:t>交等。</a:t>
            </a:r>
            <a:endParaRPr kumimoji="0" lang="zh-CN" altLang="en-US" b="1" dirty="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12676">
                                            <p:txEl>
                                              <p:pRg st="1" end="1"/>
                                            </p:txEl>
                                          </p:spTgt>
                                        </p:tgtEl>
                                        <p:attrNameLst>
                                          <p:attrName>style.visibility</p:attrName>
                                        </p:attrNameLst>
                                      </p:cBhvr>
                                      <p:to>
                                        <p:strVal val="visible"/>
                                      </p:to>
                                    </p:set>
                                    <p:anim calcmode="lin" valueType="num">
                                      <p:cBhvr additive="base">
                                        <p:cTn id="7" dur="500" fill="hold"/>
                                        <p:tgtEl>
                                          <p:spTgt spid="41267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12676">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12676">
                                            <p:txEl>
                                              <p:pRg st="2" end="2"/>
                                            </p:txEl>
                                          </p:spTgt>
                                        </p:tgtEl>
                                        <p:attrNameLst>
                                          <p:attrName>style.visibility</p:attrName>
                                        </p:attrNameLst>
                                      </p:cBhvr>
                                      <p:to>
                                        <p:strVal val="visible"/>
                                      </p:to>
                                    </p:set>
                                    <p:anim calcmode="lin" valueType="num">
                                      <p:cBhvr additive="base">
                                        <p:cTn id="11" dur="500" fill="hold"/>
                                        <p:tgtEl>
                                          <p:spTgt spid="412676">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12676">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12676">
                                            <p:txEl>
                                              <p:pRg st="3" end="3"/>
                                            </p:txEl>
                                          </p:spTgt>
                                        </p:tgtEl>
                                        <p:attrNameLst>
                                          <p:attrName>style.visibility</p:attrName>
                                        </p:attrNameLst>
                                      </p:cBhvr>
                                      <p:to>
                                        <p:strVal val="visible"/>
                                      </p:to>
                                    </p:set>
                                    <p:anim calcmode="lin" valueType="num">
                                      <p:cBhvr additive="base">
                                        <p:cTn id="15" dur="500" fill="hold"/>
                                        <p:tgtEl>
                                          <p:spTgt spid="412676">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12676">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12676">
                                            <p:txEl>
                                              <p:pRg st="4" end="4"/>
                                            </p:txEl>
                                          </p:spTgt>
                                        </p:tgtEl>
                                        <p:attrNameLst>
                                          <p:attrName>style.visibility</p:attrName>
                                        </p:attrNameLst>
                                      </p:cBhvr>
                                      <p:to>
                                        <p:strVal val="visible"/>
                                      </p:to>
                                    </p:set>
                                    <p:anim calcmode="lin" valueType="num">
                                      <p:cBhvr additive="base">
                                        <p:cTn id="19" dur="500" fill="hold"/>
                                        <p:tgtEl>
                                          <p:spTgt spid="412676">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1267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12677"/>
                                        </p:tgtEl>
                                        <p:attrNameLst>
                                          <p:attrName>style.visibility</p:attrName>
                                        </p:attrNameLst>
                                      </p:cBhvr>
                                      <p:to>
                                        <p:strVal val="visible"/>
                                      </p:to>
                                    </p:set>
                                    <p:anim calcmode="lin" valueType="num">
                                      <p:cBhvr additive="base">
                                        <p:cTn id="25" dur="500" fill="hold"/>
                                        <p:tgtEl>
                                          <p:spTgt spid="412677"/>
                                        </p:tgtEl>
                                        <p:attrNameLst>
                                          <p:attrName>ppt_x</p:attrName>
                                        </p:attrNameLst>
                                      </p:cBhvr>
                                      <p:tavLst>
                                        <p:tav tm="0">
                                          <p:val>
                                            <p:strVal val="#ppt_x"/>
                                          </p:val>
                                        </p:tav>
                                        <p:tav tm="100000">
                                          <p:val>
                                            <p:strVal val="#ppt_x"/>
                                          </p:val>
                                        </p:tav>
                                      </p:tavLst>
                                    </p:anim>
                                    <p:anim calcmode="lin" valueType="num">
                                      <p:cBhvr additive="base">
                                        <p:cTn id="26" dur="500" fill="hold"/>
                                        <p:tgtEl>
                                          <p:spTgt spid="412677"/>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412678">
                                            <p:txEl>
                                              <p:pRg st="0" end="0"/>
                                            </p:txEl>
                                          </p:spTgt>
                                        </p:tgtEl>
                                        <p:attrNameLst>
                                          <p:attrName>style.visibility</p:attrName>
                                        </p:attrNameLst>
                                      </p:cBhvr>
                                      <p:to>
                                        <p:strVal val="visible"/>
                                      </p:to>
                                    </p:set>
                                    <p:anim calcmode="lin" valueType="num">
                                      <p:cBhvr additive="base">
                                        <p:cTn id="31" dur="500" fill="hold"/>
                                        <p:tgtEl>
                                          <p:spTgt spid="412678">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1267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412678">
                                            <p:txEl>
                                              <p:pRg st="1" end="1"/>
                                            </p:txEl>
                                          </p:spTgt>
                                        </p:tgtEl>
                                        <p:attrNameLst>
                                          <p:attrName>style.visibility</p:attrName>
                                        </p:attrNameLst>
                                      </p:cBhvr>
                                      <p:to>
                                        <p:strVal val="visible"/>
                                      </p:to>
                                    </p:set>
                                    <p:anim calcmode="lin" valueType="num">
                                      <p:cBhvr additive="base">
                                        <p:cTn id="37" dur="500" fill="hold"/>
                                        <p:tgtEl>
                                          <p:spTgt spid="412678">
                                            <p:txEl>
                                              <p:pRg st="1" end="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12678">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677"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4"/>
          <p:cNvSpPr>
            <a:spLocks noGrp="1"/>
          </p:cNvSpPr>
          <p:nvPr>
            <p:ph type="sldNum" sz="quarter" idx="11"/>
          </p:nvPr>
        </p:nvSpPr>
        <p:spPr/>
        <p:txBody>
          <a:bodyPr/>
          <a:lstStyle/>
          <a:p>
            <a:fld id="{2C83D6F5-71A5-498E-831C-97A4353C552A}" type="slidenum">
              <a:rPr lang="en-US" altLang="zh-CN"/>
              <a:pPr/>
              <a:t>5</a:t>
            </a:fld>
            <a:endParaRPr lang="en-US" altLang="zh-CN"/>
          </a:p>
        </p:txBody>
      </p:sp>
      <p:sp>
        <p:nvSpPr>
          <p:cNvPr id="346117" name="Text Box 5"/>
          <p:cNvSpPr txBox="1">
            <a:spLocks noChangeArrowheads="1"/>
          </p:cNvSpPr>
          <p:nvPr/>
        </p:nvSpPr>
        <p:spPr bwMode="auto">
          <a:xfrm>
            <a:off x="468313" y="908050"/>
            <a:ext cx="8280400" cy="2465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lnSpc>
                <a:spcPct val="130000"/>
              </a:lnSpc>
              <a:buClr>
                <a:srgbClr val="FF00FF"/>
              </a:buClr>
              <a:buFont typeface="Wingdings" pitchFamily="2" charset="2"/>
              <a:buChar char="u"/>
            </a:pPr>
            <a:r>
              <a:rPr kumimoji="0" lang="en-US" altLang="zh-CN" b="1"/>
              <a:t>  </a:t>
            </a:r>
            <a:r>
              <a:rPr kumimoji="0" lang="zh-CN" altLang="en-US" b="1"/>
              <a:t>要确定一个二元运算，就是确定任意两个元素的运算结果。</a:t>
            </a:r>
          </a:p>
          <a:p>
            <a:pPr algn="l" eaLnBrk="0" hangingPunct="0">
              <a:lnSpc>
                <a:spcPct val="130000"/>
              </a:lnSpc>
              <a:buClr>
                <a:srgbClr val="FF00FF"/>
              </a:buClr>
              <a:buFont typeface="Wingdings" pitchFamily="2" charset="2"/>
              <a:buChar char="u"/>
            </a:pPr>
            <a:r>
              <a:rPr kumimoji="0" lang="zh-CN" altLang="en-US" b="1"/>
              <a:t>  当</a:t>
            </a:r>
            <a:r>
              <a:rPr kumimoji="0" lang="en-US" altLang="zh-CN" b="1"/>
              <a:t>A={a</a:t>
            </a:r>
            <a:r>
              <a:rPr kumimoji="0" lang="en-US" altLang="zh-CN" b="1" baseline="-25000"/>
              <a:t>1</a:t>
            </a:r>
            <a:r>
              <a:rPr kumimoji="0" lang="en-US" altLang="zh-CN" b="1"/>
              <a:t>, a</a:t>
            </a:r>
            <a:r>
              <a:rPr kumimoji="0" lang="en-US" altLang="zh-CN" b="1" baseline="-25000"/>
              <a:t>2</a:t>
            </a:r>
            <a:r>
              <a:rPr kumimoji="0" lang="en-US" altLang="zh-CN" b="1"/>
              <a:t>, …, a</a:t>
            </a:r>
            <a:r>
              <a:rPr kumimoji="0" lang="en-US" altLang="zh-CN" b="1" baseline="-25000"/>
              <a:t>n</a:t>
            </a:r>
            <a:r>
              <a:rPr kumimoji="0" lang="en-US" altLang="zh-CN" b="1"/>
              <a:t>}</a:t>
            </a:r>
            <a:r>
              <a:rPr kumimoji="0" lang="zh-CN" altLang="en-US" b="1"/>
              <a:t>是有限集，</a:t>
            </a:r>
            <a:r>
              <a:rPr kumimoji="0" lang="zh-CN" altLang="en-US" b="1">
                <a:solidFill>
                  <a:schemeClr val="hlink"/>
                </a:solidFill>
                <a:cs typeface="Times New Roman" pitchFamily="18" charset="0"/>
              </a:rPr>
              <a:t>◦</a:t>
            </a:r>
            <a:r>
              <a:rPr kumimoji="0" lang="zh-CN" altLang="en-US" b="1"/>
              <a:t>是</a:t>
            </a:r>
            <a:r>
              <a:rPr kumimoji="0" lang="en-US" altLang="zh-CN" b="1"/>
              <a:t>A</a:t>
            </a:r>
            <a:r>
              <a:rPr kumimoji="0" lang="zh-CN" altLang="en-US" b="1"/>
              <a:t>上的运算，</a:t>
            </a:r>
            <a:r>
              <a:rPr kumimoji="0" lang="en-US" altLang="zh-CN" b="1"/>
              <a:t>A</a:t>
            </a:r>
            <a:r>
              <a:rPr kumimoji="0" lang="zh-CN" altLang="en-US" b="1"/>
              <a:t>上的运算如何表示呢？</a:t>
            </a:r>
          </a:p>
          <a:p>
            <a:pPr algn="l" eaLnBrk="0" hangingPunct="0">
              <a:lnSpc>
                <a:spcPct val="130000"/>
              </a:lnSpc>
            </a:pPr>
            <a:r>
              <a:rPr kumimoji="0" lang="zh-CN" altLang="en-US" b="1"/>
              <a:t>      则此表称为运算“</a:t>
            </a:r>
            <a:r>
              <a:rPr kumimoji="0" lang="zh-CN" altLang="en-US" b="1">
                <a:cs typeface="Times New Roman" pitchFamily="18" charset="0"/>
              </a:rPr>
              <a:t>◦</a:t>
            </a:r>
            <a:r>
              <a:rPr kumimoji="0" lang="zh-CN" altLang="en-US" b="1"/>
              <a:t>”的</a:t>
            </a:r>
            <a:r>
              <a:rPr kumimoji="0" lang="zh-CN" altLang="en-US" b="1" i="1">
                <a:solidFill>
                  <a:schemeClr val="hlink"/>
                </a:solidFill>
              </a:rPr>
              <a:t>运算表</a:t>
            </a:r>
            <a:r>
              <a:rPr kumimoji="0" lang="zh-CN" altLang="en-US" b="1"/>
              <a:t>。</a:t>
            </a:r>
          </a:p>
        </p:txBody>
      </p:sp>
      <p:grpSp>
        <p:nvGrpSpPr>
          <p:cNvPr id="346127" name="Group 15"/>
          <p:cNvGrpSpPr>
            <a:grpSpLocks/>
          </p:cNvGrpSpPr>
          <p:nvPr/>
        </p:nvGrpSpPr>
        <p:grpSpPr bwMode="auto">
          <a:xfrm>
            <a:off x="1258888" y="3421063"/>
            <a:ext cx="5183187" cy="2744787"/>
            <a:chOff x="794" y="2187"/>
            <a:chExt cx="3265" cy="1729"/>
          </a:xfrm>
        </p:grpSpPr>
        <p:sp>
          <p:nvSpPr>
            <p:cNvPr id="346120" name="Text Box 8"/>
            <p:cNvSpPr txBox="1">
              <a:spLocks noChangeArrowheads="1"/>
            </p:cNvSpPr>
            <p:nvPr/>
          </p:nvSpPr>
          <p:spPr bwMode="auto">
            <a:xfrm>
              <a:off x="796" y="2473"/>
              <a:ext cx="387" cy="1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lnSpc>
                  <a:spcPct val="120000"/>
                </a:lnSpc>
              </a:pPr>
              <a:r>
                <a:rPr kumimoji="0" lang="en-US" altLang="zh-CN" b="1"/>
                <a:t>a</a:t>
              </a:r>
              <a:r>
                <a:rPr kumimoji="0" lang="en-US" altLang="zh-CN" b="1" baseline="-25000"/>
                <a:t>1</a:t>
              </a:r>
            </a:p>
            <a:p>
              <a:pPr algn="l" eaLnBrk="0" hangingPunct="0">
                <a:lnSpc>
                  <a:spcPct val="120000"/>
                </a:lnSpc>
              </a:pPr>
              <a:r>
                <a:rPr kumimoji="0" lang="en-US" altLang="zh-CN" b="1"/>
                <a:t>…</a:t>
              </a:r>
            </a:p>
            <a:p>
              <a:pPr algn="l" eaLnBrk="0" hangingPunct="0">
                <a:lnSpc>
                  <a:spcPct val="120000"/>
                </a:lnSpc>
              </a:pPr>
              <a:r>
                <a:rPr kumimoji="0" lang="en-US" altLang="zh-CN" b="1"/>
                <a:t>a</a:t>
              </a:r>
              <a:r>
                <a:rPr kumimoji="0" lang="en-US" altLang="zh-CN" b="1" baseline="-25000"/>
                <a:t>i</a:t>
              </a:r>
            </a:p>
            <a:p>
              <a:pPr algn="l" eaLnBrk="0" hangingPunct="0">
                <a:lnSpc>
                  <a:spcPct val="120000"/>
                </a:lnSpc>
              </a:pPr>
              <a:r>
                <a:rPr kumimoji="0" lang="en-US" altLang="zh-CN" b="1"/>
                <a:t>…</a:t>
              </a:r>
            </a:p>
            <a:p>
              <a:pPr algn="l" eaLnBrk="0" hangingPunct="0">
                <a:lnSpc>
                  <a:spcPct val="120000"/>
                </a:lnSpc>
              </a:pPr>
              <a:r>
                <a:rPr kumimoji="0" lang="en-US" altLang="zh-CN" b="1"/>
                <a:t>a</a:t>
              </a:r>
              <a:r>
                <a:rPr kumimoji="0" lang="en-US" altLang="zh-CN" b="1" baseline="-25000"/>
                <a:t>n</a:t>
              </a:r>
            </a:p>
          </p:txBody>
        </p:sp>
        <p:sp>
          <p:nvSpPr>
            <p:cNvPr id="346114" name="Text Box 2"/>
            <p:cNvSpPr txBox="1">
              <a:spLocks noChangeArrowheads="1"/>
            </p:cNvSpPr>
            <p:nvPr/>
          </p:nvSpPr>
          <p:spPr bwMode="auto">
            <a:xfrm>
              <a:off x="814" y="2187"/>
              <a:ext cx="3176" cy="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lnSpc>
                  <a:spcPct val="120000"/>
                </a:lnSpc>
              </a:pPr>
              <a:r>
                <a:rPr kumimoji="0" lang="en-US" altLang="zh-CN" b="1"/>
                <a:t>◦     a</a:t>
              </a:r>
              <a:r>
                <a:rPr kumimoji="0" lang="en-US" altLang="zh-CN" b="1" baseline="-25000"/>
                <a:t>1</a:t>
              </a:r>
              <a:r>
                <a:rPr kumimoji="0" lang="en-US" altLang="zh-CN" b="1"/>
                <a:t>      a</a:t>
              </a:r>
              <a:r>
                <a:rPr kumimoji="0" lang="en-US" altLang="zh-CN" b="1" baseline="-25000"/>
                <a:t>2</a:t>
              </a:r>
              <a:r>
                <a:rPr kumimoji="0" lang="en-US" altLang="zh-CN" b="1"/>
                <a:t>    …    a</a:t>
              </a:r>
              <a:r>
                <a:rPr kumimoji="0" lang="en-US" altLang="zh-CN" b="1" baseline="-25000"/>
                <a:t>j</a:t>
              </a:r>
              <a:r>
                <a:rPr kumimoji="0" lang="en-US" altLang="zh-CN" b="1"/>
                <a:t>    …    a</a:t>
              </a:r>
              <a:r>
                <a:rPr kumimoji="0" lang="en-US" altLang="zh-CN" b="1" baseline="-25000"/>
                <a:t>n</a:t>
              </a:r>
              <a:r>
                <a:rPr kumimoji="0" lang="en-US" altLang="zh-CN" b="1"/>
                <a:t>  </a:t>
              </a:r>
            </a:p>
          </p:txBody>
        </p:sp>
        <p:sp>
          <p:nvSpPr>
            <p:cNvPr id="346118" name="Line 6"/>
            <p:cNvSpPr>
              <a:spLocks noChangeShapeType="1"/>
            </p:cNvSpPr>
            <p:nvPr/>
          </p:nvSpPr>
          <p:spPr bwMode="auto">
            <a:xfrm>
              <a:off x="794" y="2504"/>
              <a:ext cx="260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6119" name="Line 7"/>
            <p:cNvSpPr>
              <a:spLocks noChangeShapeType="1"/>
            </p:cNvSpPr>
            <p:nvPr/>
          </p:nvSpPr>
          <p:spPr bwMode="auto">
            <a:xfrm>
              <a:off x="1087" y="2297"/>
              <a:ext cx="0" cy="15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6121" name="Text Box 9"/>
            <p:cNvSpPr txBox="1">
              <a:spLocks noChangeArrowheads="1"/>
            </p:cNvSpPr>
            <p:nvPr/>
          </p:nvSpPr>
          <p:spPr bwMode="auto">
            <a:xfrm>
              <a:off x="1144" y="2478"/>
              <a:ext cx="2915" cy="1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lnSpc>
                  <a:spcPct val="120000"/>
                </a:lnSpc>
              </a:pPr>
              <a:r>
                <a:rPr kumimoji="0" lang="en-US" altLang="zh-CN" b="1"/>
                <a:t>a</a:t>
              </a:r>
              <a:r>
                <a:rPr kumimoji="0" lang="en-US" altLang="zh-CN" b="1" baseline="-25000"/>
                <a:t>11</a:t>
              </a:r>
              <a:r>
                <a:rPr kumimoji="0" lang="en-US" altLang="zh-CN" b="1"/>
                <a:t>     a</a:t>
              </a:r>
              <a:r>
                <a:rPr kumimoji="0" lang="en-US" altLang="zh-CN" b="1" baseline="-25000"/>
                <a:t>12</a:t>
              </a:r>
              <a:r>
                <a:rPr kumimoji="0" lang="en-US" altLang="zh-CN" b="1"/>
                <a:t>   …   a</a:t>
              </a:r>
              <a:r>
                <a:rPr kumimoji="0" lang="en-US" altLang="zh-CN" b="1" baseline="-25000"/>
                <a:t>1j    </a:t>
              </a:r>
              <a:r>
                <a:rPr kumimoji="0" lang="en-US" altLang="zh-CN" b="1"/>
                <a:t>…    a</a:t>
              </a:r>
              <a:r>
                <a:rPr kumimoji="0" lang="en-US" altLang="zh-CN" b="1" baseline="-25000"/>
                <a:t>1n</a:t>
              </a:r>
              <a:endParaRPr kumimoji="0" lang="en-US" altLang="zh-CN" b="1"/>
            </a:p>
            <a:p>
              <a:pPr algn="l" eaLnBrk="0" hangingPunct="0">
                <a:lnSpc>
                  <a:spcPct val="120000"/>
                </a:lnSpc>
              </a:pPr>
              <a:r>
                <a:rPr kumimoji="0" lang="en-US" altLang="zh-CN" b="1"/>
                <a:t>                    …</a:t>
              </a:r>
            </a:p>
            <a:p>
              <a:pPr algn="l" eaLnBrk="0" hangingPunct="0">
                <a:lnSpc>
                  <a:spcPct val="120000"/>
                </a:lnSpc>
              </a:pPr>
              <a:r>
                <a:rPr kumimoji="0" lang="en-US" altLang="zh-CN" b="1"/>
                <a:t>a</a:t>
              </a:r>
              <a:r>
                <a:rPr kumimoji="0" lang="en-US" altLang="zh-CN" b="1" baseline="-25000"/>
                <a:t>i1</a:t>
              </a:r>
              <a:r>
                <a:rPr kumimoji="0" lang="en-US" altLang="zh-CN" b="1"/>
                <a:t>    a</a:t>
              </a:r>
              <a:r>
                <a:rPr kumimoji="0" lang="en-US" altLang="zh-CN" b="1" baseline="-25000"/>
                <a:t>j2</a:t>
              </a:r>
              <a:r>
                <a:rPr kumimoji="0" lang="en-US" altLang="zh-CN" b="1"/>
                <a:t>     …    a</a:t>
              </a:r>
              <a:r>
                <a:rPr kumimoji="0" lang="en-US" altLang="zh-CN" b="1" baseline="-25000"/>
                <a:t>ij</a:t>
              </a:r>
              <a:r>
                <a:rPr kumimoji="0" lang="en-US" altLang="zh-CN" b="1"/>
                <a:t>   …    a</a:t>
              </a:r>
              <a:r>
                <a:rPr kumimoji="0" lang="en-US" altLang="zh-CN" b="1" baseline="-25000"/>
                <a:t>in</a:t>
              </a:r>
              <a:endParaRPr kumimoji="0" lang="en-US" altLang="zh-CN" b="1"/>
            </a:p>
            <a:p>
              <a:pPr algn="l" eaLnBrk="0" hangingPunct="0">
                <a:lnSpc>
                  <a:spcPct val="120000"/>
                </a:lnSpc>
              </a:pPr>
              <a:r>
                <a:rPr kumimoji="0" lang="en-US" altLang="zh-CN" b="1"/>
                <a:t>                     …                </a:t>
              </a:r>
            </a:p>
            <a:p>
              <a:pPr algn="l" eaLnBrk="0" hangingPunct="0">
                <a:lnSpc>
                  <a:spcPct val="120000"/>
                </a:lnSpc>
              </a:pPr>
              <a:r>
                <a:rPr kumimoji="0" lang="en-US" altLang="zh-CN" b="1"/>
                <a:t>a</a:t>
              </a:r>
              <a:r>
                <a:rPr kumimoji="0" lang="en-US" altLang="zh-CN" b="1" baseline="-25000"/>
                <a:t>n1</a:t>
              </a:r>
              <a:r>
                <a:rPr kumimoji="0" lang="en-US" altLang="zh-CN" b="1"/>
                <a:t>     a</a:t>
              </a:r>
              <a:r>
                <a:rPr kumimoji="0" lang="en-US" altLang="zh-CN" b="1" baseline="-25000"/>
                <a:t>n2</a:t>
              </a:r>
              <a:r>
                <a:rPr kumimoji="0" lang="en-US" altLang="zh-CN" b="1"/>
                <a:t>   …   a</a:t>
              </a:r>
              <a:r>
                <a:rPr kumimoji="0" lang="en-US" altLang="zh-CN" b="1" baseline="-25000"/>
                <a:t>nj    </a:t>
              </a:r>
              <a:r>
                <a:rPr kumimoji="0" lang="en-US" altLang="zh-CN" b="1"/>
                <a:t>…    a</a:t>
              </a:r>
              <a:r>
                <a:rPr kumimoji="0" lang="en-US" altLang="zh-CN" b="1" baseline="-25000"/>
                <a:t>nn</a:t>
              </a:r>
              <a:endParaRPr kumimoji="0" lang="en-US" altLang="zh-CN" b="1"/>
            </a:p>
          </p:txBody>
        </p:sp>
      </p:grpSp>
      <p:sp>
        <p:nvSpPr>
          <p:cNvPr id="346122" name="Text Box 10"/>
          <p:cNvSpPr txBox="1">
            <a:spLocks noChangeArrowheads="1"/>
          </p:cNvSpPr>
          <p:nvPr/>
        </p:nvSpPr>
        <p:spPr bwMode="auto">
          <a:xfrm>
            <a:off x="5795963" y="4365625"/>
            <a:ext cx="2138362"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lnSpc>
                <a:spcPct val="120000"/>
              </a:lnSpc>
            </a:pPr>
            <a:r>
              <a:rPr kumimoji="0" lang="zh-CN" altLang="en-US" b="1"/>
              <a:t>其中，</a:t>
            </a:r>
            <a:r>
              <a:rPr kumimoji="0" lang="en-US" altLang="zh-CN" b="1"/>
              <a:t>a</a:t>
            </a:r>
            <a:r>
              <a:rPr kumimoji="0" lang="en-US" altLang="zh-CN" b="1" baseline="-25000"/>
              <a:t>ij</a:t>
            </a:r>
            <a:r>
              <a:rPr kumimoji="0" lang="en-US" altLang="zh-CN" b="1"/>
              <a:t>=a</a:t>
            </a:r>
            <a:r>
              <a:rPr kumimoji="0" lang="en-US" altLang="zh-CN" b="1" baseline="-25000"/>
              <a:t>i</a:t>
            </a:r>
            <a:r>
              <a:rPr kumimoji="0" lang="en-US" altLang="zh-CN" b="1">
                <a:cs typeface="Times New Roman" pitchFamily="18" charset="0"/>
              </a:rPr>
              <a:t>◦</a:t>
            </a:r>
            <a:r>
              <a:rPr kumimoji="0" lang="en-US" altLang="zh-CN" b="1"/>
              <a:t>a</a:t>
            </a:r>
            <a:r>
              <a:rPr kumimoji="0" lang="en-US" altLang="zh-CN" b="1" baseline="-25000"/>
              <a:t>j</a:t>
            </a:r>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4611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nodeType="clickEffect">
                                  <p:stCondLst>
                                    <p:cond delay="0"/>
                                  </p:stCondLst>
                                  <p:childTnLst>
                                    <p:set>
                                      <p:cBhvr>
                                        <p:cTn id="10" dur="1" fill="hold">
                                          <p:stCondLst>
                                            <p:cond delay="0"/>
                                          </p:stCondLst>
                                        </p:cTn>
                                        <p:tgtEl>
                                          <p:spTgt spid="346127"/>
                                        </p:tgtEl>
                                        <p:attrNameLst>
                                          <p:attrName>style.visibility</p:attrName>
                                        </p:attrNameLst>
                                      </p:cBhvr>
                                      <p:to>
                                        <p:strVal val="visible"/>
                                      </p:to>
                                    </p:set>
                                    <p:anim calcmode="lin" valueType="num">
                                      <p:cBhvr additive="base">
                                        <p:cTn id="11" dur="500" fill="hold"/>
                                        <p:tgtEl>
                                          <p:spTgt spid="346127"/>
                                        </p:tgtEl>
                                        <p:attrNameLst>
                                          <p:attrName>ppt_x</p:attrName>
                                        </p:attrNameLst>
                                      </p:cBhvr>
                                      <p:tavLst>
                                        <p:tav tm="0">
                                          <p:val>
                                            <p:strVal val="#ppt_x"/>
                                          </p:val>
                                        </p:tav>
                                        <p:tav tm="100000">
                                          <p:val>
                                            <p:strVal val="#ppt_x"/>
                                          </p:val>
                                        </p:tav>
                                      </p:tavLst>
                                    </p:anim>
                                    <p:anim calcmode="lin" valueType="num">
                                      <p:cBhvr additive="base">
                                        <p:cTn id="12" dur="500" fill="hold"/>
                                        <p:tgtEl>
                                          <p:spTgt spid="346127"/>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46122"/>
                                        </p:tgtEl>
                                        <p:attrNameLst>
                                          <p:attrName>style.visibility</p:attrName>
                                        </p:attrNameLst>
                                      </p:cBhvr>
                                      <p:to>
                                        <p:strVal val="visible"/>
                                      </p:to>
                                    </p:set>
                                    <p:anim calcmode="lin" valueType="num">
                                      <p:cBhvr additive="base">
                                        <p:cTn id="17" dur="500" fill="hold"/>
                                        <p:tgtEl>
                                          <p:spTgt spid="346122"/>
                                        </p:tgtEl>
                                        <p:attrNameLst>
                                          <p:attrName>ppt_x</p:attrName>
                                        </p:attrNameLst>
                                      </p:cBhvr>
                                      <p:tavLst>
                                        <p:tav tm="0">
                                          <p:val>
                                            <p:strVal val="#ppt_x"/>
                                          </p:val>
                                        </p:tav>
                                        <p:tav tm="100000">
                                          <p:val>
                                            <p:strVal val="#ppt_x"/>
                                          </p:val>
                                        </p:tav>
                                      </p:tavLst>
                                    </p:anim>
                                    <p:anim calcmode="lin" valueType="num">
                                      <p:cBhvr additive="base">
                                        <p:cTn id="18" dur="500" fill="hold"/>
                                        <p:tgtEl>
                                          <p:spTgt spid="346122"/>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346117">
                                            <p:txEl>
                                              <p:pRg st="2" end="2"/>
                                            </p:txEl>
                                          </p:spTgt>
                                        </p:tgtEl>
                                        <p:attrNameLst>
                                          <p:attrName>style.visibility</p:attrName>
                                        </p:attrNameLst>
                                      </p:cBhvr>
                                      <p:to>
                                        <p:strVal val="visible"/>
                                      </p:to>
                                    </p:set>
                                    <p:anim calcmode="lin" valueType="num">
                                      <p:cBhvr additive="base">
                                        <p:cTn id="23" dur="500" fill="hold"/>
                                        <p:tgtEl>
                                          <p:spTgt spid="346117">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4611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61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灯片编号占位符 4"/>
          <p:cNvSpPr>
            <a:spLocks noGrp="1"/>
          </p:cNvSpPr>
          <p:nvPr>
            <p:ph type="sldNum" sz="quarter" idx="11"/>
          </p:nvPr>
        </p:nvSpPr>
        <p:spPr/>
        <p:txBody>
          <a:bodyPr/>
          <a:lstStyle/>
          <a:p>
            <a:fld id="{BB52EC7C-7D84-4BDA-BCC7-465B0A6F4D17}" type="slidenum">
              <a:rPr lang="en-US" altLang="zh-CN"/>
              <a:pPr/>
              <a:t>6</a:t>
            </a:fld>
            <a:endParaRPr lang="en-US" altLang="zh-CN"/>
          </a:p>
        </p:txBody>
      </p:sp>
      <p:sp>
        <p:nvSpPr>
          <p:cNvPr id="347139" name="Text Box 3"/>
          <p:cNvSpPr txBox="1">
            <a:spLocks noChangeArrowheads="1"/>
          </p:cNvSpPr>
          <p:nvPr/>
        </p:nvSpPr>
        <p:spPr bwMode="auto">
          <a:xfrm>
            <a:off x="719138" y="1052513"/>
            <a:ext cx="5838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r>
              <a:rPr kumimoji="0" lang="zh-CN" altLang="en-US" b="1" dirty="0">
                <a:solidFill>
                  <a:schemeClr val="hlink"/>
                </a:solidFill>
              </a:rPr>
              <a:t>例</a:t>
            </a:r>
            <a:r>
              <a:rPr kumimoji="0" lang="en-US" altLang="zh-CN" b="1" dirty="0">
                <a:solidFill>
                  <a:schemeClr val="hlink"/>
                </a:solidFill>
              </a:rPr>
              <a:t>2</a:t>
            </a:r>
            <a:r>
              <a:rPr kumimoji="0" lang="zh-CN" altLang="en-US" b="1" dirty="0">
                <a:solidFill>
                  <a:schemeClr val="hlink"/>
                </a:solidFill>
              </a:rPr>
              <a:t>：</a:t>
            </a:r>
            <a:r>
              <a:rPr kumimoji="0" lang="en-US" altLang="zh-CN" b="1" dirty="0"/>
              <a:t>Z</a:t>
            </a:r>
            <a:r>
              <a:rPr kumimoji="0" lang="en-US" altLang="zh-CN" b="1" baseline="-25000" dirty="0"/>
              <a:t>3</a:t>
            </a:r>
            <a:r>
              <a:rPr kumimoji="0" lang="en-US" altLang="zh-CN" b="1" dirty="0"/>
              <a:t>={ [0], [1], [2] }</a:t>
            </a:r>
            <a:r>
              <a:rPr kumimoji="0" lang="zh-CN" altLang="en-US" b="1" dirty="0"/>
              <a:t>，求</a:t>
            </a:r>
            <a:r>
              <a:rPr kumimoji="0" lang="en-US" altLang="zh-CN" b="1" dirty="0"/>
              <a:t>+</a:t>
            </a:r>
            <a:r>
              <a:rPr kumimoji="0" lang="en-US" altLang="zh-CN" b="1" baseline="-25000" dirty="0"/>
              <a:t>3</a:t>
            </a:r>
            <a:r>
              <a:rPr kumimoji="0" lang="zh-CN" altLang="en-US" b="1" dirty="0"/>
              <a:t>运算表。</a:t>
            </a:r>
          </a:p>
        </p:txBody>
      </p:sp>
      <p:grpSp>
        <p:nvGrpSpPr>
          <p:cNvPr id="2" name="组合 1"/>
          <p:cNvGrpSpPr/>
          <p:nvPr/>
        </p:nvGrpSpPr>
        <p:grpSpPr>
          <a:xfrm>
            <a:off x="1320800" y="1668463"/>
            <a:ext cx="5915025" cy="2384425"/>
            <a:chOff x="1320800" y="1668463"/>
            <a:chExt cx="5915025" cy="2384425"/>
          </a:xfrm>
        </p:grpSpPr>
        <p:sp>
          <p:nvSpPr>
            <p:cNvPr id="347141" name="Rectangle 5"/>
            <p:cNvSpPr>
              <a:spLocks noChangeArrowheads="1"/>
            </p:cNvSpPr>
            <p:nvPr/>
          </p:nvSpPr>
          <p:spPr bwMode="auto">
            <a:xfrm>
              <a:off x="5757863" y="3521075"/>
              <a:ext cx="1477962" cy="53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folHlink"/>
                </a:buClr>
                <a:buSzPct val="60000"/>
                <a:buFont typeface="Wingdings" pitchFamily="2" charset="2"/>
                <a:buNone/>
              </a:pPr>
              <a:r>
                <a:rPr kumimoji="0" lang="en-US" altLang="zh-CN" b="1"/>
                <a:t>[1]</a:t>
              </a:r>
            </a:p>
          </p:txBody>
        </p:sp>
        <p:sp>
          <p:nvSpPr>
            <p:cNvPr id="347142" name="Rectangle 6"/>
            <p:cNvSpPr>
              <a:spLocks noChangeArrowheads="1"/>
            </p:cNvSpPr>
            <p:nvPr/>
          </p:nvSpPr>
          <p:spPr bwMode="auto">
            <a:xfrm>
              <a:off x="4278313" y="3521075"/>
              <a:ext cx="1479550" cy="53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folHlink"/>
                </a:buClr>
                <a:buSzPct val="60000"/>
                <a:buFont typeface="Wingdings" pitchFamily="2" charset="2"/>
                <a:buNone/>
              </a:pPr>
              <a:r>
                <a:rPr kumimoji="0" lang="en-US" altLang="zh-CN" b="1"/>
                <a:t>[0]</a:t>
              </a:r>
            </a:p>
          </p:txBody>
        </p:sp>
        <p:sp>
          <p:nvSpPr>
            <p:cNvPr id="347143" name="Rectangle 7"/>
            <p:cNvSpPr>
              <a:spLocks noChangeArrowheads="1"/>
            </p:cNvSpPr>
            <p:nvPr/>
          </p:nvSpPr>
          <p:spPr bwMode="auto">
            <a:xfrm>
              <a:off x="2800350" y="3521075"/>
              <a:ext cx="1477963" cy="53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folHlink"/>
                </a:buClr>
                <a:buSzPct val="60000"/>
                <a:buFont typeface="Wingdings" pitchFamily="2" charset="2"/>
                <a:buNone/>
              </a:pPr>
              <a:r>
                <a:rPr kumimoji="0" lang="en-US" altLang="zh-CN" b="1"/>
                <a:t>[2]</a:t>
              </a:r>
            </a:p>
          </p:txBody>
        </p:sp>
        <p:sp>
          <p:nvSpPr>
            <p:cNvPr id="347145" name="Rectangle 9"/>
            <p:cNvSpPr>
              <a:spLocks noChangeArrowheads="1"/>
            </p:cNvSpPr>
            <p:nvPr/>
          </p:nvSpPr>
          <p:spPr bwMode="auto">
            <a:xfrm>
              <a:off x="5757863" y="2924944"/>
              <a:ext cx="1477962" cy="503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folHlink"/>
                </a:buClr>
                <a:buSzPct val="60000"/>
                <a:buFont typeface="Wingdings" pitchFamily="2" charset="2"/>
                <a:buNone/>
              </a:pPr>
              <a:r>
                <a:rPr kumimoji="0" lang="en-US" altLang="zh-CN" b="1"/>
                <a:t>[0]</a:t>
              </a:r>
            </a:p>
          </p:txBody>
        </p:sp>
        <p:sp>
          <p:nvSpPr>
            <p:cNvPr id="347146" name="Rectangle 10"/>
            <p:cNvSpPr>
              <a:spLocks noChangeArrowheads="1"/>
            </p:cNvSpPr>
            <p:nvPr/>
          </p:nvSpPr>
          <p:spPr bwMode="auto">
            <a:xfrm>
              <a:off x="4278313" y="2924944"/>
              <a:ext cx="1479550" cy="503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folHlink"/>
                </a:buClr>
                <a:buSzPct val="60000"/>
                <a:buFont typeface="Wingdings" pitchFamily="2" charset="2"/>
                <a:buNone/>
              </a:pPr>
              <a:r>
                <a:rPr kumimoji="0" lang="en-US" altLang="zh-CN" b="1"/>
                <a:t>[2]</a:t>
              </a:r>
            </a:p>
          </p:txBody>
        </p:sp>
        <p:sp>
          <p:nvSpPr>
            <p:cNvPr id="347147" name="Rectangle 11"/>
            <p:cNvSpPr>
              <a:spLocks noChangeArrowheads="1"/>
            </p:cNvSpPr>
            <p:nvPr/>
          </p:nvSpPr>
          <p:spPr bwMode="auto">
            <a:xfrm>
              <a:off x="2800350" y="2924944"/>
              <a:ext cx="1477963" cy="503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folHlink"/>
                </a:buClr>
                <a:buSzPct val="60000"/>
                <a:buFont typeface="Wingdings" pitchFamily="2" charset="2"/>
                <a:buNone/>
              </a:pPr>
              <a:r>
                <a:rPr kumimoji="0" lang="en-US" altLang="zh-CN" b="1"/>
                <a:t>[1]</a:t>
              </a:r>
            </a:p>
          </p:txBody>
        </p:sp>
        <p:sp>
          <p:nvSpPr>
            <p:cNvPr id="347149" name="Rectangle 13"/>
            <p:cNvSpPr>
              <a:spLocks noChangeArrowheads="1"/>
            </p:cNvSpPr>
            <p:nvPr/>
          </p:nvSpPr>
          <p:spPr bwMode="auto">
            <a:xfrm>
              <a:off x="5757863" y="2341563"/>
              <a:ext cx="1477962"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folHlink"/>
                </a:buClr>
                <a:buSzPct val="60000"/>
                <a:buFont typeface="Wingdings" pitchFamily="2" charset="2"/>
                <a:buNone/>
              </a:pPr>
              <a:r>
                <a:rPr kumimoji="0" lang="en-US" altLang="zh-CN" b="1"/>
                <a:t>[2]</a:t>
              </a:r>
            </a:p>
          </p:txBody>
        </p:sp>
        <p:sp>
          <p:nvSpPr>
            <p:cNvPr id="347150" name="Rectangle 14"/>
            <p:cNvSpPr>
              <a:spLocks noChangeArrowheads="1"/>
            </p:cNvSpPr>
            <p:nvPr/>
          </p:nvSpPr>
          <p:spPr bwMode="auto">
            <a:xfrm>
              <a:off x="4278313" y="2341563"/>
              <a:ext cx="1479550"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folHlink"/>
                </a:buClr>
                <a:buSzPct val="60000"/>
                <a:buFont typeface="Wingdings" pitchFamily="2" charset="2"/>
                <a:buNone/>
              </a:pPr>
              <a:r>
                <a:rPr kumimoji="0" lang="en-US" altLang="zh-CN" b="1"/>
                <a:t>[1]</a:t>
              </a:r>
            </a:p>
          </p:txBody>
        </p:sp>
        <p:sp>
          <p:nvSpPr>
            <p:cNvPr id="347151" name="Rectangle 15"/>
            <p:cNvSpPr>
              <a:spLocks noChangeArrowheads="1"/>
            </p:cNvSpPr>
            <p:nvPr/>
          </p:nvSpPr>
          <p:spPr bwMode="auto">
            <a:xfrm>
              <a:off x="2800350" y="2341563"/>
              <a:ext cx="1477963"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folHlink"/>
                </a:buClr>
                <a:buSzPct val="60000"/>
                <a:buFont typeface="Wingdings" pitchFamily="2" charset="2"/>
                <a:buNone/>
              </a:pPr>
              <a:r>
                <a:rPr kumimoji="0" lang="en-US" altLang="zh-CN" b="1"/>
                <a:t>[0]</a:t>
              </a:r>
            </a:p>
          </p:txBody>
        </p:sp>
        <p:grpSp>
          <p:nvGrpSpPr>
            <p:cNvPr id="347182" name="Group 46"/>
            <p:cNvGrpSpPr>
              <a:grpSpLocks/>
            </p:cNvGrpSpPr>
            <p:nvPr/>
          </p:nvGrpSpPr>
          <p:grpSpPr bwMode="auto">
            <a:xfrm>
              <a:off x="1320800" y="1668463"/>
              <a:ext cx="5915025" cy="2384425"/>
              <a:chOff x="832" y="1253"/>
              <a:chExt cx="3726" cy="1502"/>
            </a:xfrm>
          </p:grpSpPr>
          <p:sp>
            <p:nvSpPr>
              <p:cNvPr id="347144" name="Rectangle 8"/>
              <p:cNvSpPr>
                <a:spLocks noChangeArrowheads="1"/>
              </p:cNvSpPr>
              <p:nvPr/>
            </p:nvSpPr>
            <p:spPr bwMode="auto">
              <a:xfrm>
                <a:off x="832" y="2420"/>
                <a:ext cx="932" cy="335"/>
              </a:xfrm>
              <a:prstGeom prst="rect">
                <a:avLst/>
              </a:prstGeom>
              <a:noFill/>
              <a:ln w="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folHlink"/>
                  </a:buClr>
                  <a:buSzPct val="60000"/>
                  <a:buFont typeface="Wingdings" pitchFamily="2" charset="2"/>
                  <a:buNone/>
                </a:pPr>
                <a:r>
                  <a:rPr kumimoji="0" lang="en-US" altLang="zh-CN" b="1" dirty="0"/>
                  <a:t>[2]</a:t>
                </a:r>
              </a:p>
            </p:txBody>
          </p:sp>
          <p:sp>
            <p:nvSpPr>
              <p:cNvPr id="347148" name="Rectangle 12"/>
              <p:cNvSpPr>
                <a:spLocks noChangeArrowheads="1"/>
              </p:cNvSpPr>
              <p:nvPr/>
            </p:nvSpPr>
            <p:spPr bwMode="auto">
              <a:xfrm>
                <a:off x="832" y="2045"/>
                <a:ext cx="932" cy="317"/>
              </a:xfrm>
              <a:prstGeom prst="rect">
                <a:avLst/>
              </a:prstGeom>
              <a:noFill/>
              <a:ln w="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folHlink"/>
                  </a:buClr>
                  <a:buSzPct val="60000"/>
                  <a:buFont typeface="Wingdings" pitchFamily="2" charset="2"/>
                  <a:buNone/>
                </a:pPr>
                <a:r>
                  <a:rPr kumimoji="0" lang="en-US" altLang="zh-CN" b="1" dirty="0"/>
                  <a:t>[1]</a:t>
                </a:r>
              </a:p>
            </p:txBody>
          </p:sp>
          <p:sp>
            <p:nvSpPr>
              <p:cNvPr id="347152" name="Rectangle 16"/>
              <p:cNvSpPr>
                <a:spLocks noChangeArrowheads="1"/>
              </p:cNvSpPr>
              <p:nvPr/>
            </p:nvSpPr>
            <p:spPr bwMode="auto">
              <a:xfrm>
                <a:off x="832" y="1677"/>
                <a:ext cx="932" cy="426"/>
              </a:xfrm>
              <a:prstGeom prst="rect">
                <a:avLst/>
              </a:prstGeom>
              <a:noFill/>
              <a:ln w="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folHlink"/>
                  </a:buClr>
                  <a:buSzPct val="60000"/>
                  <a:buFont typeface="Wingdings" pitchFamily="2" charset="2"/>
                  <a:buNone/>
                </a:pPr>
                <a:r>
                  <a:rPr kumimoji="0" lang="en-US" altLang="zh-CN" b="1" dirty="0"/>
                  <a:t>[0]</a:t>
                </a:r>
              </a:p>
            </p:txBody>
          </p:sp>
          <p:sp>
            <p:nvSpPr>
              <p:cNvPr id="347153" name="Rectangle 17"/>
              <p:cNvSpPr>
                <a:spLocks noChangeArrowheads="1"/>
              </p:cNvSpPr>
              <p:nvPr/>
            </p:nvSpPr>
            <p:spPr bwMode="auto">
              <a:xfrm>
                <a:off x="3627" y="1253"/>
                <a:ext cx="931" cy="424"/>
              </a:xfrm>
              <a:prstGeom prst="rect">
                <a:avLst/>
              </a:prstGeom>
              <a:noFill/>
              <a:ln w="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folHlink"/>
                  </a:buClr>
                  <a:buSzPct val="60000"/>
                  <a:buFont typeface="Wingdings" pitchFamily="2" charset="2"/>
                  <a:buNone/>
                </a:pPr>
                <a:r>
                  <a:rPr kumimoji="0" lang="en-US" altLang="zh-CN" b="1" dirty="0"/>
                  <a:t>[2]</a:t>
                </a:r>
              </a:p>
            </p:txBody>
          </p:sp>
          <p:sp>
            <p:nvSpPr>
              <p:cNvPr id="347154" name="Rectangle 18"/>
              <p:cNvSpPr>
                <a:spLocks noChangeArrowheads="1"/>
              </p:cNvSpPr>
              <p:nvPr/>
            </p:nvSpPr>
            <p:spPr bwMode="auto">
              <a:xfrm>
                <a:off x="2695" y="1253"/>
                <a:ext cx="932" cy="424"/>
              </a:xfrm>
              <a:prstGeom prst="rect">
                <a:avLst/>
              </a:prstGeom>
              <a:noFill/>
              <a:ln w="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folHlink"/>
                  </a:buClr>
                  <a:buSzPct val="60000"/>
                  <a:buFont typeface="Wingdings" pitchFamily="2" charset="2"/>
                  <a:buNone/>
                </a:pPr>
                <a:r>
                  <a:rPr kumimoji="0" lang="en-US" altLang="zh-CN" b="1" dirty="0"/>
                  <a:t>[1]</a:t>
                </a:r>
              </a:p>
            </p:txBody>
          </p:sp>
          <p:sp>
            <p:nvSpPr>
              <p:cNvPr id="347155" name="Rectangle 19"/>
              <p:cNvSpPr>
                <a:spLocks noChangeArrowheads="1"/>
              </p:cNvSpPr>
              <p:nvPr/>
            </p:nvSpPr>
            <p:spPr bwMode="auto">
              <a:xfrm>
                <a:off x="1764" y="1253"/>
                <a:ext cx="931" cy="424"/>
              </a:xfrm>
              <a:prstGeom prst="rect">
                <a:avLst/>
              </a:prstGeom>
              <a:noFill/>
              <a:ln w="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folHlink"/>
                  </a:buClr>
                  <a:buSzPct val="60000"/>
                  <a:buFont typeface="Wingdings" pitchFamily="2" charset="2"/>
                  <a:buNone/>
                </a:pPr>
                <a:r>
                  <a:rPr kumimoji="0" lang="en-US" altLang="zh-CN" b="1" dirty="0"/>
                  <a:t>[0]</a:t>
                </a:r>
              </a:p>
            </p:txBody>
          </p:sp>
          <p:sp>
            <p:nvSpPr>
              <p:cNvPr id="347156" name="Rectangle 20"/>
              <p:cNvSpPr>
                <a:spLocks noChangeArrowheads="1"/>
              </p:cNvSpPr>
              <p:nvPr/>
            </p:nvSpPr>
            <p:spPr bwMode="auto">
              <a:xfrm>
                <a:off x="832" y="1253"/>
                <a:ext cx="932" cy="424"/>
              </a:xfrm>
              <a:prstGeom prst="rect">
                <a:avLst/>
              </a:prstGeom>
              <a:noFill/>
              <a:ln w="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folHlink"/>
                  </a:buClr>
                  <a:buSzPct val="60000"/>
                  <a:buFont typeface="Wingdings" pitchFamily="2" charset="2"/>
                  <a:buNone/>
                </a:pPr>
                <a:r>
                  <a:rPr kumimoji="0" lang="en-US" altLang="zh-CN" b="1" dirty="0">
                    <a:solidFill>
                      <a:schemeClr val="hlink"/>
                    </a:solidFill>
                  </a:rPr>
                  <a:t>+</a:t>
                </a:r>
                <a:r>
                  <a:rPr kumimoji="0" lang="en-US" altLang="zh-CN" b="1" baseline="-25000" dirty="0">
                    <a:solidFill>
                      <a:schemeClr val="hlink"/>
                    </a:solidFill>
                  </a:rPr>
                  <a:t>3</a:t>
                </a:r>
              </a:p>
            </p:txBody>
          </p:sp>
          <p:sp>
            <p:nvSpPr>
              <p:cNvPr id="347158" name="Line 22"/>
              <p:cNvSpPr>
                <a:spLocks noChangeShapeType="1"/>
              </p:cNvSpPr>
              <p:nvPr/>
            </p:nvSpPr>
            <p:spPr bwMode="auto">
              <a:xfrm>
                <a:off x="832" y="1601"/>
                <a:ext cx="3726" cy="0"/>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7163" name="Line 27"/>
              <p:cNvSpPr>
                <a:spLocks noChangeShapeType="1"/>
              </p:cNvSpPr>
              <p:nvPr/>
            </p:nvSpPr>
            <p:spPr bwMode="auto">
              <a:xfrm>
                <a:off x="1764" y="1253"/>
                <a:ext cx="0" cy="1502"/>
              </a:xfrm>
              <a:prstGeom prst="line">
                <a:avLst/>
              </a:prstGeom>
              <a:noFill/>
              <a:ln w="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sp>
        <p:nvSpPr>
          <p:cNvPr id="347167" name="Text Box 31"/>
          <p:cNvSpPr txBox="1">
            <a:spLocks noChangeArrowheads="1"/>
          </p:cNvSpPr>
          <p:nvPr/>
        </p:nvSpPr>
        <p:spPr bwMode="auto">
          <a:xfrm>
            <a:off x="719138" y="4260850"/>
            <a:ext cx="7558087"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eaLnBrk="0" hangingPunct="0">
              <a:buClr>
                <a:srgbClr val="FF00FF"/>
              </a:buClr>
              <a:buFont typeface="Wingdings" pitchFamily="2" charset="2"/>
              <a:buChar char="u"/>
            </a:pPr>
            <a:r>
              <a:rPr kumimoji="0" lang="en-US" altLang="zh-CN" b="1" dirty="0"/>
              <a:t>    </a:t>
            </a:r>
            <a:r>
              <a:rPr kumimoji="0" lang="zh-CN" altLang="en-US" b="1" dirty="0"/>
              <a:t>对有限集上的任意运算，都可构造出其运算表，反之，给出了有限集上的一个运算表，这个运算也就随之唯一确定。</a:t>
            </a:r>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47167"/>
                                        </p:tgtEl>
                                        <p:attrNameLst>
                                          <p:attrName>style.visibility</p:attrName>
                                        </p:attrNameLst>
                                      </p:cBhvr>
                                      <p:to>
                                        <p:strVal val="visible"/>
                                      </p:to>
                                    </p:set>
                                    <p:anim calcmode="lin" valueType="num">
                                      <p:cBhvr additive="base">
                                        <p:cTn id="13" dur="500" fill="hold"/>
                                        <p:tgtEl>
                                          <p:spTgt spid="347167"/>
                                        </p:tgtEl>
                                        <p:attrNameLst>
                                          <p:attrName>ppt_x</p:attrName>
                                        </p:attrNameLst>
                                      </p:cBhvr>
                                      <p:tavLst>
                                        <p:tav tm="0">
                                          <p:val>
                                            <p:strVal val="#ppt_x"/>
                                          </p:val>
                                        </p:tav>
                                        <p:tav tm="100000">
                                          <p:val>
                                            <p:strVal val="#ppt_x"/>
                                          </p:val>
                                        </p:tav>
                                      </p:tavLst>
                                    </p:anim>
                                    <p:anim calcmode="lin" valueType="num">
                                      <p:cBhvr additive="base">
                                        <p:cTn id="14" dur="500" fill="hold"/>
                                        <p:tgtEl>
                                          <p:spTgt spid="3471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167"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96129368-9990-4C53-9325-0059076A545F}" type="slidenum">
              <a:rPr lang="en-US" altLang="zh-CN"/>
              <a:pPr/>
              <a:t>7</a:t>
            </a:fld>
            <a:endParaRPr lang="en-US" altLang="zh-CN"/>
          </a:p>
        </p:txBody>
      </p:sp>
      <p:sp>
        <p:nvSpPr>
          <p:cNvPr id="424965" name="Text Box 5"/>
          <p:cNvSpPr txBox="1">
            <a:spLocks noGrp="1" noChangeArrowheads="1"/>
          </p:cNvSpPr>
          <p:nvPr>
            <p:ph type="body" idx="1"/>
          </p:nvPr>
        </p:nvSpPr>
        <p:spPr>
          <a:xfrm>
            <a:off x="539750" y="1125538"/>
            <a:ext cx="7916863" cy="1516062"/>
          </a:xfrm>
          <a:noFill/>
          <a:ln/>
        </p:spPr>
        <p:txBody>
          <a:bodyPr/>
          <a:lstStyle/>
          <a:p>
            <a:pPr eaLnBrk="0" hangingPunct="0">
              <a:lnSpc>
                <a:spcPct val="130000"/>
              </a:lnSpc>
              <a:spcBef>
                <a:spcPct val="0"/>
              </a:spcBef>
              <a:buClrTx/>
              <a:buSzTx/>
              <a:buFontTx/>
              <a:buNone/>
            </a:pPr>
            <a:r>
              <a:rPr lang="zh-CN" altLang="en-US" sz="2400" dirty="0">
                <a:solidFill>
                  <a:schemeClr val="hlink"/>
                </a:solidFill>
              </a:rPr>
              <a:t>定义</a:t>
            </a:r>
            <a:r>
              <a:rPr lang="en-US" altLang="zh-CN" sz="2400" dirty="0">
                <a:solidFill>
                  <a:schemeClr val="hlink"/>
                </a:solidFill>
              </a:rPr>
              <a:t>5-1.2</a:t>
            </a:r>
            <a:r>
              <a:rPr lang="zh-CN" altLang="en-US" sz="2400" dirty="0">
                <a:solidFill>
                  <a:schemeClr val="hlink"/>
                </a:solidFill>
              </a:rPr>
              <a:t>：</a:t>
            </a:r>
            <a:r>
              <a:rPr lang="zh-CN" altLang="en-US" sz="2400" dirty="0"/>
              <a:t>一个非空集合</a:t>
            </a:r>
            <a:r>
              <a:rPr lang="en-US" altLang="zh-CN" sz="2400" dirty="0"/>
              <a:t>A</a:t>
            </a:r>
            <a:r>
              <a:rPr lang="zh-CN" altLang="en-US" sz="2400" dirty="0"/>
              <a:t>连同若干个定义在该集合上的运算</a:t>
            </a:r>
            <a:r>
              <a:rPr lang="en-US" altLang="zh-CN" sz="2400" dirty="0"/>
              <a:t>f</a:t>
            </a:r>
            <a:r>
              <a:rPr lang="en-US" altLang="zh-CN" sz="2200" baseline="-25000" dirty="0"/>
              <a:t>1</a:t>
            </a:r>
            <a:r>
              <a:rPr lang="zh-CN" altLang="en-US" sz="2400" dirty="0"/>
              <a:t>，</a:t>
            </a:r>
            <a:r>
              <a:rPr lang="en-US" altLang="zh-CN" sz="2400" dirty="0"/>
              <a:t>f</a:t>
            </a:r>
            <a:r>
              <a:rPr lang="en-US" altLang="zh-CN" sz="2200" baseline="-25000" dirty="0"/>
              <a:t>2</a:t>
            </a:r>
            <a:r>
              <a:rPr lang="zh-CN" altLang="en-US" sz="2400" dirty="0"/>
              <a:t>，</a:t>
            </a:r>
            <a:r>
              <a:rPr lang="en-US" altLang="zh-CN" sz="2400" dirty="0"/>
              <a:t>…</a:t>
            </a:r>
            <a:r>
              <a:rPr lang="zh-CN" altLang="en-US" sz="2400" dirty="0"/>
              <a:t>，</a:t>
            </a:r>
            <a:r>
              <a:rPr lang="en-US" altLang="zh-CN" sz="2400" dirty="0" err="1"/>
              <a:t>f</a:t>
            </a:r>
            <a:r>
              <a:rPr lang="en-US" altLang="zh-CN" sz="2200" baseline="-25000" dirty="0" err="1"/>
              <a:t>n</a:t>
            </a:r>
            <a:r>
              <a:rPr lang="zh-CN" altLang="en-US" sz="2400" dirty="0"/>
              <a:t>所组成的系统就称为一个</a:t>
            </a:r>
            <a:r>
              <a:rPr lang="zh-CN" altLang="en-US" sz="2400" i="1" dirty="0">
                <a:solidFill>
                  <a:schemeClr val="hlink"/>
                </a:solidFill>
              </a:rPr>
              <a:t>代数系统</a:t>
            </a:r>
            <a:r>
              <a:rPr lang="zh-CN" altLang="en-US" sz="2400" dirty="0"/>
              <a:t>，记作</a:t>
            </a:r>
            <a:r>
              <a:rPr lang="en-US" altLang="zh-CN" sz="2400" dirty="0"/>
              <a:t>&lt;A, f</a:t>
            </a:r>
            <a:r>
              <a:rPr lang="en-US" altLang="zh-CN" sz="2200" baseline="-25000" dirty="0"/>
              <a:t>1</a:t>
            </a:r>
            <a:r>
              <a:rPr lang="en-US" altLang="zh-CN" sz="2400" dirty="0"/>
              <a:t>, f</a:t>
            </a:r>
            <a:r>
              <a:rPr lang="en-US" altLang="zh-CN" sz="2200" baseline="-25000" dirty="0"/>
              <a:t>2</a:t>
            </a:r>
            <a:r>
              <a:rPr lang="en-US" altLang="zh-CN" sz="2400" dirty="0"/>
              <a:t>, …, </a:t>
            </a:r>
            <a:r>
              <a:rPr lang="en-US" altLang="zh-CN" sz="2400" dirty="0" err="1"/>
              <a:t>f</a:t>
            </a:r>
            <a:r>
              <a:rPr lang="en-US" altLang="zh-CN" sz="2200" baseline="-25000" dirty="0" err="1"/>
              <a:t>n</a:t>
            </a:r>
            <a:r>
              <a:rPr lang="en-US" altLang="zh-CN" sz="2400" dirty="0"/>
              <a:t>&gt;</a:t>
            </a:r>
            <a:r>
              <a:rPr lang="zh-CN" altLang="en-US" sz="2400" dirty="0"/>
              <a:t>。</a:t>
            </a:r>
          </a:p>
        </p:txBody>
      </p:sp>
      <p:sp>
        <p:nvSpPr>
          <p:cNvPr id="424966" name="Text Box 6"/>
          <p:cNvSpPr txBox="1">
            <a:spLocks noChangeArrowheads="1"/>
          </p:cNvSpPr>
          <p:nvPr/>
        </p:nvSpPr>
        <p:spPr bwMode="auto">
          <a:xfrm>
            <a:off x="539750" y="2678113"/>
            <a:ext cx="7916863" cy="538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lnSpc>
                <a:spcPct val="130000"/>
              </a:lnSpc>
            </a:pPr>
            <a:r>
              <a:rPr kumimoji="0" lang="zh-CN" altLang="en-US" b="1" dirty="0" smtClean="0">
                <a:solidFill>
                  <a:schemeClr val="hlink"/>
                </a:solidFill>
              </a:rPr>
              <a:t>例如：</a:t>
            </a:r>
            <a:r>
              <a:rPr kumimoji="0" lang="en-US" altLang="zh-CN" b="1" dirty="0" smtClean="0"/>
              <a:t>&lt;</a:t>
            </a:r>
            <a:r>
              <a:rPr kumimoji="0" lang="en-US" altLang="zh-CN" b="1" dirty="0"/>
              <a:t>I, +&gt;</a:t>
            </a:r>
            <a:r>
              <a:rPr kumimoji="0" lang="zh-CN" altLang="en-US" b="1" dirty="0"/>
              <a:t>，</a:t>
            </a:r>
            <a:r>
              <a:rPr kumimoji="0" lang="en-US" altLang="zh-CN" b="1" dirty="0"/>
              <a:t>&lt;</a:t>
            </a:r>
            <a:r>
              <a:rPr kumimoji="0" lang="en-US" altLang="zh-CN" b="1" dirty="0">
                <a:latin typeface="CommercialScript BT" pitchFamily="66" charset="0"/>
              </a:rPr>
              <a:t> P </a:t>
            </a:r>
            <a:r>
              <a:rPr kumimoji="0" lang="en-US" altLang="zh-CN" b="1" dirty="0"/>
              <a:t>(S), ∪, ∩,  ~ &gt;</a:t>
            </a:r>
            <a:r>
              <a:rPr kumimoji="0" lang="zh-CN" altLang="en-US" b="1" dirty="0"/>
              <a:t>，</a:t>
            </a:r>
            <a:r>
              <a:rPr kumimoji="0" lang="en-US" altLang="zh-CN" b="1" dirty="0"/>
              <a:t>&lt;R, </a:t>
            </a:r>
            <a:r>
              <a:rPr kumimoji="0" lang="en-US" altLang="zh-CN" b="1" dirty="0">
                <a:cs typeface="Times New Roman" pitchFamily="18" charset="0"/>
              </a:rPr>
              <a:t>·</a:t>
            </a:r>
            <a:r>
              <a:rPr kumimoji="0" lang="en-US" altLang="zh-CN" b="1" dirty="0"/>
              <a:t>&gt;</a:t>
            </a:r>
            <a:r>
              <a:rPr kumimoji="0" lang="zh-CN" altLang="en-US" b="1" dirty="0"/>
              <a:t>，</a:t>
            </a:r>
            <a:r>
              <a:rPr kumimoji="0" lang="en-US" altLang="zh-CN" b="1" dirty="0"/>
              <a:t>&lt;N, - &gt;</a:t>
            </a:r>
          </a:p>
        </p:txBody>
      </p:sp>
      <p:sp>
        <p:nvSpPr>
          <p:cNvPr id="6" name="Rectangle 20"/>
          <p:cNvSpPr>
            <a:spLocks noGrp="1" noChangeArrowheads="1"/>
          </p:cNvSpPr>
          <p:nvPr>
            <p:ph type="title"/>
          </p:nvPr>
        </p:nvSpPr>
        <p:spPr>
          <a:xfrm>
            <a:off x="1130300" y="260350"/>
            <a:ext cx="6105525" cy="579438"/>
          </a:xfrm>
        </p:spPr>
        <p:txBody>
          <a:bodyPr/>
          <a:lstStyle/>
          <a:p>
            <a:r>
              <a:rPr lang="en-US" altLang="zh-CN" sz="3200" dirty="0">
                <a:solidFill>
                  <a:schemeClr val="folHlink"/>
                </a:solidFill>
                <a:latin typeface="楷体_GB2312" pitchFamily="49" charset="-122"/>
              </a:rPr>
              <a:t>2</a:t>
            </a:r>
            <a:r>
              <a:rPr lang="zh-CN" altLang="en-US" sz="3200" dirty="0" smtClean="0">
                <a:solidFill>
                  <a:schemeClr val="folHlink"/>
                </a:solidFill>
                <a:latin typeface="楷体_GB2312" pitchFamily="49" charset="-122"/>
              </a:rPr>
              <a:t>、代数系统</a:t>
            </a:r>
            <a:endParaRPr lang="zh-CN" altLang="en-US" sz="3200" dirty="0">
              <a:solidFill>
                <a:schemeClr val="folHlink"/>
              </a:solidFill>
              <a:latin typeface="楷体_GB2312" pitchFamily="49" charset="-122"/>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24966"/>
                                        </p:tgtEl>
                                        <p:attrNameLst>
                                          <p:attrName>style.visibility</p:attrName>
                                        </p:attrNameLst>
                                      </p:cBhvr>
                                      <p:to>
                                        <p:strVal val="visible"/>
                                      </p:to>
                                    </p:set>
                                    <p:anim calcmode="lin" valueType="num">
                                      <p:cBhvr additive="base">
                                        <p:cTn id="7" dur="500" fill="hold"/>
                                        <p:tgtEl>
                                          <p:spTgt spid="424966"/>
                                        </p:tgtEl>
                                        <p:attrNameLst>
                                          <p:attrName>ppt_x</p:attrName>
                                        </p:attrNameLst>
                                      </p:cBhvr>
                                      <p:tavLst>
                                        <p:tav tm="0">
                                          <p:val>
                                            <p:strVal val="#ppt_x"/>
                                          </p:val>
                                        </p:tav>
                                        <p:tav tm="100000">
                                          <p:val>
                                            <p:strVal val="#ppt_x"/>
                                          </p:val>
                                        </p:tav>
                                      </p:tavLst>
                                    </p:anim>
                                    <p:anim calcmode="lin" valueType="num">
                                      <p:cBhvr additive="base">
                                        <p:cTn id="8" dur="500" fill="hold"/>
                                        <p:tgtEl>
                                          <p:spTgt spid="4249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496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BDF79887-1FE4-4EBC-9294-7FC4ACEED522}" type="slidenum">
              <a:rPr lang="en-US" altLang="zh-CN"/>
              <a:pPr/>
              <a:t>8</a:t>
            </a:fld>
            <a:endParaRPr lang="en-US" altLang="zh-CN"/>
          </a:p>
        </p:txBody>
      </p:sp>
      <p:sp>
        <p:nvSpPr>
          <p:cNvPr id="350211" name="Text Box 3"/>
          <p:cNvSpPr txBox="1">
            <a:spLocks noChangeArrowheads="1"/>
          </p:cNvSpPr>
          <p:nvPr/>
        </p:nvSpPr>
        <p:spPr bwMode="auto">
          <a:xfrm>
            <a:off x="539750" y="977900"/>
            <a:ext cx="7916863" cy="1674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lang="zh-CN" altLang="en-US" sz="3200" b="1">
                <a:solidFill>
                  <a:schemeClr val="folHlink"/>
                </a:solidFill>
                <a:ea typeface="楷体_GB2312" pitchFamily="49" charset="-122"/>
              </a:rPr>
              <a:t>一、二元运算的基本性质</a:t>
            </a:r>
          </a:p>
          <a:p>
            <a:pPr algn="l">
              <a:lnSpc>
                <a:spcPct val="130000"/>
              </a:lnSpc>
            </a:pPr>
            <a:r>
              <a:rPr lang="zh-CN" altLang="en-US" b="1">
                <a:solidFill>
                  <a:schemeClr val="hlink"/>
                </a:solidFill>
              </a:rPr>
              <a:t>定义</a:t>
            </a:r>
            <a:r>
              <a:rPr lang="en-US" altLang="zh-CN" b="1">
                <a:solidFill>
                  <a:schemeClr val="hlink"/>
                </a:solidFill>
              </a:rPr>
              <a:t>5-2.1</a:t>
            </a:r>
            <a:r>
              <a:rPr lang="zh-CN" altLang="en-US" b="1">
                <a:solidFill>
                  <a:schemeClr val="hlink"/>
                </a:solidFill>
              </a:rPr>
              <a:t>：</a:t>
            </a:r>
            <a:r>
              <a:rPr lang="zh-CN" altLang="en-US" b="1"/>
              <a:t>设*是定义在集合</a:t>
            </a:r>
            <a:r>
              <a:rPr lang="en-US" altLang="zh-CN" b="1"/>
              <a:t>A</a:t>
            </a:r>
            <a:r>
              <a:rPr lang="zh-CN" altLang="en-US" b="1"/>
              <a:t>上的二元运算，如果</a:t>
            </a:r>
            <a:r>
              <a:rPr lang="zh-CN" altLang="en-US" b="1">
                <a:sym typeface="Symbol" pitchFamily="18" charset="2"/>
              </a:rPr>
              <a:t></a:t>
            </a:r>
            <a:r>
              <a:rPr lang="zh-CN" altLang="en-US" b="1"/>
              <a:t> </a:t>
            </a:r>
            <a:r>
              <a:rPr lang="en-US" altLang="zh-CN" b="1"/>
              <a:t>x</a:t>
            </a:r>
            <a:r>
              <a:rPr lang="zh-CN" altLang="en-US" b="1"/>
              <a:t>，</a:t>
            </a:r>
            <a:r>
              <a:rPr lang="en-US" altLang="zh-CN" b="1"/>
              <a:t>y∈A</a:t>
            </a:r>
            <a:r>
              <a:rPr lang="zh-CN" altLang="en-US" b="1"/>
              <a:t>，都有</a:t>
            </a:r>
            <a:r>
              <a:rPr lang="en-US" altLang="zh-CN" b="1"/>
              <a:t>x*y∈A</a:t>
            </a:r>
            <a:r>
              <a:rPr lang="zh-CN" altLang="en-US" b="1"/>
              <a:t>，则称二元运算*在</a:t>
            </a:r>
            <a:r>
              <a:rPr lang="en-US" altLang="zh-CN" b="1"/>
              <a:t>A</a:t>
            </a:r>
            <a:r>
              <a:rPr lang="zh-CN" altLang="en-US" b="1"/>
              <a:t>上是</a:t>
            </a:r>
            <a:r>
              <a:rPr lang="zh-CN" altLang="en-US" b="1" i="1">
                <a:solidFill>
                  <a:schemeClr val="hlink"/>
                </a:solidFill>
              </a:rPr>
              <a:t>封闭的</a:t>
            </a:r>
            <a:r>
              <a:rPr lang="zh-CN" altLang="en-US" b="1"/>
              <a:t>。</a:t>
            </a:r>
          </a:p>
        </p:txBody>
      </p:sp>
      <p:sp>
        <p:nvSpPr>
          <p:cNvPr id="350213" name="Rectangle 5"/>
          <p:cNvSpPr>
            <a:spLocks noChangeArrowheads="1"/>
          </p:cNvSpPr>
          <p:nvPr/>
        </p:nvSpPr>
        <p:spPr bwMode="auto">
          <a:xfrm>
            <a:off x="539750" y="2706688"/>
            <a:ext cx="7848600"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algn="l">
              <a:lnSpc>
                <a:spcPct val="130000"/>
              </a:lnSpc>
              <a:buClr>
                <a:schemeClr val="folHlink"/>
              </a:buClr>
              <a:buSzPct val="60000"/>
              <a:buFont typeface="Wingdings" pitchFamily="2" charset="2"/>
              <a:buNone/>
            </a:pPr>
            <a:r>
              <a:rPr kumimoji="0" lang="zh-CN" altLang="en-US" b="1">
                <a:solidFill>
                  <a:schemeClr val="hlink"/>
                </a:solidFill>
              </a:rPr>
              <a:t>例</a:t>
            </a:r>
            <a:r>
              <a:rPr kumimoji="0" lang="en-US" altLang="zh-CN" b="1">
                <a:solidFill>
                  <a:schemeClr val="hlink"/>
                </a:solidFill>
              </a:rPr>
              <a:t>1</a:t>
            </a:r>
            <a:r>
              <a:rPr kumimoji="0" lang="zh-CN" altLang="en-US" b="1">
                <a:solidFill>
                  <a:schemeClr val="hlink"/>
                </a:solidFill>
              </a:rPr>
              <a:t>：</a:t>
            </a:r>
            <a:r>
              <a:rPr kumimoji="0" lang="zh-CN" altLang="en-US" b="1"/>
              <a:t>考察下列运算是否是指定集合上封闭的二元运算</a:t>
            </a:r>
            <a:r>
              <a:rPr kumimoji="0" lang="en-US" altLang="zh-CN" b="1"/>
              <a:t>?</a:t>
            </a:r>
          </a:p>
          <a:p>
            <a:pPr marL="457200" indent="-457200" algn="l">
              <a:lnSpc>
                <a:spcPct val="130000"/>
              </a:lnSpc>
              <a:buClr>
                <a:schemeClr val="folHlink"/>
              </a:buClr>
              <a:buSzPct val="60000"/>
              <a:buFont typeface="Wingdings" pitchFamily="2" charset="2"/>
              <a:buNone/>
            </a:pPr>
            <a:r>
              <a:rPr kumimoji="0" lang="en-US" altLang="zh-CN" b="1">
                <a:ea typeface="楷体_GB2312" pitchFamily="49" charset="-122"/>
              </a:rPr>
              <a:t>(1) N</a:t>
            </a:r>
            <a:r>
              <a:rPr kumimoji="0" lang="zh-CN" altLang="en-US" b="1">
                <a:ea typeface="楷体_GB2312" pitchFamily="49" charset="-122"/>
              </a:rPr>
              <a:t>、</a:t>
            </a:r>
            <a:r>
              <a:rPr kumimoji="0" lang="en-US" altLang="zh-CN" b="1">
                <a:ea typeface="楷体_GB2312" pitchFamily="49" charset="-122"/>
              </a:rPr>
              <a:t>Z</a:t>
            </a:r>
            <a:r>
              <a:rPr kumimoji="0" lang="zh-CN" altLang="en-US" b="1">
                <a:ea typeface="楷体_GB2312" pitchFamily="49" charset="-122"/>
              </a:rPr>
              <a:t>、</a:t>
            </a:r>
            <a:r>
              <a:rPr kumimoji="0" lang="en-US" altLang="zh-CN" b="1">
                <a:ea typeface="楷体_GB2312" pitchFamily="49" charset="-122"/>
              </a:rPr>
              <a:t>Q</a:t>
            </a:r>
            <a:r>
              <a:rPr kumimoji="0" lang="zh-CN" altLang="en-US" b="1">
                <a:ea typeface="楷体_GB2312" pitchFamily="49" charset="-122"/>
              </a:rPr>
              <a:t>、</a:t>
            </a:r>
            <a:r>
              <a:rPr kumimoji="0" lang="en-US" altLang="zh-CN" b="1">
                <a:ea typeface="楷体_GB2312" pitchFamily="49" charset="-122"/>
              </a:rPr>
              <a:t>R</a:t>
            </a:r>
            <a:r>
              <a:rPr kumimoji="0" lang="zh-CN" altLang="en-US" b="1">
                <a:ea typeface="楷体_GB2312" pitchFamily="49" charset="-122"/>
              </a:rPr>
              <a:t>集合</a:t>
            </a:r>
            <a:r>
              <a:rPr kumimoji="0" lang="en-US" altLang="zh-CN" b="1">
                <a:ea typeface="楷体_GB2312" pitchFamily="49" charset="-122"/>
              </a:rPr>
              <a:t>N</a:t>
            </a:r>
            <a:r>
              <a:rPr kumimoji="0" lang="zh-CN" altLang="en-US" b="1">
                <a:ea typeface="楷体_GB2312" pitchFamily="49" charset="-122"/>
              </a:rPr>
              <a:t>上的加、</a:t>
            </a:r>
            <a:r>
              <a:rPr kumimoji="0" lang="zh-CN" altLang="en-US" b="1">
                <a:solidFill>
                  <a:schemeClr val="bg2"/>
                </a:solidFill>
                <a:ea typeface="楷体_GB2312" pitchFamily="49" charset="-122"/>
              </a:rPr>
              <a:t>减</a:t>
            </a:r>
            <a:r>
              <a:rPr kumimoji="0" lang="zh-CN" altLang="en-US" b="1">
                <a:ea typeface="楷体_GB2312" pitchFamily="49" charset="-122"/>
              </a:rPr>
              <a:t>、乘、</a:t>
            </a:r>
            <a:r>
              <a:rPr kumimoji="0" lang="zh-CN" altLang="en-US" b="1">
                <a:solidFill>
                  <a:schemeClr val="bg2"/>
                </a:solidFill>
                <a:ea typeface="楷体_GB2312" pitchFamily="49" charset="-122"/>
              </a:rPr>
              <a:t>除</a:t>
            </a:r>
            <a:r>
              <a:rPr kumimoji="0" lang="zh-CN" altLang="en-US" b="1">
                <a:ea typeface="楷体_GB2312" pitchFamily="49" charset="-122"/>
              </a:rPr>
              <a:t>。</a:t>
            </a:r>
          </a:p>
          <a:p>
            <a:pPr marL="457200" indent="-457200" algn="l">
              <a:lnSpc>
                <a:spcPct val="130000"/>
              </a:lnSpc>
              <a:buClr>
                <a:schemeClr val="folHlink"/>
              </a:buClr>
              <a:buSzPct val="60000"/>
              <a:buFont typeface="Wingdings" pitchFamily="2" charset="2"/>
              <a:buNone/>
            </a:pPr>
            <a:r>
              <a:rPr kumimoji="0" lang="en-US" altLang="zh-CN" b="1">
                <a:ea typeface="楷体_GB2312" pitchFamily="49" charset="-122"/>
              </a:rPr>
              <a:t>(2) </a:t>
            </a:r>
            <a:r>
              <a:rPr kumimoji="0" lang="zh-CN" altLang="en-US" b="1">
                <a:ea typeface="楷体_GB2312" pitchFamily="49" charset="-122"/>
              </a:rPr>
              <a:t>非零实数集</a:t>
            </a:r>
            <a:r>
              <a:rPr kumimoji="0" lang="en-US" altLang="zh-CN" b="1">
                <a:ea typeface="楷体_GB2312" pitchFamily="49" charset="-122"/>
              </a:rPr>
              <a:t>R</a:t>
            </a:r>
            <a:r>
              <a:rPr kumimoji="0" lang="en-US" altLang="zh-CN" b="1" baseline="30000">
                <a:ea typeface="楷体_GB2312" pitchFamily="49" charset="-122"/>
              </a:rPr>
              <a:t>*</a:t>
            </a:r>
            <a:r>
              <a:rPr kumimoji="0" lang="zh-CN" altLang="en-US" b="1">
                <a:ea typeface="楷体_GB2312" pitchFamily="49" charset="-122"/>
              </a:rPr>
              <a:t>上的</a:t>
            </a:r>
            <a:r>
              <a:rPr kumimoji="0" lang="zh-CN" altLang="en-US" b="1">
                <a:solidFill>
                  <a:schemeClr val="bg2"/>
                </a:solidFill>
                <a:ea typeface="楷体_GB2312" pitchFamily="49" charset="-122"/>
              </a:rPr>
              <a:t>加</a:t>
            </a:r>
            <a:r>
              <a:rPr kumimoji="0" lang="zh-CN" altLang="en-US" b="1">
                <a:ea typeface="楷体_GB2312" pitchFamily="49" charset="-122"/>
              </a:rPr>
              <a:t>、</a:t>
            </a:r>
            <a:r>
              <a:rPr kumimoji="0" lang="zh-CN" altLang="en-US" b="1">
                <a:solidFill>
                  <a:schemeClr val="bg2"/>
                </a:solidFill>
                <a:ea typeface="楷体_GB2312" pitchFamily="49" charset="-122"/>
              </a:rPr>
              <a:t>减</a:t>
            </a:r>
            <a:r>
              <a:rPr kumimoji="0" lang="zh-CN" altLang="en-US" b="1">
                <a:ea typeface="楷体_GB2312" pitchFamily="49" charset="-122"/>
              </a:rPr>
              <a:t>、乘、除。</a:t>
            </a:r>
          </a:p>
          <a:p>
            <a:pPr marL="457200" indent="-457200" algn="l">
              <a:lnSpc>
                <a:spcPct val="130000"/>
              </a:lnSpc>
              <a:buClr>
                <a:schemeClr val="folHlink"/>
              </a:buClr>
              <a:buSzPct val="60000"/>
              <a:buFont typeface="Wingdings" pitchFamily="2" charset="2"/>
              <a:buNone/>
            </a:pPr>
            <a:r>
              <a:rPr kumimoji="0" lang="en-US" altLang="zh-CN" b="1">
                <a:ea typeface="楷体_GB2312" pitchFamily="49" charset="-122"/>
              </a:rPr>
              <a:t>(3) </a:t>
            </a:r>
            <a:r>
              <a:rPr kumimoji="0" lang="zh-CN" altLang="en-US" b="1">
                <a:ea typeface="楷体_GB2312" pitchFamily="49" charset="-122"/>
              </a:rPr>
              <a:t>集合</a:t>
            </a:r>
            <a:r>
              <a:rPr kumimoji="0" lang="en-US" altLang="zh-CN" b="1">
                <a:ea typeface="楷体_GB2312" pitchFamily="49" charset="-122"/>
              </a:rPr>
              <a:t>S</a:t>
            </a:r>
            <a:r>
              <a:rPr kumimoji="0" lang="zh-CN" altLang="en-US" b="1">
                <a:ea typeface="楷体_GB2312" pitchFamily="49" charset="-122"/>
              </a:rPr>
              <a:t>的幂集上的∪、∩ 、</a:t>
            </a:r>
            <a:r>
              <a:rPr kumimoji="0" lang="en-US" altLang="zh-CN" b="1">
                <a:ea typeface="楷体_GB2312" pitchFamily="49" charset="-122"/>
              </a:rPr>
              <a:t>-</a:t>
            </a:r>
            <a:r>
              <a:rPr kumimoji="0" lang="zh-CN" altLang="en-US" b="1">
                <a:ea typeface="楷体_GB2312" pitchFamily="49" charset="-122"/>
              </a:rPr>
              <a:t>、 </a:t>
            </a:r>
            <a:r>
              <a:rPr kumimoji="0" lang="zh-CN" altLang="en-US" b="1">
                <a:ea typeface="幼圆" pitchFamily="49" charset="-122"/>
                <a:sym typeface="Symbol" pitchFamily="18" charset="2"/>
              </a:rPr>
              <a:t></a:t>
            </a:r>
            <a:r>
              <a:rPr kumimoji="0" lang="zh-CN" altLang="en-US" b="1">
                <a:ea typeface="楷体_GB2312" pitchFamily="49" charset="-122"/>
              </a:rPr>
              <a:t> 。</a:t>
            </a:r>
          </a:p>
        </p:txBody>
      </p:sp>
      <p:sp>
        <p:nvSpPr>
          <p:cNvPr id="350214" name="Rectangle 6"/>
          <p:cNvSpPr>
            <a:spLocks noGrp="1" noChangeArrowheads="1"/>
          </p:cNvSpPr>
          <p:nvPr>
            <p:ph type="title"/>
          </p:nvPr>
        </p:nvSpPr>
        <p:spPr>
          <a:xfrm>
            <a:off x="1079500" y="179388"/>
            <a:ext cx="6461125" cy="641350"/>
          </a:xfrm>
          <a:noFill/>
        </p:spPr>
        <p:txBody>
          <a:bodyPr anchor="ctr"/>
          <a:lstStyle/>
          <a:p>
            <a:r>
              <a:rPr kumimoji="1" lang="en-US" altLang="zh-CN" sz="3600">
                <a:solidFill>
                  <a:schemeClr val="tx1"/>
                </a:solidFill>
                <a:latin typeface="华文行楷" pitchFamily="2" charset="-122"/>
                <a:ea typeface="华文行楷" pitchFamily="2" charset="-122"/>
              </a:rPr>
              <a:t>5.2  </a:t>
            </a:r>
            <a:r>
              <a:rPr kumimoji="1" lang="zh-CN" altLang="en-US" sz="3600">
                <a:solidFill>
                  <a:schemeClr val="tx1"/>
                </a:solidFill>
                <a:latin typeface="华文行楷" pitchFamily="2" charset="-122"/>
                <a:ea typeface="华文行楷" pitchFamily="2" charset="-122"/>
              </a:rPr>
              <a:t>运算及其性质</a:t>
            </a:r>
          </a:p>
        </p:txBody>
      </p:sp>
      <p:sp>
        <p:nvSpPr>
          <p:cNvPr id="7" name="Rectangle 3"/>
          <p:cNvSpPr txBox="1">
            <a:spLocks noChangeArrowheads="1"/>
          </p:cNvSpPr>
          <p:nvPr/>
        </p:nvSpPr>
        <p:spPr bwMode="auto">
          <a:xfrm>
            <a:off x="539750" y="4780360"/>
            <a:ext cx="7916863" cy="520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lvl1pPr algn="l" rtl="0" fontAlgn="base">
              <a:spcBef>
                <a:spcPct val="20000"/>
              </a:spcBef>
              <a:spcAft>
                <a:spcPct val="0"/>
              </a:spcAft>
              <a:buClr>
                <a:schemeClr val="folHlink"/>
              </a:buClr>
              <a:buSzPct val="60000"/>
              <a:buFont typeface="Wingdings" pitchFamily="2" charset="2"/>
              <a:defRPr sz="2800" b="1">
                <a:solidFill>
                  <a:schemeClr val="tx1"/>
                </a:solidFill>
                <a:latin typeface="+mn-lt"/>
                <a:ea typeface="+mn-ea"/>
                <a:cs typeface="+mn-cs"/>
              </a:defRPr>
            </a:lvl1pPr>
            <a:lvl2pPr marL="439738" indent="4763" algn="l" rtl="0" fontAlgn="base">
              <a:spcBef>
                <a:spcPct val="20000"/>
              </a:spcBef>
              <a:spcAft>
                <a:spcPct val="0"/>
              </a:spcAft>
              <a:buClr>
                <a:schemeClr val="hlink"/>
              </a:buClr>
              <a:buSzPct val="55000"/>
              <a:buFont typeface="Wingdings" pitchFamily="2" charset="2"/>
              <a:defRPr sz="2800" b="1">
                <a:solidFill>
                  <a:schemeClr val="tx1"/>
                </a:solidFill>
                <a:latin typeface="+mn-lt"/>
                <a:ea typeface="+mn-ea"/>
              </a:defRPr>
            </a:lvl2pPr>
            <a:lvl3pPr marL="901700" algn="l" rtl="0" fontAlgn="base">
              <a:spcBef>
                <a:spcPct val="20000"/>
              </a:spcBef>
              <a:spcAft>
                <a:spcPct val="0"/>
              </a:spcAft>
              <a:buClr>
                <a:schemeClr val="folHlink"/>
              </a:buClr>
              <a:buSzPct val="50000"/>
              <a:buFont typeface="Wingdings" pitchFamily="2" charset="2"/>
              <a:defRPr sz="2800" b="1">
                <a:solidFill>
                  <a:schemeClr val="tx1"/>
                </a:solidFill>
                <a:latin typeface="+mn-lt"/>
                <a:ea typeface="+mn-ea"/>
              </a:defRPr>
            </a:lvl3pPr>
            <a:lvl4pPr marL="1346200" algn="l" rtl="0" fontAlgn="base">
              <a:spcBef>
                <a:spcPct val="20000"/>
              </a:spcBef>
              <a:spcAft>
                <a:spcPct val="0"/>
              </a:spcAft>
              <a:buClr>
                <a:schemeClr val="accent2"/>
              </a:buClr>
              <a:buSzPct val="55000"/>
              <a:buFont typeface="Wingdings" pitchFamily="2" charset="2"/>
              <a:defRPr sz="2800" b="1">
                <a:solidFill>
                  <a:schemeClr val="tx1"/>
                </a:solidFill>
                <a:latin typeface="+mn-lt"/>
                <a:ea typeface="+mn-ea"/>
              </a:defRPr>
            </a:lvl4pPr>
            <a:lvl5pPr marL="1789113" algn="l" rtl="0" fontAlgn="base">
              <a:spcBef>
                <a:spcPct val="20000"/>
              </a:spcBef>
              <a:spcAft>
                <a:spcPct val="0"/>
              </a:spcAft>
              <a:buClr>
                <a:schemeClr val="accent1"/>
              </a:buClr>
              <a:buSzPct val="50000"/>
              <a:buFont typeface="Wingdings" pitchFamily="2" charset="2"/>
              <a:defRPr sz="2800" b="1">
                <a:solidFill>
                  <a:schemeClr val="tx1"/>
                </a:solidFill>
                <a:latin typeface="+mn-lt"/>
                <a:ea typeface="+mn-ea"/>
              </a:defRPr>
            </a:lvl5pPr>
            <a:lvl6pPr marL="2246313" algn="l" rtl="0" fontAlgn="base">
              <a:spcBef>
                <a:spcPct val="20000"/>
              </a:spcBef>
              <a:spcAft>
                <a:spcPct val="0"/>
              </a:spcAft>
              <a:buClr>
                <a:schemeClr val="accent1"/>
              </a:buClr>
              <a:buSzPct val="50000"/>
              <a:buFont typeface="Wingdings" pitchFamily="2" charset="2"/>
              <a:defRPr sz="2800" b="1">
                <a:solidFill>
                  <a:schemeClr val="tx1"/>
                </a:solidFill>
                <a:latin typeface="+mn-lt"/>
                <a:ea typeface="+mn-ea"/>
              </a:defRPr>
            </a:lvl6pPr>
            <a:lvl7pPr marL="2703513" algn="l" rtl="0" fontAlgn="base">
              <a:spcBef>
                <a:spcPct val="20000"/>
              </a:spcBef>
              <a:spcAft>
                <a:spcPct val="0"/>
              </a:spcAft>
              <a:buClr>
                <a:schemeClr val="accent1"/>
              </a:buClr>
              <a:buSzPct val="50000"/>
              <a:buFont typeface="Wingdings" pitchFamily="2" charset="2"/>
              <a:defRPr sz="2800" b="1">
                <a:solidFill>
                  <a:schemeClr val="tx1"/>
                </a:solidFill>
                <a:latin typeface="+mn-lt"/>
                <a:ea typeface="+mn-ea"/>
              </a:defRPr>
            </a:lvl7pPr>
            <a:lvl8pPr marL="3160713" algn="l" rtl="0" fontAlgn="base">
              <a:spcBef>
                <a:spcPct val="20000"/>
              </a:spcBef>
              <a:spcAft>
                <a:spcPct val="0"/>
              </a:spcAft>
              <a:buClr>
                <a:schemeClr val="accent1"/>
              </a:buClr>
              <a:buSzPct val="50000"/>
              <a:buFont typeface="Wingdings" pitchFamily="2" charset="2"/>
              <a:defRPr sz="2800" b="1">
                <a:solidFill>
                  <a:schemeClr val="tx1"/>
                </a:solidFill>
                <a:latin typeface="+mn-lt"/>
                <a:ea typeface="+mn-ea"/>
              </a:defRPr>
            </a:lvl8pPr>
            <a:lvl9pPr marL="3617913" algn="l" rtl="0" fontAlgn="base">
              <a:spcBef>
                <a:spcPct val="20000"/>
              </a:spcBef>
              <a:spcAft>
                <a:spcPct val="0"/>
              </a:spcAft>
              <a:buClr>
                <a:schemeClr val="accent1"/>
              </a:buClr>
              <a:buSzPct val="50000"/>
              <a:buFont typeface="Wingdings" pitchFamily="2" charset="2"/>
              <a:defRPr sz="2800" b="1">
                <a:solidFill>
                  <a:schemeClr val="tx1"/>
                </a:solidFill>
                <a:latin typeface="+mn-lt"/>
                <a:ea typeface="+mn-ea"/>
              </a:defRPr>
            </a:lvl9pPr>
          </a:lstStyle>
          <a:p>
            <a:pPr>
              <a:lnSpc>
                <a:spcPct val="130000"/>
              </a:lnSpc>
              <a:spcBef>
                <a:spcPct val="0"/>
              </a:spcBef>
            </a:pPr>
            <a:r>
              <a:rPr lang="zh-CN" altLang="en-US" sz="2400" smtClean="0">
                <a:solidFill>
                  <a:schemeClr val="hlink"/>
                </a:solidFill>
              </a:rPr>
              <a:t>注意：</a:t>
            </a:r>
            <a:r>
              <a:rPr lang="zh-CN" altLang="en-US" sz="2400" smtClean="0"/>
              <a:t>通常用</a:t>
            </a:r>
            <a:r>
              <a:rPr lang="zh-CN" altLang="en-US" sz="2400" smtClean="0">
                <a:solidFill>
                  <a:schemeClr val="hlink"/>
                </a:solidFill>
                <a:cs typeface="Times New Roman" pitchFamily="18" charset="0"/>
              </a:rPr>
              <a:t>◦</a:t>
            </a:r>
            <a:r>
              <a:rPr lang="zh-CN" altLang="en-US" sz="2400" smtClean="0"/>
              <a:t>，</a:t>
            </a:r>
            <a:r>
              <a:rPr lang="zh-CN" altLang="en-US" sz="2400" smtClean="0">
                <a:solidFill>
                  <a:schemeClr val="hlink"/>
                </a:solidFill>
              </a:rPr>
              <a:t>*</a:t>
            </a:r>
            <a:r>
              <a:rPr lang="zh-CN" altLang="en-US" sz="2400" smtClean="0"/>
              <a:t>，</a:t>
            </a:r>
            <a:r>
              <a:rPr lang="en-US" altLang="en-US" sz="2400" smtClean="0">
                <a:solidFill>
                  <a:schemeClr val="hlink"/>
                </a:solidFill>
                <a:latin typeface="宋体" pitchFamily="2" charset="-122"/>
                <a:cs typeface="Times New Roman" pitchFamily="18" charset="0"/>
              </a:rPr>
              <a:t>·</a:t>
            </a:r>
            <a:r>
              <a:rPr lang="zh-CN" altLang="en-US" sz="2400" smtClean="0"/>
              <a:t>等符号表示二元运算，称为</a:t>
            </a:r>
            <a:r>
              <a:rPr lang="zh-CN" altLang="en-US" sz="2400" i="1" smtClean="0">
                <a:solidFill>
                  <a:schemeClr val="hlink"/>
                </a:solidFill>
              </a:rPr>
              <a:t>算符</a:t>
            </a:r>
            <a:r>
              <a:rPr lang="zh-CN" altLang="en-US" sz="2400" smtClean="0"/>
              <a:t>。</a:t>
            </a:r>
            <a:endParaRPr lang="zh-CN" altLang="en-US" sz="2400" dirty="0"/>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50213">
                                            <p:txEl>
                                              <p:pRg st="0" end="0"/>
                                            </p:txEl>
                                          </p:spTgt>
                                        </p:tgtEl>
                                        <p:attrNameLst>
                                          <p:attrName>style.visibility</p:attrName>
                                        </p:attrNameLst>
                                      </p:cBhvr>
                                      <p:to>
                                        <p:strVal val="visible"/>
                                      </p:to>
                                    </p:set>
                                    <p:anim calcmode="lin" valueType="num">
                                      <p:cBhvr additive="base">
                                        <p:cTn id="7" dur="500" fill="hold"/>
                                        <p:tgtEl>
                                          <p:spTgt spid="3502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02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50213">
                                            <p:txEl>
                                              <p:pRg st="1" end="1"/>
                                            </p:txEl>
                                          </p:spTgt>
                                        </p:tgtEl>
                                        <p:attrNameLst>
                                          <p:attrName>style.visibility</p:attrName>
                                        </p:attrNameLst>
                                      </p:cBhvr>
                                      <p:to>
                                        <p:strVal val="visible"/>
                                      </p:to>
                                    </p:set>
                                    <p:anim calcmode="lin" valueType="num">
                                      <p:cBhvr additive="base">
                                        <p:cTn id="13" dur="500" fill="hold"/>
                                        <p:tgtEl>
                                          <p:spTgt spid="3502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021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50213">
                                            <p:txEl>
                                              <p:pRg st="2" end="2"/>
                                            </p:txEl>
                                          </p:spTgt>
                                        </p:tgtEl>
                                        <p:attrNameLst>
                                          <p:attrName>style.visibility</p:attrName>
                                        </p:attrNameLst>
                                      </p:cBhvr>
                                      <p:to>
                                        <p:strVal val="visible"/>
                                      </p:to>
                                    </p:set>
                                    <p:anim calcmode="lin" valueType="num">
                                      <p:cBhvr additive="base">
                                        <p:cTn id="17" dur="500" fill="hold"/>
                                        <p:tgtEl>
                                          <p:spTgt spid="35021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5021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50213">
                                            <p:txEl>
                                              <p:pRg st="3" end="3"/>
                                            </p:txEl>
                                          </p:spTgt>
                                        </p:tgtEl>
                                        <p:attrNameLst>
                                          <p:attrName>style.visibility</p:attrName>
                                        </p:attrNameLst>
                                      </p:cBhvr>
                                      <p:to>
                                        <p:strVal val="visible"/>
                                      </p:to>
                                    </p:set>
                                    <p:anim calcmode="lin" valueType="num">
                                      <p:cBhvr additive="base">
                                        <p:cTn id="21" dur="500" fill="hold"/>
                                        <p:tgtEl>
                                          <p:spTgt spid="35021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5021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ppt_x"/>
                                          </p:val>
                                        </p:tav>
                                        <p:tav tm="100000">
                                          <p:val>
                                            <p:strVal val="#ppt_x"/>
                                          </p:val>
                                        </p:tav>
                                      </p:tavLst>
                                    </p:anim>
                                    <p:anim calcmode="lin" valueType="num">
                                      <p:cBhvr additive="base">
                                        <p:cTn id="2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11"/>
          </p:nvPr>
        </p:nvSpPr>
        <p:spPr/>
        <p:txBody>
          <a:bodyPr/>
          <a:lstStyle/>
          <a:p>
            <a:fld id="{FF65C721-9D33-42C7-B5BE-6E6865C32D7B}" type="slidenum">
              <a:rPr lang="en-US" altLang="zh-CN"/>
              <a:pPr/>
              <a:t>9</a:t>
            </a:fld>
            <a:endParaRPr lang="en-US" altLang="zh-CN"/>
          </a:p>
        </p:txBody>
      </p:sp>
      <p:sp>
        <p:nvSpPr>
          <p:cNvPr id="355330" name="Rectangle 2"/>
          <p:cNvSpPr>
            <a:spLocks noChangeArrowheads="1"/>
          </p:cNvSpPr>
          <p:nvPr/>
        </p:nvSpPr>
        <p:spPr bwMode="auto">
          <a:xfrm>
            <a:off x="539750" y="3644900"/>
            <a:ext cx="7916863" cy="2071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l">
              <a:lnSpc>
                <a:spcPct val="130000"/>
              </a:lnSpc>
              <a:buClr>
                <a:srgbClr val="FF3300"/>
              </a:buClr>
              <a:buSzPct val="85000"/>
              <a:buFont typeface="Wingdings" pitchFamily="2" charset="2"/>
              <a:buNone/>
            </a:pPr>
            <a:r>
              <a:rPr lang="zh-CN" altLang="en-US" b="1">
                <a:solidFill>
                  <a:schemeClr val="hlink"/>
                </a:solidFill>
              </a:rPr>
              <a:t>考察下列运算在指定集合上是否符合交换律</a:t>
            </a:r>
            <a:r>
              <a:rPr lang="en-US" altLang="zh-CN" b="1">
                <a:solidFill>
                  <a:schemeClr val="hlink"/>
                </a:solidFill>
              </a:rPr>
              <a:t>?</a:t>
            </a:r>
          </a:p>
          <a:p>
            <a:pPr marL="342900" indent="-342900" algn="l">
              <a:lnSpc>
                <a:spcPct val="130000"/>
              </a:lnSpc>
              <a:buClr>
                <a:srgbClr val="FF3300"/>
              </a:buClr>
              <a:buSzPct val="85000"/>
              <a:buFont typeface="Wingdings" pitchFamily="2" charset="2"/>
              <a:buNone/>
            </a:pPr>
            <a:r>
              <a:rPr lang="en-US" altLang="zh-CN" b="1">
                <a:ea typeface="楷体_GB2312" pitchFamily="49" charset="-122"/>
              </a:rPr>
              <a:t>(1) </a:t>
            </a:r>
            <a:r>
              <a:rPr lang="en-US" altLang="zh-CN" b="1"/>
              <a:t>N</a:t>
            </a:r>
            <a:r>
              <a:rPr lang="zh-CN" altLang="en-US" b="1"/>
              <a:t>、</a:t>
            </a:r>
            <a:r>
              <a:rPr lang="en-US" altLang="zh-CN" b="1"/>
              <a:t>Z</a:t>
            </a:r>
            <a:r>
              <a:rPr lang="zh-CN" altLang="en-US" b="1"/>
              <a:t>、</a:t>
            </a:r>
            <a:r>
              <a:rPr lang="en-US" altLang="zh-CN" b="1"/>
              <a:t>Q</a:t>
            </a:r>
            <a:r>
              <a:rPr lang="zh-CN" altLang="en-US" b="1"/>
              <a:t>、</a:t>
            </a:r>
            <a:r>
              <a:rPr lang="en-US" altLang="zh-CN" b="1"/>
              <a:t>R</a:t>
            </a:r>
            <a:r>
              <a:rPr lang="zh-CN" altLang="en-US" b="1">
                <a:ea typeface="楷体_GB2312" pitchFamily="49" charset="-122"/>
              </a:rPr>
              <a:t>集合上的加、</a:t>
            </a:r>
            <a:r>
              <a:rPr lang="zh-CN" altLang="en-US" b="1">
                <a:solidFill>
                  <a:schemeClr val="hlink"/>
                </a:solidFill>
                <a:ea typeface="楷体_GB2312" pitchFamily="49" charset="-122"/>
              </a:rPr>
              <a:t>减</a:t>
            </a:r>
            <a:r>
              <a:rPr lang="zh-CN" altLang="en-US" b="1">
                <a:ea typeface="楷体_GB2312" pitchFamily="49" charset="-122"/>
              </a:rPr>
              <a:t>、乘、</a:t>
            </a:r>
            <a:r>
              <a:rPr lang="zh-CN" altLang="en-US" b="1">
                <a:solidFill>
                  <a:schemeClr val="bg2"/>
                </a:solidFill>
                <a:ea typeface="楷体_GB2312" pitchFamily="49" charset="-122"/>
              </a:rPr>
              <a:t>除</a:t>
            </a:r>
            <a:r>
              <a:rPr lang="zh-CN" altLang="en-US" b="1">
                <a:ea typeface="楷体_GB2312" pitchFamily="49" charset="-122"/>
              </a:rPr>
              <a:t>。</a:t>
            </a:r>
          </a:p>
          <a:p>
            <a:pPr marL="342900" indent="-342900" algn="l">
              <a:lnSpc>
                <a:spcPct val="130000"/>
              </a:lnSpc>
              <a:buClr>
                <a:srgbClr val="FF3300"/>
              </a:buClr>
              <a:buSzPct val="85000"/>
              <a:buFont typeface="Wingdings" pitchFamily="2" charset="2"/>
              <a:buNone/>
            </a:pPr>
            <a:r>
              <a:rPr lang="en-US" altLang="zh-CN" b="1">
                <a:ea typeface="楷体_GB2312" pitchFamily="49" charset="-122"/>
              </a:rPr>
              <a:t>(2) </a:t>
            </a:r>
            <a:r>
              <a:rPr lang="zh-CN" altLang="en-US" b="1">
                <a:ea typeface="楷体_GB2312" pitchFamily="49" charset="-122"/>
              </a:rPr>
              <a:t>集合</a:t>
            </a:r>
            <a:r>
              <a:rPr lang="en-US" altLang="zh-CN" b="1">
                <a:ea typeface="楷体_GB2312" pitchFamily="49" charset="-122"/>
              </a:rPr>
              <a:t>S</a:t>
            </a:r>
            <a:r>
              <a:rPr lang="zh-CN" altLang="en-US" b="1">
                <a:ea typeface="楷体_GB2312" pitchFamily="49" charset="-122"/>
              </a:rPr>
              <a:t>的幂集上的∪、∩ 、</a:t>
            </a:r>
            <a:r>
              <a:rPr lang="en-US" altLang="zh-CN" b="1">
                <a:solidFill>
                  <a:schemeClr val="hlink"/>
                </a:solidFill>
                <a:ea typeface="楷体_GB2312" pitchFamily="49" charset="-122"/>
              </a:rPr>
              <a:t>-</a:t>
            </a:r>
            <a:r>
              <a:rPr lang="zh-CN" altLang="en-US" b="1">
                <a:ea typeface="楷体_GB2312" pitchFamily="49" charset="-122"/>
              </a:rPr>
              <a:t>、 </a:t>
            </a:r>
            <a:r>
              <a:rPr lang="zh-CN" altLang="en-US">
                <a:ea typeface="幼圆" pitchFamily="49" charset="-122"/>
                <a:sym typeface="Symbol" pitchFamily="18" charset="2"/>
              </a:rPr>
              <a:t></a:t>
            </a:r>
            <a:r>
              <a:rPr lang="zh-CN" altLang="en-US" b="1">
                <a:ea typeface="楷体_GB2312" pitchFamily="49" charset="-122"/>
              </a:rPr>
              <a:t> 。</a:t>
            </a:r>
          </a:p>
        </p:txBody>
      </p:sp>
      <p:sp>
        <p:nvSpPr>
          <p:cNvPr id="355331" name="Rectangle 3"/>
          <p:cNvSpPr>
            <a:spLocks noChangeArrowheads="1"/>
          </p:cNvSpPr>
          <p:nvPr/>
        </p:nvSpPr>
        <p:spPr bwMode="auto">
          <a:xfrm>
            <a:off x="539750" y="981075"/>
            <a:ext cx="7916863"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eaLnBrk="0" hangingPunct="0">
              <a:lnSpc>
                <a:spcPct val="130000"/>
              </a:lnSpc>
            </a:pPr>
            <a:r>
              <a:rPr lang="zh-CN" altLang="en-US" b="1">
                <a:solidFill>
                  <a:schemeClr val="hlink"/>
                </a:solidFill>
              </a:rPr>
              <a:t>定义</a:t>
            </a:r>
            <a:r>
              <a:rPr lang="en-US" altLang="zh-CN" b="1">
                <a:solidFill>
                  <a:schemeClr val="hlink"/>
                </a:solidFill>
              </a:rPr>
              <a:t>5-2.2</a:t>
            </a:r>
            <a:r>
              <a:rPr lang="zh-CN" altLang="en-US" b="1">
                <a:solidFill>
                  <a:schemeClr val="hlink"/>
                </a:solidFill>
              </a:rPr>
              <a:t>：</a:t>
            </a:r>
            <a:r>
              <a:rPr lang="zh-CN" altLang="en-US" b="1"/>
              <a:t>设*是定义在集合</a:t>
            </a:r>
            <a:r>
              <a:rPr lang="en-US" altLang="zh-CN" b="1"/>
              <a:t>A</a:t>
            </a:r>
            <a:r>
              <a:rPr lang="zh-CN" altLang="en-US" b="1"/>
              <a:t>上的二元运算，如果</a:t>
            </a:r>
            <a:r>
              <a:rPr lang="zh-CN" altLang="en-US" b="1">
                <a:sym typeface="Symbol" pitchFamily="18" charset="2"/>
              </a:rPr>
              <a:t></a:t>
            </a:r>
            <a:r>
              <a:rPr lang="zh-CN" altLang="en-US" b="1"/>
              <a:t> </a:t>
            </a:r>
            <a:r>
              <a:rPr lang="en-US" altLang="zh-CN" b="1"/>
              <a:t>x</a:t>
            </a:r>
            <a:r>
              <a:rPr lang="zh-CN" altLang="en-US" b="1"/>
              <a:t>，</a:t>
            </a:r>
            <a:r>
              <a:rPr lang="en-US" altLang="zh-CN" b="1"/>
              <a:t>y∈A</a:t>
            </a:r>
            <a:r>
              <a:rPr lang="zh-CN" altLang="en-US" b="1"/>
              <a:t>，都有</a:t>
            </a:r>
            <a:r>
              <a:rPr lang="en-US" altLang="zh-CN" b="1"/>
              <a:t>x*y=y*x</a:t>
            </a:r>
            <a:r>
              <a:rPr lang="zh-CN" altLang="en-US" b="1"/>
              <a:t>，则称二元运算*是</a:t>
            </a:r>
            <a:r>
              <a:rPr lang="zh-CN" altLang="en-US" b="1" i="1">
                <a:solidFill>
                  <a:schemeClr val="hlink"/>
                </a:solidFill>
              </a:rPr>
              <a:t>可交换的</a:t>
            </a:r>
            <a:r>
              <a:rPr lang="zh-CN" altLang="en-US" b="1"/>
              <a:t>。</a:t>
            </a:r>
          </a:p>
        </p:txBody>
      </p:sp>
      <p:sp>
        <p:nvSpPr>
          <p:cNvPr id="355332" name="Rectangle 4"/>
          <p:cNvSpPr>
            <a:spLocks noChangeArrowheads="1"/>
          </p:cNvSpPr>
          <p:nvPr/>
        </p:nvSpPr>
        <p:spPr bwMode="auto">
          <a:xfrm>
            <a:off x="539750" y="1989138"/>
            <a:ext cx="7916863"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eaLnBrk="0" hangingPunct="0">
              <a:lnSpc>
                <a:spcPct val="130000"/>
              </a:lnSpc>
            </a:pPr>
            <a:r>
              <a:rPr lang="zh-CN" altLang="en-US" b="1">
                <a:solidFill>
                  <a:schemeClr val="hlink"/>
                </a:solidFill>
              </a:rPr>
              <a:t>例</a:t>
            </a:r>
            <a:r>
              <a:rPr lang="en-US" altLang="zh-CN" b="1">
                <a:solidFill>
                  <a:schemeClr val="hlink"/>
                </a:solidFill>
              </a:rPr>
              <a:t>2</a:t>
            </a:r>
            <a:r>
              <a:rPr lang="zh-CN" altLang="en-US" b="1">
                <a:solidFill>
                  <a:schemeClr val="hlink"/>
                </a:solidFill>
              </a:rPr>
              <a:t>：</a:t>
            </a:r>
            <a:r>
              <a:rPr lang="zh-CN" altLang="en-US" b="1"/>
              <a:t>设</a:t>
            </a:r>
            <a:r>
              <a:rPr lang="en-US" altLang="zh-CN" b="1"/>
              <a:t>Q</a:t>
            </a:r>
            <a:r>
              <a:rPr lang="zh-CN" altLang="en-US" b="1"/>
              <a:t>是有理数集合，△是</a:t>
            </a:r>
            <a:r>
              <a:rPr lang="en-US" altLang="zh-CN" b="1"/>
              <a:t>Q</a:t>
            </a:r>
            <a:r>
              <a:rPr lang="zh-CN" altLang="en-US" b="1"/>
              <a:t>上的二元运算，对于任意的</a:t>
            </a:r>
            <a:r>
              <a:rPr lang="en-US" altLang="zh-CN" b="1"/>
              <a:t>a</a:t>
            </a:r>
            <a:r>
              <a:rPr lang="zh-CN" altLang="en-US" b="1"/>
              <a:t>，</a:t>
            </a:r>
            <a:r>
              <a:rPr lang="en-US" altLang="zh-CN" b="1"/>
              <a:t>b∈Q</a:t>
            </a:r>
            <a:r>
              <a:rPr lang="zh-CN" altLang="en-US" b="1"/>
              <a:t>，</a:t>
            </a:r>
            <a:r>
              <a:rPr lang="en-US" altLang="zh-CN" b="1"/>
              <a:t>a△b=a+b-a·b</a:t>
            </a:r>
            <a:r>
              <a:rPr lang="zh-CN" altLang="en-US" b="1"/>
              <a:t>，问运算△是否可交换。</a:t>
            </a:r>
          </a:p>
        </p:txBody>
      </p:sp>
      <p:sp>
        <p:nvSpPr>
          <p:cNvPr id="355333" name="Rectangle 5"/>
          <p:cNvSpPr>
            <a:spLocks noChangeArrowheads="1"/>
          </p:cNvSpPr>
          <p:nvPr/>
        </p:nvSpPr>
        <p:spPr bwMode="auto">
          <a:xfrm>
            <a:off x="539750" y="3068638"/>
            <a:ext cx="7916863"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l" eaLnBrk="0" hangingPunct="0">
              <a:lnSpc>
                <a:spcPct val="130000"/>
              </a:lnSpc>
            </a:pPr>
            <a:r>
              <a:rPr lang="zh-CN" altLang="en-US" b="1"/>
              <a:t>解：∵</a:t>
            </a:r>
            <a:r>
              <a:rPr lang="en-US" altLang="zh-CN" b="1"/>
              <a:t>a△b=a+b</a:t>
            </a:r>
            <a:r>
              <a:rPr lang="zh-CN" altLang="en-US" b="1"/>
              <a:t>－</a:t>
            </a:r>
            <a:r>
              <a:rPr lang="en-US" altLang="zh-CN" b="1"/>
              <a:t>a·b=b+a</a:t>
            </a:r>
            <a:r>
              <a:rPr lang="zh-CN" altLang="en-US" b="1"/>
              <a:t>－</a:t>
            </a:r>
            <a:r>
              <a:rPr lang="en-US" altLang="zh-CN" b="1"/>
              <a:t>b·a=b△a</a:t>
            </a:r>
            <a:r>
              <a:rPr lang="zh-CN" altLang="en-US" b="1"/>
              <a:t>，∴△是可交换的。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55332"/>
                                        </p:tgtEl>
                                        <p:attrNameLst>
                                          <p:attrName>style.visibility</p:attrName>
                                        </p:attrNameLst>
                                      </p:cBhvr>
                                      <p:to>
                                        <p:strVal val="visible"/>
                                      </p:to>
                                    </p:set>
                                    <p:anim calcmode="lin" valueType="num">
                                      <p:cBhvr additive="base">
                                        <p:cTn id="7" dur="500" fill="hold"/>
                                        <p:tgtEl>
                                          <p:spTgt spid="355332"/>
                                        </p:tgtEl>
                                        <p:attrNameLst>
                                          <p:attrName>ppt_x</p:attrName>
                                        </p:attrNameLst>
                                      </p:cBhvr>
                                      <p:tavLst>
                                        <p:tav tm="0">
                                          <p:val>
                                            <p:strVal val="#ppt_x"/>
                                          </p:val>
                                        </p:tav>
                                        <p:tav tm="100000">
                                          <p:val>
                                            <p:strVal val="#ppt_x"/>
                                          </p:val>
                                        </p:tav>
                                      </p:tavLst>
                                    </p:anim>
                                    <p:anim calcmode="lin" valueType="num">
                                      <p:cBhvr additive="base">
                                        <p:cTn id="8" dur="500" fill="hold"/>
                                        <p:tgtEl>
                                          <p:spTgt spid="35533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55333"/>
                                        </p:tgtEl>
                                        <p:attrNameLst>
                                          <p:attrName>style.visibility</p:attrName>
                                        </p:attrNameLst>
                                      </p:cBhvr>
                                      <p:to>
                                        <p:strVal val="visible"/>
                                      </p:to>
                                    </p:set>
                                    <p:anim calcmode="lin" valueType="num">
                                      <p:cBhvr additive="base">
                                        <p:cTn id="13" dur="500" fill="hold"/>
                                        <p:tgtEl>
                                          <p:spTgt spid="355333"/>
                                        </p:tgtEl>
                                        <p:attrNameLst>
                                          <p:attrName>ppt_x</p:attrName>
                                        </p:attrNameLst>
                                      </p:cBhvr>
                                      <p:tavLst>
                                        <p:tav tm="0">
                                          <p:val>
                                            <p:strVal val="#ppt_x"/>
                                          </p:val>
                                        </p:tav>
                                        <p:tav tm="100000">
                                          <p:val>
                                            <p:strVal val="#ppt_x"/>
                                          </p:val>
                                        </p:tav>
                                      </p:tavLst>
                                    </p:anim>
                                    <p:anim calcmode="lin" valueType="num">
                                      <p:cBhvr additive="base">
                                        <p:cTn id="14" dur="500" fill="hold"/>
                                        <p:tgtEl>
                                          <p:spTgt spid="355333"/>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55330">
                                            <p:txEl>
                                              <p:pRg st="0" end="0"/>
                                            </p:txEl>
                                          </p:spTgt>
                                        </p:tgtEl>
                                        <p:attrNameLst>
                                          <p:attrName>style.visibility</p:attrName>
                                        </p:attrNameLst>
                                      </p:cBhvr>
                                      <p:to>
                                        <p:strVal val="visible"/>
                                      </p:to>
                                    </p:set>
                                    <p:anim calcmode="lin" valueType="num">
                                      <p:cBhvr additive="base">
                                        <p:cTn id="19" dur="500" fill="hold"/>
                                        <p:tgtEl>
                                          <p:spTgt spid="355330">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5330">
                                            <p:txEl>
                                              <p:pRg st="0" end="0"/>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55330">
                                            <p:txEl>
                                              <p:pRg st="1" end="1"/>
                                            </p:txEl>
                                          </p:spTgt>
                                        </p:tgtEl>
                                        <p:attrNameLst>
                                          <p:attrName>style.visibility</p:attrName>
                                        </p:attrNameLst>
                                      </p:cBhvr>
                                      <p:to>
                                        <p:strVal val="visible"/>
                                      </p:to>
                                    </p:set>
                                    <p:anim calcmode="lin" valueType="num">
                                      <p:cBhvr additive="base">
                                        <p:cTn id="23" dur="500" fill="hold"/>
                                        <p:tgtEl>
                                          <p:spTgt spid="355330">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55330">
                                            <p:txEl>
                                              <p:pRg st="1" end="1"/>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55330">
                                            <p:txEl>
                                              <p:pRg st="2" end="2"/>
                                            </p:txEl>
                                          </p:spTgt>
                                        </p:tgtEl>
                                        <p:attrNameLst>
                                          <p:attrName>style.visibility</p:attrName>
                                        </p:attrNameLst>
                                      </p:cBhvr>
                                      <p:to>
                                        <p:strVal val="visible"/>
                                      </p:to>
                                    </p:set>
                                    <p:anim calcmode="lin" valueType="num">
                                      <p:cBhvr additive="base">
                                        <p:cTn id="27" dur="500" fill="hold"/>
                                        <p:tgtEl>
                                          <p:spTgt spid="355330">
                                            <p:txEl>
                                              <p:pRg st="2" end="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5533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30" grpId="0" uiExpand="1" build="p" autoUpdateAnimBg="0"/>
      <p:bldP spid="355332" grpId="0" autoUpdateAnimBg="0"/>
      <p:bldP spid="355333"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A069DEBF-D3DA-4BE1-8426-18E1080DF656}" type="slidenum">
              <a:rPr lang="en-US" altLang="zh-CN"/>
              <a:pPr/>
              <a:t>10</a:t>
            </a:fld>
            <a:endParaRPr lang="en-US" altLang="zh-CN"/>
          </a:p>
        </p:txBody>
      </p:sp>
      <p:sp>
        <p:nvSpPr>
          <p:cNvPr id="356355" name="Text Box 3"/>
          <p:cNvSpPr txBox="1">
            <a:spLocks noChangeArrowheads="1"/>
          </p:cNvSpPr>
          <p:nvPr/>
        </p:nvSpPr>
        <p:spPr bwMode="auto">
          <a:xfrm>
            <a:off x="539750" y="981075"/>
            <a:ext cx="7916863" cy="151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lnSpc>
                <a:spcPct val="130000"/>
              </a:lnSpc>
            </a:pPr>
            <a:r>
              <a:rPr lang="zh-CN" altLang="en-US" b="1">
                <a:solidFill>
                  <a:schemeClr val="hlink"/>
                </a:solidFill>
              </a:rPr>
              <a:t>定义</a:t>
            </a:r>
            <a:r>
              <a:rPr lang="en-US" altLang="zh-CN" b="1">
                <a:solidFill>
                  <a:schemeClr val="hlink"/>
                </a:solidFill>
              </a:rPr>
              <a:t>5-2.3</a:t>
            </a:r>
            <a:r>
              <a:rPr lang="zh-CN" altLang="en-US" b="1">
                <a:solidFill>
                  <a:schemeClr val="hlink"/>
                </a:solidFill>
              </a:rPr>
              <a:t>：</a:t>
            </a:r>
            <a:r>
              <a:rPr lang="zh-CN" altLang="en-US" b="1"/>
              <a:t>设*是定义在集合</a:t>
            </a:r>
            <a:r>
              <a:rPr lang="en-US" altLang="zh-CN" b="1"/>
              <a:t>A</a:t>
            </a:r>
            <a:r>
              <a:rPr lang="zh-CN" altLang="en-US" b="1"/>
              <a:t>上的二元运算，如果</a:t>
            </a:r>
            <a:r>
              <a:rPr lang="zh-CN" altLang="en-US" b="1">
                <a:sym typeface="Symbol" pitchFamily="18" charset="2"/>
              </a:rPr>
              <a:t></a:t>
            </a:r>
            <a:r>
              <a:rPr lang="zh-CN" altLang="en-US" b="1"/>
              <a:t> </a:t>
            </a:r>
            <a:r>
              <a:rPr lang="en-US" altLang="zh-CN" b="1"/>
              <a:t>x</a:t>
            </a:r>
            <a:r>
              <a:rPr lang="zh-CN" altLang="en-US" b="1"/>
              <a:t>，</a:t>
            </a:r>
            <a:r>
              <a:rPr lang="en-US" altLang="zh-CN" b="1"/>
              <a:t>y</a:t>
            </a:r>
            <a:r>
              <a:rPr lang="zh-CN" altLang="en-US" b="1"/>
              <a:t>，</a:t>
            </a:r>
            <a:r>
              <a:rPr lang="en-US" altLang="zh-CN" b="1"/>
              <a:t>z∈A</a:t>
            </a:r>
            <a:r>
              <a:rPr lang="zh-CN" altLang="en-US" b="1"/>
              <a:t>，都有</a:t>
            </a:r>
            <a:r>
              <a:rPr lang="en-US" altLang="zh-CN" b="1"/>
              <a:t>(x</a:t>
            </a:r>
            <a:r>
              <a:rPr lang="en-US" altLang="zh-CN" b="1">
                <a:cs typeface="Times New Roman" pitchFamily="18" charset="0"/>
              </a:rPr>
              <a:t>*</a:t>
            </a:r>
            <a:r>
              <a:rPr lang="en-US" altLang="zh-CN" b="1"/>
              <a:t>y)*z=x*(y*z)</a:t>
            </a:r>
            <a:r>
              <a:rPr lang="zh-CN" altLang="en-US" b="1"/>
              <a:t>，则称二元运算*是</a:t>
            </a:r>
            <a:r>
              <a:rPr lang="zh-CN" altLang="en-US" b="1" i="1">
                <a:solidFill>
                  <a:schemeClr val="hlink"/>
                </a:solidFill>
              </a:rPr>
              <a:t>可结合的</a:t>
            </a:r>
            <a:r>
              <a:rPr lang="zh-CN" altLang="en-US" b="1"/>
              <a:t>。</a:t>
            </a:r>
          </a:p>
        </p:txBody>
      </p:sp>
      <p:sp>
        <p:nvSpPr>
          <p:cNvPr id="356358" name="Rectangle 6"/>
          <p:cNvSpPr>
            <a:spLocks noChangeArrowheads="1"/>
          </p:cNvSpPr>
          <p:nvPr/>
        </p:nvSpPr>
        <p:spPr bwMode="auto">
          <a:xfrm>
            <a:off x="539750" y="2493963"/>
            <a:ext cx="7916863" cy="151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l">
              <a:lnSpc>
                <a:spcPct val="130000"/>
              </a:lnSpc>
              <a:buClr>
                <a:srgbClr val="FF3300"/>
              </a:buClr>
              <a:buSzPct val="85000"/>
              <a:buFont typeface="Wingdings" pitchFamily="2" charset="2"/>
              <a:buNone/>
            </a:pPr>
            <a:r>
              <a:rPr lang="zh-CN" altLang="en-US" b="1">
                <a:solidFill>
                  <a:schemeClr val="hlink"/>
                </a:solidFill>
              </a:rPr>
              <a:t>考察下列运算在指定集合上是否符合结合律</a:t>
            </a:r>
            <a:r>
              <a:rPr lang="en-US" altLang="zh-CN" b="1">
                <a:solidFill>
                  <a:schemeClr val="hlink"/>
                </a:solidFill>
              </a:rPr>
              <a:t>?</a:t>
            </a:r>
          </a:p>
          <a:p>
            <a:pPr marL="342900" indent="-342900" algn="l">
              <a:lnSpc>
                <a:spcPct val="130000"/>
              </a:lnSpc>
              <a:buClr>
                <a:srgbClr val="FF3300"/>
              </a:buClr>
              <a:buSzPct val="85000"/>
              <a:buFont typeface="Wingdings" pitchFamily="2" charset="2"/>
              <a:buNone/>
            </a:pPr>
            <a:r>
              <a:rPr lang="en-US" altLang="zh-CN" b="1">
                <a:ea typeface="楷体_GB2312" pitchFamily="49" charset="-122"/>
              </a:rPr>
              <a:t>(1) N</a:t>
            </a:r>
            <a:r>
              <a:rPr lang="zh-CN" altLang="en-US" b="1">
                <a:ea typeface="楷体_GB2312" pitchFamily="49" charset="-122"/>
              </a:rPr>
              <a:t>、</a:t>
            </a:r>
            <a:r>
              <a:rPr lang="en-US" altLang="zh-CN" b="1">
                <a:ea typeface="楷体_GB2312" pitchFamily="49" charset="-122"/>
              </a:rPr>
              <a:t>Z</a:t>
            </a:r>
            <a:r>
              <a:rPr lang="zh-CN" altLang="en-US" b="1">
                <a:ea typeface="楷体_GB2312" pitchFamily="49" charset="-122"/>
              </a:rPr>
              <a:t>、</a:t>
            </a:r>
            <a:r>
              <a:rPr lang="en-US" altLang="zh-CN" b="1">
                <a:ea typeface="楷体_GB2312" pitchFamily="49" charset="-122"/>
              </a:rPr>
              <a:t>Q</a:t>
            </a:r>
            <a:r>
              <a:rPr lang="zh-CN" altLang="en-US" b="1">
                <a:ea typeface="楷体_GB2312" pitchFamily="49" charset="-122"/>
              </a:rPr>
              <a:t>、</a:t>
            </a:r>
            <a:r>
              <a:rPr lang="en-US" altLang="zh-CN" b="1">
                <a:ea typeface="楷体_GB2312" pitchFamily="49" charset="-122"/>
              </a:rPr>
              <a:t>R</a:t>
            </a:r>
            <a:r>
              <a:rPr lang="zh-CN" altLang="en-US" b="1">
                <a:ea typeface="楷体_GB2312" pitchFamily="49" charset="-122"/>
              </a:rPr>
              <a:t>集合上的加、乘。</a:t>
            </a:r>
          </a:p>
          <a:p>
            <a:pPr marL="342900" indent="-342900" algn="l">
              <a:lnSpc>
                <a:spcPct val="130000"/>
              </a:lnSpc>
              <a:buClr>
                <a:srgbClr val="FF3300"/>
              </a:buClr>
              <a:buSzPct val="85000"/>
              <a:buFont typeface="Wingdings" pitchFamily="2" charset="2"/>
              <a:buNone/>
            </a:pPr>
            <a:r>
              <a:rPr lang="en-US" altLang="zh-CN" b="1">
                <a:ea typeface="楷体_GB2312" pitchFamily="49" charset="-122"/>
              </a:rPr>
              <a:t>(2) </a:t>
            </a:r>
            <a:r>
              <a:rPr lang="zh-CN" altLang="en-US" b="1">
                <a:ea typeface="楷体_GB2312" pitchFamily="49" charset="-122"/>
              </a:rPr>
              <a:t>集合</a:t>
            </a:r>
            <a:r>
              <a:rPr lang="en-US" altLang="zh-CN" b="1">
                <a:ea typeface="楷体_GB2312" pitchFamily="49" charset="-122"/>
              </a:rPr>
              <a:t>S</a:t>
            </a:r>
            <a:r>
              <a:rPr lang="zh-CN" altLang="en-US" b="1">
                <a:ea typeface="楷体_GB2312" pitchFamily="49" charset="-122"/>
              </a:rPr>
              <a:t>的幂集上的∪、∩ 、 </a:t>
            </a:r>
            <a:r>
              <a:rPr lang="zh-CN" altLang="en-US">
                <a:ea typeface="幼圆" pitchFamily="49" charset="-122"/>
                <a:sym typeface="Symbol" pitchFamily="18" charset="2"/>
              </a:rPr>
              <a:t></a:t>
            </a:r>
            <a:r>
              <a:rPr lang="zh-CN" altLang="en-US" b="1">
                <a:ea typeface="楷体_GB2312" pitchFamily="49" charset="-122"/>
              </a:rPr>
              <a:t>  。</a:t>
            </a:r>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56358">
                                            <p:txEl>
                                              <p:pRg st="0" end="0"/>
                                            </p:txEl>
                                          </p:spTgt>
                                        </p:tgtEl>
                                        <p:attrNameLst>
                                          <p:attrName>style.visibility</p:attrName>
                                        </p:attrNameLst>
                                      </p:cBhvr>
                                      <p:to>
                                        <p:strVal val="visible"/>
                                      </p:to>
                                    </p:set>
                                    <p:anim calcmode="lin" valueType="num">
                                      <p:cBhvr additive="base">
                                        <p:cTn id="7" dur="500" fill="hold"/>
                                        <p:tgtEl>
                                          <p:spTgt spid="35635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635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56358">
                                            <p:txEl>
                                              <p:pRg st="1" end="1"/>
                                            </p:txEl>
                                          </p:spTgt>
                                        </p:tgtEl>
                                        <p:attrNameLst>
                                          <p:attrName>style.visibility</p:attrName>
                                        </p:attrNameLst>
                                      </p:cBhvr>
                                      <p:to>
                                        <p:strVal val="visible"/>
                                      </p:to>
                                    </p:set>
                                    <p:anim calcmode="lin" valueType="num">
                                      <p:cBhvr additive="base">
                                        <p:cTn id="11" dur="500" fill="hold"/>
                                        <p:tgtEl>
                                          <p:spTgt spid="35635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56358">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56358">
                                            <p:txEl>
                                              <p:pRg st="2" end="2"/>
                                            </p:txEl>
                                          </p:spTgt>
                                        </p:tgtEl>
                                        <p:attrNameLst>
                                          <p:attrName>style.visibility</p:attrName>
                                        </p:attrNameLst>
                                      </p:cBhvr>
                                      <p:to>
                                        <p:strVal val="visible"/>
                                      </p:to>
                                    </p:set>
                                    <p:anim calcmode="lin" valueType="num">
                                      <p:cBhvr additive="base">
                                        <p:cTn id="15" dur="500" fill="hold"/>
                                        <p:tgtEl>
                                          <p:spTgt spid="356358">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5635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6358" grpId="0" uiExpand="1"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fld id="{CEA8E718-FC7A-49C2-B831-EB8BF0513595}" type="slidenum">
              <a:rPr lang="en-US" altLang="zh-CN"/>
              <a:pPr/>
              <a:t>11</a:t>
            </a:fld>
            <a:endParaRPr lang="en-US" altLang="zh-CN"/>
          </a:p>
        </p:txBody>
      </p:sp>
      <p:sp>
        <p:nvSpPr>
          <p:cNvPr id="413698" name="Text Box 2"/>
          <p:cNvSpPr txBox="1">
            <a:spLocks noChangeArrowheads="1"/>
          </p:cNvSpPr>
          <p:nvPr/>
        </p:nvSpPr>
        <p:spPr bwMode="auto">
          <a:xfrm>
            <a:off x="539750" y="1052513"/>
            <a:ext cx="7916863" cy="89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lnSpc>
                <a:spcPct val="110000"/>
              </a:lnSpc>
              <a:spcBef>
                <a:spcPct val="50000"/>
              </a:spcBef>
            </a:pPr>
            <a:r>
              <a:rPr lang="zh-CN" altLang="en-US" b="1">
                <a:solidFill>
                  <a:schemeClr val="hlink"/>
                </a:solidFill>
              </a:rPr>
              <a:t>例</a:t>
            </a:r>
            <a:r>
              <a:rPr lang="en-US" altLang="zh-CN" b="1">
                <a:solidFill>
                  <a:schemeClr val="hlink"/>
                </a:solidFill>
              </a:rPr>
              <a:t>3</a:t>
            </a:r>
            <a:r>
              <a:rPr lang="zh-CN" altLang="en-US" b="1">
                <a:solidFill>
                  <a:schemeClr val="hlink"/>
                </a:solidFill>
              </a:rPr>
              <a:t>：</a:t>
            </a:r>
            <a:r>
              <a:rPr lang="zh-CN" altLang="en-US" b="1"/>
              <a:t>设</a:t>
            </a:r>
            <a:r>
              <a:rPr lang="en-US" altLang="zh-CN" b="1"/>
              <a:t>A</a:t>
            </a:r>
            <a:r>
              <a:rPr lang="zh-CN" altLang="en-US" b="1"/>
              <a:t>是一个非空集合，☆是</a:t>
            </a:r>
            <a:r>
              <a:rPr lang="en-US" altLang="zh-CN" b="1"/>
              <a:t>A</a:t>
            </a:r>
            <a:r>
              <a:rPr lang="zh-CN" altLang="en-US" b="1"/>
              <a:t>上的二元运算，对于任意</a:t>
            </a:r>
            <a:r>
              <a:rPr lang="en-US" altLang="zh-CN" b="1"/>
              <a:t>a</a:t>
            </a:r>
            <a:r>
              <a:rPr lang="zh-CN" altLang="en-US" b="1"/>
              <a:t>，</a:t>
            </a:r>
            <a:r>
              <a:rPr lang="en-US" altLang="zh-CN" b="1"/>
              <a:t>b∈A</a:t>
            </a:r>
            <a:r>
              <a:rPr lang="zh-CN" altLang="en-US" b="1"/>
              <a:t>，有</a:t>
            </a:r>
            <a:r>
              <a:rPr lang="en-US" altLang="zh-CN" b="1"/>
              <a:t>a☆b=b</a:t>
            </a:r>
            <a:r>
              <a:rPr lang="zh-CN" altLang="en-US" b="1"/>
              <a:t>，证明☆是可结合的。</a:t>
            </a:r>
          </a:p>
        </p:txBody>
      </p:sp>
      <p:sp>
        <p:nvSpPr>
          <p:cNvPr id="413699" name="Rectangle 3"/>
          <p:cNvSpPr>
            <a:spLocks noChangeArrowheads="1"/>
          </p:cNvSpPr>
          <p:nvPr/>
        </p:nvSpPr>
        <p:spPr bwMode="auto">
          <a:xfrm>
            <a:off x="539750" y="2017713"/>
            <a:ext cx="7916863" cy="301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r>
              <a:rPr lang="zh-CN" altLang="en-US" b="1"/>
              <a:t>证明：对于任意的</a:t>
            </a:r>
            <a:r>
              <a:rPr lang="en-US" altLang="zh-CN" b="1"/>
              <a:t>a</a:t>
            </a:r>
            <a:r>
              <a:rPr lang="zh-CN" altLang="en-US" b="1"/>
              <a:t>，</a:t>
            </a:r>
            <a:r>
              <a:rPr lang="en-US" altLang="zh-CN" b="1"/>
              <a:t>b</a:t>
            </a:r>
            <a:r>
              <a:rPr lang="zh-CN" altLang="en-US" b="1"/>
              <a:t>，</a:t>
            </a:r>
            <a:r>
              <a:rPr lang="en-US" altLang="zh-CN" b="1"/>
              <a:t>c∈A</a:t>
            </a:r>
          </a:p>
          <a:p>
            <a:pPr algn="l" eaLnBrk="0" hangingPunct="0"/>
            <a:r>
              <a:rPr lang="en-US" altLang="zh-CN" b="1"/>
              <a:t>             (a☆b)☆c</a:t>
            </a:r>
          </a:p>
          <a:p>
            <a:pPr algn="l" eaLnBrk="0" hangingPunct="0"/>
            <a:r>
              <a:rPr lang="en-US" altLang="zh-CN" b="1"/>
              <a:t>           =b☆c</a:t>
            </a:r>
          </a:p>
          <a:p>
            <a:pPr algn="l" eaLnBrk="0" hangingPunct="0"/>
            <a:r>
              <a:rPr lang="en-US" altLang="zh-CN" b="1"/>
              <a:t>           =c</a:t>
            </a:r>
          </a:p>
          <a:p>
            <a:pPr algn="l" eaLnBrk="0" hangingPunct="0"/>
            <a:r>
              <a:rPr lang="zh-CN" altLang="en-US" b="1"/>
              <a:t>而         </a:t>
            </a:r>
            <a:r>
              <a:rPr lang="en-US" altLang="zh-CN" b="1"/>
              <a:t>a☆(b☆c)</a:t>
            </a:r>
          </a:p>
          <a:p>
            <a:pPr algn="l" eaLnBrk="0" hangingPunct="0"/>
            <a:r>
              <a:rPr lang="en-US" altLang="zh-CN" b="1"/>
              <a:t>           =a☆c</a:t>
            </a:r>
          </a:p>
          <a:p>
            <a:pPr algn="l" eaLnBrk="0" hangingPunct="0"/>
            <a:r>
              <a:rPr lang="en-US" altLang="zh-CN" b="1"/>
              <a:t>           =c</a:t>
            </a:r>
          </a:p>
          <a:p>
            <a:pPr algn="l" eaLnBrk="0" hangingPunct="0"/>
            <a:r>
              <a:rPr lang="zh-CN" altLang="en-US" b="1"/>
              <a:t>所以   </a:t>
            </a:r>
            <a:r>
              <a:rPr lang="en-US" altLang="zh-CN" b="1"/>
              <a:t>(a☆b)☆c=a☆(b☆c)</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13699">
                                            <p:txEl>
                                              <p:pRg st="0" end="0"/>
                                            </p:txEl>
                                          </p:spTgt>
                                        </p:tgtEl>
                                        <p:attrNameLst>
                                          <p:attrName>style.visibility</p:attrName>
                                        </p:attrNameLst>
                                      </p:cBhvr>
                                      <p:to>
                                        <p:strVal val="visible"/>
                                      </p:to>
                                    </p:set>
                                    <p:anim calcmode="lin" valueType="num">
                                      <p:cBhvr additive="base">
                                        <p:cTn id="7" dur="500" fill="hold"/>
                                        <p:tgtEl>
                                          <p:spTgt spid="4136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136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13699">
                                            <p:txEl>
                                              <p:pRg st="1" end="1"/>
                                            </p:txEl>
                                          </p:spTgt>
                                        </p:tgtEl>
                                        <p:attrNameLst>
                                          <p:attrName>style.visibility</p:attrName>
                                        </p:attrNameLst>
                                      </p:cBhvr>
                                      <p:to>
                                        <p:strVal val="visible"/>
                                      </p:to>
                                    </p:set>
                                    <p:anim calcmode="lin" valueType="num">
                                      <p:cBhvr additive="base">
                                        <p:cTn id="13" dur="500" fill="hold"/>
                                        <p:tgtEl>
                                          <p:spTgt spid="41369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136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13699">
                                            <p:txEl>
                                              <p:pRg st="2" end="2"/>
                                            </p:txEl>
                                          </p:spTgt>
                                        </p:tgtEl>
                                        <p:attrNameLst>
                                          <p:attrName>style.visibility</p:attrName>
                                        </p:attrNameLst>
                                      </p:cBhvr>
                                      <p:to>
                                        <p:strVal val="visible"/>
                                      </p:to>
                                    </p:set>
                                    <p:anim calcmode="lin" valueType="num">
                                      <p:cBhvr additive="base">
                                        <p:cTn id="19" dur="500" fill="hold"/>
                                        <p:tgtEl>
                                          <p:spTgt spid="41369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1369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413699">
                                            <p:txEl>
                                              <p:pRg st="3" end="3"/>
                                            </p:txEl>
                                          </p:spTgt>
                                        </p:tgtEl>
                                        <p:attrNameLst>
                                          <p:attrName>style.visibility</p:attrName>
                                        </p:attrNameLst>
                                      </p:cBhvr>
                                      <p:to>
                                        <p:strVal val="visible"/>
                                      </p:to>
                                    </p:set>
                                    <p:anim calcmode="lin" valueType="num">
                                      <p:cBhvr additive="base">
                                        <p:cTn id="25" dur="500" fill="hold"/>
                                        <p:tgtEl>
                                          <p:spTgt spid="41369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1369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413699">
                                            <p:txEl>
                                              <p:pRg st="4" end="4"/>
                                            </p:txEl>
                                          </p:spTgt>
                                        </p:tgtEl>
                                        <p:attrNameLst>
                                          <p:attrName>style.visibility</p:attrName>
                                        </p:attrNameLst>
                                      </p:cBhvr>
                                      <p:to>
                                        <p:strVal val="visible"/>
                                      </p:to>
                                    </p:set>
                                    <p:anim calcmode="lin" valueType="num">
                                      <p:cBhvr additive="base">
                                        <p:cTn id="31" dur="500" fill="hold"/>
                                        <p:tgtEl>
                                          <p:spTgt spid="41369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1369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413699">
                                            <p:txEl>
                                              <p:pRg st="5" end="5"/>
                                            </p:txEl>
                                          </p:spTgt>
                                        </p:tgtEl>
                                        <p:attrNameLst>
                                          <p:attrName>style.visibility</p:attrName>
                                        </p:attrNameLst>
                                      </p:cBhvr>
                                      <p:to>
                                        <p:strVal val="visible"/>
                                      </p:to>
                                    </p:set>
                                    <p:anim calcmode="lin" valueType="num">
                                      <p:cBhvr additive="base">
                                        <p:cTn id="37" dur="500" fill="hold"/>
                                        <p:tgtEl>
                                          <p:spTgt spid="41369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1369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413699">
                                            <p:txEl>
                                              <p:pRg st="6" end="6"/>
                                            </p:txEl>
                                          </p:spTgt>
                                        </p:tgtEl>
                                        <p:attrNameLst>
                                          <p:attrName>style.visibility</p:attrName>
                                        </p:attrNameLst>
                                      </p:cBhvr>
                                      <p:to>
                                        <p:strVal val="visible"/>
                                      </p:to>
                                    </p:set>
                                    <p:anim calcmode="lin" valueType="num">
                                      <p:cBhvr additive="base">
                                        <p:cTn id="43" dur="500" fill="hold"/>
                                        <p:tgtEl>
                                          <p:spTgt spid="413699">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1369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413699">
                                            <p:txEl>
                                              <p:pRg st="7" end="7"/>
                                            </p:txEl>
                                          </p:spTgt>
                                        </p:tgtEl>
                                        <p:attrNameLst>
                                          <p:attrName>style.visibility</p:attrName>
                                        </p:attrNameLst>
                                      </p:cBhvr>
                                      <p:to>
                                        <p:strVal val="visible"/>
                                      </p:to>
                                    </p:set>
                                    <p:anim calcmode="lin" valueType="num">
                                      <p:cBhvr additive="base">
                                        <p:cTn id="49" dur="500" fill="hold"/>
                                        <p:tgtEl>
                                          <p:spTgt spid="413699">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1369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172F5B95-0A40-404B-B8D2-9317388204D6}" type="slidenum">
              <a:rPr lang="en-US" altLang="zh-CN"/>
              <a:pPr/>
              <a:t>12</a:t>
            </a:fld>
            <a:endParaRPr lang="en-US" altLang="zh-CN"/>
          </a:p>
        </p:txBody>
      </p:sp>
      <p:sp>
        <p:nvSpPr>
          <p:cNvPr id="357378" name="Text Box 2"/>
          <p:cNvSpPr txBox="1">
            <a:spLocks noChangeArrowheads="1"/>
          </p:cNvSpPr>
          <p:nvPr/>
        </p:nvSpPr>
        <p:spPr bwMode="auto">
          <a:xfrm>
            <a:off x="539750" y="981075"/>
            <a:ext cx="7916863" cy="2465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30000"/>
              </a:lnSpc>
            </a:pPr>
            <a:r>
              <a:rPr lang="zh-CN" altLang="en-US" b="1">
                <a:solidFill>
                  <a:schemeClr val="hlink"/>
                </a:solidFill>
              </a:rPr>
              <a:t>定义</a:t>
            </a:r>
            <a:r>
              <a:rPr lang="en-US" altLang="zh-CN" b="1">
                <a:solidFill>
                  <a:schemeClr val="hlink"/>
                </a:solidFill>
              </a:rPr>
              <a:t>5-2.4</a:t>
            </a:r>
            <a:r>
              <a:rPr lang="zh-CN" altLang="en-US" b="1">
                <a:solidFill>
                  <a:schemeClr val="hlink"/>
                </a:solidFill>
              </a:rPr>
              <a:t>：</a:t>
            </a:r>
            <a:r>
              <a:rPr lang="zh-CN" altLang="en-US" b="1"/>
              <a:t>设</a:t>
            </a:r>
            <a:r>
              <a:rPr lang="en-US" altLang="zh-CN" b="1"/>
              <a:t>Δ</a:t>
            </a:r>
            <a:r>
              <a:rPr lang="zh-CN" altLang="en-US" b="1"/>
              <a:t>、*是二元运算，对于任意的</a:t>
            </a:r>
            <a:r>
              <a:rPr lang="en-US" altLang="zh-CN" b="1"/>
              <a:t>x</a:t>
            </a:r>
            <a:r>
              <a:rPr lang="zh-CN" altLang="en-US" b="1"/>
              <a:t>，</a:t>
            </a:r>
            <a:r>
              <a:rPr lang="en-US" altLang="zh-CN" b="1"/>
              <a:t>y</a:t>
            </a:r>
            <a:r>
              <a:rPr lang="zh-CN" altLang="en-US" b="1"/>
              <a:t>，</a:t>
            </a:r>
            <a:r>
              <a:rPr lang="en-US" altLang="zh-CN" b="1"/>
              <a:t>z∈A</a:t>
            </a:r>
            <a:r>
              <a:rPr lang="zh-CN" altLang="en-US" b="1"/>
              <a:t>，都有</a:t>
            </a:r>
          </a:p>
          <a:p>
            <a:pPr algn="just">
              <a:lnSpc>
                <a:spcPct val="130000"/>
              </a:lnSpc>
            </a:pPr>
            <a:r>
              <a:rPr lang="zh-CN" altLang="en-US" b="1"/>
              <a:t>                </a:t>
            </a:r>
            <a:r>
              <a:rPr lang="en-US" altLang="zh-CN" b="1"/>
              <a:t>x*(yΔz)=(x*y) Δ(x*z)</a:t>
            </a:r>
          </a:p>
          <a:p>
            <a:pPr algn="just">
              <a:lnSpc>
                <a:spcPct val="130000"/>
              </a:lnSpc>
            </a:pPr>
            <a:r>
              <a:rPr lang="en-US" altLang="zh-CN" b="1"/>
              <a:t>                (yΔz)*x=(y*x) Δ(z*x)      </a:t>
            </a:r>
          </a:p>
          <a:p>
            <a:pPr algn="just">
              <a:lnSpc>
                <a:spcPct val="130000"/>
              </a:lnSpc>
            </a:pPr>
            <a:r>
              <a:rPr lang="zh-CN" altLang="en-US" b="1"/>
              <a:t>则称*对于</a:t>
            </a:r>
            <a:r>
              <a:rPr lang="en-US" altLang="zh-CN" b="1"/>
              <a:t>Δ</a:t>
            </a:r>
            <a:r>
              <a:rPr lang="zh-CN" altLang="en-US" b="1"/>
              <a:t>是</a:t>
            </a:r>
            <a:r>
              <a:rPr lang="zh-CN" altLang="en-US" b="1" i="1">
                <a:solidFill>
                  <a:schemeClr val="hlink"/>
                </a:solidFill>
              </a:rPr>
              <a:t>可分配的</a:t>
            </a:r>
            <a:r>
              <a:rPr lang="zh-CN" altLang="en-US" b="1"/>
              <a:t>。</a:t>
            </a:r>
          </a:p>
        </p:txBody>
      </p:sp>
      <p:sp>
        <p:nvSpPr>
          <p:cNvPr id="357379" name="Rectangle 3"/>
          <p:cNvSpPr>
            <a:spLocks noChangeArrowheads="1"/>
          </p:cNvSpPr>
          <p:nvPr/>
        </p:nvSpPr>
        <p:spPr bwMode="auto">
          <a:xfrm>
            <a:off x="539750" y="3362325"/>
            <a:ext cx="7916863" cy="1532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l">
              <a:lnSpc>
                <a:spcPct val="130000"/>
              </a:lnSpc>
              <a:buClr>
                <a:srgbClr val="FF3300"/>
              </a:buClr>
              <a:buSzPct val="85000"/>
              <a:buFont typeface="Wingdings" pitchFamily="2" charset="2"/>
              <a:buNone/>
            </a:pPr>
            <a:r>
              <a:rPr kumimoji="0" lang="zh-CN" altLang="en-US" b="1" dirty="0">
                <a:solidFill>
                  <a:schemeClr val="hlink"/>
                </a:solidFill>
              </a:rPr>
              <a:t>例</a:t>
            </a:r>
            <a:r>
              <a:rPr lang="zh-CN" altLang="en-US" b="1" dirty="0" smtClean="0">
                <a:solidFill>
                  <a:schemeClr val="hlink"/>
                </a:solidFill>
              </a:rPr>
              <a:t>如</a:t>
            </a:r>
            <a:r>
              <a:rPr lang="zh-CN" altLang="en-US" b="1" dirty="0">
                <a:solidFill>
                  <a:schemeClr val="hlink"/>
                </a:solidFill>
              </a:rPr>
              <a:t>：</a:t>
            </a:r>
          </a:p>
          <a:p>
            <a:pPr marL="342900" indent="-342900" algn="l">
              <a:lnSpc>
                <a:spcPct val="130000"/>
              </a:lnSpc>
              <a:buClr>
                <a:srgbClr val="FF3300"/>
              </a:buClr>
              <a:buSzPct val="85000"/>
              <a:buFont typeface="Wingdings" pitchFamily="2" charset="2"/>
              <a:buNone/>
            </a:pPr>
            <a:r>
              <a:rPr lang="en-US" altLang="zh-CN" b="1" dirty="0">
                <a:ea typeface="楷体_GB2312" pitchFamily="49" charset="-122"/>
              </a:rPr>
              <a:t>(1) N</a:t>
            </a:r>
            <a:r>
              <a:rPr lang="zh-CN" altLang="en-US" b="1" dirty="0">
                <a:ea typeface="楷体_GB2312" pitchFamily="49" charset="-122"/>
              </a:rPr>
              <a:t>、</a:t>
            </a:r>
            <a:r>
              <a:rPr lang="en-US" altLang="zh-CN" b="1" dirty="0">
                <a:ea typeface="楷体_GB2312" pitchFamily="49" charset="-122"/>
              </a:rPr>
              <a:t>Z</a:t>
            </a:r>
            <a:r>
              <a:rPr lang="zh-CN" altLang="en-US" b="1" dirty="0">
                <a:ea typeface="楷体_GB2312" pitchFamily="49" charset="-122"/>
              </a:rPr>
              <a:t>、</a:t>
            </a:r>
            <a:r>
              <a:rPr lang="en-US" altLang="zh-CN" b="1" dirty="0">
                <a:ea typeface="楷体_GB2312" pitchFamily="49" charset="-122"/>
              </a:rPr>
              <a:t>Q</a:t>
            </a:r>
            <a:r>
              <a:rPr lang="zh-CN" altLang="en-US" b="1" dirty="0">
                <a:ea typeface="楷体_GB2312" pitchFamily="49" charset="-122"/>
              </a:rPr>
              <a:t>、</a:t>
            </a:r>
            <a:r>
              <a:rPr lang="en-US" altLang="zh-CN" b="1" dirty="0">
                <a:ea typeface="楷体_GB2312" pitchFamily="49" charset="-122"/>
              </a:rPr>
              <a:t>R</a:t>
            </a:r>
            <a:r>
              <a:rPr lang="zh-CN" altLang="en-US" b="1" dirty="0">
                <a:ea typeface="楷体_GB2312" pitchFamily="49" charset="-122"/>
              </a:rPr>
              <a:t>集合上的乘法对加法。</a:t>
            </a:r>
          </a:p>
          <a:p>
            <a:pPr marL="342900" indent="-342900" algn="l">
              <a:lnSpc>
                <a:spcPct val="130000"/>
              </a:lnSpc>
              <a:buClr>
                <a:srgbClr val="FF3300"/>
              </a:buClr>
              <a:buSzPct val="85000"/>
              <a:buFont typeface="Wingdings" pitchFamily="2" charset="2"/>
              <a:buNone/>
            </a:pPr>
            <a:r>
              <a:rPr lang="en-US" altLang="zh-CN" b="1" dirty="0">
                <a:ea typeface="楷体_GB2312" pitchFamily="49" charset="-122"/>
              </a:rPr>
              <a:t>(2) </a:t>
            </a:r>
            <a:r>
              <a:rPr lang="zh-CN" altLang="en-US" b="1" dirty="0">
                <a:ea typeface="楷体_GB2312" pitchFamily="49" charset="-122"/>
              </a:rPr>
              <a:t>集合上的</a:t>
            </a:r>
            <a:r>
              <a:rPr lang="zh-CN" altLang="en-US" b="1" dirty="0">
                <a:solidFill>
                  <a:schemeClr val="hlink"/>
                </a:solidFill>
                <a:ea typeface="楷体_GB2312" pitchFamily="49" charset="-122"/>
              </a:rPr>
              <a:t>∪</a:t>
            </a:r>
            <a:r>
              <a:rPr lang="zh-CN" altLang="en-US" b="1" dirty="0">
                <a:ea typeface="楷体_GB2312" pitchFamily="49" charset="-122"/>
              </a:rPr>
              <a:t>、</a:t>
            </a:r>
            <a:r>
              <a:rPr lang="zh-CN" altLang="en-US" b="1" dirty="0">
                <a:solidFill>
                  <a:schemeClr val="hlink"/>
                </a:solidFill>
                <a:ea typeface="楷体_GB2312" pitchFamily="49" charset="-122"/>
              </a:rPr>
              <a:t>∩</a:t>
            </a:r>
            <a:r>
              <a:rPr lang="zh-CN" altLang="en-US" b="1" dirty="0">
                <a:ea typeface="楷体_GB2312" pitchFamily="49" charset="-122"/>
              </a:rPr>
              <a:t>互相可分配。</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57379">
                                            <p:txEl>
                                              <p:pRg st="0" end="0"/>
                                            </p:txEl>
                                          </p:spTgt>
                                        </p:tgtEl>
                                        <p:attrNameLst>
                                          <p:attrName>style.visibility</p:attrName>
                                        </p:attrNameLst>
                                      </p:cBhvr>
                                      <p:to>
                                        <p:strVal val="visible"/>
                                      </p:to>
                                    </p:set>
                                    <p:anim calcmode="lin" valueType="num">
                                      <p:cBhvr additive="base">
                                        <p:cTn id="7" dur="500" fill="hold"/>
                                        <p:tgtEl>
                                          <p:spTgt spid="3573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73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57379">
                                            <p:txEl>
                                              <p:pRg st="1" end="1"/>
                                            </p:txEl>
                                          </p:spTgt>
                                        </p:tgtEl>
                                        <p:attrNameLst>
                                          <p:attrName>style.visibility</p:attrName>
                                        </p:attrNameLst>
                                      </p:cBhvr>
                                      <p:to>
                                        <p:strVal val="visible"/>
                                      </p:to>
                                    </p:set>
                                    <p:anim calcmode="lin" valueType="num">
                                      <p:cBhvr additive="base">
                                        <p:cTn id="13" dur="500" fill="hold"/>
                                        <p:tgtEl>
                                          <p:spTgt spid="35737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737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57379">
                                            <p:txEl>
                                              <p:pRg st="2" end="2"/>
                                            </p:txEl>
                                          </p:spTgt>
                                        </p:tgtEl>
                                        <p:attrNameLst>
                                          <p:attrName>style.visibility</p:attrName>
                                        </p:attrNameLst>
                                      </p:cBhvr>
                                      <p:to>
                                        <p:strVal val="visible"/>
                                      </p:to>
                                    </p:set>
                                    <p:anim calcmode="lin" valueType="num">
                                      <p:cBhvr additive="base">
                                        <p:cTn id="19" dur="500" fill="hold"/>
                                        <p:tgtEl>
                                          <p:spTgt spid="35737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737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7379" grpId="0" uiExpand="1"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576EC653-8A77-4E4D-B127-96F9565BC8F5}" type="slidenum">
              <a:rPr lang="en-US" altLang="zh-CN"/>
              <a:pPr/>
              <a:t>13</a:t>
            </a:fld>
            <a:endParaRPr lang="en-US" altLang="zh-CN"/>
          </a:p>
        </p:txBody>
      </p:sp>
      <p:sp>
        <p:nvSpPr>
          <p:cNvPr id="359427" name="Text Box 3"/>
          <p:cNvSpPr txBox="1">
            <a:spLocks noChangeArrowheads="1"/>
          </p:cNvSpPr>
          <p:nvPr/>
        </p:nvSpPr>
        <p:spPr bwMode="auto">
          <a:xfrm>
            <a:off x="539750" y="981075"/>
            <a:ext cx="7916863"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0000"/>
              </a:lnSpc>
            </a:pPr>
            <a:r>
              <a:rPr lang="zh-CN" altLang="en-US" b="1">
                <a:solidFill>
                  <a:schemeClr val="hlink"/>
                </a:solidFill>
              </a:rPr>
              <a:t>定义</a:t>
            </a:r>
            <a:r>
              <a:rPr lang="en-US" altLang="zh-CN" b="1">
                <a:solidFill>
                  <a:schemeClr val="hlink"/>
                </a:solidFill>
              </a:rPr>
              <a:t>5-2.5</a:t>
            </a:r>
            <a:r>
              <a:rPr lang="zh-CN" altLang="en-US" b="1">
                <a:solidFill>
                  <a:schemeClr val="hlink"/>
                </a:solidFill>
              </a:rPr>
              <a:t>：</a:t>
            </a:r>
            <a:r>
              <a:rPr lang="zh-CN" altLang="en-US" b="1"/>
              <a:t>设</a:t>
            </a:r>
            <a:r>
              <a:rPr lang="en-US" altLang="zh-CN" b="1"/>
              <a:t>Δ</a:t>
            </a:r>
            <a:r>
              <a:rPr lang="zh-CN" altLang="en-US" b="1"/>
              <a:t>、*是可交换二元运算，对于任意的</a:t>
            </a:r>
            <a:r>
              <a:rPr lang="en-US" altLang="zh-CN" b="1"/>
              <a:t>x</a:t>
            </a:r>
            <a:r>
              <a:rPr lang="zh-CN" altLang="en-US" b="1"/>
              <a:t>，</a:t>
            </a:r>
            <a:r>
              <a:rPr lang="en-US" altLang="zh-CN" b="1"/>
              <a:t>y∈A</a:t>
            </a:r>
            <a:r>
              <a:rPr lang="zh-CN" altLang="en-US" b="1"/>
              <a:t>，都有</a:t>
            </a:r>
          </a:p>
          <a:p>
            <a:pPr algn="just">
              <a:lnSpc>
                <a:spcPct val="120000"/>
              </a:lnSpc>
            </a:pPr>
            <a:r>
              <a:rPr lang="zh-CN" altLang="en-US" b="1"/>
              <a:t>            </a:t>
            </a:r>
            <a:r>
              <a:rPr lang="en-US" altLang="zh-CN" b="1"/>
              <a:t>x*(xΔy)=x</a:t>
            </a:r>
          </a:p>
          <a:p>
            <a:pPr algn="just">
              <a:lnSpc>
                <a:spcPct val="120000"/>
              </a:lnSpc>
            </a:pPr>
            <a:r>
              <a:rPr lang="en-US" altLang="zh-CN" b="1"/>
              <a:t>            xΔ(x*y)=x           </a:t>
            </a:r>
          </a:p>
          <a:p>
            <a:pPr algn="just">
              <a:lnSpc>
                <a:spcPct val="120000"/>
              </a:lnSpc>
            </a:pPr>
            <a:r>
              <a:rPr lang="zh-CN" altLang="en-US" b="1"/>
              <a:t>称*，</a:t>
            </a:r>
            <a:r>
              <a:rPr lang="en-US" altLang="zh-CN" b="1"/>
              <a:t>Δ</a:t>
            </a:r>
            <a:r>
              <a:rPr lang="zh-CN" altLang="en-US" b="1"/>
              <a:t>满足</a:t>
            </a:r>
            <a:r>
              <a:rPr lang="zh-CN" altLang="en-US" b="1" i="1">
                <a:solidFill>
                  <a:schemeClr val="hlink"/>
                </a:solidFill>
              </a:rPr>
              <a:t>吸收律</a:t>
            </a:r>
            <a:r>
              <a:rPr lang="zh-CN" altLang="en-US" b="1"/>
              <a:t>。</a:t>
            </a:r>
          </a:p>
        </p:txBody>
      </p:sp>
      <p:sp>
        <p:nvSpPr>
          <p:cNvPr id="359432" name="Rectangle 8"/>
          <p:cNvSpPr>
            <a:spLocks noChangeArrowheads="1"/>
          </p:cNvSpPr>
          <p:nvPr/>
        </p:nvSpPr>
        <p:spPr bwMode="auto">
          <a:xfrm>
            <a:off x="539750" y="3300413"/>
            <a:ext cx="7916863"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l">
              <a:lnSpc>
                <a:spcPct val="120000"/>
              </a:lnSpc>
              <a:buClr>
                <a:srgbClr val="FF3300"/>
              </a:buClr>
              <a:buSzPct val="85000"/>
              <a:buFont typeface="Wingdings" pitchFamily="2" charset="2"/>
              <a:buNone/>
            </a:pPr>
            <a:r>
              <a:rPr kumimoji="0" lang="zh-CN" altLang="en-US" b="1" dirty="0">
                <a:solidFill>
                  <a:schemeClr val="hlink"/>
                </a:solidFill>
              </a:rPr>
              <a:t>例</a:t>
            </a:r>
            <a:r>
              <a:rPr lang="zh-CN" altLang="en-US" b="1" dirty="0" smtClean="0">
                <a:solidFill>
                  <a:schemeClr val="hlink"/>
                </a:solidFill>
              </a:rPr>
              <a:t>如</a:t>
            </a:r>
            <a:r>
              <a:rPr lang="zh-CN" altLang="en-US" b="1" dirty="0">
                <a:solidFill>
                  <a:schemeClr val="hlink"/>
                </a:solidFill>
              </a:rPr>
              <a:t>：</a:t>
            </a:r>
            <a:r>
              <a:rPr lang="zh-CN" altLang="en-US" b="1" dirty="0">
                <a:solidFill>
                  <a:srgbClr val="990099"/>
                </a:solidFill>
                <a:ea typeface="楷体_GB2312" pitchFamily="49" charset="-122"/>
              </a:rPr>
              <a:t> </a:t>
            </a:r>
            <a:r>
              <a:rPr lang="zh-CN" altLang="en-US" b="1" dirty="0">
                <a:ea typeface="楷体_GB2312" pitchFamily="49" charset="-122"/>
              </a:rPr>
              <a:t>集合上的</a:t>
            </a:r>
            <a:r>
              <a:rPr lang="zh-CN" altLang="en-US" b="1" dirty="0">
                <a:solidFill>
                  <a:schemeClr val="hlink"/>
                </a:solidFill>
                <a:ea typeface="楷体_GB2312" pitchFamily="49" charset="-122"/>
              </a:rPr>
              <a:t>∪</a:t>
            </a:r>
            <a:r>
              <a:rPr lang="zh-CN" altLang="en-US" b="1" dirty="0">
                <a:ea typeface="楷体_GB2312" pitchFamily="49" charset="-122"/>
              </a:rPr>
              <a:t>和</a:t>
            </a:r>
            <a:r>
              <a:rPr lang="zh-CN" altLang="en-US" b="1" dirty="0">
                <a:solidFill>
                  <a:schemeClr val="hlink"/>
                </a:solidFill>
                <a:ea typeface="楷体_GB2312" pitchFamily="49" charset="-122"/>
              </a:rPr>
              <a:t>∩</a:t>
            </a:r>
            <a:r>
              <a:rPr lang="zh-CN" altLang="en-US" b="1" dirty="0">
                <a:ea typeface="楷体_GB2312" pitchFamily="49" charset="-122"/>
              </a:rPr>
              <a:t>满足吸收律。</a:t>
            </a:r>
          </a:p>
        </p:txBody>
      </p:sp>
      <p:sp>
        <p:nvSpPr>
          <p:cNvPr id="359433" name="Rectangle 9"/>
          <p:cNvSpPr>
            <a:spLocks noChangeArrowheads="1"/>
          </p:cNvSpPr>
          <p:nvPr/>
        </p:nvSpPr>
        <p:spPr bwMode="auto">
          <a:xfrm>
            <a:off x="539750" y="3768725"/>
            <a:ext cx="7916863" cy="140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l">
              <a:lnSpc>
                <a:spcPct val="120000"/>
              </a:lnSpc>
              <a:buClr>
                <a:srgbClr val="FF3300"/>
              </a:buClr>
              <a:buSzPct val="85000"/>
              <a:buFont typeface="Wingdings" pitchFamily="2" charset="2"/>
              <a:buNone/>
            </a:pPr>
            <a:r>
              <a:rPr lang="zh-CN" altLang="en-US" b="1"/>
              <a:t>即任意集合</a:t>
            </a:r>
            <a:r>
              <a:rPr lang="en-US" altLang="zh-CN" b="1"/>
              <a:t>A</a:t>
            </a:r>
            <a:r>
              <a:rPr lang="zh-CN" altLang="en-US" b="1"/>
              <a:t>，</a:t>
            </a:r>
            <a:r>
              <a:rPr lang="en-US" altLang="zh-CN" b="1"/>
              <a:t>B</a:t>
            </a:r>
            <a:r>
              <a:rPr lang="zh-CN" altLang="en-US" b="1"/>
              <a:t>满足</a:t>
            </a:r>
          </a:p>
          <a:p>
            <a:pPr marL="342900" indent="-342900" algn="l">
              <a:lnSpc>
                <a:spcPct val="120000"/>
              </a:lnSpc>
              <a:buClr>
                <a:srgbClr val="FF3300"/>
              </a:buClr>
              <a:buSzPct val="85000"/>
              <a:buFont typeface="Wingdings" pitchFamily="2" charset="2"/>
              <a:buNone/>
            </a:pPr>
            <a:r>
              <a:rPr lang="zh-CN" altLang="en-US">
                <a:solidFill>
                  <a:srgbClr val="990099"/>
                </a:solidFill>
                <a:ea typeface="幼圆" pitchFamily="49" charset="-122"/>
              </a:rPr>
              <a:t>  </a:t>
            </a:r>
            <a:r>
              <a:rPr lang="zh-CN" altLang="en-US">
                <a:ea typeface="幼圆" pitchFamily="49" charset="-122"/>
              </a:rPr>
              <a:t> </a:t>
            </a:r>
            <a:r>
              <a:rPr lang="en-US" altLang="zh-CN">
                <a:ea typeface="幼圆" pitchFamily="49" charset="-122"/>
              </a:rPr>
              <a:t>A </a:t>
            </a:r>
            <a:r>
              <a:rPr lang="en-US" altLang="zh-CN" b="1">
                <a:solidFill>
                  <a:schemeClr val="hlink"/>
                </a:solidFill>
                <a:ea typeface="楷体_GB2312" pitchFamily="49" charset="-122"/>
              </a:rPr>
              <a:t>∪</a:t>
            </a:r>
            <a:r>
              <a:rPr lang="en-US" altLang="zh-CN">
                <a:ea typeface="幼圆" pitchFamily="49" charset="-122"/>
              </a:rPr>
              <a:t>(A</a:t>
            </a:r>
            <a:r>
              <a:rPr lang="en-US" altLang="zh-CN">
                <a:solidFill>
                  <a:srgbClr val="990099"/>
                </a:solidFill>
                <a:ea typeface="幼圆" pitchFamily="49" charset="-122"/>
              </a:rPr>
              <a:t> </a:t>
            </a:r>
            <a:r>
              <a:rPr lang="en-US" altLang="zh-CN" b="1">
                <a:solidFill>
                  <a:schemeClr val="hlink"/>
                </a:solidFill>
                <a:ea typeface="楷体_GB2312" pitchFamily="49" charset="-122"/>
              </a:rPr>
              <a:t>∩</a:t>
            </a:r>
            <a:r>
              <a:rPr lang="en-US" altLang="zh-CN">
                <a:solidFill>
                  <a:srgbClr val="990099"/>
                </a:solidFill>
                <a:ea typeface="幼圆" pitchFamily="49" charset="-122"/>
              </a:rPr>
              <a:t> </a:t>
            </a:r>
            <a:r>
              <a:rPr lang="en-US" altLang="zh-CN">
                <a:ea typeface="幼圆" pitchFamily="49" charset="-122"/>
              </a:rPr>
              <a:t>B) =A</a:t>
            </a:r>
            <a:endParaRPr lang="en-US" altLang="zh-CN" b="1">
              <a:ea typeface="幼圆" pitchFamily="49" charset="-122"/>
            </a:endParaRPr>
          </a:p>
          <a:p>
            <a:pPr marL="342900" indent="-342900" algn="l">
              <a:lnSpc>
                <a:spcPct val="120000"/>
              </a:lnSpc>
              <a:buClr>
                <a:srgbClr val="FF3300"/>
              </a:buClr>
              <a:buSzPct val="85000"/>
              <a:buFont typeface="Wingdings" pitchFamily="2" charset="2"/>
              <a:buNone/>
            </a:pPr>
            <a:r>
              <a:rPr lang="en-US" altLang="zh-CN">
                <a:solidFill>
                  <a:srgbClr val="990099"/>
                </a:solidFill>
                <a:ea typeface="幼圆" pitchFamily="49" charset="-122"/>
              </a:rPr>
              <a:t>  </a:t>
            </a:r>
            <a:r>
              <a:rPr lang="en-US" altLang="zh-CN">
                <a:ea typeface="幼圆" pitchFamily="49" charset="-122"/>
              </a:rPr>
              <a:t> A </a:t>
            </a:r>
            <a:r>
              <a:rPr lang="en-US" altLang="zh-CN" b="1">
                <a:solidFill>
                  <a:schemeClr val="hlink"/>
                </a:solidFill>
                <a:ea typeface="楷体_GB2312" pitchFamily="49" charset="-122"/>
              </a:rPr>
              <a:t>∩</a:t>
            </a:r>
            <a:r>
              <a:rPr lang="en-US" altLang="zh-CN">
                <a:ea typeface="幼圆" pitchFamily="49" charset="-122"/>
              </a:rPr>
              <a:t>(A</a:t>
            </a:r>
            <a:r>
              <a:rPr lang="en-US" altLang="zh-CN">
                <a:solidFill>
                  <a:srgbClr val="990099"/>
                </a:solidFill>
                <a:ea typeface="幼圆" pitchFamily="49" charset="-122"/>
              </a:rPr>
              <a:t> </a:t>
            </a:r>
            <a:r>
              <a:rPr lang="en-US" altLang="zh-CN" b="1">
                <a:solidFill>
                  <a:schemeClr val="hlink"/>
                </a:solidFill>
                <a:ea typeface="楷体_GB2312" pitchFamily="49" charset="-122"/>
              </a:rPr>
              <a:t>∪</a:t>
            </a:r>
            <a:r>
              <a:rPr lang="en-US" altLang="zh-CN">
                <a:solidFill>
                  <a:srgbClr val="990099"/>
                </a:solidFill>
                <a:ea typeface="幼圆" pitchFamily="49" charset="-122"/>
              </a:rPr>
              <a:t> </a:t>
            </a:r>
            <a:r>
              <a:rPr lang="en-US" altLang="zh-CN">
                <a:ea typeface="幼圆" pitchFamily="49" charset="-122"/>
              </a:rPr>
              <a:t>B) =A</a:t>
            </a:r>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59432"/>
                                        </p:tgtEl>
                                        <p:attrNameLst>
                                          <p:attrName>style.visibility</p:attrName>
                                        </p:attrNameLst>
                                      </p:cBhvr>
                                      <p:to>
                                        <p:strVal val="visible"/>
                                      </p:to>
                                    </p:set>
                                    <p:anim calcmode="lin" valueType="num">
                                      <p:cBhvr additive="base">
                                        <p:cTn id="7" dur="500" fill="hold"/>
                                        <p:tgtEl>
                                          <p:spTgt spid="359432"/>
                                        </p:tgtEl>
                                        <p:attrNameLst>
                                          <p:attrName>ppt_x</p:attrName>
                                        </p:attrNameLst>
                                      </p:cBhvr>
                                      <p:tavLst>
                                        <p:tav tm="0">
                                          <p:val>
                                            <p:strVal val="#ppt_x"/>
                                          </p:val>
                                        </p:tav>
                                        <p:tav tm="100000">
                                          <p:val>
                                            <p:strVal val="#ppt_x"/>
                                          </p:val>
                                        </p:tav>
                                      </p:tavLst>
                                    </p:anim>
                                    <p:anim calcmode="lin" valueType="num">
                                      <p:cBhvr additive="base">
                                        <p:cTn id="8" dur="500" fill="hold"/>
                                        <p:tgtEl>
                                          <p:spTgt spid="35943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59433"/>
                                        </p:tgtEl>
                                        <p:attrNameLst>
                                          <p:attrName>style.visibility</p:attrName>
                                        </p:attrNameLst>
                                      </p:cBhvr>
                                      <p:to>
                                        <p:strVal val="visible"/>
                                      </p:to>
                                    </p:set>
                                    <p:anim calcmode="lin" valueType="num">
                                      <p:cBhvr additive="base">
                                        <p:cTn id="13" dur="500" fill="hold"/>
                                        <p:tgtEl>
                                          <p:spTgt spid="359433"/>
                                        </p:tgtEl>
                                        <p:attrNameLst>
                                          <p:attrName>ppt_x</p:attrName>
                                        </p:attrNameLst>
                                      </p:cBhvr>
                                      <p:tavLst>
                                        <p:tav tm="0">
                                          <p:val>
                                            <p:strVal val="#ppt_x"/>
                                          </p:val>
                                        </p:tav>
                                        <p:tav tm="100000">
                                          <p:val>
                                            <p:strVal val="#ppt_x"/>
                                          </p:val>
                                        </p:tav>
                                      </p:tavLst>
                                    </p:anim>
                                    <p:anim calcmode="lin" valueType="num">
                                      <p:cBhvr additive="base">
                                        <p:cTn id="14" dur="500" fill="hold"/>
                                        <p:tgtEl>
                                          <p:spTgt spid="3594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432" grpId="0" autoUpdateAnimBg="0"/>
      <p:bldP spid="359433"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29693B5E-D0F8-4AB1-84D4-F32AFD235638}" type="slidenum">
              <a:rPr lang="en-US" altLang="zh-CN"/>
              <a:pPr/>
              <a:t>14</a:t>
            </a:fld>
            <a:endParaRPr lang="en-US" altLang="zh-CN"/>
          </a:p>
        </p:txBody>
      </p:sp>
      <p:sp>
        <p:nvSpPr>
          <p:cNvPr id="361474" name="Text Box 2"/>
          <p:cNvSpPr txBox="1">
            <a:spLocks noChangeArrowheads="1"/>
          </p:cNvSpPr>
          <p:nvPr/>
        </p:nvSpPr>
        <p:spPr bwMode="auto">
          <a:xfrm>
            <a:off x="539750" y="987425"/>
            <a:ext cx="7916863"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30000"/>
              </a:lnSpc>
            </a:pPr>
            <a:r>
              <a:rPr lang="zh-CN" altLang="en-US" b="1" dirty="0">
                <a:solidFill>
                  <a:srgbClr val="FF0000"/>
                </a:solidFill>
              </a:rPr>
              <a:t>定义</a:t>
            </a:r>
            <a:r>
              <a:rPr lang="en-US" altLang="zh-CN" b="1" dirty="0">
                <a:solidFill>
                  <a:srgbClr val="FF0000"/>
                </a:solidFill>
              </a:rPr>
              <a:t>5-2.6</a:t>
            </a:r>
            <a:r>
              <a:rPr lang="zh-CN" altLang="en-US" b="1" dirty="0">
                <a:solidFill>
                  <a:srgbClr val="FF0000"/>
                </a:solidFill>
              </a:rPr>
              <a:t>：</a:t>
            </a:r>
            <a:r>
              <a:rPr lang="zh-CN" altLang="en-US" b="1" dirty="0"/>
              <a:t>设*是定义在集合</a:t>
            </a:r>
            <a:r>
              <a:rPr lang="en-US" altLang="zh-CN" b="1" dirty="0"/>
              <a:t>A</a:t>
            </a:r>
            <a:r>
              <a:rPr lang="zh-CN" altLang="en-US" b="1" dirty="0"/>
              <a:t>上的一个二元运算，如果对于任意的</a:t>
            </a:r>
            <a:r>
              <a:rPr lang="en-US" altLang="zh-CN" b="1" dirty="0" err="1"/>
              <a:t>x∈A</a:t>
            </a:r>
            <a:r>
              <a:rPr lang="zh-CN" altLang="en-US" b="1" dirty="0"/>
              <a:t>，都有</a:t>
            </a:r>
            <a:r>
              <a:rPr lang="en-US" altLang="zh-CN" b="1" dirty="0"/>
              <a:t>x*x=x</a:t>
            </a:r>
            <a:r>
              <a:rPr lang="zh-CN" altLang="en-US" b="1" dirty="0"/>
              <a:t>，则称运算*是</a:t>
            </a:r>
            <a:r>
              <a:rPr lang="zh-CN" altLang="en-US" b="1" i="1" dirty="0">
                <a:solidFill>
                  <a:srgbClr val="FF0000"/>
                </a:solidFill>
              </a:rPr>
              <a:t>等幂的</a:t>
            </a:r>
            <a:r>
              <a:rPr lang="zh-CN" altLang="en-US" b="1" dirty="0"/>
              <a:t>。</a:t>
            </a:r>
          </a:p>
        </p:txBody>
      </p:sp>
      <p:sp>
        <p:nvSpPr>
          <p:cNvPr id="361480" name="Rectangle 8"/>
          <p:cNvSpPr>
            <a:spLocks noChangeArrowheads="1"/>
          </p:cNvSpPr>
          <p:nvPr/>
        </p:nvSpPr>
        <p:spPr bwMode="auto">
          <a:xfrm>
            <a:off x="539750" y="1943100"/>
            <a:ext cx="7916863"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buClr>
                <a:srgbClr val="FF3300"/>
              </a:buClr>
              <a:buSzPct val="85000"/>
              <a:buFont typeface="Wingdings" pitchFamily="2" charset="2"/>
              <a:buNone/>
            </a:pPr>
            <a:r>
              <a:rPr lang="zh-CN" altLang="en-US" b="1">
                <a:solidFill>
                  <a:srgbClr val="FF0000"/>
                </a:solidFill>
              </a:rPr>
              <a:t>考察下列运算在指定集合上是否是等幂的</a:t>
            </a:r>
            <a:r>
              <a:rPr lang="en-US" altLang="zh-CN" b="1">
                <a:solidFill>
                  <a:srgbClr val="FF0000"/>
                </a:solidFill>
              </a:rPr>
              <a:t>?</a:t>
            </a:r>
          </a:p>
          <a:p>
            <a:pPr algn="l">
              <a:lnSpc>
                <a:spcPct val="130000"/>
              </a:lnSpc>
              <a:buClr>
                <a:srgbClr val="FF3300"/>
              </a:buClr>
              <a:buSzPct val="85000"/>
              <a:buFont typeface="Wingdings" pitchFamily="2" charset="2"/>
              <a:buNone/>
            </a:pPr>
            <a:r>
              <a:rPr lang="en-US" altLang="zh-CN" b="1">
                <a:ea typeface="楷体_GB2312" pitchFamily="49" charset="-122"/>
              </a:rPr>
              <a:t>(1) N</a:t>
            </a:r>
            <a:r>
              <a:rPr lang="zh-CN" altLang="en-US" b="1">
                <a:ea typeface="楷体_GB2312" pitchFamily="49" charset="-122"/>
              </a:rPr>
              <a:t>、</a:t>
            </a:r>
            <a:r>
              <a:rPr lang="en-US" altLang="zh-CN" b="1">
                <a:ea typeface="楷体_GB2312" pitchFamily="49" charset="-122"/>
              </a:rPr>
              <a:t>Z</a:t>
            </a:r>
            <a:r>
              <a:rPr lang="zh-CN" altLang="en-US" b="1">
                <a:ea typeface="楷体_GB2312" pitchFamily="49" charset="-122"/>
              </a:rPr>
              <a:t>、</a:t>
            </a:r>
            <a:r>
              <a:rPr lang="en-US" altLang="zh-CN" b="1">
                <a:ea typeface="楷体_GB2312" pitchFamily="49" charset="-122"/>
              </a:rPr>
              <a:t>Q</a:t>
            </a:r>
            <a:r>
              <a:rPr lang="zh-CN" altLang="en-US" b="1">
                <a:ea typeface="楷体_GB2312" pitchFamily="49" charset="-122"/>
              </a:rPr>
              <a:t>、</a:t>
            </a:r>
            <a:r>
              <a:rPr lang="en-US" altLang="zh-CN" b="1">
                <a:ea typeface="楷体_GB2312" pitchFamily="49" charset="-122"/>
              </a:rPr>
              <a:t>R</a:t>
            </a:r>
            <a:r>
              <a:rPr lang="zh-CN" altLang="en-US" b="1">
                <a:ea typeface="楷体_GB2312" pitchFamily="49" charset="-122"/>
              </a:rPr>
              <a:t>集合上的加、乘。</a:t>
            </a:r>
          </a:p>
          <a:p>
            <a:pPr algn="l">
              <a:lnSpc>
                <a:spcPct val="130000"/>
              </a:lnSpc>
              <a:buClr>
                <a:srgbClr val="FF3300"/>
              </a:buClr>
              <a:buSzPct val="85000"/>
              <a:buFont typeface="Wingdings" pitchFamily="2" charset="2"/>
              <a:buNone/>
            </a:pPr>
            <a:r>
              <a:rPr lang="en-US" altLang="zh-CN" b="1">
                <a:ea typeface="楷体_GB2312" pitchFamily="49" charset="-122"/>
              </a:rPr>
              <a:t>(2) n</a:t>
            </a:r>
            <a:r>
              <a:rPr lang="zh-CN" altLang="en-US" b="1">
                <a:ea typeface="楷体_GB2312" pitchFamily="49" charset="-122"/>
              </a:rPr>
              <a:t>阶实矩阵上的加、乘。</a:t>
            </a:r>
          </a:p>
          <a:p>
            <a:pPr algn="l">
              <a:lnSpc>
                <a:spcPct val="130000"/>
              </a:lnSpc>
              <a:buClr>
                <a:srgbClr val="FF3300"/>
              </a:buClr>
              <a:buSzPct val="85000"/>
              <a:buFont typeface="Wingdings" pitchFamily="2" charset="2"/>
              <a:buNone/>
            </a:pPr>
            <a:r>
              <a:rPr lang="en-US" altLang="zh-CN" b="1">
                <a:ea typeface="楷体_GB2312" pitchFamily="49" charset="-122"/>
              </a:rPr>
              <a:t>(3) </a:t>
            </a:r>
            <a:r>
              <a:rPr lang="zh-CN" altLang="en-US" b="1">
                <a:ea typeface="楷体_GB2312" pitchFamily="49" charset="-122"/>
              </a:rPr>
              <a:t>集合</a:t>
            </a:r>
            <a:r>
              <a:rPr lang="en-US" altLang="zh-CN" b="1">
                <a:ea typeface="楷体_GB2312" pitchFamily="49" charset="-122"/>
              </a:rPr>
              <a:t>S</a:t>
            </a:r>
            <a:r>
              <a:rPr lang="zh-CN" altLang="en-US" b="1">
                <a:ea typeface="楷体_GB2312" pitchFamily="49" charset="-122"/>
              </a:rPr>
              <a:t>的幂集上的</a:t>
            </a:r>
            <a:r>
              <a:rPr lang="zh-CN" altLang="en-US" b="1">
                <a:solidFill>
                  <a:srgbClr val="FF0000"/>
                </a:solidFill>
                <a:ea typeface="楷体_GB2312" pitchFamily="49" charset="-122"/>
              </a:rPr>
              <a:t>∪</a:t>
            </a:r>
            <a:r>
              <a:rPr lang="zh-CN" altLang="en-US" b="1">
                <a:ea typeface="楷体_GB2312" pitchFamily="49" charset="-122"/>
              </a:rPr>
              <a:t>、</a:t>
            </a:r>
            <a:r>
              <a:rPr lang="zh-CN" altLang="en-US" b="1">
                <a:solidFill>
                  <a:srgbClr val="FF0000"/>
                </a:solidFill>
                <a:ea typeface="楷体_GB2312" pitchFamily="49" charset="-122"/>
              </a:rPr>
              <a:t>∩</a:t>
            </a:r>
            <a:r>
              <a:rPr lang="zh-CN" altLang="en-US" b="1">
                <a:ea typeface="楷体_GB2312" pitchFamily="49" charset="-122"/>
              </a:rPr>
              <a:t>、 </a:t>
            </a:r>
            <a:r>
              <a:rPr lang="zh-CN" altLang="en-US">
                <a:ea typeface="幼圆" pitchFamily="49" charset="-122"/>
                <a:sym typeface="Symbol" pitchFamily="18" charset="2"/>
              </a:rPr>
              <a:t></a:t>
            </a:r>
            <a:r>
              <a:rPr lang="zh-CN" altLang="en-US" b="1">
                <a:ea typeface="楷体_GB2312" pitchFamily="49" charset="-122"/>
              </a:rPr>
              <a:t>  、</a:t>
            </a:r>
            <a:r>
              <a:rPr lang="en-US" altLang="zh-CN" b="1">
                <a:ea typeface="楷体_GB2312" pitchFamily="49" charset="-122"/>
              </a:rPr>
              <a:t>-</a:t>
            </a:r>
            <a:r>
              <a:rPr lang="zh-CN" altLang="en-US" b="1">
                <a:ea typeface="楷体_GB2312" pitchFamily="49" charset="-122"/>
              </a:rPr>
              <a:t>。</a:t>
            </a:r>
          </a:p>
        </p:txBody>
      </p:sp>
      <p:sp>
        <p:nvSpPr>
          <p:cNvPr id="361483" name="Text Box 11"/>
          <p:cNvSpPr txBox="1">
            <a:spLocks noChangeArrowheads="1"/>
          </p:cNvSpPr>
          <p:nvPr/>
        </p:nvSpPr>
        <p:spPr bwMode="auto">
          <a:xfrm>
            <a:off x="539750" y="4149725"/>
            <a:ext cx="7916863"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lnSpc>
                <a:spcPct val="130000"/>
              </a:lnSpc>
              <a:buClr>
                <a:srgbClr val="990099"/>
              </a:buClr>
              <a:buFont typeface="Wingdings" pitchFamily="2" charset="2"/>
              <a:buChar char="Ø"/>
            </a:pPr>
            <a:r>
              <a:rPr lang="en-US" altLang="zh-CN" b="1"/>
              <a:t>   </a:t>
            </a:r>
            <a:r>
              <a:rPr lang="zh-CN" altLang="en-US" b="1"/>
              <a:t>若</a:t>
            </a:r>
            <a:r>
              <a:rPr lang="en-US" altLang="zh-CN" b="1"/>
              <a:t>x</a:t>
            </a:r>
            <a:r>
              <a:rPr lang="zh-CN" altLang="en-US" b="1"/>
              <a:t>是</a:t>
            </a:r>
            <a:r>
              <a:rPr lang="en-US" altLang="zh-CN" b="1"/>
              <a:t>&lt;S, *&gt;</a:t>
            </a:r>
            <a:r>
              <a:rPr lang="zh-CN" altLang="en-US" b="1"/>
              <a:t>中关于*的等幂元，对于任意正整数</a:t>
            </a:r>
            <a:r>
              <a:rPr lang="en-US" altLang="zh-CN" b="1"/>
              <a:t>n</a:t>
            </a:r>
            <a:r>
              <a:rPr lang="zh-CN" altLang="en-US" b="1"/>
              <a:t>，则</a:t>
            </a:r>
            <a:r>
              <a:rPr lang="en-US" altLang="zh-CN" b="1"/>
              <a:t>x</a:t>
            </a:r>
            <a:r>
              <a:rPr lang="en-US" altLang="zh-CN" b="1" baseline="30000"/>
              <a:t>n</a:t>
            </a:r>
            <a:r>
              <a:rPr lang="en-US" altLang="zh-CN" b="1"/>
              <a:t>=x*x*…*x=x</a:t>
            </a:r>
            <a:r>
              <a:rPr lang="zh-CN" altLang="en-US" b="1"/>
              <a:t>。</a:t>
            </a:r>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1480">
                                            <p:txEl>
                                              <p:pRg st="0" end="0"/>
                                            </p:txEl>
                                          </p:spTgt>
                                        </p:tgtEl>
                                        <p:attrNameLst>
                                          <p:attrName>style.visibility</p:attrName>
                                        </p:attrNameLst>
                                      </p:cBhvr>
                                      <p:to>
                                        <p:strVal val="visible"/>
                                      </p:to>
                                    </p:set>
                                    <p:anim calcmode="lin" valueType="num">
                                      <p:cBhvr additive="base">
                                        <p:cTn id="7" dur="500" fill="hold"/>
                                        <p:tgtEl>
                                          <p:spTgt spid="36148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148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61480">
                                            <p:txEl>
                                              <p:pRg st="1" end="1"/>
                                            </p:txEl>
                                          </p:spTgt>
                                        </p:tgtEl>
                                        <p:attrNameLst>
                                          <p:attrName>style.visibility</p:attrName>
                                        </p:attrNameLst>
                                      </p:cBhvr>
                                      <p:to>
                                        <p:strVal val="visible"/>
                                      </p:to>
                                    </p:set>
                                    <p:anim calcmode="lin" valueType="num">
                                      <p:cBhvr additive="base">
                                        <p:cTn id="13" dur="500" fill="hold"/>
                                        <p:tgtEl>
                                          <p:spTgt spid="36148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1480">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61480">
                                            <p:txEl>
                                              <p:pRg st="2" end="2"/>
                                            </p:txEl>
                                          </p:spTgt>
                                        </p:tgtEl>
                                        <p:attrNameLst>
                                          <p:attrName>style.visibility</p:attrName>
                                        </p:attrNameLst>
                                      </p:cBhvr>
                                      <p:to>
                                        <p:strVal val="visible"/>
                                      </p:to>
                                    </p:set>
                                    <p:anim calcmode="lin" valueType="num">
                                      <p:cBhvr additive="base">
                                        <p:cTn id="17" dur="500" fill="hold"/>
                                        <p:tgtEl>
                                          <p:spTgt spid="361480">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61480">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61480">
                                            <p:txEl>
                                              <p:pRg st="3" end="3"/>
                                            </p:txEl>
                                          </p:spTgt>
                                        </p:tgtEl>
                                        <p:attrNameLst>
                                          <p:attrName>style.visibility</p:attrName>
                                        </p:attrNameLst>
                                      </p:cBhvr>
                                      <p:to>
                                        <p:strVal val="visible"/>
                                      </p:to>
                                    </p:set>
                                    <p:anim calcmode="lin" valueType="num">
                                      <p:cBhvr additive="base">
                                        <p:cTn id="21" dur="500" fill="hold"/>
                                        <p:tgtEl>
                                          <p:spTgt spid="361480">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6148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61483"/>
                                        </p:tgtEl>
                                        <p:attrNameLst>
                                          <p:attrName>style.visibility</p:attrName>
                                        </p:attrNameLst>
                                      </p:cBhvr>
                                      <p:to>
                                        <p:strVal val="visible"/>
                                      </p:to>
                                    </p:set>
                                    <p:anim calcmode="lin" valueType="num">
                                      <p:cBhvr additive="base">
                                        <p:cTn id="27" dur="500" fill="hold"/>
                                        <p:tgtEl>
                                          <p:spTgt spid="361483"/>
                                        </p:tgtEl>
                                        <p:attrNameLst>
                                          <p:attrName>ppt_x</p:attrName>
                                        </p:attrNameLst>
                                      </p:cBhvr>
                                      <p:tavLst>
                                        <p:tav tm="0">
                                          <p:val>
                                            <p:strVal val="#ppt_x"/>
                                          </p:val>
                                        </p:tav>
                                        <p:tav tm="100000">
                                          <p:val>
                                            <p:strVal val="#ppt_x"/>
                                          </p:val>
                                        </p:tav>
                                      </p:tavLst>
                                    </p:anim>
                                    <p:anim calcmode="lin" valueType="num">
                                      <p:cBhvr additive="base">
                                        <p:cTn id="28" dur="500" fill="hold"/>
                                        <p:tgtEl>
                                          <p:spTgt spid="36148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480" grpId="0" uiExpand="1" build="p" autoUpdateAnimBg="0"/>
      <p:bldP spid="361483"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D838DBA3-72B3-4A9A-8F1D-6C115EF5EE5A}" type="slidenum">
              <a:rPr lang="en-US" altLang="zh-CN"/>
              <a:pPr/>
              <a:t>15</a:t>
            </a:fld>
            <a:endParaRPr lang="en-US" altLang="zh-CN"/>
          </a:p>
        </p:txBody>
      </p:sp>
      <p:sp>
        <p:nvSpPr>
          <p:cNvPr id="362504" name="Text Box 8"/>
          <p:cNvSpPr txBox="1">
            <a:spLocks noChangeArrowheads="1"/>
          </p:cNvSpPr>
          <p:nvPr/>
        </p:nvSpPr>
        <p:spPr bwMode="auto">
          <a:xfrm>
            <a:off x="539750" y="966788"/>
            <a:ext cx="7916863" cy="2465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lnSpc>
                <a:spcPct val="130000"/>
              </a:lnSpc>
            </a:pPr>
            <a:r>
              <a:rPr lang="zh-CN" altLang="en-US" b="1">
                <a:solidFill>
                  <a:srgbClr val="FF0000"/>
                </a:solidFill>
              </a:rPr>
              <a:t>定义</a:t>
            </a:r>
            <a:r>
              <a:rPr lang="en-US" altLang="zh-CN" b="1">
                <a:solidFill>
                  <a:srgbClr val="FF0000"/>
                </a:solidFill>
              </a:rPr>
              <a:t>5-2.7</a:t>
            </a:r>
            <a:r>
              <a:rPr lang="zh-CN" altLang="en-US" b="1">
                <a:solidFill>
                  <a:srgbClr val="FF0000"/>
                </a:solidFill>
              </a:rPr>
              <a:t>：</a:t>
            </a:r>
            <a:r>
              <a:rPr lang="zh-CN" altLang="en-US" b="1"/>
              <a:t>给定</a:t>
            </a:r>
            <a:r>
              <a:rPr lang="en-US" altLang="zh-CN" b="1"/>
              <a:t>&lt;S, *&gt;</a:t>
            </a:r>
            <a:r>
              <a:rPr lang="zh-CN" altLang="en-US" b="1"/>
              <a:t>且</a:t>
            </a:r>
            <a:r>
              <a:rPr lang="en-US" altLang="zh-CN" b="1"/>
              <a:t>e</a:t>
            </a:r>
            <a:r>
              <a:rPr lang="en-US" altLang="zh-CN" b="1" i="1" baseline="-25000"/>
              <a:t>l</a:t>
            </a:r>
            <a:r>
              <a:rPr lang="en-US" altLang="zh-CN" b="1"/>
              <a:t>, e</a:t>
            </a:r>
            <a:r>
              <a:rPr lang="en-US" altLang="zh-CN" b="1" i="1" baseline="-25000"/>
              <a:t>r</a:t>
            </a:r>
            <a:r>
              <a:rPr lang="en-US" altLang="zh-CN" b="1"/>
              <a:t>, e∈S</a:t>
            </a:r>
            <a:r>
              <a:rPr lang="zh-CN" altLang="en-US" b="1"/>
              <a:t>，则</a:t>
            </a:r>
          </a:p>
          <a:p>
            <a:pPr algn="just">
              <a:lnSpc>
                <a:spcPct val="130000"/>
              </a:lnSpc>
            </a:pPr>
            <a:r>
              <a:rPr lang="en-US" altLang="zh-CN" b="1"/>
              <a:t>e</a:t>
            </a:r>
            <a:r>
              <a:rPr lang="en-US" altLang="zh-CN" b="1" i="1" baseline="-25000"/>
              <a:t>l</a:t>
            </a:r>
            <a:r>
              <a:rPr lang="zh-CN" altLang="en-US" b="1"/>
              <a:t>为关于*的</a:t>
            </a:r>
            <a:r>
              <a:rPr lang="zh-CN" altLang="en-US" b="1" i="1">
                <a:solidFill>
                  <a:srgbClr val="FF0000"/>
                </a:solidFill>
              </a:rPr>
              <a:t>左幺元</a:t>
            </a:r>
            <a:r>
              <a:rPr lang="zh-CN" altLang="en-US" b="1">
                <a:sym typeface="Wingdings" pitchFamily="2" charset="2"/>
              </a:rPr>
              <a:t>：</a:t>
            </a:r>
            <a:r>
              <a:rPr lang="en-US" altLang="zh-CN" b="1">
                <a:sym typeface="Wingdings" pitchFamily="2" charset="2"/>
              </a:rPr>
              <a:t>(</a:t>
            </a:r>
            <a:r>
              <a:rPr lang="en-US" altLang="zh-CN" b="1">
                <a:sym typeface="Symbol" pitchFamily="18" charset="2"/>
              </a:rPr>
              <a:t>x</a:t>
            </a:r>
            <a:r>
              <a:rPr lang="en-US" altLang="zh-CN" b="1">
                <a:sym typeface="Wingdings" pitchFamily="2" charset="2"/>
              </a:rPr>
              <a:t>)(x</a:t>
            </a:r>
            <a:r>
              <a:rPr lang="en-US" altLang="zh-CN" b="1">
                <a:latin typeface="宋体" pitchFamily="2" charset="-122"/>
                <a:sym typeface="Wingdings" pitchFamily="2" charset="2"/>
              </a:rPr>
              <a:t>∈</a:t>
            </a:r>
            <a:r>
              <a:rPr lang="en-US" altLang="zh-CN" b="1">
                <a:sym typeface="Wingdings" pitchFamily="2" charset="2"/>
              </a:rPr>
              <a:t>S</a:t>
            </a:r>
            <a:r>
              <a:rPr lang="en-US" altLang="zh-CN" b="1">
                <a:cs typeface="Times New Roman" pitchFamily="18" charset="0"/>
                <a:sym typeface="Wingdings" pitchFamily="2" charset="2"/>
              </a:rPr>
              <a:t>→</a:t>
            </a:r>
            <a:r>
              <a:rPr lang="en-US" altLang="zh-CN" b="1"/>
              <a:t>e</a:t>
            </a:r>
            <a:r>
              <a:rPr lang="en-US" altLang="zh-CN" b="1" i="1" baseline="-25000"/>
              <a:t>l</a:t>
            </a:r>
            <a:r>
              <a:rPr lang="en-US" altLang="zh-CN" b="1"/>
              <a:t>*x=x</a:t>
            </a:r>
            <a:r>
              <a:rPr lang="en-US" altLang="zh-CN" b="1">
                <a:sym typeface="Wingdings" pitchFamily="2" charset="2"/>
              </a:rPr>
              <a:t>)</a:t>
            </a:r>
            <a:endParaRPr lang="en-US" altLang="zh-CN" b="1"/>
          </a:p>
          <a:p>
            <a:pPr algn="just">
              <a:lnSpc>
                <a:spcPct val="130000"/>
              </a:lnSpc>
            </a:pPr>
            <a:r>
              <a:rPr lang="en-US" altLang="zh-CN" b="1"/>
              <a:t>e</a:t>
            </a:r>
            <a:r>
              <a:rPr lang="en-US" altLang="zh-CN" b="1" i="1" baseline="-25000"/>
              <a:t>r</a:t>
            </a:r>
            <a:r>
              <a:rPr lang="zh-CN" altLang="en-US" b="1"/>
              <a:t>为关于*的</a:t>
            </a:r>
            <a:r>
              <a:rPr lang="zh-CN" altLang="en-US" b="1" i="1">
                <a:solidFill>
                  <a:srgbClr val="FF0000"/>
                </a:solidFill>
              </a:rPr>
              <a:t>右幺元</a:t>
            </a:r>
            <a:r>
              <a:rPr lang="zh-CN" altLang="en-US" b="1"/>
              <a:t>：</a:t>
            </a:r>
            <a:r>
              <a:rPr lang="en-US" altLang="zh-CN" b="1">
                <a:sym typeface="Wingdings" pitchFamily="2" charset="2"/>
              </a:rPr>
              <a:t>(</a:t>
            </a:r>
            <a:r>
              <a:rPr lang="en-US" altLang="zh-CN" b="1">
                <a:sym typeface="Symbol" pitchFamily="18" charset="2"/>
              </a:rPr>
              <a:t>x</a:t>
            </a:r>
            <a:r>
              <a:rPr lang="en-US" altLang="zh-CN" b="1">
                <a:sym typeface="Wingdings" pitchFamily="2" charset="2"/>
              </a:rPr>
              <a:t>)(x</a:t>
            </a:r>
            <a:r>
              <a:rPr lang="en-US" altLang="zh-CN" b="1">
                <a:latin typeface="宋体" pitchFamily="2" charset="-122"/>
                <a:sym typeface="Wingdings" pitchFamily="2" charset="2"/>
              </a:rPr>
              <a:t>∈</a:t>
            </a:r>
            <a:r>
              <a:rPr lang="en-US" altLang="zh-CN" b="1">
                <a:sym typeface="Wingdings" pitchFamily="2" charset="2"/>
              </a:rPr>
              <a:t>S</a:t>
            </a:r>
            <a:r>
              <a:rPr lang="en-US" altLang="zh-CN" b="1">
                <a:cs typeface="Times New Roman" pitchFamily="18" charset="0"/>
                <a:sym typeface="Wingdings" pitchFamily="2" charset="2"/>
              </a:rPr>
              <a:t>→</a:t>
            </a:r>
            <a:r>
              <a:rPr lang="en-US" altLang="zh-CN" b="1"/>
              <a:t>x*e</a:t>
            </a:r>
            <a:r>
              <a:rPr lang="en-US" altLang="zh-CN" b="1" i="1" baseline="-25000"/>
              <a:t>r</a:t>
            </a:r>
            <a:r>
              <a:rPr lang="en-US" altLang="zh-CN" b="1"/>
              <a:t>=x</a:t>
            </a:r>
            <a:r>
              <a:rPr lang="en-US" altLang="zh-CN" b="1">
                <a:sym typeface="Wingdings" pitchFamily="2" charset="2"/>
              </a:rPr>
              <a:t>)</a:t>
            </a:r>
            <a:endParaRPr lang="en-US" altLang="zh-CN" b="1"/>
          </a:p>
          <a:p>
            <a:pPr algn="just">
              <a:lnSpc>
                <a:spcPct val="130000"/>
              </a:lnSpc>
            </a:pPr>
            <a:r>
              <a:rPr lang="zh-CN" altLang="en-US" b="1"/>
              <a:t>若</a:t>
            </a:r>
            <a:r>
              <a:rPr lang="en-US" altLang="zh-CN" b="1"/>
              <a:t>e</a:t>
            </a:r>
            <a:r>
              <a:rPr lang="zh-CN" altLang="en-US" b="1"/>
              <a:t>即为左幺元又为右幺元，称</a:t>
            </a:r>
            <a:r>
              <a:rPr lang="en-US" altLang="zh-CN" b="1"/>
              <a:t>e</a:t>
            </a:r>
            <a:r>
              <a:rPr lang="zh-CN" altLang="en-US" b="1"/>
              <a:t>为关于*的幺元</a:t>
            </a:r>
          </a:p>
          <a:p>
            <a:pPr algn="just">
              <a:lnSpc>
                <a:spcPct val="130000"/>
              </a:lnSpc>
            </a:pPr>
            <a:r>
              <a:rPr lang="en-US" altLang="zh-CN" b="1"/>
              <a:t>e</a:t>
            </a:r>
            <a:r>
              <a:rPr lang="zh-CN" altLang="en-US" b="1"/>
              <a:t>为关于*的</a:t>
            </a:r>
            <a:r>
              <a:rPr lang="zh-CN" altLang="en-US" b="1" i="1">
                <a:solidFill>
                  <a:srgbClr val="FF0000"/>
                </a:solidFill>
              </a:rPr>
              <a:t>幺元</a:t>
            </a:r>
            <a:r>
              <a:rPr lang="zh-CN" altLang="en-US" b="1"/>
              <a:t>：</a:t>
            </a:r>
            <a:r>
              <a:rPr lang="en-US" altLang="zh-CN" b="1">
                <a:sym typeface="Wingdings" pitchFamily="2" charset="2"/>
              </a:rPr>
              <a:t>(</a:t>
            </a:r>
            <a:r>
              <a:rPr lang="en-US" altLang="zh-CN" b="1">
                <a:sym typeface="Symbol" pitchFamily="18" charset="2"/>
              </a:rPr>
              <a:t>x</a:t>
            </a:r>
            <a:r>
              <a:rPr lang="en-US" altLang="zh-CN" b="1">
                <a:sym typeface="Wingdings" pitchFamily="2" charset="2"/>
              </a:rPr>
              <a:t>)(x</a:t>
            </a:r>
            <a:r>
              <a:rPr lang="en-US" altLang="zh-CN" b="1">
                <a:latin typeface="宋体" pitchFamily="2" charset="-122"/>
                <a:sym typeface="Wingdings" pitchFamily="2" charset="2"/>
              </a:rPr>
              <a:t>∈</a:t>
            </a:r>
            <a:r>
              <a:rPr lang="en-US" altLang="zh-CN" b="1">
                <a:sym typeface="Wingdings" pitchFamily="2" charset="2"/>
              </a:rPr>
              <a:t>S</a:t>
            </a:r>
            <a:r>
              <a:rPr lang="en-US" altLang="zh-CN" b="1">
                <a:cs typeface="Times New Roman" pitchFamily="18" charset="0"/>
                <a:sym typeface="Wingdings" pitchFamily="2" charset="2"/>
              </a:rPr>
              <a:t>→e*x=</a:t>
            </a:r>
            <a:r>
              <a:rPr lang="en-US" altLang="zh-CN" b="1"/>
              <a:t>x*e=x</a:t>
            </a:r>
            <a:r>
              <a:rPr lang="en-US" altLang="zh-CN" b="1">
                <a:sym typeface="Wingdings" pitchFamily="2" charset="2"/>
              </a:rPr>
              <a:t>)</a:t>
            </a:r>
          </a:p>
        </p:txBody>
      </p:sp>
      <p:sp>
        <p:nvSpPr>
          <p:cNvPr id="362507" name="Rectangle 11"/>
          <p:cNvSpPr>
            <a:spLocks noGrp="1" noChangeArrowheads="1"/>
          </p:cNvSpPr>
          <p:nvPr>
            <p:ph type="title"/>
          </p:nvPr>
        </p:nvSpPr>
        <p:spPr>
          <a:xfrm>
            <a:off x="1063625" y="260350"/>
            <a:ext cx="6821488" cy="579438"/>
          </a:xfrm>
        </p:spPr>
        <p:txBody>
          <a:bodyPr/>
          <a:lstStyle/>
          <a:p>
            <a:r>
              <a:rPr kumimoji="1" lang="zh-CN" altLang="en-US" sz="3200" dirty="0">
                <a:solidFill>
                  <a:schemeClr val="folHlink"/>
                </a:solidFill>
                <a:latin typeface="Times New Roman" pitchFamily="18" charset="0"/>
              </a:rPr>
              <a:t>二、幺元、零元、逆元</a:t>
            </a:r>
          </a:p>
        </p:txBody>
      </p:sp>
      <p:sp>
        <p:nvSpPr>
          <p:cNvPr id="362511" name="Rectangle 15"/>
          <p:cNvSpPr>
            <a:spLocks noChangeArrowheads="1"/>
          </p:cNvSpPr>
          <p:nvPr/>
        </p:nvSpPr>
        <p:spPr bwMode="auto">
          <a:xfrm>
            <a:off x="539750" y="3429000"/>
            <a:ext cx="7916863" cy="2012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kumimoji="0" lang="zh-CN" altLang="en-US" b="1" dirty="0">
                <a:solidFill>
                  <a:schemeClr val="hlink"/>
                </a:solidFill>
              </a:rPr>
              <a:t>例</a:t>
            </a:r>
            <a:r>
              <a:rPr lang="zh-CN" altLang="en-US" b="1" dirty="0" smtClean="0">
                <a:solidFill>
                  <a:srgbClr val="FF0000"/>
                </a:solidFill>
              </a:rPr>
              <a:t>如</a:t>
            </a:r>
            <a:r>
              <a:rPr lang="zh-CN" altLang="en-US" b="1" dirty="0">
                <a:solidFill>
                  <a:srgbClr val="FF0000"/>
                </a:solidFill>
              </a:rPr>
              <a:t>：</a:t>
            </a:r>
          </a:p>
          <a:p>
            <a:pPr algn="l">
              <a:lnSpc>
                <a:spcPct val="130000"/>
              </a:lnSpc>
            </a:pPr>
            <a:r>
              <a:rPr lang="en-US" altLang="zh-CN" b="1" dirty="0">
                <a:ea typeface="楷体_GB2312" pitchFamily="49" charset="-122"/>
              </a:rPr>
              <a:t>(1)</a:t>
            </a:r>
            <a:r>
              <a:rPr lang="zh-CN" altLang="en-US" b="1" dirty="0">
                <a:ea typeface="楷体_GB2312" pitchFamily="49" charset="-122"/>
              </a:rPr>
              <a:t>在</a:t>
            </a:r>
            <a:r>
              <a:rPr lang="en-US" altLang="zh-CN" b="1" dirty="0">
                <a:ea typeface="楷体_GB2312" pitchFamily="49" charset="-122"/>
              </a:rPr>
              <a:t>N</a:t>
            </a:r>
            <a:r>
              <a:rPr lang="zh-CN" altLang="en-US" b="1" dirty="0">
                <a:ea typeface="楷体_GB2312" pitchFamily="49" charset="-122"/>
              </a:rPr>
              <a:t>、</a:t>
            </a:r>
            <a:r>
              <a:rPr lang="en-US" altLang="zh-CN" b="1" dirty="0">
                <a:ea typeface="楷体_GB2312" pitchFamily="49" charset="-122"/>
              </a:rPr>
              <a:t>Z</a:t>
            </a:r>
            <a:r>
              <a:rPr lang="zh-CN" altLang="en-US" b="1" dirty="0">
                <a:ea typeface="楷体_GB2312" pitchFamily="49" charset="-122"/>
              </a:rPr>
              <a:t>、</a:t>
            </a:r>
            <a:r>
              <a:rPr lang="en-US" altLang="zh-CN" b="1" dirty="0">
                <a:ea typeface="楷体_GB2312" pitchFamily="49" charset="-122"/>
              </a:rPr>
              <a:t>Q</a:t>
            </a:r>
            <a:r>
              <a:rPr lang="zh-CN" altLang="en-US" b="1" dirty="0">
                <a:ea typeface="楷体_GB2312" pitchFamily="49" charset="-122"/>
              </a:rPr>
              <a:t>、</a:t>
            </a:r>
            <a:r>
              <a:rPr lang="en-US" altLang="zh-CN" b="1" dirty="0">
                <a:ea typeface="楷体_GB2312" pitchFamily="49" charset="-122"/>
              </a:rPr>
              <a:t>R</a:t>
            </a:r>
            <a:r>
              <a:rPr lang="zh-CN" altLang="en-US" b="1" dirty="0">
                <a:ea typeface="楷体_GB2312" pitchFamily="49" charset="-122"/>
              </a:rPr>
              <a:t>上，</a:t>
            </a:r>
            <a:r>
              <a:rPr lang="en-US" altLang="zh-CN" b="1" dirty="0">
                <a:ea typeface="楷体_GB2312" pitchFamily="49" charset="-122"/>
              </a:rPr>
              <a:t>0</a:t>
            </a:r>
            <a:r>
              <a:rPr lang="zh-CN" altLang="en-US" b="1" dirty="0">
                <a:ea typeface="楷体_GB2312" pitchFamily="49" charset="-122"/>
              </a:rPr>
              <a:t>是加法的幺元，</a:t>
            </a:r>
            <a:r>
              <a:rPr lang="en-US" altLang="zh-CN" b="1" dirty="0">
                <a:ea typeface="楷体_GB2312" pitchFamily="49" charset="-122"/>
              </a:rPr>
              <a:t>1</a:t>
            </a:r>
            <a:r>
              <a:rPr lang="zh-CN" altLang="en-US" b="1" dirty="0">
                <a:ea typeface="楷体_GB2312" pitchFamily="49" charset="-122"/>
              </a:rPr>
              <a:t>是乘法的幺元。</a:t>
            </a:r>
          </a:p>
          <a:p>
            <a:pPr algn="l">
              <a:lnSpc>
                <a:spcPct val="130000"/>
              </a:lnSpc>
            </a:pPr>
            <a:r>
              <a:rPr lang="en-US" altLang="zh-CN" b="1" dirty="0">
                <a:ea typeface="楷体_GB2312" pitchFamily="49" charset="-122"/>
              </a:rPr>
              <a:t>(2) </a:t>
            </a:r>
            <a:r>
              <a:rPr lang="zh-CN" altLang="en-US" b="1" dirty="0">
                <a:ea typeface="楷体_GB2312" pitchFamily="49" charset="-122"/>
              </a:rPr>
              <a:t>在集合上， </a:t>
            </a:r>
            <a:r>
              <a:rPr lang="zh-CN" altLang="en-US" b="1" dirty="0">
                <a:sym typeface="Symbol" pitchFamily="18" charset="2"/>
              </a:rPr>
              <a:t></a:t>
            </a:r>
            <a:r>
              <a:rPr lang="zh-CN" altLang="en-US" b="1" dirty="0">
                <a:ea typeface="楷体_GB2312" pitchFamily="49" charset="-122"/>
              </a:rPr>
              <a:t>是</a:t>
            </a:r>
            <a:r>
              <a:rPr lang="zh-CN" altLang="en-US" b="1" dirty="0">
                <a:solidFill>
                  <a:srgbClr val="FF0000"/>
                </a:solidFill>
                <a:ea typeface="楷体_GB2312" pitchFamily="49" charset="-122"/>
              </a:rPr>
              <a:t>∪</a:t>
            </a:r>
            <a:r>
              <a:rPr lang="zh-CN" altLang="en-US" b="1" dirty="0">
                <a:ea typeface="楷体_GB2312" pitchFamily="49" charset="-122"/>
              </a:rPr>
              <a:t>、 </a:t>
            </a:r>
            <a:r>
              <a:rPr lang="zh-CN" altLang="en-US" dirty="0">
                <a:ea typeface="幼圆" pitchFamily="49" charset="-122"/>
                <a:sym typeface="Symbol" pitchFamily="18" charset="2"/>
              </a:rPr>
              <a:t></a:t>
            </a:r>
            <a:r>
              <a:rPr lang="zh-CN" altLang="en-US" b="1" dirty="0">
                <a:ea typeface="楷体_GB2312" pitchFamily="49" charset="-122"/>
              </a:rPr>
              <a:t>运算的幺元，全集是</a:t>
            </a:r>
            <a:r>
              <a:rPr lang="zh-CN" altLang="en-US" b="1" dirty="0">
                <a:solidFill>
                  <a:srgbClr val="FF0000"/>
                </a:solidFill>
                <a:ea typeface="楷体_GB2312" pitchFamily="49" charset="-122"/>
              </a:rPr>
              <a:t>∩</a:t>
            </a:r>
            <a:r>
              <a:rPr lang="zh-CN" altLang="en-US" b="1" dirty="0">
                <a:ea typeface="楷体_GB2312" pitchFamily="49" charset="-122"/>
              </a:rPr>
              <a:t>运算的幺元 。</a:t>
            </a:r>
            <a:endParaRPr lang="zh-CN" altLang="en-US" dirty="0">
              <a:ea typeface="幼圆" pitchFamily="49" charset="-122"/>
            </a:endParaRPr>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6251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2511">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62511">
                                            <p:txEl>
                                              <p:pRg st="2" end="2"/>
                                            </p:txEl>
                                          </p:spTgt>
                                        </p:tgtEl>
                                        <p:attrNameLst>
                                          <p:attrName>style.visibility</p:attrName>
                                        </p:attrNameLst>
                                      </p:cBhvr>
                                      <p:to>
                                        <p:strVal val="visible"/>
                                      </p:to>
                                    </p:set>
                                    <p:anim calcmode="lin" valueType="num">
                                      <p:cBhvr additive="base">
                                        <p:cTn id="13" dur="500" fill="hold"/>
                                        <p:tgtEl>
                                          <p:spTgt spid="36251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251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3578" name="Group 58"/>
          <p:cNvGraphicFramePr>
            <a:graphicFrameLocks noGrp="1"/>
          </p:cNvGraphicFramePr>
          <p:nvPr>
            <p:extLst>
              <p:ext uri="{D42A27DB-BD31-4B8C-83A1-F6EECF244321}">
                <p14:modId xmlns:p14="http://schemas.microsoft.com/office/powerpoint/2010/main" val="3453785718"/>
              </p:ext>
            </p:extLst>
          </p:nvPr>
        </p:nvGraphicFramePr>
        <p:xfrm>
          <a:off x="684213" y="2212975"/>
          <a:ext cx="3455739" cy="2755646"/>
        </p:xfrm>
        <a:graphic>
          <a:graphicData uri="http://schemas.openxmlformats.org/drawingml/2006/table">
            <a:tbl>
              <a:tblPr/>
              <a:tblGrid>
                <a:gridCol w="759633"/>
                <a:gridCol w="2696106"/>
              </a:tblGrid>
              <a:tr h="615950">
                <a:tc>
                  <a:txBody>
                    <a:bodyPr/>
                    <a:lstStyle/>
                    <a:p>
                      <a:pPr marL="0" marR="0" lvl="0" indent="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800" b="1" i="0" u="none" strike="noStrike" cap="none" normalizeH="0" baseline="0" dirty="0" smtClean="0">
                          <a:ln>
                            <a:noFill/>
                          </a:ln>
                          <a:solidFill>
                            <a:schemeClr val="tx1"/>
                          </a:solidFill>
                          <a:effectLst/>
                          <a:latin typeface="Times New Roman" pitchFamily="18" charset="0"/>
                          <a:ea typeface="宋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8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α   </a:t>
                      </a:r>
                      <a:r>
                        <a:rPr kumimoji="0" lang="en-US" altLang="zh-CN" sz="2800" b="1" i="0" u="none" strike="noStrike" cap="none" normalizeH="0" baseline="0" dirty="0" smtClean="0">
                          <a:ln>
                            <a:noFill/>
                          </a:ln>
                          <a:solidFill>
                            <a:schemeClr val="tx1"/>
                          </a:solidFill>
                          <a:effectLst/>
                          <a:latin typeface="Times New Roman" pitchFamily="18" charset="0"/>
                          <a:ea typeface="宋体" pitchFamily="2" charset="-122"/>
                        </a:rPr>
                        <a:t> </a:t>
                      </a:r>
                      <a:r>
                        <a:rPr kumimoji="0" lang="en-US" altLang="zh-CN" sz="28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β    γ    δ</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047875">
                <a:tc>
                  <a:txBody>
                    <a:bodyPr/>
                    <a:lstStyle/>
                    <a:p>
                      <a:pPr marL="0" marR="0" lvl="0" indent="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α</a:t>
                      </a:r>
                    </a:p>
                    <a:p>
                      <a:pPr marL="0" marR="0" lvl="0" indent="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β</a:t>
                      </a:r>
                    </a:p>
                    <a:p>
                      <a:pPr marL="0" marR="0" lvl="0" indent="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γ</a:t>
                      </a:r>
                    </a:p>
                    <a:p>
                      <a:pPr marL="0" marR="0" lvl="0" indent="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δ</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l-GR" altLang="zh-CN" sz="28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δ</a:t>
                      </a:r>
                      <a:r>
                        <a:rPr kumimoji="0" lang="en-US" altLang="zh-CN" sz="28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α    β    γ</a:t>
                      </a:r>
                    </a:p>
                    <a:p>
                      <a:pPr marL="0" marR="0" lvl="0" indent="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8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α    β    γ    δ</a:t>
                      </a:r>
                    </a:p>
                    <a:p>
                      <a:pPr marL="0" marR="0" lvl="0" indent="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8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α    β    γ    </a:t>
                      </a:r>
                      <a:r>
                        <a:rPr kumimoji="0" lang="en-US" altLang="zh-CN" sz="28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γ</a:t>
                      </a:r>
                      <a:endParaRPr kumimoji="0" lang="en-US" altLang="zh-CN" sz="28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8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α    β    γ    δ</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63572" name="Rectangle 52"/>
          <p:cNvSpPr>
            <a:spLocks noChangeArrowheads="1"/>
          </p:cNvSpPr>
          <p:nvPr/>
        </p:nvSpPr>
        <p:spPr bwMode="auto">
          <a:xfrm>
            <a:off x="1791161" y="4420235"/>
            <a:ext cx="200567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en-US" altLang="zh-CN" sz="2800" b="1" dirty="0">
                <a:solidFill>
                  <a:srgbClr val="FF0000"/>
                </a:solidFill>
                <a:cs typeface="Times New Roman" pitchFamily="18" charset="0"/>
              </a:rPr>
              <a:t>α </a:t>
            </a:r>
            <a:r>
              <a:rPr kumimoji="0" lang="en-US" altLang="zh-CN" sz="2800" b="1" dirty="0" smtClean="0">
                <a:solidFill>
                  <a:srgbClr val="FF0000"/>
                </a:solidFill>
                <a:cs typeface="Times New Roman" pitchFamily="18" charset="0"/>
              </a:rPr>
              <a:t>   </a:t>
            </a:r>
            <a:r>
              <a:rPr kumimoji="0" lang="en-US" altLang="zh-CN" sz="2800" b="1" dirty="0">
                <a:solidFill>
                  <a:srgbClr val="FF0000"/>
                </a:solidFill>
                <a:cs typeface="Times New Roman" pitchFamily="18" charset="0"/>
              </a:rPr>
              <a:t>β  </a:t>
            </a:r>
            <a:r>
              <a:rPr kumimoji="0" lang="en-US" altLang="zh-CN" sz="2800" b="1" dirty="0" smtClean="0">
                <a:solidFill>
                  <a:srgbClr val="FF0000"/>
                </a:solidFill>
                <a:cs typeface="Times New Roman" pitchFamily="18" charset="0"/>
              </a:rPr>
              <a:t>  </a:t>
            </a:r>
            <a:r>
              <a:rPr kumimoji="0" lang="en-US" altLang="zh-CN" sz="2800" b="1" dirty="0">
                <a:solidFill>
                  <a:srgbClr val="FF0000"/>
                </a:solidFill>
                <a:cs typeface="Times New Roman" pitchFamily="18" charset="0"/>
              </a:rPr>
              <a:t>γ  </a:t>
            </a:r>
            <a:r>
              <a:rPr kumimoji="0" lang="en-US" altLang="zh-CN" sz="2800" b="1" dirty="0" smtClean="0">
                <a:solidFill>
                  <a:srgbClr val="FF0000"/>
                </a:solidFill>
                <a:cs typeface="Times New Roman" pitchFamily="18" charset="0"/>
              </a:rPr>
              <a:t>  </a:t>
            </a:r>
            <a:r>
              <a:rPr kumimoji="0" lang="en-US" altLang="zh-CN" sz="2800" b="1" dirty="0">
                <a:solidFill>
                  <a:srgbClr val="FF0000"/>
                </a:solidFill>
                <a:cs typeface="Times New Roman" pitchFamily="18" charset="0"/>
              </a:rPr>
              <a:t>δ</a:t>
            </a:r>
          </a:p>
        </p:txBody>
      </p:sp>
      <p:sp>
        <p:nvSpPr>
          <p:cNvPr id="363574" name="Rectangle 54"/>
          <p:cNvSpPr>
            <a:spLocks noChangeArrowheads="1"/>
          </p:cNvSpPr>
          <p:nvPr/>
        </p:nvSpPr>
        <p:spPr bwMode="auto">
          <a:xfrm>
            <a:off x="1791161" y="3381058"/>
            <a:ext cx="200567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en-US" altLang="zh-CN" sz="2800" b="1" dirty="0">
                <a:solidFill>
                  <a:srgbClr val="FF0000"/>
                </a:solidFill>
                <a:cs typeface="Times New Roman" pitchFamily="18" charset="0"/>
              </a:rPr>
              <a:t>α </a:t>
            </a:r>
            <a:r>
              <a:rPr kumimoji="0" lang="en-US" altLang="zh-CN" sz="2800" b="1" dirty="0" smtClean="0">
                <a:solidFill>
                  <a:srgbClr val="FF0000"/>
                </a:solidFill>
                <a:cs typeface="Times New Roman" pitchFamily="18" charset="0"/>
              </a:rPr>
              <a:t>   </a:t>
            </a:r>
            <a:r>
              <a:rPr kumimoji="0" lang="en-US" altLang="zh-CN" sz="2800" b="1" dirty="0">
                <a:solidFill>
                  <a:srgbClr val="FF0000"/>
                </a:solidFill>
                <a:cs typeface="Times New Roman" pitchFamily="18" charset="0"/>
              </a:rPr>
              <a:t>β </a:t>
            </a:r>
            <a:r>
              <a:rPr kumimoji="0" lang="en-US" altLang="zh-CN" sz="2800" b="1" dirty="0" smtClean="0">
                <a:solidFill>
                  <a:srgbClr val="FF0000"/>
                </a:solidFill>
                <a:cs typeface="Times New Roman" pitchFamily="18" charset="0"/>
              </a:rPr>
              <a:t>   </a:t>
            </a:r>
            <a:r>
              <a:rPr kumimoji="0" lang="en-US" altLang="zh-CN" sz="2800" b="1" dirty="0">
                <a:solidFill>
                  <a:srgbClr val="FF0000"/>
                </a:solidFill>
                <a:cs typeface="Times New Roman" pitchFamily="18" charset="0"/>
              </a:rPr>
              <a:t>γ </a:t>
            </a:r>
            <a:r>
              <a:rPr kumimoji="0" lang="en-US" altLang="zh-CN" sz="2800" b="1" dirty="0" smtClean="0">
                <a:solidFill>
                  <a:srgbClr val="FF0000"/>
                </a:solidFill>
                <a:cs typeface="Times New Roman" pitchFamily="18" charset="0"/>
              </a:rPr>
              <a:t>   </a:t>
            </a:r>
            <a:r>
              <a:rPr kumimoji="0" lang="en-US" altLang="zh-CN" sz="2800" b="1" dirty="0">
                <a:solidFill>
                  <a:srgbClr val="FF0000"/>
                </a:solidFill>
                <a:cs typeface="Times New Roman" pitchFamily="18" charset="0"/>
              </a:rPr>
              <a:t>δ</a:t>
            </a:r>
          </a:p>
        </p:txBody>
      </p:sp>
      <p:sp>
        <p:nvSpPr>
          <p:cNvPr id="29" name="灯片编号占位符 4"/>
          <p:cNvSpPr>
            <a:spLocks noGrp="1"/>
          </p:cNvSpPr>
          <p:nvPr>
            <p:ph type="sldNum" sz="quarter" idx="11"/>
          </p:nvPr>
        </p:nvSpPr>
        <p:spPr/>
        <p:txBody>
          <a:bodyPr/>
          <a:lstStyle/>
          <a:p>
            <a:fld id="{3905A3DD-6524-4967-A019-014A293F57FD}" type="slidenum">
              <a:rPr lang="en-US" altLang="zh-CN"/>
              <a:pPr/>
              <a:t>16</a:t>
            </a:fld>
            <a:endParaRPr lang="en-US" altLang="zh-CN"/>
          </a:p>
        </p:txBody>
      </p:sp>
      <p:sp>
        <p:nvSpPr>
          <p:cNvPr id="363523" name="Text Box 3"/>
          <p:cNvSpPr txBox="1">
            <a:spLocks noChangeArrowheads="1"/>
          </p:cNvSpPr>
          <p:nvPr/>
        </p:nvSpPr>
        <p:spPr bwMode="auto">
          <a:xfrm>
            <a:off x="539750" y="950913"/>
            <a:ext cx="7916863"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lnSpc>
                <a:spcPct val="130000"/>
              </a:lnSpc>
              <a:spcBef>
                <a:spcPct val="50000"/>
              </a:spcBef>
            </a:pPr>
            <a:r>
              <a:rPr lang="zh-CN" altLang="en-US" b="1" dirty="0" smtClean="0">
                <a:solidFill>
                  <a:srgbClr val="FF0000"/>
                </a:solidFill>
              </a:rPr>
              <a:t>例</a:t>
            </a:r>
            <a:r>
              <a:rPr lang="en-US" altLang="zh-CN" b="1" dirty="0" smtClean="0">
                <a:solidFill>
                  <a:srgbClr val="FF0000"/>
                </a:solidFill>
              </a:rPr>
              <a:t>4</a:t>
            </a:r>
            <a:r>
              <a:rPr lang="zh-CN" altLang="en-US" b="1" dirty="0" smtClean="0">
                <a:solidFill>
                  <a:srgbClr val="FF0000"/>
                </a:solidFill>
              </a:rPr>
              <a:t>：</a:t>
            </a:r>
            <a:r>
              <a:rPr lang="zh-CN" altLang="en-US" b="1" dirty="0"/>
              <a:t>设集合</a:t>
            </a:r>
            <a:r>
              <a:rPr lang="en-US" altLang="zh-CN" b="1" dirty="0"/>
              <a:t>S={</a:t>
            </a:r>
            <a:r>
              <a:rPr lang="en-US" altLang="zh-CN" b="1" dirty="0">
                <a:cs typeface="Times New Roman" pitchFamily="18" charset="0"/>
              </a:rPr>
              <a:t>α</a:t>
            </a:r>
            <a:r>
              <a:rPr lang="en-US" altLang="zh-CN" b="1" dirty="0" smtClean="0"/>
              <a:t>, </a:t>
            </a:r>
            <a:r>
              <a:rPr lang="en-US" altLang="zh-CN" b="1" dirty="0" smtClean="0">
                <a:cs typeface="Times New Roman" pitchFamily="18" charset="0"/>
              </a:rPr>
              <a:t>β</a:t>
            </a:r>
            <a:r>
              <a:rPr lang="en-US" altLang="zh-CN" b="1" dirty="0" smtClean="0"/>
              <a:t>, </a:t>
            </a:r>
            <a:r>
              <a:rPr lang="en-US" altLang="zh-CN" b="1" dirty="0" smtClean="0">
                <a:cs typeface="Times New Roman" pitchFamily="18" charset="0"/>
              </a:rPr>
              <a:t>γ</a:t>
            </a:r>
            <a:r>
              <a:rPr lang="en-US" altLang="zh-CN" b="1" dirty="0" smtClean="0"/>
              <a:t>, </a:t>
            </a:r>
            <a:r>
              <a:rPr lang="en-US" altLang="zh-CN" b="1" dirty="0" smtClean="0">
                <a:cs typeface="Times New Roman" pitchFamily="18" charset="0"/>
              </a:rPr>
              <a:t>δ</a:t>
            </a:r>
            <a:r>
              <a:rPr lang="en-US" altLang="zh-CN" b="1" dirty="0"/>
              <a:t>}</a:t>
            </a:r>
            <a:r>
              <a:rPr lang="zh-CN" altLang="en-US" b="1" dirty="0"/>
              <a:t>，在</a:t>
            </a:r>
            <a:r>
              <a:rPr lang="en-US" altLang="zh-CN" b="1" dirty="0"/>
              <a:t>S</a:t>
            </a:r>
            <a:r>
              <a:rPr lang="zh-CN" altLang="en-US" b="1" dirty="0"/>
              <a:t>上定义两个二元运算*和☆。试指出左幺元或右幺元。</a:t>
            </a:r>
          </a:p>
        </p:txBody>
      </p:sp>
      <p:graphicFrame>
        <p:nvGraphicFramePr>
          <p:cNvPr id="363577" name="Group 57"/>
          <p:cNvGraphicFramePr>
            <a:graphicFrameLocks noGrp="1"/>
          </p:cNvGraphicFramePr>
          <p:nvPr>
            <p:extLst>
              <p:ext uri="{D42A27DB-BD31-4B8C-83A1-F6EECF244321}">
                <p14:modId xmlns:p14="http://schemas.microsoft.com/office/powerpoint/2010/main" val="2141646843"/>
              </p:ext>
            </p:extLst>
          </p:nvPr>
        </p:nvGraphicFramePr>
        <p:xfrm>
          <a:off x="4572000" y="2227263"/>
          <a:ext cx="3744416" cy="2743200"/>
        </p:xfrm>
        <a:graphic>
          <a:graphicData uri="http://schemas.openxmlformats.org/drawingml/2006/table">
            <a:tbl>
              <a:tblPr/>
              <a:tblGrid>
                <a:gridCol w="792088"/>
                <a:gridCol w="2952328"/>
              </a:tblGrid>
              <a:tr h="393700">
                <a:tc>
                  <a:txBody>
                    <a:bodyPr/>
                    <a:lstStyle/>
                    <a:p>
                      <a:pPr marL="0" marR="0" lvl="0" indent="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800" b="1" i="0" u="none" strike="noStrike" cap="none" normalizeH="0" baseline="0" dirty="0" smtClean="0">
                          <a:ln>
                            <a:noFill/>
                          </a:ln>
                          <a:solidFill>
                            <a:schemeClr val="tx1"/>
                          </a:solidFill>
                          <a:effectLst/>
                          <a:latin typeface="Times New Roman" pitchFamily="18" charset="0"/>
                          <a:ea typeface="宋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8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α    </a:t>
                      </a:r>
                      <a:r>
                        <a:rPr kumimoji="0" lang="en-US" altLang="zh-CN" sz="2800" b="1" i="0" u="none" strike="noStrike" cap="none" normalizeH="0" baseline="0" dirty="0" smtClean="0">
                          <a:ln>
                            <a:noFill/>
                          </a:ln>
                          <a:solidFill>
                            <a:schemeClr val="tx1"/>
                          </a:solidFill>
                          <a:effectLst/>
                          <a:latin typeface="Times New Roman" pitchFamily="18" charset="0"/>
                          <a:ea typeface="宋体" pitchFamily="2" charset="-122"/>
                        </a:rPr>
                        <a:t> </a:t>
                      </a:r>
                      <a:r>
                        <a:rPr kumimoji="0" lang="en-US" altLang="zh-CN" sz="28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β     γ     δ</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32013">
                <a:tc>
                  <a:txBody>
                    <a:bodyPr/>
                    <a:lstStyle/>
                    <a:p>
                      <a:pPr marL="0" marR="0" lvl="0" indent="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α</a:t>
                      </a:r>
                    </a:p>
                    <a:p>
                      <a:pPr marL="0" marR="0" lvl="0" indent="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β</a:t>
                      </a:r>
                    </a:p>
                    <a:p>
                      <a:pPr marL="0" marR="0" lvl="0" indent="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γ</a:t>
                      </a:r>
                    </a:p>
                    <a:p>
                      <a:pPr marL="0" marR="0" lvl="0" indent="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δ</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l-GR" altLang="zh-CN" sz="28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α</a:t>
                      </a:r>
                      <a:r>
                        <a:rPr kumimoji="0" lang="en-US" altLang="zh-CN" sz="28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β     δ     γ</a:t>
                      </a:r>
                    </a:p>
                    <a:p>
                      <a:pPr marL="0" marR="0" lvl="0" indent="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8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β     α     γ     δ</a:t>
                      </a:r>
                    </a:p>
                    <a:p>
                      <a:pPr marL="0" marR="0" lvl="0" indent="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8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γ     δ     α     β</a:t>
                      </a:r>
                    </a:p>
                    <a:p>
                      <a:pPr marL="0" marR="0" lvl="0" indent="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8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δ     </a:t>
                      </a:r>
                      <a:r>
                        <a:rPr kumimoji="0" lang="en-US" altLang="zh-CN" sz="28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δ</a:t>
                      </a:r>
                      <a:r>
                        <a:rPr kumimoji="0" lang="en-US" altLang="zh-CN" sz="28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β     γ</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63576" name="Rectangle 56"/>
          <p:cNvSpPr>
            <a:spLocks noChangeArrowheads="1"/>
          </p:cNvSpPr>
          <p:nvPr/>
        </p:nvSpPr>
        <p:spPr bwMode="auto">
          <a:xfrm>
            <a:off x="5595352" y="2840355"/>
            <a:ext cx="576262" cy="2160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buClr>
                <a:schemeClr val="folHlink"/>
              </a:buClr>
              <a:buSzPct val="60000"/>
              <a:buFont typeface="Wingdings" pitchFamily="2" charset="2"/>
              <a:buNone/>
            </a:pPr>
            <a:r>
              <a:rPr kumimoji="0" lang="el-GR" altLang="zh-CN" sz="2800" b="1" dirty="0" smtClean="0">
                <a:solidFill>
                  <a:srgbClr val="FF0000"/>
                </a:solidFill>
                <a:cs typeface="Times New Roman" pitchFamily="18" charset="0"/>
              </a:rPr>
              <a:t>α</a:t>
            </a:r>
            <a:endParaRPr kumimoji="0" lang="en-US" altLang="zh-CN" sz="2800" b="1" dirty="0" smtClean="0">
              <a:solidFill>
                <a:srgbClr val="FF0000"/>
              </a:solidFill>
              <a:cs typeface="Times New Roman" pitchFamily="18" charset="0"/>
            </a:endParaRPr>
          </a:p>
          <a:p>
            <a:pPr>
              <a:lnSpc>
                <a:spcPct val="120000"/>
              </a:lnSpc>
              <a:buClr>
                <a:schemeClr val="folHlink"/>
              </a:buClr>
              <a:buSzPct val="60000"/>
              <a:buFont typeface="Wingdings" pitchFamily="2" charset="2"/>
              <a:buNone/>
            </a:pPr>
            <a:r>
              <a:rPr kumimoji="0" lang="el-GR" altLang="zh-CN" sz="2800" b="1" dirty="0" smtClean="0">
                <a:solidFill>
                  <a:srgbClr val="FF0000"/>
                </a:solidFill>
                <a:cs typeface="Times New Roman" pitchFamily="18" charset="0"/>
              </a:rPr>
              <a:t>β</a:t>
            </a:r>
            <a:endParaRPr kumimoji="0" lang="en-US" altLang="zh-CN" sz="2800" b="1" dirty="0" smtClean="0">
              <a:solidFill>
                <a:srgbClr val="FF0000"/>
              </a:solidFill>
              <a:cs typeface="Times New Roman" pitchFamily="18" charset="0"/>
            </a:endParaRPr>
          </a:p>
          <a:p>
            <a:pPr>
              <a:lnSpc>
                <a:spcPct val="120000"/>
              </a:lnSpc>
              <a:buClr>
                <a:schemeClr val="folHlink"/>
              </a:buClr>
              <a:buSzPct val="60000"/>
              <a:buFont typeface="Wingdings" pitchFamily="2" charset="2"/>
              <a:buNone/>
            </a:pPr>
            <a:r>
              <a:rPr kumimoji="0" lang="el-GR" altLang="zh-CN" sz="2800" b="1" dirty="0" smtClean="0">
                <a:solidFill>
                  <a:srgbClr val="FF0000"/>
                </a:solidFill>
                <a:cs typeface="Times New Roman" pitchFamily="18" charset="0"/>
              </a:rPr>
              <a:t>γ</a:t>
            </a:r>
            <a:endParaRPr kumimoji="0" lang="en-US" altLang="zh-CN" sz="2800" b="1" dirty="0" smtClean="0">
              <a:solidFill>
                <a:srgbClr val="FF0000"/>
              </a:solidFill>
              <a:cs typeface="Times New Roman" pitchFamily="18" charset="0"/>
            </a:endParaRPr>
          </a:p>
          <a:p>
            <a:pPr>
              <a:lnSpc>
                <a:spcPct val="120000"/>
              </a:lnSpc>
              <a:buClr>
                <a:schemeClr val="folHlink"/>
              </a:buClr>
              <a:buSzPct val="60000"/>
              <a:buFont typeface="Wingdings" pitchFamily="2" charset="2"/>
              <a:buNone/>
            </a:pPr>
            <a:r>
              <a:rPr kumimoji="0" lang="en-US" altLang="zh-CN" sz="2800" b="1" dirty="0" smtClean="0">
                <a:solidFill>
                  <a:srgbClr val="FF0000"/>
                </a:solidFill>
                <a:cs typeface="Times New Roman" pitchFamily="18" charset="0"/>
              </a:rPr>
              <a:t>δ</a:t>
            </a:r>
            <a:endParaRPr kumimoji="0" lang="en-US" altLang="zh-CN" sz="2800" b="1" dirty="0">
              <a:solidFill>
                <a:srgbClr val="FF0000"/>
              </a:solidFill>
              <a:cs typeface="Times New Roman" pitchFamily="18" charset="0"/>
            </a:endParaRPr>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3574"/>
                                        </p:tgtEl>
                                        <p:attrNameLst>
                                          <p:attrName>style.visibility</p:attrName>
                                        </p:attrNameLst>
                                      </p:cBhvr>
                                      <p:to>
                                        <p:strVal val="visible"/>
                                      </p:to>
                                    </p:set>
                                    <p:anim calcmode="lin" valueType="num">
                                      <p:cBhvr additive="base">
                                        <p:cTn id="7" dur="500" fill="hold"/>
                                        <p:tgtEl>
                                          <p:spTgt spid="363574"/>
                                        </p:tgtEl>
                                        <p:attrNameLst>
                                          <p:attrName>ppt_x</p:attrName>
                                        </p:attrNameLst>
                                      </p:cBhvr>
                                      <p:tavLst>
                                        <p:tav tm="0">
                                          <p:val>
                                            <p:strVal val="#ppt_x"/>
                                          </p:val>
                                        </p:tav>
                                        <p:tav tm="100000">
                                          <p:val>
                                            <p:strVal val="#ppt_x"/>
                                          </p:val>
                                        </p:tav>
                                      </p:tavLst>
                                    </p:anim>
                                    <p:anim calcmode="lin" valueType="num">
                                      <p:cBhvr additive="base">
                                        <p:cTn id="8" dur="500" fill="hold"/>
                                        <p:tgtEl>
                                          <p:spTgt spid="36357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63572"/>
                                        </p:tgtEl>
                                        <p:attrNameLst>
                                          <p:attrName>style.visibility</p:attrName>
                                        </p:attrNameLst>
                                      </p:cBhvr>
                                      <p:to>
                                        <p:strVal val="visible"/>
                                      </p:to>
                                    </p:set>
                                    <p:anim calcmode="lin" valueType="num">
                                      <p:cBhvr additive="base">
                                        <p:cTn id="11" dur="500" fill="hold"/>
                                        <p:tgtEl>
                                          <p:spTgt spid="363572"/>
                                        </p:tgtEl>
                                        <p:attrNameLst>
                                          <p:attrName>ppt_x</p:attrName>
                                        </p:attrNameLst>
                                      </p:cBhvr>
                                      <p:tavLst>
                                        <p:tav tm="0">
                                          <p:val>
                                            <p:strVal val="#ppt_x"/>
                                          </p:val>
                                        </p:tav>
                                        <p:tav tm="100000">
                                          <p:val>
                                            <p:strVal val="#ppt_x"/>
                                          </p:val>
                                        </p:tav>
                                      </p:tavLst>
                                    </p:anim>
                                    <p:anim calcmode="lin" valueType="num">
                                      <p:cBhvr additive="base">
                                        <p:cTn id="12" dur="500" fill="hold"/>
                                        <p:tgtEl>
                                          <p:spTgt spid="363572"/>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63576"/>
                                        </p:tgtEl>
                                        <p:attrNameLst>
                                          <p:attrName>style.visibility</p:attrName>
                                        </p:attrNameLst>
                                      </p:cBhvr>
                                      <p:to>
                                        <p:strVal val="visible"/>
                                      </p:to>
                                    </p:set>
                                    <p:anim calcmode="lin" valueType="num">
                                      <p:cBhvr additive="base">
                                        <p:cTn id="17" dur="500" fill="hold"/>
                                        <p:tgtEl>
                                          <p:spTgt spid="363576"/>
                                        </p:tgtEl>
                                        <p:attrNameLst>
                                          <p:attrName>ppt_x</p:attrName>
                                        </p:attrNameLst>
                                      </p:cBhvr>
                                      <p:tavLst>
                                        <p:tav tm="0">
                                          <p:val>
                                            <p:strVal val="#ppt_x"/>
                                          </p:val>
                                        </p:tav>
                                        <p:tav tm="100000">
                                          <p:val>
                                            <p:strVal val="#ppt_x"/>
                                          </p:val>
                                        </p:tav>
                                      </p:tavLst>
                                    </p:anim>
                                    <p:anim calcmode="lin" valueType="num">
                                      <p:cBhvr additive="base">
                                        <p:cTn id="18" dur="500" fill="hold"/>
                                        <p:tgtEl>
                                          <p:spTgt spid="3635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72" grpId="0"/>
      <p:bldP spid="363574" grpId="0"/>
      <p:bldP spid="36357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fld id="{3B67EC5C-A8B0-488A-A83A-C4A9D0B02B34}" type="slidenum">
              <a:rPr lang="en-US" altLang="zh-CN"/>
              <a:pPr/>
              <a:t>17</a:t>
            </a:fld>
            <a:endParaRPr lang="en-US" altLang="zh-CN"/>
          </a:p>
        </p:txBody>
      </p:sp>
      <p:sp>
        <p:nvSpPr>
          <p:cNvPr id="415746" name="Text Box 2"/>
          <p:cNvSpPr txBox="1">
            <a:spLocks noChangeArrowheads="1"/>
          </p:cNvSpPr>
          <p:nvPr/>
        </p:nvSpPr>
        <p:spPr bwMode="auto">
          <a:xfrm>
            <a:off x="539750" y="1052513"/>
            <a:ext cx="7916863"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30000"/>
              </a:lnSpc>
            </a:pPr>
            <a:r>
              <a:rPr lang="zh-CN" altLang="en-US" b="1">
                <a:solidFill>
                  <a:srgbClr val="FF0000"/>
                </a:solidFill>
              </a:rPr>
              <a:t>定理</a:t>
            </a:r>
            <a:r>
              <a:rPr lang="en-US" altLang="zh-CN" b="1">
                <a:solidFill>
                  <a:srgbClr val="FF0000"/>
                </a:solidFill>
              </a:rPr>
              <a:t>5-2.1</a:t>
            </a:r>
            <a:r>
              <a:rPr lang="zh-CN" altLang="en-US" b="1">
                <a:solidFill>
                  <a:srgbClr val="FF0000"/>
                </a:solidFill>
              </a:rPr>
              <a:t>：</a:t>
            </a:r>
            <a:r>
              <a:rPr lang="zh-CN" altLang="en-US" b="1"/>
              <a:t>给定</a:t>
            </a:r>
            <a:r>
              <a:rPr lang="en-US" altLang="zh-CN" b="1"/>
              <a:t>&lt;S, *&gt;</a:t>
            </a:r>
            <a:r>
              <a:rPr lang="zh-CN" altLang="en-US" b="1"/>
              <a:t>且</a:t>
            </a:r>
            <a:r>
              <a:rPr lang="en-US" altLang="zh-CN" b="1"/>
              <a:t>e</a:t>
            </a:r>
            <a:r>
              <a:rPr lang="en-US" altLang="zh-CN" b="1" i="1" baseline="-25000"/>
              <a:t>l</a:t>
            </a:r>
            <a:r>
              <a:rPr lang="en-US" altLang="zh-CN" b="1"/>
              <a:t>, e</a:t>
            </a:r>
            <a:r>
              <a:rPr lang="en-US" altLang="zh-CN" b="1" i="1" baseline="-25000"/>
              <a:t>r</a:t>
            </a:r>
            <a:r>
              <a:rPr lang="zh-CN" altLang="en-US" b="1"/>
              <a:t>分别是关于*的左右幺元，则</a:t>
            </a:r>
            <a:r>
              <a:rPr lang="en-US" altLang="zh-CN" b="1"/>
              <a:t>e</a:t>
            </a:r>
            <a:r>
              <a:rPr lang="en-US" altLang="zh-CN" b="1" i="1" baseline="-25000"/>
              <a:t>l </a:t>
            </a:r>
            <a:r>
              <a:rPr lang="en-US" altLang="zh-CN" b="1"/>
              <a:t>= e</a:t>
            </a:r>
            <a:r>
              <a:rPr lang="en-US" altLang="zh-CN" b="1" i="1" baseline="-25000"/>
              <a:t>r</a:t>
            </a:r>
            <a:r>
              <a:rPr lang="en-US" altLang="zh-CN" b="1"/>
              <a:t> =e</a:t>
            </a:r>
            <a:r>
              <a:rPr lang="zh-CN" altLang="en-US" b="1"/>
              <a:t>，且幺元</a:t>
            </a:r>
            <a:r>
              <a:rPr lang="en-US" altLang="zh-CN" b="1"/>
              <a:t>e</a:t>
            </a:r>
            <a:r>
              <a:rPr lang="zh-CN" altLang="en-US" b="1"/>
              <a:t>唯一。</a:t>
            </a:r>
            <a:endParaRPr lang="zh-CN" altLang="en-US" b="1" baseline="-25000"/>
          </a:p>
        </p:txBody>
      </p:sp>
      <p:sp>
        <p:nvSpPr>
          <p:cNvPr id="415747" name="Text Box 3"/>
          <p:cNvSpPr txBox="1">
            <a:spLocks noChangeArrowheads="1"/>
          </p:cNvSpPr>
          <p:nvPr/>
        </p:nvSpPr>
        <p:spPr bwMode="auto">
          <a:xfrm>
            <a:off x="539750" y="2195513"/>
            <a:ext cx="7916863" cy="1052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30000"/>
              </a:lnSpc>
            </a:pPr>
            <a:r>
              <a:rPr lang="zh-CN" altLang="en-US" b="1" dirty="0"/>
              <a:t>证明： </a:t>
            </a:r>
            <a:r>
              <a:rPr lang="en-US" altLang="zh-CN" b="1" dirty="0" err="1"/>
              <a:t>e</a:t>
            </a:r>
            <a:r>
              <a:rPr lang="en-US" altLang="zh-CN" b="1" i="1" baseline="-25000" dirty="0" err="1"/>
              <a:t>r</a:t>
            </a:r>
            <a:r>
              <a:rPr lang="en-US" altLang="zh-CN" b="1" dirty="0"/>
              <a:t> = e</a:t>
            </a:r>
            <a:r>
              <a:rPr lang="en-US" altLang="zh-CN" b="1" i="1" baseline="-25000" dirty="0"/>
              <a:t>l</a:t>
            </a:r>
            <a:r>
              <a:rPr lang="en-US" altLang="zh-CN" b="1" dirty="0"/>
              <a:t> * </a:t>
            </a:r>
            <a:r>
              <a:rPr lang="en-US" altLang="zh-CN" b="1" dirty="0" err="1"/>
              <a:t>e</a:t>
            </a:r>
            <a:r>
              <a:rPr lang="en-US" altLang="zh-CN" b="1" i="1" baseline="-25000" dirty="0" err="1"/>
              <a:t>r</a:t>
            </a:r>
            <a:r>
              <a:rPr lang="en-US" altLang="zh-CN" b="1" dirty="0"/>
              <a:t> = e</a:t>
            </a:r>
            <a:r>
              <a:rPr lang="en-US" altLang="zh-CN" b="1" i="1" baseline="-25000" dirty="0"/>
              <a:t>l</a:t>
            </a:r>
          </a:p>
          <a:p>
            <a:pPr algn="just">
              <a:lnSpc>
                <a:spcPct val="130000"/>
              </a:lnSpc>
            </a:pPr>
            <a:r>
              <a:rPr lang="en-US" altLang="zh-CN" b="1" dirty="0"/>
              <a:t>       ∴</a:t>
            </a:r>
            <a:r>
              <a:rPr lang="en-US" altLang="zh-CN" b="1" baseline="-25000" dirty="0"/>
              <a:t>    </a:t>
            </a:r>
            <a:r>
              <a:rPr lang="en-US" altLang="zh-CN" b="1" dirty="0"/>
              <a:t>e</a:t>
            </a:r>
            <a:r>
              <a:rPr lang="en-US" altLang="zh-CN" b="1" i="1" baseline="-25000" dirty="0"/>
              <a:t>l</a:t>
            </a:r>
            <a:r>
              <a:rPr lang="en-US" altLang="zh-CN" b="1" dirty="0"/>
              <a:t> = </a:t>
            </a:r>
            <a:r>
              <a:rPr lang="en-US" altLang="zh-CN" b="1" dirty="0" err="1"/>
              <a:t>e</a:t>
            </a:r>
            <a:r>
              <a:rPr lang="en-US" altLang="zh-CN" b="1" i="1" baseline="-25000" dirty="0" err="1"/>
              <a:t>r</a:t>
            </a:r>
            <a:r>
              <a:rPr lang="en-US" altLang="zh-CN" b="1" dirty="0"/>
              <a:t> = e</a:t>
            </a:r>
            <a:r>
              <a:rPr lang="en-US" altLang="zh-CN" b="1" baseline="-25000" dirty="0"/>
              <a:t> </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15747">
                                            <p:txEl>
                                              <p:pRg st="0" end="0"/>
                                            </p:txEl>
                                          </p:spTgt>
                                        </p:tgtEl>
                                        <p:attrNameLst>
                                          <p:attrName>style.visibility</p:attrName>
                                        </p:attrNameLst>
                                      </p:cBhvr>
                                      <p:to>
                                        <p:strVal val="visible"/>
                                      </p:to>
                                    </p:set>
                                    <p:anim calcmode="lin" valueType="num">
                                      <p:cBhvr additive="base">
                                        <p:cTn id="7" dur="500" fill="hold"/>
                                        <p:tgtEl>
                                          <p:spTgt spid="4157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157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15747">
                                            <p:txEl>
                                              <p:pRg st="1" end="1"/>
                                            </p:txEl>
                                          </p:spTgt>
                                        </p:tgtEl>
                                        <p:attrNameLst>
                                          <p:attrName>style.visibility</p:attrName>
                                        </p:attrNameLst>
                                      </p:cBhvr>
                                      <p:to>
                                        <p:strVal val="visible"/>
                                      </p:to>
                                    </p:set>
                                    <p:anim calcmode="lin" valueType="num">
                                      <p:cBhvr additive="base">
                                        <p:cTn id="13" dur="500" fill="hold"/>
                                        <p:tgtEl>
                                          <p:spTgt spid="41574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1574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4"/>
          <p:cNvSpPr>
            <a:spLocks noGrp="1"/>
          </p:cNvSpPr>
          <p:nvPr>
            <p:ph type="sldNum" sz="quarter" idx="11"/>
          </p:nvPr>
        </p:nvSpPr>
        <p:spPr/>
        <p:txBody>
          <a:bodyPr/>
          <a:lstStyle/>
          <a:p>
            <a:fld id="{DEC89FD5-4FE6-4C71-90AE-E0E010719AE3}" type="slidenum">
              <a:rPr lang="en-US" altLang="zh-CN"/>
              <a:pPr/>
              <a:t>18</a:t>
            </a:fld>
            <a:endParaRPr lang="en-US" altLang="zh-CN"/>
          </a:p>
        </p:txBody>
      </p:sp>
      <p:sp>
        <p:nvSpPr>
          <p:cNvPr id="364546" name="Text Box 2"/>
          <p:cNvSpPr txBox="1">
            <a:spLocks noChangeArrowheads="1"/>
          </p:cNvSpPr>
          <p:nvPr/>
        </p:nvSpPr>
        <p:spPr bwMode="auto">
          <a:xfrm>
            <a:off x="539750" y="981075"/>
            <a:ext cx="7916863" cy="294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30000"/>
              </a:lnSpc>
            </a:pPr>
            <a:r>
              <a:rPr lang="zh-CN" altLang="en-US" b="1" dirty="0">
                <a:solidFill>
                  <a:srgbClr val="FF0000"/>
                </a:solidFill>
              </a:rPr>
              <a:t>定义</a:t>
            </a:r>
            <a:r>
              <a:rPr lang="en-US" altLang="zh-CN" b="1" dirty="0">
                <a:solidFill>
                  <a:srgbClr val="FF0000"/>
                </a:solidFill>
              </a:rPr>
              <a:t>5-2.8</a:t>
            </a:r>
            <a:r>
              <a:rPr lang="zh-CN" altLang="en-US" b="1" dirty="0">
                <a:solidFill>
                  <a:srgbClr val="FF0000"/>
                </a:solidFill>
              </a:rPr>
              <a:t>：</a:t>
            </a:r>
            <a:r>
              <a:rPr lang="zh-CN" altLang="en-US" b="1" dirty="0"/>
              <a:t>给定</a:t>
            </a:r>
            <a:r>
              <a:rPr lang="en-US" altLang="zh-CN" b="1" dirty="0"/>
              <a:t>&lt;S, *&gt;</a:t>
            </a:r>
            <a:r>
              <a:rPr lang="zh-CN" altLang="en-US" b="1" dirty="0"/>
              <a:t>且</a:t>
            </a:r>
            <a:r>
              <a:rPr lang="el-GR" altLang="zh-CN" b="1" i="1" dirty="0"/>
              <a:t>θ</a:t>
            </a:r>
            <a:r>
              <a:rPr lang="en-US" altLang="zh-CN" b="1" i="1" baseline="-25000" dirty="0"/>
              <a:t>l</a:t>
            </a:r>
            <a:r>
              <a:rPr lang="zh-CN" altLang="en-US" b="1" dirty="0"/>
              <a:t>，</a:t>
            </a:r>
            <a:r>
              <a:rPr lang="el-GR" altLang="zh-CN" b="1" i="1" dirty="0"/>
              <a:t>θ</a:t>
            </a:r>
            <a:r>
              <a:rPr lang="en-US" altLang="zh-CN" b="1" i="1" baseline="-25000" dirty="0"/>
              <a:t>r</a:t>
            </a:r>
            <a:r>
              <a:rPr lang="zh-CN" altLang="en-US" b="1" dirty="0"/>
              <a:t>，</a:t>
            </a:r>
            <a:r>
              <a:rPr lang="el-GR" altLang="zh-CN" b="1" i="1" dirty="0"/>
              <a:t>θ</a:t>
            </a:r>
            <a:r>
              <a:rPr lang="en-US" altLang="zh-CN" b="1" dirty="0"/>
              <a:t>∈S</a:t>
            </a:r>
            <a:r>
              <a:rPr lang="zh-CN" altLang="en-US" b="1" dirty="0"/>
              <a:t>，则</a:t>
            </a:r>
          </a:p>
          <a:p>
            <a:pPr algn="just">
              <a:lnSpc>
                <a:spcPct val="130000"/>
              </a:lnSpc>
            </a:pPr>
            <a:r>
              <a:rPr lang="el-GR" altLang="zh-CN" b="1" i="1" dirty="0"/>
              <a:t>θ</a:t>
            </a:r>
            <a:r>
              <a:rPr lang="en-US" altLang="zh-CN" b="1" i="1" baseline="-25000" dirty="0"/>
              <a:t>l</a:t>
            </a:r>
            <a:r>
              <a:rPr lang="zh-CN" altLang="en-US" b="1" dirty="0"/>
              <a:t>为关于*的</a:t>
            </a:r>
            <a:r>
              <a:rPr lang="zh-CN" altLang="en-US" b="1" i="1" dirty="0">
                <a:solidFill>
                  <a:srgbClr val="FF0000"/>
                </a:solidFill>
              </a:rPr>
              <a:t>左零元</a:t>
            </a:r>
            <a:r>
              <a:rPr lang="zh-CN" altLang="en-US" b="1" dirty="0"/>
              <a:t>：</a:t>
            </a:r>
            <a:r>
              <a:rPr lang="en-US" altLang="zh-CN" b="1" dirty="0">
                <a:sym typeface="Wingdings" pitchFamily="2" charset="2"/>
              </a:rPr>
              <a:t>(</a:t>
            </a:r>
            <a:r>
              <a:rPr lang="en-US" altLang="zh-CN" b="1" dirty="0">
                <a:sym typeface="Symbol" pitchFamily="18" charset="2"/>
              </a:rPr>
              <a:t>x</a:t>
            </a:r>
            <a:r>
              <a:rPr lang="en-US" altLang="zh-CN" b="1" dirty="0">
                <a:sym typeface="Wingdings" pitchFamily="2" charset="2"/>
              </a:rPr>
              <a:t>)(</a:t>
            </a:r>
            <a:r>
              <a:rPr lang="en-US" altLang="zh-CN" b="1" dirty="0" err="1">
                <a:sym typeface="Wingdings" pitchFamily="2" charset="2"/>
              </a:rPr>
              <a:t>x∈S</a:t>
            </a:r>
            <a:r>
              <a:rPr lang="en-US" altLang="zh-CN" b="1" dirty="0">
                <a:cs typeface="Times New Roman" pitchFamily="18" charset="0"/>
                <a:sym typeface="Wingdings" pitchFamily="2" charset="2"/>
              </a:rPr>
              <a:t>→</a:t>
            </a:r>
            <a:r>
              <a:rPr lang="el-GR" altLang="zh-CN" b="1" i="1" dirty="0"/>
              <a:t>θ</a:t>
            </a:r>
            <a:r>
              <a:rPr lang="en-US" altLang="zh-CN" b="1" i="1" baseline="-25000" dirty="0"/>
              <a:t>l</a:t>
            </a:r>
            <a:r>
              <a:rPr lang="en-US" altLang="zh-CN" b="1" dirty="0"/>
              <a:t>*x =</a:t>
            </a:r>
            <a:r>
              <a:rPr lang="el-GR" altLang="zh-CN" b="1" i="1" dirty="0"/>
              <a:t>θ</a:t>
            </a:r>
            <a:r>
              <a:rPr lang="en-US" altLang="zh-CN" b="1" i="1" baseline="-25000" dirty="0"/>
              <a:t>l </a:t>
            </a:r>
            <a:r>
              <a:rPr lang="en-US" altLang="zh-CN" b="1" dirty="0">
                <a:sym typeface="Wingdings" pitchFamily="2" charset="2"/>
              </a:rPr>
              <a:t>)</a:t>
            </a:r>
            <a:endParaRPr lang="en-US" altLang="zh-CN" b="1" dirty="0"/>
          </a:p>
          <a:p>
            <a:pPr algn="just">
              <a:lnSpc>
                <a:spcPct val="130000"/>
              </a:lnSpc>
            </a:pPr>
            <a:r>
              <a:rPr lang="el-GR" altLang="zh-CN" b="1" i="1" dirty="0"/>
              <a:t>θ</a:t>
            </a:r>
            <a:r>
              <a:rPr lang="en-US" altLang="zh-CN" b="1" i="1" baseline="-25000" dirty="0"/>
              <a:t>r</a:t>
            </a:r>
            <a:r>
              <a:rPr lang="zh-CN" altLang="en-US" b="1" dirty="0"/>
              <a:t>为关于*的</a:t>
            </a:r>
            <a:r>
              <a:rPr lang="zh-CN" altLang="en-US" b="1" i="1" dirty="0">
                <a:solidFill>
                  <a:srgbClr val="FF0000"/>
                </a:solidFill>
              </a:rPr>
              <a:t>右零元</a:t>
            </a:r>
            <a:r>
              <a:rPr lang="zh-CN" altLang="en-US" b="1" dirty="0"/>
              <a:t>：</a:t>
            </a:r>
            <a:r>
              <a:rPr lang="en-US" altLang="zh-CN" b="1" dirty="0">
                <a:sym typeface="Wingdings" pitchFamily="2" charset="2"/>
              </a:rPr>
              <a:t>(</a:t>
            </a:r>
            <a:r>
              <a:rPr lang="en-US" altLang="zh-CN" b="1" dirty="0">
                <a:sym typeface="Symbol" pitchFamily="18" charset="2"/>
              </a:rPr>
              <a:t>x</a:t>
            </a:r>
            <a:r>
              <a:rPr lang="en-US" altLang="zh-CN" b="1" dirty="0">
                <a:sym typeface="Wingdings" pitchFamily="2" charset="2"/>
              </a:rPr>
              <a:t>)(</a:t>
            </a:r>
            <a:r>
              <a:rPr lang="en-US" altLang="zh-CN" b="1" dirty="0" err="1">
                <a:sym typeface="Wingdings" pitchFamily="2" charset="2"/>
              </a:rPr>
              <a:t>x∈S</a:t>
            </a:r>
            <a:r>
              <a:rPr lang="en-US" altLang="zh-CN" b="1" dirty="0">
                <a:cs typeface="Times New Roman" pitchFamily="18" charset="0"/>
                <a:sym typeface="Wingdings" pitchFamily="2" charset="2"/>
              </a:rPr>
              <a:t>→ </a:t>
            </a:r>
            <a:r>
              <a:rPr lang="en-US" altLang="zh-CN" b="1" dirty="0"/>
              <a:t>x*</a:t>
            </a:r>
            <a:r>
              <a:rPr lang="el-GR" altLang="zh-CN" b="1" i="1" dirty="0"/>
              <a:t>θ</a:t>
            </a:r>
            <a:r>
              <a:rPr lang="en-US" altLang="zh-CN" b="1" i="1" baseline="-25000" dirty="0"/>
              <a:t>r </a:t>
            </a:r>
            <a:r>
              <a:rPr lang="en-US" altLang="zh-CN" b="1" dirty="0"/>
              <a:t>=</a:t>
            </a:r>
            <a:r>
              <a:rPr lang="el-GR" altLang="zh-CN" b="1" i="1" dirty="0"/>
              <a:t>θ</a:t>
            </a:r>
            <a:r>
              <a:rPr lang="en-US" altLang="zh-CN" b="1" i="1" baseline="-25000" dirty="0"/>
              <a:t>r </a:t>
            </a:r>
            <a:r>
              <a:rPr lang="en-US" altLang="zh-CN" b="1" dirty="0">
                <a:sym typeface="Wingdings" pitchFamily="2" charset="2"/>
              </a:rPr>
              <a:t>)</a:t>
            </a:r>
            <a:endParaRPr lang="en-US" altLang="zh-CN" b="1" dirty="0"/>
          </a:p>
          <a:p>
            <a:pPr algn="just">
              <a:lnSpc>
                <a:spcPct val="130000"/>
              </a:lnSpc>
            </a:pPr>
            <a:r>
              <a:rPr lang="el-GR" altLang="zh-CN" b="1" i="1" dirty="0"/>
              <a:t>θ</a:t>
            </a:r>
            <a:r>
              <a:rPr lang="zh-CN" altLang="en-US" b="1" dirty="0"/>
              <a:t>为关于*的</a:t>
            </a:r>
            <a:r>
              <a:rPr lang="zh-CN" altLang="en-US" b="1" i="1" dirty="0">
                <a:solidFill>
                  <a:srgbClr val="FF0000"/>
                </a:solidFill>
              </a:rPr>
              <a:t>零元</a:t>
            </a:r>
            <a:r>
              <a:rPr lang="zh-CN" altLang="en-US" b="1" dirty="0"/>
              <a:t>：</a:t>
            </a:r>
            <a:r>
              <a:rPr lang="en-US" altLang="zh-CN" b="1" dirty="0">
                <a:sym typeface="Wingdings" pitchFamily="2" charset="2"/>
              </a:rPr>
              <a:t>(</a:t>
            </a:r>
            <a:r>
              <a:rPr lang="en-US" altLang="zh-CN" b="1" dirty="0">
                <a:sym typeface="Symbol" pitchFamily="18" charset="2"/>
              </a:rPr>
              <a:t>x</a:t>
            </a:r>
            <a:r>
              <a:rPr lang="en-US" altLang="zh-CN" b="1" dirty="0">
                <a:sym typeface="Wingdings" pitchFamily="2" charset="2"/>
              </a:rPr>
              <a:t>)(</a:t>
            </a:r>
            <a:r>
              <a:rPr lang="en-US" altLang="zh-CN" b="1" dirty="0" err="1">
                <a:sym typeface="Wingdings" pitchFamily="2" charset="2"/>
              </a:rPr>
              <a:t>x∈S</a:t>
            </a:r>
            <a:r>
              <a:rPr lang="en-US" altLang="zh-CN" b="1" dirty="0">
                <a:sym typeface="Wingdings" pitchFamily="2" charset="2"/>
              </a:rPr>
              <a:t>→</a:t>
            </a:r>
            <a:r>
              <a:rPr lang="el-GR" altLang="zh-CN" b="1" i="1" dirty="0"/>
              <a:t>θ</a:t>
            </a:r>
            <a:r>
              <a:rPr lang="en-US" altLang="zh-CN" b="1" dirty="0"/>
              <a:t>*x=x*</a:t>
            </a:r>
            <a:r>
              <a:rPr lang="el-GR" altLang="zh-CN" b="1" i="1" dirty="0"/>
              <a:t>θ</a:t>
            </a:r>
            <a:r>
              <a:rPr lang="en-US" altLang="zh-CN" b="1" dirty="0"/>
              <a:t>=</a:t>
            </a:r>
            <a:r>
              <a:rPr lang="el-GR" altLang="zh-CN" b="1" i="1" dirty="0"/>
              <a:t>θ</a:t>
            </a:r>
            <a:r>
              <a:rPr lang="en-US" altLang="zh-CN" b="1" dirty="0">
                <a:sym typeface="Wingdings" pitchFamily="2" charset="2"/>
              </a:rPr>
              <a:t>)</a:t>
            </a:r>
            <a:endParaRPr lang="en-US" altLang="zh-CN" b="1" baseline="-25000" dirty="0"/>
          </a:p>
          <a:p>
            <a:pPr algn="l">
              <a:lnSpc>
                <a:spcPct val="130000"/>
              </a:lnSpc>
            </a:pPr>
            <a:r>
              <a:rPr lang="zh-CN" altLang="en-US" b="1" dirty="0" smtClean="0">
                <a:solidFill>
                  <a:srgbClr val="FF0000"/>
                </a:solidFill>
              </a:rPr>
              <a:t>例</a:t>
            </a:r>
            <a:r>
              <a:rPr lang="en-US" altLang="zh-CN" b="1" dirty="0" smtClean="0">
                <a:solidFill>
                  <a:srgbClr val="FF0000"/>
                </a:solidFill>
              </a:rPr>
              <a:t>5</a:t>
            </a:r>
            <a:r>
              <a:rPr lang="zh-CN" altLang="en-US" b="1" dirty="0" smtClean="0">
                <a:solidFill>
                  <a:srgbClr val="FF0000"/>
                </a:solidFill>
              </a:rPr>
              <a:t>：</a:t>
            </a:r>
            <a:r>
              <a:rPr lang="zh-CN" altLang="en-US" b="1" dirty="0"/>
              <a:t>设集合</a:t>
            </a:r>
            <a:r>
              <a:rPr lang="en-US" altLang="zh-CN" b="1" dirty="0"/>
              <a:t>S={</a:t>
            </a:r>
            <a:r>
              <a:rPr lang="zh-CN" altLang="en-US" b="1" dirty="0"/>
              <a:t>浅色，深色</a:t>
            </a:r>
            <a:r>
              <a:rPr lang="en-US" altLang="zh-CN" b="1" dirty="0"/>
              <a:t>}</a:t>
            </a:r>
            <a:r>
              <a:rPr lang="zh-CN" altLang="en-US" b="1" dirty="0"/>
              <a:t>，定义在</a:t>
            </a:r>
            <a:r>
              <a:rPr lang="en-US" altLang="zh-CN" b="1" dirty="0"/>
              <a:t>S</a:t>
            </a:r>
            <a:r>
              <a:rPr lang="zh-CN" altLang="en-US" b="1" dirty="0"/>
              <a:t>上一个二元运算*如下表所示。</a:t>
            </a:r>
          </a:p>
        </p:txBody>
      </p:sp>
      <p:graphicFrame>
        <p:nvGraphicFramePr>
          <p:cNvPr id="364585" name="Group 41"/>
          <p:cNvGraphicFramePr>
            <a:graphicFrameLocks noGrp="1"/>
          </p:cNvGraphicFramePr>
          <p:nvPr/>
        </p:nvGraphicFramePr>
        <p:xfrm>
          <a:off x="2627313" y="3500438"/>
          <a:ext cx="3673475" cy="1387475"/>
        </p:xfrm>
        <a:graphic>
          <a:graphicData uri="http://schemas.openxmlformats.org/drawingml/2006/table">
            <a:tbl>
              <a:tblPr/>
              <a:tblGrid>
                <a:gridCol w="1152525"/>
                <a:gridCol w="2520950"/>
              </a:tblGrid>
              <a:tr h="2714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1" i="0" u="none" strike="noStrike" cap="none" normalizeH="0" baseline="0" smtClean="0">
                          <a:ln>
                            <a:noFill/>
                          </a:ln>
                          <a:solidFill>
                            <a:srgbClr val="990099"/>
                          </a:solidFill>
                          <a:effectLst/>
                          <a:latin typeface="Times New Roman" pitchFamily="18" charset="0"/>
                          <a:ea typeface="宋体" pitchFamily="2" charset="-122"/>
                        </a:rPr>
                        <a:t>浅色      深色</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302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1" i="0" u="none" strike="noStrike" cap="none" normalizeH="0" baseline="0" smtClean="0">
                          <a:ln>
                            <a:noFill/>
                          </a:ln>
                          <a:solidFill>
                            <a:srgbClr val="990099"/>
                          </a:solidFill>
                          <a:effectLst/>
                          <a:latin typeface="Times New Roman" pitchFamily="18" charset="0"/>
                          <a:ea typeface="宋体" pitchFamily="2" charset="-122"/>
                        </a:rPr>
                        <a:t>浅色</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1" i="0" u="none" strike="noStrike" cap="none" normalizeH="0" baseline="0" smtClean="0">
                          <a:ln>
                            <a:noFill/>
                          </a:ln>
                          <a:solidFill>
                            <a:srgbClr val="990099"/>
                          </a:solidFill>
                          <a:effectLst/>
                          <a:latin typeface="Times New Roman" pitchFamily="18" charset="0"/>
                          <a:ea typeface="宋体" pitchFamily="2" charset="-122"/>
                        </a:rPr>
                        <a:t>深色</a:t>
                      </a:r>
                      <a:endParaRPr kumimoji="0" lang="zh-CN" altLang="en-US" sz="2400" b="1" i="0" u="none" strike="noStrike" cap="none" normalizeH="0" baseline="0" smtClean="0">
                        <a:ln>
                          <a:noFill/>
                        </a:ln>
                        <a:solidFill>
                          <a:srgbClr val="990099"/>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宋体" pitchFamily="2" charset="-122"/>
                        </a:rPr>
                        <a:t>浅色      深色</a:t>
                      </a:r>
                      <a:endParaRPr kumimoji="0" lang="zh-CN" altLang="en-US"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宋体" pitchFamily="2" charset="-122"/>
                        </a:rPr>
                        <a:t>深色      深色</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64584" name="Rectangle 40"/>
          <p:cNvSpPr>
            <a:spLocks noChangeArrowheads="1"/>
          </p:cNvSpPr>
          <p:nvPr/>
        </p:nvSpPr>
        <p:spPr bwMode="auto">
          <a:xfrm>
            <a:off x="468313" y="4797425"/>
            <a:ext cx="8351837" cy="1532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631825" indent="-631825" algn="l">
              <a:lnSpc>
                <a:spcPct val="130000"/>
              </a:lnSpc>
            </a:pPr>
            <a:r>
              <a:rPr lang="zh-CN" altLang="en-US" b="1" dirty="0" smtClean="0">
                <a:solidFill>
                  <a:srgbClr val="FF0000"/>
                </a:solidFill>
              </a:rPr>
              <a:t>如</a:t>
            </a:r>
            <a:r>
              <a:rPr lang="zh-CN" altLang="en-US" b="1" dirty="0">
                <a:solidFill>
                  <a:srgbClr val="FF0000"/>
                </a:solidFill>
              </a:rPr>
              <a:t>：</a:t>
            </a:r>
            <a:r>
              <a:rPr lang="en-US" altLang="zh-CN" b="1" dirty="0">
                <a:ea typeface="楷体_GB2312" pitchFamily="49" charset="-122"/>
              </a:rPr>
              <a:t>(1) </a:t>
            </a:r>
            <a:r>
              <a:rPr lang="zh-CN" altLang="en-US" b="1" dirty="0">
                <a:ea typeface="楷体_GB2312" pitchFamily="49" charset="-122"/>
              </a:rPr>
              <a:t>在</a:t>
            </a:r>
            <a:r>
              <a:rPr lang="en-US" altLang="zh-CN" b="1" dirty="0">
                <a:ea typeface="楷体_GB2312" pitchFamily="49" charset="-122"/>
              </a:rPr>
              <a:t>N</a:t>
            </a:r>
            <a:r>
              <a:rPr lang="zh-CN" altLang="en-US" b="1" dirty="0">
                <a:ea typeface="楷体_GB2312" pitchFamily="49" charset="-122"/>
              </a:rPr>
              <a:t>、</a:t>
            </a:r>
            <a:r>
              <a:rPr lang="en-US" altLang="zh-CN" b="1" dirty="0">
                <a:ea typeface="楷体_GB2312" pitchFamily="49" charset="-122"/>
              </a:rPr>
              <a:t>Z</a:t>
            </a:r>
            <a:r>
              <a:rPr lang="zh-CN" altLang="en-US" b="1" dirty="0">
                <a:ea typeface="楷体_GB2312" pitchFamily="49" charset="-122"/>
              </a:rPr>
              <a:t>、</a:t>
            </a:r>
            <a:r>
              <a:rPr lang="en-US" altLang="zh-CN" b="1" dirty="0">
                <a:ea typeface="楷体_GB2312" pitchFamily="49" charset="-122"/>
              </a:rPr>
              <a:t>Q</a:t>
            </a:r>
            <a:r>
              <a:rPr lang="zh-CN" altLang="en-US" b="1" dirty="0">
                <a:ea typeface="楷体_GB2312" pitchFamily="49" charset="-122"/>
              </a:rPr>
              <a:t>、</a:t>
            </a:r>
            <a:r>
              <a:rPr lang="en-US" altLang="zh-CN" b="1" dirty="0">
                <a:ea typeface="楷体_GB2312" pitchFamily="49" charset="-122"/>
              </a:rPr>
              <a:t>R</a:t>
            </a:r>
            <a:r>
              <a:rPr lang="zh-CN" altLang="en-US" b="1" dirty="0">
                <a:ea typeface="楷体_GB2312" pitchFamily="49" charset="-122"/>
              </a:rPr>
              <a:t>上，</a:t>
            </a:r>
            <a:r>
              <a:rPr lang="en-US" altLang="zh-CN" b="1" dirty="0">
                <a:ea typeface="楷体_GB2312" pitchFamily="49" charset="-122"/>
              </a:rPr>
              <a:t>0</a:t>
            </a:r>
            <a:r>
              <a:rPr lang="zh-CN" altLang="en-US" b="1" dirty="0">
                <a:ea typeface="楷体_GB2312" pitchFamily="49" charset="-122"/>
              </a:rPr>
              <a:t>是乘法的零元，加法没有零元。</a:t>
            </a:r>
          </a:p>
          <a:p>
            <a:pPr marL="631825" indent="-631825" algn="l">
              <a:lnSpc>
                <a:spcPct val="130000"/>
              </a:lnSpc>
            </a:pPr>
            <a:r>
              <a:rPr lang="zh-CN" altLang="en-US" b="1" dirty="0">
                <a:ea typeface="楷体_GB2312" pitchFamily="49" charset="-122"/>
              </a:rPr>
              <a:t>        </a:t>
            </a:r>
            <a:r>
              <a:rPr lang="en-US" altLang="zh-CN" b="1" dirty="0">
                <a:ea typeface="楷体_GB2312" pitchFamily="49" charset="-122"/>
              </a:rPr>
              <a:t>(2) </a:t>
            </a:r>
            <a:r>
              <a:rPr lang="zh-CN" altLang="en-US" b="1" dirty="0">
                <a:ea typeface="楷体_GB2312" pitchFamily="49" charset="-122"/>
              </a:rPr>
              <a:t>在集合上， </a:t>
            </a:r>
            <a:r>
              <a:rPr lang="zh-CN" altLang="en-US" b="1" dirty="0">
                <a:solidFill>
                  <a:srgbClr val="FF0000"/>
                </a:solidFill>
                <a:ea typeface="楷体_GB2312" pitchFamily="49" charset="-122"/>
              </a:rPr>
              <a:t>∪</a:t>
            </a:r>
            <a:r>
              <a:rPr lang="zh-CN" altLang="en-US" b="1" dirty="0">
                <a:ea typeface="楷体_GB2312" pitchFamily="49" charset="-122"/>
              </a:rPr>
              <a:t>运算的零元是全集，</a:t>
            </a:r>
            <a:r>
              <a:rPr lang="zh-CN" altLang="en-US" b="1" dirty="0">
                <a:solidFill>
                  <a:srgbClr val="FF0000"/>
                </a:solidFill>
                <a:ea typeface="楷体_GB2312" pitchFamily="49" charset="-122"/>
              </a:rPr>
              <a:t>∩</a:t>
            </a:r>
            <a:r>
              <a:rPr lang="zh-CN" altLang="en-US" b="1" dirty="0">
                <a:ea typeface="楷体_GB2312" pitchFamily="49" charset="-122"/>
              </a:rPr>
              <a:t>运算的零元是</a:t>
            </a:r>
            <a:r>
              <a:rPr lang="zh-CN" altLang="en-US" b="1" dirty="0">
                <a:sym typeface="Symbol" pitchFamily="18" charset="2"/>
              </a:rPr>
              <a:t></a:t>
            </a:r>
            <a:r>
              <a:rPr lang="zh-CN" altLang="en-US" b="1" dirty="0">
                <a:ea typeface="楷体_GB2312" pitchFamily="49" charset="-122"/>
              </a:rPr>
              <a:t>，</a:t>
            </a:r>
            <a:r>
              <a:rPr lang="zh-CN" altLang="en-US" dirty="0">
                <a:ea typeface="幼圆" pitchFamily="49" charset="-122"/>
                <a:sym typeface="Symbol" pitchFamily="18" charset="2"/>
              </a:rPr>
              <a:t></a:t>
            </a:r>
            <a:r>
              <a:rPr lang="zh-CN" altLang="en-US" b="1" dirty="0">
                <a:ea typeface="楷体_GB2312" pitchFamily="49" charset="-122"/>
              </a:rPr>
              <a:t>无零元。</a:t>
            </a:r>
            <a:endParaRPr lang="zh-CN" altLang="en-US" dirty="0">
              <a:ea typeface="幼圆" pitchFamily="49" charset="-122"/>
            </a:endParaRPr>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64546">
                                            <p:txEl>
                                              <p:pRg st="4" end="4"/>
                                            </p:txEl>
                                          </p:spTgt>
                                        </p:tgtEl>
                                        <p:attrNameLst>
                                          <p:attrName>style.visibility</p:attrName>
                                        </p:attrNameLst>
                                      </p:cBhvr>
                                      <p:to>
                                        <p:strVal val="visible"/>
                                      </p:to>
                                    </p:set>
                                    <p:anim calcmode="lin" valueType="num">
                                      <p:cBhvr additive="base">
                                        <p:cTn id="7" dur="500" fill="hold"/>
                                        <p:tgtEl>
                                          <p:spTgt spid="364546">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454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64585"/>
                                        </p:tgtEl>
                                        <p:attrNameLst>
                                          <p:attrName>style.visibility</p:attrName>
                                        </p:attrNameLst>
                                      </p:cBhvr>
                                      <p:to>
                                        <p:strVal val="visible"/>
                                      </p:to>
                                    </p:set>
                                    <p:anim calcmode="lin" valueType="num">
                                      <p:cBhvr additive="base">
                                        <p:cTn id="13" dur="500" fill="hold"/>
                                        <p:tgtEl>
                                          <p:spTgt spid="364585"/>
                                        </p:tgtEl>
                                        <p:attrNameLst>
                                          <p:attrName>ppt_x</p:attrName>
                                        </p:attrNameLst>
                                      </p:cBhvr>
                                      <p:tavLst>
                                        <p:tav tm="0">
                                          <p:val>
                                            <p:strVal val="#ppt_x"/>
                                          </p:val>
                                        </p:tav>
                                        <p:tav tm="100000">
                                          <p:val>
                                            <p:strVal val="#ppt_x"/>
                                          </p:val>
                                        </p:tav>
                                      </p:tavLst>
                                    </p:anim>
                                    <p:anim calcmode="lin" valueType="num">
                                      <p:cBhvr additive="base">
                                        <p:cTn id="14" dur="500" fill="hold"/>
                                        <p:tgtEl>
                                          <p:spTgt spid="36458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64584">
                                            <p:txEl>
                                              <p:pRg st="0" end="0"/>
                                            </p:txEl>
                                          </p:spTgt>
                                        </p:tgtEl>
                                        <p:attrNameLst>
                                          <p:attrName>style.visibility</p:attrName>
                                        </p:attrNameLst>
                                      </p:cBhvr>
                                      <p:to>
                                        <p:strVal val="visible"/>
                                      </p:to>
                                    </p:set>
                                    <p:anim calcmode="lin" valueType="num">
                                      <p:cBhvr additive="base">
                                        <p:cTn id="19" dur="500" fill="hold"/>
                                        <p:tgtEl>
                                          <p:spTgt spid="364584">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6458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64584">
                                            <p:txEl>
                                              <p:pRg st="1" end="1"/>
                                            </p:txEl>
                                          </p:spTgt>
                                        </p:tgtEl>
                                        <p:attrNameLst>
                                          <p:attrName>style.visibility</p:attrName>
                                        </p:attrNameLst>
                                      </p:cBhvr>
                                      <p:to>
                                        <p:strVal val="visible"/>
                                      </p:to>
                                    </p:set>
                                    <p:anim calcmode="lin" valueType="num">
                                      <p:cBhvr additive="base">
                                        <p:cTn id="25" dur="500" fill="hold"/>
                                        <p:tgtEl>
                                          <p:spTgt spid="364584">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6458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1581FEE9-6A5A-4336-AA6E-0454B7E48D0C}" type="slidenum">
              <a:rPr lang="en-US" altLang="zh-CN"/>
              <a:pPr/>
              <a:t>19</a:t>
            </a:fld>
            <a:endParaRPr lang="en-US" altLang="zh-CN"/>
          </a:p>
        </p:txBody>
      </p:sp>
      <p:sp>
        <p:nvSpPr>
          <p:cNvPr id="366598" name="Text Box 6"/>
          <p:cNvSpPr txBox="1">
            <a:spLocks noChangeArrowheads="1"/>
          </p:cNvSpPr>
          <p:nvPr/>
        </p:nvSpPr>
        <p:spPr bwMode="auto">
          <a:xfrm>
            <a:off x="539750" y="981075"/>
            <a:ext cx="7916863"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lnSpc>
                <a:spcPct val="130000"/>
              </a:lnSpc>
            </a:pPr>
            <a:r>
              <a:rPr lang="zh-CN" altLang="en-US" b="1">
                <a:solidFill>
                  <a:srgbClr val="FF0000"/>
                </a:solidFill>
              </a:rPr>
              <a:t>定理</a:t>
            </a:r>
            <a:r>
              <a:rPr lang="en-US" altLang="zh-CN" b="1">
                <a:solidFill>
                  <a:srgbClr val="FF0000"/>
                </a:solidFill>
              </a:rPr>
              <a:t>5-2.3</a:t>
            </a:r>
            <a:r>
              <a:rPr lang="zh-CN" altLang="en-US" b="1">
                <a:solidFill>
                  <a:srgbClr val="FF0000"/>
                </a:solidFill>
              </a:rPr>
              <a:t>：</a:t>
            </a:r>
            <a:r>
              <a:rPr lang="zh-CN" altLang="en-US" b="1"/>
              <a:t>设</a:t>
            </a:r>
            <a:r>
              <a:rPr lang="en-US" altLang="zh-CN" b="1"/>
              <a:t>A</a:t>
            </a:r>
            <a:r>
              <a:rPr lang="zh-CN" altLang="en-US" b="1"/>
              <a:t>是一个代数系统，且集合</a:t>
            </a:r>
            <a:r>
              <a:rPr lang="en-US" altLang="zh-CN" b="1"/>
              <a:t>A</a:t>
            </a:r>
            <a:r>
              <a:rPr lang="zh-CN" altLang="en-US" b="1"/>
              <a:t>中元素的个数大于</a:t>
            </a:r>
            <a:r>
              <a:rPr lang="en-US" altLang="zh-CN" b="1"/>
              <a:t>1</a:t>
            </a:r>
            <a:r>
              <a:rPr lang="zh-CN" altLang="en-US" b="1"/>
              <a:t>，如果该系统中存在幺元</a:t>
            </a:r>
            <a:r>
              <a:rPr lang="en-US" altLang="zh-CN" b="1"/>
              <a:t>e</a:t>
            </a:r>
            <a:r>
              <a:rPr lang="zh-CN" altLang="en-US" b="1"/>
              <a:t>和零元</a:t>
            </a:r>
            <a:r>
              <a:rPr lang="el-GR" altLang="zh-CN" b="1" i="1"/>
              <a:t>θ</a:t>
            </a:r>
            <a:r>
              <a:rPr lang="zh-CN" altLang="en-US" b="1"/>
              <a:t>，则</a:t>
            </a:r>
            <a:r>
              <a:rPr lang="en-US" altLang="zh-CN" b="1"/>
              <a:t>e≠</a:t>
            </a:r>
            <a:r>
              <a:rPr lang="el-GR" altLang="zh-CN" b="1" i="1"/>
              <a:t>θ</a:t>
            </a:r>
            <a:r>
              <a:rPr lang="zh-CN" altLang="en-US" b="1"/>
              <a:t>。</a:t>
            </a:r>
          </a:p>
        </p:txBody>
      </p:sp>
      <p:sp>
        <p:nvSpPr>
          <p:cNvPr id="366599" name="Text Box 7"/>
          <p:cNvSpPr txBox="1">
            <a:spLocks noChangeArrowheads="1"/>
          </p:cNvSpPr>
          <p:nvPr/>
        </p:nvSpPr>
        <p:spPr bwMode="auto">
          <a:xfrm>
            <a:off x="539750" y="2106613"/>
            <a:ext cx="7916863" cy="2465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30000"/>
              </a:lnSpc>
            </a:pPr>
            <a:r>
              <a:rPr lang="zh-CN" altLang="en-US" b="1" dirty="0"/>
              <a:t>证明：设</a:t>
            </a:r>
            <a:r>
              <a:rPr lang="en-US" altLang="zh-CN" b="1" dirty="0"/>
              <a:t>e=</a:t>
            </a:r>
            <a:r>
              <a:rPr lang="el-GR" altLang="zh-CN" b="1" i="1" dirty="0"/>
              <a:t>θ</a:t>
            </a:r>
            <a:r>
              <a:rPr lang="zh-CN" altLang="en-US" b="1" dirty="0"/>
              <a:t>；则 </a:t>
            </a:r>
            <a:r>
              <a:rPr lang="en-US" altLang="zh-CN" b="1" dirty="0"/>
              <a:t>x = e*x </a:t>
            </a:r>
          </a:p>
          <a:p>
            <a:pPr algn="just">
              <a:lnSpc>
                <a:spcPct val="130000"/>
              </a:lnSpc>
            </a:pPr>
            <a:r>
              <a:rPr lang="en-US" altLang="zh-CN" b="1" dirty="0"/>
              <a:t>                                    =</a:t>
            </a:r>
            <a:r>
              <a:rPr lang="el-GR" altLang="zh-CN" b="1" i="1" dirty="0"/>
              <a:t>θ</a:t>
            </a:r>
            <a:r>
              <a:rPr lang="en-US" altLang="zh-CN" b="1" dirty="0"/>
              <a:t> *x</a:t>
            </a:r>
          </a:p>
          <a:p>
            <a:pPr algn="just">
              <a:lnSpc>
                <a:spcPct val="130000"/>
              </a:lnSpc>
            </a:pPr>
            <a:r>
              <a:rPr lang="en-US" altLang="zh-CN" b="1" dirty="0"/>
              <a:t>                                    =</a:t>
            </a:r>
            <a:r>
              <a:rPr lang="el-GR" altLang="zh-CN" b="1" i="1" dirty="0"/>
              <a:t>θ</a:t>
            </a:r>
            <a:r>
              <a:rPr lang="en-US" altLang="zh-CN" b="1" dirty="0"/>
              <a:t> </a:t>
            </a:r>
          </a:p>
          <a:p>
            <a:pPr algn="just">
              <a:lnSpc>
                <a:spcPct val="130000"/>
              </a:lnSpc>
            </a:pPr>
            <a:r>
              <a:rPr lang="en-US" altLang="zh-CN" b="1" dirty="0"/>
              <a:t>x=</a:t>
            </a:r>
            <a:r>
              <a:rPr lang="el-GR" altLang="zh-CN" b="1" i="1" dirty="0"/>
              <a:t>θ</a:t>
            </a:r>
            <a:r>
              <a:rPr lang="zh-CN" altLang="en-US" b="1" dirty="0"/>
              <a:t>，</a:t>
            </a:r>
          </a:p>
          <a:p>
            <a:pPr algn="just">
              <a:lnSpc>
                <a:spcPct val="130000"/>
              </a:lnSpc>
            </a:pPr>
            <a:r>
              <a:rPr lang="zh-CN" altLang="en-US" b="1" dirty="0"/>
              <a:t>即</a:t>
            </a:r>
            <a:r>
              <a:rPr lang="en-US" altLang="zh-CN" b="1" dirty="0"/>
              <a:t>A</a:t>
            </a:r>
            <a:r>
              <a:rPr lang="zh-CN" altLang="en-US" b="1" dirty="0"/>
              <a:t>中所有元素都是相同的。 </a:t>
            </a:r>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66599">
                                            <p:txEl>
                                              <p:pRg st="0" end="0"/>
                                            </p:txEl>
                                          </p:spTgt>
                                        </p:tgtEl>
                                        <p:attrNameLst>
                                          <p:attrName>style.visibility</p:attrName>
                                        </p:attrNameLst>
                                      </p:cBhvr>
                                      <p:to>
                                        <p:strVal val="visible"/>
                                      </p:to>
                                    </p:set>
                                    <p:anim calcmode="lin" valueType="num">
                                      <p:cBhvr additive="base">
                                        <p:cTn id="7" dur="500" fill="hold"/>
                                        <p:tgtEl>
                                          <p:spTgt spid="3665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65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66599">
                                            <p:txEl>
                                              <p:pRg st="1" end="1"/>
                                            </p:txEl>
                                          </p:spTgt>
                                        </p:tgtEl>
                                        <p:attrNameLst>
                                          <p:attrName>style.visibility</p:attrName>
                                        </p:attrNameLst>
                                      </p:cBhvr>
                                      <p:to>
                                        <p:strVal val="visible"/>
                                      </p:to>
                                    </p:set>
                                    <p:anim calcmode="lin" valueType="num">
                                      <p:cBhvr additive="base">
                                        <p:cTn id="13" dur="500" fill="hold"/>
                                        <p:tgtEl>
                                          <p:spTgt spid="36659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65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66599">
                                            <p:txEl>
                                              <p:pRg st="2" end="2"/>
                                            </p:txEl>
                                          </p:spTgt>
                                        </p:tgtEl>
                                        <p:attrNameLst>
                                          <p:attrName>style.visibility</p:attrName>
                                        </p:attrNameLst>
                                      </p:cBhvr>
                                      <p:to>
                                        <p:strVal val="visible"/>
                                      </p:to>
                                    </p:set>
                                    <p:anim calcmode="lin" valueType="num">
                                      <p:cBhvr additive="base">
                                        <p:cTn id="19" dur="500" fill="hold"/>
                                        <p:tgtEl>
                                          <p:spTgt spid="36659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6659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66599">
                                            <p:txEl>
                                              <p:pRg st="3" end="3"/>
                                            </p:txEl>
                                          </p:spTgt>
                                        </p:tgtEl>
                                        <p:attrNameLst>
                                          <p:attrName>style.visibility</p:attrName>
                                        </p:attrNameLst>
                                      </p:cBhvr>
                                      <p:to>
                                        <p:strVal val="visible"/>
                                      </p:to>
                                    </p:set>
                                    <p:anim calcmode="lin" valueType="num">
                                      <p:cBhvr additive="base">
                                        <p:cTn id="25" dur="500" fill="hold"/>
                                        <p:tgtEl>
                                          <p:spTgt spid="36659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6659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366599">
                                            <p:txEl>
                                              <p:pRg st="4" end="4"/>
                                            </p:txEl>
                                          </p:spTgt>
                                        </p:tgtEl>
                                        <p:attrNameLst>
                                          <p:attrName>style.visibility</p:attrName>
                                        </p:attrNameLst>
                                      </p:cBhvr>
                                      <p:to>
                                        <p:strVal val="visible"/>
                                      </p:to>
                                    </p:set>
                                    <p:anim calcmode="lin" valueType="num">
                                      <p:cBhvr additive="base">
                                        <p:cTn id="31" dur="500" fill="hold"/>
                                        <p:tgtEl>
                                          <p:spTgt spid="36659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6659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fld id="{7C7B6BD7-5CB9-48D7-8125-0BFD6680CAB7}" type="slidenum">
              <a:rPr lang="en-US" altLang="zh-CN"/>
              <a:pPr/>
              <a:t>20</a:t>
            </a:fld>
            <a:endParaRPr lang="en-US" altLang="zh-CN"/>
          </a:p>
        </p:txBody>
      </p:sp>
      <p:sp>
        <p:nvSpPr>
          <p:cNvPr id="417794" name="Text Box 2"/>
          <p:cNvSpPr txBox="1">
            <a:spLocks noChangeArrowheads="1"/>
          </p:cNvSpPr>
          <p:nvPr/>
        </p:nvSpPr>
        <p:spPr bwMode="auto">
          <a:xfrm>
            <a:off x="539750" y="981075"/>
            <a:ext cx="7916863"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30000"/>
              </a:lnSpc>
            </a:pPr>
            <a:r>
              <a:rPr lang="zh-CN" altLang="en-US" b="1">
                <a:solidFill>
                  <a:srgbClr val="FF0000"/>
                </a:solidFill>
              </a:rPr>
              <a:t>定义</a:t>
            </a:r>
            <a:r>
              <a:rPr lang="en-US" altLang="zh-CN" b="1">
                <a:solidFill>
                  <a:srgbClr val="FF0000"/>
                </a:solidFill>
              </a:rPr>
              <a:t>5-2.9</a:t>
            </a:r>
            <a:r>
              <a:rPr lang="zh-CN" altLang="en-US" b="1">
                <a:solidFill>
                  <a:srgbClr val="FF0000"/>
                </a:solidFill>
              </a:rPr>
              <a:t>：</a:t>
            </a:r>
            <a:r>
              <a:rPr lang="zh-CN" altLang="en-US" b="1"/>
              <a:t>给定</a:t>
            </a:r>
            <a:r>
              <a:rPr lang="en-US" altLang="zh-CN" b="1"/>
              <a:t>&lt;S, *&gt;</a:t>
            </a:r>
            <a:r>
              <a:rPr lang="zh-CN" altLang="en-US" b="1"/>
              <a:t>且</a:t>
            </a:r>
            <a:r>
              <a:rPr lang="en-US" altLang="zh-CN" b="1"/>
              <a:t>e</a:t>
            </a:r>
            <a:r>
              <a:rPr lang="zh-CN" altLang="en-US" b="1"/>
              <a:t>，</a:t>
            </a:r>
            <a:r>
              <a:rPr lang="en-US" altLang="zh-CN" b="1"/>
              <a:t>a∈S</a:t>
            </a:r>
            <a:r>
              <a:rPr lang="zh-CN" altLang="en-US" b="1"/>
              <a:t>，</a:t>
            </a:r>
            <a:r>
              <a:rPr lang="en-US" altLang="zh-CN" b="1"/>
              <a:t>e</a:t>
            </a:r>
            <a:r>
              <a:rPr lang="zh-CN" altLang="en-US" b="1"/>
              <a:t>为幺元则</a:t>
            </a:r>
          </a:p>
          <a:p>
            <a:pPr algn="just">
              <a:lnSpc>
                <a:spcPct val="130000"/>
              </a:lnSpc>
            </a:pPr>
            <a:r>
              <a:rPr lang="zh-CN" altLang="en-US" b="1"/>
              <a:t> </a:t>
            </a:r>
            <a:r>
              <a:rPr lang="en-US" altLang="zh-CN" b="1"/>
              <a:t>b</a:t>
            </a:r>
            <a:r>
              <a:rPr lang="zh-CN" altLang="en-US" b="1"/>
              <a:t>为</a:t>
            </a:r>
            <a:r>
              <a:rPr lang="en-US" altLang="zh-CN" b="1"/>
              <a:t>a</a:t>
            </a:r>
            <a:r>
              <a:rPr lang="zh-CN" altLang="en-US" b="1"/>
              <a:t>的</a:t>
            </a:r>
            <a:r>
              <a:rPr lang="zh-CN" altLang="en-US" b="1" i="1">
                <a:solidFill>
                  <a:srgbClr val="FF0000"/>
                </a:solidFill>
              </a:rPr>
              <a:t>左逆元</a:t>
            </a:r>
            <a:r>
              <a:rPr lang="zh-CN" altLang="en-US" b="1">
                <a:sym typeface="Wingdings" pitchFamily="2" charset="2"/>
              </a:rPr>
              <a:t>：</a:t>
            </a:r>
            <a:r>
              <a:rPr lang="en-US" altLang="zh-CN" b="1">
                <a:sym typeface="Wingdings" pitchFamily="2" charset="2"/>
              </a:rPr>
              <a:t>(</a:t>
            </a:r>
            <a:r>
              <a:rPr lang="en-US" altLang="zh-CN" b="1">
                <a:sym typeface="Symbol" pitchFamily="18" charset="2"/>
              </a:rPr>
              <a:t>b</a:t>
            </a:r>
            <a:r>
              <a:rPr lang="en-US" altLang="zh-CN" b="1">
                <a:sym typeface="Wingdings" pitchFamily="2" charset="2"/>
              </a:rPr>
              <a:t>)(b∈S</a:t>
            </a:r>
            <a:r>
              <a:rPr lang="en-US" altLang="zh-CN" b="1">
                <a:latin typeface="宋体" pitchFamily="2" charset="-122"/>
                <a:cs typeface="Times New Roman" pitchFamily="18" charset="0"/>
                <a:sym typeface="Wingdings" pitchFamily="2" charset="2"/>
              </a:rPr>
              <a:t>∧</a:t>
            </a:r>
            <a:r>
              <a:rPr lang="en-US" altLang="zh-CN" b="1"/>
              <a:t>b*a=e</a:t>
            </a:r>
            <a:r>
              <a:rPr lang="en-US" altLang="zh-CN" b="1">
                <a:sym typeface="Wingdings" pitchFamily="2" charset="2"/>
              </a:rPr>
              <a:t>)</a:t>
            </a:r>
            <a:endParaRPr lang="en-US" altLang="zh-CN" b="1"/>
          </a:p>
          <a:p>
            <a:pPr algn="just">
              <a:lnSpc>
                <a:spcPct val="130000"/>
              </a:lnSpc>
            </a:pPr>
            <a:r>
              <a:rPr lang="en-US" altLang="zh-CN" b="1"/>
              <a:t> b</a:t>
            </a:r>
            <a:r>
              <a:rPr lang="zh-CN" altLang="en-US" b="1"/>
              <a:t>为</a:t>
            </a:r>
            <a:r>
              <a:rPr lang="en-US" altLang="zh-CN" b="1"/>
              <a:t>a</a:t>
            </a:r>
            <a:r>
              <a:rPr lang="zh-CN" altLang="en-US" b="1"/>
              <a:t>的</a:t>
            </a:r>
            <a:r>
              <a:rPr lang="zh-CN" altLang="en-US" b="1" i="1">
                <a:solidFill>
                  <a:srgbClr val="FF0000"/>
                </a:solidFill>
              </a:rPr>
              <a:t>右逆元</a:t>
            </a:r>
            <a:r>
              <a:rPr lang="zh-CN" altLang="en-US" b="1"/>
              <a:t>：</a:t>
            </a:r>
            <a:r>
              <a:rPr lang="en-US" altLang="zh-CN" b="1">
                <a:sym typeface="Wingdings" pitchFamily="2" charset="2"/>
              </a:rPr>
              <a:t>(</a:t>
            </a:r>
            <a:r>
              <a:rPr lang="en-US" altLang="zh-CN" b="1">
                <a:sym typeface="Symbol" pitchFamily="18" charset="2"/>
              </a:rPr>
              <a:t>b</a:t>
            </a:r>
            <a:r>
              <a:rPr lang="en-US" altLang="zh-CN" b="1">
                <a:sym typeface="Wingdings" pitchFamily="2" charset="2"/>
              </a:rPr>
              <a:t>)(b∈S</a:t>
            </a:r>
            <a:r>
              <a:rPr lang="en-US" altLang="zh-CN" b="1">
                <a:latin typeface="宋体" pitchFamily="2" charset="-122"/>
                <a:cs typeface="Times New Roman" pitchFamily="18" charset="0"/>
                <a:sym typeface="Wingdings" pitchFamily="2" charset="2"/>
              </a:rPr>
              <a:t>∧</a:t>
            </a:r>
            <a:r>
              <a:rPr lang="en-US" altLang="zh-CN" b="1"/>
              <a:t>a*b=e</a:t>
            </a:r>
            <a:r>
              <a:rPr lang="en-US" altLang="zh-CN" b="1">
                <a:sym typeface="Wingdings" pitchFamily="2" charset="2"/>
              </a:rPr>
              <a:t>)</a:t>
            </a:r>
            <a:endParaRPr lang="en-US" altLang="zh-CN" b="1"/>
          </a:p>
          <a:p>
            <a:pPr algn="just">
              <a:lnSpc>
                <a:spcPct val="130000"/>
              </a:lnSpc>
            </a:pPr>
            <a:r>
              <a:rPr lang="en-US" altLang="zh-CN" b="1"/>
              <a:t> b</a:t>
            </a:r>
            <a:r>
              <a:rPr lang="zh-CN" altLang="en-US" b="1"/>
              <a:t>为</a:t>
            </a:r>
            <a:r>
              <a:rPr lang="en-US" altLang="zh-CN" b="1"/>
              <a:t>a</a:t>
            </a:r>
            <a:r>
              <a:rPr lang="zh-CN" altLang="en-US" b="1"/>
              <a:t>的</a:t>
            </a:r>
            <a:r>
              <a:rPr lang="zh-CN" altLang="en-US" b="1">
                <a:solidFill>
                  <a:srgbClr val="FF0000"/>
                </a:solidFill>
              </a:rPr>
              <a:t>逆元</a:t>
            </a:r>
            <a:r>
              <a:rPr lang="zh-CN" altLang="en-US" b="1"/>
              <a:t>：</a:t>
            </a:r>
            <a:r>
              <a:rPr lang="en-US" altLang="zh-CN" b="1">
                <a:sym typeface="Wingdings" pitchFamily="2" charset="2"/>
              </a:rPr>
              <a:t>(</a:t>
            </a:r>
            <a:r>
              <a:rPr lang="en-US" altLang="zh-CN" b="1">
                <a:sym typeface="Symbol" pitchFamily="18" charset="2"/>
              </a:rPr>
              <a:t>b</a:t>
            </a:r>
            <a:r>
              <a:rPr lang="en-US" altLang="zh-CN" b="1">
                <a:sym typeface="Wingdings" pitchFamily="2" charset="2"/>
              </a:rPr>
              <a:t>)(b∈S∧</a:t>
            </a:r>
            <a:r>
              <a:rPr lang="en-US" altLang="zh-CN" b="1"/>
              <a:t>b*a=a*b=e</a:t>
            </a:r>
            <a:r>
              <a:rPr lang="en-US" altLang="zh-CN" b="1">
                <a:sym typeface="Wingdings" pitchFamily="2" charset="2"/>
              </a:rPr>
              <a:t>)</a:t>
            </a:r>
          </a:p>
        </p:txBody>
      </p:sp>
      <p:sp>
        <p:nvSpPr>
          <p:cNvPr id="417798" name="Rectangle 6"/>
          <p:cNvSpPr>
            <a:spLocks noChangeArrowheads="1"/>
          </p:cNvSpPr>
          <p:nvPr/>
        </p:nvSpPr>
        <p:spPr bwMode="auto">
          <a:xfrm>
            <a:off x="539750" y="2997200"/>
            <a:ext cx="7916863" cy="151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lang="zh-CN" altLang="en-US" b="1">
                <a:solidFill>
                  <a:srgbClr val="FF0000"/>
                </a:solidFill>
              </a:rPr>
              <a:t>考虑：</a:t>
            </a:r>
          </a:p>
          <a:p>
            <a:pPr algn="l">
              <a:lnSpc>
                <a:spcPct val="130000"/>
              </a:lnSpc>
            </a:pPr>
            <a:r>
              <a:rPr lang="en-US" altLang="zh-CN" b="1">
                <a:ea typeface="楷体_GB2312" pitchFamily="49" charset="-122"/>
              </a:rPr>
              <a:t>(1) </a:t>
            </a:r>
            <a:r>
              <a:rPr lang="zh-CN" altLang="en-US" b="1">
                <a:ea typeface="楷体_GB2312" pitchFamily="49" charset="-122"/>
              </a:rPr>
              <a:t>整数集合</a:t>
            </a:r>
            <a:r>
              <a:rPr lang="en-US" altLang="zh-CN" b="1">
                <a:ea typeface="楷体_GB2312" pitchFamily="49" charset="-122"/>
              </a:rPr>
              <a:t>Z</a:t>
            </a:r>
            <a:r>
              <a:rPr lang="zh-CN" altLang="en-US" b="1">
                <a:ea typeface="楷体_GB2312" pitchFamily="49" charset="-122"/>
              </a:rPr>
              <a:t>上，加法逆元</a:t>
            </a:r>
            <a:r>
              <a:rPr lang="en-US" altLang="zh-CN" b="1">
                <a:ea typeface="楷体_GB2312" pitchFamily="49" charset="-122"/>
              </a:rPr>
              <a:t>?</a:t>
            </a:r>
          </a:p>
          <a:p>
            <a:pPr algn="l">
              <a:lnSpc>
                <a:spcPct val="130000"/>
              </a:lnSpc>
            </a:pPr>
            <a:r>
              <a:rPr lang="en-US" altLang="zh-CN" b="1">
                <a:ea typeface="楷体_GB2312" pitchFamily="49" charset="-122"/>
              </a:rPr>
              <a:t>(2) </a:t>
            </a:r>
            <a:r>
              <a:rPr lang="zh-CN" altLang="en-US" b="1">
                <a:ea typeface="楷体_GB2312" pitchFamily="49" charset="-122"/>
              </a:rPr>
              <a:t>在集合上，</a:t>
            </a:r>
            <a:r>
              <a:rPr lang="zh-CN" altLang="en-US" b="1">
                <a:solidFill>
                  <a:srgbClr val="FF0000"/>
                </a:solidFill>
                <a:ea typeface="楷体_GB2312" pitchFamily="49" charset="-122"/>
              </a:rPr>
              <a:t>∪</a:t>
            </a:r>
            <a:r>
              <a:rPr lang="zh-CN" altLang="en-US" b="1">
                <a:ea typeface="楷体_GB2312" pitchFamily="49" charset="-122"/>
              </a:rPr>
              <a:t>运算、</a:t>
            </a:r>
            <a:r>
              <a:rPr lang="zh-CN" altLang="en-US" b="1">
                <a:solidFill>
                  <a:srgbClr val="FF0000"/>
                </a:solidFill>
                <a:ea typeface="楷体_GB2312" pitchFamily="49" charset="-122"/>
              </a:rPr>
              <a:t>∩</a:t>
            </a:r>
            <a:r>
              <a:rPr lang="zh-CN" altLang="en-US" b="1">
                <a:ea typeface="楷体_GB2312" pitchFamily="49" charset="-122"/>
              </a:rPr>
              <a:t>运算的逆元</a:t>
            </a:r>
            <a:r>
              <a:rPr lang="en-US" altLang="zh-CN" b="1">
                <a:ea typeface="楷体_GB2312" pitchFamily="49" charset="-122"/>
              </a:rPr>
              <a:t>?</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17798">
                                            <p:txEl>
                                              <p:pRg st="0" end="0"/>
                                            </p:txEl>
                                          </p:spTgt>
                                        </p:tgtEl>
                                        <p:attrNameLst>
                                          <p:attrName>style.visibility</p:attrName>
                                        </p:attrNameLst>
                                      </p:cBhvr>
                                      <p:to>
                                        <p:strVal val="visible"/>
                                      </p:to>
                                    </p:set>
                                    <p:anim calcmode="lin" valueType="num">
                                      <p:cBhvr additive="base">
                                        <p:cTn id="7" dur="500" fill="hold"/>
                                        <p:tgtEl>
                                          <p:spTgt spid="4177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177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17798">
                                            <p:txEl>
                                              <p:pRg st="1" end="1"/>
                                            </p:txEl>
                                          </p:spTgt>
                                        </p:tgtEl>
                                        <p:attrNameLst>
                                          <p:attrName>style.visibility</p:attrName>
                                        </p:attrNameLst>
                                      </p:cBhvr>
                                      <p:to>
                                        <p:strVal val="visible"/>
                                      </p:to>
                                    </p:set>
                                    <p:anim calcmode="lin" valueType="num">
                                      <p:cBhvr additive="base">
                                        <p:cTn id="13" dur="500" fill="hold"/>
                                        <p:tgtEl>
                                          <p:spTgt spid="4177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177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17798">
                                            <p:txEl>
                                              <p:pRg st="2" end="2"/>
                                            </p:txEl>
                                          </p:spTgt>
                                        </p:tgtEl>
                                        <p:attrNameLst>
                                          <p:attrName>style.visibility</p:attrName>
                                        </p:attrNameLst>
                                      </p:cBhvr>
                                      <p:to>
                                        <p:strVal val="visible"/>
                                      </p:to>
                                    </p:set>
                                    <p:anim calcmode="lin" valueType="num">
                                      <p:cBhvr additive="base">
                                        <p:cTn id="19" dur="500" fill="hold"/>
                                        <p:tgtEl>
                                          <p:spTgt spid="4177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1779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DEE16BDD-9D14-4573-BD68-2E849A48C582}" type="slidenum">
              <a:rPr lang="en-US" altLang="zh-CN"/>
              <a:pPr/>
              <a:t>21</a:t>
            </a:fld>
            <a:endParaRPr lang="en-US" altLang="zh-CN"/>
          </a:p>
        </p:txBody>
      </p:sp>
      <p:sp>
        <p:nvSpPr>
          <p:cNvPr id="367622" name="Text Box 6"/>
          <p:cNvSpPr txBox="1">
            <a:spLocks noChangeArrowheads="1"/>
          </p:cNvSpPr>
          <p:nvPr/>
        </p:nvSpPr>
        <p:spPr bwMode="auto">
          <a:xfrm>
            <a:off x="539750" y="981075"/>
            <a:ext cx="7916863" cy="2465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lnSpc>
                <a:spcPct val="130000"/>
              </a:lnSpc>
              <a:buClr>
                <a:srgbClr val="990099"/>
              </a:buClr>
              <a:buFont typeface="Wingdings" pitchFamily="2" charset="2"/>
              <a:buNone/>
            </a:pPr>
            <a:r>
              <a:rPr kumimoji="0" lang="zh-CN" altLang="en-US" b="1" dirty="0">
                <a:solidFill>
                  <a:srgbClr val="FF0000"/>
                </a:solidFill>
              </a:rPr>
              <a:t>注意：</a:t>
            </a:r>
          </a:p>
          <a:p>
            <a:pPr algn="l" eaLnBrk="0" hangingPunct="0">
              <a:lnSpc>
                <a:spcPct val="130000"/>
              </a:lnSpc>
              <a:buClr>
                <a:srgbClr val="990099"/>
              </a:buClr>
              <a:buFont typeface="Wingdings" pitchFamily="2" charset="2"/>
              <a:buChar char="Ø"/>
            </a:pPr>
            <a:r>
              <a:rPr kumimoji="0" lang="zh-CN" altLang="en-US" b="1" dirty="0"/>
              <a:t>若</a:t>
            </a:r>
            <a:r>
              <a:rPr kumimoji="0" lang="en-US" altLang="zh-CN" b="1" dirty="0"/>
              <a:t>b</a:t>
            </a:r>
            <a:r>
              <a:rPr kumimoji="0" lang="zh-CN" altLang="en-US" b="1" dirty="0"/>
              <a:t>是</a:t>
            </a:r>
            <a:r>
              <a:rPr kumimoji="0" lang="en-US" altLang="zh-CN" b="1" dirty="0"/>
              <a:t>a</a:t>
            </a:r>
            <a:r>
              <a:rPr kumimoji="0" lang="zh-CN" altLang="en-US" b="1" dirty="0"/>
              <a:t>的逆元，则</a:t>
            </a:r>
            <a:r>
              <a:rPr kumimoji="0" lang="en-US" altLang="zh-CN" b="1" dirty="0"/>
              <a:t>a</a:t>
            </a:r>
            <a:r>
              <a:rPr kumimoji="0" lang="zh-CN" altLang="en-US" b="1" dirty="0"/>
              <a:t>也是</a:t>
            </a:r>
            <a:r>
              <a:rPr kumimoji="0" lang="en-US" altLang="zh-CN" b="1" dirty="0"/>
              <a:t>b</a:t>
            </a:r>
            <a:r>
              <a:rPr kumimoji="0" lang="zh-CN" altLang="en-US" b="1" dirty="0"/>
              <a:t>的逆元，简称</a:t>
            </a:r>
            <a:r>
              <a:rPr kumimoji="0" lang="en-US" altLang="zh-CN" b="1" dirty="0"/>
              <a:t>a</a:t>
            </a:r>
            <a:r>
              <a:rPr kumimoji="0" lang="zh-CN" altLang="en-US" b="1" dirty="0"/>
              <a:t>与</a:t>
            </a:r>
            <a:r>
              <a:rPr kumimoji="0" lang="en-US" altLang="zh-CN" b="1" dirty="0"/>
              <a:t>b</a:t>
            </a:r>
            <a:r>
              <a:rPr kumimoji="0" lang="zh-CN" altLang="en-US" b="1" dirty="0"/>
              <a:t>互为逆元。一个元素</a:t>
            </a:r>
            <a:r>
              <a:rPr kumimoji="0" lang="en-US" altLang="zh-CN" b="1" dirty="0"/>
              <a:t>x</a:t>
            </a:r>
            <a:r>
              <a:rPr kumimoji="0" lang="zh-CN" altLang="en-US" b="1" dirty="0"/>
              <a:t>的逆元记为</a:t>
            </a:r>
            <a:r>
              <a:rPr kumimoji="0" lang="en-US" altLang="zh-CN" b="1" dirty="0"/>
              <a:t>x</a:t>
            </a:r>
            <a:r>
              <a:rPr kumimoji="0" lang="en-US" altLang="zh-CN" b="1" baseline="30000" dirty="0"/>
              <a:t>-1</a:t>
            </a:r>
            <a:r>
              <a:rPr kumimoji="0" lang="zh-CN" altLang="en-US" b="1" dirty="0"/>
              <a:t>。</a:t>
            </a:r>
          </a:p>
          <a:p>
            <a:pPr algn="l" eaLnBrk="0" hangingPunct="0">
              <a:lnSpc>
                <a:spcPct val="130000"/>
              </a:lnSpc>
              <a:buClr>
                <a:srgbClr val="990099"/>
              </a:buClr>
              <a:buFont typeface="Wingdings" pitchFamily="2" charset="2"/>
              <a:buChar char="Ø"/>
            </a:pPr>
            <a:r>
              <a:rPr kumimoji="0" lang="zh-CN" altLang="en-US" b="1" dirty="0"/>
              <a:t>一个元素的左逆不一定等于右逆，并且不一定都存在，也不一定唯一。</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67622">
                                            <p:txEl>
                                              <p:pRg st="2" end="2"/>
                                            </p:txEl>
                                          </p:spTgt>
                                        </p:tgtEl>
                                        <p:attrNameLst>
                                          <p:attrName>style.visibility</p:attrName>
                                        </p:attrNameLst>
                                      </p:cBhvr>
                                      <p:to>
                                        <p:strVal val="visible"/>
                                      </p:to>
                                    </p:set>
                                    <p:anim calcmode="lin" valueType="num">
                                      <p:cBhvr additive="base">
                                        <p:cTn id="7" dur="500" fill="hold"/>
                                        <p:tgtEl>
                                          <p:spTgt spid="367622">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762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灯片编号占位符 2"/>
          <p:cNvSpPr>
            <a:spLocks noGrp="1"/>
          </p:cNvSpPr>
          <p:nvPr>
            <p:ph type="sldNum" sz="quarter" idx="11"/>
          </p:nvPr>
        </p:nvSpPr>
        <p:spPr/>
        <p:txBody>
          <a:bodyPr/>
          <a:lstStyle/>
          <a:p>
            <a:fld id="{957C814D-F369-420D-8D59-96FE4B9BAFBE}" type="slidenum">
              <a:rPr lang="en-US" altLang="zh-CN"/>
              <a:pPr/>
              <a:t>22</a:t>
            </a:fld>
            <a:endParaRPr lang="en-US" altLang="zh-CN"/>
          </a:p>
        </p:txBody>
      </p:sp>
      <p:sp>
        <p:nvSpPr>
          <p:cNvPr id="418818" name="Text Box 2"/>
          <p:cNvSpPr txBox="1">
            <a:spLocks noChangeArrowheads="1"/>
          </p:cNvSpPr>
          <p:nvPr/>
        </p:nvSpPr>
        <p:spPr bwMode="auto">
          <a:xfrm>
            <a:off x="539750" y="1052513"/>
            <a:ext cx="2895600"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038" rIns="90000" bIns="46038">
            <a:spAutoFit/>
          </a:bodyPr>
          <a:lstStyle/>
          <a:p>
            <a:pPr algn="l">
              <a:lnSpc>
                <a:spcPct val="130000"/>
              </a:lnSpc>
            </a:pPr>
            <a:r>
              <a:rPr kumimoji="0" lang="zh-CN" altLang="en-US" b="1" dirty="0" smtClean="0">
                <a:solidFill>
                  <a:srgbClr val="FF0000"/>
                </a:solidFill>
              </a:rPr>
              <a:t>例</a:t>
            </a:r>
            <a:r>
              <a:rPr kumimoji="0" lang="en-US" altLang="zh-CN" b="1" dirty="0" smtClean="0">
                <a:solidFill>
                  <a:srgbClr val="FF0000"/>
                </a:solidFill>
              </a:rPr>
              <a:t>6</a:t>
            </a:r>
            <a:r>
              <a:rPr kumimoji="0" lang="zh-CN" altLang="en-US" b="1" dirty="0" smtClean="0">
                <a:solidFill>
                  <a:srgbClr val="FF0000"/>
                </a:solidFill>
              </a:rPr>
              <a:t>：</a:t>
            </a:r>
            <a:r>
              <a:rPr lang="zh-CN" altLang="en-US" b="1" dirty="0">
                <a:sym typeface="Symbol" pitchFamily="18" charset="2"/>
              </a:rPr>
              <a:t>设</a:t>
            </a:r>
            <a:r>
              <a:rPr lang="en-US" altLang="zh-CN" b="1" dirty="0">
                <a:sym typeface="Symbol" pitchFamily="18" charset="2"/>
              </a:rPr>
              <a:t>A={1, 2, 3, 4, 5}</a:t>
            </a:r>
            <a:r>
              <a:rPr lang="zh-CN" altLang="en-US" b="1" dirty="0">
                <a:sym typeface="Symbol" pitchFamily="18" charset="2"/>
              </a:rPr>
              <a:t>，</a:t>
            </a:r>
            <a:r>
              <a:rPr lang="zh-CN" altLang="en-US" b="1" dirty="0">
                <a:cs typeface="Times New Roman" pitchFamily="18" charset="0"/>
                <a:sym typeface="Symbol" pitchFamily="18" charset="2"/>
              </a:rPr>
              <a:t>◦</a:t>
            </a:r>
            <a:r>
              <a:rPr lang="zh-CN" altLang="en-US" b="1" dirty="0">
                <a:sym typeface="Symbol" pitchFamily="18" charset="2"/>
              </a:rPr>
              <a:t>的运算表为：</a:t>
            </a:r>
          </a:p>
        </p:txBody>
      </p:sp>
      <p:sp>
        <p:nvSpPr>
          <p:cNvPr id="418819" name="Text Box 3"/>
          <p:cNvSpPr txBox="1">
            <a:spLocks noChangeArrowheads="1"/>
          </p:cNvSpPr>
          <p:nvPr/>
        </p:nvSpPr>
        <p:spPr bwMode="auto">
          <a:xfrm>
            <a:off x="539750" y="4325938"/>
            <a:ext cx="7916863"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038" rIns="90000" bIns="46038">
            <a:spAutoFit/>
          </a:bodyPr>
          <a:lstStyle/>
          <a:p>
            <a:pPr algn="l">
              <a:lnSpc>
                <a:spcPct val="130000"/>
              </a:lnSpc>
            </a:pPr>
            <a:r>
              <a:rPr lang="en-US" altLang="zh-CN" b="1">
                <a:sym typeface="Symbol" pitchFamily="18" charset="2"/>
              </a:rPr>
              <a:t>1</a:t>
            </a:r>
            <a:r>
              <a:rPr lang="zh-CN" altLang="en-US" b="1">
                <a:sym typeface="Symbol" pitchFamily="18" charset="2"/>
              </a:rPr>
              <a:t>为幺元，</a:t>
            </a:r>
            <a:r>
              <a:rPr lang="en-US" altLang="zh-CN" b="1">
                <a:sym typeface="Symbol" pitchFamily="18" charset="2"/>
              </a:rPr>
              <a:t>2</a:t>
            </a:r>
            <a:r>
              <a:rPr lang="zh-CN" altLang="en-US" b="1">
                <a:sym typeface="Symbol" pitchFamily="18" charset="2"/>
              </a:rPr>
              <a:t>，</a:t>
            </a:r>
            <a:r>
              <a:rPr lang="en-US" altLang="zh-CN" b="1">
                <a:sym typeface="Symbol" pitchFamily="18" charset="2"/>
              </a:rPr>
              <a:t>4</a:t>
            </a:r>
            <a:r>
              <a:rPr lang="zh-CN" altLang="en-US" b="1">
                <a:sym typeface="Symbol" pitchFamily="18" charset="2"/>
              </a:rPr>
              <a:t>都是</a:t>
            </a:r>
            <a:r>
              <a:rPr lang="en-US" altLang="zh-CN" b="1">
                <a:sym typeface="Symbol" pitchFamily="18" charset="2"/>
              </a:rPr>
              <a:t>3</a:t>
            </a:r>
            <a:r>
              <a:rPr lang="zh-CN" altLang="en-US" b="1">
                <a:sym typeface="Symbol" pitchFamily="18" charset="2"/>
              </a:rPr>
              <a:t>的左逆元，</a:t>
            </a:r>
            <a:r>
              <a:rPr lang="en-US" altLang="zh-CN" b="1">
                <a:sym typeface="Symbol" pitchFamily="18" charset="2"/>
              </a:rPr>
              <a:t>3</a:t>
            </a:r>
            <a:r>
              <a:rPr lang="zh-CN" altLang="en-US" b="1">
                <a:sym typeface="Symbol" pitchFamily="18" charset="2"/>
              </a:rPr>
              <a:t>是</a:t>
            </a:r>
            <a:r>
              <a:rPr lang="en-US" altLang="zh-CN" b="1">
                <a:sym typeface="Symbol" pitchFamily="18" charset="2"/>
              </a:rPr>
              <a:t>5</a:t>
            </a:r>
            <a:r>
              <a:rPr lang="zh-CN" altLang="en-US" b="1">
                <a:sym typeface="Symbol" pitchFamily="18" charset="2"/>
              </a:rPr>
              <a:t>的左逆元</a:t>
            </a:r>
          </a:p>
          <a:p>
            <a:pPr algn="l">
              <a:lnSpc>
                <a:spcPct val="130000"/>
              </a:lnSpc>
            </a:pPr>
            <a:r>
              <a:rPr lang="zh-CN" altLang="en-US" b="1">
                <a:sym typeface="Symbol" pitchFamily="18" charset="2"/>
              </a:rPr>
              <a:t>所以</a:t>
            </a:r>
            <a:r>
              <a:rPr lang="en-US" altLang="zh-CN" b="1">
                <a:sym typeface="Symbol" pitchFamily="18" charset="2"/>
              </a:rPr>
              <a:t>3</a:t>
            </a:r>
            <a:r>
              <a:rPr lang="zh-CN" altLang="en-US" b="1">
                <a:sym typeface="Symbol" pitchFamily="18" charset="2"/>
              </a:rPr>
              <a:t>是</a:t>
            </a:r>
            <a:r>
              <a:rPr lang="en-US" altLang="zh-CN" b="1">
                <a:sym typeface="Symbol" pitchFamily="18" charset="2"/>
              </a:rPr>
              <a:t>2</a:t>
            </a:r>
            <a:r>
              <a:rPr lang="zh-CN" altLang="en-US" b="1">
                <a:sym typeface="Symbol" pitchFamily="18" charset="2"/>
              </a:rPr>
              <a:t>，</a:t>
            </a:r>
            <a:r>
              <a:rPr lang="en-US" altLang="zh-CN" b="1">
                <a:sym typeface="Symbol" pitchFamily="18" charset="2"/>
              </a:rPr>
              <a:t>4</a:t>
            </a:r>
            <a:r>
              <a:rPr lang="zh-CN" altLang="en-US" b="1">
                <a:sym typeface="Symbol" pitchFamily="18" charset="2"/>
              </a:rPr>
              <a:t>的右逆元， </a:t>
            </a:r>
            <a:r>
              <a:rPr lang="en-US" altLang="zh-CN" b="1">
                <a:sym typeface="Symbol" pitchFamily="18" charset="2"/>
              </a:rPr>
              <a:t>5</a:t>
            </a:r>
            <a:r>
              <a:rPr lang="zh-CN" altLang="en-US" b="1">
                <a:sym typeface="Symbol" pitchFamily="18" charset="2"/>
              </a:rPr>
              <a:t>是</a:t>
            </a:r>
            <a:r>
              <a:rPr lang="en-US" altLang="zh-CN" b="1">
                <a:sym typeface="Symbol" pitchFamily="18" charset="2"/>
              </a:rPr>
              <a:t>3</a:t>
            </a:r>
            <a:r>
              <a:rPr lang="zh-CN" altLang="en-US" b="1">
                <a:sym typeface="Symbol" pitchFamily="18" charset="2"/>
              </a:rPr>
              <a:t>的右逆元，但</a:t>
            </a:r>
            <a:r>
              <a:rPr lang="en-US" altLang="zh-CN" b="1">
                <a:sym typeface="Symbol" pitchFamily="18" charset="2"/>
              </a:rPr>
              <a:t>3</a:t>
            </a:r>
            <a:r>
              <a:rPr lang="zh-CN" altLang="en-US" b="1">
                <a:sym typeface="Symbol" pitchFamily="18" charset="2"/>
              </a:rPr>
              <a:t>不存在逆元</a:t>
            </a:r>
          </a:p>
        </p:txBody>
      </p:sp>
      <p:sp>
        <p:nvSpPr>
          <p:cNvPr id="418821" name="Rectangle 5"/>
          <p:cNvSpPr>
            <a:spLocks noChangeArrowheads="1"/>
          </p:cNvSpPr>
          <p:nvPr/>
        </p:nvSpPr>
        <p:spPr bwMode="auto">
          <a:xfrm>
            <a:off x="4648200" y="1716088"/>
            <a:ext cx="3657600" cy="2570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a:lnSpc>
                <a:spcPct val="130000"/>
              </a:lnSpc>
              <a:buClr>
                <a:schemeClr val="folHlink"/>
              </a:buClr>
              <a:buSzPct val="60000"/>
              <a:buFont typeface="Wingdings" pitchFamily="2" charset="2"/>
              <a:buNone/>
            </a:pPr>
            <a:r>
              <a:rPr kumimoji="0" lang="en-US" altLang="zh-CN" b="1">
                <a:solidFill>
                  <a:srgbClr val="FF0000"/>
                </a:solidFill>
              </a:rPr>
              <a:t>1     2     3     4     5</a:t>
            </a:r>
          </a:p>
          <a:p>
            <a:pPr>
              <a:lnSpc>
                <a:spcPct val="130000"/>
              </a:lnSpc>
              <a:buClr>
                <a:schemeClr val="folHlink"/>
              </a:buClr>
              <a:buSzPct val="60000"/>
              <a:buFont typeface="Wingdings" pitchFamily="2" charset="2"/>
              <a:buNone/>
            </a:pPr>
            <a:r>
              <a:rPr kumimoji="0" lang="en-US" altLang="zh-CN" b="1">
                <a:solidFill>
                  <a:srgbClr val="FF0000"/>
                </a:solidFill>
              </a:rPr>
              <a:t>2</a:t>
            </a:r>
            <a:r>
              <a:rPr kumimoji="0" lang="en-US" altLang="zh-CN" b="1"/>
              <a:t>     3     1     4     4</a:t>
            </a:r>
          </a:p>
          <a:p>
            <a:pPr>
              <a:lnSpc>
                <a:spcPct val="130000"/>
              </a:lnSpc>
              <a:buClr>
                <a:schemeClr val="folHlink"/>
              </a:buClr>
              <a:buSzPct val="60000"/>
              <a:buFont typeface="Wingdings" pitchFamily="2" charset="2"/>
              <a:buNone/>
            </a:pPr>
            <a:r>
              <a:rPr kumimoji="0" lang="en-US" altLang="zh-CN" b="1">
                <a:solidFill>
                  <a:srgbClr val="FF0000"/>
                </a:solidFill>
              </a:rPr>
              <a:t>3</a:t>
            </a:r>
            <a:r>
              <a:rPr kumimoji="0" lang="en-US" altLang="zh-CN" b="1"/>
              <a:t>     3     3     2     1</a:t>
            </a:r>
          </a:p>
          <a:p>
            <a:pPr>
              <a:lnSpc>
                <a:spcPct val="130000"/>
              </a:lnSpc>
              <a:buClr>
                <a:schemeClr val="folHlink"/>
              </a:buClr>
              <a:buSzPct val="60000"/>
              <a:buFont typeface="Wingdings" pitchFamily="2" charset="2"/>
              <a:buNone/>
            </a:pPr>
            <a:r>
              <a:rPr kumimoji="0" lang="en-US" altLang="zh-CN" b="1">
                <a:solidFill>
                  <a:srgbClr val="FF0000"/>
                </a:solidFill>
              </a:rPr>
              <a:t>4 </a:t>
            </a:r>
            <a:r>
              <a:rPr kumimoji="0" lang="en-US" altLang="zh-CN" b="1"/>
              <a:t>    5     1     3     2</a:t>
            </a:r>
          </a:p>
          <a:p>
            <a:pPr>
              <a:lnSpc>
                <a:spcPct val="130000"/>
              </a:lnSpc>
              <a:buClr>
                <a:schemeClr val="folHlink"/>
              </a:buClr>
              <a:buSzPct val="60000"/>
              <a:buFont typeface="Wingdings" pitchFamily="2" charset="2"/>
              <a:buNone/>
            </a:pPr>
            <a:r>
              <a:rPr kumimoji="0" lang="en-US" altLang="zh-CN" b="1">
                <a:solidFill>
                  <a:srgbClr val="FF0000"/>
                </a:solidFill>
              </a:rPr>
              <a:t>5</a:t>
            </a:r>
            <a:r>
              <a:rPr kumimoji="0" lang="en-US" altLang="zh-CN" b="1">
                <a:solidFill>
                  <a:schemeClr val="hlink"/>
                </a:solidFill>
              </a:rPr>
              <a:t> </a:t>
            </a:r>
            <a:r>
              <a:rPr kumimoji="0" lang="en-US" altLang="zh-CN" b="1"/>
              <a:t>    4     3     2     2</a:t>
            </a:r>
          </a:p>
        </p:txBody>
      </p:sp>
      <p:sp>
        <p:nvSpPr>
          <p:cNvPr id="418822" name="Rectangle 6"/>
          <p:cNvSpPr>
            <a:spLocks noChangeArrowheads="1"/>
          </p:cNvSpPr>
          <p:nvPr/>
        </p:nvSpPr>
        <p:spPr bwMode="auto">
          <a:xfrm>
            <a:off x="3505200" y="1716088"/>
            <a:ext cx="1143000" cy="2570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a:lnSpc>
                <a:spcPct val="130000"/>
              </a:lnSpc>
              <a:buClr>
                <a:schemeClr val="folHlink"/>
              </a:buClr>
              <a:buSzPct val="60000"/>
              <a:buFont typeface="Wingdings" pitchFamily="2" charset="2"/>
              <a:buNone/>
            </a:pPr>
            <a:r>
              <a:rPr kumimoji="0" lang="en-US" altLang="zh-CN" b="1"/>
              <a:t>1</a:t>
            </a:r>
          </a:p>
          <a:p>
            <a:pPr>
              <a:lnSpc>
                <a:spcPct val="130000"/>
              </a:lnSpc>
              <a:buClr>
                <a:schemeClr val="folHlink"/>
              </a:buClr>
              <a:buSzPct val="60000"/>
              <a:buFont typeface="Wingdings" pitchFamily="2" charset="2"/>
              <a:buNone/>
            </a:pPr>
            <a:r>
              <a:rPr kumimoji="0" lang="en-US" altLang="zh-CN" b="1"/>
              <a:t>2</a:t>
            </a:r>
          </a:p>
          <a:p>
            <a:pPr>
              <a:lnSpc>
                <a:spcPct val="130000"/>
              </a:lnSpc>
              <a:buClr>
                <a:schemeClr val="folHlink"/>
              </a:buClr>
              <a:buSzPct val="60000"/>
              <a:buFont typeface="Wingdings" pitchFamily="2" charset="2"/>
              <a:buNone/>
            </a:pPr>
            <a:r>
              <a:rPr kumimoji="0" lang="en-US" altLang="zh-CN" b="1"/>
              <a:t>3</a:t>
            </a:r>
          </a:p>
          <a:p>
            <a:pPr>
              <a:lnSpc>
                <a:spcPct val="130000"/>
              </a:lnSpc>
              <a:buClr>
                <a:schemeClr val="folHlink"/>
              </a:buClr>
              <a:buSzPct val="60000"/>
              <a:buFont typeface="Wingdings" pitchFamily="2" charset="2"/>
              <a:buNone/>
            </a:pPr>
            <a:r>
              <a:rPr kumimoji="0" lang="en-US" altLang="zh-CN" b="1"/>
              <a:t>4</a:t>
            </a:r>
          </a:p>
          <a:p>
            <a:pPr>
              <a:lnSpc>
                <a:spcPct val="130000"/>
              </a:lnSpc>
              <a:buClr>
                <a:schemeClr val="folHlink"/>
              </a:buClr>
              <a:buSzPct val="60000"/>
              <a:buFont typeface="Wingdings" pitchFamily="2" charset="2"/>
              <a:buNone/>
            </a:pPr>
            <a:r>
              <a:rPr kumimoji="0" lang="en-US" altLang="zh-CN" b="1"/>
              <a:t>5</a:t>
            </a:r>
          </a:p>
        </p:txBody>
      </p:sp>
      <p:sp>
        <p:nvSpPr>
          <p:cNvPr id="418823" name="Rectangle 7"/>
          <p:cNvSpPr>
            <a:spLocks noChangeArrowheads="1"/>
          </p:cNvSpPr>
          <p:nvPr/>
        </p:nvSpPr>
        <p:spPr bwMode="auto">
          <a:xfrm>
            <a:off x="4648200" y="1196975"/>
            <a:ext cx="3657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a:lnSpc>
                <a:spcPct val="130000"/>
              </a:lnSpc>
              <a:buClr>
                <a:schemeClr val="folHlink"/>
              </a:buClr>
              <a:buSzPct val="60000"/>
              <a:buFont typeface="Wingdings" pitchFamily="2" charset="2"/>
              <a:buNone/>
            </a:pPr>
            <a:r>
              <a:rPr kumimoji="0" lang="en-US" altLang="zh-CN" b="1"/>
              <a:t>1     2     3     4     5</a:t>
            </a:r>
          </a:p>
        </p:txBody>
      </p:sp>
      <p:sp>
        <p:nvSpPr>
          <p:cNvPr id="418824" name="Rectangle 8"/>
          <p:cNvSpPr>
            <a:spLocks noChangeArrowheads="1"/>
          </p:cNvSpPr>
          <p:nvPr/>
        </p:nvSpPr>
        <p:spPr bwMode="auto">
          <a:xfrm>
            <a:off x="3505200" y="1196975"/>
            <a:ext cx="1143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a:lnSpc>
                <a:spcPct val="130000"/>
              </a:lnSpc>
              <a:buClr>
                <a:schemeClr val="folHlink"/>
              </a:buClr>
              <a:buSzPct val="60000"/>
              <a:buFont typeface="Wingdings" pitchFamily="2" charset="2"/>
              <a:buNone/>
            </a:pPr>
            <a:r>
              <a:rPr kumimoji="0" lang="en-US" altLang="zh-CN">
                <a:cs typeface="Times New Roman" pitchFamily="18" charset="0"/>
                <a:sym typeface="Symbol" pitchFamily="18" charset="2"/>
              </a:rPr>
              <a:t>◦</a:t>
            </a:r>
          </a:p>
        </p:txBody>
      </p:sp>
      <p:sp>
        <p:nvSpPr>
          <p:cNvPr id="418825" name="Line 9"/>
          <p:cNvSpPr>
            <a:spLocks noChangeShapeType="1"/>
          </p:cNvSpPr>
          <p:nvPr/>
        </p:nvSpPr>
        <p:spPr bwMode="auto">
          <a:xfrm>
            <a:off x="3505200" y="1196975"/>
            <a:ext cx="4800600" cy="0"/>
          </a:xfrm>
          <a:prstGeom prst="line">
            <a:avLst/>
          </a:prstGeom>
          <a:noFill/>
          <a:ln w="254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b"/>
          <a:lstStyle/>
          <a:p>
            <a:endParaRPr lang="zh-CN" altLang="en-US"/>
          </a:p>
        </p:txBody>
      </p:sp>
      <p:sp>
        <p:nvSpPr>
          <p:cNvPr id="418826" name="Line 10"/>
          <p:cNvSpPr>
            <a:spLocks noChangeShapeType="1"/>
          </p:cNvSpPr>
          <p:nvPr/>
        </p:nvSpPr>
        <p:spPr bwMode="auto">
          <a:xfrm>
            <a:off x="3505200" y="1716088"/>
            <a:ext cx="48006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b"/>
          <a:lstStyle/>
          <a:p>
            <a:endParaRPr lang="zh-CN" altLang="en-US"/>
          </a:p>
        </p:txBody>
      </p:sp>
      <p:sp>
        <p:nvSpPr>
          <p:cNvPr id="418827" name="Line 11"/>
          <p:cNvSpPr>
            <a:spLocks noChangeShapeType="1"/>
          </p:cNvSpPr>
          <p:nvPr/>
        </p:nvSpPr>
        <p:spPr bwMode="auto">
          <a:xfrm>
            <a:off x="3505200" y="4286250"/>
            <a:ext cx="4800600" cy="0"/>
          </a:xfrm>
          <a:prstGeom prst="line">
            <a:avLst/>
          </a:prstGeom>
          <a:noFill/>
          <a:ln w="254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b"/>
          <a:lstStyle/>
          <a:p>
            <a:endParaRPr lang="zh-CN" altLang="en-US"/>
          </a:p>
        </p:txBody>
      </p:sp>
      <p:sp>
        <p:nvSpPr>
          <p:cNvPr id="418828" name="Line 12"/>
          <p:cNvSpPr>
            <a:spLocks noChangeShapeType="1"/>
          </p:cNvSpPr>
          <p:nvPr/>
        </p:nvSpPr>
        <p:spPr bwMode="auto">
          <a:xfrm>
            <a:off x="3505200" y="1196975"/>
            <a:ext cx="0" cy="3089275"/>
          </a:xfrm>
          <a:prstGeom prst="line">
            <a:avLst/>
          </a:prstGeom>
          <a:noFill/>
          <a:ln w="254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b"/>
          <a:lstStyle/>
          <a:p>
            <a:endParaRPr lang="zh-CN" altLang="en-US"/>
          </a:p>
        </p:txBody>
      </p:sp>
      <p:sp>
        <p:nvSpPr>
          <p:cNvPr id="418829" name="Line 13"/>
          <p:cNvSpPr>
            <a:spLocks noChangeShapeType="1"/>
          </p:cNvSpPr>
          <p:nvPr/>
        </p:nvSpPr>
        <p:spPr bwMode="auto">
          <a:xfrm>
            <a:off x="4648200" y="1196975"/>
            <a:ext cx="0" cy="308927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b"/>
          <a:lstStyle/>
          <a:p>
            <a:endParaRPr lang="zh-CN" altLang="en-US"/>
          </a:p>
        </p:txBody>
      </p:sp>
      <p:sp>
        <p:nvSpPr>
          <p:cNvPr id="418830" name="Line 14"/>
          <p:cNvSpPr>
            <a:spLocks noChangeShapeType="1"/>
          </p:cNvSpPr>
          <p:nvPr/>
        </p:nvSpPr>
        <p:spPr bwMode="auto">
          <a:xfrm>
            <a:off x="8305800" y="1196975"/>
            <a:ext cx="0" cy="3089275"/>
          </a:xfrm>
          <a:prstGeom prst="line">
            <a:avLst/>
          </a:prstGeom>
          <a:noFill/>
          <a:ln w="254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b"/>
          <a:lstStyle/>
          <a:p>
            <a:endParaRPr lang="zh-CN" altLang="en-US"/>
          </a:p>
        </p:txBody>
      </p:sp>
      <p:sp>
        <p:nvSpPr>
          <p:cNvPr id="418831" name="Oval 15"/>
          <p:cNvSpPr>
            <a:spLocks noChangeArrowheads="1"/>
          </p:cNvSpPr>
          <p:nvPr/>
        </p:nvSpPr>
        <p:spPr bwMode="auto">
          <a:xfrm>
            <a:off x="6262688" y="2357438"/>
            <a:ext cx="381000" cy="381000"/>
          </a:xfrm>
          <a:prstGeom prst="ellipse">
            <a:avLst/>
          </a:prstGeom>
          <a:noFill/>
          <a:ln w="25400">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
        <p:nvSpPr>
          <p:cNvPr id="418832" name="Oval 16"/>
          <p:cNvSpPr>
            <a:spLocks noChangeArrowheads="1"/>
          </p:cNvSpPr>
          <p:nvPr/>
        </p:nvSpPr>
        <p:spPr bwMode="auto">
          <a:xfrm>
            <a:off x="6276975" y="3278188"/>
            <a:ext cx="381000" cy="381000"/>
          </a:xfrm>
          <a:prstGeom prst="ellipse">
            <a:avLst/>
          </a:prstGeom>
          <a:noFill/>
          <a:ln w="25400">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
        <p:nvSpPr>
          <p:cNvPr id="418833" name="Oval 17"/>
          <p:cNvSpPr>
            <a:spLocks noChangeArrowheads="1"/>
          </p:cNvSpPr>
          <p:nvPr/>
        </p:nvSpPr>
        <p:spPr bwMode="auto">
          <a:xfrm>
            <a:off x="7315200" y="2832100"/>
            <a:ext cx="381000" cy="381000"/>
          </a:xfrm>
          <a:prstGeom prst="ellipse">
            <a:avLst/>
          </a:prstGeom>
          <a:noFill/>
          <a:ln w="25400">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
        <p:nvSpPr>
          <p:cNvPr id="418834" name="Oval 18"/>
          <p:cNvSpPr>
            <a:spLocks noChangeArrowheads="1"/>
          </p:cNvSpPr>
          <p:nvPr/>
        </p:nvSpPr>
        <p:spPr bwMode="auto">
          <a:xfrm>
            <a:off x="3886200" y="3278188"/>
            <a:ext cx="381000" cy="381000"/>
          </a:xfrm>
          <a:prstGeom prst="ellipse">
            <a:avLst/>
          </a:prstGeom>
          <a:noFill/>
          <a:ln w="25400">
            <a:solidFill>
              <a:schemeClr val="hlink"/>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
        <p:nvSpPr>
          <p:cNvPr id="418835" name="Oval 19"/>
          <p:cNvSpPr>
            <a:spLocks noChangeArrowheads="1"/>
          </p:cNvSpPr>
          <p:nvPr/>
        </p:nvSpPr>
        <p:spPr bwMode="auto">
          <a:xfrm>
            <a:off x="3871913" y="2333625"/>
            <a:ext cx="381000" cy="381000"/>
          </a:xfrm>
          <a:prstGeom prst="ellipse">
            <a:avLst/>
          </a:prstGeom>
          <a:noFill/>
          <a:ln w="25400">
            <a:solidFill>
              <a:schemeClr val="hlink"/>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18831"/>
                                        </p:tgtEl>
                                        <p:attrNameLst>
                                          <p:attrName>style.visibility</p:attrName>
                                        </p:attrNameLst>
                                      </p:cBhvr>
                                      <p:to>
                                        <p:strVal val="visible"/>
                                      </p:to>
                                    </p:set>
                                    <p:anim calcmode="lin" valueType="num">
                                      <p:cBhvr additive="base">
                                        <p:cTn id="7" dur="500" fill="hold"/>
                                        <p:tgtEl>
                                          <p:spTgt spid="418831"/>
                                        </p:tgtEl>
                                        <p:attrNameLst>
                                          <p:attrName>ppt_x</p:attrName>
                                        </p:attrNameLst>
                                      </p:cBhvr>
                                      <p:tavLst>
                                        <p:tav tm="0">
                                          <p:val>
                                            <p:strVal val="#ppt_x"/>
                                          </p:val>
                                        </p:tav>
                                        <p:tav tm="100000">
                                          <p:val>
                                            <p:strVal val="#ppt_x"/>
                                          </p:val>
                                        </p:tav>
                                      </p:tavLst>
                                    </p:anim>
                                    <p:anim calcmode="lin" valueType="num">
                                      <p:cBhvr additive="base">
                                        <p:cTn id="8" dur="500" fill="hold"/>
                                        <p:tgtEl>
                                          <p:spTgt spid="418831"/>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418833"/>
                                        </p:tgtEl>
                                        <p:attrNameLst>
                                          <p:attrName>style.visibility</p:attrName>
                                        </p:attrNameLst>
                                      </p:cBhvr>
                                      <p:to>
                                        <p:strVal val="visible"/>
                                      </p:to>
                                    </p:set>
                                    <p:anim calcmode="lin" valueType="num">
                                      <p:cBhvr additive="base">
                                        <p:cTn id="12" dur="500" fill="hold"/>
                                        <p:tgtEl>
                                          <p:spTgt spid="418833"/>
                                        </p:tgtEl>
                                        <p:attrNameLst>
                                          <p:attrName>ppt_x</p:attrName>
                                        </p:attrNameLst>
                                      </p:cBhvr>
                                      <p:tavLst>
                                        <p:tav tm="0">
                                          <p:val>
                                            <p:strVal val="#ppt_x"/>
                                          </p:val>
                                        </p:tav>
                                        <p:tav tm="100000">
                                          <p:val>
                                            <p:strVal val="#ppt_x"/>
                                          </p:val>
                                        </p:tav>
                                      </p:tavLst>
                                    </p:anim>
                                    <p:anim calcmode="lin" valueType="num">
                                      <p:cBhvr additive="base">
                                        <p:cTn id="13" dur="500" fill="hold"/>
                                        <p:tgtEl>
                                          <p:spTgt spid="418833"/>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418832"/>
                                        </p:tgtEl>
                                        <p:attrNameLst>
                                          <p:attrName>style.visibility</p:attrName>
                                        </p:attrNameLst>
                                      </p:cBhvr>
                                      <p:to>
                                        <p:strVal val="visible"/>
                                      </p:to>
                                    </p:set>
                                    <p:anim calcmode="lin" valueType="num">
                                      <p:cBhvr additive="base">
                                        <p:cTn id="17" dur="500" fill="hold"/>
                                        <p:tgtEl>
                                          <p:spTgt spid="418832"/>
                                        </p:tgtEl>
                                        <p:attrNameLst>
                                          <p:attrName>ppt_x</p:attrName>
                                        </p:attrNameLst>
                                      </p:cBhvr>
                                      <p:tavLst>
                                        <p:tav tm="0">
                                          <p:val>
                                            <p:strVal val="#ppt_x"/>
                                          </p:val>
                                        </p:tav>
                                        <p:tav tm="100000">
                                          <p:val>
                                            <p:strVal val="#ppt_x"/>
                                          </p:val>
                                        </p:tav>
                                      </p:tavLst>
                                    </p:anim>
                                    <p:anim calcmode="lin" valueType="num">
                                      <p:cBhvr additive="base">
                                        <p:cTn id="18" dur="500" fill="hold"/>
                                        <p:tgtEl>
                                          <p:spTgt spid="418832"/>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18835"/>
                                        </p:tgtEl>
                                        <p:attrNameLst>
                                          <p:attrName>style.visibility</p:attrName>
                                        </p:attrNameLst>
                                      </p:cBhvr>
                                      <p:to>
                                        <p:strVal val="visible"/>
                                      </p:to>
                                    </p:set>
                                    <p:anim calcmode="lin" valueType="num">
                                      <p:cBhvr additive="base">
                                        <p:cTn id="23" dur="500" fill="hold"/>
                                        <p:tgtEl>
                                          <p:spTgt spid="418835"/>
                                        </p:tgtEl>
                                        <p:attrNameLst>
                                          <p:attrName>ppt_x</p:attrName>
                                        </p:attrNameLst>
                                      </p:cBhvr>
                                      <p:tavLst>
                                        <p:tav tm="0">
                                          <p:val>
                                            <p:strVal val="#ppt_x"/>
                                          </p:val>
                                        </p:tav>
                                        <p:tav tm="100000">
                                          <p:val>
                                            <p:strVal val="#ppt_x"/>
                                          </p:val>
                                        </p:tav>
                                      </p:tavLst>
                                    </p:anim>
                                    <p:anim calcmode="lin" valueType="num">
                                      <p:cBhvr additive="base">
                                        <p:cTn id="24" dur="500" fill="hold"/>
                                        <p:tgtEl>
                                          <p:spTgt spid="418835"/>
                                        </p:tgtEl>
                                        <p:attrNameLst>
                                          <p:attrName>ppt_y</p:attrName>
                                        </p:attrNameLst>
                                      </p:cBhvr>
                                      <p:tavLst>
                                        <p:tav tm="0">
                                          <p:val>
                                            <p:strVal val="1+#ppt_h/2"/>
                                          </p:val>
                                        </p:tav>
                                        <p:tav tm="100000">
                                          <p:val>
                                            <p:strVal val="#ppt_y"/>
                                          </p:val>
                                        </p:tav>
                                      </p:tavLst>
                                    </p:anim>
                                  </p:childTnLst>
                                </p:cTn>
                              </p:par>
                            </p:childTnLst>
                          </p:cTn>
                        </p:par>
                        <p:par>
                          <p:cTn id="25" fill="hold" nodeType="afterGroup">
                            <p:stCondLst>
                              <p:cond delay="500"/>
                            </p:stCondLst>
                            <p:childTnLst>
                              <p:par>
                                <p:cTn id="26" presetID="2" presetClass="entr" presetSubtype="4" fill="hold" grpId="0" nodeType="afterEffect">
                                  <p:stCondLst>
                                    <p:cond delay="0"/>
                                  </p:stCondLst>
                                  <p:childTnLst>
                                    <p:set>
                                      <p:cBhvr>
                                        <p:cTn id="27" dur="1" fill="hold">
                                          <p:stCondLst>
                                            <p:cond delay="0"/>
                                          </p:stCondLst>
                                        </p:cTn>
                                        <p:tgtEl>
                                          <p:spTgt spid="418834"/>
                                        </p:tgtEl>
                                        <p:attrNameLst>
                                          <p:attrName>style.visibility</p:attrName>
                                        </p:attrNameLst>
                                      </p:cBhvr>
                                      <p:to>
                                        <p:strVal val="visible"/>
                                      </p:to>
                                    </p:set>
                                    <p:anim calcmode="lin" valueType="num">
                                      <p:cBhvr additive="base">
                                        <p:cTn id="28" dur="500" fill="hold"/>
                                        <p:tgtEl>
                                          <p:spTgt spid="418834"/>
                                        </p:tgtEl>
                                        <p:attrNameLst>
                                          <p:attrName>ppt_x</p:attrName>
                                        </p:attrNameLst>
                                      </p:cBhvr>
                                      <p:tavLst>
                                        <p:tav tm="0">
                                          <p:val>
                                            <p:strVal val="#ppt_x"/>
                                          </p:val>
                                        </p:tav>
                                        <p:tav tm="100000">
                                          <p:val>
                                            <p:strVal val="#ppt_x"/>
                                          </p:val>
                                        </p:tav>
                                      </p:tavLst>
                                    </p:anim>
                                    <p:anim calcmode="lin" valueType="num">
                                      <p:cBhvr additive="base">
                                        <p:cTn id="29" dur="500" fill="hold"/>
                                        <p:tgtEl>
                                          <p:spTgt spid="418834"/>
                                        </p:tgtEl>
                                        <p:attrNameLst>
                                          <p:attrName>ppt_y</p:attrName>
                                        </p:attrNameLst>
                                      </p:cBhvr>
                                      <p:tavLst>
                                        <p:tav tm="0">
                                          <p:val>
                                            <p:strVal val="1+#ppt_h/2"/>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418819"/>
                                        </p:tgtEl>
                                        <p:attrNameLst>
                                          <p:attrName>style.visibility</p:attrName>
                                        </p:attrNameLst>
                                      </p:cBhvr>
                                      <p:to>
                                        <p:strVal val="visible"/>
                                      </p:to>
                                    </p:set>
                                    <p:anim calcmode="lin" valueType="num">
                                      <p:cBhvr additive="base">
                                        <p:cTn id="34" dur="500" fill="hold"/>
                                        <p:tgtEl>
                                          <p:spTgt spid="418819"/>
                                        </p:tgtEl>
                                        <p:attrNameLst>
                                          <p:attrName>ppt_x</p:attrName>
                                        </p:attrNameLst>
                                      </p:cBhvr>
                                      <p:tavLst>
                                        <p:tav tm="0">
                                          <p:val>
                                            <p:strVal val="#ppt_x"/>
                                          </p:val>
                                        </p:tav>
                                        <p:tav tm="100000">
                                          <p:val>
                                            <p:strVal val="#ppt_x"/>
                                          </p:val>
                                        </p:tav>
                                      </p:tavLst>
                                    </p:anim>
                                    <p:anim calcmode="lin" valueType="num">
                                      <p:cBhvr additive="base">
                                        <p:cTn id="35" dur="500" fill="hold"/>
                                        <p:tgtEl>
                                          <p:spTgt spid="4188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8819" grpId="0"/>
      <p:bldP spid="418831" grpId="0" animBg="1"/>
      <p:bldP spid="418832" grpId="0" animBg="1"/>
      <p:bldP spid="418833" grpId="0" animBg="1"/>
      <p:bldP spid="418834" grpId="0" animBg="1"/>
      <p:bldP spid="41883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灯片编号占位符 4"/>
          <p:cNvSpPr>
            <a:spLocks noGrp="1"/>
          </p:cNvSpPr>
          <p:nvPr>
            <p:ph type="sldNum" sz="quarter" idx="11"/>
          </p:nvPr>
        </p:nvSpPr>
        <p:spPr/>
        <p:txBody>
          <a:bodyPr/>
          <a:lstStyle/>
          <a:p>
            <a:fld id="{58AE61C9-2388-405C-A6CB-7CFE5542EFA3}" type="slidenum">
              <a:rPr lang="en-US" altLang="zh-CN"/>
              <a:pPr/>
              <a:t>23</a:t>
            </a:fld>
            <a:endParaRPr lang="en-US" altLang="zh-CN"/>
          </a:p>
        </p:txBody>
      </p:sp>
      <p:sp>
        <p:nvSpPr>
          <p:cNvPr id="371714" name="Rectangle 2"/>
          <p:cNvSpPr>
            <a:spLocks noChangeArrowheads="1"/>
          </p:cNvSpPr>
          <p:nvPr/>
        </p:nvSpPr>
        <p:spPr bwMode="auto">
          <a:xfrm>
            <a:off x="587375" y="2457450"/>
            <a:ext cx="7489825" cy="2465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lnSpc>
                <a:spcPct val="130000"/>
              </a:lnSpc>
            </a:pPr>
            <a:r>
              <a:rPr lang="zh-CN" altLang="en-US" b="1" dirty="0"/>
              <a:t>证明：        </a:t>
            </a:r>
            <a:r>
              <a:rPr lang="en-US" altLang="zh-CN" b="1" dirty="0"/>
              <a:t>=        *e</a:t>
            </a:r>
          </a:p>
          <a:p>
            <a:pPr algn="l" eaLnBrk="0" hangingPunct="0">
              <a:lnSpc>
                <a:spcPct val="130000"/>
              </a:lnSpc>
            </a:pPr>
            <a:r>
              <a:rPr lang="en-US" altLang="zh-CN" b="1" dirty="0"/>
              <a:t>                    =        *(x*        )</a:t>
            </a:r>
          </a:p>
          <a:p>
            <a:pPr algn="l" eaLnBrk="0" hangingPunct="0">
              <a:lnSpc>
                <a:spcPct val="130000"/>
              </a:lnSpc>
            </a:pPr>
            <a:r>
              <a:rPr lang="en-US" altLang="zh-CN" b="1" dirty="0"/>
              <a:t>                    =(        *x)*        </a:t>
            </a:r>
          </a:p>
          <a:p>
            <a:pPr algn="l" eaLnBrk="0" hangingPunct="0">
              <a:lnSpc>
                <a:spcPct val="130000"/>
              </a:lnSpc>
            </a:pPr>
            <a:r>
              <a:rPr lang="en-US" altLang="zh-CN" b="1" dirty="0"/>
              <a:t>                    =e*         </a:t>
            </a:r>
          </a:p>
          <a:p>
            <a:pPr algn="l" eaLnBrk="0" hangingPunct="0">
              <a:lnSpc>
                <a:spcPct val="130000"/>
              </a:lnSpc>
            </a:pPr>
            <a:r>
              <a:rPr lang="en-US" altLang="zh-CN" b="1" dirty="0"/>
              <a:t>                    =</a:t>
            </a:r>
          </a:p>
        </p:txBody>
      </p:sp>
      <p:grpSp>
        <p:nvGrpSpPr>
          <p:cNvPr id="371782" name="Group 70"/>
          <p:cNvGrpSpPr>
            <a:grpSpLocks/>
          </p:cNvGrpSpPr>
          <p:nvPr/>
        </p:nvGrpSpPr>
        <p:grpSpPr bwMode="auto">
          <a:xfrm>
            <a:off x="539750" y="981075"/>
            <a:ext cx="7916863" cy="1611313"/>
            <a:chOff x="340" y="618"/>
            <a:chExt cx="4987" cy="1015"/>
          </a:xfrm>
        </p:grpSpPr>
        <p:sp>
          <p:nvSpPr>
            <p:cNvPr id="371715" name="Text Box 3"/>
            <p:cNvSpPr txBox="1">
              <a:spLocks noChangeArrowheads="1"/>
            </p:cNvSpPr>
            <p:nvPr/>
          </p:nvSpPr>
          <p:spPr bwMode="auto">
            <a:xfrm>
              <a:off x="340" y="618"/>
              <a:ext cx="4987" cy="1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lnSpc>
                  <a:spcPct val="130000"/>
                </a:lnSpc>
              </a:pPr>
              <a:r>
                <a:rPr lang="zh-CN" altLang="en-US" b="1">
                  <a:solidFill>
                    <a:srgbClr val="FF0000"/>
                  </a:solidFill>
                </a:rPr>
                <a:t>定理</a:t>
              </a:r>
              <a:r>
                <a:rPr lang="en-US" altLang="zh-CN" b="1">
                  <a:solidFill>
                    <a:srgbClr val="FF0000"/>
                  </a:solidFill>
                </a:rPr>
                <a:t>5-2.4</a:t>
              </a:r>
              <a:r>
                <a:rPr lang="zh-CN" altLang="en-US" b="1">
                  <a:solidFill>
                    <a:srgbClr val="FF0000"/>
                  </a:solidFill>
                </a:rPr>
                <a:t>：</a:t>
              </a:r>
              <a:r>
                <a:rPr lang="zh-CN" altLang="en-US" b="1"/>
                <a:t>给定</a:t>
              </a:r>
              <a:r>
                <a:rPr lang="en-US" altLang="zh-CN" b="1"/>
                <a:t>&lt;S,*&gt;</a:t>
              </a:r>
              <a:r>
                <a:rPr lang="zh-CN" altLang="en-US" b="1"/>
                <a:t>及幺元</a:t>
              </a:r>
              <a:r>
                <a:rPr lang="en-US" altLang="zh-CN" b="1"/>
                <a:t>e∈S</a:t>
              </a:r>
              <a:r>
                <a:rPr lang="zh-CN" altLang="en-US" b="1"/>
                <a:t>，如果*是可结合的并且一个元素</a:t>
              </a:r>
              <a:r>
                <a:rPr lang="en-US" altLang="zh-CN" b="1" i="1"/>
                <a:t>x</a:t>
              </a:r>
              <a:r>
                <a:rPr lang="en-US" altLang="zh-CN" b="1"/>
                <a:t> </a:t>
              </a:r>
              <a:r>
                <a:rPr lang="zh-CN" altLang="en-US" b="1"/>
                <a:t>的左逆元      和右逆元      存在，则      </a:t>
              </a:r>
              <a:r>
                <a:rPr lang="en-US" altLang="zh-CN" b="1"/>
                <a:t>=      </a:t>
              </a:r>
              <a:r>
                <a:rPr lang="zh-CN" altLang="en-US" b="1"/>
                <a:t>，且每个元素的逆元唯一。</a:t>
              </a:r>
            </a:p>
          </p:txBody>
        </p:sp>
        <p:graphicFrame>
          <p:nvGraphicFramePr>
            <p:cNvPr id="371717" name="Object 5"/>
            <p:cNvGraphicFramePr>
              <a:graphicFrameLocks noChangeAspect="1"/>
            </p:cNvGraphicFramePr>
            <p:nvPr>
              <p:extLst>
                <p:ext uri="{D42A27DB-BD31-4B8C-83A1-F6EECF244321}">
                  <p14:modId xmlns:p14="http://schemas.microsoft.com/office/powerpoint/2010/main" val="2882589323"/>
                </p:ext>
              </p:extLst>
            </p:nvPr>
          </p:nvGraphicFramePr>
          <p:xfrm>
            <a:off x="3222" y="981"/>
            <a:ext cx="248" cy="238"/>
          </p:xfrm>
          <a:graphic>
            <a:graphicData uri="http://schemas.openxmlformats.org/presentationml/2006/ole">
              <mc:AlternateContent xmlns:mc="http://schemas.openxmlformats.org/markup-compatibility/2006">
                <mc:Choice xmlns:v="urn:schemas-microsoft-com:vml" Requires="v">
                  <p:oleObj spid="_x0000_s526710" name="Equation" r:id="rId3" imgW="393480" imgH="380880" progId="Equation.DSMT4">
                    <p:embed/>
                  </p:oleObj>
                </mc:Choice>
                <mc:Fallback>
                  <p:oleObj name="Equation" r:id="rId3" imgW="393480" imgH="3808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22" y="981"/>
                          <a:ext cx="248" cy="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1718" name="Object 6"/>
            <p:cNvGraphicFramePr>
              <a:graphicFrameLocks noChangeAspect="1"/>
            </p:cNvGraphicFramePr>
            <p:nvPr>
              <p:extLst>
                <p:ext uri="{D42A27DB-BD31-4B8C-83A1-F6EECF244321}">
                  <p14:modId xmlns:p14="http://schemas.microsoft.com/office/powerpoint/2010/main" val="3640814766"/>
                </p:ext>
              </p:extLst>
            </p:nvPr>
          </p:nvGraphicFramePr>
          <p:xfrm>
            <a:off x="4356" y="981"/>
            <a:ext cx="247" cy="245"/>
          </p:xfrm>
          <a:graphic>
            <a:graphicData uri="http://schemas.openxmlformats.org/presentationml/2006/ole">
              <mc:AlternateContent xmlns:mc="http://schemas.openxmlformats.org/markup-compatibility/2006">
                <mc:Choice xmlns:v="urn:schemas-microsoft-com:vml" Requires="v">
                  <p:oleObj spid="_x0000_s526711" name="Equation" r:id="rId5" imgW="393480" imgH="393480" progId="Equation.DSMT4">
                    <p:embed/>
                  </p:oleObj>
                </mc:Choice>
                <mc:Fallback>
                  <p:oleObj name="Equation" r:id="rId5" imgW="393480" imgH="39348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56" y="981"/>
                          <a:ext cx="247" cy="2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1736" name="Object 24"/>
            <p:cNvGraphicFramePr>
              <a:graphicFrameLocks noChangeAspect="1"/>
            </p:cNvGraphicFramePr>
            <p:nvPr>
              <p:extLst>
                <p:ext uri="{D42A27DB-BD31-4B8C-83A1-F6EECF244321}">
                  <p14:modId xmlns:p14="http://schemas.microsoft.com/office/powerpoint/2010/main" val="2312143315"/>
                </p:ext>
              </p:extLst>
            </p:nvPr>
          </p:nvGraphicFramePr>
          <p:xfrm>
            <a:off x="2134" y="981"/>
            <a:ext cx="247" cy="244"/>
          </p:xfrm>
          <a:graphic>
            <a:graphicData uri="http://schemas.openxmlformats.org/presentationml/2006/ole">
              <mc:AlternateContent xmlns:mc="http://schemas.openxmlformats.org/markup-compatibility/2006">
                <mc:Choice xmlns:v="urn:schemas-microsoft-com:vml" Requires="v">
                  <p:oleObj spid="_x0000_s526712" name="Equation" r:id="rId7" imgW="393480" imgH="393480" progId="Equation.DSMT4">
                    <p:embed/>
                  </p:oleObj>
                </mc:Choice>
                <mc:Fallback>
                  <p:oleObj name="Equation" r:id="rId7" imgW="393480" imgH="39348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34" y="981"/>
                          <a:ext cx="247" cy="2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1739" name="Object 27"/>
            <p:cNvGraphicFramePr>
              <a:graphicFrameLocks noChangeAspect="1"/>
            </p:cNvGraphicFramePr>
            <p:nvPr>
              <p:extLst>
                <p:ext uri="{D42A27DB-BD31-4B8C-83A1-F6EECF244321}">
                  <p14:modId xmlns:p14="http://schemas.microsoft.com/office/powerpoint/2010/main" val="2144765307"/>
                </p:ext>
              </p:extLst>
            </p:nvPr>
          </p:nvGraphicFramePr>
          <p:xfrm>
            <a:off x="4764" y="981"/>
            <a:ext cx="248" cy="238"/>
          </p:xfrm>
          <a:graphic>
            <a:graphicData uri="http://schemas.openxmlformats.org/presentationml/2006/ole">
              <mc:AlternateContent xmlns:mc="http://schemas.openxmlformats.org/markup-compatibility/2006">
                <mc:Choice xmlns:v="urn:schemas-microsoft-com:vml" Requires="v">
                  <p:oleObj spid="_x0000_s526713" name="Equation" r:id="rId9" imgW="393480" imgH="380880" progId="Equation.DSMT4">
                    <p:embed/>
                  </p:oleObj>
                </mc:Choice>
                <mc:Fallback>
                  <p:oleObj name="Equation" r:id="rId9" imgW="393480" imgH="38088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64" y="981"/>
                          <a:ext cx="248" cy="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71770" name="Group 58"/>
          <p:cNvGrpSpPr>
            <a:grpSpLocks/>
          </p:cNvGrpSpPr>
          <p:nvPr/>
        </p:nvGrpSpPr>
        <p:grpSpPr bwMode="auto">
          <a:xfrm>
            <a:off x="1757363" y="2605088"/>
            <a:ext cx="1201737" cy="396875"/>
            <a:chOff x="1107" y="1919"/>
            <a:chExt cx="757" cy="250"/>
          </a:xfrm>
        </p:grpSpPr>
        <p:graphicFrame>
          <p:nvGraphicFramePr>
            <p:cNvPr id="371721" name="Object 9"/>
            <p:cNvGraphicFramePr>
              <a:graphicFrameLocks noChangeAspect="1"/>
            </p:cNvGraphicFramePr>
            <p:nvPr/>
          </p:nvGraphicFramePr>
          <p:xfrm>
            <a:off x="1107" y="1919"/>
            <a:ext cx="254" cy="250"/>
          </p:xfrm>
          <a:graphic>
            <a:graphicData uri="http://schemas.openxmlformats.org/presentationml/2006/ole">
              <mc:AlternateContent xmlns:mc="http://schemas.openxmlformats.org/markup-compatibility/2006">
                <mc:Choice xmlns:v="urn:schemas-microsoft-com:vml" Requires="v">
                  <p:oleObj spid="_x0000_s526714" name="Equation" r:id="rId11" imgW="393480" imgH="393480" progId="Equation.DSMT4">
                    <p:embed/>
                  </p:oleObj>
                </mc:Choice>
                <mc:Fallback>
                  <p:oleObj name="Equation" r:id="rId11" imgW="393480" imgH="39348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07" y="1919"/>
                          <a:ext cx="254" cy="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1749" name="Object 37"/>
            <p:cNvGraphicFramePr>
              <a:graphicFrameLocks noChangeAspect="1"/>
            </p:cNvGraphicFramePr>
            <p:nvPr/>
          </p:nvGraphicFramePr>
          <p:xfrm>
            <a:off x="1610" y="1919"/>
            <a:ext cx="254" cy="250"/>
          </p:xfrm>
          <a:graphic>
            <a:graphicData uri="http://schemas.openxmlformats.org/presentationml/2006/ole">
              <mc:AlternateContent xmlns:mc="http://schemas.openxmlformats.org/markup-compatibility/2006">
                <mc:Choice xmlns:v="urn:schemas-microsoft-com:vml" Requires="v">
                  <p:oleObj spid="_x0000_s526715" name="Equation" r:id="rId13" imgW="393480" imgH="393480" progId="Equation.DSMT4">
                    <p:embed/>
                  </p:oleObj>
                </mc:Choice>
                <mc:Fallback>
                  <p:oleObj name="Equation" r:id="rId13" imgW="393480" imgH="393480"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10" y="1919"/>
                          <a:ext cx="254" cy="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371752" name="Object 40"/>
          <p:cNvGraphicFramePr>
            <a:graphicFrameLocks noChangeAspect="1"/>
          </p:cNvGraphicFramePr>
          <p:nvPr>
            <p:extLst>
              <p:ext uri="{D42A27DB-BD31-4B8C-83A1-F6EECF244321}">
                <p14:modId xmlns:p14="http://schemas.microsoft.com/office/powerpoint/2010/main" val="4264913414"/>
              </p:ext>
            </p:extLst>
          </p:nvPr>
        </p:nvGraphicFramePr>
        <p:xfrm>
          <a:off x="2771775" y="3963536"/>
          <a:ext cx="403225" cy="384175"/>
        </p:xfrm>
        <a:graphic>
          <a:graphicData uri="http://schemas.openxmlformats.org/presentationml/2006/ole">
            <mc:AlternateContent xmlns:mc="http://schemas.openxmlformats.org/markup-compatibility/2006">
              <mc:Choice xmlns:v="urn:schemas-microsoft-com:vml" Requires="v">
                <p:oleObj spid="_x0000_s526716" name="Equation" r:id="rId15" imgW="393480" imgH="380880" progId="Equation.DSMT4">
                  <p:embed/>
                </p:oleObj>
              </mc:Choice>
              <mc:Fallback>
                <p:oleObj name="Equation" r:id="rId15" imgW="393480" imgH="380880" progId="Equation.DSMT4">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771775" y="3963536"/>
                        <a:ext cx="403225" cy="384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71771" name="Group 59"/>
          <p:cNvGrpSpPr>
            <a:grpSpLocks/>
          </p:cNvGrpSpPr>
          <p:nvPr/>
        </p:nvGrpSpPr>
        <p:grpSpPr bwMode="auto">
          <a:xfrm>
            <a:off x="2555875" y="3081338"/>
            <a:ext cx="1511300" cy="396875"/>
            <a:chOff x="1610" y="2273"/>
            <a:chExt cx="952" cy="250"/>
          </a:xfrm>
        </p:grpSpPr>
        <p:graphicFrame>
          <p:nvGraphicFramePr>
            <p:cNvPr id="371755" name="Object 43"/>
            <p:cNvGraphicFramePr>
              <a:graphicFrameLocks noChangeAspect="1"/>
            </p:cNvGraphicFramePr>
            <p:nvPr/>
          </p:nvGraphicFramePr>
          <p:xfrm>
            <a:off x="2308" y="2273"/>
            <a:ext cx="254" cy="242"/>
          </p:xfrm>
          <a:graphic>
            <a:graphicData uri="http://schemas.openxmlformats.org/presentationml/2006/ole">
              <mc:AlternateContent xmlns:mc="http://schemas.openxmlformats.org/markup-compatibility/2006">
                <mc:Choice xmlns:v="urn:schemas-microsoft-com:vml" Requires="v">
                  <p:oleObj spid="_x0000_s526717" name="Equation" r:id="rId17" imgW="393480" imgH="380880" progId="Equation.DSMT4">
                    <p:embed/>
                  </p:oleObj>
                </mc:Choice>
                <mc:Fallback>
                  <p:oleObj name="Equation" r:id="rId17" imgW="393480" imgH="380880" progId="Equation.DSMT4">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308" y="2273"/>
                          <a:ext cx="254" cy="2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1758" name="Object 46"/>
            <p:cNvGraphicFramePr>
              <a:graphicFrameLocks noChangeAspect="1"/>
            </p:cNvGraphicFramePr>
            <p:nvPr/>
          </p:nvGraphicFramePr>
          <p:xfrm>
            <a:off x="1610" y="2273"/>
            <a:ext cx="254" cy="250"/>
          </p:xfrm>
          <a:graphic>
            <a:graphicData uri="http://schemas.openxmlformats.org/presentationml/2006/ole">
              <mc:AlternateContent xmlns:mc="http://schemas.openxmlformats.org/markup-compatibility/2006">
                <mc:Choice xmlns:v="urn:schemas-microsoft-com:vml" Requires="v">
                  <p:oleObj spid="_x0000_s526718" name="Equation" r:id="rId19" imgW="393480" imgH="393480" progId="Equation.DSMT4">
                    <p:embed/>
                  </p:oleObj>
                </mc:Choice>
                <mc:Fallback>
                  <p:oleObj name="Equation" r:id="rId19" imgW="393480" imgH="393480"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10" y="2273"/>
                          <a:ext cx="254" cy="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371761" name="Object 49"/>
          <p:cNvGraphicFramePr>
            <a:graphicFrameLocks noChangeAspect="1"/>
          </p:cNvGraphicFramePr>
          <p:nvPr/>
        </p:nvGraphicFramePr>
        <p:xfrm>
          <a:off x="2555875" y="3546475"/>
          <a:ext cx="403225" cy="396875"/>
        </p:xfrm>
        <a:graphic>
          <a:graphicData uri="http://schemas.openxmlformats.org/presentationml/2006/ole">
            <mc:AlternateContent xmlns:mc="http://schemas.openxmlformats.org/markup-compatibility/2006">
              <mc:Choice xmlns:v="urn:schemas-microsoft-com:vml" Requires="v">
                <p:oleObj spid="_x0000_s526719" name="Equation" r:id="rId20" imgW="393480" imgH="393480" progId="Equation.DSMT4">
                  <p:embed/>
                </p:oleObj>
              </mc:Choice>
              <mc:Fallback>
                <p:oleObj name="Equation" r:id="rId20" imgW="393480" imgH="393480"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55875" y="3546475"/>
                        <a:ext cx="403225" cy="396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1776" name="Rectangle 64"/>
          <p:cNvSpPr>
            <a:spLocks noChangeArrowheads="1"/>
          </p:cNvSpPr>
          <p:nvPr/>
        </p:nvSpPr>
        <p:spPr bwMode="auto">
          <a:xfrm>
            <a:off x="4716463" y="2414588"/>
            <a:ext cx="4248150" cy="294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lnSpc>
                <a:spcPct val="130000"/>
              </a:lnSpc>
            </a:pPr>
            <a:r>
              <a:rPr lang="zh-CN" altLang="en-US" b="1"/>
              <a:t>若</a:t>
            </a:r>
            <a:r>
              <a:rPr lang="en-US" altLang="zh-CN" b="1"/>
              <a:t>b</a:t>
            </a:r>
            <a:r>
              <a:rPr lang="zh-CN" altLang="en-US" b="1"/>
              <a:t>，</a:t>
            </a:r>
            <a:r>
              <a:rPr lang="en-US" altLang="zh-CN" b="1"/>
              <a:t>c</a:t>
            </a:r>
            <a:r>
              <a:rPr lang="zh-CN" altLang="en-US" b="1"/>
              <a:t>均为</a:t>
            </a:r>
            <a:r>
              <a:rPr lang="en-US" altLang="zh-CN" b="1"/>
              <a:t>a</a:t>
            </a:r>
            <a:r>
              <a:rPr lang="zh-CN" altLang="en-US" b="1"/>
              <a:t>的逆元，则</a:t>
            </a:r>
          </a:p>
          <a:p>
            <a:pPr algn="l" eaLnBrk="0" hangingPunct="0">
              <a:lnSpc>
                <a:spcPct val="130000"/>
              </a:lnSpc>
            </a:pPr>
            <a:r>
              <a:rPr lang="en-US" altLang="zh-CN" b="1"/>
              <a:t>b=b*e</a:t>
            </a:r>
          </a:p>
          <a:p>
            <a:pPr algn="l" eaLnBrk="0" hangingPunct="0">
              <a:lnSpc>
                <a:spcPct val="130000"/>
              </a:lnSpc>
            </a:pPr>
            <a:r>
              <a:rPr lang="en-US" altLang="zh-CN" b="1"/>
              <a:t>  =b*(a*c)</a:t>
            </a:r>
          </a:p>
          <a:p>
            <a:pPr algn="l" eaLnBrk="0" hangingPunct="0">
              <a:lnSpc>
                <a:spcPct val="130000"/>
              </a:lnSpc>
            </a:pPr>
            <a:r>
              <a:rPr lang="en-US" altLang="zh-CN" b="1"/>
              <a:t>  =(b*a)*c</a:t>
            </a:r>
          </a:p>
          <a:p>
            <a:pPr algn="l" eaLnBrk="0" hangingPunct="0">
              <a:lnSpc>
                <a:spcPct val="130000"/>
              </a:lnSpc>
            </a:pPr>
            <a:r>
              <a:rPr lang="en-US" altLang="zh-CN" b="1"/>
              <a:t>  =e*c=c</a:t>
            </a:r>
          </a:p>
          <a:p>
            <a:pPr algn="l" eaLnBrk="0" hangingPunct="0">
              <a:lnSpc>
                <a:spcPct val="130000"/>
              </a:lnSpc>
            </a:pPr>
            <a:r>
              <a:rPr lang="zh-CN" altLang="en-US" b="1"/>
              <a:t>故逆元唯一</a:t>
            </a:r>
          </a:p>
        </p:txBody>
      </p:sp>
      <p:graphicFrame>
        <p:nvGraphicFramePr>
          <p:cNvPr id="4" name="对象 3"/>
          <p:cNvGraphicFramePr>
            <a:graphicFrameLocks noChangeAspect="1"/>
          </p:cNvGraphicFramePr>
          <p:nvPr>
            <p:extLst>
              <p:ext uri="{D42A27DB-BD31-4B8C-83A1-F6EECF244321}">
                <p14:modId xmlns:p14="http://schemas.microsoft.com/office/powerpoint/2010/main" val="3424359528"/>
              </p:ext>
            </p:extLst>
          </p:nvPr>
        </p:nvGraphicFramePr>
        <p:xfrm>
          <a:off x="3707904" y="3509566"/>
          <a:ext cx="403225" cy="384175"/>
        </p:xfrm>
        <a:graphic>
          <a:graphicData uri="http://schemas.openxmlformats.org/presentationml/2006/ole">
            <mc:AlternateContent xmlns:mc="http://schemas.openxmlformats.org/markup-compatibility/2006">
              <mc:Choice xmlns:v="urn:schemas-microsoft-com:vml" Requires="v">
                <p:oleObj spid="_x0000_s526720" name="Equation" r:id="rId21" imgW="393529" imgH="380835" progId="Equation.DSMT4">
                  <p:embed/>
                </p:oleObj>
              </mc:Choice>
              <mc:Fallback>
                <p:oleObj name="Equation" r:id="rId21" imgW="393529" imgH="380835" progId="Equation.DSMT4">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707904" y="3509566"/>
                        <a:ext cx="403225" cy="384175"/>
                      </a:xfrm>
                      <a:prstGeom prst="rect">
                        <a:avLst/>
                      </a:prstGeom>
                      <a:noFill/>
                      <a:ln>
                        <a:noFill/>
                      </a:ln>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885690558"/>
              </p:ext>
            </p:extLst>
          </p:nvPr>
        </p:nvGraphicFramePr>
        <p:xfrm>
          <a:off x="2483768" y="4441304"/>
          <a:ext cx="403225" cy="384175"/>
        </p:xfrm>
        <a:graphic>
          <a:graphicData uri="http://schemas.openxmlformats.org/presentationml/2006/ole">
            <mc:AlternateContent xmlns:mc="http://schemas.openxmlformats.org/markup-compatibility/2006">
              <mc:Choice xmlns:v="urn:schemas-microsoft-com:vml" Requires="v">
                <p:oleObj spid="_x0000_s526721" name="Equation" r:id="rId22" imgW="393529" imgH="380835" progId="Equation.DSMT4">
                  <p:embed/>
                </p:oleObj>
              </mc:Choice>
              <mc:Fallback>
                <p:oleObj name="Equation" r:id="rId22" imgW="393529" imgH="380835" progId="Equation.DSMT4">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483768" y="4441304"/>
                        <a:ext cx="403225" cy="38417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510540132"/>
      </p:ext>
    </p:extLst>
  </p:cSld>
  <p:clrMapOvr>
    <a:masterClrMapping/>
  </p:clrMapOvr>
  <p:transition>
    <p:strips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71770"/>
                                        </p:tgtEl>
                                        <p:attrNameLst>
                                          <p:attrName>style.visibility</p:attrName>
                                        </p:attrNameLst>
                                      </p:cBhvr>
                                      <p:to>
                                        <p:strVal val="visible"/>
                                      </p:to>
                                    </p:set>
                                    <p:anim calcmode="lin" valueType="num">
                                      <p:cBhvr additive="base">
                                        <p:cTn id="7" dur="500" fill="hold"/>
                                        <p:tgtEl>
                                          <p:spTgt spid="371770"/>
                                        </p:tgtEl>
                                        <p:attrNameLst>
                                          <p:attrName>ppt_x</p:attrName>
                                        </p:attrNameLst>
                                      </p:cBhvr>
                                      <p:tavLst>
                                        <p:tav tm="0">
                                          <p:val>
                                            <p:strVal val="#ppt_x"/>
                                          </p:val>
                                        </p:tav>
                                        <p:tav tm="100000">
                                          <p:val>
                                            <p:strVal val="#ppt_x"/>
                                          </p:val>
                                        </p:tav>
                                      </p:tavLst>
                                    </p:anim>
                                    <p:anim calcmode="lin" valueType="num">
                                      <p:cBhvr additive="base">
                                        <p:cTn id="8" dur="500" fill="hold"/>
                                        <p:tgtEl>
                                          <p:spTgt spid="37177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71714">
                                            <p:txEl>
                                              <p:pRg st="0" end="0"/>
                                            </p:txEl>
                                          </p:spTgt>
                                        </p:tgtEl>
                                        <p:attrNameLst>
                                          <p:attrName>style.visibility</p:attrName>
                                        </p:attrNameLst>
                                      </p:cBhvr>
                                      <p:to>
                                        <p:strVal val="visible"/>
                                      </p:to>
                                    </p:set>
                                    <p:anim calcmode="lin" valueType="num">
                                      <p:cBhvr additive="base">
                                        <p:cTn id="11" dur="500" fill="hold"/>
                                        <p:tgtEl>
                                          <p:spTgt spid="37171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71714">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71714">
                                            <p:txEl>
                                              <p:pRg st="4" end="4"/>
                                            </p:txEl>
                                          </p:spTgt>
                                        </p:tgtEl>
                                        <p:attrNameLst>
                                          <p:attrName>style.visibility</p:attrName>
                                        </p:attrNameLst>
                                      </p:cBhvr>
                                      <p:to>
                                        <p:strVal val="visible"/>
                                      </p:to>
                                    </p:set>
                                    <p:anim calcmode="lin" valueType="num">
                                      <p:cBhvr additive="base">
                                        <p:cTn id="15" dur="500" fill="hold"/>
                                        <p:tgtEl>
                                          <p:spTgt spid="371714">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71714">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71714">
                                            <p:txEl>
                                              <p:pRg st="1" end="1"/>
                                            </p:txEl>
                                          </p:spTgt>
                                        </p:tgtEl>
                                        <p:attrNameLst>
                                          <p:attrName>style.visibility</p:attrName>
                                        </p:attrNameLst>
                                      </p:cBhvr>
                                      <p:to>
                                        <p:strVal val="visible"/>
                                      </p:to>
                                    </p:set>
                                    <p:anim calcmode="lin" valueType="num">
                                      <p:cBhvr additive="base">
                                        <p:cTn id="25" dur="500" fill="hold"/>
                                        <p:tgtEl>
                                          <p:spTgt spid="371714">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71714">
                                            <p:txEl>
                                              <p:pRg st="1" end="1"/>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71771"/>
                                        </p:tgtEl>
                                        <p:attrNameLst>
                                          <p:attrName>style.visibility</p:attrName>
                                        </p:attrNameLst>
                                      </p:cBhvr>
                                      <p:to>
                                        <p:strVal val="visible"/>
                                      </p:to>
                                    </p:set>
                                    <p:anim calcmode="lin" valueType="num">
                                      <p:cBhvr additive="base">
                                        <p:cTn id="29" dur="500" fill="hold"/>
                                        <p:tgtEl>
                                          <p:spTgt spid="371771"/>
                                        </p:tgtEl>
                                        <p:attrNameLst>
                                          <p:attrName>ppt_x</p:attrName>
                                        </p:attrNameLst>
                                      </p:cBhvr>
                                      <p:tavLst>
                                        <p:tav tm="0">
                                          <p:val>
                                            <p:strVal val="#ppt_x"/>
                                          </p:val>
                                        </p:tav>
                                        <p:tav tm="100000">
                                          <p:val>
                                            <p:strVal val="#ppt_x"/>
                                          </p:val>
                                        </p:tav>
                                      </p:tavLst>
                                    </p:anim>
                                    <p:anim calcmode="lin" valueType="num">
                                      <p:cBhvr additive="base">
                                        <p:cTn id="30" dur="500" fill="hold"/>
                                        <p:tgtEl>
                                          <p:spTgt spid="371771"/>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371714">
                                            <p:txEl>
                                              <p:pRg st="2" end="2"/>
                                            </p:txEl>
                                          </p:spTgt>
                                        </p:tgtEl>
                                        <p:attrNameLst>
                                          <p:attrName>style.visibility</p:attrName>
                                        </p:attrNameLst>
                                      </p:cBhvr>
                                      <p:to>
                                        <p:strVal val="visible"/>
                                      </p:to>
                                    </p:set>
                                    <p:anim calcmode="lin" valueType="num">
                                      <p:cBhvr additive="base">
                                        <p:cTn id="35" dur="500" fill="hold"/>
                                        <p:tgtEl>
                                          <p:spTgt spid="371714">
                                            <p:txEl>
                                              <p:pRg st="2" end="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71714">
                                            <p:txEl>
                                              <p:pRg st="2" end="2"/>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71761"/>
                                        </p:tgtEl>
                                        <p:attrNameLst>
                                          <p:attrName>style.visibility</p:attrName>
                                        </p:attrNameLst>
                                      </p:cBhvr>
                                      <p:to>
                                        <p:strVal val="visible"/>
                                      </p:to>
                                    </p:set>
                                    <p:anim calcmode="lin" valueType="num">
                                      <p:cBhvr additive="base">
                                        <p:cTn id="39" dur="500" fill="hold"/>
                                        <p:tgtEl>
                                          <p:spTgt spid="371761"/>
                                        </p:tgtEl>
                                        <p:attrNameLst>
                                          <p:attrName>ppt_x</p:attrName>
                                        </p:attrNameLst>
                                      </p:cBhvr>
                                      <p:tavLst>
                                        <p:tav tm="0">
                                          <p:val>
                                            <p:strVal val="#ppt_x"/>
                                          </p:val>
                                        </p:tav>
                                        <p:tav tm="100000">
                                          <p:val>
                                            <p:strVal val="#ppt_x"/>
                                          </p:val>
                                        </p:tav>
                                      </p:tavLst>
                                    </p:anim>
                                    <p:anim calcmode="lin" valueType="num">
                                      <p:cBhvr additive="base">
                                        <p:cTn id="40" dur="500" fill="hold"/>
                                        <p:tgtEl>
                                          <p:spTgt spid="371761"/>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4"/>
                                        </p:tgtEl>
                                        <p:attrNameLst>
                                          <p:attrName>style.visibility</p:attrName>
                                        </p:attrNameLst>
                                      </p:cBhvr>
                                      <p:to>
                                        <p:strVal val="visible"/>
                                      </p:to>
                                    </p:set>
                                    <p:anim calcmode="lin" valueType="num">
                                      <p:cBhvr additive="base">
                                        <p:cTn id="43" dur="500" fill="hold"/>
                                        <p:tgtEl>
                                          <p:spTgt spid="4"/>
                                        </p:tgtEl>
                                        <p:attrNameLst>
                                          <p:attrName>ppt_x</p:attrName>
                                        </p:attrNameLst>
                                      </p:cBhvr>
                                      <p:tavLst>
                                        <p:tav tm="0">
                                          <p:val>
                                            <p:strVal val="#ppt_x"/>
                                          </p:val>
                                        </p:tav>
                                        <p:tav tm="100000">
                                          <p:val>
                                            <p:strVal val="#ppt_x"/>
                                          </p:val>
                                        </p:tav>
                                      </p:tavLst>
                                    </p:anim>
                                    <p:anim calcmode="lin" valueType="num">
                                      <p:cBhvr additive="base">
                                        <p:cTn id="4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71714">
                                            <p:txEl>
                                              <p:pRg st="3" end="3"/>
                                            </p:txEl>
                                          </p:spTgt>
                                        </p:tgtEl>
                                        <p:attrNameLst>
                                          <p:attrName>style.visibility</p:attrName>
                                        </p:attrNameLst>
                                      </p:cBhvr>
                                      <p:to>
                                        <p:strVal val="visible"/>
                                      </p:to>
                                    </p:set>
                                    <p:anim calcmode="lin" valueType="num">
                                      <p:cBhvr additive="base">
                                        <p:cTn id="49" dur="500" fill="hold"/>
                                        <p:tgtEl>
                                          <p:spTgt spid="371714">
                                            <p:txEl>
                                              <p:pRg st="3" end="3"/>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71714">
                                            <p:txEl>
                                              <p:pRg st="3" end="3"/>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371752"/>
                                        </p:tgtEl>
                                        <p:attrNameLst>
                                          <p:attrName>style.visibility</p:attrName>
                                        </p:attrNameLst>
                                      </p:cBhvr>
                                      <p:to>
                                        <p:strVal val="visible"/>
                                      </p:to>
                                    </p:set>
                                    <p:anim calcmode="lin" valueType="num">
                                      <p:cBhvr additive="base">
                                        <p:cTn id="53" dur="500" fill="hold"/>
                                        <p:tgtEl>
                                          <p:spTgt spid="371752"/>
                                        </p:tgtEl>
                                        <p:attrNameLst>
                                          <p:attrName>ppt_x</p:attrName>
                                        </p:attrNameLst>
                                      </p:cBhvr>
                                      <p:tavLst>
                                        <p:tav tm="0">
                                          <p:val>
                                            <p:strVal val="#ppt_x"/>
                                          </p:val>
                                        </p:tav>
                                        <p:tav tm="100000">
                                          <p:val>
                                            <p:strVal val="#ppt_x"/>
                                          </p:val>
                                        </p:tav>
                                      </p:tavLst>
                                    </p:anim>
                                    <p:anim calcmode="lin" valueType="num">
                                      <p:cBhvr additive="base">
                                        <p:cTn id="54" dur="500" fill="hold"/>
                                        <p:tgtEl>
                                          <p:spTgt spid="371752"/>
                                        </p:tgtEl>
                                        <p:attrNameLst>
                                          <p:attrName>ppt_y</p:attrName>
                                        </p:attrNameLst>
                                      </p:cBhvr>
                                      <p:tavLst>
                                        <p:tav tm="0">
                                          <p:val>
                                            <p:strVal val="1+#ppt_h/2"/>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4" fill="hold" nodeType="clickEffect">
                                  <p:stCondLst>
                                    <p:cond delay="0"/>
                                  </p:stCondLst>
                                  <p:childTnLst>
                                    <p:set>
                                      <p:cBhvr>
                                        <p:cTn id="58" dur="1" fill="hold">
                                          <p:stCondLst>
                                            <p:cond delay="0"/>
                                          </p:stCondLst>
                                        </p:cTn>
                                        <p:tgtEl>
                                          <p:spTgt spid="371776">
                                            <p:txEl>
                                              <p:pRg st="0" end="0"/>
                                            </p:txEl>
                                          </p:spTgt>
                                        </p:tgtEl>
                                        <p:attrNameLst>
                                          <p:attrName>style.visibility</p:attrName>
                                        </p:attrNameLst>
                                      </p:cBhvr>
                                      <p:to>
                                        <p:strVal val="visible"/>
                                      </p:to>
                                    </p:set>
                                    <p:anim calcmode="lin" valueType="num">
                                      <p:cBhvr additive="base">
                                        <p:cTn id="59" dur="500" fill="hold"/>
                                        <p:tgtEl>
                                          <p:spTgt spid="371776">
                                            <p:txEl>
                                              <p:pRg st="0" end="0"/>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7177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2" presetClass="entr" presetSubtype="4" fill="hold" nodeType="clickEffect">
                                  <p:stCondLst>
                                    <p:cond delay="0"/>
                                  </p:stCondLst>
                                  <p:childTnLst>
                                    <p:set>
                                      <p:cBhvr>
                                        <p:cTn id="64" dur="1" fill="hold">
                                          <p:stCondLst>
                                            <p:cond delay="0"/>
                                          </p:stCondLst>
                                        </p:cTn>
                                        <p:tgtEl>
                                          <p:spTgt spid="371776">
                                            <p:txEl>
                                              <p:pRg st="1" end="1"/>
                                            </p:txEl>
                                          </p:spTgt>
                                        </p:tgtEl>
                                        <p:attrNameLst>
                                          <p:attrName>style.visibility</p:attrName>
                                        </p:attrNameLst>
                                      </p:cBhvr>
                                      <p:to>
                                        <p:strVal val="visible"/>
                                      </p:to>
                                    </p:set>
                                    <p:anim calcmode="lin" valueType="num">
                                      <p:cBhvr additive="base">
                                        <p:cTn id="65" dur="500" fill="hold"/>
                                        <p:tgtEl>
                                          <p:spTgt spid="371776">
                                            <p:txEl>
                                              <p:pRg st="1" end="1"/>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37177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2" presetClass="entr" presetSubtype="4" fill="hold" nodeType="clickEffect">
                                  <p:stCondLst>
                                    <p:cond delay="0"/>
                                  </p:stCondLst>
                                  <p:childTnLst>
                                    <p:set>
                                      <p:cBhvr>
                                        <p:cTn id="70" dur="1" fill="hold">
                                          <p:stCondLst>
                                            <p:cond delay="0"/>
                                          </p:stCondLst>
                                        </p:cTn>
                                        <p:tgtEl>
                                          <p:spTgt spid="371776">
                                            <p:txEl>
                                              <p:pRg st="2" end="2"/>
                                            </p:txEl>
                                          </p:spTgt>
                                        </p:tgtEl>
                                        <p:attrNameLst>
                                          <p:attrName>style.visibility</p:attrName>
                                        </p:attrNameLst>
                                      </p:cBhvr>
                                      <p:to>
                                        <p:strVal val="visible"/>
                                      </p:to>
                                    </p:set>
                                    <p:anim calcmode="lin" valueType="num">
                                      <p:cBhvr additive="base">
                                        <p:cTn id="71" dur="500" fill="hold"/>
                                        <p:tgtEl>
                                          <p:spTgt spid="371776">
                                            <p:txEl>
                                              <p:pRg st="2" end="2"/>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37177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2" presetClass="entr" presetSubtype="4" fill="hold" nodeType="clickEffect">
                                  <p:stCondLst>
                                    <p:cond delay="0"/>
                                  </p:stCondLst>
                                  <p:childTnLst>
                                    <p:set>
                                      <p:cBhvr>
                                        <p:cTn id="76" dur="1" fill="hold">
                                          <p:stCondLst>
                                            <p:cond delay="0"/>
                                          </p:stCondLst>
                                        </p:cTn>
                                        <p:tgtEl>
                                          <p:spTgt spid="371776">
                                            <p:txEl>
                                              <p:pRg st="3" end="3"/>
                                            </p:txEl>
                                          </p:spTgt>
                                        </p:tgtEl>
                                        <p:attrNameLst>
                                          <p:attrName>style.visibility</p:attrName>
                                        </p:attrNameLst>
                                      </p:cBhvr>
                                      <p:to>
                                        <p:strVal val="visible"/>
                                      </p:to>
                                    </p:set>
                                    <p:anim calcmode="lin" valueType="num">
                                      <p:cBhvr additive="base">
                                        <p:cTn id="77" dur="500" fill="hold"/>
                                        <p:tgtEl>
                                          <p:spTgt spid="371776">
                                            <p:txEl>
                                              <p:pRg st="3" end="3"/>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37177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79" fill="hold" nodeType="clickPar">
                      <p:stCondLst>
                        <p:cond delay="indefinite"/>
                      </p:stCondLst>
                      <p:childTnLst>
                        <p:par>
                          <p:cTn id="80" fill="hold" nodeType="withGroup">
                            <p:stCondLst>
                              <p:cond delay="0"/>
                            </p:stCondLst>
                            <p:childTnLst>
                              <p:par>
                                <p:cTn id="81" presetID="2" presetClass="entr" presetSubtype="4" fill="hold" nodeType="clickEffect">
                                  <p:stCondLst>
                                    <p:cond delay="0"/>
                                  </p:stCondLst>
                                  <p:childTnLst>
                                    <p:set>
                                      <p:cBhvr>
                                        <p:cTn id="82" dur="1" fill="hold">
                                          <p:stCondLst>
                                            <p:cond delay="0"/>
                                          </p:stCondLst>
                                        </p:cTn>
                                        <p:tgtEl>
                                          <p:spTgt spid="371776">
                                            <p:txEl>
                                              <p:pRg st="4" end="4"/>
                                            </p:txEl>
                                          </p:spTgt>
                                        </p:tgtEl>
                                        <p:attrNameLst>
                                          <p:attrName>style.visibility</p:attrName>
                                        </p:attrNameLst>
                                      </p:cBhvr>
                                      <p:to>
                                        <p:strVal val="visible"/>
                                      </p:to>
                                    </p:set>
                                    <p:anim calcmode="lin" valueType="num">
                                      <p:cBhvr additive="base">
                                        <p:cTn id="83" dur="500" fill="hold"/>
                                        <p:tgtEl>
                                          <p:spTgt spid="371776">
                                            <p:txEl>
                                              <p:pRg st="4" end="4"/>
                                            </p:txEl>
                                          </p:spTgt>
                                        </p:tgtEl>
                                        <p:attrNameLst>
                                          <p:attrName>ppt_x</p:attrName>
                                        </p:attrNameLst>
                                      </p:cBhvr>
                                      <p:tavLst>
                                        <p:tav tm="0">
                                          <p:val>
                                            <p:strVal val="#ppt_x"/>
                                          </p:val>
                                        </p:tav>
                                        <p:tav tm="100000">
                                          <p:val>
                                            <p:strVal val="#ppt_x"/>
                                          </p:val>
                                        </p:tav>
                                      </p:tavLst>
                                    </p:anim>
                                    <p:anim calcmode="lin" valueType="num">
                                      <p:cBhvr additive="base">
                                        <p:cTn id="84" dur="500" fill="hold"/>
                                        <p:tgtEl>
                                          <p:spTgt spid="37177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85" fill="hold" nodeType="clickPar">
                      <p:stCondLst>
                        <p:cond delay="indefinite"/>
                      </p:stCondLst>
                      <p:childTnLst>
                        <p:par>
                          <p:cTn id="86" fill="hold" nodeType="withGroup">
                            <p:stCondLst>
                              <p:cond delay="0"/>
                            </p:stCondLst>
                            <p:childTnLst>
                              <p:par>
                                <p:cTn id="87" presetID="2" presetClass="entr" presetSubtype="4" fill="hold" nodeType="clickEffect">
                                  <p:stCondLst>
                                    <p:cond delay="0"/>
                                  </p:stCondLst>
                                  <p:childTnLst>
                                    <p:set>
                                      <p:cBhvr>
                                        <p:cTn id="88" dur="1" fill="hold">
                                          <p:stCondLst>
                                            <p:cond delay="0"/>
                                          </p:stCondLst>
                                        </p:cTn>
                                        <p:tgtEl>
                                          <p:spTgt spid="371776">
                                            <p:txEl>
                                              <p:pRg st="5" end="5"/>
                                            </p:txEl>
                                          </p:spTgt>
                                        </p:tgtEl>
                                        <p:attrNameLst>
                                          <p:attrName>style.visibility</p:attrName>
                                        </p:attrNameLst>
                                      </p:cBhvr>
                                      <p:to>
                                        <p:strVal val="visible"/>
                                      </p:to>
                                    </p:set>
                                    <p:anim calcmode="lin" valueType="num">
                                      <p:cBhvr additive="base">
                                        <p:cTn id="89" dur="500" fill="hold"/>
                                        <p:tgtEl>
                                          <p:spTgt spid="371776">
                                            <p:txEl>
                                              <p:pRg st="5" end="5"/>
                                            </p:txEl>
                                          </p:spTgt>
                                        </p:tgtEl>
                                        <p:attrNameLst>
                                          <p:attrName>ppt_x</p:attrName>
                                        </p:attrNameLst>
                                      </p:cBhvr>
                                      <p:tavLst>
                                        <p:tav tm="0">
                                          <p:val>
                                            <p:strVal val="#ppt_x"/>
                                          </p:val>
                                        </p:tav>
                                        <p:tav tm="100000">
                                          <p:val>
                                            <p:strVal val="#ppt_x"/>
                                          </p:val>
                                        </p:tav>
                                      </p:tavLst>
                                    </p:anim>
                                    <p:anim calcmode="lin" valueType="num">
                                      <p:cBhvr additive="base">
                                        <p:cTn id="90" dur="500" fill="hold"/>
                                        <p:tgtEl>
                                          <p:spTgt spid="371776">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E9C54B71-4A3F-4049-91E5-2E8514D03C0C}" type="slidenum">
              <a:rPr lang="en-US" altLang="zh-CN"/>
              <a:pPr/>
              <a:t>24</a:t>
            </a:fld>
            <a:endParaRPr lang="en-US" altLang="zh-CN"/>
          </a:p>
        </p:txBody>
      </p:sp>
      <p:sp>
        <p:nvSpPr>
          <p:cNvPr id="372741" name="Text Box 5"/>
          <p:cNvSpPr txBox="1">
            <a:spLocks noChangeArrowheads="1"/>
          </p:cNvSpPr>
          <p:nvPr/>
        </p:nvSpPr>
        <p:spPr bwMode="auto">
          <a:xfrm>
            <a:off x="395288" y="1042988"/>
            <a:ext cx="8353425" cy="4364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30000"/>
              </a:lnSpc>
            </a:pPr>
            <a:r>
              <a:rPr lang="en-US" altLang="zh-CN" b="1" dirty="0"/>
              <a:t>1</a:t>
            </a:r>
            <a:r>
              <a:rPr lang="zh-CN" altLang="en-US" b="1" dirty="0"/>
              <a:t>．封闭性</a:t>
            </a:r>
            <a:r>
              <a:rPr lang="zh-CN" altLang="en-US" b="1" dirty="0">
                <a:solidFill>
                  <a:srgbClr val="FF0000"/>
                </a:solidFill>
                <a:sym typeface="Symbol" pitchFamily="18" charset="2"/>
              </a:rPr>
              <a:t></a:t>
            </a:r>
            <a:r>
              <a:rPr lang="zh-CN" altLang="en-US" b="1" dirty="0"/>
              <a:t>运算表中元素都属于</a:t>
            </a:r>
            <a:r>
              <a:rPr lang="en-US" altLang="zh-CN" b="1" dirty="0"/>
              <a:t>A</a:t>
            </a:r>
            <a:r>
              <a:rPr lang="zh-CN" altLang="en-US" b="1" dirty="0"/>
              <a:t>。</a:t>
            </a:r>
          </a:p>
          <a:p>
            <a:pPr algn="just">
              <a:lnSpc>
                <a:spcPct val="130000"/>
              </a:lnSpc>
            </a:pPr>
            <a:r>
              <a:rPr lang="en-US" altLang="zh-CN" b="1" dirty="0"/>
              <a:t>2</a:t>
            </a:r>
            <a:r>
              <a:rPr lang="zh-CN" altLang="en-US" b="1" dirty="0"/>
              <a:t>．可交换性</a:t>
            </a:r>
            <a:r>
              <a:rPr lang="zh-CN" altLang="en-US" b="1" dirty="0">
                <a:solidFill>
                  <a:srgbClr val="FF0000"/>
                </a:solidFill>
                <a:sym typeface="Symbol" pitchFamily="18" charset="2"/>
              </a:rPr>
              <a:t></a:t>
            </a:r>
            <a:r>
              <a:rPr lang="zh-CN" altLang="en-US" b="1" dirty="0"/>
              <a:t>运算表关于主对角线对称。</a:t>
            </a:r>
          </a:p>
          <a:p>
            <a:pPr algn="just">
              <a:lnSpc>
                <a:spcPct val="130000"/>
              </a:lnSpc>
            </a:pPr>
            <a:r>
              <a:rPr lang="en-US" altLang="zh-CN" b="1" dirty="0"/>
              <a:t>3</a:t>
            </a:r>
            <a:r>
              <a:rPr lang="zh-CN" altLang="en-US" b="1" dirty="0"/>
              <a:t>．等幂性</a:t>
            </a:r>
            <a:r>
              <a:rPr lang="zh-CN" altLang="en-US" b="1" dirty="0">
                <a:solidFill>
                  <a:srgbClr val="FF0000"/>
                </a:solidFill>
                <a:sym typeface="Symbol" pitchFamily="18" charset="2"/>
              </a:rPr>
              <a:t></a:t>
            </a:r>
            <a:r>
              <a:rPr lang="zh-CN" altLang="en-US" b="1" dirty="0"/>
              <a:t>运算表的主对角线上的每一元素与它所在行（列）的表头元素相同。</a:t>
            </a:r>
          </a:p>
          <a:p>
            <a:pPr algn="just">
              <a:lnSpc>
                <a:spcPct val="130000"/>
              </a:lnSpc>
            </a:pPr>
            <a:r>
              <a:rPr lang="en-US" altLang="zh-CN" b="1" dirty="0"/>
              <a:t>4</a:t>
            </a:r>
            <a:r>
              <a:rPr lang="zh-CN" altLang="en-US" b="1" dirty="0"/>
              <a:t>．零元</a:t>
            </a:r>
            <a:r>
              <a:rPr lang="zh-CN" altLang="en-US" b="1" dirty="0">
                <a:solidFill>
                  <a:srgbClr val="FF0000"/>
                </a:solidFill>
                <a:sym typeface="Symbol" pitchFamily="18" charset="2"/>
              </a:rPr>
              <a:t></a:t>
            </a:r>
            <a:r>
              <a:rPr lang="zh-CN" altLang="en-US" b="1" dirty="0"/>
              <a:t>该元素所对应的行和列中的元素都与该元素相同。</a:t>
            </a:r>
          </a:p>
          <a:p>
            <a:pPr algn="just">
              <a:lnSpc>
                <a:spcPct val="130000"/>
              </a:lnSpc>
            </a:pPr>
            <a:r>
              <a:rPr lang="en-US" altLang="zh-CN" b="1" dirty="0"/>
              <a:t>5</a:t>
            </a:r>
            <a:r>
              <a:rPr lang="zh-CN" altLang="en-US" b="1" dirty="0"/>
              <a:t>．幺元</a:t>
            </a:r>
            <a:r>
              <a:rPr lang="zh-CN" altLang="en-US" b="1" dirty="0">
                <a:solidFill>
                  <a:srgbClr val="FF0000"/>
                </a:solidFill>
                <a:sym typeface="Symbol" pitchFamily="18" charset="2"/>
              </a:rPr>
              <a:t></a:t>
            </a:r>
            <a:r>
              <a:rPr lang="zh-CN" altLang="en-US" b="1" dirty="0"/>
              <a:t>该元素所对应的行和列依次与运算表的第一行和第一列相一致。</a:t>
            </a:r>
          </a:p>
          <a:p>
            <a:pPr algn="just">
              <a:lnSpc>
                <a:spcPct val="130000"/>
              </a:lnSpc>
            </a:pPr>
            <a:r>
              <a:rPr lang="en-US" altLang="zh-CN" b="1" dirty="0"/>
              <a:t>6</a:t>
            </a:r>
            <a:r>
              <a:rPr lang="zh-CN" altLang="en-US" b="1" dirty="0"/>
              <a:t>．互逆：</a:t>
            </a:r>
            <a:r>
              <a:rPr lang="en-US" altLang="zh-CN" b="1" dirty="0" err="1"/>
              <a:t>a,b</a:t>
            </a:r>
            <a:r>
              <a:rPr lang="zh-CN" altLang="en-US" b="1" dirty="0"/>
              <a:t>互逆</a:t>
            </a:r>
            <a:r>
              <a:rPr lang="zh-CN" altLang="en-US" b="1" dirty="0">
                <a:solidFill>
                  <a:srgbClr val="FF0000"/>
                </a:solidFill>
                <a:sym typeface="Symbol" pitchFamily="18" charset="2"/>
              </a:rPr>
              <a:t></a:t>
            </a:r>
            <a:r>
              <a:rPr lang="zh-CN" altLang="en-US" b="1" dirty="0"/>
              <a:t>位于</a:t>
            </a:r>
            <a:r>
              <a:rPr lang="en-US" altLang="zh-CN" b="1" dirty="0"/>
              <a:t>a</a:t>
            </a:r>
            <a:r>
              <a:rPr lang="zh-CN" altLang="en-US" b="1" dirty="0"/>
              <a:t>所在行和</a:t>
            </a:r>
            <a:r>
              <a:rPr lang="en-US" altLang="zh-CN" b="1" dirty="0"/>
              <a:t>b</a:t>
            </a:r>
            <a:r>
              <a:rPr lang="zh-CN" altLang="en-US" b="1" dirty="0"/>
              <a:t>所在列相交点的元素以及</a:t>
            </a:r>
            <a:r>
              <a:rPr lang="en-US" altLang="zh-CN" b="1" dirty="0"/>
              <a:t>b</a:t>
            </a:r>
            <a:r>
              <a:rPr lang="zh-CN" altLang="en-US" b="1" dirty="0"/>
              <a:t>所在行和</a:t>
            </a:r>
            <a:r>
              <a:rPr lang="en-US" altLang="zh-CN" b="1" dirty="0"/>
              <a:t>a</a:t>
            </a:r>
            <a:r>
              <a:rPr lang="zh-CN" altLang="en-US" b="1" dirty="0"/>
              <a:t>所在列相交点的元素都是幺元。 </a:t>
            </a:r>
          </a:p>
        </p:txBody>
      </p:sp>
      <p:sp>
        <p:nvSpPr>
          <p:cNvPr id="372742" name="Rectangle 6"/>
          <p:cNvSpPr>
            <a:spLocks noGrp="1" noChangeArrowheads="1"/>
          </p:cNvSpPr>
          <p:nvPr>
            <p:ph type="title"/>
          </p:nvPr>
        </p:nvSpPr>
        <p:spPr>
          <a:xfrm>
            <a:off x="1062038" y="246063"/>
            <a:ext cx="6605587" cy="579437"/>
          </a:xfrm>
        </p:spPr>
        <p:txBody>
          <a:bodyPr/>
          <a:lstStyle/>
          <a:p>
            <a:r>
              <a:rPr kumimoji="1" lang="zh-CN" altLang="en-US" sz="3200">
                <a:solidFill>
                  <a:schemeClr val="folHlink"/>
                </a:solidFill>
                <a:latin typeface="Times New Roman" pitchFamily="18" charset="0"/>
              </a:rPr>
              <a:t>三、运算表与二元运算的性质</a:t>
            </a:r>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72741">
                                            <p:txEl>
                                              <p:pRg st="1" end="1"/>
                                            </p:txEl>
                                          </p:spTgt>
                                        </p:tgtEl>
                                        <p:attrNameLst>
                                          <p:attrName>style.visibility</p:attrName>
                                        </p:attrNameLst>
                                      </p:cBhvr>
                                      <p:to>
                                        <p:strVal val="visible"/>
                                      </p:to>
                                    </p:set>
                                    <p:anim calcmode="lin" valueType="num">
                                      <p:cBhvr additive="base">
                                        <p:cTn id="7" dur="500" fill="hold"/>
                                        <p:tgtEl>
                                          <p:spTgt spid="37274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274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72741">
                                            <p:txEl>
                                              <p:pRg st="2" end="2"/>
                                            </p:txEl>
                                          </p:spTgt>
                                        </p:tgtEl>
                                        <p:attrNameLst>
                                          <p:attrName>style.visibility</p:attrName>
                                        </p:attrNameLst>
                                      </p:cBhvr>
                                      <p:to>
                                        <p:strVal val="visible"/>
                                      </p:to>
                                    </p:set>
                                    <p:anim calcmode="lin" valueType="num">
                                      <p:cBhvr additive="base">
                                        <p:cTn id="13" dur="500" fill="hold"/>
                                        <p:tgtEl>
                                          <p:spTgt spid="37274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7274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72741">
                                            <p:txEl>
                                              <p:pRg st="3" end="3"/>
                                            </p:txEl>
                                          </p:spTgt>
                                        </p:tgtEl>
                                        <p:attrNameLst>
                                          <p:attrName>style.visibility</p:attrName>
                                        </p:attrNameLst>
                                      </p:cBhvr>
                                      <p:to>
                                        <p:strVal val="visible"/>
                                      </p:to>
                                    </p:set>
                                    <p:anim calcmode="lin" valueType="num">
                                      <p:cBhvr additive="base">
                                        <p:cTn id="19" dur="500" fill="hold"/>
                                        <p:tgtEl>
                                          <p:spTgt spid="37274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7274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72741">
                                            <p:txEl>
                                              <p:pRg st="4" end="4"/>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372741">
                                            <p:txEl>
                                              <p:pRg st="5" end="5"/>
                                            </p:txEl>
                                          </p:spTgt>
                                        </p:tgtEl>
                                        <p:attrNameLst>
                                          <p:attrName>style.visibility</p:attrName>
                                        </p:attrNameLst>
                                      </p:cBhvr>
                                      <p:to>
                                        <p:strVal val="visible"/>
                                      </p:to>
                                    </p:set>
                                    <p:anim calcmode="lin" valueType="num">
                                      <p:cBhvr additive="base">
                                        <p:cTn id="29" dur="500" fill="hold"/>
                                        <p:tgtEl>
                                          <p:spTgt spid="372741">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7274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1"/>
          </p:nvPr>
        </p:nvSpPr>
        <p:spPr/>
        <p:txBody>
          <a:bodyPr/>
          <a:lstStyle/>
          <a:p>
            <a:fld id="{C205980C-36A3-4B3D-A52D-3BE1359A66B6}" type="slidenum">
              <a:rPr lang="en-US" altLang="zh-CN"/>
              <a:pPr/>
              <a:t>25</a:t>
            </a:fld>
            <a:endParaRPr lang="en-US" altLang="zh-CN"/>
          </a:p>
        </p:txBody>
      </p:sp>
      <p:sp>
        <p:nvSpPr>
          <p:cNvPr id="437250" name="Text Box 2"/>
          <p:cNvSpPr txBox="1">
            <a:spLocks noChangeArrowheads="1"/>
          </p:cNvSpPr>
          <p:nvPr/>
        </p:nvSpPr>
        <p:spPr bwMode="auto">
          <a:xfrm>
            <a:off x="468000" y="1651000"/>
            <a:ext cx="8208962" cy="436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30000"/>
              </a:lnSpc>
            </a:pPr>
            <a:r>
              <a:rPr lang="en-US" altLang="zh-CN" b="1" dirty="0"/>
              <a:t>         </a:t>
            </a:r>
            <a:r>
              <a:rPr lang="zh-CN" altLang="en-US" b="1" dirty="0">
                <a:solidFill>
                  <a:srgbClr val="FF0000"/>
                </a:solidFill>
              </a:rPr>
              <a:t>定义</a:t>
            </a:r>
            <a:r>
              <a:rPr lang="en-US" altLang="zh-CN" b="1" dirty="0">
                <a:solidFill>
                  <a:srgbClr val="FF0000"/>
                </a:solidFill>
              </a:rPr>
              <a:t>5-3.1</a:t>
            </a:r>
            <a:r>
              <a:rPr lang="zh-CN" altLang="en-US" b="1" dirty="0">
                <a:solidFill>
                  <a:srgbClr val="FF0000"/>
                </a:solidFill>
              </a:rPr>
              <a:t>：</a:t>
            </a:r>
            <a:r>
              <a:rPr lang="zh-CN" altLang="en-US" b="1" dirty="0"/>
              <a:t>一个代数系统</a:t>
            </a:r>
            <a:r>
              <a:rPr lang="en-US" altLang="zh-CN" b="1" dirty="0"/>
              <a:t>&lt;S,*&gt;</a:t>
            </a:r>
            <a:r>
              <a:rPr lang="zh-CN" altLang="en-US" b="1" dirty="0"/>
              <a:t>，其中</a:t>
            </a:r>
            <a:r>
              <a:rPr lang="en-US" altLang="zh-CN" b="1" dirty="0"/>
              <a:t>S</a:t>
            </a:r>
            <a:r>
              <a:rPr lang="zh-CN" altLang="en-US" b="1" dirty="0"/>
              <a:t>是非空集合，*是</a:t>
            </a:r>
            <a:r>
              <a:rPr lang="en-US" altLang="zh-CN" b="1" dirty="0"/>
              <a:t>S</a:t>
            </a:r>
            <a:r>
              <a:rPr lang="zh-CN" altLang="en-US" b="1" dirty="0"/>
              <a:t>上的一个二元运算，如果运算*是</a:t>
            </a:r>
            <a:r>
              <a:rPr lang="zh-CN" altLang="en-US" b="1" dirty="0">
                <a:solidFill>
                  <a:srgbClr val="FF0000"/>
                </a:solidFill>
              </a:rPr>
              <a:t>封闭的</a:t>
            </a:r>
            <a:r>
              <a:rPr lang="zh-CN" altLang="en-US" b="1" dirty="0"/>
              <a:t>，则称代数系统</a:t>
            </a:r>
            <a:r>
              <a:rPr lang="en-US" altLang="zh-CN" b="1" dirty="0"/>
              <a:t>&lt;S,*&gt;</a:t>
            </a:r>
            <a:r>
              <a:rPr lang="zh-CN" altLang="en-US" b="1" dirty="0"/>
              <a:t>为</a:t>
            </a:r>
            <a:r>
              <a:rPr lang="zh-CN" altLang="en-US" b="1" i="1" dirty="0">
                <a:solidFill>
                  <a:srgbClr val="FF0000"/>
                </a:solidFill>
              </a:rPr>
              <a:t>广群</a:t>
            </a:r>
            <a:r>
              <a:rPr lang="zh-CN" altLang="en-US" b="1" dirty="0"/>
              <a:t>。</a:t>
            </a:r>
          </a:p>
          <a:p>
            <a:pPr algn="just">
              <a:lnSpc>
                <a:spcPct val="130000"/>
              </a:lnSpc>
            </a:pPr>
            <a:r>
              <a:rPr lang="zh-CN" altLang="en-US" b="1" dirty="0">
                <a:solidFill>
                  <a:schemeClr val="hlink"/>
                </a:solidFill>
              </a:rPr>
              <a:t>         </a:t>
            </a:r>
            <a:r>
              <a:rPr lang="zh-CN" altLang="en-US" b="1" dirty="0">
                <a:solidFill>
                  <a:srgbClr val="FF0000"/>
                </a:solidFill>
              </a:rPr>
              <a:t>定义</a:t>
            </a:r>
            <a:r>
              <a:rPr lang="en-US" altLang="zh-CN" b="1" dirty="0">
                <a:solidFill>
                  <a:srgbClr val="FF0000"/>
                </a:solidFill>
              </a:rPr>
              <a:t>5-3.2</a:t>
            </a:r>
            <a:r>
              <a:rPr lang="zh-CN" altLang="en-US" b="1" dirty="0">
                <a:solidFill>
                  <a:srgbClr val="FF0000"/>
                </a:solidFill>
              </a:rPr>
              <a:t>：</a:t>
            </a:r>
            <a:r>
              <a:rPr lang="zh-CN" altLang="en-US" b="1" dirty="0"/>
              <a:t>一个代数系统</a:t>
            </a:r>
            <a:r>
              <a:rPr lang="en-US" altLang="zh-CN" b="1" dirty="0"/>
              <a:t>&lt;S,*&gt;</a:t>
            </a:r>
            <a:r>
              <a:rPr lang="zh-CN" altLang="en-US" b="1" dirty="0"/>
              <a:t>，其中</a:t>
            </a:r>
            <a:r>
              <a:rPr lang="en-US" altLang="zh-CN" b="1" dirty="0"/>
              <a:t>S</a:t>
            </a:r>
            <a:r>
              <a:rPr lang="zh-CN" altLang="en-US" b="1" dirty="0"/>
              <a:t>是非空集合，*是</a:t>
            </a:r>
            <a:r>
              <a:rPr lang="en-US" altLang="zh-CN" b="1" dirty="0"/>
              <a:t>S</a:t>
            </a:r>
            <a:r>
              <a:rPr lang="zh-CN" altLang="en-US" b="1" dirty="0"/>
              <a:t>上的一个二元运算。如果：</a:t>
            </a:r>
          </a:p>
          <a:p>
            <a:pPr algn="just">
              <a:lnSpc>
                <a:spcPct val="130000"/>
              </a:lnSpc>
            </a:pPr>
            <a:r>
              <a:rPr lang="en-US" altLang="zh-CN" b="1" dirty="0"/>
              <a:t>(1)</a:t>
            </a:r>
            <a:r>
              <a:rPr lang="zh-CN" altLang="en-US" b="1" dirty="0"/>
              <a:t>运算*是封闭的。</a:t>
            </a:r>
          </a:p>
          <a:p>
            <a:pPr algn="just">
              <a:lnSpc>
                <a:spcPct val="130000"/>
              </a:lnSpc>
            </a:pPr>
            <a:r>
              <a:rPr lang="en-US" altLang="zh-CN" b="1" dirty="0"/>
              <a:t>(2)</a:t>
            </a:r>
            <a:r>
              <a:rPr lang="zh-CN" altLang="en-US" b="1" dirty="0"/>
              <a:t>运算*是可结合的，即对任意的</a:t>
            </a:r>
            <a:r>
              <a:rPr lang="en-US" altLang="zh-CN" b="1" dirty="0"/>
              <a:t>x, y, </a:t>
            </a:r>
            <a:r>
              <a:rPr lang="en-US" altLang="zh-CN" b="1" dirty="0" err="1"/>
              <a:t>z∈S</a:t>
            </a:r>
            <a:r>
              <a:rPr lang="zh-CN" altLang="en-US" b="1" dirty="0"/>
              <a:t>，满足</a:t>
            </a:r>
          </a:p>
          <a:p>
            <a:pPr>
              <a:lnSpc>
                <a:spcPct val="130000"/>
              </a:lnSpc>
            </a:pPr>
            <a:r>
              <a:rPr lang="en-US" altLang="zh-CN" b="1" dirty="0"/>
              <a:t>(x*y)*z=x*(y*z)</a:t>
            </a:r>
          </a:p>
          <a:p>
            <a:pPr algn="just">
              <a:lnSpc>
                <a:spcPct val="130000"/>
              </a:lnSpc>
            </a:pPr>
            <a:r>
              <a:rPr lang="zh-CN" altLang="en-US" b="1" dirty="0"/>
              <a:t>则称代数系统</a:t>
            </a:r>
            <a:r>
              <a:rPr lang="en-US" altLang="zh-CN" b="1" dirty="0"/>
              <a:t>&lt;S,*&gt;</a:t>
            </a:r>
            <a:r>
              <a:rPr lang="zh-CN" altLang="en-US" b="1" dirty="0"/>
              <a:t>为</a:t>
            </a:r>
            <a:r>
              <a:rPr lang="zh-CN" altLang="en-US" b="1" i="1" dirty="0">
                <a:solidFill>
                  <a:srgbClr val="FF0000"/>
                </a:solidFill>
              </a:rPr>
              <a:t>半群</a:t>
            </a:r>
            <a:r>
              <a:rPr lang="zh-CN" altLang="en-US" b="1" dirty="0"/>
              <a:t>。 </a:t>
            </a:r>
          </a:p>
        </p:txBody>
      </p:sp>
      <p:sp>
        <p:nvSpPr>
          <p:cNvPr id="437252" name="Rectangle 4"/>
          <p:cNvSpPr>
            <a:spLocks noGrp="1" noChangeArrowheads="1"/>
          </p:cNvSpPr>
          <p:nvPr>
            <p:ph type="title"/>
          </p:nvPr>
        </p:nvSpPr>
        <p:spPr>
          <a:xfrm>
            <a:off x="1079500" y="179388"/>
            <a:ext cx="4805363" cy="641350"/>
          </a:xfrm>
          <a:noFill/>
        </p:spPr>
        <p:txBody>
          <a:bodyPr anchor="ctr"/>
          <a:lstStyle/>
          <a:p>
            <a:r>
              <a:rPr kumimoji="1" lang="en-US" altLang="zh-CN" sz="3600">
                <a:solidFill>
                  <a:schemeClr val="tx1"/>
                </a:solidFill>
                <a:latin typeface="华文行楷" pitchFamily="2" charset="-122"/>
                <a:ea typeface="华文行楷" pitchFamily="2" charset="-122"/>
              </a:rPr>
              <a:t>5.3  </a:t>
            </a:r>
            <a:r>
              <a:rPr kumimoji="1" lang="zh-CN" altLang="en-US" sz="3600">
                <a:solidFill>
                  <a:schemeClr val="tx1"/>
                </a:solidFill>
                <a:latin typeface="华文行楷" pitchFamily="2" charset="-122"/>
                <a:ea typeface="华文行楷" pitchFamily="2" charset="-122"/>
              </a:rPr>
              <a:t>半群</a:t>
            </a:r>
          </a:p>
        </p:txBody>
      </p:sp>
      <p:sp>
        <p:nvSpPr>
          <p:cNvPr id="437254" name="Rectangle 6"/>
          <p:cNvSpPr>
            <a:spLocks noChangeArrowheads="1"/>
          </p:cNvSpPr>
          <p:nvPr/>
        </p:nvSpPr>
        <p:spPr bwMode="auto">
          <a:xfrm>
            <a:off x="468313" y="1146175"/>
            <a:ext cx="66246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3200" b="1" dirty="0">
                <a:solidFill>
                  <a:schemeClr val="folHlink"/>
                </a:solidFill>
                <a:latin typeface="楷体_GB2312" pitchFamily="49" charset="-122"/>
                <a:ea typeface="楷体_GB2312" pitchFamily="49" charset="-122"/>
              </a:rPr>
              <a:t>1</a:t>
            </a:r>
            <a:r>
              <a:rPr lang="zh-CN" altLang="en-US" sz="3200" b="1" dirty="0">
                <a:solidFill>
                  <a:schemeClr val="folHlink"/>
                </a:solidFill>
                <a:latin typeface="楷体_GB2312" pitchFamily="49" charset="-122"/>
                <a:ea typeface="楷体_GB2312" pitchFamily="49" charset="-122"/>
              </a:rPr>
              <a:t>、广群、半群及其性质</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37250">
                                            <p:txEl>
                                              <p:pRg st="1" end="1"/>
                                            </p:txEl>
                                          </p:spTgt>
                                        </p:tgtEl>
                                        <p:attrNameLst>
                                          <p:attrName>style.visibility</p:attrName>
                                        </p:attrNameLst>
                                      </p:cBhvr>
                                      <p:to>
                                        <p:strVal val="visible"/>
                                      </p:to>
                                    </p:set>
                                    <p:anim calcmode="lin" valueType="num">
                                      <p:cBhvr additive="base">
                                        <p:cTn id="7" dur="500" fill="hold"/>
                                        <p:tgtEl>
                                          <p:spTgt spid="437250">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37250">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37250">
                                            <p:txEl>
                                              <p:pRg st="2" end="2"/>
                                            </p:txEl>
                                          </p:spTgt>
                                        </p:tgtEl>
                                        <p:attrNameLst>
                                          <p:attrName>style.visibility</p:attrName>
                                        </p:attrNameLst>
                                      </p:cBhvr>
                                      <p:to>
                                        <p:strVal val="visible"/>
                                      </p:to>
                                    </p:set>
                                    <p:anim calcmode="lin" valueType="num">
                                      <p:cBhvr additive="base">
                                        <p:cTn id="11" dur="500" fill="hold"/>
                                        <p:tgtEl>
                                          <p:spTgt spid="437250">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37250">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37250">
                                            <p:txEl>
                                              <p:pRg st="3" end="3"/>
                                            </p:txEl>
                                          </p:spTgt>
                                        </p:tgtEl>
                                        <p:attrNameLst>
                                          <p:attrName>style.visibility</p:attrName>
                                        </p:attrNameLst>
                                      </p:cBhvr>
                                      <p:to>
                                        <p:strVal val="visible"/>
                                      </p:to>
                                    </p:set>
                                    <p:anim calcmode="lin" valueType="num">
                                      <p:cBhvr additive="base">
                                        <p:cTn id="15" dur="500" fill="hold"/>
                                        <p:tgtEl>
                                          <p:spTgt spid="437250">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37250">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37250">
                                            <p:txEl>
                                              <p:pRg st="4" end="4"/>
                                            </p:txEl>
                                          </p:spTgt>
                                        </p:tgtEl>
                                        <p:attrNameLst>
                                          <p:attrName>style.visibility</p:attrName>
                                        </p:attrNameLst>
                                      </p:cBhvr>
                                      <p:to>
                                        <p:strVal val="visible"/>
                                      </p:to>
                                    </p:set>
                                    <p:anim calcmode="lin" valueType="num">
                                      <p:cBhvr additive="base">
                                        <p:cTn id="19" dur="500" fill="hold"/>
                                        <p:tgtEl>
                                          <p:spTgt spid="437250">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37250">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37250">
                                            <p:txEl>
                                              <p:pRg st="5" end="5"/>
                                            </p:txEl>
                                          </p:spTgt>
                                        </p:tgtEl>
                                        <p:attrNameLst>
                                          <p:attrName>style.visibility</p:attrName>
                                        </p:attrNameLst>
                                      </p:cBhvr>
                                      <p:to>
                                        <p:strVal val="visible"/>
                                      </p:to>
                                    </p:set>
                                    <p:anim calcmode="lin" valueType="num">
                                      <p:cBhvr additive="base">
                                        <p:cTn id="23" dur="500" fill="hold"/>
                                        <p:tgtEl>
                                          <p:spTgt spid="437250">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37250">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7C51B75C-FFCD-47E7-858A-D2C0BEAC26D1}" type="slidenum">
              <a:rPr lang="en-US" altLang="zh-CN"/>
              <a:pPr/>
              <a:t>26</a:t>
            </a:fld>
            <a:endParaRPr lang="en-US" altLang="zh-CN"/>
          </a:p>
        </p:txBody>
      </p:sp>
      <p:sp>
        <p:nvSpPr>
          <p:cNvPr id="438274" name="Text Box 2"/>
          <p:cNvSpPr txBox="1">
            <a:spLocks noChangeArrowheads="1"/>
          </p:cNvSpPr>
          <p:nvPr/>
        </p:nvSpPr>
        <p:spPr bwMode="auto">
          <a:xfrm>
            <a:off x="647700" y="981075"/>
            <a:ext cx="7916863" cy="3414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30000"/>
              </a:lnSpc>
            </a:pPr>
            <a:r>
              <a:rPr lang="zh-CN" altLang="en-US" b="1">
                <a:solidFill>
                  <a:schemeClr val="hlink"/>
                </a:solidFill>
              </a:rPr>
              <a:t>例</a:t>
            </a:r>
            <a:r>
              <a:rPr lang="en-US" altLang="zh-CN" b="1">
                <a:solidFill>
                  <a:schemeClr val="hlink"/>
                </a:solidFill>
              </a:rPr>
              <a:t>1</a:t>
            </a:r>
            <a:r>
              <a:rPr lang="zh-CN" altLang="en-US" b="1">
                <a:solidFill>
                  <a:schemeClr val="hlink"/>
                </a:solidFill>
              </a:rPr>
              <a:t>：</a:t>
            </a:r>
            <a:r>
              <a:rPr lang="zh-CN" altLang="en-US" b="1"/>
              <a:t>证明代数系统</a:t>
            </a:r>
            <a:r>
              <a:rPr lang="en-US" altLang="zh-CN" b="1"/>
              <a:t>&lt;R*,</a:t>
            </a:r>
            <a:r>
              <a:rPr lang="en-US" altLang="zh-CN" b="1">
                <a:cs typeface="Times New Roman" pitchFamily="18" charset="0"/>
              </a:rPr>
              <a:t>◦</a:t>
            </a:r>
            <a:r>
              <a:rPr lang="en-US" altLang="zh-CN" b="1"/>
              <a:t>&gt;</a:t>
            </a:r>
            <a:r>
              <a:rPr lang="zh-CN" altLang="en-US" b="1"/>
              <a:t>是一个半群，其中</a:t>
            </a:r>
            <a:r>
              <a:rPr lang="en-US" altLang="zh-CN" b="1"/>
              <a:t>R*</a:t>
            </a:r>
            <a:r>
              <a:rPr lang="zh-CN" altLang="en-US" b="1"/>
              <a:t>是非零实数集合，</a:t>
            </a:r>
            <a:r>
              <a:rPr lang="zh-CN" altLang="en-US" b="1">
                <a:cs typeface="Times New Roman" pitchFamily="18" charset="0"/>
              </a:rPr>
              <a:t>◦运算定义为：</a:t>
            </a:r>
            <a:r>
              <a:rPr lang="en-US" altLang="zh-CN" b="1">
                <a:cs typeface="Times New Roman" pitchFamily="18" charset="0"/>
              </a:rPr>
              <a:t>x◦y=y</a:t>
            </a:r>
            <a:r>
              <a:rPr lang="zh-CN" altLang="en-US" b="1">
                <a:cs typeface="Times New Roman" pitchFamily="18" charset="0"/>
              </a:rPr>
              <a:t>。</a:t>
            </a:r>
          </a:p>
          <a:p>
            <a:pPr algn="just">
              <a:lnSpc>
                <a:spcPct val="130000"/>
              </a:lnSpc>
            </a:pPr>
            <a:r>
              <a:rPr lang="zh-CN" altLang="en-US" b="1"/>
              <a:t>解：</a:t>
            </a:r>
            <a:r>
              <a:rPr lang="zh-CN" altLang="en-US" b="1">
                <a:sym typeface="Symbol" pitchFamily="18" charset="2"/>
              </a:rPr>
              <a:t></a:t>
            </a:r>
            <a:r>
              <a:rPr lang="en-US" altLang="zh-CN" b="1">
                <a:sym typeface="Symbol" pitchFamily="18" charset="2"/>
              </a:rPr>
              <a:t>x, y</a:t>
            </a:r>
            <a:r>
              <a:rPr lang="en-US" altLang="zh-CN" b="1">
                <a:latin typeface="宋体" pitchFamily="2" charset="-122"/>
                <a:sym typeface="Symbol" pitchFamily="18" charset="2"/>
              </a:rPr>
              <a:t>∈</a:t>
            </a:r>
            <a:r>
              <a:rPr lang="en-US" altLang="zh-CN" b="1">
                <a:sym typeface="Symbol" pitchFamily="18" charset="2"/>
              </a:rPr>
              <a:t>R*</a:t>
            </a:r>
            <a:r>
              <a:rPr lang="zh-CN" altLang="en-US" b="1">
                <a:sym typeface="Symbol" pitchFamily="18" charset="2"/>
              </a:rPr>
              <a:t>，</a:t>
            </a:r>
            <a:r>
              <a:rPr lang="en-US" altLang="zh-CN" b="1">
                <a:cs typeface="Times New Roman" pitchFamily="18" charset="0"/>
              </a:rPr>
              <a:t>x◦y=y</a:t>
            </a:r>
            <a:r>
              <a:rPr lang="en-US" altLang="zh-CN" b="1">
                <a:latin typeface="宋体" pitchFamily="2" charset="-122"/>
                <a:cs typeface="Times New Roman" pitchFamily="18" charset="0"/>
              </a:rPr>
              <a:t>∈</a:t>
            </a:r>
            <a:r>
              <a:rPr lang="en-US" altLang="zh-CN" b="1">
                <a:cs typeface="Times New Roman" pitchFamily="18" charset="0"/>
              </a:rPr>
              <a:t>R*</a:t>
            </a:r>
            <a:r>
              <a:rPr lang="zh-CN" altLang="en-US" b="1">
                <a:cs typeface="Times New Roman" pitchFamily="18" charset="0"/>
              </a:rPr>
              <a:t>，封闭；</a:t>
            </a:r>
          </a:p>
          <a:p>
            <a:pPr algn="just">
              <a:lnSpc>
                <a:spcPct val="130000"/>
              </a:lnSpc>
            </a:pPr>
            <a:r>
              <a:rPr lang="zh-CN" altLang="en-US" b="1">
                <a:sym typeface="Symbol" pitchFamily="18" charset="2"/>
              </a:rPr>
              <a:t></a:t>
            </a:r>
            <a:r>
              <a:rPr lang="en-US" altLang="zh-CN" b="1">
                <a:sym typeface="Symbol" pitchFamily="18" charset="2"/>
              </a:rPr>
              <a:t>x, y, z</a:t>
            </a:r>
            <a:r>
              <a:rPr lang="en-US" altLang="zh-CN" b="1">
                <a:latin typeface="宋体" pitchFamily="2" charset="-122"/>
                <a:sym typeface="Symbol" pitchFamily="18" charset="2"/>
              </a:rPr>
              <a:t>∈</a:t>
            </a:r>
            <a:r>
              <a:rPr lang="en-US" altLang="zh-CN" b="1">
                <a:sym typeface="Symbol" pitchFamily="18" charset="2"/>
              </a:rPr>
              <a:t>R*</a:t>
            </a:r>
            <a:r>
              <a:rPr lang="zh-CN" altLang="en-US" b="1">
                <a:sym typeface="Symbol" pitchFamily="18" charset="2"/>
              </a:rPr>
              <a:t>，</a:t>
            </a:r>
            <a:r>
              <a:rPr lang="en-US" altLang="zh-CN" b="1">
                <a:sym typeface="Symbol" pitchFamily="18" charset="2"/>
              </a:rPr>
              <a:t>(</a:t>
            </a:r>
            <a:r>
              <a:rPr lang="en-US" altLang="zh-CN" b="1">
                <a:cs typeface="Times New Roman" pitchFamily="18" charset="0"/>
              </a:rPr>
              <a:t>x◦y)◦z=y◦z=z</a:t>
            </a:r>
            <a:r>
              <a:rPr lang="zh-CN" altLang="en-US" b="1">
                <a:cs typeface="Times New Roman" pitchFamily="18" charset="0"/>
              </a:rPr>
              <a:t>，</a:t>
            </a:r>
          </a:p>
          <a:p>
            <a:pPr algn="just">
              <a:lnSpc>
                <a:spcPct val="130000"/>
              </a:lnSpc>
            </a:pPr>
            <a:r>
              <a:rPr lang="en-US" altLang="zh-CN" b="1">
                <a:cs typeface="Times New Roman" pitchFamily="18" charset="0"/>
              </a:rPr>
              <a:t>x◦(y◦z)=x◦z=z</a:t>
            </a:r>
            <a:r>
              <a:rPr lang="zh-CN" altLang="en-US" b="1">
                <a:cs typeface="Times New Roman" pitchFamily="18" charset="0"/>
              </a:rPr>
              <a:t>，</a:t>
            </a:r>
          </a:p>
          <a:p>
            <a:pPr algn="just">
              <a:lnSpc>
                <a:spcPct val="130000"/>
              </a:lnSpc>
            </a:pPr>
            <a:r>
              <a:rPr lang="zh-CN" altLang="en-US" b="1">
                <a:cs typeface="Times New Roman" pitchFamily="18" charset="0"/>
              </a:rPr>
              <a:t>即</a:t>
            </a:r>
            <a:r>
              <a:rPr lang="en-US" altLang="zh-CN" b="1">
                <a:sym typeface="Symbol" pitchFamily="18" charset="2"/>
              </a:rPr>
              <a:t>(</a:t>
            </a:r>
            <a:r>
              <a:rPr lang="en-US" altLang="zh-CN" b="1"/>
              <a:t>x◦y)◦z=x◦(y◦z)</a:t>
            </a:r>
            <a:r>
              <a:rPr lang="zh-CN" altLang="en-US" b="1"/>
              <a:t>，结合；</a:t>
            </a:r>
          </a:p>
          <a:p>
            <a:pPr algn="just">
              <a:lnSpc>
                <a:spcPct val="130000"/>
              </a:lnSpc>
            </a:pPr>
            <a:r>
              <a:rPr lang="zh-CN" altLang="en-US" b="1"/>
              <a:t>所以代数系统</a:t>
            </a:r>
            <a:r>
              <a:rPr lang="en-US" altLang="zh-CN" b="1"/>
              <a:t>&lt;R*,◦&gt;</a:t>
            </a:r>
            <a:r>
              <a:rPr lang="zh-CN" altLang="en-US" b="1"/>
              <a:t>是一个半群。</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38274">
                                            <p:txEl>
                                              <p:pRg st="1" end="1"/>
                                            </p:txEl>
                                          </p:spTgt>
                                        </p:tgtEl>
                                        <p:attrNameLst>
                                          <p:attrName>style.visibility</p:attrName>
                                        </p:attrNameLst>
                                      </p:cBhvr>
                                      <p:to>
                                        <p:strVal val="visible"/>
                                      </p:to>
                                    </p:set>
                                    <p:anim calcmode="lin" valueType="num">
                                      <p:cBhvr additive="base">
                                        <p:cTn id="7" dur="500" fill="hold"/>
                                        <p:tgtEl>
                                          <p:spTgt spid="43827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3827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38274">
                                            <p:txEl>
                                              <p:pRg st="2" end="2"/>
                                            </p:txEl>
                                          </p:spTgt>
                                        </p:tgtEl>
                                        <p:attrNameLst>
                                          <p:attrName>style.visibility</p:attrName>
                                        </p:attrNameLst>
                                      </p:cBhvr>
                                      <p:to>
                                        <p:strVal val="visible"/>
                                      </p:to>
                                    </p:set>
                                    <p:anim calcmode="lin" valueType="num">
                                      <p:cBhvr additive="base">
                                        <p:cTn id="13" dur="500" fill="hold"/>
                                        <p:tgtEl>
                                          <p:spTgt spid="43827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3827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38274">
                                            <p:txEl>
                                              <p:pRg st="3" end="3"/>
                                            </p:txEl>
                                          </p:spTgt>
                                        </p:tgtEl>
                                        <p:attrNameLst>
                                          <p:attrName>style.visibility</p:attrName>
                                        </p:attrNameLst>
                                      </p:cBhvr>
                                      <p:to>
                                        <p:strVal val="visible"/>
                                      </p:to>
                                    </p:set>
                                    <p:anim calcmode="lin" valueType="num">
                                      <p:cBhvr additive="base">
                                        <p:cTn id="19" dur="500" fill="hold"/>
                                        <p:tgtEl>
                                          <p:spTgt spid="43827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3827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438274">
                                            <p:txEl>
                                              <p:pRg st="4" end="4"/>
                                            </p:txEl>
                                          </p:spTgt>
                                        </p:tgtEl>
                                        <p:attrNameLst>
                                          <p:attrName>style.visibility</p:attrName>
                                        </p:attrNameLst>
                                      </p:cBhvr>
                                      <p:to>
                                        <p:strVal val="visible"/>
                                      </p:to>
                                    </p:set>
                                    <p:anim calcmode="lin" valueType="num">
                                      <p:cBhvr additive="base">
                                        <p:cTn id="25" dur="500" fill="hold"/>
                                        <p:tgtEl>
                                          <p:spTgt spid="43827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3827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438274">
                                            <p:txEl>
                                              <p:pRg st="5" end="5"/>
                                            </p:txEl>
                                          </p:spTgt>
                                        </p:tgtEl>
                                        <p:attrNameLst>
                                          <p:attrName>style.visibility</p:attrName>
                                        </p:attrNameLst>
                                      </p:cBhvr>
                                      <p:to>
                                        <p:strVal val="visible"/>
                                      </p:to>
                                    </p:set>
                                    <p:anim calcmode="lin" valueType="num">
                                      <p:cBhvr additive="base">
                                        <p:cTn id="31" dur="500" fill="hold"/>
                                        <p:tgtEl>
                                          <p:spTgt spid="438274">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3827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2"/>
          <p:cNvSpPr>
            <a:spLocks noGrp="1"/>
          </p:cNvSpPr>
          <p:nvPr>
            <p:ph type="sldNum" sz="quarter" idx="11"/>
          </p:nvPr>
        </p:nvSpPr>
        <p:spPr/>
        <p:txBody>
          <a:bodyPr/>
          <a:lstStyle/>
          <a:p>
            <a:fld id="{A76919F5-0E31-47C1-BAEE-62DB44B763F8}" type="slidenum">
              <a:rPr lang="en-US" altLang="zh-CN"/>
              <a:pPr/>
              <a:t>27</a:t>
            </a:fld>
            <a:endParaRPr lang="en-US" altLang="zh-CN"/>
          </a:p>
        </p:txBody>
      </p:sp>
      <p:sp>
        <p:nvSpPr>
          <p:cNvPr id="439298" name="Text Box 2"/>
          <p:cNvSpPr txBox="1">
            <a:spLocks noChangeArrowheads="1"/>
          </p:cNvSpPr>
          <p:nvPr/>
        </p:nvSpPr>
        <p:spPr bwMode="auto">
          <a:xfrm>
            <a:off x="647700" y="981075"/>
            <a:ext cx="7916863" cy="151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lang="zh-CN" altLang="en-US" b="1">
                <a:solidFill>
                  <a:srgbClr val="FF0000"/>
                </a:solidFill>
              </a:rPr>
              <a:t>定理</a:t>
            </a:r>
            <a:r>
              <a:rPr lang="en-US" altLang="zh-CN" b="1">
                <a:solidFill>
                  <a:srgbClr val="FF0000"/>
                </a:solidFill>
              </a:rPr>
              <a:t>5-3.1</a:t>
            </a:r>
            <a:r>
              <a:rPr lang="zh-CN" altLang="en-US" b="1">
                <a:solidFill>
                  <a:srgbClr val="FF0000"/>
                </a:solidFill>
              </a:rPr>
              <a:t>：</a:t>
            </a:r>
            <a:r>
              <a:rPr lang="zh-CN" altLang="en-US" b="1"/>
              <a:t>设</a:t>
            </a:r>
            <a:r>
              <a:rPr lang="en-US" altLang="zh-CN" b="1"/>
              <a:t>&lt;S, *&gt;</a:t>
            </a:r>
            <a:r>
              <a:rPr lang="zh-CN" altLang="en-US" b="1"/>
              <a:t>是一个半群，</a:t>
            </a:r>
            <a:r>
              <a:rPr lang="en-US" altLang="zh-CN" b="1"/>
              <a:t>B</a:t>
            </a:r>
            <a:r>
              <a:rPr lang="en-US" altLang="zh-CN" b="1">
                <a:sym typeface="Symbol" pitchFamily="18" charset="2"/>
              </a:rPr>
              <a:t></a:t>
            </a:r>
            <a:r>
              <a:rPr lang="en-US" altLang="zh-CN" b="1"/>
              <a:t>S</a:t>
            </a:r>
            <a:r>
              <a:rPr lang="zh-CN" altLang="en-US" b="1"/>
              <a:t>且*在</a:t>
            </a:r>
            <a:r>
              <a:rPr lang="en-US" altLang="zh-CN" b="1"/>
              <a:t>B</a:t>
            </a:r>
            <a:r>
              <a:rPr lang="zh-CN" altLang="en-US" b="1"/>
              <a:t>上是封闭的，那么</a:t>
            </a:r>
            <a:r>
              <a:rPr lang="en-US" altLang="zh-CN" b="1"/>
              <a:t>&lt;B,*&gt;</a:t>
            </a:r>
            <a:r>
              <a:rPr lang="zh-CN" altLang="en-US" b="1"/>
              <a:t>也是一个半群。称</a:t>
            </a:r>
            <a:r>
              <a:rPr lang="en-US" altLang="zh-CN" b="1"/>
              <a:t>&lt;B,*&gt;</a:t>
            </a:r>
            <a:r>
              <a:rPr lang="zh-CN" altLang="en-US" b="1"/>
              <a:t>是半群</a:t>
            </a:r>
            <a:r>
              <a:rPr lang="en-US" altLang="zh-CN" b="1"/>
              <a:t>&lt;S,*&gt;</a:t>
            </a:r>
            <a:r>
              <a:rPr lang="zh-CN" altLang="en-US" b="1"/>
              <a:t>的</a:t>
            </a:r>
            <a:r>
              <a:rPr lang="zh-CN" altLang="en-US" b="1" i="1">
                <a:solidFill>
                  <a:srgbClr val="FF0000"/>
                </a:solidFill>
              </a:rPr>
              <a:t>子半群</a:t>
            </a:r>
            <a:r>
              <a:rPr lang="zh-CN" altLang="en-US" b="1"/>
              <a:t>。</a:t>
            </a:r>
          </a:p>
        </p:txBody>
      </p:sp>
      <p:sp>
        <p:nvSpPr>
          <p:cNvPr id="439300" name="Text Box 4"/>
          <p:cNvSpPr txBox="1">
            <a:spLocks noChangeArrowheads="1"/>
          </p:cNvSpPr>
          <p:nvPr/>
        </p:nvSpPr>
        <p:spPr bwMode="auto">
          <a:xfrm>
            <a:off x="647700" y="2381250"/>
            <a:ext cx="7916863"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lang="zh-CN" altLang="en-US" b="1">
                <a:solidFill>
                  <a:schemeClr val="hlink"/>
                </a:solidFill>
              </a:rPr>
              <a:t>例</a:t>
            </a:r>
            <a:r>
              <a:rPr lang="en-US" altLang="zh-CN" b="1">
                <a:solidFill>
                  <a:schemeClr val="hlink"/>
                </a:solidFill>
              </a:rPr>
              <a:t>2</a:t>
            </a:r>
            <a:r>
              <a:rPr lang="zh-CN" altLang="en-US" b="1">
                <a:solidFill>
                  <a:schemeClr val="hlink"/>
                </a:solidFill>
              </a:rPr>
              <a:t>：</a:t>
            </a:r>
            <a:r>
              <a:rPr lang="zh-CN" altLang="en-US" b="1"/>
              <a:t>设</a:t>
            </a:r>
            <a:r>
              <a:rPr lang="en-US" altLang="zh-CN" b="1"/>
              <a:t>•</a:t>
            </a:r>
            <a:r>
              <a:rPr lang="zh-CN" altLang="en-US" b="1"/>
              <a:t>表示普通的乘法运算，那么</a:t>
            </a:r>
            <a:r>
              <a:rPr lang="en-US" altLang="zh-CN" b="1"/>
              <a:t>&lt;[0, 1],•&gt;</a:t>
            </a:r>
            <a:r>
              <a:rPr lang="zh-CN" altLang="en-US" b="1"/>
              <a:t>、</a:t>
            </a:r>
            <a:r>
              <a:rPr lang="en-US" altLang="zh-CN" b="1"/>
              <a:t>&lt;[0, 1),•&gt;</a:t>
            </a:r>
            <a:r>
              <a:rPr lang="zh-CN" altLang="en-US" b="1"/>
              <a:t>和</a:t>
            </a:r>
            <a:r>
              <a:rPr lang="en-US" altLang="zh-CN" b="1"/>
              <a:t>&lt;I,•&gt;</a:t>
            </a:r>
            <a:r>
              <a:rPr lang="zh-CN" altLang="en-US" b="1"/>
              <a:t>都是</a:t>
            </a:r>
            <a:r>
              <a:rPr lang="en-US" altLang="zh-CN" b="1"/>
              <a:t>&lt;R,•&gt;</a:t>
            </a:r>
            <a:r>
              <a:rPr lang="zh-CN" altLang="en-US" b="1"/>
              <a:t>的子半群。</a:t>
            </a:r>
          </a:p>
        </p:txBody>
      </p:sp>
      <p:sp>
        <p:nvSpPr>
          <p:cNvPr id="439301" name="Text Box 5"/>
          <p:cNvSpPr txBox="1">
            <a:spLocks noChangeArrowheads="1"/>
          </p:cNvSpPr>
          <p:nvPr/>
        </p:nvSpPr>
        <p:spPr bwMode="auto">
          <a:xfrm>
            <a:off x="647700" y="3425825"/>
            <a:ext cx="7916863" cy="151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marL="457200" indent="-457200" algn="l">
              <a:defRPr kumimoji="1" sz="2400">
                <a:solidFill>
                  <a:schemeClr val="tx1"/>
                </a:solidFill>
                <a:latin typeface="Times New Roman" pitchFamily="18" charset="0"/>
                <a:ea typeface="宋体" pitchFamily="2" charset="-122"/>
              </a:defRPr>
            </a:lvl1pPr>
            <a:lvl2pPr marL="914400" indent="-457200" algn="l">
              <a:defRPr kumimoji="1" sz="2400">
                <a:solidFill>
                  <a:schemeClr val="tx1"/>
                </a:solidFill>
                <a:latin typeface="Times New Roman" pitchFamily="18" charset="0"/>
                <a:ea typeface="宋体" pitchFamily="2" charset="-122"/>
              </a:defRPr>
            </a:lvl2pPr>
            <a:lvl3pPr marL="1371600" indent="-457200" algn="l">
              <a:defRPr kumimoji="1" sz="2400">
                <a:solidFill>
                  <a:schemeClr val="tx1"/>
                </a:solidFill>
                <a:latin typeface="Times New Roman" pitchFamily="18" charset="0"/>
                <a:ea typeface="宋体" pitchFamily="2" charset="-122"/>
              </a:defRPr>
            </a:lvl3pPr>
            <a:lvl4pPr marL="1828800" indent="-457200" algn="l">
              <a:defRPr kumimoji="1" sz="2400">
                <a:solidFill>
                  <a:schemeClr val="tx1"/>
                </a:solidFill>
                <a:latin typeface="Times New Roman" pitchFamily="18" charset="0"/>
                <a:ea typeface="宋体" pitchFamily="2" charset="-122"/>
              </a:defRPr>
            </a:lvl4pPr>
            <a:lvl5pPr marL="2286000" indent="-457200" algn="l">
              <a:defRPr kumimoji="1" sz="2400">
                <a:solidFill>
                  <a:schemeClr val="tx1"/>
                </a:solidFill>
                <a:latin typeface="Times New Roman" pitchFamily="18" charset="0"/>
                <a:ea typeface="宋体" pitchFamily="2" charset="-122"/>
              </a:defRPr>
            </a:lvl5pPr>
            <a:lvl6pPr marL="2743200" indent="-457200" fontAlgn="base">
              <a:spcBef>
                <a:spcPct val="0"/>
              </a:spcBef>
              <a:spcAft>
                <a:spcPct val="0"/>
              </a:spcAft>
              <a:defRPr kumimoji="1" sz="2400">
                <a:solidFill>
                  <a:schemeClr val="tx1"/>
                </a:solidFill>
                <a:latin typeface="Times New Roman" pitchFamily="18" charset="0"/>
                <a:ea typeface="宋体" pitchFamily="2" charset="-122"/>
              </a:defRPr>
            </a:lvl6pPr>
            <a:lvl7pPr marL="3200400" indent="-457200" fontAlgn="base">
              <a:spcBef>
                <a:spcPct val="0"/>
              </a:spcBef>
              <a:spcAft>
                <a:spcPct val="0"/>
              </a:spcAft>
              <a:defRPr kumimoji="1" sz="2400">
                <a:solidFill>
                  <a:schemeClr val="tx1"/>
                </a:solidFill>
                <a:latin typeface="Times New Roman" pitchFamily="18" charset="0"/>
                <a:ea typeface="宋体" pitchFamily="2" charset="-122"/>
              </a:defRPr>
            </a:lvl7pPr>
            <a:lvl8pPr marL="3657600" indent="-457200" fontAlgn="base">
              <a:spcBef>
                <a:spcPct val="0"/>
              </a:spcBef>
              <a:spcAft>
                <a:spcPct val="0"/>
              </a:spcAft>
              <a:defRPr kumimoji="1" sz="2400">
                <a:solidFill>
                  <a:schemeClr val="tx1"/>
                </a:solidFill>
                <a:latin typeface="Times New Roman" pitchFamily="18" charset="0"/>
                <a:ea typeface="宋体" pitchFamily="2" charset="-122"/>
              </a:defRPr>
            </a:lvl8pPr>
            <a:lvl9pPr marL="4114800" indent="-4572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lnSpc>
                <a:spcPct val="130000"/>
              </a:lnSpc>
              <a:buClr>
                <a:srgbClr val="FF3300"/>
              </a:buClr>
              <a:buFont typeface="Wingdings" pitchFamily="2" charset="2"/>
              <a:buChar char="Ø"/>
            </a:pPr>
            <a:r>
              <a:rPr lang="zh-CN" altLang="en-US" b="1"/>
              <a:t>验证</a:t>
            </a:r>
            <a:r>
              <a:rPr lang="en-US" altLang="zh-CN" b="1"/>
              <a:t>&lt;B, *&gt;</a:t>
            </a:r>
            <a:r>
              <a:rPr lang="zh-CN" altLang="en-US" b="1"/>
              <a:t>是半群</a:t>
            </a:r>
            <a:r>
              <a:rPr lang="en-US" altLang="zh-CN" b="1"/>
              <a:t>&lt;S, *&gt;</a:t>
            </a:r>
            <a:r>
              <a:rPr lang="zh-CN" altLang="en-US" b="1"/>
              <a:t>的子半群，满足：</a:t>
            </a:r>
          </a:p>
          <a:p>
            <a:pPr eaLnBrk="0" hangingPunct="0">
              <a:lnSpc>
                <a:spcPct val="130000"/>
              </a:lnSpc>
              <a:buFontTx/>
              <a:buAutoNum type="arabicParenBoth"/>
            </a:pPr>
            <a:r>
              <a:rPr lang="zh-CN" altLang="en-US" b="1"/>
              <a:t>*在</a:t>
            </a:r>
            <a:r>
              <a:rPr lang="en-US" altLang="zh-CN" b="1"/>
              <a:t>B</a:t>
            </a:r>
            <a:r>
              <a:rPr lang="zh-CN" altLang="en-US" b="1"/>
              <a:t>上封闭，即</a:t>
            </a:r>
            <a:r>
              <a:rPr lang="en-US" altLang="zh-CN" b="1"/>
              <a:t>&lt;S, *&gt;</a:t>
            </a:r>
            <a:r>
              <a:rPr lang="zh-CN" altLang="en-US" b="1"/>
              <a:t>是半群；</a:t>
            </a:r>
          </a:p>
          <a:p>
            <a:pPr eaLnBrk="0" hangingPunct="0">
              <a:lnSpc>
                <a:spcPct val="130000"/>
              </a:lnSpc>
              <a:buFontTx/>
              <a:buAutoNum type="arabicParenBoth"/>
            </a:pPr>
            <a:r>
              <a:rPr lang="en-US" altLang="zh-CN" b="1"/>
              <a:t>B</a:t>
            </a:r>
            <a:r>
              <a:rPr lang="zh-CN" altLang="en-US" b="1"/>
              <a:t>是</a:t>
            </a:r>
            <a:r>
              <a:rPr lang="en-US" altLang="zh-CN" b="1"/>
              <a:t>S</a:t>
            </a:r>
            <a:r>
              <a:rPr lang="zh-CN" altLang="en-US" b="1"/>
              <a:t>的子集。</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39300"/>
                                        </p:tgtEl>
                                        <p:attrNameLst>
                                          <p:attrName>style.visibility</p:attrName>
                                        </p:attrNameLst>
                                      </p:cBhvr>
                                      <p:to>
                                        <p:strVal val="visible"/>
                                      </p:to>
                                    </p:set>
                                    <p:anim calcmode="lin" valueType="num">
                                      <p:cBhvr additive="base">
                                        <p:cTn id="7" dur="500" fill="hold"/>
                                        <p:tgtEl>
                                          <p:spTgt spid="439300"/>
                                        </p:tgtEl>
                                        <p:attrNameLst>
                                          <p:attrName>ppt_x</p:attrName>
                                        </p:attrNameLst>
                                      </p:cBhvr>
                                      <p:tavLst>
                                        <p:tav tm="0">
                                          <p:val>
                                            <p:strVal val="#ppt_x"/>
                                          </p:val>
                                        </p:tav>
                                        <p:tav tm="100000">
                                          <p:val>
                                            <p:strVal val="#ppt_x"/>
                                          </p:val>
                                        </p:tav>
                                      </p:tavLst>
                                    </p:anim>
                                    <p:anim calcmode="lin" valueType="num">
                                      <p:cBhvr additive="base">
                                        <p:cTn id="8" dur="500" fill="hold"/>
                                        <p:tgtEl>
                                          <p:spTgt spid="43930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39301">
                                            <p:txEl>
                                              <p:pRg st="0" end="0"/>
                                            </p:txEl>
                                          </p:spTgt>
                                        </p:tgtEl>
                                        <p:attrNameLst>
                                          <p:attrName>style.visibility</p:attrName>
                                        </p:attrNameLst>
                                      </p:cBhvr>
                                      <p:to>
                                        <p:strVal val="visible"/>
                                      </p:to>
                                    </p:set>
                                    <p:anim calcmode="lin" valueType="num">
                                      <p:cBhvr additive="base">
                                        <p:cTn id="13" dur="500" fill="hold"/>
                                        <p:tgtEl>
                                          <p:spTgt spid="439301">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3930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39301">
                                            <p:txEl>
                                              <p:pRg st="1" end="1"/>
                                            </p:txEl>
                                          </p:spTgt>
                                        </p:tgtEl>
                                        <p:attrNameLst>
                                          <p:attrName>style.visibility</p:attrName>
                                        </p:attrNameLst>
                                      </p:cBhvr>
                                      <p:to>
                                        <p:strVal val="visible"/>
                                      </p:to>
                                    </p:set>
                                    <p:anim calcmode="lin" valueType="num">
                                      <p:cBhvr additive="base">
                                        <p:cTn id="19" dur="500" fill="hold"/>
                                        <p:tgtEl>
                                          <p:spTgt spid="439301">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3930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439301">
                                            <p:txEl>
                                              <p:pRg st="2" end="2"/>
                                            </p:txEl>
                                          </p:spTgt>
                                        </p:tgtEl>
                                        <p:attrNameLst>
                                          <p:attrName>style.visibility</p:attrName>
                                        </p:attrNameLst>
                                      </p:cBhvr>
                                      <p:to>
                                        <p:strVal val="visible"/>
                                      </p:to>
                                    </p:set>
                                    <p:anim calcmode="lin" valueType="num">
                                      <p:cBhvr additive="base">
                                        <p:cTn id="25" dur="500" fill="hold"/>
                                        <p:tgtEl>
                                          <p:spTgt spid="439301">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3930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930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fld id="{5263150C-81D5-4813-BDF3-2D3AF1D6146D}" type="slidenum">
              <a:rPr lang="en-US" altLang="zh-CN"/>
              <a:pPr/>
              <a:t>28</a:t>
            </a:fld>
            <a:endParaRPr lang="en-US" altLang="zh-CN"/>
          </a:p>
        </p:txBody>
      </p:sp>
      <p:sp>
        <p:nvSpPr>
          <p:cNvPr id="440322" name="Text Box 2"/>
          <p:cNvSpPr txBox="1">
            <a:spLocks noChangeArrowheads="1"/>
          </p:cNvSpPr>
          <p:nvPr/>
        </p:nvSpPr>
        <p:spPr bwMode="auto">
          <a:xfrm>
            <a:off x="611188" y="981075"/>
            <a:ext cx="7777162"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lang="zh-CN" altLang="en-US" b="1">
                <a:solidFill>
                  <a:srgbClr val="FF0000"/>
                </a:solidFill>
              </a:rPr>
              <a:t>定理</a:t>
            </a:r>
            <a:r>
              <a:rPr lang="en-US" altLang="zh-CN" b="1">
                <a:solidFill>
                  <a:srgbClr val="FF0000"/>
                </a:solidFill>
              </a:rPr>
              <a:t>5-3.2</a:t>
            </a:r>
            <a:r>
              <a:rPr lang="zh-CN" altLang="en-US" b="1">
                <a:solidFill>
                  <a:srgbClr val="FF0000"/>
                </a:solidFill>
              </a:rPr>
              <a:t>：</a:t>
            </a:r>
            <a:r>
              <a:rPr lang="zh-CN" altLang="en-US" b="1"/>
              <a:t>设</a:t>
            </a:r>
            <a:r>
              <a:rPr lang="en-US" altLang="zh-CN" b="1"/>
              <a:t>&lt;S, *&gt;</a:t>
            </a:r>
            <a:r>
              <a:rPr lang="zh-CN" altLang="en-US" b="1"/>
              <a:t>是一个半群，如果</a:t>
            </a:r>
            <a:r>
              <a:rPr lang="en-US" altLang="zh-CN" b="1"/>
              <a:t>S</a:t>
            </a:r>
            <a:r>
              <a:rPr lang="zh-CN" altLang="en-US" b="1"/>
              <a:t>是一个有限集，则必有</a:t>
            </a:r>
            <a:r>
              <a:rPr lang="en-US" altLang="zh-CN" b="1"/>
              <a:t>a∈S</a:t>
            </a:r>
            <a:r>
              <a:rPr lang="zh-CN" altLang="en-US" b="1"/>
              <a:t>，使得</a:t>
            </a:r>
            <a:r>
              <a:rPr lang="en-US" altLang="zh-CN" b="1"/>
              <a:t>a*a=a</a:t>
            </a:r>
            <a:r>
              <a:rPr lang="zh-CN" altLang="en-US" b="1"/>
              <a:t>。</a:t>
            </a:r>
          </a:p>
        </p:txBody>
      </p:sp>
      <p:sp>
        <p:nvSpPr>
          <p:cNvPr id="440323" name="Text Box 3"/>
          <p:cNvSpPr txBox="1">
            <a:spLocks noChangeArrowheads="1"/>
          </p:cNvSpPr>
          <p:nvPr/>
        </p:nvSpPr>
        <p:spPr bwMode="auto">
          <a:xfrm>
            <a:off x="611188" y="1989138"/>
            <a:ext cx="7777162" cy="4719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15000"/>
              </a:lnSpc>
            </a:pPr>
            <a:r>
              <a:rPr lang="zh-CN" altLang="en-US" b="1"/>
              <a:t>证明：因为</a:t>
            </a:r>
            <a:r>
              <a:rPr lang="en-US" altLang="zh-CN" b="1"/>
              <a:t>&lt;S, *&gt;</a:t>
            </a:r>
            <a:r>
              <a:rPr lang="zh-CN" altLang="en-US" b="1"/>
              <a:t>是半群。对于</a:t>
            </a:r>
            <a:r>
              <a:rPr lang="zh-CN" altLang="en-US" b="1">
                <a:sym typeface="Symbol" pitchFamily="18" charset="2"/>
              </a:rPr>
              <a:t></a:t>
            </a:r>
            <a:r>
              <a:rPr lang="en-US" altLang="zh-CN" b="1"/>
              <a:t>b∈S</a:t>
            </a:r>
            <a:r>
              <a:rPr lang="zh-CN" altLang="en-US" b="1"/>
              <a:t>，由*的封闭性，</a:t>
            </a:r>
          </a:p>
          <a:p>
            <a:pPr algn="l">
              <a:lnSpc>
                <a:spcPct val="115000"/>
              </a:lnSpc>
            </a:pPr>
            <a:r>
              <a:rPr lang="zh-CN" altLang="en-US" b="1"/>
              <a:t>有     </a:t>
            </a:r>
            <a:r>
              <a:rPr lang="en-US" altLang="zh-CN" b="1"/>
              <a:t>b∈S</a:t>
            </a:r>
            <a:r>
              <a:rPr lang="zh-CN" altLang="en-US" b="1"/>
              <a:t>，</a:t>
            </a:r>
            <a:r>
              <a:rPr lang="en-US" altLang="zh-CN" b="1"/>
              <a:t>b</a:t>
            </a:r>
            <a:r>
              <a:rPr lang="en-US" altLang="zh-CN" b="1" baseline="30000"/>
              <a:t>2</a:t>
            </a:r>
            <a:r>
              <a:rPr lang="en-US" altLang="zh-CN" b="1"/>
              <a:t>=b*b∈S</a:t>
            </a:r>
            <a:r>
              <a:rPr lang="zh-CN" altLang="en-US" b="1"/>
              <a:t>，</a:t>
            </a:r>
            <a:r>
              <a:rPr lang="en-US" altLang="zh-CN" b="1"/>
              <a:t>…</a:t>
            </a:r>
            <a:r>
              <a:rPr lang="zh-CN" altLang="en-US" b="1"/>
              <a:t>，</a:t>
            </a:r>
            <a:r>
              <a:rPr lang="en-US" altLang="zh-CN" b="1"/>
              <a:t>b</a:t>
            </a:r>
            <a:r>
              <a:rPr lang="en-US" altLang="zh-CN" b="1" baseline="30000"/>
              <a:t>i</a:t>
            </a:r>
            <a:r>
              <a:rPr lang="en-US" altLang="zh-CN" b="1"/>
              <a:t>∈S</a:t>
            </a:r>
            <a:r>
              <a:rPr lang="zh-CN" altLang="en-US" b="1"/>
              <a:t>，</a:t>
            </a:r>
            <a:r>
              <a:rPr lang="en-US" altLang="zh-CN" b="1"/>
              <a:t>…</a:t>
            </a:r>
            <a:r>
              <a:rPr lang="zh-CN" altLang="en-US" b="1"/>
              <a:t>，</a:t>
            </a:r>
            <a:r>
              <a:rPr lang="en-US" altLang="zh-CN" b="1"/>
              <a:t>b</a:t>
            </a:r>
            <a:r>
              <a:rPr lang="en-US" altLang="zh-CN" b="1" baseline="30000"/>
              <a:t>j</a:t>
            </a:r>
            <a:r>
              <a:rPr lang="en-US" altLang="zh-CN" b="1"/>
              <a:t>∈S</a:t>
            </a:r>
            <a:r>
              <a:rPr lang="zh-CN" altLang="en-US" b="1"/>
              <a:t>，</a:t>
            </a:r>
            <a:r>
              <a:rPr lang="en-US" altLang="zh-CN" b="1"/>
              <a:t>…</a:t>
            </a:r>
            <a:r>
              <a:rPr lang="zh-CN" altLang="en-US" b="1"/>
              <a:t>，</a:t>
            </a:r>
          </a:p>
          <a:p>
            <a:pPr algn="l">
              <a:lnSpc>
                <a:spcPct val="115000"/>
              </a:lnSpc>
            </a:pPr>
            <a:r>
              <a:rPr lang="zh-CN" altLang="en-US" b="1"/>
              <a:t>因</a:t>
            </a:r>
            <a:r>
              <a:rPr lang="en-US" altLang="zh-CN" b="1"/>
              <a:t>S</a:t>
            </a:r>
            <a:r>
              <a:rPr lang="zh-CN" altLang="en-US" b="1"/>
              <a:t>是有限集，</a:t>
            </a:r>
            <a:r>
              <a:rPr lang="zh-CN" altLang="en-US" b="1">
                <a:sym typeface="Symbol" pitchFamily="18" charset="2"/>
              </a:rPr>
              <a:t></a:t>
            </a:r>
            <a:r>
              <a:rPr lang="en-US" altLang="zh-CN" b="1">
                <a:sym typeface="Symbol" pitchFamily="18" charset="2"/>
              </a:rPr>
              <a:t>j&gt;i</a:t>
            </a:r>
            <a:r>
              <a:rPr lang="zh-CN" altLang="en-US" b="1">
                <a:sym typeface="Symbol" pitchFamily="18" charset="2"/>
              </a:rPr>
              <a:t>，使得</a:t>
            </a:r>
            <a:r>
              <a:rPr lang="en-US" altLang="zh-CN" b="1">
                <a:sym typeface="Symbol" pitchFamily="18" charset="2"/>
              </a:rPr>
              <a:t>b</a:t>
            </a:r>
            <a:r>
              <a:rPr lang="en-US" altLang="zh-CN" b="1" baseline="30000">
                <a:sym typeface="Symbol" pitchFamily="18" charset="2"/>
              </a:rPr>
              <a:t>i</a:t>
            </a:r>
            <a:r>
              <a:rPr lang="en-US" altLang="zh-CN" b="1">
                <a:sym typeface="Symbol" pitchFamily="18" charset="2"/>
              </a:rPr>
              <a:t>=b</a:t>
            </a:r>
            <a:r>
              <a:rPr lang="en-US" altLang="zh-CN" b="1" baseline="30000">
                <a:sym typeface="Symbol" pitchFamily="18" charset="2"/>
              </a:rPr>
              <a:t>j</a:t>
            </a:r>
            <a:r>
              <a:rPr lang="zh-CN" altLang="en-US" b="1">
                <a:sym typeface="Symbol" pitchFamily="18" charset="2"/>
              </a:rPr>
              <a:t>，令</a:t>
            </a:r>
            <a:r>
              <a:rPr lang="en-US" altLang="zh-CN" b="1">
                <a:sym typeface="Symbol" pitchFamily="18" charset="2"/>
              </a:rPr>
              <a:t>p=j-i</a:t>
            </a:r>
            <a:r>
              <a:rPr lang="zh-CN" altLang="en-US" b="1">
                <a:sym typeface="Symbol" pitchFamily="18" charset="2"/>
              </a:rPr>
              <a:t>，</a:t>
            </a:r>
          </a:p>
          <a:p>
            <a:pPr algn="l">
              <a:lnSpc>
                <a:spcPct val="115000"/>
              </a:lnSpc>
            </a:pPr>
            <a:r>
              <a:rPr lang="zh-CN" altLang="en-US" b="1"/>
              <a:t>所以有 </a:t>
            </a:r>
            <a:r>
              <a:rPr lang="en-US" altLang="zh-CN" b="1"/>
              <a:t>b</a:t>
            </a:r>
            <a:r>
              <a:rPr lang="en-US" altLang="zh-CN" b="1" baseline="30000"/>
              <a:t>i</a:t>
            </a:r>
            <a:r>
              <a:rPr lang="en-US" altLang="zh-CN" b="1"/>
              <a:t>=b</a:t>
            </a:r>
            <a:r>
              <a:rPr lang="en-US" altLang="zh-CN" b="1" baseline="30000"/>
              <a:t>p</a:t>
            </a:r>
            <a:r>
              <a:rPr lang="en-US" altLang="zh-CN" b="1"/>
              <a:t>*b</a:t>
            </a:r>
            <a:r>
              <a:rPr lang="en-US" altLang="zh-CN" b="1" baseline="30000"/>
              <a:t>i</a:t>
            </a:r>
            <a:r>
              <a:rPr lang="zh-CN" altLang="en-US" b="1"/>
              <a:t>，显然对于</a:t>
            </a:r>
            <a:r>
              <a:rPr lang="en-US" altLang="zh-CN" b="1"/>
              <a:t>q≥i</a:t>
            </a:r>
            <a:r>
              <a:rPr lang="zh-CN" altLang="en-US" b="1"/>
              <a:t>，有</a:t>
            </a:r>
            <a:r>
              <a:rPr lang="en-US" altLang="zh-CN" b="1"/>
              <a:t>b</a:t>
            </a:r>
            <a:r>
              <a:rPr lang="en-US" altLang="zh-CN" b="1" baseline="30000"/>
              <a:t>q</a:t>
            </a:r>
            <a:r>
              <a:rPr lang="en-US" altLang="zh-CN" b="1"/>
              <a:t>=b</a:t>
            </a:r>
            <a:r>
              <a:rPr lang="en-US" altLang="zh-CN" b="1" baseline="30000"/>
              <a:t>p</a:t>
            </a:r>
            <a:r>
              <a:rPr lang="en-US" altLang="zh-CN" b="1"/>
              <a:t>*b</a:t>
            </a:r>
            <a:r>
              <a:rPr lang="en-US" altLang="zh-CN" b="1" baseline="30000"/>
              <a:t>q</a:t>
            </a:r>
            <a:r>
              <a:rPr lang="zh-CN" altLang="en-US" b="1"/>
              <a:t>。</a:t>
            </a:r>
          </a:p>
          <a:p>
            <a:pPr algn="l">
              <a:lnSpc>
                <a:spcPct val="115000"/>
              </a:lnSpc>
            </a:pPr>
            <a:r>
              <a:rPr lang="zh-CN" altLang="en-US" b="1"/>
              <a:t>∵</a:t>
            </a:r>
            <a:r>
              <a:rPr lang="en-US" altLang="zh-CN" b="1"/>
              <a:t>p≥1</a:t>
            </a:r>
            <a:r>
              <a:rPr lang="zh-CN" altLang="en-US" b="1"/>
              <a:t>，∴总可以找到</a:t>
            </a:r>
            <a:r>
              <a:rPr lang="en-US" altLang="zh-CN" b="1"/>
              <a:t>k≥1</a:t>
            </a:r>
            <a:r>
              <a:rPr lang="zh-CN" altLang="en-US" b="1"/>
              <a:t>，使得 </a:t>
            </a:r>
            <a:r>
              <a:rPr lang="en-US" altLang="zh-CN" b="1"/>
              <a:t>kp≥i</a:t>
            </a:r>
            <a:r>
              <a:rPr lang="zh-CN" altLang="en-US" b="1"/>
              <a:t>，</a:t>
            </a:r>
          </a:p>
          <a:p>
            <a:pPr algn="l">
              <a:lnSpc>
                <a:spcPct val="115000"/>
              </a:lnSpc>
            </a:pPr>
            <a:r>
              <a:rPr lang="zh-CN" altLang="en-US" b="1"/>
              <a:t>对于</a:t>
            </a:r>
            <a:r>
              <a:rPr lang="en-US" altLang="zh-CN" b="1"/>
              <a:t>S</a:t>
            </a:r>
            <a:r>
              <a:rPr lang="zh-CN" altLang="en-US" b="1"/>
              <a:t>中的元素</a:t>
            </a:r>
            <a:r>
              <a:rPr lang="en-US" altLang="zh-CN" b="1"/>
              <a:t>b</a:t>
            </a:r>
            <a:r>
              <a:rPr lang="en-US" altLang="zh-CN" b="1" baseline="30000"/>
              <a:t>kp</a:t>
            </a:r>
            <a:r>
              <a:rPr lang="zh-CN" altLang="en-US" b="1"/>
              <a:t>，就有</a:t>
            </a:r>
          </a:p>
          <a:p>
            <a:pPr algn="l">
              <a:lnSpc>
                <a:spcPct val="115000"/>
              </a:lnSpc>
            </a:pPr>
            <a:r>
              <a:rPr lang="zh-CN" altLang="en-US" b="1"/>
              <a:t>       </a:t>
            </a:r>
            <a:r>
              <a:rPr lang="en-US" altLang="zh-CN" b="1"/>
              <a:t>b</a:t>
            </a:r>
            <a:r>
              <a:rPr lang="en-US" altLang="zh-CN" b="1" baseline="30000"/>
              <a:t>kp</a:t>
            </a:r>
            <a:r>
              <a:rPr lang="en-US" altLang="zh-CN" b="1"/>
              <a:t>= b</a:t>
            </a:r>
            <a:r>
              <a:rPr lang="en-US" altLang="zh-CN" b="1" baseline="30000"/>
              <a:t>p</a:t>
            </a:r>
            <a:r>
              <a:rPr lang="en-US" altLang="zh-CN" b="1"/>
              <a:t>*b</a:t>
            </a:r>
            <a:r>
              <a:rPr lang="en-US" altLang="zh-CN" b="1" baseline="30000"/>
              <a:t>kp</a:t>
            </a:r>
            <a:r>
              <a:rPr lang="en-US" altLang="zh-CN" b="1"/>
              <a:t> </a:t>
            </a:r>
          </a:p>
          <a:p>
            <a:pPr algn="l">
              <a:lnSpc>
                <a:spcPct val="115000"/>
              </a:lnSpc>
            </a:pPr>
            <a:r>
              <a:rPr lang="en-US" altLang="zh-CN" b="1"/>
              <a:t>            =b</a:t>
            </a:r>
            <a:r>
              <a:rPr lang="en-US" altLang="zh-CN" b="1" baseline="30000"/>
              <a:t>p</a:t>
            </a:r>
            <a:r>
              <a:rPr lang="en-US" altLang="zh-CN" b="1"/>
              <a:t>*(b</a:t>
            </a:r>
            <a:r>
              <a:rPr lang="en-US" altLang="zh-CN" b="1" baseline="30000"/>
              <a:t>p</a:t>
            </a:r>
            <a:r>
              <a:rPr lang="en-US" altLang="zh-CN" b="1"/>
              <a:t>* b</a:t>
            </a:r>
            <a:r>
              <a:rPr lang="en-US" altLang="zh-CN" b="1" baseline="30000"/>
              <a:t>kp</a:t>
            </a:r>
            <a:r>
              <a:rPr lang="en-US" altLang="zh-CN" b="1"/>
              <a:t>)</a:t>
            </a:r>
          </a:p>
          <a:p>
            <a:pPr algn="l">
              <a:lnSpc>
                <a:spcPct val="115000"/>
              </a:lnSpc>
            </a:pPr>
            <a:r>
              <a:rPr lang="en-US" altLang="zh-CN" b="1"/>
              <a:t>            = b</a:t>
            </a:r>
            <a:r>
              <a:rPr lang="en-US" altLang="zh-CN" b="1" baseline="30000"/>
              <a:t>2p</a:t>
            </a:r>
            <a:r>
              <a:rPr lang="en-US" altLang="zh-CN" b="1"/>
              <a:t>*b</a:t>
            </a:r>
            <a:r>
              <a:rPr lang="en-US" altLang="zh-CN" b="1" baseline="30000"/>
              <a:t>kp</a:t>
            </a:r>
            <a:r>
              <a:rPr lang="en-US" altLang="zh-CN" b="1"/>
              <a:t>=b</a:t>
            </a:r>
            <a:r>
              <a:rPr lang="en-US" altLang="zh-CN" b="1" baseline="30000"/>
              <a:t>2p</a:t>
            </a:r>
            <a:r>
              <a:rPr lang="en-US" altLang="zh-CN" b="1"/>
              <a:t>*(b</a:t>
            </a:r>
            <a:r>
              <a:rPr lang="en-US" altLang="zh-CN" b="1" baseline="30000"/>
              <a:t>p</a:t>
            </a:r>
            <a:r>
              <a:rPr lang="en-US" altLang="zh-CN" b="1"/>
              <a:t>*b</a:t>
            </a:r>
            <a:r>
              <a:rPr lang="en-US" altLang="zh-CN" b="1" baseline="30000"/>
              <a:t>kp</a:t>
            </a:r>
            <a:r>
              <a:rPr lang="en-US" altLang="zh-CN" b="1"/>
              <a:t>)=…</a:t>
            </a:r>
          </a:p>
          <a:p>
            <a:pPr algn="l">
              <a:lnSpc>
                <a:spcPct val="115000"/>
              </a:lnSpc>
            </a:pPr>
            <a:r>
              <a:rPr lang="en-US" altLang="zh-CN" b="1"/>
              <a:t>            = b</a:t>
            </a:r>
            <a:r>
              <a:rPr lang="en-US" altLang="zh-CN" b="1" baseline="30000"/>
              <a:t>kp</a:t>
            </a:r>
            <a:r>
              <a:rPr lang="en-US" altLang="zh-CN" b="1"/>
              <a:t>* b</a:t>
            </a:r>
            <a:r>
              <a:rPr lang="en-US" altLang="zh-CN" b="1" baseline="30000"/>
              <a:t>kp</a:t>
            </a:r>
            <a:r>
              <a:rPr lang="en-US" altLang="zh-CN" b="1"/>
              <a:t> </a:t>
            </a:r>
          </a:p>
          <a:p>
            <a:pPr algn="l">
              <a:lnSpc>
                <a:spcPct val="115000"/>
              </a:lnSpc>
            </a:pPr>
            <a:r>
              <a:rPr lang="zh-CN" altLang="en-US" b="1"/>
              <a:t>证明了在</a:t>
            </a:r>
            <a:r>
              <a:rPr lang="en-US" altLang="zh-CN" b="1"/>
              <a:t>S</a:t>
            </a:r>
            <a:r>
              <a:rPr lang="zh-CN" altLang="en-US" b="1"/>
              <a:t>中存在元素</a:t>
            </a:r>
            <a:r>
              <a:rPr lang="en-US" altLang="zh-CN" b="1"/>
              <a:t>a = b</a:t>
            </a:r>
            <a:r>
              <a:rPr lang="en-US" altLang="zh-CN" b="1" baseline="30000"/>
              <a:t>kp</a:t>
            </a:r>
            <a:r>
              <a:rPr lang="en-US" altLang="zh-CN" b="1"/>
              <a:t>, </a:t>
            </a:r>
            <a:r>
              <a:rPr lang="zh-CN" altLang="en-US" b="1"/>
              <a:t>使得  </a:t>
            </a:r>
            <a:r>
              <a:rPr lang="en-US" altLang="zh-CN" b="1"/>
              <a:t>a*a=a</a:t>
            </a:r>
            <a:r>
              <a:rPr lang="zh-CN" altLang="en-US" b="1"/>
              <a:t>。</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40323">
                                            <p:txEl>
                                              <p:pRg st="0" end="0"/>
                                            </p:txEl>
                                          </p:spTgt>
                                        </p:tgtEl>
                                        <p:attrNameLst>
                                          <p:attrName>style.visibility</p:attrName>
                                        </p:attrNameLst>
                                      </p:cBhvr>
                                      <p:to>
                                        <p:strVal val="visible"/>
                                      </p:to>
                                    </p:set>
                                    <p:anim calcmode="lin" valueType="num">
                                      <p:cBhvr additive="base">
                                        <p:cTn id="7" dur="500" fill="hold"/>
                                        <p:tgtEl>
                                          <p:spTgt spid="4403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403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40323">
                                            <p:txEl>
                                              <p:pRg st="1" end="1"/>
                                            </p:txEl>
                                          </p:spTgt>
                                        </p:tgtEl>
                                        <p:attrNameLst>
                                          <p:attrName>style.visibility</p:attrName>
                                        </p:attrNameLst>
                                      </p:cBhvr>
                                      <p:to>
                                        <p:strVal val="visible"/>
                                      </p:to>
                                    </p:set>
                                    <p:anim calcmode="lin" valueType="num">
                                      <p:cBhvr additive="base">
                                        <p:cTn id="13" dur="500" fill="hold"/>
                                        <p:tgtEl>
                                          <p:spTgt spid="44032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403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40323">
                                            <p:txEl>
                                              <p:pRg st="2" end="2"/>
                                            </p:txEl>
                                          </p:spTgt>
                                        </p:tgtEl>
                                        <p:attrNameLst>
                                          <p:attrName>style.visibility</p:attrName>
                                        </p:attrNameLst>
                                      </p:cBhvr>
                                      <p:to>
                                        <p:strVal val="visible"/>
                                      </p:to>
                                    </p:set>
                                    <p:anim calcmode="lin" valueType="num">
                                      <p:cBhvr additive="base">
                                        <p:cTn id="19" dur="500" fill="hold"/>
                                        <p:tgtEl>
                                          <p:spTgt spid="44032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4032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440323">
                                            <p:txEl>
                                              <p:pRg st="3" end="3"/>
                                            </p:txEl>
                                          </p:spTgt>
                                        </p:tgtEl>
                                        <p:attrNameLst>
                                          <p:attrName>style.visibility</p:attrName>
                                        </p:attrNameLst>
                                      </p:cBhvr>
                                      <p:to>
                                        <p:strVal val="visible"/>
                                      </p:to>
                                    </p:set>
                                    <p:anim calcmode="lin" valueType="num">
                                      <p:cBhvr additive="base">
                                        <p:cTn id="25" dur="500" fill="hold"/>
                                        <p:tgtEl>
                                          <p:spTgt spid="44032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4032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440323">
                                            <p:txEl>
                                              <p:pRg st="4" end="4"/>
                                            </p:txEl>
                                          </p:spTgt>
                                        </p:tgtEl>
                                        <p:attrNameLst>
                                          <p:attrName>style.visibility</p:attrName>
                                        </p:attrNameLst>
                                      </p:cBhvr>
                                      <p:to>
                                        <p:strVal val="visible"/>
                                      </p:to>
                                    </p:set>
                                    <p:anim calcmode="lin" valueType="num">
                                      <p:cBhvr additive="base">
                                        <p:cTn id="31" dur="500" fill="hold"/>
                                        <p:tgtEl>
                                          <p:spTgt spid="44032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4032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440323">
                                            <p:txEl>
                                              <p:pRg st="5" end="5"/>
                                            </p:txEl>
                                          </p:spTgt>
                                        </p:tgtEl>
                                        <p:attrNameLst>
                                          <p:attrName>style.visibility</p:attrName>
                                        </p:attrNameLst>
                                      </p:cBhvr>
                                      <p:to>
                                        <p:strVal val="visible"/>
                                      </p:to>
                                    </p:set>
                                    <p:anim calcmode="lin" valueType="num">
                                      <p:cBhvr additive="base">
                                        <p:cTn id="37" dur="500" fill="hold"/>
                                        <p:tgtEl>
                                          <p:spTgt spid="44032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4032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440323">
                                            <p:txEl>
                                              <p:pRg st="6" end="6"/>
                                            </p:txEl>
                                          </p:spTgt>
                                        </p:tgtEl>
                                        <p:attrNameLst>
                                          <p:attrName>style.visibility</p:attrName>
                                        </p:attrNameLst>
                                      </p:cBhvr>
                                      <p:to>
                                        <p:strVal val="visible"/>
                                      </p:to>
                                    </p:set>
                                    <p:anim calcmode="lin" valueType="num">
                                      <p:cBhvr additive="base">
                                        <p:cTn id="43" dur="500" fill="hold"/>
                                        <p:tgtEl>
                                          <p:spTgt spid="44032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4032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440323">
                                            <p:txEl>
                                              <p:pRg st="7" end="7"/>
                                            </p:txEl>
                                          </p:spTgt>
                                        </p:tgtEl>
                                        <p:attrNameLst>
                                          <p:attrName>style.visibility</p:attrName>
                                        </p:attrNameLst>
                                      </p:cBhvr>
                                      <p:to>
                                        <p:strVal val="visible"/>
                                      </p:to>
                                    </p:set>
                                    <p:anim calcmode="lin" valueType="num">
                                      <p:cBhvr additive="base">
                                        <p:cTn id="49" dur="500" fill="hold"/>
                                        <p:tgtEl>
                                          <p:spTgt spid="44032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4032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nodeType="clickEffect">
                                  <p:stCondLst>
                                    <p:cond delay="0"/>
                                  </p:stCondLst>
                                  <p:childTnLst>
                                    <p:set>
                                      <p:cBhvr>
                                        <p:cTn id="54" dur="1" fill="hold">
                                          <p:stCondLst>
                                            <p:cond delay="0"/>
                                          </p:stCondLst>
                                        </p:cTn>
                                        <p:tgtEl>
                                          <p:spTgt spid="440323">
                                            <p:txEl>
                                              <p:pRg st="8" end="8"/>
                                            </p:txEl>
                                          </p:spTgt>
                                        </p:tgtEl>
                                        <p:attrNameLst>
                                          <p:attrName>style.visibility</p:attrName>
                                        </p:attrNameLst>
                                      </p:cBhvr>
                                      <p:to>
                                        <p:strVal val="visible"/>
                                      </p:to>
                                    </p:set>
                                    <p:anim calcmode="lin" valueType="num">
                                      <p:cBhvr additive="base">
                                        <p:cTn id="55" dur="500" fill="hold"/>
                                        <p:tgtEl>
                                          <p:spTgt spid="44032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4032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4" fill="hold" nodeType="clickEffect">
                                  <p:stCondLst>
                                    <p:cond delay="0"/>
                                  </p:stCondLst>
                                  <p:childTnLst>
                                    <p:set>
                                      <p:cBhvr>
                                        <p:cTn id="60" dur="1" fill="hold">
                                          <p:stCondLst>
                                            <p:cond delay="0"/>
                                          </p:stCondLst>
                                        </p:cTn>
                                        <p:tgtEl>
                                          <p:spTgt spid="440323">
                                            <p:txEl>
                                              <p:pRg st="9" end="9"/>
                                            </p:txEl>
                                          </p:spTgt>
                                        </p:tgtEl>
                                        <p:attrNameLst>
                                          <p:attrName>style.visibility</p:attrName>
                                        </p:attrNameLst>
                                      </p:cBhvr>
                                      <p:to>
                                        <p:strVal val="visible"/>
                                      </p:to>
                                    </p:set>
                                    <p:anim calcmode="lin" valueType="num">
                                      <p:cBhvr additive="base">
                                        <p:cTn id="61" dur="500" fill="hold"/>
                                        <p:tgtEl>
                                          <p:spTgt spid="44032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4032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4" fill="hold" nodeType="clickEffect">
                                  <p:stCondLst>
                                    <p:cond delay="0"/>
                                  </p:stCondLst>
                                  <p:childTnLst>
                                    <p:set>
                                      <p:cBhvr>
                                        <p:cTn id="66" dur="1" fill="hold">
                                          <p:stCondLst>
                                            <p:cond delay="0"/>
                                          </p:stCondLst>
                                        </p:cTn>
                                        <p:tgtEl>
                                          <p:spTgt spid="440323">
                                            <p:txEl>
                                              <p:pRg st="10" end="10"/>
                                            </p:txEl>
                                          </p:spTgt>
                                        </p:tgtEl>
                                        <p:attrNameLst>
                                          <p:attrName>style.visibility</p:attrName>
                                        </p:attrNameLst>
                                      </p:cBhvr>
                                      <p:to>
                                        <p:strVal val="visible"/>
                                      </p:to>
                                    </p:set>
                                    <p:anim calcmode="lin" valueType="num">
                                      <p:cBhvr additive="base">
                                        <p:cTn id="67" dur="500" fill="hold"/>
                                        <p:tgtEl>
                                          <p:spTgt spid="44032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44032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72AE84DD-F526-4029-A5F3-CFBAF65C7483}" type="slidenum">
              <a:rPr lang="en-US" altLang="zh-CN"/>
              <a:pPr/>
              <a:t>29</a:t>
            </a:fld>
            <a:endParaRPr lang="en-US" altLang="zh-CN"/>
          </a:p>
        </p:txBody>
      </p:sp>
      <p:sp>
        <p:nvSpPr>
          <p:cNvPr id="574466" name="Rectangle 2"/>
          <p:cNvSpPr>
            <a:spLocks noGrp="1" noChangeArrowheads="1"/>
          </p:cNvSpPr>
          <p:nvPr>
            <p:ph type="body" idx="1"/>
          </p:nvPr>
        </p:nvSpPr>
        <p:spPr>
          <a:xfrm>
            <a:off x="762000" y="2492375"/>
            <a:ext cx="7123113" cy="641350"/>
          </a:xfrm>
        </p:spPr>
        <p:txBody>
          <a:bodyPr/>
          <a:lstStyle/>
          <a:p>
            <a:pPr algn="ctr"/>
            <a:r>
              <a:rPr lang="zh-CN" altLang="en-US" sz="3600" dirty="0"/>
              <a:t>作业：</a:t>
            </a:r>
            <a:r>
              <a:rPr lang="en-US" altLang="zh-CN" sz="3600" dirty="0"/>
              <a:t>P185(2</a:t>
            </a:r>
            <a:r>
              <a:rPr lang="en-US" altLang="zh-CN" sz="3600" dirty="0" smtClean="0"/>
              <a:t>)</a:t>
            </a:r>
            <a:r>
              <a:rPr lang="zh-CN" altLang="en-US" sz="3600" dirty="0" smtClean="0"/>
              <a:t>，</a:t>
            </a:r>
            <a:r>
              <a:rPr lang="en-US" altLang="zh-CN" sz="3600" smtClean="0"/>
              <a:t>P190(3)</a:t>
            </a:r>
            <a:endParaRPr lang="en-US" altLang="zh-CN" sz="3600" dirty="0"/>
          </a:p>
        </p:txBody>
      </p:sp>
    </p:spTree>
    <p:extLst>
      <p:ext uri="{BB962C8B-B14F-4D97-AF65-F5344CB8AC3E}">
        <p14:creationId xmlns:p14="http://schemas.microsoft.com/office/powerpoint/2010/main" val="3962658335"/>
      </p:ext>
    </p:extLst>
  </p:cSld>
  <p:clrMapOvr>
    <a:masterClrMapping/>
  </p:clrMapOvr>
  <p:transition spd="slow">
    <p:pull dir="ru"/>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1F8B9A4E-5BE7-47E9-9426-2A4B9DE9AF41}" type="slidenum">
              <a:rPr lang="en-US" altLang="zh-CN"/>
              <a:pPr/>
              <a:t>30</a:t>
            </a:fld>
            <a:endParaRPr lang="en-US" altLang="zh-CN"/>
          </a:p>
        </p:txBody>
      </p:sp>
      <p:sp>
        <p:nvSpPr>
          <p:cNvPr id="566274" name="Rectangle 2"/>
          <p:cNvSpPr>
            <a:spLocks noGrp="1" noChangeArrowheads="1"/>
          </p:cNvSpPr>
          <p:nvPr>
            <p:ph type="title"/>
          </p:nvPr>
        </p:nvSpPr>
        <p:spPr/>
        <p:txBody>
          <a:bodyPr/>
          <a:lstStyle/>
          <a:p>
            <a:pPr algn="ctr"/>
            <a:r>
              <a:rPr lang="zh-CN" altLang="en-US"/>
              <a:t>复习</a:t>
            </a:r>
          </a:p>
        </p:txBody>
      </p:sp>
      <p:sp>
        <p:nvSpPr>
          <p:cNvPr id="566275" name="Rectangle 3"/>
          <p:cNvSpPr>
            <a:spLocks noGrp="1" noChangeArrowheads="1"/>
          </p:cNvSpPr>
          <p:nvPr>
            <p:ph type="body" idx="1"/>
          </p:nvPr>
        </p:nvSpPr>
        <p:spPr>
          <a:xfrm>
            <a:off x="413538" y="980728"/>
            <a:ext cx="8316924" cy="5364545"/>
          </a:xfrm>
        </p:spPr>
        <p:txBody>
          <a:bodyPr/>
          <a:lstStyle/>
          <a:p>
            <a:pPr>
              <a:lnSpc>
                <a:spcPct val="130000"/>
              </a:lnSpc>
              <a:spcBef>
                <a:spcPct val="0"/>
              </a:spcBef>
            </a:pPr>
            <a:r>
              <a:rPr lang="en-US" altLang="zh-CN" sz="2200" dirty="0"/>
              <a:t>1</a:t>
            </a:r>
            <a:r>
              <a:rPr lang="zh-CN" altLang="en-US" sz="2200" dirty="0"/>
              <a:t>、有两个元素的运算结果构成的表成为</a:t>
            </a:r>
            <a:r>
              <a:rPr kumimoji="1" lang="zh-CN" altLang="en-US" sz="2200" i="1" dirty="0">
                <a:solidFill>
                  <a:schemeClr val="hlink"/>
                </a:solidFill>
              </a:rPr>
              <a:t>运算表</a:t>
            </a:r>
            <a:r>
              <a:rPr lang="zh-CN" altLang="en-US" sz="2200" dirty="0" smtClean="0"/>
              <a:t>。其中，</a:t>
            </a:r>
            <a:r>
              <a:rPr lang="en-US" altLang="zh-CN" sz="2200" dirty="0" err="1" smtClean="0"/>
              <a:t>a</a:t>
            </a:r>
            <a:r>
              <a:rPr lang="en-US" altLang="zh-CN" sz="2200" baseline="-25000" dirty="0" err="1" smtClean="0"/>
              <a:t>ij</a:t>
            </a:r>
            <a:r>
              <a:rPr lang="en-US" altLang="zh-CN" sz="2200" dirty="0" smtClean="0"/>
              <a:t>=</a:t>
            </a:r>
            <a:r>
              <a:rPr lang="en-US" altLang="zh-CN" sz="2200" dirty="0" err="1" smtClean="0"/>
              <a:t>a</a:t>
            </a:r>
            <a:r>
              <a:rPr lang="en-US" altLang="zh-CN" sz="2200" baseline="-25000" dirty="0" err="1" smtClean="0"/>
              <a:t>i</a:t>
            </a:r>
            <a:r>
              <a:rPr lang="en-US" altLang="zh-CN" sz="2200" dirty="0" err="1">
                <a:cs typeface="Times New Roman" pitchFamily="18" charset="0"/>
              </a:rPr>
              <a:t>◦</a:t>
            </a:r>
            <a:r>
              <a:rPr lang="en-US" altLang="zh-CN" sz="2200" dirty="0" err="1"/>
              <a:t>a</a:t>
            </a:r>
            <a:r>
              <a:rPr lang="en-US" altLang="zh-CN" sz="2200" baseline="-25000" dirty="0" err="1"/>
              <a:t>j</a:t>
            </a:r>
            <a:endParaRPr lang="en-US" altLang="zh-CN" sz="2200" baseline="-25000" dirty="0"/>
          </a:p>
          <a:p>
            <a:pPr eaLnBrk="0" hangingPunct="0">
              <a:lnSpc>
                <a:spcPct val="130000"/>
              </a:lnSpc>
              <a:spcBef>
                <a:spcPct val="0"/>
              </a:spcBef>
              <a:buClrTx/>
              <a:buSzTx/>
              <a:buFontTx/>
              <a:buNone/>
            </a:pPr>
            <a:r>
              <a:rPr lang="en-US" altLang="zh-CN" sz="2200" dirty="0"/>
              <a:t>2</a:t>
            </a:r>
            <a:r>
              <a:rPr lang="zh-CN" altLang="en-US" sz="2200" dirty="0"/>
              <a:t>、</a:t>
            </a:r>
            <a:r>
              <a:rPr lang="en-US" altLang="zh-CN" sz="2200" dirty="0"/>
              <a:t>&lt;A, f</a:t>
            </a:r>
            <a:r>
              <a:rPr lang="en-US" altLang="zh-CN" sz="2200" baseline="-25000" dirty="0"/>
              <a:t>1</a:t>
            </a:r>
            <a:r>
              <a:rPr lang="en-US" altLang="zh-CN" sz="2200" dirty="0"/>
              <a:t>, f</a:t>
            </a:r>
            <a:r>
              <a:rPr lang="en-US" altLang="zh-CN" sz="2200" baseline="-25000" dirty="0"/>
              <a:t>2</a:t>
            </a:r>
            <a:r>
              <a:rPr lang="en-US" altLang="zh-CN" sz="2200" dirty="0"/>
              <a:t>, …, </a:t>
            </a:r>
            <a:r>
              <a:rPr lang="en-US" altLang="zh-CN" sz="2200" dirty="0" err="1"/>
              <a:t>f</a:t>
            </a:r>
            <a:r>
              <a:rPr lang="en-US" altLang="zh-CN" sz="2200" baseline="-25000" dirty="0" err="1"/>
              <a:t>n</a:t>
            </a:r>
            <a:r>
              <a:rPr lang="en-US" altLang="zh-CN" sz="2200" dirty="0"/>
              <a:t>&gt;</a:t>
            </a:r>
            <a:r>
              <a:rPr lang="zh-CN" altLang="en-US" sz="2200" dirty="0"/>
              <a:t>称作</a:t>
            </a:r>
            <a:r>
              <a:rPr lang="zh-CN" altLang="en-US" sz="2200" i="1" dirty="0">
                <a:solidFill>
                  <a:schemeClr val="hlink"/>
                </a:solidFill>
              </a:rPr>
              <a:t>代数系统</a:t>
            </a:r>
            <a:r>
              <a:rPr lang="zh-CN" altLang="en-US" sz="2200" dirty="0"/>
              <a:t>。</a:t>
            </a:r>
          </a:p>
          <a:p>
            <a:pPr eaLnBrk="0" hangingPunct="0">
              <a:lnSpc>
                <a:spcPct val="130000"/>
              </a:lnSpc>
              <a:spcBef>
                <a:spcPct val="0"/>
              </a:spcBef>
              <a:buClrTx/>
              <a:buSzTx/>
              <a:buFontTx/>
              <a:buNone/>
            </a:pPr>
            <a:r>
              <a:rPr lang="en-US" altLang="zh-CN" sz="2200" dirty="0"/>
              <a:t>3</a:t>
            </a:r>
            <a:r>
              <a:rPr lang="zh-CN" altLang="en-US" sz="2200" dirty="0"/>
              <a:t>、</a:t>
            </a:r>
            <a:r>
              <a:rPr kumimoji="1" lang="zh-CN" altLang="en-US" sz="2200" dirty="0">
                <a:sym typeface="Symbol" pitchFamily="18" charset="2"/>
              </a:rPr>
              <a:t></a:t>
            </a:r>
            <a:r>
              <a:rPr kumimoji="1" lang="zh-CN" altLang="en-US" sz="2200" dirty="0"/>
              <a:t> </a:t>
            </a:r>
            <a:r>
              <a:rPr kumimoji="1" lang="en-US" altLang="zh-CN" sz="2200" dirty="0"/>
              <a:t>x</a:t>
            </a:r>
            <a:r>
              <a:rPr kumimoji="1" lang="zh-CN" altLang="en-US" sz="2200" dirty="0"/>
              <a:t>，</a:t>
            </a:r>
            <a:r>
              <a:rPr kumimoji="1" lang="en-US" altLang="zh-CN" sz="2200" dirty="0" err="1"/>
              <a:t>y∈A</a:t>
            </a:r>
            <a:r>
              <a:rPr kumimoji="1" lang="zh-CN" altLang="en-US" sz="2200" dirty="0"/>
              <a:t>，有</a:t>
            </a:r>
            <a:r>
              <a:rPr kumimoji="1" lang="en-US" altLang="zh-CN" sz="2200" dirty="0"/>
              <a:t>x*</a:t>
            </a:r>
            <a:r>
              <a:rPr kumimoji="1" lang="en-US" altLang="zh-CN" sz="2200" dirty="0" err="1"/>
              <a:t>y∈A</a:t>
            </a:r>
            <a:r>
              <a:rPr kumimoji="1" lang="zh-CN" altLang="en-US" sz="2200" dirty="0"/>
              <a:t>，称运算*是</a:t>
            </a:r>
            <a:r>
              <a:rPr kumimoji="1" lang="zh-CN" altLang="en-US" sz="2200" i="1" dirty="0">
                <a:solidFill>
                  <a:schemeClr val="hlink"/>
                </a:solidFill>
              </a:rPr>
              <a:t>封闭</a:t>
            </a:r>
            <a:r>
              <a:rPr kumimoji="1" lang="zh-CN" altLang="en-US" sz="2200" i="1" dirty="0" smtClean="0">
                <a:solidFill>
                  <a:schemeClr val="hlink"/>
                </a:solidFill>
              </a:rPr>
              <a:t>的</a:t>
            </a:r>
            <a:r>
              <a:rPr kumimoji="1" lang="zh-CN" altLang="en-US" sz="2200" dirty="0" smtClean="0"/>
              <a:t>。</a:t>
            </a:r>
          </a:p>
          <a:p>
            <a:pPr eaLnBrk="0" hangingPunct="0">
              <a:lnSpc>
                <a:spcPct val="130000"/>
              </a:lnSpc>
              <a:spcBef>
                <a:spcPct val="0"/>
              </a:spcBef>
              <a:buClrTx/>
              <a:buSzTx/>
              <a:buFontTx/>
              <a:buNone/>
            </a:pPr>
            <a:r>
              <a:rPr lang="en-US" altLang="zh-CN" sz="2200" dirty="0" smtClean="0"/>
              <a:t>      </a:t>
            </a:r>
            <a:r>
              <a:rPr kumimoji="1" lang="zh-CN" altLang="en-US" sz="2200" dirty="0" smtClean="0">
                <a:sym typeface="Symbol" pitchFamily="18" charset="2"/>
              </a:rPr>
              <a:t></a:t>
            </a:r>
            <a:r>
              <a:rPr kumimoji="1" lang="zh-CN" altLang="en-US" sz="2200" dirty="0" smtClean="0"/>
              <a:t> </a:t>
            </a:r>
            <a:r>
              <a:rPr kumimoji="1" lang="en-US" altLang="zh-CN" sz="2200" dirty="0" smtClean="0"/>
              <a:t>x</a:t>
            </a:r>
            <a:r>
              <a:rPr kumimoji="1" lang="zh-CN" altLang="en-US" sz="2200" dirty="0" smtClean="0"/>
              <a:t>，</a:t>
            </a:r>
            <a:r>
              <a:rPr kumimoji="1" lang="en-US" altLang="zh-CN" sz="2200" dirty="0" err="1" smtClean="0"/>
              <a:t>y∈A</a:t>
            </a:r>
            <a:r>
              <a:rPr kumimoji="1" lang="zh-CN" altLang="en-US" sz="2200" dirty="0" smtClean="0"/>
              <a:t>，有</a:t>
            </a:r>
            <a:r>
              <a:rPr kumimoji="1" lang="en-US" altLang="zh-CN" sz="2200" dirty="0" smtClean="0"/>
              <a:t>x*y=y*x</a:t>
            </a:r>
            <a:r>
              <a:rPr kumimoji="1" lang="zh-CN" altLang="en-US" sz="2200" dirty="0" smtClean="0"/>
              <a:t>，称运算*是</a:t>
            </a:r>
            <a:r>
              <a:rPr kumimoji="1" lang="zh-CN" altLang="en-US" sz="2200" i="1" dirty="0" smtClean="0">
                <a:solidFill>
                  <a:schemeClr val="hlink"/>
                </a:solidFill>
              </a:rPr>
              <a:t>可交换的</a:t>
            </a:r>
            <a:r>
              <a:rPr kumimoji="1" lang="zh-CN" altLang="en-US" sz="2200" dirty="0" smtClean="0"/>
              <a:t>。</a:t>
            </a:r>
          </a:p>
          <a:p>
            <a:pPr eaLnBrk="0" hangingPunct="0">
              <a:lnSpc>
                <a:spcPct val="130000"/>
              </a:lnSpc>
              <a:spcBef>
                <a:spcPct val="0"/>
              </a:spcBef>
              <a:buClrTx/>
              <a:buSzTx/>
              <a:buFontTx/>
              <a:buNone/>
            </a:pPr>
            <a:r>
              <a:rPr kumimoji="1" lang="en-US" altLang="zh-CN" sz="2200" dirty="0" smtClean="0"/>
              <a:t>      </a:t>
            </a:r>
            <a:r>
              <a:rPr kumimoji="1" lang="zh-CN" altLang="en-US" sz="2200" dirty="0" smtClean="0">
                <a:sym typeface="Symbol" pitchFamily="18" charset="2"/>
              </a:rPr>
              <a:t></a:t>
            </a:r>
            <a:r>
              <a:rPr kumimoji="1" lang="zh-CN" altLang="en-US" sz="2200" dirty="0" smtClean="0"/>
              <a:t> </a:t>
            </a:r>
            <a:r>
              <a:rPr kumimoji="1" lang="en-US" altLang="zh-CN" sz="2200" dirty="0"/>
              <a:t>x</a:t>
            </a:r>
            <a:r>
              <a:rPr kumimoji="1" lang="zh-CN" altLang="en-US" sz="2200" dirty="0"/>
              <a:t>，</a:t>
            </a:r>
            <a:r>
              <a:rPr kumimoji="1" lang="en-US" altLang="zh-CN" sz="2200" dirty="0"/>
              <a:t>y</a:t>
            </a:r>
            <a:r>
              <a:rPr kumimoji="1" lang="zh-CN" altLang="en-US" sz="2200" dirty="0"/>
              <a:t>，</a:t>
            </a:r>
            <a:r>
              <a:rPr kumimoji="1" lang="en-US" altLang="zh-CN" sz="2200" dirty="0" err="1"/>
              <a:t>z∈A</a:t>
            </a:r>
            <a:r>
              <a:rPr kumimoji="1" lang="zh-CN" altLang="en-US" sz="2200" dirty="0"/>
              <a:t>，有</a:t>
            </a:r>
            <a:r>
              <a:rPr kumimoji="1" lang="en-US" altLang="zh-CN" sz="2200" dirty="0"/>
              <a:t>(x*y)*z=x*(y*z)</a:t>
            </a:r>
            <a:r>
              <a:rPr kumimoji="1" lang="zh-CN" altLang="en-US" sz="2200" dirty="0"/>
              <a:t>，称运算*是</a:t>
            </a:r>
            <a:r>
              <a:rPr kumimoji="1" lang="zh-CN" altLang="en-US" sz="2200" i="1" dirty="0">
                <a:solidFill>
                  <a:schemeClr val="hlink"/>
                </a:solidFill>
              </a:rPr>
              <a:t>可结合的</a:t>
            </a:r>
            <a:r>
              <a:rPr kumimoji="1" lang="zh-CN" altLang="en-US" sz="2200" dirty="0"/>
              <a:t>。</a:t>
            </a:r>
          </a:p>
          <a:p>
            <a:r>
              <a:rPr kumimoji="1" lang="en-US" altLang="zh-CN" sz="2200" dirty="0" smtClean="0"/>
              <a:t>      </a:t>
            </a:r>
            <a:r>
              <a:rPr kumimoji="1" lang="zh-CN" altLang="en-US" sz="2200" dirty="0" smtClean="0">
                <a:sym typeface="Symbol" pitchFamily="18" charset="2"/>
              </a:rPr>
              <a:t></a:t>
            </a:r>
            <a:r>
              <a:rPr kumimoji="1" lang="zh-CN" altLang="en-US" sz="2200" dirty="0" smtClean="0"/>
              <a:t> </a:t>
            </a:r>
            <a:r>
              <a:rPr kumimoji="1" lang="en-US" altLang="zh-CN" sz="2200" dirty="0"/>
              <a:t>x</a:t>
            </a:r>
            <a:r>
              <a:rPr kumimoji="1" lang="zh-CN" altLang="en-US" sz="2200" dirty="0"/>
              <a:t>，</a:t>
            </a:r>
            <a:r>
              <a:rPr kumimoji="1" lang="en-US" altLang="zh-CN" sz="2200" dirty="0"/>
              <a:t>y</a:t>
            </a:r>
            <a:r>
              <a:rPr kumimoji="1" lang="zh-CN" altLang="en-US" sz="2200" dirty="0"/>
              <a:t>，</a:t>
            </a:r>
            <a:r>
              <a:rPr kumimoji="1" lang="en-US" altLang="zh-CN" sz="2200" dirty="0" err="1"/>
              <a:t>z∈A</a:t>
            </a:r>
            <a:r>
              <a:rPr kumimoji="1" lang="zh-CN" altLang="en-US" sz="2200" dirty="0"/>
              <a:t>，有</a:t>
            </a:r>
            <a:r>
              <a:rPr kumimoji="1" lang="en-US" altLang="zh-CN" sz="2200" dirty="0"/>
              <a:t>x*(</a:t>
            </a:r>
            <a:r>
              <a:rPr kumimoji="1" lang="en-US" altLang="zh-CN" sz="2200" dirty="0" err="1"/>
              <a:t>yΔz</a:t>
            </a:r>
            <a:r>
              <a:rPr kumimoji="1" lang="en-US" altLang="zh-CN" sz="2200" dirty="0"/>
              <a:t>)=(x*y) Δ(x*z)</a:t>
            </a:r>
            <a:r>
              <a:rPr kumimoji="1" lang="zh-CN" altLang="en-US" sz="2200" dirty="0"/>
              <a:t>和</a:t>
            </a:r>
            <a:r>
              <a:rPr kumimoji="1" lang="en-US" altLang="zh-CN" sz="2200" dirty="0"/>
              <a:t>(</a:t>
            </a:r>
            <a:r>
              <a:rPr kumimoji="1" lang="en-US" altLang="zh-CN" sz="2200" dirty="0" err="1"/>
              <a:t>yΔz</a:t>
            </a:r>
            <a:r>
              <a:rPr kumimoji="1" lang="en-US" altLang="zh-CN" sz="2200" dirty="0"/>
              <a:t>)*x=(y*x) Δ(z*x)</a:t>
            </a:r>
            <a:r>
              <a:rPr kumimoji="1" lang="zh-CN" altLang="en-US" sz="2200" dirty="0"/>
              <a:t>，称*对于</a:t>
            </a:r>
            <a:r>
              <a:rPr kumimoji="1" lang="en-US" altLang="zh-CN" sz="2200" dirty="0"/>
              <a:t>Δ</a:t>
            </a:r>
            <a:r>
              <a:rPr kumimoji="1" lang="zh-CN" altLang="en-US" sz="2200" dirty="0"/>
              <a:t>是</a:t>
            </a:r>
            <a:r>
              <a:rPr kumimoji="1" lang="zh-CN" altLang="en-US" sz="2200" i="1" dirty="0">
                <a:solidFill>
                  <a:schemeClr val="hlink"/>
                </a:solidFill>
              </a:rPr>
              <a:t>可分配的</a:t>
            </a:r>
            <a:r>
              <a:rPr kumimoji="1" lang="zh-CN" altLang="en-US" sz="2200" dirty="0"/>
              <a:t>。</a:t>
            </a:r>
          </a:p>
          <a:p>
            <a:r>
              <a:rPr kumimoji="1" lang="en-US" altLang="zh-CN" sz="2200" dirty="0" smtClean="0">
                <a:sym typeface="Symbol" pitchFamily="18" charset="2"/>
              </a:rPr>
              <a:t>      </a:t>
            </a:r>
            <a:r>
              <a:rPr kumimoji="1" lang="zh-CN" altLang="en-US" sz="2200" dirty="0" smtClean="0">
                <a:sym typeface="Symbol" pitchFamily="18" charset="2"/>
              </a:rPr>
              <a:t></a:t>
            </a:r>
            <a:r>
              <a:rPr kumimoji="1" lang="zh-CN" altLang="en-US" sz="2200" dirty="0" smtClean="0"/>
              <a:t> </a:t>
            </a:r>
            <a:r>
              <a:rPr kumimoji="1" lang="en-US" altLang="zh-CN" sz="2200" dirty="0"/>
              <a:t>x</a:t>
            </a:r>
            <a:r>
              <a:rPr kumimoji="1" lang="zh-CN" altLang="en-US" sz="2200" dirty="0"/>
              <a:t>，</a:t>
            </a:r>
            <a:r>
              <a:rPr kumimoji="1" lang="en-US" altLang="zh-CN" sz="2200" dirty="0"/>
              <a:t>y</a:t>
            </a:r>
            <a:r>
              <a:rPr kumimoji="1" lang="zh-CN" altLang="en-US" sz="2200" dirty="0"/>
              <a:t>，</a:t>
            </a:r>
            <a:r>
              <a:rPr kumimoji="1" lang="en-US" altLang="zh-CN" sz="2200" dirty="0" err="1"/>
              <a:t>z∈A</a:t>
            </a:r>
            <a:r>
              <a:rPr kumimoji="1" lang="zh-CN" altLang="en-US" sz="2200" dirty="0" smtClean="0"/>
              <a:t>，有</a:t>
            </a:r>
            <a:r>
              <a:rPr kumimoji="1" lang="en-US" altLang="zh-CN" sz="2200" dirty="0"/>
              <a:t>x*(</a:t>
            </a:r>
            <a:r>
              <a:rPr kumimoji="1" lang="en-US" altLang="zh-CN" sz="2200" dirty="0" err="1"/>
              <a:t>xΔy</a:t>
            </a:r>
            <a:r>
              <a:rPr kumimoji="1" lang="en-US" altLang="zh-CN" sz="2200" dirty="0"/>
              <a:t>)=x</a:t>
            </a:r>
            <a:r>
              <a:rPr kumimoji="1" lang="zh-CN" altLang="en-US" sz="2200" dirty="0"/>
              <a:t>和</a:t>
            </a:r>
            <a:r>
              <a:rPr kumimoji="1" lang="en-US" altLang="zh-CN" sz="2200" dirty="0" err="1"/>
              <a:t>xΔ</a:t>
            </a:r>
            <a:r>
              <a:rPr kumimoji="1" lang="en-US" altLang="zh-CN" sz="2200" dirty="0"/>
              <a:t>(x*y)=x</a:t>
            </a:r>
            <a:r>
              <a:rPr kumimoji="1" lang="zh-CN" altLang="en-US" sz="2200" dirty="0"/>
              <a:t>，称*和</a:t>
            </a:r>
            <a:r>
              <a:rPr kumimoji="1" lang="en-US" altLang="zh-CN" sz="2200" dirty="0"/>
              <a:t>Δ</a:t>
            </a:r>
            <a:r>
              <a:rPr kumimoji="1" lang="zh-CN" altLang="en-US" sz="2200" dirty="0"/>
              <a:t>满足</a:t>
            </a:r>
            <a:r>
              <a:rPr kumimoji="1" lang="zh-CN" altLang="en-US" sz="2200" i="1" dirty="0">
                <a:solidFill>
                  <a:schemeClr val="hlink"/>
                </a:solidFill>
              </a:rPr>
              <a:t>吸收律</a:t>
            </a:r>
            <a:r>
              <a:rPr kumimoji="1" lang="zh-CN" altLang="en-US" sz="2200" dirty="0" smtClean="0"/>
              <a:t>。</a:t>
            </a:r>
            <a:endParaRPr kumimoji="1" lang="en-US" altLang="zh-CN" sz="2200" dirty="0" smtClean="0"/>
          </a:p>
          <a:p>
            <a:r>
              <a:rPr lang="en-US" altLang="zh-CN" sz="2200" dirty="0" smtClean="0"/>
              <a:t>      </a:t>
            </a:r>
            <a:r>
              <a:rPr kumimoji="1" lang="zh-CN" altLang="en-US" sz="2200" dirty="0" smtClean="0">
                <a:sym typeface="Symbol" pitchFamily="18" charset="2"/>
              </a:rPr>
              <a:t></a:t>
            </a:r>
            <a:r>
              <a:rPr kumimoji="1" lang="zh-CN" altLang="en-US" sz="2200" dirty="0" smtClean="0"/>
              <a:t> </a:t>
            </a:r>
            <a:r>
              <a:rPr lang="en-US" altLang="zh-CN" sz="2200" dirty="0" err="1" smtClean="0"/>
              <a:t>x</a:t>
            </a:r>
            <a:r>
              <a:rPr lang="en-US" altLang="zh-CN" sz="2200" dirty="0" err="1"/>
              <a:t>∈A</a:t>
            </a:r>
            <a:r>
              <a:rPr lang="zh-CN" altLang="en-US" sz="2200" dirty="0"/>
              <a:t>，都有</a:t>
            </a:r>
            <a:r>
              <a:rPr lang="en-US" altLang="zh-CN" sz="2200" dirty="0"/>
              <a:t>x*x=x</a:t>
            </a:r>
            <a:r>
              <a:rPr lang="zh-CN" altLang="en-US" sz="2200" dirty="0"/>
              <a:t>，则称运算*是</a:t>
            </a:r>
            <a:r>
              <a:rPr lang="zh-CN" altLang="en-US" sz="2200" i="1" dirty="0">
                <a:solidFill>
                  <a:srgbClr val="FF0000"/>
                </a:solidFill>
              </a:rPr>
              <a:t>等幂</a:t>
            </a:r>
            <a:r>
              <a:rPr lang="zh-CN" altLang="en-US" sz="2200" i="1" dirty="0" smtClean="0">
                <a:solidFill>
                  <a:srgbClr val="FF0000"/>
                </a:solidFill>
              </a:rPr>
              <a:t>的</a:t>
            </a:r>
            <a:r>
              <a:rPr lang="zh-CN" altLang="en-US" sz="2200" dirty="0" smtClean="0"/>
              <a:t>。</a:t>
            </a:r>
            <a:endParaRPr lang="en-US" altLang="zh-CN" sz="2200" dirty="0" smtClean="0"/>
          </a:p>
          <a:p>
            <a:r>
              <a:rPr kumimoji="1" lang="en-US" altLang="zh-CN" sz="2200" dirty="0" smtClean="0"/>
              <a:t>3</a:t>
            </a:r>
            <a:r>
              <a:rPr kumimoji="1" lang="zh-CN" altLang="en-US" sz="2200" dirty="0" smtClean="0"/>
              <a:t>、</a:t>
            </a:r>
            <a:r>
              <a:rPr kumimoji="1" lang="zh-CN" altLang="en-US" sz="2200" dirty="0"/>
              <a:t>幺</a:t>
            </a:r>
            <a:r>
              <a:rPr kumimoji="1" lang="zh-CN" altLang="en-US" sz="2200" dirty="0" smtClean="0"/>
              <a:t>元</a:t>
            </a:r>
            <a:r>
              <a:rPr kumimoji="1" lang="en-US" altLang="zh-CN" sz="2200" dirty="0" smtClean="0"/>
              <a:t>e</a:t>
            </a:r>
            <a:r>
              <a:rPr kumimoji="1" lang="zh-CN" altLang="en-US" sz="2200" dirty="0" smtClean="0"/>
              <a:t>、零元</a:t>
            </a:r>
            <a:r>
              <a:rPr kumimoji="1" lang="el-GR" altLang="zh-CN" sz="2200" dirty="0" smtClean="0"/>
              <a:t>θ</a:t>
            </a:r>
            <a:r>
              <a:rPr kumimoji="1" lang="zh-CN" altLang="en-US" sz="2200" dirty="0" smtClean="0"/>
              <a:t>、逆元</a:t>
            </a:r>
            <a:r>
              <a:rPr lang="en-US" altLang="zh-CN" sz="2200" dirty="0"/>
              <a:t>x</a:t>
            </a:r>
            <a:r>
              <a:rPr lang="en-US" altLang="zh-CN" sz="2200" baseline="30000" dirty="0"/>
              <a:t>-1 </a:t>
            </a:r>
            <a:r>
              <a:rPr kumimoji="1" lang="zh-CN" altLang="en-US" sz="2200" dirty="0" smtClean="0"/>
              <a:t>。</a:t>
            </a:r>
            <a:endParaRPr kumimoji="1" lang="en-US" altLang="zh-CN" sz="2200" dirty="0" smtClean="0"/>
          </a:p>
          <a:p>
            <a:pPr>
              <a:lnSpc>
                <a:spcPct val="130000"/>
              </a:lnSpc>
            </a:pPr>
            <a:r>
              <a:rPr kumimoji="1" lang="en-US" altLang="zh-CN" sz="2200" dirty="0" smtClean="0"/>
              <a:t>4</a:t>
            </a:r>
            <a:r>
              <a:rPr kumimoji="1" lang="zh-CN" altLang="en-US" sz="2200" dirty="0" smtClean="0"/>
              <a:t>、</a:t>
            </a:r>
            <a:r>
              <a:rPr lang="zh-CN" altLang="en-US" sz="2400" dirty="0">
                <a:solidFill>
                  <a:srgbClr val="FF0000"/>
                </a:solidFill>
                <a:ea typeface="楷体_GB2312" pitchFamily="49" charset="-122"/>
              </a:rPr>
              <a:t>半群：</a:t>
            </a:r>
            <a:r>
              <a:rPr lang="zh-CN" altLang="en-US" sz="2400" dirty="0">
                <a:ea typeface="楷体_GB2312" pitchFamily="49" charset="-122"/>
              </a:rPr>
              <a:t>运算封闭，可结合的</a:t>
            </a:r>
            <a:r>
              <a:rPr lang="zh-CN" altLang="en-US" sz="2400" dirty="0" smtClean="0">
                <a:ea typeface="楷体_GB2312" pitchFamily="49" charset="-122"/>
              </a:rPr>
              <a:t>代数系统；子半群。</a:t>
            </a:r>
            <a:endParaRPr lang="zh-CN" altLang="en-US" sz="2400" dirty="0">
              <a:ea typeface="楷体_GB2312" pitchFamily="49" charset="-122"/>
            </a:endParaRPr>
          </a:p>
          <a:p>
            <a:pPr>
              <a:lnSpc>
                <a:spcPct val="130000"/>
              </a:lnSpc>
            </a:pPr>
            <a:r>
              <a:rPr lang="zh-CN" altLang="en-US" sz="2400" dirty="0">
                <a:ea typeface="楷体_GB2312" pitchFamily="49" charset="-122"/>
              </a:rPr>
              <a:t>性质：有限半群存在等幂</a:t>
            </a:r>
            <a:r>
              <a:rPr lang="zh-CN" altLang="en-US" sz="2400" dirty="0" smtClean="0">
                <a:ea typeface="楷体_GB2312" pitchFamily="49" charset="-122"/>
              </a:rPr>
              <a:t>元。</a:t>
            </a:r>
            <a:endParaRPr kumimoji="1" lang="zh-CN" altLang="en-US" sz="2200" dirty="0"/>
          </a:p>
        </p:txBody>
      </p:sp>
    </p:spTree>
    <p:extLst>
      <p:ext uri="{BB962C8B-B14F-4D97-AF65-F5344CB8AC3E}">
        <p14:creationId xmlns:p14="http://schemas.microsoft.com/office/powerpoint/2010/main" val="1152851532"/>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6627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6627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6627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66275">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66275">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56627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6627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6627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66275">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6627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2"/>
          <p:cNvSpPr>
            <a:spLocks noGrp="1"/>
          </p:cNvSpPr>
          <p:nvPr>
            <p:ph type="sldNum" sz="quarter" idx="11"/>
          </p:nvPr>
        </p:nvSpPr>
        <p:spPr/>
        <p:txBody>
          <a:bodyPr/>
          <a:lstStyle/>
          <a:p>
            <a:fld id="{CD285F67-0077-4610-ABC7-20459800BA5E}" type="slidenum">
              <a:rPr lang="en-US" altLang="zh-CN"/>
              <a:pPr/>
              <a:t>31</a:t>
            </a:fld>
            <a:endParaRPr lang="en-US" altLang="zh-CN"/>
          </a:p>
        </p:txBody>
      </p:sp>
      <p:sp>
        <p:nvSpPr>
          <p:cNvPr id="441346" name="Text Box 2"/>
          <p:cNvSpPr txBox="1">
            <a:spLocks noChangeArrowheads="1"/>
          </p:cNvSpPr>
          <p:nvPr/>
        </p:nvSpPr>
        <p:spPr bwMode="auto">
          <a:xfrm>
            <a:off x="539552" y="2776711"/>
            <a:ext cx="7916862" cy="493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10000"/>
              </a:lnSpc>
              <a:spcBef>
                <a:spcPct val="50000"/>
              </a:spcBef>
            </a:pPr>
            <a:r>
              <a:rPr lang="zh-CN" altLang="en-US" b="1">
                <a:solidFill>
                  <a:srgbClr val="FF0000"/>
                </a:solidFill>
              </a:rPr>
              <a:t>定义</a:t>
            </a:r>
            <a:r>
              <a:rPr lang="en-US" altLang="zh-CN" b="1">
                <a:solidFill>
                  <a:srgbClr val="FF0000"/>
                </a:solidFill>
              </a:rPr>
              <a:t>5-3.3</a:t>
            </a:r>
            <a:r>
              <a:rPr lang="zh-CN" altLang="en-US" b="1">
                <a:solidFill>
                  <a:srgbClr val="FF0000"/>
                </a:solidFill>
              </a:rPr>
              <a:t>：</a:t>
            </a:r>
            <a:r>
              <a:rPr lang="zh-CN" altLang="en-US" b="1"/>
              <a:t>含有幺元的半群称为</a:t>
            </a:r>
            <a:r>
              <a:rPr lang="zh-CN" altLang="en-US" b="1" i="1">
                <a:solidFill>
                  <a:srgbClr val="FF0000"/>
                </a:solidFill>
              </a:rPr>
              <a:t>独异点</a:t>
            </a:r>
            <a:r>
              <a:rPr lang="zh-CN" altLang="en-US" b="1"/>
              <a:t>。</a:t>
            </a:r>
          </a:p>
        </p:txBody>
      </p:sp>
      <p:sp>
        <p:nvSpPr>
          <p:cNvPr id="441347" name="Text Box 3"/>
          <p:cNvSpPr txBox="1">
            <a:spLocks noChangeArrowheads="1"/>
          </p:cNvSpPr>
          <p:nvPr/>
        </p:nvSpPr>
        <p:spPr bwMode="auto">
          <a:xfrm>
            <a:off x="539552" y="3356148"/>
            <a:ext cx="7916862" cy="129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10000"/>
              </a:lnSpc>
            </a:pPr>
            <a:r>
              <a:rPr lang="zh-CN" altLang="en-US" b="1">
                <a:solidFill>
                  <a:srgbClr val="FF0000"/>
                </a:solidFill>
              </a:rPr>
              <a:t>例如，</a:t>
            </a:r>
            <a:r>
              <a:rPr lang="zh-CN" altLang="en-US" b="1"/>
              <a:t>下列代数系统是独异点</a:t>
            </a:r>
          </a:p>
          <a:p>
            <a:pPr algn="l">
              <a:lnSpc>
                <a:spcPct val="110000"/>
              </a:lnSpc>
            </a:pPr>
            <a:r>
              <a:rPr lang="en-US" altLang="zh-CN" b="1"/>
              <a:t>&lt;R, +&gt;</a:t>
            </a:r>
            <a:r>
              <a:rPr lang="zh-CN" altLang="en-US" b="1"/>
              <a:t>，</a:t>
            </a:r>
          </a:p>
          <a:p>
            <a:pPr algn="l">
              <a:lnSpc>
                <a:spcPct val="110000"/>
              </a:lnSpc>
            </a:pPr>
            <a:r>
              <a:rPr lang="en-US" altLang="zh-CN" b="1"/>
              <a:t>&lt;I, •&gt;</a:t>
            </a:r>
            <a:r>
              <a:rPr lang="zh-CN" altLang="en-US" b="1"/>
              <a:t>、</a:t>
            </a:r>
            <a:r>
              <a:rPr lang="en-US" altLang="zh-CN" b="1"/>
              <a:t>&lt;I+, •&gt;</a:t>
            </a:r>
            <a:r>
              <a:rPr lang="zh-CN" altLang="en-US" b="1"/>
              <a:t>、</a:t>
            </a:r>
            <a:r>
              <a:rPr lang="en-US" altLang="zh-CN" b="1"/>
              <a:t>&lt;R, •&gt;</a:t>
            </a:r>
            <a:r>
              <a:rPr lang="zh-CN" altLang="en-US" b="1"/>
              <a:t>，</a:t>
            </a:r>
          </a:p>
        </p:txBody>
      </p:sp>
      <p:sp>
        <p:nvSpPr>
          <p:cNvPr id="441350" name="Rectangle 6"/>
          <p:cNvSpPr>
            <a:spLocks noChangeArrowheads="1"/>
          </p:cNvSpPr>
          <p:nvPr/>
        </p:nvSpPr>
        <p:spPr bwMode="auto">
          <a:xfrm>
            <a:off x="468000" y="1916832"/>
            <a:ext cx="54006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3200" b="1" dirty="0">
                <a:solidFill>
                  <a:schemeClr val="folHlink"/>
                </a:solidFill>
                <a:latin typeface="楷体_GB2312" pitchFamily="49" charset="-122"/>
                <a:ea typeface="楷体_GB2312" pitchFamily="49" charset="-122"/>
              </a:rPr>
              <a:t>2</a:t>
            </a:r>
            <a:r>
              <a:rPr lang="zh-CN" altLang="en-US" sz="3200" b="1" dirty="0">
                <a:solidFill>
                  <a:schemeClr val="folHlink"/>
                </a:solidFill>
                <a:latin typeface="楷体_GB2312" pitchFamily="49" charset="-122"/>
                <a:ea typeface="楷体_GB2312" pitchFamily="49" charset="-122"/>
              </a:rPr>
              <a:t>、独异点及其性质</a:t>
            </a:r>
          </a:p>
        </p:txBody>
      </p:sp>
      <p:sp>
        <p:nvSpPr>
          <p:cNvPr id="441351" name="Rectangle 7"/>
          <p:cNvSpPr>
            <a:spLocks noChangeArrowheads="1"/>
          </p:cNvSpPr>
          <p:nvPr/>
        </p:nvSpPr>
        <p:spPr bwMode="auto">
          <a:xfrm>
            <a:off x="2663627" y="3787948"/>
            <a:ext cx="37449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t>0</a:t>
            </a:r>
            <a:r>
              <a:rPr lang="zh-CN" altLang="en-US" b="1"/>
              <a:t>是</a:t>
            </a:r>
            <a:r>
              <a:rPr lang="en-US" altLang="zh-CN" b="1"/>
              <a:t>R</a:t>
            </a:r>
            <a:r>
              <a:rPr lang="zh-CN" altLang="en-US" b="1"/>
              <a:t>中运算</a:t>
            </a:r>
            <a:r>
              <a:rPr lang="en-US" altLang="zh-CN" b="1"/>
              <a:t>+</a:t>
            </a:r>
            <a:r>
              <a:rPr lang="zh-CN" altLang="en-US" b="1"/>
              <a:t>的幺元；</a:t>
            </a:r>
          </a:p>
        </p:txBody>
      </p:sp>
      <p:sp>
        <p:nvSpPr>
          <p:cNvPr id="441352" name="Rectangle 8"/>
          <p:cNvSpPr>
            <a:spLocks noChangeArrowheads="1"/>
          </p:cNvSpPr>
          <p:nvPr/>
        </p:nvSpPr>
        <p:spPr bwMode="auto">
          <a:xfrm>
            <a:off x="4051102" y="4162598"/>
            <a:ext cx="2862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b="1"/>
              <a:t>具有幺元</a:t>
            </a:r>
            <a:r>
              <a:rPr lang="en-US" altLang="zh-CN" b="1"/>
              <a:t>1</a:t>
            </a:r>
            <a:r>
              <a:rPr lang="zh-CN" altLang="en-US" b="1"/>
              <a:t>。</a:t>
            </a:r>
          </a:p>
        </p:txBody>
      </p:sp>
      <p:sp>
        <p:nvSpPr>
          <p:cNvPr id="9" name="Rectangle 4"/>
          <p:cNvSpPr txBox="1">
            <a:spLocks noChangeArrowheads="1"/>
          </p:cNvSpPr>
          <p:nvPr/>
        </p:nvSpPr>
        <p:spPr>
          <a:xfrm>
            <a:off x="1079500" y="179388"/>
            <a:ext cx="4805363" cy="641350"/>
          </a:xfrm>
          <a:prstGeom prst="rect">
            <a:avLst/>
          </a:prstGeom>
          <a:noFill/>
        </p:spPr>
        <p:txBody>
          <a:bodyPr anchor="ctr"/>
          <a:lstStyle>
            <a:lvl1pPr algn="l" rtl="0" fontAlgn="base">
              <a:spcBef>
                <a:spcPct val="0"/>
              </a:spcBef>
              <a:spcAft>
                <a:spcPct val="0"/>
              </a:spcAft>
              <a:defRPr sz="4000" b="1">
                <a:solidFill>
                  <a:schemeClr val="tx2"/>
                </a:solidFill>
                <a:latin typeface="+mj-lt"/>
                <a:ea typeface="+mj-ea"/>
                <a:cs typeface="+mj-cs"/>
              </a:defRPr>
            </a:lvl1pPr>
            <a:lvl2pPr algn="l" rtl="0" fontAlgn="base">
              <a:spcBef>
                <a:spcPct val="0"/>
              </a:spcBef>
              <a:spcAft>
                <a:spcPct val="0"/>
              </a:spcAft>
              <a:defRPr sz="4000" b="1">
                <a:solidFill>
                  <a:schemeClr val="tx2"/>
                </a:solidFill>
                <a:latin typeface="Tahoma" pitchFamily="34" charset="0"/>
                <a:ea typeface="楷体_GB2312" pitchFamily="49" charset="-122"/>
              </a:defRPr>
            </a:lvl2pPr>
            <a:lvl3pPr algn="l" rtl="0" fontAlgn="base">
              <a:spcBef>
                <a:spcPct val="0"/>
              </a:spcBef>
              <a:spcAft>
                <a:spcPct val="0"/>
              </a:spcAft>
              <a:defRPr sz="4000" b="1">
                <a:solidFill>
                  <a:schemeClr val="tx2"/>
                </a:solidFill>
                <a:latin typeface="Tahoma" pitchFamily="34" charset="0"/>
                <a:ea typeface="楷体_GB2312" pitchFamily="49" charset="-122"/>
              </a:defRPr>
            </a:lvl3pPr>
            <a:lvl4pPr algn="l" rtl="0" fontAlgn="base">
              <a:spcBef>
                <a:spcPct val="0"/>
              </a:spcBef>
              <a:spcAft>
                <a:spcPct val="0"/>
              </a:spcAft>
              <a:defRPr sz="4000" b="1">
                <a:solidFill>
                  <a:schemeClr val="tx2"/>
                </a:solidFill>
                <a:latin typeface="Tahoma" pitchFamily="34" charset="0"/>
                <a:ea typeface="楷体_GB2312" pitchFamily="49" charset="-122"/>
              </a:defRPr>
            </a:lvl4pPr>
            <a:lvl5pPr algn="l" rtl="0" fontAlgn="base">
              <a:spcBef>
                <a:spcPct val="0"/>
              </a:spcBef>
              <a:spcAft>
                <a:spcPct val="0"/>
              </a:spcAft>
              <a:defRPr sz="4000" b="1">
                <a:solidFill>
                  <a:schemeClr val="tx2"/>
                </a:solidFill>
                <a:latin typeface="Tahoma" pitchFamily="34" charset="0"/>
                <a:ea typeface="楷体_GB2312" pitchFamily="49" charset="-122"/>
              </a:defRPr>
            </a:lvl5pPr>
            <a:lvl6pPr marL="457200" algn="l" rtl="0" fontAlgn="base">
              <a:spcBef>
                <a:spcPct val="0"/>
              </a:spcBef>
              <a:spcAft>
                <a:spcPct val="0"/>
              </a:spcAft>
              <a:defRPr sz="4000" b="1">
                <a:solidFill>
                  <a:schemeClr val="tx2"/>
                </a:solidFill>
                <a:latin typeface="Tahoma" pitchFamily="34" charset="0"/>
                <a:ea typeface="楷体_GB2312" pitchFamily="49" charset="-122"/>
              </a:defRPr>
            </a:lvl6pPr>
            <a:lvl7pPr marL="914400" algn="l" rtl="0" fontAlgn="base">
              <a:spcBef>
                <a:spcPct val="0"/>
              </a:spcBef>
              <a:spcAft>
                <a:spcPct val="0"/>
              </a:spcAft>
              <a:defRPr sz="4000" b="1">
                <a:solidFill>
                  <a:schemeClr val="tx2"/>
                </a:solidFill>
                <a:latin typeface="Tahoma" pitchFamily="34" charset="0"/>
                <a:ea typeface="楷体_GB2312" pitchFamily="49" charset="-122"/>
              </a:defRPr>
            </a:lvl7pPr>
            <a:lvl8pPr marL="1371600" algn="l" rtl="0" fontAlgn="base">
              <a:spcBef>
                <a:spcPct val="0"/>
              </a:spcBef>
              <a:spcAft>
                <a:spcPct val="0"/>
              </a:spcAft>
              <a:defRPr sz="4000" b="1">
                <a:solidFill>
                  <a:schemeClr val="tx2"/>
                </a:solidFill>
                <a:latin typeface="Tahoma" pitchFamily="34" charset="0"/>
                <a:ea typeface="楷体_GB2312" pitchFamily="49" charset="-122"/>
              </a:defRPr>
            </a:lvl8pPr>
            <a:lvl9pPr marL="1828800" algn="l" rtl="0" fontAlgn="base">
              <a:spcBef>
                <a:spcPct val="0"/>
              </a:spcBef>
              <a:spcAft>
                <a:spcPct val="0"/>
              </a:spcAft>
              <a:defRPr sz="4000" b="1">
                <a:solidFill>
                  <a:schemeClr val="tx2"/>
                </a:solidFill>
                <a:latin typeface="Tahoma" pitchFamily="34" charset="0"/>
                <a:ea typeface="楷体_GB2312" pitchFamily="49" charset="-122"/>
              </a:defRPr>
            </a:lvl9pPr>
          </a:lstStyle>
          <a:p>
            <a:r>
              <a:rPr kumimoji="1" lang="en-US" altLang="zh-CN" sz="3600" smtClean="0">
                <a:solidFill>
                  <a:schemeClr val="tx1"/>
                </a:solidFill>
                <a:latin typeface="华文行楷" pitchFamily="2" charset="-122"/>
                <a:ea typeface="华文行楷" pitchFamily="2" charset="-122"/>
              </a:rPr>
              <a:t>5.3  </a:t>
            </a:r>
            <a:r>
              <a:rPr kumimoji="1" lang="zh-CN" altLang="en-US" sz="3600" smtClean="0">
                <a:solidFill>
                  <a:schemeClr val="tx1"/>
                </a:solidFill>
                <a:latin typeface="华文行楷" pitchFamily="2" charset="-122"/>
                <a:ea typeface="华文行楷" pitchFamily="2" charset="-122"/>
              </a:rPr>
              <a:t>半群</a:t>
            </a:r>
            <a:endParaRPr kumimoji="1" lang="zh-CN" altLang="en-US" sz="3600">
              <a:solidFill>
                <a:schemeClr val="tx1"/>
              </a:solidFill>
              <a:latin typeface="华文行楷" pitchFamily="2" charset="-122"/>
              <a:ea typeface="华文行楷" pitchFamily="2" charset="-122"/>
            </a:endParaRPr>
          </a:p>
        </p:txBody>
      </p:sp>
      <p:sp>
        <p:nvSpPr>
          <p:cNvPr id="10" name="Rectangle 6"/>
          <p:cNvSpPr>
            <a:spLocks noChangeArrowheads="1"/>
          </p:cNvSpPr>
          <p:nvPr/>
        </p:nvSpPr>
        <p:spPr bwMode="auto">
          <a:xfrm>
            <a:off x="468313" y="1146175"/>
            <a:ext cx="66246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3200" b="1" dirty="0">
                <a:solidFill>
                  <a:schemeClr val="folHlink"/>
                </a:solidFill>
                <a:latin typeface="楷体_GB2312" pitchFamily="49" charset="-122"/>
                <a:ea typeface="楷体_GB2312" pitchFamily="49" charset="-122"/>
              </a:rPr>
              <a:t>1</a:t>
            </a:r>
            <a:r>
              <a:rPr lang="zh-CN" altLang="en-US" sz="3200" b="1" dirty="0">
                <a:solidFill>
                  <a:schemeClr val="folHlink"/>
                </a:solidFill>
                <a:latin typeface="楷体_GB2312" pitchFamily="49" charset="-122"/>
                <a:ea typeface="楷体_GB2312" pitchFamily="49" charset="-122"/>
              </a:rPr>
              <a:t>、广群、半群及其性质</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41347"/>
                                        </p:tgtEl>
                                        <p:attrNameLst>
                                          <p:attrName>style.visibility</p:attrName>
                                        </p:attrNameLst>
                                      </p:cBhvr>
                                      <p:to>
                                        <p:strVal val="visible"/>
                                      </p:to>
                                    </p:set>
                                    <p:anim calcmode="lin" valueType="num">
                                      <p:cBhvr additive="base">
                                        <p:cTn id="7" dur="500" fill="hold"/>
                                        <p:tgtEl>
                                          <p:spTgt spid="441347"/>
                                        </p:tgtEl>
                                        <p:attrNameLst>
                                          <p:attrName>ppt_x</p:attrName>
                                        </p:attrNameLst>
                                      </p:cBhvr>
                                      <p:tavLst>
                                        <p:tav tm="0">
                                          <p:val>
                                            <p:strVal val="#ppt_x"/>
                                          </p:val>
                                        </p:tav>
                                        <p:tav tm="100000">
                                          <p:val>
                                            <p:strVal val="#ppt_x"/>
                                          </p:val>
                                        </p:tav>
                                      </p:tavLst>
                                    </p:anim>
                                    <p:anim calcmode="lin" valueType="num">
                                      <p:cBhvr additive="base">
                                        <p:cTn id="8" dur="500" fill="hold"/>
                                        <p:tgtEl>
                                          <p:spTgt spid="44134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41351"/>
                                        </p:tgtEl>
                                        <p:attrNameLst>
                                          <p:attrName>style.visibility</p:attrName>
                                        </p:attrNameLst>
                                      </p:cBhvr>
                                      <p:to>
                                        <p:strVal val="visible"/>
                                      </p:to>
                                    </p:set>
                                    <p:anim calcmode="lin" valueType="num">
                                      <p:cBhvr additive="base">
                                        <p:cTn id="13" dur="500" fill="hold"/>
                                        <p:tgtEl>
                                          <p:spTgt spid="441351"/>
                                        </p:tgtEl>
                                        <p:attrNameLst>
                                          <p:attrName>ppt_x</p:attrName>
                                        </p:attrNameLst>
                                      </p:cBhvr>
                                      <p:tavLst>
                                        <p:tav tm="0">
                                          <p:val>
                                            <p:strVal val="#ppt_x"/>
                                          </p:val>
                                        </p:tav>
                                        <p:tav tm="100000">
                                          <p:val>
                                            <p:strVal val="#ppt_x"/>
                                          </p:val>
                                        </p:tav>
                                      </p:tavLst>
                                    </p:anim>
                                    <p:anim calcmode="lin" valueType="num">
                                      <p:cBhvr additive="base">
                                        <p:cTn id="14" dur="500" fill="hold"/>
                                        <p:tgtEl>
                                          <p:spTgt spid="441351"/>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41352"/>
                                        </p:tgtEl>
                                        <p:attrNameLst>
                                          <p:attrName>style.visibility</p:attrName>
                                        </p:attrNameLst>
                                      </p:cBhvr>
                                      <p:to>
                                        <p:strVal val="visible"/>
                                      </p:to>
                                    </p:set>
                                    <p:anim calcmode="lin" valueType="num">
                                      <p:cBhvr additive="base">
                                        <p:cTn id="19" dur="500" fill="hold"/>
                                        <p:tgtEl>
                                          <p:spTgt spid="441352"/>
                                        </p:tgtEl>
                                        <p:attrNameLst>
                                          <p:attrName>ppt_x</p:attrName>
                                        </p:attrNameLst>
                                      </p:cBhvr>
                                      <p:tavLst>
                                        <p:tav tm="0">
                                          <p:val>
                                            <p:strVal val="#ppt_x"/>
                                          </p:val>
                                        </p:tav>
                                        <p:tav tm="100000">
                                          <p:val>
                                            <p:strVal val="#ppt_x"/>
                                          </p:val>
                                        </p:tav>
                                      </p:tavLst>
                                    </p:anim>
                                    <p:anim calcmode="lin" valueType="num">
                                      <p:cBhvr additive="base">
                                        <p:cTn id="20" dur="500" fill="hold"/>
                                        <p:tgtEl>
                                          <p:spTgt spid="4413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347" grpId="0"/>
      <p:bldP spid="441351" grpId="0"/>
      <p:bldP spid="44135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2"/>
          <p:cNvSpPr>
            <a:spLocks noGrp="1"/>
          </p:cNvSpPr>
          <p:nvPr>
            <p:ph type="sldNum" sz="quarter" idx="11"/>
          </p:nvPr>
        </p:nvSpPr>
        <p:spPr/>
        <p:txBody>
          <a:bodyPr/>
          <a:lstStyle/>
          <a:p>
            <a:fld id="{CD15CDA1-CD8D-423A-B7A3-5CC363BBB2CD}" type="slidenum">
              <a:rPr lang="en-US" altLang="zh-CN"/>
              <a:pPr/>
              <a:t>32</a:t>
            </a:fld>
            <a:endParaRPr lang="en-US" altLang="zh-CN"/>
          </a:p>
        </p:txBody>
      </p:sp>
      <p:sp>
        <p:nvSpPr>
          <p:cNvPr id="506884" name="Text Box 4"/>
          <p:cNvSpPr txBox="1">
            <a:spLocks noChangeArrowheads="1"/>
          </p:cNvSpPr>
          <p:nvPr/>
        </p:nvSpPr>
        <p:spPr bwMode="auto">
          <a:xfrm>
            <a:off x="466725" y="981075"/>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lnSpc>
                <a:spcPct val="130000"/>
              </a:lnSpc>
            </a:pPr>
            <a:r>
              <a:rPr lang="zh-CN" altLang="en-US" b="1">
                <a:solidFill>
                  <a:srgbClr val="FF0000"/>
                </a:solidFill>
              </a:rPr>
              <a:t>定理</a:t>
            </a:r>
            <a:r>
              <a:rPr lang="en-US" altLang="zh-CN" b="1">
                <a:solidFill>
                  <a:srgbClr val="FF0000"/>
                </a:solidFill>
              </a:rPr>
              <a:t>5-3.3</a:t>
            </a:r>
            <a:r>
              <a:rPr lang="zh-CN" altLang="en-US" b="1">
                <a:solidFill>
                  <a:srgbClr val="FF0000"/>
                </a:solidFill>
              </a:rPr>
              <a:t>：</a:t>
            </a:r>
            <a:r>
              <a:rPr lang="zh-CN" altLang="en-US" b="1"/>
              <a:t>设</a:t>
            </a:r>
            <a:r>
              <a:rPr lang="en-US" altLang="zh-CN" b="1"/>
              <a:t>&lt;S, *&gt;</a:t>
            </a:r>
            <a:r>
              <a:rPr lang="zh-CN" altLang="en-US" b="1"/>
              <a:t>是一个独异点，则在关于运算*的运算表中任何两行或两列都是不相同的。</a:t>
            </a:r>
          </a:p>
        </p:txBody>
      </p:sp>
      <p:grpSp>
        <p:nvGrpSpPr>
          <p:cNvPr id="506898" name="Group 18"/>
          <p:cNvGrpSpPr>
            <a:grpSpLocks/>
          </p:cNvGrpSpPr>
          <p:nvPr/>
        </p:nvGrpSpPr>
        <p:grpSpPr bwMode="auto">
          <a:xfrm>
            <a:off x="1619250" y="2060575"/>
            <a:ext cx="5183188" cy="2744788"/>
            <a:chOff x="794" y="2187"/>
            <a:chExt cx="3265" cy="1729"/>
          </a:xfrm>
        </p:grpSpPr>
        <p:sp>
          <p:nvSpPr>
            <p:cNvPr id="506899" name="Text Box 19"/>
            <p:cNvSpPr txBox="1">
              <a:spLocks noChangeArrowheads="1"/>
            </p:cNvSpPr>
            <p:nvPr/>
          </p:nvSpPr>
          <p:spPr bwMode="auto">
            <a:xfrm>
              <a:off x="796" y="2473"/>
              <a:ext cx="387" cy="1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lnSpc>
                  <a:spcPct val="120000"/>
                </a:lnSpc>
              </a:pPr>
              <a:r>
                <a:rPr kumimoji="0" lang="en-US" altLang="zh-CN" b="1"/>
                <a:t>…</a:t>
              </a:r>
            </a:p>
            <a:p>
              <a:pPr algn="l" eaLnBrk="0" hangingPunct="0">
                <a:lnSpc>
                  <a:spcPct val="120000"/>
                </a:lnSpc>
              </a:pPr>
              <a:r>
                <a:rPr kumimoji="0" lang="en-US" altLang="zh-CN" b="1"/>
                <a:t>a</a:t>
              </a:r>
              <a:endParaRPr kumimoji="0" lang="en-US" altLang="zh-CN" b="1" baseline="-25000"/>
            </a:p>
            <a:p>
              <a:pPr algn="l" eaLnBrk="0" hangingPunct="0">
                <a:lnSpc>
                  <a:spcPct val="120000"/>
                </a:lnSpc>
              </a:pPr>
              <a:r>
                <a:rPr kumimoji="0" lang="en-US" altLang="zh-CN" b="1"/>
                <a:t>…</a:t>
              </a:r>
            </a:p>
            <a:p>
              <a:pPr algn="l" eaLnBrk="0" hangingPunct="0">
                <a:lnSpc>
                  <a:spcPct val="120000"/>
                </a:lnSpc>
              </a:pPr>
              <a:r>
                <a:rPr kumimoji="0" lang="en-US" altLang="zh-CN" b="1"/>
                <a:t>b</a:t>
              </a:r>
            </a:p>
            <a:p>
              <a:pPr algn="l" eaLnBrk="0" hangingPunct="0">
                <a:lnSpc>
                  <a:spcPct val="120000"/>
                </a:lnSpc>
              </a:pPr>
              <a:r>
                <a:rPr kumimoji="0" lang="en-US" altLang="zh-CN" b="1"/>
                <a:t>…</a:t>
              </a:r>
            </a:p>
          </p:txBody>
        </p:sp>
        <p:sp>
          <p:nvSpPr>
            <p:cNvPr id="506900" name="Text Box 20"/>
            <p:cNvSpPr txBox="1">
              <a:spLocks noChangeArrowheads="1"/>
            </p:cNvSpPr>
            <p:nvPr/>
          </p:nvSpPr>
          <p:spPr bwMode="auto">
            <a:xfrm>
              <a:off x="814" y="2187"/>
              <a:ext cx="3176" cy="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lnSpc>
                  <a:spcPct val="120000"/>
                </a:lnSpc>
              </a:pPr>
              <a:r>
                <a:rPr lang="en-US" altLang="zh-CN" b="1"/>
                <a:t>*</a:t>
              </a:r>
              <a:r>
                <a:rPr kumimoji="0" lang="en-US" altLang="zh-CN" b="1"/>
                <a:t>          …         </a:t>
              </a:r>
              <a:r>
                <a:rPr kumimoji="0" lang="en-US" altLang="zh-CN" b="1">
                  <a:solidFill>
                    <a:srgbClr val="FF0000"/>
                  </a:solidFill>
                </a:rPr>
                <a:t> e </a:t>
              </a:r>
              <a:r>
                <a:rPr kumimoji="0" lang="en-US" altLang="zh-CN" b="1"/>
                <a:t>           …</a:t>
              </a:r>
            </a:p>
          </p:txBody>
        </p:sp>
        <p:sp>
          <p:nvSpPr>
            <p:cNvPr id="506901" name="Line 21"/>
            <p:cNvSpPr>
              <a:spLocks noChangeShapeType="1"/>
            </p:cNvSpPr>
            <p:nvPr/>
          </p:nvSpPr>
          <p:spPr bwMode="auto">
            <a:xfrm>
              <a:off x="794" y="2504"/>
              <a:ext cx="260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06902" name="Line 22"/>
            <p:cNvSpPr>
              <a:spLocks noChangeShapeType="1"/>
            </p:cNvSpPr>
            <p:nvPr/>
          </p:nvSpPr>
          <p:spPr bwMode="auto">
            <a:xfrm>
              <a:off x="1087" y="2297"/>
              <a:ext cx="0" cy="15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06903" name="Text Box 23"/>
            <p:cNvSpPr txBox="1">
              <a:spLocks noChangeArrowheads="1"/>
            </p:cNvSpPr>
            <p:nvPr/>
          </p:nvSpPr>
          <p:spPr bwMode="auto">
            <a:xfrm>
              <a:off x="1144" y="2478"/>
              <a:ext cx="2915" cy="1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lnSpc>
                  <a:spcPct val="120000"/>
                </a:lnSpc>
              </a:pPr>
              <a:r>
                <a:rPr kumimoji="0" lang="en-US" altLang="zh-CN" b="1"/>
                <a:t>                   …</a:t>
              </a:r>
            </a:p>
            <a:p>
              <a:pPr algn="l" eaLnBrk="0" hangingPunct="0">
                <a:lnSpc>
                  <a:spcPct val="120000"/>
                </a:lnSpc>
              </a:pPr>
              <a:r>
                <a:rPr kumimoji="0" lang="en-US" altLang="zh-CN" b="1"/>
                <a:t>                    </a:t>
              </a:r>
              <a:r>
                <a:rPr kumimoji="0" lang="en-US" altLang="zh-CN" b="1">
                  <a:solidFill>
                    <a:srgbClr val="FF0000"/>
                  </a:solidFill>
                </a:rPr>
                <a:t>a</a:t>
              </a:r>
            </a:p>
            <a:p>
              <a:pPr algn="l" eaLnBrk="0" hangingPunct="0">
                <a:lnSpc>
                  <a:spcPct val="120000"/>
                </a:lnSpc>
              </a:pPr>
              <a:r>
                <a:rPr kumimoji="0" lang="en-US" altLang="zh-CN" b="1"/>
                <a:t>                   …</a:t>
              </a:r>
            </a:p>
            <a:p>
              <a:pPr algn="l" eaLnBrk="0" hangingPunct="0">
                <a:lnSpc>
                  <a:spcPct val="120000"/>
                </a:lnSpc>
              </a:pPr>
              <a:r>
                <a:rPr kumimoji="0" lang="en-US" altLang="zh-CN" b="1"/>
                <a:t>                   </a:t>
              </a:r>
              <a:r>
                <a:rPr kumimoji="0" lang="en-US" altLang="zh-CN" b="1">
                  <a:solidFill>
                    <a:schemeClr val="hlink"/>
                  </a:solidFill>
                </a:rPr>
                <a:t> </a:t>
              </a:r>
              <a:r>
                <a:rPr kumimoji="0" lang="en-US" altLang="zh-CN" b="1">
                  <a:solidFill>
                    <a:srgbClr val="FF0000"/>
                  </a:solidFill>
                </a:rPr>
                <a:t>b </a:t>
              </a:r>
              <a:r>
                <a:rPr kumimoji="0" lang="en-US" altLang="zh-CN" b="1"/>
                <a:t>               </a:t>
              </a:r>
            </a:p>
            <a:p>
              <a:pPr algn="l" eaLnBrk="0" hangingPunct="0">
                <a:lnSpc>
                  <a:spcPct val="120000"/>
                </a:lnSpc>
              </a:pPr>
              <a:r>
                <a:rPr kumimoji="0" lang="en-US" altLang="zh-CN" b="1"/>
                <a:t>                   …</a:t>
              </a:r>
            </a:p>
          </p:txBody>
        </p:sp>
      </p:gr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06898"/>
                                        </p:tgtEl>
                                        <p:attrNameLst>
                                          <p:attrName>style.visibility</p:attrName>
                                        </p:attrNameLst>
                                      </p:cBhvr>
                                      <p:to>
                                        <p:strVal val="visible"/>
                                      </p:to>
                                    </p:set>
                                    <p:anim calcmode="lin" valueType="num">
                                      <p:cBhvr additive="base">
                                        <p:cTn id="7" dur="500" fill="hold"/>
                                        <p:tgtEl>
                                          <p:spTgt spid="506898"/>
                                        </p:tgtEl>
                                        <p:attrNameLst>
                                          <p:attrName>ppt_x</p:attrName>
                                        </p:attrNameLst>
                                      </p:cBhvr>
                                      <p:tavLst>
                                        <p:tav tm="0">
                                          <p:val>
                                            <p:strVal val="#ppt_x"/>
                                          </p:val>
                                        </p:tav>
                                        <p:tav tm="100000">
                                          <p:val>
                                            <p:strVal val="#ppt_x"/>
                                          </p:val>
                                        </p:tav>
                                      </p:tavLst>
                                    </p:anim>
                                    <p:anim calcmode="lin" valueType="num">
                                      <p:cBhvr additive="base">
                                        <p:cTn id="8" dur="500" fill="hold"/>
                                        <p:tgtEl>
                                          <p:spTgt spid="5068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B74CCF46-F9E6-4942-B182-C880B4E6587E}" type="slidenum">
              <a:rPr lang="en-US" altLang="zh-CN"/>
              <a:pPr/>
              <a:t>33</a:t>
            </a:fld>
            <a:endParaRPr lang="en-US" altLang="zh-CN"/>
          </a:p>
        </p:txBody>
      </p:sp>
      <p:sp>
        <p:nvSpPr>
          <p:cNvPr id="442370" name="Text Box 2"/>
          <p:cNvSpPr txBox="1">
            <a:spLocks noChangeArrowheads="1"/>
          </p:cNvSpPr>
          <p:nvPr/>
        </p:nvSpPr>
        <p:spPr bwMode="auto">
          <a:xfrm>
            <a:off x="466725" y="981075"/>
            <a:ext cx="8277225" cy="388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lnSpc>
                <a:spcPct val="130000"/>
              </a:lnSpc>
            </a:pPr>
            <a:r>
              <a:rPr lang="zh-CN" altLang="en-US" b="1">
                <a:solidFill>
                  <a:schemeClr val="hlink"/>
                </a:solidFill>
              </a:rPr>
              <a:t>例</a:t>
            </a:r>
            <a:r>
              <a:rPr lang="en-US" altLang="zh-CN" b="1">
                <a:solidFill>
                  <a:schemeClr val="hlink"/>
                </a:solidFill>
              </a:rPr>
              <a:t>3</a:t>
            </a:r>
            <a:r>
              <a:rPr lang="zh-CN" altLang="en-US" b="1">
                <a:solidFill>
                  <a:schemeClr val="hlink"/>
                </a:solidFill>
              </a:rPr>
              <a:t>：</a:t>
            </a:r>
            <a:r>
              <a:rPr lang="zh-CN" altLang="en-US" b="1"/>
              <a:t>设</a:t>
            </a:r>
            <a:r>
              <a:rPr lang="en-US" altLang="zh-CN" b="1"/>
              <a:t>I</a:t>
            </a:r>
            <a:r>
              <a:rPr lang="zh-CN" altLang="en-US" b="1"/>
              <a:t>是整数集合，</a:t>
            </a:r>
            <a:r>
              <a:rPr lang="en-US" altLang="zh-CN" b="1"/>
              <a:t>m</a:t>
            </a:r>
            <a:r>
              <a:rPr lang="zh-CN" altLang="en-US" b="1"/>
              <a:t>是任意正整数， </a:t>
            </a:r>
            <a:r>
              <a:rPr lang="en-US" altLang="zh-CN" b="1"/>
              <a:t>Z</a:t>
            </a:r>
            <a:r>
              <a:rPr lang="en-US" altLang="zh-CN" b="1" baseline="-30000"/>
              <a:t>m</a:t>
            </a:r>
            <a:r>
              <a:rPr lang="zh-CN" altLang="en-US" b="1"/>
              <a:t>是由模</a:t>
            </a:r>
            <a:r>
              <a:rPr lang="en-US" altLang="zh-CN" b="1"/>
              <a:t>m</a:t>
            </a:r>
            <a:r>
              <a:rPr lang="zh-CN" altLang="en-US" b="1"/>
              <a:t>的同余类组成的同余类集，在</a:t>
            </a:r>
            <a:r>
              <a:rPr lang="en-US" altLang="zh-CN" b="1"/>
              <a:t>Z</a:t>
            </a:r>
            <a:r>
              <a:rPr lang="en-US" altLang="zh-CN" b="1" baseline="-30000"/>
              <a:t>m</a:t>
            </a:r>
            <a:r>
              <a:rPr lang="zh-CN" altLang="en-US" b="1"/>
              <a:t>上定义两个二元运算</a:t>
            </a:r>
            <a:r>
              <a:rPr lang="en-US" altLang="zh-CN" b="1"/>
              <a:t>+</a:t>
            </a:r>
            <a:r>
              <a:rPr lang="en-US" altLang="zh-CN" b="1" baseline="-30000"/>
              <a:t>m</a:t>
            </a:r>
            <a:r>
              <a:rPr lang="zh-CN" altLang="en-US" b="1"/>
              <a:t>和</a:t>
            </a:r>
            <a:r>
              <a:rPr lang="en-US" altLang="zh-CN" b="1"/>
              <a:t>×</a:t>
            </a:r>
            <a:r>
              <a:rPr lang="en-US" altLang="zh-CN" b="1" baseline="-30000"/>
              <a:t>m</a:t>
            </a:r>
            <a:r>
              <a:rPr lang="zh-CN" altLang="en-US" b="1"/>
              <a:t>分别如下：</a:t>
            </a:r>
          </a:p>
          <a:p>
            <a:pPr algn="l">
              <a:lnSpc>
                <a:spcPct val="130000"/>
              </a:lnSpc>
            </a:pPr>
            <a:r>
              <a:rPr lang="zh-CN" altLang="en-US" b="1"/>
              <a:t>对于任意的</a:t>
            </a:r>
            <a:r>
              <a:rPr lang="en-US" altLang="zh-CN" b="1"/>
              <a:t>[i],[j] ∈ Z</a:t>
            </a:r>
            <a:r>
              <a:rPr lang="en-US" altLang="zh-CN" b="1" baseline="-30000"/>
              <a:t>m</a:t>
            </a:r>
            <a:endParaRPr lang="en-US" altLang="zh-CN" b="1"/>
          </a:p>
          <a:p>
            <a:pPr algn="l">
              <a:lnSpc>
                <a:spcPct val="130000"/>
              </a:lnSpc>
            </a:pPr>
            <a:r>
              <a:rPr lang="en-US" altLang="zh-CN" b="1"/>
              <a:t>         [i] +</a:t>
            </a:r>
            <a:r>
              <a:rPr lang="en-US" altLang="zh-CN" b="1" baseline="-30000"/>
              <a:t>m</a:t>
            </a:r>
            <a:r>
              <a:rPr lang="en-US" altLang="zh-CN" b="1"/>
              <a:t>[j] = [(i+j)(mod m)]</a:t>
            </a:r>
          </a:p>
          <a:p>
            <a:pPr algn="l">
              <a:lnSpc>
                <a:spcPct val="130000"/>
              </a:lnSpc>
            </a:pPr>
            <a:r>
              <a:rPr lang="en-US" altLang="zh-CN" b="1"/>
              <a:t>         [i] ×</a:t>
            </a:r>
            <a:r>
              <a:rPr lang="en-US" altLang="zh-CN" b="1" baseline="-30000"/>
              <a:t>m</a:t>
            </a:r>
            <a:r>
              <a:rPr lang="en-US" altLang="zh-CN" b="1"/>
              <a:t>[j] = [(i × j)(mod m)]</a:t>
            </a:r>
          </a:p>
          <a:p>
            <a:pPr algn="l">
              <a:lnSpc>
                <a:spcPct val="130000"/>
              </a:lnSpc>
            </a:pPr>
            <a:r>
              <a:rPr lang="zh-CN" altLang="en-US" b="1"/>
              <a:t>试证明在这两个二元运算的运算表中任何两行或两列都不相同。</a:t>
            </a:r>
          </a:p>
        </p:txBody>
      </p:sp>
    </p:spTree>
  </p:cSld>
  <p:clrMapOvr>
    <a:masterClrMapping/>
  </p:clrMapOvr>
  <p:transition spd="slow">
    <p:pull dir="ru"/>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fld id="{33C1847E-B5FE-45C9-B8AB-72B380FA9CF7}" type="slidenum">
              <a:rPr lang="en-US" altLang="zh-CN"/>
              <a:pPr/>
              <a:t>34</a:t>
            </a:fld>
            <a:endParaRPr lang="en-US" altLang="zh-CN"/>
          </a:p>
        </p:txBody>
      </p:sp>
      <p:sp>
        <p:nvSpPr>
          <p:cNvPr id="444418" name="Text Box 2"/>
          <p:cNvSpPr txBox="1">
            <a:spLocks noChangeArrowheads="1"/>
          </p:cNvSpPr>
          <p:nvPr/>
        </p:nvSpPr>
        <p:spPr bwMode="auto">
          <a:xfrm>
            <a:off x="466725" y="950913"/>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lang="zh-CN" altLang="en-US" b="1">
                <a:solidFill>
                  <a:srgbClr val="FF0000"/>
                </a:solidFill>
              </a:rPr>
              <a:t>定理</a:t>
            </a:r>
            <a:r>
              <a:rPr lang="en-US" altLang="zh-CN" b="1">
                <a:solidFill>
                  <a:srgbClr val="FF0000"/>
                </a:solidFill>
              </a:rPr>
              <a:t>5-3.4</a:t>
            </a:r>
            <a:r>
              <a:rPr lang="zh-CN" altLang="en-US" b="1">
                <a:solidFill>
                  <a:srgbClr val="FF0000"/>
                </a:solidFill>
              </a:rPr>
              <a:t>：</a:t>
            </a:r>
            <a:r>
              <a:rPr lang="zh-CN" altLang="en-US" b="1"/>
              <a:t>设</a:t>
            </a:r>
            <a:r>
              <a:rPr lang="en-US" altLang="zh-CN" b="1"/>
              <a:t>&lt;S, *&gt;</a:t>
            </a:r>
            <a:r>
              <a:rPr lang="zh-CN" altLang="en-US" b="1"/>
              <a:t>是独异点，对于任意</a:t>
            </a:r>
            <a:r>
              <a:rPr lang="en-US" altLang="zh-CN" b="1"/>
              <a:t>a, b∈S</a:t>
            </a:r>
            <a:r>
              <a:rPr lang="zh-CN" altLang="en-US" b="1"/>
              <a:t>，且</a:t>
            </a:r>
            <a:r>
              <a:rPr lang="en-US" altLang="zh-CN" b="1"/>
              <a:t>a, b</a:t>
            </a:r>
            <a:r>
              <a:rPr lang="zh-CN" altLang="en-US" b="1"/>
              <a:t>均有逆元，则 </a:t>
            </a:r>
            <a:r>
              <a:rPr lang="en-US" altLang="zh-CN" b="1"/>
              <a:t>a</a:t>
            </a:r>
            <a:r>
              <a:rPr lang="zh-CN" altLang="en-US" b="1"/>
              <a:t>）</a:t>
            </a:r>
            <a:r>
              <a:rPr lang="en-US" altLang="zh-CN" b="1"/>
              <a:t>(a</a:t>
            </a:r>
            <a:r>
              <a:rPr lang="en-US" altLang="zh-CN" b="1" baseline="30000"/>
              <a:t>-1</a:t>
            </a:r>
            <a:r>
              <a:rPr lang="en-US" altLang="zh-CN" b="1"/>
              <a:t>)</a:t>
            </a:r>
            <a:r>
              <a:rPr lang="en-US" altLang="zh-CN" b="1" baseline="30000"/>
              <a:t>-1</a:t>
            </a:r>
            <a:r>
              <a:rPr lang="en-US" altLang="zh-CN" b="1"/>
              <a:t>=a</a:t>
            </a:r>
            <a:r>
              <a:rPr lang="zh-CN" altLang="en-US" b="1"/>
              <a:t>；</a:t>
            </a:r>
            <a:r>
              <a:rPr lang="en-US" altLang="zh-CN" b="1"/>
              <a:t>b</a:t>
            </a:r>
            <a:r>
              <a:rPr lang="zh-CN" altLang="en-US" b="1"/>
              <a:t>）</a:t>
            </a:r>
            <a:r>
              <a:rPr lang="en-US" altLang="zh-CN" b="1"/>
              <a:t>a*b</a:t>
            </a:r>
            <a:r>
              <a:rPr lang="zh-CN" altLang="en-US" b="1"/>
              <a:t>有逆元，且</a:t>
            </a:r>
            <a:r>
              <a:rPr lang="en-US" altLang="zh-CN" b="1"/>
              <a:t>(a*b)</a:t>
            </a:r>
            <a:r>
              <a:rPr lang="en-US" altLang="zh-CN" b="1" baseline="30000"/>
              <a:t>-1</a:t>
            </a:r>
            <a:r>
              <a:rPr lang="en-US" altLang="zh-CN" b="1"/>
              <a:t>=b</a:t>
            </a:r>
            <a:r>
              <a:rPr lang="en-US" altLang="zh-CN" b="1" baseline="30000"/>
              <a:t>-1</a:t>
            </a:r>
            <a:r>
              <a:rPr lang="en-US" altLang="zh-CN" b="1"/>
              <a:t>*a</a:t>
            </a:r>
            <a:r>
              <a:rPr lang="en-US" altLang="zh-CN" b="1" baseline="30000"/>
              <a:t>-1</a:t>
            </a:r>
            <a:r>
              <a:rPr lang="zh-CN" altLang="en-US" b="1"/>
              <a:t>。</a:t>
            </a:r>
          </a:p>
        </p:txBody>
      </p:sp>
      <p:sp>
        <p:nvSpPr>
          <p:cNvPr id="444419" name="Text Box 3"/>
          <p:cNvSpPr txBox="1">
            <a:spLocks noChangeArrowheads="1"/>
          </p:cNvSpPr>
          <p:nvPr/>
        </p:nvSpPr>
        <p:spPr bwMode="auto">
          <a:xfrm>
            <a:off x="466725" y="1919288"/>
            <a:ext cx="8277225" cy="403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lang="zh-CN" altLang="en-US" b="1"/>
              <a:t>证明：</a:t>
            </a:r>
            <a:r>
              <a:rPr lang="en-US" altLang="zh-CN" b="1"/>
              <a:t>a) </a:t>
            </a:r>
            <a:r>
              <a:rPr lang="zh-CN" altLang="en-US" b="1"/>
              <a:t>因为</a:t>
            </a:r>
            <a:r>
              <a:rPr lang="en-US" altLang="zh-CN" b="1"/>
              <a:t>a</a:t>
            </a:r>
            <a:r>
              <a:rPr lang="en-US" altLang="zh-CN" b="1" baseline="30000"/>
              <a:t>-1</a:t>
            </a:r>
            <a:r>
              <a:rPr lang="zh-CN" altLang="en-US" b="1"/>
              <a:t>是</a:t>
            </a:r>
            <a:r>
              <a:rPr lang="en-US" altLang="zh-CN" b="1"/>
              <a:t>a</a:t>
            </a:r>
            <a:r>
              <a:rPr lang="zh-CN" altLang="en-US" b="1"/>
              <a:t>的逆元，即</a:t>
            </a:r>
          </a:p>
          <a:p>
            <a:pPr algn="l">
              <a:lnSpc>
                <a:spcPct val="120000"/>
              </a:lnSpc>
            </a:pPr>
            <a:r>
              <a:rPr lang="zh-CN" altLang="en-US" b="1"/>
              <a:t>                  </a:t>
            </a:r>
            <a:r>
              <a:rPr lang="en-US" altLang="zh-CN" b="1"/>
              <a:t>a*a</a:t>
            </a:r>
            <a:r>
              <a:rPr lang="en-US" altLang="zh-CN" b="1" baseline="30000"/>
              <a:t>-1</a:t>
            </a:r>
            <a:r>
              <a:rPr lang="en-US" altLang="zh-CN" b="1"/>
              <a:t>=a</a:t>
            </a:r>
            <a:r>
              <a:rPr lang="en-US" altLang="zh-CN" b="1" baseline="30000"/>
              <a:t>-1</a:t>
            </a:r>
            <a:r>
              <a:rPr lang="en-US" altLang="zh-CN" b="1"/>
              <a:t>*a=e</a:t>
            </a:r>
          </a:p>
          <a:p>
            <a:pPr algn="l">
              <a:lnSpc>
                <a:spcPct val="120000"/>
              </a:lnSpc>
            </a:pPr>
            <a:r>
              <a:rPr lang="en-US" altLang="zh-CN" b="1"/>
              <a:t>                  (a</a:t>
            </a:r>
            <a:r>
              <a:rPr lang="en-US" altLang="zh-CN" b="1" baseline="30000"/>
              <a:t>-1</a:t>
            </a:r>
            <a:r>
              <a:rPr lang="en-US" altLang="zh-CN" b="1"/>
              <a:t>)</a:t>
            </a:r>
            <a:r>
              <a:rPr lang="en-US" altLang="zh-CN" b="1" baseline="30000"/>
              <a:t> -1</a:t>
            </a:r>
            <a:r>
              <a:rPr lang="en-US" altLang="zh-CN" b="1"/>
              <a:t>=a</a:t>
            </a:r>
          </a:p>
          <a:p>
            <a:pPr algn="l">
              <a:lnSpc>
                <a:spcPct val="120000"/>
              </a:lnSpc>
            </a:pPr>
            <a:r>
              <a:rPr lang="en-US" altLang="zh-CN" b="1"/>
              <a:t>b)</a:t>
            </a:r>
            <a:r>
              <a:rPr lang="en-US" altLang="zh-CN" b="1">
                <a:cs typeface="Times New Roman" pitchFamily="18" charset="0"/>
              </a:rPr>
              <a:t> </a:t>
            </a:r>
            <a:r>
              <a:rPr lang="zh-CN" altLang="en-US" b="1"/>
              <a:t>因为</a:t>
            </a:r>
            <a:r>
              <a:rPr lang="en-US" altLang="zh-CN" b="1"/>
              <a:t>(a*b)* (b</a:t>
            </a:r>
            <a:r>
              <a:rPr lang="en-US" altLang="zh-CN" b="1" baseline="30000"/>
              <a:t>-1</a:t>
            </a:r>
            <a:r>
              <a:rPr lang="en-US" altLang="zh-CN" b="1"/>
              <a:t>* a</a:t>
            </a:r>
            <a:r>
              <a:rPr lang="en-US" altLang="zh-CN" b="1" baseline="30000"/>
              <a:t>-1</a:t>
            </a:r>
            <a:r>
              <a:rPr lang="en-US" altLang="zh-CN" b="1"/>
              <a:t>)</a:t>
            </a:r>
          </a:p>
          <a:p>
            <a:pPr algn="l">
              <a:lnSpc>
                <a:spcPct val="120000"/>
              </a:lnSpc>
            </a:pPr>
            <a:r>
              <a:rPr lang="en-US" altLang="zh-CN" b="1"/>
              <a:t>           =a* (b * b</a:t>
            </a:r>
            <a:r>
              <a:rPr lang="en-US" altLang="zh-CN" b="1" baseline="30000"/>
              <a:t>-1</a:t>
            </a:r>
            <a:r>
              <a:rPr lang="en-US" altLang="zh-CN" b="1"/>
              <a:t>)* a</a:t>
            </a:r>
            <a:r>
              <a:rPr lang="en-US" altLang="zh-CN" b="1" baseline="30000"/>
              <a:t>-1</a:t>
            </a:r>
          </a:p>
          <a:p>
            <a:pPr algn="l">
              <a:lnSpc>
                <a:spcPct val="120000"/>
              </a:lnSpc>
            </a:pPr>
            <a:r>
              <a:rPr lang="en-US" altLang="zh-CN" b="1" baseline="30000"/>
              <a:t>                </a:t>
            </a:r>
            <a:r>
              <a:rPr lang="en-US" altLang="zh-CN" b="1"/>
              <a:t>=a * e* a</a:t>
            </a:r>
            <a:r>
              <a:rPr lang="en-US" altLang="zh-CN" b="1" baseline="30000"/>
              <a:t>-1</a:t>
            </a:r>
          </a:p>
          <a:p>
            <a:pPr algn="l">
              <a:lnSpc>
                <a:spcPct val="120000"/>
              </a:lnSpc>
            </a:pPr>
            <a:r>
              <a:rPr lang="en-US" altLang="zh-CN" b="1" baseline="30000"/>
              <a:t>                </a:t>
            </a:r>
            <a:r>
              <a:rPr lang="en-US" altLang="zh-CN" b="1"/>
              <a:t>=a * a</a:t>
            </a:r>
            <a:r>
              <a:rPr lang="en-US" altLang="zh-CN" b="1" baseline="30000"/>
              <a:t>-1</a:t>
            </a:r>
            <a:r>
              <a:rPr lang="en-US" altLang="zh-CN" b="1"/>
              <a:t>=e</a:t>
            </a:r>
          </a:p>
          <a:p>
            <a:pPr algn="l">
              <a:lnSpc>
                <a:spcPct val="120000"/>
              </a:lnSpc>
            </a:pPr>
            <a:r>
              <a:rPr lang="zh-CN" altLang="en-US" b="1"/>
              <a:t>同理可证</a:t>
            </a:r>
            <a:r>
              <a:rPr lang="en-US" altLang="zh-CN" b="1"/>
              <a:t>(b</a:t>
            </a:r>
            <a:r>
              <a:rPr lang="en-US" altLang="zh-CN" b="1" baseline="30000"/>
              <a:t>-1 </a:t>
            </a:r>
            <a:r>
              <a:rPr lang="en-US" altLang="zh-CN" b="1"/>
              <a:t>* a</a:t>
            </a:r>
            <a:r>
              <a:rPr lang="en-US" altLang="zh-CN" b="1" baseline="30000"/>
              <a:t>-1</a:t>
            </a:r>
            <a:r>
              <a:rPr lang="en-US" altLang="zh-CN" b="1"/>
              <a:t>)*(a * b) = e</a:t>
            </a:r>
          </a:p>
          <a:p>
            <a:pPr algn="l">
              <a:lnSpc>
                <a:spcPct val="120000"/>
              </a:lnSpc>
            </a:pPr>
            <a:r>
              <a:rPr lang="zh-CN" altLang="en-US" b="1"/>
              <a:t>所以</a:t>
            </a:r>
            <a:r>
              <a:rPr lang="en-US" altLang="zh-CN" b="1"/>
              <a:t>(a * b)</a:t>
            </a:r>
            <a:r>
              <a:rPr lang="en-US" altLang="zh-CN" b="1" baseline="30000"/>
              <a:t>-1 </a:t>
            </a:r>
            <a:r>
              <a:rPr lang="en-US" altLang="zh-CN" b="1"/>
              <a:t>=  b</a:t>
            </a:r>
            <a:r>
              <a:rPr lang="en-US" altLang="zh-CN" b="1" baseline="30000"/>
              <a:t>-1 </a:t>
            </a:r>
            <a:r>
              <a:rPr lang="en-US" altLang="zh-CN" b="1"/>
              <a:t>* a</a:t>
            </a:r>
            <a:r>
              <a:rPr lang="en-US" altLang="zh-CN" b="1" baseline="30000"/>
              <a:t>-1</a:t>
            </a:r>
            <a:endParaRPr lang="en-US" altLang="zh-CN" b="1"/>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44419">
                                            <p:txEl>
                                              <p:pRg st="0" end="0"/>
                                            </p:txEl>
                                          </p:spTgt>
                                        </p:tgtEl>
                                        <p:attrNameLst>
                                          <p:attrName>style.visibility</p:attrName>
                                        </p:attrNameLst>
                                      </p:cBhvr>
                                      <p:to>
                                        <p:strVal val="visible"/>
                                      </p:to>
                                    </p:set>
                                    <p:anim calcmode="lin" valueType="num">
                                      <p:cBhvr additive="base">
                                        <p:cTn id="7" dur="500" fill="hold"/>
                                        <p:tgtEl>
                                          <p:spTgt spid="4444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444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44419">
                                            <p:txEl>
                                              <p:pRg st="1" end="1"/>
                                            </p:txEl>
                                          </p:spTgt>
                                        </p:tgtEl>
                                        <p:attrNameLst>
                                          <p:attrName>style.visibility</p:attrName>
                                        </p:attrNameLst>
                                      </p:cBhvr>
                                      <p:to>
                                        <p:strVal val="visible"/>
                                      </p:to>
                                    </p:set>
                                    <p:anim calcmode="lin" valueType="num">
                                      <p:cBhvr additive="base">
                                        <p:cTn id="13" dur="500" fill="hold"/>
                                        <p:tgtEl>
                                          <p:spTgt spid="44441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4441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44419">
                                            <p:txEl>
                                              <p:pRg st="2" end="2"/>
                                            </p:txEl>
                                          </p:spTgt>
                                        </p:tgtEl>
                                        <p:attrNameLst>
                                          <p:attrName>style.visibility</p:attrName>
                                        </p:attrNameLst>
                                      </p:cBhvr>
                                      <p:to>
                                        <p:strVal val="visible"/>
                                      </p:to>
                                    </p:set>
                                    <p:anim calcmode="lin" valueType="num">
                                      <p:cBhvr additive="base">
                                        <p:cTn id="19" dur="500" fill="hold"/>
                                        <p:tgtEl>
                                          <p:spTgt spid="44441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4441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444419">
                                            <p:txEl>
                                              <p:pRg st="3" end="3"/>
                                            </p:txEl>
                                          </p:spTgt>
                                        </p:tgtEl>
                                        <p:attrNameLst>
                                          <p:attrName>style.visibility</p:attrName>
                                        </p:attrNameLst>
                                      </p:cBhvr>
                                      <p:to>
                                        <p:strVal val="visible"/>
                                      </p:to>
                                    </p:set>
                                    <p:anim calcmode="lin" valueType="num">
                                      <p:cBhvr additive="base">
                                        <p:cTn id="25" dur="500" fill="hold"/>
                                        <p:tgtEl>
                                          <p:spTgt spid="44441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4441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444419">
                                            <p:txEl>
                                              <p:pRg st="4" end="4"/>
                                            </p:txEl>
                                          </p:spTgt>
                                        </p:tgtEl>
                                        <p:attrNameLst>
                                          <p:attrName>style.visibility</p:attrName>
                                        </p:attrNameLst>
                                      </p:cBhvr>
                                      <p:to>
                                        <p:strVal val="visible"/>
                                      </p:to>
                                    </p:set>
                                    <p:anim calcmode="lin" valueType="num">
                                      <p:cBhvr additive="base">
                                        <p:cTn id="31" dur="500" fill="hold"/>
                                        <p:tgtEl>
                                          <p:spTgt spid="44441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4441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444419">
                                            <p:txEl>
                                              <p:pRg st="5" end="5"/>
                                            </p:txEl>
                                          </p:spTgt>
                                        </p:tgtEl>
                                        <p:attrNameLst>
                                          <p:attrName>style.visibility</p:attrName>
                                        </p:attrNameLst>
                                      </p:cBhvr>
                                      <p:to>
                                        <p:strVal val="visible"/>
                                      </p:to>
                                    </p:set>
                                    <p:anim calcmode="lin" valueType="num">
                                      <p:cBhvr additive="base">
                                        <p:cTn id="37" dur="500" fill="hold"/>
                                        <p:tgtEl>
                                          <p:spTgt spid="44441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4441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444419">
                                            <p:txEl>
                                              <p:pRg st="6" end="6"/>
                                            </p:txEl>
                                          </p:spTgt>
                                        </p:tgtEl>
                                        <p:attrNameLst>
                                          <p:attrName>style.visibility</p:attrName>
                                        </p:attrNameLst>
                                      </p:cBhvr>
                                      <p:to>
                                        <p:strVal val="visible"/>
                                      </p:to>
                                    </p:set>
                                    <p:anim calcmode="lin" valueType="num">
                                      <p:cBhvr additive="base">
                                        <p:cTn id="43" dur="500" fill="hold"/>
                                        <p:tgtEl>
                                          <p:spTgt spid="444419">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4441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444419">
                                            <p:txEl>
                                              <p:pRg st="7" end="7"/>
                                            </p:txEl>
                                          </p:spTgt>
                                        </p:tgtEl>
                                        <p:attrNameLst>
                                          <p:attrName>style.visibility</p:attrName>
                                        </p:attrNameLst>
                                      </p:cBhvr>
                                      <p:to>
                                        <p:strVal val="visible"/>
                                      </p:to>
                                    </p:set>
                                    <p:anim calcmode="lin" valueType="num">
                                      <p:cBhvr additive="base">
                                        <p:cTn id="49" dur="500" fill="hold"/>
                                        <p:tgtEl>
                                          <p:spTgt spid="444419">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44419">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nodeType="clickEffect">
                                  <p:stCondLst>
                                    <p:cond delay="0"/>
                                  </p:stCondLst>
                                  <p:childTnLst>
                                    <p:set>
                                      <p:cBhvr>
                                        <p:cTn id="54" dur="1" fill="hold">
                                          <p:stCondLst>
                                            <p:cond delay="0"/>
                                          </p:stCondLst>
                                        </p:cTn>
                                        <p:tgtEl>
                                          <p:spTgt spid="444419">
                                            <p:txEl>
                                              <p:pRg st="8" end="8"/>
                                            </p:txEl>
                                          </p:spTgt>
                                        </p:tgtEl>
                                        <p:attrNameLst>
                                          <p:attrName>style.visibility</p:attrName>
                                        </p:attrNameLst>
                                      </p:cBhvr>
                                      <p:to>
                                        <p:strVal val="visible"/>
                                      </p:to>
                                    </p:set>
                                    <p:anim calcmode="lin" valueType="num">
                                      <p:cBhvr additive="base">
                                        <p:cTn id="55" dur="500" fill="hold"/>
                                        <p:tgtEl>
                                          <p:spTgt spid="444419">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4441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1"/>
          </p:nvPr>
        </p:nvSpPr>
        <p:spPr/>
        <p:txBody>
          <a:bodyPr/>
          <a:lstStyle/>
          <a:p>
            <a:fld id="{3E01D920-D257-4159-8E93-DA19AA45A4EB}" type="slidenum">
              <a:rPr lang="en-US" altLang="zh-CN"/>
              <a:pPr/>
              <a:t>35</a:t>
            </a:fld>
            <a:endParaRPr lang="en-US" altLang="zh-CN"/>
          </a:p>
        </p:txBody>
      </p:sp>
      <p:sp>
        <p:nvSpPr>
          <p:cNvPr id="445442" name="Text Box 2"/>
          <p:cNvSpPr txBox="1">
            <a:spLocks noChangeArrowheads="1"/>
          </p:cNvSpPr>
          <p:nvPr/>
        </p:nvSpPr>
        <p:spPr bwMode="auto">
          <a:xfrm>
            <a:off x="466725" y="1017588"/>
            <a:ext cx="8277225" cy="4522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kumimoji="1" sz="2400">
                <a:solidFill>
                  <a:schemeClr val="tx1"/>
                </a:solidFill>
                <a:latin typeface="Times New Roman" pitchFamily="18" charset="0"/>
                <a:ea typeface="宋体" pitchFamily="2" charset="-122"/>
              </a:defRPr>
            </a:lvl1pPr>
            <a:lvl2pPr marL="1412875" indent="-609600" algn="l">
              <a:defRPr kumimoji="1" sz="2400">
                <a:solidFill>
                  <a:schemeClr val="tx1"/>
                </a:solidFill>
                <a:latin typeface="Times New Roman" pitchFamily="18" charset="0"/>
                <a:ea typeface="宋体" pitchFamily="2" charset="-122"/>
              </a:defRPr>
            </a:lvl2pPr>
            <a:lvl3pPr marL="2201863" indent="-609600" algn="l">
              <a:defRPr kumimoji="1" sz="2400">
                <a:solidFill>
                  <a:schemeClr val="tx1"/>
                </a:solidFill>
                <a:latin typeface="Times New Roman" pitchFamily="18" charset="0"/>
                <a:ea typeface="宋体" pitchFamily="2" charset="-122"/>
              </a:defRPr>
            </a:lvl3pPr>
            <a:lvl4pPr marL="2990850" indent="-609600" algn="l">
              <a:defRPr kumimoji="1" sz="2400">
                <a:solidFill>
                  <a:schemeClr val="tx1"/>
                </a:solidFill>
                <a:latin typeface="Times New Roman" pitchFamily="18" charset="0"/>
                <a:ea typeface="宋体" pitchFamily="2" charset="-122"/>
              </a:defRPr>
            </a:lvl4pPr>
            <a:lvl5pPr marL="3779838" indent="-609600" algn="l">
              <a:defRPr kumimoji="1" sz="2400">
                <a:solidFill>
                  <a:schemeClr val="tx1"/>
                </a:solidFill>
                <a:latin typeface="Times New Roman" pitchFamily="18" charset="0"/>
                <a:ea typeface="宋体" pitchFamily="2" charset="-122"/>
              </a:defRPr>
            </a:lvl5pPr>
            <a:lvl6pPr marL="4237038" indent="-609600" fontAlgn="base">
              <a:spcBef>
                <a:spcPct val="0"/>
              </a:spcBef>
              <a:spcAft>
                <a:spcPct val="0"/>
              </a:spcAft>
              <a:defRPr kumimoji="1" sz="2400">
                <a:solidFill>
                  <a:schemeClr val="tx1"/>
                </a:solidFill>
                <a:latin typeface="Times New Roman" pitchFamily="18" charset="0"/>
                <a:ea typeface="宋体" pitchFamily="2" charset="-122"/>
              </a:defRPr>
            </a:lvl6pPr>
            <a:lvl7pPr marL="4694238" indent="-609600" fontAlgn="base">
              <a:spcBef>
                <a:spcPct val="0"/>
              </a:spcBef>
              <a:spcAft>
                <a:spcPct val="0"/>
              </a:spcAft>
              <a:defRPr kumimoji="1" sz="2400">
                <a:solidFill>
                  <a:schemeClr val="tx1"/>
                </a:solidFill>
                <a:latin typeface="Times New Roman" pitchFamily="18" charset="0"/>
                <a:ea typeface="宋体" pitchFamily="2" charset="-122"/>
              </a:defRPr>
            </a:lvl7pPr>
            <a:lvl8pPr marL="5151438" indent="-609600" fontAlgn="base">
              <a:spcBef>
                <a:spcPct val="0"/>
              </a:spcBef>
              <a:spcAft>
                <a:spcPct val="0"/>
              </a:spcAft>
              <a:defRPr kumimoji="1" sz="2400">
                <a:solidFill>
                  <a:schemeClr val="tx1"/>
                </a:solidFill>
                <a:latin typeface="Times New Roman" pitchFamily="18" charset="0"/>
                <a:ea typeface="宋体" pitchFamily="2" charset="-122"/>
              </a:defRPr>
            </a:lvl8pPr>
            <a:lvl9pPr marL="5608638" indent="-6096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30000"/>
              </a:lnSpc>
            </a:pPr>
            <a:r>
              <a:rPr lang="en-US" altLang="zh-CN" sz="3200" b="1">
                <a:solidFill>
                  <a:schemeClr val="folHlink"/>
                </a:solidFill>
                <a:latin typeface="楷体_GB2312" pitchFamily="49" charset="-122"/>
                <a:ea typeface="楷体_GB2312" pitchFamily="49" charset="-122"/>
              </a:rPr>
              <a:t>1</a:t>
            </a:r>
            <a:r>
              <a:rPr lang="zh-CN" altLang="en-US" sz="3200" b="1">
                <a:solidFill>
                  <a:schemeClr val="folHlink"/>
                </a:solidFill>
                <a:latin typeface="楷体_GB2312" pitchFamily="49" charset="-122"/>
                <a:ea typeface="楷体_GB2312" pitchFamily="49" charset="-122"/>
              </a:rPr>
              <a:t>、群及其性质</a:t>
            </a:r>
          </a:p>
          <a:p>
            <a:pPr>
              <a:lnSpc>
                <a:spcPct val="130000"/>
              </a:lnSpc>
            </a:pPr>
            <a:r>
              <a:rPr lang="en-US" altLang="zh-CN" b="1">
                <a:solidFill>
                  <a:schemeClr val="hlink"/>
                </a:solidFill>
              </a:rPr>
              <a:t>1)</a:t>
            </a:r>
            <a:r>
              <a:rPr lang="zh-CN" altLang="en-US" b="1">
                <a:solidFill>
                  <a:schemeClr val="hlink"/>
                </a:solidFill>
              </a:rPr>
              <a:t>基本概念</a:t>
            </a:r>
            <a:r>
              <a:rPr lang="en-US" altLang="zh-CN" b="1">
                <a:solidFill>
                  <a:schemeClr val="hlink"/>
                </a:solidFill>
              </a:rPr>
              <a:t>(</a:t>
            </a:r>
            <a:r>
              <a:rPr lang="zh-CN" altLang="en-US" b="1">
                <a:solidFill>
                  <a:schemeClr val="hlink"/>
                </a:solidFill>
              </a:rPr>
              <a:t>群、有限群、无限群</a:t>
            </a:r>
            <a:r>
              <a:rPr lang="en-US" altLang="zh-CN" b="1">
                <a:solidFill>
                  <a:schemeClr val="hlink"/>
                </a:solidFill>
              </a:rPr>
              <a:t>)</a:t>
            </a:r>
          </a:p>
          <a:p>
            <a:pPr>
              <a:lnSpc>
                <a:spcPct val="130000"/>
              </a:lnSpc>
            </a:pPr>
            <a:r>
              <a:rPr lang="zh-CN" altLang="en-US" b="1">
                <a:solidFill>
                  <a:srgbClr val="FF0000"/>
                </a:solidFill>
              </a:rPr>
              <a:t>定义</a:t>
            </a:r>
            <a:r>
              <a:rPr lang="en-US" altLang="zh-CN" b="1">
                <a:solidFill>
                  <a:srgbClr val="FF0000"/>
                </a:solidFill>
              </a:rPr>
              <a:t>5-4.1</a:t>
            </a:r>
            <a:r>
              <a:rPr lang="zh-CN" altLang="en-US" b="1">
                <a:solidFill>
                  <a:srgbClr val="FF0000"/>
                </a:solidFill>
              </a:rPr>
              <a:t>：</a:t>
            </a:r>
            <a:r>
              <a:rPr lang="zh-CN" altLang="en-US" b="1"/>
              <a:t>设</a:t>
            </a:r>
            <a:r>
              <a:rPr lang="en-US" altLang="zh-CN" b="1"/>
              <a:t>&lt;G,*&gt;</a:t>
            </a:r>
            <a:r>
              <a:rPr lang="zh-CN" altLang="en-US" b="1"/>
              <a:t>是代数系统，其中</a:t>
            </a:r>
            <a:r>
              <a:rPr lang="en-US" altLang="zh-CN" b="1"/>
              <a:t>G</a:t>
            </a:r>
            <a:r>
              <a:rPr lang="zh-CN" altLang="en-US" b="1"/>
              <a:t>是非空集合，*是</a:t>
            </a:r>
            <a:r>
              <a:rPr lang="en-US" altLang="zh-CN" b="1"/>
              <a:t>G</a:t>
            </a:r>
            <a:r>
              <a:rPr lang="zh-CN" altLang="en-US" b="1"/>
              <a:t>上的二元运算，如果</a:t>
            </a:r>
          </a:p>
          <a:p>
            <a:pPr>
              <a:lnSpc>
                <a:spcPct val="130000"/>
              </a:lnSpc>
            </a:pPr>
            <a:r>
              <a:rPr lang="zh-CN" altLang="en-US" b="1"/>
              <a:t>     </a:t>
            </a:r>
            <a:r>
              <a:rPr lang="en-US" altLang="zh-CN" b="1"/>
              <a:t>(1)</a:t>
            </a:r>
            <a:r>
              <a:rPr lang="zh-CN" altLang="en-US" b="1"/>
              <a:t>运算*是封闭的；</a:t>
            </a:r>
          </a:p>
          <a:p>
            <a:pPr>
              <a:lnSpc>
                <a:spcPct val="130000"/>
              </a:lnSpc>
            </a:pPr>
            <a:r>
              <a:rPr lang="zh-CN" altLang="en-US" b="1"/>
              <a:t>     </a:t>
            </a:r>
            <a:r>
              <a:rPr lang="en-US" altLang="zh-CN" b="1"/>
              <a:t>(2)</a:t>
            </a:r>
            <a:r>
              <a:rPr lang="zh-CN" altLang="en-US" b="1"/>
              <a:t>运算*是可结合的；</a:t>
            </a:r>
          </a:p>
          <a:p>
            <a:pPr>
              <a:lnSpc>
                <a:spcPct val="130000"/>
              </a:lnSpc>
            </a:pPr>
            <a:r>
              <a:rPr lang="zh-CN" altLang="en-US" b="1"/>
              <a:t>     </a:t>
            </a:r>
            <a:r>
              <a:rPr lang="en-US" altLang="zh-CN" b="1"/>
              <a:t>(3)</a:t>
            </a:r>
            <a:r>
              <a:rPr lang="zh-CN" altLang="en-US" b="1"/>
              <a:t>存在幺元；</a:t>
            </a:r>
          </a:p>
          <a:p>
            <a:pPr>
              <a:lnSpc>
                <a:spcPct val="130000"/>
              </a:lnSpc>
            </a:pPr>
            <a:r>
              <a:rPr lang="zh-CN" altLang="en-US" b="1"/>
              <a:t>     </a:t>
            </a:r>
            <a:r>
              <a:rPr lang="en-US" altLang="zh-CN" b="1"/>
              <a:t>(4)</a:t>
            </a:r>
            <a:r>
              <a:rPr lang="zh-CN" altLang="en-US" b="1"/>
              <a:t>对于每一个元素</a:t>
            </a:r>
            <a:r>
              <a:rPr lang="en-US" altLang="zh-CN" b="1"/>
              <a:t>x∈G</a:t>
            </a:r>
            <a:r>
              <a:rPr lang="zh-CN" altLang="en-US" b="1"/>
              <a:t>，存在着它的逆元 </a:t>
            </a:r>
            <a:r>
              <a:rPr lang="en-US" altLang="zh-CN" b="1"/>
              <a:t>x</a:t>
            </a:r>
            <a:r>
              <a:rPr lang="en-US" altLang="zh-CN" b="1" baseline="30000"/>
              <a:t>-1</a:t>
            </a:r>
            <a:r>
              <a:rPr lang="en-US" altLang="zh-CN" b="1"/>
              <a:t>∈G</a:t>
            </a:r>
            <a:r>
              <a:rPr lang="zh-CN" altLang="en-US" b="1"/>
              <a:t>；</a:t>
            </a:r>
          </a:p>
          <a:p>
            <a:pPr>
              <a:lnSpc>
                <a:spcPct val="130000"/>
              </a:lnSpc>
            </a:pPr>
            <a:r>
              <a:rPr lang="zh-CN" altLang="en-US" b="1"/>
              <a:t>则称</a:t>
            </a:r>
            <a:r>
              <a:rPr lang="en-US" altLang="zh-CN" b="1"/>
              <a:t>&lt;G, *&gt;</a:t>
            </a:r>
            <a:r>
              <a:rPr lang="zh-CN" altLang="en-US" b="1"/>
              <a:t>是一个</a:t>
            </a:r>
            <a:r>
              <a:rPr lang="zh-CN" altLang="en-US" b="1" i="1">
                <a:solidFill>
                  <a:srgbClr val="FF0000"/>
                </a:solidFill>
              </a:rPr>
              <a:t>群</a:t>
            </a:r>
            <a:r>
              <a:rPr lang="zh-CN" altLang="en-US" b="1"/>
              <a:t>。</a:t>
            </a:r>
          </a:p>
        </p:txBody>
      </p:sp>
      <p:sp>
        <p:nvSpPr>
          <p:cNvPr id="445445" name="Rectangle 5"/>
          <p:cNvSpPr>
            <a:spLocks noGrp="1" noChangeArrowheads="1"/>
          </p:cNvSpPr>
          <p:nvPr>
            <p:ph type="title"/>
          </p:nvPr>
        </p:nvSpPr>
        <p:spPr>
          <a:xfrm>
            <a:off x="1079500" y="179388"/>
            <a:ext cx="6605588" cy="641350"/>
          </a:xfrm>
          <a:noFill/>
        </p:spPr>
        <p:txBody>
          <a:bodyPr anchor="ctr"/>
          <a:lstStyle/>
          <a:p>
            <a:r>
              <a:rPr kumimoji="1" lang="en-US" altLang="zh-CN" sz="3600">
                <a:solidFill>
                  <a:schemeClr val="tx1"/>
                </a:solidFill>
                <a:latin typeface="华文行楷" pitchFamily="2" charset="-122"/>
                <a:ea typeface="华文行楷" pitchFamily="2" charset="-122"/>
              </a:rPr>
              <a:t>5.4  </a:t>
            </a:r>
            <a:r>
              <a:rPr kumimoji="1" lang="zh-CN" altLang="en-US" sz="3600">
                <a:solidFill>
                  <a:schemeClr val="tx1"/>
                </a:solidFill>
                <a:latin typeface="华文行楷" pitchFamily="2" charset="-122"/>
                <a:ea typeface="华文行楷" pitchFamily="2" charset="-122"/>
              </a:rPr>
              <a:t>群与子群</a:t>
            </a:r>
          </a:p>
        </p:txBody>
      </p:sp>
    </p:spTree>
  </p:cSld>
  <p:clrMapOvr>
    <a:masterClrMapping/>
  </p:clrMapOvr>
  <p:transition spd="slow">
    <p:pull dir="ru"/>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2"/>
          <p:cNvSpPr>
            <a:spLocks noGrp="1"/>
          </p:cNvSpPr>
          <p:nvPr>
            <p:ph type="sldNum" sz="quarter" idx="11"/>
          </p:nvPr>
        </p:nvSpPr>
        <p:spPr/>
        <p:txBody>
          <a:bodyPr/>
          <a:lstStyle/>
          <a:p>
            <a:fld id="{22D04773-8268-4D97-94D2-5CEA19F4D843}" type="slidenum">
              <a:rPr lang="en-US" altLang="zh-CN"/>
              <a:pPr/>
              <a:t>36</a:t>
            </a:fld>
            <a:endParaRPr lang="en-US" altLang="zh-CN"/>
          </a:p>
        </p:txBody>
      </p:sp>
      <p:sp>
        <p:nvSpPr>
          <p:cNvPr id="510980" name="Text Box 4"/>
          <p:cNvSpPr txBox="1">
            <a:spLocks noChangeArrowheads="1"/>
          </p:cNvSpPr>
          <p:nvPr/>
        </p:nvSpPr>
        <p:spPr bwMode="auto">
          <a:xfrm>
            <a:off x="466725" y="1125538"/>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lnSpc>
                <a:spcPct val="130000"/>
              </a:lnSpc>
            </a:pPr>
            <a:r>
              <a:rPr lang="zh-CN" altLang="en-US" b="1">
                <a:solidFill>
                  <a:schemeClr val="hlink"/>
                </a:solidFill>
              </a:rPr>
              <a:t>例</a:t>
            </a:r>
            <a:r>
              <a:rPr lang="en-US" altLang="zh-CN" b="1">
                <a:solidFill>
                  <a:schemeClr val="hlink"/>
                </a:solidFill>
              </a:rPr>
              <a:t>1</a:t>
            </a:r>
            <a:r>
              <a:rPr lang="zh-CN" altLang="en-US" b="1">
                <a:solidFill>
                  <a:schemeClr val="hlink"/>
                </a:solidFill>
              </a:rPr>
              <a:t>：</a:t>
            </a:r>
            <a:r>
              <a:rPr lang="zh-CN" altLang="en-US" b="1"/>
              <a:t>判断下列代数系统是否为群</a:t>
            </a:r>
          </a:p>
          <a:p>
            <a:pPr algn="l">
              <a:lnSpc>
                <a:spcPct val="130000"/>
              </a:lnSpc>
            </a:pPr>
            <a:r>
              <a:rPr lang="en-US" altLang="zh-CN" b="1"/>
              <a:t>&lt;R-{0}, +&gt;</a:t>
            </a:r>
            <a:r>
              <a:rPr lang="zh-CN" altLang="en-US" b="1"/>
              <a:t>，</a:t>
            </a:r>
            <a:r>
              <a:rPr lang="en-US" altLang="zh-CN" b="1"/>
              <a:t>&lt;</a:t>
            </a:r>
            <a:r>
              <a:rPr lang="en-US" altLang="zh-CN" b="1">
                <a:latin typeface="CommercialScript BT" pitchFamily="66" charset="0"/>
              </a:rPr>
              <a:t>P </a:t>
            </a:r>
            <a:r>
              <a:rPr lang="en-US" altLang="zh-CN" b="1"/>
              <a:t>(S), ⊕&gt; </a:t>
            </a:r>
            <a:r>
              <a:rPr lang="zh-CN" altLang="en-US" b="1"/>
              <a:t>，</a:t>
            </a:r>
            <a:r>
              <a:rPr lang="en-US" altLang="zh-CN" b="1"/>
              <a:t>&lt;R-{0}, × &gt;</a:t>
            </a:r>
          </a:p>
        </p:txBody>
      </p:sp>
      <p:sp>
        <p:nvSpPr>
          <p:cNvPr id="510981" name="Text Box 5"/>
          <p:cNvSpPr txBox="1">
            <a:spLocks noChangeArrowheads="1"/>
          </p:cNvSpPr>
          <p:nvPr/>
        </p:nvSpPr>
        <p:spPr bwMode="auto">
          <a:xfrm>
            <a:off x="466725" y="2133600"/>
            <a:ext cx="8277225" cy="151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lnSpc>
                <a:spcPct val="130000"/>
              </a:lnSpc>
            </a:pPr>
            <a:r>
              <a:rPr lang="zh-CN" altLang="en-US" b="1">
                <a:solidFill>
                  <a:srgbClr val="FF0000"/>
                </a:solidFill>
              </a:rPr>
              <a:t>定义</a:t>
            </a:r>
            <a:r>
              <a:rPr lang="en-US" altLang="zh-CN" b="1">
                <a:solidFill>
                  <a:srgbClr val="FF0000"/>
                </a:solidFill>
              </a:rPr>
              <a:t>5-4.2</a:t>
            </a:r>
            <a:r>
              <a:rPr lang="zh-CN" altLang="en-US" b="1">
                <a:solidFill>
                  <a:srgbClr val="FF0000"/>
                </a:solidFill>
              </a:rPr>
              <a:t>：</a:t>
            </a:r>
            <a:r>
              <a:rPr lang="zh-CN" altLang="en-US" b="1"/>
              <a:t>设</a:t>
            </a:r>
            <a:r>
              <a:rPr lang="en-US" altLang="zh-CN" b="1"/>
              <a:t>&lt;G, *&gt;</a:t>
            </a:r>
            <a:r>
              <a:rPr lang="zh-CN" altLang="en-US" b="1"/>
              <a:t>是一个群。如果</a:t>
            </a:r>
            <a:r>
              <a:rPr lang="en-US" altLang="zh-CN" b="1"/>
              <a:t>G</a:t>
            </a:r>
            <a:r>
              <a:rPr lang="zh-CN" altLang="en-US" b="1"/>
              <a:t>是有限集，那么称</a:t>
            </a:r>
            <a:r>
              <a:rPr lang="en-US" altLang="zh-CN" b="1"/>
              <a:t>&lt;G,*&gt;</a:t>
            </a:r>
            <a:r>
              <a:rPr lang="zh-CN" altLang="en-US" b="1"/>
              <a:t>为</a:t>
            </a:r>
            <a:r>
              <a:rPr lang="zh-CN" altLang="en-US" b="1" i="1">
                <a:solidFill>
                  <a:srgbClr val="FF0000"/>
                </a:solidFill>
              </a:rPr>
              <a:t>有限群</a:t>
            </a:r>
            <a:r>
              <a:rPr lang="zh-CN" altLang="en-US" b="1"/>
              <a:t>，</a:t>
            </a:r>
            <a:r>
              <a:rPr lang="en-US" altLang="zh-CN" b="1"/>
              <a:t>G</a:t>
            </a:r>
            <a:r>
              <a:rPr lang="zh-CN" altLang="en-US" b="1"/>
              <a:t>中元素的个数通常称为该有限</a:t>
            </a:r>
            <a:r>
              <a:rPr lang="zh-CN" altLang="en-US" b="1">
                <a:solidFill>
                  <a:srgbClr val="FF0000"/>
                </a:solidFill>
              </a:rPr>
              <a:t>群的阶数</a:t>
            </a:r>
            <a:r>
              <a:rPr lang="zh-CN" altLang="en-US" b="1"/>
              <a:t>，记为</a:t>
            </a:r>
            <a:r>
              <a:rPr lang="en-US" altLang="zh-CN" b="1"/>
              <a:t>|G|</a:t>
            </a:r>
            <a:r>
              <a:rPr lang="zh-CN" altLang="en-US" b="1"/>
              <a:t>；如果</a:t>
            </a:r>
            <a:r>
              <a:rPr lang="en-US" altLang="zh-CN" b="1"/>
              <a:t>G</a:t>
            </a:r>
            <a:r>
              <a:rPr lang="zh-CN" altLang="en-US" b="1"/>
              <a:t>是无限集，则称</a:t>
            </a:r>
            <a:r>
              <a:rPr lang="en-US" altLang="zh-CN" b="1"/>
              <a:t>&lt;G, *&gt;</a:t>
            </a:r>
            <a:r>
              <a:rPr lang="zh-CN" altLang="en-US" b="1"/>
              <a:t>为</a:t>
            </a:r>
            <a:r>
              <a:rPr lang="zh-CN" altLang="en-US" b="1" i="1">
                <a:solidFill>
                  <a:srgbClr val="FF0000"/>
                </a:solidFill>
              </a:rPr>
              <a:t>无限群</a:t>
            </a:r>
            <a:r>
              <a:rPr lang="zh-CN" altLang="en-US" b="1"/>
              <a:t>。</a:t>
            </a:r>
          </a:p>
        </p:txBody>
      </p:sp>
      <p:sp>
        <p:nvSpPr>
          <p:cNvPr id="510982" name="Text Box 6"/>
          <p:cNvSpPr txBox="1">
            <a:spLocks noChangeArrowheads="1"/>
          </p:cNvSpPr>
          <p:nvPr/>
        </p:nvSpPr>
        <p:spPr bwMode="auto">
          <a:xfrm>
            <a:off x="466725" y="3717925"/>
            <a:ext cx="8277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eaLnBrk="0" hangingPunct="0">
              <a:buClr>
                <a:srgbClr val="FF3300"/>
              </a:buClr>
              <a:buFont typeface="Wingdings" pitchFamily="2" charset="2"/>
              <a:buChar char="Ø"/>
            </a:pPr>
            <a:r>
              <a:rPr kumimoji="0" lang="zh-CN" altLang="en-US" b="1">
                <a:latin typeface="Arial" charset="0"/>
              </a:rPr>
              <a:t>约定无限群的阶数为</a:t>
            </a:r>
            <a:r>
              <a:rPr kumimoji="0" lang="zh-CN" altLang="en-US" b="1">
                <a:latin typeface="宋体" pitchFamily="2" charset="-122"/>
              </a:rPr>
              <a:t>∞</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0981"/>
                                        </p:tgtEl>
                                        <p:attrNameLst>
                                          <p:attrName>style.visibility</p:attrName>
                                        </p:attrNameLst>
                                      </p:cBhvr>
                                      <p:to>
                                        <p:strVal val="visible"/>
                                      </p:to>
                                    </p:set>
                                    <p:anim calcmode="lin" valueType="num">
                                      <p:cBhvr additive="base">
                                        <p:cTn id="7" dur="500" fill="hold"/>
                                        <p:tgtEl>
                                          <p:spTgt spid="510981"/>
                                        </p:tgtEl>
                                        <p:attrNameLst>
                                          <p:attrName>ppt_x</p:attrName>
                                        </p:attrNameLst>
                                      </p:cBhvr>
                                      <p:tavLst>
                                        <p:tav tm="0">
                                          <p:val>
                                            <p:strVal val="#ppt_x"/>
                                          </p:val>
                                        </p:tav>
                                        <p:tav tm="100000">
                                          <p:val>
                                            <p:strVal val="#ppt_x"/>
                                          </p:val>
                                        </p:tav>
                                      </p:tavLst>
                                    </p:anim>
                                    <p:anim calcmode="lin" valueType="num">
                                      <p:cBhvr additive="base">
                                        <p:cTn id="8" dur="500" fill="hold"/>
                                        <p:tgtEl>
                                          <p:spTgt spid="51098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10982"/>
                                        </p:tgtEl>
                                        <p:attrNameLst>
                                          <p:attrName>style.visibility</p:attrName>
                                        </p:attrNameLst>
                                      </p:cBhvr>
                                      <p:to>
                                        <p:strVal val="visible"/>
                                      </p:to>
                                    </p:set>
                                    <p:anim calcmode="lin" valueType="num">
                                      <p:cBhvr additive="base">
                                        <p:cTn id="13" dur="500" fill="hold"/>
                                        <p:tgtEl>
                                          <p:spTgt spid="510982"/>
                                        </p:tgtEl>
                                        <p:attrNameLst>
                                          <p:attrName>ppt_x</p:attrName>
                                        </p:attrNameLst>
                                      </p:cBhvr>
                                      <p:tavLst>
                                        <p:tav tm="0">
                                          <p:val>
                                            <p:strVal val="#ppt_x"/>
                                          </p:val>
                                        </p:tav>
                                        <p:tav tm="100000">
                                          <p:val>
                                            <p:strVal val="#ppt_x"/>
                                          </p:val>
                                        </p:tav>
                                      </p:tavLst>
                                    </p:anim>
                                    <p:anim calcmode="lin" valueType="num">
                                      <p:cBhvr additive="base">
                                        <p:cTn id="14" dur="500" fill="hold"/>
                                        <p:tgtEl>
                                          <p:spTgt spid="5109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0981" grpId="0"/>
      <p:bldP spid="51098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2"/>
          <p:cNvSpPr>
            <a:spLocks noGrp="1"/>
          </p:cNvSpPr>
          <p:nvPr>
            <p:ph type="sldNum" sz="quarter" idx="11"/>
          </p:nvPr>
        </p:nvSpPr>
        <p:spPr/>
        <p:txBody>
          <a:bodyPr/>
          <a:lstStyle/>
          <a:p>
            <a:fld id="{84CB87C1-C23D-429C-8EC6-E7AAF140E864}" type="slidenum">
              <a:rPr lang="en-US" altLang="zh-CN"/>
              <a:pPr/>
              <a:t>37</a:t>
            </a:fld>
            <a:endParaRPr lang="en-US" altLang="zh-CN"/>
          </a:p>
        </p:txBody>
      </p:sp>
      <p:sp>
        <p:nvSpPr>
          <p:cNvPr id="447490" name="Text Box 2"/>
          <p:cNvSpPr txBox="1">
            <a:spLocks noChangeArrowheads="1"/>
          </p:cNvSpPr>
          <p:nvPr/>
        </p:nvSpPr>
        <p:spPr bwMode="auto">
          <a:xfrm>
            <a:off x="719138" y="1052513"/>
            <a:ext cx="6864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buClr>
                <a:srgbClr val="FF3300"/>
              </a:buClr>
              <a:buFont typeface="Wingdings" pitchFamily="2" charset="2"/>
              <a:buChar char="Ø"/>
            </a:pPr>
            <a:r>
              <a:rPr lang="zh-CN" altLang="en-US" b="1"/>
              <a:t>广群，半群，独异点，群的关系 </a:t>
            </a:r>
          </a:p>
        </p:txBody>
      </p:sp>
      <p:grpSp>
        <p:nvGrpSpPr>
          <p:cNvPr id="447513" name="Group 25"/>
          <p:cNvGrpSpPr>
            <a:grpSpLocks/>
          </p:cNvGrpSpPr>
          <p:nvPr/>
        </p:nvGrpSpPr>
        <p:grpSpPr bwMode="auto">
          <a:xfrm>
            <a:off x="1403350" y="1628775"/>
            <a:ext cx="6119813" cy="3241675"/>
            <a:chOff x="884" y="1026"/>
            <a:chExt cx="3855" cy="2042"/>
          </a:xfrm>
        </p:grpSpPr>
        <p:sp>
          <p:nvSpPr>
            <p:cNvPr id="447497" name="Oval 9"/>
            <p:cNvSpPr>
              <a:spLocks noChangeArrowheads="1"/>
            </p:cNvSpPr>
            <p:nvPr/>
          </p:nvSpPr>
          <p:spPr bwMode="auto">
            <a:xfrm>
              <a:off x="884" y="1026"/>
              <a:ext cx="3855" cy="2042"/>
            </a:xfrm>
            <a:prstGeom prst="ellipse">
              <a:avLst/>
            </a:prstGeom>
            <a:solidFill>
              <a:schemeClr val="accent1">
                <a:alpha val="0"/>
              </a:schemeClr>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7499" name="Rectangle 11"/>
            <p:cNvSpPr>
              <a:spLocks noChangeArrowheads="1"/>
            </p:cNvSpPr>
            <p:nvPr/>
          </p:nvSpPr>
          <p:spPr bwMode="auto">
            <a:xfrm>
              <a:off x="1205" y="1282"/>
              <a:ext cx="7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a:solidFill>
                    <a:srgbClr val="FF0000"/>
                  </a:solidFill>
                </a:rPr>
                <a:t>广群</a:t>
              </a:r>
            </a:p>
          </p:txBody>
        </p:sp>
      </p:grpSp>
      <p:grpSp>
        <p:nvGrpSpPr>
          <p:cNvPr id="447505" name="Group 17"/>
          <p:cNvGrpSpPr>
            <a:grpSpLocks/>
          </p:cNvGrpSpPr>
          <p:nvPr/>
        </p:nvGrpSpPr>
        <p:grpSpPr bwMode="auto">
          <a:xfrm>
            <a:off x="2195513" y="2205038"/>
            <a:ext cx="4927600" cy="2378075"/>
            <a:chOff x="1383" y="1616"/>
            <a:chExt cx="3104" cy="1498"/>
          </a:xfrm>
        </p:grpSpPr>
        <p:sp>
          <p:nvSpPr>
            <p:cNvPr id="447501" name="Oval 13"/>
            <p:cNvSpPr>
              <a:spLocks noChangeArrowheads="1"/>
            </p:cNvSpPr>
            <p:nvPr/>
          </p:nvSpPr>
          <p:spPr bwMode="auto">
            <a:xfrm>
              <a:off x="1383" y="1616"/>
              <a:ext cx="3104" cy="1498"/>
            </a:xfrm>
            <a:prstGeom prst="ellipse">
              <a:avLst/>
            </a:prstGeom>
            <a:solidFill>
              <a:schemeClr val="accent1">
                <a:alpha val="0"/>
              </a:schemeClr>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7502" name="Rectangle 14"/>
            <p:cNvSpPr>
              <a:spLocks noChangeArrowheads="1"/>
            </p:cNvSpPr>
            <p:nvPr/>
          </p:nvSpPr>
          <p:spPr bwMode="auto">
            <a:xfrm>
              <a:off x="1448" y="1842"/>
              <a:ext cx="888"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solidFill>
                    <a:schemeClr val="hlink"/>
                  </a:solidFill>
                </a:rPr>
                <a:t>半群</a:t>
              </a:r>
            </a:p>
            <a:p>
              <a:r>
                <a:rPr lang="zh-CN" altLang="en-US" b="1">
                  <a:solidFill>
                    <a:schemeClr val="hlink"/>
                  </a:solidFill>
                </a:rPr>
                <a:t>（运算可</a:t>
              </a:r>
            </a:p>
            <a:p>
              <a:r>
                <a:rPr lang="zh-CN" altLang="en-US" b="1">
                  <a:solidFill>
                    <a:schemeClr val="hlink"/>
                  </a:solidFill>
                </a:rPr>
                <a:t>结合）</a:t>
              </a:r>
            </a:p>
          </p:txBody>
        </p:sp>
      </p:grpSp>
      <p:grpSp>
        <p:nvGrpSpPr>
          <p:cNvPr id="447508" name="Group 20"/>
          <p:cNvGrpSpPr>
            <a:grpSpLocks/>
          </p:cNvGrpSpPr>
          <p:nvPr/>
        </p:nvGrpSpPr>
        <p:grpSpPr bwMode="auto">
          <a:xfrm>
            <a:off x="3492500" y="2563813"/>
            <a:ext cx="3311525" cy="1741487"/>
            <a:chOff x="2200" y="1842"/>
            <a:chExt cx="2086" cy="1097"/>
          </a:xfrm>
        </p:grpSpPr>
        <p:sp>
          <p:nvSpPr>
            <p:cNvPr id="447506" name="Oval 18"/>
            <p:cNvSpPr>
              <a:spLocks noChangeArrowheads="1"/>
            </p:cNvSpPr>
            <p:nvPr/>
          </p:nvSpPr>
          <p:spPr bwMode="auto">
            <a:xfrm>
              <a:off x="2239" y="1842"/>
              <a:ext cx="2047" cy="1097"/>
            </a:xfrm>
            <a:prstGeom prst="ellipse">
              <a:avLst/>
            </a:prstGeom>
            <a:solidFill>
              <a:schemeClr val="accent1">
                <a:alpha val="0"/>
              </a:schemeClr>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7507" name="Rectangle 19"/>
            <p:cNvSpPr>
              <a:spLocks noChangeArrowheads="1"/>
            </p:cNvSpPr>
            <p:nvPr/>
          </p:nvSpPr>
          <p:spPr bwMode="auto">
            <a:xfrm>
              <a:off x="2200" y="2016"/>
              <a:ext cx="1081"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solidFill>
                    <a:schemeClr val="hlink"/>
                  </a:solidFill>
                </a:rPr>
                <a:t>独异点</a:t>
              </a:r>
            </a:p>
            <a:p>
              <a:r>
                <a:rPr lang="zh-CN" altLang="en-US" b="1">
                  <a:solidFill>
                    <a:schemeClr val="hlink"/>
                  </a:solidFill>
                </a:rPr>
                <a:t>（有幺元）</a:t>
              </a:r>
            </a:p>
          </p:txBody>
        </p:sp>
      </p:grpSp>
      <p:grpSp>
        <p:nvGrpSpPr>
          <p:cNvPr id="447512" name="Group 24"/>
          <p:cNvGrpSpPr>
            <a:grpSpLocks/>
          </p:cNvGrpSpPr>
          <p:nvPr/>
        </p:nvGrpSpPr>
        <p:grpSpPr bwMode="auto">
          <a:xfrm>
            <a:off x="5003800" y="2924175"/>
            <a:ext cx="1706563" cy="1112838"/>
            <a:chOff x="3152" y="1842"/>
            <a:chExt cx="1075" cy="701"/>
          </a:xfrm>
        </p:grpSpPr>
        <p:sp>
          <p:nvSpPr>
            <p:cNvPr id="447509" name="Oval 21"/>
            <p:cNvSpPr>
              <a:spLocks noChangeArrowheads="1"/>
            </p:cNvSpPr>
            <p:nvPr/>
          </p:nvSpPr>
          <p:spPr bwMode="auto">
            <a:xfrm>
              <a:off x="3152" y="1842"/>
              <a:ext cx="1075" cy="701"/>
            </a:xfrm>
            <a:prstGeom prst="ellipse">
              <a:avLst/>
            </a:prstGeom>
            <a:solidFill>
              <a:schemeClr val="accent1">
                <a:alpha val="0"/>
              </a:schemeClr>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7510" name="Rectangle 22"/>
            <p:cNvSpPr>
              <a:spLocks noChangeArrowheads="1"/>
            </p:cNvSpPr>
            <p:nvPr/>
          </p:nvSpPr>
          <p:spPr bwMode="auto">
            <a:xfrm>
              <a:off x="3228" y="1933"/>
              <a:ext cx="786"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a:solidFill>
                    <a:schemeClr val="hlink"/>
                  </a:solidFill>
                </a:rPr>
                <a:t>群（有</a:t>
              </a:r>
            </a:p>
            <a:p>
              <a:r>
                <a:rPr lang="zh-CN" altLang="en-US" b="1">
                  <a:solidFill>
                    <a:schemeClr val="hlink"/>
                  </a:solidFill>
                </a:rPr>
                <a:t>逆元）</a:t>
              </a:r>
            </a:p>
          </p:txBody>
        </p:sp>
      </p:gr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47513"/>
                                        </p:tgtEl>
                                        <p:attrNameLst>
                                          <p:attrName>style.visibility</p:attrName>
                                        </p:attrNameLst>
                                      </p:cBhvr>
                                      <p:to>
                                        <p:strVal val="visible"/>
                                      </p:to>
                                    </p:set>
                                    <p:anim calcmode="lin" valueType="num">
                                      <p:cBhvr additive="base">
                                        <p:cTn id="7" dur="500" fill="hold"/>
                                        <p:tgtEl>
                                          <p:spTgt spid="447513"/>
                                        </p:tgtEl>
                                        <p:attrNameLst>
                                          <p:attrName>ppt_x</p:attrName>
                                        </p:attrNameLst>
                                      </p:cBhvr>
                                      <p:tavLst>
                                        <p:tav tm="0">
                                          <p:val>
                                            <p:strVal val="#ppt_x"/>
                                          </p:val>
                                        </p:tav>
                                        <p:tav tm="100000">
                                          <p:val>
                                            <p:strVal val="#ppt_x"/>
                                          </p:val>
                                        </p:tav>
                                      </p:tavLst>
                                    </p:anim>
                                    <p:anim calcmode="lin" valueType="num">
                                      <p:cBhvr additive="base">
                                        <p:cTn id="8" dur="500" fill="hold"/>
                                        <p:tgtEl>
                                          <p:spTgt spid="44751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47505"/>
                                        </p:tgtEl>
                                        <p:attrNameLst>
                                          <p:attrName>style.visibility</p:attrName>
                                        </p:attrNameLst>
                                      </p:cBhvr>
                                      <p:to>
                                        <p:strVal val="visible"/>
                                      </p:to>
                                    </p:set>
                                    <p:anim calcmode="lin" valueType="num">
                                      <p:cBhvr additive="base">
                                        <p:cTn id="13" dur="500" fill="hold"/>
                                        <p:tgtEl>
                                          <p:spTgt spid="447505"/>
                                        </p:tgtEl>
                                        <p:attrNameLst>
                                          <p:attrName>ppt_x</p:attrName>
                                        </p:attrNameLst>
                                      </p:cBhvr>
                                      <p:tavLst>
                                        <p:tav tm="0">
                                          <p:val>
                                            <p:strVal val="#ppt_x"/>
                                          </p:val>
                                        </p:tav>
                                        <p:tav tm="100000">
                                          <p:val>
                                            <p:strVal val="#ppt_x"/>
                                          </p:val>
                                        </p:tav>
                                      </p:tavLst>
                                    </p:anim>
                                    <p:anim calcmode="lin" valueType="num">
                                      <p:cBhvr additive="base">
                                        <p:cTn id="14" dur="500" fill="hold"/>
                                        <p:tgtEl>
                                          <p:spTgt spid="44750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47508"/>
                                        </p:tgtEl>
                                        <p:attrNameLst>
                                          <p:attrName>style.visibility</p:attrName>
                                        </p:attrNameLst>
                                      </p:cBhvr>
                                      <p:to>
                                        <p:strVal val="visible"/>
                                      </p:to>
                                    </p:set>
                                    <p:anim calcmode="lin" valueType="num">
                                      <p:cBhvr additive="base">
                                        <p:cTn id="19" dur="500" fill="hold"/>
                                        <p:tgtEl>
                                          <p:spTgt spid="447508"/>
                                        </p:tgtEl>
                                        <p:attrNameLst>
                                          <p:attrName>ppt_x</p:attrName>
                                        </p:attrNameLst>
                                      </p:cBhvr>
                                      <p:tavLst>
                                        <p:tav tm="0">
                                          <p:val>
                                            <p:strVal val="#ppt_x"/>
                                          </p:val>
                                        </p:tav>
                                        <p:tav tm="100000">
                                          <p:val>
                                            <p:strVal val="#ppt_x"/>
                                          </p:val>
                                        </p:tav>
                                      </p:tavLst>
                                    </p:anim>
                                    <p:anim calcmode="lin" valueType="num">
                                      <p:cBhvr additive="base">
                                        <p:cTn id="20" dur="500" fill="hold"/>
                                        <p:tgtEl>
                                          <p:spTgt spid="447508"/>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447512"/>
                                        </p:tgtEl>
                                        <p:attrNameLst>
                                          <p:attrName>style.visibility</p:attrName>
                                        </p:attrNameLst>
                                      </p:cBhvr>
                                      <p:to>
                                        <p:strVal val="visible"/>
                                      </p:to>
                                    </p:set>
                                    <p:anim calcmode="lin" valueType="num">
                                      <p:cBhvr additive="base">
                                        <p:cTn id="25" dur="500" fill="hold"/>
                                        <p:tgtEl>
                                          <p:spTgt spid="447512"/>
                                        </p:tgtEl>
                                        <p:attrNameLst>
                                          <p:attrName>ppt_x</p:attrName>
                                        </p:attrNameLst>
                                      </p:cBhvr>
                                      <p:tavLst>
                                        <p:tav tm="0">
                                          <p:val>
                                            <p:strVal val="#ppt_x"/>
                                          </p:val>
                                        </p:tav>
                                        <p:tav tm="100000">
                                          <p:val>
                                            <p:strVal val="#ppt_x"/>
                                          </p:val>
                                        </p:tav>
                                      </p:tavLst>
                                    </p:anim>
                                    <p:anim calcmode="lin" valueType="num">
                                      <p:cBhvr additive="base">
                                        <p:cTn id="26" dur="500" fill="hold"/>
                                        <p:tgtEl>
                                          <p:spTgt spid="4475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fld id="{85E23817-B938-4A8B-A585-CA895621DD08}" type="slidenum">
              <a:rPr lang="en-US" altLang="zh-CN"/>
              <a:pPr/>
              <a:t>38</a:t>
            </a:fld>
            <a:endParaRPr lang="en-US" altLang="zh-CN"/>
          </a:p>
        </p:txBody>
      </p:sp>
      <p:sp>
        <p:nvSpPr>
          <p:cNvPr id="448514" name="Text Box 2"/>
          <p:cNvSpPr txBox="1">
            <a:spLocks noChangeArrowheads="1"/>
          </p:cNvSpPr>
          <p:nvPr/>
        </p:nvSpPr>
        <p:spPr bwMode="auto">
          <a:xfrm>
            <a:off x="466725" y="935038"/>
            <a:ext cx="8277225" cy="1004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lnSpc>
                <a:spcPct val="130000"/>
              </a:lnSpc>
            </a:pPr>
            <a:r>
              <a:rPr lang="en-US" altLang="zh-CN" b="1">
                <a:solidFill>
                  <a:schemeClr val="hlink"/>
                </a:solidFill>
              </a:rPr>
              <a:t>2</a:t>
            </a:r>
            <a:r>
              <a:rPr lang="zh-CN" altLang="en-US" b="1">
                <a:solidFill>
                  <a:schemeClr val="hlink"/>
                </a:solidFill>
              </a:rPr>
              <a:t>）群的性质</a:t>
            </a:r>
          </a:p>
          <a:p>
            <a:pPr algn="l">
              <a:lnSpc>
                <a:spcPct val="130000"/>
              </a:lnSpc>
            </a:pPr>
            <a:r>
              <a:rPr lang="zh-CN" altLang="en-US" b="1">
                <a:solidFill>
                  <a:srgbClr val="FF0000"/>
                </a:solidFill>
              </a:rPr>
              <a:t>定理</a:t>
            </a:r>
            <a:r>
              <a:rPr lang="en-US" altLang="zh-CN" b="1">
                <a:solidFill>
                  <a:srgbClr val="FF0000"/>
                </a:solidFill>
              </a:rPr>
              <a:t>5-4.1</a:t>
            </a:r>
            <a:r>
              <a:rPr lang="zh-CN" altLang="en-US" b="1">
                <a:solidFill>
                  <a:srgbClr val="FF0000"/>
                </a:solidFill>
              </a:rPr>
              <a:t>：</a:t>
            </a:r>
            <a:r>
              <a:rPr lang="zh-CN" altLang="en-US" b="1"/>
              <a:t>群中不可能有零元。</a:t>
            </a:r>
          </a:p>
        </p:txBody>
      </p:sp>
      <p:sp>
        <p:nvSpPr>
          <p:cNvPr id="448516" name="Text Box 4"/>
          <p:cNvSpPr txBox="1">
            <a:spLocks noChangeArrowheads="1"/>
          </p:cNvSpPr>
          <p:nvPr/>
        </p:nvSpPr>
        <p:spPr bwMode="auto">
          <a:xfrm>
            <a:off x="466725" y="1943100"/>
            <a:ext cx="8277225"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lang="zh-CN" altLang="en-US" b="1"/>
              <a:t>证明：当群的阶为</a:t>
            </a:r>
            <a:r>
              <a:rPr lang="en-US" altLang="zh-CN" b="1"/>
              <a:t>1</a:t>
            </a:r>
            <a:r>
              <a:rPr lang="zh-CN" altLang="en-US" b="1"/>
              <a:t>时，它的唯一元素视为幺元。</a:t>
            </a:r>
          </a:p>
          <a:p>
            <a:pPr algn="l">
              <a:lnSpc>
                <a:spcPct val="130000"/>
              </a:lnSpc>
            </a:pPr>
            <a:r>
              <a:rPr lang="zh-CN" altLang="en-US" b="1"/>
              <a:t>设</a:t>
            </a:r>
            <a:r>
              <a:rPr lang="en-US" altLang="zh-CN" b="1"/>
              <a:t>|G|&gt;1</a:t>
            </a:r>
            <a:r>
              <a:rPr lang="zh-CN" altLang="en-US" b="1"/>
              <a:t>且群</a:t>
            </a:r>
            <a:r>
              <a:rPr lang="en-US" altLang="zh-CN" b="1"/>
              <a:t>&lt;G, *&gt;</a:t>
            </a:r>
            <a:r>
              <a:rPr lang="zh-CN" altLang="en-US" b="1"/>
              <a:t>有零元</a:t>
            </a:r>
            <a:r>
              <a:rPr lang="en-US" altLang="zh-CN" b="1" i="1"/>
              <a:t>θ</a:t>
            </a:r>
            <a:r>
              <a:rPr lang="zh-CN" altLang="en-US" b="1"/>
              <a:t>，</a:t>
            </a:r>
          </a:p>
          <a:p>
            <a:pPr algn="l">
              <a:lnSpc>
                <a:spcPct val="130000"/>
              </a:lnSpc>
            </a:pPr>
            <a:r>
              <a:rPr lang="zh-CN" altLang="en-US" b="1"/>
              <a:t>任意</a:t>
            </a:r>
            <a:r>
              <a:rPr lang="en-US" altLang="zh-CN" b="1"/>
              <a:t>x∈G</a:t>
            </a:r>
            <a:r>
              <a:rPr lang="zh-CN" altLang="en-US" b="1"/>
              <a:t>，有</a:t>
            </a:r>
            <a:r>
              <a:rPr lang="en-US" altLang="zh-CN" b="1"/>
              <a:t>x*</a:t>
            </a:r>
            <a:r>
              <a:rPr lang="en-US" altLang="zh-CN" b="1" i="1"/>
              <a:t>θ</a:t>
            </a:r>
            <a:r>
              <a:rPr lang="en-US" altLang="zh-CN" b="1"/>
              <a:t>=</a:t>
            </a:r>
            <a:r>
              <a:rPr lang="en-US" altLang="zh-CN" b="1" i="1"/>
              <a:t>θ</a:t>
            </a:r>
            <a:r>
              <a:rPr lang="en-US" altLang="zh-CN" b="1"/>
              <a:t>*x =</a:t>
            </a:r>
            <a:r>
              <a:rPr lang="en-US" altLang="zh-CN" b="1" i="1"/>
              <a:t>θ</a:t>
            </a:r>
            <a:r>
              <a:rPr lang="en-US" altLang="zh-CN" b="1"/>
              <a:t>≠ e</a:t>
            </a:r>
            <a:r>
              <a:rPr lang="zh-CN" altLang="en-US" b="1"/>
              <a:t>，</a:t>
            </a:r>
          </a:p>
          <a:p>
            <a:pPr algn="l">
              <a:lnSpc>
                <a:spcPct val="130000"/>
              </a:lnSpc>
            </a:pPr>
            <a:r>
              <a:rPr lang="zh-CN" altLang="en-US" b="1"/>
              <a:t>所以，零元</a:t>
            </a:r>
            <a:r>
              <a:rPr lang="en-US" altLang="zh-CN" b="1" i="1"/>
              <a:t>θ</a:t>
            </a:r>
            <a:r>
              <a:rPr lang="zh-CN" altLang="en-US" b="1"/>
              <a:t>就不存在逆元，与</a:t>
            </a:r>
            <a:r>
              <a:rPr lang="en-US" altLang="zh-CN" b="1"/>
              <a:t>&lt;G, *&gt;</a:t>
            </a:r>
            <a:r>
              <a:rPr lang="zh-CN" altLang="en-US" b="1"/>
              <a:t>是群相矛盾。</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48516">
                                            <p:txEl>
                                              <p:pRg st="0" end="0"/>
                                            </p:txEl>
                                          </p:spTgt>
                                        </p:tgtEl>
                                        <p:attrNameLst>
                                          <p:attrName>style.visibility</p:attrName>
                                        </p:attrNameLst>
                                      </p:cBhvr>
                                      <p:to>
                                        <p:strVal val="visible"/>
                                      </p:to>
                                    </p:set>
                                    <p:anim calcmode="lin" valueType="num">
                                      <p:cBhvr additive="base">
                                        <p:cTn id="7" dur="500" fill="hold"/>
                                        <p:tgtEl>
                                          <p:spTgt spid="4485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485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48516">
                                            <p:txEl>
                                              <p:pRg st="1" end="1"/>
                                            </p:txEl>
                                          </p:spTgt>
                                        </p:tgtEl>
                                        <p:attrNameLst>
                                          <p:attrName>style.visibility</p:attrName>
                                        </p:attrNameLst>
                                      </p:cBhvr>
                                      <p:to>
                                        <p:strVal val="visible"/>
                                      </p:to>
                                    </p:set>
                                    <p:anim calcmode="lin" valueType="num">
                                      <p:cBhvr additive="base">
                                        <p:cTn id="13" dur="500" fill="hold"/>
                                        <p:tgtEl>
                                          <p:spTgt spid="44851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4851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48516">
                                            <p:txEl>
                                              <p:pRg st="2" end="2"/>
                                            </p:txEl>
                                          </p:spTgt>
                                        </p:tgtEl>
                                        <p:attrNameLst>
                                          <p:attrName>style.visibility</p:attrName>
                                        </p:attrNameLst>
                                      </p:cBhvr>
                                      <p:to>
                                        <p:strVal val="visible"/>
                                      </p:to>
                                    </p:set>
                                    <p:anim calcmode="lin" valueType="num">
                                      <p:cBhvr additive="base">
                                        <p:cTn id="19" dur="500" fill="hold"/>
                                        <p:tgtEl>
                                          <p:spTgt spid="44851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4851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448516">
                                            <p:txEl>
                                              <p:pRg st="3" end="3"/>
                                            </p:txEl>
                                          </p:spTgt>
                                        </p:tgtEl>
                                        <p:attrNameLst>
                                          <p:attrName>style.visibility</p:attrName>
                                        </p:attrNameLst>
                                      </p:cBhvr>
                                      <p:to>
                                        <p:strVal val="visible"/>
                                      </p:to>
                                    </p:set>
                                    <p:anim calcmode="lin" valueType="num">
                                      <p:cBhvr additive="base">
                                        <p:cTn id="25" dur="500" fill="hold"/>
                                        <p:tgtEl>
                                          <p:spTgt spid="44851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4851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fld id="{1C9DF048-6414-45A1-A62C-386E1B9F914D}" type="slidenum">
              <a:rPr lang="en-US" altLang="zh-CN"/>
              <a:pPr/>
              <a:t>39</a:t>
            </a:fld>
            <a:endParaRPr lang="en-US" altLang="zh-CN"/>
          </a:p>
        </p:txBody>
      </p:sp>
      <p:sp>
        <p:nvSpPr>
          <p:cNvPr id="512004" name="Text Box 4"/>
          <p:cNvSpPr txBox="1">
            <a:spLocks noChangeArrowheads="1"/>
          </p:cNvSpPr>
          <p:nvPr/>
        </p:nvSpPr>
        <p:spPr bwMode="auto">
          <a:xfrm>
            <a:off x="466725" y="993775"/>
            <a:ext cx="8277225"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lnSpc>
                <a:spcPct val="120000"/>
              </a:lnSpc>
            </a:pPr>
            <a:r>
              <a:rPr lang="zh-CN" altLang="en-US" b="1">
                <a:solidFill>
                  <a:srgbClr val="FF0000"/>
                </a:solidFill>
              </a:rPr>
              <a:t>定理</a:t>
            </a:r>
            <a:r>
              <a:rPr lang="en-US" altLang="zh-CN" b="1">
                <a:solidFill>
                  <a:srgbClr val="FF0000"/>
                </a:solidFill>
              </a:rPr>
              <a:t>5-4.2</a:t>
            </a:r>
            <a:r>
              <a:rPr lang="zh-CN" altLang="en-US" b="1">
                <a:solidFill>
                  <a:srgbClr val="FF0000"/>
                </a:solidFill>
              </a:rPr>
              <a:t>：</a:t>
            </a:r>
            <a:r>
              <a:rPr lang="zh-CN" altLang="en-US" b="1"/>
              <a:t>设</a:t>
            </a:r>
            <a:r>
              <a:rPr lang="en-US" altLang="zh-CN" b="1"/>
              <a:t>&lt;G,*&gt;</a:t>
            </a:r>
            <a:r>
              <a:rPr lang="zh-CN" altLang="en-US" b="1"/>
              <a:t>是群，对于</a:t>
            </a:r>
            <a:r>
              <a:rPr lang="en-US" altLang="zh-CN" b="1"/>
              <a:t>a, b∈G</a:t>
            </a:r>
            <a:r>
              <a:rPr lang="zh-CN" altLang="en-US" b="1"/>
              <a:t>，必存在</a:t>
            </a:r>
            <a:r>
              <a:rPr lang="zh-CN" altLang="en-US" b="1" i="1">
                <a:solidFill>
                  <a:srgbClr val="FF0000"/>
                </a:solidFill>
              </a:rPr>
              <a:t>唯一</a:t>
            </a:r>
            <a:r>
              <a:rPr lang="zh-CN" altLang="en-US" b="1"/>
              <a:t>的</a:t>
            </a:r>
            <a:r>
              <a:rPr lang="en-US" altLang="zh-CN" b="1"/>
              <a:t>x∈G</a:t>
            </a:r>
            <a:r>
              <a:rPr lang="zh-CN" altLang="en-US" b="1"/>
              <a:t>，使得</a:t>
            </a:r>
            <a:r>
              <a:rPr lang="en-US" altLang="zh-CN" b="1"/>
              <a:t>a*x=b</a:t>
            </a:r>
            <a:r>
              <a:rPr lang="zh-CN" altLang="en-US" b="1"/>
              <a:t>。</a:t>
            </a:r>
          </a:p>
        </p:txBody>
      </p:sp>
      <p:sp>
        <p:nvSpPr>
          <p:cNvPr id="512005" name="Text Box 5"/>
          <p:cNvSpPr txBox="1">
            <a:spLocks noChangeArrowheads="1"/>
          </p:cNvSpPr>
          <p:nvPr/>
        </p:nvSpPr>
        <p:spPr bwMode="auto">
          <a:xfrm>
            <a:off x="466725" y="1857375"/>
            <a:ext cx="8277225" cy="447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lang="zh-CN" altLang="en-US" b="1"/>
              <a:t>证明：设</a:t>
            </a:r>
            <a:r>
              <a:rPr lang="en-US" altLang="zh-CN" b="1"/>
              <a:t>a</a:t>
            </a:r>
            <a:r>
              <a:rPr lang="zh-CN" altLang="en-US" b="1"/>
              <a:t>的逆元是</a:t>
            </a:r>
            <a:r>
              <a:rPr lang="en-US" altLang="zh-CN" b="1"/>
              <a:t>a</a:t>
            </a:r>
            <a:r>
              <a:rPr lang="en-US" altLang="zh-CN" b="1" baseline="30000"/>
              <a:t>-1</a:t>
            </a:r>
            <a:r>
              <a:rPr lang="zh-CN" altLang="en-US" b="1"/>
              <a:t>，令</a:t>
            </a:r>
          </a:p>
          <a:p>
            <a:pPr algn="l">
              <a:lnSpc>
                <a:spcPct val="120000"/>
              </a:lnSpc>
            </a:pPr>
            <a:r>
              <a:rPr lang="zh-CN" altLang="en-US" b="1"/>
              <a:t>             </a:t>
            </a:r>
            <a:r>
              <a:rPr lang="en-US" altLang="zh-CN" b="1"/>
              <a:t>x= a</a:t>
            </a:r>
            <a:r>
              <a:rPr lang="en-US" altLang="zh-CN" b="1" baseline="30000"/>
              <a:t>-1</a:t>
            </a:r>
            <a:r>
              <a:rPr lang="en-US" altLang="zh-CN" b="1"/>
              <a:t>*b</a:t>
            </a:r>
          </a:p>
          <a:p>
            <a:pPr algn="l">
              <a:lnSpc>
                <a:spcPct val="120000"/>
              </a:lnSpc>
            </a:pPr>
            <a:r>
              <a:rPr lang="zh-CN" altLang="en-US" b="1"/>
              <a:t>则         </a:t>
            </a:r>
            <a:r>
              <a:rPr lang="en-US" altLang="zh-CN" b="1"/>
              <a:t>a*x</a:t>
            </a:r>
          </a:p>
          <a:p>
            <a:pPr algn="l">
              <a:lnSpc>
                <a:spcPct val="120000"/>
              </a:lnSpc>
            </a:pPr>
            <a:r>
              <a:rPr lang="en-US" altLang="zh-CN" b="1"/>
              <a:t>          =a*(a</a:t>
            </a:r>
            <a:r>
              <a:rPr lang="en-US" altLang="zh-CN" b="1" baseline="30000"/>
              <a:t>-1</a:t>
            </a:r>
            <a:r>
              <a:rPr lang="en-US" altLang="zh-CN" b="1"/>
              <a:t>*b)</a:t>
            </a:r>
          </a:p>
          <a:p>
            <a:pPr algn="l">
              <a:lnSpc>
                <a:spcPct val="120000"/>
              </a:lnSpc>
            </a:pPr>
            <a:r>
              <a:rPr lang="en-US" altLang="zh-CN" b="1"/>
              <a:t>          =(a*a</a:t>
            </a:r>
            <a:r>
              <a:rPr lang="en-US" altLang="zh-CN" b="1" baseline="30000"/>
              <a:t>-1</a:t>
            </a:r>
            <a:r>
              <a:rPr lang="en-US" altLang="zh-CN" b="1"/>
              <a:t>)*b</a:t>
            </a:r>
          </a:p>
          <a:p>
            <a:pPr algn="l">
              <a:lnSpc>
                <a:spcPct val="120000"/>
              </a:lnSpc>
            </a:pPr>
            <a:r>
              <a:rPr lang="en-US" altLang="zh-CN" b="1"/>
              <a:t>          =e*b</a:t>
            </a:r>
          </a:p>
          <a:p>
            <a:pPr algn="l">
              <a:lnSpc>
                <a:spcPct val="120000"/>
              </a:lnSpc>
            </a:pPr>
            <a:r>
              <a:rPr lang="en-US" altLang="zh-CN" b="1"/>
              <a:t>          =b</a:t>
            </a:r>
          </a:p>
          <a:p>
            <a:pPr algn="l">
              <a:lnSpc>
                <a:spcPct val="120000"/>
              </a:lnSpc>
            </a:pPr>
            <a:r>
              <a:rPr lang="zh-CN" altLang="en-US" b="1"/>
              <a:t>若另有一解</a:t>
            </a:r>
            <a:r>
              <a:rPr lang="en-US" altLang="zh-CN" b="1"/>
              <a:t>x</a:t>
            </a:r>
            <a:r>
              <a:rPr lang="en-US" altLang="zh-CN" b="1" baseline="-25000"/>
              <a:t>1</a:t>
            </a:r>
            <a:r>
              <a:rPr lang="zh-CN" altLang="en-US" b="1"/>
              <a:t>，满足</a:t>
            </a:r>
            <a:r>
              <a:rPr lang="en-US" altLang="zh-CN" b="1"/>
              <a:t>a*x</a:t>
            </a:r>
            <a:r>
              <a:rPr lang="en-US" altLang="zh-CN" b="1" baseline="-25000"/>
              <a:t>1</a:t>
            </a:r>
            <a:r>
              <a:rPr lang="en-US" altLang="zh-CN" b="1"/>
              <a:t>=b</a:t>
            </a:r>
            <a:r>
              <a:rPr lang="zh-CN" altLang="en-US" b="1"/>
              <a:t>，则</a:t>
            </a:r>
          </a:p>
          <a:p>
            <a:pPr algn="l">
              <a:lnSpc>
                <a:spcPct val="120000"/>
              </a:lnSpc>
            </a:pPr>
            <a:r>
              <a:rPr lang="zh-CN" altLang="en-US" b="1"/>
              <a:t>         </a:t>
            </a:r>
            <a:r>
              <a:rPr lang="en-US" altLang="zh-CN" b="1"/>
              <a:t>a</a:t>
            </a:r>
            <a:r>
              <a:rPr lang="en-US" altLang="zh-CN" b="1" baseline="30000"/>
              <a:t>-1</a:t>
            </a:r>
            <a:r>
              <a:rPr lang="en-US" altLang="zh-CN" b="1"/>
              <a:t>*(a * x</a:t>
            </a:r>
            <a:r>
              <a:rPr lang="en-US" altLang="zh-CN" b="1" baseline="-25000"/>
              <a:t>1</a:t>
            </a:r>
            <a:r>
              <a:rPr lang="en-US" altLang="zh-CN" b="1"/>
              <a:t>)= a</a:t>
            </a:r>
            <a:r>
              <a:rPr lang="en-US" altLang="zh-CN" b="1" baseline="30000"/>
              <a:t>-1</a:t>
            </a:r>
            <a:r>
              <a:rPr lang="en-US" altLang="zh-CN" b="1"/>
              <a:t>*b       </a:t>
            </a:r>
          </a:p>
          <a:p>
            <a:pPr algn="l">
              <a:lnSpc>
                <a:spcPct val="120000"/>
              </a:lnSpc>
            </a:pPr>
            <a:r>
              <a:rPr lang="zh-CN" altLang="en-US" b="1"/>
              <a:t>即 </a:t>
            </a:r>
            <a:r>
              <a:rPr lang="en-US" altLang="zh-CN" b="1"/>
              <a:t>x</a:t>
            </a:r>
            <a:r>
              <a:rPr lang="en-US" altLang="zh-CN" b="1" baseline="-25000"/>
              <a:t>1</a:t>
            </a:r>
            <a:r>
              <a:rPr lang="en-US" altLang="zh-CN" b="1"/>
              <a:t>= a</a:t>
            </a:r>
            <a:r>
              <a:rPr lang="en-US" altLang="zh-CN" b="1" baseline="30000"/>
              <a:t>-1</a:t>
            </a:r>
            <a:r>
              <a:rPr lang="en-US" altLang="zh-CN" b="1"/>
              <a:t>*b</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12005">
                                            <p:txEl>
                                              <p:pRg st="0" end="0"/>
                                            </p:txEl>
                                          </p:spTgt>
                                        </p:tgtEl>
                                        <p:attrNameLst>
                                          <p:attrName>style.visibility</p:attrName>
                                        </p:attrNameLst>
                                      </p:cBhvr>
                                      <p:to>
                                        <p:strVal val="visible"/>
                                      </p:to>
                                    </p:set>
                                    <p:anim calcmode="lin" valueType="num">
                                      <p:cBhvr additive="base">
                                        <p:cTn id="7" dur="500" fill="hold"/>
                                        <p:tgtEl>
                                          <p:spTgt spid="51200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00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12005">
                                            <p:txEl>
                                              <p:pRg st="1" end="1"/>
                                            </p:txEl>
                                          </p:spTgt>
                                        </p:tgtEl>
                                        <p:attrNameLst>
                                          <p:attrName>style.visibility</p:attrName>
                                        </p:attrNameLst>
                                      </p:cBhvr>
                                      <p:to>
                                        <p:strVal val="visible"/>
                                      </p:to>
                                    </p:set>
                                    <p:anim calcmode="lin" valueType="num">
                                      <p:cBhvr additive="base">
                                        <p:cTn id="13" dur="500" fill="hold"/>
                                        <p:tgtEl>
                                          <p:spTgt spid="51200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1200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12005">
                                            <p:txEl>
                                              <p:pRg st="2" end="2"/>
                                            </p:txEl>
                                          </p:spTgt>
                                        </p:tgtEl>
                                        <p:attrNameLst>
                                          <p:attrName>style.visibility</p:attrName>
                                        </p:attrNameLst>
                                      </p:cBhvr>
                                      <p:to>
                                        <p:strVal val="visible"/>
                                      </p:to>
                                    </p:set>
                                    <p:anim calcmode="lin" valueType="num">
                                      <p:cBhvr additive="base">
                                        <p:cTn id="19" dur="500" fill="hold"/>
                                        <p:tgtEl>
                                          <p:spTgt spid="51200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1200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512005">
                                            <p:txEl>
                                              <p:pRg st="3" end="3"/>
                                            </p:txEl>
                                          </p:spTgt>
                                        </p:tgtEl>
                                        <p:attrNameLst>
                                          <p:attrName>style.visibility</p:attrName>
                                        </p:attrNameLst>
                                      </p:cBhvr>
                                      <p:to>
                                        <p:strVal val="visible"/>
                                      </p:to>
                                    </p:set>
                                    <p:anim calcmode="lin" valueType="num">
                                      <p:cBhvr additive="base">
                                        <p:cTn id="25" dur="500" fill="hold"/>
                                        <p:tgtEl>
                                          <p:spTgt spid="51200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1200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512005">
                                            <p:txEl>
                                              <p:pRg st="4" end="4"/>
                                            </p:txEl>
                                          </p:spTgt>
                                        </p:tgtEl>
                                        <p:attrNameLst>
                                          <p:attrName>style.visibility</p:attrName>
                                        </p:attrNameLst>
                                      </p:cBhvr>
                                      <p:to>
                                        <p:strVal val="visible"/>
                                      </p:to>
                                    </p:set>
                                    <p:anim calcmode="lin" valueType="num">
                                      <p:cBhvr additive="base">
                                        <p:cTn id="31" dur="500" fill="hold"/>
                                        <p:tgtEl>
                                          <p:spTgt spid="51200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1200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512005">
                                            <p:txEl>
                                              <p:pRg st="5" end="5"/>
                                            </p:txEl>
                                          </p:spTgt>
                                        </p:tgtEl>
                                        <p:attrNameLst>
                                          <p:attrName>style.visibility</p:attrName>
                                        </p:attrNameLst>
                                      </p:cBhvr>
                                      <p:to>
                                        <p:strVal val="visible"/>
                                      </p:to>
                                    </p:set>
                                    <p:anim calcmode="lin" valueType="num">
                                      <p:cBhvr additive="base">
                                        <p:cTn id="37" dur="500" fill="hold"/>
                                        <p:tgtEl>
                                          <p:spTgt spid="51200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1200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512005">
                                            <p:txEl>
                                              <p:pRg st="6" end="6"/>
                                            </p:txEl>
                                          </p:spTgt>
                                        </p:tgtEl>
                                        <p:attrNameLst>
                                          <p:attrName>style.visibility</p:attrName>
                                        </p:attrNameLst>
                                      </p:cBhvr>
                                      <p:to>
                                        <p:strVal val="visible"/>
                                      </p:to>
                                    </p:set>
                                    <p:anim calcmode="lin" valueType="num">
                                      <p:cBhvr additive="base">
                                        <p:cTn id="43" dur="500" fill="hold"/>
                                        <p:tgtEl>
                                          <p:spTgt spid="51200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1200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512005">
                                            <p:txEl>
                                              <p:pRg st="7" end="7"/>
                                            </p:txEl>
                                          </p:spTgt>
                                        </p:tgtEl>
                                        <p:attrNameLst>
                                          <p:attrName>style.visibility</p:attrName>
                                        </p:attrNameLst>
                                      </p:cBhvr>
                                      <p:to>
                                        <p:strVal val="visible"/>
                                      </p:to>
                                    </p:set>
                                    <p:anim calcmode="lin" valueType="num">
                                      <p:cBhvr additive="base">
                                        <p:cTn id="49" dur="500" fill="hold"/>
                                        <p:tgtEl>
                                          <p:spTgt spid="51200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1200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nodeType="clickEffect">
                                  <p:stCondLst>
                                    <p:cond delay="0"/>
                                  </p:stCondLst>
                                  <p:childTnLst>
                                    <p:set>
                                      <p:cBhvr>
                                        <p:cTn id="54" dur="1" fill="hold">
                                          <p:stCondLst>
                                            <p:cond delay="0"/>
                                          </p:stCondLst>
                                        </p:cTn>
                                        <p:tgtEl>
                                          <p:spTgt spid="512005">
                                            <p:txEl>
                                              <p:pRg st="8" end="8"/>
                                            </p:txEl>
                                          </p:spTgt>
                                        </p:tgtEl>
                                        <p:attrNameLst>
                                          <p:attrName>style.visibility</p:attrName>
                                        </p:attrNameLst>
                                      </p:cBhvr>
                                      <p:to>
                                        <p:strVal val="visible"/>
                                      </p:to>
                                    </p:set>
                                    <p:anim calcmode="lin" valueType="num">
                                      <p:cBhvr additive="base">
                                        <p:cTn id="55" dur="500" fill="hold"/>
                                        <p:tgtEl>
                                          <p:spTgt spid="512005">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1200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4" fill="hold" nodeType="clickEffect">
                                  <p:stCondLst>
                                    <p:cond delay="0"/>
                                  </p:stCondLst>
                                  <p:childTnLst>
                                    <p:set>
                                      <p:cBhvr>
                                        <p:cTn id="60" dur="1" fill="hold">
                                          <p:stCondLst>
                                            <p:cond delay="0"/>
                                          </p:stCondLst>
                                        </p:cTn>
                                        <p:tgtEl>
                                          <p:spTgt spid="512005">
                                            <p:txEl>
                                              <p:pRg st="9" end="9"/>
                                            </p:txEl>
                                          </p:spTgt>
                                        </p:tgtEl>
                                        <p:attrNameLst>
                                          <p:attrName>style.visibility</p:attrName>
                                        </p:attrNameLst>
                                      </p:cBhvr>
                                      <p:to>
                                        <p:strVal val="visible"/>
                                      </p:to>
                                    </p:set>
                                    <p:anim calcmode="lin" valueType="num">
                                      <p:cBhvr additive="base">
                                        <p:cTn id="61" dur="500" fill="hold"/>
                                        <p:tgtEl>
                                          <p:spTgt spid="512005">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512005">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fld id="{E32BC090-BE36-4D59-8682-59810133485E}" type="slidenum">
              <a:rPr lang="en-US" altLang="zh-CN"/>
              <a:pPr/>
              <a:t>40</a:t>
            </a:fld>
            <a:endParaRPr lang="en-US" altLang="zh-CN"/>
          </a:p>
        </p:txBody>
      </p:sp>
      <p:sp>
        <p:nvSpPr>
          <p:cNvPr id="449538" name="Text Box 2"/>
          <p:cNvSpPr txBox="1">
            <a:spLocks noChangeArrowheads="1"/>
          </p:cNvSpPr>
          <p:nvPr/>
        </p:nvSpPr>
        <p:spPr bwMode="auto">
          <a:xfrm>
            <a:off x="466725" y="981075"/>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lnSpc>
                <a:spcPct val="130000"/>
              </a:lnSpc>
            </a:pPr>
            <a:r>
              <a:rPr lang="zh-CN" altLang="en-US" b="1">
                <a:solidFill>
                  <a:srgbClr val="FF0000"/>
                </a:solidFill>
              </a:rPr>
              <a:t>定理</a:t>
            </a:r>
            <a:r>
              <a:rPr lang="en-US" altLang="zh-CN" b="1">
                <a:solidFill>
                  <a:srgbClr val="FF0000"/>
                </a:solidFill>
              </a:rPr>
              <a:t>5-4.3</a:t>
            </a:r>
            <a:r>
              <a:rPr lang="zh-CN" altLang="en-US" b="1">
                <a:solidFill>
                  <a:srgbClr val="FF0000"/>
                </a:solidFill>
              </a:rPr>
              <a:t>：</a:t>
            </a:r>
            <a:r>
              <a:rPr lang="zh-CN" altLang="en-US" b="1"/>
              <a:t>设</a:t>
            </a:r>
            <a:r>
              <a:rPr lang="en-US" altLang="zh-CN" b="1"/>
              <a:t>&lt;G,*&gt;</a:t>
            </a:r>
            <a:r>
              <a:rPr lang="zh-CN" altLang="en-US" b="1"/>
              <a:t>是群，对于</a:t>
            </a:r>
            <a:r>
              <a:rPr lang="en-US" altLang="zh-CN" b="1"/>
              <a:t>a, b, c∈G</a:t>
            </a:r>
            <a:r>
              <a:rPr lang="zh-CN" altLang="en-US" b="1"/>
              <a:t>，如果有</a:t>
            </a:r>
            <a:r>
              <a:rPr lang="en-US" altLang="zh-CN" b="1"/>
              <a:t>a*b=a*c</a:t>
            </a:r>
            <a:r>
              <a:rPr lang="zh-CN" altLang="en-US" b="1"/>
              <a:t>或</a:t>
            </a:r>
            <a:r>
              <a:rPr lang="en-US" altLang="zh-CN" b="1"/>
              <a:t>b*a=c*a</a:t>
            </a:r>
            <a:r>
              <a:rPr lang="zh-CN" altLang="en-US" b="1"/>
              <a:t>，则必有</a:t>
            </a:r>
            <a:r>
              <a:rPr lang="en-US" altLang="zh-CN" b="1"/>
              <a:t>b=c</a:t>
            </a:r>
            <a:r>
              <a:rPr lang="zh-CN" altLang="en-US" b="1"/>
              <a:t>（消去律）。</a:t>
            </a:r>
          </a:p>
        </p:txBody>
      </p:sp>
      <p:sp>
        <p:nvSpPr>
          <p:cNvPr id="449539" name="Text Box 3"/>
          <p:cNvSpPr txBox="1">
            <a:spLocks noChangeArrowheads="1"/>
          </p:cNvSpPr>
          <p:nvPr/>
        </p:nvSpPr>
        <p:spPr bwMode="auto">
          <a:xfrm>
            <a:off x="466725" y="2006600"/>
            <a:ext cx="8277225" cy="294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lang="zh-CN" altLang="en-US" b="1"/>
              <a:t>证明：设</a:t>
            </a:r>
            <a:r>
              <a:rPr lang="en-US" altLang="zh-CN" b="1"/>
              <a:t>a*b=a*c</a:t>
            </a:r>
            <a:r>
              <a:rPr lang="zh-CN" altLang="en-US" b="1"/>
              <a:t>，且</a:t>
            </a:r>
            <a:r>
              <a:rPr lang="en-US" altLang="zh-CN" b="1"/>
              <a:t>a</a:t>
            </a:r>
            <a:r>
              <a:rPr lang="zh-CN" altLang="en-US" b="1"/>
              <a:t>的逆元是</a:t>
            </a:r>
            <a:r>
              <a:rPr lang="en-US" altLang="zh-CN" b="1"/>
              <a:t>a</a:t>
            </a:r>
            <a:r>
              <a:rPr lang="en-US" altLang="zh-CN" b="1" baseline="30000"/>
              <a:t>-1</a:t>
            </a:r>
            <a:r>
              <a:rPr lang="zh-CN" altLang="en-US" b="1"/>
              <a:t>，则有</a:t>
            </a:r>
          </a:p>
          <a:p>
            <a:pPr algn="l">
              <a:lnSpc>
                <a:spcPct val="130000"/>
              </a:lnSpc>
            </a:pPr>
            <a:r>
              <a:rPr lang="zh-CN" altLang="en-US" b="1"/>
              <a:t>            </a:t>
            </a:r>
            <a:r>
              <a:rPr lang="en-US" altLang="zh-CN" b="1"/>
              <a:t>a</a:t>
            </a:r>
            <a:r>
              <a:rPr lang="en-US" altLang="zh-CN" b="1" baseline="30000"/>
              <a:t>-1</a:t>
            </a:r>
            <a:r>
              <a:rPr lang="en-US" altLang="zh-CN" b="1"/>
              <a:t>*(a*b)= a</a:t>
            </a:r>
            <a:r>
              <a:rPr lang="en-US" altLang="zh-CN" b="1" baseline="30000"/>
              <a:t>-1</a:t>
            </a:r>
            <a:r>
              <a:rPr lang="en-US" altLang="zh-CN" b="1"/>
              <a:t>*(a*c)</a:t>
            </a:r>
          </a:p>
          <a:p>
            <a:pPr algn="l">
              <a:lnSpc>
                <a:spcPct val="130000"/>
              </a:lnSpc>
            </a:pPr>
            <a:r>
              <a:rPr lang="en-US" altLang="zh-CN" b="1"/>
              <a:t>           (a</a:t>
            </a:r>
            <a:r>
              <a:rPr lang="en-US" altLang="zh-CN" b="1" baseline="30000"/>
              <a:t>-1</a:t>
            </a:r>
            <a:r>
              <a:rPr lang="en-US" altLang="zh-CN" b="1"/>
              <a:t>*a)*b=(a</a:t>
            </a:r>
            <a:r>
              <a:rPr lang="en-US" altLang="zh-CN" b="1" baseline="30000"/>
              <a:t>-1</a:t>
            </a:r>
            <a:r>
              <a:rPr lang="en-US" altLang="zh-CN" b="1"/>
              <a:t>*a)*c</a:t>
            </a:r>
          </a:p>
          <a:p>
            <a:pPr algn="l">
              <a:lnSpc>
                <a:spcPct val="130000"/>
              </a:lnSpc>
            </a:pPr>
            <a:r>
              <a:rPr lang="en-US" altLang="zh-CN" b="1"/>
              <a:t>            e*b=e*c</a:t>
            </a:r>
          </a:p>
          <a:p>
            <a:pPr algn="l">
              <a:lnSpc>
                <a:spcPct val="130000"/>
              </a:lnSpc>
            </a:pPr>
            <a:r>
              <a:rPr lang="en-US" altLang="zh-CN" b="1"/>
              <a:t>            b=c</a:t>
            </a:r>
          </a:p>
          <a:p>
            <a:pPr algn="l">
              <a:lnSpc>
                <a:spcPct val="130000"/>
              </a:lnSpc>
            </a:pPr>
            <a:r>
              <a:rPr lang="zh-CN" altLang="en-US" b="1"/>
              <a:t>当</a:t>
            </a:r>
            <a:r>
              <a:rPr lang="en-US" altLang="zh-CN" b="1"/>
              <a:t>b*a=c*a</a:t>
            </a:r>
            <a:r>
              <a:rPr lang="zh-CN" altLang="en-US" b="1"/>
              <a:t>时，可同理可证</a:t>
            </a:r>
            <a:r>
              <a:rPr lang="en-US" altLang="zh-CN" b="1"/>
              <a:t>b=c</a:t>
            </a:r>
            <a:r>
              <a:rPr lang="zh-CN" altLang="en-US" b="1"/>
              <a:t>。</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49539">
                                            <p:txEl>
                                              <p:pRg st="0" end="0"/>
                                            </p:txEl>
                                          </p:spTgt>
                                        </p:tgtEl>
                                        <p:attrNameLst>
                                          <p:attrName>style.visibility</p:attrName>
                                        </p:attrNameLst>
                                      </p:cBhvr>
                                      <p:to>
                                        <p:strVal val="visible"/>
                                      </p:to>
                                    </p:set>
                                    <p:anim calcmode="lin" valueType="num">
                                      <p:cBhvr additive="base">
                                        <p:cTn id="7" dur="500" fill="hold"/>
                                        <p:tgtEl>
                                          <p:spTgt spid="4495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4953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49539">
                                            <p:txEl>
                                              <p:pRg st="1" end="1"/>
                                            </p:txEl>
                                          </p:spTgt>
                                        </p:tgtEl>
                                        <p:attrNameLst>
                                          <p:attrName>style.visibility</p:attrName>
                                        </p:attrNameLst>
                                      </p:cBhvr>
                                      <p:to>
                                        <p:strVal val="visible"/>
                                      </p:to>
                                    </p:set>
                                    <p:anim calcmode="lin" valueType="num">
                                      <p:cBhvr additive="base">
                                        <p:cTn id="13" dur="500" fill="hold"/>
                                        <p:tgtEl>
                                          <p:spTgt spid="44953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4953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49539">
                                            <p:txEl>
                                              <p:pRg st="2" end="2"/>
                                            </p:txEl>
                                          </p:spTgt>
                                        </p:tgtEl>
                                        <p:attrNameLst>
                                          <p:attrName>style.visibility</p:attrName>
                                        </p:attrNameLst>
                                      </p:cBhvr>
                                      <p:to>
                                        <p:strVal val="visible"/>
                                      </p:to>
                                    </p:set>
                                    <p:anim calcmode="lin" valueType="num">
                                      <p:cBhvr additive="base">
                                        <p:cTn id="19" dur="500" fill="hold"/>
                                        <p:tgtEl>
                                          <p:spTgt spid="44953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4953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449539">
                                            <p:txEl>
                                              <p:pRg st="3" end="3"/>
                                            </p:txEl>
                                          </p:spTgt>
                                        </p:tgtEl>
                                        <p:attrNameLst>
                                          <p:attrName>style.visibility</p:attrName>
                                        </p:attrNameLst>
                                      </p:cBhvr>
                                      <p:to>
                                        <p:strVal val="visible"/>
                                      </p:to>
                                    </p:set>
                                    <p:anim calcmode="lin" valueType="num">
                                      <p:cBhvr additive="base">
                                        <p:cTn id="25" dur="500" fill="hold"/>
                                        <p:tgtEl>
                                          <p:spTgt spid="44953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4953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449539">
                                            <p:txEl>
                                              <p:pRg st="4" end="4"/>
                                            </p:txEl>
                                          </p:spTgt>
                                        </p:tgtEl>
                                        <p:attrNameLst>
                                          <p:attrName>style.visibility</p:attrName>
                                        </p:attrNameLst>
                                      </p:cBhvr>
                                      <p:to>
                                        <p:strVal val="visible"/>
                                      </p:to>
                                    </p:set>
                                    <p:anim calcmode="lin" valueType="num">
                                      <p:cBhvr additive="base">
                                        <p:cTn id="31" dur="500" fill="hold"/>
                                        <p:tgtEl>
                                          <p:spTgt spid="44953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4953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449539">
                                            <p:txEl>
                                              <p:pRg st="5" end="5"/>
                                            </p:txEl>
                                          </p:spTgt>
                                        </p:tgtEl>
                                        <p:attrNameLst>
                                          <p:attrName>style.visibility</p:attrName>
                                        </p:attrNameLst>
                                      </p:cBhvr>
                                      <p:to>
                                        <p:strVal val="visible"/>
                                      </p:to>
                                    </p:set>
                                    <p:anim calcmode="lin" valueType="num">
                                      <p:cBhvr additive="base">
                                        <p:cTn id="37" dur="500" fill="hold"/>
                                        <p:tgtEl>
                                          <p:spTgt spid="44953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4953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fld id="{8A6E646E-497F-4BD2-AC7B-14D30F5A6529}" type="slidenum">
              <a:rPr lang="en-US" altLang="zh-CN"/>
              <a:pPr/>
              <a:t>41</a:t>
            </a:fld>
            <a:endParaRPr lang="en-US" altLang="zh-CN"/>
          </a:p>
        </p:txBody>
      </p:sp>
      <p:sp>
        <p:nvSpPr>
          <p:cNvPr id="450562" name="Text Box 2"/>
          <p:cNvSpPr txBox="1">
            <a:spLocks noChangeArrowheads="1"/>
          </p:cNvSpPr>
          <p:nvPr/>
        </p:nvSpPr>
        <p:spPr bwMode="auto">
          <a:xfrm>
            <a:off x="468313" y="1125538"/>
            <a:ext cx="7920037"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lang="en-US" altLang="zh-CN" b="1">
                <a:solidFill>
                  <a:schemeClr val="hlink"/>
                </a:solidFill>
              </a:rPr>
              <a:t>3</a:t>
            </a:r>
            <a:r>
              <a:rPr lang="zh-CN" altLang="en-US" b="1">
                <a:solidFill>
                  <a:schemeClr val="hlink"/>
                </a:solidFill>
              </a:rPr>
              <a:t>）置换、等幂元</a:t>
            </a:r>
          </a:p>
          <a:p>
            <a:pPr algn="l">
              <a:lnSpc>
                <a:spcPct val="130000"/>
              </a:lnSpc>
            </a:pPr>
            <a:r>
              <a:rPr lang="zh-CN" altLang="en-US" b="1">
                <a:solidFill>
                  <a:srgbClr val="FF0000"/>
                </a:solidFill>
              </a:rPr>
              <a:t>定义</a:t>
            </a:r>
            <a:r>
              <a:rPr lang="en-US" altLang="zh-CN" b="1">
                <a:solidFill>
                  <a:srgbClr val="FF0000"/>
                </a:solidFill>
              </a:rPr>
              <a:t>5-4.3</a:t>
            </a:r>
            <a:r>
              <a:rPr lang="zh-CN" altLang="en-US" b="1">
                <a:solidFill>
                  <a:srgbClr val="FF0000"/>
                </a:solidFill>
              </a:rPr>
              <a:t>：</a:t>
            </a:r>
            <a:r>
              <a:rPr lang="zh-CN" altLang="en-US" b="1"/>
              <a:t>设</a:t>
            </a:r>
            <a:r>
              <a:rPr lang="en-US" altLang="zh-CN" b="1"/>
              <a:t>S</a:t>
            </a:r>
            <a:r>
              <a:rPr lang="zh-CN" altLang="en-US" b="1"/>
              <a:t>是一个非空集合，从集合</a:t>
            </a:r>
            <a:r>
              <a:rPr lang="en-US" altLang="zh-CN" b="1"/>
              <a:t>S</a:t>
            </a:r>
            <a:r>
              <a:rPr lang="zh-CN" altLang="en-US" b="1"/>
              <a:t>到</a:t>
            </a:r>
            <a:r>
              <a:rPr lang="en-US" altLang="zh-CN" b="1"/>
              <a:t>S</a:t>
            </a:r>
            <a:r>
              <a:rPr lang="zh-CN" altLang="en-US" b="1"/>
              <a:t>的一个双射称为</a:t>
            </a:r>
            <a:r>
              <a:rPr lang="en-US" altLang="zh-CN" b="1"/>
              <a:t>S</a:t>
            </a:r>
            <a:r>
              <a:rPr lang="zh-CN" altLang="en-US" b="1"/>
              <a:t>的一个</a:t>
            </a:r>
            <a:r>
              <a:rPr lang="zh-CN" altLang="en-US" b="1" i="1">
                <a:solidFill>
                  <a:srgbClr val="FF0000"/>
                </a:solidFill>
              </a:rPr>
              <a:t>置换</a:t>
            </a:r>
            <a:r>
              <a:rPr lang="zh-CN" altLang="en-US" b="1"/>
              <a:t>。</a:t>
            </a:r>
          </a:p>
          <a:p>
            <a:pPr algn="l">
              <a:lnSpc>
                <a:spcPct val="130000"/>
              </a:lnSpc>
            </a:pPr>
            <a:r>
              <a:rPr lang="zh-CN" altLang="en-US" b="1"/>
              <a:t>例如：</a:t>
            </a:r>
            <a:r>
              <a:rPr lang="en-US" altLang="zh-CN" b="1"/>
              <a:t>S={a, b, c, d}, </a:t>
            </a:r>
            <a:r>
              <a:rPr lang="zh-CN" altLang="en-US" b="1"/>
              <a:t>一个置换为</a:t>
            </a:r>
          </a:p>
        </p:txBody>
      </p:sp>
      <p:graphicFrame>
        <p:nvGraphicFramePr>
          <p:cNvPr id="450563" name="Object 3"/>
          <p:cNvGraphicFramePr>
            <a:graphicFrameLocks noChangeAspect="1"/>
          </p:cNvGraphicFramePr>
          <p:nvPr/>
        </p:nvGraphicFramePr>
        <p:xfrm>
          <a:off x="5076825" y="2682875"/>
          <a:ext cx="1981200" cy="963613"/>
        </p:xfrm>
        <a:graphic>
          <a:graphicData uri="http://schemas.openxmlformats.org/presentationml/2006/ole">
            <mc:AlternateContent xmlns:mc="http://schemas.openxmlformats.org/markup-compatibility/2006">
              <mc:Choice xmlns:v="urn:schemas-microsoft-com:vml" Requires="v">
                <p:oleObj spid="_x0000_s450644" name="Equation" r:id="rId3" imgW="939600" imgH="457200" progId="Equation.3">
                  <p:embed/>
                </p:oleObj>
              </mc:Choice>
              <mc:Fallback>
                <p:oleObj name="Equation" r:id="rId3" imgW="939600" imgH="4572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6825" y="2682875"/>
                        <a:ext cx="1981200" cy="963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50562">
                                            <p:txEl>
                                              <p:pRg st="2" end="2"/>
                                            </p:txEl>
                                          </p:spTgt>
                                        </p:tgtEl>
                                        <p:attrNameLst>
                                          <p:attrName>style.visibility</p:attrName>
                                        </p:attrNameLst>
                                      </p:cBhvr>
                                      <p:to>
                                        <p:strVal val="visible"/>
                                      </p:to>
                                    </p:set>
                                    <p:anim calcmode="lin" valueType="num">
                                      <p:cBhvr additive="base">
                                        <p:cTn id="7" dur="500" fill="hold"/>
                                        <p:tgtEl>
                                          <p:spTgt spid="450562">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50562">
                                            <p:txEl>
                                              <p:pRg st="2" end="2"/>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nodeType="afterEffect">
                                  <p:stCondLst>
                                    <p:cond delay="0"/>
                                  </p:stCondLst>
                                  <p:childTnLst>
                                    <p:set>
                                      <p:cBhvr>
                                        <p:cTn id="11" dur="1" fill="hold">
                                          <p:stCondLst>
                                            <p:cond delay="0"/>
                                          </p:stCondLst>
                                        </p:cTn>
                                        <p:tgtEl>
                                          <p:spTgt spid="450563"/>
                                        </p:tgtEl>
                                        <p:attrNameLst>
                                          <p:attrName>style.visibility</p:attrName>
                                        </p:attrNameLst>
                                      </p:cBhvr>
                                      <p:to>
                                        <p:strVal val="visible"/>
                                      </p:to>
                                    </p:set>
                                    <p:anim calcmode="lin" valueType="num">
                                      <p:cBhvr additive="base">
                                        <p:cTn id="12" dur="500" fill="hold"/>
                                        <p:tgtEl>
                                          <p:spTgt spid="450563"/>
                                        </p:tgtEl>
                                        <p:attrNameLst>
                                          <p:attrName>ppt_x</p:attrName>
                                        </p:attrNameLst>
                                      </p:cBhvr>
                                      <p:tavLst>
                                        <p:tav tm="0">
                                          <p:val>
                                            <p:strVal val="#ppt_x"/>
                                          </p:val>
                                        </p:tav>
                                        <p:tav tm="100000">
                                          <p:val>
                                            <p:strVal val="#ppt_x"/>
                                          </p:val>
                                        </p:tav>
                                      </p:tavLst>
                                    </p:anim>
                                    <p:anim calcmode="lin" valueType="num">
                                      <p:cBhvr additive="base">
                                        <p:cTn id="13" dur="500" fill="hold"/>
                                        <p:tgtEl>
                                          <p:spTgt spid="4505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2"/>
          <p:cNvSpPr>
            <a:spLocks noGrp="1"/>
          </p:cNvSpPr>
          <p:nvPr>
            <p:ph type="sldNum" sz="quarter" idx="11"/>
          </p:nvPr>
        </p:nvSpPr>
        <p:spPr/>
        <p:txBody>
          <a:bodyPr/>
          <a:lstStyle/>
          <a:p>
            <a:fld id="{C8A24F44-F149-4550-B79A-77923FD02D85}" type="slidenum">
              <a:rPr lang="en-US" altLang="zh-CN"/>
              <a:pPr/>
              <a:t>42</a:t>
            </a:fld>
            <a:endParaRPr lang="en-US" altLang="zh-CN"/>
          </a:p>
        </p:txBody>
      </p:sp>
      <p:sp>
        <p:nvSpPr>
          <p:cNvPr id="525316" name="Text Box 4"/>
          <p:cNvSpPr txBox="1">
            <a:spLocks noChangeArrowheads="1"/>
          </p:cNvSpPr>
          <p:nvPr/>
        </p:nvSpPr>
        <p:spPr bwMode="auto">
          <a:xfrm>
            <a:off x="466725" y="974725"/>
            <a:ext cx="8277225"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lnSpc>
                <a:spcPct val="120000"/>
              </a:lnSpc>
            </a:pPr>
            <a:r>
              <a:rPr lang="zh-CN" altLang="en-US" b="1" dirty="0">
                <a:solidFill>
                  <a:srgbClr val="FF0000"/>
                </a:solidFill>
              </a:rPr>
              <a:t>定理</a:t>
            </a:r>
            <a:r>
              <a:rPr lang="en-US" altLang="zh-CN" b="1" dirty="0">
                <a:solidFill>
                  <a:srgbClr val="FF0000"/>
                </a:solidFill>
              </a:rPr>
              <a:t>5-4.4</a:t>
            </a:r>
            <a:r>
              <a:rPr lang="zh-CN" altLang="en-US" b="1" dirty="0">
                <a:solidFill>
                  <a:srgbClr val="FF0000"/>
                </a:solidFill>
              </a:rPr>
              <a:t>：</a:t>
            </a:r>
            <a:r>
              <a:rPr lang="zh-CN" altLang="en-US" b="1" dirty="0"/>
              <a:t>群</a:t>
            </a:r>
            <a:r>
              <a:rPr lang="en-US" altLang="zh-CN" b="1" dirty="0"/>
              <a:t>&lt;G,*&gt;</a:t>
            </a:r>
            <a:r>
              <a:rPr lang="zh-CN" altLang="en-US" b="1" dirty="0"/>
              <a:t>的运算表中的每一行或每一列都是</a:t>
            </a:r>
            <a:r>
              <a:rPr lang="en-US" altLang="zh-CN" b="1" dirty="0"/>
              <a:t>G</a:t>
            </a:r>
            <a:r>
              <a:rPr lang="zh-CN" altLang="en-US" b="1" dirty="0"/>
              <a:t>的元素的一个置换。</a:t>
            </a:r>
          </a:p>
        </p:txBody>
      </p:sp>
      <p:grpSp>
        <p:nvGrpSpPr>
          <p:cNvPr id="525326" name="Group 14"/>
          <p:cNvGrpSpPr>
            <a:grpSpLocks/>
          </p:cNvGrpSpPr>
          <p:nvPr/>
        </p:nvGrpSpPr>
        <p:grpSpPr bwMode="auto">
          <a:xfrm>
            <a:off x="830263" y="2030413"/>
            <a:ext cx="4462462" cy="2744787"/>
            <a:chOff x="1475" y="1279"/>
            <a:chExt cx="2811" cy="1729"/>
          </a:xfrm>
        </p:grpSpPr>
        <p:sp>
          <p:nvSpPr>
            <p:cNvPr id="525318" name="Text Box 6"/>
            <p:cNvSpPr txBox="1">
              <a:spLocks noChangeArrowheads="1"/>
            </p:cNvSpPr>
            <p:nvPr/>
          </p:nvSpPr>
          <p:spPr bwMode="auto">
            <a:xfrm>
              <a:off x="1477" y="1565"/>
              <a:ext cx="387" cy="1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lnSpc>
                  <a:spcPct val="120000"/>
                </a:lnSpc>
              </a:pPr>
              <a:r>
                <a:rPr kumimoji="0" lang="en-US" altLang="zh-CN" b="1"/>
                <a:t>a</a:t>
              </a:r>
              <a:r>
                <a:rPr lang="en-US" altLang="zh-CN" b="1" baseline="-30000"/>
                <a:t>1</a:t>
              </a:r>
              <a:r>
                <a:rPr kumimoji="0" lang="en-US" altLang="zh-CN" b="1"/>
                <a:t>…</a:t>
              </a:r>
            </a:p>
            <a:p>
              <a:pPr algn="l" eaLnBrk="0" hangingPunct="0">
                <a:lnSpc>
                  <a:spcPct val="120000"/>
                </a:lnSpc>
              </a:pPr>
              <a:r>
                <a:rPr kumimoji="0" lang="en-US" altLang="zh-CN" b="1"/>
                <a:t>a</a:t>
              </a:r>
              <a:r>
                <a:rPr lang="en-US" altLang="zh-CN" b="1" baseline="-30000"/>
                <a:t>j</a:t>
              </a:r>
              <a:endParaRPr kumimoji="0" lang="en-US" altLang="zh-CN" b="1"/>
            </a:p>
            <a:p>
              <a:pPr algn="l" eaLnBrk="0" hangingPunct="0">
                <a:lnSpc>
                  <a:spcPct val="120000"/>
                </a:lnSpc>
              </a:pPr>
              <a:r>
                <a:rPr kumimoji="0" lang="en-US" altLang="zh-CN" b="1"/>
                <a:t>…</a:t>
              </a:r>
            </a:p>
            <a:p>
              <a:pPr algn="l" eaLnBrk="0" hangingPunct="0">
                <a:lnSpc>
                  <a:spcPct val="120000"/>
                </a:lnSpc>
              </a:pPr>
              <a:r>
                <a:rPr kumimoji="0" lang="en-US" altLang="zh-CN" b="1"/>
                <a:t>a</a:t>
              </a:r>
              <a:r>
                <a:rPr lang="en-US" altLang="zh-CN" b="1" baseline="-30000"/>
                <a:t>n</a:t>
              </a:r>
            </a:p>
          </p:txBody>
        </p:sp>
        <p:sp>
          <p:nvSpPr>
            <p:cNvPr id="525319" name="Text Box 7"/>
            <p:cNvSpPr txBox="1">
              <a:spLocks noChangeArrowheads="1"/>
            </p:cNvSpPr>
            <p:nvPr/>
          </p:nvSpPr>
          <p:spPr bwMode="auto">
            <a:xfrm>
              <a:off x="1495" y="1279"/>
              <a:ext cx="2610" cy="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lnSpc>
                  <a:spcPct val="120000"/>
                </a:lnSpc>
              </a:pPr>
              <a:r>
                <a:rPr lang="en-US" altLang="zh-CN" b="1"/>
                <a:t>* </a:t>
              </a:r>
              <a:r>
                <a:rPr kumimoji="0" lang="en-US" altLang="zh-CN" b="1"/>
                <a:t>  a</a:t>
              </a:r>
              <a:r>
                <a:rPr lang="en-US" altLang="zh-CN" b="1" baseline="-30000"/>
                <a:t>1</a:t>
              </a:r>
              <a:r>
                <a:rPr kumimoji="0" lang="en-US" altLang="zh-CN" b="1"/>
                <a:t>      …     a</a:t>
              </a:r>
              <a:r>
                <a:rPr lang="en-US" altLang="zh-CN" b="1" baseline="-30000"/>
                <a:t>i</a:t>
              </a:r>
              <a:r>
                <a:rPr kumimoji="0" lang="en-US" altLang="zh-CN" b="1"/>
                <a:t>     …     a</a:t>
              </a:r>
              <a:r>
                <a:rPr lang="en-US" altLang="zh-CN" b="1" baseline="-30000"/>
                <a:t>n</a:t>
              </a:r>
            </a:p>
          </p:txBody>
        </p:sp>
        <p:sp>
          <p:nvSpPr>
            <p:cNvPr id="525320" name="Line 8"/>
            <p:cNvSpPr>
              <a:spLocks noChangeShapeType="1"/>
            </p:cNvSpPr>
            <p:nvPr/>
          </p:nvSpPr>
          <p:spPr bwMode="auto">
            <a:xfrm>
              <a:off x="1475" y="1596"/>
              <a:ext cx="260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25321" name="Line 9"/>
            <p:cNvSpPr>
              <a:spLocks noChangeShapeType="1"/>
            </p:cNvSpPr>
            <p:nvPr/>
          </p:nvSpPr>
          <p:spPr bwMode="auto">
            <a:xfrm>
              <a:off x="1768" y="1389"/>
              <a:ext cx="0" cy="15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25322" name="Text Box 10"/>
            <p:cNvSpPr txBox="1">
              <a:spLocks noChangeArrowheads="1"/>
            </p:cNvSpPr>
            <p:nvPr/>
          </p:nvSpPr>
          <p:spPr bwMode="auto">
            <a:xfrm>
              <a:off x="1825" y="1570"/>
              <a:ext cx="2461" cy="1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lnSpc>
                  <a:spcPct val="120000"/>
                </a:lnSpc>
              </a:pPr>
              <a:r>
                <a:rPr kumimoji="0" lang="en-US" altLang="zh-CN" b="1"/>
                <a:t>        …     a</a:t>
              </a:r>
              <a:r>
                <a:rPr lang="en-US" altLang="zh-CN" b="1" baseline="-30000"/>
                <a:t>i1     </a:t>
              </a:r>
              <a:r>
                <a:rPr kumimoji="0" lang="en-US" altLang="zh-CN" b="1"/>
                <a:t>…</a:t>
              </a:r>
            </a:p>
            <a:p>
              <a:pPr algn="l" eaLnBrk="0" hangingPunct="0">
                <a:lnSpc>
                  <a:spcPct val="120000"/>
                </a:lnSpc>
              </a:pPr>
              <a:r>
                <a:rPr kumimoji="0" lang="en-US" altLang="zh-CN" b="1"/>
                <a:t>                 …</a:t>
              </a:r>
            </a:p>
            <a:p>
              <a:pPr algn="l" eaLnBrk="0" hangingPunct="0">
                <a:lnSpc>
                  <a:spcPct val="120000"/>
                </a:lnSpc>
              </a:pPr>
              <a:r>
                <a:rPr kumimoji="0" lang="en-US" altLang="zh-CN" b="1"/>
                <a:t>a</a:t>
              </a:r>
              <a:r>
                <a:rPr lang="en-US" altLang="zh-CN" b="1" baseline="-30000"/>
                <a:t>j1                   </a:t>
              </a:r>
              <a:r>
                <a:rPr kumimoji="0" lang="en-US" altLang="zh-CN" b="1"/>
                <a:t>…             a</a:t>
              </a:r>
              <a:r>
                <a:rPr lang="en-US" altLang="zh-CN" b="1" baseline="-30000"/>
                <a:t>jn</a:t>
              </a:r>
              <a:endParaRPr kumimoji="0" lang="en-US" altLang="zh-CN" b="1"/>
            </a:p>
            <a:p>
              <a:pPr algn="l" eaLnBrk="0" hangingPunct="0">
                <a:lnSpc>
                  <a:spcPct val="120000"/>
                </a:lnSpc>
              </a:pPr>
              <a:r>
                <a:rPr kumimoji="0" lang="en-US" altLang="zh-CN"/>
                <a:t>                 </a:t>
              </a:r>
              <a:r>
                <a:rPr kumimoji="0" lang="en-US" altLang="zh-CN" b="1"/>
                <a:t>…</a:t>
              </a:r>
              <a:endParaRPr kumimoji="0" lang="en-US" altLang="zh-CN"/>
            </a:p>
            <a:p>
              <a:pPr algn="l" eaLnBrk="0" hangingPunct="0">
                <a:lnSpc>
                  <a:spcPct val="120000"/>
                </a:lnSpc>
              </a:pPr>
              <a:r>
                <a:rPr kumimoji="0" lang="en-US" altLang="zh-CN" b="1"/>
                <a:t>        …     a</a:t>
              </a:r>
              <a:r>
                <a:rPr lang="en-US" altLang="zh-CN" b="1" baseline="-30000"/>
                <a:t>in     </a:t>
              </a:r>
              <a:r>
                <a:rPr kumimoji="0" lang="en-US" altLang="zh-CN" b="1"/>
                <a:t>…</a:t>
              </a:r>
            </a:p>
          </p:txBody>
        </p:sp>
      </p:grpSp>
      <p:graphicFrame>
        <p:nvGraphicFramePr>
          <p:cNvPr id="525325" name="Object 13"/>
          <p:cNvGraphicFramePr>
            <a:graphicFrameLocks noChangeAspect="1"/>
          </p:cNvGraphicFramePr>
          <p:nvPr/>
        </p:nvGraphicFramePr>
        <p:xfrm>
          <a:off x="5867400" y="2349500"/>
          <a:ext cx="1954213" cy="1016000"/>
        </p:xfrm>
        <a:graphic>
          <a:graphicData uri="http://schemas.openxmlformats.org/presentationml/2006/ole">
            <mc:AlternateContent xmlns:mc="http://schemas.openxmlformats.org/markup-compatibility/2006">
              <mc:Choice xmlns:v="urn:schemas-microsoft-com:vml" Requires="v">
                <p:oleObj spid="_x0000_s525488" name="公式" r:id="rId3" imgW="927000" imgH="482400" progId="Equation.3">
                  <p:embed/>
                </p:oleObj>
              </mc:Choice>
              <mc:Fallback>
                <p:oleObj name="公式" r:id="rId3" imgW="927000" imgH="482400"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2349500"/>
                        <a:ext cx="1954213" cy="1016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5327" name="Object 15"/>
          <p:cNvGraphicFramePr>
            <a:graphicFrameLocks noChangeAspect="1"/>
          </p:cNvGraphicFramePr>
          <p:nvPr/>
        </p:nvGraphicFramePr>
        <p:xfrm>
          <a:off x="5818188" y="3573463"/>
          <a:ext cx="2033587" cy="1016000"/>
        </p:xfrm>
        <a:graphic>
          <a:graphicData uri="http://schemas.openxmlformats.org/presentationml/2006/ole">
            <mc:AlternateContent xmlns:mc="http://schemas.openxmlformats.org/markup-compatibility/2006">
              <mc:Choice xmlns:v="urn:schemas-microsoft-com:vml" Requires="v">
                <p:oleObj spid="_x0000_s525489" name="公式" r:id="rId5" imgW="965160" imgH="482400" progId="Equation.3">
                  <p:embed/>
                </p:oleObj>
              </mc:Choice>
              <mc:Fallback>
                <p:oleObj name="公式" r:id="rId5" imgW="965160" imgH="482400" progId="Equation.3">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18188" y="3573463"/>
                        <a:ext cx="2033587" cy="1016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25326"/>
                                        </p:tgtEl>
                                        <p:attrNameLst>
                                          <p:attrName>style.visibility</p:attrName>
                                        </p:attrNameLst>
                                      </p:cBhvr>
                                      <p:to>
                                        <p:strVal val="visible"/>
                                      </p:to>
                                    </p:set>
                                    <p:anim calcmode="lin" valueType="num">
                                      <p:cBhvr additive="base">
                                        <p:cTn id="7" dur="500" fill="hold"/>
                                        <p:tgtEl>
                                          <p:spTgt spid="525326"/>
                                        </p:tgtEl>
                                        <p:attrNameLst>
                                          <p:attrName>ppt_x</p:attrName>
                                        </p:attrNameLst>
                                      </p:cBhvr>
                                      <p:tavLst>
                                        <p:tav tm="0">
                                          <p:val>
                                            <p:strVal val="#ppt_x"/>
                                          </p:val>
                                        </p:tav>
                                        <p:tav tm="100000">
                                          <p:val>
                                            <p:strVal val="#ppt_x"/>
                                          </p:val>
                                        </p:tav>
                                      </p:tavLst>
                                    </p:anim>
                                    <p:anim calcmode="lin" valueType="num">
                                      <p:cBhvr additive="base">
                                        <p:cTn id="8" dur="500" fill="hold"/>
                                        <p:tgtEl>
                                          <p:spTgt spid="52532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25325"/>
                                        </p:tgtEl>
                                        <p:attrNameLst>
                                          <p:attrName>style.visibility</p:attrName>
                                        </p:attrNameLst>
                                      </p:cBhvr>
                                      <p:to>
                                        <p:strVal val="visible"/>
                                      </p:to>
                                    </p:set>
                                    <p:anim calcmode="lin" valueType="num">
                                      <p:cBhvr additive="base">
                                        <p:cTn id="13" dur="500" fill="hold"/>
                                        <p:tgtEl>
                                          <p:spTgt spid="525325"/>
                                        </p:tgtEl>
                                        <p:attrNameLst>
                                          <p:attrName>ppt_x</p:attrName>
                                        </p:attrNameLst>
                                      </p:cBhvr>
                                      <p:tavLst>
                                        <p:tav tm="0">
                                          <p:val>
                                            <p:strVal val="#ppt_x"/>
                                          </p:val>
                                        </p:tav>
                                        <p:tav tm="100000">
                                          <p:val>
                                            <p:strVal val="#ppt_x"/>
                                          </p:val>
                                        </p:tav>
                                      </p:tavLst>
                                    </p:anim>
                                    <p:anim calcmode="lin" valueType="num">
                                      <p:cBhvr additive="base">
                                        <p:cTn id="14" dur="500" fill="hold"/>
                                        <p:tgtEl>
                                          <p:spTgt spid="52532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25327"/>
                                        </p:tgtEl>
                                        <p:attrNameLst>
                                          <p:attrName>style.visibility</p:attrName>
                                        </p:attrNameLst>
                                      </p:cBhvr>
                                      <p:to>
                                        <p:strVal val="visible"/>
                                      </p:to>
                                    </p:set>
                                    <p:anim calcmode="lin" valueType="num">
                                      <p:cBhvr additive="base">
                                        <p:cTn id="19" dur="500" fill="hold"/>
                                        <p:tgtEl>
                                          <p:spTgt spid="525327"/>
                                        </p:tgtEl>
                                        <p:attrNameLst>
                                          <p:attrName>ppt_x</p:attrName>
                                        </p:attrNameLst>
                                      </p:cBhvr>
                                      <p:tavLst>
                                        <p:tav tm="0">
                                          <p:val>
                                            <p:strVal val="#ppt_x"/>
                                          </p:val>
                                        </p:tav>
                                        <p:tav tm="100000">
                                          <p:val>
                                            <p:strVal val="#ppt_x"/>
                                          </p:val>
                                        </p:tav>
                                      </p:tavLst>
                                    </p:anim>
                                    <p:anim calcmode="lin" valueType="num">
                                      <p:cBhvr additive="base">
                                        <p:cTn id="20" dur="500" fill="hold"/>
                                        <p:tgtEl>
                                          <p:spTgt spid="5253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p:cNvSpPr>
            <a:spLocks noGrp="1"/>
          </p:cNvSpPr>
          <p:nvPr>
            <p:ph type="sldNum" sz="quarter" idx="11"/>
          </p:nvPr>
        </p:nvSpPr>
        <p:spPr/>
        <p:txBody>
          <a:bodyPr/>
          <a:lstStyle/>
          <a:p>
            <a:fld id="{A430FB4A-9291-4BC0-A074-A8734C712B93}" type="slidenum">
              <a:rPr lang="en-US" altLang="zh-CN"/>
              <a:pPr/>
              <a:t>43</a:t>
            </a:fld>
            <a:endParaRPr lang="en-US" altLang="zh-CN"/>
          </a:p>
        </p:txBody>
      </p:sp>
      <p:sp>
        <p:nvSpPr>
          <p:cNvPr id="452610" name="Text Box 2"/>
          <p:cNvSpPr txBox="1">
            <a:spLocks noChangeArrowheads="1"/>
          </p:cNvSpPr>
          <p:nvPr/>
        </p:nvSpPr>
        <p:spPr bwMode="auto">
          <a:xfrm>
            <a:off x="466725" y="981075"/>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lnSpc>
                <a:spcPct val="130000"/>
              </a:lnSpc>
            </a:pPr>
            <a:r>
              <a:rPr lang="zh-CN" altLang="en-US" b="1">
                <a:solidFill>
                  <a:srgbClr val="FF0000"/>
                </a:solidFill>
              </a:rPr>
              <a:t>定义</a:t>
            </a:r>
            <a:r>
              <a:rPr lang="en-US" altLang="zh-CN" b="1">
                <a:solidFill>
                  <a:srgbClr val="FF0000"/>
                </a:solidFill>
              </a:rPr>
              <a:t>5-4.4</a:t>
            </a:r>
            <a:r>
              <a:rPr lang="zh-CN" altLang="en-US" b="1">
                <a:solidFill>
                  <a:srgbClr val="FF0000"/>
                </a:solidFill>
              </a:rPr>
              <a:t>：</a:t>
            </a:r>
            <a:r>
              <a:rPr lang="zh-CN" altLang="en-US" b="1"/>
              <a:t>代数系统</a:t>
            </a:r>
            <a:r>
              <a:rPr lang="en-US" altLang="zh-CN" b="1"/>
              <a:t>&lt;G,*&gt;</a:t>
            </a:r>
            <a:r>
              <a:rPr lang="zh-CN" altLang="en-US" b="1"/>
              <a:t>中，如果存在</a:t>
            </a:r>
            <a:r>
              <a:rPr lang="en-US" altLang="zh-CN" b="1"/>
              <a:t>a ∈G</a:t>
            </a:r>
            <a:r>
              <a:rPr lang="zh-CN" altLang="en-US" b="1"/>
              <a:t>，有</a:t>
            </a:r>
            <a:r>
              <a:rPr lang="en-US" altLang="zh-CN" b="1"/>
              <a:t>a*a=a</a:t>
            </a:r>
            <a:r>
              <a:rPr lang="zh-CN" altLang="en-US" b="1"/>
              <a:t>，则称</a:t>
            </a:r>
            <a:r>
              <a:rPr lang="en-US" altLang="zh-CN" b="1"/>
              <a:t>a</a:t>
            </a:r>
            <a:r>
              <a:rPr lang="zh-CN" altLang="en-US" b="1"/>
              <a:t>为</a:t>
            </a:r>
            <a:r>
              <a:rPr lang="zh-CN" altLang="en-US" b="1" i="1">
                <a:solidFill>
                  <a:srgbClr val="FF0000"/>
                </a:solidFill>
              </a:rPr>
              <a:t>等幂元</a:t>
            </a:r>
            <a:r>
              <a:rPr lang="zh-CN" altLang="en-US" b="1"/>
              <a:t>。</a:t>
            </a:r>
          </a:p>
        </p:txBody>
      </p:sp>
      <p:sp>
        <p:nvSpPr>
          <p:cNvPr id="452611" name="Text Box 3"/>
          <p:cNvSpPr txBox="1">
            <a:spLocks noChangeArrowheads="1"/>
          </p:cNvSpPr>
          <p:nvPr/>
        </p:nvSpPr>
        <p:spPr bwMode="auto">
          <a:xfrm>
            <a:off x="466725" y="1844675"/>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lnSpc>
                <a:spcPct val="130000"/>
              </a:lnSpc>
            </a:pPr>
            <a:r>
              <a:rPr lang="zh-CN" altLang="en-US" b="1" dirty="0">
                <a:solidFill>
                  <a:srgbClr val="FF0000"/>
                </a:solidFill>
              </a:rPr>
              <a:t>定理</a:t>
            </a:r>
            <a:r>
              <a:rPr lang="en-US" altLang="zh-CN" b="1" dirty="0">
                <a:solidFill>
                  <a:srgbClr val="FF0000"/>
                </a:solidFill>
              </a:rPr>
              <a:t>5-4.5</a:t>
            </a:r>
            <a:r>
              <a:rPr lang="zh-CN" altLang="en-US" b="1" dirty="0">
                <a:solidFill>
                  <a:srgbClr val="FF0000"/>
                </a:solidFill>
              </a:rPr>
              <a:t>：</a:t>
            </a:r>
            <a:r>
              <a:rPr lang="zh-CN" altLang="en-US" b="1" dirty="0"/>
              <a:t>在群</a:t>
            </a:r>
            <a:r>
              <a:rPr lang="en-US" altLang="zh-CN" b="1" dirty="0"/>
              <a:t>&lt;A,*&gt;</a:t>
            </a:r>
            <a:r>
              <a:rPr lang="zh-CN" altLang="en-US" b="1" dirty="0"/>
              <a:t>中，除幺元</a:t>
            </a:r>
            <a:r>
              <a:rPr lang="en-US" altLang="zh-CN" b="1" dirty="0"/>
              <a:t>e</a:t>
            </a:r>
            <a:r>
              <a:rPr lang="zh-CN" altLang="en-US" b="1" dirty="0"/>
              <a:t>外，不可能有任何别的等幂元。</a:t>
            </a:r>
          </a:p>
        </p:txBody>
      </p:sp>
      <p:sp>
        <p:nvSpPr>
          <p:cNvPr id="452612" name="Text Box 4"/>
          <p:cNvSpPr txBox="1">
            <a:spLocks noChangeArrowheads="1"/>
          </p:cNvSpPr>
          <p:nvPr/>
        </p:nvSpPr>
        <p:spPr bwMode="auto">
          <a:xfrm>
            <a:off x="466725" y="2781300"/>
            <a:ext cx="8277225" cy="294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eaLnBrk="0" hangingPunct="0">
              <a:lnSpc>
                <a:spcPct val="130000"/>
              </a:lnSpc>
            </a:pPr>
            <a:r>
              <a:rPr kumimoji="0" lang="zh-CN" altLang="en-US" b="1"/>
              <a:t>证明</a:t>
            </a:r>
            <a:r>
              <a:rPr kumimoji="0" lang="en-US" altLang="zh-CN" b="1">
                <a:sym typeface="Wingdings" pitchFamily="2" charset="2"/>
              </a:rPr>
              <a:t>: (1)</a:t>
            </a:r>
            <a:r>
              <a:rPr kumimoji="0" lang="zh-CN" altLang="en-US" b="1">
                <a:sym typeface="Wingdings" pitchFamily="2" charset="2"/>
              </a:rPr>
              <a:t>证幺元</a:t>
            </a:r>
            <a:r>
              <a:rPr kumimoji="0" lang="en-US" altLang="zh-CN" b="1">
                <a:sym typeface="Wingdings" pitchFamily="2" charset="2"/>
              </a:rPr>
              <a:t>e</a:t>
            </a:r>
            <a:r>
              <a:rPr kumimoji="0" lang="zh-CN" altLang="en-US" b="1">
                <a:sym typeface="Wingdings" pitchFamily="2" charset="2"/>
              </a:rPr>
              <a:t>是等幂元</a:t>
            </a:r>
          </a:p>
          <a:p>
            <a:pPr algn="l" eaLnBrk="0" hangingPunct="0">
              <a:lnSpc>
                <a:spcPct val="130000"/>
              </a:lnSpc>
            </a:pPr>
            <a:r>
              <a:rPr kumimoji="0" lang="zh-CN" altLang="en-US" b="1">
                <a:sym typeface="Wingdings" pitchFamily="2" charset="2"/>
              </a:rPr>
              <a:t>         </a:t>
            </a:r>
            <a:r>
              <a:rPr kumimoji="0" lang="en-US" altLang="zh-CN" b="1">
                <a:sym typeface="Wingdings" pitchFamily="2" charset="2"/>
              </a:rPr>
              <a:t>(2)</a:t>
            </a:r>
            <a:r>
              <a:rPr kumimoji="0" lang="zh-CN" altLang="en-US" b="1">
                <a:sym typeface="Wingdings" pitchFamily="2" charset="2"/>
              </a:rPr>
              <a:t>假设</a:t>
            </a:r>
            <a:r>
              <a:rPr lang="zh-CN" altLang="en-US" b="1">
                <a:sym typeface="Symbol" pitchFamily="18" charset="2"/>
              </a:rPr>
              <a:t></a:t>
            </a:r>
            <a:r>
              <a:rPr lang="en-US" altLang="zh-CN" b="1">
                <a:sym typeface="Symbol" pitchFamily="18" charset="2"/>
              </a:rPr>
              <a:t>a</a:t>
            </a:r>
            <a:r>
              <a:rPr lang="en-US" altLang="zh-CN" b="1">
                <a:solidFill>
                  <a:srgbClr val="000000"/>
                </a:solidFill>
                <a:sym typeface="Symbol" pitchFamily="18" charset="2"/>
              </a:rPr>
              <a:t> </a:t>
            </a:r>
            <a:r>
              <a:rPr lang="en-US" altLang="zh-CN" b="1"/>
              <a:t>∈A</a:t>
            </a:r>
            <a:r>
              <a:rPr lang="zh-CN" altLang="en-US" b="1"/>
              <a:t>，且</a:t>
            </a:r>
            <a:r>
              <a:rPr lang="en-US" altLang="zh-CN" b="1"/>
              <a:t>a≠e</a:t>
            </a:r>
            <a:r>
              <a:rPr lang="zh-CN" altLang="en-US" b="1"/>
              <a:t>，满足</a:t>
            </a:r>
            <a:r>
              <a:rPr lang="en-US" altLang="zh-CN" b="1"/>
              <a:t>a*a=a</a:t>
            </a:r>
            <a:r>
              <a:rPr lang="zh-CN" altLang="en-US" b="1"/>
              <a:t>，则</a:t>
            </a:r>
          </a:p>
          <a:p>
            <a:pPr algn="l" eaLnBrk="0" hangingPunct="0">
              <a:lnSpc>
                <a:spcPct val="130000"/>
              </a:lnSpc>
            </a:pPr>
            <a:r>
              <a:rPr lang="zh-CN" altLang="en-US" b="1"/>
              <a:t>         </a:t>
            </a:r>
            <a:r>
              <a:rPr lang="en-US" altLang="zh-CN" b="1"/>
              <a:t>a=e*a</a:t>
            </a:r>
          </a:p>
          <a:p>
            <a:pPr algn="l" eaLnBrk="0" hangingPunct="0">
              <a:lnSpc>
                <a:spcPct val="130000"/>
              </a:lnSpc>
            </a:pPr>
            <a:r>
              <a:rPr lang="en-US" altLang="zh-CN" b="1"/>
              <a:t>           =(a</a:t>
            </a:r>
            <a:r>
              <a:rPr lang="en-US" altLang="zh-CN" b="1" baseline="30000"/>
              <a:t>-1</a:t>
            </a:r>
            <a:r>
              <a:rPr lang="en-US" altLang="zh-CN" b="1"/>
              <a:t>*a)*a</a:t>
            </a:r>
          </a:p>
          <a:p>
            <a:pPr algn="l" eaLnBrk="0" hangingPunct="0">
              <a:lnSpc>
                <a:spcPct val="130000"/>
              </a:lnSpc>
            </a:pPr>
            <a:r>
              <a:rPr lang="en-US" altLang="zh-CN" b="1"/>
              <a:t>           =a</a:t>
            </a:r>
            <a:r>
              <a:rPr lang="en-US" altLang="zh-CN" b="1" baseline="30000"/>
              <a:t>-1</a:t>
            </a:r>
            <a:r>
              <a:rPr lang="en-US" altLang="zh-CN" b="1"/>
              <a:t>*(a*a)</a:t>
            </a:r>
          </a:p>
          <a:p>
            <a:pPr algn="l" eaLnBrk="0" hangingPunct="0">
              <a:lnSpc>
                <a:spcPct val="130000"/>
              </a:lnSpc>
            </a:pPr>
            <a:r>
              <a:rPr lang="en-US" altLang="zh-CN" b="1"/>
              <a:t>           =a</a:t>
            </a:r>
            <a:r>
              <a:rPr lang="en-US" altLang="zh-CN" b="1" baseline="30000"/>
              <a:t>-1</a:t>
            </a:r>
            <a:r>
              <a:rPr lang="en-US" altLang="zh-CN" b="1"/>
              <a:t>*a=e</a:t>
            </a:r>
          </a:p>
        </p:txBody>
      </p:sp>
      <p:sp>
        <p:nvSpPr>
          <p:cNvPr id="452613" name="Rectangle 5"/>
          <p:cNvSpPr>
            <a:spLocks noChangeArrowheads="1"/>
          </p:cNvSpPr>
          <p:nvPr/>
        </p:nvSpPr>
        <p:spPr bwMode="auto">
          <a:xfrm>
            <a:off x="4427538" y="3832225"/>
            <a:ext cx="3313112"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t>a*a=a</a:t>
            </a:r>
          </a:p>
          <a:p>
            <a:pPr algn="l"/>
            <a:r>
              <a:rPr lang="en-US" altLang="zh-CN" b="1"/>
              <a:t>      =a*e</a:t>
            </a:r>
            <a:r>
              <a:rPr lang="zh-CN" altLang="en-US" b="1"/>
              <a:t>（消去律）</a:t>
            </a:r>
          </a:p>
          <a:p>
            <a:pPr algn="l"/>
            <a:r>
              <a:rPr lang="en-US" altLang="zh-CN" b="1"/>
              <a:t>a=e</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52611"/>
                                        </p:tgtEl>
                                        <p:attrNameLst>
                                          <p:attrName>style.visibility</p:attrName>
                                        </p:attrNameLst>
                                      </p:cBhvr>
                                      <p:to>
                                        <p:strVal val="visible"/>
                                      </p:to>
                                    </p:set>
                                    <p:anim calcmode="lin" valueType="num">
                                      <p:cBhvr additive="base">
                                        <p:cTn id="7" dur="500" fill="hold"/>
                                        <p:tgtEl>
                                          <p:spTgt spid="452611"/>
                                        </p:tgtEl>
                                        <p:attrNameLst>
                                          <p:attrName>ppt_x</p:attrName>
                                        </p:attrNameLst>
                                      </p:cBhvr>
                                      <p:tavLst>
                                        <p:tav tm="0">
                                          <p:val>
                                            <p:strVal val="#ppt_x"/>
                                          </p:val>
                                        </p:tav>
                                        <p:tav tm="100000">
                                          <p:val>
                                            <p:strVal val="#ppt_x"/>
                                          </p:val>
                                        </p:tav>
                                      </p:tavLst>
                                    </p:anim>
                                    <p:anim calcmode="lin" valueType="num">
                                      <p:cBhvr additive="base">
                                        <p:cTn id="8" dur="500" fill="hold"/>
                                        <p:tgtEl>
                                          <p:spTgt spid="45261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52612">
                                            <p:txEl>
                                              <p:pRg st="0" end="0"/>
                                            </p:txEl>
                                          </p:spTgt>
                                        </p:tgtEl>
                                        <p:attrNameLst>
                                          <p:attrName>style.visibility</p:attrName>
                                        </p:attrNameLst>
                                      </p:cBhvr>
                                      <p:to>
                                        <p:strVal val="visible"/>
                                      </p:to>
                                    </p:set>
                                    <p:anim calcmode="lin" valueType="num">
                                      <p:cBhvr additive="base">
                                        <p:cTn id="13" dur="500" fill="hold"/>
                                        <p:tgtEl>
                                          <p:spTgt spid="45261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526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52612">
                                            <p:txEl>
                                              <p:pRg st="1" end="1"/>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52612">
                                            <p:txEl>
                                              <p:pRg st="2" end="2"/>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52612">
                                            <p:txEl>
                                              <p:pRg st="3" end="3"/>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452612">
                                            <p:txEl>
                                              <p:pRg st="4" end="4"/>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452612">
                                            <p:txEl>
                                              <p:pRg st="5" end="5"/>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nodeType="clickEffect">
                                  <p:stCondLst>
                                    <p:cond delay="0"/>
                                  </p:stCondLst>
                                  <p:childTnLst>
                                    <p:set>
                                      <p:cBhvr>
                                        <p:cTn id="38" dur="1" fill="hold">
                                          <p:stCondLst>
                                            <p:cond delay="0"/>
                                          </p:stCondLst>
                                        </p:cTn>
                                        <p:tgtEl>
                                          <p:spTgt spid="452613">
                                            <p:txEl>
                                              <p:pRg st="0" end="0"/>
                                            </p:txEl>
                                          </p:spTgt>
                                        </p:tgtEl>
                                        <p:attrNameLst>
                                          <p:attrName>style.visibility</p:attrName>
                                        </p:attrNameLst>
                                      </p:cBhvr>
                                      <p:to>
                                        <p:strVal val="visible"/>
                                      </p:to>
                                    </p:set>
                                    <p:anim calcmode="lin" valueType="num">
                                      <p:cBhvr additive="base">
                                        <p:cTn id="39" dur="500" fill="hold"/>
                                        <p:tgtEl>
                                          <p:spTgt spid="452613">
                                            <p:txEl>
                                              <p:pRg st="0" end="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526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4" fill="hold" nodeType="clickEffect">
                                  <p:stCondLst>
                                    <p:cond delay="0"/>
                                  </p:stCondLst>
                                  <p:childTnLst>
                                    <p:set>
                                      <p:cBhvr>
                                        <p:cTn id="44" dur="1" fill="hold">
                                          <p:stCondLst>
                                            <p:cond delay="0"/>
                                          </p:stCondLst>
                                        </p:cTn>
                                        <p:tgtEl>
                                          <p:spTgt spid="452613">
                                            <p:txEl>
                                              <p:pRg st="1" end="1"/>
                                            </p:txEl>
                                          </p:spTgt>
                                        </p:tgtEl>
                                        <p:attrNameLst>
                                          <p:attrName>style.visibility</p:attrName>
                                        </p:attrNameLst>
                                      </p:cBhvr>
                                      <p:to>
                                        <p:strVal val="visible"/>
                                      </p:to>
                                    </p:set>
                                    <p:anim calcmode="lin" valueType="num">
                                      <p:cBhvr additive="base">
                                        <p:cTn id="45" dur="500" fill="hold"/>
                                        <p:tgtEl>
                                          <p:spTgt spid="452613">
                                            <p:txEl>
                                              <p:pRg st="1" end="1"/>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5261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4" fill="hold" nodeType="clickEffect">
                                  <p:stCondLst>
                                    <p:cond delay="0"/>
                                  </p:stCondLst>
                                  <p:childTnLst>
                                    <p:set>
                                      <p:cBhvr>
                                        <p:cTn id="50" dur="1" fill="hold">
                                          <p:stCondLst>
                                            <p:cond delay="0"/>
                                          </p:stCondLst>
                                        </p:cTn>
                                        <p:tgtEl>
                                          <p:spTgt spid="452613">
                                            <p:txEl>
                                              <p:pRg st="2" end="2"/>
                                            </p:txEl>
                                          </p:spTgt>
                                        </p:tgtEl>
                                        <p:attrNameLst>
                                          <p:attrName>style.visibility</p:attrName>
                                        </p:attrNameLst>
                                      </p:cBhvr>
                                      <p:to>
                                        <p:strVal val="visible"/>
                                      </p:to>
                                    </p:set>
                                    <p:anim calcmode="lin" valueType="num">
                                      <p:cBhvr additive="base">
                                        <p:cTn id="51" dur="500" fill="hold"/>
                                        <p:tgtEl>
                                          <p:spTgt spid="452613">
                                            <p:txEl>
                                              <p:pRg st="2" end="2"/>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45261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2611"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p:cNvSpPr>
            <a:spLocks noGrp="1"/>
          </p:cNvSpPr>
          <p:nvPr>
            <p:ph type="sldNum" sz="quarter" idx="11"/>
          </p:nvPr>
        </p:nvSpPr>
        <p:spPr/>
        <p:txBody>
          <a:bodyPr/>
          <a:lstStyle/>
          <a:p>
            <a:fld id="{26E49D21-E93C-4FF9-9E1A-6868B922E8A1}" type="slidenum">
              <a:rPr lang="en-US" altLang="zh-CN"/>
              <a:pPr/>
              <a:t>44</a:t>
            </a:fld>
            <a:endParaRPr lang="en-US" altLang="zh-CN"/>
          </a:p>
        </p:txBody>
      </p:sp>
      <p:sp>
        <p:nvSpPr>
          <p:cNvPr id="453634" name="Text Box 2"/>
          <p:cNvSpPr txBox="1">
            <a:spLocks noChangeArrowheads="1"/>
          </p:cNvSpPr>
          <p:nvPr/>
        </p:nvSpPr>
        <p:spPr bwMode="auto">
          <a:xfrm>
            <a:off x="466725" y="3590925"/>
            <a:ext cx="8277225" cy="151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lnSpc>
                <a:spcPct val="130000"/>
              </a:lnSpc>
            </a:pPr>
            <a:r>
              <a:rPr lang="zh-CN" altLang="en-US" b="1"/>
              <a:t>证明：设</a:t>
            </a:r>
            <a:r>
              <a:rPr lang="en-US" altLang="zh-CN" b="1"/>
              <a:t>&lt;S,*&gt;</a:t>
            </a:r>
            <a:r>
              <a:rPr lang="zh-CN" altLang="en-US" b="1"/>
              <a:t>中的幺元为</a:t>
            </a:r>
            <a:r>
              <a:rPr lang="en-US" altLang="zh-CN" b="1"/>
              <a:t>e</a:t>
            </a:r>
            <a:r>
              <a:rPr lang="en-US" altLang="zh-CN" b="1" baseline="-25000"/>
              <a:t>1</a:t>
            </a:r>
            <a:r>
              <a:rPr lang="zh-CN" altLang="en-US" b="1"/>
              <a:t>，对于任一</a:t>
            </a:r>
            <a:r>
              <a:rPr lang="en-US" altLang="zh-CN" b="1"/>
              <a:t>x∈S</a:t>
            </a:r>
            <a:r>
              <a:rPr lang="en-US" altLang="zh-CN" b="1">
                <a:sym typeface="Symbol" pitchFamily="18" charset="2"/>
              </a:rPr>
              <a:t></a:t>
            </a:r>
            <a:r>
              <a:rPr lang="en-US" altLang="zh-CN" b="1"/>
              <a:t>G</a:t>
            </a:r>
            <a:r>
              <a:rPr lang="zh-CN" altLang="en-US" b="1"/>
              <a:t>，必有</a:t>
            </a:r>
          </a:p>
          <a:p>
            <a:pPr algn="l">
              <a:lnSpc>
                <a:spcPct val="130000"/>
              </a:lnSpc>
            </a:pPr>
            <a:r>
              <a:rPr lang="zh-CN" altLang="en-US" b="1"/>
              <a:t>             </a:t>
            </a:r>
            <a:r>
              <a:rPr lang="en-US" altLang="zh-CN" b="1"/>
              <a:t>e</a:t>
            </a:r>
            <a:r>
              <a:rPr lang="en-US" altLang="zh-CN" b="1" baseline="-25000"/>
              <a:t>1</a:t>
            </a:r>
            <a:r>
              <a:rPr lang="en-US" altLang="zh-CN" b="1"/>
              <a:t>*x=x=e*x</a:t>
            </a:r>
            <a:r>
              <a:rPr lang="zh-CN" altLang="en-US" b="1"/>
              <a:t>，</a:t>
            </a:r>
          </a:p>
          <a:p>
            <a:pPr algn="l">
              <a:lnSpc>
                <a:spcPct val="130000"/>
              </a:lnSpc>
            </a:pPr>
            <a:r>
              <a:rPr lang="zh-CN" altLang="en-US" b="1"/>
              <a:t>故</a:t>
            </a:r>
            <a:r>
              <a:rPr lang="en-US" altLang="zh-CN" b="1"/>
              <a:t>e</a:t>
            </a:r>
            <a:r>
              <a:rPr lang="en-US" altLang="zh-CN" b="1" baseline="-25000"/>
              <a:t>1</a:t>
            </a:r>
            <a:r>
              <a:rPr lang="en-US" altLang="zh-CN" b="1"/>
              <a:t>=e</a:t>
            </a:r>
            <a:r>
              <a:rPr lang="zh-CN" altLang="en-US" b="1"/>
              <a:t>。</a:t>
            </a:r>
          </a:p>
        </p:txBody>
      </p:sp>
      <p:sp>
        <p:nvSpPr>
          <p:cNvPr id="453635" name="Text Box 3"/>
          <p:cNvSpPr txBox="1">
            <a:spLocks noChangeArrowheads="1"/>
          </p:cNvSpPr>
          <p:nvPr/>
        </p:nvSpPr>
        <p:spPr bwMode="auto">
          <a:xfrm>
            <a:off x="466725" y="1038225"/>
            <a:ext cx="8277225" cy="151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lnSpc>
                <a:spcPct val="130000"/>
              </a:lnSpc>
            </a:pPr>
            <a:r>
              <a:rPr lang="en-US" altLang="zh-CN" b="1">
                <a:solidFill>
                  <a:schemeClr val="hlink"/>
                </a:solidFill>
              </a:rPr>
              <a:t>1</a:t>
            </a:r>
            <a:r>
              <a:rPr lang="zh-CN" altLang="en-US" b="1">
                <a:solidFill>
                  <a:schemeClr val="hlink"/>
                </a:solidFill>
              </a:rPr>
              <a:t>）基本概念</a:t>
            </a:r>
            <a:r>
              <a:rPr lang="en-US" altLang="zh-CN" b="1">
                <a:solidFill>
                  <a:schemeClr val="hlink"/>
                </a:solidFill>
              </a:rPr>
              <a:t>(</a:t>
            </a:r>
            <a:r>
              <a:rPr lang="zh-CN" altLang="en-US" b="1">
                <a:solidFill>
                  <a:schemeClr val="hlink"/>
                </a:solidFill>
              </a:rPr>
              <a:t>子群、平凡子群</a:t>
            </a:r>
            <a:r>
              <a:rPr lang="en-US" altLang="zh-CN" b="1">
                <a:solidFill>
                  <a:schemeClr val="hlink"/>
                </a:solidFill>
              </a:rPr>
              <a:t>)</a:t>
            </a:r>
          </a:p>
          <a:p>
            <a:pPr algn="l">
              <a:lnSpc>
                <a:spcPct val="130000"/>
              </a:lnSpc>
            </a:pPr>
            <a:r>
              <a:rPr lang="zh-CN" altLang="en-US" b="1">
                <a:solidFill>
                  <a:srgbClr val="FF0000"/>
                </a:solidFill>
              </a:rPr>
              <a:t>定义</a:t>
            </a:r>
            <a:r>
              <a:rPr lang="en-US" altLang="zh-CN" b="1">
                <a:solidFill>
                  <a:srgbClr val="FF0000"/>
                </a:solidFill>
              </a:rPr>
              <a:t>5-4.5</a:t>
            </a:r>
            <a:r>
              <a:rPr lang="zh-CN" altLang="en-US" b="1">
                <a:solidFill>
                  <a:srgbClr val="FF0000"/>
                </a:solidFill>
              </a:rPr>
              <a:t>：</a:t>
            </a:r>
            <a:r>
              <a:rPr lang="zh-CN" altLang="en-US" b="1"/>
              <a:t>设</a:t>
            </a:r>
            <a:r>
              <a:rPr lang="en-US" altLang="zh-CN" b="1"/>
              <a:t>&lt;G,*&gt;</a:t>
            </a:r>
            <a:r>
              <a:rPr lang="zh-CN" altLang="en-US" b="1"/>
              <a:t>是一个群，</a:t>
            </a:r>
            <a:r>
              <a:rPr lang="en-US" altLang="zh-CN" b="1"/>
              <a:t>S</a:t>
            </a:r>
            <a:r>
              <a:rPr lang="zh-CN" altLang="en-US" b="1"/>
              <a:t>是</a:t>
            </a:r>
            <a:r>
              <a:rPr lang="en-US" altLang="zh-CN" b="1"/>
              <a:t>G</a:t>
            </a:r>
            <a:r>
              <a:rPr lang="zh-CN" altLang="en-US" b="1"/>
              <a:t>的一个非空子集，如果</a:t>
            </a:r>
            <a:r>
              <a:rPr lang="en-US" altLang="zh-CN" b="1"/>
              <a:t>&lt;S,*&gt;</a:t>
            </a:r>
            <a:r>
              <a:rPr lang="zh-CN" altLang="en-US" b="1"/>
              <a:t>也构成群，则称</a:t>
            </a:r>
            <a:r>
              <a:rPr lang="en-US" altLang="zh-CN" b="1"/>
              <a:t>&lt;S,*&gt;</a:t>
            </a:r>
            <a:r>
              <a:rPr lang="zh-CN" altLang="en-US" b="1"/>
              <a:t>是</a:t>
            </a:r>
            <a:r>
              <a:rPr lang="en-US" altLang="zh-CN" b="1"/>
              <a:t>&lt;G,*&gt;</a:t>
            </a:r>
            <a:r>
              <a:rPr lang="zh-CN" altLang="en-US" b="1"/>
              <a:t>的一个</a:t>
            </a:r>
            <a:r>
              <a:rPr lang="zh-CN" altLang="en-US" b="1" i="1">
                <a:solidFill>
                  <a:srgbClr val="FF0000"/>
                </a:solidFill>
              </a:rPr>
              <a:t>子群</a:t>
            </a:r>
            <a:r>
              <a:rPr lang="zh-CN" altLang="en-US" b="1"/>
              <a:t>。</a:t>
            </a:r>
          </a:p>
        </p:txBody>
      </p:sp>
      <p:sp>
        <p:nvSpPr>
          <p:cNvPr id="453637" name="Text Box 5"/>
          <p:cNvSpPr txBox="1">
            <a:spLocks noChangeArrowheads="1"/>
          </p:cNvSpPr>
          <p:nvPr/>
        </p:nvSpPr>
        <p:spPr bwMode="auto">
          <a:xfrm>
            <a:off x="466725" y="2560638"/>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lnSpc>
                <a:spcPct val="130000"/>
              </a:lnSpc>
            </a:pPr>
            <a:r>
              <a:rPr lang="zh-CN" altLang="en-US" b="1">
                <a:solidFill>
                  <a:srgbClr val="FF0000"/>
                </a:solidFill>
              </a:rPr>
              <a:t>定理</a:t>
            </a:r>
            <a:r>
              <a:rPr lang="en-US" altLang="zh-CN" b="1">
                <a:solidFill>
                  <a:srgbClr val="FF0000"/>
                </a:solidFill>
              </a:rPr>
              <a:t>5-4.6</a:t>
            </a:r>
            <a:r>
              <a:rPr lang="zh-CN" altLang="en-US" b="1">
                <a:solidFill>
                  <a:srgbClr val="FF0000"/>
                </a:solidFill>
              </a:rPr>
              <a:t>：</a:t>
            </a:r>
            <a:r>
              <a:rPr lang="zh-CN" altLang="en-US" b="1"/>
              <a:t>设</a:t>
            </a:r>
            <a:r>
              <a:rPr lang="en-US" altLang="zh-CN" b="1"/>
              <a:t>&lt;G,*&gt;</a:t>
            </a:r>
            <a:r>
              <a:rPr lang="zh-CN" altLang="en-US" b="1"/>
              <a:t>是一个群，</a:t>
            </a:r>
            <a:r>
              <a:rPr lang="en-US" altLang="zh-CN" b="1"/>
              <a:t>&lt;S,*&gt;</a:t>
            </a:r>
            <a:r>
              <a:rPr lang="zh-CN" altLang="en-US" b="1"/>
              <a:t>是</a:t>
            </a:r>
            <a:r>
              <a:rPr lang="en-US" altLang="zh-CN" b="1"/>
              <a:t>&lt;G,*&gt;</a:t>
            </a:r>
            <a:r>
              <a:rPr lang="zh-CN" altLang="en-US" b="1"/>
              <a:t>的一个子群，那么</a:t>
            </a:r>
            <a:r>
              <a:rPr lang="en-US" altLang="zh-CN" b="1"/>
              <a:t>&lt;G,*&gt;</a:t>
            </a:r>
            <a:r>
              <a:rPr lang="zh-CN" altLang="en-US" b="1"/>
              <a:t>中的幺元</a:t>
            </a:r>
            <a:r>
              <a:rPr lang="en-US" altLang="zh-CN" b="1"/>
              <a:t>e</a:t>
            </a:r>
            <a:r>
              <a:rPr lang="zh-CN" altLang="en-US" b="1"/>
              <a:t>必定也是</a:t>
            </a:r>
            <a:r>
              <a:rPr lang="en-US" altLang="zh-CN" b="1"/>
              <a:t>&lt;S,*&gt;</a:t>
            </a:r>
            <a:r>
              <a:rPr lang="zh-CN" altLang="en-US" b="1"/>
              <a:t>中的幺元。</a:t>
            </a:r>
          </a:p>
        </p:txBody>
      </p:sp>
      <p:sp>
        <p:nvSpPr>
          <p:cNvPr id="453639" name="Rectangle 7"/>
          <p:cNvSpPr>
            <a:spLocks noChangeArrowheads="1"/>
          </p:cNvSpPr>
          <p:nvPr/>
        </p:nvSpPr>
        <p:spPr bwMode="auto">
          <a:xfrm>
            <a:off x="1189038" y="274638"/>
            <a:ext cx="467836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3200" b="1">
                <a:solidFill>
                  <a:schemeClr val="folHlink"/>
                </a:solidFill>
                <a:latin typeface="楷体_GB2312" pitchFamily="49" charset="-122"/>
                <a:ea typeface="楷体_GB2312" pitchFamily="49" charset="-122"/>
              </a:rPr>
              <a:t>2</a:t>
            </a:r>
            <a:r>
              <a:rPr lang="zh-CN" altLang="en-US" sz="3200" b="1">
                <a:solidFill>
                  <a:schemeClr val="folHlink"/>
                </a:solidFill>
                <a:latin typeface="楷体_GB2312" pitchFamily="49" charset="-122"/>
                <a:ea typeface="楷体_GB2312" pitchFamily="49" charset="-122"/>
              </a:rPr>
              <a:t>、子群及其性质</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53637"/>
                                        </p:tgtEl>
                                        <p:attrNameLst>
                                          <p:attrName>style.visibility</p:attrName>
                                        </p:attrNameLst>
                                      </p:cBhvr>
                                      <p:to>
                                        <p:strVal val="visible"/>
                                      </p:to>
                                    </p:set>
                                    <p:anim calcmode="lin" valueType="num">
                                      <p:cBhvr additive="base">
                                        <p:cTn id="7" dur="500" fill="hold"/>
                                        <p:tgtEl>
                                          <p:spTgt spid="453637"/>
                                        </p:tgtEl>
                                        <p:attrNameLst>
                                          <p:attrName>ppt_x</p:attrName>
                                        </p:attrNameLst>
                                      </p:cBhvr>
                                      <p:tavLst>
                                        <p:tav tm="0">
                                          <p:val>
                                            <p:strVal val="#ppt_x"/>
                                          </p:val>
                                        </p:tav>
                                        <p:tav tm="100000">
                                          <p:val>
                                            <p:strVal val="#ppt_x"/>
                                          </p:val>
                                        </p:tav>
                                      </p:tavLst>
                                    </p:anim>
                                    <p:anim calcmode="lin" valueType="num">
                                      <p:cBhvr additive="base">
                                        <p:cTn id="8" dur="500" fill="hold"/>
                                        <p:tgtEl>
                                          <p:spTgt spid="45363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53634">
                                            <p:txEl>
                                              <p:pRg st="0" end="0"/>
                                            </p:txEl>
                                          </p:spTgt>
                                        </p:tgtEl>
                                        <p:attrNameLst>
                                          <p:attrName>style.visibility</p:attrName>
                                        </p:attrNameLst>
                                      </p:cBhvr>
                                      <p:to>
                                        <p:strVal val="visible"/>
                                      </p:to>
                                    </p:set>
                                    <p:anim calcmode="lin" valueType="num">
                                      <p:cBhvr additive="base">
                                        <p:cTn id="13" dur="500" fill="hold"/>
                                        <p:tgtEl>
                                          <p:spTgt spid="45363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5363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53634">
                                            <p:txEl>
                                              <p:pRg st="1" end="1"/>
                                            </p:txEl>
                                          </p:spTgt>
                                        </p:tgtEl>
                                        <p:attrNameLst>
                                          <p:attrName>style.visibility</p:attrName>
                                        </p:attrNameLst>
                                      </p:cBhvr>
                                      <p:to>
                                        <p:strVal val="visible"/>
                                      </p:to>
                                    </p:set>
                                    <p:anim calcmode="lin" valueType="num">
                                      <p:cBhvr additive="base">
                                        <p:cTn id="19" dur="500" fill="hold"/>
                                        <p:tgtEl>
                                          <p:spTgt spid="453634">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5363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453634">
                                            <p:txEl>
                                              <p:pRg st="2" end="2"/>
                                            </p:txEl>
                                          </p:spTgt>
                                        </p:tgtEl>
                                        <p:attrNameLst>
                                          <p:attrName>style.visibility</p:attrName>
                                        </p:attrNameLst>
                                      </p:cBhvr>
                                      <p:to>
                                        <p:strVal val="visible"/>
                                      </p:to>
                                    </p:set>
                                    <p:anim calcmode="lin" valueType="num">
                                      <p:cBhvr additive="base">
                                        <p:cTn id="25" dur="500" fill="hold"/>
                                        <p:tgtEl>
                                          <p:spTgt spid="453634">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5363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363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fld id="{EAD97BB8-CFDA-41B0-952F-8493B485B75B}" type="slidenum">
              <a:rPr lang="en-US" altLang="zh-CN"/>
              <a:pPr/>
              <a:t>45</a:t>
            </a:fld>
            <a:endParaRPr lang="en-US" altLang="zh-CN"/>
          </a:p>
        </p:txBody>
      </p:sp>
      <p:sp>
        <p:nvSpPr>
          <p:cNvPr id="454658" name="Text Box 2"/>
          <p:cNvSpPr txBox="1">
            <a:spLocks noChangeArrowheads="1"/>
          </p:cNvSpPr>
          <p:nvPr/>
        </p:nvSpPr>
        <p:spPr bwMode="auto">
          <a:xfrm>
            <a:off x="466725" y="2532063"/>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lnSpc>
                <a:spcPct val="130000"/>
              </a:lnSpc>
            </a:pPr>
            <a:r>
              <a:rPr lang="zh-CN" altLang="en-US" b="1">
                <a:solidFill>
                  <a:srgbClr val="FF0000"/>
                </a:solidFill>
              </a:rPr>
              <a:t>定义</a:t>
            </a:r>
            <a:r>
              <a:rPr lang="en-US" altLang="zh-CN" b="1">
                <a:solidFill>
                  <a:srgbClr val="FF0000"/>
                </a:solidFill>
              </a:rPr>
              <a:t>5-4.6</a:t>
            </a:r>
            <a:r>
              <a:rPr lang="zh-CN" altLang="en-US" b="1">
                <a:solidFill>
                  <a:srgbClr val="FF0000"/>
                </a:solidFill>
              </a:rPr>
              <a:t>：</a:t>
            </a:r>
            <a:r>
              <a:rPr lang="zh-CN" altLang="en-US" b="1"/>
              <a:t>设</a:t>
            </a:r>
            <a:r>
              <a:rPr lang="en-US" altLang="zh-CN" b="1"/>
              <a:t>&lt;G,*&gt;</a:t>
            </a:r>
            <a:r>
              <a:rPr lang="zh-CN" altLang="en-US" b="1"/>
              <a:t>是一个群，</a:t>
            </a:r>
            <a:r>
              <a:rPr lang="en-US" altLang="zh-CN" b="1"/>
              <a:t>&lt;S,*&gt;</a:t>
            </a:r>
            <a:r>
              <a:rPr lang="zh-CN" altLang="en-US" b="1"/>
              <a:t>是</a:t>
            </a:r>
            <a:r>
              <a:rPr lang="en-US" altLang="zh-CN" b="1"/>
              <a:t>&lt;G,*&gt;</a:t>
            </a:r>
            <a:r>
              <a:rPr lang="zh-CN" altLang="en-US" b="1"/>
              <a:t>的一个子群，如果</a:t>
            </a:r>
            <a:r>
              <a:rPr lang="en-US" altLang="zh-CN" b="1"/>
              <a:t>S={e}</a:t>
            </a:r>
            <a:r>
              <a:rPr lang="zh-CN" altLang="en-US" b="1"/>
              <a:t>或 </a:t>
            </a:r>
            <a:r>
              <a:rPr lang="en-US" altLang="zh-CN" b="1"/>
              <a:t>S=G</a:t>
            </a:r>
            <a:r>
              <a:rPr lang="zh-CN" altLang="en-US" b="1"/>
              <a:t>，则称</a:t>
            </a:r>
            <a:r>
              <a:rPr lang="en-US" altLang="zh-CN" b="1"/>
              <a:t>&lt;S,*&gt;</a:t>
            </a:r>
            <a:r>
              <a:rPr lang="zh-CN" altLang="en-US" b="1"/>
              <a:t>为</a:t>
            </a:r>
            <a:r>
              <a:rPr lang="en-US" altLang="zh-CN" b="1"/>
              <a:t>&lt;G,*&gt;</a:t>
            </a:r>
            <a:r>
              <a:rPr lang="zh-CN" altLang="en-US" b="1"/>
              <a:t>的</a:t>
            </a:r>
            <a:r>
              <a:rPr lang="zh-CN" altLang="en-US" b="1" i="1">
                <a:solidFill>
                  <a:srgbClr val="FF0000"/>
                </a:solidFill>
              </a:rPr>
              <a:t>平凡子群</a:t>
            </a:r>
            <a:r>
              <a:rPr lang="zh-CN" altLang="en-US" b="1"/>
              <a:t>。</a:t>
            </a:r>
          </a:p>
        </p:txBody>
      </p:sp>
      <p:sp>
        <p:nvSpPr>
          <p:cNvPr id="454659" name="Text Box 3"/>
          <p:cNvSpPr txBox="1">
            <a:spLocks noChangeArrowheads="1"/>
          </p:cNvSpPr>
          <p:nvPr/>
        </p:nvSpPr>
        <p:spPr bwMode="auto">
          <a:xfrm>
            <a:off x="466725" y="1041400"/>
            <a:ext cx="8277225" cy="151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l" eaLnBrk="0" hangingPunct="0">
              <a:lnSpc>
                <a:spcPct val="130000"/>
              </a:lnSpc>
            </a:pPr>
            <a:r>
              <a:rPr kumimoji="0" lang="zh-CN" altLang="en-US" b="1">
                <a:solidFill>
                  <a:schemeClr val="hlink"/>
                </a:solidFill>
              </a:rPr>
              <a:t>例</a:t>
            </a:r>
            <a:r>
              <a:rPr kumimoji="0" lang="en-US" altLang="zh-CN" b="1">
                <a:solidFill>
                  <a:schemeClr val="hlink"/>
                </a:solidFill>
              </a:rPr>
              <a:t>2</a:t>
            </a:r>
            <a:r>
              <a:rPr kumimoji="0" lang="zh-CN" altLang="en-US" b="1">
                <a:solidFill>
                  <a:schemeClr val="hlink"/>
                </a:solidFill>
              </a:rPr>
              <a:t>：</a:t>
            </a:r>
            <a:r>
              <a:rPr kumimoji="0" lang="zh-CN" altLang="en-US" b="1"/>
              <a:t>判断下列说法是否正确</a:t>
            </a:r>
          </a:p>
          <a:p>
            <a:pPr algn="l" eaLnBrk="0" hangingPunct="0">
              <a:lnSpc>
                <a:spcPct val="130000"/>
              </a:lnSpc>
            </a:pPr>
            <a:r>
              <a:rPr kumimoji="0" lang="zh-CN" altLang="en-US" b="1"/>
              <a:t>     </a:t>
            </a:r>
            <a:r>
              <a:rPr kumimoji="0" lang="en-US" altLang="zh-CN" b="1"/>
              <a:t>&lt;Z, +&gt;</a:t>
            </a:r>
            <a:r>
              <a:rPr kumimoji="0" lang="zh-CN" altLang="en-US" b="1"/>
              <a:t>为</a:t>
            </a:r>
            <a:r>
              <a:rPr kumimoji="0" lang="en-US" altLang="zh-CN" b="1"/>
              <a:t>&lt;Q, +&gt;</a:t>
            </a:r>
            <a:r>
              <a:rPr kumimoji="0" lang="zh-CN" altLang="en-US" b="1"/>
              <a:t>的子群</a:t>
            </a:r>
          </a:p>
          <a:p>
            <a:pPr algn="l" eaLnBrk="0" hangingPunct="0">
              <a:lnSpc>
                <a:spcPct val="130000"/>
              </a:lnSpc>
            </a:pPr>
            <a:r>
              <a:rPr kumimoji="0" lang="zh-CN" altLang="en-US" b="1"/>
              <a:t>     </a:t>
            </a:r>
            <a:r>
              <a:rPr kumimoji="0" lang="en-US" altLang="zh-CN" b="1"/>
              <a:t>&lt;R</a:t>
            </a:r>
            <a:r>
              <a:rPr kumimoji="0" lang="en-US" altLang="zh-CN" b="1" baseline="-25000"/>
              <a:t>+</a:t>
            </a:r>
            <a:r>
              <a:rPr kumimoji="0" lang="en-US" altLang="zh-CN" b="1"/>
              <a:t>, </a:t>
            </a:r>
            <a:r>
              <a:rPr lang="en-US" altLang="zh-CN" b="1"/>
              <a:t>×</a:t>
            </a:r>
            <a:r>
              <a:rPr kumimoji="0" lang="en-US" altLang="zh-CN" b="1"/>
              <a:t>&gt;</a:t>
            </a:r>
            <a:r>
              <a:rPr kumimoji="0" lang="zh-CN" altLang="en-US" b="1"/>
              <a:t>是</a:t>
            </a:r>
            <a:r>
              <a:rPr kumimoji="0" lang="en-US" altLang="zh-CN" b="1"/>
              <a:t>&lt;R-{0}, </a:t>
            </a:r>
            <a:r>
              <a:rPr lang="en-US" altLang="zh-CN" b="1"/>
              <a:t>×</a:t>
            </a:r>
            <a:r>
              <a:rPr kumimoji="0" lang="en-US" altLang="zh-CN" b="1"/>
              <a:t>&gt;</a:t>
            </a:r>
            <a:r>
              <a:rPr kumimoji="0" lang="zh-CN" altLang="en-US" b="1"/>
              <a:t>的子群</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54658"/>
                                        </p:tgtEl>
                                        <p:attrNameLst>
                                          <p:attrName>style.visibility</p:attrName>
                                        </p:attrNameLst>
                                      </p:cBhvr>
                                      <p:to>
                                        <p:strVal val="visible"/>
                                      </p:to>
                                    </p:set>
                                    <p:anim calcmode="lin" valueType="num">
                                      <p:cBhvr additive="base">
                                        <p:cTn id="7" dur="500" fill="hold"/>
                                        <p:tgtEl>
                                          <p:spTgt spid="454658"/>
                                        </p:tgtEl>
                                        <p:attrNameLst>
                                          <p:attrName>ppt_x</p:attrName>
                                        </p:attrNameLst>
                                      </p:cBhvr>
                                      <p:tavLst>
                                        <p:tav tm="0">
                                          <p:val>
                                            <p:strVal val="#ppt_x"/>
                                          </p:val>
                                        </p:tav>
                                        <p:tav tm="100000">
                                          <p:val>
                                            <p:strVal val="#ppt_x"/>
                                          </p:val>
                                        </p:tav>
                                      </p:tavLst>
                                    </p:anim>
                                    <p:anim calcmode="lin" valueType="num">
                                      <p:cBhvr additive="base">
                                        <p:cTn id="8" dur="500" fill="hold"/>
                                        <p:tgtEl>
                                          <p:spTgt spid="4546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465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fld id="{5F1AEA64-CFCB-4BAA-B8E4-DDFF07E2DD29}" type="slidenum">
              <a:rPr lang="en-US" altLang="zh-CN"/>
              <a:pPr/>
              <a:t>46</a:t>
            </a:fld>
            <a:endParaRPr lang="en-US" altLang="zh-CN"/>
          </a:p>
        </p:txBody>
      </p:sp>
      <p:sp>
        <p:nvSpPr>
          <p:cNvPr id="513028" name="Text Box 4"/>
          <p:cNvSpPr txBox="1">
            <a:spLocks noChangeArrowheads="1"/>
          </p:cNvSpPr>
          <p:nvPr/>
        </p:nvSpPr>
        <p:spPr bwMode="auto">
          <a:xfrm>
            <a:off x="466725" y="1022350"/>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lnSpc>
                <a:spcPct val="130000"/>
              </a:lnSpc>
            </a:pPr>
            <a:r>
              <a:rPr lang="zh-CN" altLang="en-US" b="1">
                <a:solidFill>
                  <a:schemeClr val="hlink"/>
                </a:solidFill>
              </a:rPr>
              <a:t>例</a:t>
            </a:r>
            <a:r>
              <a:rPr lang="en-US" altLang="zh-CN" b="1">
                <a:solidFill>
                  <a:schemeClr val="hlink"/>
                </a:solidFill>
              </a:rPr>
              <a:t>3</a:t>
            </a:r>
            <a:r>
              <a:rPr lang="zh-CN" altLang="en-US" b="1">
                <a:solidFill>
                  <a:schemeClr val="hlink"/>
                </a:solidFill>
              </a:rPr>
              <a:t>：</a:t>
            </a:r>
            <a:r>
              <a:rPr lang="en-US" altLang="zh-CN" b="1"/>
              <a:t>&lt;I,+&gt;</a:t>
            </a:r>
            <a:r>
              <a:rPr lang="zh-CN" altLang="en-US" b="1"/>
              <a:t>是一个群，设</a:t>
            </a:r>
            <a:r>
              <a:rPr lang="en-US" altLang="zh-CN" b="1"/>
              <a:t>I</a:t>
            </a:r>
            <a:r>
              <a:rPr lang="en-US" altLang="zh-CN" b="1" baseline="-25000"/>
              <a:t>E</a:t>
            </a:r>
            <a:r>
              <a:rPr lang="en-US" altLang="zh-CN" b="1"/>
              <a:t>={x|x=2n, n∈I}</a:t>
            </a:r>
            <a:r>
              <a:rPr lang="zh-CN" altLang="en-US" b="1"/>
              <a:t>，证明</a:t>
            </a:r>
            <a:r>
              <a:rPr lang="en-US" altLang="zh-CN" b="1"/>
              <a:t>&lt; I</a:t>
            </a:r>
            <a:r>
              <a:rPr lang="en-US" altLang="zh-CN" b="1" baseline="-25000"/>
              <a:t>E</a:t>
            </a:r>
            <a:r>
              <a:rPr lang="en-US" altLang="zh-CN" b="1"/>
              <a:t>, +&gt;</a:t>
            </a:r>
            <a:r>
              <a:rPr lang="zh-CN" altLang="en-US" b="1"/>
              <a:t>是</a:t>
            </a:r>
            <a:r>
              <a:rPr lang="en-US" altLang="zh-CN" b="1"/>
              <a:t>&lt;I, +&gt;</a:t>
            </a:r>
            <a:r>
              <a:rPr lang="zh-CN" altLang="en-US" b="1"/>
              <a:t>的一个子群。</a:t>
            </a:r>
          </a:p>
        </p:txBody>
      </p:sp>
      <p:sp>
        <p:nvSpPr>
          <p:cNvPr id="513029" name="Text Box 5"/>
          <p:cNvSpPr txBox="1">
            <a:spLocks noChangeArrowheads="1"/>
          </p:cNvSpPr>
          <p:nvPr/>
        </p:nvSpPr>
        <p:spPr bwMode="auto">
          <a:xfrm>
            <a:off x="466725" y="2030413"/>
            <a:ext cx="8277225" cy="3414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lnSpc>
                <a:spcPct val="130000"/>
              </a:lnSpc>
            </a:pPr>
            <a:r>
              <a:rPr lang="zh-CN" altLang="en-US" b="1"/>
              <a:t>证明：</a:t>
            </a:r>
            <a:r>
              <a:rPr lang="en-US" altLang="zh-CN" b="1"/>
              <a:t>1</a:t>
            </a:r>
            <a:r>
              <a:rPr lang="zh-CN" altLang="en-US" b="1"/>
              <a:t>）封闭性。</a:t>
            </a:r>
          </a:p>
          <a:p>
            <a:pPr algn="l">
              <a:lnSpc>
                <a:spcPct val="130000"/>
              </a:lnSpc>
            </a:pPr>
            <a:r>
              <a:rPr lang="zh-CN" altLang="en-US" b="1"/>
              <a:t>            </a:t>
            </a:r>
            <a:r>
              <a:rPr lang="en-US" altLang="zh-CN" b="1"/>
              <a:t>2</a:t>
            </a:r>
            <a:r>
              <a:rPr lang="zh-CN" altLang="en-US" b="1"/>
              <a:t>）运算</a:t>
            </a:r>
            <a:r>
              <a:rPr lang="en-US" altLang="zh-CN" b="1"/>
              <a:t>+</a:t>
            </a:r>
            <a:r>
              <a:rPr lang="zh-CN" altLang="en-US" b="1"/>
              <a:t>在</a:t>
            </a:r>
            <a:r>
              <a:rPr lang="en-US" altLang="zh-CN" b="1"/>
              <a:t>I</a:t>
            </a:r>
            <a:r>
              <a:rPr lang="en-US" altLang="zh-CN" b="1" baseline="-25000"/>
              <a:t>E</a:t>
            </a:r>
            <a:r>
              <a:rPr lang="zh-CN" altLang="en-US" b="1"/>
              <a:t>上保持可结合性。</a:t>
            </a:r>
          </a:p>
          <a:p>
            <a:pPr algn="l">
              <a:lnSpc>
                <a:spcPct val="130000"/>
              </a:lnSpc>
            </a:pPr>
            <a:r>
              <a:rPr lang="zh-CN" altLang="en-US" b="1"/>
              <a:t>            </a:t>
            </a:r>
            <a:r>
              <a:rPr lang="en-US" altLang="zh-CN" b="1"/>
              <a:t>3</a:t>
            </a:r>
            <a:r>
              <a:rPr lang="zh-CN" altLang="en-US" b="1"/>
              <a:t>）</a:t>
            </a:r>
            <a:r>
              <a:rPr lang="en-US" altLang="zh-CN" b="1"/>
              <a:t>&lt;I,+&gt;</a:t>
            </a:r>
            <a:r>
              <a:rPr lang="zh-CN" altLang="en-US" b="1"/>
              <a:t>中的幺元</a:t>
            </a:r>
            <a:r>
              <a:rPr lang="en-US" altLang="zh-CN" b="1"/>
              <a:t>0</a:t>
            </a:r>
            <a:r>
              <a:rPr lang="zh-CN" altLang="en-US" b="1"/>
              <a:t>在</a:t>
            </a:r>
            <a:r>
              <a:rPr lang="en-US" altLang="zh-CN" b="1"/>
              <a:t>I</a:t>
            </a:r>
            <a:r>
              <a:rPr lang="en-US" altLang="zh-CN" b="1" baseline="-25000"/>
              <a:t>E</a:t>
            </a:r>
            <a:r>
              <a:rPr lang="zh-CN" altLang="en-US" b="1"/>
              <a:t>中。</a:t>
            </a:r>
          </a:p>
          <a:p>
            <a:pPr algn="l">
              <a:lnSpc>
                <a:spcPct val="130000"/>
              </a:lnSpc>
            </a:pPr>
            <a:r>
              <a:rPr lang="zh-CN" altLang="en-US" b="1"/>
              <a:t>            </a:t>
            </a:r>
            <a:r>
              <a:rPr lang="en-US" altLang="zh-CN" b="1"/>
              <a:t>4</a:t>
            </a:r>
            <a:r>
              <a:rPr lang="zh-CN" altLang="en-US" b="1"/>
              <a:t>）对于任意的</a:t>
            </a:r>
            <a:r>
              <a:rPr lang="en-US" altLang="zh-CN" b="1"/>
              <a:t>x∈ I</a:t>
            </a:r>
            <a:r>
              <a:rPr lang="en-US" altLang="zh-CN" b="1" baseline="-25000"/>
              <a:t>E</a:t>
            </a:r>
            <a:r>
              <a:rPr lang="zh-CN" altLang="en-US" b="1"/>
              <a:t>，</a:t>
            </a:r>
            <a:r>
              <a:rPr lang="en-US" altLang="zh-CN" b="1"/>
              <a:t>-x=-2n</a:t>
            </a:r>
            <a:r>
              <a:rPr lang="zh-CN" altLang="en-US" b="1"/>
              <a:t>，</a:t>
            </a:r>
            <a:r>
              <a:rPr lang="en-US" altLang="zh-CN" b="1"/>
              <a:t>-n∈I</a:t>
            </a:r>
            <a:r>
              <a:rPr lang="zh-CN" altLang="en-US" b="1"/>
              <a:t>，</a:t>
            </a:r>
          </a:p>
          <a:p>
            <a:pPr algn="l">
              <a:lnSpc>
                <a:spcPct val="130000"/>
              </a:lnSpc>
            </a:pPr>
            <a:r>
              <a:rPr lang="zh-CN" altLang="en-US" b="1"/>
              <a:t>                ∴</a:t>
            </a:r>
            <a:r>
              <a:rPr lang="en-US" altLang="zh-CN" b="1"/>
              <a:t>-x∈ I</a:t>
            </a:r>
            <a:r>
              <a:rPr lang="en-US" altLang="zh-CN" b="1" baseline="-25000"/>
              <a:t>E</a:t>
            </a:r>
            <a:r>
              <a:rPr lang="zh-CN" altLang="en-US" b="1"/>
              <a:t>，</a:t>
            </a:r>
            <a:r>
              <a:rPr lang="en-US" altLang="zh-CN" b="1"/>
              <a:t>x+(-x)=0</a:t>
            </a:r>
            <a:r>
              <a:rPr lang="zh-CN" altLang="en-US" b="1"/>
              <a:t>。</a:t>
            </a:r>
          </a:p>
          <a:p>
            <a:pPr algn="l">
              <a:lnSpc>
                <a:spcPct val="130000"/>
              </a:lnSpc>
            </a:pPr>
            <a:r>
              <a:rPr lang="zh-CN" altLang="en-US" b="1"/>
              <a:t>因此 </a:t>
            </a:r>
            <a:r>
              <a:rPr lang="en-US" altLang="zh-CN" b="1"/>
              <a:t>&lt; I</a:t>
            </a:r>
            <a:r>
              <a:rPr lang="en-US" altLang="zh-CN" b="1" baseline="-25000"/>
              <a:t>E</a:t>
            </a:r>
            <a:r>
              <a:rPr lang="en-US" altLang="zh-CN" b="1"/>
              <a:t>, +&gt;</a:t>
            </a:r>
            <a:r>
              <a:rPr lang="zh-CN" altLang="en-US" b="1"/>
              <a:t>是一个群，又</a:t>
            </a:r>
            <a:r>
              <a:rPr lang="en-US" altLang="zh-CN" b="1"/>
              <a:t>I</a:t>
            </a:r>
            <a:r>
              <a:rPr lang="en-US" altLang="zh-CN" b="1" baseline="-25000"/>
              <a:t>E</a:t>
            </a:r>
            <a:r>
              <a:rPr lang="zh-CN" altLang="en-US" b="1"/>
              <a:t>是</a:t>
            </a:r>
            <a:r>
              <a:rPr lang="en-US" altLang="zh-CN" b="1"/>
              <a:t>I</a:t>
            </a:r>
            <a:r>
              <a:rPr lang="zh-CN" altLang="en-US" b="1"/>
              <a:t>的子集，</a:t>
            </a:r>
          </a:p>
          <a:p>
            <a:pPr algn="l">
              <a:lnSpc>
                <a:spcPct val="130000"/>
              </a:lnSpc>
            </a:pPr>
            <a:r>
              <a:rPr lang="zh-CN" altLang="en-US" b="1"/>
              <a:t>所以</a:t>
            </a:r>
            <a:r>
              <a:rPr lang="en-US" altLang="zh-CN" b="1"/>
              <a:t>&lt; I</a:t>
            </a:r>
            <a:r>
              <a:rPr lang="en-US" altLang="zh-CN" b="1" baseline="-25000"/>
              <a:t>E</a:t>
            </a:r>
            <a:r>
              <a:rPr lang="en-US" altLang="zh-CN" b="1"/>
              <a:t>, +&gt;</a:t>
            </a:r>
            <a:r>
              <a:rPr lang="zh-CN" altLang="en-US" b="1"/>
              <a:t>是</a:t>
            </a:r>
            <a:r>
              <a:rPr lang="en-US" altLang="zh-CN" b="1"/>
              <a:t>&lt;I, +&gt;</a:t>
            </a:r>
            <a:r>
              <a:rPr lang="zh-CN" altLang="en-US" b="1"/>
              <a:t>的一个子群。</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13029">
                                            <p:txEl>
                                              <p:pRg st="0" end="0"/>
                                            </p:txEl>
                                          </p:spTgt>
                                        </p:tgtEl>
                                        <p:attrNameLst>
                                          <p:attrName>style.visibility</p:attrName>
                                        </p:attrNameLst>
                                      </p:cBhvr>
                                      <p:to>
                                        <p:strVal val="visible"/>
                                      </p:to>
                                    </p:set>
                                    <p:anim calcmode="lin" valueType="num">
                                      <p:cBhvr additive="base">
                                        <p:cTn id="7" dur="500" fill="hold"/>
                                        <p:tgtEl>
                                          <p:spTgt spid="51302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302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13029">
                                            <p:txEl>
                                              <p:pRg st="1" end="1"/>
                                            </p:txEl>
                                          </p:spTgt>
                                        </p:tgtEl>
                                        <p:attrNameLst>
                                          <p:attrName>style.visibility</p:attrName>
                                        </p:attrNameLst>
                                      </p:cBhvr>
                                      <p:to>
                                        <p:strVal val="visible"/>
                                      </p:to>
                                    </p:set>
                                    <p:anim calcmode="lin" valueType="num">
                                      <p:cBhvr additive="base">
                                        <p:cTn id="13" dur="500" fill="hold"/>
                                        <p:tgtEl>
                                          <p:spTgt spid="51302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1302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13029">
                                            <p:txEl>
                                              <p:pRg st="2" end="2"/>
                                            </p:txEl>
                                          </p:spTgt>
                                        </p:tgtEl>
                                        <p:attrNameLst>
                                          <p:attrName>style.visibility</p:attrName>
                                        </p:attrNameLst>
                                      </p:cBhvr>
                                      <p:to>
                                        <p:strVal val="visible"/>
                                      </p:to>
                                    </p:set>
                                    <p:anim calcmode="lin" valueType="num">
                                      <p:cBhvr additive="base">
                                        <p:cTn id="19" dur="500" fill="hold"/>
                                        <p:tgtEl>
                                          <p:spTgt spid="51302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1302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513029">
                                            <p:txEl>
                                              <p:pRg st="3" end="3"/>
                                            </p:txEl>
                                          </p:spTgt>
                                        </p:tgtEl>
                                        <p:attrNameLst>
                                          <p:attrName>style.visibility</p:attrName>
                                        </p:attrNameLst>
                                      </p:cBhvr>
                                      <p:to>
                                        <p:strVal val="visible"/>
                                      </p:to>
                                    </p:set>
                                    <p:anim calcmode="lin" valueType="num">
                                      <p:cBhvr additive="base">
                                        <p:cTn id="25" dur="500" fill="hold"/>
                                        <p:tgtEl>
                                          <p:spTgt spid="51302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1302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513029">
                                            <p:txEl>
                                              <p:pRg st="4" end="4"/>
                                            </p:txEl>
                                          </p:spTgt>
                                        </p:tgtEl>
                                        <p:attrNameLst>
                                          <p:attrName>style.visibility</p:attrName>
                                        </p:attrNameLst>
                                      </p:cBhvr>
                                      <p:to>
                                        <p:strVal val="visible"/>
                                      </p:to>
                                    </p:set>
                                    <p:anim calcmode="lin" valueType="num">
                                      <p:cBhvr additive="base">
                                        <p:cTn id="31" dur="500" fill="hold"/>
                                        <p:tgtEl>
                                          <p:spTgt spid="51302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1302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513029">
                                            <p:txEl>
                                              <p:pRg st="5" end="5"/>
                                            </p:txEl>
                                          </p:spTgt>
                                        </p:tgtEl>
                                        <p:attrNameLst>
                                          <p:attrName>style.visibility</p:attrName>
                                        </p:attrNameLst>
                                      </p:cBhvr>
                                      <p:to>
                                        <p:strVal val="visible"/>
                                      </p:to>
                                    </p:set>
                                    <p:anim calcmode="lin" valueType="num">
                                      <p:cBhvr additive="base">
                                        <p:cTn id="37" dur="500" fill="hold"/>
                                        <p:tgtEl>
                                          <p:spTgt spid="51302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1302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513029">
                                            <p:txEl>
                                              <p:pRg st="6" end="6"/>
                                            </p:txEl>
                                          </p:spTgt>
                                        </p:tgtEl>
                                        <p:attrNameLst>
                                          <p:attrName>style.visibility</p:attrName>
                                        </p:attrNameLst>
                                      </p:cBhvr>
                                      <p:to>
                                        <p:strVal val="visible"/>
                                      </p:to>
                                    </p:set>
                                    <p:anim calcmode="lin" valueType="num">
                                      <p:cBhvr additive="base">
                                        <p:cTn id="43" dur="500" fill="hold"/>
                                        <p:tgtEl>
                                          <p:spTgt spid="513029">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1302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7E6EF804-FB2C-45B4-AB91-022B3A281F70}" type="slidenum">
              <a:rPr lang="en-US" altLang="zh-CN"/>
              <a:pPr/>
              <a:t>47</a:t>
            </a:fld>
            <a:endParaRPr lang="en-US" altLang="zh-CN"/>
          </a:p>
        </p:txBody>
      </p:sp>
      <p:sp>
        <p:nvSpPr>
          <p:cNvPr id="455682" name="Rectangle 2"/>
          <p:cNvSpPr>
            <a:spLocks noChangeArrowheads="1"/>
          </p:cNvSpPr>
          <p:nvPr/>
        </p:nvSpPr>
        <p:spPr bwMode="auto">
          <a:xfrm>
            <a:off x="466725" y="981075"/>
            <a:ext cx="8277225" cy="3970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lnSpc>
                <a:spcPct val="130000"/>
              </a:lnSpc>
            </a:pPr>
            <a:r>
              <a:rPr kumimoji="0" lang="zh-CN" altLang="en-US" sz="2800" b="1">
                <a:solidFill>
                  <a:schemeClr val="folHlink"/>
                </a:solidFill>
              </a:rPr>
              <a:t>补充：</a:t>
            </a:r>
          </a:p>
          <a:p>
            <a:pPr algn="l">
              <a:lnSpc>
                <a:spcPct val="130000"/>
              </a:lnSpc>
            </a:pPr>
            <a:r>
              <a:rPr kumimoji="0" lang="zh-CN" altLang="en-US" b="1">
                <a:solidFill>
                  <a:schemeClr val="hlink"/>
                </a:solidFill>
              </a:rPr>
              <a:t>定义：</a:t>
            </a:r>
            <a:r>
              <a:rPr kumimoji="0" lang="zh-CN" altLang="en-US" b="1"/>
              <a:t>设</a:t>
            </a:r>
            <a:r>
              <a:rPr kumimoji="0" lang="en-US" altLang="zh-CN" b="1"/>
              <a:t>&lt;S, *&gt;</a:t>
            </a:r>
            <a:r>
              <a:rPr kumimoji="0" lang="zh-CN" altLang="en-US" b="1"/>
              <a:t>为一半群，</a:t>
            </a:r>
            <a:r>
              <a:rPr kumimoji="0" lang="en-US" altLang="zh-CN" b="1"/>
              <a:t>a∈S</a:t>
            </a:r>
            <a:r>
              <a:rPr kumimoji="0" lang="zh-CN" altLang="en-US" b="1"/>
              <a:t>，</a:t>
            </a:r>
            <a:r>
              <a:rPr kumimoji="0" lang="en-US" altLang="zh-CN" b="1"/>
              <a:t>n</a:t>
            </a:r>
            <a:r>
              <a:rPr kumimoji="0" lang="zh-CN" altLang="en-US" b="1"/>
              <a:t>为正整数，符号</a:t>
            </a:r>
            <a:r>
              <a:rPr kumimoji="0" lang="en-US" altLang="zh-CN" b="1"/>
              <a:t>a</a:t>
            </a:r>
            <a:r>
              <a:rPr kumimoji="0" lang="en-US" altLang="zh-CN" b="1" baseline="30000"/>
              <a:t>n</a:t>
            </a:r>
            <a:r>
              <a:rPr kumimoji="0" lang="zh-CN" altLang="en-US" b="1"/>
              <a:t>表示</a:t>
            </a:r>
            <a:r>
              <a:rPr kumimoji="0" lang="en-US" altLang="zh-CN" b="1"/>
              <a:t>n</a:t>
            </a:r>
            <a:r>
              <a:rPr kumimoji="0" lang="zh-CN" altLang="en-US" b="1"/>
              <a:t>个</a:t>
            </a:r>
            <a:r>
              <a:rPr kumimoji="0" lang="en-US" altLang="zh-CN" b="1"/>
              <a:t>a</a:t>
            </a:r>
            <a:r>
              <a:rPr kumimoji="0" lang="zh-CN" altLang="en-US" b="1"/>
              <a:t>的计算结果，即 </a:t>
            </a:r>
            <a:r>
              <a:rPr kumimoji="0" lang="en-US" altLang="zh-CN" b="1"/>
              <a:t>a</a:t>
            </a:r>
            <a:r>
              <a:rPr kumimoji="0" lang="en-US" altLang="zh-CN" b="1" baseline="30000"/>
              <a:t>n</a:t>
            </a:r>
            <a:r>
              <a:rPr kumimoji="0" lang="en-US" altLang="zh-CN" b="1"/>
              <a:t>=a*a*……*a</a:t>
            </a:r>
            <a:r>
              <a:rPr kumimoji="0" lang="zh-CN" altLang="en-US" b="1"/>
              <a:t>。</a:t>
            </a:r>
          </a:p>
          <a:p>
            <a:pPr algn="l">
              <a:lnSpc>
                <a:spcPct val="130000"/>
              </a:lnSpc>
              <a:buClr>
                <a:schemeClr val="hlink"/>
              </a:buClr>
              <a:buFont typeface="Wingdings" pitchFamily="2" charset="2"/>
              <a:buChar char="Ø"/>
            </a:pPr>
            <a:r>
              <a:rPr kumimoji="0" lang="zh-CN" altLang="en-US" b="1"/>
              <a:t>在半群</a:t>
            </a:r>
            <a:r>
              <a:rPr kumimoji="0" lang="en-US" altLang="zh-CN" b="1"/>
              <a:t>&lt;S, *&gt;</a:t>
            </a:r>
            <a:r>
              <a:rPr kumimoji="0" lang="zh-CN" altLang="en-US" b="1"/>
              <a:t>中</a:t>
            </a:r>
            <a:r>
              <a:rPr kumimoji="0" lang="zh-CN" altLang="en-US" b="1">
                <a:solidFill>
                  <a:schemeClr val="hlink"/>
                </a:solidFill>
              </a:rPr>
              <a:t>指数律成立</a:t>
            </a:r>
            <a:r>
              <a:rPr kumimoji="0" lang="zh-CN" altLang="en-US" b="1"/>
              <a:t>，即对任意整数</a:t>
            </a:r>
            <a:r>
              <a:rPr kumimoji="0" lang="en-US" altLang="zh-CN" b="1"/>
              <a:t>m</a:t>
            </a:r>
            <a:r>
              <a:rPr kumimoji="0" lang="zh-CN" altLang="en-US" b="1"/>
              <a:t>，</a:t>
            </a:r>
            <a:r>
              <a:rPr kumimoji="0" lang="en-US" altLang="zh-CN" b="1"/>
              <a:t>n</a:t>
            </a:r>
            <a:r>
              <a:rPr kumimoji="0" lang="zh-CN" altLang="en-US" b="1"/>
              <a:t>和</a:t>
            </a:r>
            <a:r>
              <a:rPr kumimoji="0" lang="en-US" altLang="zh-CN" b="1"/>
              <a:t>S</a:t>
            </a:r>
            <a:r>
              <a:rPr kumimoji="0" lang="zh-CN" altLang="en-US" b="1"/>
              <a:t>中的元素</a:t>
            </a:r>
            <a:r>
              <a:rPr kumimoji="0" lang="en-US" altLang="zh-CN" b="1"/>
              <a:t>a</a:t>
            </a:r>
            <a:r>
              <a:rPr kumimoji="0" lang="zh-CN" altLang="en-US" b="1"/>
              <a:t>，有</a:t>
            </a:r>
            <a:r>
              <a:rPr kumimoji="0" lang="en-US" altLang="zh-CN" b="1"/>
              <a:t>a</a:t>
            </a:r>
            <a:r>
              <a:rPr kumimoji="0" lang="en-US" altLang="zh-CN" b="1" baseline="30000"/>
              <a:t>m</a:t>
            </a:r>
            <a:r>
              <a:rPr kumimoji="0" lang="en-US" altLang="zh-CN" b="1"/>
              <a:t>a</a:t>
            </a:r>
            <a:r>
              <a:rPr kumimoji="0" lang="en-US" altLang="zh-CN" b="1" baseline="30000"/>
              <a:t>n</a:t>
            </a:r>
            <a:r>
              <a:rPr kumimoji="0" lang="en-US" altLang="zh-CN" b="1"/>
              <a:t>=a</a:t>
            </a:r>
            <a:r>
              <a:rPr kumimoji="0" lang="en-US" altLang="zh-CN" b="1" baseline="30000"/>
              <a:t>m+n</a:t>
            </a:r>
            <a:r>
              <a:rPr kumimoji="0" lang="zh-CN" altLang="en-US" b="1"/>
              <a:t>，</a:t>
            </a:r>
            <a:r>
              <a:rPr kumimoji="0" lang="en-US" altLang="zh-CN" b="1"/>
              <a:t>(a</a:t>
            </a:r>
            <a:r>
              <a:rPr kumimoji="0" lang="en-US" altLang="zh-CN" b="1" baseline="30000"/>
              <a:t>m</a:t>
            </a:r>
            <a:r>
              <a:rPr kumimoji="0" lang="en-US" altLang="zh-CN" b="1"/>
              <a:t>)</a:t>
            </a:r>
            <a:r>
              <a:rPr kumimoji="0" lang="en-US" altLang="zh-CN" b="1" baseline="30000"/>
              <a:t>n</a:t>
            </a:r>
            <a:r>
              <a:rPr kumimoji="0" lang="en-US" altLang="zh-CN" b="1"/>
              <a:t>=a</a:t>
            </a:r>
            <a:r>
              <a:rPr kumimoji="0" lang="en-US" altLang="zh-CN" b="1" baseline="30000"/>
              <a:t>mn</a:t>
            </a:r>
          </a:p>
          <a:p>
            <a:pPr algn="l">
              <a:lnSpc>
                <a:spcPct val="130000"/>
              </a:lnSpc>
              <a:buClr>
                <a:schemeClr val="hlink"/>
              </a:buClr>
              <a:buFont typeface="Wingdings" pitchFamily="2" charset="2"/>
              <a:buChar char="Ø"/>
            </a:pPr>
            <a:r>
              <a:rPr kumimoji="0" lang="zh-CN" altLang="en-US" b="1">
                <a:solidFill>
                  <a:schemeClr val="hlink"/>
                </a:solidFill>
              </a:rPr>
              <a:t>定义的扩充</a:t>
            </a:r>
          </a:p>
          <a:p>
            <a:pPr algn="l">
              <a:lnSpc>
                <a:spcPct val="130000"/>
              </a:lnSpc>
            </a:pPr>
            <a:r>
              <a:rPr kumimoji="0" lang="zh-CN" altLang="en-US" b="1"/>
              <a:t>如果</a:t>
            </a:r>
            <a:r>
              <a:rPr kumimoji="0" lang="en-US" altLang="zh-CN" b="1"/>
              <a:t>&lt;S, *&gt;</a:t>
            </a:r>
            <a:r>
              <a:rPr kumimoji="0" lang="zh-CN" altLang="en-US" b="1"/>
              <a:t>是</a:t>
            </a:r>
            <a:r>
              <a:rPr kumimoji="0" lang="zh-CN" altLang="en-US" b="1">
                <a:solidFill>
                  <a:schemeClr val="hlink"/>
                </a:solidFill>
              </a:rPr>
              <a:t>独异点</a:t>
            </a:r>
            <a:r>
              <a:rPr kumimoji="0" lang="zh-CN" altLang="en-US" b="1"/>
              <a:t>，</a:t>
            </a:r>
            <a:r>
              <a:rPr kumimoji="0" lang="en-US" altLang="zh-CN" b="1"/>
              <a:t>e</a:t>
            </a:r>
            <a:r>
              <a:rPr kumimoji="0" lang="zh-CN" altLang="en-US" b="1"/>
              <a:t>是幺元，</a:t>
            </a:r>
            <a:r>
              <a:rPr kumimoji="0" lang="en-US" altLang="zh-CN" b="1"/>
              <a:t>a∈S</a:t>
            </a:r>
            <a:r>
              <a:rPr kumimoji="0" lang="zh-CN" altLang="en-US" b="1"/>
              <a:t>，令</a:t>
            </a:r>
            <a:r>
              <a:rPr kumimoji="0" lang="en-US" altLang="zh-CN" b="1"/>
              <a:t>a</a:t>
            </a:r>
            <a:r>
              <a:rPr kumimoji="0" lang="en-US" altLang="zh-CN" b="1" baseline="30000"/>
              <a:t>0</a:t>
            </a:r>
            <a:r>
              <a:rPr kumimoji="0" lang="en-US" altLang="zh-CN" b="1"/>
              <a:t>=e</a:t>
            </a:r>
            <a:r>
              <a:rPr kumimoji="0" lang="zh-CN" altLang="en-US" b="1"/>
              <a:t>，</a:t>
            </a:r>
          </a:p>
          <a:p>
            <a:pPr algn="l">
              <a:lnSpc>
                <a:spcPct val="130000"/>
              </a:lnSpc>
            </a:pPr>
            <a:r>
              <a:rPr kumimoji="0" lang="zh-CN" altLang="en-US" b="1"/>
              <a:t>如果</a:t>
            </a:r>
            <a:r>
              <a:rPr kumimoji="0" lang="en-US" altLang="zh-CN" b="1"/>
              <a:t>&lt;S, *&gt;</a:t>
            </a:r>
            <a:r>
              <a:rPr kumimoji="0" lang="zh-CN" altLang="en-US" b="1"/>
              <a:t>是</a:t>
            </a:r>
            <a:r>
              <a:rPr kumimoji="0" lang="zh-CN" altLang="en-US" b="1">
                <a:solidFill>
                  <a:schemeClr val="hlink"/>
                </a:solidFill>
              </a:rPr>
              <a:t>群</a:t>
            </a:r>
            <a:r>
              <a:rPr kumimoji="0" lang="zh-CN" altLang="en-US" b="1"/>
              <a:t>，</a:t>
            </a:r>
            <a:r>
              <a:rPr kumimoji="0" lang="en-US" altLang="zh-CN" b="1"/>
              <a:t>a∈S</a:t>
            </a:r>
            <a:r>
              <a:rPr kumimoji="0" lang="zh-CN" altLang="en-US" b="1"/>
              <a:t>，</a:t>
            </a:r>
            <a:r>
              <a:rPr kumimoji="0" lang="en-US" altLang="zh-CN" b="1"/>
              <a:t>n</a:t>
            </a:r>
            <a:r>
              <a:rPr kumimoji="0" lang="zh-CN" altLang="en-US" b="1"/>
              <a:t>为正整数，则令</a:t>
            </a:r>
            <a:r>
              <a:rPr kumimoji="0" lang="en-US" altLang="zh-CN" b="1"/>
              <a:t>a</a:t>
            </a:r>
            <a:r>
              <a:rPr kumimoji="0" lang="en-US" altLang="zh-CN" b="1" baseline="30000"/>
              <a:t>-n</a:t>
            </a:r>
            <a:r>
              <a:rPr kumimoji="0" lang="en-US" altLang="zh-CN" b="1"/>
              <a:t>=(a</a:t>
            </a:r>
            <a:r>
              <a:rPr kumimoji="0" lang="en-US" altLang="zh-CN" b="1" baseline="30000"/>
              <a:t>-1</a:t>
            </a:r>
            <a:r>
              <a:rPr kumimoji="0" lang="en-US" altLang="zh-CN" b="1"/>
              <a:t>)</a:t>
            </a:r>
            <a:r>
              <a:rPr kumimoji="0" lang="en-US" altLang="zh-CN" b="1" baseline="30000"/>
              <a:t>n</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55682">
                                            <p:txEl>
                                              <p:pRg st="2" end="2"/>
                                            </p:txEl>
                                          </p:spTgt>
                                        </p:tgtEl>
                                        <p:attrNameLst>
                                          <p:attrName>style.visibility</p:attrName>
                                        </p:attrNameLst>
                                      </p:cBhvr>
                                      <p:to>
                                        <p:strVal val="visible"/>
                                      </p:to>
                                    </p:set>
                                    <p:anim calcmode="lin" valueType="num">
                                      <p:cBhvr additive="base">
                                        <p:cTn id="7" dur="500" fill="hold"/>
                                        <p:tgtEl>
                                          <p:spTgt spid="455682">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5568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55682">
                                            <p:txEl>
                                              <p:pRg st="3" end="3"/>
                                            </p:txEl>
                                          </p:spTgt>
                                        </p:tgtEl>
                                        <p:attrNameLst>
                                          <p:attrName>style.visibility</p:attrName>
                                        </p:attrNameLst>
                                      </p:cBhvr>
                                      <p:to>
                                        <p:strVal val="visible"/>
                                      </p:to>
                                    </p:set>
                                    <p:anim calcmode="lin" valueType="num">
                                      <p:cBhvr additive="base">
                                        <p:cTn id="13" dur="500" fill="hold"/>
                                        <p:tgtEl>
                                          <p:spTgt spid="455682">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55682">
                                            <p:txEl>
                                              <p:pRg st="3" end="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455682">
                                            <p:txEl>
                                              <p:pRg st="4" end="4"/>
                                            </p:txEl>
                                          </p:spTgt>
                                        </p:tgtEl>
                                        <p:attrNameLst>
                                          <p:attrName>style.visibility</p:attrName>
                                        </p:attrNameLst>
                                      </p:cBhvr>
                                      <p:to>
                                        <p:strVal val="visible"/>
                                      </p:to>
                                    </p:set>
                                    <p:anim calcmode="lin" valueType="num">
                                      <p:cBhvr additive="base">
                                        <p:cTn id="17" dur="500" fill="hold"/>
                                        <p:tgtEl>
                                          <p:spTgt spid="455682">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55682">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55682">
                                            <p:txEl>
                                              <p:pRg st="5" end="5"/>
                                            </p:txEl>
                                          </p:spTgt>
                                        </p:tgtEl>
                                        <p:attrNameLst>
                                          <p:attrName>style.visibility</p:attrName>
                                        </p:attrNameLst>
                                      </p:cBhvr>
                                      <p:to>
                                        <p:strVal val="visible"/>
                                      </p:to>
                                    </p:set>
                                    <p:anim calcmode="lin" valueType="num">
                                      <p:cBhvr additive="base">
                                        <p:cTn id="21" dur="500" fill="hold"/>
                                        <p:tgtEl>
                                          <p:spTgt spid="455682">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5568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2"/>
          <p:cNvSpPr>
            <a:spLocks noGrp="1"/>
          </p:cNvSpPr>
          <p:nvPr>
            <p:ph type="sldNum" sz="quarter" idx="11"/>
          </p:nvPr>
        </p:nvSpPr>
        <p:spPr/>
        <p:txBody>
          <a:bodyPr/>
          <a:lstStyle/>
          <a:p>
            <a:fld id="{D2B865A6-4907-45BF-8402-D40E60FBCC24}" type="slidenum">
              <a:rPr lang="en-US" altLang="zh-CN"/>
              <a:pPr/>
              <a:t>48</a:t>
            </a:fld>
            <a:endParaRPr lang="en-US" altLang="zh-CN"/>
          </a:p>
        </p:txBody>
      </p:sp>
      <p:sp>
        <p:nvSpPr>
          <p:cNvPr id="456706" name="Text Box 2"/>
          <p:cNvSpPr txBox="1">
            <a:spLocks noChangeArrowheads="1"/>
          </p:cNvSpPr>
          <p:nvPr/>
        </p:nvSpPr>
        <p:spPr bwMode="auto">
          <a:xfrm>
            <a:off x="466725" y="981075"/>
            <a:ext cx="8277225" cy="140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kumimoji="1" sz="2400">
                <a:solidFill>
                  <a:schemeClr val="tx1"/>
                </a:solidFill>
                <a:latin typeface="Times New Roman" pitchFamily="18" charset="0"/>
                <a:ea typeface="宋体" pitchFamily="2" charset="-122"/>
              </a:defRPr>
            </a:lvl1pPr>
            <a:lvl2pPr marL="53975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20000"/>
              </a:lnSpc>
            </a:pPr>
            <a:r>
              <a:rPr lang="zh-CN" altLang="en-US" b="1">
                <a:solidFill>
                  <a:srgbClr val="FF0000"/>
                </a:solidFill>
              </a:rPr>
              <a:t>定理</a:t>
            </a:r>
            <a:r>
              <a:rPr lang="en-US" altLang="zh-CN" b="1">
                <a:solidFill>
                  <a:srgbClr val="FF0000"/>
                </a:solidFill>
              </a:rPr>
              <a:t>5-4.7</a:t>
            </a:r>
            <a:r>
              <a:rPr lang="zh-CN" altLang="en-US" b="1">
                <a:solidFill>
                  <a:srgbClr val="FF0000"/>
                </a:solidFill>
              </a:rPr>
              <a:t>：</a:t>
            </a:r>
            <a:r>
              <a:rPr lang="zh-CN" altLang="en-US" b="1"/>
              <a:t>设</a:t>
            </a:r>
            <a:r>
              <a:rPr lang="en-US" altLang="zh-CN" b="1"/>
              <a:t>&lt;G,*&gt;</a:t>
            </a:r>
            <a:r>
              <a:rPr lang="zh-CN" altLang="en-US" b="1"/>
              <a:t>是一个群，</a:t>
            </a:r>
            <a:r>
              <a:rPr lang="en-US" altLang="zh-CN" b="1"/>
              <a:t>B</a:t>
            </a:r>
            <a:r>
              <a:rPr lang="zh-CN" altLang="en-US" b="1"/>
              <a:t>是</a:t>
            </a:r>
            <a:r>
              <a:rPr lang="en-US" altLang="zh-CN" b="1"/>
              <a:t>G</a:t>
            </a:r>
            <a:r>
              <a:rPr lang="zh-CN" altLang="en-US" b="1"/>
              <a:t>的非空子集，如果</a:t>
            </a:r>
            <a:r>
              <a:rPr lang="en-US" altLang="zh-CN" b="1"/>
              <a:t>B</a:t>
            </a:r>
            <a:r>
              <a:rPr lang="zh-CN" altLang="en-US" b="1"/>
              <a:t>是一个</a:t>
            </a:r>
            <a:r>
              <a:rPr lang="zh-CN" altLang="en-US" b="1">
                <a:solidFill>
                  <a:srgbClr val="FF0000"/>
                </a:solidFill>
              </a:rPr>
              <a:t>有限集</a:t>
            </a:r>
            <a:r>
              <a:rPr lang="zh-CN" altLang="en-US" b="1"/>
              <a:t>，那么只要运算</a:t>
            </a:r>
            <a:r>
              <a:rPr lang="zh-CN" altLang="en-US" b="1">
                <a:solidFill>
                  <a:srgbClr val="FF0000"/>
                </a:solidFill>
              </a:rPr>
              <a:t>*在</a:t>
            </a:r>
            <a:r>
              <a:rPr lang="en-US" altLang="zh-CN" b="1">
                <a:solidFill>
                  <a:srgbClr val="FF0000"/>
                </a:solidFill>
              </a:rPr>
              <a:t>B</a:t>
            </a:r>
            <a:r>
              <a:rPr lang="zh-CN" altLang="en-US" b="1">
                <a:solidFill>
                  <a:srgbClr val="FF0000"/>
                </a:solidFill>
              </a:rPr>
              <a:t>上封闭</a:t>
            </a:r>
            <a:r>
              <a:rPr lang="zh-CN" altLang="en-US" b="1"/>
              <a:t>，</a:t>
            </a:r>
            <a:r>
              <a:rPr lang="en-US" altLang="zh-CN" b="1"/>
              <a:t>&lt;B,*&gt;</a:t>
            </a:r>
            <a:r>
              <a:rPr lang="zh-CN" altLang="en-US" b="1"/>
              <a:t>必定是</a:t>
            </a:r>
            <a:r>
              <a:rPr lang="en-US" altLang="zh-CN" b="1"/>
              <a:t>&lt;G,*&gt;</a:t>
            </a:r>
            <a:r>
              <a:rPr lang="zh-CN" altLang="en-US" b="1"/>
              <a:t>的子群。</a:t>
            </a:r>
          </a:p>
        </p:txBody>
      </p:sp>
      <p:sp>
        <p:nvSpPr>
          <p:cNvPr id="456708" name="Text Box 4"/>
          <p:cNvSpPr txBox="1">
            <a:spLocks noChangeArrowheads="1"/>
          </p:cNvSpPr>
          <p:nvPr/>
        </p:nvSpPr>
        <p:spPr bwMode="auto">
          <a:xfrm>
            <a:off x="466725" y="2347913"/>
            <a:ext cx="8277225" cy="3706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kumimoji="1" sz="2400">
                <a:solidFill>
                  <a:schemeClr val="tx1"/>
                </a:solidFill>
                <a:latin typeface="Times New Roman" pitchFamily="18" charset="0"/>
                <a:ea typeface="宋体" pitchFamily="2" charset="-122"/>
              </a:defRPr>
            </a:lvl1pPr>
            <a:lvl2pPr marL="53975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lnSpc>
                <a:spcPct val="110000"/>
              </a:lnSpc>
            </a:pPr>
            <a:r>
              <a:rPr lang="zh-CN" altLang="en-US" b="1"/>
              <a:t>证明：要证满足已知条件的</a:t>
            </a:r>
            <a:r>
              <a:rPr lang="en-US" altLang="zh-CN" b="1"/>
              <a:t>&lt;B, *&gt;</a:t>
            </a:r>
            <a:r>
              <a:rPr lang="zh-CN" altLang="en-US" b="1"/>
              <a:t>是一个子群，</a:t>
            </a:r>
          </a:p>
          <a:p>
            <a:pPr eaLnBrk="0" hangingPunct="0">
              <a:lnSpc>
                <a:spcPct val="110000"/>
              </a:lnSpc>
            </a:pPr>
            <a:r>
              <a:rPr lang="en-US" altLang="zh-CN" b="1"/>
              <a:t>1)</a:t>
            </a:r>
            <a:r>
              <a:rPr lang="zh-CN" altLang="en-US" b="1"/>
              <a:t>封闭。</a:t>
            </a:r>
          </a:p>
          <a:p>
            <a:pPr eaLnBrk="0" hangingPunct="0">
              <a:lnSpc>
                <a:spcPct val="110000"/>
              </a:lnSpc>
            </a:pPr>
            <a:r>
              <a:rPr lang="en-US" altLang="zh-CN" b="1"/>
              <a:t>2)</a:t>
            </a:r>
            <a:r>
              <a:rPr lang="zh-CN" altLang="en-US" b="1"/>
              <a:t>结合。</a:t>
            </a:r>
          </a:p>
          <a:p>
            <a:pPr eaLnBrk="0" hangingPunct="0">
              <a:lnSpc>
                <a:spcPct val="110000"/>
              </a:lnSpc>
            </a:pPr>
            <a:r>
              <a:rPr lang="en-US" altLang="zh-CN" b="1"/>
              <a:t>3)</a:t>
            </a:r>
            <a:r>
              <a:rPr lang="zh-CN" altLang="en-US" b="1"/>
              <a:t>存在幺元。</a:t>
            </a:r>
            <a:r>
              <a:rPr lang="zh-CN" altLang="en-US" b="1">
                <a:sym typeface="Symbol" pitchFamily="18" charset="2"/>
              </a:rPr>
              <a:t></a:t>
            </a:r>
            <a:r>
              <a:rPr lang="en-US" altLang="zh-CN" b="1">
                <a:sym typeface="Symbol" pitchFamily="18" charset="2"/>
              </a:rPr>
              <a:t>b</a:t>
            </a:r>
            <a:r>
              <a:rPr lang="en-US" altLang="zh-CN" b="1"/>
              <a:t>∈B</a:t>
            </a:r>
            <a:r>
              <a:rPr lang="zh-CN" altLang="en-US" b="1"/>
              <a:t>，</a:t>
            </a:r>
          </a:p>
          <a:p>
            <a:pPr eaLnBrk="0" hangingPunct="0">
              <a:lnSpc>
                <a:spcPct val="110000"/>
              </a:lnSpc>
            </a:pPr>
            <a:r>
              <a:rPr lang="en-US" altLang="zh-CN" b="1"/>
              <a:t>b</a:t>
            </a:r>
            <a:r>
              <a:rPr lang="en-US" altLang="zh-CN" b="1" baseline="30000"/>
              <a:t>2</a:t>
            </a:r>
            <a:r>
              <a:rPr lang="en-US" altLang="zh-CN" b="1"/>
              <a:t>=b*b∈B</a:t>
            </a:r>
            <a:r>
              <a:rPr lang="zh-CN" altLang="en-US" b="1"/>
              <a:t>，</a:t>
            </a:r>
            <a:r>
              <a:rPr lang="en-US" altLang="zh-CN" b="1"/>
              <a:t>b</a:t>
            </a:r>
            <a:r>
              <a:rPr lang="en-US" altLang="zh-CN" b="1" baseline="30000"/>
              <a:t>3</a:t>
            </a:r>
            <a:r>
              <a:rPr lang="en-US" altLang="zh-CN" b="1"/>
              <a:t>∈B</a:t>
            </a:r>
            <a:r>
              <a:rPr lang="zh-CN" altLang="en-US" b="1"/>
              <a:t>，</a:t>
            </a:r>
            <a:r>
              <a:rPr lang="en-US" altLang="zh-CN" b="1"/>
              <a:t>…</a:t>
            </a:r>
            <a:r>
              <a:rPr lang="zh-CN" altLang="en-US" b="1"/>
              <a:t>，</a:t>
            </a:r>
            <a:r>
              <a:rPr lang="en-US" altLang="zh-CN" b="1"/>
              <a:t>b</a:t>
            </a:r>
            <a:r>
              <a:rPr lang="en-US" altLang="zh-CN" b="1" baseline="30000"/>
              <a:t>n</a:t>
            </a:r>
            <a:r>
              <a:rPr lang="en-US" altLang="zh-CN" b="1"/>
              <a:t>∈B</a:t>
            </a:r>
            <a:r>
              <a:rPr lang="zh-CN" altLang="en-US" b="1"/>
              <a:t>，</a:t>
            </a:r>
            <a:r>
              <a:rPr lang="en-US" altLang="zh-CN" b="1"/>
              <a:t>…(</a:t>
            </a:r>
            <a:r>
              <a:rPr lang="zh-CN" altLang="en-US" b="1"/>
              <a:t>封闭</a:t>
            </a:r>
            <a:r>
              <a:rPr lang="en-US" altLang="zh-CN" b="1"/>
              <a:t>)</a:t>
            </a:r>
            <a:r>
              <a:rPr lang="zh-CN" altLang="en-US" b="1"/>
              <a:t>，</a:t>
            </a:r>
          </a:p>
          <a:p>
            <a:pPr eaLnBrk="0" hangingPunct="0">
              <a:lnSpc>
                <a:spcPct val="110000"/>
              </a:lnSpc>
            </a:pPr>
            <a:r>
              <a:rPr lang="zh-CN" altLang="en-US" b="1"/>
              <a:t>必</a:t>
            </a:r>
            <a:r>
              <a:rPr lang="zh-CN" altLang="en-US" b="1">
                <a:sym typeface="Symbol" pitchFamily="18" charset="2"/>
              </a:rPr>
              <a:t></a:t>
            </a:r>
            <a:r>
              <a:rPr lang="en-US" altLang="zh-CN" b="1">
                <a:sym typeface="Symbol" pitchFamily="18" charset="2"/>
              </a:rPr>
              <a:t>i</a:t>
            </a:r>
            <a:r>
              <a:rPr lang="zh-CN" altLang="en-US" b="1">
                <a:sym typeface="Symbol" pitchFamily="18" charset="2"/>
              </a:rPr>
              <a:t>，</a:t>
            </a:r>
            <a:r>
              <a:rPr lang="en-US" altLang="zh-CN" b="1">
                <a:sym typeface="Symbol" pitchFamily="18" charset="2"/>
              </a:rPr>
              <a:t>j&gt;0</a:t>
            </a:r>
            <a:r>
              <a:rPr lang="zh-CN" altLang="en-US" b="1">
                <a:sym typeface="Symbol" pitchFamily="18" charset="2"/>
              </a:rPr>
              <a:t>且</a:t>
            </a:r>
            <a:r>
              <a:rPr lang="en-US" altLang="zh-CN" b="1">
                <a:sym typeface="Symbol" pitchFamily="18" charset="2"/>
              </a:rPr>
              <a:t>j&gt;i</a:t>
            </a:r>
            <a:r>
              <a:rPr lang="zh-CN" altLang="en-US" b="1">
                <a:sym typeface="Symbol" pitchFamily="18" charset="2"/>
              </a:rPr>
              <a:t>使</a:t>
            </a:r>
            <a:r>
              <a:rPr lang="en-US" altLang="zh-CN" b="1">
                <a:sym typeface="Symbol" pitchFamily="18" charset="2"/>
              </a:rPr>
              <a:t>b</a:t>
            </a:r>
            <a:r>
              <a:rPr lang="en-US" altLang="zh-CN" b="1" baseline="30000">
                <a:sym typeface="Symbol" pitchFamily="18" charset="2"/>
              </a:rPr>
              <a:t>i</a:t>
            </a:r>
            <a:r>
              <a:rPr lang="en-US" altLang="zh-CN" b="1">
                <a:sym typeface="Symbol" pitchFamily="18" charset="2"/>
              </a:rPr>
              <a:t>=b</a:t>
            </a:r>
            <a:r>
              <a:rPr lang="en-US" altLang="zh-CN" b="1" baseline="30000">
                <a:sym typeface="Symbol" pitchFamily="18" charset="2"/>
              </a:rPr>
              <a:t>j</a:t>
            </a:r>
            <a:r>
              <a:rPr lang="en-US" altLang="zh-CN" b="1">
                <a:sym typeface="Symbol" pitchFamily="18" charset="2"/>
              </a:rPr>
              <a:t>(</a:t>
            </a:r>
            <a:r>
              <a:rPr lang="zh-CN" altLang="en-US" b="1">
                <a:sym typeface="Symbol" pitchFamily="18" charset="2"/>
              </a:rPr>
              <a:t>有限</a:t>
            </a:r>
            <a:r>
              <a:rPr lang="en-US" altLang="zh-CN" b="1">
                <a:sym typeface="Symbol" pitchFamily="18" charset="2"/>
              </a:rPr>
              <a:t>)</a:t>
            </a:r>
          </a:p>
          <a:p>
            <a:pPr eaLnBrk="0" hangingPunct="0">
              <a:lnSpc>
                <a:spcPct val="110000"/>
              </a:lnSpc>
            </a:pPr>
            <a:r>
              <a:rPr lang="en-US" altLang="zh-CN" b="1">
                <a:sym typeface="Symbol" pitchFamily="18" charset="2"/>
              </a:rPr>
              <a:t>b</a:t>
            </a:r>
            <a:r>
              <a:rPr lang="en-US" altLang="zh-CN" b="1" baseline="30000">
                <a:sym typeface="Symbol" pitchFamily="18" charset="2"/>
              </a:rPr>
              <a:t>i</a:t>
            </a:r>
            <a:r>
              <a:rPr lang="en-US" altLang="zh-CN" b="1">
                <a:sym typeface="Symbol" pitchFamily="18" charset="2"/>
              </a:rPr>
              <a:t>=b</a:t>
            </a:r>
            <a:r>
              <a:rPr lang="en-US" altLang="zh-CN" b="1" baseline="30000">
                <a:sym typeface="Symbol" pitchFamily="18" charset="2"/>
              </a:rPr>
              <a:t>i</a:t>
            </a:r>
            <a:r>
              <a:rPr lang="en-US" altLang="zh-CN" b="1">
                <a:sym typeface="Symbol" pitchFamily="18" charset="2"/>
              </a:rPr>
              <a:t>*b</a:t>
            </a:r>
            <a:r>
              <a:rPr lang="en-US" altLang="zh-CN" b="1" baseline="30000">
                <a:sym typeface="Symbol" pitchFamily="18" charset="2"/>
              </a:rPr>
              <a:t>j-i</a:t>
            </a:r>
            <a:r>
              <a:rPr lang="zh-CN" altLang="en-US" b="1">
                <a:sym typeface="Symbol" pitchFamily="18" charset="2"/>
              </a:rPr>
              <a:t>，</a:t>
            </a:r>
          </a:p>
          <a:p>
            <a:pPr eaLnBrk="0" hangingPunct="0">
              <a:lnSpc>
                <a:spcPct val="110000"/>
              </a:lnSpc>
            </a:pPr>
            <a:r>
              <a:rPr lang="zh-CN" altLang="en-US" b="1">
                <a:sym typeface="Symbol" pitchFamily="18" charset="2"/>
              </a:rPr>
              <a:t>所以</a:t>
            </a:r>
            <a:r>
              <a:rPr lang="en-US" altLang="zh-CN" b="1">
                <a:sym typeface="Symbol" pitchFamily="18" charset="2"/>
              </a:rPr>
              <a:t>b</a:t>
            </a:r>
            <a:r>
              <a:rPr lang="en-US" altLang="zh-CN" b="1" baseline="30000">
                <a:sym typeface="Symbol" pitchFamily="18" charset="2"/>
              </a:rPr>
              <a:t>j-i</a:t>
            </a:r>
            <a:r>
              <a:rPr lang="zh-CN" altLang="en-US" b="1">
                <a:sym typeface="Symbol" pitchFamily="18" charset="2"/>
              </a:rPr>
              <a:t>为</a:t>
            </a:r>
            <a:r>
              <a:rPr lang="en-US" altLang="zh-CN" b="1">
                <a:sym typeface="Symbol" pitchFamily="18" charset="2"/>
              </a:rPr>
              <a:t>&lt;G,*&gt;</a:t>
            </a:r>
            <a:r>
              <a:rPr lang="zh-CN" altLang="en-US" b="1">
                <a:sym typeface="Symbol" pitchFamily="18" charset="2"/>
              </a:rPr>
              <a:t>的幺元，显然</a:t>
            </a:r>
            <a:r>
              <a:rPr lang="en-US" altLang="zh-CN" b="1">
                <a:sym typeface="Symbol" pitchFamily="18" charset="2"/>
              </a:rPr>
              <a:t>b</a:t>
            </a:r>
            <a:r>
              <a:rPr lang="en-US" altLang="zh-CN" b="1" baseline="30000">
                <a:sym typeface="Symbol" pitchFamily="18" charset="2"/>
              </a:rPr>
              <a:t>j-i</a:t>
            </a:r>
            <a:r>
              <a:rPr lang="en-US" altLang="zh-CN" b="1"/>
              <a:t>∈B</a:t>
            </a:r>
          </a:p>
          <a:p>
            <a:pPr eaLnBrk="0" hangingPunct="0">
              <a:lnSpc>
                <a:spcPct val="110000"/>
              </a:lnSpc>
            </a:pPr>
            <a:r>
              <a:rPr lang="en-US" altLang="zh-CN" b="1"/>
              <a:t>4)</a:t>
            </a:r>
            <a:r>
              <a:rPr lang="en-US" altLang="zh-CN" b="1">
                <a:sym typeface="Symbol" pitchFamily="18" charset="2"/>
              </a:rPr>
              <a:t>b</a:t>
            </a:r>
            <a:r>
              <a:rPr lang="en-US" altLang="zh-CN" b="1"/>
              <a:t>∈B</a:t>
            </a:r>
            <a:r>
              <a:rPr lang="zh-CN" altLang="en-US" b="1"/>
              <a:t>有逆元。</a:t>
            </a:r>
            <a:r>
              <a:rPr lang="en-US" altLang="zh-CN" b="1"/>
              <a:t>b*x= </a:t>
            </a:r>
            <a:r>
              <a:rPr lang="en-US" altLang="zh-CN" b="1">
                <a:sym typeface="Symbol" pitchFamily="18" charset="2"/>
              </a:rPr>
              <a:t>b</a:t>
            </a:r>
            <a:r>
              <a:rPr lang="en-US" altLang="zh-CN" b="1" baseline="30000">
                <a:sym typeface="Symbol" pitchFamily="18" charset="2"/>
              </a:rPr>
              <a:t>j-i</a:t>
            </a:r>
            <a:r>
              <a:rPr lang="zh-CN" altLang="en-US" b="1">
                <a:sym typeface="Symbol" pitchFamily="18" charset="2"/>
              </a:rPr>
              <a:t>，</a:t>
            </a:r>
            <a:r>
              <a:rPr lang="en-US" altLang="zh-CN" b="1">
                <a:sym typeface="Symbol" pitchFamily="18" charset="2"/>
              </a:rPr>
              <a:t>x=?</a:t>
            </a:r>
          </a:p>
        </p:txBody>
      </p:sp>
      <p:sp>
        <p:nvSpPr>
          <p:cNvPr id="456709" name="Rectangle 5"/>
          <p:cNvSpPr>
            <a:spLocks noChangeArrowheads="1"/>
          </p:cNvSpPr>
          <p:nvPr/>
        </p:nvSpPr>
        <p:spPr bwMode="auto">
          <a:xfrm>
            <a:off x="971550" y="404813"/>
            <a:ext cx="33131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solidFill>
                  <a:schemeClr val="hlink"/>
                </a:solidFill>
              </a:rPr>
              <a:t>2</a:t>
            </a:r>
            <a:r>
              <a:rPr lang="zh-CN" altLang="en-US" b="1">
                <a:solidFill>
                  <a:schemeClr val="hlink"/>
                </a:solidFill>
              </a:rPr>
              <a:t>）判断子群的定理</a:t>
            </a:r>
          </a:p>
        </p:txBody>
      </p:sp>
      <p:sp>
        <p:nvSpPr>
          <p:cNvPr id="456710" name="AutoShape 6"/>
          <p:cNvSpPr>
            <a:spLocks noChangeArrowheads="1"/>
          </p:cNvSpPr>
          <p:nvPr/>
        </p:nvSpPr>
        <p:spPr bwMode="auto">
          <a:xfrm>
            <a:off x="5760417" y="2636838"/>
            <a:ext cx="3276079" cy="1736646"/>
          </a:xfrm>
          <a:prstGeom prst="wedgeRoundRectCallout">
            <a:avLst>
              <a:gd name="adj1" fmla="val -75065"/>
              <a:gd name="adj2" fmla="val -88315"/>
              <a:gd name="adj3" fmla="val 16667"/>
            </a:avLst>
          </a:prstGeom>
          <a:solidFill>
            <a:schemeClr val="folHlink"/>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b="1" dirty="0">
                <a:solidFill>
                  <a:srgbClr val="FFFF00"/>
                </a:solidFill>
              </a:rPr>
              <a:t>验证</a:t>
            </a:r>
            <a:r>
              <a:rPr lang="en-US" altLang="zh-CN" b="1" dirty="0">
                <a:solidFill>
                  <a:srgbClr val="FFFF00"/>
                </a:solidFill>
              </a:rPr>
              <a:t>&lt;B, *&gt;</a:t>
            </a:r>
            <a:r>
              <a:rPr lang="zh-CN" altLang="en-US" b="1" dirty="0">
                <a:solidFill>
                  <a:srgbClr val="FFFF00"/>
                </a:solidFill>
              </a:rPr>
              <a:t>是半群</a:t>
            </a:r>
            <a:r>
              <a:rPr lang="en-US" altLang="zh-CN" b="1" dirty="0">
                <a:solidFill>
                  <a:srgbClr val="FFFF00"/>
                </a:solidFill>
              </a:rPr>
              <a:t>&lt;S, *&gt;</a:t>
            </a:r>
            <a:r>
              <a:rPr lang="zh-CN" altLang="en-US" b="1" dirty="0">
                <a:solidFill>
                  <a:srgbClr val="FFFF00"/>
                </a:solidFill>
              </a:rPr>
              <a:t>的子半群，满足：</a:t>
            </a:r>
          </a:p>
          <a:p>
            <a:pPr algn="l"/>
            <a:r>
              <a:rPr lang="zh-CN" altLang="en-US" b="1" dirty="0">
                <a:solidFill>
                  <a:srgbClr val="FFFF00"/>
                </a:solidFill>
              </a:rPr>
              <a:t>*在</a:t>
            </a:r>
            <a:r>
              <a:rPr lang="en-US" altLang="zh-CN" b="1" dirty="0">
                <a:solidFill>
                  <a:srgbClr val="FFFF00"/>
                </a:solidFill>
              </a:rPr>
              <a:t>B</a:t>
            </a:r>
            <a:r>
              <a:rPr lang="zh-CN" altLang="en-US" b="1" dirty="0">
                <a:solidFill>
                  <a:srgbClr val="FFFF00"/>
                </a:solidFill>
              </a:rPr>
              <a:t>上封闭；</a:t>
            </a:r>
          </a:p>
          <a:p>
            <a:pPr algn="l"/>
            <a:r>
              <a:rPr lang="en-US" altLang="zh-CN" b="1" dirty="0">
                <a:solidFill>
                  <a:srgbClr val="FFFF00"/>
                </a:solidFill>
              </a:rPr>
              <a:t>B</a:t>
            </a:r>
            <a:r>
              <a:rPr lang="zh-CN" altLang="en-US" b="1" dirty="0">
                <a:solidFill>
                  <a:srgbClr val="FFFF00"/>
                </a:solidFill>
              </a:rPr>
              <a:t>是</a:t>
            </a:r>
            <a:r>
              <a:rPr lang="en-US" altLang="zh-CN" b="1" dirty="0">
                <a:solidFill>
                  <a:srgbClr val="FFFF00"/>
                </a:solidFill>
              </a:rPr>
              <a:t>S</a:t>
            </a:r>
            <a:r>
              <a:rPr lang="zh-CN" altLang="en-US" b="1" dirty="0">
                <a:solidFill>
                  <a:srgbClr val="FFFF00"/>
                </a:solidFill>
              </a:rPr>
              <a:t>的有限子集。</a:t>
            </a:r>
            <a:endParaRPr lang="zh-CN" altLang="en-US" dirty="0">
              <a:solidFill>
                <a:srgbClr val="FFFF00"/>
              </a:solidFill>
            </a:endParaRPr>
          </a:p>
        </p:txBody>
      </p:sp>
      <p:sp>
        <p:nvSpPr>
          <p:cNvPr id="456711" name="Rectangle 7"/>
          <p:cNvSpPr>
            <a:spLocks noChangeArrowheads="1"/>
          </p:cNvSpPr>
          <p:nvPr/>
        </p:nvSpPr>
        <p:spPr bwMode="auto">
          <a:xfrm>
            <a:off x="3924300" y="3500438"/>
            <a:ext cx="2155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a:solidFill>
                  <a:srgbClr val="FF0000"/>
                </a:solidFill>
              </a:rPr>
              <a:t>定理</a:t>
            </a:r>
            <a:r>
              <a:rPr lang="en-US" altLang="zh-CN" b="1">
                <a:solidFill>
                  <a:srgbClr val="FF0000"/>
                </a:solidFill>
              </a:rPr>
              <a:t>5-3.2</a:t>
            </a:r>
          </a:p>
        </p:txBody>
      </p:sp>
      <p:sp>
        <p:nvSpPr>
          <p:cNvPr id="456712" name="AutoShape 8"/>
          <p:cNvSpPr>
            <a:spLocks noChangeArrowheads="1"/>
          </p:cNvSpPr>
          <p:nvPr/>
        </p:nvSpPr>
        <p:spPr bwMode="auto">
          <a:xfrm>
            <a:off x="4500563" y="4665028"/>
            <a:ext cx="2519709" cy="720725"/>
          </a:xfrm>
          <a:prstGeom prst="wedgeEllipseCallout">
            <a:avLst>
              <a:gd name="adj1" fmla="val -166644"/>
              <a:gd name="adj2" fmla="val 47137"/>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b="1" dirty="0">
                <a:sym typeface="Symbol" pitchFamily="18" charset="2"/>
              </a:rPr>
              <a:t>b</a:t>
            </a:r>
            <a:r>
              <a:rPr lang="en-US" altLang="zh-CN" b="1" baseline="30000" dirty="0">
                <a:sym typeface="Symbol" pitchFamily="18" charset="2"/>
              </a:rPr>
              <a:t>i</a:t>
            </a:r>
            <a:r>
              <a:rPr lang="en-US" altLang="zh-CN" b="1" dirty="0">
                <a:sym typeface="Symbol" pitchFamily="18" charset="2"/>
              </a:rPr>
              <a:t>*</a:t>
            </a:r>
            <a:r>
              <a:rPr lang="en-US" altLang="zh-CN" b="1" dirty="0" err="1">
                <a:sym typeface="Symbol" pitchFamily="18" charset="2"/>
              </a:rPr>
              <a:t>b</a:t>
            </a:r>
            <a:r>
              <a:rPr lang="en-US" altLang="zh-CN" b="1" baseline="30000" dirty="0" err="1">
                <a:sym typeface="Symbol" pitchFamily="18" charset="2"/>
              </a:rPr>
              <a:t>j</a:t>
            </a:r>
            <a:r>
              <a:rPr lang="en-US" altLang="zh-CN" b="1" baseline="30000" dirty="0">
                <a:sym typeface="Symbol" pitchFamily="18" charset="2"/>
              </a:rPr>
              <a:t>-i</a:t>
            </a:r>
            <a:r>
              <a:rPr lang="en-US" altLang="zh-CN" b="1" dirty="0">
                <a:sym typeface="Symbol" pitchFamily="18" charset="2"/>
              </a:rPr>
              <a:t>=b</a:t>
            </a:r>
            <a:r>
              <a:rPr lang="en-US" altLang="zh-CN" b="1" baseline="30000" dirty="0">
                <a:sym typeface="Symbol" pitchFamily="18" charset="2"/>
              </a:rPr>
              <a:t>i</a:t>
            </a:r>
            <a:r>
              <a:rPr lang="en-US" altLang="zh-CN" b="1" dirty="0">
                <a:sym typeface="Symbol" pitchFamily="18" charset="2"/>
              </a:rPr>
              <a:t>*e</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56706"/>
                                        </p:tgtEl>
                                        <p:attrNameLst>
                                          <p:attrName>style.visibility</p:attrName>
                                        </p:attrNameLst>
                                      </p:cBhvr>
                                      <p:to>
                                        <p:strVal val="visible"/>
                                      </p:to>
                                    </p:set>
                                    <p:anim calcmode="lin" valueType="num">
                                      <p:cBhvr additive="base">
                                        <p:cTn id="7" dur="500" fill="hold"/>
                                        <p:tgtEl>
                                          <p:spTgt spid="456706"/>
                                        </p:tgtEl>
                                        <p:attrNameLst>
                                          <p:attrName>ppt_x</p:attrName>
                                        </p:attrNameLst>
                                      </p:cBhvr>
                                      <p:tavLst>
                                        <p:tav tm="0">
                                          <p:val>
                                            <p:strVal val="#ppt_x"/>
                                          </p:val>
                                        </p:tav>
                                        <p:tav tm="100000">
                                          <p:val>
                                            <p:strVal val="#ppt_x"/>
                                          </p:val>
                                        </p:tav>
                                      </p:tavLst>
                                    </p:anim>
                                    <p:anim calcmode="lin" valueType="num">
                                      <p:cBhvr additive="base">
                                        <p:cTn id="8" dur="500" fill="hold"/>
                                        <p:tgtEl>
                                          <p:spTgt spid="45670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56708">
                                            <p:txEl>
                                              <p:pRg st="0" end="0"/>
                                            </p:txEl>
                                          </p:spTgt>
                                        </p:tgtEl>
                                        <p:attrNameLst>
                                          <p:attrName>style.visibility</p:attrName>
                                        </p:attrNameLst>
                                      </p:cBhvr>
                                      <p:to>
                                        <p:strVal val="visible"/>
                                      </p:to>
                                    </p:set>
                                    <p:anim calcmode="lin" valueType="num">
                                      <p:cBhvr additive="base">
                                        <p:cTn id="13" dur="500" fill="hold"/>
                                        <p:tgtEl>
                                          <p:spTgt spid="456708">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5670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56708">
                                            <p:txEl>
                                              <p:pRg st="1" end="1"/>
                                            </p:txEl>
                                          </p:spTgt>
                                        </p:tgtEl>
                                        <p:attrNameLst>
                                          <p:attrName>style.visibility</p:attrName>
                                        </p:attrNameLst>
                                      </p:cBhvr>
                                      <p:to>
                                        <p:strVal val="visible"/>
                                      </p:to>
                                    </p:set>
                                    <p:anim calcmode="lin" valueType="num">
                                      <p:cBhvr additive="base">
                                        <p:cTn id="19" dur="500" fill="hold"/>
                                        <p:tgtEl>
                                          <p:spTgt spid="456708">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5670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456708">
                                            <p:txEl>
                                              <p:pRg st="2" end="2"/>
                                            </p:txEl>
                                          </p:spTgt>
                                        </p:tgtEl>
                                        <p:attrNameLst>
                                          <p:attrName>style.visibility</p:attrName>
                                        </p:attrNameLst>
                                      </p:cBhvr>
                                      <p:to>
                                        <p:strVal val="visible"/>
                                      </p:to>
                                    </p:set>
                                    <p:anim calcmode="lin" valueType="num">
                                      <p:cBhvr additive="base">
                                        <p:cTn id="25" dur="500" fill="hold"/>
                                        <p:tgtEl>
                                          <p:spTgt spid="456708">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5670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456708">
                                            <p:txEl>
                                              <p:pRg st="3" end="3"/>
                                            </p:txEl>
                                          </p:spTgt>
                                        </p:tgtEl>
                                        <p:attrNameLst>
                                          <p:attrName>style.visibility</p:attrName>
                                        </p:attrNameLst>
                                      </p:cBhvr>
                                      <p:to>
                                        <p:strVal val="visible"/>
                                      </p:to>
                                    </p:set>
                                    <p:anim calcmode="lin" valueType="num">
                                      <p:cBhvr additive="base">
                                        <p:cTn id="31" dur="500" fill="hold"/>
                                        <p:tgtEl>
                                          <p:spTgt spid="456708">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5670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56711"/>
                                        </p:tgtEl>
                                        <p:attrNameLst>
                                          <p:attrName>style.visibility</p:attrName>
                                        </p:attrNameLst>
                                      </p:cBhvr>
                                      <p:to>
                                        <p:strVal val="visible"/>
                                      </p:to>
                                    </p:set>
                                    <p:anim calcmode="lin" valueType="num">
                                      <p:cBhvr additive="base">
                                        <p:cTn id="37" dur="500" fill="hold"/>
                                        <p:tgtEl>
                                          <p:spTgt spid="456711"/>
                                        </p:tgtEl>
                                        <p:attrNameLst>
                                          <p:attrName>ppt_x</p:attrName>
                                        </p:attrNameLst>
                                      </p:cBhvr>
                                      <p:tavLst>
                                        <p:tav tm="0">
                                          <p:val>
                                            <p:strVal val="#ppt_x"/>
                                          </p:val>
                                        </p:tav>
                                        <p:tav tm="100000">
                                          <p:val>
                                            <p:strVal val="#ppt_x"/>
                                          </p:val>
                                        </p:tav>
                                      </p:tavLst>
                                    </p:anim>
                                    <p:anim calcmode="lin" valueType="num">
                                      <p:cBhvr additive="base">
                                        <p:cTn id="38" dur="500" fill="hold"/>
                                        <p:tgtEl>
                                          <p:spTgt spid="456711"/>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456708">
                                            <p:txEl>
                                              <p:pRg st="4" end="4"/>
                                            </p:txEl>
                                          </p:spTgt>
                                        </p:tgtEl>
                                        <p:attrNameLst>
                                          <p:attrName>style.visibility</p:attrName>
                                        </p:attrNameLst>
                                      </p:cBhvr>
                                      <p:to>
                                        <p:strVal val="visible"/>
                                      </p:to>
                                    </p:set>
                                    <p:anim calcmode="lin" valueType="num">
                                      <p:cBhvr additive="base">
                                        <p:cTn id="43" dur="500" fill="hold"/>
                                        <p:tgtEl>
                                          <p:spTgt spid="456708">
                                            <p:txEl>
                                              <p:pRg st="4" end="4"/>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5670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456708">
                                            <p:txEl>
                                              <p:pRg st="5" end="5"/>
                                            </p:txEl>
                                          </p:spTgt>
                                        </p:tgtEl>
                                        <p:attrNameLst>
                                          <p:attrName>style.visibility</p:attrName>
                                        </p:attrNameLst>
                                      </p:cBhvr>
                                      <p:to>
                                        <p:strVal val="visible"/>
                                      </p:to>
                                    </p:set>
                                    <p:anim calcmode="lin" valueType="num">
                                      <p:cBhvr additive="base">
                                        <p:cTn id="49" dur="500" fill="hold"/>
                                        <p:tgtEl>
                                          <p:spTgt spid="456708">
                                            <p:txEl>
                                              <p:pRg st="5" end="5"/>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5670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nodeType="clickEffect">
                                  <p:stCondLst>
                                    <p:cond delay="0"/>
                                  </p:stCondLst>
                                  <p:childTnLst>
                                    <p:set>
                                      <p:cBhvr>
                                        <p:cTn id="54" dur="1" fill="hold">
                                          <p:stCondLst>
                                            <p:cond delay="0"/>
                                          </p:stCondLst>
                                        </p:cTn>
                                        <p:tgtEl>
                                          <p:spTgt spid="456708">
                                            <p:txEl>
                                              <p:pRg st="6" end="6"/>
                                            </p:txEl>
                                          </p:spTgt>
                                        </p:tgtEl>
                                        <p:attrNameLst>
                                          <p:attrName>style.visibility</p:attrName>
                                        </p:attrNameLst>
                                      </p:cBhvr>
                                      <p:to>
                                        <p:strVal val="visible"/>
                                      </p:to>
                                    </p:set>
                                    <p:anim calcmode="lin" valueType="num">
                                      <p:cBhvr additive="base">
                                        <p:cTn id="55" dur="500" fill="hold"/>
                                        <p:tgtEl>
                                          <p:spTgt spid="456708">
                                            <p:txEl>
                                              <p:pRg st="6" end="6"/>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5670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4" fill="hold" nodeType="clickEffect">
                                  <p:stCondLst>
                                    <p:cond delay="0"/>
                                  </p:stCondLst>
                                  <p:childTnLst>
                                    <p:set>
                                      <p:cBhvr>
                                        <p:cTn id="60" dur="1" fill="hold">
                                          <p:stCondLst>
                                            <p:cond delay="0"/>
                                          </p:stCondLst>
                                        </p:cTn>
                                        <p:tgtEl>
                                          <p:spTgt spid="456708">
                                            <p:txEl>
                                              <p:pRg st="7" end="7"/>
                                            </p:txEl>
                                          </p:spTgt>
                                        </p:tgtEl>
                                        <p:attrNameLst>
                                          <p:attrName>style.visibility</p:attrName>
                                        </p:attrNameLst>
                                      </p:cBhvr>
                                      <p:to>
                                        <p:strVal val="visible"/>
                                      </p:to>
                                    </p:set>
                                    <p:anim calcmode="lin" valueType="num">
                                      <p:cBhvr additive="base">
                                        <p:cTn id="61" dur="500" fill="hold"/>
                                        <p:tgtEl>
                                          <p:spTgt spid="456708">
                                            <p:txEl>
                                              <p:pRg st="7" end="7"/>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5670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456712"/>
                                        </p:tgtEl>
                                        <p:attrNameLst>
                                          <p:attrName>style.visibility</p:attrName>
                                        </p:attrNameLst>
                                      </p:cBhvr>
                                      <p:to>
                                        <p:strVal val="visible"/>
                                      </p:to>
                                    </p:set>
                                    <p:anim calcmode="lin" valueType="num">
                                      <p:cBhvr additive="base">
                                        <p:cTn id="67" dur="500" fill="hold"/>
                                        <p:tgtEl>
                                          <p:spTgt spid="456712"/>
                                        </p:tgtEl>
                                        <p:attrNameLst>
                                          <p:attrName>ppt_x</p:attrName>
                                        </p:attrNameLst>
                                      </p:cBhvr>
                                      <p:tavLst>
                                        <p:tav tm="0">
                                          <p:val>
                                            <p:strVal val="#ppt_x"/>
                                          </p:val>
                                        </p:tav>
                                        <p:tav tm="100000">
                                          <p:val>
                                            <p:strVal val="#ppt_x"/>
                                          </p:val>
                                        </p:tav>
                                      </p:tavLst>
                                    </p:anim>
                                    <p:anim calcmode="lin" valueType="num">
                                      <p:cBhvr additive="base">
                                        <p:cTn id="68" dur="500" fill="hold"/>
                                        <p:tgtEl>
                                          <p:spTgt spid="456712"/>
                                        </p:tgtEl>
                                        <p:attrNameLst>
                                          <p:attrName>ppt_y</p:attrName>
                                        </p:attrNameLst>
                                      </p:cBhvr>
                                      <p:tavLst>
                                        <p:tav tm="0">
                                          <p:val>
                                            <p:strVal val="1+#ppt_h/2"/>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4" fill="hold" nodeType="clickEffect">
                                  <p:stCondLst>
                                    <p:cond delay="0"/>
                                  </p:stCondLst>
                                  <p:childTnLst>
                                    <p:set>
                                      <p:cBhvr>
                                        <p:cTn id="72" dur="1" fill="hold">
                                          <p:stCondLst>
                                            <p:cond delay="0"/>
                                          </p:stCondLst>
                                        </p:cTn>
                                        <p:tgtEl>
                                          <p:spTgt spid="456708">
                                            <p:txEl>
                                              <p:pRg st="8" end="8"/>
                                            </p:txEl>
                                          </p:spTgt>
                                        </p:tgtEl>
                                        <p:attrNameLst>
                                          <p:attrName>style.visibility</p:attrName>
                                        </p:attrNameLst>
                                      </p:cBhvr>
                                      <p:to>
                                        <p:strVal val="visible"/>
                                      </p:to>
                                    </p:set>
                                    <p:anim calcmode="lin" valueType="num">
                                      <p:cBhvr additive="base">
                                        <p:cTn id="73" dur="500" fill="hold"/>
                                        <p:tgtEl>
                                          <p:spTgt spid="456708">
                                            <p:txEl>
                                              <p:pRg st="8" end="8"/>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456708">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456710"/>
                                        </p:tgtEl>
                                        <p:attrNameLst>
                                          <p:attrName>style.visibility</p:attrName>
                                        </p:attrNameLst>
                                      </p:cBhvr>
                                      <p:to>
                                        <p:strVal val="visible"/>
                                      </p:to>
                                    </p:set>
                                    <p:anim calcmode="lin" valueType="num">
                                      <p:cBhvr additive="base">
                                        <p:cTn id="79" dur="500" fill="hold"/>
                                        <p:tgtEl>
                                          <p:spTgt spid="456710"/>
                                        </p:tgtEl>
                                        <p:attrNameLst>
                                          <p:attrName>ppt_x</p:attrName>
                                        </p:attrNameLst>
                                      </p:cBhvr>
                                      <p:tavLst>
                                        <p:tav tm="0">
                                          <p:val>
                                            <p:strVal val="#ppt_x"/>
                                          </p:val>
                                        </p:tav>
                                        <p:tav tm="100000">
                                          <p:val>
                                            <p:strVal val="#ppt_x"/>
                                          </p:val>
                                        </p:tav>
                                      </p:tavLst>
                                    </p:anim>
                                    <p:anim calcmode="lin" valueType="num">
                                      <p:cBhvr additive="base">
                                        <p:cTn id="80" dur="500" fill="hold"/>
                                        <p:tgtEl>
                                          <p:spTgt spid="4567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6706" grpId="0"/>
      <p:bldP spid="456710" grpId="0" animBg="1"/>
      <p:bldP spid="456711" grpId="0"/>
      <p:bldP spid="45671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2"/>
          <p:cNvSpPr>
            <a:spLocks noGrp="1"/>
          </p:cNvSpPr>
          <p:nvPr>
            <p:ph type="sldNum" sz="quarter" idx="11"/>
          </p:nvPr>
        </p:nvSpPr>
        <p:spPr/>
        <p:txBody>
          <a:bodyPr/>
          <a:lstStyle/>
          <a:p>
            <a:fld id="{6312B06E-0B2F-43D1-9102-6EF4974FCEA5}" type="slidenum">
              <a:rPr lang="en-US" altLang="zh-CN"/>
              <a:pPr/>
              <a:t>49</a:t>
            </a:fld>
            <a:endParaRPr lang="en-US" altLang="zh-CN"/>
          </a:p>
        </p:txBody>
      </p:sp>
      <p:sp>
        <p:nvSpPr>
          <p:cNvPr id="457730" name="Text Box 2"/>
          <p:cNvSpPr txBox="1">
            <a:spLocks noChangeArrowheads="1"/>
          </p:cNvSpPr>
          <p:nvPr/>
        </p:nvSpPr>
        <p:spPr bwMode="auto">
          <a:xfrm>
            <a:off x="466725" y="908050"/>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kumimoji="1" sz="2400">
                <a:solidFill>
                  <a:schemeClr val="tx1"/>
                </a:solidFill>
                <a:latin typeface="Times New Roman" pitchFamily="18" charset="0"/>
                <a:ea typeface="宋体" pitchFamily="2" charset="-122"/>
              </a:defRPr>
            </a:lvl1pPr>
            <a:lvl2pPr marL="53975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20000"/>
              </a:lnSpc>
            </a:pPr>
            <a:r>
              <a:rPr lang="zh-CN" altLang="en-US" b="1">
                <a:solidFill>
                  <a:srgbClr val="FF0000"/>
                </a:solidFill>
              </a:rPr>
              <a:t>定理</a:t>
            </a:r>
            <a:r>
              <a:rPr lang="en-US" altLang="zh-CN" b="1">
                <a:solidFill>
                  <a:srgbClr val="FF0000"/>
                </a:solidFill>
              </a:rPr>
              <a:t>5-4.8</a:t>
            </a:r>
            <a:r>
              <a:rPr lang="zh-CN" altLang="en-US" b="1">
                <a:solidFill>
                  <a:srgbClr val="FF0000"/>
                </a:solidFill>
              </a:rPr>
              <a:t>：</a:t>
            </a:r>
            <a:r>
              <a:rPr lang="zh-CN" altLang="en-US" b="1"/>
              <a:t>设</a:t>
            </a:r>
            <a:r>
              <a:rPr lang="en-US" altLang="zh-CN" b="1"/>
              <a:t>&lt;G,*&gt;</a:t>
            </a:r>
            <a:r>
              <a:rPr lang="zh-CN" altLang="en-US" b="1"/>
              <a:t>是群，</a:t>
            </a:r>
            <a:r>
              <a:rPr lang="en-US" altLang="zh-CN" b="1"/>
              <a:t>S</a:t>
            </a:r>
            <a:r>
              <a:rPr lang="zh-CN" altLang="en-US" b="1"/>
              <a:t>是</a:t>
            </a:r>
            <a:r>
              <a:rPr lang="en-US" altLang="zh-CN" b="1"/>
              <a:t>G</a:t>
            </a:r>
            <a:r>
              <a:rPr lang="zh-CN" altLang="en-US" b="1"/>
              <a:t>的非空子集，如果对</a:t>
            </a:r>
            <a:r>
              <a:rPr lang="en-US" altLang="zh-CN" b="1"/>
              <a:t>S</a:t>
            </a:r>
            <a:r>
              <a:rPr lang="zh-CN" altLang="en-US" b="1"/>
              <a:t>中的任意元素</a:t>
            </a:r>
            <a:r>
              <a:rPr lang="en-US" altLang="zh-CN" b="1"/>
              <a:t>a</a:t>
            </a:r>
            <a:r>
              <a:rPr lang="zh-CN" altLang="en-US" b="1"/>
              <a:t>和</a:t>
            </a:r>
            <a:r>
              <a:rPr lang="en-US" altLang="zh-CN" b="1"/>
              <a:t>b</a:t>
            </a:r>
            <a:r>
              <a:rPr lang="zh-CN" altLang="en-US" b="1"/>
              <a:t>有</a:t>
            </a:r>
            <a:r>
              <a:rPr lang="en-US" altLang="zh-CN" b="1"/>
              <a:t>a*b</a:t>
            </a:r>
            <a:r>
              <a:rPr lang="en-US" altLang="zh-CN" b="1" baseline="30000"/>
              <a:t>-1</a:t>
            </a:r>
            <a:r>
              <a:rPr lang="en-US" altLang="zh-CN" b="1"/>
              <a:t>∈S</a:t>
            </a:r>
            <a:r>
              <a:rPr lang="zh-CN" altLang="en-US" b="1"/>
              <a:t>，则</a:t>
            </a:r>
            <a:r>
              <a:rPr lang="en-US" altLang="zh-CN" b="1"/>
              <a:t>&lt;S,*&gt;</a:t>
            </a:r>
            <a:r>
              <a:rPr lang="zh-CN" altLang="en-US" b="1"/>
              <a:t>是</a:t>
            </a:r>
            <a:r>
              <a:rPr lang="en-US" altLang="zh-CN" b="1"/>
              <a:t>&lt;G,*&gt;</a:t>
            </a:r>
            <a:r>
              <a:rPr lang="zh-CN" altLang="en-US" b="1"/>
              <a:t>的子群。</a:t>
            </a:r>
          </a:p>
        </p:txBody>
      </p:sp>
      <p:sp>
        <p:nvSpPr>
          <p:cNvPr id="457732" name="Text Box 4"/>
          <p:cNvSpPr txBox="1">
            <a:spLocks noChangeArrowheads="1"/>
          </p:cNvSpPr>
          <p:nvPr/>
        </p:nvSpPr>
        <p:spPr bwMode="auto">
          <a:xfrm>
            <a:off x="466725" y="1906588"/>
            <a:ext cx="4033838"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kumimoji="1" sz="2400">
                <a:solidFill>
                  <a:schemeClr val="tx1"/>
                </a:solidFill>
                <a:latin typeface="Times New Roman" pitchFamily="18" charset="0"/>
                <a:ea typeface="宋体" pitchFamily="2" charset="-122"/>
              </a:defRPr>
            </a:lvl1pPr>
            <a:lvl2pPr marL="53975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lnSpc>
                <a:spcPct val="120000"/>
              </a:lnSpc>
            </a:pPr>
            <a:r>
              <a:rPr kumimoji="0" lang="zh-CN" altLang="en-US" b="1"/>
              <a:t>证明：</a:t>
            </a:r>
            <a:r>
              <a:rPr kumimoji="0" lang="en-US" altLang="zh-CN" b="1"/>
              <a:t>1)</a:t>
            </a:r>
            <a:r>
              <a:rPr kumimoji="0" lang="zh-CN" altLang="en-US" b="1"/>
              <a:t>幺元：</a:t>
            </a:r>
            <a:r>
              <a:rPr lang="zh-CN" altLang="en-US" b="1">
                <a:sym typeface="Symbol" pitchFamily="18" charset="2"/>
              </a:rPr>
              <a:t></a:t>
            </a:r>
            <a:r>
              <a:rPr lang="en-US" altLang="zh-CN" b="1">
                <a:sym typeface="Symbol" pitchFamily="18" charset="2"/>
              </a:rPr>
              <a:t>a</a:t>
            </a:r>
            <a:r>
              <a:rPr lang="en-US" altLang="zh-CN" b="1"/>
              <a:t>∈S</a:t>
            </a:r>
            <a:r>
              <a:rPr lang="zh-CN" altLang="en-US" b="1"/>
              <a:t>，有</a:t>
            </a:r>
          </a:p>
          <a:p>
            <a:pPr eaLnBrk="0" hangingPunct="0">
              <a:lnSpc>
                <a:spcPct val="120000"/>
              </a:lnSpc>
            </a:pPr>
            <a:r>
              <a:rPr lang="en-US" altLang="zh-CN" b="1"/>
              <a:t>e=a*a</a:t>
            </a:r>
            <a:r>
              <a:rPr lang="en-US" altLang="zh-CN" b="1" baseline="30000"/>
              <a:t>-1</a:t>
            </a:r>
            <a:r>
              <a:rPr lang="en-US" altLang="zh-CN" b="1"/>
              <a:t>∈S</a:t>
            </a:r>
          </a:p>
          <a:p>
            <a:pPr eaLnBrk="0" hangingPunct="0">
              <a:lnSpc>
                <a:spcPct val="120000"/>
              </a:lnSpc>
            </a:pPr>
            <a:r>
              <a:rPr kumimoji="0" lang="en-US" altLang="zh-CN" b="1"/>
              <a:t>2)</a:t>
            </a:r>
            <a:r>
              <a:rPr kumimoji="0" lang="zh-CN" altLang="en-US" b="1"/>
              <a:t>逆元：</a:t>
            </a:r>
            <a:r>
              <a:rPr kumimoji="0" lang="en-US" altLang="zh-CN" b="1"/>
              <a:t>a, e</a:t>
            </a:r>
            <a:r>
              <a:rPr lang="en-US" altLang="zh-CN" b="1"/>
              <a:t>∈S</a:t>
            </a:r>
            <a:r>
              <a:rPr lang="zh-CN" altLang="en-US" b="1"/>
              <a:t>，</a:t>
            </a:r>
          </a:p>
          <a:p>
            <a:pPr eaLnBrk="0" hangingPunct="0">
              <a:lnSpc>
                <a:spcPct val="120000"/>
              </a:lnSpc>
            </a:pPr>
            <a:r>
              <a:rPr lang="zh-CN" altLang="en-US" b="1"/>
              <a:t>故</a:t>
            </a:r>
            <a:r>
              <a:rPr lang="en-US" altLang="zh-CN" b="1"/>
              <a:t>e*a</a:t>
            </a:r>
            <a:r>
              <a:rPr lang="en-US" altLang="zh-CN" b="1" baseline="30000"/>
              <a:t>-1</a:t>
            </a:r>
            <a:r>
              <a:rPr lang="en-US" altLang="zh-CN" b="1"/>
              <a:t>∈S</a:t>
            </a:r>
          </a:p>
          <a:p>
            <a:pPr eaLnBrk="0" hangingPunct="0">
              <a:lnSpc>
                <a:spcPct val="120000"/>
              </a:lnSpc>
            </a:pPr>
            <a:r>
              <a:rPr lang="en-US" altLang="zh-CN" b="1">
                <a:sym typeface="Symbol" pitchFamily="18" charset="2"/>
              </a:rPr>
              <a:t>    </a:t>
            </a:r>
            <a:r>
              <a:rPr lang="en-US" altLang="zh-CN" b="1"/>
              <a:t>a</a:t>
            </a:r>
            <a:r>
              <a:rPr lang="en-US" altLang="zh-CN" b="1" baseline="30000"/>
              <a:t>-1</a:t>
            </a:r>
            <a:r>
              <a:rPr lang="en-US" altLang="zh-CN" b="1"/>
              <a:t>∈S</a:t>
            </a:r>
            <a:endParaRPr kumimoji="0" lang="en-US" altLang="zh-CN" b="1"/>
          </a:p>
        </p:txBody>
      </p:sp>
      <p:sp>
        <p:nvSpPr>
          <p:cNvPr id="457737" name="Rectangle 9"/>
          <p:cNvSpPr>
            <a:spLocks noChangeArrowheads="1"/>
          </p:cNvSpPr>
          <p:nvPr/>
        </p:nvSpPr>
        <p:spPr bwMode="auto">
          <a:xfrm>
            <a:off x="4357688" y="1906588"/>
            <a:ext cx="4391025"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lnSpc>
                <a:spcPct val="120000"/>
              </a:lnSpc>
            </a:pPr>
            <a:r>
              <a:rPr kumimoji="0" lang="en-US" altLang="zh-CN" b="1"/>
              <a:t>3)</a:t>
            </a:r>
            <a:r>
              <a:rPr kumimoji="0" lang="zh-CN" altLang="en-US" b="1"/>
              <a:t>封闭性： </a:t>
            </a:r>
            <a:r>
              <a:rPr lang="zh-CN" altLang="en-US" b="1">
                <a:sym typeface="Symbol" pitchFamily="18" charset="2"/>
              </a:rPr>
              <a:t></a:t>
            </a:r>
            <a:r>
              <a:rPr lang="en-US" altLang="zh-CN" b="1">
                <a:sym typeface="Symbol" pitchFamily="18" charset="2"/>
              </a:rPr>
              <a:t>a, b</a:t>
            </a:r>
            <a:r>
              <a:rPr lang="en-US" altLang="zh-CN" b="1"/>
              <a:t>∈S</a:t>
            </a:r>
            <a:r>
              <a:rPr lang="zh-CN" altLang="en-US" b="1"/>
              <a:t>，</a:t>
            </a:r>
          </a:p>
          <a:p>
            <a:pPr algn="l" eaLnBrk="0" hangingPunct="0">
              <a:lnSpc>
                <a:spcPct val="120000"/>
              </a:lnSpc>
            </a:pPr>
            <a:r>
              <a:rPr lang="en-US" altLang="zh-CN" b="1"/>
              <a:t>a</a:t>
            </a:r>
            <a:r>
              <a:rPr lang="en-US" altLang="zh-CN" b="1" baseline="30000"/>
              <a:t>-1</a:t>
            </a:r>
            <a:r>
              <a:rPr lang="zh-CN" altLang="en-US" b="1"/>
              <a:t>，</a:t>
            </a:r>
            <a:r>
              <a:rPr lang="en-US" altLang="zh-CN" b="1"/>
              <a:t>b</a:t>
            </a:r>
            <a:r>
              <a:rPr lang="en-US" altLang="zh-CN" b="1" baseline="30000"/>
              <a:t>-1</a:t>
            </a:r>
            <a:r>
              <a:rPr lang="en-US" altLang="zh-CN" b="1"/>
              <a:t>∈S</a:t>
            </a:r>
            <a:r>
              <a:rPr lang="zh-CN" altLang="en-US" b="1"/>
              <a:t>，</a:t>
            </a:r>
          </a:p>
          <a:p>
            <a:pPr algn="l" eaLnBrk="0" hangingPunct="0">
              <a:lnSpc>
                <a:spcPct val="120000"/>
              </a:lnSpc>
            </a:pPr>
            <a:r>
              <a:rPr lang="zh-CN" altLang="en-US" b="1"/>
              <a:t>故</a:t>
            </a:r>
            <a:r>
              <a:rPr lang="en-US" altLang="zh-CN" b="1"/>
              <a:t>a*b</a:t>
            </a:r>
          </a:p>
          <a:p>
            <a:pPr algn="l" eaLnBrk="0" hangingPunct="0">
              <a:lnSpc>
                <a:spcPct val="120000"/>
              </a:lnSpc>
            </a:pPr>
            <a:r>
              <a:rPr lang="en-US" altLang="zh-CN" b="1"/>
              <a:t>  =a*(b</a:t>
            </a:r>
            <a:r>
              <a:rPr lang="en-US" altLang="zh-CN" b="1" baseline="30000"/>
              <a:t>-1</a:t>
            </a:r>
            <a:r>
              <a:rPr lang="en-US" altLang="zh-CN" b="1"/>
              <a:t>)</a:t>
            </a:r>
            <a:r>
              <a:rPr lang="en-US" altLang="zh-CN" b="1" baseline="30000"/>
              <a:t>-1</a:t>
            </a:r>
            <a:r>
              <a:rPr lang="en-US" altLang="zh-CN" b="1"/>
              <a:t>∈S</a:t>
            </a:r>
          </a:p>
          <a:p>
            <a:pPr algn="l" eaLnBrk="0" hangingPunct="0">
              <a:lnSpc>
                <a:spcPct val="120000"/>
              </a:lnSpc>
            </a:pPr>
            <a:r>
              <a:rPr kumimoji="0" lang="en-US" altLang="zh-CN" b="1"/>
              <a:t>4)</a:t>
            </a:r>
            <a:r>
              <a:rPr kumimoji="0" lang="zh-CN" altLang="en-US" b="1"/>
              <a:t>结合性：保持。</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57732">
                                            <p:txEl>
                                              <p:pRg st="0" end="0"/>
                                            </p:txEl>
                                          </p:spTgt>
                                        </p:tgtEl>
                                        <p:attrNameLst>
                                          <p:attrName>style.visibility</p:attrName>
                                        </p:attrNameLst>
                                      </p:cBhvr>
                                      <p:to>
                                        <p:strVal val="visible"/>
                                      </p:to>
                                    </p:set>
                                    <p:anim calcmode="lin" valueType="num">
                                      <p:cBhvr additive="base">
                                        <p:cTn id="7" dur="500" fill="hold"/>
                                        <p:tgtEl>
                                          <p:spTgt spid="45773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5773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57732">
                                            <p:txEl>
                                              <p:pRg st="1" end="1"/>
                                            </p:txEl>
                                          </p:spTgt>
                                        </p:tgtEl>
                                        <p:attrNameLst>
                                          <p:attrName>style.visibility</p:attrName>
                                        </p:attrNameLst>
                                      </p:cBhvr>
                                      <p:to>
                                        <p:strVal val="visible"/>
                                      </p:to>
                                    </p:set>
                                    <p:anim calcmode="lin" valueType="num">
                                      <p:cBhvr additive="base">
                                        <p:cTn id="13" dur="500" fill="hold"/>
                                        <p:tgtEl>
                                          <p:spTgt spid="45773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5773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57732">
                                            <p:txEl>
                                              <p:pRg st="2" end="2"/>
                                            </p:txEl>
                                          </p:spTgt>
                                        </p:tgtEl>
                                        <p:attrNameLst>
                                          <p:attrName>style.visibility</p:attrName>
                                        </p:attrNameLst>
                                      </p:cBhvr>
                                      <p:to>
                                        <p:strVal val="visible"/>
                                      </p:to>
                                    </p:set>
                                    <p:anim calcmode="lin" valueType="num">
                                      <p:cBhvr additive="base">
                                        <p:cTn id="19" dur="500" fill="hold"/>
                                        <p:tgtEl>
                                          <p:spTgt spid="45773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5773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457732">
                                            <p:txEl>
                                              <p:pRg st="3" end="3"/>
                                            </p:txEl>
                                          </p:spTgt>
                                        </p:tgtEl>
                                        <p:attrNameLst>
                                          <p:attrName>style.visibility</p:attrName>
                                        </p:attrNameLst>
                                      </p:cBhvr>
                                      <p:to>
                                        <p:strVal val="visible"/>
                                      </p:to>
                                    </p:set>
                                    <p:anim calcmode="lin" valueType="num">
                                      <p:cBhvr additive="base">
                                        <p:cTn id="25" dur="500" fill="hold"/>
                                        <p:tgtEl>
                                          <p:spTgt spid="45773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5773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457732">
                                            <p:txEl>
                                              <p:pRg st="4" end="4"/>
                                            </p:txEl>
                                          </p:spTgt>
                                        </p:tgtEl>
                                        <p:attrNameLst>
                                          <p:attrName>style.visibility</p:attrName>
                                        </p:attrNameLst>
                                      </p:cBhvr>
                                      <p:to>
                                        <p:strVal val="visible"/>
                                      </p:to>
                                    </p:set>
                                    <p:anim calcmode="lin" valueType="num">
                                      <p:cBhvr additive="base">
                                        <p:cTn id="31" dur="500" fill="hold"/>
                                        <p:tgtEl>
                                          <p:spTgt spid="45773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5773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457737">
                                            <p:txEl>
                                              <p:pRg st="0" end="0"/>
                                            </p:txEl>
                                          </p:spTgt>
                                        </p:tgtEl>
                                        <p:attrNameLst>
                                          <p:attrName>style.visibility</p:attrName>
                                        </p:attrNameLst>
                                      </p:cBhvr>
                                      <p:to>
                                        <p:strVal val="visible"/>
                                      </p:to>
                                    </p:set>
                                    <p:anim calcmode="lin" valueType="num">
                                      <p:cBhvr additive="base">
                                        <p:cTn id="37" dur="500" fill="hold"/>
                                        <p:tgtEl>
                                          <p:spTgt spid="457737">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5773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457737">
                                            <p:txEl>
                                              <p:pRg st="1" end="1"/>
                                            </p:txEl>
                                          </p:spTgt>
                                        </p:tgtEl>
                                        <p:attrNameLst>
                                          <p:attrName>style.visibility</p:attrName>
                                        </p:attrNameLst>
                                      </p:cBhvr>
                                      <p:to>
                                        <p:strVal val="visible"/>
                                      </p:to>
                                    </p:set>
                                    <p:anim calcmode="lin" valueType="num">
                                      <p:cBhvr additive="base">
                                        <p:cTn id="43" dur="500" fill="hold"/>
                                        <p:tgtEl>
                                          <p:spTgt spid="457737">
                                            <p:txEl>
                                              <p:pRg st="1" end="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5773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457737">
                                            <p:txEl>
                                              <p:pRg st="2" end="2"/>
                                            </p:txEl>
                                          </p:spTgt>
                                        </p:tgtEl>
                                        <p:attrNameLst>
                                          <p:attrName>style.visibility</p:attrName>
                                        </p:attrNameLst>
                                      </p:cBhvr>
                                      <p:to>
                                        <p:strVal val="visible"/>
                                      </p:to>
                                    </p:set>
                                    <p:anim calcmode="lin" valueType="num">
                                      <p:cBhvr additive="base">
                                        <p:cTn id="49" dur="500" fill="hold"/>
                                        <p:tgtEl>
                                          <p:spTgt spid="457737">
                                            <p:txEl>
                                              <p:pRg st="2" end="2"/>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5773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nodeType="clickEffect">
                                  <p:stCondLst>
                                    <p:cond delay="0"/>
                                  </p:stCondLst>
                                  <p:childTnLst>
                                    <p:set>
                                      <p:cBhvr>
                                        <p:cTn id="54" dur="1" fill="hold">
                                          <p:stCondLst>
                                            <p:cond delay="0"/>
                                          </p:stCondLst>
                                        </p:cTn>
                                        <p:tgtEl>
                                          <p:spTgt spid="457737">
                                            <p:txEl>
                                              <p:pRg st="3" end="3"/>
                                            </p:txEl>
                                          </p:spTgt>
                                        </p:tgtEl>
                                        <p:attrNameLst>
                                          <p:attrName>style.visibility</p:attrName>
                                        </p:attrNameLst>
                                      </p:cBhvr>
                                      <p:to>
                                        <p:strVal val="visible"/>
                                      </p:to>
                                    </p:set>
                                    <p:anim calcmode="lin" valueType="num">
                                      <p:cBhvr additive="base">
                                        <p:cTn id="55" dur="500" fill="hold"/>
                                        <p:tgtEl>
                                          <p:spTgt spid="457737">
                                            <p:txEl>
                                              <p:pRg st="3" end="3"/>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5773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4" fill="hold" nodeType="clickEffect">
                                  <p:stCondLst>
                                    <p:cond delay="0"/>
                                  </p:stCondLst>
                                  <p:childTnLst>
                                    <p:set>
                                      <p:cBhvr>
                                        <p:cTn id="60" dur="1" fill="hold">
                                          <p:stCondLst>
                                            <p:cond delay="0"/>
                                          </p:stCondLst>
                                        </p:cTn>
                                        <p:tgtEl>
                                          <p:spTgt spid="457737">
                                            <p:txEl>
                                              <p:pRg st="4" end="4"/>
                                            </p:txEl>
                                          </p:spTgt>
                                        </p:tgtEl>
                                        <p:attrNameLst>
                                          <p:attrName>style.visibility</p:attrName>
                                        </p:attrNameLst>
                                      </p:cBhvr>
                                      <p:to>
                                        <p:strVal val="visible"/>
                                      </p:to>
                                    </p:set>
                                    <p:anim calcmode="lin" valueType="num">
                                      <p:cBhvr additive="base">
                                        <p:cTn id="61" dur="500" fill="hold"/>
                                        <p:tgtEl>
                                          <p:spTgt spid="457737">
                                            <p:txEl>
                                              <p:pRg st="4" end="4"/>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5773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4978C4A0-326A-4B2D-A455-03CB785F8294}" type="slidenum">
              <a:rPr lang="en-US" altLang="zh-CN"/>
              <a:pPr/>
              <a:t>50</a:t>
            </a:fld>
            <a:endParaRPr lang="en-US" altLang="zh-CN"/>
          </a:p>
        </p:txBody>
      </p:sp>
      <p:sp>
        <p:nvSpPr>
          <p:cNvPr id="514052" name="Text Box 4"/>
          <p:cNvSpPr txBox="1">
            <a:spLocks noChangeArrowheads="1"/>
          </p:cNvSpPr>
          <p:nvPr/>
        </p:nvSpPr>
        <p:spPr bwMode="auto">
          <a:xfrm>
            <a:off x="466725" y="1125538"/>
            <a:ext cx="8277225"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kumimoji="1" sz="2400">
                <a:solidFill>
                  <a:schemeClr val="tx1"/>
                </a:solidFill>
                <a:latin typeface="Times New Roman" pitchFamily="18" charset="0"/>
                <a:ea typeface="宋体" pitchFamily="2" charset="-122"/>
              </a:defRPr>
            </a:lvl1pPr>
            <a:lvl2pPr marL="53975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30000"/>
              </a:lnSpc>
              <a:buClr>
                <a:srgbClr val="FF3300"/>
              </a:buClr>
              <a:buFont typeface="Wingdings" pitchFamily="2" charset="2"/>
              <a:buChar char="Ø"/>
            </a:pPr>
            <a:r>
              <a:rPr lang="en-US" altLang="zh-CN" b="1"/>
              <a:t>   </a:t>
            </a:r>
            <a:r>
              <a:rPr lang="zh-CN" altLang="en-US" b="1"/>
              <a:t>判断子群的条件有两种：</a:t>
            </a:r>
          </a:p>
          <a:p>
            <a:pPr>
              <a:lnSpc>
                <a:spcPct val="130000"/>
              </a:lnSpc>
            </a:pPr>
            <a:r>
              <a:rPr lang="zh-CN" altLang="en-US" b="1"/>
              <a:t>第一种：</a:t>
            </a:r>
            <a:r>
              <a:rPr lang="en-US" altLang="zh-CN" b="1"/>
              <a:t>1</a:t>
            </a:r>
            <a:r>
              <a:rPr lang="zh-CN" altLang="en-US" b="1"/>
              <a:t>）</a:t>
            </a:r>
            <a:r>
              <a:rPr lang="en-US" altLang="zh-CN" b="1"/>
              <a:t>B</a:t>
            </a:r>
            <a:r>
              <a:rPr lang="zh-CN" altLang="en-US" b="1"/>
              <a:t>是一个有限集；</a:t>
            </a:r>
          </a:p>
          <a:p>
            <a:pPr>
              <a:lnSpc>
                <a:spcPct val="130000"/>
              </a:lnSpc>
            </a:pPr>
            <a:r>
              <a:rPr lang="zh-CN" altLang="en-US" b="1"/>
              <a:t>                </a:t>
            </a:r>
            <a:r>
              <a:rPr lang="en-US" altLang="zh-CN" b="1"/>
              <a:t>2</a:t>
            </a:r>
            <a:r>
              <a:rPr lang="zh-CN" altLang="en-US" b="1"/>
              <a:t>）运算*在</a:t>
            </a:r>
            <a:r>
              <a:rPr lang="en-US" altLang="zh-CN" b="1"/>
              <a:t>B</a:t>
            </a:r>
            <a:r>
              <a:rPr lang="zh-CN" altLang="en-US" b="1"/>
              <a:t>上封闭。</a:t>
            </a:r>
          </a:p>
          <a:p>
            <a:pPr>
              <a:lnSpc>
                <a:spcPct val="130000"/>
              </a:lnSpc>
            </a:pPr>
            <a:r>
              <a:rPr lang="zh-CN" altLang="en-US" b="1"/>
              <a:t>第二种： </a:t>
            </a:r>
            <a:r>
              <a:rPr lang="en-US" altLang="zh-CN" b="1"/>
              <a:t>S</a:t>
            </a:r>
            <a:r>
              <a:rPr lang="zh-CN" altLang="en-US" b="1"/>
              <a:t>中的任意元素</a:t>
            </a:r>
            <a:r>
              <a:rPr lang="en-US" altLang="zh-CN" b="1"/>
              <a:t>a</a:t>
            </a:r>
            <a:r>
              <a:rPr lang="zh-CN" altLang="en-US" b="1"/>
              <a:t>和</a:t>
            </a:r>
            <a:r>
              <a:rPr lang="en-US" altLang="zh-CN" b="1"/>
              <a:t>b</a:t>
            </a:r>
            <a:r>
              <a:rPr lang="zh-CN" altLang="en-US" b="1"/>
              <a:t>有</a:t>
            </a:r>
            <a:r>
              <a:rPr lang="en-US" altLang="zh-CN" b="1"/>
              <a:t>a*b</a:t>
            </a:r>
            <a:r>
              <a:rPr lang="en-US" altLang="zh-CN" b="1" baseline="30000"/>
              <a:t>-1</a:t>
            </a:r>
            <a:r>
              <a:rPr lang="en-US" altLang="zh-CN" b="1"/>
              <a:t>∈S</a:t>
            </a:r>
            <a:r>
              <a:rPr lang="zh-CN" altLang="en-US" b="1"/>
              <a:t>。</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14052">
                                            <p:txEl>
                                              <p:pRg st="1" end="1"/>
                                            </p:txEl>
                                          </p:spTgt>
                                        </p:tgtEl>
                                        <p:attrNameLst>
                                          <p:attrName>style.visibility</p:attrName>
                                        </p:attrNameLst>
                                      </p:cBhvr>
                                      <p:to>
                                        <p:strVal val="visible"/>
                                      </p:to>
                                    </p:set>
                                    <p:anim calcmode="lin" valueType="num">
                                      <p:cBhvr additive="base">
                                        <p:cTn id="7" dur="500" fill="hold"/>
                                        <p:tgtEl>
                                          <p:spTgt spid="51405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405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14052">
                                            <p:txEl>
                                              <p:pRg st="2" end="2"/>
                                            </p:txEl>
                                          </p:spTgt>
                                        </p:tgtEl>
                                        <p:attrNameLst>
                                          <p:attrName>style.visibility</p:attrName>
                                        </p:attrNameLst>
                                      </p:cBhvr>
                                      <p:to>
                                        <p:strVal val="visible"/>
                                      </p:to>
                                    </p:set>
                                    <p:anim calcmode="lin" valueType="num">
                                      <p:cBhvr additive="base">
                                        <p:cTn id="13" dur="500" fill="hold"/>
                                        <p:tgtEl>
                                          <p:spTgt spid="51405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1405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14052">
                                            <p:txEl>
                                              <p:pRg st="3" end="3"/>
                                            </p:txEl>
                                          </p:spTgt>
                                        </p:tgtEl>
                                        <p:attrNameLst>
                                          <p:attrName>style.visibility</p:attrName>
                                        </p:attrNameLst>
                                      </p:cBhvr>
                                      <p:to>
                                        <p:strVal val="visible"/>
                                      </p:to>
                                    </p:set>
                                    <p:anim calcmode="lin" valueType="num">
                                      <p:cBhvr additive="base">
                                        <p:cTn id="19" dur="500" fill="hold"/>
                                        <p:tgtEl>
                                          <p:spTgt spid="51405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1405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fld id="{A50854BB-D0BF-476A-A1EA-0469C92D5AD3}" type="slidenum">
              <a:rPr lang="en-US" altLang="zh-CN"/>
              <a:pPr/>
              <a:t>51</a:t>
            </a:fld>
            <a:endParaRPr lang="en-US" altLang="zh-CN"/>
          </a:p>
        </p:txBody>
      </p:sp>
      <p:sp>
        <p:nvSpPr>
          <p:cNvPr id="515076" name="Text Box 4"/>
          <p:cNvSpPr txBox="1">
            <a:spLocks noChangeArrowheads="1"/>
          </p:cNvSpPr>
          <p:nvPr/>
        </p:nvSpPr>
        <p:spPr bwMode="auto">
          <a:xfrm>
            <a:off x="466725" y="981075"/>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kumimoji="1" sz="2400">
                <a:solidFill>
                  <a:schemeClr val="tx1"/>
                </a:solidFill>
                <a:latin typeface="Times New Roman" pitchFamily="18" charset="0"/>
                <a:ea typeface="宋体" pitchFamily="2" charset="-122"/>
              </a:defRPr>
            </a:lvl1pPr>
            <a:lvl2pPr marL="53975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30000"/>
              </a:lnSpc>
            </a:pPr>
            <a:r>
              <a:rPr lang="zh-CN" altLang="en-US" b="1">
                <a:solidFill>
                  <a:schemeClr val="hlink"/>
                </a:solidFill>
              </a:rPr>
              <a:t>例</a:t>
            </a:r>
            <a:r>
              <a:rPr lang="en-US" altLang="zh-CN" b="1">
                <a:solidFill>
                  <a:schemeClr val="hlink"/>
                </a:solidFill>
              </a:rPr>
              <a:t>4</a:t>
            </a:r>
            <a:r>
              <a:rPr lang="zh-CN" altLang="en-US" b="1">
                <a:solidFill>
                  <a:schemeClr val="hlink"/>
                </a:solidFill>
              </a:rPr>
              <a:t>：</a:t>
            </a:r>
            <a:r>
              <a:rPr lang="zh-CN" altLang="en-US" b="1"/>
              <a:t>设</a:t>
            </a:r>
            <a:r>
              <a:rPr lang="en-US" altLang="zh-CN" b="1"/>
              <a:t>&lt;H,*&gt;</a:t>
            </a:r>
            <a:r>
              <a:rPr lang="zh-CN" altLang="en-US" b="1"/>
              <a:t>和</a:t>
            </a:r>
            <a:r>
              <a:rPr lang="en-US" altLang="zh-CN" b="1"/>
              <a:t>&lt;K,*&gt;</a:t>
            </a:r>
            <a:r>
              <a:rPr lang="zh-CN" altLang="en-US" b="1"/>
              <a:t>都是群</a:t>
            </a:r>
            <a:r>
              <a:rPr lang="en-US" altLang="zh-CN" b="1"/>
              <a:t>&lt;G,*&gt;</a:t>
            </a:r>
            <a:r>
              <a:rPr lang="zh-CN" altLang="en-US" b="1"/>
              <a:t>的子群，试证明</a:t>
            </a:r>
            <a:r>
              <a:rPr lang="en-US" altLang="zh-CN" b="1"/>
              <a:t>&lt;H∩K,*&gt;</a:t>
            </a:r>
            <a:r>
              <a:rPr lang="zh-CN" altLang="en-US" b="1"/>
              <a:t>也是</a:t>
            </a:r>
            <a:r>
              <a:rPr lang="en-US" altLang="zh-CN" b="1"/>
              <a:t>&lt;G,*&gt;</a:t>
            </a:r>
            <a:r>
              <a:rPr lang="zh-CN" altLang="en-US" b="1"/>
              <a:t>的子群。</a:t>
            </a:r>
          </a:p>
        </p:txBody>
      </p:sp>
      <p:sp>
        <p:nvSpPr>
          <p:cNvPr id="515077" name="Text Box 5"/>
          <p:cNvSpPr txBox="1">
            <a:spLocks noChangeArrowheads="1"/>
          </p:cNvSpPr>
          <p:nvPr/>
        </p:nvSpPr>
        <p:spPr bwMode="auto">
          <a:xfrm>
            <a:off x="466725" y="1989138"/>
            <a:ext cx="8277225" cy="3414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kumimoji="1" sz="2400">
                <a:solidFill>
                  <a:schemeClr val="tx1"/>
                </a:solidFill>
                <a:latin typeface="Times New Roman" pitchFamily="18" charset="0"/>
                <a:ea typeface="宋体" pitchFamily="2" charset="-122"/>
              </a:defRPr>
            </a:lvl1pPr>
            <a:lvl2pPr marL="53975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30000"/>
              </a:lnSpc>
            </a:pPr>
            <a:r>
              <a:rPr lang="zh-CN" altLang="en-US" b="1"/>
              <a:t>证明：设</a:t>
            </a:r>
            <a:r>
              <a:rPr lang="zh-CN" altLang="en-US" b="1">
                <a:sym typeface="Symbol" pitchFamily="18" charset="2"/>
              </a:rPr>
              <a:t></a:t>
            </a:r>
            <a:r>
              <a:rPr lang="en-US" altLang="zh-CN" b="1"/>
              <a:t>a, b∈H∩K</a:t>
            </a:r>
            <a:r>
              <a:rPr lang="zh-CN" altLang="en-US" b="1"/>
              <a:t>，因为</a:t>
            </a:r>
            <a:r>
              <a:rPr lang="en-US" altLang="zh-CN" b="1"/>
              <a:t>&lt;H,*&gt;</a:t>
            </a:r>
            <a:r>
              <a:rPr lang="zh-CN" altLang="en-US" b="1"/>
              <a:t>和</a:t>
            </a:r>
            <a:r>
              <a:rPr lang="en-US" altLang="zh-CN" b="1"/>
              <a:t>&lt;K,*&gt;</a:t>
            </a:r>
            <a:r>
              <a:rPr lang="zh-CN" altLang="en-US" b="1"/>
              <a:t>都是子群，所以</a:t>
            </a:r>
          </a:p>
          <a:p>
            <a:pPr>
              <a:lnSpc>
                <a:spcPct val="130000"/>
              </a:lnSpc>
            </a:pPr>
            <a:r>
              <a:rPr lang="zh-CN" altLang="en-US" b="1"/>
              <a:t>    </a:t>
            </a:r>
            <a:r>
              <a:rPr lang="en-US" altLang="zh-CN" b="1"/>
              <a:t>b</a:t>
            </a:r>
            <a:r>
              <a:rPr lang="en-US" altLang="zh-CN" b="1" baseline="30000"/>
              <a:t>-1</a:t>
            </a:r>
            <a:r>
              <a:rPr lang="en-US" altLang="zh-CN" b="1"/>
              <a:t>∈H</a:t>
            </a:r>
            <a:r>
              <a:rPr lang="en-US" altLang="zh-CN" b="1">
                <a:latin typeface="宋体" pitchFamily="2" charset="-122"/>
              </a:rPr>
              <a:t>∧</a:t>
            </a:r>
            <a:r>
              <a:rPr lang="en-US" altLang="zh-CN" b="1"/>
              <a:t>b</a:t>
            </a:r>
            <a:r>
              <a:rPr lang="en-US" altLang="zh-CN" b="1" baseline="30000"/>
              <a:t>-1</a:t>
            </a:r>
            <a:r>
              <a:rPr lang="en-US" altLang="zh-CN" b="1"/>
              <a:t>∈K</a:t>
            </a:r>
          </a:p>
          <a:p>
            <a:pPr>
              <a:lnSpc>
                <a:spcPct val="130000"/>
              </a:lnSpc>
            </a:pPr>
            <a:r>
              <a:rPr lang="en-US" altLang="zh-CN" b="1">
                <a:sym typeface="Symbol" pitchFamily="18" charset="2"/>
              </a:rPr>
              <a:t> </a:t>
            </a:r>
            <a:r>
              <a:rPr lang="en-US" altLang="zh-CN" b="1"/>
              <a:t>b</a:t>
            </a:r>
            <a:r>
              <a:rPr lang="en-US" altLang="zh-CN" b="1" baseline="30000"/>
              <a:t>-1</a:t>
            </a:r>
            <a:r>
              <a:rPr lang="en-US" altLang="zh-CN" b="1"/>
              <a:t>∈H</a:t>
            </a:r>
            <a:r>
              <a:rPr lang="en-US" altLang="zh-CN" b="1">
                <a:latin typeface="宋体" pitchFamily="2" charset="-122"/>
              </a:rPr>
              <a:t>∩</a:t>
            </a:r>
            <a:r>
              <a:rPr lang="en-US" altLang="zh-CN" b="1"/>
              <a:t>K</a:t>
            </a:r>
            <a:endParaRPr lang="en-US" altLang="en-US" b="1">
              <a:sym typeface="Symbol" pitchFamily="18" charset="2"/>
            </a:endParaRPr>
          </a:p>
          <a:p>
            <a:pPr>
              <a:lnSpc>
                <a:spcPct val="130000"/>
              </a:lnSpc>
            </a:pPr>
            <a:r>
              <a:rPr lang="en-US" altLang="zh-CN" b="1"/>
              <a:t>∵*</a:t>
            </a:r>
            <a:r>
              <a:rPr lang="zh-CN" altLang="en-US" b="1"/>
              <a:t>在</a:t>
            </a:r>
            <a:r>
              <a:rPr lang="en-US" altLang="zh-CN" b="1"/>
              <a:t>H</a:t>
            </a:r>
            <a:r>
              <a:rPr lang="zh-CN" altLang="en-US" b="1"/>
              <a:t>和</a:t>
            </a:r>
            <a:r>
              <a:rPr lang="en-US" altLang="zh-CN" b="1"/>
              <a:t>K</a:t>
            </a:r>
            <a:r>
              <a:rPr lang="zh-CN" altLang="en-US" b="1"/>
              <a:t>中的封闭性，</a:t>
            </a:r>
          </a:p>
          <a:p>
            <a:pPr>
              <a:lnSpc>
                <a:spcPct val="130000"/>
              </a:lnSpc>
            </a:pPr>
            <a:r>
              <a:rPr lang="zh-CN" altLang="en-US" b="1"/>
              <a:t>∴ </a:t>
            </a:r>
            <a:r>
              <a:rPr lang="en-US" altLang="zh-CN" b="1"/>
              <a:t>a*b</a:t>
            </a:r>
            <a:r>
              <a:rPr lang="en-US" altLang="zh-CN" b="1" baseline="30000"/>
              <a:t>-1</a:t>
            </a:r>
            <a:r>
              <a:rPr lang="en-US" altLang="zh-CN" b="1"/>
              <a:t>∈H</a:t>
            </a:r>
            <a:r>
              <a:rPr lang="en-US" altLang="zh-CN" b="1">
                <a:latin typeface="宋体" pitchFamily="2" charset="-122"/>
              </a:rPr>
              <a:t>∧</a:t>
            </a:r>
            <a:r>
              <a:rPr lang="en-US" altLang="zh-CN" b="1"/>
              <a:t>a*b</a:t>
            </a:r>
            <a:r>
              <a:rPr lang="en-US" altLang="zh-CN" b="1" baseline="30000"/>
              <a:t>-1</a:t>
            </a:r>
            <a:r>
              <a:rPr lang="en-US" altLang="zh-CN" b="1"/>
              <a:t>∈K</a:t>
            </a:r>
          </a:p>
          <a:p>
            <a:pPr>
              <a:lnSpc>
                <a:spcPct val="130000"/>
              </a:lnSpc>
            </a:pPr>
            <a:r>
              <a:rPr lang="en-US" altLang="zh-CN" b="1"/>
              <a:t> </a:t>
            </a:r>
            <a:r>
              <a:rPr lang="en-US" altLang="zh-CN" b="1">
                <a:sym typeface="Symbol" pitchFamily="18" charset="2"/>
              </a:rPr>
              <a:t></a:t>
            </a:r>
            <a:r>
              <a:rPr lang="en-US" altLang="zh-CN" b="1"/>
              <a:t>a*b</a:t>
            </a:r>
            <a:r>
              <a:rPr lang="en-US" altLang="zh-CN" b="1" baseline="30000"/>
              <a:t>-1</a:t>
            </a:r>
            <a:r>
              <a:rPr lang="en-US" altLang="zh-CN" b="1"/>
              <a:t>∈H</a:t>
            </a:r>
            <a:r>
              <a:rPr lang="en-US" altLang="zh-CN" b="1">
                <a:latin typeface="宋体" pitchFamily="2" charset="-122"/>
                <a:sym typeface="Symbol" pitchFamily="18" charset="2"/>
              </a:rPr>
              <a:t>∩</a:t>
            </a:r>
            <a:r>
              <a:rPr lang="en-US" altLang="zh-CN" b="1">
                <a:ea typeface="华文行楷" pitchFamily="2" charset="-122"/>
                <a:sym typeface="Symbol" pitchFamily="18" charset="2"/>
              </a:rPr>
              <a:t>K</a:t>
            </a:r>
          </a:p>
          <a:p>
            <a:pPr>
              <a:lnSpc>
                <a:spcPct val="130000"/>
              </a:lnSpc>
            </a:pPr>
            <a:r>
              <a:rPr lang="zh-CN" altLang="en-US" b="1"/>
              <a:t>由</a:t>
            </a:r>
            <a:r>
              <a:rPr lang="zh-CN" altLang="en-US" b="1">
                <a:solidFill>
                  <a:srgbClr val="FF0000"/>
                </a:solidFill>
              </a:rPr>
              <a:t>定理</a:t>
            </a:r>
            <a:r>
              <a:rPr lang="en-US" altLang="zh-CN" b="1">
                <a:solidFill>
                  <a:srgbClr val="FF0000"/>
                </a:solidFill>
              </a:rPr>
              <a:t>5-4.8</a:t>
            </a:r>
            <a:r>
              <a:rPr lang="zh-CN" altLang="en-US" b="1"/>
              <a:t>得</a:t>
            </a:r>
            <a:r>
              <a:rPr lang="en-US" altLang="zh-CN" b="1"/>
              <a:t>&lt;H∩K, *&gt;</a:t>
            </a:r>
            <a:r>
              <a:rPr lang="zh-CN" altLang="en-US" b="1"/>
              <a:t>是</a:t>
            </a:r>
            <a:r>
              <a:rPr lang="en-US" altLang="zh-CN" b="1"/>
              <a:t>&lt;G,*&gt;</a:t>
            </a:r>
            <a:r>
              <a:rPr lang="zh-CN" altLang="en-US" b="1"/>
              <a:t>的子群。</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15077">
                                            <p:txEl>
                                              <p:pRg st="0" end="0"/>
                                            </p:txEl>
                                          </p:spTgt>
                                        </p:tgtEl>
                                        <p:attrNameLst>
                                          <p:attrName>style.visibility</p:attrName>
                                        </p:attrNameLst>
                                      </p:cBhvr>
                                      <p:to>
                                        <p:strVal val="visible"/>
                                      </p:to>
                                    </p:set>
                                    <p:anim calcmode="lin" valueType="num">
                                      <p:cBhvr additive="base">
                                        <p:cTn id="7" dur="500" fill="hold"/>
                                        <p:tgtEl>
                                          <p:spTgt spid="51507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507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15077">
                                            <p:txEl>
                                              <p:pRg st="1" end="1"/>
                                            </p:txEl>
                                          </p:spTgt>
                                        </p:tgtEl>
                                        <p:attrNameLst>
                                          <p:attrName>style.visibility</p:attrName>
                                        </p:attrNameLst>
                                      </p:cBhvr>
                                      <p:to>
                                        <p:strVal val="visible"/>
                                      </p:to>
                                    </p:set>
                                    <p:anim calcmode="lin" valueType="num">
                                      <p:cBhvr additive="base">
                                        <p:cTn id="13" dur="500" fill="hold"/>
                                        <p:tgtEl>
                                          <p:spTgt spid="51507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1507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15077">
                                            <p:txEl>
                                              <p:pRg st="2" end="2"/>
                                            </p:txEl>
                                          </p:spTgt>
                                        </p:tgtEl>
                                        <p:attrNameLst>
                                          <p:attrName>style.visibility</p:attrName>
                                        </p:attrNameLst>
                                      </p:cBhvr>
                                      <p:to>
                                        <p:strVal val="visible"/>
                                      </p:to>
                                    </p:set>
                                    <p:anim calcmode="lin" valueType="num">
                                      <p:cBhvr additive="base">
                                        <p:cTn id="19" dur="500" fill="hold"/>
                                        <p:tgtEl>
                                          <p:spTgt spid="51507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1507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515077">
                                            <p:txEl>
                                              <p:pRg st="3" end="3"/>
                                            </p:txEl>
                                          </p:spTgt>
                                        </p:tgtEl>
                                        <p:attrNameLst>
                                          <p:attrName>style.visibility</p:attrName>
                                        </p:attrNameLst>
                                      </p:cBhvr>
                                      <p:to>
                                        <p:strVal val="visible"/>
                                      </p:to>
                                    </p:set>
                                    <p:anim calcmode="lin" valueType="num">
                                      <p:cBhvr additive="base">
                                        <p:cTn id="25" dur="500" fill="hold"/>
                                        <p:tgtEl>
                                          <p:spTgt spid="51507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1507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515077">
                                            <p:txEl>
                                              <p:pRg st="4" end="4"/>
                                            </p:txEl>
                                          </p:spTgt>
                                        </p:tgtEl>
                                        <p:attrNameLst>
                                          <p:attrName>style.visibility</p:attrName>
                                        </p:attrNameLst>
                                      </p:cBhvr>
                                      <p:to>
                                        <p:strVal val="visible"/>
                                      </p:to>
                                    </p:set>
                                    <p:anim calcmode="lin" valueType="num">
                                      <p:cBhvr additive="base">
                                        <p:cTn id="31" dur="500" fill="hold"/>
                                        <p:tgtEl>
                                          <p:spTgt spid="51507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1507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515077">
                                            <p:txEl>
                                              <p:pRg st="5" end="5"/>
                                            </p:txEl>
                                          </p:spTgt>
                                        </p:tgtEl>
                                        <p:attrNameLst>
                                          <p:attrName>style.visibility</p:attrName>
                                        </p:attrNameLst>
                                      </p:cBhvr>
                                      <p:to>
                                        <p:strVal val="visible"/>
                                      </p:to>
                                    </p:set>
                                    <p:anim calcmode="lin" valueType="num">
                                      <p:cBhvr additive="base">
                                        <p:cTn id="37" dur="500" fill="hold"/>
                                        <p:tgtEl>
                                          <p:spTgt spid="51507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1507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515077">
                                            <p:txEl>
                                              <p:pRg st="6" end="6"/>
                                            </p:txEl>
                                          </p:spTgt>
                                        </p:tgtEl>
                                        <p:attrNameLst>
                                          <p:attrName>style.visibility</p:attrName>
                                        </p:attrNameLst>
                                      </p:cBhvr>
                                      <p:to>
                                        <p:strVal val="visible"/>
                                      </p:to>
                                    </p:set>
                                    <p:anim calcmode="lin" valueType="num">
                                      <p:cBhvr additive="base">
                                        <p:cTn id="43" dur="500" fill="hold"/>
                                        <p:tgtEl>
                                          <p:spTgt spid="515077">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1507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72AE84DD-F526-4029-A5F3-CFBAF65C7483}" type="slidenum">
              <a:rPr lang="en-US" altLang="zh-CN"/>
              <a:pPr/>
              <a:t>52</a:t>
            </a:fld>
            <a:endParaRPr lang="en-US" altLang="zh-CN"/>
          </a:p>
        </p:txBody>
      </p:sp>
      <p:sp>
        <p:nvSpPr>
          <p:cNvPr id="574466" name="Rectangle 2"/>
          <p:cNvSpPr>
            <a:spLocks noGrp="1" noChangeArrowheads="1"/>
          </p:cNvSpPr>
          <p:nvPr>
            <p:ph type="body" idx="1"/>
          </p:nvPr>
        </p:nvSpPr>
        <p:spPr>
          <a:xfrm>
            <a:off x="611560" y="2492375"/>
            <a:ext cx="7410400" cy="646331"/>
          </a:xfrm>
        </p:spPr>
        <p:txBody>
          <a:bodyPr/>
          <a:lstStyle/>
          <a:p>
            <a:pPr algn="ctr"/>
            <a:r>
              <a:rPr lang="zh-CN" altLang="en-US" sz="3600" dirty="0"/>
              <a:t>作业</a:t>
            </a:r>
            <a:r>
              <a:rPr lang="zh-CN" altLang="en-US" sz="3600" dirty="0" smtClean="0"/>
              <a:t>：</a:t>
            </a:r>
            <a:r>
              <a:rPr lang="en-US" altLang="zh-CN" sz="3600" dirty="0" smtClean="0"/>
              <a:t>P190(3)</a:t>
            </a:r>
            <a:r>
              <a:rPr lang="zh-CN" altLang="en-US" sz="3600" dirty="0" smtClean="0"/>
              <a:t>，</a:t>
            </a:r>
            <a:r>
              <a:rPr lang="en-US" altLang="zh-CN" sz="3600" dirty="0"/>
              <a:t>P197(2</a:t>
            </a:r>
            <a:r>
              <a:rPr lang="en-US" altLang="zh-CN" sz="3600" dirty="0" smtClean="0"/>
              <a:t>)</a:t>
            </a:r>
            <a:endParaRPr lang="en-US" altLang="zh-CN" sz="3600" dirty="0"/>
          </a:p>
        </p:txBody>
      </p:sp>
    </p:spTree>
    <p:extLst>
      <p:ext uri="{BB962C8B-B14F-4D97-AF65-F5344CB8AC3E}">
        <p14:creationId xmlns:p14="http://schemas.microsoft.com/office/powerpoint/2010/main" val="728304424"/>
      </p:ext>
    </p:extLst>
  </p:cSld>
  <p:clrMapOvr>
    <a:masterClrMapping/>
  </p:clrMapOvr>
  <p:transition spd="slow">
    <p:pull dir="ru"/>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1B1806A8-5D04-43A8-B9FF-9CFF43C1192D}" type="slidenum">
              <a:rPr lang="en-US" altLang="zh-CN"/>
              <a:pPr/>
              <a:t>53</a:t>
            </a:fld>
            <a:endParaRPr lang="en-US" altLang="zh-CN"/>
          </a:p>
        </p:txBody>
      </p:sp>
      <p:sp>
        <p:nvSpPr>
          <p:cNvPr id="577538" name="Text Box 2"/>
          <p:cNvSpPr txBox="1">
            <a:spLocks noChangeArrowheads="1"/>
          </p:cNvSpPr>
          <p:nvPr/>
        </p:nvSpPr>
        <p:spPr bwMode="auto">
          <a:xfrm>
            <a:off x="539750" y="977900"/>
            <a:ext cx="8136706" cy="4413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30000"/>
              </a:lnSpc>
            </a:pPr>
            <a:r>
              <a:rPr lang="zh-CN" altLang="en-US" b="1" dirty="0" smtClean="0">
                <a:solidFill>
                  <a:srgbClr val="FF0000"/>
                </a:solidFill>
                <a:ea typeface="楷体_GB2312" pitchFamily="49" charset="-122"/>
              </a:rPr>
              <a:t>独</a:t>
            </a:r>
            <a:r>
              <a:rPr lang="zh-CN" altLang="en-US" b="1" dirty="0">
                <a:solidFill>
                  <a:srgbClr val="FF0000"/>
                </a:solidFill>
                <a:ea typeface="楷体_GB2312" pitchFamily="49" charset="-122"/>
              </a:rPr>
              <a:t>异点：</a:t>
            </a:r>
            <a:r>
              <a:rPr lang="zh-CN" altLang="en-US" b="1" dirty="0">
                <a:ea typeface="楷体_GB2312" pitchFamily="49" charset="-122"/>
              </a:rPr>
              <a:t>有幺元的半群，</a:t>
            </a:r>
          </a:p>
          <a:p>
            <a:pPr algn="l">
              <a:lnSpc>
                <a:spcPct val="130000"/>
              </a:lnSpc>
            </a:pPr>
            <a:r>
              <a:rPr lang="zh-CN" altLang="en-US" b="1" dirty="0">
                <a:ea typeface="楷体_GB2312" pitchFamily="49" charset="-122"/>
              </a:rPr>
              <a:t>性质：任意两行两列都</a:t>
            </a:r>
            <a:r>
              <a:rPr lang="zh-CN" altLang="en-US" b="1" dirty="0" smtClean="0">
                <a:ea typeface="楷体_GB2312" pitchFamily="49" charset="-122"/>
              </a:rPr>
              <a:t>不同</a:t>
            </a:r>
            <a:endParaRPr lang="en-US" altLang="zh-CN" b="1" dirty="0" smtClean="0">
              <a:ea typeface="楷体_GB2312" pitchFamily="49" charset="-122"/>
            </a:endParaRPr>
          </a:p>
          <a:p>
            <a:pPr algn="l">
              <a:lnSpc>
                <a:spcPct val="130000"/>
              </a:lnSpc>
            </a:pPr>
            <a:r>
              <a:rPr lang="zh-CN" altLang="en-US" b="1" dirty="0" smtClean="0">
                <a:solidFill>
                  <a:srgbClr val="FF0000"/>
                </a:solidFill>
                <a:ea typeface="楷体_GB2312" pitchFamily="49" charset="-122"/>
              </a:rPr>
              <a:t>群</a:t>
            </a:r>
            <a:r>
              <a:rPr lang="zh-CN" altLang="en-US" b="1" dirty="0">
                <a:solidFill>
                  <a:srgbClr val="FF0000"/>
                </a:solidFill>
                <a:ea typeface="楷体_GB2312" pitchFamily="49" charset="-122"/>
              </a:rPr>
              <a:t>：</a:t>
            </a:r>
            <a:r>
              <a:rPr lang="zh-CN" altLang="en-US" b="1" dirty="0">
                <a:ea typeface="楷体_GB2312" pitchFamily="49" charset="-122"/>
              </a:rPr>
              <a:t>每个元素都有逆元的独异点。</a:t>
            </a:r>
          </a:p>
          <a:p>
            <a:pPr algn="l">
              <a:lnSpc>
                <a:spcPct val="130000"/>
              </a:lnSpc>
            </a:pPr>
            <a:r>
              <a:rPr lang="zh-CN" altLang="en-US" b="1" dirty="0" smtClean="0">
                <a:ea typeface="楷体_GB2312" pitchFamily="49" charset="-122"/>
              </a:rPr>
              <a:t>性质</a:t>
            </a:r>
            <a:r>
              <a:rPr lang="zh-CN" altLang="en-US" b="1" dirty="0">
                <a:ea typeface="楷体_GB2312" pitchFamily="49" charset="-122"/>
              </a:rPr>
              <a:t>：</a:t>
            </a:r>
          </a:p>
          <a:p>
            <a:pPr algn="l">
              <a:lnSpc>
                <a:spcPct val="130000"/>
              </a:lnSpc>
            </a:pPr>
            <a:r>
              <a:rPr lang="zh-CN" altLang="en-US" b="1" dirty="0">
                <a:ea typeface="楷体_GB2312" pitchFamily="49" charset="-122"/>
              </a:rPr>
              <a:t>     </a:t>
            </a:r>
            <a:r>
              <a:rPr lang="en-US" altLang="zh-CN" b="1" dirty="0">
                <a:ea typeface="楷体_GB2312" pitchFamily="49" charset="-122"/>
              </a:rPr>
              <a:t>(1)</a:t>
            </a:r>
            <a:r>
              <a:rPr lang="zh-CN" altLang="en-US" b="1" dirty="0">
                <a:ea typeface="楷体_GB2312" pitchFamily="49" charset="-122"/>
              </a:rPr>
              <a:t>群中没有零元</a:t>
            </a:r>
          </a:p>
          <a:p>
            <a:pPr algn="l">
              <a:lnSpc>
                <a:spcPct val="130000"/>
              </a:lnSpc>
            </a:pPr>
            <a:r>
              <a:rPr lang="zh-CN" altLang="en-US" b="1" dirty="0">
                <a:ea typeface="楷体_GB2312" pitchFamily="49" charset="-122"/>
              </a:rPr>
              <a:t>     </a:t>
            </a:r>
            <a:r>
              <a:rPr lang="en-US" altLang="zh-CN" b="1" dirty="0">
                <a:ea typeface="楷体_GB2312" pitchFamily="49" charset="-122"/>
              </a:rPr>
              <a:t>(2)a*x=b</a:t>
            </a:r>
            <a:r>
              <a:rPr lang="zh-CN" altLang="en-US" b="1" dirty="0">
                <a:ea typeface="楷体_GB2312" pitchFamily="49" charset="-122"/>
              </a:rPr>
              <a:t>，有唯一解</a:t>
            </a:r>
          </a:p>
          <a:p>
            <a:pPr algn="l">
              <a:lnSpc>
                <a:spcPct val="130000"/>
              </a:lnSpc>
            </a:pPr>
            <a:r>
              <a:rPr lang="zh-CN" altLang="en-US" b="1" dirty="0">
                <a:ea typeface="楷体_GB2312" pitchFamily="49" charset="-122"/>
              </a:rPr>
              <a:t>     </a:t>
            </a:r>
            <a:r>
              <a:rPr lang="en-US" altLang="zh-CN" b="1" dirty="0">
                <a:ea typeface="楷体_GB2312" pitchFamily="49" charset="-122"/>
              </a:rPr>
              <a:t>(3)</a:t>
            </a:r>
            <a:r>
              <a:rPr lang="zh-CN" altLang="en-US" b="1" dirty="0">
                <a:ea typeface="楷体_GB2312" pitchFamily="49" charset="-122"/>
              </a:rPr>
              <a:t>满足</a:t>
            </a:r>
            <a:r>
              <a:rPr lang="zh-CN" altLang="en-US" b="1" dirty="0" smtClean="0">
                <a:ea typeface="楷体_GB2312" pitchFamily="49" charset="-122"/>
              </a:rPr>
              <a:t>消去律  </a:t>
            </a:r>
            <a:endParaRPr lang="en-US" altLang="zh-CN" b="1" dirty="0" smtClean="0">
              <a:ea typeface="楷体_GB2312" pitchFamily="49" charset="-122"/>
            </a:endParaRPr>
          </a:p>
          <a:p>
            <a:pPr algn="l">
              <a:lnSpc>
                <a:spcPct val="130000"/>
              </a:lnSpc>
            </a:pPr>
            <a:r>
              <a:rPr lang="en-US" altLang="zh-CN" b="1" dirty="0">
                <a:ea typeface="楷体_GB2312" pitchFamily="49" charset="-122"/>
              </a:rPr>
              <a:t> </a:t>
            </a:r>
            <a:r>
              <a:rPr lang="en-US" altLang="zh-CN" b="1" dirty="0" smtClean="0">
                <a:ea typeface="楷体_GB2312" pitchFamily="49" charset="-122"/>
              </a:rPr>
              <a:t>    (4)</a:t>
            </a:r>
            <a:r>
              <a:rPr lang="zh-CN" altLang="en-US" b="1" dirty="0" smtClean="0"/>
              <a:t> 运算表</a:t>
            </a:r>
            <a:r>
              <a:rPr lang="zh-CN" altLang="en-US" b="1" dirty="0"/>
              <a:t>中的每一行或每一列都是</a:t>
            </a:r>
            <a:r>
              <a:rPr lang="en-US" altLang="zh-CN" b="1" dirty="0"/>
              <a:t>G</a:t>
            </a:r>
            <a:r>
              <a:rPr lang="zh-CN" altLang="en-US" b="1" dirty="0"/>
              <a:t>的元素的一个</a:t>
            </a:r>
            <a:r>
              <a:rPr lang="zh-CN" altLang="en-US" b="1" dirty="0" smtClean="0"/>
              <a:t>置换</a:t>
            </a:r>
            <a:endParaRPr lang="en-US" altLang="zh-CN" b="1" dirty="0" smtClean="0"/>
          </a:p>
          <a:p>
            <a:pPr algn="l">
              <a:lnSpc>
                <a:spcPct val="130000"/>
              </a:lnSpc>
            </a:pPr>
            <a:r>
              <a:rPr lang="en-US" altLang="zh-CN" b="1" dirty="0">
                <a:ea typeface="楷体_GB2312" pitchFamily="49" charset="-122"/>
              </a:rPr>
              <a:t> </a:t>
            </a:r>
            <a:r>
              <a:rPr lang="en-US" altLang="zh-CN" b="1" dirty="0" smtClean="0">
                <a:ea typeface="楷体_GB2312" pitchFamily="49" charset="-122"/>
              </a:rPr>
              <a:t>    (5)</a:t>
            </a:r>
            <a:r>
              <a:rPr lang="zh-CN" altLang="en-US" b="1" dirty="0" smtClean="0"/>
              <a:t>不存在除</a:t>
            </a:r>
            <a:r>
              <a:rPr lang="en-US" altLang="zh-CN" b="1" dirty="0" smtClean="0"/>
              <a:t>e</a:t>
            </a:r>
            <a:r>
              <a:rPr lang="zh-CN" altLang="en-US" b="1" dirty="0" smtClean="0"/>
              <a:t>以外的等幂元</a:t>
            </a:r>
            <a:endParaRPr lang="zh-CN" altLang="en-US" b="1" dirty="0">
              <a:ea typeface="楷体_GB2312" pitchFamily="49" charset="-122"/>
            </a:endParaRPr>
          </a:p>
        </p:txBody>
      </p:sp>
      <p:sp>
        <p:nvSpPr>
          <p:cNvPr id="577539" name="Rectangle 3"/>
          <p:cNvSpPr>
            <a:spLocks noGrp="1" noChangeArrowheads="1"/>
          </p:cNvSpPr>
          <p:nvPr>
            <p:ph type="title"/>
          </p:nvPr>
        </p:nvSpPr>
        <p:spPr>
          <a:xfrm>
            <a:off x="1079500" y="179388"/>
            <a:ext cx="6461125" cy="641350"/>
          </a:xfrm>
          <a:noFill/>
        </p:spPr>
        <p:txBody>
          <a:bodyPr anchor="ctr"/>
          <a:lstStyle/>
          <a:p>
            <a:pPr algn="ctr"/>
            <a:r>
              <a:rPr kumimoji="1" lang="zh-CN" altLang="en-US" sz="3600">
                <a:solidFill>
                  <a:schemeClr val="tx1"/>
                </a:solidFill>
                <a:latin typeface="华文行楷" pitchFamily="2" charset="-122"/>
                <a:ea typeface="华文行楷" pitchFamily="2" charset="-122"/>
              </a:rPr>
              <a:t>复习</a:t>
            </a:r>
          </a:p>
        </p:txBody>
      </p:sp>
    </p:spTree>
    <p:extLst>
      <p:ext uri="{BB962C8B-B14F-4D97-AF65-F5344CB8AC3E}">
        <p14:creationId xmlns:p14="http://schemas.microsoft.com/office/powerpoint/2010/main" val="952182654"/>
      </p:ext>
    </p:extLst>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77538">
                                            <p:txEl>
                                              <p:pRg st="0" end="0"/>
                                            </p:txEl>
                                          </p:spTgt>
                                        </p:tgtEl>
                                        <p:attrNameLst>
                                          <p:attrName>style.visibility</p:attrName>
                                        </p:attrNameLst>
                                      </p:cBhvr>
                                      <p:to>
                                        <p:strVal val="visible"/>
                                      </p:to>
                                    </p:set>
                                    <p:anim calcmode="lin" valueType="num">
                                      <p:cBhvr additive="base">
                                        <p:cTn id="7" dur="500" fill="hold"/>
                                        <p:tgtEl>
                                          <p:spTgt spid="57753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7753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77538">
                                            <p:txEl>
                                              <p:pRg st="1" end="1"/>
                                            </p:txEl>
                                          </p:spTgt>
                                        </p:tgtEl>
                                        <p:attrNameLst>
                                          <p:attrName>style.visibility</p:attrName>
                                        </p:attrNameLst>
                                      </p:cBhvr>
                                      <p:to>
                                        <p:strVal val="visible"/>
                                      </p:to>
                                    </p:set>
                                    <p:anim calcmode="lin" valueType="num">
                                      <p:cBhvr additive="base">
                                        <p:cTn id="11" dur="500" fill="hold"/>
                                        <p:tgtEl>
                                          <p:spTgt spid="57753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7753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77538">
                                            <p:txEl>
                                              <p:pRg st="2" end="2"/>
                                            </p:txEl>
                                          </p:spTgt>
                                        </p:tgtEl>
                                        <p:attrNameLst>
                                          <p:attrName>style.visibility</p:attrName>
                                        </p:attrNameLst>
                                      </p:cBhvr>
                                      <p:to>
                                        <p:strVal val="visible"/>
                                      </p:to>
                                    </p:set>
                                    <p:anim calcmode="lin" valueType="num">
                                      <p:cBhvr additive="base">
                                        <p:cTn id="17" dur="500" fill="hold"/>
                                        <p:tgtEl>
                                          <p:spTgt spid="577538">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77538">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77538">
                                            <p:txEl>
                                              <p:pRg st="3" end="3"/>
                                            </p:txEl>
                                          </p:spTgt>
                                        </p:tgtEl>
                                        <p:attrNameLst>
                                          <p:attrName>style.visibility</p:attrName>
                                        </p:attrNameLst>
                                      </p:cBhvr>
                                      <p:to>
                                        <p:strVal val="visible"/>
                                      </p:to>
                                    </p:set>
                                    <p:anim calcmode="lin" valueType="num">
                                      <p:cBhvr additive="base">
                                        <p:cTn id="21" dur="500" fill="hold"/>
                                        <p:tgtEl>
                                          <p:spTgt spid="577538">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77538">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77538">
                                            <p:txEl>
                                              <p:pRg st="4" end="4"/>
                                            </p:txEl>
                                          </p:spTgt>
                                        </p:tgtEl>
                                        <p:attrNameLst>
                                          <p:attrName>style.visibility</p:attrName>
                                        </p:attrNameLst>
                                      </p:cBhvr>
                                      <p:to>
                                        <p:strVal val="visible"/>
                                      </p:to>
                                    </p:set>
                                    <p:anim calcmode="lin" valueType="num">
                                      <p:cBhvr additive="base">
                                        <p:cTn id="25" dur="500" fill="hold"/>
                                        <p:tgtEl>
                                          <p:spTgt spid="577538">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77538">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577538">
                                            <p:txEl>
                                              <p:pRg st="5" end="5"/>
                                            </p:txEl>
                                          </p:spTgt>
                                        </p:tgtEl>
                                        <p:attrNameLst>
                                          <p:attrName>style.visibility</p:attrName>
                                        </p:attrNameLst>
                                      </p:cBhvr>
                                      <p:to>
                                        <p:strVal val="visible"/>
                                      </p:to>
                                    </p:set>
                                    <p:anim calcmode="lin" valueType="num">
                                      <p:cBhvr additive="base">
                                        <p:cTn id="29" dur="500" fill="hold"/>
                                        <p:tgtEl>
                                          <p:spTgt spid="577538">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77538">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577538">
                                            <p:txEl>
                                              <p:pRg st="6" end="6"/>
                                            </p:txEl>
                                          </p:spTgt>
                                        </p:tgtEl>
                                        <p:attrNameLst>
                                          <p:attrName>style.visibility</p:attrName>
                                        </p:attrNameLst>
                                      </p:cBhvr>
                                      <p:to>
                                        <p:strVal val="visible"/>
                                      </p:to>
                                    </p:set>
                                    <p:anim calcmode="lin" valueType="num">
                                      <p:cBhvr additive="base">
                                        <p:cTn id="33" dur="500" fill="hold"/>
                                        <p:tgtEl>
                                          <p:spTgt spid="577538">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77538">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577538">
                                            <p:txEl>
                                              <p:pRg st="7" end="7"/>
                                            </p:txEl>
                                          </p:spTgt>
                                        </p:tgtEl>
                                        <p:attrNameLst>
                                          <p:attrName>style.visibility</p:attrName>
                                        </p:attrNameLst>
                                      </p:cBhvr>
                                      <p:to>
                                        <p:strVal val="visible"/>
                                      </p:to>
                                    </p:set>
                                    <p:anim calcmode="lin" valueType="num">
                                      <p:cBhvr additive="base">
                                        <p:cTn id="37" dur="500" fill="hold"/>
                                        <p:tgtEl>
                                          <p:spTgt spid="577538">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77538">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577538">
                                            <p:txEl>
                                              <p:pRg st="8" end="8"/>
                                            </p:txEl>
                                          </p:spTgt>
                                        </p:tgtEl>
                                        <p:attrNameLst>
                                          <p:attrName>style.visibility</p:attrName>
                                        </p:attrNameLst>
                                      </p:cBhvr>
                                      <p:to>
                                        <p:strVal val="visible"/>
                                      </p:to>
                                    </p:set>
                                    <p:anim calcmode="lin" valueType="num">
                                      <p:cBhvr additive="base">
                                        <p:cTn id="41" dur="500" fill="hold"/>
                                        <p:tgtEl>
                                          <p:spTgt spid="577538">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577538">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1"/>
          </p:nvPr>
        </p:nvSpPr>
        <p:spPr/>
        <p:txBody>
          <a:bodyPr/>
          <a:lstStyle/>
          <a:p>
            <a:fld id="{F70FC1D4-CFE8-4FA2-9CD2-2C539C5B4869}" type="slidenum">
              <a:rPr lang="en-US" altLang="zh-CN"/>
              <a:pPr/>
              <a:t>54</a:t>
            </a:fld>
            <a:endParaRPr lang="en-US" altLang="zh-CN"/>
          </a:p>
        </p:txBody>
      </p:sp>
      <p:sp>
        <p:nvSpPr>
          <p:cNvPr id="458754" name="Text Box 2"/>
          <p:cNvSpPr txBox="1">
            <a:spLocks noChangeArrowheads="1"/>
          </p:cNvSpPr>
          <p:nvPr/>
        </p:nvSpPr>
        <p:spPr bwMode="auto">
          <a:xfrm>
            <a:off x="466725" y="1244600"/>
            <a:ext cx="8277225" cy="1674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kumimoji="1" sz="2400">
                <a:solidFill>
                  <a:schemeClr val="tx1"/>
                </a:solidFill>
                <a:latin typeface="Times New Roman" pitchFamily="18" charset="0"/>
                <a:ea typeface="宋体" pitchFamily="2" charset="-122"/>
              </a:defRPr>
            </a:lvl1pPr>
            <a:lvl2pPr marL="53975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30000"/>
              </a:lnSpc>
            </a:pPr>
            <a:r>
              <a:rPr lang="en-US" altLang="zh-CN" sz="3200" b="1">
                <a:solidFill>
                  <a:schemeClr val="folHlink"/>
                </a:solidFill>
                <a:latin typeface="楷体_GB2312" pitchFamily="49" charset="-122"/>
                <a:ea typeface="楷体_GB2312" pitchFamily="49" charset="-122"/>
              </a:rPr>
              <a:t>1</a:t>
            </a:r>
            <a:r>
              <a:rPr lang="zh-CN" altLang="en-US" sz="3200" b="1">
                <a:solidFill>
                  <a:schemeClr val="folHlink"/>
                </a:solidFill>
                <a:latin typeface="楷体_GB2312" pitchFamily="49" charset="-122"/>
                <a:ea typeface="楷体_GB2312" pitchFamily="49" charset="-122"/>
              </a:rPr>
              <a:t>、阿贝尔群</a:t>
            </a:r>
          </a:p>
          <a:p>
            <a:pPr>
              <a:lnSpc>
                <a:spcPct val="130000"/>
              </a:lnSpc>
            </a:pPr>
            <a:r>
              <a:rPr lang="zh-CN" altLang="en-US" b="1">
                <a:solidFill>
                  <a:srgbClr val="FF0000"/>
                </a:solidFill>
              </a:rPr>
              <a:t>定义</a:t>
            </a:r>
            <a:r>
              <a:rPr lang="en-US" altLang="zh-CN" b="1">
                <a:solidFill>
                  <a:srgbClr val="FF0000"/>
                </a:solidFill>
              </a:rPr>
              <a:t>5-5.1</a:t>
            </a:r>
            <a:r>
              <a:rPr lang="zh-CN" altLang="en-US" b="1">
                <a:solidFill>
                  <a:srgbClr val="FF0000"/>
                </a:solidFill>
              </a:rPr>
              <a:t>：</a:t>
            </a:r>
            <a:r>
              <a:rPr lang="zh-CN" altLang="en-US" b="1"/>
              <a:t>如果群</a:t>
            </a:r>
            <a:r>
              <a:rPr lang="en-US" altLang="zh-CN" b="1"/>
              <a:t>&lt;G, *&gt;</a:t>
            </a:r>
            <a:r>
              <a:rPr lang="zh-CN" altLang="en-US" b="1"/>
              <a:t>中的运算*是可交换的，则称该群为</a:t>
            </a:r>
            <a:r>
              <a:rPr lang="zh-CN" altLang="en-US" b="1" i="1">
                <a:solidFill>
                  <a:srgbClr val="FF0000"/>
                </a:solidFill>
              </a:rPr>
              <a:t>阿贝尔群</a:t>
            </a:r>
            <a:r>
              <a:rPr lang="en-US" altLang="zh-CN" b="1"/>
              <a:t>(Abel)</a:t>
            </a:r>
            <a:r>
              <a:rPr lang="zh-CN" altLang="en-US" b="1"/>
              <a:t>，或称</a:t>
            </a:r>
            <a:r>
              <a:rPr lang="zh-CN" altLang="en-US" b="1" i="1">
                <a:solidFill>
                  <a:srgbClr val="FF0000"/>
                </a:solidFill>
              </a:rPr>
              <a:t>交换群</a:t>
            </a:r>
            <a:r>
              <a:rPr lang="zh-CN" altLang="en-US" b="1"/>
              <a:t>。</a:t>
            </a:r>
          </a:p>
        </p:txBody>
      </p:sp>
      <p:sp>
        <p:nvSpPr>
          <p:cNvPr id="458772" name="Rectangle 20"/>
          <p:cNvSpPr>
            <a:spLocks noGrp="1" noChangeArrowheads="1"/>
          </p:cNvSpPr>
          <p:nvPr>
            <p:ph type="title"/>
          </p:nvPr>
        </p:nvSpPr>
        <p:spPr>
          <a:xfrm>
            <a:off x="1079500" y="209550"/>
            <a:ext cx="7237413" cy="641350"/>
          </a:xfrm>
          <a:noFill/>
        </p:spPr>
        <p:txBody>
          <a:bodyPr anchor="ctr"/>
          <a:lstStyle/>
          <a:p>
            <a:r>
              <a:rPr kumimoji="1" lang="en-US" altLang="zh-CN" sz="3600">
                <a:solidFill>
                  <a:schemeClr val="tx1"/>
                </a:solidFill>
                <a:latin typeface="华文行楷" pitchFamily="2" charset="-122"/>
                <a:ea typeface="华文行楷" pitchFamily="2" charset="-122"/>
              </a:rPr>
              <a:t>5.5  </a:t>
            </a:r>
            <a:r>
              <a:rPr kumimoji="1" lang="zh-CN" altLang="en-US" sz="3600">
                <a:solidFill>
                  <a:schemeClr val="tx1"/>
                </a:solidFill>
                <a:latin typeface="华文行楷" pitchFamily="2" charset="-122"/>
                <a:ea typeface="华文行楷" pitchFamily="2" charset="-122"/>
              </a:rPr>
              <a:t>阿贝尔群和循环群</a:t>
            </a:r>
          </a:p>
        </p:txBody>
      </p:sp>
    </p:spTree>
  </p:cSld>
  <p:clrMapOvr>
    <a:masterClrMapping/>
  </p:clrMapOvr>
  <p:transition spd="slow">
    <p:pull dir="ru"/>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2"/>
          <p:cNvSpPr>
            <a:spLocks noGrp="1"/>
          </p:cNvSpPr>
          <p:nvPr>
            <p:ph type="sldNum" sz="quarter" idx="11"/>
          </p:nvPr>
        </p:nvSpPr>
        <p:spPr/>
        <p:txBody>
          <a:bodyPr/>
          <a:lstStyle/>
          <a:p>
            <a:fld id="{E74CA50F-A719-4D0A-BABD-D19904D82A07}" type="slidenum">
              <a:rPr lang="en-US" altLang="zh-CN"/>
              <a:pPr/>
              <a:t>55</a:t>
            </a:fld>
            <a:endParaRPr lang="en-US" altLang="zh-CN"/>
          </a:p>
        </p:txBody>
      </p:sp>
      <p:graphicFrame>
        <p:nvGraphicFramePr>
          <p:cNvPr id="522269" name="Group 29"/>
          <p:cNvGraphicFramePr>
            <a:graphicFrameLocks noGrp="1"/>
          </p:cNvGraphicFramePr>
          <p:nvPr/>
        </p:nvGraphicFramePr>
        <p:xfrm>
          <a:off x="647700" y="3141663"/>
          <a:ext cx="3276600" cy="2377440"/>
        </p:xfrm>
        <a:graphic>
          <a:graphicData uri="http://schemas.openxmlformats.org/drawingml/2006/table">
            <a:tbl>
              <a:tblPr/>
              <a:tblGrid>
                <a:gridCol w="582613"/>
                <a:gridCol w="2693987"/>
              </a:tblGrid>
              <a:tr h="503238">
                <a:tc>
                  <a:txBody>
                    <a:bodyPr/>
                    <a:lstStyle/>
                    <a:p>
                      <a:pPr marL="342900" marR="0" lvl="0" indent="-34290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1"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f </a:t>
                      </a:r>
                      <a:r>
                        <a:rPr kumimoji="0" lang="en-US" altLang="zh-CN" sz="2400" b="1" i="0" u="none" strike="noStrike" cap="none" normalizeH="0" baseline="30000" smtClean="0">
                          <a:ln>
                            <a:noFill/>
                          </a:ln>
                          <a:solidFill>
                            <a:schemeClr val="tx1"/>
                          </a:solidFill>
                          <a:effectLst/>
                          <a:latin typeface="Times New Roman" pitchFamily="18" charset="0"/>
                          <a:ea typeface="宋体" pitchFamily="2" charset="-122"/>
                        </a:rPr>
                        <a:t>0       </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f </a:t>
                      </a:r>
                      <a:r>
                        <a:rPr kumimoji="0" lang="en-US" altLang="zh-CN" sz="2400" b="1" i="0" u="none" strike="noStrike" cap="none" normalizeH="0" baseline="30000" smtClean="0">
                          <a:ln>
                            <a:noFill/>
                          </a:ln>
                          <a:solidFill>
                            <a:schemeClr val="tx1"/>
                          </a:solidFill>
                          <a:effectLst/>
                          <a:latin typeface="Times New Roman" pitchFamily="18" charset="0"/>
                          <a:ea typeface="宋体" pitchFamily="2" charset="-122"/>
                        </a:rPr>
                        <a:t>1</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f </a:t>
                      </a:r>
                      <a:r>
                        <a:rPr kumimoji="0" lang="en-US" altLang="zh-CN" sz="2400" b="1" i="0" u="none" strike="noStrike" cap="none" normalizeH="0" baseline="30000" smtClean="0">
                          <a:ln>
                            <a:noFill/>
                          </a:ln>
                          <a:solidFill>
                            <a:schemeClr val="tx1"/>
                          </a:solidFill>
                          <a:effectLst/>
                          <a:latin typeface="Times New Roman" pitchFamily="18" charset="0"/>
                          <a:ea typeface="宋体" pitchFamily="2" charset="-122"/>
                        </a:rPr>
                        <a:t>2</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f </a:t>
                      </a:r>
                      <a:r>
                        <a:rPr kumimoji="0" lang="en-US" altLang="zh-CN" sz="2400" b="1" i="0" u="none" strike="noStrike" cap="none" normalizeH="0" baseline="30000" smtClean="0">
                          <a:ln>
                            <a:noFill/>
                          </a:ln>
                          <a:solidFill>
                            <a:schemeClr val="tx1"/>
                          </a:solidFill>
                          <a:effectLst/>
                          <a:latin typeface="Times New Roman" pitchFamily="18" charset="0"/>
                          <a:ea typeface="宋体" pitchFamily="2" charset="-122"/>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771650">
                <a:tc>
                  <a:txBody>
                    <a:bodyPr/>
                    <a:lstStyle/>
                    <a:p>
                      <a:pPr marL="342900" marR="0" lvl="0" indent="-34290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f </a:t>
                      </a:r>
                      <a:r>
                        <a:rPr kumimoji="0" lang="en-US" altLang="zh-CN" sz="2400" b="1" i="0" u="none" strike="noStrike" cap="none" normalizeH="0" baseline="30000" smtClean="0">
                          <a:ln>
                            <a:noFill/>
                          </a:ln>
                          <a:solidFill>
                            <a:schemeClr val="tx1"/>
                          </a:solidFill>
                          <a:effectLst/>
                          <a:latin typeface="Times New Roman" pitchFamily="18" charset="0"/>
                          <a:ea typeface="宋体" pitchFamily="2" charset="-122"/>
                        </a:rPr>
                        <a:t>0</a:t>
                      </a:r>
                    </a:p>
                    <a:p>
                      <a:pPr marL="342900" marR="0" lvl="0" indent="-34290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f </a:t>
                      </a:r>
                      <a:r>
                        <a:rPr kumimoji="0" lang="en-US" altLang="zh-CN" sz="2400" b="1" i="0" u="none" strike="noStrike" cap="none" normalizeH="0" baseline="30000" smtClean="0">
                          <a:ln>
                            <a:noFill/>
                          </a:ln>
                          <a:solidFill>
                            <a:schemeClr val="tx1"/>
                          </a:solidFill>
                          <a:effectLst/>
                          <a:latin typeface="Times New Roman" pitchFamily="18" charset="0"/>
                          <a:ea typeface="宋体" pitchFamily="2" charset="-122"/>
                        </a:rPr>
                        <a:t>1</a:t>
                      </a:r>
                    </a:p>
                    <a:p>
                      <a:pPr marL="342900" marR="0" lvl="0" indent="-34290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f </a:t>
                      </a:r>
                      <a:r>
                        <a:rPr kumimoji="0" lang="en-US" altLang="zh-CN" sz="2400" b="1" i="0" u="none" strike="noStrike" cap="none" normalizeH="0" baseline="30000" smtClean="0">
                          <a:ln>
                            <a:noFill/>
                          </a:ln>
                          <a:solidFill>
                            <a:schemeClr val="tx1"/>
                          </a:solidFill>
                          <a:effectLst/>
                          <a:latin typeface="Times New Roman" pitchFamily="18" charset="0"/>
                          <a:ea typeface="宋体" pitchFamily="2" charset="-122"/>
                        </a:rPr>
                        <a:t>2</a:t>
                      </a:r>
                    </a:p>
                    <a:p>
                      <a:pPr marL="342900" marR="0" lvl="0" indent="-34290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f </a:t>
                      </a:r>
                      <a:r>
                        <a:rPr kumimoji="0" lang="en-US" altLang="zh-CN" sz="2400" b="1" i="0" u="none" strike="noStrike" cap="none" normalizeH="0" baseline="30000" smtClean="0">
                          <a:ln>
                            <a:noFill/>
                          </a:ln>
                          <a:solidFill>
                            <a:schemeClr val="tx1"/>
                          </a:solidFill>
                          <a:effectLst/>
                          <a:latin typeface="Times New Roman" pitchFamily="18" charset="0"/>
                          <a:ea typeface="宋体" pitchFamily="2"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f </a:t>
                      </a:r>
                      <a:r>
                        <a:rPr kumimoji="0" lang="en-US" altLang="zh-CN" sz="2400" b="1" i="0" u="none" strike="noStrike" cap="none" normalizeH="0" baseline="30000" smtClean="0">
                          <a:ln>
                            <a:noFill/>
                          </a:ln>
                          <a:solidFill>
                            <a:schemeClr val="tx1"/>
                          </a:solidFill>
                          <a:effectLst/>
                          <a:latin typeface="Times New Roman" pitchFamily="18" charset="0"/>
                          <a:ea typeface="宋体" pitchFamily="2" charset="-122"/>
                        </a:rPr>
                        <a:t>0        </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f </a:t>
                      </a:r>
                      <a:r>
                        <a:rPr kumimoji="0" lang="en-US" altLang="zh-CN" sz="2400" b="1" i="0" u="none" strike="noStrike" cap="none" normalizeH="0" baseline="30000" smtClean="0">
                          <a:ln>
                            <a:noFill/>
                          </a:ln>
                          <a:solidFill>
                            <a:schemeClr val="tx1"/>
                          </a:solidFill>
                          <a:effectLst/>
                          <a:latin typeface="Times New Roman" pitchFamily="18" charset="0"/>
                          <a:ea typeface="宋体" pitchFamily="2" charset="-122"/>
                        </a:rPr>
                        <a:t>1</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f </a:t>
                      </a:r>
                      <a:r>
                        <a:rPr kumimoji="0" lang="en-US" altLang="zh-CN" sz="2400" b="1" i="0" u="none" strike="noStrike" cap="none" normalizeH="0" baseline="30000" smtClean="0">
                          <a:ln>
                            <a:noFill/>
                          </a:ln>
                          <a:solidFill>
                            <a:schemeClr val="tx1"/>
                          </a:solidFill>
                          <a:effectLst/>
                          <a:latin typeface="Times New Roman" pitchFamily="18" charset="0"/>
                          <a:ea typeface="宋体" pitchFamily="2" charset="-122"/>
                        </a:rPr>
                        <a:t>2</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f </a:t>
                      </a:r>
                      <a:r>
                        <a:rPr kumimoji="0" lang="en-US" altLang="zh-CN" sz="2400" b="1" i="0" u="none" strike="noStrike" cap="none" normalizeH="0" baseline="30000" smtClean="0">
                          <a:ln>
                            <a:noFill/>
                          </a:ln>
                          <a:solidFill>
                            <a:schemeClr val="tx1"/>
                          </a:solidFill>
                          <a:effectLst/>
                          <a:latin typeface="Times New Roman" pitchFamily="18" charset="0"/>
                          <a:ea typeface="宋体" pitchFamily="2" charset="-122"/>
                        </a:rPr>
                        <a:t>3</a:t>
                      </a:r>
                    </a:p>
                    <a:p>
                      <a:pPr marL="342900" marR="0" lvl="0" indent="-34290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f </a:t>
                      </a:r>
                      <a:r>
                        <a:rPr kumimoji="0" lang="en-US" altLang="zh-CN" sz="2400" b="1" i="0" u="none" strike="noStrike" cap="none" normalizeH="0" baseline="30000" smtClean="0">
                          <a:ln>
                            <a:noFill/>
                          </a:ln>
                          <a:solidFill>
                            <a:schemeClr val="tx1"/>
                          </a:solidFill>
                          <a:effectLst/>
                          <a:latin typeface="Times New Roman" pitchFamily="18" charset="0"/>
                          <a:ea typeface="宋体" pitchFamily="2" charset="-122"/>
                        </a:rPr>
                        <a:t>1        </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f </a:t>
                      </a:r>
                      <a:r>
                        <a:rPr kumimoji="0" lang="en-US" altLang="zh-CN" sz="2400" b="1" i="0" u="none" strike="noStrike" cap="none" normalizeH="0" baseline="30000" smtClean="0">
                          <a:ln>
                            <a:noFill/>
                          </a:ln>
                          <a:solidFill>
                            <a:schemeClr val="tx1"/>
                          </a:solidFill>
                          <a:effectLst/>
                          <a:latin typeface="Times New Roman" pitchFamily="18" charset="0"/>
                          <a:ea typeface="宋体" pitchFamily="2" charset="-122"/>
                        </a:rPr>
                        <a:t>2</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f </a:t>
                      </a:r>
                      <a:r>
                        <a:rPr kumimoji="0" lang="en-US" altLang="zh-CN" sz="2400" b="1" i="0" u="none" strike="noStrike" cap="none" normalizeH="0" baseline="30000" smtClean="0">
                          <a:ln>
                            <a:noFill/>
                          </a:ln>
                          <a:solidFill>
                            <a:schemeClr val="tx1"/>
                          </a:solidFill>
                          <a:effectLst/>
                          <a:latin typeface="Times New Roman" pitchFamily="18" charset="0"/>
                          <a:ea typeface="宋体" pitchFamily="2" charset="-122"/>
                        </a:rPr>
                        <a:t>3</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f </a:t>
                      </a:r>
                      <a:r>
                        <a:rPr kumimoji="0" lang="en-US" altLang="zh-CN" sz="2400" b="1" i="0" u="none" strike="noStrike" cap="none" normalizeH="0" baseline="30000" smtClean="0">
                          <a:ln>
                            <a:noFill/>
                          </a:ln>
                          <a:solidFill>
                            <a:schemeClr val="tx1"/>
                          </a:solidFill>
                          <a:effectLst/>
                          <a:latin typeface="Times New Roman" pitchFamily="18" charset="0"/>
                          <a:ea typeface="宋体" pitchFamily="2" charset="-122"/>
                        </a:rPr>
                        <a:t>0</a:t>
                      </a:r>
                    </a:p>
                    <a:p>
                      <a:pPr marL="342900" marR="0" lvl="0" indent="-34290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f </a:t>
                      </a:r>
                      <a:r>
                        <a:rPr kumimoji="0" lang="en-US" altLang="zh-CN" sz="2400" b="1" i="0" u="none" strike="noStrike" cap="none" normalizeH="0" baseline="30000" smtClean="0">
                          <a:ln>
                            <a:noFill/>
                          </a:ln>
                          <a:solidFill>
                            <a:schemeClr val="tx1"/>
                          </a:solidFill>
                          <a:effectLst/>
                          <a:latin typeface="Times New Roman" pitchFamily="18" charset="0"/>
                          <a:ea typeface="宋体" pitchFamily="2" charset="-122"/>
                        </a:rPr>
                        <a:t>2        </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f </a:t>
                      </a:r>
                      <a:r>
                        <a:rPr kumimoji="0" lang="en-US" altLang="zh-CN" sz="2400" b="1" i="0" u="none" strike="noStrike" cap="none" normalizeH="0" baseline="30000" smtClean="0">
                          <a:ln>
                            <a:noFill/>
                          </a:ln>
                          <a:solidFill>
                            <a:schemeClr val="tx1"/>
                          </a:solidFill>
                          <a:effectLst/>
                          <a:latin typeface="Times New Roman" pitchFamily="18" charset="0"/>
                          <a:ea typeface="宋体" pitchFamily="2" charset="-122"/>
                        </a:rPr>
                        <a:t>3</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f </a:t>
                      </a:r>
                      <a:r>
                        <a:rPr kumimoji="0" lang="en-US" altLang="zh-CN" sz="2400" b="1" i="0" u="none" strike="noStrike" cap="none" normalizeH="0" baseline="30000" smtClean="0">
                          <a:ln>
                            <a:noFill/>
                          </a:ln>
                          <a:solidFill>
                            <a:schemeClr val="tx1"/>
                          </a:solidFill>
                          <a:effectLst/>
                          <a:latin typeface="Times New Roman" pitchFamily="18" charset="0"/>
                          <a:ea typeface="宋体" pitchFamily="2" charset="-122"/>
                        </a:rPr>
                        <a:t>0</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f </a:t>
                      </a:r>
                      <a:r>
                        <a:rPr kumimoji="0" lang="en-US" altLang="zh-CN" sz="2400" b="1" i="0" u="none" strike="noStrike" cap="none" normalizeH="0" baseline="30000" smtClean="0">
                          <a:ln>
                            <a:noFill/>
                          </a:ln>
                          <a:solidFill>
                            <a:schemeClr val="tx1"/>
                          </a:solidFill>
                          <a:effectLst/>
                          <a:latin typeface="Times New Roman" pitchFamily="18" charset="0"/>
                          <a:ea typeface="宋体" pitchFamily="2" charset="-122"/>
                        </a:rPr>
                        <a:t>1</a:t>
                      </a:r>
                    </a:p>
                    <a:p>
                      <a:pPr marL="342900" marR="0" lvl="0" indent="-34290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f </a:t>
                      </a:r>
                      <a:r>
                        <a:rPr kumimoji="0" lang="en-US" altLang="zh-CN" sz="2400" b="1" i="0" u="none" strike="noStrike" cap="none" normalizeH="0" baseline="30000" smtClean="0">
                          <a:ln>
                            <a:noFill/>
                          </a:ln>
                          <a:solidFill>
                            <a:schemeClr val="tx1"/>
                          </a:solidFill>
                          <a:effectLst/>
                          <a:latin typeface="Times New Roman" pitchFamily="18" charset="0"/>
                          <a:ea typeface="宋体" pitchFamily="2" charset="-122"/>
                        </a:rPr>
                        <a:t>3        </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f </a:t>
                      </a:r>
                      <a:r>
                        <a:rPr kumimoji="0" lang="en-US" altLang="zh-CN" sz="2400" b="1" i="0" u="none" strike="noStrike" cap="none" normalizeH="0" baseline="30000" smtClean="0">
                          <a:ln>
                            <a:noFill/>
                          </a:ln>
                          <a:solidFill>
                            <a:schemeClr val="tx1"/>
                          </a:solidFill>
                          <a:effectLst/>
                          <a:latin typeface="Times New Roman" pitchFamily="18" charset="0"/>
                          <a:ea typeface="宋体" pitchFamily="2" charset="-122"/>
                        </a:rPr>
                        <a:t>0</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f </a:t>
                      </a:r>
                      <a:r>
                        <a:rPr kumimoji="0" lang="en-US" altLang="zh-CN" sz="2400" b="1" i="0" u="none" strike="noStrike" cap="none" normalizeH="0" baseline="30000" smtClean="0">
                          <a:ln>
                            <a:noFill/>
                          </a:ln>
                          <a:solidFill>
                            <a:schemeClr val="tx1"/>
                          </a:solidFill>
                          <a:effectLst/>
                          <a:latin typeface="Times New Roman" pitchFamily="18" charset="0"/>
                          <a:ea typeface="宋体" pitchFamily="2" charset="-122"/>
                        </a:rPr>
                        <a:t>1</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f </a:t>
                      </a:r>
                      <a:r>
                        <a:rPr kumimoji="0" lang="en-US" altLang="zh-CN" sz="2400" b="1" i="0" u="none" strike="noStrike" cap="none" normalizeH="0" baseline="30000" smtClean="0">
                          <a:ln>
                            <a:noFill/>
                          </a:ln>
                          <a:solidFill>
                            <a:schemeClr val="tx1"/>
                          </a:solidFill>
                          <a:effectLst/>
                          <a:latin typeface="Times New Roman" pitchFamily="18" charset="0"/>
                          <a:ea typeface="宋体" pitchFamily="2" charset="-122"/>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22255" name="Text Box 15"/>
          <p:cNvSpPr txBox="1">
            <a:spLocks noChangeArrowheads="1"/>
          </p:cNvSpPr>
          <p:nvPr/>
        </p:nvSpPr>
        <p:spPr bwMode="auto">
          <a:xfrm>
            <a:off x="4067175" y="3141663"/>
            <a:ext cx="4752975"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3" algn="l">
              <a:defRPr kumimoji="1" sz="2400">
                <a:solidFill>
                  <a:schemeClr val="tx1"/>
                </a:solidFill>
                <a:latin typeface="Times New Roman" pitchFamily="18" charset="0"/>
                <a:ea typeface="宋体" pitchFamily="2" charset="-122"/>
              </a:defRPr>
            </a:lvl1pPr>
            <a:lvl2pPr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20000"/>
              </a:lnSpc>
            </a:pPr>
            <a:r>
              <a:rPr lang="en-US" altLang="zh-CN" b="1">
                <a:latin typeface="Arial" charset="0"/>
              </a:rPr>
              <a:t>◦ </a:t>
            </a:r>
            <a:r>
              <a:rPr lang="zh-CN" altLang="en-US" b="1"/>
              <a:t>满足封闭性和可结合性</a:t>
            </a:r>
          </a:p>
          <a:p>
            <a:pPr>
              <a:lnSpc>
                <a:spcPct val="120000"/>
              </a:lnSpc>
            </a:pPr>
            <a:r>
              <a:rPr lang="en-US" altLang="zh-CN" b="1"/>
              <a:t>f </a:t>
            </a:r>
            <a:r>
              <a:rPr lang="en-US" altLang="zh-CN" b="1" baseline="30000"/>
              <a:t>0</a:t>
            </a:r>
            <a:r>
              <a:rPr lang="zh-CN" altLang="en-US" b="1"/>
              <a:t>是 </a:t>
            </a:r>
            <a:r>
              <a:rPr lang="zh-CN" altLang="en-US" b="1">
                <a:cs typeface="Times New Roman" pitchFamily="18" charset="0"/>
              </a:rPr>
              <a:t>◦</a:t>
            </a:r>
            <a:r>
              <a:rPr lang="zh-CN" altLang="en-US" b="1">
                <a:latin typeface="Arial" charset="0"/>
              </a:rPr>
              <a:t> </a:t>
            </a:r>
            <a:r>
              <a:rPr lang="zh-CN" altLang="en-US" b="1"/>
              <a:t>的幺元；</a:t>
            </a:r>
          </a:p>
          <a:p>
            <a:pPr>
              <a:lnSpc>
                <a:spcPct val="120000"/>
              </a:lnSpc>
            </a:pPr>
            <a:r>
              <a:rPr lang="en-US" altLang="zh-CN" b="1"/>
              <a:t>f </a:t>
            </a:r>
            <a:r>
              <a:rPr lang="en-US" altLang="zh-CN" b="1" baseline="30000"/>
              <a:t>0</a:t>
            </a:r>
            <a:r>
              <a:rPr lang="en-US" altLang="zh-CN" b="1"/>
              <a:t>, f </a:t>
            </a:r>
            <a:r>
              <a:rPr lang="en-US" altLang="zh-CN" b="1" baseline="30000"/>
              <a:t>2</a:t>
            </a:r>
            <a:r>
              <a:rPr lang="zh-CN" altLang="en-US" b="1"/>
              <a:t>的逆元是自身，</a:t>
            </a:r>
            <a:r>
              <a:rPr lang="en-US" altLang="zh-CN" b="1"/>
              <a:t>f </a:t>
            </a:r>
            <a:r>
              <a:rPr lang="en-US" altLang="zh-CN" b="1" baseline="30000"/>
              <a:t>1</a:t>
            </a:r>
            <a:r>
              <a:rPr lang="en-US" altLang="zh-CN" b="1"/>
              <a:t>, f </a:t>
            </a:r>
            <a:r>
              <a:rPr lang="en-US" altLang="zh-CN" b="1" baseline="30000"/>
              <a:t>3</a:t>
            </a:r>
            <a:r>
              <a:rPr lang="zh-CN" altLang="en-US" b="1"/>
              <a:t>互逆，</a:t>
            </a:r>
          </a:p>
          <a:p>
            <a:pPr>
              <a:lnSpc>
                <a:spcPct val="120000"/>
              </a:lnSpc>
            </a:pPr>
            <a:r>
              <a:rPr lang="zh-CN" altLang="en-US" b="1"/>
              <a:t>由运算表可知</a:t>
            </a:r>
            <a:r>
              <a:rPr lang="zh-CN" altLang="en-US" b="1">
                <a:cs typeface="Times New Roman" pitchFamily="18" charset="0"/>
              </a:rPr>
              <a:t>◦</a:t>
            </a:r>
            <a:r>
              <a:rPr lang="zh-CN" altLang="en-US" b="1"/>
              <a:t>是可交换的。</a:t>
            </a:r>
          </a:p>
          <a:p>
            <a:pPr>
              <a:lnSpc>
                <a:spcPct val="120000"/>
              </a:lnSpc>
            </a:pPr>
            <a:r>
              <a:rPr lang="zh-CN" altLang="en-US" b="1"/>
              <a:t>∴ </a:t>
            </a:r>
            <a:r>
              <a:rPr lang="en-US" altLang="zh-CN" b="1"/>
              <a:t>&lt;F, </a:t>
            </a:r>
            <a:r>
              <a:rPr lang="en-US" altLang="zh-CN" b="1">
                <a:cs typeface="Times New Roman" pitchFamily="18" charset="0"/>
              </a:rPr>
              <a:t>◦</a:t>
            </a:r>
            <a:r>
              <a:rPr lang="en-US" altLang="zh-CN" b="1"/>
              <a:t>&gt;</a:t>
            </a:r>
            <a:r>
              <a:rPr lang="zh-CN" altLang="en-US" b="1"/>
              <a:t>是一个阿贝尔群</a:t>
            </a:r>
          </a:p>
        </p:txBody>
      </p:sp>
      <p:sp>
        <p:nvSpPr>
          <p:cNvPr id="522256" name="Text Box 16"/>
          <p:cNvSpPr txBox="1">
            <a:spLocks noChangeArrowheads="1"/>
          </p:cNvSpPr>
          <p:nvPr/>
        </p:nvSpPr>
        <p:spPr bwMode="auto">
          <a:xfrm>
            <a:off x="466725" y="981075"/>
            <a:ext cx="8277225" cy="151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kumimoji="1" sz="2400">
                <a:solidFill>
                  <a:schemeClr val="tx1"/>
                </a:solidFill>
                <a:latin typeface="Times New Roman" pitchFamily="18" charset="0"/>
                <a:ea typeface="宋体" pitchFamily="2" charset="-122"/>
              </a:defRPr>
            </a:lvl1pPr>
            <a:lvl2pPr marL="53975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30000"/>
              </a:lnSpc>
            </a:pPr>
            <a:r>
              <a:rPr lang="zh-CN" altLang="en-US" b="1">
                <a:solidFill>
                  <a:schemeClr val="hlink"/>
                </a:solidFill>
              </a:rPr>
              <a:t>例</a:t>
            </a:r>
            <a:r>
              <a:rPr lang="en-US" altLang="zh-CN" b="1">
                <a:solidFill>
                  <a:schemeClr val="hlink"/>
                </a:solidFill>
              </a:rPr>
              <a:t>1</a:t>
            </a:r>
            <a:r>
              <a:rPr lang="zh-CN" altLang="en-US" b="1">
                <a:solidFill>
                  <a:schemeClr val="hlink"/>
                </a:solidFill>
              </a:rPr>
              <a:t>：</a:t>
            </a:r>
            <a:r>
              <a:rPr lang="zh-CN" altLang="en-US" b="1"/>
              <a:t>设</a:t>
            </a:r>
            <a:r>
              <a:rPr lang="en-US" altLang="zh-CN" b="1"/>
              <a:t>S={a, b, c, d}</a:t>
            </a:r>
            <a:r>
              <a:rPr lang="zh-CN" altLang="en-US" b="1"/>
              <a:t>，双射函数</a:t>
            </a:r>
            <a:r>
              <a:rPr lang="en-US" altLang="zh-CN" b="1"/>
              <a:t>f</a:t>
            </a:r>
            <a:r>
              <a:rPr lang="zh-CN" altLang="en-US" b="1"/>
              <a:t>：</a:t>
            </a:r>
            <a:r>
              <a:rPr lang="en-US" altLang="zh-CN" b="1"/>
              <a:t>f(a)=b</a:t>
            </a:r>
            <a:r>
              <a:rPr lang="zh-CN" altLang="en-US" b="1"/>
              <a:t>，</a:t>
            </a:r>
            <a:r>
              <a:rPr lang="en-US" altLang="zh-CN" b="1"/>
              <a:t>f(b)=c</a:t>
            </a:r>
            <a:r>
              <a:rPr lang="zh-CN" altLang="en-US" b="1"/>
              <a:t>，</a:t>
            </a:r>
            <a:r>
              <a:rPr lang="en-US" altLang="zh-CN" b="1"/>
              <a:t>f(c)=d</a:t>
            </a:r>
            <a:r>
              <a:rPr lang="zh-CN" altLang="en-US" b="1"/>
              <a:t>，</a:t>
            </a:r>
            <a:r>
              <a:rPr lang="en-US" altLang="zh-CN" b="1"/>
              <a:t>f(d)=a</a:t>
            </a:r>
            <a:r>
              <a:rPr lang="zh-CN" altLang="en-US" b="1"/>
              <a:t>，构造复合函数</a:t>
            </a:r>
            <a:r>
              <a:rPr lang="zh-CN" altLang="en-US" b="1">
                <a:cs typeface="Times New Roman" pitchFamily="18" charset="0"/>
              </a:rPr>
              <a:t>◦</a:t>
            </a:r>
            <a:r>
              <a:rPr lang="zh-CN" altLang="en-US" b="1"/>
              <a:t>，</a:t>
            </a:r>
            <a:r>
              <a:rPr lang="en-US" altLang="zh-CN" b="1"/>
              <a:t>f</a:t>
            </a:r>
            <a:r>
              <a:rPr lang="en-US" altLang="zh-CN" b="1" baseline="30000"/>
              <a:t>0</a:t>
            </a:r>
            <a:r>
              <a:rPr lang="en-US" altLang="zh-CN" b="1"/>
              <a:t>(x)= x</a:t>
            </a:r>
            <a:r>
              <a:rPr lang="zh-CN" altLang="en-US" b="1"/>
              <a:t>，</a:t>
            </a:r>
            <a:r>
              <a:rPr lang="en-US" altLang="zh-CN" b="1"/>
              <a:t>f</a:t>
            </a:r>
            <a:r>
              <a:rPr lang="en-US" altLang="zh-CN" b="1" baseline="30000"/>
              <a:t>1</a:t>
            </a:r>
            <a:r>
              <a:rPr lang="en-US" altLang="zh-CN" b="1"/>
              <a:t>=f</a:t>
            </a:r>
            <a:r>
              <a:rPr lang="zh-CN" altLang="en-US" b="1"/>
              <a:t>，</a:t>
            </a:r>
            <a:r>
              <a:rPr lang="en-US" altLang="zh-CN" b="1"/>
              <a:t>f</a:t>
            </a:r>
            <a:r>
              <a:rPr lang="en-US" altLang="zh-CN" b="1" baseline="30000"/>
              <a:t>2</a:t>
            </a:r>
            <a:r>
              <a:rPr lang="en-US" altLang="zh-CN" b="1"/>
              <a:t>=f(f(x))</a:t>
            </a:r>
            <a:r>
              <a:rPr lang="zh-CN" altLang="en-US" b="1"/>
              <a:t>，</a:t>
            </a:r>
            <a:r>
              <a:rPr lang="en-US" altLang="zh-CN" b="1"/>
              <a:t>…</a:t>
            </a:r>
            <a:r>
              <a:rPr lang="zh-CN" altLang="en-US" b="1"/>
              <a:t>；</a:t>
            </a:r>
          </a:p>
          <a:p>
            <a:pPr>
              <a:lnSpc>
                <a:spcPct val="130000"/>
              </a:lnSpc>
            </a:pPr>
            <a:r>
              <a:rPr lang="zh-CN" altLang="en-US" b="1"/>
              <a:t>构造集合</a:t>
            </a:r>
            <a:r>
              <a:rPr lang="en-US" altLang="zh-CN" b="1"/>
              <a:t>F={f</a:t>
            </a:r>
            <a:r>
              <a:rPr lang="en-US" altLang="zh-CN" b="1" baseline="30000"/>
              <a:t>0</a:t>
            </a:r>
            <a:r>
              <a:rPr lang="en-US" altLang="zh-CN" b="1"/>
              <a:t>, f</a:t>
            </a:r>
            <a:r>
              <a:rPr lang="en-US" altLang="zh-CN" b="1" baseline="30000"/>
              <a:t>1</a:t>
            </a:r>
            <a:r>
              <a:rPr lang="en-US" altLang="zh-CN" b="1"/>
              <a:t>, f</a:t>
            </a:r>
            <a:r>
              <a:rPr lang="en-US" altLang="zh-CN" b="1" baseline="30000"/>
              <a:t>2</a:t>
            </a:r>
            <a:r>
              <a:rPr lang="en-US" altLang="zh-CN" b="1"/>
              <a:t>, f</a:t>
            </a:r>
            <a:r>
              <a:rPr lang="en-US" altLang="zh-CN" b="1" baseline="30000"/>
              <a:t>3</a:t>
            </a:r>
            <a:r>
              <a:rPr lang="en-US" altLang="zh-CN" b="1"/>
              <a:t>}</a:t>
            </a:r>
            <a:r>
              <a:rPr lang="zh-CN" altLang="en-US" b="1"/>
              <a:t>，证明</a:t>
            </a:r>
            <a:r>
              <a:rPr lang="en-US" altLang="zh-CN" b="1"/>
              <a:t>&lt;F, </a:t>
            </a:r>
            <a:r>
              <a:rPr lang="en-US" altLang="zh-CN" b="1">
                <a:cs typeface="Times New Roman" pitchFamily="18" charset="0"/>
              </a:rPr>
              <a:t>◦</a:t>
            </a:r>
            <a:r>
              <a:rPr lang="en-US" altLang="zh-CN" b="1"/>
              <a:t>&gt;</a:t>
            </a:r>
            <a:r>
              <a:rPr lang="zh-CN" altLang="en-US" b="1"/>
              <a:t>是一个阿贝尔群。</a:t>
            </a:r>
          </a:p>
        </p:txBody>
      </p:sp>
      <p:sp>
        <p:nvSpPr>
          <p:cNvPr id="522257" name="Text Box 17"/>
          <p:cNvSpPr txBox="1">
            <a:spLocks noChangeArrowheads="1"/>
          </p:cNvSpPr>
          <p:nvPr/>
        </p:nvSpPr>
        <p:spPr bwMode="auto">
          <a:xfrm>
            <a:off x="466725" y="2420938"/>
            <a:ext cx="8277225"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kumimoji="1" sz="2400">
                <a:solidFill>
                  <a:schemeClr val="tx1"/>
                </a:solidFill>
                <a:latin typeface="Times New Roman" pitchFamily="18" charset="0"/>
                <a:ea typeface="宋体" pitchFamily="2" charset="-122"/>
              </a:defRPr>
            </a:lvl1pPr>
            <a:lvl2pPr marL="53975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30000"/>
              </a:lnSpc>
            </a:pPr>
            <a:r>
              <a:rPr lang="zh-CN" altLang="en-US" b="1"/>
              <a:t>证明： </a:t>
            </a:r>
            <a:r>
              <a:rPr lang="en-US" altLang="zh-CN" b="1"/>
              <a:t>F={f</a:t>
            </a:r>
            <a:r>
              <a:rPr lang="en-US" altLang="zh-CN" b="1" baseline="30000"/>
              <a:t>0</a:t>
            </a:r>
            <a:r>
              <a:rPr lang="en-US" altLang="zh-CN" b="1"/>
              <a:t>, f</a:t>
            </a:r>
            <a:r>
              <a:rPr lang="en-US" altLang="zh-CN" b="1" baseline="30000"/>
              <a:t>1</a:t>
            </a:r>
            <a:r>
              <a:rPr lang="en-US" altLang="zh-CN" b="1"/>
              <a:t>, f</a:t>
            </a:r>
            <a:r>
              <a:rPr lang="en-US" altLang="zh-CN" b="1" baseline="30000"/>
              <a:t>2</a:t>
            </a:r>
            <a:r>
              <a:rPr lang="en-US" altLang="zh-CN" b="1"/>
              <a:t>,f</a:t>
            </a:r>
            <a:r>
              <a:rPr lang="en-US" altLang="zh-CN" b="1" baseline="30000"/>
              <a:t>3</a:t>
            </a:r>
            <a:r>
              <a:rPr lang="en-US" altLang="zh-CN" b="1"/>
              <a:t>}</a:t>
            </a:r>
            <a:r>
              <a:rPr lang="zh-CN" altLang="en-US" b="1"/>
              <a:t>上的</a:t>
            </a:r>
            <a:r>
              <a:rPr lang="en-US" altLang="zh-CN" sz="1800" b="1">
                <a:latin typeface="Arial" charset="0"/>
              </a:rPr>
              <a:t>º</a:t>
            </a:r>
            <a:r>
              <a:rPr lang="zh-CN" altLang="en-US" b="1"/>
              <a:t>运算表如下</a:t>
            </a:r>
            <a:r>
              <a:rPr lang="zh-CN" altLang="en-US" b="1">
                <a:cs typeface="Times New Roman" pitchFamily="18" charset="0"/>
              </a:rPr>
              <a:t>◦</a:t>
            </a:r>
            <a:endParaRPr lang="zh-CN" altLang="en-US" b="1">
              <a:cs typeface="Times New Roman" pitchFamily="18" charset="0"/>
              <a:sym typeface="Symbol" pitchFamily="18" charset="2"/>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22257"/>
                                        </p:tgtEl>
                                        <p:attrNameLst>
                                          <p:attrName>style.visibility</p:attrName>
                                        </p:attrNameLst>
                                      </p:cBhvr>
                                      <p:to>
                                        <p:strVal val="visible"/>
                                      </p:to>
                                    </p:set>
                                    <p:anim calcmode="lin" valueType="num">
                                      <p:cBhvr additive="base">
                                        <p:cTn id="7" dur="500" fill="hold"/>
                                        <p:tgtEl>
                                          <p:spTgt spid="522257"/>
                                        </p:tgtEl>
                                        <p:attrNameLst>
                                          <p:attrName>ppt_x</p:attrName>
                                        </p:attrNameLst>
                                      </p:cBhvr>
                                      <p:tavLst>
                                        <p:tav tm="0">
                                          <p:val>
                                            <p:strVal val="#ppt_x"/>
                                          </p:val>
                                        </p:tav>
                                        <p:tav tm="100000">
                                          <p:val>
                                            <p:strVal val="#ppt_x"/>
                                          </p:val>
                                        </p:tav>
                                      </p:tavLst>
                                    </p:anim>
                                    <p:anim calcmode="lin" valueType="num">
                                      <p:cBhvr additive="base">
                                        <p:cTn id="8" dur="500" fill="hold"/>
                                        <p:tgtEl>
                                          <p:spTgt spid="52225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22269"/>
                                        </p:tgtEl>
                                        <p:attrNameLst>
                                          <p:attrName>style.visibility</p:attrName>
                                        </p:attrNameLst>
                                      </p:cBhvr>
                                      <p:to>
                                        <p:strVal val="visible"/>
                                      </p:to>
                                    </p:set>
                                    <p:anim calcmode="lin" valueType="num">
                                      <p:cBhvr additive="base">
                                        <p:cTn id="13" dur="500" fill="hold"/>
                                        <p:tgtEl>
                                          <p:spTgt spid="522269"/>
                                        </p:tgtEl>
                                        <p:attrNameLst>
                                          <p:attrName>ppt_x</p:attrName>
                                        </p:attrNameLst>
                                      </p:cBhvr>
                                      <p:tavLst>
                                        <p:tav tm="0">
                                          <p:val>
                                            <p:strVal val="#ppt_x"/>
                                          </p:val>
                                        </p:tav>
                                        <p:tav tm="100000">
                                          <p:val>
                                            <p:strVal val="#ppt_x"/>
                                          </p:val>
                                        </p:tav>
                                      </p:tavLst>
                                    </p:anim>
                                    <p:anim calcmode="lin" valueType="num">
                                      <p:cBhvr additive="base">
                                        <p:cTn id="14" dur="500" fill="hold"/>
                                        <p:tgtEl>
                                          <p:spTgt spid="522269"/>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22255"/>
                                        </p:tgtEl>
                                        <p:attrNameLst>
                                          <p:attrName>style.visibility</p:attrName>
                                        </p:attrNameLst>
                                      </p:cBhvr>
                                      <p:to>
                                        <p:strVal val="visible"/>
                                      </p:to>
                                    </p:set>
                                    <p:anim calcmode="lin" valueType="num">
                                      <p:cBhvr additive="base">
                                        <p:cTn id="19" dur="500" fill="hold"/>
                                        <p:tgtEl>
                                          <p:spTgt spid="522255"/>
                                        </p:tgtEl>
                                        <p:attrNameLst>
                                          <p:attrName>ppt_x</p:attrName>
                                        </p:attrNameLst>
                                      </p:cBhvr>
                                      <p:tavLst>
                                        <p:tav tm="0">
                                          <p:val>
                                            <p:strVal val="#ppt_x"/>
                                          </p:val>
                                        </p:tav>
                                        <p:tav tm="100000">
                                          <p:val>
                                            <p:strVal val="#ppt_x"/>
                                          </p:val>
                                        </p:tav>
                                      </p:tavLst>
                                    </p:anim>
                                    <p:anim calcmode="lin" valueType="num">
                                      <p:cBhvr additive="base">
                                        <p:cTn id="20" dur="500" fill="hold"/>
                                        <p:tgtEl>
                                          <p:spTgt spid="5222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55" grpId="0" autoUpdateAnimBg="0"/>
      <p:bldP spid="522257"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fld id="{1744AB6D-D488-4C77-ABB3-4940E9AB1D73}" type="slidenum">
              <a:rPr lang="en-US" altLang="zh-CN"/>
              <a:pPr/>
              <a:t>56</a:t>
            </a:fld>
            <a:endParaRPr lang="en-US" altLang="zh-CN"/>
          </a:p>
        </p:txBody>
      </p:sp>
      <p:sp>
        <p:nvSpPr>
          <p:cNvPr id="459778" name="Text Box 2"/>
          <p:cNvSpPr txBox="1">
            <a:spLocks noChangeArrowheads="1"/>
          </p:cNvSpPr>
          <p:nvPr/>
        </p:nvSpPr>
        <p:spPr bwMode="auto">
          <a:xfrm>
            <a:off x="466725" y="981075"/>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lnSpc>
                <a:spcPct val="115000"/>
              </a:lnSpc>
            </a:pPr>
            <a:r>
              <a:rPr lang="zh-CN" altLang="en-US" b="1">
                <a:solidFill>
                  <a:srgbClr val="FF0000"/>
                </a:solidFill>
              </a:rPr>
              <a:t>定理</a:t>
            </a:r>
            <a:r>
              <a:rPr lang="en-US" altLang="zh-CN" b="1">
                <a:solidFill>
                  <a:srgbClr val="FF0000"/>
                </a:solidFill>
              </a:rPr>
              <a:t>5-5.1</a:t>
            </a:r>
            <a:r>
              <a:rPr lang="zh-CN" altLang="en-US" b="1">
                <a:solidFill>
                  <a:srgbClr val="FF0000"/>
                </a:solidFill>
              </a:rPr>
              <a:t>：</a:t>
            </a:r>
            <a:r>
              <a:rPr lang="zh-CN" altLang="en-US" b="1"/>
              <a:t>设</a:t>
            </a:r>
            <a:r>
              <a:rPr lang="en-US" altLang="zh-CN" b="1"/>
              <a:t>&lt;G,*&gt;</a:t>
            </a:r>
            <a:r>
              <a:rPr lang="zh-CN" altLang="en-US" b="1"/>
              <a:t>是一个群，</a:t>
            </a:r>
            <a:r>
              <a:rPr lang="en-US" altLang="zh-CN" b="1"/>
              <a:t>&lt;G,*&gt;</a:t>
            </a:r>
            <a:r>
              <a:rPr lang="zh-CN" altLang="en-US" b="1"/>
              <a:t>是阿贝尔群的充要条件是对任意的</a:t>
            </a:r>
            <a:r>
              <a:rPr lang="en-US" altLang="zh-CN" b="1"/>
              <a:t>a, b∈G</a:t>
            </a:r>
            <a:r>
              <a:rPr lang="zh-CN" altLang="en-US" b="1"/>
              <a:t>，有</a:t>
            </a:r>
            <a:r>
              <a:rPr lang="en-US" altLang="zh-CN" b="1"/>
              <a:t>(a*b)*(a*b)=(a*a)*(b*b)</a:t>
            </a:r>
            <a:r>
              <a:rPr lang="zh-CN" altLang="en-US" b="1"/>
              <a:t>。 </a:t>
            </a:r>
          </a:p>
        </p:txBody>
      </p:sp>
    </p:spTree>
  </p:cSld>
  <p:clrMapOvr>
    <a:masterClrMapping/>
  </p:clrMapOvr>
  <p:transition spd="slow">
    <p:pull dir="ru"/>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4A3B033A-A52C-4253-B133-55B76F477D58}" type="slidenum">
              <a:rPr lang="en-US" altLang="zh-CN"/>
              <a:pPr/>
              <a:t>57</a:t>
            </a:fld>
            <a:endParaRPr lang="en-US" altLang="zh-CN"/>
          </a:p>
        </p:txBody>
      </p:sp>
      <p:sp>
        <p:nvSpPr>
          <p:cNvPr id="460802" name="Text Box 2"/>
          <p:cNvSpPr txBox="1">
            <a:spLocks noChangeArrowheads="1"/>
          </p:cNvSpPr>
          <p:nvPr/>
        </p:nvSpPr>
        <p:spPr bwMode="auto">
          <a:xfrm>
            <a:off x="466725" y="981075"/>
            <a:ext cx="8277225" cy="2624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lang="en-US" altLang="zh-CN" sz="3200" b="1">
                <a:solidFill>
                  <a:schemeClr val="folHlink"/>
                </a:solidFill>
                <a:latin typeface="楷体_GB2312" pitchFamily="49" charset="-122"/>
                <a:ea typeface="楷体_GB2312" pitchFamily="49" charset="-122"/>
              </a:rPr>
              <a:t>2</a:t>
            </a:r>
            <a:r>
              <a:rPr lang="zh-CN" altLang="en-US" sz="3200" b="1">
                <a:solidFill>
                  <a:schemeClr val="folHlink"/>
                </a:solidFill>
                <a:latin typeface="楷体_GB2312" pitchFamily="49" charset="-122"/>
                <a:ea typeface="楷体_GB2312" pitchFamily="49" charset="-122"/>
              </a:rPr>
              <a:t>、循环群</a:t>
            </a:r>
          </a:p>
          <a:p>
            <a:pPr algn="l">
              <a:lnSpc>
                <a:spcPct val="130000"/>
              </a:lnSpc>
            </a:pPr>
            <a:r>
              <a:rPr lang="zh-CN" altLang="en-US" b="1">
                <a:solidFill>
                  <a:srgbClr val="FF0000"/>
                </a:solidFill>
              </a:rPr>
              <a:t>定义</a:t>
            </a:r>
            <a:r>
              <a:rPr lang="en-US" altLang="zh-CN" b="1">
                <a:solidFill>
                  <a:srgbClr val="FF0000"/>
                </a:solidFill>
              </a:rPr>
              <a:t>5-5.2</a:t>
            </a:r>
            <a:r>
              <a:rPr lang="zh-CN" altLang="en-US" b="1">
                <a:solidFill>
                  <a:srgbClr val="FF0000"/>
                </a:solidFill>
              </a:rPr>
              <a:t>：</a:t>
            </a:r>
            <a:r>
              <a:rPr lang="zh-CN" altLang="en-US" b="1"/>
              <a:t>设</a:t>
            </a:r>
            <a:r>
              <a:rPr lang="en-US" altLang="zh-CN" b="1"/>
              <a:t>&lt;G,*&gt;</a:t>
            </a:r>
            <a:r>
              <a:rPr lang="zh-CN" altLang="en-US" b="1"/>
              <a:t>为群，若在</a:t>
            </a:r>
            <a:r>
              <a:rPr lang="en-US" altLang="zh-CN" b="1"/>
              <a:t>G</a:t>
            </a:r>
            <a:r>
              <a:rPr lang="zh-CN" altLang="en-US" b="1"/>
              <a:t>中存在一个元素</a:t>
            </a:r>
            <a:r>
              <a:rPr lang="en-US" altLang="zh-CN" b="1"/>
              <a:t>a</a:t>
            </a:r>
            <a:r>
              <a:rPr lang="zh-CN" altLang="en-US" b="1"/>
              <a:t>，使得</a:t>
            </a:r>
            <a:r>
              <a:rPr lang="en-US" altLang="zh-CN" b="1"/>
              <a:t>G</a:t>
            </a:r>
            <a:r>
              <a:rPr lang="zh-CN" altLang="en-US" b="1"/>
              <a:t>中的任意元素都由</a:t>
            </a:r>
            <a:r>
              <a:rPr lang="en-US" altLang="zh-CN" b="1"/>
              <a:t>a</a:t>
            </a:r>
            <a:r>
              <a:rPr lang="zh-CN" altLang="en-US" b="1"/>
              <a:t>的幂组成，则称该群为</a:t>
            </a:r>
            <a:r>
              <a:rPr lang="zh-CN" altLang="en-US" b="1" i="1">
                <a:solidFill>
                  <a:srgbClr val="FF0000"/>
                </a:solidFill>
              </a:rPr>
              <a:t>循环群</a:t>
            </a:r>
            <a:r>
              <a:rPr lang="zh-CN" altLang="en-US" b="1"/>
              <a:t>，元素</a:t>
            </a:r>
            <a:r>
              <a:rPr lang="en-US" altLang="zh-CN" b="1"/>
              <a:t>a</a:t>
            </a:r>
            <a:r>
              <a:rPr lang="zh-CN" altLang="en-US" b="1"/>
              <a:t>称为循环群</a:t>
            </a:r>
            <a:r>
              <a:rPr lang="en-US" altLang="zh-CN" b="1"/>
              <a:t>G</a:t>
            </a:r>
            <a:r>
              <a:rPr lang="zh-CN" altLang="en-US" b="1"/>
              <a:t>的</a:t>
            </a:r>
            <a:r>
              <a:rPr lang="zh-CN" altLang="en-US" b="1" i="1">
                <a:solidFill>
                  <a:srgbClr val="FF0000"/>
                </a:solidFill>
              </a:rPr>
              <a:t>生成元</a:t>
            </a:r>
            <a:r>
              <a:rPr lang="zh-CN" altLang="en-US" b="1"/>
              <a:t>。</a:t>
            </a:r>
            <a:r>
              <a:rPr lang="zh-CN" altLang="en-US" b="1">
                <a:solidFill>
                  <a:srgbClr val="FF0000"/>
                </a:solidFill>
              </a:rPr>
              <a:t>即</a:t>
            </a:r>
            <a:r>
              <a:rPr lang="en-US" altLang="zh-CN" b="1">
                <a:solidFill>
                  <a:srgbClr val="FF0000"/>
                </a:solidFill>
              </a:rPr>
              <a:t>G</a:t>
            </a:r>
            <a:r>
              <a:rPr lang="zh-CN" altLang="en-US" b="1">
                <a:solidFill>
                  <a:srgbClr val="FF0000"/>
                </a:solidFill>
              </a:rPr>
              <a:t>是由</a:t>
            </a:r>
            <a:r>
              <a:rPr lang="en-US" altLang="zh-CN" b="1">
                <a:solidFill>
                  <a:srgbClr val="FF0000"/>
                </a:solidFill>
              </a:rPr>
              <a:t>a</a:t>
            </a:r>
            <a:r>
              <a:rPr lang="zh-CN" altLang="en-US" b="1">
                <a:solidFill>
                  <a:srgbClr val="FF0000"/>
                </a:solidFill>
              </a:rPr>
              <a:t>生成的循环群</a:t>
            </a:r>
            <a:r>
              <a:rPr lang="zh-CN" altLang="en-US" b="1">
                <a:solidFill>
                  <a:srgbClr val="FF0000"/>
                </a:solidFill>
                <a:sym typeface="Symbol" pitchFamily="18" charset="2"/>
              </a:rPr>
              <a:t></a:t>
            </a:r>
            <a:r>
              <a:rPr lang="en-US" altLang="zh-CN" b="1">
                <a:solidFill>
                  <a:srgbClr val="FF0000"/>
                </a:solidFill>
                <a:sym typeface="Symbol" pitchFamily="18" charset="2"/>
              </a:rPr>
              <a:t>x</a:t>
            </a:r>
            <a:r>
              <a:rPr lang="en-US" altLang="zh-CN" b="1">
                <a:solidFill>
                  <a:srgbClr val="FF0000"/>
                </a:solidFill>
              </a:rPr>
              <a:t>∈G</a:t>
            </a:r>
            <a:r>
              <a:rPr lang="zh-CN" altLang="en-US" b="1">
                <a:solidFill>
                  <a:srgbClr val="FF0000"/>
                </a:solidFill>
              </a:rPr>
              <a:t>，</a:t>
            </a:r>
            <a:r>
              <a:rPr lang="zh-CN" altLang="en-US" b="1">
                <a:solidFill>
                  <a:srgbClr val="FF0000"/>
                </a:solidFill>
                <a:sym typeface="Symbol" pitchFamily="18" charset="2"/>
              </a:rPr>
              <a:t></a:t>
            </a:r>
            <a:r>
              <a:rPr lang="en-US" altLang="zh-CN" b="1">
                <a:solidFill>
                  <a:srgbClr val="FF0000"/>
                </a:solidFill>
                <a:sym typeface="Symbol" pitchFamily="18" charset="2"/>
              </a:rPr>
              <a:t>i</a:t>
            </a:r>
            <a:r>
              <a:rPr lang="en-US" altLang="zh-CN" b="1">
                <a:solidFill>
                  <a:srgbClr val="FF0000"/>
                </a:solidFill>
              </a:rPr>
              <a:t>∈Z</a:t>
            </a:r>
            <a:r>
              <a:rPr lang="zh-CN" altLang="en-US" b="1">
                <a:solidFill>
                  <a:srgbClr val="FF0000"/>
                </a:solidFill>
              </a:rPr>
              <a:t>使</a:t>
            </a:r>
            <a:r>
              <a:rPr lang="en-US" altLang="zh-CN" b="1">
                <a:solidFill>
                  <a:srgbClr val="FF0000"/>
                </a:solidFill>
              </a:rPr>
              <a:t>x=a</a:t>
            </a:r>
            <a:r>
              <a:rPr lang="en-US" altLang="zh-CN" b="1" baseline="30000">
                <a:solidFill>
                  <a:srgbClr val="FF0000"/>
                </a:solidFill>
              </a:rPr>
              <a:t>i</a:t>
            </a:r>
            <a:r>
              <a:rPr lang="zh-CN" altLang="en-US" b="1"/>
              <a:t>。</a:t>
            </a:r>
          </a:p>
        </p:txBody>
      </p:sp>
    </p:spTree>
  </p:cSld>
  <p:clrMapOvr>
    <a:masterClrMapping/>
  </p:clrMapOvr>
  <p:transition spd="slow">
    <p:pull dir="ru"/>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灯片编号占位符 2"/>
          <p:cNvSpPr>
            <a:spLocks noGrp="1"/>
          </p:cNvSpPr>
          <p:nvPr>
            <p:ph type="sldNum" sz="quarter" idx="11"/>
          </p:nvPr>
        </p:nvSpPr>
        <p:spPr/>
        <p:txBody>
          <a:bodyPr/>
          <a:lstStyle/>
          <a:p>
            <a:fld id="{0F8A42DC-31D2-412B-923D-C5BFCD0A39C6}" type="slidenum">
              <a:rPr lang="en-US" altLang="zh-CN"/>
              <a:pPr/>
              <a:t>58</a:t>
            </a:fld>
            <a:endParaRPr lang="en-US" altLang="zh-CN"/>
          </a:p>
        </p:txBody>
      </p:sp>
      <p:sp>
        <p:nvSpPr>
          <p:cNvPr id="523269" name="Rectangle 5"/>
          <p:cNvSpPr>
            <a:spLocks noChangeArrowheads="1"/>
          </p:cNvSpPr>
          <p:nvPr/>
        </p:nvSpPr>
        <p:spPr bwMode="auto">
          <a:xfrm>
            <a:off x="466725" y="1052513"/>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lang="zh-CN" altLang="en-US" b="1">
                <a:solidFill>
                  <a:schemeClr val="hlink"/>
                </a:solidFill>
              </a:rPr>
              <a:t>例</a:t>
            </a:r>
            <a:r>
              <a:rPr lang="en-US" altLang="zh-CN" b="1">
                <a:solidFill>
                  <a:schemeClr val="hlink"/>
                </a:solidFill>
              </a:rPr>
              <a:t>2</a:t>
            </a:r>
            <a:r>
              <a:rPr lang="zh-CN" altLang="en-US" b="1">
                <a:solidFill>
                  <a:schemeClr val="hlink"/>
                </a:solidFill>
              </a:rPr>
              <a:t>：</a:t>
            </a:r>
            <a:r>
              <a:rPr lang="zh-CN" altLang="en-US" b="1"/>
              <a:t>设</a:t>
            </a:r>
            <a:r>
              <a:rPr lang="en-US" altLang="zh-CN" b="1"/>
              <a:t>&lt;G, *&gt;</a:t>
            </a:r>
            <a:r>
              <a:rPr lang="zh-CN" altLang="en-US" b="1"/>
              <a:t>是由下面的运算表定义的四阶群，</a:t>
            </a:r>
            <a:r>
              <a:rPr lang="en-US" altLang="zh-CN" b="1"/>
              <a:t>G</a:t>
            </a:r>
            <a:r>
              <a:rPr lang="zh-CN" altLang="en-US" b="1"/>
              <a:t>是否为循环群。</a:t>
            </a:r>
          </a:p>
        </p:txBody>
      </p:sp>
      <p:graphicFrame>
        <p:nvGraphicFramePr>
          <p:cNvPr id="523290" name="Group 26"/>
          <p:cNvGraphicFramePr>
            <a:graphicFrameLocks noGrp="1"/>
          </p:cNvGraphicFramePr>
          <p:nvPr/>
        </p:nvGraphicFramePr>
        <p:xfrm>
          <a:off x="647700" y="2349500"/>
          <a:ext cx="3492500" cy="2449513"/>
        </p:xfrm>
        <a:graphic>
          <a:graphicData uri="http://schemas.openxmlformats.org/drawingml/2006/table">
            <a:tbl>
              <a:tblPr/>
              <a:tblGrid>
                <a:gridCol w="612775"/>
                <a:gridCol w="2879725"/>
              </a:tblGrid>
              <a:tr h="576263">
                <a:tc>
                  <a:txBody>
                    <a:bodyPr/>
                    <a:lstStyle/>
                    <a:p>
                      <a:pPr marL="342900" marR="0" lvl="0" indent="-34290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e        a        b       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73250">
                <a:tc>
                  <a:txBody>
                    <a:bodyPr/>
                    <a:lstStyle/>
                    <a:p>
                      <a:pPr marL="342900" marR="0" lvl="0" indent="-34290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e</a:t>
                      </a:r>
                    </a:p>
                    <a:p>
                      <a:pPr marL="342900" marR="0" lvl="0" indent="-34290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a</a:t>
                      </a:r>
                    </a:p>
                    <a:p>
                      <a:pPr marL="342900" marR="0" lvl="0" indent="-34290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b</a:t>
                      </a:r>
                    </a:p>
                    <a:p>
                      <a:pPr marL="342900" marR="0" lvl="0" indent="-34290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e        a        b       c</a:t>
                      </a:r>
                    </a:p>
                    <a:p>
                      <a:pPr marL="342900" marR="0" lvl="0" indent="-34290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a        e        c       b</a:t>
                      </a:r>
                    </a:p>
                    <a:p>
                      <a:pPr marL="342900" marR="0" lvl="0" indent="-34290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b        c        a       e</a:t>
                      </a:r>
                    </a:p>
                    <a:p>
                      <a:pPr marL="342900" marR="0" lvl="0" indent="-34290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c        b        e       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23281" name="Text Box 17"/>
          <p:cNvSpPr txBox="1">
            <a:spLocks noChangeArrowheads="1"/>
          </p:cNvSpPr>
          <p:nvPr/>
        </p:nvSpPr>
        <p:spPr bwMode="auto">
          <a:xfrm>
            <a:off x="4500563" y="2301875"/>
            <a:ext cx="1582737"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lnSpc>
                <a:spcPct val="130000"/>
              </a:lnSpc>
            </a:pPr>
            <a:r>
              <a:rPr kumimoji="0" lang="en-US" altLang="zh-CN" b="1"/>
              <a:t>b</a:t>
            </a:r>
            <a:r>
              <a:rPr kumimoji="0" lang="en-US" altLang="zh-CN" b="1" baseline="30000"/>
              <a:t>1</a:t>
            </a:r>
            <a:r>
              <a:rPr kumimoji="0" lang="en-US" altLang="zh-CN" b="1"/>
              <a:t>=b</a:t>
            </a:r>
          </a:p>
          <a:p>
            <a:pPr algn="l" eaLnBrk="0" hangingPunct="0">
              <a:lnSpc>
                <a:spcPct val="130000"/>
              </a:lnSpc>
            </a:pPr>
            <a:r>
              <a:rPr kumimoji="0" lang="en-US" altLang="zh-CN" b="1"/>
              <a:t>b</a:t>
            </a:r>
            <a:r>
              <a:rPr kumimoji="0" lang="en-US" altLang="zh-CN" b="1" baseline="30000"/>
              <a:t>2</a:t>
            </a:r>
            <a:r>
              <a:rPr kumimoji="0" lang="en-US" altLang="zh-CN" b="1"/>
              <a:t>=b*b=a</a:t>
            </a:r>
          </a:p>
          <a:p>
            <a:pPr algn="l" eaLnBrk="0" hangingPunct="0">
              <a:lnSpc>
                <a:spcPct val="130000"/>
              </a:lnSpc>
            </a:pPr>
            <a:r>
              <a:rPr kumimoji="0" lang="en-US" altLang="zh-CN" b="1"/>
              <a:t>b</a:t>
            </a:r>
            <a:r>
              <a:rPr kumimoji="0" lang="en-US" altLang="zh-CN" b="1" baseline="30000"/>
              <a:t>3</a:t>
            </a:r>
            <a:r>
              <a:rPr kumimoji="0" lang="en-US" altLang="zh-CN" b="1"/>
              <a:t>=a*b=c</a:t>
            </a:r>
          </a:p>
          <a:p>
            <a:pPr algn="l" eaLnBrk="0" hangingPunct="0">
              <a:lnSpc>
                <a:spcPct val="130000"/>
              </a:lnSpc>
            </a:pPr>
            <a:r>
              <a:rPr kumimoji="0" lang="en-US" altLang="zh-CN" b="1">
                <a:solidFill>
                  <a:srgbClr val="FF0000"/>
                </a:solidFill>
              </a:rPr>
              <a:t>b</a:t>
            </a:r>
            <a:r>
              <a:rPr kumimoji="0" lang="en-US" altLang="zh-CN" b="1" baseline="30000">
                <a:solidFill>
                  <a:srgbClr val="FF0000"/>
                </a:solidFill>
              </a:rPr>
              <a:t>4</a:t>
            </a:r>
            <a:r>
              <a:rPr kumimoji="0" lang="en-US" altLang="zh-CN" b="1">
                <a:solidFill>
                  <a:srgbClr val="FF0000"/>
                </a:solidFill>
              </a:rPr>
              <a:t>=c*b=e</a:t>
            </a:r>
          </a:p>
        </p:txBody>
      </p:sp>
      <p:sp>
        <p:nvSpPr>
          <p:cNvPr id="523282" name="Text Box 18"/>
          <p:cNvSpPr txBox="1">
            <a:spLocks noChangeArrowheads="1"/>
          </p:cNvSpPr>
          <p:nvPr/>
        </p:nvSpPr>
        <p:spPr bwMode="auto">
          <a:xfrm>
            <a:off x="6299200" y="2301875"/>
            <a:ext cx="1582738"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lnSpc>
                <a:spcPct val="130000"/>
              </a:lnSpc>
            </a:pPr>
            <a:r>
              <a:rPr kumimoji="0" lang="en-US" altLang="zh-CN" b="1"/>
              <a:t>c</a:t>
            </a:r>
            <a:r>
              <a:rPr kumimoji="0" lang="en-US" altLang="zh-CN" b="1" baseline="30000"/>
              <a:t>1</a:t>
            </a:r>
            <a:r>
              <a:rPr kumimoji="0" lang="en-US" altLang="zh-CN" b="1"/>
              <a:t>=c</a:t>
            </a:r>
          </a:p>
          <a:p>
            <a:pPr algn="l" eaLnBrk="0" hangingPunct="0">
              <a:lnSpc>
                <a:spcPct val="130000"/>
              </a:lnSpc>
            </a:pPr>
            <a:r>
              <a:rPr kumimoji="0" lang="en-US" altLang="zh-CN" b="1"/>
              <a:t>c</a:t>
            </a:r>
            <a:r>
              <a:rPr kumimoji="0" lang="en-US" altLang="zh-CN" b="1" baseline="30000"/>
              <a:t>2</a:t>
            </a:r>
            <a:r>
              <a:rPr kumimoji="0" lang="en-US" altLang="zh-CN" b="1"/>
              <a:t>=c*c=a</a:t>
            </a:r>
          </a:p>
          <a:p>
            <a:pPr algn="l" eaLnBrk="0" hangingPunct="0">
              <a:lnSpc>
                <a:spcPct val="130000"/>
              </a:lnSpc>
            </a:pPr>
            <a:r>
              <a:rPr kumimoji="0" lang="en-US" altLang="zh-CN" b="1"/>
              <a:t>c</a:t>
            </a:r>
            <a:r>
              <a:rPr kumimoji="0" lang="en-US" altLang="zh-CN" b="1" baseline="30000"/>
              <a:t>3</a:t>
            </a:r>
            <a:r>
              <a:rPr kumimoji="0" lang="en-US" altLang="zh-CN" b="1"/>
              <a:t>=a*c=b</a:t>
            </a:r>
          </a:p>
          <a:p>
            <a:pPr algn="l" eaLnBrk="0" hangingPunct="0">
              <a:lnSpc>
                <a:spcPct val="130000"/>
              </a:lnSpc>
            </a:pPr>
            <a:r>
              <a:rPr kumimoji="0" lang="en-US" altLang="zh-CN" b="1">
                <a:solidFill>
                  <a:srgbClr val="FF0000"/>
                </a:solidFill>
              </a:rPr>
              <a:t>c</a:t>
            </a:r>
            <a:r>
              <a:rPr kumimoji="0" lang="en-US" altLang="zh-CN" b="1" baseline="30000">
                <a:solidFill>
                  <a:srgbClr val="FF0000"/>
                </a:solidFill>
              </a:rPr>
              <a:t>4</a:t>
            </a:r>
            <a:r>
              <a:rPr kumimoji="0" lang="en-US" altLang="zh-CN" b="1">
                <a:solidFill>
                  <a:srgbClr val="FF0000"/>
                </a:solidFill>
              </a:rPr>
              <a:t>=b*c=e</a:t>
            </a:r>
          </a:p>
        </p:txBody>
      </p:sp>
      <p:sp>
        <p:nvSpPr>
          <p:cNvPr id="523283" name="Text Box 19"/>
          <p:cNvSpPr txBox="1">
            <a:spLocks noChangeArrowheads="1"/>
          </p:cNvSpPr>
          <p:nvPr/>
        </p:nvSpPr>
        <p:spPr bwMode="auto">
          <a:xfrm>
            <a:off x="4500563" y="4437063"/>
            <a:ext cx="3743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buClr>
                <a:srgbClr val="FF3300"/>
              </a:buClr>
              <a:buFont typeface="Wingdings" pitchFamily="2" charset="2"/>
              <a:buChar char="Ø"/>
            </a:pPr>
            <a:r>
              <a:rPr kumimoji="0" lang="zh-CN" altLang="en-US" b="1">
                <a:latin typeface="Arial" charset="0"/>
              </a:rPr>
              <a:t>循环群的生成元不唯一</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23281"/>
                                        </p:tgtEl>
                                        <p:attrNameLst>
                                          <p:attrName>style.visibility</p:attrName>
                                        </p:attrNameLst>
                                      </p:cBhvr>
                                      <p:to>
                                        <p:strVal val="visible"/>
                                      </p:to>
                                    </p:set>
                                    <p:anim calcmode="lin" valueType="num">
                                      <p:cBhvr additive="base">
                                        <p:cTn id="7" dur="500" fill="hold"/>
                                        <p:tgtEl>
                                          <p:spTgt spid="523281"/>
                                        </p:tgtEl>
                                        <p:attrNameLst>
                                          <p:attrName>ppt_x</p:attrName>
                                        </p:attrNameLst>
                                      </p:cBhvr>
                                      <p:tavLst>
                                        <p:tav tm="0">
                                          <p:val>
                                            <p:strVal val="#ppt_x"/>
                                          </p:val>
                                        </p:tav>
                                        <p:tav tm="100000">
                                          <p:val>
                                            <p:strVal val="#ppt_x"/>
                                          </p:val>
                                        </p:tav>
                                      </p:tavLst>
                                    </p:anim>
                                    <p:anim calcmode="lin" valueType="num">
                                      <p:cBhvr additive="base">
                                        <p:cTn id="8" dur="500" fill="hold"/>
                                        <p:tgtEl>
                                          <p:spTgt spid="52328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23282"/>
                                        </p:tgtEl>
                                        <p:attrNameLst>
                                          <p:attrName>style.visibility</p:attrName>
                                        </p:attrNameLst>
                                      </p:cBhvr>
                                      <p:to>
                                        <p:strVal val="visible"/>
                                      </p:to>
                                    </p:set>
                                    <p:anim calcmode="lin" valueType="num">
                                      <p:cBhvr additive="base">
                                        <p:cTn id="13" dur="500" fill="hold"/>
                                        <p:tgtEl>
                                          <p:spTgt spid="523282"/>
                                        </p:tgtEl>
                                        <p:attrNameLst>
                                          <p:attrName>ppt_x</p:attrName>
                                        </p:attrNameLst>
                                      </p:cBhvr>
                                      <p:tavLst>
                                        <p:tav tm="0">
                                          <p:val>
                                            <p:strVal val="#ppt_x"/>
                                          </p:val>
                                        </p:tav>
                                        <p:tav tm="100000">
                                          <p:val>
                                            <p:strVal val="#ppt_x"/>
                                          </p:val>
                                        </p:tav>
                                      </p:tavLst>
                                    </p:anim>
                                    <p:anim calcmode="lin" valueType="num">
                                      <p:cBhvr additive="base">
                                        <p:cTn id="14" dur="500" fill="hold"/>
                                        <p:tgtEl>
                                          <p:spTgt spid="52328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23283"/>
                                        </p:tgtEl>
                                        <p:attrNameLst>
                                          <p:attrName>style.visibility</p:attrName>
                                        </p:attrNameLst>
                                      </p:cBhvr>
                                      <p:to>
                                        <p:strVal val="visible"/>
                                      </p:to>
                                    </p:set>
                                    <p:anim calcmode="lin" valueType="num">
                                      <p:cBhvr additive="base">
                                        <p:cTn id="19" dur="500" fill="hold"/>
                                        <p:tgtEl>
                                          <p:spTgt spid="523283"/>
                                        </p:tgtEl>
                                        <p:attrNameLst>
                                          <p:attrName>ppt_x</p:attrName>
                                        </p:attrNameLst>
                                      </p:cBhvr>
                                      <p:tavLst>
                                        <p:tav tm="0">
                                          <p:val>
                                            <p:strVal val="#ppt_x"/>
                                          </p:val>
                                        </p:tav>
                                        <p:tav tm="100000">
                                          <p:val>
                                            <p:strVal val="#ppt_x"/>
                                          </p:val>
                                        </p:tav>
                                      </p:tavLst>
                                    </p:anim>
                                    <p:anim calcmode="lin" valueType="num">
                                      <p:cBhvr additive="base">
                                        <p:cTn id="20" dur="500" fill="hold"/>
                                        <p:tgtEl>
                                          <p:spTgt spid="52328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3281" grpId="0" autoUpdateAnimBg="0"/>
      <p:bldP spid="523282" grpId="0" autoUpdateAnimBg="0"/>
      <p:bldP spid="523283"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fld id="{CB37B714-72A7-40A6-95BA-20EE8394DCE4}" type="slidenum">
              <a:rPr lang="en-US" altLang="zh-CN"/>
              <a:pPr/>
              <a:t>59</a:t>
            </a:fld>
            <a:endParaRPr lang="en-US" altLang="zh-CN"/>
          </a:p>
        </p:txBody>
      </p:sp>
      <p:sp>
        <p:nvSpPr>
          <p:cNvPr id="461826" name="Text Box 2"/>
          <p:cNvSpPr txBox="1">
            <a:spLocks noChangeArrowheads="1"/>
          </p:cNvSpPr>
          <p:nvPr/>
        </p:nvSpPr>
        <p:spPr bwMode="auto">
          <a:xfrm>
            <a:off x="466725" y="981075"/>
            <a:ext cx="8277225"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lang="zh-CN" altLang="en-US" b="1">
                <a:solidFill>
                  <a:srgbClr val="FF0000"/>
                </a:solidFill>
              </a:rPr>
              <a:t>定理</a:t>
            </a:r>
            <a:r>
              <a:rPr lang="en-US" altLang="zh-CN" b="1">
                <a:solidFill>
                  <a:srgbClr val="FF0000"/>
                </a:solidFill>
              </a:rPr>
              <a:t>5-5.2</a:t>
            </a:r>
            <a:r>
              <a:rPr lang="zh-CN" altLang="en-US" b="1">
                <a:solidFill>
                  <a:srgbClr val="FF0000"/>
                </a:solidFill>
              </a:rPr>
              <a:t>：</a:t>
            </a:r>
            <a:r>
              <a:rPr lang="zh-CN" altLang="en-US" b="1"/>
              <a:t>任何一个循环群必定是阿贝尔群</a:t>
            </a:r>
          </a:p>
        </p:txBody>
      </p:sp>
    </p:spTree>
  </p:cSld>
  <p:clrMapOvr>
    <a:masterClrMapping/>
  </p:clrMapOvr>
  <p:transition spd="slow">
    <p:pull dir="ru"/>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fld id="{16C38C62-BEE1-4545-AE7F-005867B866DE}" type="slidenum">
              <a:rPr lang="en-US" altLang="zh-CN"/>
              <a:pPr/>
              <a:t>60</a:t>
            </a:fld>
            <a:endParaRPr lang="en-US" altLang="zh-CN"/>
          </a:p>
        </p:txBody>
      </p:sp>
      <p:sp>
        <p:nvSpPr>
          <p:cNvPr id="462850" name="Text Box 2"/>
          <p:cNvSpPr txBox="1">
            <a:spLocks noChangeArrowheads="1"/>
          </p:cNvSpPr>
          <p:nvPr/>
        </p:nvSpPr>
        <p:spPr bwMode="auto">
          <a:xfrm>
            <a:off x="466725" y="985838"/>
            <a:ext cx="8277225"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lnSpc>
                <a:spcPct val="120000"/>
              </a:lnSpc>
            </a:pPr>
            <a:r>
              <a:rPr lang="zh-CN" altLang="en-US" b="1" dirty="0">
                <a:solidFill>
                  <a:srgbClr val="FF0000"/>
                </a:solidFill>
              </a:rPr>
              <a:t>定理</a:t>
            </a:r>
            <a:r>
              <a:rPr lang="en-US" altLang="zh-CN" b="1" dirty="0">
                <a:solidFill>
                  <a:srgbClr val="FF0000"/>
                </a:solidFill>
              </a:rPr>
              <a:t>5-5.3</a:t>
            </a:r>
            <a:r>
              <a:rPr lang="zh-CN" altLang="en-US" b="1" dirty="0">
                <a:solidFill>
                  <a:srgbClr val="FF0000"/>
                </a:solidFill>
              </a:rPr>
              <a:t>：</a:t>
            </a:r>
            <a:r>
              <a:rPr lang="zh-CN" altLang="en-US" b="1" dirty="0"/>
              <a:t>设</a:t>
            </a:r>
            <a:r>
              <a:rPr lang="en-US" altLang="zh-CN" b="1" dirty="0"/>
              <a:t>&lt;G, *&gt;</a:t>
            </a:r>
            <a:r>
              <a:rPr lang="zh-CN" altLang="en-US" b="1" dirty="0"/>
              <a:t>是一个由元素</a:t>
            </a:r>
            <a:r>
              <a:rPr lang="en-US" altLang="zh-CN" b="1" dirty="0" err="1"/>
              <a:t>a∈G</a:t>
            </a:r>
            <a:r>
              <a:rPr lang="zh-CN" altLang="en-US" b="1" dirty="0"/>
              <a:t>生成的</a:t>
            </a:r>
            <a:r>
              <a:rPr lang="zh-CN" altLang="en-US" b="1" dirty="0">
                <a:solidFill>
                  <a:srgbClr val="FF0000"/>
                </a:solidFill>
              </a:rPr>
              <a:t>有限循环群</a:t>
            </a:r>
            <a:r>
              <a:rPr lang="zh-CN" altLang="en-US" b="1" dirty="0"/>
              <a:t>。如果</a:t>
            </a:r>
            <a:r>
              <a:rPr lang="en-US" altLang="zh-CN" b="1" dirty="0"/>
              <a:t>G</a:t>
            </a:r>
            <a:r>
              <a:rPr lang="zh-CN" altLang="en-US" b="1" dirty="0"/>
              <a:t>的阶数是</a:t>
            </a:r>
            <a:r>
              <a:rPr lang="en-US" altLang="zh-CN" b="1" dirty="0"/>
              <a:t>n</a:t>
            </a:r>
            <a:r>
              <a:rPr lang="zh-CN" altLang="en-US" b="1" dirty="0"/>
              <a:t>，即</a:t>
            </a:r>
            <a:r>
              <a:rPr lang="en-US" altLang="zh-CN" b="1" dirty="0"/>
              <a:t>|G|=n</a:t>
            </a:r>
            <a:r>
              <a:rPr lang="zh-CN" altLang="en-US" b="1" dirty="0"/>
              <a:t>，则</a:t>
            </a:r>
            <a:r>
              <a:rPr lang="en-US" altLang="zh-CN" b="1" dirty="0"/>
              <a:t>a</a:t>
            </a:r>
            <a:r>
              <a:rPr lang="en-US" altLang="zh-CN" b="1" baseline="30000" dirty="0"/>
              <a:t>n</a:t>
            </a:r>
            <a:r>
              <a:rPr lang="en-US" altLang="zh-CN" b="1" dirty="0"/>
              <a:t>=e</a:t>
            </a:r>
            <a:r>
              <a:rPr lang="zh-CN" altLang="en-US" b="1" dirty="0"/>
              <a:t>，且</a:t>
            </a:r>
            <a:r>
              <a:rPr lang="en-US" altLang="zh-CN" b="1" dirty="0"/>
              <a:t>G={a, a</a:t>
            </a:r>
            <a:r>
              <a:rPr lang="en-US" altLang="zh-CN" b="1" baseline="30000" dirty="0"/>
              <a:t>2</a:t>
            </a:r>
            <a:r>
              <a:rPr lang="en-US" altLang="zh-CN" b="1" dirty="0"/>
              <a:t>, a</a:t>
            </a:r>
            <a:r>
              <a:rPr lang="en-US" altLang="zh-CN" b="1" baseline="30000" dirty="0"/>
              <a:t>3</a:t>
            </a:r>
            <a:r>
              <a:rPr lang="en-US" altLang="zh-CN" b="1" dirty="0"/>
              <a:t>, …, a</a:t>
            </a:r>
            <a:r>
              <a:rPr lang="en-US" altLang="zh-CN" b="1" baseline="30000" dirty="0"/>
              <a:t>n-1</a:t>
            </a:r>
            <a:r>
              <a:rPr lang="en-US" altLang="zh-CN" b="1" dirty="0"/>
              <a:t>, a</a:t>
            </a:r>
            <a:r>
              <a:rPr lang="en-US" altLang="zh-CN" b="1" baseline="30000" dirty="0"/>
              <a:t>n</a:t>
            </a:r>
            <a:r>
              <a:rPr lang="en-US" altLang="zh-CN" b="1" dirty="0"/>
              <a:t>=e}</a:t>
            </a:r>
            <a:r>
              <a:rPr lang="zh-CN" altLang="en-US" b="1" dirty="0"/>
              <a:t>，其中，</a:t>
            </a:r>
            <a:r>
              <a:rPr lang="en-US" altLang="zh-CN" b="1" dirty="0"/>
              <a:t>e</a:t>
            </a:r>
            <a:r>
              <a:rPr lang="zh-CN" altLang="en-US" b="1" dirty="0"/>
              <a:t>是</a:t>
            </a:r>
            <a:r>
              <a:rPr lang="en-US" altLang="zh-CN" b="1" dirty="0"/>
              <a:t>&lt;G, *&gt;</a:t>
            </a:r>
            <a:r>
              <a:rPr lang="zh-CN" altLang="en-US" b="1" dirty="0"/>
              <a:t>中的幺元，</a:t>
            </a:r>
            <a:r>
              <a:rPr lang="en-US" altLang="zh-CN" b="1" dirty="0"/>
              <a:t>n</a:t>
            </a:r>
            <a:r>
              <a:rPr lang="zh-CN" altLang="en-US" b="1" dirty="0"/>
              <a:t>是使</a:t>
            </a:r>
            <a:r>
              <a:rPr lang="en-US" altLang="zh-CN" b="1" dirty="0"/>
              <a:t>a</a:t>
            </a:r>
            <a:r>
              <a:rPr lang="en-US" altLang="zh-CN" b="1" baseline="30000" dirty="0"/>
              <a:t>n</a:t>
            </a:r>
            <a:r>
              <a:rPr lang="en-US" altLang="zh-CN" b="1" dirty="0"/>
              <a:t>=e</a:t>
            </a:r>
            <a:r>
              <a:rPr lang="zh-CN" altLang="en-US" b="1" dirty="0"/>
              <a:t>的最小正整数</a:t>
            </a:r>
            <a:r>
              <a:rPr lang="en-US" altLang="zh-CN" b="1" dirty="0"/>
              <a:t>(</a:t>
            </a:r>
            <a:r>
              <a:rPr lang="zh-CN" altLang="en-US" b="1" dirty="0"/>
              <a:t>称</a:t>
            </a:r>
            <a:r>
              <a:rPr lang="en-US" altLang="zh-CN" b="1" dirty="0"/>
              <a:t>n</a:t>
            </a:r>
            <a:r>
              <a:rPr lang="zh-CN" altLang="en-US" b="1" dirty="0"/>
              <a:t>为</a:t>
            </a:r>
            <a:r>
              <a:rPr lang="zh-CN" altLang="en-US" b="1" dirty="0">
                <a:solidFill>
                  <a:srgbClr val="FF0000"/>
                </a:solidFill>
              </a:rPr>
              <a:t>元素</a:t>
            </a:r>
            <a:r>
              <a:rPr lang="en-US" altLang="zh-CN" b="1" dirty="0">
                <a:solidFill>
                  <a:srgbClr val="FF0000"/>
                </a:solidFill>
              </a:rPr>
              <a:t>a</a:t>
            </a:r>
            <a:r>
              <a:rPr lang="zh-CN" altLang="en-US" b="1" dirty="0">
                <a:solidFill>
                  <a:srgbClr val="FF0000"/>
                </a:solidFill>
              </a:rPr>
              <a:t>的阶</a:t>
            </a:r>
            <a:r>
              <a:rPr lang="en-US" altLang="zh-CN" b="1" dirty="0"/>
              <a:t>)</a:t>
            </a:r>
            <a:r>
              <a:rPr lang="zh-CN" altLang="en-US" b="1" dirty="0"/>
              <a:t>。</a:t>
            </a:r>
          </a:p>
        </p:txBody>
      </p:sp>
    </p:spTree>
  </p:cSld>
  <p:clrMapOvr>
    <a:masterClrMapping/>
  </p:clrMapOvr>
  <p:transition spd="slow">
    <p:pull dir="ru"/>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16084BAA-B971-4912-B0E9-E097B1A36F19}" type="slidenum">
              <a:rPr lang="en-US" altLang="zh-CN"/>
              <a:pPr/>
              <a:t>61</a:t>
            </a:fld>
            <a:endParaRPr lang="en-US" altLang="zh-CN"/>
          </a:p>
        </p:txBody>
      </p:sp>
      <p:sp>
        <p:nvSpPr>
          <p:cNvPr id="527362" name="Rectangle 2"/>
          <p:cNvSpPr>
            <a:spLocks noGrp="1" noChangeArrowheads="1"/>
          </p:cNvSpPr>
          <p:nvPr>
            <p:ph type="title"/>
          </p:nvPr>
        </p:nvSpPr>
        <p:spPr>
          <a:xfrm>
            <a:off x="1079500" y="209550"/>
            <a:ext cx="7108825" cy="641350"/>
          </a:xfrm>
          <a:noFill/>
        </p:spPr>
        <p:txBody>
          <a:bodyPr anchor="ctr"/>
          <a:lstStyle/>
          <a:p>
            <a:r>
              <a:rPr lang="en-US" altLang="zh-CN" sz="3600">
                <a:solidFill>
                  <a:schemeClr val="tx1"/>
                </a:solidFill>
                <a:latin typeface="华文行楷" pitchFamily="2" charset="-122"/>
                <a:ea typeface="华文行楷" pitchFamily="2" charset="-122"/>
              </a:rPr>
              <a:t>5.7  </a:t>
            </a:r>
            <a:r>
              <a:rPr lang="zh-CN" altLang="en-US" sz="3600">
                <a:solidFill>
                  <a:schemeClr val="tx1"/>
                </a:solidFill>
                <a:latin typeface="华文行楷" pitchFamily="2" charset="-122"/>
                <a:ea typeface="华文行楷" pitchFamily="2" charset="-122"/>
              </a:rPr>
              <a:t>陪集与拉格朗日定理</a:t>
            </a:r>
          </a:p>
        </p:txBody>
      </p:sp>
      <p:sp>
        <p:nvSpPr>
          <p:cNvPr id="527363" name="Rectangle 3"/>
          <p:cNvSpPr>
            <a:spLocks noGrp="1" noChangeArrowheads="1"/>
          </p:cNvSpPr>
          <p:nvPr>
            <p:ph type="body" idx="1"/>
          </p:nvPr>
        </p:nvSpPr>
        <p:spPr>
          <a:xfrm>
            <a:off x="466725" y="1265238"/>
            <a:ext cx="8277225" cy="1990725"/>
          </a:xfrm>
          <a:noFill/>
        </p:spPr>
        <p:txBody>
          <a:bodyPr/>
          <a:lstStyle/>
          <a:p>
            <a:pPr>
              <a:lnSpc>
                <a:spcPct val="130000"/>
              </a:lnSpc>
              <a:spcBef>
                <a:spcPct val="0"/>
              </a:spcBef>
            </a:pPr>
            <a:r>
              <a:rPr kumimoji="1" lang="zh-CN" altLang="en-US" sz="2400">
                <a:solidFill>
                  <a:schemeClr val="hlink"/>
                </a:solidFill>
              </a:rPr>
              <a:t>引言：</a:t>
            </a:r>
            <a:r>
              <a:rPr kumimoji="1" lang="zh-CN" altLang="en-US" sz="2400"/>
              <a:t>群的每一个子系统，并不一定都是它的子群，拉格朗日定理阐明了群与子群之间的一种重要关系，根据这个定理，能够求出成为子群的那些子系统。群</a:t>
            </a:r>
            <a:r>
              <a:rPr kumimoji="1" lang="en-US" altLang="zh-CN" sz="2400"/>
              <a:t>&lt;G, *&gt;</a:t>
            </a:r>
            <a:r>
              <a:rPr kumimoji="1" lang="zh-CN" altLang="en-US" sz="2400"/>
              <a:t>的任意子群</a:t>
            </a:r>
            <a:r>
              <a:rPr kumimoji="1" lang="en-US" altLang="zh-CN" sz="2400"/>
              <a:t>&lt;H, *&gt;</a:t>
            </a:r>
            <a:r>
              <a:rPr kumimoji="1" lang="zh-CN" altLang="en-US" sz="2400"/>
              <a:t>将</a:t>
            </a:r>
            <a:r>
              <a:rPr kumimoji="1" lang="en-US" altLang="zh-CN" sz="2400"/>
              <a:t>G</a:t>
            </a:r>
            <a:r>
              <a:rPr kumimoji="1" lang="zh-CN" altLang="en-US" sz="2400"/>
              <a:t>分解成</a:t>
            </a:r>
            <a:r>
              <a:rPr kumimoji="1" lang="en-US" altLang="zh-CN" sz="2400"/>
              <a:t>H</a:t>
            </a:r>
            <a:r>
              <a:rPr kumimoji="1" lang="zh-CN" altLang="en-US" sz="2400"/>
              <a:t>在</a:t>
            </a:r>
            <a:r>
              <a:rPr kumimoji="1" lang="en-US" altLang="zh-CN" sz="2400"/>
              <a:t>G</a:t>
            </a:r>
            <a:r>
              <a:rPr kumimoji="1" lang="zh-CN" altLang="en-US" sz="2400"/>
              <a:t>中的陪集。</a:t>
            </a:r>
          </a:p>
        </p:txBody>
      </p:sp>
    </p:spTree>
  </p:cSld>
  <p:clrMapOvr>
    <a:masterClrMapping/>
  </p:clrMapOvr>
  <p:transition spd="slow">
    <p:pull dir="ru"/>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2"/>
          <p:cNvSpPr>
            <a:spLocks noGrp="1"/>
          </p:cNvSpPr>
          <p:nvPr>
            <p:ph type="sldNum" sz="quarter" idx="11"/>
          </p:nvPr>
        </p:nvSpPr>
        <p:spPr/>
        <p:txBody>
          <a:bodyPr/>
          <a:lstStyle/>
          <a:p>
            <a:fld id="{C1899AC9-485C-4E91-B572-490FC4EDBFBA}" type="slidenum">
              <a:rPr lang="en-US" altLang="zh-CN"/>
              <a:pPr/>
              <a:t>62</a:t>
            </a:fld>
            <a:endParaRPr lang="en-US" altLang="zh-CN"/>
          </a:p>
        </p:txBody>
      </p:sp>
      <p:sp>
        <p:nvSpPr>
          <p:cNvPr id="464898" name="Text Box 2"/>
          <p:cNvSpPr txBox="1">
            <a:spLocks noChangeArrowheads="1"/>
          </p:cNvSpPr>
          <p:nvPr/>
        </p:nvSpPr>
        <p:spPr bwMode="auto">
          <a:xfrm>
            <a:off x="466725" y="1023938"/>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lnSpc>
                <a:spcPct val="130000"/>
              </a:lnSpc>
            </a:pPr>
            <a:r>
              <a:rPr lang="zh-CN" altLang="en-US" b="1">
                <a:solidFill>
                  <a:srgbClr val="FF0000"/>
                </a:solidFill>
              </a:rPr>
              <a:t>定义</a:t>
            </a:r>
            <a:r>
              <a:rPr lang="en-US" altLang="zh-CN" b="1">
                <a:solidFill>
                  <a:srgbClr val="FF0000"/>
                </a:solidFill>
              </a:rPr>
              <a:t>5-7.1</a:t>
            </a:r>
            <a:r>
              <a:rPr lang="zh-CN" altLang="en-US" b="1">
                <a:solidFill>
                  <a:srgbClr val="FF0000"/>
                </a:solidFill>
              </a:rPr>
              <a:t>：</a:t>
            </a:r>
            <a:r>
              <a:rPr lang="zh-CN" altLang="en-US" b="1"/>
              <a:t>设</a:t>
            </a:r>
            <a:r>
              <a:rPr lang="en-US" altLang="zh-CN" b="1"/>
              <a:t>&lt;G, *&gt;</a:t>
            </a:r>
            <a:r>
              <a:rPr lang="zh-CN" altLang="en-US" b="1"/>
              <a:t>是一个群，</a:t>
            </a:r>
            <a:r>
              <a:rPr lang="en-US" altLang="zh-CN" b="1"/>
              <a:t>A</a:t>
            </a:r>
            <a:r>
              <a:rPr lang="zh-CN" altLang="en-US" b="1"/>
              <a:t>，</a:t>
            </a:r>
            <a:r>
              <a:rPr lang="en-US" altLang="zh-CN" b="1"/>
              <a:t>B∈</a:t>
            </a:r>
            <a:r>
              <a:rPr lang="en-US" altLang="zh-CN" b="1">
                <a:latin typeface="CommercialScript BT" pitchFamily="66" charset="0"/>
              </a:rPr>
              <a:t>P</a:t>
            </a:r>
            <a:r>
              <a:rPr lang="en-US" altLang="zh-CN" b="1">
                <a:latin typeface="Arial" charset="0"/>
              </a:rPr>
              <a:t> </a:t>
            </a:r>
            <a:r>
              <a:rPr lang="en-US" altLang="zh-CN" b="1"/>
              <a:t>(G)</a:t>
            </a:r>
            <a:r>
              <a:rPr lang="zh-CN" altLang="en-US" b="1"/>
              <a:t>且</a:t>
            </a:r>
            <a:r>
              <a:rPr lang="en-US" altLang="zh-CN" b="1"/>
              <a:t>A≠</a:t>
            </a:r>
            <a:r>
              <a:rPr lang="en-US" altLang="zh-CN" b="1">
                <a:latin typeface="Arial" charset="0"/>
                <a:sym typeface="Symbol" pitchFamily="18" charset="2"/>
              </a:rPr>
              <a:t></a:t>
            </a:r>
            <a:r>
              <a:rPr lang="zh-CN" altLang="en-US" b="1"/>
              <a:t>，</a:t>
            </a:r>
            <a:r>
              <a:rPr lang="en-US" altLang="zh-CN" b="1"/>
              <a:t>B≠</a:t>
            </a:r>
            <a:r>
              <a:rPr lang="en-US" altLang="zh-CN" b="1">
                <a:latin typeface="Arial" charset="0"/>
                <a:sym typeface="Symbol" pitchFamily="18" charset="2"/>
              </a:rPr>
              <a:t></a:t>
            </a:r>
            <a:r>
              <a:rPr lang="zh-CN" altLang="en-US" b="1"/>
              <a:t>，记</a:t>
            </a:r>
          </a:p>
        </p:txBody>
      </p:sp>
      <p:graphicFrame>
        <p:nvGraphicFramePr>
          <p:cNvPr id="464899" name="Object 3"/>
          <p:cNvGraphicFramePr>
            <a:graphicFrameLocks noChangeAspect="1"/>
          </p:cNvGraphicFramePr>
          <p:nvPr/>
        </p:nvGraphicFramePr>
        <p:xfrm>
          <a:off x="2582863" y="2060575"/>
          <a:ext cx="2925762" cy="763588"/>
        </p:xfrm>
        <a:graphic>
          <a:graphicData uri="http://schemas.openxmlformats.org/presentationml/2006/ole">
            <mc:AlternateContent xmlns:mc="http://schemas.openxmlformats.org/markup-compatibility/2006">
              <mc:Choice xmlns:v="urn:schemas-microsoft-com:vml" Requires="v">
                <p:oleObj spid="_x0000_s464984" name="Equation" r:id="rId3" imgW="2920680" imgH="761760" progId="Equation.DSMT4">
                  <p:embed/>
                </p:oleObj>
              </mc:Choice>
              <mc:Fallback>
                <p:oleObj name="Equation" r:id="rId3" imgW="2920680" imgH="76176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2863" y="2060575"/>
                        <a:ext cx="2925762" cy="763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4900" name="Text Box 4"/>
          <p:cNvSpPr txBox="1">
            <a:spLocks noChangeArrowheads="1"/>
          </p:cNvSpPr>
          <p:nvPr/>
        </p:nvSpPr>
        <p:spPr bwMode="auto">
          <a:xfrm>
            <a:off x="466725" y="2852738"/>
            <a:ext cx="8277225" cy="2465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lnSpc>
                <a:spcPct val="130000"/>
              </a:lnSpc>
            </a:pPr>
            <a:r>
              <a:rPr lang="zh-CN" altLang="en-US" b="1"/>
              <a:t>分别称为</a:t>
            </a:r>
            <a:r>
              <a:rPr lang="en-US" altLang="zh-CN" b="1">
                <a:solidFill>
                  <a:srgbClr val="FF0000"/>
                </a:solidFill>
              </a:rPr>
              <a:t>A</a:t>
            </a:r>
            <a:r>
              <a:rPr lang="zh-CN" altLang="en-US" b="1">
                <a:solidFill>
                  <a:srgbClr val="FF0000"/>
                </a:solidFill>
              </a:rPr>
              <a:t>，</a:t>
            </a:r>
            <a:r>
              <a:rPr lang="en-US" altLang="zh-CN" b="1">
                <a:solidFill>
                  <a:srgbClr val="FF0000"/>
                </a:solidFill>
              </a:rPr>
              <a:t>B</a:t>
            </a:r>
            <a:r>
              <a:rPr lang="zh-CN" altLang="en-US" b="1">
                <a:solidFill>
                  <a:srgbClr val="FF0000"/>
                </a:solidFill>
              </a:rPr>
              <a:t>的积</a:t>
            </a:r>
            <a:r>
              <a:rPr lang="zh-CN" altLang="en-US" b="1"/>
              <a:t>和</a:t>
            </a:r>
            <a:r>
              <a:rPr lang="en-US" altLang="zh-CN" b="1">
                <a:solidFill>
                  <a:srgbClr val="FF0000"/>
                </a:solidFill>
              </a:rPr>
              <a:t>A</a:t>
            </a:r>
            <a:r>
              <a:rPr lang="zh-CN" altLang="en-US" b="1">
                <a:solidFill>
                  <a:srgbClr val="FF0000"/>
                </a:solidFill>
              </a:rPr>
              <a:t>的逆</a:t>
            </a:r>
            <a:r>
              <a:rPr lang="zh-CN" altLang="en-US" b="1"/>
              <a:t>。</a:t>
            </a:r>
          </a:p>
          <a:p>
            <a:pPr algn="l">
              <a:lnSpc>
                <a:spcPct val="130000"/>
              </a:lnSpc>
            </a:pPr>
            <a:r>
              <a:rPr lang="zh-CN" altLang="en-US" b="1">
                <a:solidFill>
                  <a:srgbClr val="FF0000"/>
                </a:solidFill>
              </a:rPr>
              <a:t>定义</a:t>
            </a:r>
            <a:r>
              <a:rPr lang="en-US" altLang="zh-CN" b="1">
                <a:solidFill>
                  <a:srgbClr val="FF0000"/>
                </a:solidFill>
              </a:rPr>
              <a:t>5-7.2</a:t>
            </a:r>
            <a:r>
              <a:rPr lang="zh-CN" altLang="en-US" b="1">
                <a:solidFill>
                  <a:srgbClr val="FF0000"/>
                </a:solidFill>
              </a:rPr>
              <a:t>：</a:t>
            </a:r>
            <a:r>
              <a:rPr lang="zh-CN" altLang="en-US" b="1"/>
              <a:t>令</a:t>
            </a:r>
            <a:r>
              <a:rPr lang="en-US" altLang="zh-CN" b="1"/>
              <a:t>&lt;H, *&gt;</a:t>
            </a:r>
            <a:r>
              <a:rPr lang="zh-CN" altLang="en-US" b="1"/>
              <a:t>是群</a:t>
            </a:r>
            <a:r>
              <a:rPr lang="en-US" altLang="zh-CN" b="1"/>
              <a:t>&lt;G, *&gt;</a:t>
            </a:r>
            <a:r>
              <a:rPr lang="zh-CN" altLang="en-US" b="1"/>
              <a:t>的子群且</a:t>
            </a:r>
            <a:r>
              <a:rPr lang="en-US" altLang="zh-CN" b="1"/>
              <a:t>a∈G</a:t>
            </a:r>
            <a:r>
              <a:rPr lang="zh-CN" altLang="en-US" b="1"/>
              <a:t>，则集合</a:t>
            </a:r>
            <a:r>
              <a:rPr lang="en-US" altLang="zh-CN" b="1"/>
              <a:t>{a}H(H{a})</a:t>
            </a:r>
            <a:r>
              <a:rPr lang="zh-CN" altLang="en-US" b="1"/>
              <a:t>，称为由元素</a:t>
            </a:r>
            <a:r>
              <a:rPr lang="en-US" altLang="zh-CN" b="1"/>
              <a:t>a</a:t>
            </a:r>
            <a:r>
              <a:rPr lang="zh-CN" altLang="en-US" b="1"/>
              <a:t>所确定</a:t>
            </a:r>
            <a:r>
              <a:rPr lang="en-US" altLang="zh-CN" b="1"/>
              <a:t>H</a:t>
            </a:r>
            <a:r>
              <a:rPr lang="zh-CN" altLang="en-US" b="1"/>
              <a:t>在群</a:t>
            </a:r>
            <a:r>
              <a:rPr lang="en-US" altLang="zh-CN" b="1"/>
              <a:t>&lt;G, *&gt;</a:t>
            </a:r>
            <a:r>
              <a:rPr lang="zh-CN" altLang="en-US" b="1"/>
              <a:t>中的</a:t>
            </a:r>
            <a:r>
              <a:rPr lang="zh-CN" altLang="en-US" b="1" i="1">
                <a:solidFill>
                  <a:srgbClr val="FF0000"/>
                </a:solidFill>
              </a:rPr>
              <a:t>左陪集</a:t>
            </a:r>
            <a:r>
              <a:rPr lang="en-US" altLang="zh-CN" b="1"/>
              <a:t>(</a:t>
            </a:r>
            <a:r>
              <a:rPr lang="zh-CN" altLang="en-US" b="1"/>
              <a:t>右陪集</a:t>
            </a:r>
            <a:r>
              <a:rPr lang="en-US" altLang="zh-CN" b="1"/>
              <a:t>)</a:t>
            </a:r>
            <a:r>
              <a:rPr lang="zh-CN" altLang="en-US" b="1"/>
              <a:t>，简称为</a:t>
            </a:r>
            <a:r>
              <a:rPr lang="en-US" altLang="zh-CN" b="1"/>
              <a:t>H</a:t>
            </a:r>
            <a:r>
              <a:rPr lang="zh-CN" altLang="en-US" b="1"/>
              <a:t>关于</a:t>
            </a:r>
            <a:r>
              <a:rPr lang="en-US" altLang="zh-CN" b="1"/>
              <a:t>a</a:t>
            </a:r>
            <a:r>
              <a:rPr lang="zh-CN" altLang="en-US" b="1"/>
              <a:t>的左陪集</a:t>
            </a:r>
            <a:r>
              <a:rPr lang="en-US" altLang="zh-CN" b="1"/>
              <a:t>(</a:t>
            </a:r>
            <a:r>
              <a:rPr lang="zh-CN" altLang="en-US" b="1"/>
              <a:t>右陪集</a:t>
            </a:r>
            <a:r>
              <a:rPr lang="en-US" altLang="zh-CN" b="1"/>
              <a:t>)</a:t>
            </a:r>
            <a:r>
              <a:rPr lang="zh-CN" altLang="en-US" b="1"/>
              <a:t>，记为</a:t>
            </a:r>
            <a:r>
              <a:rPr lang="en-US" altLang="zh-CN" b="1">
                <a:solidFill>
                  <a:srgbClr val="FF0000"/>
                </a:solidFill>
              </a:rPr>
              <a:t>aH(Ha)</a:t>
            </a:r>
            <a:r>
              <a:rPr lang="zh-CN" altLang="en-US" b="1"/>
              <a:t>。</a:t>
            </a:r>
            <a:r>
              <a:rPr lang="zh-CN" altLang="en-US" b="1" i="1">
                <a:solidFill>
                  <a:srgbClr val="FF0000"/>
                </a:solidFill>
              </a:rPr>
              <a:t>元素</a:t>
            </a:r>
            <a:r>
              <a:rPr lang="en-US" altLang="zh-CN" b="1" i="1">
                <a:solidFill>
                  <a:srgbClr val="FF0000"/>
                </a:solidFill>
              </a:rPr>
              <a:t>a</a:t>
            </a:r>
            <a:r>
              <a:rPr lang="zh-CN" altLang="en-US" b="1" i="1">
                <a:solidFill>
                  <a:srgbClr val="FF0000"/>
                </a:solidFill>
              </a:rPr>
              <a:t>称为左陪集</a:t>
            </a:r>
            <a:r>
              <a:rPr lang="en-US" altLang="zh-CN" b="1" i="1">
                <a:solidFill>
                  <a:srgbClr val="FF0000"/>
                </a:solidFill>
              </a:rPr>
              <a:t>aH(</a:t>
            </a:r>
            <a:r>
              <a:rPr lang="en-US" altLang="en-US" b="1" i="1">
                <a:solidFill>
                  <a:srgbClr val="FF0000"/>
                </a:solidFill>
              </a:rPr>
              <a:t>右陪集</a:t>
            </a:r>
            <a:r>
              <a:rPr lang="en-US" altLang="zh-CN" b="1" i="1">
                <a:solidFill>
                  <a:srgbClr val="FF0000"/>
                </a:solidFill>
              </a:rPr>
              <a:t>Ha)</a:t>
            </a:r>
            <a:r>
              <a:rPr lang="zh-CN" altLang="en-US" b="1" i="1">
                <a:solidFill>
                  <a:srgbClr val="FF0000"/>
                </a:solidFill>
              </a:rPr>
              <a:t>的代表元素</a:t>
            </a:r>
            <a:r>
              <a:rPr lang="zh-CN" altLang="en-US" b="1"/>
              <a:t>。 </a:t>
            </a:r>
          </a:p>
        </p:txBody>
      </p:sp>
      <p:sp>
        <p:nvSpPr>
          <p:cNvPr id="464902" name="AutoShape 6"/>
          <p:cNvSpPr>
            <a:spLocks noChangeArrowheads="1"/>
          </p:cNvSpPr>
          <p:nvPr/>
        </p:nvSpPr>
        <p:spPr bwMode="auto">
          <a:xfrm>
            <a:off x="2484438" y="5589588"/>
            <a:ext cx="2736850" cy="647700"/>
          </a:xfrm>
          <a:prstGeom prst="wedgeRoundRectCallout">
            <a:avLst>
              <a:gd name="adj1" fmla="val -102782"/>
              <a:gd name="adj2" fmla="val -252940"/>
              <a:gd name="adj3" fmla="val 16667"/>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b="1"/>
              <a:t>{a}H={a*h|h∈H}</a:t>
            </a:r>
          </a:p>
        </p:txBody>
      </p:sp>
      <p:sp>
        <p:nvSpPr>
          <p:cNvPr id="464903" name="Rectangle 7"/>
          <p:cNvSpPr>
            <a:spLocks noChangeArrowheads="1"/>
          </p:cNvSpPr>
          <p:nvPr/>
        </p:nvSpPr>
        <p:spPr bwMode="auto">
          <a:xfrm>
            <a:off x="1201738" y="279400"/>
            <a:ext cx="538638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3200" b="1">
                <a:solidFill>
                  <a:schemeClr val="folHlink"/>
                </a:solidFill>
                <a:ea typeface="楷体_GB2312" pitchFamily="49" charset="-122"/>
              </a:rPr>
              <a:t>一、基本定义</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64900">
                                            <p:txEl>
                                              <p:pRg st="1" end="1"/>
                                            </p:txEl>
                                          </p:spTgt>
                                        </p:tgtEl>
                                        <p:attrNameLst>
                                          <p:attrName>style.visibility</p:attrName>
                                        </p:attrNameLst>
                                      </p:cBhvr>
                                      <p:to>
                                        <p:strVal val="visible"/>
                                      </p:to>
                                    </p:set>
                                    <p:anim calcmode="lin" valueType="num">
                                      <p:cBhvr additive="base">
                                        <p:cTn id="7" dur="500" fill="hold"/>
                                        <p:tgtEl>
                                          <p:spTgt spid="464900">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490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64902"/>
                                        </p:tgtEl>
                                        <p:attrNameLst>
                                          <p:attrName>style.visibility</p:attrName>
                                        </p:attrNameLst>
                                      </p:cBhvr>
                                      <p:to>
                                        <p:strVal val="visible"/>
                                      </p:to>
                                    </p:set>
                                    <p:anim calcmode="lin" valueType="num">
                                      <p:cBhvr additive="base">
                                        <p:cTn id="13" dur="500" fill="hold"/>
                                        <p:tgtEl>
                                          <p:spTgt spid="464902"/>
                                        </p:tgtEl>
                                        <p:attrNameLst>
                                          <p:attrName>ppt_x</p:attrName>
                                        </p:attrNameLst>
                                      </p:cBhvr>
                                      <p:tavLst>
                                        <p:tav tm="0">
                                          <p:val>
                                            <p:strVal val="#ppt_x"/>
                                          </p:val>
                                        </p:tav>
                                        <p:tav tm="100000">
                                          <p:val>
                                            <p:strVal val="#ppt_x"/>
                                          </p:val>
                                        </p:tav>
                                      </p:tavLst>
                                    </p:anim>
                                    <p:anim calcmode="lin" valueType="num">
                                      <p:cBhvr additive="base">
                                        <p:cTn id="14" dur="500" fill="hold"/>
                                        <p:tgtEl>
                                          <p:spTgt spid="46490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4902"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灯片编号占位符 2"/>
          <p:cNvSpPr>
            <a:spLocks noGrp="1"/>
          </p:cNvSpPr>
          <p:nvPr>
            <p:ph type="sldNum" sz="quarter" idx="11"/>
          </p:nvPr>
        </p:nvSpPr>
        <p:spPr/>
        <p:txBody>
          <a:bodyPr/>
          <a:lstStyle/>
          <a:p>
            <a:fld id="{75F94998-F902-44BB-A8C7-DA6DFC1894C5}" type="slidenum">
              <a:rPr lang="en-US" altLang="zh-CN"/>
              <a:pPr/>
              <a:t>63</a:t>
            </a:fld>
            <a:endParaRPr lang="en-US" altLang="zh-CN"/>
          </a:p>
        </p:txBody>
      </p:sp>
      <p:graphicFrame>
        <p:nvGraphicFramePr>
          <p:cNvPr id="466967" name="Group 23"/>
          <p:cNvGraphicFramePr>
            <a:graphicFrameLocks noGrp="1"/>
          </p:cNvGraphicFramePr>
          <p:nvPr/>
        </p:nvGraphicFramePr>
        <p:xfrm>
          <a:off x="619125" y="1512888"/>
          <a:ext cx="4068763" cy="2871216"/>
        </p:xfrm>
        <a:graphic>
          <a:graphicData uri="http://schemas.openxmlformats.org/drawingml/2006/table">
            <a:tbl>
              <a:tblPr/>
              <a:tblGrid>
                <a:gridCol w="576263"/>
                <a:gridCol w="3492500"/>
              </a:tblGrid>
              <a:tr h="355600">
                <a:tc>
                  <a:txBody>
                    <a:body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5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rgbClr val="FF0000"/>
                          </a:solidFill>
                          <a:effectLst/>
                          <a:latin typeface="Times New Roman" pitchFamily="18" charset="0"/>
                          <a:ea typeface="宋体" pitchFamily="2" charset="-122"/>
                        </a:rPr>
                        <a:t>p</a:t>
                      </a:r>
                      <a:r>
                        <a:rPr kumimoji="0" lang="en-US" altLang="zh-CN" sz="2400" b="1" i="0" u="none" strike="noStrike" cap="none" normalizeH="0" baseline="-25000" smtClean="0">
                          <a:ln>
                            <a:noFill/>
                          </a:ln>
                          <a:solidFill>
                            <a:srgbClr val="FF0000"/>
                          </a:solidFill>
                          <a:effectLst/>
                          <a:latin typeface="Times New Roman" pitchFamily="18" charset="0"/>
                          <a:ea typeface="宋体" pitchFamily="2" charset="-122"/>
                        </a:rPr>
                        <a:t>1</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2</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3</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a:t>
                      </a:r>
                      <a:r>
                        <a:rPr kumimoji="0" lang="en-US" altLang="zh-CN" sz="2400" b="1" i="0" u="none" strike="noStrike" cap="none" normalizeH="0" baseline="0" smtClean="0">
                          <a:ln>
                            <a:noFill/>
                          </a:ln>
                          <a:solidFill>
                            <a:srgbClr val="FF0000"/>
                          </a:solidFill>
                          <a:effectLst/>
                          <a:latin typeface="Times New Roman" pitchFamily="18" charset="0"/>
                          <a:ea typeface="宋体" pitchFamily="2" charset="-122"/>
                        </a:rPr>
                        <a:t>p</a:t>
                      </a:r>
                      <a:r>
                        <a:rPr kumimoji="0" lang="en-US" altLang="zh-CN" sz="2400" b="1" i="0" u="none" strike="noStrike" cap="none" normalizeH="0" baseline="-25000" smtClean="0">
                          <a:ln>
                            <a:noFill/>
                          </a:ln>
                          <a:solidFill>
                            <a:srgbClr val="FF0000"/>
                          </a:solidFill>
                          <a:effectLst/>
                          <a:latin typeface="Times New Roman" pitchFamily="18" charset="0"/>
                          <a:ea typeface="宋体" pitchFamily="2" charset="-122"/>
                        </a:rPr>
                        <a:t>4</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5</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6</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995488">
                <a:tc>
                  <a:txBody>
                    <a:bodyPr/>
                    <a:lstStyle/>
                    <a:p>
                      <a:pPr marL="342900" marR="0" lvl="0" indent="-342900" algn="ctr" defTabSz="914400" rtl="0" eaLnBrk="1" fontAlgn="base" latinLnBrk="0" hangingPunct="1">
                        <a:lnSpc>
                          <a:spcPct val="105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rgbClr val="FF0000"/>
                          </a:solidFill>
                          <a:effectLst/>
                          <a:latin typeface="Times New Roman" pitchFamily="18" charset="0"/>
                          <a:ea typeface="宋体" pitchFamily="2" charset="-122"/>
                        </a:rPr>
                        <a:t>p</a:t>
                      </a:r>
                      <a:r>
                        <a:rPr kumimoji="0" lang="en-US" altLang="zh-CN" sz="2400" b="1" i="0" u="none" strike="noStrike" cap="none" normalizeH="0" baseline="-25000" smtClean="0">
                          <a:ln>
                            <a:noFill/>
                          </a:ln>
                          <a:solidFill>
                            <a:srgbClr val="FF0000"/>
                          </a:solidFill>
                          <a:effectLst/>
                          <a:latin typeface="Times New Roman" pitchFamily="18" charset="0"/>
                          <a:ea typeface="宋体" pitchFamily="2" charset="-122"/>
                        </a:rPr>
                        <a:t>1</a:t>
                      </a:r>
                    </a:p>
                    <a:p>
                      <a:pPr marL="342900" marR="0" lvl="0" indent="-342900" algn="ctr" defTabSz="914400" rtl="0" eaLnBrk="1" fontAlgn="base" latinLnBrk="0" hangingPunct="1">
                        <a:lnSpc>
                          <a:spcPct val="105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2</a:t>
                      </a:r>
                    </a:p>
                    <a:p>
                      <a:pPr marL="342900" marR="0" lvl="0" indent="-342900" algn="ctr" defTabSz="914400" rtl="0" eaLnBrk="1" fontAlgn="base" latinLnBrk="0" hangingPunct="1">
                        <a:lnSpc>
                          <a:spcPct val="105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3</a:t>
                      </a:r>
                    </a:p>
                    <a:p>
                      <a:pPr marL="342900" marR="0" lvl="0" indent="-342900" algn="ctr" defTabSz="914400" rtl="0" eaLnBrk="1" fontAlgn="base" latinLnBrk="0" hangingPunct="1">
                        <a:lnSpc>
                          <a:spcPct val="105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rgbClr val="FF0000"/>
                          </a:solidFill>
                          <a:effectLst/>
                          <a:latin typeface="Times New Roman" pitchFamily="18" charset="0"/>
                          <a:ea typeface="宋体" pitchFamily="2" charset="-122"/>
                        </a:rPr>
                        <a:t>p</a:t>
                      </a:r>
                      <a:r>
                        <a:rPr kumimoji="0" lang="en-US" altLang="zh-CN" sz="2400" b="1" i="0" u="none" strike="noStrike" cap="none" normalizeH="0" baseline="-25000" smtClean="0">
                          <a:ln>
                            <a:noFill/>
                          </a:ln>
                          <a:solidFill>
                            <a:srgbClr val="FF0000"/>
                          </a:solidFill>
                          <a:effectLst/>
                          <a:latin typeface="Times New Roman" pitchFamily="18" charset="0"/>
                          <a:ea typeface="宋体" pitchFamily="2" charset="-122"/>
                        </a:rPr>
                        <a:t>4</a:t>
                      </a:r>
                    </a:p>
                    <a:p>
                      <a:pPr marL="342900" marR="0" lvl="0" indent="-342900" algn="ctr" defTabSz="914400" rtl="0" eaLnBrk="1" fontAlgn="base" latinLnBrk="0" hangingPunct="1">
                        <a:lnSpc>
                          <a:spcPct val="105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5</a:t>
                      </a:r>
                    </a:p>
                    <a:p>
                      <a:pPr marL="342900" marR="0" lvl="0" indent="-342900" algn="ctr" defTabSz="914400" rtl="0" eaLnBrk="1" fontAlgn="base" latinLnBrk="0" hangingPunct="1">
                        <a:lnSpc>
                          <a:spcPct val="105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5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rgbClr val="FF0000"/>
                          </a:solidFill>
                          <a:effectLst/>
                          <a:latin typeface="Times New Roman" pitchFamily="18" charset="0"/>
                          <a:ea typeface="宋体" pitchFamily="2" charset="-122"/>
                        </a:rPr>
                        <a:t>p</a:t>
                      </a:r>
                      <a:r>
                        <a:rPr kumimoji="0" lang="en-US" altLang="zh-CN" sz="2400" b="1" i="0" u="none" strike="noStrike" cap="none" normalizeH="0" baseline="-25000" smtClean="0">
                          <a:ln>
                            <a:noFill/>
                          </a:ln>
                          <a:solidFill>
                            <a:srgbClr val="FF0000"/>
                          </a:solidFill>
                          <a:effectLst/>
                          <a:latin typeface="Times New Roman" pitchFamily="18" charset="0"/>
                          <a:ea typeface="宋体" pitchFamily="2" charset="-122"/>
                        </a:rPr>
                        <a:t>1</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2</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3</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a:t>
                      </a:r>
                      <a:r>
                        <a:rPr kumimoji="0" lang="en-US" altLang="zh-CN" sz="2400" b="1" i="0" u="none" strike="noStrike" cap="none" normalizeH="0" baseline="0" smtClean="0">
                          <a:ln>
                            <a:noFill/>
                          </a:ln>
                          <a:solidFill>
                            <a:srgbClr val="FF0000"/>
                          </a:solidFill>
                          <a:effectLst/>
                          <a:latin typeface="Times New Roman" pitchFamily="18" charset="0"/>
                          <a:ea typeface="宋体" pitchFamily="2" charset="-122"/>
                        </a:rPr>
                        <a:t>p</a:t>
                      </a:r>
                      <a:r>
                        <a:rPr kumimoji="0" lang="en-US" altLang="zh-CN" sz="2400" b="1" i="0" u="none" strike="noStrike" cap="none" normalizeH="0" baseline="-25000" smtClean="0">
                          <a:ln>
                            <a:noFill/>
                          </a:ln>
                          <a:solidFill>
                            <a:srgbClr val="FF0000"/>
                          </a:solidFill>
                          <a:effectLst/>
                          <a:latin typeface="Times New Roman" pitchFamily="18" charset="0"/>
                          <a:ea typeface="宋体" pitchFamily="2" charset="-122"/>
                        </a:rPr>
                        <a:t>4</a:t>
                      </a:r>
                      <a:r>
                        <a:rPr kumimoji="0" lang="en-US" altLang="zh-CN" sz="2400" b="1" i="0" u="none" strike="noStrike" cap="none" normalizeH="0" baseline="0" smtClean="0">
                          <a:ln>
                            <a:noFill/>
                          </a:ln>
                          <a:solidFill>
                            <a:srgbClr val="FF0000"/>
                          </a:solidFill>
                          <a:effectLst/>
                          <a:latin typeface="Times New Roman" pitchFamily="18" charset="0"/>
                          <a:ea typeface="宋体" pitchFamily="2" charset="-122"/>
                        </a:rPr>
                        <a:t> </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5</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6</a:t>
                      </a:r>
                    </a:p>
                    <a:p>
                      <a:pPr marL="342900" marR="0" lvl="0" indent="-342900" algn="ctr" defTabSz="914400" rtl="0" eaLnBrk="1" fontAlgn="base" latinLnBrk="0" hangingPunct="1">
                        <a:lnSpc>
                          <a:spcPct val="105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2</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1</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5</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6</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3</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4</a:t>
                      </a:r>
                    </a:p>
                    <a:p>
                      <a:pPr marL="342900" marR="0" lvl="0" indent="-342900" algn="ctr" defTabSz="914400" rtl="0" eaLnBrk="1" fontAlgn="base" latinLnBrk="0" hangingPunct="1">
                        <a:lnSpc>
                          <a:spcPct val="105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3</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6</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1</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5</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4</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2</a:t>
                      </a:r>
                    </a:p>
                    <a:p>
                      <a:pPr marL="342900" marR="0" lvl="0" indent="-342900" algn="ctr" defTabSz="914400" rtl="0" eaLnBrk="1" fontAlgn="base" latinLnBrk="0" hangingPunct="1">
                        <a:lnSpc>
                          <a:spcPct val="105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rgbClr val="FF0000"/>
                          </a:solidFill>
                          <a:effectLst/>
                          <a:latin typeface="Times New Roman" pitchFamily="18" charset="0"/>
                          <a:ea typeface="宋体" pitchFamily="2" charset="-122"/>
                        </a:rPr>
                        <a:t>p</a:t>
                      </a:r>
                      <a:r>
                        <a:rPr kumimoji="0" lang="en-US" altLang="zh-CN" sz="2400" b="1" i="0" u="none" strike="noStrike" cap="none" normalizeH="0" baseline="-25000" smtClean="0">
                          <a:ln>
                            <a:noFill/>
                          </a:ln>
                          <a:solidFill>
                            <a:srgbClr val="FF0000"/>
                          </a:solidFill>
                          <a:effectLst/>
                          <a:latin typeface="Times New Roman" pitchFamily="18" charset="0"/>
                          <a:ea typeface="宋体" pitchFamily="2" charset="-122"/>
                        </a:rPr>
                        <a:t>4</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5</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6</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a:t>
                      </a:r>
                      <a:r>
                        <a:rPr kumimoji="0" lang="en-US" altLang="zh-CN" sz="2400" b="1" i="0" u="none" strike="noStrike" cap="none" normalizeH="0" baseline="0" smtClean="0">
                          <a:ln>
                            <a:noFill/>
                          </a:ln>
                          <a:solidFill>
                            <a:srgbClr val="FF0000"/>
                          </a:solidFill>
                          <a:effectLst/>
                          <a:latin typeface="Times New Roman" pitchFamily="18" charset="0"/>
                          <a:ea typeface="宋体" pitchFamily="2" charset="-122"/>
                        </a:rPr>
                        <a:t>p</a:t>
                      </a:r>
                      <a:r>
                        <a:rPr kumimoji="0" lang="en-US" altLang="zh-CN" sz="2400" b="1" i="0" u="none" strike="noStrike" cap="none" normalizeH="0" baseline="-25000" smtClean="0">
                          <a:ln>
                            <a:noFill/>
                          </a:ln>
                          <a:solidFill>
                            <a:srgbClr val="FF0000"/>
                          </a:solidFill>
                          <a:effectLst/>
                          <a:latin typeface="Times New Roman" pitchFamily="18" charset="0"/>
                          <a:ea typeface="宋体" pitchFamily="2" charset="-122"/>
                        </a:rPr>
                        <a:t>1</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2</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3</a:t>
                      </a:r>
                    </a:p>
                    <a:p>
                      <a:pPr marL="342900" marR="0" lvl="0" indent="-342900" algn="ctr" defTabSz="914400" rtl="0" eaLnBrk="1" fontAlgn="base" latinLnBrk="0" hangingPunct="1">
                        <a:lnSpc>
                          <a:spcPct val="105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5</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4</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2</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3</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6</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1</a:t>
                      </a:r>
                    </a:p>
                    <a:p>
                      <a:pPr marL="342900" marR="0" lvl="0" indent="-342900" algn="ctr" defTabSz="914400" rtl="0" eaLnBrk="1" fontAlgn="base" latinLnBrk="0" hangingPunct="1">
                        <a:lnSpc>
                          <a:spcPct val="105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6</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3</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4</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2</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1</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p</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66957" name="Text Box 13"/>
          <p:cNvSpPr txBox="1">
            <a:spLocks noChangeArrowheads="1"/>
          </p:cNvSpPr>
          <p:nvPr/>
        </p:nvSpPr>
        <p:spPr bwMode="auto">
          <a:xfrm>
            <a:off x="4932363" y="1438275"/>
            <a:ext cx="2952750"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kumimoji="0" lang="zh-CN" altLang="en-US" b="1"/>
              <a:t>设</a:t>
            </a:r>
            <a:r>
              <a:rPr kumimoji="0" lang="en-US" altLang="zh-CN" b="1"/>
              <a:t>H</a:t>
            </a:r>
            <a:r>
              <a:rPr lang="en-US" altLang="zh-CN" b="1"/>
              <a:t>={p</a:t>
            </a:r>
            <a:r>
              <a:rPr lang="en-US" altLang="zh-CN" b="1" baseline="-25000"/>
              <a:t>1</a:t>
            </a:r>
            <a:r>
              <a:rPr lang="en-US" altLang="zh-CN" b="1"/>
              <a:t>, p</a:t>
            </a:r>
            <a:r>
              <a:rPr lang="en-US" altLang="zh-CN" b="1" baseline="-25000"/>
              <a:t>4</a:t>
            </a:r>
            <a:r>
              <a:rPr lang="en-US" altLang="zh-CN" b="1"/>
              <a:t>}</a:t>
            </a:r>
            <a:r>
              <a:rPr lang="zh-CN" altLang="en-US" b="1"/>
              <a:t>，则说明</a:t>
            </a:r>
            <a:r>
              <a:rPr lang="en-US" altLang="zh-CN" b="1"/>
              <a:t>&lt;H, *&gt;</a:t>
            </a:r>
            <a:r>
              <a:rPr lang="zh-CN" altLang="en-US" b="1"/>
              <a:t>是</a:t>
            </a:r>
            <a:r>
              <a:rPr lang="en-US" altLang="zh-CN" b="1"/>
              <a:t>&lt;S, *&gt;</a:t>
            </a:r>
            <a:r>
              <a:rPr lang="zh-CN" altLang="en-US" b="1"/>
              <a:t>的子群，求</a:t>
            </a:r>
            <a:r>
              <a:rPr lang="en-US" altLang="zh-CN" b="1"/>
              <a:t>&lt;S, *&gt;</a:t>
            </a:r>
            <a:r>
              <a:rPr lang="zh-CN" altLang="en-US" b="1"/>
              <a:t>中</a:t>
            </a:r>
            <a:r>
              <a:rPr lang="en-US" altLang="zh-CN" b="1"/>
              <a:t>H</a:t>
            </a:r>
            <a:r>
              <a:rPr lang="zh-CN" altLang="en-US" b="1"/>
              <a:t>的左陪集。</a:t>
            </a:r>
          </a:p>
        </p:txBody>
      </p:sp>
      <p:sp>
        <p:nvSpPr>
          <p:cNvPr id="466958" name="Text Box 14"/>
          <p:cNvSpPr txBox="1">
            <a:spLocks noChangeArrowheads="1"/>
          </p:cNvSpPr>
          <p:nvPr/>
        </p:nvSpPr>
        <p:spPr bwMode="auto">
          <a:xfrm>
            <a:off x="466725" y="981075"/>
            <a:ext cx="8277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zh-CN" altLang="en-US" b="1">
                <a:solidFill>
                  <a:schemeClr val="hlink"/>
                </a:solidFill>
              </a:rPr>
              <a:t>例</a:t>
            </a:r>
            <a:r>
              <a:rPr lang="en-US" altLang="zh-CN" b="1">
                <a:solidFill>
                  <a:schemeClr val="hlink"/>
                </a:solidFill>
              </a:rPr>
              <a:t>1</a:t>
            </a:r>
            <a:r>
              <a:rPr lang="zh-CN" altLang="en-US" b="1">
                <a:solidFill>
                  <a:schemeClr val="hlink"/>
                </a:solidFill>
              </a:rPr>
              <a:t>：</a:t>
            </a:r>
            <a:r>
              <a:rPr lang="en-US" altLang="zh-CN" b="1"/>
              <a:t>S={p</a:t>
            </a:r>
            <a:r>
              <a:rPr lang="en-US" altLang="zh-CN" b="1" baseline="-25000"/>
              <a:t>1</a:t>
            </a:r>
            <a:r>
              <a:rPr lang="en-US" altLang="zh-CN" b="1"/>
              <a:t>, p</a:t>
            </a:r>
            <a:r>
              <a:rPr lang="en-US" altLang="zh-CN" b="1" baseline="-25000"/>
              <a:t>2</a:t>
            </a:r>
            <a:r>
              <a:rPr lang="en-US" altLang="zh-CN" b="1"/>
              <a:t>, p</a:t>
            </a:r>
            <a:r>
              <a:rPr lang="en-US" altLang="zh-CN" b="1" baseline="-25000"/>
              <a:t>3</a:t>
            </a:r>
            <a:r>
              <a:rPr lang="en-US" altLang="zh-CN" b="1"/>
              <a:t>, p</a:t>
            </a:r>
            <a:r>
              <a:rPr lang="en-US" altLang="zh-CN" b="1" baseline="-25000"/>
              <a:t>4</a:t>
            </a:r>
            <a:r>
              <a:rPr lang="en-US" altLang="zh-CN" b="1"/>
              <a:t>, p</a:t>
            </a:r>
            <a:r>
              <a:rPr lang="en-US" altLang="zh-CN" b="1" baseline="-25000"/>
              <a:t>5</a:t>
            </a:r>
            <a:r>
              <a:rPr lang="en-US" altLang="zh-CN" b="1"/>
              <a:t>, p</a:t>
            </a:r>
            <a:r>
              <a:rPr lang="en-US" altLang="zh-CN" b="1" baseline="-25000"/>
              <a:t>6</a:t>
            </a:r>
            <a:r>
              <a:rPr lang="en-US" altLang="zh-CN" b="1"/>
              <a:t>}</a:t>
            </a:r>
            <a:r>
              <a:rPr lang="zh-CN" altLang="en-US" b="1"/>
              <a:t>，</a:t>
            </a:r>
            <a:r>
              <a:rPr lang="en-US" altLang="zh-CN" b="1"/>
              <a:t>&lt;S,*&gt;</a:t>
            </a:r>
            <a:r>
              <a:rPr lang="zh-CN" altLang="en-US" b="1"/>
              <a:t>为群，其运算表如下：</a:t>
            </a:r>
          </a:p>
        </p:txBody>
      </p:sp>
      <p:sp>
        <p:nvSpPr>
          <p:cNvPr id="466959" name="Rectangle 15"/>
          <p:cNvSpPr>
            <a:spLocks noChangeArrowheads="1"/>
          </p:cNvSpPr>
          <p:nvPr/>
        </p:nvSpPr>
        <p:spPr bwMode="auto">
          <a:xfrm>
            <a:off x="539750" y="4314825"/>
            <a:ext cx="5472113"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r>
              <a:rPr lang="en-US" altLang="zh-CN" b="1"/>
              <a:t>p</a:t>
            </a:r>
            <a:r>
              <a:rPr lang="en-US" altLang="zh-CN" b="1" baseline="-25000"/>
              <a:t>1</a:t>
            </a:r>
            <a:r>
              <a:rPr lang="en-US" altLang="zh-CN" b="1"/>
              <a:t>H=p</a:t>
            </a:r>
            <a:r>
              <a:rPr lang="en-US" altLang="zh-CN" b="1" baseline="-25000"/>
              <a:t>1</a:t>
            </a:r>
            <a:r>
              <a:rPr lang="en-US" altLang="zh-CN" b="1"/>
              <a:t>*{p</a:t>
            </a:r>
            <a:r>
              <a:rPr lang="en-US" altLang="zh-CN" b="1" baseline="-25000"/>
              <a:t>1</a:t>
            </a:r>
            <a:r>
              <a:rPr lang="en-US" altLang="zh-CN" b="1"/>
              <a:t>, p</a:t>
            </a:r>
            <a:r>
              <a:rPr lang="en-US" altLang="zh-CN" b="1" baseline="-25000"/>
              <a:t>4</a:t>
            </a:r>
            <a:r>
              <a:rPr lang="en-US" altLang="zh-CN" b="1"/>
              <a:t>}={p</a:t>
            </a:r>
            <a:r>
              <a:rPr lang="en-US" altLang="zh-CN" b="1" baseline="-25000"/>
              <a:t>1</a:t>
            </a:r>
            <a:r>
              <a:rPr lang="en-US" altLang="zh-CN" b="1"/>
              <a:t>*p</a:t>
            </a:r>
            <a:r>
              <a:rPr lang="en-US" altLang="zh-CN" b="1" baseline="-25000"/>
              <a:t>1</a:t>
            </a:r>
            <a:r>
              <a:rPr lang="en-US" altLang="zh-CN" b="1"/>
              <a:t>, p</a:t>
            </a:r>
            <a:r>
              <a:rPr lang="en-US" altLang="zh-CN" b="1" baseline="-25000"/>
              <a:t>1</a:t>
            </a:r>
            <a:r>
              <a:rPr lang="en-US" altLang="zh-CN" b="1"/>
              <a:t>*p</a:t>
            </a:r>
            <a:r>
              <a:rPr lang="en-US" altLang="zh-CN" b="1" baseline="-25000"/>
              <a:t>4</a:t>
            </a:r>
            <a:r>
              <a:rPr lang="en-US" altLang="zh-CN" b="1"/>
              <a:t>}={p</a:t>
            </a:r>
            <a:r>
              <a:rPr lang="en-US" altLang="zh-CN" b="1" baseline="-25000"/>
              <a:t>1</a:t>
            </a:r>
            <a:r>
              <a:rPr lang="en-US" altLang="zh-CN" b="1"/>
              <a:t>, p</a:t>
            </a:r>
            <a:r>
              <a:rPr lang="en-US" altLang="zh-CN" b="1" baseline="-25000"/>
              <a:t>4</a:t>
            </a:r>
            <a:r>
              <a:rPr lang="en-US" altLang="zh-CN" b="1"/>
              <a:t>}</a:t>
            </a:r>
          </a:p>
          <a:p>
            <a:pPr algn="l" eaLnBrk="0" hangingPunct="0"/>
            <a:r>
              <a:rPr lang="en-US" altLang="zh-CN" b="1"/>
              <a:t>p</a:t>
            </a:r>
            <a:r>
              <a:rPr lang="en-US" altLang="zh-CN" b="1" baseline="-25000"/>
              <a:t>2</a:t>
            </a:r>
            <a:r>
              <a:rPr lang="en-US" altLang="zh-CN" b="1"/>
              <a:t>H=p</a:t>
            </a:r>
            <a:r>
              <a:rPr lang="en-US" altLang="zh-CN" b="1" baseline="-25000"/>
              <a:t>2</a:t>
            </a:r>
            <a:r>
              <a:rPr lang="en-US" altLang="zh-CN" b="1"/>
              <a:t>*{p</a:t>
            </a:r>
            <a:r>
              <a:rPr lang="en-US" altLang="zh-CN" b="1" baseline="-25000"/>
              <a:t>1</a:t>
            </a:r>
            <a:r>
              <a:rPr lang="en-US" altLang="zh-CN" b="1"/>
              <a:t>, p</a:t>
            </a:r>
            <a:r>
              <a:rPr lang="en-US" altLang="zh-CN" b="1" baseline="-25000"/>
              <a:t>4</a:t>
            </a:r>
            <a:r>
              <a:rPr lang="en-US" altLang="zh-CN" b="1"/>
              <a:t>}={p</a:t>
            </a:r>
            <a:r>
              <a:rPr lang="en-US" altLang="zh-CN" b="1" baseline="-25000"/>
              <a:t>2</a:t>
            </a:r>
            <a:r>
              <a:rPr lang="en-US" altLang="zh-CN" b="1"/>
              <a:t>*p</a:t>
            </a:r>
            <a:r>
              <a:rPr lang="en-US" altLang="zh-CN" b="1" baseline="-25000"/>
              <a:t>1</a:t>
            </a:r>
            <a:r>
              <a:rPr lang="en-US" altLang="zh-CN" b="1"/>
              <a:t>, p</a:t>
            </a:r>
            <a:r>
              <a:rPr lang="en-US" altLang="zh-CN" b="1" baseline="-25000"/>
              <a:t>2</a:t>
            </a:r>
            <a:r>
              <a:rPr lang="en-US" altLang="zh-CN" b="1"/>
              <a:t>*p</a:t>
            </a:r>
            <a:r>
              <a:rPr lang="en-US" altLang="zh-CN" b="1" baseline="-25000"/>
              <a:t>4</a:t>
            </a:r>
            <a:r>
              <a:rPr lang="en-US" altLang="zh-CN" b="1"/>
              <a:t>}={p</a:t>
            </a:r>
            <a:r>
              <a:rPr lang="en-US" altLang="zh-CN" b="1" baseline="-25000"/>
              <a:t>2</a:t>
            </a:r>
            <a:r>
              <a:rPr lang="en-US" altLang="zh-CN" b="1"/>
              <a:t>, p</a:t>
            </a:r>
            <a:r>
              <a:rPr lang="en-US" altLang="zh-CN" b="1" baseline="-25000"/>
              <a:t>6</a:t>
            </a:r>
            <a:r>
              <a:rPr lang="en-US" altLang="zh-CN" b="1"/>
              <a:t>}</a:t>
            </a:r>
          </a:p>
          <a:p>
            <a:pPr algn="l" eaLnBrk="0" hangingPunct="0"/>
            <a:r>
              <a:rPr lang="en-US" altLang="zh-CN" b="1"/>
              <a:t>p</a:t>
            </a:r>
            <a:r>
              <a:rPr lang="en-US" altLang="zh-CN" b="1" baseline="-25000"/>
              <a:t>3</a:t>
            </a:r>
            <a:r>
              <a:rPr lang="en-US" altLang="zh-CN" b="1"/>
              <a:t>H=p</a:t>
            </a:r>
            <a:r>
              <a:rPr lang="en-US" altLang="zh-CN" b="1" baseline="-25000"/>
              <a:t>3</a:t>
            </a:r>
            <a:r>
              <a:rPr lang="en-US" altLang="zh-CN" b="1"/>
              <a:t>*{p</a:t>
            </a:r>
            <a:r>
              <a:rPr lang="en-US" altLang="zh-CN" b="1" baseline="-25000"/>
              <a:t>1</a:t>
            </a:r>
            <a:r>
              <a:rPr lang="en-US" altLang="zh-CN" b="1"/>
              <a:t>, p</a:t>
            </a:r>
            <a:r>
              <a:rPr lang="en-US" altLang="zh-CN" b="1" baseline="-25000"/>
              <a:t>4</a:t>
            </a:r>
            <a:r>
              <a:rPr lang="en-US" altLang="zh-CN" b="1"/>
              <a:t>}={p</a:t>
            </a:r>
            <a:r>
              <a:rPr lang="en-US" altLang="zh-CN" b="1" baseline="-25000"/>
              <a:t>3</a:t>
            </a:r>
            <a:r>
              <a:rPr lang="en-US" altLang="zh-CN" b="1"/>
              <a:t>*p</a:t>
            </a:r>
            <a:r>
              <a:rPr lang="en-US" altLang="zh-CN" b="1" baseline="-25000"/>
              <a:t>1</a:t>
            </a:r>
            <a:r>
              <a:rPr lang="en-US" altLang="zh-CN" b="1"/>
              <a:t>, p</a:t>
            </a:r>
            <a:r>
              <a:rPr lang="en-US" altLang="zh-CN" b="1" baseline="-25000"/>
              <a:t>3</a:t>
            </a:r>
            <a:r>
              <a:rPr lang="en-US" altLang="zh-CN" b="1"/>
              <a:t>*p</a:t>
            </a:r>
            <a:r>
              <a:rPr lang="en-US" altLang="zh-CN" b="1" baseline="-25000"/>
              <a:t>4</a:t>
            </a:r>
            <a:r>
              <a:rPr lang="en-US" altLang="zh-CN" b="1"/>
              <a:t>}={p</a:t>
            </a:r>
            <a:r>
              <a:rPr lang="en-US" altLang="zh-CN" b="1" baseline="-25000"/>
              <a:t>3</a:t>
            </a:r>
            <a:r>
              <a:rPr lang="en-US" altLang="zh-CN" b="1"/>
              <a:t>, p</a:t>
            </a:r>
            <a:r>
              <a:rPr lang="en-US" altLang="zh-CN" b="1" baseline="-25000"/>
              <a:t>5</a:t>
            </a:r>
            <a:r>
              <a:rPr lang="en-US" altLang="zh-CN" b="1"/>
              <a:t>}</a:t>
            </a:r>
          </a:p>
          <a:p>
            <a:pPr algn="l" eaLnBrk="0" hangingPunct="0"/>
            <a:r>
              <a:rPr lang="en-US" altLang="zh-CN" b="1"/>
              <a:t>p</a:t>
            </a:r>
            <a:r>
              <a:rPr lang="en-US" altLang="zh-CN" b="1" baseline="-25000"/>
              <a:t>4</a:t>
            </a:r>
            <a:r>
              <a:rPr lang="en-US" altLang="zh-CN" b="1"/>
              <a:t>H=p</a:t>
            </a:r>
            <a:r>
              <a:rPr lang="en-US" altLang="zh-CN" b="1" baseline="-25000"/>
              <a:t>4</a:t>
            </a:r>
            <a:r>
              <a:rPr lang="en-US" altLang="zh-CN" b="1"/>
              <a:t>*{p</a:t>
            </a:r>
            <a:r>
              <a:rPr lang="en-US" altLang="zh-CN" b="1" baseline="-25000"/>
              <a:t>1</a:t>
            </a:r>
            <a:r>
              <a:rPr lang="en-US" altLang="zh-CN" b="1"/>
              <a:t>, p</a:t>
            </a:r>
            <a:r>
              <a:rPr lang="en-US" altLang="zh-CN" b="1" baseline="-25000"/>
              <a:t>4</a:t>
            </a:r>
            <a:r>
              <a:rPr lang="en-US" altLang="zh-CN" b="1"/>
              <a:t>}={p</a:t>
            </a:r>
            <a:r>
              <a:rPr lang="en-US" altLang="zh-CN" b="1" baseline="-25000"/>
              <a:t>4</a:t>
            </a:r>
            <a:r>
              <a:rPr lang="en-US" altLang="zh-CN" b="1"/>
              <a:t>*p</a:t>
            </a:r>
            <a:r>
              <a:rPr lang="en-US" altLang="zh-CN" b="1" baseline="-25000"/>
              <a:t>1</a:t>
            </a:r>
            <a:r>
              <a:rPr lang="en-US" altLang="zh-CN" b="1"/>
              <a:t>, p</a:t>
            </a:r>
            <a:r>
              <a:rPr lang="en-US" altLang="zh-CN" b="1" baseline="-25000"/>
              <a:t>4</a:t>
            </a:r>
            <a:r>
              <a:rPr lang="en-US" altLang="zh-CN" b="1"/>
              <a:t>*p</a:t>
            </a:r>
            <a:r>
              <a:rPr lang="en-US" altLang="zh-CN" b="1" baseline="-25000"/>
              <a:t>4</a:t>
            </a:r>
            <a:r>
              <a:rPr lang="en-US" altLang="zh-CN" b="1"/>
              <a:t>}={p</a:t>
            </a:r>
            <a:r>
              <a:rPr lang="en-US" altLang="zh-CN" b="1" baseline="-25000"/>
              <a:t>4</a:t>
            </a:r>
            <a:r>
              <a:rPr lang="en-US" altLang="zh-CN" b="1"/>
              <a:t>, p</a:t>
            </a:r>
            <a:r>
              <a:rPr lang="en-US" altLang="zh-CN" b="1" baseline="-25000"/>
              <a:t>1</a:t>
            </a:r>
            <a:r>
              <a:rPr lang="en-US" altLang="zh-CN" b="1"/>
              <a:t>}</a:t>
            </a:r>
          </a:p>
          <a:p>
            <a:pPr algn="l" eaLnBrk="0" hangingPunct="0"/>
            <a:r>
              <a:rPr lang="en-US" altLang="zh-CN" b="1"/>
              <a:t>p</a:t>
            </a:r>
            <a:r>
              <a:rPr lang="en-US" altLang="zh-CN" b="1" baseline="-25000"/>
              <a:t>5</a:t>
            </a:r>
            <a:r>
              <a:rPr lang="en-US" altLang="zh-CN" b="1"/>
              <a:t>H=p</a:t>
            </a:r>
            <a:r>
              <a:rPr lang="en-US" altLang="zh-CN" b="1" baseline="-25000"/>
              <a:t>5</a:t>
            </a:r>
            <a:r>
              <a:rPr lang="en-US" altLang="zh-CN" b="1"/>
              <a:t>*{p</a:t>
            </a:r>
            <a:r>
              <a:rPr lang="en-US" altLang="zh-CN" b="1" baseline="-25000"/>
              <a:t>1</a:t>
            </a:r>
            <a:r>
              <a:rPr lang="en-US" altLang="zh-CN" b="1"/>
              <a:t>, p</a:t>
            </a:r>
            <a:r>
              <a:rPr lang="en-US" altLang="zh-CN" b="1" baseline="-25000"/>
              <a:t>4</a:t>
            </a:r>
            <a:r>
              <a:rPr lang="en-US" altLang="zh-CN" b="1"/>
              <a:t>}={p</a:t>
            </a:r>
            <a:r>
              <a:rPr lang="en-US" altLang="zh-CN" b="1" baseline="-25000"/>
              <a:t>5</a:t>
            </a:r>
            <a:r>
              <a:rPr lang="en-US" altLang="zh-CN" b="1"/>
              <a:t>*p</a:t>
            </a:r>
            <a:r>
              <a:rPr lang="en-US" altLang="zh-CN" b="1" baseline="-25000"/>
              <a:t>1</a:t>
            </a:r>
            <a:r>
              <a:rPr lang="en-US" altLang="zh-CN" b="1"/>
              <a:t>, p</a:t>
            </a:r>
            <a:r>
              <a:rPr lang="en-US" altLang="zh-CN" b="1" baseline="-25000"/>
              <a:t>5</a:t>
            </a:r>
            <a:r>
              <a:rPr lang="en-US" altLang="zh-CN" b="1"/>
              <a:t>*p</a:t>
            </a:r>
            <a:r>
              <a:rPr lang="en-US" altLang="zh-CN" b="1" baseline="-25000"/>
              <a:t>4</a:t>
            </a:r>
            <a:r>
              <a:rPr lang="en-US" altLang="zh-CN" b="1"/>
              <a:t>}={p</a:t>
            </a:r>
            <a:r>
              <a:rPr lang="en-US" altLang="zh-CN" b="1" baseline="-25000"/>
              <a:t>5</a:t>
            </a:r>
            <a:r>
              <a:rPr lang="en-US" altLang="zh-CN" b="1"/>
              <a:t>, p</a:t>
            </a:r>
            <a:r>
              <a:rPr lang="en-US" altLang="zh-CN" b="1" baseline="-25000"/>
              <a:t>3</a:t>
            </a:r>
            <a:r>
              <a:rPr lang="en-US" altLang="zh-CN" b="1"/>
              <a:t>}</a:t>
            </a:r>
          </a:p>
          <a:p>
            <a:pPr algn="l" eaLnBrk="0" hangingPunct="0"/>
            <a:r>
              <a:rPr lang="en-US" altLang="zh-CN" b="1"/>
              <a:t>p</a:t>
            </a:r>
            <a:r>
              <a:rPr lang="en-US" altLang="zh-CN" b="1" baseline="-25000"/>
              <a:t>6</a:t>
            </a:r>
            <a:r>
              <a:rPr lang="en-US" altLang="zh-CN" b="1"/>
              <a:t>H=p</a:t>
            </a:r>
            <a:r>
              <a:rPr lang="en-US" altLang="zh-CN" b="1" baseline="-25000"/>
              <a:t>6</a:t>
            </a:r>
            <a:r>
              <a:rPr lang="en-US" altLang="zh-CN" b="1"/>
              <a:t>*{p</a:t>
            </a:r>
            <a:r>
              <a:rPr lang="en-US" altLang="zh-CN" b="1" baseline="-25000"/>
              <a:t>1</a:t>
            </a:r>
            <a:r>
              <a:rPr lang="en-US" altLang="zh-CN" b="1"/>
              <a:t>, p</a:t>
            </a:r>
            <a:r>
              <a:rPr lang="en-US" altLang="zh-CN" b="1" baseline="-25000"/>
              <a:t>4</a:t>
            </a:r>
            <a:r>
              <a:rPr lang="en-US" altLang="zh-CN" b="1"/>
              <a:t>}={p</a:t>
            </a:r>
            <a:r>
              <a:rPr lang="en-US" altLang="zh-CN" b="1" baseline="-25000"/>
              <a:t>6</a:t>
            </a:r>
            <a:r>
              <a:rPr lang="en-US" altLang="zh-CN" b="1"/>
              <a:t>*p</a:t>
            </a:r>
            <a:r>
              <a:rPr lang="en-US" altLang="zh-CN" b="1" baseline="-25000"/>
              <a:t>6</a:t>
            </a:r>
            <a:r>
              <a:rPr lang="en-US" altLang="zh-CN" b="1"/>
              <a:t>, p</a:t>
            </a:r>
            <a:r>
              <a:rPr lang="en-US" altLang="zh-CN" b="1" baseline="-25000"/>
              <a:t>1</a:t>
            </a:r>
            <a:r>
              <a:rPr lang="en-US" altLang="zh-CN" b="1"/>
              <a:t>*p</a:t>
            </a:r>
            <a:r>
              <a:rPr lang="en-US" altLang="zh-CN" b="1" baseline="-25000"/>
              <a:t>4</a:t>
            </a:r>
            <a:r>
              <a:rPr lang="en-US" altLang="zh-CN" b="1"/>
              <a:t>}={p</a:t>
            </a:r>
            <a:r>
              <a:rPr lang="en-US" altLang="zh-CN" b="1" baseline="-25000"/>
              <a:t>6</a:t>
            </a:r>
            <a:r>
              <a:rPr lang="en-US" altLang="zh-CN" b="1"/>
              <a:t>, p</a:t>
            </a:r>
            <a:r>
              <a:rPr lang="en-US" altLang="zh-CN" b="1" baseline="-25000"/>
              <a:t>2</a:t>
            </a:r>
            <a:r>
              <a:rPr lang="en-US" altLang="zh-CN" b="1"/>
              <a:t>}</a:t>
            </a:r>
          </a:p>
        </p:txBody>
      </p:sp>
      <p:sp>
        <p:nvSpPr>
          <p:cNvPr id="466960" name="Rectangle 16"/>
          <p:cNvSpPr>
            <a:spLocks noChangeArrowheads="1"/>
          </p:cNvSpPr>
          <p:nvPr/>
        </p:nvSpPr>
        <p:spPr bwMode="auto">
          <a:xfrm>
            <a:off x="6011863" y="4343400"/>
            <a:ext cx="25908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r>
              <a:rPr lang="en-US" altLang="zh-CN" b="1">
                <a:solidFill>
                  <a:srgbClr val="990099"/>
                </a:solidFill>
              </a:rPr>
              <a:t>{</a:t>
            </a:r>
            <a:r>
              <a:rPr lang="en-US" altLang="zh-CN" b="1"/>
              <a:t>{P</a:t>
            </a:r>
            <a:r>
              <a:rPr lang="en-US" altLang="zh-CN" b="1" baseline="-25000"/>
              <a:t>1</a:t>
            </a:r>
            <a:r>
              <a:rPr lang="en-US" altLang="zh-CN" b="1"/>
              <a:t>, P</a:t>
            </a:r>
            <a:r>
              <a:rPr lang="en-US" altLang="zh-CN" b="1" baseline="-25000"/>
              <a:t>4</a:t>
            </a:r>
            <a:r>
              <a:rPr lang="en-US" altLang="zh-CN" b="1"/>
              <a:t>}, {P</a:t>
            </a:r>
            <a:r>
              <a:rPr lang="en-US" altLang="zh-CN" b="1" baseline="-25000"/>
              <a:t>2</a:t>
            </a:r>
            <a:r>
              <a:rPr lang="en-US" altLang="zh-CN" b="1"/>
              <a:t>, P</a:t>
            </a:r>
            <a:r>
              <a:rPr lang="en-US" altLang="zh-CN" b="1" baseline="-25000"/>
              <a:t>6</a:t>
            </a:r>
            <a:r>
              <a:rPr lang="en-US" altLang="zh-CN" b="1"/>
              <a:t>}, {P</a:t>
            </a:r>
            <a:r>
              <a:rPr lang="en-US" altLang="zh-CN" b="1" baseline="-25000"/>
              <a:t>3</a:t>
            </a:r>
            <a:r>
              <a:rPr lang="en-US" altLang="zh-CN" b="1"/>
              <a:t>, P</a:t>
            </a:r>
            <a:r>
              <a:rPr lang="en-US" altLang="zh-CN" b="1" baseline="-25000"/>
              <a:t>5</a:t>
            </a:r>
            <a:r>
              <a:rPr lang="en-US" altLang="zh-CN" b="1"/>
              <a:t>}</a:t>
            </a:r>
            <a:r>
              <a:rPr lang="en-US" altLang="zh-CN" b="1">
                <a:solidFill>
                  <a:srgbClr val="990099"/>
                </a:solidFill>
              </a:rPr>
              <a:t>}</a:t>
            </a:r>
            <a:r>
              <a:rPr lang="zh-CN" altLang="en-US" b="1"/>
              <a:t>构成</a:t>
            </a:r>
            <a:r>
              <a:rPr lang="en-US" altLang="zh-CN" b="1"/>
              <a:t>S</a:t>
            </a:r>
            <a:r>
              <a:rPr lang="zh-CN" altLang="en-US" b="1"/>
              <a:t>的一个划分。</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66959">
                                            <p:txEl>
                                              <p:pRg st="0" end="0"/>
                                            </p:txEl>
                                          </p:spTgt>
                                        </p:tgtEl>
                                        <p:attrNameLst>
                                          <p:attrName>style.visibility</p:attrName>
                                        </p:attrNameLst>
                                      </p:cBhvr>
                                      <p:to>
                                        <p:strVal val="visible"/>
                                      </p:to>
                                    </p:set>
                                    <p:anim calcmode="lin" valueType="num">
                                      <p:cBhvr additive="base">
                                        <p:cTn id="7" dur="500" fill="hold"/>
                                        <p:tgtEl>
                                          <p:spTgt spid="4669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69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66959">
                                            <p:txEl>
                                              <p:pRg st="1" end="1"/>
                                            </p:txEl>
                                          </p:spTgt>
                                        </p:tgtEl>
                                        <p:attrNameLst>
                                          <p:attrName>style.visibility</p:attrName>
                                        </p:attrNameLst>
                                      </p:cBhvr>
                                      <p:to>
                                        <p:strVal val="visible"/>
                                      </p:to>
                                    </p:set>
                                    <p:anim calcmode="lin" valueType="num">
                                      <p:cBhvr additive="base">
                                        <p:cTn id="13" dur="500" fill="hold"/>
                                        <p:tgtEl>
                                          <p:spTgt spid="4669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669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66959">
                                            <p:txEl>
                                              <p:pRg st="2" end="2"/>
                                            </p:txEl>
                                          </p:spTgt>
                                        </p:tgtEl>
                                        <p:attrNameLst>
                                          <p:attrName>style.visibility</p:attrName>
                                        </p:attrNameLst>
                                      </p:cBhvr>
                                      <p:to>
                                        <p:strVal val="visible"/>
                                      </p:to>
                                    </p:set>
                                    <p:anim calcmode="lin" valueType="num">
                                      <p:cBhvr additive="base">
                                        <p:cTn id="19" dur="500" fill="hold"/>
                                        <p:tgtEl>
                                          <p:spTgt spid="46695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669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466959">
                                            <p:txEl>
                                              <p:pRg st="3" end="3"/>
                                            </p:txEl>
                                          </p:spTgt>
                                        </p:tgtEl>
                                        <p:attrNameLst>
                                          <p:attrName>style.visibility</p:attrName>
                                        </p:attrNameLst>
                                      </p:cBhvr>
                                      <p:to>
                                        <p:strVal val="visible"/>
                                      </p:to>
                                    </p:set>
                                    <p:anim calcmode="lin" valueType="num">
                                      <p:cBhvr additive="base">
                                        <p:cTn id="25" dur="500" fill="hold"/>
                                        <p:tgtEl>
                                          <p:spTgt spid="46695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6695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466959">
                                            <p:txEl>
                                              <p:pRg st="4" end="4"/>
                                            </p:txEl>
                                          </p:spTgt>
                                        </p:tgtEl>
                                        <p:attrNameLst>
                                          <p:attrName>style.visibility</p:attrName>
                                        </p:attrNameLst>
                                      </p:cBhvr>
                                      <p:to>
                                        <p:strVal val="visible"/>
                                      </p:to>
                                    </p:set>
                                    <p:anim calcmode="lin" valueType="num">
                                      <p:cBhvr additive="base">
                                        <p:cTn id="31" dur="500" fill="hold"/>
                                        <p:tgtEl>
                                          <p:spTgt spid="46695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6695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466959">
                                            <p:txEl>
                                              <p:pRg st="5" end="5"/>
                                            </p:txEl>
                                          </p:spTgt>
                                        </p:tgtEl>
                                        <p:attrNameLst>
                                          <p:attrName>style.visibility</p:attrName>
                                        </p:attrNameLst>
                                      </p:cBhvr>
                                      <p:to>
                                        <p:strVal val="visible"/>
                                      </p:to>
                                    </p:set>
                                    <p:anim calcmode="lin" valueType="num">
                                      <p:cBhvr additive="base">
                                        <p:cTn id="37" dur="500" fill="hold"/>
                                        <p:tgtEl>
                                          <p:spTgt spid="46695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6695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66960"/>
                                        </p:tgtEl>
                                        <p:attrNameLst>
                                          <p:attrName>style.visibility</p:attrName>
                                        </p:attrNameLst>
                                      </p:cBhvr>
                                      <p:to>
                                        <p:strVal val="visible"/>
                                      </p:to>
                                    </p:set>
                                    <p:anim calcmode="lin" valueType="num">
                                      <p:cBhvr additive="base">
                                        <p:cTn id="43" dur="500" fill="hold"/>
                                        <p:tgtEl>
                                          <p:spTgt spid="466960"/>
                                        </p:tgtEl>
                                        <p:attrNameLst>
                                          <p:attrName>ppt_x</p:attrName>
                                        </p:attrNameLst>
                                      </p:cBhvr>
                                      <p:tavLst>
                                        <p:tav tm="0">
                                          <p:val>
                                            <p:strVal val="#ppt_x"/>
                                          </p:val>
                                        </p:tav>
                                        <p:tav tm="100000">
                                          <p:val>
                                            <p:strVal val="#ppt_x"/>
                                          </p:val>
                                        </p:tav>
                                      </p:tavLst>
                                    </p:anim>
                                    <p:anim calcmode="lin" valueType="num">
                                      <p:cBhvr additive="base">
                                        <p:cTn id="44" dur="500" fill="hold"/>
                                        <p:tgtEl>
                                          <p:spTgt spid="4669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6960"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2"/>
          <p:cNvSpPr>
            <a:spLocks noGrp="1"/>
          </p:cNvSpPr>
          <p:nvPr>
            <p:ph type="sldNum" sz="quarter" idx="11"/>
          </p:nvPr>
        </p:nvSpPr>
        <p:spPr/>
        <p:txBody>
          <a:bodyPr/>
          <a:lstStyle/>
          <a:p>
            <a:fld id="{A872861D-F476-4B9F-85C6-3486FEB51776}" type="slidenum">
              <a:rPr lang="en-US" altLang="zh-CN"/>
              <a:pPr/>
              <a:t>64</a:t>
            </a:fld>
            <a:endParaRPr lang="en-US" altLang="zh-CN"/>
          </a:p>
        </p:txBody>
      </p:sp>
      <p:sp>
        <p:nvSpPr>
          <p:cNvPr id="468994" name="Text Box 2"/>
          <p:cNvSpPr txBox="1">
            <a:spLocks noChangeArrowheads="1"/>
          </p:cNvSpPr>
          <p:nvPr/>
        </p:nvSpPr>
        <p:spPr bwMode="auto">
          <a:xfrm>
            <a:off x="466725" y="981075"/>
            <a:ext cx="8277225" cy="272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kumimoji="1" sz="2400">
                <a:solidFill>
                  <a:schemeClr val="tx1"/>
                </a:solidFill>
                <a:latin typeface="Times New Roman" pitchFamily="18" charset="0"/>
                <a:ea typeface="宋体" pitchFamily="2" charset="-122"/>
              </a:defRPr>
            </a:lvl1pPr>
            <a:lvl2pPr marL="1093788" indent="-457200" algn="l">
              <a:defRPr kumimoji="1" sz="2400">
                <a:solidFill>
                  <a:schemeClr val="tx1"/>
                </a:solidFill>
                <a:latin typeface="Times New Roman" pitchFamily="18" charset="0"/>
                <a:ea typeface="宋体" pitchFamily="2" charset="-122"/>
              </a:defRPr>
            </a:lvl2pPr>
            <a:lvl3pPr marL="1730375" indent="-457200" algn="l">
              <a:defRPr kumimoji="1" sz="2400">
                <a:solidFill>
                  <a:schemeClr val="tx1"/>
                </a:solidFill>
                <a:latin typeface="Times New Roman" pitchFamily="18" charset="0"/>
                <a:ea typeface="宋体" pitchFamily="2" charset="-122"/>
              </a:defRPr>
            </a:lvl3pPr>
            <a:lvl4pPr marL="2366963" indent="-457200" algn="l">
              <a:defRPr kumimoji="1" sz="2400">
                <a:solidFill>
                  <a:schemeClr val="tx1"/>
                </a:solidFill>
                <a:latin typeface="Times New Roman" pitchFamily="18" charset="0"/>
                <a:ea typeface="宋体" pitchFamily="2" charset="-122"/>
              </a:defRPr>
            </a:lvl4pPr>
            <a:lvl5pPr marL="3003550" indent="-457200" algn="l">
              <a:defRPr kumimoji="1" sz="2400">
                <a:solidFill>
                  <a:schemeClr val="tx1"/>
                </a:solidFill>
                <a:latin typeface="Times New Roman" pitchFamily="18" charset="0"/>
                <a:ea typeface="宋体" pitchFamily="2" charset="-122"/>
              </a:defRPr>
            </a:lvl5pPr>
            <a:lvl6pPr marL="3460750" indent="-457200" fontAlgn="base">
              <a:spcBef>
                <a:spcPct val="0"/>
              </a:spcBef>
              <a:spcAft>
                <a:spcPct val="0"/>
              </a:spcAft>
              <a:defRPr kumimoji="1" sz="2400">
                <a:solidFill>
                  <a:schemeClr val="tx1"/>
                </a:solidFill>
                <a:latin typeface="Times New Roman" pitchFamily="18" charset="0"/>
                <a:ea typeface="宋体" pitchFamily="2" charset="-122"/>
              </a:defRPr>
            </a:lvl6pPr>
            <a:lvl7pPr marL="3917950" indent="-457200" fontAlgn="base">
              <a:spcBef>
                <a:spcPct val="0"/>
              </a:spcBef>
              <a:spcAft>
                <a:spcPct val="0"/>
              </a:spcAft>
              <a:defRPr kumimoji="1" sz="2400">
                <a:solidFill>
                  <a:schemeClr val="tx1"/>
                </a:solidFill>
                <a:latin typeface="Times New Roman" pitchFamily="18" charset="0"/>
                <a:ea typeface="宋体" pitchFamily="2" charset="-122"/>
              </a:defRPr>
            </a:lvl7pPr>
            <a:lvl8pPr marL="4375150" indent="-457200" fontAlgn="base">
              <a:spcBef>
                <a:spcPct val="0"/>
              </a:spcBef>
              <a:spcAft>
                <a:spcPct val="0"/>
              </a:spcAft>
              <a:defRPr kumimoji="1" sz="2400">
                <a:solidFill>
                  <a:schemeClr val="tx1"/>
                </a:solidFill>
                <a:latin typeface="Times New Roman" pitchFamily="18" charset="0"/>
                <a:ea typeface="宋体" pitchFamily="2" charset="-122"/>
              </a:defRPr>
            </a:lvl8pPr>
            <a:lvl9pPr marL="4832350" indent="-4572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20000"/>
              </a:lnSpc>
            </a:pPr>
            <a:r>
              <a:rPr lang="zh-CN" altLang="en-US" b="1" dirty="0">
                <a:solidFill>
                  <a:srgbClr val="FF0000"/>
                </a:solidFill>
              </a:rPr>
              <a:t>定理</a:t>
            </a:r>
            <a:r>
              <a:rPr lang="en-US" altLang="zh-CN" b="1" dirty="0">
                <a:solidFill>
                  <a:srgbClr val="FF0000"/>
                </a:solidFill>
              </a:rPr>
              <a:t>5-7.1</a:t>
            </a:r>
            <a:r>
              <a:rPr lang="en-US" altLang="zh-CN" b="1" dirty="0"/>
              <a:t>(</a:t>
            </a:r>
            <a:r>
              <a:rPr lang="zh-CN" altLang="en-US" b="1" dirty="0"/>
              <a:t>拉格朗日定理</a:t>
            </a:r>
            <a:r>
              <a:rPr lang="en-US" altLang="zh-CN" b="1" dirty="0"/>
              <a:t>)</a:t>
            </a:r>
            <a:r>
              <a:rPr lang="zh-CN" altLang="en-US" b="1" dirty="0"/>
              <a:t>：设</a:t>
            </a:r>
            <a:r>
              <a:rPr lang="en-US" altLang="zh-CN" b="1" dirty="0"/>
              <a:t>&lt;H, *&gt;</a:t>
            </a:r>
            <a:r>
              <a:rPr lang="zh-CN" altLang="en-US" b="1" dirty="0"/>
              <a:t>是群</a:t>
            </a:r>
            <a:r>
              <a:rPr lang="en-US" altLang="zh-CN" b="1" dirty="0"/>
              <a:t>&lt;G, *&gt;</a:t>
            </a:r>
            <a:r>
              <a:rPr lang="zh-CN" altLang="en-US" b="1" dirty="0"/>
              <a:t>的一个子群，那么</a:t>
            </a:r>
          </a:p>
          <a:p>
            <a:pPr>
              <a:lnSpc>
                <a:spcPct val="120000"/>
              </a:lnSpc>
            </a:pPr>
            <a:r>
              <a:rPr lang="en-US" altLang="zh-CN" b="1" dirty="0">
                <a:solidFill>
                  <a:srgbClr val="FF0000"/>
                </a:solidFill>
              </a:rPr>
              <a:t>(a)</a:t>
            </a:r>
            <a:r>
              <a:rPr lang="en-US" altLang="zh-CN" b="1" dirty="0"/>
              <a:t> R={&lt;a, b&gt;|</a:t>
            </a:r>
            <a:r>
              <a:rPr lang="en-US" altLang="zh-CN" b="1" dirty="0" err="1"/>
              <a:t>a∈G</a:t>
            </a:r>
            <a:r>
              <a:rPr lang="en-US" altLang="zh-CN" b="1" dirty="0"/>
              <a:t>, </a:t>
            </a:r>
            <a:r>
              <a:rPr lang="en-US" altLang="zh-CN" b="1" dirty="0" err="1"/>
              <a:t>b∈G</a:t>
            </a:r>
            <a:r>
              <a:rPr lang="zh-CN" altLang="en-US" b="1" dirty="0"/>
              <a:t>且</a:t>
            </a:r>
            <a:r>
              <a:rPr lang="en-US" altLang="zh-CN" b="1" dirty="0"/>
              <a:t>a</a:t>
            </a:r>
            <a:r>
              <a:rPr lang="en-US" altLang="zh-CN" b="1" baseline="30000" dirty="0"/>
              <a:t>-1</a:t>
            </a:r>
            <a:r>
              <a:rPr lang="en-US" altLang="zh-CN" b="1" dirty="0"/>
              <a:t>*</a:t>
            </a:r>
            <a:r>
              <a:rPr lang="en-US" altLang="zh-CN" b="1" dirty="0" err="1"/>
              <a:t>b∈H</a:t>
            </a:r>
            <a:r>
              <a:rPr lang="en-US" altLang="zh-CN" b="1" dirty="0"/>
              <a:t>}</a:t>
            </a:r>
            <a:r>
              <a:rPr lang="zh-CN" altLang="en-US" b="1" dirty="0"/>
              <a:t>是</a:t>
            </a:r>
            <a:r>
              <a:rPr lang="en-US" altLang="zh-CN" b="1" dirty="0"/>
              <a:t>G</a:t>
            </a:r>
            <a:r>
              <a:rPr lang="zh-CN" altLang="en-US" b="1" dirty="0"/>
              <a:t>中的一个等价关系。对于</a:t>
            </a:r>
            <a:r>
              <a:rPr lang="en-US" altLang="zh-CN" b="1" dirty="0" err="1"/>
              <a:t>a∈G</a:t>
            </a:r>
            <a:r>
              <a:rPr lang="zh-CN" altLang="en-US" b="1" dirty="0"/>
              <a:t>，若记</a:t>
            </a:r>
            <a:r>
              <a:rPr lang="en-US" altLang="zh-CN" b="1" dirty="0"/>
              <a:t>[a]</a:t>
            </a:r>
            <a:r>
              <a:rPr lang="en-US" altLang="zh-CN" b="1" baseline="-30000" dirty="0"/>
              <a:t>R</a:t>
            </a:r>
            <a:r>
              <a:rPr lang="en-US" altLang="zh-CN" b="1" dirty="0"/>
              <a:t>={</a:t>
            </a:r>
            <a:r>
              <a:rPr lang="en-US" altLang="zh-CN" b="1" dirty="0" err="1"/>
              <a:t>x|x∈G</a:t>
            </a:r>
            <a:r>
              <a:rPr lang="zh-CN" altLang="en-US" b="1" dirty="0"/>
              <a:t>且</a:t>
            </a:r>
            <a:r>
              <a:rPr lang="en-US" altLang="zh-CN" b="1" dirty="0"/>
              <a:t>&lt;a, x&gt;∈R}</a:t>
            </a:r>
            <a:r>
              <a:rPr lang="zh-CN" altLang="en-US" b="1" dirty="0"/>
              <a:t>，则</a:t>
            </a:r>
          </a:p>
          <a:p>
            <a:pPr>
              <a:lnSpc>
                <a:spcPct val="120000"/>
              </a:lnSpc>
            </a:pPr>
            <a:r>
              <a:rPr lang="zh-CN" altLang="en-US" b="1" dirty="0"/>
              <a:t>                      </a:t>
            </a:r>
            <a:r>
              <a:rPr lang="en-US" altLang="zh-CN" b="1" dirty="0"/>
              <a:t>[a]</a:t>
            </a:r>
            <a:r>
              <a:rPr lang="en-US" altLang="zh-CN" b="1" baseline="-30000" dirty="0"/>
              <a:t>R</a:t>
            </a:r>
            <a:r>
              <a:rPr lang="en-US" altLang="zh-CN" b="1" dirty="0"/>
              <a:t> =</a:t>
            </a:r>
            <a:r>
              <a:rPr lang="en-US" altLang="zh-CN" b="1" dirty="0" err="1"/>
              <a:t>aH</a:t>
            </a:r>
            <a:endParaRPr lang="en-US" altLang="zh-CN" b="1" dirty="0"/>
          </a:p>
          <a:p>
            <a:pPr>
              <a:lnSpc>
                <a:spcPct val="120000"/>
              </a:lnSpc>
            </a:pPr>
            <a:r>
              <a:rPr lang="en-US" altLang="zh-CN" b="1" dirty="0">
                <a:solidFill>
                  <a:srgbClr val="FF0000"/>
                </a:solidFill>
              </a:rPr>
              <a:t>(b)</a:t>
            </a:r>
            <a:r>
              <a:rPr lang="en-US" altLang="zh-CN" b="1" dirty="0">
                <a:solidFill>
                  <a:schemeClr val="hlink"/>
                </a:solidFill>
              </a:rPr>
              <a:t> </a:t>
            </a:r>
            <a:r>
              <a:rPr lang="zh-CN" altLang="en-US" b="1" dirty="0"/>
              <a:t>如果</a:t>
            </a:r>
            <a:r>
              <a:rPr lang="en-US" altLang="zh-CN" b="1" dirty="0"/>
              <a:t>G</a:t>
            </a:r>
            <a:r>
              <a:rPr lang="zh-CN" altLang="en-US" b="1" dirty="0"/>
              <a:t>是有限群，</a:t>
            </a:r>
            <a:r>
              <a:rPr lang="en-US" altLang="zh-CN" b="1" dirty="0"/>
              <a:t>|G|=n</a:t>
            </a:r>
            <a:r>
              <a:rPr lang="zh-CN" altLang="en-US" b="1" dirty="0"/>
              <a:t>，</a:t>
            </a:r>
            <a:r>
              <a:rPr lang="en-US" altLang="zh-CN" b="1" dirty="0"/>
              <a:t>|H|= m</a:t>
            </a:r>
            <a:r>
              <a:rPr lang="zh-CN" altLang="en-US" b="1" dirty="0"/>
              <a:t>，则</a:t>
            </a:r>
            <a:r>
              <a:rPr lang="en-US" altLang="zh-CN" b="1" dirty="0" err="1"/>
              <a:t>m|n</a:t>
            </a:r>
            <a:r>
              <a:rPr lang="zh-CN" altLang="en-US" b="1" dirty="0"/>
              <a:t>。</a:t>
            </a:r>
          </a:p>
        </p:txBody>
      </p:sp>
      <p:sp>
        <p:nvSpPr>
          <p:cNvPr id="468999" name="Rectangle 7"/>
          <p:cNvSpPr>
            <a:spLocks noChangeArrowheads="1"/>
          </p:cNvSpPr>
          <p:nvPr/>
        </p:nvSpPr>
        <p:spPr bwMode="auto">
          <a:xfrm>
            <a:off x="1201738" y="279400"/>
            <a:ext cx="538638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3200" b="1">
                <a:solidFill>
                  <a:schemeClr val="folHlink"/>
                </a:solidFill>
                <a:ea typeface="楷体_GB2312" pitchFamily="49" charset="-122"/>
              </a:rPr>
              <a:t>二、拉格朗日定理</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68994">
                                            <p:txEl>
                                              <p:pRg st="2" end="2"/>
                                            </p:txEl>
                                          </p:spTgt>
                                        </p:tgtEl>
                                        <p:attrNameLst>
                                          <p:attrName>style.visibility</p:attrName>
                                        </p:attrNameLst>
                                      </p:cBhvr>
                                      <p:to>
                                        <p:strVal val="visible"/>
                                      </p:to>
                                    </p:set>
                                    <p:anim calcmode="lin" valueType="num">
                                      <p:cBhvr additive="base">
                                        <p:cTn id="7" dur="500" fill="hold"/>
                                        <p:tgtEl>
                                          <p:spTgt spid="468994">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899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68994">
                                            <p:txEl>
                                              <p:pRg st="3" end="3"/>
                                            </p:txEl>
                                          </p:spTgt>
                                        </p:tgtEl>
                                        <p:attrNameLst>
                                          <p:attrName>style.visibility</p:attrName>
                                        </p:attrNameLst>
                                      </p:cBhvr>
                                      <p:to>
                                        <p:strVal val="visible"/>
                                      </p:to>
                                    </p:set>
                                    <p:anim calcmode="lin" valueType="num">
                                      <p:cBhvr additive="base">
                                        <p:cTn id="13" dur="500" fill="hold"/>
                                        <p:tgtEl>
                                          <p:spTgt spid="468994">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6899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614AAC80-BB58-4689-8E1C-720EE6974AB3}" type="slidenum">
              <a:rPr lang="en-US" altLang="zh-CN"/>
              <a:pPr/>
              <a:t>65</a:t>
            </a:fld>
            <a:endParaRPr lang="en-US" altLang="zh-CN"/>
          </a:p>
        </p:txBody>
      </p:sp>
      <p:sp>
        <p:nvSpPr>
          <p:cNvPr id="471042" name="Text Box 2"/>
          <p:cNvSpPr txBox="1">
            <a:spLocks noChangeArrowheads="1"/>
          </p:cNvSpPr>
          <p:nvPr/>
        </p:nvSpPr>
        <p:spPr bwMode="auto">
          <a:xfrm>
            <a:off x="466725" y="1052513"/>
            <a:ext cx="8277225"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kumimoji="1" sz="2400">
                <a:solidFill>
                  <a:schemeClr val="tx1"/>
                </a:solidFill>
                <a:latin typeface="Times New Roman" pitchFamily="18" charset="0"/>
                <a:ea typeface="宋体" pitchFamily="2" charset="-122"/>
              </a:defRPr>
            </a:lvl1pPr>
            <a:lvl2pPr marL="1093788" indent="-457200" algn="l">
              <a:defRPr kumimoji="1" sz="2400">
                <a:solidFill>
                  <a:schemeClr val="tx1"/>
                </a:solidFill>
                <a:latin typeface="Times New Roman" pitchFamily="18" charset="0"/>
                <a:ea typeface="宋体" pitchFamily="2" charset="-122"/>
              </a:defRPr>
            </a:lvl2pPr>
            <a:lvl3pPr marL="1730375" indent="-457200" algn="l">
              <a:defRPr kumimoji="1" sz="2400">
                <a:solidFill>
                  <a:schemeClr val="tx1"/>
                </a:solidFill>
                <a:latin typeface="Times New Roman" pitchFamily="18" charset="0"/>
                <a:ea typeface="宋体" pitchFamily="2" charset="-122"/>
              </a:defRPr>
            </a:lvl3pPr>
            <a:lvl4pPr marL="2366963" indent="-457200" algn="l">
              <a:defRPr kumimoji="1" sz="2400">
                <a:solidFill>
                  <a:schemeClr val="tx1"/>
                </a:solidFill>
                <a:latin typeface="Times New Roman" pitchFamily="18" charset="0"/>
                <a:ea typeface="宋体" pitchFamily="2" charset="-122"/>
              </a:defRPr>
            </a:lvl4pPr>
            <a:lvl5pPr marL="3003550" indent="-457200" algn="l">
              <a:defRPr kumimoji="1" sz="2400">
                <a:solidFill>
                  <a:schemeClr val="tx1"/>
                </a:solidFill>
                <a:latin typeface="Times New Roman" pitchFamily="18" charset="0"/>
                <a:ea typeface="宋体" pitchFamily="2" charset="-122"/>
              </a:defRPr>
            </a:lvl5pPr>
            <a:lvl6pPr marL="3460750" indent="-457200" fontAlgn="base">
              <a:spcBef>
                <a:spcPct val="0"/>
              </a:spcBef>
              <a:spcAft>
                <a:spcPct val="0"/>
              </a:spcAft>
              <a:defRPr kumimoji="1" sz="2400">
                <a:solidFill>
                  <a:schemeClr val="tx1"/>
                </a:solidFill>
                <a:latin typeface="Times New Roman" pitchFamily="18" charset="0"/>
                <a:ea typeface="宋体" pitchFamily="2" charset="-122"/>
              </a:defRPr>
            </a:lvl6pPr>
            <a:lvl7pPr marL="3917950" indent="-457200" fontAlgn="base">
              <a:spcBef>
                <a:spcPct val="0"/>
              </a:spcBef>
              <a:spcAft>
                <a:spcPct val="0"/>
              </a:spcAft>
              <a:defRPr kumimoji="1" sz="2400">
                <a:solidFill>
                  <a:schemeClr val="tx1"/>
                </a:solidFill>
                <a:latin typeface="Times New Roman" pitchFamily="18" charset="0"/>
                <a:ea typeface="宋体" pitchFamily="2" charset="-122"/>
              </a:defRPr>
            </a:lvl7pPr>
            <a:lvl8pPr marL="4375150" indent="-457200" fontAlgn="base">
              <a:spcBef>
                <a:spcPct val="0"/>
              </a:spcBef>
              <a:spcAft>
                <a:spcPct val="0"/>
              </a:spcAft>
              <a:defRPr kumimoji="1" sz="2400">
                <a:solidFill>
                  <a:schemeClr val="tx1"/>
                </a:solidFill>
                <a:latin typeface="Times New Roman" pitchFamily="18" charset="0"/>
                <a:ea typeface="宋体" pitchFamily="2" charset="-122"/>
              </a:defRPr>
            </a:lvl8pPr>
            <a:lvl9pPr marL="4832350" indent="-4572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30000"/>
              </a:lnSpc>
            </a:pPr>
            <a:r>
              <a:rPr lang="zh-CN" altLang="en-US" b="1">
                <a:solidFill>
                  <a:schemeClr val="hlink"/>
                </a:solidFill>
              </a:rPr>
              <a:t>推论</a:t>
            </a:r>
            <a:r>
              <a:rPr lang="en-US" altLang="zh-CN" b="1">
                <a:solidFill>
                  <a:schemeClr val="hlink"/>
                </a:solidFill>
              </a:rPr>
              <a:t>1</a:t>
            </a:r>
            <a:r>
              <a:rPr lang="zh-CN" altLang="en-US" b="1">
                <a:solidFill>
                  <a:schemeClr val="hlink"/>
                </a:solidFill>
              </a:rPr>
              <a:t>：</a:t>
            </a:r>
            <a:r>
              <a:rPr lang="zh-CN" altLang="en-US" b="1"/>
              <a:t>任何质数阶的群不可能有非平凡子群。</a:t>
            </a:r>
          </a:p>
          <a:p>
            <a:pPr>
              <a:lnSpc>
                <a:spcPct val="130000"/>
              </a:lnSpc>
            </a:pPr>
            <a:r>
              <a:rPr lang="zh-CN" altLang="en-US" b="1">
                <a:solidFill>
                  <a:schemeClr val="hlink"/>
                </a:solidFill>
              </a:rPr>
              <a:t>推论</a:t>
            </a:r>
            <a:r>
              <a:rPr lang="en-US" altLang="zh-CN" b="1">
                <a:solidFill>
                  <a:schemeClr val="hlink"/>
                </a:solidFill>
              </a:rPr>
              <a:t>2</a:t>
            </a:r>
            <a:r>
              <a:rPr lang="zh-CN" altLang="en-US" b="1">
                <a:solidFill>
                  <a:schemeClr val="hlink"/>
                </a:solidFill>
              </a:rPr>
              <a:t>：</a:t>
            </a:r>
            <a:r>
              <a:rPr lang="zh-CN" altLang="en-US" b="1"/>
              <a:t>设</a:t>
            </a:r>
            <a:r>
              <a:rPr lang="en-US" altLang="zh-CN" b="1"/>
              <a:t>&lt;G, *&gt;</a:t>
            </a:r>
            <a:r>
              <a:rPr lang="zh-CN" altLang="en-US" b="1"/>
              <a:t>是</a:t>
            </a:r>
            <a:r>
              <a:rPr lang="en-US" altLang="zh-CN" b="1"/>
              <a:t>n</a:t>
            </a:r>
            <a:r>
              <a:rPr lang="zh-CN" altLang="en-US" b="1"/>
              <a:t>阶有限群，那么对于任意的</a:t>
            </a:r>
            <a:r>
              <a:rPr lang="en-US" altLang="zh-CN" b="1"/>
              <a:t>a∈G</a:t>
            </a:r>
            <a:r>
              <a:rPr lang="zh-CN" altLang="en-US" b="1"/>
              <a:t>，</a:t>
            </a:r>
            <a:r>
              <a:rPr lang="en-US" altLang="zh-CN" b="1"/>
              <a:t>a</a:t>
            </a:r>
            <a:r>
              <a:rPr lang="zh-CN" altLang="en-US" b="1"/>
              <a:t>的阶必是</a:t>
            </a:r>
            <a:r>
              <a:rPr lang="en-US" altLang="zh-CN" b="1"/>
              <a:t>n</a:t>
            </a:r>
            <a:r>
              <a:rPr lang="zh-CN" altLang="en-US" b="1"/>
              <a:t>的因子且必有</a:t>
            </a:r>
            <a:r>
              <a:rPr lang="en-US" altLang="zh-CN" b="1"/>
              <a:t>a</a:t>
            </a:r>
            <a:r>
              <a:rPr lang="en-US" altLang="zh-CN" b="1" baseline="30000"/>
              <a:t>n</a:t>
            </a:r>
            <a:r>
              <a:rPr lang="en-US" altLang="zh-CN" b="1"/>
              <a:t>=e</a:t>
            </a:r>
            <a:r>
              <a:rPr lang="zh-CN" altLang="en-US" b="1"/>
              <a:t>，</a:t>
            </a:r>
            <a:r>
              <a:rPr lang="en-US" altLang="zh-CN" b="1"/>
              <a:t>e</a:t>
            </a:r>
            <a:r>
              <a:rPr lang="zh-CN" altLang="en-US" b="1"/>
              <a:t>是群</a:t>
            </a:r>
            <a:r>
              <a:rPr lang="en-US" altLang="zh-CN" b="1"/>
              <a:t>&lt;G, *&gt;</a:t>
            </a:r>
            <a:r>
              <a:rPr lang="zh-CN" altLang="en-US" b="1"/>
              <a:t>的幺元。如果</a:t>
            </a:r>
            <a:r>
              <a:rPr lang="en-US" altLang="zh-CN" b="1"/>
              <a:t>n</a:t>
            </a:r>
            <a:r>
              <a:rPr lang="zh-CN" altLang="en-US" b="1"/>
              <a:t>为质数，则</a:t>
            </a:r>
            <a:r>
              <a:rPr lang="en-US" altLang="zh-CN" b="1"/>
              <a:t>&lt;G, *&gt;</a:t>
            </a:r>
            <a:r>
              <a:rPr lang="zh-CN" altLang="en-US" b="1"/>
              <a:t>必是循环群。</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71042">
                                            <p:txEl>
                                              <p:pRg st="1" end="1"/>
                                            </p:txEl>
                                          </p:spTgt>
                                        </p:tgtEl>
                                        <p:attrNameLst>
                                          <p:attrName>style.visibility</p:attrName>
                                        </p:attrNameLst>
                                      </p:cBhvr>
                                      <p:to>
                                        <p:strVal val="visible"/>
                                      </p:to>
                                    </p:set>
                                    <p:anim calcmode="lin" valueType="num">
                                      <p:cBhvr additive="base">
                                        <p:cTn id="7" dur="500" fill="hold"/>
                                        <p:tgtEl>
                                          <p:spTgt spid="47104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4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0E7342D2-606D-49CE-8B82-9D106BC8221D}" type="slidenum">
              <a:rPr lang="en-US" altLang="zh-CN"/>
              <a:pPr/>
              <a:t>66</a:t>
            </a:fld>
            <a:endParaRPr lang="en-US" altLang="zh-CN"/>
          </a:p>
        </p:txBody>
      </p:sp>
      <p:sp>
        <p:nvSpPr>
          <p:cNvPr id="528386" name="Rectangle 2"/>
          <p:cNvSpPr>
            <a:spLocks noGrp="1" noChangeArrowheads="1"/>
          </p:cNvSpPr>
          <p:nvPr>
            <p:ph type="title"/>
          </p:nvPr>
        </p:nvSpPr>
        <p:spPr>
          <a:xfrm>
            <a:off x="1079500" y="209550"/>
            <a:ext cx="6965950" cy="641350"/>
          </a:xfrm>
          <a:noFill/>
        </p:spPr>
        <p:txBody>
          <a:bodyPr anchor="ctr"/>
          <a:lstStyle/>
          <a:p>
            <a:r>
              <a:rPr lang="en-US" altLang="zh-CN" sz="3600">
                <a:solidFill>
                  <a:schemeClr val="tx1"/>
                </a:solidFill>
                <a:latin typeface="华文行楷" pitchFamily="2" charset="-122"/>
                <a:ea typeface="华文行楷" pitchFamily="2" charset="-122"/>
              </a:rPr>
              <a:t>5.8  </a:t>
            </a:r>
            <a:r>
              <a:rPr lang="zh-CN" altLang="en-US" sz="3600">
                <a:solidFill>
                  <a:schemeClr val="tx1"/>
                </a:solidFill>
                <a:latin typeface="华文行楷" pitchFamily="2" charset="-122"/>
                <a:ea typeface="华文行楷" pitchFamily="2" charset="-122"/>
              </a:rPr>
              <a:t>同态与同构</a:t>
            </a:r>
          </a:p>
        </p:txBody>
      </p:sp>
      <p:sp>
        <p:nvSpPr>
          <p:cNvPr id="528387" name="Rectangle 3"/>
          <p:cNvSpPr>
            <a:spLocks noGrp="1" noChangeArrowheads="1"/>
          </p:cNvSpPr>
          <p:nvPr>
            <p:ph type="body" idx="1"/>
          </p:nvPr>
        </p:nvSpPr>
        <p:spPr>
          <a:xfrm>
            <a:off x="466725" y="1062038"/>
            <a:ext cx="8277225" cy="4048125"/>
          </a:xfrm>
          <a:noFill/>
        </p:spPr>
        <p:txBody>
          <a:bodyPr/>
          <a:lstStyle/>
          <a:p>
            <a:pPr>
              <a:lnSpc>
                <a:spcPct val="130000"/>
              </a:lnSpc>
              <a:spcBef>
                <a:spcPct val="0"/>
              </a:spcBef>
              <a:buClrTx/>
              <a:buSzTx/>
              <a:buFontTx/>
              <a:buNone/>
            </a:pPr>
            <a:r>
              <a:rPr kumimoji="1" lang="en-US" altLang="zh-CN" sz="3200">
                <a:solidFill>
                  <a:schemeClr val="folHlink"/>
                </a:solidFill>
                <a:latin typeface="楷体_GB2312" pitchFamily="49" charset="-122"/>
                <a:ea typeface="楷体_GB2312" pitchFamily="49" charset="-122"/>
              </a:rPr>
              <a:t>1</a:t>
            </a:r>
            <a:r>
              <a:rPr kumimoji="1" lang="zh-CN" altLang="en-US" sz="3200">
                <a:solidFill>
                  <a:schemeClr val="folHlink"/>
                </a:solidFill>
                <a:latin typeface="楷体_GB2312" pitchFamily="49" charset="-122"/>
                <a:ea typeface="楷体_GB2312" pitchFamily="49" charset="-122"/>
              </a:rPr>
              <a:t>、同态、同构的概念</a:t>
            </a:r>
          </a:p>
          <a:p>
            <a:pPr>
              <a:lnSpc>
                <a:spcPct val="130000"/>
              </a:lnSpc>
              <a:spcBef>
                <a:spcPct val="0"/>
              </a:spcBef>
              <a:buClrTx/>
              <a:buSzTx/>
              <a:buFontTx/>
              <a:buNone/>
            </a:pPr>
            <a:r>
              <a:rPr kumimoji="1" lang="zh-CN" altLang="en-US" sz="2400">
                <a:solidFill>
                  <a:srgbClr val="FF0000"/>
                </a:solidFill>
              </a:rPr>
              <a:t>定义</a:t>
            </a:r>
            <a:r>
              <a:rPr kumimoji="1" lang="en-US" altLang="zh-CN" sz="2400">
                <a:solidFill>
                  <a:srgbClr val="FF0000"/>
                </a:solidFill>
              </a:rPr>
              <a:t>5-8.1</a:t>
            </a:r>
            <a:r>
              <a:rPr kumimoji="1" lang="zh-CN" altLang="en-US" sz="2400">
                <a:solidFill>
                  <a:srgbClr val="FF0000"/>
                </a:solidFill>
              </a:rPr>
              <a:t>：</a:t>
            </a:r>
            <a:r>
              <a:rPr kumimoji="1" lang="zh-CN" altLang="en-US" sz="2400"/>
              <a:t>设</a:t>
            </a:r>
            <a:r>
              <a:rPr kumimoji="1" lang="en-US" altLang="zh-CN" sz="2400"/>
              <a:t>&lt;A, ★&gt;</a:t>
            </a:r>
            <a:r>
              <a:rPr kumimoji="1" lang="zh-CN" altLang="en-US" sz="2400"/>
              <a:t>和</a:t>
            </a:r>
            <a:r>
              <a:rPr kumimoji="1" lang="en-US" altLang="zh-CN" sz="2400"/>
              <a:t>&lt;B, *&gt;</a:t>
            </a:r>
            <a:r>
              <a:rPr kumimoji="1" lang="zh-CN" altLang="en-US" sz="2400"/>
              <a:t>是两个代数系统，★和*分别是</a:t>
            </a:r>
            <a:r>
              <a:rPr kumimoji="1" lang="en-US" altLang="zh-CN" sz="2400"/>
              <a:t>A</a:t>
            </a:r>
            <a:r>
              <a:rPr kumimoji="1" lang="zh-CN" altLang="en-US" sz="2400"/>
              <a:t>，</a:t>
            </a:r>
            <a:r>
              <a:rPr kumimoji="1" lang="en-US" altLang="zh-CN" sz="2400"/>
              <a:t>B</a:t>
            </a:r>
            <a:r>
              <a:rPr kumimoji="1" lang="zh-CN" altLang="en-US" sz="2400"/>
              <a:t>上的二元（</a:t>
            </a:r>
            <a:r>
              <a:rPr kumimoji="1" lang="en-US" altLang="zh-CN" sz="2400"/>
              <a:t>n</a:t>
            </a:r>
            <a:r>
              <a:rPr kumimoji="1" lang="zh-CN" altLang="en-US" sz="2400"/>
              <a:t>元）运算，设</a:t>
            </a:r>
            <a:r>
              <a:rPr kumimoji="1" lang="en-US" altLang="zh-CN" sz="2400"/>
              <a:t>f</a:t>
            </a:r>
            <a:r>
              <a:rPr kumimoji="1" lang="zh-CN" altLang="en-US" sz="2400"/>
              <a:t>是</a:t>
            </a:r>
            <a:r>
              <a:rPr kumimoji="1" lang="en-US" altLang="zh-CN" sz="2400"/>
              <a:t>A</a:t>
            </a:r>
            <a:r>
              <a:rPr kumimoji="1" lang="zh-CN" altLang="en-US" sz="2400"/>
              <a:t>到</a:t>
            </a:r>
            <a:r>
              <a:rPr kumimoji="1" lang="en-US" altLang="zh-CN" sz="2400"/>
              <a:t>B</a:t>
            </a:r>
            <a:r>
              <a:rPr kumimoji="1" lang="zh-CN" altLang="en-US" sz="2400"/>
              <a:t>的一个映射，使得对任意的</a:t>
            </a:r>
            <a:r>
              <a:rPr kumimoji="1" lang="en-US" altLang="zh-CN" sz="2400"/>
              <a:t>a</a:t>
            </a:r>
            <a:r>
              <a:rPr kumimoji="1" lang="en-US" altLang="zh-CN" sz="2400" baseline="-25000"/>
              <a:t>1</a:t>
            </a:r>
            <a:r>
              <a:rPr kumimoji="1" lang="en-US" altLang="zh-CN" sz="2400"/>
              <a:t>, a</a:t>
            </a:r>
            <a:r>
              <a:rPr kumimoji="1" lang="en-US" altLang="zh-CN" sz="2400" baseline="-25000"/>
              <a:t>2</a:t>
            </a:r>
            <a:r>
              <a:rPr kumimoji="1" lang="en-US" altLang="zh-CN" sz="2400"/>
              <a:t>∈A</a:t>
            </a:r>
            <a:r>
              <a:rPr kumimoji="1" lang="zh-CN" altLang="en-US" sz="2400"/>
              <a:t>，有</a:t>
            </a:r>
          </a:p>
          <a:p>
            <a:pPr algn="just">
              <a:lnSpc>
                <a:spcPct val="130000"/>
              </a:lnSpc>
              <a:spcBef>
                <a:spcPct val="0"/>
              </a:spcBef>
              <a:buClrTx/>
              <a:buSzTx/>
              <a:buFontTx/>
              <a:buNone/>
            </a:pPr>
            <a:r>
              <a:rPr kumimoji="1" lang="zh-CN" altLang="en-US" sz="2400">
                <a:solidFill>
                  <a:srgbClr val="FF3300"/>
                </a:solidFill>
              </a:rPr>
              <a:t>                 </a:t>
            </a:r>
            <a:r>
              <a:rPr kumimoji="1" lang="en-US" altLang="zh-CN" sz="2400">
                <a:solidFill>
                  <a:srgbClr val="FF0000"/>
                </a:solidFill>
              </a:rPr>
              <a:t>f(a</a:t>
            </a:r>
            <a:r>
              <a:rPr kumimoji="1" lang="en-US" altLang="zh-CN" sz="2400" baseline="-30000">
                <a:solidFill>
                  <a:srgbClr val="FF0000"/>
                </a:solidFill>
              </a:rPr>
              <a:t>1</a:t>
            </a:r>
            <a:r>
              <a:rPr kumimoji="1" lang="en-US" altLang="zh-CN" sz="2400">
                <a:solidFill>
                  <a:srgbClr val="FF0000"/>
                </a:solidFill>
              </a:rPr>
              <a:t>★a</a:t>
            </a:r>
            <a:r>
              <a:rPr kumimoji="1" lang="en-US" altLang="zh-CN" sz="2400" baseline="-30000">
                <a:solidFill>
                  <a:srgbClr val="FF0000"/>
                </a:solidFill>
              </a:rPr>
              <a:t>2</a:t>
            </a:r>
            <a:r>
              <a:rPr kumimoji="1" lang="en-US" altLang="zh-CN" sz="2400">
                <a:solidFill>
                  <a:srgbClr val="FF0000"/>
                </a:solidFill>
              </a:rPr>
              <a:t>) = f(a</a:t>
            </a:r>
            <a:r>
              <a:rPr kumimoji="1" lang="en-US" altLang="zh-CN" sz="2400" baseline="-30000">
                <a:solidFill>
                  <a:srgbClr val="FF0000"/>
                </a:solidFill>
              </a:rPr>
              <a:t>1</a:t>
            </a:r>
            <a:r>
              <a:rPr kumimoji="1" lang="en-US" altLang="zh-CN" sz="2400">
                <a:solidFill>
                  <a:srgbClr val="FF0000"/>
                </a:solidFill>
              </a:rPr>
              <a:t>)*f(a</a:t>
            </a:r>
            <a:r>
              <a:rPr kumimoji="1" lang="en-US" altLang="zh-CN" sz="2400" baseline="-30000">
                <a:solidFill>
                  <a:srgbClr val="FF0000"/>
                </a:solidFill>
              </a:rPr>
              <a:t>2</a:t>
            </a:r>
            <a:r>
              <a:rPr kumimoji="1" lang="en-US" altLang="zh-CN" sz="2400">
                <a:solidFill>
                  <a:srgbClr val="FF0000"/>
                </a:solidFill>
              </a:rPr>
              <a:t>)</a:t>
            </a:r>
          </a:p>
          <a:p>
            <a:pPr>
              <a:lnSpc>
                <a:spcPct val="130000"/>
              </a:lnSpc>
              <a:spcBef>
                <a:spcPct val="0"/>
              </a:spcBef>
              <a:buClrTx/>
              <a:buSzTx/>
              <a:buFontTx/>
              <a:buNone/>
            </a:pPr>
            <a:r>
              <a:rPr kumimoji="1" lang="zh-CN" altLang="en-US" sz="2400"/>
              <a:t>则称</a:t>
            </a:r>
            <a:r>
              <a:rPr kumimoji="1" lang="en-US" altLang="zh-CN" sz="2400"/>
              <a:t>f</a:t>
            </a:r>
            <a:r>
              <a:rPr kumimoji="1" lang="zh-CN" altLang="en-US" sz="2400"/>
              <a:t>为由</a:t>
            </a:r>
            <a:r>
              <a:rPr kumimoji="1" lang="en-US" altLang="zh-CN" sz="2400"/>
              <a:t>&lt;A, ★&gt;</a:t>
            </a:r>
            <a:r>
              <a:rPr kumimoji="1" lang="zh-CN" altLang="en-US" sz="2400"/>
              <a:t>到</a:t>
            </a:r>
            <a:r>
              <a:rPr kumimoji="1" lang="en-US" altLang="zh-CN" sz="2400"/>
              <a:t>&lt;B, *&gt;</a:t>
            </a:r>
            <a:r>
              <a:rPr kumimoji="1" lang="zh-CN" altLang="en-US" sz="2400"/>
              <a:t>的一个</a:t>
            </a:r>
            <a:r>
              <a:rPr kumimoji="1" lang="zh-CN" altLang="en-US" sz="2400" i="1">
                <a:solidFill>
                  <a:srgbClr val="FF0000"/>
                </a:solidFill>
              </a:rPr>
              <a:t>同态映射</a:t>
            </a:r>
            <a:r>
              <a:rPr kumimoji="1" lang="zh-CN" altLang="en-US" sz="2400"/>
              <a:t>，</a:t>
            </a:r>
            <a:r>
              <a:rPr kumimoji="1" lang="en-US" altLang="zh-CN" sz="2400"/>
              <a:t>(</a:t>
            </a:r>
            <a:r>
              <a:rPr kumimoji="1" lang="zh-CN" altLang="en-US" sz="2400"/>
              <a:t>简称同态</a:t>
            </a:r>
            <a:r>
              <a:rPr kumimoji="1" lang="en-US" altLang="zh-CN" sz="2400"/>
              <a:t>)</a:t>
            </a:r>
            <a:r>
              <a:rPr kumimoji="1" lang="zh-CN" altLang="en-US" sz="2400"/>
              <a:t>，</a:t>
            </a:r>
          </a:p>
          <a:p>
            <a:pPr>
              <a:lnSpc>
                <a:spcPct val="130000"/>
              </a:lnSpc>
              <a:spcBef>
                <a:spcPct val="0"/>
              </a:spcBef>
              <a:buClrTx/>
              <a:buSzTx/>
              <a:buFontTx/>
              <a:buNone/>
            </a:pPr>
            <a:r>
              <a:rPr kumimoji="1" lang="zh-CN" altLang="en-US" sz="2400"/>
              <a:t>称</a:t>
            </a:r>
            <a:r>
              <a:rPr kumimoji="1" lang="en-US" altLang="zh-CN" sz="2400"/>
              <a:t>&lt;A, ★&gt;</a:t>
            </a:r>
            <a:r>
              <a:rPr kumimoji="1" lang="zh-CN" altLang="en-US" sz="2400" i="1">
                <a:solidFill>
                  <a:srgbClr val="FF0000"/>
                </a:solidFill>
              </a:rPr>
              <a:t>同态</a:t>
            </a:r>
            <a:r>
              <a:rPr kumimoji="1" lang="zh-CN" altLang="en-US" sz="2400"/>
              <a:t>于</a:t>
            </a:r>
            <a:r>
              <a:rPr kumimoji="1" lang="en-US" altLang="zh-CN" sz="2400"/>
              <a:t>&lt;B, *&gt;</a:t>
            </a:r>
            <a:r>
              <a:rPr kumimoji="1" lang="zh-CN" altLang="en-US" sz="2400"/>
              <a:t>（或称为</a:t>
            </a:r>
            <a:r>
              <a:rPr kumimoji="1" lang="en-US" altLang="zh-CN" sz="2400"/>
              <a:t>f</a:t>
            </a:r>
            <a:r>
              <a:rPr kumimoji="1" lang="zh-CN" altLang="en-US" sz="2400"/>
              <a:t>运载★到*），记为</a:t>
            </a:r>
            <a:r>
              <a:rPr kumimoji="1" lang="en-US" altLang="zh-CN" sz="2400">
                <a:solidFill>
                  <a:srgbClr val="FF0000"/>
                </a:solidFill>
              </a:rPr>
              <a:t>A</a:t>
            </a:r>
            <a:r>
              <a:rPr kumimoji="1" lang="zh-CN" altLang="en-US" sz="2400">
                <a:solidFill>
                  <a:srgbClr val="FF0000"/>
                </a:solidFill>
              </a:rPr>
              <a:t>～</a:t>
            </a:r>
            <a:r>
              <a:rPr kumimoji="1" lang="en-US" altLang="zh-CN" sz="2400">
                <a:solidFill>
                  <a:srgbClr val="FF0000"/>
                </a:solidFill>
              </a:rPr>
              <a:t>B</a:t>
            </a:r>
            <a:r>
              <a:rPr kumimoji="1" lang="zh-CN" altLang="en-US" sz="2400"/>
              <a:t>。</a:t>
            </a:r>
          </a:p>
          <a:p>
            <a:pPr>
              <a:lnSpc>
                <a:spcPct val="130000"/>
              </a:lnSpc>
              <a:spcBef>
                <a:spcPct val="0"/>
              </a:spcBef>
              <a:buClrTx/>
              <a:buSzTx/>
              <a:buFontTx/>
              <a:buNone/>
            </a:pPr>
            <a:r>
              <a:rPr kumimoji="1" lang="zh-CN" altLang="en-US" sz="2400"/>
              <a:t>把</a:t>
            </a:r>
            <a:r>
              <a:rPr kumimoji="1" lang="en-US" altLang="zh-CN" sz="2400"/>
              <a:t>&lt;f(A), *&gt;</a:t>
            </a:r>
            <a:r>
              <a:rPr kumimoji="1" lang="zh-CN" altLang="en-US" sz="2400"/>
              <a:t>称为</a:t>
            </a:r>
            <a:r>
              <a:rPr kumimoji="1" lang="en-US" altLang="zh-CN" sz="2400"/>
              <a:t>&lt;A, ★&gt;</a:t>
            </a:r>
            <a:r>
              <a:rPr kumimoji="1" lang="zh-CN" altLang="en-US" sz="2400"/>
              <a:t>的一个</a:t>
            </a:r>
            <a:r>
              <a:rPr kumimoji="1" lang="zh-CN" altLang="en-US" sz="2400" i="1">
                <a:solidFill>
                  <a:srgbClr val="FF0000"/>
                </a:solidFill>
              </a:rPr>
              <a:t>同态象</a:t>
            </a:r>
            <a:r>
              <a:rPr kumimoji="1" lang="zh-CN" altLang="en-US" sz="2400"/>
              <a:t>。</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28387">
                                            <p:txEl>
                                              <p:pRg st="2" end="2"/>
                                            </p:txEl>
                                          </p:spTgt>
                                        </p:tgtEl>
                                        <p:attrNameLst>
                                          <p:attrName>style.visibility</p:attrName>
                                        </p:attrNameLst>
                                      </p:cBhvr>
                                      <p:to>
                                        <p:strVal val="visible"/>
                                      </p:to>
                                    </p:set>
                                    <p:anim calcmode="lin" valueType="num">
                                      <p:cBhvr additive="base">
                                        <p:cTn id="7" dur="500" fill="hold"/>
                                        <p:tgtEl>
                                          <p:spTgt spid="528387">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283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28387">
                                            <p:txEl>
                                              <p:pRg st="3" end="3"/>
                                            </p:txEl>
                                          </p:spTgt>
                                        </p:tgtEl>
                                        <p:attrNameLst>
                                          <p:attrName>style.visibility</p:attrName>
                                        </p:attrNameLst>
                                      </p:cBhvr>
                                      <p:to>
                                        <p:strVal val="visible"/>
                                      </p:to>
                                    </p:set>
                                    <p:anim calcmode="lin" valueType="num">
                                      <p:cBhvr additive="base">
                                        <p:cTn id="13" dur="500" fill="hold"/>
                                        <p:tgtEl>
                                          <p:spTgt spid="528387">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2838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28387">
                                            <p:txEl>
                                              <p:pRg st="4" end="4"/>
                                            </p:txEl>
                                          </p:spTgt>
                                        </p:tgtEl>
                                        <p:attrNameLst>
                                          <p:attrName>style.visibility</p:attrName>
                                        </p:attrNameLst>
                                      </p:cBhvr>
                                      <p:to>
                                        <p:strVal val="visible"/>
                                      </p:to>
                                    </p:set>
                                    <p:anim calcmode="lin" valueType="num">
                                      <p:cBhvr additive="base">
                                        <p:cTn id="19" dur="500" fill="hold"/>
                                        <p:tgtEl>
                                          <p:spTgt spid="528387">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2838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528387">
                                            <p:txEl>
                                              <p:pRg st="5" end="5"/>
                                            </p:txEl>
                                          </p:spTgt>
                                        </p:tgtEl>
                                        <p:attrNameLst>
                                          <p:attrName>style.visibility</p:attrName>
                                        </p:attrNameLst>
                                      </p:cBhvr>
                                      <p:to>
                                        <p:strVal val="visible"/>
                                      </p:to>
                                    </p:set>
                                    <p:anim calcmode="lin" valueType="num">
                                      <p:cBhvr additive="base">
                                        <p:cTn id="25" dur="500" fill="hold"/>
                                        <p:tgtEl>
                                          <p:spTgt spid="528387">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2838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4"/>
          <p:cNvSpPr>
            <a:spLocks noGrp="1"/>
          </p:cNvSpPr>
          <p:nvPr>
            <p:ph type="sldNum" sz="quarter" idx="11"/>
          </p:nvPr>
        </p:nvSpPr>
        <p:spPr/>
        <p:txBody>
          <a:bodyPr/>
          <a:lstStyle/>
          <a:p>
            <a:fld id="{A435F835-3B75-4786-8A5E-C3D788383164}" type="slidenum">
              <a:rPr lang="en-US" altLang="zh-CN"/>
              <a:pPr/>
              <a:t>67</a:t>
            </a:fld>
            <a:endParaRPr lang="en-US" altLang="zh-CN"/>
          </a:p>
        </p:txBody>
      </p:sp>
      <p:sp>
        <p:nvSpPr>
          <p:cNvPr id="583682" name="Rectangle 2"/>
          <p:cNvSpPr>
            <a:spLocks noGrp="1" noChangeArrowheads="1"/>
          </p:cNvSpPr>
          <p:nvPr>
            <p:ph type="title"/>
          </p:nvPr>
        </p:nvSpPr>
        <p:spPr/>
        <p:txBody>
          <a:bodyPr/>
          <a:lstStyle/>
          <a:p>
            <a:endParaRPr lang="zh-CN" altLang="zh-CN"/>
          </a:p>
        </p:txBody>
      </p:sp>
      <p:sp>
        <p:nvSpPr>
          <p:cNvPr id="583683" name="Rectangle 3"/>
          <p:cNvSpPr>
            <a:spLocks noGrp="1" noChangeArrowheads="1"/>
          </p:cNvSpPr>
          <p:nvPr>
            <p:ph type="body" idx="1"/>
          </p:nvPr>
        </p:nvSpPr>
        <p:spPr>
          <a:xfrm>
            <a:off x="762000" y="1371600"/>
            <a:ext cx="7772400" cy="1406525"/>
          </a:xfrm>
        </p:spPr>
        <p:txBody>
          <a:bodyPr/>
          <a:lstStyle/>
          <a:p>
            <a:pPr>
              <a:lnSpc>
                <a:spcPct val="120000"/>
              </a:lnSpc>
              <a:spcBef>
                <a:spcPct val="50000"/>
              </a:spcBef>
              <a:buClr>
                <a:srgbClr val="FF3300"/>
              </a:buClr>
              <a:buSzTx/>
              <a:buFont typeface="Wingdings" pitchFamily="2" charset="2"/>
              <a:buChar char="Ø"/>
            </a:pPr>
            <a:r>
              <a:rPr kumimoji="1" lang="en-US" altLang="zh-CN" sz="2400"/>
              <a:t>   f(A)={x|x=f(a), a∈A}</a:t>
            </a:r>
            <a:r>
              <a:rPr kumimoji="1" lang="en-US" altLang="zh-CN" sz="2400">
                <a:sym typeface="Symbol" pitchFamily="18" charset="2"/>
              </a:rPr>
              <a:t></a:t>
            </a:r>
            <a:r>
              <a:rPr kumimoji="1" lang="en-US" altLang="zh-CN" sz="2400"/>
              <a:t>B</a:t>
            </a:r>
          </a:p>
          <a:p>
            <a:pPr eaLnBrk="0" hangingPunct="0">
              <a:lnSpc>
                <a:spcPct val="120000"/>
              </a:lnSpc>
              <a:spcBef>
                <a:spcPct val="0"/>
              </a:spcBef>
              <a:buClr>
                <a:srgbClr val="FF3300"/>
              </a:buClr>
              <a:buSzTx/>
              <a:buFont typeface="Wingdings" pitchFamily="2" charset="2"/>
              <a:buChar char="Ø"/>
            </a:pPr>
            <a:r>
              <a:rPr kumimoji="1" lang="en-US" altLang="zh-CN" sz="2400"/>
              <a:t>   </a:t>
            </a:r>
            <a:r>
              <a:rPr kumimoji="1" lang="zh-CN" altLang="en-US" sz="2400"/>
              <a:t>由一个代数系统到另一个代数系统可能存在着多个同态。</a:t>
            </a:r>
          </a:p>
        </p:txBody>
      </p:sp>
      <p:grpSp>
        <p:nvGrpSpPr>
          <p:cNvPr id="583684" name="Group 4"/>
          <p:cNvGrpSpPr>
            <a:grpSpLocks/>
          </p:cNvGrpSpPr>
          <p:nvPr/>
        </p:nvGrpSpPr>
        <p:grpSpPr bwMode="auto">
          <a:xfrm>
            <a:off x="1116013" y="2997200"/>
            <a:ext cx="6621462" cy="2520950"/>
            <a:chOff x="705" y="346"/>
            <a:chExt cx="4171" cy="1588"/>
          </a:xfrm>
        </p:grpSpPr>
        <p:sp>
          <p:nvSpPr>
            <p:cNvPr id="583685" name="Oval 5"/>
            <p:cNvSpPr>
              <a:spLocks noChangeArrowheads="1"/>
            </p:cNvSpPr>
            <p:nvPr/>
          </p:nvSpPr>
          <p:spPr bwMode="auto">
            <a:xfrm>
              <a:off x="705" y="346"/>
              <a:ext cx="3865" cy="405"/>
            </a:xfrm>
            <a:prstGeom prst="ellipse">
              <a:avLst/>
            </a:prstGeom>
            <a:solidFill>
              <a:srgbClr val="FFFFFF"/>
            </a:solidFill>
            <a:ln w="9525">
              <a:solidFill>
                <a:srgbClr val="000000"/>
              </a:solidFill>
              <a:round/>
              <a:headEnd/>
              <a:tailEnd/>
            </a:ln>
          </p:spPr>
          <p:txBody>
            <a:bodyPr/>
            <a:lstStyle/>
            <a:p>
              <a:pPr algn="just" eaLnBrk="0" hangingPunct="0"/>
              <a:r>
                <a:rPr kumimoji="0" lang="en-US" altLang="zh-CN" sz="2000" b="1" dirty="0" smtClean="0"/>
                <a:t>             a     b                 </a:t>
              </a:r>
              <a:r>
                <a:rPr kumimoji="0" lang="en-US" altLang="zh-CN" sz="2000" b="1" dirty="0" err="1" smtClean="0"/>
                <a:t>a★b</a:t>
              </a:r>
              <a:r>
                <a:rPr kumimoji="0" lang="en-US" altLang="zh-CN" sz="2000" b="1" dirty="0" smtClean="0"/>
                <a:t>      </a:t>
              </a:r>
              <a:r>
                <a:rPr kumimoji="0" lang="en-US" altLang="zh-CN" sz="2000" b="1" dirty="0"/>
                <a:t>A</a:t>
              </a:r>
            </a:p>
          </p:txBody>
        </p:sp>
        <p:sp>
          <p:nvSpPr>
            <p:cNvPr id="583686" name="Rectangle 6"/>
            <p:cNvSpPr>
              <a:spLocks noChangeArrowheads="1"/>
            </p:cNvSpPr>
            <p:nvPr/>
          </p:nvSpPr>
          <p:spPr bwMode="auto">
            <a:xfrm>
              <a:off x="812" y="1157"/>
              <a:ext cx="4064" cy="777"/>
            </a:xfrm>
            <a:prstGeom prst="rect">
              <a:avLst/>
            </a:prstGeom>
            <a:solidFill>
              <a:srgbClr val="FFFFFF"/>
            </a:solidFill>
            <a:ln w="9525">
              <a:solidFill>
                <a:srgbClr val="000000"/>
              </a:solidFill>
              <a:miter lim="800000"/>
              <a:headEnd/>
              <a:tailEnd/>
            </a:ln>
          </p:spPr>
          <p:txBody>
            <a:bodyPr/>
            <a:lstStyle/>
            <a:p>
              <a:pPr algn="just" eaLnBrk="0" hangingPunct="0"/>
              <a:r>
                <a:rPr kumimoji="0" lang="en-US" altLang="zh-CN" b="1"/>
                <a:t>B</a:t>
              </a:r>
            </a:p>
          </p:txBody>
        </p:sp>
        <p:sp>
          <p:nvSpPr>
            <p:cNvPr id="583687" name="Oval 7"/>
            <p:cNvSpPr>
              <a:spLocks noChangeArrowheads="1"/>
            </p:cNvSpPr>
            <p:nvPr/>
          </p:nvSpPr>
          <p:spPr bwMode="auto">
            <a:xfrm>
              <a:off x="1020" y="1254"/>
              <a:ext cx="3765" cy="635"/>
            </a:xfrm>
            <a:prstGeom prst="ellipse">
              <a:avLst/>
            </a:prstGeom>
            <a:solidFill>
              <a:srgbClr val="CCFFFF"/>
            </a:solidFill>
            <a:ln w="9525">
              <a:solidFill>
                <a:srgbClr val="000000"/>
              </a:solidFill>
              <a:round/>
              <a:headEnd/>
              <a:tailEnd/>
            </a:ln>
          </p:spPr>
          <p:txBody>
            <a:bodyPr/>
            <a:lstStyle/>
            <a:p>
              <a:pPr algn="just" eaLnBrk="0" hangingPunct="0"/>
              <a:r>
                <a:rPr kumimoji="0" lang="en-US" altLang="zh-CN" sz="2000" b="1" dirty="0"/>
                <a:t>      ·                </a:t>
              </a:r>
              <a:r>
                <a:rPr kumimoji="0" lang="en-US" altLang="zh-CN" sz="2000" b="1" dirty="0" smtClean="0"/>
                <a:t>·                       </a:t>
              </a:r>
              <a:r>
                <a:rPr kumimoji="0" lang="en-US" altLang="zh-CN" sz="2000" b="1" dirty="0"/>
                <a:t>· </a:t>
              </a:r>
              <a:r>
                <a:rPr kumimoji="0" lang="en-US" altLang="zh-CN" sz="2000" b="1" dirty="0" smtClean="0"/>
                <a:t> </a:t>
              </a:r>
              <a:r>
                <a:rPr kumimoji="0" lang="en-US" altLang="zh-CN" sz="2000" b="1" dirty="0">
                  <a:solidFill>
                    <a:srgbClr val="FF3300"/>
                  </a:solidFill>
                </a:rPr>
                <a:t>f(A)</a:t>
              </a:r>
            </a:p>
            <a:p>
              <a:pPr algn="just" eaLnBrk="0" hangingPunct="0"/>
              <a:r>
                <a:rPr kumimoji="0" lang="en-US" altLang="zh-CN" sz="2000" b="1" dirty="0">
                  <a:solidFill>
                    <a:srgbClr val="990099"/>
                  </a:solidFill>
                </a:rPr>
                <a:t> </a:t>
              </a:r>
              <a:r>
                <a:rPr kumimoji="0" lang="en-US" altLang="zh-CN" sz="2000" b="1" dirty="0" smtClean="0">
                  <a:solidFill>
                    <a:srgbClr val="990099"/>
                  </a:solidFill>
                </a:rPr>
                <a:t>  </a:t>
              </a:r>
              <a:r>
                <a:rPr kumimoji="0" lang="en-US" altLang="zh-CN" sz="2000" b="1" dirty="0" smtClean="0">
                  <a:solidFill>
                    <a:srgbClr val="FF0000"/>
                  </a:solidFill>
                </a:rPr>
                <a:t>f(a)           f(b)        f(</a:t>
              </a:r>
              <a:r>
                <a:rPr kumimoji="0" lang="en-US" altLang="zh-CN" sz="2000" b="1" dirty="0" err="1">
                  <a:solidFill>
                    <a:srgbClr val="FF0000"/>
                  </a:solidFill>
                </a:rPr>
                <a:t>a★</a:t>
              </a:r>
              <a:r>
                <a:rPr kumimoji="0" lang="en-US" altLang="zh-CN" sz="2000" b="1" dirty="0" err="1" smtClean="0">
                  <a:solidFill>
                    <a:srgbClr val="FF0000"/>
                  </a:solidFill>
                </a:rPr>
                <a:t>b</a:t>
              </a:r>
              <a:r>
                <a:rPr kumimoji="0" lang="en-US" altLang="zh-CN" sz="2000" b="1" dirty="0" smtClean="0">
                  <a:solidFill>
                    <a:srgbClr val="FF0000"/>
                  </a:solidFill>
                </a:rPr>
                <a:t>)=f(a</a:t>
              </a:r>
              <a:r>
                <a:rPr kumimoji="0" lang="en-US" altLang="zh-CN" sz="2000" b="1" dirty="0">
                  <a:solidFill>
                    <a:srgbClr val="FF0000"/>
                  </a:solidFill>
                </a:rPr>
                <a:t>)*</a:t>
              </a:r>
              <a:r>
                <a:rPr kumimoji="0" lang="en-US" altLang="zh-CN" sz="2000" b="1" dirty="0" smtClean="0">
                  <a:solidFill>
                    <a:srgbClr val="FF0000"/>
                  </a:solidFill>
                </a:rPr>
                <a:t>f(b)</a:t>
              </a:r>
              <a:r>
                <a:rPr kumimoji="0" lang="en-US" altLang="zh-CN" sz="1000" b="1" dirty="0" smtClean="0">
                  <a:solidFill>
                    <a:srgbClr val="FF0000"/>
                  </a:solidFill>
                </a:rPr>
                <a:t>  </a:t>
              </a:r>
              <a:endParaRPr kumimoji="0" lang="en-US" altLang="zh-CN" sz="1000" b="1" dirty="0">
                <a:solidFill>
                  <a:srgbClr val="FF0000"/>
                </a:solidFill>
              </a:endParaRPr>
            </a:p>
          </p:txBody>
        </p:sp>
        <p:sp>
          <p:nvSpPr>
            <p:cNvPr id="583688" name="Line 8"/>
            <p:cNvSpPr>
              <a:spLocks noChangeAspect="1" noChangeShapeType="1"/>
            </p:cNvSpPr>
            <p:nvPr/>
          </p:nvSpPr>
          <p:spPr bwMode="auto">
            <a:xfrm>
              <a:off x="2218" y="646"/>
              <a:ext cx="367" cy="8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83689" name="Line 9"/>
            <p:cNvSpPr>
              <a:spLocks noChangeAspect="1" noChangeShapeType="1"/>
            </p:cNvSpPr>
            <p:nvPr/>
          </p:nvSpPr>
          <p:spPr bwMode="auto">
            <a:xfrm>
              <a:off x="3052" y="618"/>
              <a:ext cx="508" cy="85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83691" name="Line 11"/>
            <p:cNvSpPr>
              <a:spLocks noChangeAspect="1" noChangeShapeType="1"/>
            </p:cNvSpPr>
            <p:nvPr/>
          </p:nvSpPr>
          <p:spPr bwMode="auto">
            <a:xfrm>
              <a:off x="1873" y="653"/>
              <a:ext cx="1" cy="8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83684"/>
                                        </p:tgtEl>
                                        <p:attrNameLst>
                                          <p:attrName>style.visibility</p:attrName>
                                        </p:attrNameLst>
                                      </p:cBhvr>
                                      <p:to>
                                        <p:strVal val="visible"/>
                                      </p:to>
                                    </p:set>
                                    <p:anim calcmode="lin" valueType="num">
                                      <p:cBhvr additive="base">
                                        <p:cTn id="7" dur="500" fill="hold"/>
                                        <p:tgtEl>
                                          <p:spTgt spid="583684"/>
                                        </p:tgtEl>
                                        <p:attrNameLst>
                                          <p:attrName>ppt_x</p:attrName>
                                        </p:attrNameLst>
                                      </p:cBhvr>
                                      <p:tavLst>
                                        <p:tav tm="0">
                                          <p:val>
                                            <p:strVal val="#ppt_x"/>
                                          </p:val>
                                        </p:tav>
                                        <p:tav tm="100000">
                                          <p:val>
                                            <p:strVal val="#ppt_x"/>
                                          </p:val>
                                        </p:tav>
                                      </p:tavLst>
                                    </p:anim>
                                    <p:anim calcmode="lin" valueType="num">
                                      <p:cBhvr additive="base">
                                        <p:cTn id="8" dur="500" fill="hold"/>
                                        <p:tgtEl>
                                          <p:spTgt spid="58368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83683">
                                            <p:txEl>
                                              <p:pRg st="1" end="1"/>
                                            </p:txEl>
                                          </p:spTgt>
                                        </p:tgtEl>
                                        <p:attrNameLst>
                                          <p:attrName>style.visibility</p:attrName>
                                        </p:attrNameLst>
                                      </p:cBhvr>
                                      <p:to>
                                        <p:strVal val="visible"/>
                                      </p:to>
                                    </p:set>
                                    <p:anim calcmode="lin" valueType="num">
                                      <p:cBhvr additive="base">
                                        <p:cTn id="13" dur="500" fill="hold"/>
                                        <p:tgtEl>
                                          <p:spTgt spid="58368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8368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2"/>
          <p:cNvSpPr>
            <a:spLocks noGrp="1"/>
          </p:cNvSpPr>
          <p:nvPr>
            <p:ph type="sldNum" sz="quarter" idx="11"/>
          </p:nvPr>
        </p:nvSpPr>
        <p:spPr/>
        <p:txBody>
          <a:bodyPr/>
          <a:lstStyle/>
          <a:p>
            <a:fld id="{75BE8031-3223-42D8-AEF1-B0D340D6FEFA}" type="slidenum">
              <a:rPr lang="en-US" altLang="zh-CN"/>
              <a:pPr/>
              <a:t>68</a:t>
            </a:fld>
            <a:endParaRPr lang="en-US" altLang="zh-CN"/>
          </a:p>
        </p:txBody>
      </p:sp>
      <p:sp>
        <p:nvSpPr>
          <p:cNvPr id="476162" name="Text Box 2"/>
          <p:cNvSpPr txBox="1">
            <a:spLocks noChangeArrowheads="1"/>
          </p:cNvSpPr>
          <p:nvPr/>
        </p:nvSpPr>
        <p:spPr bwMode="auto">
          <a:xfrm>
            <a:off x="466725" y="1009650"/>
            <a:ext cx="8277225" cy="272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kumimoji="1" sz="2400">
                <a:solidFill>
                  <a:schemeClr val="tx1"/>
                </a:solidFill>
                <a:latin typeface="Times New Roman" pitchFamily="18" charset="0"/>
                <a:ea typeface="宋体" pitchFamily="2" charset="-122"/>
              </a:defRPr>
            </a:lvl1pPr>
            <a:lvl2pPr marL="53975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20000"/>
              </a:lnSpc>
            </a:pPr>
            <a:r>
              <a:rPr lang="zh-CN" altLang="en-US" b="1">
                <a:solidFill>
                  <a:schemeClr val="hlink"/>
                </a:solidFill>
              </a:rPr>
              <a:t>例</a:t>
            </a:r>
            <a:r>
              <a:rPr lang="en-US" altLang="zh-CN" b="1">
                <a:solidFill>
                  <a:schemeClr val="hlink"/>
                </a:solidFill>
              </a:rPr>
              <a:t>1</a:t>
            </a:r>
            <a:r>
              <a:rPr lang="zh-CN" altLang="en-US" b="1">
                <a:solidFill>
                  <a:schemeClr val="hlink"/>
                </a:solidFill>
              </a:rPr>
              <a:t>：</a:t>
            </a:r>
            <a:r>
              <a:rPr lang="en-US" altLang="zh-CN" b="1"/>
              <a:t>&lt;I, •&gt;</a:t>
            </a:r>
            <a:r>
              <a:rPr lang="zh-CN" altLang="en-US" b="1"/>
              <a:t>，</a:t>
            </a:r>
            <a:r>
              <a:rPr lang="en-US" altLang="zh-CN" b="1"/>
              <a:t>I</a:t>
            </a:r>
            <a:r>
              <a:rPr lang="zh-CN" altLang="en-US" b="1"/>
              <a:t>是整数集，</a:t>
            </a:r>
            <a:r>
              <a:rPr lang="en-US" altLang="zh-CN" b="1"/>
              <a:t>•</a:t>
            </a:r>
            <a:r>
              <a:rPr lang="zh-CN" altLang="en-US" b="1"/>
              <a:t>是普通乘法运算，其运算结果的特征用另一个代数系统</a:t>
            </a:r>
            <a:r>
              <a:rPr lang="en-US" altLang="zh-CN" b="1"/>
              <a:t>&lt;B, ⊙&gt;</a:t>
            </a:r>
            <a:r>
              <a:rPr lang="zh-CN" altLang="en-US" b="1"/>
              <a:t>来表示，</a:t>
            </a:r>
            <a:r>
              <a:rPr lang="en-US" altLang="zh-CN" b="1"/>
              <a:t>B={</a:t>
            </a:r>
            <a:r>
              <a:rPr lang="zh-CN" altLang="en-US" b="1"/>
              <a:t>正、负、零</a:t>
            </a:r>
            <a:r>
              <a:rPr lang="en-US" altLang="zh-CN" b="1"/>
              <a:t>}</a:t>
            </a:r>
            <a:r>
              <a:rPr lang="zh-CN" altLang="en-US" b="1"/>
              <a:t>，⊙是定义在</a:t>
            </a:r>
            <a:r>
              <a:rPr lang="en-US" altLang="zh-CN" b="1"/>
              <a:t>B</a:t>
            </a:r>
            <a:r>
              <a:rPr lang="zh-CN" altLang="en-US" b="1"/>
              <a:t>上的二元运算如表，定义映射</a:t>
            </a:r>
            <a:r>
              <a:rPr lang="en-US" altLang="zh-CN" b="1"/>
              <a:t>f</a:t>
            </a:r>
            <a:r>
              <a:rPr lang="zh-CN" altLang="en-US" b="1"/>
              <a:t>为：</a:t>
            </a:r>
          </a:p>
          <a:p>
            <a:pPr>
              <a:lnSpc>
                <a:spcPct val="120000"/>
              </a:lnSpc>
            </a:pPr>
            <a:r>
              <a:rPr lang="zh-CN" altLang="en-US" b="1"/>
              <a:t>                正  </a:t>
            </a:r>
            <a:r>
              <a:rPr lang="en-US" altLang="zh-CN" b="1"/>
              <a:t>n&gt;0</a:t>
            </a:r>
          </a:p>
          <a:p>
            <a:pPr>
              <a:lnSpc>
                <a:spcPct val="120000"/>
              </a:lnSpc>
            </a:pPr>
            <a:r>
              <a:rPr lang="en-US" altLang="zh-CN" b="1"/>
              <a:t>    f(n)=   </a:t>
            </a:r>
            <a:r>
              <a:rPr lang="zh-CN" altLang="en-US" b="1"/>
              <a:t>负  </a:t>
            </a:r>
            <a:r>
              <a:rPr lang="en-US" altLang="zh-CN" b="1"/>
              <a:t>n&lt;0</a:t>
            </a:r>
          </a:p>
          <a:p>
            <a:pPr>
              <a:lnSpc>
                <a:spcPct val="120000"/>
              </a:lnSpc>
            </a:pPr>
            <a:r>
              <a:rPr lang="en-US" altLang="zh-CN" b="1"/>
              <a:t>                </a:t>
            </a:r>
            <a:r>
              <a:rPr lang="zh-CN" altLang="en-US" b="1"/>
              <a:t>零  </a:t>
            </a:r>
            <a:r>
              <a:rPr lang="en-US" altLang="zh-CN" b="1"/>
              <a:t>n=0 </a:t>
            </a:r>
          </a:p>
        </p:txBody>
      </p:sp>
      <p:sp>
        <p:nvSpPr>
          <p:cNvPr id="476163" name="AutoShape 3"/>
          <p:cNvSpPr>
            <a:spLocks noChangeAspect="1"/>
          </p:cNvSpPr>
          <p:nvPr/>
        </p:nvSpPr>
        <p:spPr bwMode="auto">
          <a:xfrm>
            <a:off x="1619250" y="2492375"/>
            <a:ext cx="104775" cy="1109663"/>
          </a:xfrm>
          <a:prstGeom prst="leftBrace">
            <a:avLst>
              <a:gd name="adj1" fmla="val 88258"/>
              <a:gd name="adj2" fmla="val 48944"/>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6176" name="Text Box 16"/>
          <p:cNvSpPr txBox="1">
            <a:spLocks noChangeArrowheads="1"/>
          </p:cNvSpPr>
          <p:nvPr/>
        </p:nvSpPr>
        <p:spPr bwMode="auto">
          <a:xfrm>
            <a:off x="539750" y="3860800"/>
            <a:ext cx="8277225" cy="140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kumimoji="1" sz="2400">
                <a:solidFill>
                  <a:schemeClr val="tx1"/>
                </a:solidFill>
                <a:latin typeface="Times New Roman" pitchFamily="18" charset="0"/>
                <a:ea typeface="宋体" pitchFamily="2" charset="-122"/>
              </a:defRPr>
            </a:lvl1pPr>
            <a:lvl2pPr marL="53975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20000"/>
              </a:lnSpc>
            </a:pPr>
            <a:r>
              <a:rPr lang="zh-CN" altLang="en-US" b="1"/>
              <a:t>解：对于任意的</a:t>
            </a:r>
            <a:r>
              <a:rPr lang="en-US" altLang="zh-CN" b="1"/>
              <a:t>a</a:t>
            </a:r>
            <a:r>
              <a:rPr lang="zh-CN" altLang="en-US" b="1"/>
              <a:t>，</a:t>
            </a:r>
            <a:r>
              <a:rPr lang="en-US" altLang="zh-CN" b="1"/>
              <a:t>b∈I</a:t>
            </a:r>
            <a:r>
              <a:rPr lang="zh-CN" altLang="en-US" b="1"/>
              <a:t>，有</a:t>
            </a:r>
          </a:p>
          <a:p>
            <a:pPr>
              <a:lnSpc>
                <a:spcPct val="120000"/>
              </a:lnSpc>
            </a:pPr>
            <a:r>
              <a:rPr lang="en-US" altLang="zh-CN" b="1"/>
              <a:t>f(a•b)=f(a)⊙f(b)</a:t>
            </a:r>
            <a:r>
              <a:rPr lang="zh-CN" altLang="en-US" b="1"/>
              <a:t>，映射</a:t>
            </a:r>
            <a:r>
              <a:rPr lang="en-US" altLang="zh-CN" b="1"/>
              <a:t>f</a:t>
            </a:r>
            <a:r>
              <a:rPr lang="zh-CN" altLang="en-US" b="1"/>
              <a:t>是由</a:t>
            </a:r>
            <a:r>
              <a:rPr lang="en-US" altLang="zh-CN" b="1"/>
              <a:t>&lt;I, •&gt;</a:t>
            </a:r>
            <a:r>
              <a:rPr lang="zh-CN" altLang="en-US" b="1"/>
              <a:t>到</a:t>
            </a:r>
            <a:r>
              <a:rPr lang="en-US" altLang="zh-CN" b="1"/>
              <a:t>&lt;B, ⊙&gt;</a:t>
            </a:r>
            <a:r>
              <a:rPr lang="zh-CN" altLang="en-US" b="1"/>
              <a:t>的一个同态。</a:t>
            </a:r>
          </a:p>
          <a:p>
            <a:pPr>
              <a:lnSpc>
                <a:spcPct val="120000"/>
              </a:lnSpc>
            </a:pPr>
            <a:r>
              <a:rPr lang="zh-CN" altLang="en-US" b="1"/>
              <a:t>即</a:t>
            </a:r>
            <a:r>
              <a:rPr lang="en-US" altLang="zh-CN" b="1">
                <a:solidFill>
                  <a:srgbClr val="FF0000"/>
                </a:solidFill>
              </a:rPr>
              <a:t>&lt;B, ⊙&gt;</a:t>
            </a:r>
            <a:r>
              <a:rPr lang="zh-CN" altLang="en-US" b="1">
                <a:solidFill>
                  <a:srgbClr val="FF0000"/>
                </a:solidFill>
              </a:rPr>
              <a:t>描述了</a:t>
            </a:r>
            <a:r>
              <a:rPr lang="en-US" altLang="zh-CN" b="1">
                <a:solidFill>
                  <a:srgbClr val="FF0000"/>
                </a:solidFill>
              </a:rPr>
              <a:t>&lt;I, •&gt;</a:t>
            </a:r>
            <a:r>
              <a:rPr lang="zh-CN" altLang="en-US" b="1">
                <a:solidFill>
                  <a:srgbClr val="FF0000"/>
                </a:solidFill>
              </a:rPr>
              <a:t>中运算结果的基本特征</a:t>
            </a:r>
            <a:r>
              <a:rPr lang="zh-CN" altLang="en-US" b="1"/>
              <a:t>。</a:t>
            </a:r>
          </a:p>
        </p:txBody>
      </p:sp>
      <p:graphicFrame>
        <p:nvGraphicFramePr>
          <p:cNvPr id="476223" name="Group 63"/>
          <p:cNvGraphicFramePr>
            <a:graphicFrameLocks noGrp="1"/>
          </p:cNvGraphicFramePr>
          <p:nvPr/>
        </p:nvGraphicFramePr>
        <p:xfrm>
          <a:off x="4787900" y="2420938"/>
          <a:ext cx="2376488" cy="1511301"/>
        </p:xfrm>
        <a:graphic>
          <a:graphicData uri="http://schemas.openxmlformats.org/drawingml/2006/table">
            <a:tbl>
              <a:tblPr/>
              <a:tblGrid>
                <a:gridCol w="503238"/>
                <a:gridCol w="1873250"/>
              </a:tblGrid>
              <a:tr h="503238">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0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zh-CN" altLang="en-US" sz="2000" b="1" i="0" u="none" strike="noStrike" cap="none" normalizeH="0" baseline="0" smtClean="0">
                          <a:ln>
                            <a:noFill/>
                          </a:ln>
                          <a:solidFill>
                            <a:schemeClr val="tx1"/>
                          </a:solidFill>
                          <a:effectLst/>
                          <a:latin typeface="Times New Roman" pitchFamily="18" charset="0"/>
                          <a:ea typeface="宋体" pitchFamily="2" charset="-122"/>
                        </a:rPr>
                        <a:t>正     负     零</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08063">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zh-CN" altLang="en-US" sz="2000" b="1" i="0" u="none" strike="noStrike" cap="none" normalizeH="0" baseline="0" smtClean="0">
                          <a:ln>
                            <a:noFill/>
                          </a:ln>
                          <a:solidFill>
                            <a:schemeClr val="tx1"/>
                          </a:solidFill>
                          <a:effectLst/>
                          <a:latin typeface="Times New Roman" pitchFamily="18" charset="0"/>
                          <a:ea typeface="宋体" pitchFamily="2" charset="-122"/>
                        </a:rPr>
                        <a:t>正  </a:t>
                      </a:r>
                    </a:p>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zh-CN" altLang="en-US" sz="2000" b="1" i="0" u="none" strike="noStrike" cap="none" normalizeH="0" baseline="0" smtClean="0">
                          <a:ln>
                            <a:noFill/>
                          </a:ln>
                          <a:solidFill>
                            <a:schemeClr val="tx1"/>
                          </a:solidFill>
                          <a:effectLst/>
                          <a:latin typeface="Times New Roman" pitchFamily="18" charset="0"/>
                          <a:ea typeface="宋体" pitchFamily="2" charset="-122"/>
                        </a:rPr>
                        <a:t>负 </a:t>
                      </a:r>
                    </a:p>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zh-CN" altLang="en-US" sz="2000" b="1" i="0" u="none" strike="noStrike" cap="none" normalizeH="0" baseline="0" smtClean="0">
                          <a:ln>
                            <a:noFill/>
                          </a:ln>
                          <a:solidFill>
                            <a:schemeClr val="tx1"/>
                          </a:solidFill>
                          <a:effectLst/>
                          <a:latin typeface="Times New Roman" pitchFamily="18" charset="0"/>
                          <a:ea typeface="宋体" pitchFamily="2" charset="-122"/>
                        </a:rPr>
                        <a:t>零</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zh-CN" altLang="en-US" sz="2000" b="1" i="0" u="none" strike="noStrike" cap="none" normalizeH="0" baseline="0" smtClean="0">
                          <a:ln>
                            <a:noFill/>
                          </a:ln>
                          <a:solidFill>
                            <a:schemeClr val="tx1"/>
                          </a:solidFill>
                          <a:effectLst/>
                          <a:latin typeface="Times New Roman" pitchFamily="18" charset="0"/>
                          <a:ea typeface="宋体" pitchFamily="2" charset="-122"/>
                        </a:rPr>
                        <a:t>正     负     零</a:t>
                      </a:r>
                    </a:p>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zh-CN" altLang="en-US" sz="2000" b="1" i="0" u="none" strike="noStrike" cap="none" normalizeH="0" baseline="0" smtClean="0">
                          <a:ln>
                            <a:noFill/>
                          </a:ln>
                          <a:solidFill>
                            <a:schemeClr val="tx1"/>
                          </a:solidFill>
                          <a:effectLst/>
                          <a:latin typeface="Times New Roman" pitchFamily="18" charset="0"/>
                          <a:ea typeface="宋体" pitchFamily="2" charset="-122"/>
                        </a:rPr>
                        <a:t>负     正     零</a:t>
                      </a:r>
                    </a:p>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zh-CN" altLang="en-US" sz="2000" b="1" i="0" u="none" strike="noStrike" cap="none" normalizeH="0" baseline="0" smtClean="0">
                          <a:ln>
                            <a:noFill/>
                          </a:ln>
                          <a:solidFill>
                            <a:schemeClr val="tx1"/>
                          </a:solidFill>
                          <a:effectLst/>
                          <a:latin typeface="Times New Roman" pitchFamily="18" charset="0"/>
                          <a:ea typeface="宋体" pitchFamily="2" charset="-122"/>
                        </a:rPr>
                        <a:t>零     零     零</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76176">
                                            <p:txEl>
                                              <p:pRg st="0" end="0"/>
                                            </p:txEl>
                                          </p:spTgt>
                                        </p:tgtEl>
                                        <p:attrNameLst>
                                          <p:attrName>style.visibility</p:attrName>
                                        </p:attrNameLst>
                                      </p:cBhvr>
                                      <p:to>
                                        <p:strVal val="visible"/>
                                      </p:to>
                                    </p:set>
                                    <p:anim calcmode="lin" valueType="num">
                                      <p:cBhvr additive="base">
                                        <p:cTn id="7" dur="500" fill="hold"/>
                                        <p:tgtEl>
                                          <p:spTgt spid="47617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617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76176">
                                            <p:txEl>
                                              <p:pRg st="1" end="1"/>
                                            </p:txEl>
                                          </p:spTgt>
                                        </p:tgtEl>
                                        <p:attrNameLst>
                                          <p:attrName>style.visibility</p:attrName>
                                        </p:attrNameLst>
                                      </p:cBhvr>
                                      <p:to>
                                        <p:strVal val="visible"/>
                                      </p:to>
                                    </p:set>
                                    <p:anim calcmode="lin" valueType="num">
                                      <p:cBhvr additive="base">
                                        <p:cTn id="13" dur="500" fill="hold"/>
                                        <p:tgtEl>
                                          <p:spTgt spid="47617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617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76176">
                                            <p:txEl>
                                              <p:pRg st="2" end="2"/>
                                            </p:txEl>
                                          </p:spTgt>
                                        </p:tgtEl>
                                        <p:attrNameLst>
                                          <p:attrName>style.visibility</p:attrName>
                                        </p:attrNameLst>
                                      </p:cBhvr>
                                      <p:to>
                                        <p:strVal val="visible"/>
                                      </p:to>
                                    </p:set>
                                    <p:anim calcmode="lin" valueType="num">
                                      <p:cBhvr additive="base">
                                        <p:cTn id="19" dur="500" fill="hold"/>
                                        <p:tgtEl>
                                          <p:spTgt spid="47617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617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2"/>
          <p:cNvSpPr>
            <a:spLocks noGrp="1"/>
          </p:cNvSpPr>
          <p:nvPr>
            <p:ph type="sldNum" sz="quarter" idx="11"/>
          </p:nvPr>
        </p:nvSpPr>
        <p:spPr/>
        <p:txBody>
          <a:bodyPr/>
          <a:lstStyle/>
          <a:p>
            <a:fld id="{FE2444D4-4433-43F5-8085-0D4F4F22D60F}" type="slidenum">
              <a:rPr lang="en-US" altLang="zh-CN"/>
              <a:pPr/>
              <a:t>69</a:t>
            </a:fld>
            <a:endParaRPr lang="en-US" altLang="zh-CN"/>
          </a:p>
        </p:txBody>
      </p:sp>
      <p:sp>
        <p:nvSpPr>
          <p:cNvPr id="477186" name="Text Box 2"/>
          <p:cNvSpPr txBox="1">
            <a:spLocks noChangeArrowheads="1"/>
          </p:cNvSpPr>
          <p:nvPr/>
        </p:nvSpPr>
        <p:spPr bwMode="auto">
          <a:xfrm>
            <a:off x="466725" y="963613"/>
            <a:ext cx="8277225"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kumimoji="1" sz="2400">
                <a:solidFill>
                  <a:schemeClr val="tx1"/>
                </a:solidFill>
                <a:latin typeface="Times New Roman" pitchFamily="18" charset="0"/>
                <a:ea typeface="宋体" pitchFamily="2" charset="-122"/>
              </a:defRPr>
            </a:lvl1pPr>
            <a:lvl2pPr marL="53975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20000"/>
              </a:lnSpc>
            </a:pPr>
            <a:r>
              <a:rPr lang="zh-CN" altLang="en-US" b="1">
                <a:solidFill>
                  <a:srgbClr val="FF0000"/>
                </a:solidFill>
              </a:rPr>
              <a:t>定义</a:t>
            </a:r>
            <a:r>
              <a:rPr lang="en-US" altLang="zh-CN" b="1">
                <a:solidFill>
                  <a:srgbClr val="FF0000"/>
                </a:solidFill>
              </a:rPr>
              <a:t>5-8.2</a:t>
            </a:r>
            <a:r>
              <a:rPr lang="zh-CN" altLang="en-US" b="1">
                <a:solidFill>
                  <a:srgbClr val="FF0000"/>
                </a:solidFill>
              </a:rPr>
              <a:t>：</a:t>
            </a:r>
            <a:r>
              <a:rPr lang="en-US" altLang="zh-CN" b="1"/>
              <a:t>f</a:t>
            </a:r>
            <a:r>
              <a:rPr lang="zh-CN" altLang="en-US" b="1"/>
              <a:t>：</a:t>
            </a:r>
            <a:r>
              <a:rPr lang="en-US" altLang="zh-CN" b="1"/>
              <a:t>&lt;A, </a:t>
            </a:r>
            <a:r>
              <a:rPr lang="en-US" altLang="zh-CN" sz="1800" b="1">
                <a:latin typeface="Arial" charset="0"/>
              </a:rPr>
              <a:t>★ </a:t>
            </a:r>
            <a:r>
              <a:rPr lang="en-US" altLang="zh-CN" b="1"/>
              <a:t>&gt;</a:t>
            </a:r>
            <a:r>
              <a:rPr lang="zh-CN" altLang="en-US" b="1"/>
              <a:t>到</a:t>
            </a:r>
            <a:r>
              <a:rPr lang="en-US" altLang="zh-CN" b="1"/>
              <a:t>&lt;B, *&gt;</a:t>
            </a:r>
            <a:r>
              <a:rPr lang="zh-CN" altLang="en-US" b="1"/>
              <a:t>的一个同态，如果</a:t>
            </a:r>
          </a:p>
          <a:p>
            <a:pPr>
              <a:lnSpc>
                <a:spcPct val="120000"/>
              </a:lnSpc>
            </a:pPr>
            <a:r>
              <a:rPr lang="zh-CN" altLang="en-US" b="1"/>
              <a:t>    </a:t>
            </a:r>
            <a:r>
              <a:rPr lang="en-US" altLang="zh-CN" b="1"/>
              <a:t>f</a:t>
            </a:r>
            <a:r>
              <a:rPr lang="zh-CN" altLang="en-US" b="1"/>
              <a:t>是从</a:t>
            </a:r>
            <a:r>
              <a:rPr lang="en-US" altLang="zh-CN" b="1"/>
              <a:t>A</a:t>
            </a:r>
            <a:r>
              <a:rPr lang="zh-CN" altLang="en-US" b="1"/>
              <a:t>到</a:t>
            </a:r>
            <a:r>
              <a:rPr lang="en-US" altLang="zh-CN" b="1"/>
              <a:t>B</a:t>
            </a:r>
            <a:r>
              <a:rPr lang="zh-CN" altLang="en-US" b="1"/>
              <a:t>的一个满射，则</a:t>
            </a:r>
            <a:r>
              <a:rPr lang="en-US" altLang="zh-CN" b="1"/>
              <a:t>f</a:t>
            </a:r>
            <a:r>
              <a:rPr lang="zh-CN" altLang="en-US" b="1"/>
              <a:t>是</a:t>
            </a:r>
            <a:r>
              <a:rPr lang="zh-CN" altLang="en-US" b="1">
                <a:solidFill>
                  <a:srgbClr val="FF0000"/>
                </a:solidFill>
              </a:rPr>
              <a:t>满同态</a:t>
            </a:r>
            <a:r>
              <a:rPr lang="zh-CN" altLang="en-US" b="1"/>
              <a:t>；</a:t>
            </a:r>
          </a:p>
          <a:p>
            <a:pPr>
              <a:lnSpc>
                <a:spcPct val="120000"/>
              </a:lnSpc>
            </a:pPr>
            <a:r>
              <a:rPr lang="zh-CN" altLang="en-US" b="1"/>
              <a:t>    </a:t>
            </a:r>
            <a:r>
              <a:rPr lang="en-US" altLang="zh-CN" b="1"/>
              <a:t>f</a:t>
            </a:r>
            <a:r>
              <a:rPr lang="zh-CN" altLang="en-US" b="1"/>
              <a:t>是从</a:t>
            </a:r>
            <a:r>
              <a:rPr lang="en-US" altLang="zh-CN" b="1"/>
              <a:t>A</a:t>
            </a:r>
            <a:r>
              <a:rPr lang="zh-CN" altLang="en-US" b="1"/>
              <a:t>到</a:t>
            </a:r>
            <a:r>
              <a:rPr lang="en-US" altLang="zh-CN" b="1"/>
              <a:t>B</a:t>
            </a:r>
            <a:r>
              <a:rPr lang="zh-CN" altLang="en-US" b="1"/>
              <a:t>的一个入射，则</a:t>
            </a:r>
            <a:r>
              <a:rPr lang="en-US" altLang="zh-CN" b="1"/>
              <a:t>f</a:t>
            </a:r>
            <a:r>
              <a:rPr lang="zh-CN" altLang="en-US" b="1"/>
              <a:t>是称为</a:t>
            </a:r>
            <a:r>
              <a:rPr lang="zh-CN" altLang="en-US" b="1">
                <a:solidFill>
                  <a:srgbClr val="FF0000"/>
                </a:solidFill>
              </a:rPr>
              <a:t>单一同态</a:t>
            </a:r>
            <a:r>
              <a:rPr lang="zh-CN" altLang="en-US" b="1"/>
              <a:t>；</a:t>
            </a:r>
          </a:p>
          <a:p>
            <a:pPr>
              <a:lnSpc>
                <a:spcPct val="120000"/>
              </a:lnSpc>
            </a:pPr>
            <a:r>
              <a:rPr lang="zh-CN" altLang="en-US" b="1"/>
              <a:t>    </a:t>
            </a:r>
            <a:r>
              <a:rPr lang="en-US" altLang="zh-CN" b="1"/>
              <a:t>f</a:t>
            </a:r>
            <a:r>
              <a:rPr lang="zh-CN" altLang="en-US" b="1"/>
              <a:t>是从</a:t>
            </a:r>
            <a:r>
              <a:rPr lang="en-US" altLang="zh-CN" b="1"/>
              <a:t>A</a:t>
            </a:r>
            <a:r>
              <a:rPr lang="zh-CN" altLang="en-US" b="1"/>
              <a:t>到</a:t>
            </a:r>
            <a:r>
              <a:rPr lang="en-US" altLang="zh-CN" b="1"/>
              <a:t>B</a:t>
            </a:r>
            <a:r>
              <a:rPr lang="zh-CN" altLang="en-US" b="1"/>
              <a:t>的一个双射，则</a:t>
            </a:r>
            <a:r>
              <a:rPr lang="en-US" altLang="zh-CN" b="1"/>
              <a:t>f</a:t>
            </a:r>
            <a:r>
              <a:rPr lang="zh-CN" altLang="en-US" b="1"/>
              <a:t>是同构映射，并称</a:t>
            </a:r>
            <a:r>
              <a:rPr lang="en-US" altLang="zh-CN" b="1"/>
              <a:t>&lt;A, </a:t>
            </a:r>
            <a:r>
              <a:rPr lang="en-US" altLang="zh-CN" sz="1800" b="1">
                <a:latin typeface="Arial" charset="0"/>
              </a:rPr>
              <a:t>★ </a:t>
            </a:r>
            <a:r>
              <a:rPr lang="en-US" altLang="zh-CN" b="1"/>
              <a:t>&gt;</a:t>
            </a:r>
            <a:r>
              <a:rPr lang="zh-CN" altLang="en-US" b="1"/>
              <a:t>和</a:t>
            </a:r>
            <a:r>
              <a:rPr lang="en-US" altLang="zh-CN" b="1"/>
              <a:t>&lt;B, *&gt;</a:t>
            </a:r>
            <a:r>
              <a:rPr lang="zh-CN" altLang="en-US" b="1"/>
              <a:t>是</a:t>
            </a:r>
            <a:r>
              <a:rPr lang="zh-CN" altLang="en-US" b="1" i="1">
                <a:solidFill>
                  <a:srgbClr val="FF0000"/>
                </a:solidFill>
              </a:rPr>
              <a:t>同构</a:t>
            </a:r>
            <a:r>
              <a:rPr lang="zh-CN" altLang="en-US" b="1"/>
              <a:t>的。记为</a:t>
            </a:r>
            <a:r>
              <a:rPr lang="en-US" altLang="zh-CN" b="1">
                <a:solidFill>
                  <a:srgbClr val="FF0000"/>
                </a:solidFill>
              </a:rPr>
              <a:t>&lt;A, </a:t>
            </a:r>
            <a:r>
              <a:rPr lang="en-US" altLang="zh-CN" sz="1800" b="1">
                <a:solidFill>
                  <a:srgbClr val="FF0000"/>
                </a:solidFill>
                <a:latin typeface="Arial" charset="0"/>
              </a:rPr>
              <a:t>★ </a:t>
            </a:r>
            <a:r>
              <a:rPr lang="en-US" altLang="zh-CN" b="1">
                <a:solidFill>
                  <a:srgbClr val="FF0000"/>
                </a:solidFill>
              </a:rPr>
              <a:t>&gt;≌&lt;B, *&gt;</a:t>
            </a:r>
            <a:r>
              <a:rPr lang="zh-CN" altLang="en-US" b="1"/>
              <a:t>，简记作</a:t>
            </a:r>
            <a:r>
              <a:rPr lang="en-US" altLang="zh-CN" b="1">
                <a:solidFill>
                  <a:srgbClr val="FF0000"/>
                </a:solidFill>
              </a:rPr>
              <a:t>A≌B</a:t>
            </a:r>
            <a:r>
              <a:rPr lang="zh-CN" altLang="en-US" b="1"/>
              <a:t>。</a:t>
            </a:r>
          </a:p>
        </p:txBody>
      </p:sp>
      <p:sp>
        <p:nvSpPr>
          <p:cNvPr id="477190" name="Text Box 6"/>
          <p:cNvSpPr txBox="1">
            <a:spLocks noChangeArrowheads="1"/>
          </p:cNvSpPr>
          <p:nvPr/>
        </p:nvSpPr>
        <p:spPr bwMode="auto">
          <a:xfrm>
            <a:off x="466725" y="4868863"/>
            <a:ext cx="8277225"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kumimoji="1" sz="2400">
                <a:solidFill>
                  <a:schemeClr val="tx1"/>
                </a:solidFill>
                <a:latin typeface="Times New Roman" pitchFamily="18" charset="0"/>
                <a:ea typeface="宋体" pitchFamily="2" charset="-122"/>
              </a:defRPr>
            </a:lvl1pPr>
            <a:lvl2pPr marL="53975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20000"/>
              </a:lnSpc>
            </a:pPr>
            <a:endParaRPr lang="zh-CN" altLang="zh-CN" b="1"/>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77186">
                                            <p:txEl>
                                              <p:pRg st="1" end="1"/>
                                            </p:txEl>
                                          </p:spTgt>
                                        </p:tgtEl>
                                        <p:attrNameLst>
                                          <p:attrName>style.visibility</p:attrName>
                                        </p:attrNameLst>
                                      </p:cBhvr>
                                      <p:to>
                                        <p:strVal val="visible"/>
                                      </p:to>
                                    </p:set>
                                    <p:anim calcmode="lin" valueType="num">
                                      <p:cBhvr additive="base">
                                        <p:cTn id="7" dur="500" fill="hold"/>
                                        <p:tgtEl>
                                          <p:spTgt spid="47718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718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77186">
                                            <p:txEl>
                                              <p:pRg st="2" end="2"/>
                                            </p:txEl>
                                          </p:spTgt>
                                        </p:tgtEl>
                                        <p:attrNameLst>
                                          <p:attrName>style.visibility</p:attrName>
                                        </p:attrNameLst>
                                      </p:cBhvr>
                                      <p:to>
                                        <p:strVal val="visible"/>
                                      </p:to>
                                    </p:set>
                                    <p:anim calcmode="lin" valueType="num">
                                      <p:cBhvr additive="base">
                                        <p:cTn id="13" dur="500" fill="hold"/>
                                        <p:tgtEl>
                                          <p:spTgt spid="47718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718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77186">
                                            <p:txEl>
                                              <p:pRg st="3" end="3"/>
                                            </p:txEl>
                                          </p:spTgt>
                                        </p:tgtEl>
                                        <p:attrNameLst>
                                          <p:attrName>style.visibility</p:attrName>
                                        </p:attrNameLst>
                                      </p:cBhvr>
                                      <p:to>
                                        <p:strVal val="visible"/>
                                      </p:to>
                                    </p:set>
                                    <p:anim calcmode="lin" valueType="num">
                                      <p:cBhvr additive="base">
                                        <p:cTn id="19" dur="500" fill="hold"/>
                                        <p:tgtEl>
                                          <p:spTgt spid="47718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718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nodePh="1">
                                  <p:stCondLst>
                                    <p:cond delay="0"/>
                                  </p:stCondLst>
                                  <p:endCondLst>
                                    <p:cond evt="begin" delay="0">
                                      <p:tn val="23"/>
                                    </p:cond>
                                  </p:endCondLst>
                                  <p:childTnLst>
                                    <p:set>
                                      <p:cBhvr>
                                        <p:cTn id="24" dur="1" fill="hold">
                                          <p:stCondLst>
                                            <p:cond delay="0"/>
                                          </p:stCondLst>
                                        </p:cTn>
                                        <p:tgtEl>
                                          <p:spTgt spid="477190"/>
                                        </p:tgtEl>
                                        <p:attrNameLst>
                                          <p:attrName>style.visibility</p:attrName>
                                        </p:attrNameLst>
                                      </p:cBhvr>
                                      <p:to>
                                        <p:strVal val="visible"/>
                                      </p:to>
                                    </p:set>
                                    <p:anim calcmode="lin" valueType="num">
                                      <p:cBhvr additive="base">
                                        <p:cTn id="25" dur="500" fill="hold"/>
                                        <p:tgtEl>
                                          <p:spTgt spid="477190"/>
                                        </p:tgtEl>
                                        <p:attrNameLst>
                                          <p:attrName>ppt_x</p:attrName>
                                        </p:attrNameLst>
                                      </p:cBhvr>
                                      <p:tavLst>
                                        <p:tav tm="0">
                                          <p:val>
                                            <p:strVal val="#ppt_x"/>
                                          </p:val>
                                        </p:tav>
                                        <p:tav tm="100000">
                                          <p:val>
                                            <p:strVal val="#ppt_x"/>
                                          </p:val>
                                        </p:tav>
                                      </p:tavLst>
                                    </p:anim>
                                    <p:anim calcmode="lin" valueType="num">
                                      <p:cBhvr additive="base">
                                        <p:cTn id="26" dur="500" fill="hold"/>
                                        <p:tgtEl>
                                          <p:spTgt spid="4771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7190"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灯片编号占位符 2"/>
          <p:cNvSpPr>
            <a:spLocks noGrp="1"/>
          </p:cNvSpPr>
          <p:nvPr>
            <p:ph type="sldNum" sz="quarter" idx="11"/>
          </p:nvPr>
        </p:nvSpPr>
        <p:spPr/>
        <p:txBody>
          <a:bodyPr/>
          <a:lstStyle/>
          <a:p>
            <a:fld id="{BCCD486A-202C-4AAC-9D6A-1898556BBB29}" type="slidenum">
              <a:rPr lang="en-US" altLang="zh-CN"/>
              <a:pPr/>
              <a:t>70</a:t>
            </a:fld>
            <a:endParaRPr lang="en-US" altLang="zh-CN"/>
          </a:p>
        </p:txBody>
      </p:sp>
      <p:sp>
        <p:nvSpPr>
          <p:cNvPr id="478210" name="Text Box 2"/>
          <p:cNvSpPr txBox="1">
            <a:spLocks noChangeArrowheads="1"/>
          </p:cNvSpPr>
          <p:nvPr/>
        </p:nvSpPr>
        <p:spPr bwMode="auto">
          <a:xfrm>
            <a:off x="466725" y="923925"/>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lang="zh-CN" altLang="en-US" b="1">
                <a:solidFill>
                  <a:srgbClr val="FF0000"/>
                </a:solidFill>
              </a:rPr>
              <a:t>例</a:t>
            </a:r>
            <a:r>
              <a:rPr lang="en-US" altLang="zh-CN" b="1">
                <a:solidFill>
                  <a:srgbClr val="FF0000"/>
                </a:solidFill>
              </a:rPr>
              <a:t>2</a:t>
            </a:r>
            <a:r>
              <a:rPr lang="zh-CN" altLang="en-US" b="1">
                <a:solidFill>
                  <a:srgbClr val="FF0000"/>
                </a:solidFill>
              </a:rPr>
              <a:t>：</a:t>
            </a:r>
            <a:r>
              <a:rPr lang="zh-CN" altLang="en-US" b="1"/>
              <a:t>设</a:t>
            </a:r>
            <a:r>
              <a:rPr lang="en-US" altLang="zh-CN" b="1"/>
              <a:t>A={a, b, c, d}</a:t>
            </a:r>
            <a:r>
              <a:rPr lang="zh-CN" altLang="en-US" b="1">
                <a:latin typeface="Arial" charset="0"/>
              </a:rPr>
              <a:t>，</a:t>
            </a:r>
            <a:r>
              <a:rPr lang="en-US" altLang="zh-CN" b="1"/>
              <a:t>B={1, 2, 3, 4}</a:t>
            </a:r>
            <a:r>
              <a:rPr lang="zh-CN" altLang="en-US" b="1"/>
              <a:t>，在</a:t>
            </a:r>
            <a:r>
              <a:rPr lang="en-US" altLang="zh-CN" b="1"/>
              <a:t>A</a:t>
            </a:r>
            <a:r>
              <a:rPr lang="zh-CN" altLang="en-US" b="1"/>
              <a:t>，</a:t>
            </a:r>
            <a:r>
              <a:rPr lang="en-US" altLang="zh-CN" b="1"/>
              <a:t>B</a:t>
            </a:r>
            <a:r>
              <a:rPr lang="zh-CN" altLang="en-US" b="1"/>
              <a:t>上定义的二元运算如下所示，证明</a:t>
            </a:r>
            <a:r>
              <a:rPr lang="en-US" altLang="zh-CN" b="1"/>
              <a:t>&lt;A, ★&gt; </a:t>
            </a:r>
            <a:r>
              <a:rPr lang="zh-CN" altLang="en-US" b="1"/>
              <a:t>和</a:t>
            </a:r>
            <a:r>
              <a:rPr lang="en-US" altLang="zh-CN" b="1"/>
              <a:t>&lt;B, *&gt;</a:t>
            </a:r>
            <a:r>
              <a:rPr lang="zh-CN" altLang="en-US" b="1"/>
              <a:t>同构</a:t>
            </a:r>
            <a:r>
              <a:rPr lang="zh-CN" altLang="en-US" sz="2200" b="1"/>
              <a:t>。</a:t>
            </a:r>
            <a:endParaRPr lang="zh-CN" altLang="en-US" sz="1800" b="1">
              <a:latin typeface="Arial" charset="0"/>
            </a:endParaRPr>
          </a:p>
        </p:txBody>
      </p:sp>
      <p:graphicFrame>
        <p:nvGraphicFramePr>
          <p:cNvPr id="478278" name="Group 70"/>
          <p:cNvGraphicFramePr>
            <a:graphicFrameLocks noGrp="1"/>
          </p:cNvGraphicFramePr>
          <p:nvPr/>
        </p:nvGraphicFramePr>
        <p:xfrm>
          <a:off x="1476375" y="1962150"/>
          <a:ext cx="2684463" cy="2011680"/>
        </p:xfrm>
        <a:graphic>
          <a:graphicData uri="http://schemas.openxmlformats.org/drawingml/2006/table">
            <a:tbl>
              <a:tblPr/>
              <a:tblGrid>
                <a:gridCol w="595313"/>
                <a:gridCol w="2089150"/>
              </a:tblGrid>
              <a:tr h="412750">
                <a:tc>
                  <a:txBody>
                    <a:body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a     b     c     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443038">
                <a:tc>
                  <a:txBody>
                    <a:body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a</a:t>
                      </a:r>
                    </a:p>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b</a:t>
                      </a:r>
                    </a:p>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c</a:t>
                      </a:r>
                    </a:p>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a     b     c     d</a:t>
                      </a:r>
                    </a:p>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b     a     a     c</a:t>
                      </a:r>
                    </a:p>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b     d     d     c</a:t>
                      </a:r>
                    </a:p>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a     b     c     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78279" name="Group 71"/>
          <p:cNvGraphicFramePr>
            <a:graphicFrameLocks noGrp="1"/>
          </p:cNvGraphicFramePr>
          <p:nvPr/>
        </p:nvGraphicFramePr>
        <p:xfrm>
          <a:off x="5232400" y="1962150"/>
          <a:ext cx="2673350" cy="2011680"/>
        </p:xfrm>
        <a:graphic>
          <a:graphicData uri="http://schemas.openxmlformats.org/drawingml/2006/table">
            <a:tbl>
              <a:tblPr/>
              <a:tblGrid>
                <a:gridCol w="584200"/>
                <a:gridCol w="2089150"/>
              </a:tblGrid>
              <a:tr h="387350">
                <a:tc>
                  <a:txBody>
                    <a:body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1     2     3     4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443038">
                <a:tc>
                  <a:txBody>
                    <a:body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a:t>
                      </a:r>
                    </a:p>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a:t>
                      </a:r>
                    </a:p>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3</a:t>
                      </a:r>
                    </a:p>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533400" marR="0" lvl="0" indent="-5334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1     2     3     4</a:t>
                      </a:r>
                    </a:p>
                    <a:p>
                      <a:pPr marL="533400" marR="0" lvl="0" indent="-5334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3</a:t>
                      </a:r>
                      <a:endParaRPr kumimoji="0" lang="en-US" altLang="zh-CN" sz="2400" b="1" i="0" u="none" strike="noStrike" cap="none" normalizeH="0" baseline="0" smtClean="0">
                        <a:ln>
                          <a:noFill/>
                        </a:ln>
                        <a:solidFill>
                          <a:schemeClr val="tx1"/>
                        </a:solidFill>
                        <a:effectLst/>
                        <a:latin typeface="Times New Roman" pitchFamily="18" charset="0"/>
                        <a:ea typeface="宋体" pitchFamily="2" charset="-122"/>
                      </a:endParaRPr>
                    </a:p>
                    <a:p>
                      <a:pPr marL="533400" marR="0" lvl="0" indent="-5334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    </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3</a:t>
                      </a:r>
                      <a:endParaRPr kumimoji="0" lang="en-US" altLang="zh-CN" sz="2400" b="1" i="0" u="none" strike="noStrike" cap="none" normalizeH="0" baseline="0" smtClean="0">
                        <a:ln>
                          <a:noFill/>
                        </a:ln>
                        <a:solidFill>
                          <a:schemeClr val="tx1"/>
                        </a:solidFill>
                        <a:effectLst/>
                        <a:latin typeface="Times New Roman" pitchFamily="18" charset="0"/>
                        <a:ea typeface="宋体" pitchFamily="2" charset="-122"/>
                      </a:endParaRPr>
                    </a:p>
                    <a:p>
                      <a:pPr marL="533400" marR="0" lvl="0" indent="-5334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3</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     </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78233" name="Text Box 25"/>
          <p:cNvSpPr txBox="1">
            <a:spLocks noChangeArrowheads="1"/>
          </p:cNvSpPr>
          <p:nvPr/>
        </p:nvSpPr>
        <p:spPr bwMode="auto">
          <a:xfrm>
            <a:off x="468313" y="3933825"/>
            <a:ext cx="8277225"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lang="zh-CN" altLang="en-US" b="1"/>
              <a:t>证明：设</a:t>
            </a:r>
            <a:r>
              <a:rPr lang="en-US" altLang="zh-CN" b="1"/>
              <a:t>f(a) =1</a:t>
            </a:r>
            <a:r>
              <a:rPr lang="zh-CN" altLang="en-US" b="1"/>
              <a:t>，</a:t>
            </a:r>
            <a:r>
              <a:rPr lang="en-US" altLang="zh-CN" b="1"/>
              <a:t>f(b)=2</a:t>
            </a:r>
            <a:r>
              <a:rPr lang="zh-CN" altLang="en-US" b="1"/>
              <a:t>，</a:t>
            </a:r>
            <a:r>
              <a:rPr lang="en-US" altLang="zh-CN" b="1"/>
              <a:t>f(c)=3</a:t>
            </a:r>
            <a:r>
              <a:rPr lang="zh-CN" altLang="en-US" b="1">
                <a:latin typeface="Arial" charset="0"/>
              </a:rPr>
              <a:t>，</a:t>
            </a:r>
            <a:r>
              <a:rPr lang="en-US" altLang="zh-CN" b="1"/>
              <a:t>f(d)=4</a:t>
            </a:r>
            <a:r>
              <a:rPr lang="zh-CN" altLang="en-US" b="1"/>
              <a:t>，</a:t>
            </a:r>
          </a:p>
          <a:p>
            <a:pPr algn="l">
              <a:lnSpc>
                <a:spcPct val="120000"/>
              </a:lnSpc>
            </a:pPr>
            <a:r>
              <a:rPr lang="zh-CN" altLang="en-US" b="1"/>
              <a:t>由表可得</a:t>
            </a:r>
            <a:r>
              <a:rPr lang="en-US" altLang="zh-CN" b="1"/>
              <a:t>f</a:t>
            </a:r>
            <a:r>
              <a:rPr lang="zh-CN" altLang="en-US" b="1"/>
              <a:t>是</a:t>
            </a:r>
            <a:r>
              <a:rPr lang="en-US" altLang="zh-CN" b="1"/>
              <a:t>&lt;A, ★&gt;</a:t>
            </a:r>
            <a:r>
              <a:rPr lang="zh-CN" altLang="en-US" b="1"/>
              <a:t>到</a:t>
            </a:r>
            <a:r>
              <a:rPr lang="en-US" altLang="zh-CN" b="1"/>
              <a:t>&lt;B, *&gt;</a:t>
            </a:r>
            <a:r>
              <a:rPr lang="zh-CN" altLang="en-US" b="1"/>
              <a:t>的同态，</a:t>
            </a:r>
          </a:p>
          <a:p>
            <a:pPr algn="l">
              <a:lnSpc>
                <a:spcPct val="120000"/>
              </a:lnSpc>
            </a:pPr>
            <a:r>
              <a:rPr lang="en-US" altLang="zh-CN" b="1"/>
              <a:t>f</a:t>
            </a:r>
            <a:r>
              <a:rPr lang="zh-CN" altLang="en-US" b="1"/>
              <a:t>是一个双射函数，</a:t>
            </a:r>
            <a:r>
              <a:rPr lang="en-US" altLang="zh-CN" b="1"/>
              <a:t>A≌B</a:t>
            </a:r>
            <a:r>
              <a:rPr lang="zh-CN" altLang="en-US" b="1"/>
              <a:t>。</a:t>
            </a:r>
          </a:p>
          <a:p>
            <a:pPr algn="l">
              <a:lnSpc>
                <a:spcPct val="120000"/>
              </a:lnSpc>
            </a:pPr>
            <a:r>
              <a:rPr lang="zh-CN" altLang="en-US" b="1"/>
              <a:t>如果</a:t>
            </a:r>
            <a:r>
              <a:rPr lang="en-US" altLang="zh-CN" b="1"/>
              <a:t>g(a)=4</a:t>
            </a:r>
            <a:r>
              <a:rPr lang="zh-CN" altLang="en-US" b="1"/>
              <a:t>，</a:t>
            </a:r>
            <a:r>
              <a:rPr lang="en-US" altLang="zh-CN" b="1"/>
              <a:t>g(b)=3</a:t>
            </a:r>
            <a:r>
              <a:rPr lang="zh-CN" altLang="en-US" b="1"/>
              <a:t>，</a:t>
            </a:r>
            <a:r>
              <a:rPr lang="en-US" altLang="zh-CN" b="1"/>
              <a:t>g(c)=2</a:t>
            </a:r>
            <a:r>
              <a:rPr lang="zh-CN" altLang="en-US" b="1"/>
              <a:t>，</a:t>
            </a:r>
            <a:r>
              <a:rPr lang="en-US" altLang="zh-CN" b="1"/>
              <a:t>g(d)=1</a:t>
            </a:r>
            <a:r>
              <a:rPr lang="zh-CN" altLang="en-US" b="1"/>
              <a:t>，</a:t>
            </a:r>
          </a:p>
          <a:p>
            <a:pPr algn="l">
              <a:lnSpc>
                <a:spcPct val="120000"/>
              </a:lnSpc>
            </a:pPr>
            <a:r>
              <a:rPr lang="en-US" altLang="zh-CN" b="1"/>
              <a:t>g</a:t>
            </a:r>
            <a:r>
              <a:rPr lang="zh-CN" altLang="en-US" b="1"/>
              <a:t>也是由</a:t>
            </a:r>
            <a:r>
              <a:rPr lang="en-US" altLang="zh-CN" b="1"/>
              <a:t>&lt;A, *&gt;</a:t>
            </a:r>
            <a:r>
              <a:rPr lang="zh-CN" altLang="en-US" b="1"/>
              <a:t>到</a:t>
            </a:r>
            <a:r>
              <a:rPr lang="en-US" altLang="zh-CN" b="1"/>
              <a:t>&lt;B, +&gt;</a:t>
            </a:r>
            <a:r>
              <a:rPr lang="zh-CN" altLang="en-US" b="1"/>
              <a:t>的一个同构。</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78233">
                                            <p:txEl>
                                              <p:pRg st="0" end="0"/>
                                            </p:txEl>
                                          </p:spTgt>
                                        </p:tgtEl>
                                        <p:attrNameLst>
                                          <p:attrName>style.visibility</p:attrName>
                                        </p:attrNameLst>
                                      </p:cBhvr>
                                      <p:to>
                                        <p:strVal val="visible"/>
                                      </p:to>
                                    </p:set>
                                    <p:anim calcmode="lin" valueType="num">
                                      <p:cBhvr additive="base">
                                        <p:cTn id="7" dur="500" fill="hold"/>
                                        <p:tgtEl>
                                          <p:spTgt spid="47823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823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78233">
                                            <p:txEl>
                                              <p:pRg st="1" end="1"/>
                                            </p:txEl>
                                          </p:spTgt>
                                        </p:tgtEl>
                                        <p:attrNameLst>
                                          <p:attrName>style.visibility</p:attrName>
                                        </p:attrNameLst>
                                      </p:cBhvr>
                                      <p:to>
                                        <p:strVal val="visible"/>
                                      </p:to>
                                    </p:set>
                                    <p:anim calcmode="lin" valueType="num">
                                      <p:cBhvr additive="base">
                                        <p:cTn id="13" dur="500" fill="hold"/>
                                        <p:tgtEl>
                                          <p:spTgt spid="47823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823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78233">
                                            <p:txEl>
                                              <p:pRg st="2" end="2"/>
                                            </p:txEl>
                                          </p:spTgt>
                                        </p:tgtEl>
                                        <p:attrNameLst>
                                          <p:attrName>style.visibility</p:attrName>
                                        </p:attrNameLst>
                                      </p:cBhvr>
                                      <p:to>
                                        <p:strVal val="visible"/>
                                      </p:to>
                                    </p:set>
                                    <p:anim calcmode="lin" valueType="num">
                                      <p:cBhvr additive="base">
                                        <p:cTn id="19" dur="500" fill="hold"/>
                                        <p:tgtEl>
                                          <p:spTgt spid="47823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823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478233">
                                            <p:txEl>
                                              <p:pRg st="3" end="3"/>
                                            </p:txEl>
                                          </p:spTgt>
                                        </p:tgtEl>
                                        <p:attrNameLst>
                                          <p:attrName>style.visibility</p:attrName>
                                        </p:attrNameLst>
                                      </p:cBhvr>
                                      <p:to>
                                        <p:strVal val="visible"/>
                                      </p:to>
                                    </p:set>
                                    <p:anim calcmode="lin" valueType="num">
                                      <p:cBhvr additive="base">
                                        <p:cTn id="25" dur="500" fill="hold"/>
                                        <p:tgtEl>
                                          <p:spTgt spid="47823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7823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478233">
                                            <p:txEl>
                                              <p:pRg st="4" end="4"/>
                                            </p:txEl>
                                          </p:spTgt>
                                        </p:tgtEl>
                                        <p:attrNameLst>
                                          <p:attrName>style.visibility</p:attrName>
                                        </p:attrNameLst>
                                      </p:cBhvr>
                                      <p:to>
                                        <p:strVal val="visible"/>
                                      </p:to>
                                    </p:set>
                                    <p:anim calcmode="lin" valueType="num">
                                      <p:cBhvr additive="base">
                                        <p:cTn id="31" dur="500" fill="hold"/>
                                        <p:tgtEl>
                                          <p:spTgt spid="47823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7823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灯片编号占位符 2"/>
          <p:cNvSpPr>
            <a:spLocks noGrp="1"/>
          </p:cNvSpPr>
          <p:nvPr>
            <p:ph type="sldNum" sz="quarter" idx="11"/>
          </p:nvPr>
        </p:nvSpPr>
        <p:spPr/>
        <p:txBody>
          <a:bodyPr/>
          <a:lstStyle/>
          <a:p>
            <a:fld id="{1F69FAA1-D4FB-4EA1-8CA8-4A1BAD53854E}" type="slidenum">
              <a:rPr lang="en-US" altLang="zh-CN"/>
              <a:pPr/>
              <a:t>71</a:t>
            </a:fld>
            <a:endParaRPr lang="en-US" altLang="zh-CN"/>
          </a:p>
        </p:txBody>
      </p:sp>
      <p:sp>
        <p:nvSpPr>
          <p:cNvPr id="479234" name="Text Box 2"/>
          <p:cNvSpPr txBox="1">
            <a:spLocks noChangeArrowheads="1"/>
          </p:cNvSpPr>
          <p:nvPr/>
        </p:nvSpPr>
        <p:spPr bwMode="auto">
          <a:xfrm>
            <a:off x="466725" y="1136650"/>
            <a:ext cx="8277225" cy="436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kumimoji="1" sz="2400">
                <a:solidFill>
                  <a:schemeClr val="tx1"/>
                </a:solidFill>
                <a:latin typeface="Times New Roman" pitchFamily="18" charset="0"/>
                <a:ea typeface="宋体" pitchFamily="2" charset="-122"/>
              </a:defRPr>
            </a:lvl1pPr>
            <a:lvl2pPr marL="1093788" indent="-457200" algn="l">
              <a:defRPr kumimoji="1" sz="2400">
                <a:solidFill>
                  <a:schemeClr val="tx1"/>
                </a:solidFill>
                <a:latin typeface="Times New Roman" pitchFamily="18" charset="0"/>
                <a:ea typeface="宋体" pitchFamily="2" charset="-122"/>
              </a:defRPr>
            </a:lvl2pPr>
            <a:lvl3pPr marL="1730375" indent="-457200" algn="l">
              <a:defRPr kumimoji="1" sz="2400">
                <a:solidFill>
                  <a:schemeClr val="tx1"/>
                </a:solidFill>
                <a:latin typeface="Times New Roman" pitchFamily="18" charset="0"/>
                <a:ea typeface="宋体" pitchFamily="2" charset="-122"/>
              </a:defRPr>
            </a:lvl3pPr>
            <a:lvl4pPr marL="2366963" indent="-457200" algn="l">
              <a:defRPr kumimoji="1" sz="2400">
                <a:solidFill>
                  <a:schemeClr val="tx1"/>
                </a:solidFill>
                <a:latin typeface="Times New Roman" pitchFamily="18" charset="0"/>
                <a:ea typeface="宋体" pitchFamily="2" charset="-122"/>
              </a:defRPr>
            </a:lvl4pPr>
            <a:lvl5pPr marL="3003550" indent="-457200" algn="l">
              <a:defRPr kumimoji="1" sz="2400">
                <a:solidFill>
                  <a:schemeClr val="tx1"/>
                </a:solidFill>
                <a:latin typeface="Times New Roman" pitchFamily="18" charset="0"/>
                <a:ea typeface="宋体" pitchFamily="2" charset="-122"/>
              </a:defRPr>
            </a:lvl5pPr>
            <a:lvl6pPr marL="3460750" indent="-457200" fontAlgn="base">
              <a:spcBef>
                <a:spcPct val="0"/>
              </a:spcBef>
              <a:spcAft>
                <a:spcPct val="0"/>
              </a:spcAft>
              <a:defRPr kumimoji="1" sz="2400">
                <a:solidFill>
                  <a:schemeClr val="tx1"/>
                </a:solidFill>
                <a:latin typeface="Times New Roman" pitchFamily="18" charset="0"/>
                <a:ea typeface="宋体" pitchFamily="2" charset="-122"/>
              </a:defRPr>
            </a:lvl6pPr>
            <a:lvl7pPr marL="3917950" indent="-457200" fontAlgn="base">
              <a:spcBef>
                <a:spcPct val="0"/>
              </a:spcBef>
              <a:spcAft>
                <a:spcPct val="0"/>
              </a:spcAft>
              <a:defRPr kumimoji="1" sz="2400">
                <a:solidFill>
                  <a:schemeClr val="tx1"/>
                </a:solidFill>
                <a:latin typeface="Times New Roman" pitchFamily="18" charset="0"/>
                <a:ea typeface="宋体" pitchFamily="2" charset="-122"/>
              </a:defRPr>
            </a:lvl7pPr>
            <a:lvl8pPr marL="4375150" indent="-457200" fontAlgn="base">
              <a:spcBef>
                <a:spcPct val="0"/>
              </a:spcBef>
              <a:spcAft>
                <a:spcPct val="0"/>
              </a:spcAft>
              <a:defRPr kumimoji="1" sz="2400">
                <a:solidFill>
                  <a:schemeClr val="tx1"/>
                </a:solidFill>
                <a:latin typeface="Times New Roman" pitchFamily="18" charset="0"/>
                <a:ea typeface="宋体" pitchFamily="2" charset="-122"/>
              </a:defRPr>
            </a:lvl8pPr>
            <a:lvl9pPr marL="4832350" indent="-457200" fontAlgn="base">
              <a:spcBef>
                <a:spcPct val="0"/>
              </a:spcBef>
              <a:spcAft>
                <a:spcPct val="0"/>
              </a:spcAft>
              <a:defRPr kumimoji="1" sz="2400">
                <a:solidFill>
                  <a:schemeClr val="tx1"/>
                </a:solidFill>
                <a:latin typeface="Times New Roman" pitchFamily="18" charset="0"/>
                <a:ea typeface="宋体" pitchFamily="2" charset="-122"/>
              </a:defRPr>
            </a:lvl9pPr>
          </a:lstStyle>
          <a:p>
            <a:pPr algn="just">
              <a:lnSpc>
                <a:spcPct val="130000"/>
              </a:lnSpc>
              <a:buClr>
                <a:srgbClr val="FF3300"/>
              </a:buClr>
              <a:buFont typeface="Wingdings" pitchFamily="2" charset="2"/>
              <a:buChar char="Ø"/>
            </a:pPr>
            <a:r>
              <a:rPr lang="en-US" altLang="zh-CN" b="1"/>
              <a:t>  </a:t>
            </a:r>
            <a:r>
              <a:rPr lang="zh-CN" altLang="en-US" b="1"/>
              <a:t>当两个代数系统是同构的，它们之间的映射可以是</a:t>
            </a:r>
            <a:r>
              <a:rPr lang="zh-CN" altLang="en-US" b="1">
                <a:solidFill>
                  <a:srgbClr val="FF0000"/>
                </a:solidFill>
              </a:rPr>
              <a:t>不唯一的</a:t>
            </a:r>
            <a:r>
              <a:rPr lang="zh-CN" altLang="en-US" b="1"/>
              <a:t>。</a:t>
            </a:r>
          </a:p>
          <a:p>
            <a:pPr>
              <a:lnSpc>
                <a:spcPct val="130000"/>
              </a:lnSpc>
              <a:buClr>
                <a:srgbClr val="FF3300"/>
              </a:buClr>
              <a:buFont typeface="Wingdings" pitchFamily="2" charset="2"/>
              <a:buChar char="Ø"/>
            </a:pPr>
            <a:r>
              <a:rPr lang="zh-CN" altLang="en-US" b="1"/>
              <a:t>  同构的两个代数系统，可看成是</a:t>
            </a:r>
            <a:r>
              <a:rPr lang="zh-CN" altLang="en-US" b="1">
                <a:solidFill>
                  <a:srgbClr val="FF0000"/>
                </a:solidFill>
              </a:rPr>
              <a:t>本质相同但形式不同</a:t>
            </a:r>
            <a:r>
              <a:rPr lang="zh-CN" altLang="en-US" b="1"/>
              <a:t>的代数系统。</a:t>
            </a:r>
          </a:p>
          <a:p>
            <a:pPr>
              <a:lnSpc>
                <a:spcPct val="130000"/>
              </a:lnSpc>
              <a:buClr>
                <a:srgbClr val="FF3300"/>
              </a:buClr>
              <a:buFont typeface="Wingdings" pitchFamily="2" charset="2"/>
              <a:buChar char="Ø"/>
            </a:pPr>
            <a:endParaRPr lang="zh-CN" altLang="en-US" b="1"/>
          </a:p>
          <a:p>
            <a:pPr>
              <a:lnSpc>
                <a:spcPct val="130000"/>
              </a:lnSpc>
              <a:buClr>
                <a:srgbClr val="FF3300"/>
              </a:buClr>
              <a:buFont typeface="Wingdings" pitchFamily="2" charset="2"/>
              <a:buChar char="Ø"/>
            </a:pPr>
            <a:endParaRPr lang="zh-CN" altLang="en-US" b="1"/>
          </a:p>
          <a:p>
            <a:pPr>
              <a:lnSpc>
                <a:spcPct val="130000"/>
              </a:lnSpc>
              <a:buClr>
                <a:srgbClr val="FF3300"/>
              </a:buClr>
              <a:buFont typeface="Wingdings" pitchFamily="2" charset="2"/>
              <a:buChar char="Ø"/>
            </a:pPr>
            <a:endParaRPr lang="zh-CN" altLang="en-US" b="1"/>
          </a:p>
          <a:p>
            <a:pPr>
              <a:lnSpc>
                <a:spcPct val="130000"/>
              </a:lnSpc>
              <a:buClr>
                <a:srgbClr val="FF3300"/>
              </a:buClr>
              <a:buFont typeface="Wingdings" pitchFamily="2" charset="2"/>
              <a:buChar char="Ø"/>
            </a:pPr>
            <a:r>
              <a:rPr lang="zh-CN" altLang="en-US" b="1"/>
              <a:t>  如果代数系统</a:t>
            </a:r>
            <a:r>
              <a:rPr lang="en-US" altLang="zh-CN" b="1"/>
              <a:t>U</a:t>
            </a:r>
            <a:r>
              <a:rPr lang="zh-CN" altLang="en-US" b="1"/>
              <a:t>，</a:t>
            </a:r>
            <a:r>
              <a:rPr lang="en-US" altLang="zh-CN" b="1"/>
              <a:t>V</a:t>
            </a:r>
            <a:r>
              <a:rPr lang="zh-CN" altLang="en-US" b="1"/>
              <a:t>是同构的，则从</a:t>
            </a:r>
            <a:r>
              <a:rPr lang="en-US" altLang="zh-CN" b="1"/>
              <a:t>V</a:t>
            </a:r>
            <a:r>
              <a:rPr lang="zh-CN" altLang="en-US" b="1">
                <a:latin typeface="Arial" charset="0"/>
              </a:rPr>
              <a:t>，</a:t>
            </a:r>
            <a:r>
              <a:rPr lang="en-US" altLang="zh-CN" b="1"/>
              <a:t>U</a:t>
            </a:r>
            <a:r>
              <a:rPr lang="zh-CN" altLang="en-US" b="1"/>
              <a:t>也必定存在一个同构的映射</a:t>
            </a:r>
            <a:r>
              <a:rPr lang="en-US" altLang="zh-CN" b="1"/>
              <a:t>f </a:t>
            </a:r>
            <a:r>
              <a:rPr lang="en-US" altLang="zh-CN" b="1" baseline="30000"/>
              <a:t>-1</a:t>
            </a:r>
            <a:r>
              <a:rPr lang="zh-CN" altLang="en-US" b="1"/>
              <a:t>，故</a:t>
            </a:r>
            <a:r>
              <a:rPr lang="en-US" altLang="zh-CN" b="1"/>
              <a:t>U</a:t>
            </a:r>
            <a:r>
              <a:rPr lang="zh-CN" altLang="en-US" b="1">
                <a:latin typeface="Arial" charset="0"/>
              </a:rPr>
              <a:t>，</a:t>
            </a:r>
            <a:r>
              <a:rPr lang="en-US" altLang="zh-CN" b="1"/>
              <a:t>V</a:t>
            </a:r>
            <a:r>
              <a:rPr lang="zh-CN" altLang="en-US" b="1"/>
              <a:t>是互为同构的。</a:t>
            </a:r>
          </a:p>
        </p:txBody>
      </p:sp>
      <p:graphicFrame>
        <p:nvGraphicFramePr>
          <p:cNvPr id="479235" name="Group 3"/>
          <p:cNvGraphicFramePr>
            <a:graphicFrameLocks noGrp="1"/>
          </p:cNvGraphicFramePr>
          <p:nvPr/>
        </p:nvGraphicFramePr>
        <p:xfrm>
          <a:off x="3419475" y="3141663"/>
          <a:ext cx="2014538" cy="1371600"/>
        </p:xfrm>
        <a:graphic>
          <a:graphicData uri="http://schemas.openxmlformats.org/drawingml/2006/table">
            <a:tbl>
              <a:tblPr/>
              <a:tblGrid>
                <a:gridCol w="792163"/>
                <a:gridCol w="1222375"/>
              </a:tblGrid>
              <a:tr h="314325">
                <a:tc>
                  <a:txBody>
                    <a:bodyPr/>
                    <a:lstStyle/>
                    <a:p>
                      <a:pPr marL="342900" marR="0" lvl="0" indent="-34290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rgbClr val="0000CC"/>
                          </a:solidFill>
                          <a:effectLst/>
                          <a:latin typeface="Arial" charset="0"/>
                          <a:ea typeface="宋体" pitchFamily="2" charset="-122"/>
                        </a:rPr>
                        <a:t>+</a:t>
                      </a:r>
                      <a:r>
                        <a:rPr kumimoji="0" lang="en-US" altLang="zh-CN" sz="2400" b="1" i="0" u="none" strike="noStrike" cap="none" normalizeH="0" baseline="0" smtClean="0">
                          <a:ln>
                            <a:noFill/>
                          </a:ln>
                          <a:solidFill>
                            <a:srgbClr val="0000CC"/>
                          </a:solidFill>
                          <a:effectLst/>
                          <a:latin typeface="Arial" charset="0"/>
                          <a:ea typeface="宋体" pitchFamily="2" charset="-122"/>
                          <a:sym typeface="Symbol" pitchFamily="18" charset="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rgbClr val="0000CC"/>
                          </a:solidFill>
                          <a:effectLst/>
                          <a:latin typeface="Arial" charset="0"/>
                          <a:ea typeface="宋体" pitchFamily="2" charset="-122"/>
                        </a:rPr>
                        <a:t>0   180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14400">
                <a:tc>
                  <a:txBody>
                    <a:bodyPr/>
                    <a:lstStyle/>
                    <a:p>
                      <a:pPr marL="342900" marR="0" lvl="0" indent="-34290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rgbClr val="0000CC"/>
                          </a:solidFill>
                          <a:effectLst/>
                          <a:latin typeface="Arial" charset="0"/>
                          <a:ea typeface="宋体" pitchFamily="2" charset="-122"/>
                        </a:rPr>
                        <a:t>0 </a:t>
                      </a:r>
                    </a:p>
                    <a:p>
                      <a:pPr marL="342900" marR="0" lvl="0" indent="-34290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rgbClr val="0000CC"/>
                          </a:solidFill>
                          <a:effectLst/>
                          <a:latin typeface="Arial" charset="0"/>
                          <a:ea typeface="宋体" pitchFamily="2" charset="-122"/>
                        </a:rPr>
                        <a:t>180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rgbClr val="0000CC"/>
                          </a:solidFill>
                          <a:effectLst/>
                          <a:latin typeface="Arial" charset="0"/>
                          <a:ea typeface="宋体" pitchFamily="2" charset="-122"/>
                        </a:rPr>
                        <a:t>0   180</a:t>
                      </a:r>
                    </a:p>
                    <a:p>
                      <a:pPr marL="342900" marR="0" lvl="0" indent="-34290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rgbClr val="0000CC"/>
                          </a:solidFill>
                          <a:effectLst/>
                          <a:latin typeface="Arial" charset="0"/>
                          <a:ea typeface="宋体" pitchFamily="2" charset="-122"/>
                        </a:rPr>
                        <a:t>180   0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79246" name="Group 14"/>
          <p:cNvGraphicFramePr>
            <a:graphicFrameLocks noGrp="1"/>
          </p:cNvGraphicFramePr>
          <p:nvPr/>
        </p:nvGraphicFramePr>
        <p:xfrm>
          <a:off x="1187450" y="3141663"/>
          <a:ext cx="2014538" cy="1371600"/>
        </p:xfrm>
        <a:graphic>
          <a:graphicData uri="http://schemas.openxmlformats.org/drawingml/2006/table">
            <a:tbl>
              <a:tblPr/>
              <a:tblGrid>
                <a:gridCol w="792163"/>
                <a:gridCol w="1222375"/>
              </a:tblGrid>
              <a:tr h="314325">
                <a:tc>
                  <a:txBody>
                    <a:bodyPr/>
                    <a:lstStyle/>
                    <a:p>
                      <a:pPr marL="342900" marR="0" lvl="0" indent="-34290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rgbClr val="0000CC"/>
                          </a:solidFill>
                          <a:effectLst/>
                          <a:latin typeface="Arial" charset="0"/>
                          <a:ea typeface="黑体" pitchFamily="49" charset="-122"/>
                          <a:sym typeface="Symbol" pitchFamily="18" charset="2"/>
                        </a:rPr>
                        <a:t></a:t>
                      </a:r>
                      <a:endParaRPr kumimoji="0" lang="en-US" altLang="zh-CN" sz="2400" b="1" i="0" u="none" strike="noStrike" cap="none" normalizeH="0" baseline="0" smtClean="0">
                        <a:ln>
                          <a:noFill/>
                        </a:ln>
                        <a:solidFill>
                          <a:srgbClr val="0000CC"/>
                        </a:solidFill>
                        <a:effectLst/>
                        <a:latin typeface="Arial" charset="0"/>
                        <a:ea typeface="黑体" pitchFamily="49" charset="-122"/>
                        <a:cs typeface="Arial" charset="0"/>
                        <a:sym typeface="Symbol" pitchFamily="18" charset="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1" i="0" u="none" strike="noStrike" cap="none" normalizeH="0" baseline="0" smtClean="0">
                          <a:ln>
                            <a:noFill/>
                          </a:ln>
                          <a:solidFill>
                            <a:srgbClr val="0000CC"/>
                          </a:solidFill>
                          <a:effectLst/>
                          <a:latin typeface="Arial" charset="0"/>
                          <a:ea typeface="黑体" pitchFamily="49" charset="-122"/>
                        </a:rPr>
                        <a:t>偶   奇</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14400">
                <a:tc>
                  <a:txBody>
                    <a:bodyPr/>
                    <a:lstStyle/>
                    <a:p>
                      <a:pPr marL="342900" marR="0" lvl="0" indent="-34290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1" i="0" u="none" strike="noStrike" cap="none" normalizeH="0" baseline="0" smtClean="0">
                          <a:ln>
                            <a:noFill/>
                          </a:ln>
                          <a:solidFill>
                            <a:srgbClr val="0000CC"/>
                          </a:solidFill>
                          <a:effectLst/>
                          <a:latin typeface="Arial" charset="0"/>
                          <a:ea typeface="黑体" pitchFamily="49" charset="-122"/>
                        </a:rPr>
                        <a:t>偶 </a:t>
                      </a:r>
                    </a:p>
                    <a:p>
                      <a:pPr marL="342900" marR="0" lvl="0" indent="-34290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1" i="0" u="none" strike="noStrike" cap="none" normalizeH="0" baseline="0" smtClean="0">
                          <a:ln>
                            <a:noFill/>
                          </a:ln>
                          <a:solidFill>
                            <a:srgbClr val="0000CC"/>
                          </a:solidFill>
                          <a:effectLst/>
                          <a:latin typeface="Arial" charset="0"/>
                          <a:ea typeface="黑体" pitchFamily="49" charset="-122"/>
                        </a:rPr>
                        <a:t>奇</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1" i="0" u="none" strike="noStrike" cap="none" normalizeH="0" baseline="0" smtClean="0">
                          <a:ln>
                            <a:noFill/>
                          </a:ln>
                          <a:solidFill>
                            <a:srgbClr val="0000CC"/>
                          </a:solidFill>
                          <a:effectLst/>
                          <a:latin typeface="Arial" charset="0"/>
                          <a:ea typeface="黑体" pitchFamily="49" charset="-122"/>
                        </a:rPr>
                        <a:t>偶   奇</a:t>
                      </a:r>
                    </a:p>
                    <a:p>
                      <a:pPr marL="342900" marR="0" lvl="0" indent="-34290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1" i="0" u="none" strike="noStrike" cap="none" normalizeH="0" baseline="0" smtClean="0">
                          <a:ln>
                            <a:noFill/>
                          </a:ln>
                          <a:solidFill>
                            <a:srgbClr val="0000CC"/>
                          </a:solidFill>
                          <a:effectLst/>
                          <a:latin typeface="Arial" charset="0"/>
                          <a:ea typeface="黑体" pitchFamily="49" charset="-122"/>
                        </a:rPr>
                        <a:t>奇   偶</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79257" name="Group 25"/>
          <p:cNvGraphicFramePr>
            <a:graphicFrameLocks noGrp="1"/>
          </p:cNvGraphicFramePr>
          <p:nvPr/>
        </p:nvGraphicFramePr>
        <p:xfrm>
          <a:off x="5724525" y="3141663"/>
          <a:ext cx="2014538" cy="1371600"/>
        </p:xfrm>
        <a:graphic>
          <a:graphicData uri="http://schemas.openxmlformats.org/drawingml/2006/table">
            <a:tbl>
              <a:tblPr/>
              <a:tblGrid>
                <a:gridCol w="792163"/>
                <a:gridCol w="1222375"/>
              </a:tblGrid>
              <a:tr h="314325">
                <a:tc>
                  <a:txBody>
                    <a:bodyPr/>
                    <a:lstStyle/>
                    <a:p>
                      <a:pPr marL="342900" marR="0" lvl="0" indent="-34290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rPr>
                        <a: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00CC"/>
                    </a:solidFill>
                  </a:tcPr>
                </a:tc>
                <a:tc>
                  <a:txBody>
                    <a:bodyPr/>
                    <a:lstStyle/>
                    <a:p>
                      <a:pPr marL="342900" marR="0" lvl="0" indent="-34290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rgbClr val="FFFF00"/>
                          </a:solidFill>
                          <a:effectLst>
                            <a:outerShdw blurRad="38100" dist="38100" dir="2700000" algn="tl">
                              <a:srgbClr val="000000"/>
                            </a:outerShdw>
                          </a:effectLst>
                          <a:latin typeface="Arial" charset="0"/>
                          <a:ea typeface="黑体" pitchFamily="49" charset="-122"/>
                        </a:rPr>
                        <a:t>A   B</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00CC"/>
                    </a:solidFill>
                  </a:tcPr>
                </a:tc>
              </a:tr>
              <a:tr h="914400">
                <a:tc>
                  <a:txBody>
                    <a:bodyPr/>
                    <a:lstStyle/>
                    <a:p>
                      <a:pPr marL="342900" marR="0" lvl="0" indent="-34290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rgbClr val="FFFF00"/>
                          </a:solidFill>
                          <a:effectLst>
                            <a:outerShdw blurRad="38100" dist="38100" dir="2700000" algn="tl">
                              <a:srgbClr val="000000"/>
                            </a:outerShdw>
                          </a:effectLst>
                          <a:latin typeface="Arial" charset="0"/>
                          <a:ea typeface="黑体" pitchFamily="49" charset="-122"/>
                        </a:rPr>
                        <a:t>A </a:t>
                      </a:r>
                    </a:p>
                    <a:p>
                      <a:pPr marL="342900" marR="0" lvl="0" indent="-34290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rgbClr val="FFFF00"/>
                          </a:solidFill>
                          <a:effectLst>
                            <a:outerShdw blurRad="38100" dist="38100" dir="2700000" algn="tl">
                              <a:srgbClr val="000000"/>
                            </a:outerShdw>
                          </a:effectLst>
                          <a:latin typeface="Arial" charset="0"/>
                          <a:ea typeface="黑体" pitchFamily="49" charset="-122"/>
                        </a:rPr>
                        <a:t>B</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00CC"/>
                    </a:solidFill>
                  </a:tcPr>
                </a:tc>
                <a:tc>
                  <a:txBody>
                    <a:bodyPr/>
                    <a:lstStyle/>
                    <a:p>
                      <a:pPr marL="342900" marR="0" lvl="0" indent="-34290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rgbClr val="FFFF00"/>
                          </a:solidFill>
                          <a:effectLst>
                            <a:outerShdw blurRad="38100" dist="38100" dir="2700000" algn="tl">
                              <a:srgbClr val="000000"/>
                            </a:outerShdw>
                          </a:effectLst>
                          <a:latin typeface="Arial" charset="0"/>
                          <a:ea typeface="黑体" pitchFamily="49" charset="-122"/>
                        </a:rPr>
                        <a:t>A   B</a:t>
                      </a:r>
                    </a:p>
                    <a:p>
                      <a:pPr marL="342900" marR="0" lvl="0" indent="-34290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rgbClr val="FFFF00"/>
                          </a:solidFill>
                          <a:effectLst>
                            <a:outerShdw blurRad="38100" dist="38100" dir="2700000" algn="tl">
                              <a:srgbClr val="000000"/>
                            </a:outerShdw>
                          </a:effectLst>
                          <a:latin typeface="Arial" charset="0"/>
                          <a:ea typeface="黑体" pitchFamily="49" charset="-122"/>
                        </a:rPr>
                        <a:t>B   A</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00CC"/>
                    </a:solidFill>
                  </a:tcPr>
                </a:tc>
              </a:tr>
            </a:tbl>
          </a:graphicData>
        </a:graphic>
      </p:graphicFrame>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7923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9246"/>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479257"/>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479234">
                                            <p:txEl>
                                              <p:pRg st="5" end="5"/>
                                            </p:txEl>
                                          </p:spTgt>
                                        </p:tgtEl>
                                        <p:attrNameLst>
                                          <p:attrName>style.visibility</p:attrName>
                                        </p:attrNameLst>
                                      </p:cBhvr>
                                      <p:to>
                                        <p:strVal val="visible"/>
                                      </p:to>
                                    </p:set>
                                    <p:anim calcmode="lin" valueType="num">
                                      <p:cBhvr additive="base">
                                        <p:cTn id="17" dur="500" fill="hold"/>
                                        <p:tgtEl>
                                          <p:spTgt spid="479234">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7923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460824AF-F588-4134-B830-E6B18B5101AF}" type="slidenum">
              <a:rPr lang="en-US" altLang="zh-CN"/>
              <a:pPr/>
              <a:t>72</a:t>
            </a:fld>
            <a:endParaRPr lang="en-US" altLang="zh-CN"/>
          </a:p>
        </p:txBody>
      </p:sp>
      <p:sp>
        <p:nvSpPr>
          <p:cNvPr id="530435" name="Rectangle 3"/>
          <p:cNvSpPr>
            <a:spLocks noGrp="1" noChangeArrowheads="1"/>
          </p:cNvSpPr>
          <p:nvPr>
            <p:ph type="body" idx="1"/>
          </p:nvPr>
        </p:nvSpPr>
        <p:spPr>
          <a:xfrm>
            <a:off x="466725" y="981075"/>
            <a:ext cx="8277225" cy="936347"/>
          </a:xfrm>
          <a:noFill/>
        </p:spPr>
        <p:txBody>
          <a:bodyPr/>
          <a:lstStyle/>
          <a:p>
            <a:pPr>
              <a:lnSpc>
                <a:spcPct val="120000"/>
              </a:lnSpc>
              <a:spcBef>
                <a:spcPct val="0"/>
              </a:spcBef>
              <a:buClrTx/>
              <a:buSzTx/>
              <a:buFontTx/>
              <a:buNone/>
            </a:pPr>
            <a:r>
              <a:rPr kumimoji="1" lang="zh-CN" altLang="en-US" sz="2400" dirty="0">
                <a:solidFill>
                  <a:srgbClr val="FF0000"/>
                </a:solidFill>
              </a:rPr>
              <a:t>定理</a:t>
            </a:r>
            <a:r>
              <a:rPr kumimoji="1" lang="en-US" altLang="zh-CN" sz="2400" dirty="0">
                <a:solidFill>
                  <a:srgbClr val="FF0000"/>
                </a:solidFill>
              </a:rPr>
              <a:t>5-8.1</a:t>
            </a:r>
            <a:r>
              <a:rPr kumimoji="1" lang="zh-CN" altLang="en-US" sz="2400" dirty="0">
                <a:solidFill>
                  <a:srgbClr val="FF0000"/>
                </a:solidFill>
              </a:rPr>
              <a:t>：</a:t>
            </a:r>
            <a:r>
              <a:rPr kumimoji="1" lang="zh-CN" altLang="en-US" sz="2400" dirty="0"/>
              <a:t>设</a:t>
            </a:r>
            <a:r>
              <a:rPr kumimoji="1" lang="en-US" altLang="zh-CN" sz="2400" dirty="0"/>
              <a:t>G</a:t>
            </a:r>
            <a:r>
              <a:rPr kumimoji="1" lang="zh-CN" altLang="en-US" sz="2400" dirty="0"/>
              <a:t>是代数系统的集合，则</a:t>
            </a:r>
            <a:r>
              <a:rPr kumimoji="1" lang="en-US" altLang="zh-CN" sz="2400" dirty="0"/>
              <a:t>G</a:t>
            </a:r>
            <a:r>
              <a:rPr kumimoji="1" lang="zh-CN" altLang="en-US" sz="2400" dirty="0"/>
              <a:t>中代数系统之间的同构关系是等价关系</a:t>
            </a:r>
            <a:r>
              <a:rPr kumimoji="1" lang="zh-CN" altLang="en-US" sz="2400" dirty="0" smtClean="0"/>
              <a:t>。</a:t>
            </a:r>
            <a:endParaRPr kumimoji="1" lang="zh-CN" altLang="en-US" sz="2400" dirty="0"/>
          </a:p>
        </p:txBody>
      </p:sp>
      <p:sp>
        <p:nvSpPr>
          <p:cNvPr id="530436" name="Rectangle 4"/>
          <p:cNvSpPr>
            <a:spLocks noChangeArrowheads="1"/>
          </p:cNvSpPr>
          <p:nvPr/>
        </p:nvSpPr>
        <p:spPr bwMode="auto">
          <a:xfrm>
            <a:off x="1044575" y="257175"/>
            <a:ext cx="68405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3200" b="1">
                <a:solidFill>
                  <a:schemeClr val="folHlink"/>
                </a:solidFill>
                <a:latin typeface="楷体_GB2312" pitchFamily="49" charset="-122"/>
                <a:ea typeface="楷体_GB2312" pitchFamily="49" charset="-122"/>
              </a:rPr>
              <a:t>2</a:t>
            </a:r>
            <a:r>
              <a:rPr lang="zh-CN" altLang="en-US" sz="3200" b="1">
                <a:solidFill>
                  <a:schemeClr val="folHlink"/>
                </a:solidFill>
                <a:latin typeface="楷体_GB2312" pitchFamily="49" charset="-122"/>
                <a:ea typeface="楷体_GB2312" pitchFamily="49" charset="-122"/>
              </a:rPr>
              <a:t>、同态、同构的性质</a:t>
            </a:r>
          </a:p>
        </p:txBody>
      </p:sp>
    </p:spTree>
  </p:cSld>
  <p:clrMapOvr>
    <a:masterClrMapping/>
  </p:clrMapOvr>
  <p:transition spd="slow">
    <p:pull dir="ru"/>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1D396FF9-A13A-4C48-A206-9E216F7B4981}" type="slidenum">
              <a:rPr lang="en-US" altLang="zh-CN"/>
              <a:pPr/>
              <a:t>73</a:t>
            </a:fld>
            <a:endParaRPr lang="en-US" altLang="zh-CN"/>
          </a:p>
        </p:txBody>
      </p:sp>
      <p:sp>
        <p:nvSpPr>
          <p:cNvPr id="481283" name="Text Box 3"/>
          <p:cNvSpPr txBox="1">
            <a:spLocks noChangeArrowheads="1"/>
          </p:cNvSpPr>
          <p:nvPr/>
        </p:nvSpPr>
        <p:spPr bwMode="auto">
          <a:xfrm>
            <a:off x="466725" y="1062038"/>
            <a:ext cx="8277225" cy="3159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kumimoji="1" sz="2400">
                <a:solidFill>
                  <a:schemeClr val="tx1"/>
                </a:solidFill>
                <a:latin typeface="Times New Roman" pitchFamily="18" charset="0"/>
                <a:ea typeface="宋体" pitchFamily="2" charset="-122"/>
              </a:defRPr>
            </a:lvl1pPr>
            <a:lvl2pPr marL="53975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lnSpc>
                <a:spcPct val="120000"/>
              </a:lnSpc>
            </a:pPr>
            <a:r>
              <a:rPr lang="zh-CN" altLang="en-US" b="1">
                <a:solidFill>
                  <a:srgbClr val="FF0000"/>
                </a:solidFill>
              </a:rPr>
              <a:t>定理</a:t>
            </a:r>
            <a:r>
              <a:rPr lang="en-US" altLang="zh-CN" b="1">
                <a:solidFill>
                  <a:srgbClr val="FF0000"/>
                </a:solidFill>
              </a:rPr>
              <a:t>5-8.2</a:t>
            </a:r>
            <a:r>
              <a:rPr lang="zh-CN" altLang="en-US" b="1">
                <a:solidFill>
                  <a:srgbClr val="FF0000"/>
                </a:solidFill>
              </a:rPr>
              <a:t>：</a:t>
            </a:r>
            <a:r>
              <a:rPr lang="zh-CN" altLang="en-US" b="1"/>
              <a:t>设</a:t>
            </a:r>
            <a:r>
              <a:rPr lang="en-US" altLang="zh-CN" b="1"/>
              <a:t>f</a:t>
            </a:r>
            <a:r>
              <a:rPr lang="zh-CN" altLang="en-US" b="1"/>
              <a:t>是从代数系统</a:t>
            </a:r>
            <a:r>
              <a:rPr lang="en-US" altLang="zh-CN" b="1"/>
              <a:t>&lt;A,★&gt;</a:t>
            </a:r>
            <a:r>
              <a:rPr lang="zh-CN" altLang="en-US" b="1"/>
              <a:t>到</a:t>
            </a:r>
            <a:r>
              <a:rPr lang="en-US" altLang="zh-CN" b="1"/>
              <a:t>&lt;B,*&gt;</a:t>
            </a:r>
            <a:r>
              <a:rPr lang="zh-CN" altLang="en-US" b="1"/>
              <a:t>的</a:t>
            </a:r>
            <a:r>
              <a:rPr lang="zh-CN" altLang="en-US" b="1">
                <a:solidFill>
                  <a:srgbClr val="FF0000"/>
                </a:solidFill>
              </a:rPr>
              <a:t>同态映射</a:t>
            </a:r>
            <a:r>
              <a:rPr lang="zh-CN" altLang="en-US" b="1"/>
              <a:t>。</a:t>
            </a:r>
          </a:p>
          <a:p>
            <a:pPr eaLnBrk="0" hangingPunct="0">
              <a:lnSpc>
                <a:spcPct val="120000"/>
              </a:lnSpc>
            </a:pPr>
            <a:r>
              <a:rPr lang="en-US" altLang="zh-CN" b="1"/>
              <a:t>(a) </a:t>
            </a:r>
            <a:r>
              <a:rPr lang="zh-CN" altLang="en-US" b="1"/>
              <a:t>如果</a:t>
            </a:r>
            <a:r>
              <a:rPr lang="en-US" altLang="zh-CN" b="1"/>
              <a:t>&lt;A,★&gt; </a:t>
            </a:r>
            <a:r>
              <a:rPr lang="zh-CN" altLang="en-US" b="1"/>
              <a:t>是半群，那么在</a:t>
            </a:r>
            <a:r>
              <a:rPr lang="en-US" altLang="zh-CN" b="1"/>
              <a:t>f </a:t>
            </a:r>
            <a:r>
              <a:rPr lang="zh-CN" altLang="en-US" b="1"/>
              <a:t>作用下，同态象</a:t>
            </a:r>
            <a:r>
              <a:rPr lang="en-US" altLang="zh-CN" b="1"/>
              <a:t>&lt;f(A),*&gt;</a:t>
            </a:r>
            <a:r>
              <a:rPr lang="zh-CN" altLang="en-US" b="1"/>
              <a:t>也是半群。</a:t>
            </a:r>
          </a:p>
          <a:p>
            <a:pPr eaLnBrk="0" hangingPunct="0">
              <a:lnSpc>
                <a:spcPct val="120000"/>
              </a:lnSpc>
            </a:pPr>
            <a:r>
              <a:rPr lang="en-US" altLang="zh-CN" b="1"/>
              <a:t>(b)</a:t>
            </a:r>
            <a:r>
              <a:rPr lang="zh-CN" altLang="en-US" b="1"/>
              <a:t>如果</a:t>
            </a:r>
            <a:r>
              <a:rPr lang="en-US" altLang="zh-CN" b="1"/>
              <a:t>&lt;A,★&gt;</a:t>
            </a:r>
            <a:r>
              <a:rPr lang="zh-CN" altLang="en-US" b="1"/>
              <a:t>是独异点，那么在</a:t>
            </a:r>
            <a:r>
              <a:rPr lang="en-US" altLang="zh-CN" b="1"/>
              <a:t>f </a:t>
            </a:r>
            <a:r>
              <a:rPr lang="zh-CN" altLang="en-US" b="1"/>
              <a:t>作用下，同态象</a:t>
            </a:r>
            <a:r>
              <a:rPr lang="en-US" altLang="zh-CN" b="1"/>
              <a:t>&lt;f(A),*&gt;</a:t>
            </a:r>
            <a:r>
              <a:rPr lang="zh-CN" altLang="en-US" b="1"/>
              <a:t>也是独异点。</a:t>
            </a:r>
          </a:p>
          <a:p>
            <a:pPr eaLnBrk="0" hangingPunct="0">
              <a:lnSpc>
                <a:spcPct val="120000"/>
              </a:lnSpc>
            </a:pPr>
            <a:r>
              <a:rPr lang="en-US" altLang="zh-CN" b="1"/>
              <a:t>(c)</a:t>
            </a:r>
            <a:r>
              <a:rPr lang="zh-CN" altLang="en-US" b="1"/>
              <a:t>如果</a:t>
            </a:r>
            <a:r>
              <a:rPr lang="en-US" altLang="zh-CN" b="1"/>
              <a:t>&lt;A,★&gt; </a:t>
            </a:r>
            <a:r>
              <a:rPr lang="zh-CN" altLang="en-US" b="1"/>
              <a:t>是群，那么在</a:t>
            </a:r>
            <a:r>
              <a:rPr lang="en-US" altLang="zh-CN" b="1"/>
              <a:t>f </a:t>
            </a:r>
            <a:r>
              <a:rPr lang="zh-CN" altLang="en-US" b="1"/>
              <a:t>作用下，同态象</a:t>
            </a:r>
            <a:r>
              <a:rPr lang="en-US" altLang="zh-CN" b="1"/>
              <a:t>&lt;f(A),*&gt;</a:t>
            </a:r>
            <a:r>
              <a:rPr lang="zh-CN" altLang="en-US" b="1"/>
              <a:t>也是群。</a:t>
            </a:r>
          </a:p>
        </p:txBody>
      </p:sp>
    </p:spTree>
  </p:cSld>
  <p:clrMapOvr>
    <a:masterClrMapping/>
  </p:clrMapOvr>
  <p:transition spd="slow">
    <p:pull dir="ru"/>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2"/>
          <p:cNvSpPr>
            <a:spLocks noGrp="1"/>
          </p:cNvSpPr>
          <p:nvPr>
            <p:ph type="sldNum" sz="quarter" idx="11"/>
          </p:nvPr>
        </p:nvSpPr>
        <p:spPr/>
        <p:txBody>
          <a:bodyPr/>
          <a:lstStyle/>
          <a:p>
            <a:fld id="{F149F19A-253E-46C6-93CD-D9C08425D194}" type="slidenum">
              <a:rPr lang="en-US" altLang="zh-CN"/>
              <a:pPr/>
              <a:t>74</a:t>
            </a:fld>
            <a:endParaRPr lang="en-US" altLang="zh-CN"/>
          </a:p>
        </p:txBody>
      </p:sp>
      <p:sp>
        <p:nvSpPr>
          <p:cNvPr id="483330" name="Text Box 2"/>
          <p:cNvSpPr txBox="1">
            <a:spLocks noChangeArrowheads="1"/>
          </p:cNvSpPr>
          <p:nvPr/>
        </p:nvSpPr>
        <p:spPr bwMode="auto">
          <a:xfrm>
            <a:off x="466725" y="1192213"/>
            <a:ext cx="8277225" cy="151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kumimoji="1" sz="2400">
                <a:solidFill>
                  <a:schemeClr val="tx1"/>
                </a:solidFill>
                <a:latin typeface="Times New Roman" pitchFamily="18" charset="0"/>
                <a:ea typeface="宋体" pitchFamily="2" charset="-122"/>
              </a:defRPr>
            </a:lvl1pPr>
            <a:lvl2pPr marL="53975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30000"/>
              </a:lnSpc>
            </a:pPr>
            <a:r>
              <a:rPr lang="zh-CN" altLang="en-US" b="1" dirty="0">
                <a:solidFill>
                  <a:srgbClr val="FF0000"/>
                </a:solidFill>
              </a:rPr>
              <a:t>定义</a:t>
            </a:r>
            <a:r>
              <a:rPr lang="en-US" altLang="zh-CN" b="1" dirty="0">
                <a:solidFill>
                  <a:srgbClr val="FF0000"/>
                </a:solidFill>
              </a:rPr>
              <a:t>5-8.4</a:t>
            </a:r>
            <a:r>
              <a:rPr lang="zh-CN" altLang="en-US" b="1" dirty="0">
                <a:solidFill>
                  <a:srgbClr val="FF0000"/>
                </a:solidFill>
              </a:rPr>
              <a:t>：</a:t>
            </a:r>
            <a:r>
              <a:rPr lang="zh-CN" altLang="en-US" b="1" dirty="0"/>
              <a:t>设</a:t>
            </a:r>
            <a:r>
              <a:rPr lang="en-US" altLang="zh-CN" b="1" dirty="0"/>
              <a:t>f</a:t>
            </a:r>
            <a:r>
              <a:rPr lang="zh-CN" altLang="en-US" b="1" dirty="0"/>
              <a:t>是由群</a:t>
            </a:r>
            <a:r>
              <a:rPr lang="en-US" altLang="zh-CN" b="1" dirty="0"/>
              <a:t>&lt;G,★&gt;</a:t>
            </a:r>
            <a:r>
              <a:rPr lang="zh-CN" altLang="en-US" b="1" dirty="0"/>
              <a:t>到群</a:t>
            </a:r>
            <a:r>
              <a:rPr lang="en-US" altLang="zh-CN" b="1" dirty="0"/>
              <a:t>&lt;</a:t>
            </a:r>
            <a:r>
              <a:rPr lang="en-US" altLang="zh-CN" b="1" dirty="0" smtClean="0"/>
              <a:t>G</a:t>
            </a:r>
            <a:r>
              <a:rPr lang="en-US" altLang="zh-CN" b="1" dirty="0">
                <a:sym typeface="Symbol" pitchFamily="18" charset="2"/>
              </a:rPr>
              <a:t>'</a:t>
            </a:r>
            <a:r>
              <a:rPr lang="en-US" altLang="zh-CN" b="1" dirty="0" smtClean="0"/>
              <a:t>,*&gt;</a:t>
            </a:r>
            <a:r>
              <a:rPr lang="zh-CN" altLang="en-US" b="1" dirty="0"/>
              <a:t>的同态映射，</a:t>
            </a:r>
            <a:r>
              <a:rPr lang="en-US" altLang="zh-CN" b="1" dirty="0" smtClean="0"/>
              <a:t>e</a:t>
            </a:r>
            <a:r>
              <a:rPr lang="en-US" altLang="zh-CN" b="1" dirty="0">
                <a:sym typeface="Symbol" pitchFamily="18" charset="2"/>
              </a:rPr>
              <a:t>'</a:t>
            </a:r>
            <a:r>
              <a:rPr lang="zh-CN" altLang="en-US" b="1" dirty="0" smtClean="0"/>
              <a:t>是</a:t>
            </a:r>
            <a:r>
              <a:rPr lang="en-US" altLang="zh-CN" b="1" dirty="0" smtClean="0"/>
              <a:t>G</a:t>
            </a:r>
            <a:r>
              <a:rPr lang="en-US" altLang="zh-CN" b="1" dirty="0">
                <a:sym typeface="Symbol" pitchFamily="18" charset="2"/>
              </a:rPr>
              <a:t>'</a:t>
            </a:r>
            <a:r>
              <a:rPr lang="zh-CN" altLang="en-US" b="1" dirty="0" smtClean="0"/>
              <a:t>中</a:t>
            </a:r>
            <a:r>
              <a:rPr lang="zh-CN" altLang="en-US" b="1" dirty="0"/>
              <a:t>的幺元，记</a:t>
            </a:r>
            <a:r>
              <a:rPr lang="en-US" altLang="zh-CN" b="1" dirty="0"/>
              <a:t>Ker(f)={</a:t>
            </a:r>
            <a:r>
              <a:rPr lang="en-US" altLang="zh-CN" b="1" dirty="0" err="1"/>
              <a:t>x|x</a:t>
            </a:r>
            <a:r>
              <a:rPr lang="en-US" altLang="zh-CN" b="1" dirty="0" err="1">
                <a:sym typeface="Symbol" pitchFamily="18" charset="2"/>
              </a:rPr>
              <a:t>G</a:t>
            </a:r>
            <a:r>
              <a:rPr lang="zh-CN" altLang="en-US" b="1" dirty="0">
                <a:sym typeface="Symbol" pitchFamily="18" charset="2"/>
              </a:rPr>
              <a:t>且</a:t>
            </a:r>
            <a:r>
              <a:rPr lang="en-US" altLang="zh-CN" b="1" dirty="0">
                <a:sym typeface="Symbol" pitchFamily="18" charset="2"/>
              </a:rPr>
              <a:t>f(x)=e'</a:t>
            </a:r>
            <a:r>
              <a:rPr lang="en-US" altLang="zh-CN" b="1" dirty="0" smtClean="0"/>
              <a:t>}</a:t>
            </a:r>
            <a:r>
              <a:rPr lang="zh-CN" altLang="en-US" b="1" dirty="0"/>
              <a:t>，称</a:t>
            </a:r>
            <a:r>
              <a:rPr lang="en-US" altLang="zh-CN" b="1" i="1" dirty="0">
                <a:solidFill>
                  <a:srgbClr val="FF0000"/>
                </a:solidFill>
              </a:rPr>
              <a:t>Ker(f)</a:t>
            </a:r>
            <a:r>
              <a:rPr lang="zh-CN" altLang="en-US" b="1" i="1" dirty="0">
                <a:solidFill>
                  <a:srgbClr val="FF0000"/>
                </a:solidFill>
              </a:rPr>
              <a:t>为同态映射 </a:t>
            </a:r>
            <a:r>
              <a:rPr lang="en-US" altLang="zh-CN" b="1" i="1" dirty="0">
                <a:solidFill>
                  <a:srgbClr val="FF0000"/>
                </a:solidFill>
              </a:rPr>
              <a:t>f</a:t>
            </a:r>
            <a:r>
              <a:rPr lang="zh-CN" altLang="en-US" b="1" i="1" dirty="0">
                <a:solidFill>
                  <a:srgbClr val="FF0000"/>
                </a:solidFill>
              </a:rPr>
              <a:t>的核</a:t>
            </a:r>
            <a:r>
              <a:rPr lang="zh-CN" altLang="en-US" b="1" dirty="0"/>
              <a:t>，简称 </a:t>
            </a:r>
            <a:r>
              <a:rPr lang="en-US" altLang="zh-CN" b="1" i="1" dirty="0">
                <a:solidFill>
                  <a:srgbClr val="FF0000"/>
                </a:solidFill>
              </a:rPr>
              <a:t>f</a:t>
            </a:r>
            <a:r>
              <a:rPr lang="zh-CN" altLang="en-US" b="1" i="1" dirty="0">
                <a:solidFill>
                  <a:srgbClr val="FF0000"/>
                </a:solidFill>
              </a:rPr>
              <a:t>的同态核</a:t>
            </a:r>
            <a:r>
              <a:rPr lang="zh-CN" altLang="en-US" b="1" dirty="0"/>
              <a:t>。</a:t>
            </a:r>
          </a:p>
        </p:txBody>
      </p:sp>
      <p:sp>
        <p:nvSpPr>
          <p:cNvPr id="483333" name="Rectangle 5"/>
          <p:cNvSpPr>
            <a:spLocks noChangeArrowheads="1"/>
          </p:cNvSpPr>
          <p:nvPr/>
        </p:nvSpPr>
        <p:spPr bwMode="auto">
          <a:xfrm>
            <a:off x="1071563" y="274638"/>
            <a:ext cx="7245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3200" b="1">
                <a:solidFill>
                  <a:schemeClr val="folHlink"/>
                </a:solidFill>
                <a:latin typeface="楷体_GB2312" pitchFamily="49" charset="-122"/>
                <a:ea typeface="楷体_GB2312" pitchFamily="49" charset="-122"/>
              </a:rPr>
              <a:t>3.</a:t>
            </a:r>
            <a:r>
              <a:rPr lang="zh-CN" altLang="en-US" sz="3200" b="1">
                <a:solidFill>
                  <a:schemeClr val="folHlink"/>
                </a:solidFill>
                <a:latin typeface="楷体_GB2312" pitchFamily="49" charset="-122"/>
                <a:ea typeface="楷体_GB2312" pitchFamily="49" charset="-122"/>
              </a:rPr>
              <a:t>同态核及其相关性质</a:t>
            </a:r>
          </a:p>
        </p:txBody>
      </p:sp>
      <p:grpSp>
        <p:nvGrpSpPr>
          <p:cNvPr id="483342" name="Group 14"/>
          <p:cNvGrpSpPr>
            <a:grpSpLocks/>
          </p:cNvGrpSpPr>
          <p:nvPr/>
        </p:nvGrpSpPr>
        <p:grpSpPr bwMode="auto">
          <a:xfrm>
            <a:off x="684213" y="2924944"/>
            <a:ext cx="8027987" cy="2239962"/>
            <a:chOff x="431" y="1979"/>
            <a:chExt cx="5057" cy="1411"/>
          </a:xfrm>
        </p:grpSpPr>
        <p:sp>
          <p:nvSpPr>
            <p:cNvPr id="483334" name="Oval 6"/>
            <p:cNvSpPr>
              <a:spLocks noChangeArrowheads="1"/>
            </p:cNvSpPr>
            <p:nvPr/>
          </p:nvSpPr>
          <p:spPr bwMode="auto">
            <a:xfrm>
              <a:off x="431" y="1984"/>
              <a:ext cx="2495" cy="1406"/>
            </a:xfrm>
            <a:prstGeom prst="ellipse">
              <a:avLst/>
            </a:prstGeom>
            <a:solidFill>
              <a:schemeClr val="folHlink"/>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zh-CN" sz="2800" b="1" dirty="0" smtClean="0">
                <a:solidFill>
                  <a:srgbClr val="FFFF66"/>
                </a:solidFill>
              </a:endParaRPr>
            </a:p>
            <a:p>
              <a:endParaRPr lang="en-US" altLang="zh-CN" sz="2800" b="1" dirty="0">
                <a:solidFill>
                  <a:srgbClr val="FFFF66"/>
                </a:solidFill>
              </a:endParaRPr>
            </a:p>
          </p:txBody>
        </p:sp>
        <p:sp>
          <p:nvSpPr>
            <p:cNvPr id="483335" name="Oval 7"/>
            <p:cNvSpPr>
              <a:spLocks noChangeArrowheads="1"/>
            </p:cNvSpPr>
            <p:nvPr/>
          </p:nvSpPr>
          <p:spPr bwMode="auto">
            <a:xfrm>
              <a:off x="3198" y="1979"/>
              <a:ext cx="2290" cy="1406"/>
            </a:xfrm>
            <a:prstGeom prst="ellipse">
              <a:avLst/>
            </a:prstGeom>
            <a:solidFill>
              <a:schemeClr val="accent1">
                <a:alpha val="0"/>
              </a:schemeClr>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2800" b="1" dirty="0" smtClean="0"/>
                <a:t>G</a:t>
              </a:r>
              <a:r>
                <a:rPr lang="en-US" altLang="zh-CN" sz="2800" b="1" dirty="0">
                  <a:sym typeface="Symbol" pitchFamily="18" charset="2"/>
                </a:rPr>
                <a:t>'</a:t>
              </a:r>
              <a:r>
                <a:rPr lang="en-US" altLang="zh-CN" sz="2800" b="1" dirty="0" smtClean="0"/>
                <a:t>                            </a:t>
              </a:r>
              <a:endParaRPr lang="en-US" altLang="zh-CN" sz="2800" b="1" dirty="0"/>
            </a:p>
            <a:p>
              <a:r>
                <a:rPr lang="en-US" altLang="zh-CN" sz="2800" b="1" dirty="0">
                  <a:cs typeface="Times New Roman" pitchFamily="18" charset="0"/>
                </a:rPr>
                <a:t>•  </a:t>
              </a:r>
              <a:r>
                <a:rPr lang="en-US" altLang="zh-CN" sz="2800" b="1" dirty="0" smtClean="0"/>
                <a:t>e</a:t>
              </a:r>
              <a:r>
                <a:rPr lang="en-US" altLang="zh-CN" sz="2800" b="1" dirty="0">
                  <a:sym typeface="Symbol" pitchFamily="18" charset="2"/>
                </a:rPr>
                <a:t>'</a:t>
              </a:r>
              <a:r>
                <a:rPr lang="en-US" altLang="zh-CN" sz="2800" b="1" dirty="0" smtClean="0"/>
                <a:t> </a:t>
              </a:r>
              <a:endParaRPr lang="en-US" altLang="zh-CN" sz="2800" b="1" dirty="0"/>
            </a:p>
          </p:txBody>
        </p:sp>
        <p:sp>
          <p:nvSpPr>
            <p:cNvPr id="483336" name="Oval 8"/>
            <p:cNvSpPr>
              <a:spLocks noChangeArrowheads="1"/>
            </p:cNvSpPr>
            <p:nvPr/>
          </p:nvSpPr>
          <p:spPr bwMode="auto">
            <a:xfrm>
              <a:off x="1349" y="2362"/>
              <a:ext cx="1087" cy="681"/>
            </a:xfrm>
            <a:prstGeom prst="ellipse">
              <a:avLst/>
            </a:prstGeom>
            <a:solidFill>
              <a:srgbClr val="FFFF66"/>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b="1" dirty="0"/>
                <a:t>Ker( </a:t>
              </a:r>
              <a:r>
                <a:rPr lang="en-US" altLang="zh-CN" b="1" i="1" dirty="0"/>
                <a:t>f </a:t>
              </a:r>
              <a:r>
                <a:rPr lang="en-US" altLang="zh-CN" b="1" dirty="0"/>
                <a:t>)</a:t>
              </a:r>
            </a:p>
            <a:p>
              <a:r>
                <a:rPr lang="en-US" altLang="zh-CN" b="1" dirty="0"/>
                <a:t>x </a:t>
              </a:r>
              <a:r>
                <a:rPr lang="en-US" altLang="zh-CN" b="1" dirty="0">
                  <a:cs typeface="Times New Roman" pitchFamily="18" charset="0"/>
                </a:rPr>
                <a:t>•</a:t>
              </a:r>
            </a:p>
          </p:txBody>
        </p:sp>
        <p:sp>
          <p:nvSpPr>
            <p:cNvPr id="483338" name="Line 10"/>
            <p:cNvSpPr>
              <a:spLocks noChangeShapeType="1"/>
            </p:cNvSpPr>
            <p:nvPr/>
          </p:nvSpPr>
          <p:spPr bwMode="auto">
            <a:xfrm flipV="1">
              <a:off x="1973" y="2820"/>
              <a:ext cx="2226" cy="0"/>
            </a:xfrm>
            <a:prstGeom prst="line">
              <a:avLst/>
            </a:prstGeom>
            <a:noFill/>
            <a:ln w="254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83341" name="Rectangle 13"/>
            <p:cNvSpPr>
              <a:spLocks noChangeArrowheads="1"/>
            </p:cNvSpPr>
            <p:nvPr/>
          </p:nvSpPr>
          <p:spPr bwMode="auto">
            <a:xfrm>
              <a:off x="2931" y="2523"/>
              <a:ext cx="2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t> </a:t>
              </a:r>
              <a:r>
                <a:rPr lang="en-US" altLang="zh-CN" b="1" i="1" dirty="0"/>
                <a:t>f </a:t>
              </a:r>
            </a:p>
          </p:txBody>
        </p:sp>
      </p:grpSp>
      <p:sp>
        <p:nvSpPr>
          <p:cNvPr id="12" name="Rectangle 3"/>
          <p:cNvSpPr txBox="1">
            <a:spLocks noChangeArrowheads="1"/>
          </p:cNvSpPr>
          <p:nvPr/>
        </p:nvSpPr>
        <p:spPr>
          <a:xfrm>
            <a:off x="611560" y="5445224"/>
            <a:ext cx="8132390" cy="1298817"/>
          </a:xfrm>
          <a:prstGeom prst="rect">
            <a:avLst/>
          </a:prstGeom>
        </p:spPr>
        <p:txBody>
          <a:bodyPr/>
          <a:lstStyle>
            <a:lvl1pPr algn="l" rtl="0" fontAlgn="base">
              <a:spcBef>
                <a:spcPct val="20000"/>
              </a:spcBef>
              <a:spcAft>
                <a:spcPct val="0"/>
              </a:spcAft>
              <a:buClr>
                <a:schemeClr val="folHlink"/>
              </a:buClr>
              <a:buSzPct val="60000"/>
              <a:buFont typeface="Wingdings" pitchFamily="2" charset="2"/>
              <a:defRPr sz="2800" b="1">
                <a:solidFill>
                  <a:schemeClr val="tx1"/>
                </a:solidFill>
                <a:latin typeface="+mn-lt"/>
                <a:ea typeface="+mn-ea"/>
                <a:cs typeface="+mn-cs"/>
              </a:defRPr>
            </a:lvl1pPr>
            <a:lvl2pPr marL="439738" indent="4763" algn="l" rtl="0" fontAlgn="base">
              <a:spcBef>
                <a:spcPct val="20000"/>
              </a:spcBef>
              <a:spcAft>
                <a:spcPct val="0"/>
              </a:spcAft>
              <a:buClr>
                <a:schemeClr val="hlink"/>
              </a:buClr>
              <a:buSzPct val="55000"/>
              <a:buFont typeface="Wingdings" pitchFamily="2" charset="2"/>
              <a:defRPr sz="2800" b="1">
                <a:solidFill>
                  <a:schemeClr val="tx1"/>
                </a:solidFill>
                <a:latin typeface="+mn-lt"/>
                <a:ea typeface="+mn-ea"/>
              </a:defRPr>
            </a:lvl2pPr>
            <a:lvl3pPr marL="901700" algn="l" rtl="0" fontAlgn="base">
              <a:spcBef>
                <a:spcPct val="20000"/>
              </a:spcBef>
              <a:spcAft>
                <a:spcPct val="0"/>
              </a:spcAft>
              <a:buClr>
                <a:schemeClr val="folHlink"/>
              </a:buClr>
              <a:buSzPct val="50000"/>
              <a:buFont typeface="Wingdings" pitchFamily="2" charset="2"/>
              <a:defRPr sz="2800" b="1">
                <a:solidFill>
                  <a:schemeClr val="tx1"/>
                </a:solidFill>
                <a:latin typeface="+mn-lt"/>
                <a:ea typeface="+mn-ea"/>
              </a:defRPr>
            </a:lvl3pPr>
            <a:lvl4pPr marL="1346200" algn="l" rtl="0" fontAlgn="base">
              <a:spcBef>
                <a:spcPct val="20000"/>
              </a:spcBef>
              <a:spcAft>
                <a:spcPct val="0"/>
              </a:spcAft>
              <a:buClr>
                <a:schemeClr val="accent2"/>
              </a:buClr>
              <a:buSzPct val="55000"/>
              <a:buFont typeface="Wingdings" pitchFamily="2" charset="2"/>
              <a:defRPr sz="2800" b="1">
                <a:solidFill>
                  <a:schemeClr val="tx1"/>
                </a:solidFill>
                <a:latin typeface="+mn-lt"/>
                <a:ea typeface="+mn-ea"/>
              </a:defRPr>
            </a:lvl4pPr>
            <a:lvl5pPr marL="1789113" algn="l" rtl="0" fontAlgn="base">
              <a:spcBef>
                <a:spcPct val="20000"/>
              </a:spcBef>
              <a:spcAft>
                <a:spcPct val="0"/>
              </a:spcAft>
              <a:buClr>
                <a:schemeClr val="accent1"/>
              </a:buClr>
              <a:buSzPct val="50000"/>
              <a:buFont typeface="Wingdings" pitchFamily="2" charset="2"/>
              <a:defRPr sz="2800" b="1">
                <a:solidFill>
                  <a:schemeClr val="tx1"/>
                </a:solidFill>
                <a:latin typeface="+mn-lt"/>
                <a:ea typeface="+mn-ea"/>
              </a:defRPr>
            </a:lvl5pPr>
            <a:lvl6pPr marL="2246313" algn="l" rtl="0" fontAlgn="base">
              <a:spcBef>
                <a:spcPct val="20000"/>
              </a:spcBef>
              <a:spcAft>
                <a:spcPct val="0"/>
              </a:spcAft>
              <a:buClr>
                <a:schemeClr val="accent1"/>
              </a:buClr>
              <a:buSzPct val="50000"/>
              <a:buFont typeface="Wingdings" pitchFamily="2" charset="2"/>
              <a:defRPr sz="2800" b="1">
                <a:solidFill>
                  <a:schemeClr val="tx1"/>
                </a:solidFill>
                <a:latin typeface="+mn-lt"/>
                <a:ea typeface="+mn-ea"/>
              </a:defRPr>
            </a:lvl6pPr>
            <a:lvl7pPr marL="2703513" algn="l" rtl="0" fontAlgn="base">
              <a:spcBef>
                <a:spcPct val="20000"/>
              </a:spcBef>
              <a:spcAft>
                <a:spcPct val="0"/>
              </a:spcAft>
              <a:buClr>
                <a:schemeClr val="accent1"/>
              </a:buClr>
              <a:buSzPct val="50000"/>
              <a:buFont typeface="Wingdings" pitchFamily="2" charset="2"/>
              <a:defRPr sz="2800" b="1">
                <a:solidFill>
                  <a:schemeClr val="tx1"/>
                </a:solidFill>
                <a:latin typeface="+mn-lt"/>
                <a:ea typeface="+mn-ea"/>
              </a:defRPr>
            </a:lvl7pPr>
            <a:lvl8pPr marL="3160713" algn="l" rtl="0" fontAlgn="base">
              <a:spcBef>
                <a:spcPct val="20000"/>
              </a:spcBef>
              <a:spcAft>
                <a:spcPct val="0"/>
              </a:spcAft>
              <a:buClr>
                <a:schemeClr val="accent1"/>
              </a:buClr>
              <a:buSzPct val="50000"/>
              <a:buFont typeface="Wingdings" pitchFamily="2" charset="2"/>
              <a:defRPr sz="2800" b="1">
                <a:solidFill>
                  <a:schemeClr val="tx1"/>
                </a:solidFill>
                <a:latin typeface="+mn-lt"/>
                <a:ea typeface="+mn-ea"/>
              </a:defRPr>
            </a:lvl8pPr>
            <a:lvl9pPr marL="3617913" algn="l" rtl="0" fontAlgn="base">
              <a:spcBef>
                <a:spcPct val="20000"/>
              </a:spcBef>
              <a:spcAft>
                <a:spcPct val="0"/>
              </a:spcAft>
              <a:buClr>
                <a:schemeClr val="accent1"/>
              </a:buClr>
              <a:buSzPct val="50000"/>
              <a:buFont typeface="Wingdings" pitchFamily="2" charset="2"/>
              <a:defRPr sz="2800" b="1">
                <a:solidFill>
                  <a:schemeClr val="tx1"/>
                </a:solidFill>
                <a:latin typeface="+mn-lt"/>
                <a:ea typeface="+mn-ea"/>
              </a:defRPr>
            </a:lvl9pPr>
          </a:lstStyle>
          <a:p>
            <a:pPr>
              <a:lnSpc>
                <a:spcPct val="140000"/>
              </a:lnSpc>
              <a:spcBef>
                <a:spcPct val="0"/>
              </a:spcBef>
              <a:buClrTx/>
              <a:buSzTx/>
              <a:buFontTx/>
              <a:buNone/>
            </a:pPr>
            <a:r>
              <a:rPr kumimoji="1" lang="zh-CN" altLang="en-US" sz="2400" dirty="0" smtClean="0">
                <a:solidFill>
                  <a:srgbClr val="FF0000"/>
                </a:solidFill>
              </a:rPr>
              <a:t>定理</a:t>
            </a:r>
            <a:r>
              <a:rPr kumimoji="1" lang="en-US" altLang="zh-CN" sz="2400" dirty="0" smtClean="0">
                <a:solidFill>
                  <a:srgbClr val="FF0000"/>
                </a:solidFill>
              </a:rPr>
              <a:t>5-8.3</a:t>
            </a:r>
            <a:r>
              <a:rPr kumimoji="1" lang="zh-CN" altLang="en-US" sz="2400" dirty="0" smtClean="0">
                <a:solidFill>
                  <a:srgbClr val="FF0000"/>
                </a:solidFill>
              </a:rPr>
              <a:t>：</a:t>
            </a:r>
            <a:r>
              <a:rPr kumimoji="1" lang="zh-CN" altLang="en-US" sz="2400" dirty="0" smtClean="0"/>
              <a:t>设</a:t>
            </a:r>
            <a:r>
              <a:rPr kumimoji="1" lang="en-US" altLang="zh-CN" sz="2400" dirty="0" smtClean="0"/>
              <a:t>f</a:t>
            </a:r>
            <a:r>
              <a:rPr kumimoji="1" lang="zh-CN" altLang="en-US" sz="2400" dirty="0" smtClean="0"/>
              <a:t>是由群</a:t>
            </a:r>
            <a:r>
              <a:rPr kumimoji="1" lang="en-US" altLang="zh-CN" sz="2400" dirty="0" smtClean="0"/>
              <a:t>&lt;G,★&gt;</a:t>
            </a:r>
            <a:r>
              <a:rPr kumimoji="1" lang="zh-CN" altLang="en-US" sz="2400" dirty="0" smtClean="0"/>
              <a:t>到群</a:t>
            </a:r>
            <a:r>
              <a:rPr kumimoji="1" lang="en-US" altLang="zh-CN" sz="2400" dirty="0" smtClean="0"/>
              <a:t>&lt;G</a:t>
            </a:r>
            <a:r>
              <a:rPr lang="en-US" altLang="zh-CN" sz="2400" dirty="0" smtClean="0">
                <a:sym typeface="Symbol" pitchFamily="18" charset="2"/>
              </a:rPr>
              <a:t>'</a:t>
            </a:r>
            <a:r>
              <a:rPr kumimoji="1" lang="en-US" altLang="zh-CN" sz="2400" dirty="0" smtClean="0"/>
              <a:t>,*&gt;</a:t>
            </a:r>
            <a:r>
              <a:rPr kumimoji="1" lang="zh-CN" altLang="en-US" sz="2400" dirty="0" smtClean="0"/>
              <a:t>的同态映射，则</a:t>
            </a:r>
            <a:r>
              <a:rPr kumimoji="1" lang="en-US" altLang="zh-CN" sz="2400" dirty="0" smtClean="0"/>
              <a:t>f</a:t>
            </a:r>
            <a:r>
              <a:rPr kumimoji="1" lang="zh-CN" altLang="en-US" sz="2400" dirty="0" smtClean="0"/>
              <a:t>的同态核</a:t>
            </a:r>
            <a:r>
              <a:rPr kumimoji="1" lang="en-US" altLang="zh-CN" sz="2400" dirty="0" smtClean="0"/>
              <a:t>K</a:t>
            </a:r>
            <a:r>
              <a:rPr kumimoji="1" lang="zh-CN" altLang="en-US" sz="2400" dirty="0" smtClean="0"/>
              <a:t>是</a:t>
            </a:r>
            <a:r>
              <a:rPr kumimoji="1" lang="en-US" altLang="zh-CN" sz="2400" dirty="0" smtClean="0"/>
              <a:t>G</a:t>
            </a:r>
            <a:r>
              <a:rPr kumimoji="1" lang="zh-CN" altLang="en-US" sz="2400" dirty="0" smtClean="0"/>
              <a:t>的子群。</a:t>
            </a:r>
            <a:endParaRPr lang="zh-CN" altLang="en-US" sz="2400" dirty="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83342"/>
                                        </p:tgtEl>
                                        <p:attrNameLst>
                                          <p:attrName>style.visibility</p:attrName>
                                        </p:attrNameLst>
                                      </p:cBhvr>
                                      <p:to>
                                        <p:strVal val="visible"/>
                                      </p:to>
                                    </p:set>
                                    <p:anim calcmode="lin" valueType="num">
                                      <p:cBhvr additive="base">
                                        <p:cTn id="7" dur="500" fill="hold"/>
                                        <p:tgtEl>
                                          <p:spTgt spid="483342"/>
                                        </p:tgtEl>
                                        <p:attrNameLst>
                                          <p:attrName>ppt_x</p:attrName>
                                        </p:attrNameLst>
                                      </p:cBhvr>
                                      <p:tavLst>
                                        <p:tav tm="0">
                                          <p:val>
                                            <p:strVal val="#ppt_x"/>
                                          </p:val>
                                        </p:tav>
                                        <p:tav tm="100000">
                                          <p:val>
                                            <p:strVal val="#ppt_x"/>
                                          </p:val>
                                        </p:tav>
                                      </p:tavLst>
                                    </p:anim>
                                    <p:anim calcmode="lin" valueType="num">
                                      <p:cBhvr additive="base">
                                        <p:cTn id="8" dur="500" fill="hold"/>
                                        <p:tgtEl>
                                          <p:spTgt spid="48334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fld id="{525A1CEF-7E12-43FD-9808-D077B5FF00DD}" type="slidenum">
              <a:rPr lang="en-US" altLang="zh-CN"/>
              <a:pPr/>
              <a:t>75</a:t>
            </a:fld>
            <a:endParaRPr lang="en-US" altLang="zh-CN"/>
          </a:p>
        </p:txBody>
      </p:sp>
      <p:sp>
        <p:nvSpPr>
          <p:cNvPr id="580610" name="Text Box 2"/>
          <p:cNvSpPr txBox="1">
            <a:spLocks noChangeArrowheads="1"/>
          </p:cNvSpPr>
          <p:nvPr/>
        </p:nvSpPr>
        <p:spPr bwMode="auto">
          <a:xfrm>
            <a:off x="466725" y="1125538"/>
            <a:ext cx="8277225" cy="2973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kumimoji="1" sz="2400">
                <a:solidFill>
                  <a:schemeClr val="tx1"/>
                </a:solidFill>
                <a:latin typeface="Times New Roman" pitchFamily="18" charset="0"/>
                <a:ea typeface="宋体" pitchFamily="2" charset="-122"/>
              </a:defRPr>
            </a:lvl1pPr>
            <a:lvl2pPr marL="53975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marL="342900" indent="-342900">
              <a:lnSpc>
                <a:spcPct val="130000"/>
              </a:lnSpc>
              <a:buClr>
                <a:srgbClr val="FF0000"/>
              </a:buClr>
              <a:buFont typeface="Wingdings" pitchFamily="2" charset="2"/>
              <a:buChar char="Ø"/>
            </a:pPr>
            <a:r>
              <a:rPr lang="zh-CN" altLang="en-US" b="1" dirty="0" smtClean="0"/>
              <a:t>阿贝尔群</a:t>
            </a:r>
            <a:r>
              <a:rPr lang="zh-CN" altLang="en-US" b="1" dirty="0"/>
              <a:t>：运算满足</a:t>
            </a:r>
            <a:r>
              <a:rPr lang="zh-CN" altLang="en-US" b="1" dirty="0" smtClean="0"/>
              <a:t>交换</a:t>
            </a:r>
            <a:endParaRPr lang="en-US" altLang="zh-CN" b="1" dirty="0" smtClean="0"/>
          </a:p>
          <a:p>
            <a:pPr marL="342900" indent="-342900">
              <a:lnSpc>
                <a:spcPct val="130000"/>
              </a:lnSpc>
              <a:buClr>
                <a:srgbClr val="FF0000"/>
              </a:buClr>
              <a:buFont typeface="Wingdings" pitchFamily="2" charset="2"/>
              <a:buChar char="Ø"/>
            </a:pPr>
            <a:r>
              <a:rPr lang="zh-CN" altLang="en-US" b="1" dirty="0" smtClean="0"/>
              <a:t>循环群</a:t>
            </a:r>
            <a:r>
              <a:rPr lang="zh-CN" altLang="en-US" b="1" dirty="0"/>
              <a:t>：</a:t>
            </a:r>
            <a:r>
              <a:rPr lang="zh-CN" altLang="en-US" b="1" dirty="0" smtClean="0"/>
              <a:t>生成元</a:t>
            </a:r>
            <a:endParaRPr lang="en-US" altLang="zh-CN" b="1" dirty="0"/>
          </a:p>
          <a:p>
            <a:pPr marL="342900" indent="-342900">
              <a:lnSpc>
                <a:spcPct val="130000"/>
              </a:lnSpc>
              <a:buClr>
                <a:srgbClr val="FF0000"/>
              </a:buClr>
              <a:buFont typeface="Wingdings" pitchFamily="2" charset="2"/>
              <a:buChar char="Ø"/>
            </a:pPr>
            <a:r>
              <a:rPr lang="zh-CN" altLang="en-US" b="1" dirty="0" smtClean="0"/>
              <a:t>陪集的定义</a:t>
            </a:r>
            <a:endParaRPr lang="en-US" altLang="zh-CN" b="1" dirty="0" smtClean="0"/>
          </a:p>
          <a:p>
            <a:pPr marL="342900" indent="-342900">
              <a:lnSpc>
                <a:spcPct val="130000"/>
              </a:lnSpc>
              <a:buClr>
                <a:srgbClr val="FF0000"/>
              </a:buClr>
              <a:buFont typeface="Wingdings" pitchFamily="2" charset="2"/>
              <a:buChar char="Ø"/>
            </a:pPr>
            <a:r>
              <a:rPr lang="zh-CN" altLang="en-US" b="1" dirty="0"/>
              <a:t>拉格朗日</a:t>
            </a:r>
            <a:r>
              <a:rPr lang="zh-CN" altLang="en-US" b="1" dirty="0" smtClean="0"/>
              <a:t>定理</a:t>
            </a:r>
            <a:endParaRPr lang="en-US" altLang="zh-CN" b="1" dirty="0" smtClean="0"/>
          </a:p>
          <a:p>
            <a:pPr marL="342900" indent="-342900">
              <a:lnSpc>
                <a:spcPct val="130000"/>
              </a:lnSpc>
              <a:buClr>
                <a:srgbClr val="FF0000"/>
              </a:buClr>
              <a:buFont typeface="Wingdings" pitchFamily="2" charset="2"/>
              <a:buChar char="Ø"/>
            </a:pPr>
            <a:r>
              <a:rPr lang="zh-CN" altLang="en-US" b="1" dirty="0" smtClean="0"/>
              <a:t>同态与同构</a:t>
            </a:r>
            <a:endParaRPr lang="en-US" altLang="zh-CN" b="1" dirty="0" smtClean="0"/>
          </a:p>
          <a:p>
            <a:pPr marL="342900" indent="-342900">
              <a:lnSpc>
                <a:spcPct val="130000"/>
              </a:lnSpc>
              <a:buClr>
                <a:srgbClr val="FF0000"/>
              </a:buClr>
              <a:buFont typeface="Wingdings" pitchFamily="2" charset="2"/>
              <a:buChar char="Ø"/>
            </a:pPr>
            <a:r>
              <a:rPr lang="zh-CN" altLang="en-US" b="1" dirty="0"/>
              <a:t>同态核</a:t>
            </a:r>
            <a:endParaRPr lang="en-US" altLang="zh-CN" b="1" dirty="0" smtClean="0"/>
          </a:p>
        </p:txBody>
      </p:sp>
      <p:sp>
        <p:nvSpPr>
          <p:cNvPr id="580611" name="Rectangle 3"/>
          <p:cNvSpPr>
            <a:spLocks noChangeArrowheads="1"/>
          </p:cNvSpPr>
          <p:nvPr/>
        </p:nvSpPr>
        <p:spPr bwMode="auto">
          <a:xfrm>
            <a:off x="1079500" y="179388"/>
            <a:ext cx="64611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sz="3600" b="1">
                <a:latin typeface="华文行楷" pitchFamily="2" charset="-122"/>
                <a:ea typeface="华文行楷" pitchFamily="2" charset="-122"/>
              </a:rPr>
              <a:t>复习</a:t>
            </a:r>
          </a:p>
        </p:txBody>
      </p:sp>
    </p:spTree>
    <p:extLst>
      <p:ext uri="{BB962C8B-B14F-4D97-AF65-F5344CB8AC3E}">
        <p14:creationId xmlns:p14="http://schemas.microsoft.com/office/powerpoint/2010/main" val="3475522166"/>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80610">
                                            <p:txEl>
                                              <p:pRg st="0" end="0"/>
                                            </p:txEl>
                                          </p:spTgt>
                                        </p:tgtEl>
                                        <p:attrNameLst>
                                          <p:attrName>style.visibility</p:attrName>
                                        </p:attrNameLst>
                                      </p:cBhvr>
                                      <p:to>
                                        <p:strVal val="visible"/>
                                      </p:to>
                                    </p:set>
                                    <p:anim calcmode="lin" valueType="num">
                                      <p:cBhvr additive="base">
                                        <p:cTn id="7" dur="500" fill="hold"/>
                                        <p:tgtEl>
                                          <p:spTgt spid="5806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806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80610">
                                            <p:txEl>
                                              <p:pRg st="1" end="1"/>
                                            </p:txEl>
                                          </p:spTgt>
                                        </p:tgtEl>
                                        <p:attrNameLst>
                                          <p:attrName>style.visibility</p:attrName>
                                        </p:attrNameLst>
                                      </p:cBhvr>
                                      <p:to>
                                        <p:strVal val="visible"/>
                                      </p:to>
                                    </p:set>
                                    <p:anim calcmode="lin" valueType="num">
                                      <p:cBhvr additive="base">
                                        <p:cTn id="13" dur="500" fill="hold"/>
                                        <p:tgtEl>
                                          <p:spTgt spid="58061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806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80610">
                                            <p:txEl>
                                              <p:pRg st="2" end="2"/>
                                            </p:txEl>
                                          </p:spTgt>
                                        </p:tgtEl>
                                        <p:attrNameLst>
                                          <p:attrName>style.visibility</p:attrName>
                                        </p:attrNameLst>
                                      </p:cBhvr>
                                      <p:to>
                                        <p:strVal val="visible"/>
                                      </p:to>
                                    </p:set>
                                    <p:anim calcmode="lin" valueType="num">
                                      <p:cBhvr additive="base">
                                        <p:cTn id="19" dur="500" fill="hold"/>
                                        <p:tgtEl>
                                          <p:spTgt spid="58061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806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80610">
                                            <p:txEl>
                                              <p:pRg st="3" end="3"/>
                                            </p:txEl>
                                          </p:spTgt>
                                        </p:tgtEl>
                                        <p:attrNameLst>
                                          <p:attrName>style.visibility</p:attrName>
                                        </p:attrNameLst>
                                      </p:cBhvr>
                                      <p:to>
                                        <p:strVal val="visible"/>
                                      </p:to>
                                    </p:set>
                                    <p:anim calcmode="lin" valueType="num">
                                      <p:cBhvr additive="base">
                                        <p:cTn id="25" dur="500" fill="hold"/>
                                        <p:tgtEl>
                                          <p:spTgt spid="58061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8061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80610">
                                            <p:txEl>
                                              <p:pRg st="4" end="4"/>
                                            </p:txEl>
                                          </p:spTgt>
                                        </p:tgtEl>
                                        <p:attrNameLst>
                                          <p:attrName>style.visibility</p:attrName>
                                        </p:attrNameLst>
                                      </p:cBhvr>
                                      <p:to>
                                        <p:strVal val="visible"/>
                                      </p:to>
                                    </p:set>
                                    <p:anim calcmode="lin" valueType="num">
                                      <p:cBhvr additive="base">
                                        <p:cTn id="31" dur="500" fill="hold"/>
                                        <p:tgtEl>
                                          <p:spTgt spid="580610">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806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80610">
                                            <p:txEl>
                                              <p:pRg st="5" end="5"/>
                                            </p:txEl>
                                          </p:spTgt>
                                        </p:tgtEl>
                                        <p:attrNameLst>
                                          <p:attrName>style.visibility</p:attrName>
                                        </p:attrNameLst>
                                      </p:cBhvr>
                                      <p:to>
                                        <p:strVal val="visible"/>
                                      </p:to>
                                    </p:set>
                                    <p:anim calcmode="lin" valueType="num">
                                      <p:cBhvr additive="base">
                                        <p:cTn id="37" dur="500" fill="hold"/>
                                        <p:tgtEl>
                                          <p:spTgt spid="580610">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80610">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fld id="{53FF6639-239E-43D8-837D-C2108B1B4FA4}" type="slidenum">
              <a:rPr lang="en-US" altLang="zh-CN"/>
              <a:pPr/>
              <a:t>76</a:t>
            </a:fld>
            <a:endParaRPr lang="en-US" altLang="zh-CN"/>
          </a:p>
        </p:txBody>
      </p:sp>
      <p:sp>
        <p:nvSpPr>
          <p:cNvPr id="484354" name="Text Box 2"/>
          <p:cNvSpPr txBox="1">
            <a:spLocks noChangeArrowheads="1"/>
          </p:cNvSpPr>
          <p:nvPr/>
        </p:nvSpPr>
        <p:spPr bwMode="auto">
          <a:xfrm>
            <a:off x="466725" y="1052513"/>
            <a:ext cx="8277225"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kumimoji="1" sz="2400">
                <a:solidFill>
                  <a:schemeClr val="tx1"/>
                </a:solidFill>
                <a:latin typeface="Times New Roman" pitchFamily="18" charset="0"/>
                <a:ea typeface="宋体" pitchFamily="2" charset="-122"/>
              </a:defRPr>
            </a:lvl1pPr>
            <a:lvl2pPr marL="53975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20000"/>
              </a:lnSpc>
            </a:pPr>
            <a:r>
              <a:rPr lang="zh-CN" altLang="en-US" b="1">
                <a:solidFill>
                  <a:srgbClr val="FF0000"/>
                </a:solidFill>
              </a:rPr>
              <a:t>定义</a:t>
            </a:r>
            <a:r>
              <a:rPr lang="en-US" altLang="zh-CN" b="1">
                <a:solidFill>
                  <a:srgbClr val="FF0000"/>
                </a:solidFill>
              </a:rPr>
              <a:t>5-8.5</a:t>
            </a:r>
            <a:r>
              <a:rPr lang="zh-CN" altLang="en-US" b="1">
                <a:solidFill>
                  <a:srgbClr val="FF0000"/>
                </a:solidFill>
              </a:rPr>
              <a:t>：</a:t>
            </a:r>
            <a:r>
              <a:rPr lang="zh-CN" altLang="en-US" b="1"/>
              <a:t>设</a:t>
            </a:r>
            <a:r>
              <a:rPr lang="en-US" altLang="zh-CN" b="1"/>
              <a:t>&lt;A, ★&gt;</a:t>
            </a:r>
            <a:r>
              <a:rPr lang="zh-CN" altLang="en-US" b="1"/>
              <a:t>是代数系统，并设</a:t>
            </a:r>
            <a:r>
              <a:rPr lang="en-US" altLang="zh-CN" b="1"/>
              <a:t>R</a:t>
            </a:r>
            <a:r>
              <a:rPr lang="zh-CN" altLang="en-US" b="1"/>
              <a:t>是</a:t>
            </a:r>
            <a:r>
              <a:rPr lang="en-US" altLang="zh-CN" b="1"/>
              <a:t>A</a:t>
            </a:r>
            <a:r>
              <a:rPr lang="zh-CN" altLang="en-US" b="1"/>
              <a:t>上的等价关系，如果当</a:t>
            </a:r>
            <a:r>
              <a:rPr lang="en-US" altLang="zh-CN" b="1"/>
              <a:t>&lt;a</a:t>
            </a:r>
            <a:r>
              <a:rPr lang="en-US" altLang="zh-CN" b="1" baseline="-30000"/>
              <a:t>1</a:t>
            </a:r>
            <a:r>
              <a:rPr lang="en-US" altLang="zh-CN" b="1"/>
              <a:t>, a</a:t>
            </a:r>
            <a:r>
              <a:rPr lang="en-US" altLang="zh-CN" b="1" baseline="-30000"/>
              <a:t>2</a:t>
            </a:r>
            <a:r>
              <a:rPr lang="en-US" altLang="zh-CN" b="1"/>
              <a:t>&gt;∈R</a:t>
            </a:r>
            <a:r>
              <a:rPr lang="zh-CN" altLang="en-US" b="1"/>
              <a:t>，</a:t>
            </a:r>
            <a:r>
              <a:rPr lang="en-US" altLang="zh-CN" b="1"/>
              <a:t>&lt;b</a:t>
            </a:r>
            <a:r>
              <a:rPr lang="en-US" altLang="zh-CN" b="1" baseline="-30000"/>
              <a:t>1</a:t>
            </a:r>
            <a:r>
              <a:rPr lang="en-US" altLang="zh-CN" b="1"/>
              <a:t>, b</a:t>
            </a:r>
            <a:r>
              <a:rPr lang="en-US" altLang="zh-CN" b="1" baseline="-30000"/>
              <a:t>2</a:t>
            </a:r>
            <a:r>
              <a:rPr lang="en-US" altLang="zh-CN" b="1"/>
              <a:t>&gt;∈R</a:t>
            </a:r>
            <a:r>
              <a:rPr lang="zh-CN" altLang="en-US" b="1"/>
              <a:t>时，蕴涵着</a:t>
            </a:r>
            <a:r>
              <a:rPr lang="en-US" altLang="zh-CN" b="1"/>
              <a:t>&lt;a</a:t>
            </a:r>
            <a:r>
              <a:rPr lang="en-US" altLang="zh-CN" b="1" baseline="-30000"/>
              <a:t>1</a:t>
            </a:r>
            <a:r>
              <a:rPr lang="en-US" altLang="zh-CN" b="1"/>
              <a:t>★b</a:t>
            </a:r>
            <a:r>
              <a:rPr lang="en-US" altLang="zh-CN" b="1" baseline="-30000"/>
              <a:t>1</a:t>
            </a:r>
            <a:r>
              <a:rPr lang="en-US" altLang="zh-CN" b="1"/>
              <a:t>,a</a:t>
            </a:r>
            <a:r>
              <a:rPr lang="en-US" altLang="zh-CN" b="1" baseline="-30000"/>
              <a:t>2</a:t>
            </a:r>
            <a:r>
              <a:rPr lang="en-US" altLang="zh-CN" b="1"/>
              <a:t>★b</a:t>
            </a:r>
            <a:r>
              <a:rPr lang="en-US" altLang="zh-CN" b="1" baseline="-30000"/>
              <a:t>2</a:t>
            </a:r>
            <a:r>
              <a:rPr lang="en-US" altLang="zh-CN" b="1"/>
              <a:t>&gt;∈R</a:t>
            </a:r>
            <a:r>
              <a:rPr lang="zh-CN" altLang="en-US" b="1"/>
              <a:t>，则称</a:t>
            </a:r>
            <a:r>
              <a:rPr lang="en-US" altLang="zh-CN" b="1"/>
              <a:t>R</a:t>
            </a:r>
            <a:r>
              <a:rPr lang="zh-CN" altLang="en-US" b="1"/>
              <a:t>为</a:t>
            </a:r>
            <a:r>
              <a:rPr lang="en-US" altLang="zh-CN" b="1"/>
              <a:t>A</a:t>
            </a:r>
            <a:r>
              <a:rPr lang="zh-CN" altLang="en-US" b="1"/>
              <a:t>上关于★的</a:t>
            </a:r>
            <a:r>
              <a:rPr lang="zh-CN" altLang="en-US" b="1">
                <a:solidFill>
                  <a:srgbClr val="FF0000"/>
                </a:solidFill>
              </a:rPr>
              <a:t>同余关系</a:t>
            </a:r>
            <a:r>
              <a:rPr lang="zh-CN" altLang="en-US" b="1"/>
              <a:t>。由这个同余关系将</a:t>
            </a:r>
            <a:r>
              <a:rPr lang="en-US" altLang="zh-CN" b="1"/>
              <a:t>A</a:t>
            </a:r>
            <a:r>
              <a:rPr lang="zh-CN" altLang="en-US" b="1"/>
              <a:t>划分成的等价类就称为</a:t>
            </a:r>
            <a:r>
              <a:rPr lang="zh-CN" altLang="en-US" b="1">
                <a:solidFill>
                  <a:srgbClr val="FF0000"/>
                </a:solidFill>
              </a:rPr>
              <a:t>同余类</a:t>
            </a:r>
            <a:r>
              <a:rPr lang="zh-CN" altLang="en-US" b="1"/>
              <a:t>。 </a:t>
            </a:r>
          </a:p>
        </p:txBody>
      </p:sp>
      <p:sp>
        <p:nvSpPr>
          <p:cNvPr id="484357" name="Rectangle 5"/>
          <p:cNvSpPr>
            <a:spLocks noChangeArrowheads="1"/>
          </p:cNvSpPr>
          <p:nvPr/>
        </p:nvSpPr>
        <p:spPr bwMode="auto">
          <a:xfrm>
            <a:off x="1071563" y="274638"/>
            <a:ext cx="7245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3200" b="1">
                <a:solidFill>
                  <a:schemeClr val="folHlink"/>
                </a:solidFill>
                <a:latin typeface="楷体_GB2312" pitchFamily="49" charset="-122"/>
                <a:ea typeface="楷体_GB2312" pitchFamily="49" charset="-122"/>
              </a:rPr>
              <a:t>4. </a:t>
            </a:r>
            <a:r>
              <a:rPr lang="zh-CN" altLang="en-US" sz="3200" b="1">
                <a:solidFill>
                  <a:schemeClr val="folHlink"/>
                </a:solidFill>
                <a:latin typeface="楷体_GB2312" pitchFamily="49" charset="-122"/>
                <a:ea typeface="楷体_GB2312" pitchFamily="49" charset="-122"/>
              </a:rPr>
              <a:t>同余关系及其相关性质</a:t>
            </a:r>
          </a:p>
        </p:txBody>
      </p:sp>
    </p:spTree>
  </p:cSld>
  <p:clrMapOvr>
    <a:masterClrMapping/>
  </p:clrMapOvr>
  <p:transition spd="slow">
    <p:pull dir="ru"/>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fld id="{977DDE23-1168-4447-B3EE-9B830F75D05F}" type="slidenum">
              <a:rPr lang="en-US" altLang="zh-CN"/>
              <a:pPr/>
              <a:t>77</a:t>
            </a:fld>
            <a:endParaRPr lang="en-US" altLang="zh-CN"/>
          </a:p>
        </p:txBody>
      </p:sp>
      <p:sp>
        <p:nvSpPr>
          <p:cNvPr id="592898" name="Text Box 2"/>
          <p:cNvSpPr txBox="1">
            <a:spLocks noChangeArrowheads="1"/>
          </p:cNvSpPr>
          <p:nvPr/>
        </p:nvSpPr>
        <p:spPr bwMode="auto">
          <a:xfrm>
            <a:off x="611188" y="1052513"/>
            <a:ext cx="8151812" cy="173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kumimoji="1" sz="2400">
                <a:solidFill>
                  <a:schemeClr val="tx1"/>
                </a:solidFill>
                <a:latin typeface="Times New Roman" pitchFamily="18" charset="0"/>
                <a:ea typeface="宋体" pitchFamily="2" charset="-122"/>
              </a:defRPr>
            </a:lvl1pPr>
            <a:lvl2pPr marL="53975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50000"/>
              </a:lnSpc>
            </a:pPr>
            <a:r>
              <a:rPr lang="zh-CN" altLang="en-US" b="1" dirty="0" smtClean="0">
                <a:solidFill>
                  <a:schemeClr val="hlink"/>
                </a:solidFill>
              </a:rPr>
              <a:t>例</a:t>
            </a:r>
            <a:r>
              <a:rPr lang="en-US" altLang="zh-CN" b="1" dirty="0" smtClean="0">
                <a:solidFill>
                  <a:schemeClr val="hlink"/>
                </a:solidFill>
              </a:rPr>
              <a:t>3</a:t>
            </a:r>
            <a:r>
              <a:rPr lang="zh-CN" altLang="en-US" b="1" dirty="0" smtClean="0">
                <a:solidFill>
                  <a:schemeClr val="hlink"/>
                </a:solidFill>
              </a:rPr>
              <a:t>：</a:t>
            </a:r>
            <a:r>
              <a:rPr lang="zh-CN" altLang="en-US" b="1" dirty="0"/>
              <a:t>设代数系统</a:t>
            </a:r>
            <a:r>
              <a:rPr lang="en-US" altLang="zh-CN" b="1" dirty="0"/>
              <a:t>&lt;A, *&gt;</a:t>
            </a:r>
            <a:r>
              <a:rPr lang="zh-CN" altLang="en-US" b="1" dirty="0"/>
              <a:t>，其中运算*定义如下：</a:t>
            </a:r>
          </a:p>
          <a:p>
            <a:pPr>
              <a:lnSpc>
                <a:spcPct val="150000"/>
              </a:lnSpc>
            </a:pPr>
            <a:r>
              <a:rPr lang="zh-CN" altLang="en-US" b="1" dirty="0"/>
              <a:t>对任意的</a:t>
            </a:r>
            <a:r>
              <a:rPr lang="en-US" altLang="zh-CN" b="1" dirty="0"/>
              <a:t>x, y</a:t>
            </a:r>
            <a:r>
              <a:rPr lang="en-US" altLang="zh-CN" b="1" dirty="0">
                <a:sym typeface="Symbol" pitchFamily="18" charset="2"/>
              </a:rPr>
              <a:t> A</a:t>
            </a:r>
            <a:r>
              <a:rPr lang="zh-CN" altLang="en-US" b="1" dirty="0">
                <a:sym typeface="Symbol" pitchFamily="18" charset="2"/>
              </a:rPr>
              <a:t>，有</a:t>
            </a:r>
            <a:r>
              <a:rPr lang="zh-CN" altLang="en-US" b="1" dirty="0"/>
              <a:t> </a:t>
            </a:r>
            <a:r>
              <a:rPr lang="en-US" altLang="zh-CN" b="1" dirty="0"/>
              <a:t>x*y=x</a:t>
            </a:r>
            <a:r>
              <a:rPr lang="zh-CN" altLang="en-US" b="1" dirty="0"/>
              <a:t>，</a:t>
            </a:r>
            <a:r>
              <a:rPr lang="en-US" altLang="zh-CN" b="1" dirty="0">
                <a:sym typeface="Symbol" pitchFamily="18" charset="2"/>
              </a:rPr>
              <a:t>E</a:t>
            </a:r>
            <a:r>
              <a:rPr lang="zh-CN" altLang="en-US" b="1" dirty="0">
                <a:sym typeface="Symbol" pitchFamily="18" charset="2"/>
              </a:rPr>
              <a:t>是</a:t>
            </a:r>
            <a:r>
              <a:rPr lang="en-US" altLang="zh-CN" b="1" dirty="0">
                <a:sym typeface="Symbol" pitchFamily="18" charset="2"/>
              </a:rPr>
              <a:t>A</a:t>
            </a:r>
            <a:r>
              <a:rPr lang="zh-CN" altLang="en-US" b="1" dirty="0">
                <a:sym typeface="Symbol" pitchFamily="18" charset="2"/>
              </a:rPr>
              <a:t>上任意等价关系。</a:t>
            </a:r>
          </a:p>
          <a:p>
            <a:pPr>
              <a:lnSpc>
                <a:spcPct val="150000"/>
              </a:lnSpc>
            </a:pPr>
            <a:r>
              <a:rPr lang="zh-CN" altLang="en-US" b="1" dirty="0">
                <a:sym typeface="Symbol" pitchFamily="18" charset="2"/>
              </a:rPr>
              <a:t> </a:t>
            </a:r>
            <a:r>
              <a:rPr lang="en-US" altLang="zh-CN" b="1" dirty="0">
                <a:sym typeface="Symbol" pitchFamily="18" charset="2"/>
              </a:rPr>
              <a:t>E</a:t>
            </a:r>
            <a:r>
              <a:rPr lang="zh-CN" altLang="en-US" b="1" dirty="0">
                <a:sym typeface="Symbol" pitchFamily="18" charset="2"/>
              </a:rPr>
              <a:t>是</a:t>
            </a:r>
            <a:r>
              <a:rPr lang="en-US" altLang="zh-CN" b="1" dirty="0">
                <a:sym typeface="Symbol" pitchFamily="18" charset="2"/>
              </a:rPr>
              <a:t>A</a:t>
            </a:r>
            <a:r>
              <a:rPr lang="zh-CN" altLang="en-US" b="1" dirty="0">
                <a:sym typeface="Symbol" pitchFamily="18" charset="2"/>
              </a:rPr>
              <a:t>上的同余关系吗？</a:t>
            </a:r>
          </a:p>
        </p:txBody>
      </p:sp>
      <p:sp>
        <p:nvSpPr>
          <p:cNvPr id="592899" name="Text Box 3"/>
          <p:cNvSpPr txBox="1">
            <a:spLocks noChangeArrowheads="1"/>
          </p:cNvSpPr>
          <p:nvPr/>
        </p:nvSpPr>
        <p:spPr bwMode="auto">
          <a:xfrm>
            <a:off x="684213" y="2852738"/>
            <a:ext cx="8135937"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kumimoji="1" sz="2400">
                <a:solidFill>
                  <a:schemeClr val="tx1"/>
                </a:solidFill>
                <a:latin typeface="Times New Roman" pitchFamily="18" charset="0"/>
                <a:ea typeface="宋体" pitchFamily="2" charset="-122"/>
              </a:defRPr>
            </a:lvl1pPr>
            <a:lvl2pPr marL="53975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50000"/>
              </a:lnSpc>
            </a:pPr>
            <a:r>
              <a:rPr lang="zh-CN" altLang="en-US" b="1">
                <a:sym typeface="Symbol" pitchFamily="18" charset="2"/>
              </a:rPr>
              <a:t>设</a:t>
            </a:r>
            <a:r>
              <a:rPr lang="en-US" altLang="zh-CN" b="1"/>
              <a:t>a</a:t>
            </a:r>
            <a:r>
              <a:rPr lang="en-US" altLang="zh-CN" b="1" baseline="-30000"/>
              <a:t>1</a:t>
            </a:r>
            <a:r>
              <a:rPr lang="en-US" altLang="zh-CN" b="1"/>
              <a:t>, a</a:t>
            </a:r>
            <a:r>
              <a:rPr lang="en-US" altLang="zh-CN" b="1" baseline="-30000"/>
              <a:t>2</a:t>
            </a:r>
            <a:r>
              <a:rPr lang="en-US" altLang="zh-CN" b="1"/>
              <a:t>, b</a:t>
            </a:r>
            <a:r>
              <a:rPr lang="en-US" altLang="zh-CN" b="1" baseline="-30000"/>
              <a:t>1</a:t>
            </a:r>
            <a:r>
              <a:rPr lang="en-US" altLang="zh-CN" b="1"/>
              <a:t>, b</a:t>
            </a:r>
            <a:r>
              <a:rPr lang="en-US" altLang="zh-CN" b="1" baseline="-30000"/>
              <a:t>2</a:t>
            </a:r>
            <a:r>
              <a:rPr lang="en-US" altLang="zh-CN" b="1"/>
              <a:t>∈</a:t>
            </a:r>
            <a:r>
              <a:rPr lang="en-US" altLang="zh-CN" b="1">
                <a:sym typeface="Symbol" pitchFamily="18" charset="2"/>
              </a:rPr>
              <a:t>A</a:t>
            </a:r>
            <a:r>
              <a:rPr lang="zh-CN" altLang="en-US" b="1">
                <a:sym typeface="Symbol" pitchFamily="18" charset="2"/>
              </a:rPr>
              <a:t>，且 </a:t>
            </a:r>
            <a:r>
              <a:rPr lang="en-US" altLang="zh-CN" b="1"/>
              <a:t>&lt;a</a:t>
            </a:r>
            <a:r>
              <a:rPr lang="en-US" altLang="zh-CN" b="1" baseline="-30000"/>
              <a:t>1</a:t>
            </a:r>
            <a:r>
              <a:rPr lang="en-US" altLang="zh-CN" b="1"/>
              <a:t>, a</a:t>
            </a:r>
            <a:r>
              <a:rPr lang="en-US" altLang="zh-CN" b="1" baseline="-30000"/>
              <a:t>2</a:t>
            </a:r>
            <a:r>
              <a:rPr lang="en-US" altLang="zh-CN" b="1"/>
              <a:t>&gt;∈E</a:t>
            </a:r>
            <a:r>
              <a:rPr lang="en-US" altLang="zh-CN"/>
              <a:t> </a:t>
            </a:r>
            <a:r>
              <a:rPr lang="zh-CN" altLang="en-US" b="1"/>
              <a:t>，</a:t>
            </a:r>
            <a:r>
              <a:rPr lang="en-US" altLang="zh-CN" b="1"/>
              <a:t>&lt;b</a:t>
            </a:r>
            <a:r>
              <a:rPr lang="en-US" altLang="zh-CN" b="1" baseline="-30000"/>
              <a:t>1</a:t>
            </a:r>
            <a:r>
              <a:rPr lang="en-US" altLang="zh-CN" b="1"/>
              <a:t>, b</a:t>
            </a:r>
            <a:r>
              <a:rPr lang="en-US" altLang="zh-CN" b="1" baseline="-30000"/>
              <a:t>2</a:t>
            </a:r>
            <a:r>
              <a:rPr lang="en-US" altLang="zh-CN" b="1"/>
              <a:t>&gt;∈E</a:t>
            </a:r>
            <a:endParaRPr lang="en-US" altLang="zh-CN" b="1" baseline="-30000"/>
          </a:p>
          <a:p>
            <a:pPr>
              <a:lnSpc>
                <a:spcPct val="150000"/>
              </a:lnSpc>
            </a:pPr>
            <a:r>
              <a:rPr lang="zh-CN" altLang="en-US" b="1"/>
              <a:t>因为</a:t>
            </a:r>
            <a:r>
              <a:rPr lang="en-US" altLang="zh-CN" b="1"/>
              <a:t>a</a:t>
            </a:r>
            <a:r>
              <a:rPr lang="en-US" altLang="zh-CN" b="1" baseline="-30000"/>
              <a:t>1</a:t>
            </a:r>
            <a:r>
              <a:rPr lang="en-US" altLang="zh-CN" b="1"/>
              <a:t>* b</a:t>
            </a:r>
            <a:r>
              <a:rPr lang="en-US" altLang="zh-CN" b="1" baseline="-30000"/>
              <a:t>1</a:t>
            </a:r>
            <a:r>
              <a:rPr lang="en-US" altLang="zh-CN" b="1"/>
              <a:t>=a</a:t>
            </a:r>
            <a:r>
              <a:rPr lang="en-US" altLang="zh-CN" b="1" baseline="-30000"/>
              <a:t>1</a:t>
            </a:r>
            <a:r>
              <a:rPr lang="zh-CN" altLang="en-US" b="1"/>
              <a:t>，</a:t>
            </a:r>
            <a:r>
              <a:rPr lang="en-US" altLang="zh-CN" b="1"/>
              <a:t>a</a:t>
            </a:r>
            <a:r>
              <a:rPr lang="en-US" altLang="zh-CN" b="1" baseline="-30000"/>
              <a:t>2</a:t>
            </a:r>
            <a:r>
              <a:rPr lang="en-US" altLang="zh-CN" b="1"/>
              <a:t>* b</a:t>
            </a:r>
            <a:r>
              <a:rPr lang="en-US" altLang="zh-CN" b="1" baseline="-30000"/>
              <a:t>2</a:t>
            </a:r>
            <a:r>
              <a:rPr lang="en-US" altLang="zh-CN" b="1"/>
              <a:t>=a</a:t>
            </a:r>
            <a:r>
              <a:rPr lang="en-US" altLang="zh-CN" b="1" baseline="-30000"/>
              <a:t>2</a:t>
            </a:r>
            <a:endParaRPr lang="en-US" altLang="zh-CN" b="1"/>
          </a:p>
          <a:p>
            <a:pPr>
              <a:lnSpc>
                <a:spcPct val="150000"/>
              </a:lnSpc>
            </a:pPr>
            <a:r>
              <a:rPr lang="zh-CN" altLang="en-US" b="1"/>
              <a:t>所以</a:t>
            </a:r>
            <a:r>
              <a:rPr lang="en-US" altLang="zh-CN" b="1"/>
              <a:t>&lt;a</a:t>
            </a:r>
            <a:r>
              <a:rPr lang="en-US" altLang="zh-CN" b="1" baseline="-30000"/>
              <a:t>1</a:t>
            </a:r>
            <a:r>
              <a:rPr lang="en-US" altLang="zh-CN" b="1"/>
              <a:t>* b</a:t>
            </a:r>
            <a:r>
              <a:rPr lang="en-US" altLang="zh-CN" b="1" baseline="-30000"/>
              <a:t>1</a:t>
            </a:r>
            <a:r>
              <a:rPr lang="en-US" altLang="zh-CN" b="1"/>
              <a:t>, a</a:t>
            </a:r>
            <a:r>
              <a:rPr lang="en-US" altLang="zh-CN" b="1" baseline="-30000"/>
              <a:t>2</a:t>
            </a:r>
            <a:r>
              <a:rPr lang="en-US" altLang="zh-CN" b="1"/>
              <a:t>* b</a:t>
            </a:r>
            <a:r>
              <a:rPr lang="en-US" altLang="zh-CN" b="1" baseline="-30000"/>
              <a:t>2</a:t>
            </a:r>
            <a:r>
              <a:rPr lang="en-US" altLang="zh-CN" b="1"/>
              <a:t>&gt;=&lt; a</a:t>
            </a:r>
            <a:r>
              <a:rPr lang="en-US" altLang="zh-CN" b="1" baseline="-30000"/>
              <a:t>1</a:t>
            </a:r>
            <a:r>
              <a:rPr lang="en-US" altLang="zh-CN" b="1"/>
              <a:t>, a</a:t>
            </a:r>
            <a:r>
              <a:rPr lang="en-US" altLang="zh-CN" b="1" baseline="-30000"/>
              <a:t>2</a:t>
            </a:r>
            <a:r>
              <a:rPr lang="en-US" altLang="zh-CN" b="1"/>
              <a:t> &gt;∈E</a:t>
            </a:r>
          </a:p>
          <a:p>
            <a:pPr>
              <a:lnSpc>
                <a:spcPct val="150000"/>
              </a:lnSpc>
            </a:pPr>
            <a:r>
              <a:rPr lang="zh-CN" altLang="en-US" b="1"/>
              <a:t>所以</a:t>
            </a:r>
            <a:r>
              <a:rPr lang="en-US" altLang="zh-CN" b="1">
                <a:sym typeface="Symbol" pitchFamily="18" charset="2"/>
              </a:rPr>
              <a:t>E</a:t>
            </a:r>
            <a:r>
              <a:rPr lang="zh-CN" altLang="en-US" b="1">
                <a:sym typeface="Symbol" pitchFamily="18" charset="2"/>
              </a:rPr>
              <a:t>是</a:t>
            </a:r>
            <a:r>
              <a:rPr lang="en-US" altLang="zh-CN" b="1">
                <a:sym typeface="Symbol" pitchFamily="18" charset="2"/>
              </a:rPr>
              <a:t>A</a:t>
            </a:r>
            <a:r>
              <a:rPr lang="zh-CN" altLang="en-US" b="1">
                <a:sym typeface="Symbol" pitchFamily="18" charset="2"/>
              </a:rPr>
              <a:t>上的同余关系</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9289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9289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9289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928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2899" grpId="0" uiExpand="1" build="p"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灯片编号占位符 2"/>
          <p:cNvSpPr>
            <a:spLocks noGrp="1"/>
          </p:cNvSpPr>
          <p:nvPr>
            <p:ph type="sldNum" sz="quarter" idx="11"/>
          </p:nvPr>
        </p:nvSpPr>
        <p:spPr/>
        <p:txBody>
          <a:bodyPr/>
          <a:lstStyle/>
          <a:p>
            <a:fld id="{689C0AF0-F950-4B4B-AF95-35AD5EB1049F}" type="slidenum">
              <a:rPr lang="en-US" altLang="zh-CN"/>
              <a:pPr/>
              <a:t>78</a:t>
            </a:fld>
            <a:endParaRPr lang="en-US" altLang="zh-CN"/>
          </a:p>
        </p:txBody>
      </p:sp>
      <p:sp>
        <p:nvSpPr>
          <p:cNvPr id="539650" name="Rectangle 2"/>
          <p:cNvSpPr>
            <a:spLocks noChangeArrowheads="1"/>
          </p:cNvSpPr>
          <p:nvPr/>
        </p:nvSpPr>
        <p:spPr bwMode="auto">
          <a:xfrm>
            <a:off x="466725" y="935038"/>
            <a:ext cx="8277225" cy="140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lang="zh-CN" altLang="en-US" b="1">
                <a:solidFill>
                  <a:srgbClr val="FF0000"/>
                </a:solidFill>
              </a:rPr>
              <a:t>定理</a:t>
            </a:r>
            <a:r>
              <a:rPr lang="en-US" altLang="zh-CN" b="1">
                <a:solidFill>
                  <a:srgbClr val="FF0000"/>
                </a:solidFill>
              </a:rPr>
              <a:t>5-8.4</a:t>
            </a:r>
            <a:r>
              <a:rPr lang="zh-CN" altLang="en-US" b="1">
                <a:solidFill>
                  <a:srgbClr val="FF0000"/>
                </a:solidFill>
              </a:rPr>
              <a:t>：</a:t>
            </a:r>
            <a:r>
              <a:rPr lang="zh-CN" altLang="en-US" b="1"/>
              <a:t>设</a:t>
            </a:r>
            <a:r>
              <a:rPr lang="en-US" altLang="zh-CN" b="1"/>
              <a:t>&lt;A,★&gt;</a:t>
            </a:r>
            <a:r>
              <a:rPr lang="zh-CN" altLang="en-US" b="1"/>
              <a:t>是一个代数系统，</a:t>
            </a:r>
            <a:r>
              <a:rPr lang="en-US" altLang="zh-CN" b="1"/>
              <a:t>R</a:t>
            </a:r>
            <a:r>
              <a:rPr lang="zh-CN" altLang="en-US" b="1"/>
              <a:t>是</a:t>
            </a:r>
            <a:r>
              <a:rPr lang="en-US" altLang="zh-CN" b="1"/>
              <a:t>A</a:t>
            </a:r>
            <a:r>
              <a:rPr lang="zh-CN" altLang="en-US" b="1"/>
              <a:t>上的一个同余关系，</a:t>
            </a:r>
            <a:r>
              <a:rPr lang="en-US" altLang="zh-CN" b="1"/>
              <a:t>B={A</a:t>
            </a:r>
            <a:r>
              <a:rPr lang="en-US" altLang="zh-CN" b="1" baseline="-25000"/>
              <a:t>1</a:t>
            </a:r>
            <a:r>
              <a:rPr lang="en-US" altLang="zh-CN" b="1"/>
              <a:t>, A</a:t>
            </a:r>
            <a:r>
              <a:rPr lang="en-US" altLang="zh-CN" b="1" baseline="-25000"/>
              <a:t>2</a:t>
            </a:r>
            <a:r>
              <a:rPr lang="en-US" altLang="zh-CN" b="1"/>
              <a:t>, …, A</a:t>
            </a:r>
            <a:r>
              <a:rPr lang="en-US" altLang="zh-CN" b="1" baseline="-25000"/>
              <a:t>r</a:t>
            </a:r>
            <a:r>
              <a:rPr lang="en-US" altLang="zh-CN" b="1"/>
              <a:t>}</a:t>
            </a:r>
            <a:r>
              <a:rPr lang="zh-CN" altLang="en-US" b="1"/>
              <a:t>是由</a:t>
            </a:r>
            <a:r>
              <a:rPr lang="en-US" altLang="zh-CN" b="1"/>
              <a:t>R</a:t>
            </a:r>
            <a:r>
              <a:rPr lang="zh-CN" altLang="en-US" b="1"/>
              <a:t>诱导的</a:t>
            </a:r>
            <a:r>
              <a:rPr lang="en-US" altLang="zh-CN" b="1"/>
              <a:t>A</a:t>
            </a:r>
            <a:r>
              <a:rPr lang="zh-CN" altLang="en-US" b="1"/>
              <a:t>上的一个划分，那么，必定存在新的代数系统</a:t>
            </a:r>
            <a:r>
              <a:rPr lang="en-US" altLang="zh-CN" b="1"/>
              <a:t>&lt;B,*&gt;</a:t>
            </a:r>
            <a:r>
              <a:rPr lang="zh-CN" altLang="en-US" b="1"/>
              <a:t>，它是</a:t>
            </a:r>
            <a:r>
              <a:rPr lang="en-US" altLang="zh-CN" b="1"/>
              <a:t>&lt;A,★&gt;</a:t>
            </a:r>
            <a:r>
              <a:rPr lang="zh-CN" altLang="en-US" b="1"/>
              <a:t>的同态象。</a:t>
            </a:r>
          </a:p>
        </p:txBody>
      </p:sp>
      <p:grpSp>
        <p:nvGrpSpPr>
          <p:cNvPr id="539674" name="Group 26"/>
          <p:cNvGrpSpPr>
            <a:grpSpLocks/>
          </p:cNvGrpSpPr>
          <p:nvPr/>
        </p:nvGrpSpPr>
        <p:grpSpPr bwMode="auto">
          <a:xfrm>
            <a:off x="395288" y="2276475"/>
            <a:ext cx="6481762" cy="3024188"/>
            <a:chOff x="385" y="1525"/>
            <a:chExt cx="4854" cy="2659"/>
          </a:xfrm>
        </p:grpSpPr>
        <p:sp>
          <p:nvSpPr>
            <p:cNvPr id="539652" name="Oval 4"/>
            <p:cNvSpPr>
              <a:spLocks noChangeArrowheads="1"/>
            </p:cNvSpPr>
            <p:nvPr/>
          </p:nvSpPr>
          <p:spPr bwMode="auto">
            <a:xfrm>
              <a:off x="385" y="1525"/>
              <a:ext cx="4854" cy="2659"/>
            </a:xfrm>
            <a:prstGeom prst="ellipse">
              <a:avLst/>
            </a:prstGeom>
            <a:solidFill>
              <a:schemeClr val="accent1">
                <a:alpha val="0"/>
              </a:schemeClr>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9653" name="Freeform 5"/>
            <p:cNvSpPr>
              <a:spLocks/>
            </p:cNvSpPr>
            <p:nvPr/>
          </p:nvSpPr>
          <p:spPr bwMode="auto">
            <a:xfrm>
              <a:off x="657" y="2097"/>
              <a:ext cx="688" cy="1360"/>
            </a:xfrm>
            <a:custGeom>
              <a:avLst/>
              <a:gdLst>
                <a:gd name="T0" fmla="*/ 182 w 688"/>
                <a:gd name="T1" fmla="*/ 0 h 1360"/>
                <a:gd name="T2" fmla="*/ 590 w 688"/>
                <a:gd name="T3" fmla="*/ 453 h 1360"/>
                <a:gd name="T4" fmla="*/ 590 w 688"/>
                <a:gd name="T5" fmla="*/ 1134 h 1360"/>
                <a:gd name="T6" fmla="*/ 0 w 688"/>
                <a:gd name="T7" fmla="*/ 1360 h 1360"/>
              </a:gdLst>
              <a:ahLst/>
              <a:cxnLst>
                <a:cxn ang="0">
                  <a:pos x="T0" y="T1"/>
                </a:cxn>
                <a:cxn ang="0">
                  <a:pos x="T2" y="T3"/>
                </a:cxn>
                <a:cxn ang="0">
                  <a:pos x="T4" y="T5"/>
                </a:cxn>
                <a:cxn ang="0">
                  <a:pos x="T6" y="T7"/>
                </a:cxn>
              </a:cxnLst>
              <a:rect l="0" t="0" r="r" b="b"/>
              <a:pathLst>
                <a:path w="688" h="1360">
                  <a:moveTo>
                    <a:pt x="182" y="0"/>
                  </a:moveTo>
                  <a:cubicBezTo>
                    <a:pt x="352" y="132"/>
                    <a:pt x="522" y="264"/>
                    <a:pt x="590" y="453"/>
                  </a:cubicBezTo>
                  <a:cubicBezTo>
                    <a:pt x="658" y="642"/>
                    <a:pt x="688" y="983"/>
                    <a:pt x="590" y="1134"/>
                  </a:cubicBezTo>
                  <a:cubicBezTo>
                    <a:pt x="492" y="1285"/>
                    <a:pt x="128" y="1330"/>
                    <a:pt x="0" y="1360"/>
                  </a:cubicBezTo>
                </a:path>
              </a:pathLst>
            </a:custGeom>
            <a:noFill/>
            <a:ln w="952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39654" name="Freeform 6"/>
            <p:cNvSpPr>
              <a:spLocks/>
            </p:cNvSpPr>
            <p:nvPr/>
          </p:nvSpPr>
          <p:spPr bwMode="auto">
            <a:xfrm>
              <a:off x="1292" y="1525"/>
              <a:ext cx="1543" cy="1180"/>
            </a:xfrm>
            <a:custGeom>
              <a:avLst/>
              <a:gdLst>
                <a:gd name="T0" fmla="*/ 0 w 1543"/>
                <a:gd name="T1" fmla="*/ 1134 h 1180"/>
                <a:gd name="T2" fmla="*/ 772 w 1543"/>
                <a:gd name="T3" fmla="*/ 1089 h 1180"/>
                <a:gd name="T4" fmla="*/ 1407 w 1543"/>
                <a:gd name="T5" fmla="*/ 590 h 1180"/>
                <a:gd name="T6" fmla="*/ 1543 w 1543"/>
                <a:gd name="T7" fmla="*/ 0 h 1180"/>
              </a:gdLst>
              <a:ahLst/>
              <a:cxnLst>
                <a:cxn ang="0">
                  <a:pos x="T0" y="T1"/>
                </a:cxn>
                <a:cxn ang="0">
                  <a:pos x="T2" y="T3"/>
                </a:cxn>
                <a:cxn ang="0">
                  <a:pos x="T4" y="T5"/>
                </a:cxn>
                <a:cxn ang="0">
                  <a:pos x="T6" y="T7"/>
                </a:cxn>
              </a:cxnLst>
              <a:rect l="0" t="0" r="r" b="b"/>
              <a:pathLst>
                <a:path w="1543" h="1180">
                  <a:moveTo>
                    <a:pt x="0" y="1134"/>
                  </a:moveTo>
                  <a:cubicBezTo>
                    <a:pt x="269" y="1157"/>
                    <a:pt x="538" y="1180"/>
                    <a:pt x="772" y="1089"/>
                  </a:cubicBezTo>
                  <a:cubicBezTo>
                    <a:pt x="1006" y="998"/>
                    <a:pt x="1279" y="771"/>
                    <a:pt x="1407" y="590"/>
                  </a:cubicBezTo>
                  <a:cubicBezTo>
                    <a:pt x="1535" y="409"/>
                    <a:pt x="1539" y="204"/>
                    <a:pt x="1543" y="0"/>
                  </a:cubicBezTo>
                </a:path>
              </a:pathLst>
            </a:custGeom>
            <a:noFill/>
            <a:ln w="952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39655" name="Freeform 7"/>
            <p:cNvSpPr>
              <a:spLocks/>
            </p:cNvSpPr>
            <p:nvPr/>
          </p:nvSpPr>
          <p:spPr bwMode="auto">
            <a:xfrm>
              <a:off x="2200" y="2568"/>
              <a:ext cx="688" cy="1588"/>
            </a:xfrm>
            <a:custGeom>
              <a:avLst/>
              <a:gdLst>
                <a:gd name="T0" fmla="*/ 0 w 688"/>
                <a:gd name="T1" fmla="*/ 0 h 1588"/>
                <a:gd name="T2" fmla="*/ 362 w 688"/>
                <a:gd name="T3" fmla="*/ 227 h 1588"/>
                <a:gd name="T4" fmla="*/ 680 w 688"/>
                <a:gd name="T5" fmla="*/ 862 h 1588"/>
                <a:gd name="T6" fmla="*/ 408 w 688"/>
                <a:gd name="T7" fmla="*/ 1588 h 1588"/>
              </a:gdLst>
              <a:ahLst/>
              <a:cxnLst>
                <a:cxn ang="0">
                  <a:pos x="T0" y="T1"/>
                </a:cxn>
                <a:cxn ang="0">
                  <a:pos x="T2" y="T3"/>
                </a:cxn>
                <a:cxn ang="0">
                  <a:pos x="T4" y="T5"/>
                </a:cxn>
                <a:cxn ang="0">
                  <a:pos x="T6" y="T7"/>
                </a:cxn>
              </a:cxnLst>
              <a:rect l="0" t="0" r="r" b="b"/>
              <a:pathLst>
                <a:path w="688" h="1588">
                  <a:moveTo>
                    <a:pt x="0" y="0"/>
                  </a:moveTo>
                  <a:cubicBezTo>
                    <a:pt x="124" y="41"/>
                    <a:pt x="249" y="83"/>
                    <a:pt x="362" y="227"/>
                  </a:cubicBezTo>
                  <a:cubicBezTo>
                    <a:pt x="475" y="371"/>
                    <a:pt x="672" y="635"/>
                    <a:pt x="680" y="862"/>
                  </a:cubicBezTo>
                  <a:cubicBezTo>
                    <a:pt x="688" y="1089"/>
                    <a:pt x="461" y="1467"/>
                    <a:pt x="408" y="1588"/>
                  </a:cubicBezTo>
                </a:path>
              </a:pathLst>
            </a:custGeom>
            <a:noFill/>
            <a:ln w="952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39656" name="Freeform 8"/>
            <p:cNvSpPr>
              <a:spLocks/>
            </p:cNvSpPr>
            <p:nvPr/>
          </p:nvSpPr>
          <p:spPr bwMode="auto">
            <a:xfrm>
              <a:off x="2789" y="1661"/>
              <a:ext cx="1384" cy="1512"/>
            </a:xfrm>
            <a:custGeom>
              <a:avLst/>
              <a:gdLst>
                <a:gd name="T0" fmla="*/ 0 w 1384"/>
                <a:gd name="T1" fmla="*/ 1497 h 1512"/>
                <a:gd name="T2" fmla="*/ 953 w 1384"/>
                <a:gd name="T3" fmla="*/ 1406 h 1512"/>
                <a:gd name="T4" fmla="*/ 1361 w 1384"/>
                <a:gd name="T5" fmla="*/ 862 h 1512"/>
                <a:gd name="T6" fmla="*/ 1089 w 1384"/>
                <a:gd name="T7" fmla="*/ 0 h 1512"/>
              </a:gdLst>
              <a:ahLst/>
              <a:cxnLst>
                <a:cxn ang="0">
                  <a:pos x="T0" y="T1"/>
                </a:cxn>
                <a:cxn ang="0">
                  <a:pos x="T2" y="T3"/>
                </a:cxn>
                <a:cxn ang="0">
                  <a:pos x="T4" y="T5"/>
                </a:cxn>
                <a:cxn ang="0">
                  <a:pos x="T6" y="T7"/>
                </a:cxn>
              </a:cxnLst>
              <a:rect l="0" t="0" r="r" b="b"/>
              <a:pathLst>
                <a:path w="1384" h="1512">
                  <a:moveTo>
                    <a:pt x="0" y="1497"/>
                  </a:moveTo>
                  <a:cubicBezTo>
                    <a:pt x="363" y="1504"/>
                    <a:pt x="726" y="1512"/>
                    <a:pt x="953" y="1406"/>
                  </a:cubicBezTo>
                  <a:cubicBezTo>
                    <a:pt x="1180" y="1300"/>
                    <a:pt x="1338" y="1096"/>
                    <a:pt x="1361" y="862"/>
                  </a:cubicBezTo>
                  <a:cubicBezTo>
                    <a:pt x="1384" y="628"/>
                    <a:pt x="1142" y="144"/>
                    <a:pt x="1089" y="0"/>
                  </a:cubicBezTo>
                </a:path>
              </a:pathLst>
            </a:custGeom>
            <a:noFill/>
            <a:ln w="952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39658" name="Freeform 10"/>
            <p:cNvSpPr>
              <a:spLocks noChangeAspect="1"/>
            </p:cNvSpPr>
            <p:nvPr/>
          </p:nvSpPr>
          <p:spPr bwMode="auto">
            <a:xfrm>
              <a:off x="3690" y="3040"/>
              <a:ext cx="535" cy="897"/>
            </a:xfrm>
            <a:custGeom>
              <a:avLst/>
              <a:gdLst>
                <a:gd name="T0" fmla="*/ 106 w 514"/>
                <a:gd name="T1" fmla="*/ 0 h 862"/>
                <a:gd name="T2" fmla="*/ 15 w 514"/>
                <a:gd name="T3" fmla="*/ 363 h 862"/>
                <a:gd name="T4" fmla="*/ 197 w 514"/>
                <a:gd name="T5" fmla="*/ 726 h 862"/>
                <a:gd name="T6" fmla="*/ 514 w 514"/>
                <a:gd name="T7" fmla="*/ 862 h 862"/>
              </a:gdLst>
              <a:ahLst/>
              <a:cxnLst>
                <a:cxn ang="0">
                  <a:pos x="T0" y="T1"/>
                </a:cxn>
                <a:cxn ang="0">
                  <a:pos x="T2" y="T3"/>
                </a:cxn>
                <a:cxn ang="0">
                  <a:pos x="T4" y="T5"/>
                </a:cxn>
                <a:cxn ang="0">
                  <a:pos x="T6" y="T7"/>
                </a:cxn>
              </a:cxnLst>
              <a:rect l="0" t="0" r="r" b="b"/>
              <a:pathLst>
                <a:path w="514" h="862">
                  <a:moveTo>
                    <a:pt x="106" y="0"/>
                  </a:moveTo>
                  <a:cubicBezTo>
                    <a:pt x="53" y="121"/>
                    <a:pt x="0" y="242"/>
                    <a:pt x="15" y="363"/>
                  </a:cubicBezTo>
                  <a:cubicBezTo>
                    <a:pt x="30" y="484"/>
                    <a:pt x="114" y="643"/>
                    <a:pt x="197" y="726"/>
                  </a:cubicBezTo>
                  <a:cubicBezTo>
                    <a:pt x="280" y="809"/>
                    <a:pt x="397" y="835"/>
                    <a:pt x="514" y="862"/>
                  </a:cubicBezTo>
                </a:path>
              </a:pathLst>
            </a:custGeom>
            <a:noFill/>
            <a:ln w="952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39659" name="Freeform 11"/>
            <p:cNvSpPr>
              <a:spLocks/>
            </p:cNvSpPr>
            <p:nvPr/>
          </p:nvSpPr>
          <p:spPr bwMode="auto">
            <a:xfrm>
              <a:off x="4105" y="2696"/>
              <a:ext cx="900" cy="779"/>
            </a:xfrm>
            <a:custGeom>
              <a:avLst/>
              <a:gdLst>
                <a:gd name="T0" fmla="*/ 0 w 900"/>
                <a:gd name="T1" fmla="*/ 8 h 779"/>
                <a:gd name="T2" fmla="*/ 272 w 900"/>
                <a:gd name="T3" fmla="*/ 8 h 779"/>
                <a:gd name="T4" fmla="*/ 453 w 900"/>
                <a:gd name="T5" fmla="*/ 54 h 779"/>
                <a:gd name="T6" fmla="*/ 635 w 900"/>
                <a:gd name="T7" fmla="*/ 190 h 779"/>
                <a:gd name="T8" fmla="*/ 862 w 900"/>
                <a:gd name="T9" fmla="*/ 507 h 779"/>
                <a:gd name="T10" fmla="*/ 862 w 900"/>
                <a:gd name="T11" fmla="*/ 779 h 779"/>
              </a:gdLst>
              <a:ahLst/>
              <a:cxnLst>
                <a:cxn ang="0">
                  <a:pos x="T0" y="T1"/>
                </a:cxn>
                <a:cxn ang="0">
                  <a:pos x="T2" y="T3"/>
                </a:cxn>
                <a:cxn ang="0">
                  <a:pos x="T4" y="T5"/>
                </a:cxn>
                <a:cxn ang="0">
                  <a:pos x="T6" y="T7"/>
                </a:cxn>
                <a:cxn ang="0">
                  <a:pos x="T8" y="T9"/>
                </a:cxn>
                <a:cxn ang="0">
                  <a:pos x="T10" y="T11"/>
                </a:cxn>
              </a:cxnLst>
              <a:rect l="0" t="0" r="r" b="b"/>
              <a:pathLst>
                <a:path w="900" h="779">
                  <a:moveTo>
                    <a:pt x="0" y="8"/>
                  </a:moveTo>
                  <a:cubicBezTo>
                    <a:pt x="98" y="4"/>
                    <a:pt x="197" y="0"/>
                    <a:pt x="272" y="8"/>
                  </a:cubicBezTo>
                  <a:cubicBezTo>
                    <a:pt x="347" y="16"/>
                    <a:pt x="393" y="24"/>
                    <a:pt x="453" y="54"/>
                  </a:cubicBezTo>
                  <a:cubicBezTo>
                    <a:pt x="513" y="84"/>
                    <a:pt x="567" y="115"/>
                    <a:pt x="635" y="190"/>
                  </a:cubicBezTo>
                  <a:cubicBezTo>
                    <a:pt x="703" y="265"/>
                    <a:pt x="824" y="409"/>
                    <a:pt x="862" y="507"/>
                  </a:cubicBezTo>
                  <a:cubicBezTo>
                    <a:pt x="900" y="605"/>
                    <a:pt x="881" y="692"/>
                    <a:pt x="862" y="779"/>
                  </a:cubicBezTo>
                </a:path>
              </a:pathLst>
            </a:custGeom>
            <a:noFill/>
            <a:ln w="952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39661" name="Rectangle 13"/>
            <p:cNvSpPr>
              <a:spLocks noChangeArrowheads="1"/>
            </p:cNvSpPr>
            <p:nvPr/>
          </p:nvSpPr>
          <p:spPr bwMode="auto">
            <a:xfrm>
              <a:off x="673" y="2704"/>
              <a:ext cx="379" cy="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A</a:t>
              </a:r>
              <a:r>
                <a:rPr lang="en-US" altLang="zh-CN" b="1" baseline="-25000"/>
                <a:t>1</a:t>
              </a:r>
            </a:p>
          </p:txBody>
        </p:sp>
        <p:sp>
          <p:nvSpPr>
            <p:cNvPr id="539663" name="Rectangle 15"/>
            <p:cNvSpPr>
              <a:spLocks noChangeArrowheads="1"/>
            </p:cNvSpPr>
            <p:nvPr/>
          </p:nvSpPr>
          <p:spPr bwMode="auto">
            <a:xfrm>
              <a:off x="1807" y="1979"/>
              <a:ext cx="379" cy="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A</a:t>
              </a:r>
              <a:r>
                <a:rPr lang="en-US" altLang="zh-CN" b="1" baseline="-25000"/>
                <a:t>2</a:t>
              </a:r>
            </a:p>
          </p:txBody>
        </p:sp>
        <p:sp>
          <p:nvSpPr>
            <p:cNvPr id="539665" name="Rectangle 17"/>
            <p:cNvSpPr>
              <a:spLocks noChangeArrowheads="1"/>
            </p:cNvSpPr>
            <p:nvPr/>
          </p:nvSpPr>
          <p:spPr bwMode="auto">
            <a:xfrm>
              <a:off x="3031" y="2069"/>
              <a:ext cx="380" cy="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A</a:t>
              </a:r>
              <a:r>
                <a:rPr lang="en-US" altLang="zh-CN" b="1" baseline="-25000"/>
                <a:t>3</a:t>
              </a:r>
            </a:p>
          </p:txBody>
        </p:sp>
        <p:sp>
          <p:nvSpPr>
            <p:cNvPr id="539667" name="Rectangle 19"/>
            <p:cNvSpPr>
              <a:spLocks noChangeArrowheads="1"/>
            </p:cNvSpPr>
            <p:nvPr/>
          </p:nvSpPr>
          <p:spPr bwMode="auto">
            <a:xfrm>
              <a:off x="4438" y="2251"/>
              <a:ext cx="379" cy="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A</a:t>
              </a:r>
              <a:r>
                <a:rPr lang="en-US" altLang="zh-CN" b="1" baseline="-25000"/>
                <a:t>4</a:t>
              </a:r>
            </a:p>
          </p:txBody>
        </p:sp>
        <p:sp>
          <p:nvSpPr>
            <p:cNvPr id="539669" name="Rectangle 21"/>
            <p:cNvSpPr>
              <a:spLocks noChangeArrowheads="1"/>
            </p:cNvSpPr>
            <p:nvPr/>
          </p:nvSpPr>
          <p:spPr bwMode="auto">
            <a:xfrm>
              <a:off x="1762" y="3293"/>
              <a:ext cx="379" cy="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A</a:t>
              </a:r>
              <a:r>
                <a:rPr lang="en-US" altLang="zh-CN" b="1" baseline="-25000"/>
                <a:t>5</a:t>
              </a:r>
            </a:p>
          </p:txBody>
        </p:sp>
        <p:sp>
          <p:nvSpPr>
            <p:cNvPr id="539671" name="Rectangle 23"/>
            <p:cNvSpPr>
              <a:spLocks noChangeArrowheads="1"/>
            </p:cNvSpPr>
            <p:nvPr/>
          </p:nvSpPr>
          <p:spPr bwMode="auto">
            <a:xfrm>
              <a:off x="3122" y="3566"/>
              <a:ext cx="379" cy="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A</a:t>
              </a:r>
              <a:r>
                <a:rPr lang="en-US" altLang="zh-CN" b="1" baseline="-25000"/>
                <a:t>6</a:t>
              </a:r>
            </a:p>
          </p:txBody>
        </p:sp>
        <p:sp>
          <p:nvSpPr>
            <p:cNvPr id="539673" name="Rectangle 25"/>
            <p:cNvSpPr>
              <a:spLocks noChangeArrowheads="1"/>
            </p:cNvSpPr>
            <p:nvPr/>
          </p:nvSpPr>
          <p:spPr bwMode="auto">
            <a:xfrm>
              <a:off x="4165" y="3249"/>
              <a:ext cx="380" cy="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A</a:t>
              </a:r>
              <a:r>
                <a:rPr lang="en-US" altLang="zh-CN" b="1" baseline="-25000"/>
                <a:t>7</a:t>
              </a:r>
            </a:p>
          </p:txBody>
        </p:sp>
      </p:grpSp>
      <p:sp>
        <p:nvSpPr>
          <p:cNvPr id="539676" name="AutoShape 28"/>
          <p:cNvSpPr>
            <a:spLocks noChangeArrowheads="1"/>
          </p:cNvSpPr>
          <p:nvPr/>
        </p:nvSpPr>
        <p:spPr bwMode="auto">
          <a:xfrm>
            <a:off x="6948488" y="3138488"/>
            <a:ext cx="1944687" cy="1284287"/>
          </a:xfrm>
          <a:prstGeom prst="wedgeRoundRectCallout">
            <a:avLst>
              <a:gd name="adj1" fmla="val -89102"/>
              <a:gd name="adj2" fmla="val -106810"/>
              <a:gd name="adj3" fmla="val 16667"/>
            </a:avLst>
          </a:prstGeom>
          <a:solidFill>
            <a:srgbClr val="FFFF66"/>
          </a:solidFill>
          <a:ln w="9525"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a:t>(1)</a:t>
            </a:r>
            <a:r>
              <a:rPr lang="zh-CN" altLang="en-US" b="1"/>
              <a:t>构造</a:t>
            </a:r>
            <a:r>
              <a:rPr lang="en-US" altLang="zh-CN" b="1"/>
              <a:t>B</a:t>
            </a:r>
            <a:r>
              <a:rPr lang="zh-CN" altLang="en-US" b="1"/>
              <a:t>上的运算*和映射</a:t>
            </a:r>
            <a:r>
              <a:rPr lang="en-US" altLang="zh-CN" b="1"/>
              <a:t>f</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39674"/>
                                        </p:tgtEl>
                                        <p:attrNameLst>
                                          <p:attrName>style.visibility</p:attrName>
                                        </p:attrNameLst>
                                      </p:cBhvr>
                                      <p:to>
                                        <p:strVal val="visible"/>
                                      </p:to>
                                    </p:set>
                                    <p:anim calcmode="lin" valueType="num">
                                      <p:cBhvr additive="base">
                                        <p:cTn id="7" dur="500" fill="hold"/>
                                        <p:tgtEl>
                                          <p:spTgt spid="539674"/>
                                        </p:tgtEl>
                                        <p:attrNameLst>
                                          <p:attrName>ppt_x</p:attrName>
                                        </p:attrNameLst>
                                      </p:cBhvr>
                                      <p:tavLst>
                                        <p:tav tm="0">
                                          <p:val>
                                            <p:strVal val="#ppt_x"/>
                                          </p:val>
                                        </p:tav>
                                        <p:tav tm="100000">
                                          <p:val>
                                            <p:strVal val="#ppt_x"/>
                                          </p:val>
                                        </p:tav>
                                      </p:tavLst>
                                    </p:anim>
                                    <p:anim calcmode="lin" valueType="num">
                                      <p:cBhvr additive="base">
                                        <p:cTn id="8" dur="500" fill="hold"/>
                                        <p:tgtEl>
                                          <p:spTgt spid="53967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39676"/>
                                        </p:tgtEl>
                                        <p:attrNameLst>
                                          <p:attrName>style.visibility</p:attrName>
                                        </p:attrNameLst>
                                      </p:cBhvr>
                                      <p:to>
                                        <p:strVal val="visible"/>
                                      </p:to>
                                    </p:set>
                                    <p:anim calcmode="lin" valueType="num">
                                      <p:cBhvr additive="base">
                                        <p:cTn id="13" dur="500" fill="hold"/>
                                        <p:tgtEl>
                                          <p:spTgt spid="539676"/>
                                        </p:tgtEl>
                                        <p:attrNameLst>
                                          <p:attrName>ppt_x</p:attrName>
                                        </p:attrNameLst>
                                      </p:cBhvr>
                                      <p:tavLst>
                                        <p:tav tm="0">
                                          <p:val>
                                            <p:strVal val="#ppt_x"/>
                                          </p:val>
                                        </p:tav>
                                        <p:tav tm="100000">
                                          <p:val>
                                            <p:strVal val="#ppt_x"/>
                                          </p:val>
                                        </p:tav>
                                      </p:tavLst>
                                    </p:anim>
                                    <p:anim calcmode="lin" valueType="num">
                                      <p:cBhvr additive="base">
                                        <p:cTn id="14" dur="500" fill="hold"/>
                                        <p:tgtEl>
                                          <p:spTgt spid="5396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9676"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fld id="{5274EC04-40C0-4673-B84E-1AB8E371CFD6}" type="slidenum">
              <a:rPr lang="en-US" altLang="zh-CN"/>
              <a:pPr/>
              <a:t>79</a:t>
            </a:fld>
            <a:endParaRPr lang="en-US" altLang="zh-CN"/>
          </a:p>
        </p:txBody>
      </p:sp>
      <p:sp>
        <p:nvSpPr>
          <p:cNvPr id="488450" name="Text Box 2"/>
          <p:cNvSpPr txBox="1">
            <a:spLocks noChangeArrowheads="1"/>
          </p:cNvSpPr>
          <p:nvPr/>
        </p:nvSpPr>
        <p:spPr bwMode="auto">
          <a:xfrm>
            <a:off x="466725" y="993775"/>
            <a:ext cx="8277225"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l">
              <a:defRPr kumimoji="1" sz="2400">
                <a:solidFill>
                  <a:schemeClr val="tx1"/>
                </a:solidFill>
                <a:latin typeface="Times New Roman" pitchFamily="18" charset="0"/>
                <a:ea typeface="宋体" pitchFamily="2" charset="-122"/>
              </a:defRPr>
            </a:lvl1pPr>
            <a:lvl2pPr marL="53975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20000"/>
              </a:lnSpc>
            </a:pPr>
            <a:r>
              <a:rPr lang="zh-CN" altLang="en-US" b="1" dirty="0">
                <a:solidFill>
                  <a:srgbClr val="FF0000"/>
                </a:solidFill>
              </a:rPr>
              <a:t>定理</a:t>
            </a:r>
            <a:r>
              <a:rPr lang="en-US" altLang="zh-CN" b="1" dirty="0">
                <a:solidFill>
                  <a:srgbClr val="FF0000"/>
                </a:solidFill>
              </a:rPr>
              <a:t>5-8.5</a:t>
            </a:r>
            <a:r>
              <a:rPr lang="zh-CN" altLang="en-US" b="1" dirty="0">
                <a:solidFill>
                  <a:srgbClr val="FF0000"/>
                </a:solidFill>
              </a:rPr>
              <a:t>：</a:t>
            </a:r>
            <a:r>
              <a:rPr lang="zh-CN" altLang="en-US" b="1" dirty="0"/>
              <a:t>设</a:t>
            </a:r>
            <a:r>
              <a:rPr lang="en-US" altLang="zh-CN" b="1" dirty="0"/>
              <a:t>f</a:t>
            </a:r>
            <a:r>
              <a:rPr lang="zh-CN" altLang="en-US" b="1" dirty="0"/>
              <a:t>是由</a:t>
            </a:r>
            <a:r>
              <a:rPr lang="en-US" altLang="zh-CN" b="1" dirty="0"/>
              <a:t>&lt;A,★&gt;</a:t>
            </a:r>
            <a:r>
              <a:rPr lang="zh-CN" altLang="en-US" b="1" dirty="0"/>
              <a:t>到</a:t>
            </a:r>
            <a:r>
              <a:rPr lang="en-US" altLang="zh-CN" b="1" dirty="0"/>
              <a:t>&lt;B,*&gt;</a:t>
            </a:r>
            <a:r>
              <a:rPr lang="zh-CN" altLang="en-US" b="1" dirty="0"/>
              <a:t>的一个同态映射，如果在</a:t>
            </a:r>
            <a:r>
              <a:rPr lang="en-US" altLang="zh-CN" b="1" dirty="0"/>
              <a:t>A</a:t>
            </a:r>
            <a:r>
              <a:rPr lang="zh-CN" altLang="en-US" b="1" dirty="0"/>
              <a:t>上定义二元关系</a:t>
            </a:r>
            <a:r>
              <a:rPr lang="en-US" altLang="zh-CN" b="1" dirty="0"/>
              <a:t>R</a:t>
            </a:r>
            <a:r>
              <a:rPr lang="zh-CN" altLang="en-US" b="1" dirty="0"/>
              <a:t>：对任何元素</a:t>
            </a:r>
            <a:r>
              <a:rPr lang="en-US" altLang="zh-CN" b="1" dirty="0"/>
              <a:t>a, </a:t>
            </a:r>
            <a:r>
              <a:rPr lang="en-US" altLang="zh-CN" b="1" dirty="0" err="1"/>
              <a:t>b∈A</a:t>
            </a:r>
            <a:r>
              <a:rPr lang="zh-CN" altLang="en-US" b="1" dirty="0"/>
              <a:t>，有</a:t>
            </a:r>
          </a:p>
          <a:p>
            <a:pPr>
              <a:lnSpc>
                <a:spcPct val="120000"/>
              </a:lnSpc>
            </a:pPr>
            <a:r>
              <a:rPr lang="zh-CN" altLang="en-US" b="1" dirty="0"/>
              <a:t>              </a:t>
            </a:r>
            <a:r>
              <a:rPr lang="en-US" altLang="zh-CN" b="1" dirty="0"/>
              <a:t>&lt;</a:t>
            </a:r>
            <a:r>
              <a:rPr lang="en-US" altLang="zh-CN" b="1" dirty="0" err="1"/>
              <a:t>a,b</a:t>
            </a:r>
            <a:r>
              <a:rPr lang="en-US" altLang="zh-CN" b="1" dirty="0"/>
              <a:t>&gt;∈R       </a:t>
            </a:r>
            <a:r>
              <a:rPr lang="zh-CN" altLang="en-US" b="1" dirty="0"/>
              <a:t>当且仅当        </a:t>
            </a:r>
            <a:r>
              <a:rPr lang="en-US" altLang="zh-CN" b="1" dirty="0"/>
              <a:t>f(a)=f(b)</a:t>
            </a:r>
          </a:p>
          <a:p>
            <a:pPr>
              <a:lnSpc>
                <a:spcPct val="120000"/>
              </a:lnSpc>
            </a:pPr>
            <a:r>
              <a:rPr lang="zh-CN" altLang="en-US" b="1" dirty="0"/>
              <a:t>则关系</a:t>
            </a:r>
            <a:r>
              <a:rPr lang="en-US" altLang="zh-CN" b="1" dirty="0"/>
              <a:t>R</a:t>
            </a:r>
            <a:r>
              <a:rPr lang="zh-CN" altLang="en-US" b="1" dirty="0"/>
              <a:t>必是</a:t>
            </a:r>
            <a:r>
              <a:rPr lang="en-US" altLang="zh-CN" b="1" dirty="0"/>
              <a:t>A</a:t>
            </a:r>
            <a:r>
              <a:rPr lang="zh-CN" altLang="en-US" b="1" dirty="0"/>
              <a:t>中的同余关系。</a:t>
            </a:r>
          </a:p>
        </p:txBody>
      </p:sp>
    </p:spTree>
  </p:cSld>
  <p:clrMapOvr>
    <a:masterClrMapping/>
  </p:clrMapOvr>
  <p:transition spd="slow">
    <p:pull dir="ru"/>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 name="灯片编号占位符 2"/>
          <p:cNvSpPr>
            <a:spLocks noGrp="1"/>
          </p:cNvSpPr>
          <p:nvPr>
            <p:ph type="sldNum" sz="quarter" idx="11"/>
          </p:nvPr>
        </p:nvSpPr>
        <p:spPr/>
        <p:txBody>
          <a:bodyPr/>
          <a:lstStyle/>
          <a:p>
            <a:fld id="{CDFE6AC5-1425-4346-B183-AD22B2DDAC51}" type="slidenum">
              <a:rPr lang="en-US" altLang="zh-CN"/>
              <a:pPr/>
              <a:t>80</a:t>
            </a:fld>
            <a:endParaRPr lang="en-US" altLang="zh-CN"/>
          </a:p>
        </p:txBody>
      </p:sp>
      <p:sp>
        <p:nvSpPr>
          <p:cNvPr id="596994" name="Text Box 2"/>
          <p:cNvSpPr txBox="1">
            <a:spLocks noChangeArrowheads="1"/>
          </p:cNvSpPr>
          <p:nvPr/>
        </p:nvSpPr>
        <p:spPr bwMode="auto">
          <a:xfrm>
            <a:off x="395288" y="2133600"/>
            <a:ext cx="8280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kumimoji="1" sz="2400">
                <a:solidFill>
                  <a:schemeClr val="tx1"/>
                </a:solidFill>
                <a:latin typeface="Times New Roman" pitchFamily="18" charset="0"/>
                <a:ea typeface="宋体" pitchFamily="2" charset="-122"/>
              </a:defRPr>
            </a:lvl1pPr>
            <a:lvl2pPr marL="53975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lnSpc>
                <a:spcPct val="150000"/>
              </a:lnSpc>
            </a:pPr>
            <a:r>
              <a:rPr kumimoji="0" lang="zh-CN" altLang="en-US" b="1" dirty="0" smtClean="0">
                <a:solidFill>
                  <a:schemeClr val="hlink"/>
                </a:solidFill>
              </a:rPr>
              <a:t>例</a:t>
            </a:r>
            <a:r>
              <a:rPr kumimoji="0" lang="en-US" altLang="zh-CN" b="1" dirty="0" smtClean="0">
                <a:solidFill>
                  <a:schemeClr val="hlink"/>
                </a:solidFill>
              </a:rPr>
              <a:t>4</a:t>
            </a:r>
            <a:r>
              <a:rPr kumimoji="0" lang="zh-CN" altLang="en-US" b="1" dirty="0" smtClean="0">
                <a:solidFill>
                  <a:schemeClr val="hlink"/>
                </a:solidFill>
              </a:rPr>
              <a:t>：</a:t>
            </a:r>
            <a:r>
              <a:rPr kumimoji="0" lang="zh-CN" altLang="en-US" b="1" dirty="0"/>
              <a:t>如下表所确定的两个代数系统</a:t>
            </a:r>
            <a:r>
              <a:rPr kumimoji="0" lang="en-US" altLang="zh-CN" b="1" dirty="0"/>
              <a:t>&lt;A, </a:t>
            </a:r>
            <a:r>
              <a:rPr lang="en-US" altLang="zh-CN" b="1" dirty="0"/>
              <a:t>★</a:t>
            </a:r>
            <a:r>
              <a:rPr kumimoji="0" lang="en-US" altLang="zh-CN" b="1" dirty="0"/>
              <a:t>&gt;</a:t>
            </a:r>
            <a:r>
              <a:rPr kumimoji="0" lang="zh-CN" altLang="en-US" b="1" dirty="0"/>
              <a:t>和</a:t>
            </a:r>
            <a:r>
              <a:rPr kumimoji="0" lang="en-US" altLang="zh-CN" b="1" dirty="0"/>
              <a:t>&lt;B, *&gt;</a:t>
            </a:r>
          </a:p>
        </p:txBody>
      </p:sp>
      <p:graphicFrame>
        <p:nvGraphicFramePr>
          <p:cNvPr id="597022" name="Group 30"/>
          <p:cNvGraphicFramePr>
            <a:graphicFrameLocks noGrp="1"/>
          </p:cNvGraphicFramePr>
          <p:nvPr>
            <p:extLst>
              <p:ext uri="{D42A27DB-BD31-4B8C-83A1-F6EECF244321}">
                <p14:modId xmlns:p14="http://schemas.microsoft.com/office/powerpoint/2010/main" val="345175008"/>
              </p:ext>
            </p:extLst>
          </p:nvPr>
        </p:nvGraphicFramePr>
        <p:xfrm>
          <a:off x="466725" y="2825750"/>
          <a:ext cx="4681538" cy="2743200"/>
        </p:xfrm>
        <a:graphic>
          <a:graphicData uri="http://schemas.openxmlformats.org/drawingml/2006/table">
            <a:tbl>
              <a:tblPr/>
              <a:tblGrid>
                <a:gridCol w="720725"/>
                <a:gridCol w="3960813"/>
              </a:tblGrid>
              <a:tr h="431800">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α     β     γ     δ     </a:t>
                      </a:r>
                      <a:r>
                        <a:rPr kumimoji="0" lang="el-GR"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ε</a:t>
                      </a: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a:t>
                      </a:r>
                      <a:r>
                        <a:rPr kumimoji="0" lang="el-GR"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ζ</a:t>
                      </a:r>
                      <a:endParaRPr kumimoji="0" lang="el-GR" altLang="en-US"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49438">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α</a:t>
                      </a:r>
                    </a:p>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β </a:t>
                      </a:r>
                    </a:p>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γ </a:t>
                      </a:r>
                    </a:p>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δ </a:t>
                      </a:r>
                    </a:p>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l-GR"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ε</a:t>
                      </a: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a:t>
                      </a:r>
                    </a:p>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l-GR"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ζ</a:t>
                      </a:r>
                      <a:endPar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α     β     α     α     γ    δ</a:t>
                      </a:r>
                    </a:p>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β     α     γ      β     γ    </a:t>
                      </a:r>
                      <a:r>
                        <a:rPr kumimoji="0" lang="el-GR"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ε</a:t>
                      </a:r>
                      <a:endPar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α     γ     α      β     γ    </a:t>
                      </a:r>
                      <a:r>
                        <a:rPr kumimoji="0" lang="el-GR"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ε</a:t>
                      </a:r>
                      <a:endPar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α     β     β      δ     </a:t>
                      </a:r>
                      <a:r>
                        <a:rPr kumimoji="0" lang="el-GR"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ε</a:t>
                      </a: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a:t>
                      </a:r>
                      <a:r>
                        <a:rPr kumimoji="0" lang="el-GR"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ζ</a:t>
                      </a:r>
                      <a:endPar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γ     </a:t>
                      </a:r>
                      <a:r>
                        <a:rPr kumimoji="0" lang="en-US" altLang="zh-CN" sz="24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γ</a:t>
                      </a: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a:t>
                      </a:r>
                      <a:r>
                        <a:rPr kumimoji="0" lang="en-US" altLang="zh-CN" sz="24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γ</a:t>
                      </a: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a:t>
                      </a:r>
                      <a:r>
                        <a:rPr kumimoji="0" lang="el-GR"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ε</a:t>
                      </a: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a:t>
                      </a:r>
                      <a:r>
                        <a:rPr kumimoji="0" lang="el-GR"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ε</a:t>
                      </a: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a:t>
                      </a:r>
                      <a:r>
                        <a:rPr kumimoji="0" lang="el-GR"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ζ</a:t>
                      </a:r>
                      <a:endPar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δ     </a:t>
                      </a:r>
                      <a:r>
                        <a:rPr kumimoji="0" lang="el-GR"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ε</a:t>
                      </a: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a:t>
                      </a:r>
                      <a:r>
                        <a:rPr kumimoji="0" lang="el-GR"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ε</a:t>
                      </a: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a:t>
                      </a:r>
                      <a:r>
                        <a:rPr kumimoji="0" lang="el-GR"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ζ</a:t>
                      </a: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a:t>
                      </a:r>
                      <a:r>
                        <a:rPr kumimoji="0" lang="el-GR"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ζ</a:t>
                      </a: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a:t>
                      </a:r>
                      <a:r>
                        <a:rPr kumimoji="0" lang="el-GR"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ζ</a:t>
                      </a:r>
                      <a:endPar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597021" name="Group 29"/>
          <p:cNvGraphicFramePr>
            <a:graphicFrameLocks noGrp="1"/>
          </p:cNvGraphicFramePr>
          <p:nvPr/>
        </p:nvGraphicFramePr>
        <p:xfrm>
          <a:off x="5486400" y="2922588"/>
          <a:ext cx="2686050" cy="2011680"/>
        </p:xfrm>
        <a:graphic>
          <a:graphicData uri="http://schemas.openxmlformats.org/drawingml/2006/table">
            <a:tbl>
              <a:tblPr/>
              <a:tblGrid>
                <a:gridCol w="512763"/>
                <a:gridCol w="2173287"/>
              </a:tblGrid>
              <a:tr h="403225">
                <a:tc>
                  <a:txBody>
                    <a:bodyPr/>
                    <a:lstStyle/>
                    <a:p>
                      <a:pPr marL="342900" marR="0" lvl="0" indent="-342900" algn="ctr" defTabSz="914400" rtl="0" eaLnBrk="1" fontAlgn="base" latinLnBrk="0" hangingPunct="1">
                        <a:lnSpc>
                          <a:spcPct val="125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25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        0       -1</a:t>
                      </a:r>
                      <a:endParaRPr kumimoji="0" lang="el-GR" altLang="en-US"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327150">
                <a:tc>
                  <a:txBody>
                    <a:bodyPr/>
                    <a:lstStyle/>
                    <a:p>
                      <a:pPr marL="342900" marR="0" lvl="0" indent="-342900" algn="ctr" defTabSz="914400" rtl="0" eaLnBrk="1" fontAlgn="base" latinLnBrk="0" hangingPunct="1">
                        <a:lnSpc>
                          <a:spcPct val="125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a:t>
                      </a:r>
                    </a:p>
                    <a:p>
                      <a:pPr marL="342900" marR="0" lvl="0" indent="-342900" algn="ctr" defTabSz="914400" rtl="0" eaLnBrk="1" fontAlgn="base" latinLnBrk="0" hangingPunct="1">
                        <a:lnSpc>
                          <a:spcPct val="125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a:t>
                      </a:r>
                    </a:p>
                    <a:p>
                      <a:pPr marL="342900" marR="0" lvl="0" indent="-342900" algn="ctr" defTabSz="914400" rtl="0" eaLnBrk="1" fontAlgn="base" latinLnBrk="0" hangingPunct="1">
                        <a:lnSpc>
                          <a:spcPct val="125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25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1        1        0</a:t>
                      </a:r>
                    </a:p>
                    <a:p>
                      <a:pPr marL="342900" marR="0" lvl="0" indent="-342900" algn="ctr" defTabSz="914400" rtl="0" eaLnBrk="1" fontAlgn="base" latinLnBrk="0" hangingPunct="1">
                        <a:lnSpc>
                          <a:spcPct val="125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        0       -1</a:t>
                      </a:r>
                    </a:p>
                    <a:p>
                      <a:pPr marL="342900" marR="0" lvl="0" indent="-342900" algn="ctr" defTabSz="914400" rtl="0" eaLnBrk="1" fontAlgn="base" latinLnBrk="0" hangingPunct="1">
                        <a:lnSpc>
                          <a:spcPct val="125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       -1       -1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97017" name="Text Box 25"/>
          <p:cNvSpPr txBox="1">
            <a:spLocks noChangeArrowheads="1"/>
          </p:cNvSpPr>
          <p:nvPr/>
        </p:nvSpPr>
        <p:spPr bwMode="auto">
          <a:xfrm>
            <a:off x="5076825" y="4911725"/>
            <a:ext cx="4143375"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60363" algn="l">
              <a:defRPr kumimoji="1" sz="2400">
                <a:solidFill>
                  <a:schemeClr val="tx1"/>
                </a:solidFill>
                <a:latin typeface="Times New Roman" pitchFamily="18" charset="0"/>
                <a:ea typeface="宋体" pitchFamily="2" charset="-122"/>
              </a:defRPr>
            </a:lvl1pPr>
            <a:lvl2pPr marL="53975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lnSpc>
                <a:spcPct val="150000"/>
              </a:lnSpc>
            </a:pPr>
            <a:r>
              <a:rPr kumimoji="0" lang="en-US" altLang="zh-CN" b="1"/>
              <a:t>f(α)=1  f(β)=1  f(γ)=1 </a:t>
            </a:r>
          </a:p>
          <a:p>
            <a:pPr eaLnBrk="0" hangingPunct="0">
              <a:lnSpc>
                <a:spcPct val="150000"/>
              </a:lnSpc>
            </a:pPr>
            <a:r>
              <a:rPr kumimoji="0" lang="en-US" altLang="zh-CN" b="1"/>
              <a:t>f(δ)=0  f(</a:t>
            </a:r>
            <a:r>
              <a:rPr kumimoji="0" lang="el-GR" altLang="zh-CN" b="1"/>
              <a:t>ε</a:t>
            </a:r>
            <a:r>
              <a:rPr kumimoji="0" lang="en-US" altLang="zh-CN" b="1"/>
              <a:t>)=0  f(</a:t>
            </a:r>
            <a:r>
              <a:rPr kumimoji="0" lang="el-GR" altLang="zh-CN" b="1"/>
              <a:t>ζ</a:t>
            </a:r>
            <a:r>
              <a:rPr kumimoji="0" lang="en-US" altLang="zh-CN" b="1"/>
              <a:t>)=-1</a:t>
            </a:r>
          </a:p>
        </p:txBody>
      </p:sp>
      <p:sp>
        <p:nvSpPr>
          <p:cNvPr id="597018" name="Rectangle 26"/>
          <p:cNvSpPr>
            <a:spLocks noChangeArrowheads="1"/>
          </p:cNvSpPr>
          <p:nvPr/>
        </p:nvSpPr>
        <p:spPr bwMode="auto">
          <a:xfrm>
            <a:off x="323850" y="1016000"/>
            <a:ext cx="8424863"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buClr>
                <a:srgbClr val="FF3300"/>
              </a:buClr>
              <a:buFont typeface="Wingdings" pitchFamily="2" charset="2"/>
              <a:buChar char="Ø"/>
            </a:pPr>
            <a:r>
              <a:rPr lang="en-US" altLang="zh-CN" b="1"/>
              <a:t>    </a:t>
            </a:r>
            <a:r>
              <a:rPr lang="zh-CN" altLang="en-US" b="1"/>
              <a:t>一个系统的同态象，可以看成是当抽去该系统中某些元素  的次要特性的情况下，对该系统的一种粗糙描述。</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699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9702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97021"/>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970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6994" grpId="0"/>
      <p:bldP spid="597017"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1B50C93D-2D83-43E6-86A3-7B2DFAB37DF1}" type="slidenum">
              <a:rPr lang="en-US" altLang="zh-CN"/>
              <a:pPr/>
              <a:t>81</a:t>
            </a:fld>
            <a:endParaRPr lang="en-US" altLang="zh-CN"/>
          </a:p>
        </p:txBody>
      </p:sp>
      <p:sp>
        <p:nvSpPr>
          <p:cNvPr id="598018" name="Rectangle 2"/>
          <p:cNvSpPr>
            <a:spLocks noGrp="1" noChangeArrowheads="1"/>
          </p:cNvSpPr>
          <p:nvPr>
            <p:ph type="title"/>
          </p:nvPr>
        </p:nvSpPr>
        <p:spPr>
          <a:xfrm>
            <a:off x="1079500" y="209550"/>
            <a:ext cx="6318250" cy="641350"/>
          </a:xfrm>
          <a:noFill/>
        </p:spPr>
        <p:txBody>
          <a:bodyPr anchor="ctr"/>
          <a:lstStyle/>
          <a:p>
            <a:r>
              <a:rPr lang="en-US" altLang="zh-CN" sz="3600">
                <a:solidFill>
                  <a:schemeClr val="tx1"/>
                </a:solidFill>
                <a:latin typeface="华文行楷" pitchFamily="2" charset="-122"/>
                <a:ea typeface="华文行楷" pitchFamily="2" charset="-122"/>
              </a:rPr>
              <a:t>5.9  </a:t>
            </a:r>
            <a:r>
              <a:rPr lang="zh-CN" altLang="en-US" sz="3600">
                <a:solidFill>
                  <a:schemeClr val="tx1"/>
                </a:solidFill>
                <a:latin typeface="华文行楷" pitchFamily="2" charset="-122"/>
                <a:ea typeface="华文行楷" pitchFamily="2" charset="-122"/>
              </a:rPr>
              <a:t>环与域</a:t>
            </a:r>
          </a:p>
        </p:txBody>
      </p:sp>
      <p:sp>
        <p:nvSpPr>
          <p:cNvPr id="598019" name="Rectangle 3"/>
          <p:cNvSpPr>
            <a:spLocks noGrp="1" noChangeArrowheads="1"/>
          </p:cNvSpPr>
          <p:nvPr>
            <p:ph type="body" idx="1"/>
          </p:nvPr>
        </p:nvSpPr>
        <p:spPr>
          <a:xfrm>
            <a:off x="468313" y="908050"/>
            <a:ext cx="8277225" cy="3133165"/>
          </a:xfrm>
          <a:noFill/>
        </p:spPr>
        <p:txBody>
          <a:bodyPr/>
          <a:lstStyle/>
          <a:p>
            <a:pPr eaLnBrk="0" hangingPunct="0">
              <a:lnSpc>
                <a:spcPct val="130000"/>
              </a:lnSpc>
              <a:spcBef>
                <a:spcPct val="0"/>
              </a:spcBef>
              <a:buClrTx/>
              <a:buSzTx/>
              <a:buFontTx/>
              <a:buNone/>
            </a:pPr>
            <a:r>
              <a:rPr kumimoji="1" lang="zh-CN" altLang="en-US" sz="3200" dirty="0">
                <a:solidFill>
                  <a:schemeClr val="folHlink"/>
                </a:solidFill>
                <a:latin typeface="楷体_GB2312" pitchFamily="49" charset="-122"/>
                <a:ea typeface="楷体_GB2312" pitchFamily="49" charset="-122"/>
              </a:rPr>
              <a:t>一、环、特殊环、整环</a:t>
            </a:r>
          </a:p>
          <a:p>
            <a:pPr eaLnBrk="0" hangingPunct="0">
              <a:lnSpc>
                <a:spcPct val="130000"/>
              </a:lnSpc>
              <a:spcBef>
                <a:spcPct val="0"/>
              </a:spcBef>
              <a:buClrTx/>
              <a:buSzTx/>
              <a:buFontTx/>
              <a:buNone/>
            </a:pPr>
            <a:r>
              <a:rPr kumimoji="1" lang="zh-CN" altLang="en-US" sz="2400" dirty="0" smtClean="0"/>
              <a:t>        具有两个运算的代数系统</a:t>
            </a:r>
            <a:r>
              <a:rPr kumimoji="1" lang="en-US" altLang="zh-CN" sz="2400" dirty="0" smtClean="0"/>
              <a:t>&lt;A, ★,*&gt;</a:t>
            </a:r>
            <a:r>
              <a:rPr kumimoji="1" lang="zh-CN" altLang="en-US" sz="2400" dirty="0" smtClean="0"/>
              <a:t>其二元运算★、*之间有什么样的联系？ 为了方便把第一个二元运算★称为“加法”，第二个运算*称为乘法。</a:t>
            </a:r>
          </a:p>
          <a:p>
            <a:pPr algn="ctr" eaLnBrk="0" hangingPunct="0">
              <a:lnSpc>
                <a:spcPct val="130000"/>
              </a:lnSpc>
              <a:spcBef>
                <a:spcPct val="0"/>
              </a:spcBef>
              <a:buClrTx/>
              <a:buSzTx/>
              <a:buFontTx/>
              <a:buNone/>
            </a:pPr>
            <a:r>
              <a:rPr kumimoji="1" lang="en-US" altLang="zh-CN" sz="2400" dirty="0" smtClean="0"/>
              <a:t>&lt;</a:t>
            </a:r>
            <a:r>
              <a:rPr kumimoji="1" lang="en-US" altLang="zh-CN" sz="2400" dirty="0"/>
              <a:t>A, +&gt;  &lt;A, *&gt;   </a:t>
            </a:r>
            <a:r>
              <a:rPr kumimoji="1" lang="en-US" altLang="zh-CN" sz="2400" dirty="0">
                <a:solidFill>
                  <a:schemeClr val="bg2"/>
                </a:solidFill>
                <a:sym typeface="Wingdings" pitchFamily="2" charset="2"/>
              </a:rPr>
              <a:t></a:t>
            </a:r>
            <a:r>
              <a:rPr kumimoji="1" lang="en-US" altLang="zh-CN" sz="2400" dirty="0"/>
              <a:t>   &lt;A, +, *&gt;</a:t>
            </a:r>
          </a:p>
          <a:p>
            <a:pPr eaLnBrk="0" hangingPunct="0">
              <a:lnSpc>
                <a:spcPct val="130000"/>
              </a:lnSpc>
              <a:spcBef>
                <a:spcPct val="0"/>
              </a:spcBef>
              <a:buClrTx/>
              <a:buSzTx/>
              <a:buFontTx/>
              <a:buNone/>
            </a:pPr>
            <a:r>
              <a:rPr kumimoji="1" lang="zh-CN" altLang="en-US" sz="2400" dirty="0"/>
              <a:t>例：</a:t>
            </a:r>
            <a:r>
              <a:rPr kumimoji="1" lang="en-US" altLang="zh-CN" sz="2400" dirty="0"/>
              <a:t>&lt;R, +, × &gt;</a:t>
            </a:r>
            <a:r>
              <a:rPr kumimoji="1" lang="zh-CN" altLang="en-US" sz="2400" dirty="0"/>
              <a:t>，</a:t>
            </a:r>
            <a:r>
              <a:rPr kumimoji="1" lang="en-US" altLang="zh-CN" sz="2400" dirty="0"/>
              <a:t>&lt;I, +, ×&gt;</a:t>
            </a:r>
            <a:r>
              <a:rPr kumimoji="1" lang="zh-CN" altLang="en-US" sz="2400" dirty="0"/>
              <a:t>，其中</a:t>
            </a:r>
            <a:r>
              <a:rPr kumimoji="1" lang="en-US" altLang="zh-CN" sz="2400" dirty="0"/>
              <a:t>×</a:t>
            </a:r>
            <a:r>
              <a:rPr kumimoji="1" lang="zh-CN" altLang="en-US" sz="2400" dirty="0"/>
              <a:t>和</a:t>
            </a:r>
            <a:r>
              <a:rPr kumimoji="1" lang="en-US" altLang="zh-CN" sz="2400" dirty="0"/>
              <a:t>+</a:t>
            </a:r>
            <a:r>
              <a:rPr kumimoji="1" lang="zh-CN" altLang="en-US" sz="2400" dirty="0"/>
              <a:t>有何联系</a:t>
            </a:r>
            <a:r>
              <a:rPr kumimoji="1" lang="en-US" altLang="zh-CN" sz="2400" dirty="0"/>
              <a:t>?</a:t>
            </a:r>
          </a:p>
        </p:txBody>
      </p:sp>
    </p:spTree>
  </p:cSld>
  <p:clrMapOvr>
    <a:masterClrMapping/>
  </p:clrMapOvr>
  <p:transition spd="slow">
    <p:pull dir="ru"/>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5F349345-D893-41D8-9713-84575214FB29}" type="slidenum">
              <a:rPr lang="en-US" altLang="zh-CN"/>
              <a:pPr/>
              <a:t>82</a:t>
            </a:fld>
            <a:endParaRPr lang="en-US" altLang="zh-CN"/>
          </a:p>
        </p:txBody>
      </p:sp>
      <p:sp>
        <p:nvSpPr>
          <p:cNvPr id="491528" name="Rectangle 8"/>
          <p:cNvSpPr>
            <a:spLocks noGrp="1" noChangeArrowheads="1"/>
          </p:cNvSpPr>
          <p:nvPr>
            <p:ph type="body" idx="1"/>
          </p:nvPr>
        </p:nvSpPr>
        <p:spPr>
          <a:xfrm>
            <a:off x="468313" y="908050"/>
            <a:ext cx="8277225" cy="4522788"/>
          </a:xfrm>
          <a:noFill/>
        </p:spPr>
        <p:txBody>
          <a:bodyPr/>
          <a:lstStyle/>
          <a:p>
            <a:pPr marL="533400" indent="-533400" eaLnBrk="0" hangingPunct="0">
              <a:lnSpc>
                <a:spcPct val="130000"/>
              </a:lnSpc>
              <a:spcBef>
                <a:spcPct val="0"/>
              </a:spcBef>
              <a:buClrTx/>
              <a:buSzTx/>
              <a:buFontTx/>
              <a:buNone/>
            </a:pPr>
            <a:r>
              <a:rPr kumimoji="1" lang="zh-CN" altLang="en-US" sz="3200">
                <a:solidFill>
                  <a:schemeClr val="folHlink"/>
                </a:solidFill>
                <a:latin typeface="楷体_GB2312" pitchFamily="49" charset="-122"/>
                <a:ea typeface="楷体_GB2312" pitchFamily="49" charset="-122"/>
              </a:rPr>
              <a:t>一、环、特殊环、整环</a:t>
            </a:r>
          </a:p>
          <a:p>
            <a:pPr marL="533400" indent="-533400">
              <a:lnSpc>
                <a:spcPct val="130000"/>
              </a:lnSpc>
              <a:spcBef>
                <a:spcPct val="0"/>
              </a:spcBef>
              <a:buClrTx/>
              <a:buSzTx/>
              <a:buFontTx/>
              <a:buNone/>
            </a:pPr>
            <a:r>
              <a:rPr kumimoji="1" lang="zh-CN" altLang="en-US" sz="2400">
                <a:solidFill>
                  <a:srgbClr val="FF0000"/>
                </a:solidFill>
              </a:rPr>
              <a:t>定义</a:t>
            </a:r>
            <a:r>
              <a:rPr kumimoji="1" lang="en-US" altLang="zh-CN" sz="2400">
                <a:solidFill>
                  <a:srgbClr val="FF0000"/>
                </a:solidFill>
              </a:rPr>
              <a:t>5-9.1</a:t>
            </a:r>
            <a:r>
              <a:rPr kumimoji="1" lang="zh-CN" altLang="en-US" sz="2400">
                <a:solidFill>
                  <a:srgbClr val="FF0000"/>
                </a:solidFill>
              </a:rPr>
              <a:t>：</a:t>
            </a:r>
            <a:r>
              <a:rPr kumimoji="1" lang="zh-CN" altLang="en-US" sz="2400"/>
              <a:t>设</a:t>
            </a:r>
            <a:r>
              <a:rPr kumimoji="1" lang="en-US" altLang="zh-CN" sz="2400"/>
              <a:t>&lt;A, ★, *&gt;</a:t>
            </a:r>
            <a:r>
              <a:rPr kumimoji="1" lang="zh-CN" altLang="en-US" sz="2400"/>
              <a:t>是一个代数系统，如果满足：</a:t>
            </a:r>
          </a:p>
          <a:p>
            <a:pPr marL="533400" indent="-533400">
              <a:lnSpc>
                <a:spcPct val="130000"/>
              </a:lnSpc>
              <a:spcBef>
                <a:spcPct val="0"/>
              </a:spcBef>
              <a:buClrTx/>
              <a:buSzTx/>
              <a:buFontTx/>
              <a:buAutoNum type="arabicParenBoth"/>
            </a:pPr>
            <a:r>
              <a:rPr kumimoji="1" lang="en-US" altLang="zh-CN" sz="2400"/>
              <a:t>&lt;A, ★&gt;</a:t>
            </a:r>
            <a:r>
              <a:rPr kumimoji="1" lang="zh-CN" altLang="en-US" sz="2400"/>
              <a:t>是阿贝尔群，</a:t>
            </a:r>
          </a:p>
          <a:p>
            <a:pPr marL="533400" indent="-533400">
              <a:lnSpc>
                <a:spcPct val="130000"/>
              </a:lnSpc>
              <a:spcBef>
                <a:spcPct val="0"/>
              </a:spcBef>
              <a:buClrTx/>
              <a:buSzTx/>
              <a:buFontTx/>
              <a:buAutoNum type="arabicParenBoth"/>
            </a:pPr>
            <a:r>
              <a:rPr kumimoji="1" lang="en-US" altLang="zh-CN" sz="2400"/>
              <a:t>&lt;A, *&gt;</a:t>
            </a:r>
            <a:r>
              <a:rPr kumimoji="1" lang="zh-CN" altLang="en-US" sz="2400"/>
              <a:t>半群，</a:t>
            </a:r>
          </a:p>
          <a:p>
            <a:pPr marL="533400" indent="-533400">
              <a:lnSpc>
                <a:spcPct val="130000"/>
              </a:lnSpc>
              <a:spcBef>
                <a:spcPct val="0"/>
              </a:spcBef>
              <a:buClrTx/>
              <a:buSzTx/>
              <a:buFontTx/>
              <a:buAutoNum type="arabicParenBoth"/>
            </a:pPr>
            <a:r>
              <a:rPr kumimoji="1" lang="zh-CN" altLang="en-US" sz="2400"/>
              <a:t>运算*对于运算★是可分配的。</a:t>
            </a:r>
          </a:p>
          <a:p>
            <a:pPr marL="533400" indent="-533400">
              <a:lnSpc>
                <a:spcPct val="130000"/>
              </a:lnSpc>
              <a:spcBef>
                <a:spcPct val="0"/>
              </a:spcBef>
              <a:buClrTx/>
              <a:buSzTx/>
              <a:buFontTx/>
              <a:buNone/>
            </a:pPr>
            <a:r>
              <a:rPr kumimoji="1" lang="zh-CN" altLang="en-US" sz="2400"/>
              <a:t>则称</a:t>
            </a:r>
            <a:r>
              <a:rPr kumimoji="1" lang="en-US" altLang="zh-CN" sz="2400"/>
              <a:t>&lt;A, ★, *&gt;</a:t>
            </a:r>
            <a:r>
              <a:rPr kumimoji="1" lang="zh-CN" altLang="en-US" sz="2400"/>
              <a:t>是环。 </a:t>
            </a:r>
          </a:p>
          <a:p>
            <a:pPr marL="533400" indent="-533400">
              <a:lnSpc>
                <a:spcPct val="130000"/>
              </a:lnSpc>
              <a:spcBef>
                <a:spcPct val="0"/>
              </a:spcBef>
              <a:buClrTx/>
              <a:buSzTx/>
              <a:buFontTx/>
              <a:buNone/>
            </a:pPr>
            <a:r>
              <a:rPr kumimoji="1" lang="zh-CN" altLang="en-US" sz="2400"/>
              <a:t>例如：</a:t>
            </a:r>
            <a:r>
              <a:rPr kumimoji="1" lang="en-US" altLang="zh-CN" sz="2400"/>
              <a:t>&lt;I, +, × &gt;</a:t>
            </a:r>
            <a:r>
              <a:rPr kumimoji="1" lang="zh-CN" altLang="en-US" sz="2400"/>
              <a:t>，</a:t>
            </a:r>
            <a:r>
              <a:rPr kumimoji="1" lang="en-US" altLang="zh-CN" sz="2400"/>
              <a:t>&lt;R, +, × &gt;</a:t>
            </a:r>
            <a:r>
              <a:rPr kumimoji="1" lang="zh-CN" altLang="en-US" sz="2400"/>
              <a:t>， </a:t>
            </a:r>
            <a:r>
              <a:rPr kumimoji="1" lang="en-US" altLang="zh-CN" sz="2400"/>
              <a:t>&lt;Q, +, × &gt;</a:t>
            </a:r>
            <a:r>
              <a:rPr kumimoji="1" lang="zh-CN" altLang="en-US" sz="2400"/>
              <a:t>都是环。</a:t>
            </a:r>
          </a:p>
          <a:p>
            <a:pPr marL="533400" indent="-533400" eaLnBrk="0" hangingPunct="0">
              <a:lnSpc>
                <a:spcPct val="130000"/>
              </a:lnSpc>
              <a:spcBef>
                <a:spcPct val="0"/>
              </a:spcBef>
              <a:buClr>
                <a:srgbClr val="FF3300"/>
              </a:buClr>
              <a:buSzTx/>
              <a:buFont typeface="Wingdings" pitchFamily="2" charset="2"/>
              <a:buChar char="Ø"/>
            </a:pPr>
            <a:r>
              <a:rPr lang="zh-CN" altLang="en-US" sz="2400">
                <a:latin typeface="Arial" charset="0"/>
              </a:rPr>
              <a:t>其中</a:t>
            </a:r>
            <a:r>
              <a:rPr kumimoji="1" lang="zh-CN" altLang="en-US" sz="2400">
                <a:latin typeface="Arial" charset="0"/>
              </a:rPr>
              <a:t>★称作加法，* 称作乘法，但并不是实际意义上的加乘运算，只是和它们的一些性质相同。</a:t>
            </a:r>
            <a:endParaRPr lang="zh-CN" altLang="en-US"/>
          </a:p>
        </p:txBody>
      </p:sp>
      <p:sp>
        <p:nvSpPr>
          <p:cNvPr id="491529" name="Rectangle 9"/>
          <p:cNvSpPr>
            <a:spLocks noGrp="1" noChangeArrowheads="1"/>
          </p:cNvSpPr>
          <p:nvPr>
            <p:ph type="title"/>
          </p:nvPr>
        </p:nvSpPr>
        <p:spPr/>
        <p:txBody>
          <a:bodyPr/>
          <a:lstStyle/>
          <a:p>
            <a:endParaRPr lang="zh-CN" altLang="zh-CN"/>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91528">
                                            <p:txEl>
                                              <p:pRg st="1" end="1"/>
                                            </p:txEl>
                                          </p:spTgt>
                                        </p:tgtEl>
                                        <p:attrNameLst>
                                          <p:attrName>style.visibility</p:attrName>
                                        </p:attrNameLst>
                                      </p:cBhvr>
                                      <p:to>
                                        <p:strVal val="visible"/>
                                      </p:to>
                                    </p:set>
                                    <p:anim calcmode="lin" valueType="num">
                                      <p:cBhvr additive="base">
                                        <p:cTn id="7" dur="500" fill="hold"/>
                                        <p:tgtEl>
                                          <p:spTgt spid="49152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9152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91528">
                                            <p:txEl>
                                              <p:pRg st="2" end="2"/>
                                            </p:txEl>
                                          </p:spTgt>
                                        </p:tgtEl>
                                        <p:attrNameLst>
                                          <p:attrName>style.visibility</p:attrName>
                                        </p:attrNameLst>
                                      </p:cBhvr>
                                      <p:to>
                                        <p:strVal val="visible"/>
                                      </p:to>
                                    </p:set>
                                    <p:anim calcmode="lin" valueType="num">
                                      <p:cBhvr additive="base">
                                        <p:cTn id="13" dur="500" fill="hold"/>
                                        <p:tgtEl>
                                          <p:spTgt spid="49152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9152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91528">
                                            <p:txEl>
                                              <p:pRg st="3" end="3"/>
                                            </p:txEl>
                                          </p:spTgt>
                                        </p:tgtEl>
                                        <p:attrNameLst>
                                          <p:attrName>style.visibility</p:attrName>
                                        </p:attrNameLst>
                                      </p:cBhvr>
                                      <p:to>
                                        <p:strVal val="visible"/>
                                      </p:to>
                                    </p:set>
                                    <p:anim calcmode="lin" valueType="num">
                                      <p:cBhvr additive="base">
                                        <p:cTn id="19" dur="500" fill="hold"/>
                                        <p:tgtEl>
                                          <p:spTgt spid="49152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9152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491528">
                                            <p:txEl>
                                              <p:pRg st="4" end="4"/>
                                            </p:txEl>
                                          </p:spTgt>
                                        </p:tgtEl>
                                        <p:attrNameLst>
                                          <p:attrName>style.visibility</p:attrName>
                                        </p:attrNameLst>
                                      </p:cBhvr>
                                      <p:to>
                                        <p:strVal val="visible"/>
                                      </p:to>
                                    </p:set>
                                    <p:anim calcmode="lin" valueType="num">
                                      <p:cBhvr additive="base">
                                        <p:cTn id="25" dur="500" fill="hold"/>
                                        <p:tgtEl>
                                          <p:spTgt spid="491528">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9152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491528">
                                            <p:txEl>
                                              <p:pRg st="5" end="5"/>
                                            </p:txEl>
                                          </p:spTgt>
                                        </p:tgtEl>
                                        <p:attrNameLst>
                                          <p:attrName>style.visibility</p:attrName>
                                        </p:attrNameLst>
                                      </p:cBhvr>
                                      <p:to>
                                        <p:strVal val="visible"/>
                                      </p:to>
                                    </p:set>
                                    <p:anim calcmode="lin" valueType="num">
                                      <p:cBhvr additive="base">
                                        <p:cTn id="31" dur="500" fill="hold"/>
                                        <p:tgtEl>
                                          <p:spTgt spid="491528">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9152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491528">
                                            <p:txEl>
                                              <p:pRg st="6" end="6"/>
                                            </p:txEl>
                                          </p:spTgt>
                                        </p:tgtEl>
                                        <p:attrNameLst>
                                          <p:attrName>style.visibility</p:attrName>
                                        </p:attrNameLst>
                                      </p:cBhvr>
                                      <p:to>
                                        <p:strVal val="visible"/>
                                      </p:to>
                                    </p:set>
                                    <p:anim calcmode="lin" valueType="num">
                                      <p:cBhvr additive="base">
                                        <p:cTn id="37" dur="500" fill="hold"/>
                                        <p:tgtEl>
                                          <p:spTgt spid="491528">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9152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491528">
                                            <p:txEl>
                                              <p:pRg st="7" end="7"/>
                                            </p:txEl>
                                          </p:spTgt>
                                        </p:tgtEl>
                                        <p:attrNameLst>
                                          <p:attrName>style.visibility</p:attrName>
                                        </p:attrNameLst>
                                      </p:cBhvr>
                                      <p:to>
                                        <p:strVal val="visible"/>
                                      </p:to>
                                    </p:set>
                                    <p:anim calcmode="lin" valueType="num">
                                      <p:cBhvr additive="base">
                                        <p:cTn id="43" dur="500" fill="hold"/>
                                        <p:tgtEl>
                                          <p:spTgt spid="491528">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91528">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2"/>
          <p:cNvSpPr>
            <a:spLocks noGrp="1"/>
          </p:cNvSpPr>
          <p:nvPr>
            <p:ph type="sldNum" sz="quarter" idx="11"/>
          </p:nvPr>
        </p:nvSpPr>
        <p:spPr/>
        <p:txBody>
          <a:bodyPr/>
          <a:lstStyle/>
          <a:p>
            <a:fld id="{3D25A1AD-36F6-4EC8-A768-6C50B6C0E0CD}" type="slidenum">
              <a:rPr lang="en-US" altLang="zh-CN"/>
              <a:pPr/>
              <a:t>83</a:t>
            </a:fld>
            <a:endParaRPr lang="en-US" altLang="zh-CN"/>
          </a:p>
        </p:txBody>
      </p:sp>
      <p:sp>
        <p:nvSpPr>
          <p:cNvPr id="494594" name="Text Box 2"/>
          <p:cNvSpPr txBox="1">
            <a:spLocks noChangeArrowheads="1"/>
          </p:cNvSpPr>
          <p:nvPr/>
        </p:nvSpPr>
        <p:spPr bwMode="auto">
          <a:xfrm>
            <a:off x="466725" y="922338"/>
            <a:ext cx="8277225" cy="3159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kumimoji="1" sz="2400">
                <a:solidFill>
                  <a:schemeClr val="tx1"/>
                </a:solidFill>
                <a:latin typeface="Times New Roman" pitchFamily="18" charset="0"/>
                <a:ea typeface="宋体" pitchFamily="2" charset="-122"/>
              </a:defRPr>
            </a:lvl1pPr>
            <a:lvl2pPr marL="53975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20000"/>
              </a:lnSpc>
            </a:pPr>
            <a:r>
              <a:rPr lang="zh-CN" altLang="en-US" b="1">
                <a:solidFill>
                  <a:srgbClr val="FF0000"/>
                </a:solidFill>
              </a:rPr>
              <a:t>定理</a:t>
            </a:r>
            <a:r>
              <a:rPr lang="en-US" altLang="zh-CN" b="1">
                <a:solidFill>
                  <a:srgbClr val="FF0000"/>
                </a:solidFill>
              </a:rPr>
              <a:t>5-9.1</a:t>
            </a:r>
            <a:r>
              <a:rPr lang="zh-CN" altLang="en-US" b="1">
                <a:solidFill>
                  <a:srgbClr val="FF0000"/>
                </a:solidFill>
              </a:rPr>
              <a:t>：</a:t>
            </a:r>
            <a:r>
              <a:rPr lang="zh-CN" altLang="en-US" b="1"/>
              <a:t>设</a:t>
            </a:r>
            <a:r>
              <a:rPr lang="en-US" altLang="zh-CN" b="1"/>
              <a:t>&lt;A, +, </a:t>
            </a:r>
            <a:r>
              <a:rPr lang="en-US" altLang="zh-CN" b="1">
                <a:cs typeface="Times New Roman" pitchFamily="18" charset="0"/>
              </a:rPr>
              <a:t>·</a:t>
            </a:r>
            <a:r>
              <a:rPr lang="en-US" altLang="zh-CN" b="1"/>
              <a:t>&gt;</a:t>
            </a:r>
            <a:r>
              <a:rPr lang="zh-CN" altLang="en-US" b="1"/>
              <a:t>是一个环，对任意的</a:t>
            </a:r>
            <a:r>
              <a:rPr lang="en-US" altLang="zh-CN" b="1"/>
              <a:t>a, b, c∈A</a:t>
            </a:r>
            <a:r>
              <a:rPr lang="zh-CN" altLang="en-US" b="1"/>
              <a:t>，</a:t>
            </a:r>
            <a:r>
              <a:rPr lang="en-US" altLang="zh-CN" b="1"/>
              <a:t>θ</a:t>
            </a:r>
            <a:r>
              <a:rPr lang="zh-CN" altLang="en-US" b="1"/>
              <a:t>是加法幺元，</a:t>
            </a:r>
            <a:r>
              <a:rPr lang="en-US" altLang="zh-CN" b="1"/>
              <a:t>-a</a:t>
            </a:r>
            <a:r>
              <a:rPr lang="zh-CN" altLang="en-US" b="1"/>
              <a:t>为</a:t>
            </a:r>
            <a:r>
              <a:rPr lang="en-US" altLang="zh-CN" b="1"/>
              <a:t>a</a:t>
            </a:r>
            <a:r>
              <a:rPr lang="zh-CN" altLang="en-US" b="1"/>
              <a:t>的逆元，</a:t>
            </a:r>
            <a:r>
              <a:rPr lang="en-US" altLang="zh-CN" b="1"/>
              <a:t>a+(-b)</a:t>
            </a:r>
            <a:r>
              <a:rPr lang="zh-CN" altLang="en-US" b="1"/>
              <a:t>记为</a:t>
            </a:r>
            <a:r>
              <a:rPr lang="en-US" altLang="zh-CN" b="1"/>
              <a:t>a-b</a:t>
            </a:r>
            <a:r>
              <a:rPr lang="zh-CN" altLang="en-US" b="1"/>
              <a:t>，有：</a:t>
            </a:r>
          </a:p>
          <a:p>
            <a:pPr>
              <a:lnSpc>
                <a:spcPct val="120000"/>
              </a:lnSpc>
            </a:pPr>
            <a:r>
              <a:rPr lang="en-US" altLang="zh-CN" b="1">
                <a:solidFill>
                  <a:srgbClr val="FF0000"/>
                </a:solidFill>
              </a:rPr>
              <a:t>(1) a ·θ=θ· a=θ</a:t>
            </a:r>
          </a:p>
          <a:p>
            <a:pPr>
              <a:lnSpc>
                <a:spcPct val="120000"/>
              </a:lnSpc>
            </a:pPr>
            <a:r>
              <a:rPr lang="en-US" altLang="zh-CN" b="1">
                <a:solidFill>
                  <a:srgbClr val="FF0000"/>
                </a:solidFill>
              </a:rPr>
              <a:t>(2)</a:t>
            </a:r>
            <a:r>
              <a:rPr lang="en-US" altLang="zh-CN" b="1">
                <a:solidFill>
                  <a:srgbClr val="FF0000"/>
                </a:solidFill>
                <a:cs typeface="Times New Roman" pitchFamily="18" charset="0"/>
              </a:rPr>
              <a:t> </a:t>
            </a:r>
            <a:r>
              <a:rPr lang="en-US" altLang="zh-CN" b="1">
                <a:solidFill>
                  <a:srgbClr val="FF0000"/>
                </a:solidFill>
              </a:rPr>
              <a:t>a · (-b)=(-a) · b= -(a · b)</a:t>
            </a:r>
          </a:p>
          <a:p>
            <a:pPr>
              <a:lnSpc>
                <a:spcPct val="120000"/>
              </a:lnSpc>
            </a:pPr>
            <a:r>
              <a:rPr lang="en-US" altLang="zh-CN" b="1">
                <a:solidFill>
                  <a:srgbClr val="FF0000"/>
                </a:solidFill>
              </a:rPr>
              <a:t>(3)</a:t>
            </a:r>
            <a:r>
              <a:rPr lang="en-US" altLang="zh-CN" b="1">
                <a:solidFill>
                  <a:srgbClr val="FF0000"/>
                </a:solidFill>
                <a:cs typeface="Times New Roman" pitchFamily="18" charset="0"/>
              </a:rPr>
              <a:t> </a:t>
            </a:r>
            <a:r>
              <a:rPr lang="en-US" altLang="zh-CN" b="1">
                <a:solidFill>
                  <a:srgbClr val="FF0000"/>
                </a:solidFill>
              </a:rPr>
              <a:t>(-a) · (-b) = a · b</a:t>
            </a:r>
          </a:p>
          <a:p>
            <a:pPr>
              <a:lnSpc>
                <a:spcPct val="120000"/>
              </a:lnSpc>
            </a:pPr>
            <a:r>
              <a:rPr lang="en-US" altLang="zh-CN" b="1">
                <a:solidFill>
                  <a:srgbClr val="FF0000"/>
                </a:solidFill>
              </a:rPr>
              <a:t>(4)</a:t>
            </a:r>
            <a:r>
              <a:rPr lang="en-US" altLang="zh-CN" b="1">
                <a:solidFill>
                  <a:srgbClr val="FF0000"/>
                </a:solidFill>
                <a:cs typeface="Times New Roman" pitchFamily="18" charset="0"/>
              </a:rPr>
              <a:t> </a:t>
            </a:r>
            <a:r>
              <a:rPr lang="en-US" altLang="zh-CN" b="1">
                <a:solidFill>
                  <a:srgbClr val="FF0000"/>
                </a:solidFill>
              </a:rPr>
              <a:t>a · (b-c) = a · b-a · c</a:t>
            </a:r>
          </a:p>
          <a:p>
            <a:pPr>
              <a:lnSpc>
                <a:spcPct val="120000"/>
              </a:lnSpc>
            </a:pPr>
            <a:r>
              <a:rPr lang="en-US" altLang="zh-CN" b="1">
                <a:solidFill>
                  <a:srgbClr val="FF0000"/>
                </a:solidFill>
              </a:rPr>
              <a:t>(5)</a:t>
            </a:r>
            <a:r>
              <a:rPr lang="en-US" altLang="zh-CN" b="1">
                <a:solidFill>
                  <a:srgbClr val="FF0000"/>
                </a:solidFill>
                <a:cs typeface="Times New Roman" pitchFamily="18" charset="0"/>
              </a:rPr>
              <a:t> </a:t>
            </a:r>
            <a:r>
              <a:rPr lang="en-US" altLang="zh-CN" b="1">
                <a:solidFill>
                  <a:srgbClr val="FF0000"/>
                </a:solidFill>
              </a:rPr>
              <a:t>(b-c) · a = b · a-c · a</a:t>
            </a:r>
          </a:p>
        </p:txBody>
      </p:sp>
      <p:sp>
        <p:nvSpPr>
          <p:cNvPr id="494596" name="Text Box 4"/>
          <p:cNvSpPr txBox="1">
            <a:spLocks noChangeArrowheads="1"/>
          </p:cNvSpPr>
          <p:nvPr/>
        </p:nvSpPr>
        <p:spPr bwMode="auto">
          <a:xfrm>
            <a:off x="466725" y="4149080"/>
            <a:ext cx="8277225"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kumimoji="1" sz="2400">
                <a:solidFill>
                  <a:schemeClr val="tx1"/>
                </a:solidFill>
                <a:latin typeface="Times New Roman" pitchFamily="18" charset="0"/>
                <a:ea typeface="宋体" pitchFamily="2" charset="-122"/>
              </a:defRPr>
            </a:lvl1pPr>
            <a:lvl2pPr marL="62230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lnSpc>
                <a:spcPct val="120000"/>
              </a:lnSpc>
              <a:buClr>
                <a:srgbClr val="FF3300"/>
              </a:buClr>
              <a:buFont typeface="Wingdings" pitchFamily="2" charset="2"/>
              <a:buChar char="Ø"/>
            </a:pPr>
            <a:r>
              <a:rPr lang="en-US" altLang="zh-CN" b="1" dirty="0"/>
              <a:t>     </a:t>
            </a:r>
            <a:r>
              <a:rPr lang="zh-CN" altLang="en-US" b="1" dirty="0"/>
              <a:t>环中加法的幺元也就是乘法的零元，也称作环的零元。</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94596"/>
                                        </p:tgtEl>
                                        <p:attrNameLst>
                                          <p:attrName>style.visibility</p:attrName>
                                        </p:attrNameLst>
                                      </p:cBhvr>
                                      <p:to>
                                        <p:strVal val="visible"/>
                                      </p:to>
                                    </p:set>
                                    <p:anim calcmode="lin" valueType="num">
                                      <p:cBhvr additive="base">
                                        <p:cTn id="7" dur="500" fill="hold"/>
                                        <p:tgtEl>
                                          <p:spTgt spid="494596"/>
                                        </p:tgtEl>
                                        <p:attrNameLst>
                                          <p:attrName>ppt_x</p:attrName>
                                        </p:attrNameLst>
                                      </p:cBhvr>
                                      <p:tavLst>
                                        <p:tav tm="0">
                                          <p:val>
                                            <p:strVal val="#ppt_x"/>
                                          </p:val>
                                        </p:tav>
                                        <p:tav tm="100000">
                                          <p:val>
                                            <p:strVal val="#ppt_x"/>
                                          </p:val>
                                        </p:tav>
                                      </p:tavLst>
                                    </p:anim>
                                    <p:anim calcmode="lin" valueType="num">
                                      <p:cBhvr additive="base">
                                        <p:cTn id="8" dur="500" fill="hold"/>
                                        <p:tgtEl>
                                          <p:spTgt spid="4945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4596"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2"/>
          <p:cNvSpPr>
            <a:spLocks noGrp="1"/>
          </p:cNvSpPr>
          <p:nvPr>
            <p:ph type="sldNum" sz="quarter" idx="11"/>
          </p:nvPr>
        </p:nvSpPr>
        <p:spPr/>
        <p:txBody>
          <a:bodyPr/>
          <a:lstStyle/>
          <a:p>
            <a:fld id="{9F7761C3-FB75-458B-8565-E8084CE50981}" type="slidenum">
              <a:rPr lang="en-US" altLang="zh-CN"/>
              <a:pPr/>
              <a:t>84</a:t>
            </a:fld>
            <a:endParaRPr lang="en-US" altLang="zh-CN"/>
          </a:p>
        </p:txBody>
      </p:sp>
      <p:sp>
        <p:nvSpPr>
          <p:cNvPr id="495618" name="Text Box 2"/>
          <p:cNvSpPr txBox="1">
            <a:spLocks noChangeArrowheads="1"/>
          </p:cNvSpPr>
          <p:nvPr/>
        </p:nvSpPr>
        <p:spPr bwMode="auto">
          <a:xfrm>
            <a:off x="287338" y="1087438"/>
            <a:ext cx="8677275" cy="2684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kumimoji="1" sz="2400">
                <a:solidFill>
                  <a:schemeClr val="tx1"/>
                </a:solidFill>
                <a:latin typeface="Times New Roman" pitchFamily="18" charset="0"/>
                <a:ea typeface="宋体" pitchFamily="2" charset="-122"/>
              </a:defRPr>
            </a:lvl1pPr>
            <a:lvl2pPr marL="53975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10000"/>
              </a:spcBef>
            </a:pPr>
            <a:r>
              <a:rPr lang="zh-CN" altLang="en-US" b="1"/>
              <a:t>在环</a:t>
            </a:r>
            <a:r>
              <a:rPr lang="en-US" altLang="zh-CN" b="1"/>
              <a:t>&lt;A, +, ·&gt; </a:t>
            </a:r>
            <a:r>
              <a:rPr lang="zh-CN" altLang="en-US" b="1"/>
              <a:t>中，根据</a:t>
            </a:r>
            <a:r>
              <a:rPr lang="en-US" altLang="zh-CN" b="1"/>
              <a:t>&lt;A, ·&gt;</a:t>
            </a:r>
            <a:r>
              <a:rPr lang="zh-CN" altLang="en-US" b="1"/>
              <a:t>的特点可定义一些常见的特殊环。                                                               </a:t>
            </a:r>
          </a:p>
          <a:p>
            <a:pPr>
              <a:spcBef>
                <a:spcPct val="10000"/>
              </a:spcBef>
            </a:pPr>
            <a:r>
              <a:rPr lang="zh-CN" altLang="en-US" b="1"/>
              <a:t>                                        </a:t>
            </a:r>
            <a:r>
              <a:rPr lang="en-US" altLang="zh-CN" b="1"/>
              <a:t>&lt;A, ·&gt;</a:t>
            </a:r>
          </a:p>
          <a:p>
            <a:pPr>
              <a:spcBef>
                <a:spcPct val="50000"/>
              </a:spcBef>
            </a:pPr>
            <a:r>
              <a:rPr lang="en-US" altLang="zh-CN" b="1"/>
              <a:t> </a:t>
            </a:r>
            <a:br>
              <a:rPr lang="en-US" altLang="zh-CN" b="1"/>
            </a:br>
            <a:r>
              <a:rPr lang="en-US" altLang="zh-CN" b="1"/>
              <a:t>                    </a:t>
            </a:r>
            <a:r>
              <a:rPr lang="zh-CN" altLang="en-US" b="1"/>
              <a:t>可交换                         独异点</a:t>
            </a:r>
          </a:p>
          <a:p>
            <a:pPr>
              <a:spcBef>
                <a:spcPct val="50000"/>
              </a:spcBef>
            </a:pPr>
            <a:r>
              <a:rPr lang="zh-CN" altLang="en-US" b="1"/>
              <a:t> </a:t>
            </a:r>
            <a:br>
              <a:rPr lang="zh-CN" altLang="en-US" b="1"/>
            </a:br>
            <a:r>
              <a:rPr lang="zh-CN" altLang="en-US" b="1"/>
              <a:t>                  可交换环       含幺交换环          含幺环</a:t>
            </a:r>
          </a:p>
        </p:txBody>
      </p:sp>
      <p:sp>
        <p:nvSpPr>
          <p:cNvPr id="495619" name="Line 3"/>
          <p:cNvSpPr>
            <a:spLocks noChangeShapeType="1"/>
          </p:cNvSpPr>
          <p:nvPr/>
        </p:nvSpPr>
        <p:spPr bwMode="auto">
          <a:xfrm flipH="1">
            <a:off x="2555875" y="1844675"/>
            <a:ext cx="137160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95620" name="Line 4"/>
          <p:cNvSpPr>
            <a:spLocks noChangeShapeType="1"/>
          </p:cNvSpPr>
          <p:nvPr/>
        </p:nvSpPr>
        <p:spPr bwMode="auto">
          <a:xfrm>
            <a:off x="3995738" y="1844675"/>
            <a:ext cx="1455737" cy="5762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95621" name="Line 5"/>
          <p:cNvSpPr>
            <a:spLocks noChangeShapeType="1"/>
          </p:cNvSpPr>
          <p:nvPr/>
        </p:nvSpPr>
        <p:spPr bwMode="auto">
          <a:xfrm>
            <a:off x="2555875" y="2781300"/>
            <a:ext cx="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95622" name="Line 6"/>
          <p:cNvSpPr>
            <a:spLocks noChangeShapeType="1"/>
          </p:cNvSpPr>
          <p:nvPr/>
        </p:nvSpPr>
        <p:spPr bwMode="auto">
          <a:xfrm>
            <a:off x="5292725" y="2708275"/>
            <a:ext cx="1081088" cy="5984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95623" name="Freeform 7"/>
          <p:cNvSpPr>
            <a:spLocks/>
          </p:cNvSpPr>
          <p:nvPr/>
        </p:nvSpPr>
        <p:spPr bwMode="auto">
          <a:xfrm>
            <a:off x="2555875" y="2708275"/>
            <a:ext cx="1644650" cy="608013"/>
          </a:xfrm>
          <a:custGeom>
            <a:avLst/>
            <a:gdLst>
              <a:gd name="T0" fmla="*/ 0 w 1036"/>
              <a:gd name="T1" fmla="*/ 0 h 383"/>
              <a:gd name="T2" fmla="*/ 1036 w 1036"/>
              <a:gd name="T3" fmla="*/ 383 h 383"/>
            </a:gdLst>
            <a:ahLst/>
            <a:cxnLst>
              <a:cxn ang="0">
                <a:pos x="T0" y="T1"/>
              </a:cxn>
              <a:cxn ang="0">
                <a:pos x="T2" y="T3"/>
              </a:cxn>
            </a:cxnLst>
            <a:rect l="0" t="0" r="r" b="b"/>
            <a:pathLst>
              <a:path w="1036" h="383">
                <a:moveTo>
                  <a:pt x="0" y="0"/>
                </a:moveTo>
                <a:lnTo>
                  <a:pt x="1036" y="383"/>
                </a:lnTo>
              </a:path>
            </a:pathLst>
          </a:custGeom>
          <a:noFill/>
          <a:ln w="9525">
            <a:solidFill>
              <a:schemeClr val="tx1"/>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95624" name="Freeform 8"/>
          <p:cNvSpPr>
            <a:spLocks/>
          </p:cNvSpPr>
          <p:nvPr/>
        </p:nvSpPr>
        <p:spPr bwMode="auto">
          <a:xfrm>
            <a:off x="4500563" y="2708275"/>
            <a:ext cx="801687" cy="581025"/>
          </a:xfrm>
          <a:custGeom>
            <a:avLst/>
            <a:gdLst>
              <a:gd name="T0" fmla="*/ 505 w 505"/>
              <a:gd name="T1" fmla="*/ 0 h 366"/>
              <a:gd name="T2" fmla="*/ 0 w 505"/>
              <a:gd name="T3" fmla="*/ 366 h 366"/>
            </a:gdLst>
            <a:ahLst/>
            <a:cxnLst>
              <a:cxn ang="0">
                <a:pos x="T0" y="T1"/>
              </a:cxn>
              <a:cxn ang="0">
                <a:pos x="T2" y="T3"/>
              </a:cxn>
            </a:cxnLst>
            <a:rect l="0" t="0" r="r" b="b"/>
            <a:pathLst>
              <a:path w="505" h="366">
                <a:moveTo>
                  <a:pt x="505" y="0"/>
                </a:moveTo>
                <a:lnTo>
                  <a:pt x="0" y="366"/>
                </a:lnTo>
              </a:path>
            </a:pathLst>
          </a:custGeom>
          <a:noFill/>
          <a:ln w="9525">
            <a:solidFill>
              <a:schemeClr val="tx1"/>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95625" name="Text Box 9"/>
          <p:cNvSpPr txBox="1">
            <a:spLocks noChangeArrowheads="1"/>
          </p:cNvSpPr>
          <p:nvPr/>
        </p:nvSpPr>
        <p:spPr bwMode="auto">
          <a:xfrm>
            <a:off x="250825" y="3789363"/>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kumimoji="1" sz="2400">
                <a:solidFill>
                  <a:schemeClr val="tx1"/>
                </a:solidFill>
                <a:latin typeface="Times New Roman" pitchFamily="18" charset="0"/>
                <a:ea typeface="宋体" pitchFamily="2" charset="-122"/>
              </a:defRPr>
            </a:lvl1pPr>
            <a:lvl2pPr marL="53975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30000"/>
              </a:lnSpc>
              <a:spcBef>
                <a:spcPct val="50000"/>
              </a:spcBef>
            </a:pPr>
            <a:r>
              <a:rPr lang="zh-CN" altLang="en-US" b="1">
                <a:solidFill>
                  <a:srgbClr val="FF0000"/>
                </a:solidFill>
              </a:rPr>
              <a:t>定义</a:t>
            </a:r>
            <a:r>
              <a:rPr lang="en-US" altLang="zh-CN" b="1">
                <a:solidFill>
                  <a:srgbClr val="FF0000"/>
                </a:solidFill>
              </a:rPr>
              <a:t>5-9.2</a:t>
            </a:r>
            <a:r>
              <a:rPr lang="zh-CN" altLang="en-US" b="1">
                <a:solidFill>
                  <a:srgbClr val="FF0000"/>
                </a:solidFill>
              </a:rPr>
              <a:t>：</a:t>
            </a:r>
            <a:r>
              <a:rPr lang="en-US" altLang="zh-CN" b="1"/>
              <a:t>&lt;A,+,·&gt;</a:t>
            </a:r>
            <a:r>
              <a:rPr lang="zh-CN" altLang="en-US" b="1"/>
              <a:t>是环，若</a:t>
            </a:r>
            <a:r>
              <a:rPr lang="en-US" altLang="zh-CN" b="1"/>
              <a:t>&lt;A,</a:t>
            </a:r>
            <a:r>
              <a:rPr lang="en-US" altLang="zh-CN" b="1">
                <a:cs typeface="Times New Roman" pitchFamily="18" charset="0"/>
              </a:rPr>
              <a:t>·</a:t>
            </a:r>
            <a:r>
              <a:rPr lang="en-US" altLang="zh-CN" b="1"/>
              <a:t>&gt;</a:t>
            </a:r>
            <a:r>
              <a:rPr lang="zh-CN" altLang="en-US" b="1"/>
              <a:t>是可交换的，则称</a:t>
            </a:r>
            <a:r>
              <a:rPr lang="en-US" altLang="zh-CN" b="1"/>
              <a:t>&lt;A, +,</a:t>
            </a:r>
            <a:r>
              <a:rPr lang="en-US" altLang="zh-CN" b="1">
                <a:cs typeface="Times New Roman" pitchFamily="18" charset="0"/>
              </a:rPr>
              <a:t>·</a:t>
            </a:r>
            <a:r>
              <a:rPr lang="en-US" altLang="zh-CN" b="1"/>
              <a:t>&gt;</a:t>
            </a:r>
            <a:r>
              <a:rPr lang="zh-CN" altLang="en-US" b="1"/>
              <a:t>是</a:t>
            </a:r>
            <a:r>
              <a:rPr lang="zh-CN" altLang="en-US" b="1" i="1">
                <a:solidFill>
                  <a:srgbClr val="FF0000"/>
                </a:solidFill>
              </a:rPr>
              <a:t>交换环</a:t>
            </a:r>
            <a:r>
              <a:rPr lang="zh-CN" altLang="en-US" b="1"/>
              <a:t>。若</a:t>
            </a:r>
            <a:r>
              <a:rPr lang="en-US" altLang="zh-CN" b="1"/>
              <a:t>&lt;A,</a:t>
            </a:r>
            <a:r>
              <a:rPr lang="en-US" altLang="zh-CN" b="1">
                <a:cs typeface="Times New Roman" pitchFamily="18" charset="0"/>
              </a:rPr>
              <a:t>·</a:t>
            </a:r>
            <a:r>
              <a:rPr lang="en-US" altLang="zh-CN" b="1"/>
              <a:t>&gt;</a:t>
            </a:r>
            <a:r>
              <a:rPr lang="zh-CN" altLang="en-US" b="1"/>
              <a:t>含有幺元，则称</a:t>
            </a:r>
            <a:r>
              <a:rPr lang="en-US" altLang="zh-CN" b="1"/>
              <a:t>&lt;A,+,</a:t>
            </a:r>
            <a:r>
              <a:rPr lang="en-US" altLang="zh-CN" b="1">
                <a:cs typeface="Times New Roman" pitchFamily="18" charset="0"/>
              </a:rPr>
              <a:t>·</a:t>
            </a:r>
            <a:r>
              <a:rPr lang="en-US" altLang="zh-CN" b="1"/>
              <a:t>&gt;</a:t>
            </a:r>
            <a:r>
              <a:rPr lang="zh-CN" altLang="en-US" b="1"/>
              <a:t>是</a:t>
            </a:r>
            <a:r>
              <a:rPr lang="zh-CN" altLang="en-US" b="1" i="1">
                <a:solidFill>
                  <a:srgbClr val="FF0000"/>
                </a:solidFill>
              </a:rPr>
              <a:t>含幺环</a:t>
            </a:r>
            <a:r>
              <a:rPr lang="zh-CN" altLang="en-US" b="1"/>
              <a:t>。</a:t>
            </a:r>
          </a:p>
        </p:txBody>
      </p:sp>
      <p:sp>
        <p:nvSpPr>
          <p:cNvPr id="495626" name="Text Box 10"/>
          <p:cNvSpPr txBox="1">
            <a:spLocks noChangeArrowheads="1"/>
          </p:cNvSpPr>
          <p:nvPr/>
        </p:nvSpPr>
        <p:spPr bwMode="auto">
          <a:xfrm>
            <a:off x="250825" y="4870450"/>
            <a:ext cx="8277225"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kumimoji="1" sz="2400">
                <a:solidFill>
                  <a:schemeClr val="tx1"/>
                </a:solidFill>
                <a:latin typeface="Times New Roman" pitchFamily="18" charset="0"/>
                <a:ea typeface="宋体" pitchFamily="2" charset="-122"/>
              </a:defRPr>
            </a:lvl1pPr>
            <a:lvl2pPr marL="53975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30000"/>
              </a:lnSpc>
              <a:spcBef>
                <a:spcPct val="50000"/>
              </a:spcBef>
            </a:pPr>
            <a:r>
              <a:rPr lang="zh-CN" altLang="en-US" b="1"/>
              <a:t>例如：</a:t>
            </a:r>
            <a:r>
              <a:rPr lang="en-US" altLang="zh-CN" b="1"/>
              <a:t>&lt;Z, +, ·&gt;, &lt;Q, +, ·&gt;</a:t>
            </a:r>
            <a:r>
              <a:rPr lang="zh-CN" altLang="en-US" b="1"/>
              <a:t>既是交换环也是含幺环。</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95625"/>
                                        </p:tgtEl>
                                        <p:attrNameLst>
                                          <p:attrName>style.visibility</p:attrName>
                                        </p:attrNameLst>
                                      </p:cBhvr>
                                      <p:to>
                                        <p:strVal val="visible"/>
                                      </p:to>
                                    </p:set>
                                    <p:animEffect transition="in" filter="circle(in)">
                                      <p:cBhvr>
                                        <p:cTn id="7" dur="2000"/>
                                        <p:tgtEl>
                                          <p:spTgt spid="49562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495626"/>
                                        </p:tgtEl>
                                        <p:attrNameLst>
                                          <p:attrName>style.visibility</p:attrName>
                                        </p:attrNameLst>
                                      </p:cBhvr>
                                      <p:to>
                                        <p:strVal val="visible"/>
                                      </p:to>
                                    </p:set>
                                    <p:animEffect transition="in" filter="circle(in)">
                                      <p:cBhvr>
                                        <p:cTn id="12" dur="2000"/>
                                        <p:tgtEl>
                                          <p:spTgt spid="4956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5625" grpId="0"/>
      <p:bldP spid="495626"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灯片编号占位符 2"/>
          <p:cNvSpPr>
            <a:spLocks noGrp="1"/>
          </p:cNvSpPr>
          <p:nvPr>
            <p:ph type="sldNum" sz="quarter" idx="11"/>
          </p:nvPr>
        </p:nvSpPr>
        <p:spPr/>
        <p:txBody>
          <a:bodyPr/>
          <a:lstStyle/>
          <a:p>
            <a:fld id="{F0037C0E-2CBB-4C44-A5F9-443FFFF682A1}" type="slidenum">
              <a:rPr lang="en-US" altLang="zh-CN"/>
              <a:pPr/>
              <a:t>85</a:t>
            </a:fld>
            <a:endParaRPr lang="en-US" altLang="zh-CN"/>
          </a:p>
        </p:txBody>
      </p:sp>
      <p:sp>
        <p:nvSpPr>
          <p:cNvPr id="496642" name="Text Box 2"/>
          <p:cNvSpPr txBox="1">
            <a:spLocks noChangeArrowheads="1"/>
          </p:cNvSpPr>
          <p:nvPr/>
        </p:nvSpPr>
        <p:spPr bwMode="auto">
          <a:xfrm>
            <a:off x="466725" y="990600"/>
            <a:ext cx="8277225" cy="140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kumimoji="1" sz="2400">
                <a:solidFill>
                  <a:schemeClr val="tx1"/>
                </a:solidFill>
                <a:latin typeface="Times New Roman" pitchFamily="18" charset="0"/>
                <a:ea typeface="宋体" pitchFamily="2" charset="-122"/>
              </a:defRPr>
            </a:lvl1pPr>
            <a:lvl2pPr marL="53975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20000"/>
              </a:lnSpc>
            </a:pPr>
            <a:r>
              <a:rPr lang="zh-CN" altLang="en-US" b="1">
                <a:solidFill>
                  <a:srgbClr val="FF0000"/>
                </a:solidFill>
              </a:rPr>
              <a:t>定义：</a:t>
            </a:r>
            <a:r>
              <a:rPr lang="zh-CN" altLang="en-US" b="1"/>
              <a:t>设</a:t>
            </a:r>
            <a:r>
              <a:rPr lang="en-US" altLang="zh-CN" b="1"/>
              <a:t>&lt;R, +, ·&gt;</a:t>
            </a:r>
            <a:r>
              <a:rPr lang="zh-CN" altLang="en-US" b="1"/>
              <a:t>是一个环，对于非零元素</a:t>
            </a:r>
            <a:r>
              <a:rPr lang="en-US" altLang="zh-CN" b="1"/>
              <a:t>a, b∈R</a:t>
            </a:r>
            <a:r>
              <a:rPr lang="zh-CN" altLang="en-US" b="1"/>
              <a:t>，如果</a:t>
            </a:r>
            <a:r>
              <a:rPr lang="en-US" altLang="zh-CN" b="1"/>
              <a:t>a · b=θ</a:t>
            </a:r>
            <a:r>
              <a:rPr lang="zh-CN" altLang="en-US" b="1"/>
              <a:t>，其中</a:t>
            </a:r>
            <a:r>
              <a:rPr lang="en-US" altLang="zh-CN" b="1"/>
              <a:t>θ</a:t>
            </a:r>
            <a:r>
              <a:rPr lang="zh-CN" altLang="en-US" b="1"/>
              <a:t>是环的零元，则称</a:t>
            </a:r>
            <a:r>
              <a:rPr lang="en-US" altLang="zh-CN" b="1"/>
              <a:t>&lt;R, +, ·&gt;</a:t>
            </a:r>
            <a:r>
              <a:rPr lang="zh-CN" altLang="en-US" b="1"/>
              <a:t>是个</a:t>
            </a:r>
            <a:r>
              <a:rPr lang="zh-CN" altLang="en-US" b="1" i="1">
                <a:solidFill>
                  <a:srgbClr val="FF0000"/>
                </a:solidFill>
              </a:rPr>
              <a:t>含零因子环</a:t>
            </a:r>
            <a:r>
              <a:rPr lang="zh-CN" altLang="en-US" b="1"/>
              <a:t>。否则为</a:t>
            </a:r>
            <a:r>
              <a:rPr lang="zh-CN" altLang="en-US" b="1" i="1">
                <a:solidFill>
                  <a:srgbClr val="FF0000"/>
                </a:solidFill>
              </a:rPr>
              <a:t>无零因子环</a:t>
            </a:r>
            <a:r>
              <a:rPr lang="zh-CN" altLang="en-US" b="1"/>
              <a:t>。</a:t>
            </a:r>
          </a:p>
        </p:txBody>
      </p:sp>
      <p:sp>
        <p:nvSpPr>
          <p:cNvPr id="496643" name="Text Box 3"/>
          <p:cNvSpPr txBox="1">
            <a:spLocks noChangeArrowheads="1"/>
          </p:cNvSpPr>
          <p:nvPr/>
        </p:nvSpPr>
        <p:spPr bwMode="auto">
          <a:xfrm>
            <a:off x="466725" y="2420938"/>
            <a:ext cx="8277225"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kumimoji="1" sz="2400">
                <a:solidFill>
                  <a:schemeClr val="tx1"/>
                </a:solidFill>
                <a:latin typeface="Times New Roman" pitchFamily="18" charset="0"/>
                <a:ea typeface="宋体" pitchFamily="2" charset="-122"/>
              </a:defRPr>
            </a:lvl1pPr>
            <a:lvl2pPr marL="53975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20000"/>
              </a:lnSpc>
            </a:pPr>
            <a:r>
              <a:rPr lang="zh-CN" altLang="en-US" b="1" dirty="0"/>
              <a:t>例如：</a:t>
            </a:r>
            <a:r>
              <a:rPr lang="en-US" altLang="zh-CN" b="1" dirty="0"/>
              <a:t>&lt;Z, +, ·&gt;,   &lt;Q, +, ·&gt;</a:t>
            </a:r>
            <a:r>
              <a:rPr lang="zh-CN" altLang="en-US" b="1" dirty="0"/>
              <a:t>都是无零因子环。</a:t>
            </a:r>
          </a:p>
        </p:txBody>
      </p:sp>
      <p:sp>
        <p:nvSpPr>
          <p:cNvPr id="496644" name="Text Box 4"/>
          <p:cNvSpPr txBox="1">
            <a:spLocks noChangeArrowheads="1"/>
          </p:cNvSpPr>
          <p:nvPr/>
        </p:nvSpPr>
        <p:spPr bwMode="auto">
          <a:xfrm>
            <a:off x="466725" y="2968625"/>
            <a:ext cx="8277225"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kumimoji="1" sz="2400">
                <a:solidFill>
                  <a:schemeClr val="tx1"/>
                </a:solidFill>
                <a:latin typeface="Times New Roman" pitchFamily="18" charset="0"/>
                <a:ea typeface="宋体" pitchFamily="2" charset="-122"/>
              </a:defRPr>
            </a:lvl1pPr>
            <a:lvl2pPr marL="53975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20000"/>
              </a:lnSpc>
            </a:pPr>
            <a:r>
              <a:rPr lang="zh-CN" altLang="en-US" b="1">
                <a:solidFill>
                  <a:srgbClr val="FF0000"/>
                </a:solidFill>
              </a:rPr>
              <a:t>例</a:t>
            </a:r>
            <a:r>
              <a:rPr lang="en-US" altLang="zh-CN" b="1">
                <a:solidFill>
                  <a:srgbClr val="FF0000"/>
                </a:solidFill>
              </a:rPr>
              <a:t>2</a:t>
            </a:r>
            <a:r>
              <a:rPr lang="zh-CN" altLang="en-US" b="1">
                <a:solidFill>
                  <a:srgbClr val="FF0000"/>
                </a:solidFill>
              </a:rPr>
              <a:t>：</a:t>
            </a:r>
            <a:r>
              <a:rPr lang="zh-CN" altLang="en-US" b="1"/>
              <a:t>给定环</a:t>
            </a:r>
            <a:r>
              <a:rPr lang="en-US" altLang="zh-CN" b="1"/>
              <a:t>&lt;N</a:t>
            </a:r>
            <a:r>
              <a:rPr lang="en-US" altLang="zh-CN" b="1" baseline="-25000"/>
              <a:t>4</a:t>
            </a:r>
            <a:r>
              <a:rPr lang="en-US" altLang="zh-CN" b="1"/>
              <a:t>, +</a:t>
            </a:r>
            <a:r>
              <a:rPr lang="en-US" altLang="zh-CN" b="1" baseline="-25000"/>
              <a:t>4</a:t>
            </a:r>
            <a:r>
              <a:rPr lang="en-US" altLang="zh-CN" b="1"/>
              <a:t>, ×</a:t>
            </a:r>
            <a:r>
              <a:rPr lang="en-US" altLang="zh-CN" b="1" baseline="-25000"/>
              <a:t>4</a:t>
            </a:r>
            <a:r>
              <a:rPr lang="en-US" altLang="zh-CN" b="1"/>
              <a:t>&gt;</a:t>
            </a:r>
          </a:p>
        </p:txBody>
      </p:sp>
      <p:graphicFrame>
        <p:nvGraphicFramePr>
          <p:cNvPr id="496687" name="Group 47"/>
          <p:cNvGraphicFramePr>
            <a:graphicFrameLocks noGrp="1"/>
          </p:cNvGraphicFramePr>
          <p:nvPr/>
        </p:nvGraphicFramePr>
        <p:xfrm>
          <a:off x="685800" y="3573463"/>
          <a:ext cx="3381375" cy="2011680"/>
        </p:xfrm>
        <a:graphic>
          <a:graphicData uri="http://schemas.openxmlformats.org/drawingml/2006/table">
            <a:tbl>
              <a:tblPr/>
              <a:tblGrid>
                <a:gridCol w="646113"/>
                <a:gridCol w="2735262"/>
              </a:tblGrid>
              <a:tr h="447675">
                <a:tc>
                  <a:txBody>
                    <a:body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[0]    [1]    [2]    [3]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4800">
                <a:tc>
                  <a:txBody>
                    <a:body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[0]</a:t>
                      </a:r>
                    </a:p>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[1]</a:t>
                      </a:r>
                    </a:p>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[2]</a:t>
                      </a:r>
                    </a:p>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[0]    [1]    [2]    [3]</a:t>
                      </a:r>
                    </a:p>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[1]    [2]    [3]    [0]</a:t>
                      </a:r>
                    </a:p>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[2]    [3]    [0]    [1]</a:t>
                      </a:r>
                    </a:p>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[3]    [0]    [1]    [2]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96688" name="Group 48"/>
          <p:cNvGraphicFramePr>
            <a:graphicFrameLocks noGrp="1"/>
          </p:cNvGraphicFramePr>
          <p:nvPr/>
        </p:nvGraphicFramePr>
        <p:xfrm>
          <a:off x="4859338" y="3573463"/>
          <a:ext cx="3457575" cy="2011680"/>
        </p:xfrm>
        <a:graphic>
          <a:graphicData uri="http://schemas.openxmlformats.org/drawingml/2006/table">
            <a:tbl>
              <a:tblPr/>
              <a:tblGrid>
                <a:gridCol w="720725"/>
                <a:gridCol w="2736850"/>
              </a:tblGrid>
              <a:tr h="304800">
                <a:tc>
                  <a:txBody>
                    <a:body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a:t>
                      </a:r>
                      <a:r>
                        <a:rPr kumimoji="0" lang="en-US" altLang="zh-CN" sz="2400" b="1" i="0" u="none" strike="noStrike" cap="none" normalizeH="0" baseline="-25000" smtClean="0">
                          <a:ln>
                            <a:noFill/>
                          </a:ln>
                          <a:solidFill>
                            <a:schemeClr val="tx1"/>
                          </a:solidFill>
                          <a:effectLst/>
                          <a:latin typeface="Times New Roman" pitchFamily="18"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[0]    [1]    [2]    [3]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490663">
                <a:tc>
                  <a:txBody>
                    <a:body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[0]</a:t>
                      </a:r>
                    </a:p>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[1]</a:t>
                      </a:r>
                    </a:p>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[2]</a:t>
                      </a:r>
                    </a:p>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[0]    [0]    [0]    [0]</a:t>
                      </a:r>
                    </a:p>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[0]    [1]    [2]    [3]</a:t>
                      </a:r>
                    </a:p>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[0]    [2]    [0]    [2]</a:t>
                      </a:r>
                    </a:p>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[0]    [3]    [2]    [1]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96689" name="Rectangle 49"/>
          <p:cNvSpPr>
            <a:spLocks noChangeArrowheads="1"/>
          </p:cNvSpPr>
          <p:nvPr/>
        </p:nvSpPr>
        <p:spPr bwMode="auto">
          <a:xfrm>
            <a:off x="7005638" y="4754563"/>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en-US" altLang="zh-CN" b="1">
                <a:solidFill>
                  <a:srgbClr val="FF0000"/>
                </a:solidFill>
              </a:rPr>
              <a:t>[0]</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9664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496687"/>
                                        </p:tgtEl>
                                        <p:attrNameLst>
                                          <p:attrName>style.visibility</p:attrName>
                                        </p:attrNameLst>
                                      </p:cBhvr>
                                      <p:to>
                                        <p:strVal val="visible"/>
                                      </p:to>
                                    </p:set>
                                  </p:childTnLst>
                                </p:cTn>
                              </p:par>
                            </p:childTnLst>
                          </p:cTn>
                        </p:par>
                        <p:par>
                          <p:cTn id="11" fill="hold" nodeType="afterGroup">
                            <p:stCondLst>
                              <p:cond delay="500"/>
                            </p:stCondLst>
                            <p:childTnLst>
                              <p:par>
                                <p:cTn id="12" presetID="1" presetClass="entr" presetSubtype="0" fill="hold" nodeType="afterEffect">
                                  <p:stCondLst>
                                    <p:cond delay="0"/>
                                  </p:stCondLst>
                                  <p:childTnLst>
                                    <p:set>
                                      <p:cBhvr>
                                        <p:cTn id="13" dur="1" fill="hold">
                                          <p:stCondLst>
                                            <p:cond delay="499"/>
                                          </p:stCondLst>
                                        </p:cTn>
                                        <p:tgtEl>
                                          <p:spTgt spid="496688"/>
                                        </p:tgtEl>
                                        <p:attrNameLst>
                                          <p:attrName>style.visibility</p:attrName>
                                        </p:attrNameLst>
                                      </p:cBhvr>
                                      <p:to>
                                        <p:strVal val="visible"/>
                                      </p:to>
                                    </p:set>
                                  </p:childTnLst>
                                </p:cTn>
                              </p:par>
                            </p:childTnLst>
                          </p:cTn>
                        </p:par>
                        <p:par>
                          <p:cTn id="14" fill="hold" nodeType="afterGroup">
                            <p:stCondLst>
                              <p:cond delay="1000"/>
                            </p:stCondLst>
                            <p:childTnLst>
                              <p:par>
                                <p:cTn id="15" presetID="1" presetClass="entr" presetSubtype="0" fill="hold" grpId="0" nodeType="afterEffect">
                                  <p:stCondLst>
                                    <p:cond delay="0"/>
                                  </p:stCondLst>
                                  <p:childTnLst>
                                    <p:set>
                                      <p:cBhvr>
                                        <p:cTn id="16" dur="1" fill="hold">
                                          <p:stCondLst>
                                            <p:cond delay="499"/>
                                          </p:stCondLst>
                                        </p:cTn>
                                        <p:tgtEl>
                                          <p:spTgt spid="496644"/>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496689"/>
                                        </p:tgtEl>
                                        <p:attrNameLst>
                                          <p:attrName>style.visibility</p:attrName>
                                        </p:attrNameLst>
                                      </p:cBhvr>
                                      <p:to>
                                        <p:strVal val="visible"/>
                                      </p:to>
                                    </p:set>
                                    <p:anim calcmode="lin" valueType="num">
                                      <p:cBhvr additive="base">
                                        <p:cTn id="21" dur="500" fill="hold"/>
                                        <p:tgtEl>
                                          <p:spTgt spid="496689"/>
                                        </p:tgtEl>
                                        <p:attrNameLst>
                                          <p:attrName>ppt_x</p:attrName>
                                        </p:attrNameLst>
                                      </p:cBhvr>
                                      <p:tavLst>
                                        <p:tav tm="0">
                                          <p:val>
                                            <p:strVal val="#ppt_x"/>
                                          </p:val>
                                        </p:tav>
                                        <p:tav tm="100000">
                                          <p:val>
                                            <p:strVal val="#ppt_x"/>
                                          </p:val>
                                        </p:tav>
                                      </p:tavLst>
                                    </p:anim>
                                    <p:anim calcmode="lin" valueType="num">
                                      <p:cBhvr additive="base">
                                        <p:cTn id="22" dur="500" fill="hold"/>
                                        <p:tgtEl>
                                          <p:spTgt spid="4966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643" grpId="0" autoUpdateAnimBg="0"/>
      <p:bldP spid="496644" grpId="0" autoUpdateAnimBg="0"/>
      <p:bldP spid="496689"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fld id="{64CBC342-2E83-4A3F-97C1-5A50ECE7D370}" type="slidenum">
              <a:rPr lang="en-US" altLang="zh-CN"/>
              <a:pPr/>
              <a:t>86</a:t>
            </a:fld>
            <a:endParaRPr lang="en-US" altLang="zh-CN"/>
          </a:p>
        </p:txBody>
      </p:sp>
      <p:sp>
        <p:nvSpPr>
          <p:cNvPr id="497666" name="Text Box 2"/>
          <p:cNvSpPr txBox="1">
            <a:spLocks noChangeArrowheads="1"/>
          </p:cNvSpPr>
          <p:nvPr/>
        </p:nvSpPr>
        <p:spPr bwMode="auto">
          <a:xfrm>
            <a:off x="466725" y="920750"/>
            <a:ext cx="8277225" cy="272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kumimoji="1" sz="2400">
                <a:solidFill>
                  <a:schemeClr val="tx1"/>
                </a:solidFill>
                <a:latin typeface="Times New Roman" pitchFamily="18" charset="0"/>
                <a:ea typeface="宋体" pitchFamily="2" charset="-122"/>
              </a:defRPr>
            </a:lvl1pPr>
            <a:lvl2pPr marL="53975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20000"/>
              </a:lnSpc>
            </a:pPr>
            <a:r>
              <a:rPr lang="zh-CN" altLang="en-US" b="1">
                <a:solidFill>
                  <a:srgbClr val="FF0000"/>
                </a:solidFill>
              </a:rPr>
              <a:t>定义</a:t>
            </a:r>
            <a:r>
              <a:rPr lang="en-US" altLang="zh-CN" b="1">
                <a:solidFill>
                  <a:srgbClr val="FF0000"/>
                </a:solidFill>
              </a:rPr>
              <a:t>5-9.3</a:t>
            </a:r>
            <a:r>
              <a:rPr lang="zh-CN" altLang="en-US" b="1">
                <a:solidFill>
                  <a:srgbClr val="FF0000"/>
                </a:solidFill>
              </a:rPr>
              <a:t>：</a:t>
            </a:r>
            <a:r>
              <a:rPr lang="zh-CN" altLang="en-US" b="1"/>
              <a:t>设</a:t>
            </a:r>
            <a:r>
              <a:rPr lang="en-US" altLang="zh-CN" b="1"/>
              <a:t>&lt;A, +, </a:t>
            </a:r>
            <a:r>
              <a:rPr lang="en-US" altLang="zh-CN" b="1">
                <a:cs typeface="Times New Roman" pitchFamily="18" charset="0"/>
              </a:rPr>
              <a:t>·</a:t>
            </a:r>
            <a:r>
              <a:rPr lang="en-US" altLang="zh-CN" b="1"/>
              <a:t> &gt;</a:t>
            </a:r>
            <a:r>
              <a:rPr lang="zh-CN" altLang="en-US" b="1"/>
              <a:t>是一个代数系统，如果满足：</a:t>
            </a:r>
          </a:p>
          <a:p>
            <a:pPr>
              <a:lnSpc>
                <a:spcPct val="120000"/>
              </a:lnSpc>
            </a:pPr>
            <a:r>
              <a:rPr lang="en-US" altLang="zh-CN" b="1"/>
              <a:t>(1) &lt;A, +&gt;</a:t>
            </a:r>
            <a:r>
              <a:rPr lang="zh-CN" altLang="en-US" b="1"/>
              <a:t>是</a:t>
            </a:r>
            <a:r>
              <a:rPr lang="zh-CN" altLang="en-US" b="1">
                <a:solidFill>
                  <a:srgbClr val="FF0000"/>
                </a:solidFill>
              </a:rPr>
              <a:t>阿贝尔群</a:t>
            </a:r>
            <a:r>
              <a:rPr lang="zh-CN" altLang="en-US" b="1"/>
              <a:t>，</a:t>
            </a:r>
          </a:p>
          <a:p>
            <a:pPr>
              <a:lnSpc>
                <a:spcPct val="120000"/>
              </a:lnSpc>
            </a:pPr>
            <a:r>
              <a:rPr lang="en-US" altLang="zh-CN" b="1"/>
              <a:t>(2) &lt;A, </a:t>
            </a:r>
            <a:r>
              <a:rPr lang="en-US" altLang="zh-CN" b="1">
                <a:cs typeface="Times New Roman" pitchFamily="18" charset="0"/>
              </a:rPr>
              <a:t>·</a:t>
            </a:r>
            <a:r>
              <a:rPr lang="en-US" altLang="zh-CN" b="1"/>
              <a:t>&gt;</a:t>
            </a:r>
            <a:r>
              <a:rPr lang="zh-CN" altLang="en-US" b="1"/>
              <a:t>是</a:t>
            </a:r>
            <a:r>
              <a:rPr lang="zh-CN" altLang="en-US" b="1">
                <a:solidFill>
                  <a:srgbClr val="FF0000"/>
                </a:solidFill>
              </a:rPr>
              <a:t>可交换独异点</a:t>
            </a:r>
            <a:r>
              <a:rPr lang="zh-CN" altLang="en-US" b="1"/>
              <a:t>，且</a:t>
            </a:r>
            <a:r>
              <a:rPr lang="zh-CN" altLang="en-US" b="1">
                <a:solidFill>
                  <a:srgbClr val="FF0000"/>
                </a:solidFill>
              </a:rPr>
              <a:t>无零因子</a:t>
            </a:r>
            <a:r>
              <a:rPr lang="zh-CN" altLang="en-US" b="1"/>
              <a:t>，即</a:t>
            </a:r>
            <a:r>
              <a:rPr lang="zh-CN" altLang="en-US" b="1">
                <a:sym typeface="Symbol" pitchFamily="18" charset="2"/>
              </a:rPr>
              <a:t></a:t>
            </a:r>
            <a:r>
              <a:rPr lang="en-US" altLang="zh-CN" b="1"/>
              <a:t>a, b∈A</a:t>
            </a:r>
            <a:r>
              <a:rPr lang="zh-CN" altLang="en-US" b="1"/>
              <a:t>，</a:t>
            </a:r>
            <a:r>
              <a:rPr lang="en-US" altLang="zh-CN" b="1"/>
              <a:t>a≠θ</a:t>
            </a:r>
            <a:r>
              <a:rPr lang="zh-CN" altLang="en-US" b="1"/>
              <a:t>，</a:t>
            </a:r>
            <a:r>
              <a:rPr lang="en-US" altLang="zh-CN" b="1"/>
              <a:t>b≠θ</a:t>
            </a:r>
            <a:r>
              <a:rPr lang="zh-CN" altLang="en-US" b="1"/>
              <a:t>，必有</a:t>
            </a:r>
            <a:r>
              <a:rPr lang="en-US" altLang="zh-CN" b="1"/>
              <a:t>a · b≠θ</a:t>
            </a:r>
          </a:p>
          <a:p>
            <a:pPr>
              <a:lnSpc>
                <a:spcPct val="120000"/>
              </a:lnSpc>
            </a:pPr>
            <a:r>
              <a:rPr lang="en-US" altLang="zh-CN" b="1"/>
              <a:t>(3) </a:t>
            </a:r>
            <a:r>
              <a:rPr lang="zh-CN" altLang="en-US" b="1"/>
              <a:t>运算 </a:t>
            </a:r>
            <a:r>
              <a:rPr lang="en-US" altLang="zh-CN" b="1">
                <a:cs typeface="Times New Roman" pitchFamily="18" charset="0"/>
              </a:rPr>
              <a:t>·</a:t>
            </a:r>
            <a:r>
              <a:rPr lang="en-US" altLang="zh-CN" b="1"/>
              <a:t> </a:t>
            </a:r>
            <a:r>
              <a:rPr lang="zh-CN" altLang="en-US" b="1"/>
              <a:t>对于运算</a:t>
            </a:r>
            <a:r>
              <a:rPr lang="en-US" altLang="zh-CN" b="1"/>
              <a:t>+</a:t>
            </a:r>
            <a:r>
              <a:rPr lang="zh-CN" altLang="en-US" b="1"/>
              <a:t>是可分配的。</a:t>
            </a:r>
          </a:p>
          <a:p>
            <a:pPr>
              <a:lnSpc>
                <a:spcPct val="120000"/>
              </a:lnSpc>
            </a:pPr>
            <a:r>
              <a:rPr lang="zh-CN" altLang="en-US" b="1"/>
              <a:t>则称</a:t>
            </a:r>
            <a:r>
              <a:rPr lang="en-US" altLang="zh-CN" b="1"/>
              <a:t>&lt;A, +, </a:t>
            </a:r>
            <a:r>
              <a:rPr lang="en-US" altLang="zh-CN" b="1">
                <a:cs typeface="Times New Roman" pitchFamily="18" charset="0"/>
              </a:rPr>
              <a:t>·</a:t>
            </a:r>
            <a:r>
              <a:rPr lang="en-US" altLang="zh-CN" b="1"/>
              <a:t>&gt;</a:t>
            </a:r>
            <a:r>
              <a:rPr lang="zh-CN" altLang="en-US" b="1"/>
              <a:t>是</a:t>
            </a:r>
            <a:r>
              <a:rPr lang="zh-CN" altLang="en-US" b="1" i="1">
                <a:solidFill>
                  <a:srgbClr val="FF0000"/>
                </a:solidFill>
              </a:rPr>
              <a:t>整环</a:t>
            </a:r>
            <a:r>
              <a:rPr lang="zh-CN" altLang="en-US" b="1"/>
              <a:t>。</a:t>
            </a:r>
          </a:p>
        </p:txBody>
      </p:sp>
      <p:sp>
        <p:nvSpPr>
          <p:cNvPr id="497667" name="Text Box 3"/>
          <p:cNvSpPr txBox="1">
            <a:spLocks noChangeArrowheads="1"/>
          </p:cNvSpPr>
          <p:nvPr/>
        </p:nvSpPr>
        <p:spPr bwMode="auto">
          <a:xfrm>
            <a:off x="466725" y="3644900"/>
            <a:ext cx="8277225"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kumimoji="1" sz="2400">
                <a:solidFill>
                  <a:schemeClr val="tx1"/>
                </a:solidFill>
                <a:latin typeface="Times New Roman" pitchFamily="18" charset="0"/>
                <a:ea typeface="宋体" pitchFamily="2" charset="-122"/>
              </a:defRPr>
            </a:lvl1pPr>
            <a:lvl2pPr marL="625475"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20000"/>
              </a:lnSpc>
            </a:pPr>
            <a:r>
              <a:rPr lang="zh-CN" altLang="en-US" b="1" dirty="0" smtClean="0">
                <a:solidFill>
                  <a:srgbClr val="FF0000"/>
                </a:solidFill>
              </a:rPr>
              <a:t>例：</a:t>
            </a:r>
            <a:r>
              <a:rPr lang="zh-CN" altLang="en-US" b="1" dirty="0"/>
              <a:t>说明</a:t>
            </a:r>
            <a:r>
              <a:rPr lang="en-US" altLang="zh-CN" b="1" dirty="0"/>
              <a:t>&lt;I, +, </a:t>
            </a:r>
            <a:r>
              <a:rPr lang="en-US" altLang="zh-CN" b="1" dirty="0">
                <a:cs typeface="Times New Roman" pitchFamily="18" charset="0"/>
              </a:rPr>
              <a:t>·</a:t>
            </a:r>
            <a:r>
              <a:rPr lang="en-US" altLang="zh-CN" b="1" dirty="0"/>
              <a:t>&gt;</a:t>
            </a:r>
            <a:r>
              <a:rPr lang="zh-CN" altLang="en-US" b="1" dirty="0"/>
              <a:t>是一个整环</a:t>
            </a:r>
            <a:r>
              <a:rPr lang="zh-CN" altLang="en-US" b="1" dirty="0" smtClean="0"/>
              <a:t>。</a:t>
            </a:r>
            <a:endParaRPr lang="zh-CN" altLang="en-US" b="1" dirty="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97667">
                                            <p:txEl>
                                              <p:pRg st="0" end="0"/>
                                            </p:txEl>
                                          </p:spTgt>
                                        </p:tgtEl>
                                        <p:attrNameLst>
                                          <p:attrName>style.visibility</p:attrName>
                                        </p:attrNameLst>
                                      </p:cBhvr>
                                      <p:to>
                                        <p:strVal val="visible"/>
                                      </p:to>
                                    </p:set>
                                    <p:anim calcmode="lin" valueType="num">
                                      <p:cBhvr additive="base">
                                        <p:cTn id="7" dur="500" fill="hold"/>
                                        <p:tgtEl>
                                          <p:spTgt spid="4976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9766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58CAE57F-A4AB-4E30-8882-D794662E244A}" type="slidenum">
              <a:rPr lang="en-US" altLang="zh-CN"/>
              <a:pPr/>
              <a:t>87</a:t>
            </a:fld>
            <a:endParaRPr lang="en-US" altLang="zh-CN"/>
          </a:p>
        </p:txBody>
      </p:sp>
      <p:sp>
        <p:nvSpPr>
          <p:cNvPr id="498690" name="Text Box 2"/>
          <p:cNvSpPr txBox="1">
            <a:spLocks noChangeArrowheads="1"/>
          </p:cNvSpPr>
          <p:nvPr/>
        </p:nvSpPr>
        <p:spPr bwMode="auto">
          <a:xfrm>
            <a:off x="466725" y="946150"/>
            <a:ext cx="827722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kumimoji="1" sz="2400">
                <a:solidFill>
                  <a:schemeClr val="tx1"/>
                </a:solidFill>
                <a:latin typeface="Times New Roman" pitchFamily="18" charset="0"/>
                <a:ea typeface="宋体" pitchFamily="2" charset="-122"/>
              </a:defRPr>
            </a:lvl1pPr>
            <a:lvl2pPr marL="53975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50000"/>
              </a:lnSpc>
            </a:pPr>
            <a:r>
              <a:rPr lang="zh-CN" altLang="en-US" b="1" dirty="0">
                <a:solidFill>
                  <a:srgbClr val="FF0000"/>
                </a:solidFill>
              </a:rPr>
              <a:t>定理</a:t>
            </a:r>
            <a:r>
              <a:rPr lang="en-US" altLang="zh-CN" b="1" dirty="0">
                <a:solidFill>
                  <a:srgbClr val="FF0000"/>
                </a:solidFill>
              </a:rPr>
              <a:t>5-9.2</a:t>
            </a:r>
            <a:r>
              <a:rPr lang="zh-CN" altLang="en-US" b="1" dirty="0">
                <a:solidFill>
                  <a:srgbClr val="FF0000"/>
                </a:solidFill>
              </a:rPr>
              <a:t>：</a:t>
            </a:r>
            <a:r>
              <a:rPr lang="zh-CN" altLang="en-US" b="1" dirty="0"/>
              <a:t>在整环</a:t>
            </a:r>
            <a:r>
              <a:rPr lang="en-US" altLang="zh-CN" b="1" dirty="0"/>
              <a:t>&lt;A, +, ·&gt;</a:t>
            </a:r>
            <a:r>
              <a:rPr lang="zh-CN" altLang="en-US" b="1" dirty="0"/>
              <a:t>中的无零因子条件等价于乘法消去律，即对于</a:t>
            </a:r>
            <a:r>
              <a:rPr lang="en-US" altLang="zh-CN" b="1" smtClean="0"/>
              <a:t>c ≠ θ</a:t>
            </a:r>
            <a:r>
              <a:rPr lang="zh-CN" altLang="en-US" b="1" dirty="0"/>
              <a:t>和</a:t>
            </a:r>
            <a:r>
              <a:rPr lang="en-US" altLang="zh-CN" b="1" dirty="0"/>
              <a:t>c · a=c · b</a:t>
            </a:r>
            <a:r>
              <a:rPr lang="zh-CN" altLang="en-US" b="1" dirty="0"/>
              <a:t>，必有</a:t>
            </a:r>
            <a:r>
              <a:rPr lang="en-US" altLang="zh-CN" b="1" dirty="0"/>
              <a:t>a=b</a:t>
            </a:r>
            <a:r>
              <a:rPr lang="zh-CN" altLang="en-US" b="1" dirty="0" smtClean="0"/>
              <a:t>。</a:t>
            </a:r>
            <a:endParaRPr lang="zh-CN" altLang="en-US" b="1" dirty="0"/>
          </a:p>
        </p:txBody>
      </p:sp>
    </p:spTree>
  </p:cSld>
  <p:clrMapOvr>
    <a:masterClrMapping/>
  </p:clrMapOvr>
  <p:transition spd="slow">
    <p:pull dir="ru"/>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p:cNvSpPr>
            <a:spLocks noGrp="1"/>
          </p:cNvSpPr>
          <p:nvPr>
            <p:ph type="sldNum" sz="quarter" idx="11"/>
          </p:nvPr>
        </p:nvSpPr>
        <p:spPr/>
        <p:txBody>
          <a:bodyPr/>
          <a:lstStyle/>
          <a:p>
            <a:fld id="{0C333A44-4ADA-416C-806A-D396988F22B7}" type="slidenum">
              <a:rPr lang="en-US" altLang="zh-CN"/>
              <a:pPr/>
              <a:t>88</a:t>
            </a:fld>
            <a:endParaRPr lang="en-US" altLang="zh-CN"/>
          </a:p>
        </p:txBody>
      </p:sp>
      <p:sp>
        <p:nvSpPr>
          <p:cNvPr id="499714" name="Text Box 2"/>
          <p:cNvSpPr txBox="1">
            <a:spLocks noChangeArrowheads="1"/>
          </p:cNvSpPr>
          <p:nvPr/>
        </p:nvSpPr>
        <p:spPr bwMode="auto">
          <a:xfrm>
            <a:off x="468313" y="981075"/>
            <a:ext cx="8277225" cy="2465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kumimoji="1" sz="2400">
                <a:solidFill>
                  <a:schemeClr val="tx1"/>
                </a:solidFill>
                <a:latin typeface="Times New Roman" pitchFamily="18" charset="0"/>
                <a:ea typeface="宋体" pitchFamily="2" charset="-122"/>
              </a:defRPr>
            </a:lvl1pPr>
            <a:lvl2pPr marL="53975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30000"/>
              </a:lnSpc>
            </a:pPr>
            <a:r>
              <a:rPr lang="zh-CN" altLang="en-US" b="1" dirty="0">
                <a:solidFill>
                  <a:srgbClr val="FF0000"/>
                </a:solidFill>
              </a:rPr>
              <a:t>定义</a:t>
            </a:r>
            <a:r>
              <a:rPr lang="en-US" altLang="zh-CN" b="1" dirty="0">
                <a:solidFill>
                  <a:srgbClr val="FF0000"/>
                </a:solidFill>
              </a:rPr>
              <a:t>5-9.4</a:t>
            </a:r>
            <a:r>
              <a:rPr lang="zh-CN" altLang="en-US" b="1" dirty="0">
                <a:solidFill>
                  <a:srgbClr val="FF0000"/>
                </a:solidFill>
              </a:rPr>
              <a:t>：</a:t>
            </a:r>
            <a:r>
              <a:rPr lang="zh-CN" altLang="en-US" b="1" dirty="0"/>
              <a:t>设</a:t>
            </a:r>
            <a:r>
              <a:rPr lang="en-US" altLang="zh-CN" b="1" dirty="0"/>
              <a:t>&lt;A, +, </a:t>
            </a:r>
            <a:r>
              <a:rPr lang="en-US" altLang="zh-CN" b="1" dirty="0">
                <a:cs typeface="Times New Roman" pitchFamily="18" charset="0"/>
              </a:rPr>
              <a:t>·</a:t>
            </a:r>
            <a:r>
              <a:rPr lang="en-US" altLang="zh-CN" b="1" dirty="0"/>
              <a:t>&gt;</a:t>
            </a:r>
            <a:r>
              <a:rPr lang="zh-CN" altLang="en-US" b="1" dirty="0"/>
              <a:t>是一个代数系统，如果满足：</a:t>
            </a:r>
          </a:p>
          <a:p>
            <a:pPr>
              <a:lnSpc>
                <a:spcPct val="130000"/>
              </a:lnSpc>
            </a:pPr>
            <a:r>
              <a:rPr lang="en-US" altLang="zh-CN" b="1" dirty="0"/>
              <a:t>(1) &lt;A, +&gt;</a:t>
            </a:r>
            <a:r>
              <a:rPr lang="zh-CN" altLang="en-US" b="1" dirty="0"/>
              <a:t>是阿贝尔群，</a:t>
            </a:r>
          </a:p>
          <a:p>
            <a:pPr>
              <a:lnSpc>
                <a:spcPct val="130000"/>
              </a:lnSpc>
            </a:pPr>
            <a:r>
              <a:rPr lang="en-US" altLang="zh-CN" b="1" dirty="0"/>
              <a:t>(2) &lt;A-{θ}, </a:t>
            </a:r>
            <a:r>
              <a:rPr lang="en-US" altLang="zh-CN" b="1" dirty="0">
                <a:cs typeface="Times New Roman" pitchFamily="18" charset="0"/>
              </a:rPr>
              <a:t>·</a:t>
            </a:r>
            <a:r>
              <a:rPr lang="en-US" altLang="zh-CN" b="1" dirty="0"/>
              <a:t>&gt;</a:t>
            </a:r>
            <a:r>
              <a:rPr lang="zh-CN" altLang="en-US" b="1" dirty="0"/>
              <a:t>是阿贝尔群，</a:t>
            </a:r>
          </a:p>
          <a:p>
            <a:pPr>
              <a:lnSpc>
                <a:spcPct val="130000"/>
              </a:lnSpc>
            </a:pPr>
            <a:r>
              <a:rPr lang="en-US" altLang="zh-CN" b="1" dirty="0"/>
              <a:t>(3) </a:t>
            </a:r>
            <a:r>
              <a:rPr lang="zh-CN" altLang="en-US" b="1" dirty="0"/>
              <a:t>运算</a:t>
            </a:r>
            <a:r>
              <a:rPr lang="en-US" altLang="zh-CN" b="1" dirty="0">
                <a:cs typeface="Times New Roman" pitchFamily="18" charset="0"/>
              </a:rPr>
              <a:t>·</a:t>
            </a:r>
            <a:r>
              <a:rPr lang="zh-CN" altLang="en-US" b="1" dirty="0"/>
              <a:t>对于运算</a:t>
            </a:r>
            <a:r>
              <a:rPr lang="en-US" altLang="zh-CN" b="1" dirty="0"/>
              <a:t>+</a:t>
            </a:r>
            <a:r>
              <a:rPr lang="zh-CN" altLang="en-US" b="1" dirty="0"/>
              <a:t>是可分配的。</a:t>
            </a:r>
          </a:p>
          <a:p>
            <a:pPr>
              <a:lnSpc>
                <a:spcPct val="130000"/>
              </a:lnSpc>
            </a:pPr>
            <a:r>
              <a:rPr lang="zh-CN" altLang="en-US" b="1" dirty="0"/>
              <a:t>则称</a:t>
            </a:r>
            <a:r>
              <a:rPr lang="en-US" altLang="zh-CN" b="1" dirty="0"/>
              <a:t>&lt;A, +, </a:t>
            </a:r>
            <a:r>
              <a:rPr lang="en-US" altLang="zh-CN" b="1" dirty="0">
                <a:cs typeface="Times New Roman" pitchFamily="18" charset="0"/>
              </a:rPr>
              <a:t>·</a:t>
            </a:r>
            <a:r>
              <a:rPr lang="en-US" altLang="zh-CN" b="1" dirty="0"/>
              <a:t>&gt;</a:t>
            </a:r>
            <a:r>
              <a:rPr lang="zh-CN" altLang="en-US" b="1" dirty="0"/>
              <a:t>是</a:t>
            </a:r>
            <a:r>
              <a:rPr lang="zh-CN" altLang="en-US" b="1" i="1" dirty="0">
                <a:solidFill>
                  <a:srgbClr val="FF0000"/>
                </a:solidFill>
              </a:rPr>
              <a:t>域</a:t>
            </a:r>
            <a:r>
              <a:rPr lang="zh-CN" altLang="en-US" b="1" dirty="0"/>
              <a:t>。 </a:t>
            </a:r>
          </a:p>
        </p:txBody>
      </p:sp>
      <p:sp>
        <p:nvSpPr>
          <p:cNvPr id="499715" name="Text Box 3"/>
          <p:cNvSpPr txBox="1">
            <a:spLocks noChangeArrowheads="1"/>
          </p:cNvSpPr>
          <p:nvPr/>
        </p:nvSpPr>
        <p:spPr bwMode="auto">
          <a:xfrm>
            <a:off x="468313" y="4505325"/>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kumimoji="1" sz="2400">
                <a:solidFill>
                  <a:schemeClr val="tx1"/>
                </a:solidFill>
                <a:latin typeface="Times New Roman" pitchFamily="18" charset="0"/>
                <a:ea typeface="宋体" pitchFamily="2" charset="-122"/>
              </a:defRPr>
            </a:lvl1pPr>
            <a:lvl2pPr marL="53975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30000"/>
              </a:lnSpc>
            </a:pPr>
            <a:r>
              <a:rPr lang="zh-CN" altLang="en-US" b="1">
                <a:solidFill>
                  <a:srgbClr val="FF0000"/>
                </a:solidFill>
              </a:rPr>
              <a:t>定理</a:t>
            </a:r>
            <a:r>
              <a:rPr lang="en-US" altLang="zh-CN" b="1">
                <a:solidFill>
                  <a:srgbClr val="FF0000"/>
                </a:solidFill>
              </a:rPr>
              <a:t>5-9.3</a:t>
            </a:r>
            <a:r>
              <a:rPr lang="zh-CN" altLang="en-US" b="1">
                <a:solidFill>
                  <a:srgbClr val="FF0000"/>
                </a:solidFill>
              </a:rPr>
              <a:t>：</a:t>
            </a:r>
            <a:r>
              <a:rPr lang="zh-CN" altLang="en-US" b="1"/>
              <a:t>域一定是整环。</a:t>
            </a:r>
          </a:p>
          <a:p>
            <a:pPr>
              <a:lnSpc>
                <a:spcPct val="130000"/>
              </a:lnSpc>
            </a:pPr>
            <a:r>
              <a:rPr lang="zh-CN" altLang="en-US" b="1">
                <a:solidFill>
                  <a:srgbClr val="FF0000"/>
                </a:solidFill>
              </a:rPr>
              <a:t>定理</a:t>
            </a:r>
            <a:r>
              <a:rPr lang="en-US" altLang="zh-CN" b="1">
                <a:solidFill>
                  <a:srgbClr val="FF0000"/>
                </a:solidFill>
              </a:rPr>
              <a:t>5-9.4</a:t>
            </a:r>
            <a:r>
              <a:rPr lang="zh-CN" altLang="en-US" b="1">
                <a:solidFill>
                  <a:srgbClr val="FF0000"/>
                </a:solidFill>
              </a:rPr>
              <a:t>：</a:t>
            </a:r>
            <a:r>
              <a:rPr lang="zh-CN" altLang="en-US" b="1"/>
              <a:t>有限整环必定是域。</a:t>
            </a:r>
          </a:p>
        </p:txBody>
      </p:sp>
      <p:sp>
        <p:nvSpPr>
          <p:cNvPr id="499716" name="Text Box 4"/>
          <p:cNvSpPr txBox="1">
            <a:spLocks noChangeArrowheads="1"/>
          </p:cNvSpPr>
          <p:nvPr/>
        </p:nvSpPr>
        <p:spPr bwMode="auto">
          <a:xfrm>
            <a:off x="468313" y="3429000"/>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kumimoji="1" sz="2400">
                <a:solidFill>
                  <a:schemeClr val="tx1"/>
                </a:solidFill>
                <a:latin typeface="Times New Roman" pitchFamily="18" charset="0"/>
                <a:ea typeface="宋体" pitchFamily="2" charset="-122"/>
              </a:defRPr>
            </a:lvl1pPr>
            <a:lvl2pPr marL="53975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30000"/>
              </a:lnSpc>
            </a:pPr>
            <a:r>
              <a:rPr lang="zh-CN" altLang="en-US" b="1"/>
              <a:t>例如：</a:t>
            </a:r>
            <a:r>
              <a:rPr lang="en-US" altLang="zh-CN" b="1"/>
              <a:t>&lt;Q, +, ·&gt;</a:t>
            </a:r>
            <a:r>
              <a:rPr lang="zh-CN" altLang="en-US" b="1"/>
              <a:t>，</a:t>
            </a:r>
            <a:r>
              <a:rPr lang="en-US" altLang="zh-CN" b="1"/>
              <a:t>&lt;R, +, ·&gt;</a:t>
            </a:r>
            <a:r>
              <a:rPr lang="zh-CN" altLang="en-US" b="1"/>
              <a:t>都是域。</a:t>
            </a:r>
          </a:p>
          <a:p>
            <a:pPr>
              <a:lnSpc>
                <a:spcPct val="130000"/>
              </a:lnSpc>
            </a:pPr>
            <a:r>
              <a:rPr lang="zh-CN" altLang="en-US" b="1"/>
              <a:t>            </a:t>
            </a:r>
            <a:r>
              <a:rPr lang="en-US" altLang="zh-CN" b="1"/>
              <a:t>&lt;I, +, ·&gt;</a:t>
            </a:r>
            <a:r>
              <a:rPr lang="zh-CN" altLang="en-US" b="1"/>
              <a:t>是整环，但不是域。</a:t>
            </a:r>
          </a:p>
        </p:txBody>
      </p:sp>
      <p:sp>
        <p:nvSpPr>
          <p:cNvPr id="499717" name="Rectangle 5"/>
          <p:cNvSpPr>
            <a:spLocks noChangeArrowheads="1"/>
          </p:cNvSpPr>
          <p:nvPr/>
        </p:nvSpPr>
        <p:spPr bwMode="auto">
          <a:xfrm>
            <a:off x="1057275" y="276225"/>
            <a:ext cx="51133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3200" b="1">
                <a:solidFill>
                  <a:schemeClr val="folHlink"/>
                </a:solidFill>
                <a:ea typeface="楷体_GB2312" pitchFamily="49" charset="-122"/>
              </a:rPr>
              <a:t>二、域、环与域的关系</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99716"/>
                                        </p:tgtEl>
                                        <p:attrNameLst>
                                          <p:attrName>style.visibility</p:attrName>
                                        </p:attrNameLst>
                                      </p:cBhvr>
                                      <p:to>
                                        <p:strVal val="visible"/>
                                      </p:to>
                                    </p:set>
                                    <p:animEffect transition="in" filter="circle(in)">
                                      <p:cBhvr>
                                        <p:cTn id="7" dur="2000"/>
                                        <p:tgtEl>
                                          <p:spTgt spid="4997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99715"/>
                                        </p:tgtEl>
                                        <p:attrNameLst>
                                          <p:attrName>style.visibility</p:attrName>
                                        </p:attrNameLst>
                                      </p:cBhvr>
                                      <p:to>
                                        <p:strVal val="visible"/>
                                      </p:to>
                                    </p:set>
                                    <p:anim calcmode="lin" valueType="num">
                                      <p:cBhvr additive="base">
                                        <p:cTn id="12" dur="500" fill="hold"/>
                                        <p:tgtEl>
                                          <p:spTgt spid="499715"/>
                                        </p:tgtEl>
                                        <p:attrNameLst>
                                          <p:attrName>ppt_x</p:attrName>
                                        </p:attrNameLst>
                                      </p:cBhvr>
                                      <p:tavLst>
                                        <p:tav tm="0">
                                          <p:val>
                                            <p:strVal val="#ppt_x"/>
                                          </p:val>
                                        </p:tav>
                                        <p:tav tm="100000">
                                          <p:val>
                                            <p:strVal val="#ppt_x"/>
                                          </p:val>
                                        </p:tav>
                                      </p:tavLst>
                                    </p:anim>
                                    <p:anim calcmode="lin" valueType="num">
                                      <p:cBhvr additive="base">
                                        <p:cTn id="13" dur="500" fill="hold"/>
                                        <p:tgtEl>
                                          <p:spTgt spid="4997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9715" grpId="0"/>
      <p:bldP spid="499716"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fld id="{9963A54B-F4E1-4B9E-80AB-76102062B5FD}" type="slidenum">
              <a:rPr lang="en-US" altLang="zh-CN"/>
              <a:pPr/>
              <a:t>89</a:t>
            </a:fld>
            <a:endParaRPr lang="en-US" altLang="zh-CN"/>
          </a:p>
        </p:txBody>
      </p:sp>
      <p:sp>
        <p:nvSpPr>
          <p:cNvPr id="500739" name="Text Box 3"/>
          <p:cNvSpPr txBox="1">
            <a:spLocks noChangeArrowheads="1"/>
          </p:cNvSpPr>
          <p:nvPr/>
        </p:nvSpPr>
        <p:spPr bwMode="auto">
          <a:xfrm>
            <a:off x="466725" y="981075"/>
            <a:ext cx="8277225" cy="294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kumimoji="1" sz="2400">
                <a:solidFill>
                  <a:schemeClr val="tx1"/>
                </a:solidFill>
                <a:latin typeface="Times New Roman" pitchFamily="18" charset="0"/>
                <a:ea typeface="宋体" pitchFamily="2" charset="-122"/>
              </a:defRPr>
            </a:lvl1pPr>
            <a:lvl2pPr marL="1079500" indent="-457200" algn="l">
              <a:defRPr kumimoji="1" sz="2400">
                <a:solidFill>
                  <a:schemeClr val="tx1"/>
                </a:solidFill>
                <a:latin typeface="Times New Roman" pitchFamily="18" charset="0"/>
                <a:ea typeface="宋体" pitchFamily="2" charset="-122"/>
              </a:defRPr>
            </a:lvl2pPr>
            <a:lvl3pPr marL="1716088" indent="-457200" algn="l">
              <a:defRPr kumimoji="1" sz="2400">
                <a:solidFill>
                  <a:schemeClr val="tx1"/>
                </a:solidFill>
                <a:latin typeface="Times New Roman" pitchFamily="18" charset="0"/>
                <a:ea typeface="宋体" pitchFamily="2" charset="-122"/>
              </a:defRPr>
            </a:lvl3pPr>
            <a:lvl4pPr marL="2352675" indent="-457200" algn="l">
              <a:defRPr kumimoji="1" sz="2400">
                <a:solidFill>
                  <a:schemeClr val="tx1"/>
                </a:solidFill>
                <a:latin typeface="Times New Roman" pitchFamily="18" charset="0"/>
                <a:ea typeface="宋体" pitchFamily="2" charset="-122"/>
              </a:defRPr>
            </a:lvl4pPr>
            <a:lvl5pPr marL="2989263" indent="-457200" algn="l">
              <a:defRPr kumimoji="1" sz="2400">
                <a:solidFill>
                  <a:schemeClr val="tx1"/>
                </a:solidFill>
                <a:latin typeface="Times New Roman" pitchFamily="18" charset="0"/>
                <a:ea typeface="宋体" pitchFamily="2" charset="-122"/>
              </a:defRPr>
            </a:lvl5pPr>
            <a:lvl6pPr marL="3446463" indent="-457200" fontAlgn="base">
              <a:spcBef>
                <a:spcPct val="0"/>
              </a:spcBef>
              <a:spcAft>
                <a:spcPct val="0"/>
              </a:spcAft>
              <a:defRPr kumimoji="1" sz="2400">
                <a:solidFill>
                  <a:schemeClr val="tx1"/>
                </a:solidFill>
                <a:latin typeface="Times New Roman" pitchFamily="18" charset="0"/>
                <a:ea typeface="宋体" pitchFamily="2" charset="-122"/>
              </a:defRPr>
            </a:lvl6pPr>
            <a:lvl7pPr marL="3903663" indent="-457200" fontAlgn="base">
              <a:spcBef>
                <a:spcPct val="0"/>
              </a:spcBef>
              <a:spcAft>
                <a:spcPct val="0"/>
              </a:spcAft>
              <a:defRPr kumimoji="1" sz="2400">
                <a:solidFill>
                  <a:schemeClr val="tx1"/>
                </a:solidFill>
                <a:latin typeface="Times New Roman" pitchFamily="18" charset="0"/>
                <a:ea typeface="宋体" pitchFamily="2" charset="-122"/>
              </a:defRPr>
            </a:lvl7pPr>
            <a:lvl8pPr marL="4360863" indent="-457200" fontAlgn="base">
              <a:spcBef>
                <a:spcPct val="0"/>
              </a:spcBef>
              <a:spcAft>
                <a:spcPct val="0"/>
              </a:spcAft>
              <a:defRPr kumimoji="1" sz="2400">
                <a:solidFill>
                  <a:schemeClr val="tx1"/>
                </a:solidFill>
                <a:latin typeface="Times New Roman" pitchFamily="18" charset="0"/>
                <a:ea typeface="宋体" pitchFamily="2" charset="-122"/>
              </a:defRPr>
            </a:lvl8pPr>
            <a:lvl9pPr marL="4818063" indent="-4572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30000"/>
              </a:lnSpc>
            </a:pPr>
            <a:r>
              <a:rPr lang="zh-CN" altLang="en-US" b="1">
                <a:solidFill>
                  <a:srgbClr val="FF0000"/>
                </a:solidFill>
              </a:rPr>
              <a:t>定义</a:t>
            </a:r>
            <a:r>
              <a:rPr lang="en-US" altLang="zh-CN" b="1">
                <a:solidFill>
                  <a:srgbClr val="FF0000"/>
                </a:solidFill>
              </a:rPr>
              <a:t>5-9.5</a:t>
            </a:r>
            <a:r>
              <a:rPr lang="zh-CN" altLang="en-US" b="1">
                <a:solidFill>
                  <a:srgbClr val="FF0000"/>
                </a:solidFill>
              </a:rPr>
              <a:t>：</a:t>
            </a:r>
            <a:r>
              <a:rPr lang="zh-CN" altLang="en-US" b="1"/>
              <a:t>设</a:t>
            </a:r>
            <a:r>
              <a:rPr lang="en-US" altLang="zh-CN" b="1"/>
              <a:t>&lt;A, +, ·&gt;</a:t>
            </a:r>
            <a:r>
              <a:rPr lang="zh-CN" altLang="en-US" b="1"/>
              <a:t>和</a:t>
            </a:r>
            <a:r>
              <a:rPr lang="en-US" altLang="zh-CN" b="1"/>
              <a:t>&lt;B,⊕,⊙&gt;</a:t>
            </a:r>
            <a:r>
              <a:rPr lang="zh-CN" altLang="en-US" b="1"/>
              <a:t>是两个代数系统，如果一个从</a:t>
            </a:r>
            <a:r>
              <a:rPr lang="en-US" altLang="zh-CN" b="1"/>
              <a:t>A</a:t>
            </a:r>
            <a:r>
              <a:rPr lang="zh-CN" altLang="en-US" b="1"/>
              <a:t>到</a:t>
            </a:r>
            <a:r>
              <a:rPr lang="en-US" altLang="zh-CN" b="1"/>
              <a:t>B</a:t>
            </a:r>
            <a:r>
              <a:rPr lang="zh-CN" altLang="en-US" b="1"/>
              <a:t>的映射</a:t>
            </a:r>
            <a:r>
              <a:rPr lang="en-US" altLang="zh-CN" b="1"/>
              <a:t>f</a:t>
            </a:r>
            <a:r>
              <a:rPr lang="zh-CN" altLang="en-US" b="1"/>
              <a:t>，满足条件：</a:t>
            </a:r>
            <a:r>
              <a:rPr lang="zh-CN" altLang="en-US" b="1">
                <a:latin typeface="Arial" charset="0"/>
                <a:sym typeface="Symbol" pitchFamily="18" charset="2"/>
              </a:rPr>
              <a:t></a:t>
            </a:r>
            <a:r>
              <a:rPr lang="en-US" altLang="zh-CN" b="1"/>
              <a:t>a, b∈A</a:t>
            </a:r>
            <a:r>
              <a:rPr lang="zh-CN" altLang="en-US" b="1"/>
              <a:t>有：</a:t>
            </a:r>
          </a:p>
          <a:p>
            <a:pPr>
              <a:lnSpc>
                <a:spcPct val="130000"/>
              </a:lnSpc>
            </a:pPr>
            <a:r>
              <a:rPr lang="en-US" altLang="zh-CN" b="1"/>
              <a:t>1</a:t>
            </a:r>
            <a:r>
              <a:rPr lang="zh-CN" altLang="en-US" b="1"/>
              <a:t>、</a:t>
            </a:r>
            <a:r>
              <a:rPr lang="en-US" altLang="zh-CN" b="1"/>
              <a:t>f (a+b)=f (a)</a:t>
            </a:r>
            <a:r>
              <a:rPr lang="en-US" altLang="zh-CN" b="1">
                <a:latin typeface="Arial" charset="0"/>
              </a:rPr>
              <a:t>⊕</a:t>
            </a:r>
            <a:r>
              <a:rPr lang="en-US" altLang="zh-CN" b="1"/>
              <a:t>f (b)</a:t>
            </a:r>
            <a:r>
              <a:rPr lang="zh-CN" altLang="en-US" b="1"/>
              <a:t>；</a:t>
            </a:r>
          </a:p>
          <a:p>
            <a:pPr>
              <a:lnSpc>
                <a:spcPct val="130000"/>
              </a:lnSpc>
            </a:pPr>
            <a:r>
              <a:rPr lang="en-US" altLang="zh-CN" b="1"/>
              <a:t>2</a:t>
            </a:r>
            <a:r>
              <a:rPr lang="zh-CN" altLang="en-US" b="1"/>
              <a:t>、</a:t>
            </a:r>
            <a:r>
              <a:rPr lang="en-US" altLang="zh-CN" b="1"/>
              <a:t>f (a·b)=f (a)</a:t>
            </a:r>
            <a:r>
              <a:rPr lang="en-US" altLang="zh-CN" b="1">
                <a:latin typeface="Arial" charset="0"/>
              </a:rPr>
              <a:t>⊙</a:t>
            </a:r>
            <a:r>
              <a:rPr lang="en-US" altLang="zh-CN" b="1"/>
              <a:t>f (b)</a:t>
            </a:r>
            <a:r>
              <a:rPr lang="zh-CN" altLang="en-US" b="1"/>
              <a:t>；</a:t>
            </a:r>
          </a:p>
          <a:p>
            <a:pPr>
              <a:lnSpc>
                <a:spcPct val="130000"/>
              </a:lnSpc>
            </a:pPr>
            <a:r>
              <a:rPr lang="zh-CN" altLang="en-US" b="1"/>
              <a:t>则称</a:t>
            </a:r>
            <a:r>
              <a:rPr lang="en-US" altLang="zh-CN" b="1"/>
              <a:t>f</a:t>
            </a:r>
            <a:r>
              <a:rPr lang="zh-CN" altLang="en-US" b="1"/>
              <a:t>为</a:t>
            </a:r>
            <a:r>
              <a:rPr lang="en-US" altLang="zh-CN" b="1"/>
              <a:t>&lt;A, +, ·&gt;</a:t>
            </a:r>
            <a:r>
              <a:rPr lang="zh-CN" altLang="en-US" b="1"/>
              <a:t>到</a:t>
            </a:r>
            <a:r>
              <a:rPr lang="en-US" altLang="zh-CN" b="1"/>
              <a:t>&lt;B,⊕,⊙&gt;</a:t>
            </a:r>
            <a:r>
              <a:rPr lang="zh-CN" altLang="en-US" b="1"/>
              <a:t>的一个</a:t>
            </a:r>
            <a:r>
              <a:rPr lang="zh-CN" altLang="en-US" b="1" i="1">
                <a:solidFill>
                  <a:srgbClr val="FF0000"/>
                </a:solidFill>
              </a:rPr>
              <a:t>同态映射</a:t>
            </a:r>
            <a:r>
              <a:rPr lang="zh-CN" altLang="en-US" b="1"/>
              <a:t>，并称</a:t>
            </a:r>
            <a:r>
              <a:rPr lang="en-US" altLang="zh-CN" b="1"/>
              <a:t>&lt;f(A),⊕,⊙&gt;</a:t>
            </a:r>
            <a:r>
              <a:rPr lang="zh-CN" altLang="en-US" b="1"/>
              <a:t>是</a:t>
            </a:r>
            <a:r>
              <a:rPr lang="en-US" altLang="zh-CN" b="1"/>
              <a:t>&lt;A, +, ·&gt;</a:t>
            </a:r>
            <a:r>
              <a:rPr lang="zh-CN" altLang="en-US" b="1"/>
              <a:t>的</a:t>
            </a:r>
            <a:r>
              <a:rPr lang="zh-CN" altLang="en-US" b="1" i="1">
                <a:solidFill>
                  <a:srgbClr val="FF0000"/>
                </a:solidFill>
              </a:rPr>
              <a:t>同态象</a:t>
            </a:r>
            <a:r>
              <a:rPr lang="zh-CN" altLang="en-US" b="1"/>
              <a:t>。</a:t>
            </a:r>
          </a:p>
        </p:txBody>
      </p:sp>
      <p:sp>
        <p:nvSpPr>
          <p:cNvPr id="500768" name="Rectangle 32"/>
          <p:cNvSpPr>
            <a:spLocks noChangeArrowheads="1"/>
          </p:cNvSpPr>
          <p:nvPr/>
        </p:nvSpPr>
        <p:spPr bwMode="auto">
          <a:xfrm>
            <a:off x="939800" y="279400"/>
            <a:ext cx="40481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3200" b="1">
                <a:solidFill>
                  <a:schemeClr val="folHlink"/>
                </a:solidFill>
                <a:ea typeface="楷体_GB2312" pitchFamily="49" charset="-122"/>
              </a:rPr>
              <a:t>三、环的同态</a:t>
            </a:r>
          </a:p>
        </p:txBody>
      </p:sp>
    </p:spTree>
  </p:cSld>
  <p:clrMapOvr>
    <a:masterClrMapping/>
  </p:clrMapOvr>
  <p:transition spd="slow">
    <p:pull dir="ru"/>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 name="灯片编号占位符 4"/>
          <p:cNvSpPr>
            <a:spLocks noGrp="1"/>
          </p:cNvSpPr>
          <p:nvPr>
            <p:ph type="sldNum" sz="quarter" idx="11"/>
          </p:nvPr>
        </p:nvSpPr>
        <p:spPr/>
        <p:txBody>
          <a:bodyPr/>
          <a:lstStyle/>
          <a:p>
            <a:fld id="{B21B56E9-B035-4227-98D4-3A34EE34DADD}" type="slidenum">
              <a:rPr lang="en-US" altLang="zh-CN"/>
              <a:pPr/>
              <a:t>90</a:t>
            </a:fld>
            <a:endParaRPr lang="en-US" altLang="zh-CN"/>
          </a:p>
        </p:txBody>
      </p:sp>
      <p:sp>
        <p:nvSpPr>
          <p:cNvPr id="537603" name="Rectangle 3"/>
          <p:cNvSpPr>
            <a:spLocks noGrp="1" noChangeArrowheads="1"/>
          </p:cNvSpPr>
          <p:nvPr>
            <p:ph type="body" idx="1"/>
          </p:nvPr>
        </p:nvSpPr>
        <p:spPr>
          <a:xfrm>
            <a:off x="466725" y="1125538"/>
            <a:ext cx="8277225" cy="1990725"/>
          </a:xfrm>
          <a:noFill/>
        </p:spPr>
        <p:txBody>
          <a:bodyPr/>
          <a:lstStyle/>
          <a:p>
            <a:pPr>
              <a:lnSpc>
                <a:spcPct val="130000"/>
              </a:lnSpc>
              <a:spcBef>
                <a:spcPct val="0"/>
              </a:spcBef>
              <a:buClrTx/>
              <a:buSzTx/>
              <a:buFontTx/>
              <a:buNone/>
            </a:pPr>
            <a:r>
              <a:rPr kumimoji="1" lang="zh-CN" altLang="en-US" sz="2400">
                <a:solidFill>
                  <a:schemeClr val="hlink"/>
                </a:solidFill>
              </a:rPr>
              <a:t>例</a:t>
            </a:r>
            <a:r>
              <a:rPr kumimoji="1" lang="en-US" altLang="zh-CN" sz="2400">
                <a:solidFill>
                  <a:schemeClr val="hlink"/>
                </a:solidFill>
              </a:rPr>
              <a:t>4</a:t>
            </a:r>
            <a:r>
              <a:rPr kumimoji="1" lang="zh-CN" altLang="en-US" sz="2400">
                <a:solidFill>
                  <a:schemeClr val="hlink"/>
                </a:solidFill>
              </a:rPr>
              <a:t>：</a:t>
            </a:r>
            <a:r>
              <a:rPr kumimoji="1" lang="zh-CN" altLang="en-US" sz="2400"/>
              <a:t>设两个代数系统</a:t>
            </a:r>
            <a:r>
              <a:rPr kumimoji="1" lang="en-US" altLang="zh-CN" sz="2400"/>
              <a:t>&lt;N,+, ·&gt;</a:t>
            </a:r>
            <a:r>
              <a:rPr kumimoji="1" lang="zh-CN" altLang="en-US" sz="2400"/>
              <a:t>，</a:t>
            </a:r>
            <a:r>
              <a:rPr kumimoji="1" lang="en-US" altLang="zh-CN" sz="2400"/>
              <a:t>&lt;{</a:t>
            </a:r>
            <a:r>
              <a:rPr kumimoji="1" lang="zh-CN" altLang="en-US" sz="2400"/>
              <a:t>偶，奇</a:t>
            </a:r>
            <a:r>
              <a:rPr kumimoji="1" lang="en-US" altLang="zh-CN" sz="2400"/>
              <a:t>},⊕,⊙ &gt;</a:t>
            </a:r>
            <a:r>
              <a:rPr kumimoji="1" lang="zh-CN" altLang="en-US" sz="2400"/>
              <a:t>，⊕，⊙运算表如下，     偶   </a:t>
            </a:r>
            <a:r>
              <a:rPr kumimoji="1" lang="en-US" altLang="zh-CN" sz="2400"/>
              <a:t>n=2k</a:t>
            </a:r>
          </a:p>
          <a:p>
            <a:pPr>
              <a:lnSpc>
                <a:spcPct val="130000"/>
              </a:lnSpc>
              <a:spcBef>
                <a:spcPct val="0"/>
              </a:spcBef>
              <a:buClrTx/>
              <a:buSzTx/>
              <a:buFontTx/>
              <a:buNone/>
            </a:pPr>
            <a:r>
              <a:rPr kumimoji="1" lang="zh-CN" altLang="en-US" sz="2400"/>
              <a:t>映射函数</a:t>
            </a:r>
            <a:r>
              <a:rPr kumimoji="1" lang="en-US" altLang="zh-CN" sz="2400"/>
              <a:t>f (n)=   </a:t>
            </a:r>
            <a:r>
              <a:rPr kumimoji="1" lang="zh-CN" altLang="en-US" sz="2400"/>
              <a:t>奇   </a:t>
            </a:r>
            <a:r>
              <a:rPr kumimoji="1" lang="en-US" altLang="zh-CN" sz="2400"/>
              <a:t>n=2k+1</a:t>
            </a:r>
            <a:r>
              <a:rPr kumimoji="1" lang="zh-CN" altLang="en-US" sz="2400"/>
              <a:t>；证明</a:t>
            </a:r>
            <a:r>
              <a:rPr kumimoji="1" lang="en-US" altLang="zh-CN" sz="2400"/>
              <a:t>f</a:t>
            </a:r>
            <a:r>
              <a:rPr kumimoji="1" lang="zh-CN" altLang="en-US" sz="2400"/>
              <a:t>是</a:t>
            </a:r>
            <a:r>
              <a:rPr kumimoji="1" lang="en-US" altLang="zh-CN" sz="2400"/>
              <a:t>&lt;N, +, ·&gt;</a:t>
            </a:r>
            <a:r>
              <a:rPr kumimoji="1" lang="zh-CN" altLang="en-US" sz="2400"/>
              <a:t>到</a:t>
            </a:r>
            <a:r>
              <a:rPr kumimoji="1" lang="en-US" altLang="zh-CN" sz="2400"/>
              <a:t>&lt;{</a:t>
            </a:r>
            <a:r>
              <a:rPr kumimoji="1" lang="zh-CN" altLang="en-US" sz="2400"/>
              <a:t>偶</a:t>
            </a:r>
            <a:r>
              <a:rPr kumimoji="1" lang="en-US" altLang="zh-CN" sz="2400"/>
              <a:t>,</a:t>
            </a:r>
            <a:r>
              <a:rPr kumimoji="1" lang="zh-CN" altLang="en-US" sz="2400"/>
              <a:t>奇</a:t>
            </a:r>
            <a:r>
              <a:rPr kumimoji="1" lang="en-US" altLang="zh-CN" sz="2400"/>
              <a:t>},⊕,⊙&gt;</a:t>
            </a:r>
            <a:r>
              <a:rPr kumimoji="1" lang="zh-CN" altLang="en-US" sz="2400"/>
              <a:t>的同态映射。</a:t>
            </a:r>
            <a:endParaRPr lang="zh-CN" altLang="en-US" sz="2400"/>
          </a:p>
        </p:txBody>
      </p:sp>
      <p:sp>
        <p:nvSpPr>
          <p:cNvPr id="537605" name="AutoShape 5"/>
          <p:cNvSpPr>
            <a:spLocks/>
          </p:cNvSpPr>
          <p:nvPr/>
        </p:nvSpPr>
        <p:spPr bwMode="auto">
          <a:xfrm>
            <a:off x="2555875" y="1814513"/>
            <a:ext cx="76200" cy="762000"/>
          </a:xfrm>
          <a:prstGeom prst="leftBrace">
            <a:avLst>
              <a:gd name="adj1" fmla="val 83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37606" name="Group 6"/>
          <p:cNvGraphicFramePr>
            <a:graphicFrameLocks noGrp="1"/>
          </p:cNvGraphicFramePr>
          <p:nvPr/>
        </p:nvGraphicFramePr>
        <p:xfrm>
          <a:off x="1979613" y="3333750"/>
          <a:ext cx="1958975" cy="1353312"/>
        </p:xfrm>
        <a:graphic>
          <a:graphicData uri="http://schemas.openxmlformats.org/drawingml/2006/table">
            <a:tbl>
              <a:tblPr/>
              <a:tblGrid>
                <a:gridCol w="590550"/>
                <a:gridCol w="1368425"/>
              </a:tblGrid>
              <a:tr h="457200">
                <a:tc>
                  <a:txBody>
                    <a:bodyPr/>
                    <a:lstStyle/>
                    <a:p>
                      <a:pPr marL="342900" marR="0" lvl="0" indent="-34290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宋体" pitchFamily="2" charset="-122"/>
                        </a:rPr>
                        <a:t>偶     奇</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60413">
                <a:tc>
                  <a:txBody>
                    <a:bodyPr/>
                    <a:lstStyle/>
                    <a:p>
                      <a:pPr marL="342900" marR="0" lvl="0" indent="-34290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宋体" pitchFamily="2" charset="-122"/>
                        </a:rPr>
                        <a:t>偶</a:t>
                      </a:r>
                    </a:p>
                    <a:p>
                      <a:pPr marL="342900" marR="0" lvl="0" indent="-34290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宋体" pitchFamily="2" charset="-122"/>
                        </a:rPr>
                        <a:t>奇</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宋体" pitchFamily="2" charset="-122"/>
                        </a:rPr>
                        <a:t>偶     奇</a:t>
                      </a:r>
                    </a:p>
                    <a:p>
                      <a:pPr marL="342900" marR="0" lvl="0" indent="-34290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宋体" pitchFamily="2" charset="-122"/>
                        </a:rPr>
                        <a:t>奇     偶</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537617" name="Group 17"/>
          <p:cNvGraphicFramePr>
            <a:graphicFrameLocks noGrp="1"/>
          </p:cNvGraphicFramePr>
          <p:nvPr/>
        </p:nvGraphicFramePr>
        <p:xfrm>
          <a:off x="4572000" y="3327400"/>
          <a:ext cx="2017713" cy="1359662"/>
        </p:xfrm>
        <a:graphic>
          <a:graphicData uri="http://schemas.openxmlformats.org/drawingml/2006/table">
            <a:tbl>
              <a:tblPr/>
              <a:tblGrid>
                <a:gridCol w="576263"/>
                <a:gridCol w="1441450"/>
              </a:tblGrid>
              <a:tr h="463550">
                <a:tc>
                  <a:txBody>
                    <a:bodyPr/>
                    <a:lstStyle/>
                    <a:p>
                      <a:pPr marL="342900" marR="0" lvl="0" indent="-34290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宋体" pitchFamily="2" charset="-122"/>
                        </a:rPr>
                        <a:t>偶     奇</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60413">
                <a:tc>
                  <a:txBody>
                    <a:bodyPr/>
                    <a:lstStyle/>
                    <a:p>
                      <a:pPr marL="342900" marR="0" lvl="0" indent="-34290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宋体" pitchFamily="2" charset="-122"/>
                        </a:rPr>
                        <a:t>偶</a:t>
                      </a:r>
                    </a:p>
                    <a:p>
                      <a:pPr marL="342900" marR="0" lvl="0" indent="-34290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宋体" pitchFamily="2" charset="-122"/>
                        </a:rPr>
                        <a:t>奇</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宋体" pitchFamily="2" charset="-122"/>
                        </a:rPr>
                        <a:t>偶     偶 </a:t>
                      </a:r>
                    </a:p>
                    <a:p>
                      <a:pPr marL="342900" marR="0" lvl="0" indent="-34290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宋体" pitchFamily="2" charset="-122"/>
                        </a:rPr>
                        <a:t>偶     奇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 name="Text Box 2"/>
          <p:cNvSpPr txBox="1">
            <a:spLocks noChangeArrowheads="1"/>
          </p:cNvSpPr>
          <p:nvPr/>
        </p:nvSpPr>
        <p:spPr bwMode="auto">
          <a:xfrm>
            <a:off x="466725" y="4941168"/>
            <a:ext cx="8277225"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kumimoji="1" sz="2400">
                <a:solidFill>
                  <a:schemeClr val="tx1"/>
                </a:solidFill>
                <a:latin typeface="Times New Roman" pitchFamily="18" charset="0"/>
                <a:ea typeface="宋体" pitchFamily="2" charset="-122"/>
              </a:defRPr>
            </a:lvl1pPr>
            <a:lvl2pPr marL="539750" algn="l">
              <a:defRPr kumimoji="1" sz="2400">
                <a:solidFill>
                  <a:schemeClr val="tx1"/>
                </a:solidFill>
                <a:latin typeface="Times New Roman" pitchFamily="18" charset="0"/>
                <a:ea typeface="宋体" pitchFamily="2" charset="-122"/>
              </a:defRPr>
            </a:lvl2pPr>
            <a:lvl3pPr algn="l">
              <a:defRPr kumimoji="1" sz="2400">
                <a:solidFill>
                  <a:schemeClr val="tx1"/>
                </a:solidFill>
                <a:latin typeface="Times New Roman" pitchFamily="18" charset="0"/>
                <a:ea typeface="宋体" pitchFamily="2" charset="-122"/>
              </a:defRPr>
            </a:lvl3pPr>
            <a:lvl4pPr algn="l">
              <a:defRPr kumimoji="1" sz="2400">
                <a:solidFill>
                  <a:schemeClr val="tx1"/>
                </a:solidFill>
                <a:latin typeface="Times New Roman" pitchFamily="18" charset="0"/>
                <a:ea typeface="宋体" pitchFamily="2" charset="-122"/>
              </a:defRPr>
            </a:lvl4pPr>
            <a:lvl5pPr algn="l">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30000"/>
              </a:lnSpc>
            </a:pPr>
            <a:r>
              <a:rPr lang="zh-CN" altLang="en-US" b="1" dirty="0">
                <a:solidFill>
                  <a:srgbClr val="FF0000"/>
                </a:solidFill>
              </a:rPr>
              <a:t>定理</a:t>
            </a:r>
            <a:r>
              <a:rPr lang="en-US" altLang="zh-CN" b="1" dirty="0">
                <a:solidFill>
                  <a:srgbClr val="FF0000"/>
                </a:solidFill>
              </a:rPr>
              <a:t>5-9.5</a:t>
            </a:r>
            <a:r>
              <a:rPr lang="zh-CN" altLang="en-US" b="1" dirty="0">
                <a:solidFill>
                  <a:srgbClr val="FF0000"/>
                </a:solidFill>
              </a:rPr>
              <a:t>：</a:t>
            </a:r>
            <a:r>
              <a:rPr lang="zh-CN" altLang="en-US" b="1" dirty="0"/>
              <a:t>任一环的同态象是一个环。</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37606"/>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nodeType="afterEffect">
                                  <p:stCondLst>
                                    <p:cond delay="0"/>
                                  </p:stCondLst>
                                  <p:childTnLst>
                                    <p:set>
                                      <p:cBhvr>
                                        <p:cTn id="9" dur="1" fill="hold">
                                          <p:stCondLst>
                                            <p:cond delay="499"/>
                                          </p:stCondLst>
                                        </p:cTn>
                                        <p:tgtEl>
                                          <p:spTgt spid="537617"/>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ppt_x"/>
                                          </p:val>
                                        </p:tav>
                                        <p:tav tm="100000">
                                          <p:val>
                                            <p:strVal val="#ppt_x"/>
                                          </p:val>
                                        </p:tav>
                                      </p:tavLst>
                                    </p:anim>
                                    <p:anim calcmode="lin" valueType="num">
                                      <p:cBhvr additive="base">
                                        <p:cTn id="1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72AE84DD-F526-4029-A5F3-CFBAF65C7483}" type="slidenum">
              <a:rPr lang="en-US" altLang="zh-CN"/>
              <a:pPr/>
              <a:t>91</a:t>
            </a:fld>
            <a:endParaRPr lang="en-US" altLang="zh-CN"/>
          </a:p>
        </p:txBody>
      </p:sp>
      <p:sp>
        <p:nvSpPr>
          <p:cNvPr id="574466" name="Rectangle 2"/>
          <p:cNvSpPr>
            <a:spLocks noGrp="1" noChangeArrowheads="1"/>
          </p:cNvSpPr>
          <p:nvPr>
            <p:ph type="body" idx="1"/>
          </p:nvPr>
        </p:nvSpPr>
        <p:spPr>
          <a:xfrm>
            <a:off x="611560" y="2492375"/>
            <a:ext cx="7410400" cy="646331"/>
          </a:xfrm>
        </p:spPr>
        <p:txBody>
          <a:bodyPr/>
          <a:lstStyle/>
          <a:p>
            <a:pPr algn="ctr"/>
            <a:r>
              <a:rPr lang="zh-CN" altLang="en-US" sz="3600" dirty="0" smtClean="0"/>
              <a:t>作业：</a:t>
            </a:r>
            <a:r>
              <a:rPr lang="en-US" altLang="zh-CN" sz="3600" dirty="0" smtClean="0"/>
              <a:t>P211(2)</a:t>
            </a:r>
            <a:r>
              <a:rPr lang="zh-CN" altLang="en-US" sz="3600" dirty="0" smtClean="0"/>
              <a:t>，</a:t>
            </a:r>
            <a:r>
              <a:rPr lang="en-US" altLang="zh-CN" sz="3600" dirty="0"/>
              <a:t> P222(12)</a:t>
            </a:r>
          </a:p>
        </p:txBody>
      </p:sp>
    </p:spTree>
    <p:extLst>
      <p:ext uri="{BB962C8B-B14F-4D97-AF65-F5344CB8AC3E}">
        <p14:creationId xmlns:p14="http://schemas.microsoft.com/office/powerpoint/2010/main" val="202209685"/>
      </p:ext>
    </p:extLst>
  </p:cSld>
  <p:clrMapOvr>
    <a:masterClrMapping/>
  </p:clrMapOvr>
  <p:transition spd="slow">
    <p:pull dir="ru"/>
  </p:transition>
  <p:timing>
    <p:tnLst>
      <p:par>
        <p:cTn id="1" dur="indefinite" restart="never" nodeType="tmRoot"/>
      </p:par>
    </p:tnLst>
  </p:timing>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楷体_GB2312"/>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5639</TotalTime>
  <Words>8868</Words>
  <Application>Microsoft Office PowerPoint</Application>
  <PresentationFormat>全屏显示(4:3)</PresentationFormat>
  <Paragraphs>850</Paragraphs>
  <Slides>91</Slides>
  <Notes>0</Notes>
  <HiddenSlides>3</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91</vt:i4>
      </vt:variant>
    </vt:vector>
  </HeadingPairs>
  <TitlesOfParts>
    <vt:vector size="94" baseType="lpstr">
      <vt:lpstr>Blends</vt:lpstr>
      <vt:lpstr>Equation</vt:lpstr>
      <vt:lpstr>公式</vt:lpstr>
      <vt:lpstr>第三篇   代数系统</vt:lpstr>
      <vt:lpstr>本篇主要介绍</vt:lpstr>
      <vt:lpstr>第五章   代数结构</vt:lpstr>
      <vt:lpstr>5.1 代数系统的引入</vt:lpstr>
      <vt:lpstr>PowerPoint 演示文稿</vt:lpstr>
      <vt:lpstr>PowerPoint 演示文稿</vt:lpstr>
      <vt:lpstr>2、代数系统</vt:lpstr>
      <vt:lpstr>5.2  运算及其性质</vt:lpstr>
      <vt:lpstr>PowerPoint 演示文稿</vt:lpstr>
      <vt:lpstr>PowerPoint 演示文稿</vt:lpstr>
      <vt:lpstr>PowerPoint 演示文稿</vt:lpstr>
      <vt:lpstr>PowerPoint 演示文稿</vt:lpstr>
      <vt:lpstr>PowerPoint 演示文稿</vt:lpstr>
      <vt:lpstr>PowerPoint 演示文稿</vt:lpstr>
      <vt:lpstr>二、幺元、零元、逆元</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三、运算表与二元运算的性质</vt:lpstr>
      <vt:lpstr>5.3  半群</vt:lpstr>
      <vt:lpstr>PowerPoint 演示文稿</vt:lpstr>
      <vt:lpstr>PowerPoint 演示文稿</vt:lpstr>
      <vt:lpstr>PowerPoint 演示文稿</vt:lpstr>
      <vt:lpstr>PowerPoint 演示文稿</vt:lpstr>
      <vt:lpstr>复习</vt:lpstr>
      <vt:lpstr>PowerPoint 演示文稿</vt:lpstr>
      <vt:lpstr>PowerPoint 演示文稿</vt:lpstr>
      <vt:lpstr>PowerPoint 演示文稿</vt:lpstr>
      <vt:lpstr>PowerPoint 演示文稿</vt:lpstr>
      <vt:lpstr>5.4  群与子群</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复习</vt:lpstr>
      <vt:lpstr>5.5  阿贝尔群和循环群</vt:lpstr>
      <vt:lpstr>PowerPoint 演示文稿</vt:lpstr>
      <vt:lpstr>PowerPoint 演示文稿</vt:lpstr>
      <vt:lpstr>PowerPoint 演示文稿</vt:lpstr>
      <vt:lpstr>PowerPoint 演示文稿</vt:lpstr>
      <vt:lpstr>PowerPoint 演示文稿</vt:lpstr>
      <vt:lpstr>PowerPoint 演示文稿</vt:lpstr>
      <vt:lpstr>5.7  陪集与拉格朗日定理</vt:lpstr>
      <vt:lpstr>PowerPoint 演示文稿</vt:lpstr>
      <vt:lpstr>PowerPoint 演示文稿</vt:lpstr>
      <vt:lpstr>PowerPoint 演示文稿</vt:lpstr>
      <vt:lpstr>PowerPoint 演示文稿</vt:lpstr>
      <vt:lpstr>5.8  同态与同构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5.9  环与域</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丁伦</dc:creator>
  <cp:lastModifiedBy>Sky123.Org</cp:lastModifiedBy>
  <cp:revision>2408</cp:revision>
  <dcterms:created xsi:type="dcterms:W3CDTF">2002-08-05T07:56:52Z</dcterms:created>
  <dcterms:modified xsi:type="dcterms:W3CDTF">2019-11-13T09:53:56Z</dcterms:modified>
</cp:coreProperties>
</file>