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8"/>
  </p:notesMasterIdLst>
  <p:sldIdLst>
    <p:sldId id="256" r:id="rId2"/>
    <p:sldId id="282" r:id="rId3"/>
    <p:sldId id="257" r:id="rId4"/>
    <p:sldId id="283" r:id="rId5"/>
    <p:sldId id="258" r:id="rId6"/>
    <p:sldId id="259" r:id="rId7"/>
    <p:sldId id="261" r:id="rId8"/>
    <p:sldId id="285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86" r:id="rId17"/>
    <p:sldId id="269" r:id="rId18"/>
    <p:sldId id="270" r:id="rId19"/>
    <p:sldId id="287" r:id="rId20"/>
    <p:sldId id="271" r:id="rId21"/>
    <p:sldId id="288" r:id="rId22"/>
    <p:sldId id="272" r:id="rId23"/>
    <p:sldId id="273" r:id="rId24"/>
    <p:sldId id="289" r:id="rId25"/>
    <p:sldId id="301" r:id="rId26"/>
    <p:sldId id="302" r:id="rId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833"/>
    <a:srgbClr val="3333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7" autoAdjust="0"/>
    <p:restoredTop sz="94719" autoAdjust="0"/>
  </p:normalViewPr>
  <p:slideViewPr>
    <p:cSldViewPr>
      <p:cViewPr>
        <p:scale>
          <a:sx n="60" d="100"/>
          <a:sy n="60" d="100"/>
        </p:scale>
        <p:origin x="-1572" y="-1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5.xml"/><Relationship Id="rId2" Type="http://schemas.openxmlformats.org/officeDocument/2006/relationships/slide" Target="slides/slide3.xml"/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zh-CN" alt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en-US" altLang="zh-CN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24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624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 altLang="zh-CN"/>
          </a:p>
        </p:txBody>
      </p:sp>
      <p:sp>
        <p:nvSpPr>
          <p:cNvPr id="624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6F3B8734-1C1F-494D-88ED-E913A222A03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4262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42" name="Group 2"/>
          <p:cNvGrpSpPr>
            <a:grpSpLocks/>
          </p:cNvGrpSpPr>
          <p:nvPr/>
        </p:nvGrpSpPr>
        <p:grpSpPr bwMode="auto">
          <a:xfrm>
            <a:off x="0" y="1728788"/>
            <a:ext cx="9009063" cy="1052512"/>
            <a:chOff x="0" y="1536"/>
            <a:chExt cx="5675" cy="663"/>
          </a:xfrm>
        </p:grpSpPr>
        <p:grpSp>
          <p:nvGrpSpPr>
            <p:cNvPr id="61443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61444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445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144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61447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448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1449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0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1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14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062038" y="1196975"/>
            <a:ext cx="7397750" cy="1223963"/>
          </a:xfrm>
        </p:spPr>
        <p:txBody>
          <a:bodyPr/>
          <a:lstStyle>
            <a:lvl1pPr>
              <a:defRPr>
                <a:ea typeface="华文行楷" pitchFamily="2" charset="-122"/>
              </a:defRPr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614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924175"/>
            <a:ext cx="6400800" cy="17526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61454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C45FAF5-A304-4F64-9247-2A28ABAD3B2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6796836"/>
      </p:ext>
    </p:extLst>
  </p:cSld>
  <p:clrMapOvr>
    <a:masterClrMapping/>
  </p:clrMapOvr>
  <p:transition spd="slow">
    <p:pull dir="r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7F9717C-5008-400B-B933-7B06D4E553A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3177645"/>
      </p:ext>
    </p:extLst>
  </p:cSld>
  <p:clrMapOvr>
    <a:masterClrMapping/>
  </p:clrMapOvr>
  <p:transition spd="slow">
    <p:pull dir="r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7088" y="1628775"/>
            <a:ext cx="3810000" cy="2570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9488" y="1628775"/>
            <a:ext cx="3810000" cy="2570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1007397-F567-4953-93B1-F04A14A65BF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8875315"/>
      </p:ext>
    </p:extLst>
  </p:cSld>
  <p:clrMapOvr>
    <a:masterClrMapping/>
  </p:clrMapOvr>
  <p:transition spd="slow">
    <p:pull dir="r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A78684-66AD-4232-8EE9-3006A3D4F13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642865"/>
      </p:ext>
    </p:extLst>
  </p:cSld>
  <p:clrMapOvr>
    <a:masterClrMapping/>
  </p:clrMapOvr>
  <p:transition spd="slow">
    <p:pull dir="r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A19B257-AE1E-44A5-A6BE-70853CDF724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2887382"/>
      </p:ext>
    </p:extLst>
  </p:cSld>
  <p:clrMapOvr>
    <a:masterClrMapping/>
  </p:clrMapOvr>
  <p:transition spd="slow">
    <p:pull dir="r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57FAF4-B198-47DE-81CE-E386B57DCEA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9749149"/>
      </p:ext>
    </p:extLst>
  </p:cSld>
  <p:clrMapOvr>
    <a:masterClrMapping/>
  </p:clrMapOvr>
  <p:transition spd="slow">
    <p:pull dir="r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DE88E74-9EDF-45A7-A9BE-70F53FB2579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9974837"/>
      </p:ext>
    </p:extLst>
  </p:cSld>
  <p:clrMapOvr>
    <a:masterClrMapping/>
  </p:clrMapOvr>
  <p:transition spd="slow">
    <p:pull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C0219FB-5152-4FFC-AD2E-C94597C5643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6137079"/>
      </p:ext>
    </p:extLst>
  </p:cSld>
  <p:clrMapOvr>
    <a:masterClrMapping/>
  </p:clrMapOvr>
  <p:transition spd="slow">
    <p:pull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BB16B98-59BA-4999-B468-7B5643773AF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29307"/>
      </p:ext>
    </p:extLst>
  </p:cSld>
  <p:clrMapOvr>
    <a:masterClrMapping/>
  </p:clrMapOvr>
  <p:transition spd="slow">
    <p:pull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56388" y="423863"/>
            <a:ext cx="1943100" cy="37750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27088" y="423863"/>
            <a:ext cx="5676900" cy="37750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2D3FBD7-7966-45B1-9D45-12979C0F474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3410494"/>
      </p:ext>
    </p:extLst>
  </p:cSld>
  <p:clrMapOvr>
    <a:masterClrMapping/>
  </p:clrMapOvr>
  <p:transition spd="slow">
    <p:pull dir="r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27088" y="423863"/>
            <a:ext cx="7772400" cy="37750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>
          <a:xfrm>
            <a:off x="3657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7019925" y="606742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071611D6-ADD6-476C-B040-E33C59864CF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172289"/>
      </p:ext>
    </p:extLst>
  </p:cSld>
  <p:clrMapOvr>
    <a:masterClrMapping/>
  </p:clrMapOvr>
  <p:transition spd="slow">
    <p:pull dir="r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423863"/>
            <a:ext cx="7237412" cy="7016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27088" y="1628775"/>
            <a:ext cx="3810000" cy="25701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9488" y="1628775"/>
            <a:ext cx="3810000" cy="25701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>
          <a:xfrm>
            <a:off x="3657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7019925" y="606742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EE2A752-309F-4709-903B-0000FEA2992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1581091"/>
      </p:ext>
    </p:extLst>
  </p:cSld>
  <p:clrMapOvr>
    <a:masterClrMapping/>
  </p:clrMapOvr>
  <p:transition spd="slow">
    <p:pull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18" name="Group 2"/>
          <p:cNvGrpSpPr>
            <a:grpSpLocks/>
          </p:cNvGrpSpPr>
          <p:nvPr userDrawn="1"/>
        </p:nvGrpSpPr>
        <p:grpSpPr bwMode="auto">
          <a:xfrm>
            <a:off x="127000" y="431800"/>
            <a:ext cx="8542338" cy="1052513"/>
            <a:chOff x="80" y="624"/>
            <a:chExt cx="5381" cy="663"/>
          </a:xfrm>
        </p:grpSpPr>
        <p:sp>
          <p:nvSpPr>
            <p:cNvPr id="60419" name="Rectangle 3"/>
            <p:cNvSpPr>
              <a:spLocks noChangeArrowheads="1"/>
            </p:cNvSpPr>
            <p:nvPr/>
          </p:nvSpPr>
          <p:spPr bwMode="ltGray">
            <a:xfrm>
              <a:off x="504" y="692"/>
              <a:ext cx="207" cy="299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b="0">
                <a:latin typeface="Tahoma" pitchFamily="34" charset="0"/>
              </a:endParaRPr>
            </a:p>
          </p:txBody>
        </p:sp>
        <p:sp>
          <p:nvSpPr>
            <p:cNvPr id="60420" name="Rectangle 4"/>
            <p:cNvSpPr>
              <a:spLocks noChangeArrowheads="1"/>
            </p:cNvSpPr>
            <p:nvPr/>
          </p:nvSpPr>
          <p:spPr bwMode="ltGray">
            <a:xfrm>
              <a:off x="574" y="958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b="0">
                <a:latin typeface="Tahoma" pitchFamily="34" charset="0"/>
              </a:endParaRPr>
            </a:p>
          </p:txBody>
        </p:sp>
        <p:sp>
          <p:nvSpPr>
            <p:cNvPr id="60421" name="Rectangle 5"/>
            <p:cNvSpPr>
              <a:spLocks noChangeArrowheads="1"/>
            </p:cNvSpPr>
            <p:nvPr/>
          </p:nvSpPr>
          <p:spPr bwMode="gray">
            <a:xfrm>
              <a:off x="480" y="624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b="0">
                <a:latin typeface="Tahoma" pitchFamily="34" charset="0"/>
              </a:endParaRPr>
            </a:p>
          </p:txBody>
        </p:sp>
        <p:sp>
          <p:nvSpPr>
            <p:cNvPr id="60422" name="Rectangle 6"/>
            <p:cNvSpPr>
              <a:spLocks noChangeArrowheads="1"/>
            </p:cNvSpPr>
            <p:nvPr userDrawn="1"/>
          </p:nvSpPr>
          <p:spPr bwMode="ltGray">
            <a:xfrm>
              <a:off x="263" y="692"/>
              <a:ext cx="276" cy="2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b="0">
                <a:latin typeface="Tahoma" pitchFamily="34" charset="0"/>
              </a:endParaRPr>
            </a:p>
          </p:txBody>
        </p:sp>
        <p:sp>
          <p:nvSpPr>
            <p:cNvPr id="60423" name="Rectangle 7"/>
            <p:cNvSpPr>
              <a:spLocks noChangeArrowheads="1"/>
            </p:cNvSpPr>
            <p:nvPr userDrawn="1"/>
          </p:nvSpPr>
          <p:spPr bwMode="ltGray">
            <a:xfrm>
              <a:off x="341" y="958"/>
              <a:ext cx="26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b="0">
                <a:latin typeface="Tahoma" pitchFamily="34" charset="0"/>
              </a:endParaRPr>
            </a:p>
          </p:txBody>
        </p:sp>
        <p:sp>
          <p:nvSpPr>
            <p:cNvPr id="60424" name="Rectangle 8"/>
            <p:cNvSpPr>
              <a:spLocks noChangeArrowheads="1"/>
            </p:cNvSpPr>
            <p:nvPr userDrawn="1"/>
          </p:nvSpPr>
          <p:spPr bwMode="ltGray">
            <a:xfrm>
              <a:off x="80" y="912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b="0">
                <a:latin typeface="Tahoma" pitchFamily="34" charset="0"/>
              </a:endParaRPr>
            </a:p>
          </p:txBody>
        </p:sp>
        <p:sp>
          <p:nvSpPr>
            <p:cNvPr id="60425" name="Rectangle 9"/>
            <p:cNvSpPr>
              <a:spLocks noChangeArrowheads="1"/>
            </p:cNvSpPr>
            <p:nvPr userDrawn="1"/>
          </p:nvSpPr>
          <p:spPr bwMode="gray">
            <a:xfrm>
              <a:off x="279" y="1122"/>
              <a:ext cx="5182" cy="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b="0">
                <a:latin typeface="Tahoma" pitchFamily="34" charset="0"/>
              </a:endParaRPr>
            </a:p>
          </p:txBody>
        </p:sp>
      </p:grpSp>
      <p:sp>
        <p:nvSpPr>
          <p:cNvPr id="60426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423863"/>
            <a:ext cx="723741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60427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27088" y="1628775"/>
            <a:ext cx="7772400" cy="2570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6042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 b="0">
                <a:latin typeface="+mj-lt"/>
              </a:defRPr>
            </a:lvl1pPr>
          </a:lstStyle>
          <a:p>
            <a:endParaRPr lang="en-US" altLang="zh-CN"/>
          </a:p>
        </p:txBody>
      </p:sp>
      <p:sp>
        <p:nvSpPr>
          <p:cNvPr id="6042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9925" y="6067425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 b="0">
                <a:latin typeface="+mj-lt"/>
              </a:defRPr>
            </a:lvl1pPr>
          </a:lstStyle>
          <a:p>
            <a:fld id="{859D3D3C-C7AE-4288-94D0-19154DC150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transition spd="slow">
    <p:pull dir="ru"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  <a:ea typeface="宋体" charset="-122"/>
        </a:defRPr>
      </a:lvl2pPr>
      <a:lvl3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  <a:ea typeface="宋体" charset="-122"/>
        </a:defRPr>
      </a:lvl3pPr>
      <a:lvl4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  <a:ea typeface="宋体" charset="-122"/>
        </a:defRPr>
      </a:lvl4pPr>
      <a:lvl5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  <a:ea typeface="宋体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  <a:ea typeface="宋体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  <a:ea typeface="宋体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  <a:ea typeface="宋体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  <a:ea typeface="宋体" charset="-122"/>
        </a:defRPr>
      </a:lvl9pPr>
    </p:titleStyle>
    <p:bodyStyle>
      <a:lvl1pPr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439738" indent="4763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defRPr sz="2800" b="1">
          <a:solidFill>
            <a:schemeClr val="tx1"/>
          </a:solidFill>
          <a:latin typeface="+mn-lt"/>
          <a:ea typeface="+mn-ea"/>
        </a:defRPr>
      </a:lvl2pPr>
      <a:lvl3pPr marL="9017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defRPr sz="2800" b="1">
          <a:solidFill>
            <a:schemeClr val="tx1"/>
          </a:solidFill>
          <a:latin typeface="+mn-lt"/>
          <a:ea typeface="+mn-ea"/>
        </a:defRPr>
      </a:lvl3pPr>
      <a:lvl4pPr marL="13462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defRPr sz="2800" b="1">
          <a:solidFill>
            <a:schemeClr val="tx1"/>
          </a:solidFill>
          <a:latin typeface="+mn-lt"/>
          <a:ea typeface="+mn-ea"/>
        </a:defRPr>
      </a:lvl4pPr>
      <a:lvl5pPr marL="17891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defRPr sz="2800" b="1">
          <a:solidFill>
            <a:schemeClr val="tx1"/>
          </a:solidFill>
          <a:latin typeface="+mn-lt"/>
          <a:ea typeface="+mn-ea"/>
        </a:defRPr>
      </a:lvl5pPr>
      <a:lvl6pPr marL="22463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defRPr sz="2800" b="1">
          <a:solidFill>
            <a:schemeClr val="tx1"/>
          </a:solidFill>
          <a:latin typeface="+mn-lt"/>
          <a:ea typeface="+mn-ea"/>
        </a:defRPr>
      </a:lvl6pPr>
      <a:lvl7pPr marL="27035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defRPr sz="2800" b="1">
          <a:solidFill>
            <a:schemeClr val="tx1"/>
          </a:solidFill>
          <a:latin typeface="+mn-lt"/>
          <a:ea typeface="+mn-ea"/>
        </a:defRPr>
      </a:lvl7pPr>
      <a:lvl8pPr marL="31607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defRPr sz="2800" b="1">
          <a:solidFill>
            <a:schemeClr val="tx1"/>
          </a:solidFill>
          <a:latin typeface="+mn-lt"/>
          <a:ea typeface="+mn-ea"/>
        </a:defRPr>
      </a:lvl8pPr>
      <a:lvl9pPr marL="36179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defRPr sz="28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B1F43E7-0C96-4003-9272-370E7C0D527C}" type="slidenum">
              <a:rPr lang="zh-CN" altLang="en-US"/>
              <a:pPr/>
              <a:t>1</a:t>
            </a:fld>
            <a:endParaRPr lang="en-US" altLang="zh-CN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016125" y="495300"/>
            <a:ext cx="4572000" cy="701675"/>
          </a:xfrm>
          <a:noFill/>
        </p:spPr>
        <p:txBody>
          <a:bodyPr/>
          <a:lstStyle/>
          <a:p>
            <a:r>
              <a:rPr lang="zh-CN" altLang="en-US" b="1">
                <a:latin typeface="华文行楷" pitchFamily="2" charset="-122"/>
                <a:ea typeface="华文行楷" pitchFamily="2" charset="-122"/>
              </a:rPr>
              <a:t>第四章    函   数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4650" y="1282700"/>
            <a:ext cx="7869238" cy="3298825"/>
          </a:xfr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>
                <a:ea typeface="楷体_GB2312" pitchFamily="49" charset="-122"/>
              </a:rPr>
              <a:t>         函数是一个基本的数学概念，在通常的函数定义中，</a:t>
            </a:r>
            <a:r>
              <a:rPr lang="en-US" altLang="zh-CN">
                <a:ea typeface="楷体_GB2312" pitchFamily="49" charset="-122"/>
              </a:rPr>
              <a:t>y= f(x)</a:t>
            </a:r>
            <a:r>
              <a:rPr lang="zh-CN" altLang="en-US">
                <a:ea typeface="楷体_GB2312" pitchFamily="49" charset="-122"/>
              </a:rPr>
              <a:t>是在</a:t>
            </a:r>
            <a:r>
              <a:rPr lang="zh-CN" altLang="en-US" i="1">
                <a:solidFill>
                  <a:srgbClr val="FF0000"/>
                </a:solidFill>
                <a:ea typeface="楷体_GB2312" pitchFamily="49" charset="-122"/>
              </a:rPr>
              <a:t>实数集</a:t>
            </a:r>
            <a:r>
              <a:rPr lang="zh-CN" altLang="en-US">
                <a:ea typeface="楷体_GB2312" pitchFamily="49" charset="-122"/>
              </a:rPr>
              <a:t>上讨论，在这里函数的概念得到了推广，把函数看成是</a:t>
            </a:r>
            <a:r>
              <a:rPr lang="zh-CN" altLang="en-US" i="1">
                <a:solidFill>
                  <a:srgbClr val="FF0000"/>
                </a:solidFill>
                <a:ea typeface="楷体_GB2312" pitchFamily="49" charset="-122"/>
              </a:rPr>
              <a:t>一种特殊的关系</a:t>
            </a:r>
            <a:r>
              <a:rPr lang="zh-CN" altLang="en-US">
                <a:ea typeface="楷体_GB2312" pitchFamily="49" charset="-122"/>
              </a:rPr>
              <a:t>。本章主要介绍函数的基本概念、特殊类型的函数及函数的复合运算和逆运算。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B92B91-2207-4F55-82B1-284DC1EED271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31746" name="Rectangle 2"/>
          <p:cNvSpPr>
            <a:spLocks noGrp="1" noChangeArrowheads="1"/>
          </p:cNvSpPr>
          <p:nvPr>
            <p:ph/>
          </p:nvPr>
        </p:nvSpPr>
        <p:spPr>
          <a:xfrm>
            <a:off x="762000" y="1371600"/>
            <a:ext cx="7772400" cy="2914650"/>
          </a:xfr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>
                <a:ea typeface="楷体_GB2312" pitchFamily="49" charset="-122"/>
              </a:rPr>
              <a:t>通过本章学习，应该掌握以下内容：</a:t>
            </a:r>
          </a:p>
          <a:p>
            <a:pPr>
              <a:lnSpc>
                <a:spcPct val="150000"/>
              </a:lnSpc>
            </a:pPr>
            <a:r>
              <a:rPr lang="zh-CN" altLang="en-US">
                <a:ea typeface="楷体_GB2312" pitchFamily="49" charset="-122"/>
              </a:rPr>
              <a:t> （1）函数的基本概念</a:t>
            </a:r>
          </a:p>
          <a:p>
            <a:pPr>
              <a:lnSpc>
                <a:spcPct val="150000"/>
              </a:lnSpc>
            </a:pPr>
            <a:r>
              <a:rPr lang="zh-CN" altLang="en-US">
                <a:ea typeface="楷体_GB2312" pitchFamily="49" charset="-122"/>
              </a:rPr>
              <a:t> （2）入射、满射和双射函数 </a:t>
            </a:r>
          </a:p>
          <a:p>
            <a:pPr>
              <a:lnSpc>
                <a:spcPct val="150000"/>
              </a:lnSpc>
            </a:pPr>
            <a:r>
              <a:rPr lang="zh-CN" altLang="en-US">
                <a:ea typeface="楷体_GB2312" pitchFamily="49" charset="-122"/>
              </a:rPr>
              <a:t> （3）逆函数和复合函数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1C3C3D-9813-4301-B1C0-0E808528D59D}" type="slidenum">
              <a:rPr lang="zh-CN" altLang="en-US"/>
              <a:pPr/>
              <a:t>3</a:t>
            </a:fld>
            <a:endParaRPr lang="en-US" altLang="zh-CN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536575"/>
            <a:ext cx="5546725" cy="641350"/>
          </a:xfrm>
          <a:noFill/>
        </p:spPr>
        <p:txBody>
          <a:bodyPr/>
          <a:lstStyle/>
          <a:p>
            <a:r>
              <a:rPr lang="zh-CN" altLang="en-US" sz="3600" b="1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4-1  函数的概念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268413"/>
            <a:ext cx="7916862" cy="4960937"/>
          </a:xfrm>
          <a:noFill/>
          <a:ln/>
        </p:spPr>
        <p:txBody>
          <a:bodyPr/>
          <a:lstStyle/>
          <a:p>
            <a:pPr>
              <a:lnSpc>
                <a:spcPct val="130000"/>
              </a:lnSpc>
            </a:pPr>
            <a:r>
              <a:rPr kumimoji="1" lang="zh-CN" altLang="en-US" sz="3200" dirty="0">
                <a:solidFill>
                  <a:schemeClr val="folHlink"/>
                </a:solidFill>
                <a:ea typeface="楷体_GB2312" pitchFamily="49" charset="-122"/>
              </a:rPr>
              <a:t>一、函数的基本概念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定义4-1.1：</a:t>
            </a:r>
            <a:r>
              <a:rPr lang="zh-CN" altLang="en-US" sz="2400" dirty="0"/>
              <a:t>设</a:t>
            </a:r>
            <a:r>
              <a:rPr lang="en-US" altLang="zh-CN" sz="2400" dirty="0"/>
              <a:t>X</a:t>
            </a:r>
            <a:r>
              <a:rPr lang="zh-CN" altLang="en-US" sz="2400" dirty="0"/>
              <a:t>和</a:t>
            </a:r>
            <a:r>
              <a:rPr lang="en-US" altLang="zh-CN" sz="2400" dirty="0"/>
              <a:t>Y</a:t>
            </a:r>
            <a:r>
              <a:rPr lang="zh-CN" altLang="en-US" sz="2400" dirty="0"/>
              <a:t>是任意两个集合，而</a:t>
            </a:r>
            <a:r>
              <a:rPr lang="en-US" altLang="zh-CN" sz="2400" dirty="0"/>
              <a:t>f</a:t>
            </a:r>
            <a:r>
              <a:rPr lang="zh-CN" altLang="en-US" sz="2400" dirty="0"/>
              <a:t>是</a:t>
            </a:r>
            <a:r>
              <a:rPr lang="en-US" altLang="zh-CN" sz="2400" dirty="0"/>
              <a:t>X</a:t>
            </a:r>
            <a:r>
              <a:rPr lang="zh-CN" altLang="en-US" sz="2400" dirty="0"/>
              <a:t>到</a:t>
            </a:r>
            <a:r>
              <a:rPr lang="en-US" altLang="zh-CN" sz="2400" dirty="0"/>
              <a:t>Y</a:t>
            </a:r>
            <a:r>
              <a:rPr lang="zh-CN" altLang="en-US" sz="2400" dirty="0"/>
              <a:t>的一个关系，如果对于每一个</a:t>
            </a:r>
            <a:r>
              <a:rPr lang="en-US" altLang="zh-CN" sz="2400" dirty="0" err="1"/>
              <a:t>x∈X</a:t>
            </a:r>
            <a:r>
              <a:rPr lang="en-US" altLang="zh-CN" sz="2400" dirty="0"/>
              <a:t>，</a:t>
            </a:r>
            <a:r>
              <a:rPr lang="zh-CN" altLang="en-US" sz="2400" dirty="0"/>
              <a:t>有</a:t>
            </a:r>
            <a:r>
              <a:rPr lang="zh-CN" altLang="en-US" sz="2400" u="sng" dirty="0"/>
              <a:t>唯一</a:t>
            </a:r>
            <a:r>
              <a:rPr lang="zh-CN" altLang="en-US" sz="2400" dirty="0"/>
              <a:t>的</a:t>
            </a:r>
            <a:r>
              <a:rPr lang="en-US" altLang="zh-CN" sz="2400" dirty="0" err="1"/>
              <a:t>y∈Y</a:t>
            </a:r>
            <a:r>
              <a:rPr lang="en-US" altLang="zh-CN" sz="2400" dirty="0"/>
              <a:t>，</a:t>
            </a:r>
            <a:r>
              <a:rPr lang="zh-CN" altLang="en-US" sz="2400" dirty="0"/>
              <a:t>使得&lt;</a:t>
            </a:r>
            <a:r>
              <a:rPr lang="en-US" altLang="zh-CN" sz="2400" dirty="0" err="1"/>
              <a:t>x,y</a:t>
            </a:r>
            <a:r>
              <a:rPr lang="en-US" altLang="zh-CN" sz="2400" dirty="0"/>
              <a:t>&gt;∈f，</a:t>
            </a:r>
            <a:r>
              <a:rPr lang="zh-CN" altLang="en-US" sz="2400" dirty="0"/>
              <a:t>称关系</a:t>
            </a:r>
            <a:r>
              <a:rPr lang="en-US" altLang="zh-CN" sz="2400" dirty="0"/>
              <a:t>f</a:t>
            </a:r>
            <a:r>
              <a:rPr lang="zh-CN" altLang="en-US" sz="2400" dirty="0"/>
              <a:t>为</a:t>
            </a:r>
            <a:r>
              <a:rPr lang="zh-CN" altLang="en-US" sz="2400" i="1" dirty="0">
                <a:solidFill>
                  <a:srgbClr val="FF0000"/>
                </a:solidFill>
              </a:rPr>
              <a:t>函数</a:t>
            </a:r>
            <a:r>
              <a:rPr lang="zh-CN" altLang="en-US" sz="2400" dirty="0"/>
              <a:t>，</a:t>
            </a:r>
          </a:p>
          <a:p>
            <a:pPr>
              <a:lnSpc>
                <a:spcPct val="130000"/>
              </a:lnSpc>
            </a:pPr>
            <a:r>
              <a:rPr lang="zh-CN" altLang="en-US" sz="2400" dirty="0"/>
              <a:t>记为：</a:t>
            </a:r>
            <a:r>
              <a:rPr lang="en-US" altLang="zh-CN" sz="2400" dirty="0"/>
              <a:t>f:   X→Y</a:t>
            </a:r>
            <a:r>
              <a:rPr lang="zh-CN" altLang="en-US" sz="2400" dirty="0"/>
              <a:t>或 </a:t>
            </a:r>
            <a:r>
              <a:rPr lang="en-US" altLang="zh-CN" sz="2400" dirty="0"/>
              <a:t>X	          Y   </a:t>
            </a:r>
            <a:r>
              <a:rPr lang="zh-CN" altLang="en-US" sz="2400" dirty="0">
                <a:solidFill>
                  <a:srgbClr val="FF0000"/>
                </a:solidFill>
              </a:rPr>
              <a:t>一种特殊的二元关系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sz="2400" dirty="0"/>
              <a:t>                 </a:t>
            </a:r>
            <a:r>
              <a:rPr lang="zh-CN" altLang="en-US" sz="2400" dirty="0"/>
              <a:t>&lt;</a:t>
            </a:r>
            <a:r>
              <a:rPr lang="en-US" altLang="zh-CN" sz="2400" dirty="0" err="1"/>
              <a:t>x,y</a:t>
            </a:r>
            <a:r>
              <a:rPr lang="en-US" altLang="zh-CN" sz="2400" dirty="0"/>
              <a:t>&gt;∈f </a:t>
            </a:r>
            <a:r>
              <a:rPr lang="zh-CN" altLang="en-US" sz="2400" dirty="0"/>
              <a:t>也记为 </a:t>
            </a:r>
            <a:r>
              <a:rPr lang="en-US" altLang="zh-CN" sz="2400" dirty="0"/>
              <a:t>y=f(x)，</a:t>
            </a:r>
            <a:r>
              <a:rPr lang="zh-CN" altLang="en-US" sz="2400" dirty="0"/>
              <a:t>且记 </a:t>
            </a:r>
            <a:r>
              <a:rPr lang="en-US" altLang="zh-CN" sz="2400" dirty="0"/>
              <a:t>f(X)={f(x)|</a:t>
            </a:r>
            <a:r>
              <a:rPr lang="en-US" altLang="zh-CN" sz="2400" dirty="0" err="1"/>
              <a:t>x∈X</a:t>
            </a:r>
            <a:r>
              <a:rPr lang="en-US" altLang="zh-CN" sz="2400" dirty="0"/>
              <a:t>}</a:t>
            </a:r>
          </a:p>
          <a:p>
            <a:pPr>
              <a:lnSpc>
                <a:spcPct val="130000"/>
              </a:lnSpc>
            </a:pPr>
            <a:r>
              <a:rPr lang="zh-CN" altLang="en-US" sz="2400" dirty="0"/>
              <a:t>读作：</a:t>
            </a:r>
            <a:r>
              <a:rPr lang="en-US" altLang="zh-CN" sz="2400" dirty="0"/>
              <a:t>f</a:t>
            </a:r>
            <a:r>
              <a:rPr lang="zh-CN" altLang="en-US" sz="2400" dirty="0"/>
              <a:t>是</a:t>
            </a:r>
            <a:r>
              <a:rPr lang="en-US" altLang="zh-CN" sz="2400" dirty="0"/>
              <a:t>X</a:t>
            </a:r>
            <a:r>
              <a:rPr lang="zh-CN" altLang="en-US" sz="2400" dirty="0"/>
              <a:t>到</a:t>
            </a:r>
            <a:r>
              <a:rPr lang="en-US" altLang="zh-CN" sz="2400" dirty="0"/>
              <a:t>Y</a:t>
            </a:r>
            <a:r>
              <a:rPr lang="zh-CN" altLang="en-US" sz="2400" dirty="0"/>
              <a:t>的函数或</a:t>
            </a:r>
            <a:r>
              <a:rPr lang="en-US" altLang="zh-CN" sz="2400" dirty="0"/>
              <a:t>X</a:t>
            </a:r>
            <a:r>
              <a:rPr lang="zh-CN" altLang="en-US" sz="2400" dirty="0"/>
              <a:t>到</a:t>
            </a:r>
            <a:r>
              <a:rPr lang="en-US" altLang="zh-CN" sz="2400" dirty="0"/>
              <a:t>Y</a:t>
            </a:r>
            <a:r>
              <a:rPr lang="zh-CN" altLang="en-US" sz="2400" dirty="0"/>
              <a:t>的函数</a:t>
            </a:r>
            <a:r>
              <a:rPr lang="en-US" altLang="zh-CN" sz="2400" dirty="0"/>
              <a:t>f</a:t>
            </a:r>
          </a:p>
          <a:p>
            <a:pPr>
              <a:lnSpc>
                <a:spcPct val="130000"/>
              </a:lnSpc>
            </a:pPr>
            <a:r>
              <a:rPr lang="zh-CN" altLang="en-US" sz="2400" dirty="0"/>
              <a:t>假如&lt;</a:t>
            </a:r>
            <a:r>
              <a:rPr lang="en-US" altLang="zh-CN" sz="2400" dirty="0"/>
              <a:t>x, y&gt;∈f，</a:t>
            </a:r>
            <a:r>
              <a:rPr lang="zh-CN" altLang="en-US" sz="2400" dirty="0"/>
              <a:t>则称 </a:t>
            </a:r>
            <a:r>
              <a:rPr lang="en-US" altLang="zh-CN" sz="2400" dirty="0"/>
              <a:t>x</a:t>
            </a:r>
            <a:r>
              <a:rPr lang="zh-CN" altLang="en-US" sz="2400" dirty="0"/>
              <a:t>为</a:t>
            </a:r>
            <a:r>
              <a:rPr lang="zh-CN" altLang="en-US" sz="2400" i="1" dirty="0">
                <a:solidFill>
                  <a:srgbClr val="FF0000"/>
                </a:solidFill>
              </a:rPr>
              <a:t>自变元</a:t>
            </a:r>
            <a:r>
              <a:rPr lang="zh-CN" altLang="en-US" sz="2400" dirty="0"/>
              <a:t>(</a:t>
            </a:r>
            <a:r>
              <a:rPr lang="en-US" altLang="zh-CN" sz="2400" dirty="0"/>
              <a:t>y</a:t>
            </a:r>
            <a:r>
              <a:rPr lang="zh-CN" altLang="en-US" sz="2400" dirty="0"/>
              <a:t>在</a:t>
            </a:r>
            <a:r>
              <a:rPr lang="en-US" altLang="zh-CN" sz="2400" dirty="0"/>
              <a:t>f</a:t>
            </a:r>
            <a:r>
              <a:rPr lang="zh-CN" altLang="en-US" sz="2400" dirty="0"/>
              <a:t>下的原象)</a:t>
            </a:r>
          </a:p>
          <a:p>
            <a:pPr>
              <a:lnSpc>
                <a:spcPct val="130000"/>
              </a:lnSpc>
            </a:pPr>
            <a:r>
              <a:rPr lang="zh-CN" altLang="en-US" sz="2400" dirty="0"/>
              <a:t>                                 </a:t>
            </a:r>
            <a:r>
              <a:rPr lang="zh-CN" altLang="en-US" sz="2400" dirty="0" smtClean="0"/>
              <a:t>     </a:t>
            </a:r>
            <a:r>
              <a:rPr lang="en-US" altLang="zh-CN" sz="2400" dirty="0"/>
              <a:t>y</a:t>
            </a:r>
            <a:r>
              <a:rPr lang="zh-CN" altLang="en-US" sz="2400" dirty="0"/>
              <a:t>为在</a:t>
            </a:r>
            <a:r>
              <a:rPr lang="en-US" altLang="zh-CN" sz="2400" dirty="0"/>
              <a:t>f</a:t>
            </a:r>
            <a:r>
              <a:rPr lang="zh-CN" altLang="en-US" sz="2400" dirty="0"/>
              <a:t>作用下</a:t>
            </a:r>
            <a:r>
              <a:rPr lang="en-US" altLang="zh-CN" sz="2400" dirty="0"/>
              <a:t>x</a:t>
            </a:r>
            <a:r>
              <a:rPr lang="zh-CN" altLang="en-US" sz="2400" dirty="0"/>
              <a:t>的</a:t>
            </a:r>
            <a:r>
              <a:rPr lang="zh-CN" altLang="en-US" sz="2400" i="1" dirty="0">
                <a:solidFill>
                  <a:srgbClr val="FF0000"/>
                </a:solidFill>
              </a:rPr>
              <a:t>象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grpSp>
        <p:nvGrpSpPr>
          <p:cNvPr id="6222" name="Group 78"/>
          <p:cNvGrpSpPr>
            <a:grpSpLocks/>
          </p:cNvGrpSpPr>
          <p:nvPr/>
        </p:nvGrpSpPr>
        <p:grpSpPr bwMode="auto">
          <a:xfrm>
            <a:off x="3535363" y="3486150"/>
            <a:ext cx="703262" cy="609600"/>
            <a:chOff x="4286" y="277"/>
            <a:chExt cx="443" cy="384"/>
          </a:xfrm>
        </p:grpSpPr>
        <p:sp>
          <p:nvSpPr>
            <p:cNvPr id="6218" name="Rectangle 74"/>
            <p:cNvSpPr>
              <a:spLocks noChangeArrowheads="1"/>
            </p:cNvSpPr>
            <p:nvPr/>
          </p:nvSpPr>
          <p:spPr bwMode="auto">
            <a:xfrm>
              <a:off x="4470" y="313"/>
              <a:ext cx="4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 i="1">
                  <a:solidFill>
                    <a:srgbClr val="000000"/>
                  </a:solidFill>
                </a:rPr>
                <a:t>f</a:t>
              </a:r>
              <a:endParaRPr lang="en-US" altLang="zh-CN" sz="1600"/>
            </a:p>
          </p:txBody>
        </p:sp>
        <p:sp>
          <p:nvSpPr>
            <p:cNvPr id="6219" name="Rectangle 75"/>
            <p:cNvSpPr>
              <a:spLocks noChangeArrowheads="1"/>
            </p:cNvSpPr>
            <p:nvPr/>
          </p:nvSpPr>
          <p:spPr bwMode="auto">
            <a:xfrm>
              <a:off x="4286" y="277"/>
              <a:ext cx="443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99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>
              <a:spAutoFit/>
            </a:bodyPr>
            <a:lstStyle/>
            <a:p>
              <a:r>
                <a:rPr lang="en-US" altLang="zh-CN" sz="4000"/>
                <a:t>→</a:t>
              </a:r>
              <a:endParaRPr lang="zh-CN" altLang="en-US" sz="4000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uiExpand="1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3FB6FD-B62A-43F3-AFBE-C8A1091571F5}" type="slidenum">
              <a:rPr lang="zh-CN" altLang="en-US"/>
              <a:pPr/>
              <a:t>4</a:t>
            </a:fld>
            <a:endParaRPr lang="en-US" altLang="zh-CN"/>
          </a:p>
        </p:txBody>
      </p:sp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719138" y="1381125"/>
            <a:ext cx="7916862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FF0000"/>
                </a:solidFill>
              </a:rPr>
              <a:t>例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zh-CN" altLang="en-US">
                <a:solidFill>
                  <a:srgbClr val="FF0000"/>
                </a:solidFill>
              </a:rPr>
              <a:t>：</a:t>
            </a:r>
            <a:r>
              <a:rPr lang="zh-CN" altLang="en-US"/>
              <a:t>设</a:t>
            </a:r>
            <a:r>
              <a:rPr lang="en-US" altLang="zh-CN"/>
              <a:t>A={a, b, c, d}，B={1, 2, 3, 4}</a:t>
            </a:r>
            <a:r>
              <a:rPr lang="zh-CN" altLang="en-US"/>
              <a:t>，判断下列关系是否为函数。</a:t>
            </a:r>
          </a:p>
        </p:txBody>
      </p:sp>
      <p:grpSp>
        <p:nvGrpSpPr>
          <p:cNvPr id="32771" name="Group 3"/>
          <p:cNvGrpSpPr>
            <a:grpSpLocks/>
          </p:cNvGrpSpPr>
          <p:nvPr/>
        </p:nvGrpSpPr>
        <p:grpSpPr bwMode="auto">
          <a:xfrm>
            <a:off x="611188" y="2684463"/>
            <a:ext cx="7920037" cy="2257425"/>
            <a:chOff x="340" y="2870"/>
            <a:chExt cx="4989" cy="1422"/>
          </a:xfrm>
        </p:grpSpPr>
        <p:sp>
          <p:nvSpPr>
            <p:cNvPr id="32772" name="Text Box 4"/>
            <p:cNvSpPr txBox="1">
              <a:spLocks noChangeArrowheads="1"/>
            </p:cNvSpPr>
            <p:nvPr/>
          </p:nvSpPr>
          <p:spPr bwMode="auto">
            <a:xfrm>
              <a:off x="340" y="290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0" lang="en-US" altLang="zh-CN"/>
                <a:t>a</a:t>
              </a:r>
            </a:p>
          </p:txBody>
        </p:sp>
        <p:sp>
          <p:nvSpPr>
            <p:cNvPr id="32773" name="Text Box 5"/>
            <p:cNvSpPr txBox="1">
              <a:spLocks noChangeArrowheads="1"/>
            </p:cNvSpPr>
            <p:nvPr/>
          </p:nvSpPr>
          <p:spPr bwMode="auto">
            <a:xfrm>
              <a:off x="340" y="3218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0" lang="en-US" altLang="zh-CN"/>
                <a:t>b</a:t>
              </a:r>
            </a:p>
          </p:txBody>
        </p:sp>
        <p:sp>
          <p:nvSpPr>
            <p:cNvPr id="32774" name="Text Box 6"/>
            <p:cNvSpPr txBox="1">
              <a:spLocks noChangeArrowheads="1"/>
            </p:cNvSpPr>
            <p:nvPr/>
          </p:nvSpPr>
          <p:spPr bwMode="auto">
            <a:xfrm>
              <a:off x="340" y="3474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0" lang="en-US" altLang="zh-CN"/>
                <a:t>c</a:t>
              </a:r>
            </a:p>
          </p:txBody>
        </p:sp>
        <p:sp>
          <p:nvSpPr>
            <p:cNvPr id="32775" name="Text Box 7"/>
            <p:cNvSpPr txBox="1">
              <a:spLocks noChangeArrowheads="1"/>
            </p:cNvSpPr>
            <p:nvPr/>
          </p:nvSpPr>
          <p:spPr bwMode="auto">
            <a:xfrm>
              <a:off x="340" y="3762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0" lang="en-US" altLang="zh-CN"/>
                <a:t>d</a:t>
              </a:r>
            </a:p>
          </p:txBody>
        </p:sp>
        <p:sp>
          <p:nvSpPr>
            <p:cNvPr id="32776" name="Text Box 8"/>
            <p:cNvSpPr txBox="1">
              <a:spLocks noChangeArrowheads="1"/>
            </p:cNvSpPr>
            <p:nvPr/>
          </p:nvSpPr>
          <p:spPr bwMode="auto">
            <a:xfrm>
              <a:off x="1020" y="321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0" lang="zh-CN" altLang="en-US"/>
                <a:t>2</a:t>
              </a:r>
            </a:p>
          </p:txBody>
        </p:sp>
        <p:sp>
          <p:nvSpPr>
            <p:cNvPr id="32777" name="Text Box 9"/>
            <p:cNvSpPr txBox="1">
              <a:spLocks noChangeArrowheads="1"/>
            </p:cNvSpPr>
            <p:nvPr/>
          </p:nvSpPr>
          <p:spPr bwMode="auto">
            <a:xfrm>
              <a:off x="1020" y="290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0" lang="zh-CN" altLang="en-US"/>
                <a:t>1</a:t>
              </a:r>
            </a:p>
          </p:txBody>
        </p:sp>
        <p:sp>
          <p:nvSpPr>
            <p:cNvPr id="32778" name="Text Box 10"/>
            <p:cNvSpPr txBox="1">
              <a:spLocks noChangeArrowheads="1"/>
            </p:cNvSpPr>
            <p:nvPr/>
          </p:nvSpPr>
          <p:spPr bwMode="auto">
            <a:xfrm>
              <a:off x="1020" y="346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0" lang="zh-CN" altLang="en-US"/>
                <a:t>3</a:t>
              </a:r>
            </a:p>
          </p:txBody>
        </p:sp>
        <p:sp>
          <p:nvSpPr>
            <p:cNvPr id="32779" name="Text Box 11"/>
            <p:cNvSpPr txBox="1">
              <a:spLocks noChangeArrowheads="1"/>
            </p:cNvSpPr>
            <p:nvPr/>
          </p:nvSpPr>
          <p:spPr bwMode="auto">
            <a:xfrm>
              <a:off x="1020" y="377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0" lang="zh-CN" altLang="en-US"/>
                <a:t>4</a:t>
              </a:r>
            </a:p>
          </p:txBody>
        </p:sp>
        <p:sp>
          <p:nvSpPr>
            <p:cNvPr id="32780" name="Line 12"/>
            <p:cNvSpPr>
              <a:spLocks noChangeShapeType="1"/>
            </p:cNvSpPr>
            <p:nvPr/>
          </p:nvSpPr>
          <p:spPr bwMode="auto">
            <a:xfrm>
              <a:off x="521" y="3052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1" name="Line 13"/>
            <p:cNvSpPr>
              <a:spLocks noChangeShapeType="1"/>
            </p:cNvSpPr>
            <p:nvPr/>
          </p:nvSpPr>
          <p:spPr bwMode="auto">
            <a:xfrm>
              <a:off x="521" y="3369"/>
              <a:ext cx="545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2" name="Line 14"/>
            <p:cNvSpPr>
              <a:spLocks noChangeShapeType="1"/>
            </p:cNvSpPr>
            <p:nvPr/>
          </p:nvSpPr>
          <p:spPr bwMode="auto">
            <a:xfrm>
              <a:off x="521" y="3641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3" name="Line 15"/>
            <p:cNvSpPr>
              <a:spLocks noChangeShapeType="1"/>
            </p:cNvSpPr>
            <p:nvPr/>
          </p:nvSpPr>
          <p:spPr bwMode="auto">
            <a:xfrm flipV="1">
              <a:off x="521" y="3369"/>
              <a:ext cx="499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4" name="Text Box 16"/>
            <p:cNvSpPr txBox="1">
              <a:spLocks noChangeArrowheads="1"/>
            </p:cNvSpPr>
            <p:nvPr/>
          </p:nvSpPr>
          <p:spPr bwMode="auto">
            <a:xfrm>
              <a:off x="612" y="4004"/>
              <a:ext cx="3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/>
                <a:t>f</a:t>
              </a:r>
              <a:r>
                <a:rPr kumimoji="0" lang="en-US" altLang="zh-CN" baseline="-25000"/>
                <a:t>1</a:t>
              </a:r>
            </a:p>
          </p:txBody>
        </p:sp>
        <p:sp>
          <p:nvSpPr>
            <p:cNvPr id="32785" name="Text Box 17"/>
            <p:cNvSpPr txBox="1">
              <a:spLocks noChangeArrowheads="1"/>
            </p:cNvSpPr>
            <p:nvPr/>
          </p:nvSpPr>
          <p:spPr bwMode="auto">
            <a:xfrm>
              <a:off x="1761" y="288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0" lang="en-US" altLang="zh-CN"/>
                <a:t>a</a:t>
              </a:r>
            </a:p>
          </p:txBody>
        </p:sp>
        <p:sp>
          <p:nvSpPr>
            <p:cNvPr id="32786" name="Text Box 18"/>
            <p:cNvSpPr txBox="1">
              <a:spLocks noChangeArrowheads="1"/>
            </p:cNvSpPr>
            <p:nvPr/>
          </p:nvSpPr>
          <p:spPr bwMode="auto">
            <a:xfrm>
              <a:off x="1761" y="3202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0" lang="en-US" altLang="zh-CN"/>
                <a:t>b</a:t>
              </a:r>
            </a:p>
          </p:txBody>
        </p:sp>
        <p:sp>
          <p:nvSpPr>
            <p:cNvPr id="32787" name="Text Box 19"/>
            <p:cNvSpPr txBox="1">
              <a:spLocks noChangeArrowheads="1"/>
            </p:cNvSpPr>
            <p:nvPr/>
          </p:nvSpPr>
          <p:spPr bwMode="auto">
            <a:xfrm>
              <a:off x="1761" y="3458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0" lang="en-US" altLang="zh-CN"/>
                <a:t>c</a:t>
              </a:r>
            </a:p>
          </p:txBody>
        </p:sp>
        <p:sp>
          <p:nvSpPr>
            <p:cNvPr id="32788" name="Text Box 20"/>
            <p:cNvSpPr txBox="1">
              <a:spLocks noChangeArrowheads="1"/>
            </p:cNvSpPr>
            <p:nvPr/>
          </p:nvSpPr>
          <p:spPr bwMode="auto">
            <a:xfrm>
              <a:off x="1761" y="3746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0" lang="en-US" altLang="zh-CN"/>
                <a:t>d</a:t>
              </a:r>
            </a:p>
          </p:txBody>
        </p:sp>
        <p:sp>
          <p:nvSpPr>
            <p:cNvPr id="32789" name="Text Box 21"/>
            <p:cNvSpPr txBox="1">
              <a:spLocks noChangeArrowheads="1"/>
            </p:cNvSpPr>
            <p:nvPr/>
          </p:nvSpPr>
          <p:spPr bwMode="auto">
            <a:xfrm>
              <a:off x="2441" y="320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0" lang="zh-CN" altLang="en-US"/>
                <a:t>2</a:t>
              </a:r>
            </a:p>
          </p:txBody>
        </p:sp>
        <p:sp>
          <p:nvSpPr>
            <p:cNvPr id="32790" name="Text Box 22"/>
            <p:cNvSpPr txBox="1">
              <a:spLocks noChangeArrowheads="1"/>
            </p:cNvSpPr>
            <p:nvPr/>
          </p:nvSpPr>
          <p:spPr bwMode="auto">
            <a:xfrm>
              <a:off x="2441" y="288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0" lang="zh-CN" altLang="en-US"/>
                <a:t>1</a:t>
              </a:r>
            </a:p>
          </p:txBody>
        </p:sp>
        <p:sp>
          <p:nvSpPr>
            <p:cNvPr id="32791" name="Text Box 23"/>
            <p:cNvSpPr txBox="1">
              <a:spLocks noChangeArrowheads="1"/>
            </p:cNvSpPr>
            <p:nvPr/>
          </p:nvSpPr>
          <p:spPr bwMode="auto">
            <a:xfrm>
              <a:off x="2441" y="344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0" lang="zh-CN" altLang="en-US"/>
                <a:t>3</a:t>
              </a:r>
            </a:p>
          </p:txBody>
        </p:sp>
        <p:sp>
          <p:nvSpPr>
            <p:cNvPr id="32792" name="Text Box 24"/>
            <p:cNvSpPr txBox="1">
              <a:spLocks noChangeArrowheads="1"/>
            </p:cNvSpPr>
            <p:nvPr/>
          </p:nvSpPr>
          <p:spPr bwMode="auto">
            <a:xfrm>
              <a:off x="2441" y="376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0" lang="zh-CN" altLang="en-US"/>
                <a:t>4</a:t>
              </a:r>
            </a:p>
          </p:txBody>
        </p:sp>
        <p:sp>
          <p:nvSpPr>
            <p:cNvPr id="32793" name="Line 25"/>
            <p:cNvSpPr>
              <a:spLocks noChangeShapeType="1"/>
            </p:cNvSpPr>
            <p:nvPr/>
          </p:nvSpPr>
          <p:spPr bwMode="auto">
            <a:xfrm>
              <a:off x="1942" y="3036"/>
              <a:ext cx="53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4" name="Line 26"/>
            <p:cNvSpPr>
              <a:spLocks noChangeShapeType="1"/>
            </p:cNvSpPr>
            <p:nvPr/>
          </p:nvSpPr>
          <p:spPr bwMode="auto">
            <a:xfrm flipV="1">
              <a:off x="1942" y="3006"/>
              <a:ext cx="575" cy="3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5" name="Line 27"/>
            <p:cNvSpPr>
              <a:spLocks noChangeShapeType="1"/>
            </p:cNvSpPr>
            <p:nvPr/>
          </p:nvSpPr>
          <p:spPr bwMode="auto">
            <a:xfrm>
              <a:off x="1942" y="3625"/>
              <a:ext cx="575" cy="2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6" name="Line 28"/>
            <p:cNvSpPr>
              <a:spLocks noChangeShapeType="1"/>
            </p:cNvSpPr>
            <p:nvPr/>
          </p:nvSpPr>
          <p:spPr bwMode="auto">
            <a:xfrm flipV="1">
              <a:off x="1942" y="3596"/>
              <a:ext cx="530" cy="3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7" name="Text Box 29"/>
            <p:cNvSpPr txBox="1">
              <a:spLocks noChangeArrowheads="1"/>
            </p:cNvSpPr>
            <p:nvPr/>
          </p:nvSpPr>
          <p:spPr bwMode="auto">
            <a:xfrm>
              <a:off x="2033" y="3988"/>
              <a:ext cx="3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/>
                <a:t>f</a:t>
              </a:r>
              <a:r>
                <a:rPr kumimoji="0" lang="en-US" altLang="zh-CN" baseline="-25000"/>
                <a:t>2</a:t>
              </a:r>
            </a:p>
          </p:txBody>
        </p:sp>
        <p:sp>
          <p:nvSpPr>
            <p:cNvPr id="32798" name="Text Box 30"/>
            <p:cNvSpPr txBox="1">
              <a:spLocks noChangeArrowheads="1"/>
            </p:cNvSpPr>
            <p:nvPr/>
          </p:nvSpPr>
          <p:spPr bwMode="auto">
            <a:xfrm>
              <a:off x="3122" y="287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0" lang="en-US" altLang="zh-CN"/>
                <a:t>a</a:t>
              </a:r>
            </a:p>
          </p:txBody>
        </p:sp>
        <p:sp>
          <p:nvSpPr>
            <p:cNvPr id="32799" name="Text Box 31"/>
            <p:cNvSpPr txBox="1">
              <a:spLocks noChangeArrowheads="1"/>
            </p:cNvSpPr>
            <p:nvPr/>
          </p:nvSpPr>
          <p:spPr bwMode="auto">
            <a:xfrm>
              <a:off x="3122" y="3188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0" lang="en-US" altLang="zh-CN"/>
                <a:t>b</a:t>
              </a:r>
            </a:p>
          </p:txBody>
        </p:sp>
        <p:sp>
          <p:nvSpPr>
            <p:cNvPr id="32800" name="Text Box 32"/>
            <p:cNvSpPr txBox="1">
              <a:spLocks noChangeArrowheads="1"/>
            </p:cNvSpPr>
            <p:nvPr/>
          </p:nvSpPr>
          <p:spPr bwMode="auto">
            <a:xfrm>
              <a:off x="3122" y="3444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0" lang="en-US" altLang="zh-CN"/>
                <a:t>c</a:t>
              </a:r>
            </a:p>
          </p:txBody>
        </p:sp>
        <p:sp>
          <p:nvSpPr>
            <p:cNvPr id="32801" name="Text Box 33"/>
            <p:cNvSpPr txBox="1">
              <a:spLocks noChangeArrowheads="1"/>
            </p:cNvSpPr>
            <p:nvPr/>
          </p:nvSpPr>
          <p:spPr bwMode="auto">
            <a:xfrm>
              <a:off x="3122" y="3732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0" lang="en-US" altLang="zh-CN"/>
                <a:t>d</a:t>
              </a:r>
            </a:p>
          </p:txBody>
        </p:sp>
        <p:sp>
          <p:nvSpPr>
            <p:cNvPr id="32802" name="Text Box 34"/>
            <p:cNvSpPr txBox="1">
              <a:spLocks noChangeArrowheads="1"/>
            </p:cNvSpPr>
            <p:nvPr/>
          </p:nvSpPr>
          <p:spPr bwMode="auto">
            <a:xfrm>
              <a:off x="3802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0" lang="zh-CN" altLang="en-US"/>
                <a:t>2</a:t>
              </a:r>
            </a:p>
          </p:txBody>
        </p:sp>
        <p:sp>
          <p:nvSpPr>
            <p:cNvPr id="32803" name="Text Box 35"/>
            <p:cNvSpPr txBox="1">
              <a:spLocks noChangeArrowheads="1"/>
            </p:cNvSpPr>
            <p:nvPr/>
          </p:nvSpPr>
          <p:spPr bwMode="auto">
            <a:xfrm>
              <a:off x="3802" y="287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0" lang="zh-CN" altLang="en-US"/>
                <a:t>1</a:t>
              </a:r>
            </a:p>
          </p:txBody>
        </p:sp>
        <p:sp>
          <p:nvSpPr>
            <p:cNvPr id="32804" name="Text Box 36"/>
            <p:cNvSpPr txBox="1">
              <a:spLocks noChangeArrowheads="1"/>
            </p:cNvSpPr>
            <p:nvPr/>
          </p:nvSpPr>
          <p:spPr bwMode="auto">
            <a:xfrm>
              <a:off x="3802" y="343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0" lang="zh-CN" altLang="en-US"/>
                <a:t>3</a:t>
              </a:r>
            </a:p>
          </p:txBody>
        </p:sp>
        <p:sp>
          <p:nvSpPr>
            <p:cNvPr id="32805" name="Text Box 37"/>
            <p:cNvSpPr txBox="1">
              <a:spLocks noChangeArrowheads="1"/>
            </p:cNvSpPr>
            <p:nvPr/>
          </p:nvSpPr>
          <p:spPr bwMode="auto">
            <a:xfrm>
              <a:off x="3802" y="374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0" lang="zh-CN" altLang="en-US"/>
                <a:t>4</a:t>
              </a:r>
            </a:p>
          </p:txBody>
        </p:sp>
        <p:sp>
          <p:nvSpPr>
            <p:cNvPr id="32806" name="Line 38"/>
            <p:cNvSpPr>
              <a:spLocks noChangeShapeType="1"/>
            </p:cNvSpPr>
            <p:nvPr/>
          </p:nvSpPr>
          <p:spPr bwMode="auto">
            <a:xfrm>
              <a:off x="3303" y="3022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7" name="Line 39"/>
            <p:cNvSpPr>
              <a:spLocks noChangeShapeType="1"/>
            </p:cNvSpPr>
            <p:nvPr/>
          </p:nvSpPr>
          <p:spPr bwMode="auto">
            <a:xfrm>
              <a:off x="3303" y="3339"/>
              <a:ext cx="545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8" name="Line 40"/>
            <p:cNvSpPr>
              <a:spLocks noChangeShapeType="1"/>
            </p:cNvSpPr>
            <p:nvPr/>
          </p:nvSpPr>
          <p:spPr bwMode="auto">
            <a:xfrm flipV="1">
              <a:off x="3303" y="3596"/>
              <a:ext cx="530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9" name="Line 41"/>
            <p:cNvSpPr>
              <a:spLocks noChangeShapeType="1"/>
            </p:cNvSpPr>
            <p:nvPr/>
          </p:nvSpPr>
          <p:spPr bwMode="auto">
            <a:xfrm flipV="1">
              <a:off x="3303" y="3868"/>
              <a:ext cx="575" cy="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0" name="Text Box 42"/>
            <p:cNvSpPr txBox="1">
              <a:spLocks noChangeArrowheads="1"/>
            </p:cNvSpPr>
            <p:nvPr/>
          </p:nvSpPr>
          <p:spPr bwMode="auto">
            <a:xfrm>
              <a:off x="3394" y="3974"/>
              <a:ext cx="3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/>
                <a:t>f</a:t>
              </a:r>
              <a:r>
                <a:rPr kumimoji="0" lang="en-US" altLang="zh-CN" baseline="-25000"/>
                <a:t>3</a:t>
              </a:r>
            </a:p>
          </p:txBody>
        </p:sp>
        <p:sp>
          <p:nvSpPr>
            <p:cNvPr id="32811" name="Text Box 43"/>
            <p:cNvSpPr txBox="1">
              <a:spLocks noChangeArrowheads="1"/>
            </p:cNvSpPr>
            <p:nvPr/>
          </p:nvSpPr>
          <p:spPr bwMode="auto">
            <a:xfrm>
              <a:off x="4437" y="287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0" lang="en-US" altLang="zh-CN"/>
                <a:t>a</a:t>
              </a:r>
            </a:p>
          </p:txBody>
        </p:sp>
        <p:sp>
          <p:nvSpPr>
            <p:cNvPr id="32812" name="Text Box 44"/>
            <p:cNvSpPr txBox="1">
              <a:spLocks noChangeArrowheads="1"/>
            </p:cNvSpPr>
            <p:nvPr/>
          </p:nvSpPr>
          <p:spPr bwMode="auto">
            <a:xfrm>
              <a:off x="4437" y="3188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0" lang="en-US" altLang="zh-CN"/>
                <a:t>b</a:t>
              </a:r>
            </a:p>
          </p:txBody>
        </p:sp>
        <p:sp>
          <p:nvSpPr>
            <p:cNvPr id="32813" name="Text Box 45"/>
            <p:cNvSpPr txBox="1">
              <a:spLocks noChangeArrowheads="1"/>
            </p:cNvSpPr>
            <p:nvPr/>
          </p:nvSpPr>
          <p:spPr bwMode="auto">
            <a:xfrm>
              <a:off x="4437" y="3444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0" lang="en-US" altLang="zh-CN"/>
                <a:t>c</a:t>
              </a:r>
            </a:p>
          </p:txBody>
        </p:sp>
        <p:sp>
          <p:nvSpPr>
            <p:cNvPr id="32814" name="Text Box 46"/>
            <p:cNvSpPr txBox="1">
              <a:spLocks noChangeArrowheads="1"/>
            </p:cNvSpPr>
            <p:nvPr/>
          </p:nvSpPr>
          <p:spPr bwMode="auto">
            <a:xfrm>
              <a:off x="4437" y="3732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0" lang="en-US" altLang="zh-CN"/>
                <a:t>d</a:t>
              </a:r>
            </a:p>
          </p:txBody>
        </p:sp>
        <p:sp>
          <p:nvSpPr>
            <p:cNvPr id="32815" name="Text Box 47"/>
            <p:cNvSpPr txBox="1">
              <a:spLocks noChangeArrowheads="1"/>
            </p:cNvSpPr>
            <p:nvPr/>
          </p:nvSpPr>
          <p:spPr bwMode="auto">
            <a:xfrm>
              <a:off x="5117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0" lang="zh-CN" altLang="en-US"/>
                <a:t>2</a:t>
              </a:r>
            </a:p>
          </p:txBody>
        </p:sp>
        <p:sp>
          <p:nvSpPr>
            <p:cNvPr id="32816" name="Text Box 48"/>
            <p:cNvSpPr txBox="1">
              <a:spLocks noChangeArrowheads="1"/>
            </p:cNvSpPr>
            <p:nvPr/>
          </p:nvSpPr>
          <p:spPr bwMode="auto">
            <a:xfrm>
              <a:off x="5117" y="287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0" lang="zh-CN" altLang="en-US"/>
                <a:t>1</a:t>
              </a:r>
            </a:p>
          </p:txBody>
        </p:sp>
        <p:sp>
          <p:nvSpPr>
            <p:cNvPr id="32817" name="Text Box 49"/>
            <p:cNvSpPr txBox="1">
              <a:spLocks noChangeArrowheads="1"/>
            </p:cNvSpPr>
            <p:nvPr/>
          </p:nvSpPr>
          <p:spPr bwMode="auto">
            <a:xfrm>
              <a:off x="5117" y="343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0" lang="zh-CN" altLang="en-US"/>
                <a:t>3</a:t>
              </a:r>
            </a:p>
          </p:txBody>
        </p:sp>
        <p:sp>
          <p:nvSpPr>
            <p:cNvPr id="32818" name="Text Box 50"/>
            <p:cNvSpPr txBox="1">
              <a:spLocks noChangeArrowheads="1"/>
            </p:cNvSpPr>
            <p:nvPr/>
          </p:nvSpPr>
          <p:spPr bwMode="auto">
            <a:xfrm>
              <a:off x="5117" y="374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0" lang="zh-CN" altLang="en-US"/>
                <a:t>4</a:t>
              </a:r>
            </a:p>
          </p:txBody>
        </p:sp>
        <p:sp>
          <p:nvSpPr>
            <p:cNvPr id="32819" name="Line 51"/>
            <p:cNvSpPr>
              <a:spLocks noChangeShapeType="1"/>
            </p:cNvSpPr>
            <p:nvPr/>
          </p:nvSpPr>
          <p:spPr bwMode="auto">
            <a:xfrm>
              <a:off x="4618" y="3022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0" name="Line 52"/>
            <p:cNvSpPr>
              <a:spLocks noChangeShapeType="1"/>
            </p:cNvSpPr>
            <p:nvPr/>
          </p:nvSpPr>
          <p:spPr bwMode="auto">
            <a:xfrm flipV="1">
              <a:off x="4618" y="3324"/>
              <a:ext cx="530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1" name="Line 53"/>
            <p:cNvSpPr>
              <a:spLocks noChangeShapeType="1"/>
            </p:cNvSpPr>
            <p:nvPr/>
          </p:nvSpPr>
          <p:spPr bwMode="auto">
            <a:xfrm>
              <a:off x="4618" y="3611"/>
              <a:ext cx="575" cy="2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2" name="Text Box 54"/>
            <p:cNvSpPr txBox="1">
              <a:spLocks noChangeArrowheads="1"/>
            </p:cNvSpPr>
            <p:nvPr/>
          </p:nvSpPr>
          <p:spPr bwMode="auto">
            <a:xfrm>
              <a:off x="4709" y="3974"/>
              <a:ext cx="3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/>
                <a:t>f</a:t>
              </a:r>
              <a:r>
                <a:rPr kumimoji="0" lang="en-US" altLang="zh-CN" baseline="-25000"/>
                <a:t>4</a:t>
              </a:r>
            </a:p>
          </p:txBody>
        </p:sp>
        <p:sp>
          <p:nvSpPr>
            <p:cNvPr id="32823" name="Line 55"/>
            <p:cNvSpPr>
              <a:spLocks noChangeShapeType="1"/>
            </p:cNvSpPr>
            <p:nvPr/>
          </p:nvSpPr>
          <p:spPr bwMode="auto">
            <a:xfrm>
              <a:off x="3288" y="3097"/>
              <a:ext cx="545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6F926AC-7425-43B7-8B9D-A1ABA8B3FC5C}" type="slidenum">
              <a:rPr lang="zh-CN" altLang="en-US"/>
              <a:pPr/>
              <a:t>5</a:t>
            </a:fld>
            <a:endParaRPr lang="en-US" altLang="zh-CN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19138" y="1268413"/>
            <a:ext cx="7916862" cy="3889375"/>
          </a:xfrm>
          <a:noFill/>
        </p:spPr>
        <p:txBody>
          <a:bodyPr/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400" dirty="0"/>
              <a:t>(1)函数的</a:t>
            </a:r>
            <a:r>
              <a:rPr lang="zh-CN" altLang="en-US" sz="2400" dirty="0">
                <a:solidFill>
                  <a:srgbClr val="FF0000"/>
                </a:solidFill>
              </a:rPr>
              <a:t>定义域是</a:t>
            </a:r>
            <a:r>
              <a:rPr lang="en-US" altLang="zh-CN" sz="2400" dirty="0">
                <a:solidFill>
                  <a:srgbClr val="FF0000"/>
                </a:solidFill>
              </a:rPr>
              <a:t>X</a:t>
            </a:r>
            <a:r>
              <a:rPr lang="en-US" altLang="zh-CN" sz="2400" dirty="0"/>
              <a:t>，</a:t>
            </a:r>
            <a:r>
              <a:rPr lang="zh-CN" altLang="en-US" sz="2400" dirty="0"/>
              <a:t>而不是</a:t>
            </a:r>
            <a:r>
              <a:rPr lang="en-US" altLang="zh-CN" sz="2400" dirty="0"/>
              <a:t>X</a:t>
            </a:r>
            <a:r>
              <a:rPr lang="zh-CN" altLang="en-US" sz="2400" dirty="0"/>
              <a:t>的某个真子集；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400" dirty="0"/>
              <a:t>(2)</a:t>
            </a:r>
            <a:r>
              <a:rPr lang="zh-CN" altLang="en-US" sz="2400" dirty="0">
                <a:solidFill>
                  <a:srgbClr val="FF0000"/>
                </a:solidFill>
              </a:rPr>
              <a:t>一个</a:t>
            </a:r>
            <a:r>
              <a:rPr lang="en-US" altLang="zh-CN" sz="2400" dirty="0" err="1">
                <a:solidFill>
                  <a:srgbClr val="FF0000"/>
                </a:solidFill>
              </a:rPr>
              <a:t>x∈X</a:t>
            </a:r>
            <a:r>
              <a:rPr lang="en-US" altLang="zh-CN" sz="2400" dirty="0">
                <a:solidFill>
                  <a:srgbClr val="FF0000"/>
                </a:solidFill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</a:rPr>
              <a:t>只能对应唯一一个</a:t>
            </a:r>
            <a:r>
              <a:rPr lang="en-US" altLang="zh-CN" sz="2400" dirty="0">
                <a:solidFill>
                  <a:srgbClr val="FF0000"/>
                </a:solidFill>
              </a:rPr>
              <a:t>y</a:t>
            </a:r>
            <a:r>
              <a:rPr lang="en-US" altLang="zh-CN" sz="2400" dirty="0"/>
              <a:t>，</a:t>
            </a:r>
            <a:r>
              <a:rPr lang="zh-CN" altLang="en-US" sz="2400" dirty="0"/>
              <a:t>即若</a:t>
            </a:r>
            <a:r>
              <a:rPr lang="en-US" altLang="zh-CN" sz="2400" dirty="0"/>
              <a:t>f(x)=y</a:t>
            </a:r>
            <a:r>
              <a:rPr lang="zh-CN" altLang="en-US" sz="2400" dirty="0"/>
              <a:t>且</a:t>
            </a:r>
            <a:r>
              <a:rPr lang="en-US" altLang="zh-CN" sz="2400" dirty="0"/>
              <a:t>f(x)=z，</a:t>
            </a:r>
            <a:r>
              <a:rPr lang="zh-CN" altLang="en-US" sz="2400" dirty="0"/>
              <a:t>则</a:t>
            </a:r>
            <a:r>
              <a:rPr lang="en-US" altLang="zh-CN" sz="2400" dirty="0"/>
              <a:t>y=z</a:t>
            </a:r>
            <a:r>
              <a:rPr lang="zh-CN" altLang="en-US" sz="2400" dirty="0"/>
              <a:t>；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400" dirty="0"/>
              <a:t>(3)</a:t>
            </a:r>
            <a:r>
              <a:rPr lang="zh-CN" altLang="en-US" sz="2400" dirty="0"/>
              <a:t>函数中序偶的个数与其定义域中元素的个数是否相等？</a:t>
            </a:r>
          </a:p>
          <a:p>
            <a:pPr>
              <a:lnSpc>
                <a:spcPct val="130000"/>
              </a:lnSpc>
              <a:spcBef>
                <a:spcPct val="0"/>
              </a:spcBef>
              <a:buClr>
                <a:srgbClr val="FF0000"/>
              </a:buClr>
            </a:pPr>
            <a:r>
              <a:rPr lang="zh-CN" altLang="en-US" sz="2400" dirty="0">
                <a:solidFill>
                  <a:srgbClr val="3333CC"/>
                </a:solidFill>
              </a:rPr>
              <a:t>在函数</a:t>
            </a:r>
            <a:r>
              <a:rPr lang="en-US" altLang="zh-CN" sz="2400" dirty="0">
                <a:solidFill>
                  <a:srgbClr val="3333CC"/>
                </a:solidFill>
              </a:rPr>
              <a:t>f</a:t>
            </a:r>
            <a:r>
              <a:rPr lang="zh-CN" altLang="en-US" sz="2400" dirty="0">
                <a:solidFill>
                  <a:srgbClr val="3333CC"/>
                </a:solidFill>
              </a:rPr>
              <a:t>中，</a:t>
            </a:r>
            <a:r>
              <a:rPr lang="en-US" altLang="zh-CN" sz="2400" dirty="0">
                <a:solidFill>
                  <a:srgbClr val="3333CC"/>
                </a:solidFill>
              </a:rPr>
              <a:t>f</a:t>
            </a:r>
            <a:r>
              <a:rPr lang="zh-CN" altLang="en-US" sz="2400" dirty="0">
                <a:solidFill>
                  <a:srgbClr val="3333CC"/>
                </a:solidFill>
              </a:rPr>
              <a:t>的前域是函数</a:t>
            </a:r>
            <a:r>
              <a:rPr lang="en-US" altLang="zh-CN" sz="2400" dirty="0">
                <a:solidFill>
                  <a:srgbClr val="3333CC"/>
                </a:solidFill>
              </a:rPr>
              <a:t>y=f(x)</a:t>
            </a:r>
            <a:r>
              <a:rPr lang="zh-CN" altLang="en-US" sz="2400" dirty="0">
                <a:solidFill>
                  <a:srgbClr val="3333CC"/>
                </a:solidFill>
              </a:rPr>
              <a:t>的定义域；</a:t>
            </a:r>
            <a:r>
              <a:rPr lang="en-US" altLang="zh-CN" sz="2400" dirty="0">
                <a:solidFill>
                  <a:srgbClr val="3333CC"/>
                </a:solidFill>
              </a:rPr>
              <a:t>f</a:t>
            </a:r>
            <a:r>
              <a:rPr lang="zh-CN" altLang="en-US" sz="2400" dirty="0">
                <a:solidFill>
                  <a:srgbClr val="3333CC"/>
                </a:solidFill>
              </a:rPr>
              <a:t>的值域是</a:t>
            </a:r>
            <a:r>
              <a:rPr lang="en-US" altLang="zh-CN" sz="2400" dirty="0">
                <a:solidFill>
                  <a:srgbClr val="3333CC"/>
                </a:solidFill>
              </a:rPr>
              <a:t>Y</a:t>
            </a:r>
            <a:r>
              <a:rPr lang="zh-CN" altLang="en-US" sz="2400" dirty="0">
                <a:solidFill>
                  <a:srgbClr val="3333CC"/>
                </a:solidFill>
              </a:rPr>
              <a:t>的子集</a:t>
            </a:r>
            <a:r>
              <a:rPr lang="zh-CN" altLang="en-US" sz="2400" dirty="0"/>
              <a:t>。</a:t>
            </a:r>
          </a:p>
          <a:p>
            <a:pPr>
              <a:lnSpc>
                <a:spcPct val="130000"/>
              </a:lnSpc>
              <a:spcBef>
                <a:spcPct val="0"/>
              </a:spcBef>
              <a:buClr>
                <a:srgbClr val="6600CC"/>
              </a:buClr>
            </a:pPr>
            <a:r>
              <a:rPr lang="zh-CN" altLang="en-US" sz="2400" dirty="0"/>
              <a:t>     即</a:t>
            </a:r>
            <a:r>
              <a:rPr lang="en-US" altLang="zh-CN" sz="2400" dirty="0" err="1" smtClean="0"/>
              <a:t>domf</a:t>
            </a:r>
            <a:r>
              <a:rPr lang="en-US" altLang="zh-CN" sz="2400" dirty="0" smtClean="0"/>
              <a:t>=</a:t>
            </a:r>
            <a:r>
              <a:rPr lang="en-US" altLang="zh-CN" sz="2400" dirty="0" err="1" smtClean="0"/>
              <a:t>X，ranf</a:t>
            </a:r>
            <a:r>
              <a:rPr lang="en-US" altLang="zh-CN" sz="2400" dirty="0" smtClean="0"/>
              <a:t>=</a:t>
            </a:r>
            <a:r>
              <a:rPr lang="en-US" altLang="zh-CN" sz="2400" dirty="0" err="1" smtClean="0"/>
              <a:t>R</a:t>
            </a:r>
            <a:r>
              <a:rPr lang="en-US" altLang="zh-CN" sz="2400" baseline="-25000" dirty="0" err="1" smtClean="0"/>
              <a:t>f</a:t>
            </a:r>
            <a:r>
              <a:rPr lang="en-US" altLang="zh-CN" sz="2400" dirty="0" err="1" smtClean="0">
                <a:sym typeface="Symbol" pitchFamily="18" charset="2"/>
              </a:rPr>
              <a:t></a:t>
            </a:r>
            <a:r>
              <a:rPr lang="en-US" altLang="zh-CN" sz="2400" dirty="0" err="1"/>
              <a:t>Y。R</a:t>
            </a:r>
            <a:r>
              <a:rPr lang="en-US" altLang="zh-CN" sz="2400" baseline="-25000" dirty="0" err="1"/>
              <a:t>f</a:t>
            </a:r>
            <a:r>
              <a:rPr lang="en-US" altLang="zh-CN" sz="2400" dirty="0"/>
              <a:t>={y|(</a:t>
            </a:r>
            <a:r>
              <a:rPr lang="en-US" altLang="zh-CN" sz="2400" dirty="0">
                <a:sym typeface="Symbol" pitchFamily="18" charset="2"/>
              </a:rPr>
              <a:t>x</a:t>
            </a:r>
            <a:r>
              <a:rPr lang="en-US" altLang="zh-CN" sz="2400" dirty="0"/>
              <a:t>)(</a:t>
            </a:r>
            <a:r>
              <a:rPr lang="en-US" altLang="zh-CN" sz="2400" dirty="0" err="1"/>
              <a:t>x∈X</a:t>
            </a:r>
            <a:r>
              <a:rPr lang="en-US" altLang="zh-CN" sz="2400" dirty="0"/>
              <a:t>)∧y=f(x)}   </a:t>
            </a:r>
            <a:r>
              <a:rPr lang="zh-CN" altLang="en-US" sz="2400" dirty="0"/>
              <a:t>其中，集合</a:t>
            </a:r>
            <a:r>
              <a:rPr lang="en-US" altLang="zh-CN" sz="2400" dirty="0"/>
              <a:t>Y</a:t>
            </a:r>
            <a:r>
              <a:rPr lang="zh-CN" altLang="en-US" sz="2400" dirty="0"/>
              <a:t>称为</a:t>
            </a:r>
            <a:r>
              <a:rPr lang="en-US" altLang="zh-CN" sz="2400" dirty="0"/>
              <a:t>f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3333CC"/>
                </a:solidFill>
              </a:rPr>
              <a:t>共域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ranf</a:t>
            </a:r>
            <a:r>
              <a:rPr lang="zh-CN" altLang="en-US" sz="2400" dirty="0"/>
              <a:t>也称为函数的</a:t>
            </a:r>
            <a:r>
              <a:rPr lang="zh-CN" altLang="en-US" sz="2400" dirty="0">
                <a:solidFill>
                  <a:srgbClr val="3333CC"/>
                </a:solidFill>
              </a:rPr>
              <a:t>象集合</a:t>
            </a:r>
            <a:r>
              <a:rPr lang="zh-CN" altLang="en-US" sz="2400" dirty="0"/>
              <a:t>。</a:t>
            </a:r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719138" y="5116513"/>
            <a:ext cx="7916862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>
                <a:solidFill>
                  <a:srgbClr val="3333CC"/>
                </a:solidFill>
              </a:rPr>
              <a:t>设</a:t>
            </a:r>
            <a:r>
              <a:rPr lang="en-US" altLang="zh-CN">
                <a:solidFill>
                  <a:srgbClr val="3333CC"/>
                </a:solidFill>
              </a:rPr>
              <a:t>A，B</a:t>
            </a:r>
            <a:r>
              <a:rPr lang="zh-CN" altLang="en-US">
                <a:solidFill>
                  <a:srgbClr val="3333CC"/>
                </a:solidFill>
              </a:rPr>
              <a:t>为集合，如果</a:t>
            </a:r>
            <a:r>
              <a:rPr lang="en-US" altLang="zh-CN">
                <a:solidFill>
                  <a:srgbClr val="3333CC"/>
                </a:solidFill>
              </a:rPr>
              <a:t>f</a:t>
            </a:r>
            <a:r>
              <a:rPr lang="zh-CN" altLang="en-US">
                <a:solidFill>
                  <a:srgbClr val="3333CC"/>
                </a:solidFill>
              </a:rPr>
              <a:t>为函数，且</a:t>
            </a:r>
            <a:r>
              <a:rPr lang="en-US" altLang="zh-CN">
                <a:solidFill>
                  <a:srgbClr val="3333CC"/>
                </a:solidFill>
              </a:rPr>
              <a:t>domf=A</a:t>
            </a:r>
            <a:r>
              <a:rPr lang="zh-CN" altLang="en-US">
                <a:solidFill>
                  <a:srgbClr val="3333CC"/>
                </a:solidFill>
              </a:rPr>
              <a:t>，</a:t>
            </a:r>
            <a:r>
              <a:rPr lang="en-US" altLang="zh-CN">
                <a:solidFill>
                  <a:srgbClr val="3333CC"/>
                </a:solidFill>
              </a:rPr>
              <a:t>ranf</a:t>
            </a:r>
            <a:r>
              <a:rPr lang="en-US" altLang="zh-CN" b="0">
                <a:solidFill>
                  <a:srgbClr val="3333CC"/>
                </a:solidFill>
                <a:sym typeface="Symbol" pitchFamily="18" charset="2"/>
              </a:rPr>
              <a:t></a:t>
            </a:r>
            <a:r>
              <a:rPr lang="en-US" altLang="zh-CN">
                <a:solidFill>
                  <a:srgbClr val="3333CC"/>
                </a:solidFill>
              </a:rPr>
              <a:t>B</a:t>
            </a:r>
            <a:r>
              <a:rPr lang="zh-CN" altLang="en-US">
                <a:solidFill>
                  <a:srgbClr val="3333CC"/>
                </a:solidFill>
              </a:rPr>
              <a:t>，则称</a:t>
            </a:r>
            <a:r>
              <a:rPr lang="en-US" altLang="zh-CN">
                <a:solidFill>
                  <a:srgbClr val="3333CC"/>
                </a:solidFill>
              </a:rPr>
              <a:t>f</a:t>
            </a:r>
            <a:r>
              <a:rPr lang="zh-CN" altLang="en-US">
                <a:solidFill>
                  <a:srgbClr val="3333CC"/>
                </a:solidFill>
              </a:rPr>
              <a:t>为从</a:t>
            </a:r>
            <a:r>
              <a:rPr lang="en-US" altLang="zh-CN">
                <a:solidFill>
                  <a:srgbClr val="3333CC"/>
                </a:solidFill>
              </a:rPr>
              <a:t>A</a:t>
            </a:r>
            <a:r>
              <a:rPr lang="zh-CN" altLang="en-US">
                <a:solidFill>
                  <a:srgbClr val="3333CC"/>
                </a:solidFill>
              </a:rPr>
              <a:t>到</a:t>
            </a:r>
            <a:r>
              <a:rPr lang="en-US" altLang="zh-CN">
                <a:solidFill>
                  <a:srgbClr val="3333CC"/>
                </a:solidFill>
              </a:rPr>
              <a:t>B</a:t>
            </a:r>
            <a:r>
              <a:rPr lang="zh-CN" altLang="en-US">
                <a:solidFill>
                  <a:srgbClr val="3333CC"/>
                </a:solidFill>
              </a:rPr>
              <a:t>的函数，记作</a:t>
            </a:r>
            <a:r>
              <a:rPr lang="en-US" altLang="zh-CN">
                <a:solidFill>
                  <a:srgbClr val="3333CC"/>
                </a:solidFill>
              </a:rPr>
              <a:t>f</a:t>
            </a:r>
            <a:r>
              <a:rPr lang="zh-CN" altLang="en-US">
                <a:solidFill>
                  <a:srgbClr val="3333CC"/>
                </a:solidFill>
              </a:rPr>
              <a:t>：</a:t>
            </a:r>
            <a:r>
              <a:rPr lang="en-US" altLang="zh-CN">
                <a:solidFill>
                  <a:srgbClr val="3333CC"/>
                </a:solidFill>
              </a:rPr>
              <a:t>A</a:t>
            </a:r>
            <a:r>
              <a:rPr lang="zh-CN" altLang="en-US">
                <a:solidFill>
                  <a:srgbClr val="3333CC"/>
                </a:solidFill>
              </a:rPr>
              <a:t>→</a:t>
            </a:r>
            <a:r>
              <a:rPr lang="en-US" altLang="zh-CN">
                <a:solidFill>
                  <a:srgbClr val="3333CC"/>
                </a:solidFill>
              </a:rPr>
              <a:t>B</a:t>
            </a:r>
            <a:r>
              <a:rPr lang="zh-CN" altLang="en-US">
                <a:solidFill>
                  <a:srgbClr val="3333CC"/>
                </a:solidFill>
              </a:rPr>
              <a:t>。</a:t>
            </a:r>
          </a:p>
        </p:txBody>
      </p:sp>
      <p:sp>
        <p:nvSpPr>
          <p:cNvPr id="7178" name="Rectangle 10"/>
          <p:cNvSpPr>
            <a:spLocks noChangeArrowheads="1"/>
          </p:cNvSpPr>
          <p:nvPr/>
        </p:nvSpPr>
        <p:spPr bwMode="auto">
          <a:xfrm>
            <a:off x="1258888" y="714375"/>
            <a:ext cx="44656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FF0000"/>
              </a:buClr>
              <a:buSzPct val="60000"/>
              <a:buFont typeface="Wingdings" pitchFamily="2" charset="2"/>
              <a:buNone/>
            </a:pPr>
            <a:r>
              <a:rPr lang="en-US" altLang="zh-CN" sz="2800">
                <a:solidFill>
                  <a:srgbClr val="993300"/>
                </a:solidFill>
                <a:ea typeface="楷体_GB2312" pitchFamily="49" charset="-122"/>
              </a:rPr>
              <a:t>1</a:t>
            </a:r>
            <a:r>
              <a:rPr lang="zh-CN" altLang="en-US" sz="2800">
                <a:solidFill>
                  <a:srgbClr val="993300"/>
                </a:solidFill>
                <a:ea typeface="楷体_GB2312" pitchFamily="49" charset="-122"/>
              </a:rPr>
              <a:t>、函数与关系的区别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uiExpand="1" build="p" autoUpdateAnimBg="0"/>
      <p:bldP spid="717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ACADB5-9A3A-4F4C-9CCD-680F8234279D}" type="slidenum">
              <a:rPr lang="zh-CN" altLang="en-US"/>
              <a:pPr/>
              <a:t>6</a:t>
            </a:fld>
            <a:endParaRPr lang="en-US" altLang="zh-CN"/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468313" y="2667000"/>
            <a:ext cx="5540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ea typeface="楷体_GB2312" pitchFamily="49" charset="-122"/>
              </a:rPr>
              <a:t>一般关系</a:t>
            </a:r>
            <a:r>
              <a:rPr lang="zh-CN" altLang="en-US" sz="2200"/>
              <a:t>                      </a:t>
            </a:r>
            <a:r>
              <a:rPr lang="en-US" altLang="zh-CN" sz="2200"/>
              <a:t>domR               ranR</a:t>
            </a:r>
          </a:p>
        </p:txBody>
      </p:sp>
      <p:grpSp>
        <p:nvGrpSpPr>
          <p:cNvPr id="8219" name="Group 27"/>
          <p:cNvGrpSpPr>
            <a:grpSpLocks/>
          </p:cNvGrpSpPr>
          <p:nvPr/>
        </p:nvGrpSpPr>
        <p:grpSpPr bwMode="auto">
          <a:xfrm>
            <a:off x="1793875" y="152400"/>
            <a:ext cx="5514975" cy="2819400"/>
            <a:chOff x="1130" y="96"/>
            <a:chExt cx="3474" cy="1776"/>
          </a:xfrm>
        </p:grpSpPr>
        <p:sp>
          <p:nvSpPr>
            <p:cNvPr id="8195" name="Oval 3"/>
            <p:cNvSpPr>
              <a:spLocks noChangeArrowheads="1"/>
            </p:cNvSpPr>
            <p:nvPr/>
          </p:nvSpPr>
          <p:spPr bwMode="auto">
            <a:xfrm>
              <a:off x="1130" y="96"/>
              <a:ext cx="912" cy="1776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r>
                <a:rPr lang="en-US" altLang="zh-CN" sz="2200" b="0"/>
                <a:t>x</a:t>
              </a:r>
              <a:r>
                <a:rPr kumimoji="0" lang="en-US" altLang="zh-CN" baseline="-25000"/>
                <a:t>1</a:t>
              </a:r>
            </a:p>
            <a:p>
              <a:r>
                <a:rPr lang="en-US" altLang="zh-CN" sz="2200" b="0"/>
                <a:t>x</a:t>
              </a:r>
              <a:r>
                <a:rPr kumimoji="0" lang="en-US" altLang="zh-CN" baseline="-25000"/>
                <a:t>2</a:t>
              </a:r>
            </a:p>
            <a:p>
              <a:endParaRPr lang="en-US" altLang="zh-CN" sz="2200" b="0"/>
            </a:p>
            <a:p>
              <a:r>
                <a:rPr lang="en-US" altLang="zh-CN" sz="2200" b="0"/>
                <a:t>x</a:t>
              </a:r>
              <a:r>
                <a:rPr kumimoji="0" lang="en-US" altLang="zh-CN" baseline="-25000"/>
                <a:t>6</a:t>
              </a:r>
            </a:p>
            <a:p>
              <a:r>
                <a:rPr lang="en-US" altLang="zh-CN" sz="2200" b="0"/>
                <a:t>x</a:t>
              </a:r>
              <a:r>
                <a:rPr kumimoji="0" lang="en-US" altLang="zh-CN" baseline="-25000"/>
                <a:t>7</a:t>
              </a:r>
            </a:p>
          </p:txBody>
        </p:sp>
        <p:sp>
          <p:nvSpPr>
            <p:cNvPr id="8196" name="Oval 4"/>
            <p:cNvSpPr>
              <a:spLocks noChangeArrowheads="1"/>
            </p:cNvSpPr>
            <p:nvPr/>
          </p:nvSpPr>
          <p:spPr bwMode="auto">
            <a:xfrm>
              <a:off x="3644" y="96"/>
              <a:ext cx="960" cy="177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r>
                <a:rPr lang="zh-CN" altLang="en-US" sz="2200" b="0"/>
                <a:t>        </a:t>
              </a:r>
              <a:r>
                <a:rPr lang="en-US" altLang="zh-CN" sz="2200" b="0"/>
                <a:t>y</a:t>
              </a:r>
              <a:r>
                <a:rPr kumimoji="0" lang="en-US" altLang="zh-CN" baseline="-25000"/>
                <a:t>3</a:t>
              </a:r>
              <a:r>
                <a:rPr lang="en-US" altLang="zh-CN" sz="2200" b="0"/>
                <a:t> </a:t>
              </a:r>
            </a:p>
            <a:p>
              <a:r>
                <a:rPr lang="en-US" altLang="zh-CN" sz="2200" b="0"/>
                <a:t>         </a:t>
              </a:r>
            </a:p>
            <a:p>
              <a:r>
                <a:rPr lang="en-US" altLang="zh-CN" sz="2200" b="0"/>
                <a:t>        y</a:t>
              </a:r>
              <a:r>
                <a:rPr kumimoji="0" lang="en-US" altLang="zh-CN" baseline="-25000"/>
                <a:t>5</a:t>
              </a:r>
            </a:p>
            <a:p>
              <a:endParaRPr lang="en-US" altLang="zh-CN" sz="2200" b="0"/>
            </a:p>
            <a:p>
              <a:r>
                <a:rPr lang="en-US" altLang="zh-CN" sz="2200" b="0"/>
                <a:t>        y</a:t>
              </a:r>
              <a:r>
                <a:rPr kumimoji="0" lang="en-US" altLang="zh-CN" baseline="-25000"/>
                <a:t>6</a:t>
              </a:r>
              <a:r>
                <a:rPr lang="en-US" altLang="zh-CN" sz="2200" b="0">
                  <a:solidFill>
                    <a:srgbClr val="FFFFFF"/>
                  </a:solidFill>
                </a:rPr>
                <a:t>                           </a:t>
              </a:r>
            </a:p>
          </p:txBody>
        </p:sp>
        <p:sp>
          <p:nvSpPr>
            <p:cNvPr id="8197" name="Oval 5"/>
            <p:cNvSpPr>
              <a:spLocks noChangeArrowheads="1"/>
            </p:cNvSpPr>
            <p:nvPr/>
          </p:nvSpPr>
          <p:spPr bwMode="auto">
            <a:xfrm>
              <a:off x="1514" y="336"/>
              <a:ext cx="480" cy="1296"/>
            </a:xfrm>
            <a:prstGeom prst="ellipse">
              <a:avLst/>
            </a:prstGeom>
            <a:solidFill>
              <a:srgbClr val="66FF33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r>
                <a:rPr lang="en-US" altLang="zh-CN" sz="2200" b="0"/>
                <a:t>x</a:t>
              </a:r>
              <a:r>
                <a:rPr kumimoji="0" lang="en-US" altLang="zh-CN" baseline="-25000"/>
                <a:t>3</a:t>
              </a:r>
            </a:p>
            <a:p>
              <a:r>
                <a:rPr lang="en-US" altLang="zh-CN" sz="2200" b="0"/>
                <a:t>x</a:t>
              </a:r>
              <a:r>
                <a:rPr kumimoji="0" lang="en-US" altLang="zh-CN" baseline="-25000"/>
                <a:t>4</a:t>
              </a:r>
            </a:p>
            <a:p>
              <a:endParaRPr lang="en-US" altLang="zh-CN" sz="2200" b="0"/>
            </a:p>
            <a:p>
              <a:r>
                <a:rPr lang="en-US" altLang="zh-CN" sz="2200" b="0"/>
                <a:t>x</a:t>
              </a:r>
              <a:r>
                <a:rPr kumimoji="0" lang="en-US" altLang="zh-CN" baseline="-25000"/>
                <a:t>5</a:t>
              </a:r>
            </a:p>
          </p:txBody>
        </p:sp>
        <p:sp>
          <p:nvSpPr>
            <p:cNvPr id="8198" name="Oval 6"/>
            <p:cNvSpPr>
              <a:spLocks noChangeArrowheads="1"/>
            </p:cNvSpPr>
            <p:nvPr/>
          </p:nvSpPr>
          <p:spPr bwMode="auto">
            <a:xfrm>
              <a:off x="3740" y="336"/>
              <a:ext cx="432" cy="12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r>
                <a:rPr lang="en-US" altLang="zh-CN" sz="2200" b="0"/>
                <a:t>y</a:t>
              </a:r>
              <a:r>
                <a:rPr kumimoji="0" lang="en-US" altLang="zh-CN" baseline="-25000"/>
                <a:t>1</a:t>
              </a:r>
            </a:p>
            <a:p>
              <a:r>
                <a:rPr lang="en-US" altLang="zh-CN" sz="2200" b="0"/>
                <a:t>y</a:t>
              </a:r>
              <a:r>
                <a:rPr kumimoji="0" lang="en-US" altLang="zh-CN" baseline="-25000"/>
                <a:t>2</a:t>
              </a:r>
            </a:p>
            <a:p>
              <a:endParaRPr lang="en-US" altLang="zh-CN" sz="2200" b="0"/>
            </a:p>
            <a:p>
              <a:r>
                <a:rPr lang="en-US" altLang="zh-CN" sz="2200" b="0"/>
                <a:t>y</a:t>
              </a:r>
              <a:r>
                <a:rPr kumimoji="0" lang="en-US" altLang="zh-CN" baseline="-25000"/>
                <a:t>4</a:t>
              </a:r>
            </a:p>
          </p:txBody>
        </p:sp>
        <p:sp>
          <p:nvSpPr>
            <p:cNvPr id="8199" name="Freeform 7"/>
            <p:cNvSpPr>
              <a:spLocks/>
            </p:cNvSpPr>
            <p:nvPr/>
          </p:nvSpPr>
          <p:spPr bwMode="auto">
            <a:xfrm>
              <a:off x="1742" y="402"/>
              <a:ext cx="2126" cy="1091"/>
            </a:xfrm>
            <a:custGeom>
              <a:avLst/>
              <a:gdLst>
                <a:gd name="T0" fmla="*/ 2094 w 2126"/>
                <a:gd name="T1" fmla="*/ 336 h 1091"/>
                <a:gd name="T2" fmla="*/ 1710 w 2126"/>
                <a:gd name="T3" fmla="*/ 96 h 1091"/>
                <a:gd name="T4" fmla="*/ 1086 w 2126"/>
                <a:gd name="T5" fmla="*/ 0 h 1091"/>
                <a:gd name="T6" fmla="*/ 462 w 2126"/>
                <a:gd name="T7" fmla="*/ 96 h 1091"/>
                <a:gd name="T8" fmla="*/ 32 w 2126"/>
                <a:gd name="T9" fmla="*/ 284 h 1091"/>
                <a:gd name="T10" fmla="*/ 654 w 2126"/>
                <a:gd name="T11" fmla="*/ 528 h 1091"/>
                <a:gd name="T12" fmla="*/ 1470 w 2126"/>
                <a:gd name="T13" fmla="*/ 576 h 1091"/>
                <a:gd name="T14" fmla="*/ 2094 w 2126"/>
                <a:gd name="T15" fmla="*/ 528 h 1091"/>
                <a:gd name="T16" fmla="*/ 1662 w 2126"/>
                <a:gd name="T17" fmla="*/ 816 h 1091"/>
                <a:gd name="T18" fmla="*/ 942 w 2126"/>
                <a:gd name="T19" fmla="*/ 1056 h 1091"/>
                <a:gd name="T20" fmla="*/ 297 w 2126"/>
                <a:gd name="T21" fmla="*/ 1024 h 1091"/>
                <a:gd name="T22" fmla="*/ 41 w 2126"/>
                <a:gd name="T23" fmla="*/ 924 h 10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26" h="1091">
                  <a:moveTo>
                    <a:pt x="2094" y="336"/>
                  </a:moveTo>
                  <a:cubicBezTo>
                    <a:pt x="1986" y="244"/>
                    <a:pt x="1878" y="152"/>
                    <a:pt x="1710" y="96"/>
                  </a:cubicBezTo>
                  <a:cubicBezTo>
                    <a:pt x="1542" y="40"/>
                    <a:pt x="1294" y="0"/>
                    <a:pt x="1086" y="0"/>
                  </a:cubicBezTo>
                  <a:cubicBezTo>
                    <a:pt x="878" y="0"/>
                    <a:pt x="638" y="49"/>
                    <a:pt x="462" y="96"/>
                  </a:cubicBezTo>
                  <a:cubicBezTo>
                    <a:pt x="286" y="143"/>
                    <a:pt x="0" y="212"/>
                    <a:pt x="32" y="284"/>
                  </a:cubicBezTo>
                  <a:cubicBezTo>
                    <a:pt x="64" y="356"/>
                    <a:pt x="414" y="479"/>
                    <a:pt x="654" y="528"/>
                  </a:cubicBezTo>
                  <a:cubicBezTo>
                    <a:pt x="894" y="577"/>
                    <a:pt x="1230" y="576"/>
                    <a:pt x="1470" y="576"/>
                  </a:cubicBezTo>
                  <a:cubicBezTo>
                    <a:pt x="1710" y="576"/>
                    <a:pt x="2062" y="488"/>
                    <a:pt x="2094" y="528"/>
                  </a:cubicBezTo>
                  <a:cubicBezTo>
                    <a:pt x="2126" y="568"/>
                    <a:pt x="1854" y="728"/>
                    <a:pt x="1662" y="816"/>
                  </a:cubicBezTo>
                  <a:cubicBezTo>
                    <a:pt x="1470" y="904"/>
                    <a:pt x="1170" y="1021"/>
                    <a:pt x="942" y="1056"/>
                  </a:cubicBezTo>
                  <a:cubicBezTo>
                    <a:pt x="714" y="1091"/>
                    <a:pt x="447" y="1046"/>
                    <a:pt x="297" y="1024"/>
                  </a:cubicBezTo>
                  <a:cubicBezTo>
                    <a:pt x="147" y="1002"/>
                    <a:pt x="94" y="945"/>
                    <a:pt x="41" y="924"/>
                  </a:cubicBezTo>
                </a:path>
              </a:pathLst>
            </a:custGeom>
            <a:noFill/>
            <a:ln w="3175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00" name="Freeform 8"/>
            <p:cNvSpPr>
              <a:spLocks/>
            </p:cNvSpPr>
            <p:nvPr/>
          </p:nvSpPr>
          <p:spPr bwMode="auto">
            <a:xfrm>
              <a:off x="1801" y="942"/>
              <a:ext cx="2039" cy="457"/>
            </a:xfrm>
            <a:custGeom>
              <a:avLst/>
              <a:gdLst>
                <a:gd name="T0" fmla="*/ 0 w 2039"/>
                <a:gd name="T1" fmla="*/ 0 h 457"/>
                <a:gd name="T2" fmla="*/ 660 w 2039"/>
                <a:gd name="T3" fmla="*/ 233 h 457"/>
                <a:gd name="T4" fmla="*/ 1600 w 2039"/>
                <a:gd name="T5" fmla="*/ 429 h 457"/>
                <a:gd name="T6" fmla="*/ 2039 w 2039"/>
                <a:gd name="T7" fmla="*/ 402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39" h="457">
                  <a:moveTo>
                    <a:pt x="0" y="0"/>
                  </a:moveTo>
                  <a:cubicBezTo>
                    <a:pt x="108" y="39"/>
                    <a:pt x="393" y="162"/>
                    <a:pt x="660" y="233"/>
                  </a:cubicBezTo>
                  <a:cubicBezTo>
                    <a:pt x="927" y="304"/>
                    <a:pt x="1370" y="401"/>
                    <a:pt x="1600" y="429"/>
                  </a:cubicBezTo>
                  <a:cubicBezTo>
                    <a:pt x="1830" y="457"/>
                    <a:pt x="1948" y="408"/>
                    <a:pt x="2039" y="402"/>
                  </a:cubicBezTo>
                </a:path>
              </a:pathLst>
            </a:custGeom>
            <a:noFill/>
            <a:ln w="3175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02" name="Line 10"/>
            <p:cNvSpPr>
              <a:spLocks noChangeShapeType="1"/>
            </p:cNvSpPr>
            <p:nvPr/>
          </p:nvSpPr>
          <p:spPr bwMode="auto">
            <a:xfrm>
              <a:off x="1754" y="1488"/>
              <a:ext cx="432" cy="24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03" name="Line 11"/>
            <p:cNvSpPr>
              <a:spLocks noChangeShapeType="1"/>
            </p:cNvSpPr>
            <p:nvPr/>
          </p:nvSpPr>
          <p:spPr bwMode="auto">
            <a:xfrm flipH="1">
              <a:off x="3530" y="1488"/>
              <a:ext cx="384" cy="24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8204" name="Text Box 12"/>
          <p:cNvSpPr txBox="1">
            <a:spLocks noChangeArrowheads="1"/>
          </p:cNvSpPr>
          <p:nvPr/>
        </p:nvSpPr>
        <p:spPr bwMode="auto">
          <a:xfrm>
            <a:off x="1155700" y="5788025"/>
            <a:ext cx="739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ea typeface="楷体_GB2312" pitchFamily="49" charset="-122"/>
              </a:rPr>
              <a:t>函数</a:t>
            </a:r>
            <a:r>
              <a:rPr lang="zh-CN" altLang="en-US" sz="2200"/>
              <a:t>                      </a:t>
            </a:r>
            <a:r>
              <a:rPr lang="en-US" altLang="zh-CN" sz="2200"/>
              <a:t>domf                 ranf                      </a:t>
            </a:r>
            <a:r>
              <a:rPr lang="zh-CN" altLang="en-US">
                <a:ea typeface="楷体_GB2312" pitchFamily="49" charset="-122"/>
              </a:rPr>
              <a:t>共域</a:t>
            </a:r>
          </a:p>
        </p:txBody>
      </p:sp>
      <p:sp>
        <p:nvSpPr>
          <p:cNvPr id="8205" name="Line 13"/>
          <p:cNvSpPr>
            <a:spLocks noChangeShapeType="1"/>
          </p:cNvSpPr>
          <p:nvPr/>
        </p:nvSpPr>
        <p:spPr bwMode="auto">
          <a:xfrm>
            <a:off x="2784475" y="5535613"/>
            <a:ext cx="685800" cy="381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206" name="Line 14"/>
          <p:cNvSpPr>
            <a:spLocks noChangeShapeType="1"/>
          </p:cNvSpPr>
          <p:nvPr/>
        </p:nvSpPr>
        <p:spPr bwMode="auto">
          <a:xfrm>
            <a:off x="6670675" y="5688013"/>
            <a:ext cx="609600" cy="228600"/>
          </a:xfrm>
          <a:prstGeom prst="line">
            <a:avLst/>
          </a:prstGeom>
          <a:noFill/>
          <a:ln w="9525">
            <a:solidFill>
              <a:srgbClr val="00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8207" name="Group 15"/>
          <p:cNvGrpSpPr>
            <a:grpSpLocks/>
          </p:cNvGrpSpPr>
          <p:nvPr/>
        </p:nvGrpSpPr>
        <p:grpSpPr bwMode="auto">
          <a:xfrm>
            <a:off x="1793875" y="3184525"/>
            <a:ext cx="5486400" cy="2846388"/>
            <a:chOff x="720" y="2256"/>
            <a:chExt cx="3456" cy="1793"/>
          </a:xfrm>
        </p:grpSpPr>
        <p:sp>
          <p:nvSpPr>
            <p:cNvPr id="8208" name="Oval 16"/>
            <p:cNvSpPr>
              <a:spLocks noChangeArrowheads="1"/>
            </p:cNvSpPr>
            <p:nvPr/>
          </p:nvSpPr>
          <p:spPr bwMode="auto">
            <a:xfrm>
              <a:off x="720" y="2273"/>
              <a:ext cx="912" cy="1776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r>
                <a:rPr lang="en-US" altLang="zh-CN" sz="2200" b="0"/>
                <a:t>x</a:t>
              </a:r>
              <a:r>
                <a:rPr kumimoji="0" lang="en-US" altLang="zh-CN" baseline="-25000"/>
                <a:t>1</a:t>
              </a:r>
            </a:p>
            <a:p>
              <a:r>
                <a:rPr lang="en-US" altLang="zh-CN" sz="2200" b="0"/>
                <a:t>x</a:t>
              </a:r>
              <a:r>
                <a:rPr kumimoji="0" lang="en-US" altLang="zh-CN" baseline="-25000"/>
                <a:t>2</a:t>
              </a:r>
            </a:p>
            <a:p>
              <a:endParaRPr lang="en-US" altLang="zh-CN" sz="2200" b="0"/>
            </a:p>
            <a:p>
              <a:r>
                <a:rPr lang="en-US" altLang="zh-CN" sz="2200" b="0"/>
                <a:t>x</a:t>
              </a:r>
              <a:r>
                <a:rPr kumimoji="0" lang="en-US" altLang="zh-CN" baseline="-25000"/>
                <a:t>3</a:t>
              </a:r>
            </a:p>
            <a:p>
              <a:r>
                <a:rPr lang="en-US" altLang="zh-CN" sz="2200" b="0"/>
                <a:t>x</a:t>
              </a:r>
              <a:r>
                <a:rPr kumimoji="0" lang="en-US" altLang="zh-CN" baseline="-25000"/>
                <a:t>4</a:t>
              </a:r>
            </a:p>
          </p:txBody>
        </p:sp>
        <p:sp>
          <p:nvSpPr>
            <p:cNvPr id="8209" name="Oval 17"/>
            <p:cNvSpPr>
              <a:spLocks noChangeArrowheads="1"/>
            </p:cNvSpPr>
            <p:nvPr/>
          </p:nvSpPr>
          <p:spPr bwMode="auto">
            <a:xfrm>
              <a:off x="3216" y="2256"/>
              <a:ext cx="960" cy="177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r>
                <a:rPr lang="zh-CN" altLang="en-US" sz="2200" b="0"/>
                <a:t>        </a:t>
              </a:r>
              <a:r>
                <a:rPr lang="en-US" altLang="zh-CN" sz="2200" b="0"/>
                <a:t>y</a:t>
              </a:r>
              <a:r>
                <a:rPr kumimoji="0" lang="en-US" altLang="zh-CN" baseline="-25000"/>
                <a:t>3</a:t>
              </a:r>
              <a:r>
                <a:rPr lang="en-US" altLang="zh-CN" sz="2200" b="0"/>
                <a:t> </a:t>
              </a:r>
            </a:p>
            <a:p>
              <a:r>
                <a:rPr lang="en-US" altLang="zh-CN" sz="2200" b="0"/>
                <a:t>         </a:t>
              </a:r>
            </a:p>
            <a:p>
              <a:r>
                <a:rPr lang="en-US" altLang="zh-CN" sz="2200" b="0"/>
                <a:t>        y</a:t>
              </a:r>
              <a:r>
                <a:rPr kumimoji="0" lang="en-US" altLang="zh-CN" baseline="-25000"/>
                <a:t>5</a:t>
              </a:r>
            </a:p>
            <a:p>
              <a:endParaRPr lang="en-US" altLang="zh-CN" sz="2200" b="0"/>
            </a:p>
            <a:p>
              <a:r>
                <a:rPr lang="en-US" altLang="zh-CN" sz="2200" b="0"/>
                <a:t>        y</a:t>
              </a:r>
              <a:r>
                <a:rPr kumimoji="0" lang="en-US" altLang="zh-CN" baseline="-25000"/>
                <a:t>6  </a:t>
              </a:r>
              <a:r>
                <a:rPr lang="en-US" altLang="zh-CN" sz="2200" b="0">
                  <a:solidFill>
                    <a:srgbClr val="FFFFFF"/>
                  </a:solidFill>
                </a:rPr>
                <a:t>                         </a:t>
              </a:r>
            </a:p>
          </p:txBody>
        </p:sp>
        <p:sp>
          <p:nvSpPr>
            <p:cNvPr id="8210" name="Oval 18"/>
            <p:cNvSpPr>
              <a:spLocks noChangeArrowheads="1"/>
            </p:cNvSpPr>
            <p:nvPr/>
          </p:nvSpPr>
          <p:spPr bwMode="auto">
            <a:xfrm>
              <a:off x="3312" y="2496"/>
              <a:ext cx="432" cy="12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r>
                <a:rPr lang="en-US" altLang="zh-CN" sz="2200" b="0"/>
                <a:t>y</a:t>
              </a:r>
              <a:r>
                <a:rPr kumimoji="0" lang="en-US" altLang="zh-CN" baseline="-25000"/>
                <a:t>1</a:t>
              </a:r>
            </a:p>
            <a:p>
              <a:r>
                <a:rPr lang="en-US" altLang="zh-CN" sz="2200" b="0"/>
                <a:t>y</a:t>
              </a:r>
              <a:r>
                <a:rPr kumimoji="0" lang="en-US" altLang="zh-CN" baseline="-25000"/>
                <a:t>2</a:t>
              </a:r>
            </a:p>
            <a:p>
              <a:endParaRPr lang="en-US" altLang="zh-CN" sz="2200" b="0"/>
            </a:p>
            <a:p>
              <a:r>
                <a:rPr lang="en-US" altLang="zh-CN" sz="2200" b="0"/>
                <a:t>y</a:t>
              </a:r>
              <a:r>
                <a:rPr kumimoji="0" lang="en-US" altLang="zh-CN" baseline="-25000"/>
                <a:t>4</a:t>
              </a:r>
            </a:p>
          </p:txBody>
        </p:sp>
        <p:grpSp>
          <p:nvGrpSpPr>
            <p:cNvPr id="8211" name="Group 19"/>
            <p:cNvGrpSpPr>
              <a:grpSpLocks/>
            </p:cNvGrpSpPr>
            <p:nvPr/>
          </p:nvGrpSpPr>
          <p:grpSpPr bwMode="auto">
            <a:xfrm>
              <a:off x="1104" y="2647"/>
              <a:ext cx="2352" cy="987"/>
              <a:chOff x="1104" y="2647"/>
              <a:chExt cx="2352" cy="987"/>
            </a:xfrm>
          </p:grpSpPr>
          <p:sp>
            <p:nvSpPr>
              <p:cNvPr id="8212" name="Freeform 20"/>
              <p:cNvSpPr>
                <a:spLocks/>
              </p:cNvSpPr>
              <p:nvPr/>
            </p:nvSpPr>
            <p:spPr bwMode="auto">
              <a:xfrm>
                <a:off x="1104" y="2928"/>
                <a:ext cx="2352" cy="616"/>
              </a:xfrm>
              <a:custGeom>
                <a:avLst/>
                <a:gdLst>
                  <a:gd name="T0" fmla="*/ 0 w 2016"/>
                  <a:gd name="T1" fmla="*/ 0 h 520"/>
                  <a:gd name="T2" fmla="*/ 624 w 2016"/>
                  <a:gd name="T3" fmla="*/ 240 h 520"/>
                  <a:gd name="T4" fmla="*/ 1536 w 2016"/>
                  <a:gd name="T5" fmla="*/ 480 h 520"/>
                  <a:gd name="T6" fmla="*/ 2016 w 2016"/>
                  <a:gd name="T7" fmla="*/ 480 h 5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16" h="520">
                    <a:moveTo>
                      <a:pt x="0" y="0"/>
                    </a:moveTo>
                    <a:cubicBezTo>
                      <a:pt x="184" y="80"/>
                      <a:pt x="368" y="160"/>
                      <a:pt x="624" y="240"/>
                    </a:cubicBezTo>
                    <a:cubicBezTo>
                      <a:pt x="880" y="320"/>
                      <a:pt x="1304" y="440"/>
                      <a:pt x="1536" y="480"/>
                    </a:cubicBezTo>
                    <a:cubicBezTo>
                      <a:pt x="1768" y="520"/>
                      <a:pt x="1936" y="480"/>
                      <a:pt x="2016" y="480"/>
                    </a:cubicBezTo>
                  </a:path>
                </a:pathLst>
              </a:cu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13" name="Freeform 21"/>
              <p:cNvSpPr>
                <a:spLocks/>
              </p:cNvSpPr>
              <p:nvPr/>
            </p:nvSpPr>
            <p:spPr bwMode="auto">
              <a:xfrm>
                <a:off x="1135" y="2647"/>
                <a:ext cx="2262" cy="225"/>
              </a:xfrm>
              <a:custGeom>
                <a:avLst/>
                <a:gdLst>
                  <a:gd name="T0" fmla="*/ 0 w 2262"/>
                  <a:gd name="T1" fmla="*/ 21 h 225"/>
                  <a:gd name="T2" fmla="*/ 381 w 2262"/>
                  <a:gd name="T3" fmla="*/ 13 h 225"/>
                  <a:gd name="T4" fmla="*/ 610 w 2262"/>
                  <a:gd name="T5" fmla="*/ 38 h 225"/>
                  <a:gd name="T6" fmla="*/ 966 w 2262"/>
                  <a:gd name="T7" fmla="*/ 89 h 225"/>
                  <a:gd name="T8" fmla="*/ 1245 w 2262"/>
                  <a:gd name="T9" fmla="*/ 123 h 225"/>
                  <a:gd name="T10" fmla="*/ 1753 w 2262"/>
                  <a:gd name="T11" fmla="*/ 140 h 225"/>
                  <a:gd name="T12" fmla="*/ 2041 w 2262"/>
                  <a:gd name="T13" fmla="*/ 182 h 225"/>
                  <a:gd name="T14" fmla="*/ 2262 w 2262"/>
                  <a:gd name="T15" fmla="*/ 225 h 2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62" h="225">
                    <a:moveTo>
                      <a:pt x="0" y="21"/>
                    </a:moveTo>
                    <a:cubicBezTo>
                      <a:pt x="136" y="0"/>
                      <a:pt x="231" y="8"/>
                      <a:pt x="381" y="13"/>
                    </a:cubicBezTo>
                    <a:cubicBezTo>
                      <a:pt x="457" y="22"/>
                      <a:pt x="534" y="28"/>
                      <a:pt x="610" y="38"/>
                    </a:cubicBezTo>
                    <a:cubicBezTo>
                      <a:pt x="718" y="77"/>
                      <a:pt x="853" y="79"/>
                      <a:pt x="966" y="89"/>
                    </a:cubicBezTo>
                    <a:cubicBezTo>
                      <a:pt x="1059" y="97"/>
                      <a:pt x="1152" y="117"/>
                      <a:pt x="1245" y="123"/>
                    </a:cubicBezTo>
                    <a:cubicBezTo>
                      <a:pt x="1339" y="129"/>
                      <a:pt x="1695" y="138"/>
                      <a:pt x="1753" y="140"/>
                    </a:cubicBezTo>
                    <a:cubicBezTo>
                      <a:pt x="1850" y="155"/>
                      <a:pt x="1943" y="174"/>
                      <a:pt x="2041" y="182"/>
                    </a:cubicBezTo>
                    <a:cubicBezTo>
                      <a:pt x="2113" y="197"/>
                      <a:pt x="2188" y="225"/>
                      <a:pt x="2262" y="225"/>
                    </a:cubicBezTo>
                  </a:path>
                </a:pathLst>
              </a:cu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14" name="Freeform 22"/>
              <p:cNvSpPr>
                <a:spLocks/>
              </p:cNvSpPr>
              <p:nvPr/>
            </p:nvSpPr>
            <p:spPr bwMode="auto">
              <a:xfrm>
                <a:off x="1160" y="3079"/>
                <a:ext cx="2271" cy="284"/>
              </a:xfrm>
              <a:custGeom>
                <a:avLst/>
                <a:gdLst>
                  <a:gd name="T0" fmla="*/ 0 w 2271"/>
                  <a:gd name="T1" fmla="*/ 284 h 284"/>
                  <a:gd name="T2" fmla="*/ 331 w 2271"/>
                  <a:gd name="T3" fmla="*/ 199 h 284"/>
                  <a:gd name="T4" fmla="*/ 636 w 2271"/>
                  <a:gd name="T5" fmla="*/ 157 h 284"/>
                  <a:gd name="T6" fmla="*/ 1618 w 2271"/>
                  <a:gd name="T7" fmla="*/ 38 h 284"/>
                  <a:gd name="T8" fmla="*/ 2050 w 2271"/>
                  <a:gd name="T9" fmla="*/ 21 h 284"/>
                  <a:gd name="T10" fmla="*/ 2169 w 2271"/>
                  <a:gd name="T11" fmla="*/ 13 h 284"/>
                  <a:gd name="T12" fmla="*/ 2271 w 2271"/>
                  <a:gd name="T13" fmla="*/ 4 h 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71" h="284">
                    <a:moveTo>
                      <a:pt x="0" y="284"/>
                    </a:moveTo>
                    <a:cubicBezTo>
                      <a:pt x="110" y="255"/>
                      <a:pt x="219" y="219"/>
                      <a:pt x="331" y="199"/>
                    </a:cubicBezTo>
                    <a:cubicBezTo>
                      <a:pt x="432" y="181"/>
                      <a:pt x="535" y="174"/>
                      <a:pt x="636" y="157"/>
                    </a:cubicBezTo>
                    <a:cubicBezTo>
                      <a:pt x="960" y="103"/>
                      <a:pt x="1289" y="54"/>
                      <a:pt x="1618" y="38"/>
                    </a:cubicBezTo>
                    <a:cubicBezTo>
                      <a:pt x="1762" y="31"/>
                      <a:pt x="1906" y="31"/>
                      <a:pt x="2050" y="21"/>
                    </a:cubicBezTo>
                    <a:cubicBezTo>
                      <a:pt x="2090" y="18"/>
                      <a:pt x="2129" y="16"/>
                      <a:pt x="2169" y="13"/>
                    </a:cubicBezTo>
                    <a:cubicBezTo>
                      <a:pt x="2231" y="0"/>
                      <a:pt x="2197" y="4"/>
                      <a:pt x="2271" y="4"/>
                    </a:cubicBezTo>
                  </a:path>
                </a:pathLst>
              </a:cu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215" name="Freeform 23"/>
              <p:cNvSpPr>
                <a:spLocks/>
              </p:cNvSpPr>
              <p:nvPr/>
            </p:nvSpPr>
            <p:spPr bwMode="auto">
              <a:xfrm>
                <a:off x="1160" y="3558"/>
                <a:ext cx="2279" cy="76"/>
              </a:xfrm>
              <a:custGeom>
                <a:avLst/>
                <a:gdLst>
                  <a:gd name="T0" fmla="*/ 0 w 2279"/>
                  <a:gd name="T1" fmla="*/ 76 h 76"/>
                  <a:gd name="T2" fmla="*/ 238 w 2279"/>
                  <a:gd name="T3" fmla="*/ 17 h 76"/>
                  <a:gd name="T4" fmla="*/ 670 w 2279"/>
                  <a:gd name="T5" fmla="*/ 0 h 76"/>
                  <a:gd name="T6" fmla="*/ 1313 w 2279"/>
                  <a:gd name="T7" fmla="*/ 25 h 76"/>
                  <a:gd name="T8" fmla="*/ 1728 w 2279"/>
                  <a:gd name="T9" fmla="*/ 34 h 76"/>
                  <a:gd name="T10" fmla="*/ 2279 w 2279"/>
                  <a:gd name="T11" fmla="*/ 8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79" h="76">
                    <a:moveTo>
                      <a:pt x="0" y="76"/>
                    </a:moveTo>
                    <a:cubicBezTo>
                      <a:pt x="83" y="47"/>
                      <a:pt x="145" y="21"/>
                      <a:pt x="238" y="17"/>
                    </a:cubicBezTo>
                    <a:cubicBezTo>
                      <a:pt x="382" y="10"/>
                      <a:pt x="670" y="0"/>
                      <a:pt x="670" y="0"/>
                    </a:cubicBezTo>
                    <a:cubicBezTo>
                      <a:pt x="893" y="4"/>
                      <a:pt x="1095" y="11"/>
                      <a:pt x="1313" y="25"/>
                    </a:cubicBezTo>
                    <a:cubicBezTo>
                      <a:pt x="1461" y="47"/>
                      <a:pt x="1561" y="39"/>
                      <a:pt x="1728" y="34"/>
                    </a:cubicBezTo>
                    <a:cubicBezTo>
                      <a:pt x="1911" y="15"/>
                      <a:pt x="2095" y="8"/>
                      <a:pt x="2279" y="8"/>
                    </a:cubicBezTo>
                  </a:path>
                </a:pathLst>
              </a:cu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8217" name="Line 25"/>
          <p:cNvSpPr>
            <a:spLocks noChangeShapeType="1"/>
          </p:cNvSpPr>
          <p:nvPr/>
        </p:nvSpPr>
        <p:spPr bwMode="auto">
          <a:xfrm flipH="1">
            <a:off x="5602288" y="5505450"/>
            <a:ext cx="609600" cy="381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7D2F1C6-1BED-44EA-ADA2-685C53A04D9E}" type="slidenum">
              <a:rPr lang="zh-CN" altLang="en-US"/>
              <a:pPr/>
              <a:t>7</a:t>
            </a:fld>
            <a:endParaRPr lang="en-US" altLang="zh-CN"/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719138" y="1446213"/>
            <a:ext cx="7916862" cy="140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FF0000"/>
                </a:solidFill>
              </a:rPr>
              <a:t>定义4-1.2：</a:t>
            </a:r>
            <a:r>
              <a:rPr lang="zh-CN" altLang="en-US"/>
              <a:t>设函数</a:t>
            </a:r>
            <a:r>
              <a:rPr lang="en-US" altLang="zh-CN"/>
              <a:t>f: A→B，g: C→D</a:t>
            </a:r>
            <a:r>
              <a:rPr lang="zh-CN" altLang="en-US"/>
              <a:t>，如果</a:t>
            </a:r>
            <a:r>
              <a:rPr lang="en-US" altLang="zh-CN"/>
              <a:t>A=C，B=D，</a:t>
            </a:r>
            <a:r>
              <a:rPr lang="zh-CN" altLang="en-US"/>
              <a:t>且对于所有</a:t>
            </a:r>
            <a:r>
              <a:rPr lang="en-US" altLang="zh-CN"/>
              <a:t>x∈A</a:t>
            </a:r>
            <a:r>
              <a:rPr lang="zh-CN" altLang="en-US"/>
              <a:t>和</a:t>
            </a:r>
            <a:r>
              <a:rPr lang="en-US" altLang="zh-CN"/>
              <a:t>x∈C</a:t>
            </a:r>
            <a:r>
              <a:rPr lang="zh-CN" altLang="en-US"/>
              <a:t>有</a:t>
            </a:r>
            <a:r>
              <a:rPr lang="en-US" altLang="zh-CN"/>
              <a:t>f(x)=g(x)</a:t>
            </a:r>
            <a:r>
              <a:rPr lang="zh-CN" altLang="en-US"/>
              <a:t>，则称函数</a:t>
            </a:r>
            <a:r>
              <a:rPr lang="en-US" altLang="zh-CN"/>
              <a:t>f</a:t>
            </a:r>
            <a:r>
              <a:rPr lang="zh-CN" altLang="en-US"/>
              <a:t>和</a:t>
            </a:r>
            <a:r>
              <a:rPr lang="en-US" altLang="zh-CN"/>
              <a:t>g</a:t>
            </a:r>
            <a:r>
              <a:rPr lang="zh-CN" altLang="en-US"/>
              <a:t>相等，记作</a:t>
            </a:r>
            <a:r>
              <a:rPr lang="en-US" altLang="zh-CN"/>
              <a:t>f=g</a:t>
            </a:r>
            <a:r>
              <a:rPr lang="zh-CN" altLang="en-US"/>
              <a:t>。</a:t>
            </a:r>
            <a:r>
              <a:rPr lang="zh-CN" altLang="en-US" b="0">
                <a:solidFill>
                  <a:srgbClr val="0033CC"/>
                </a:solidFill>
              </a:rPr>
              <a:t> </a:t>
            </a:r>
            <a:endParaRPr lang="zh-CN" altLang="en-US">
              <a:solidFill>
                <a:srgbClr val="000099"/>
              </a:solidFill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719138" y="2794000"/>
            <a:ext cx="7916862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>
                <a:srgbClr val="6600CC"/>
              </a:buClr>
              <a:buFont typeface="Wingdings" pitchFamily="2" charset="2"/>
              <a:buChar char="Ø"/>
            </a:pPr>
            <a:r>
              <a:rPr lang="zh-CN" altLang="en-US"/>
              <a:t>函数与笛卡尔积的关系</a:t>
            </a:r>
          </a:p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FF0000"/>
                </a:solidFill>
              </a:rPr>
              <a:t>例：</a:t>
            </a:r>
            <a:r>
              <a:rPr lang="zh-CN" altLang="en-US"/>
              <a:t>设</a:t>
            </a:r>
            <a:r>
              <a:rPr lang="en-US" altLang="zh-CN"/>
              <a:t>X={a, b, c}</a:t>
            </a:r>
            <a:r>
              <a:rPr lang="zh-CN" altLang="en-US"/>
              <a:t>，</a:t>
            </a:r>
            <a:r>
              <a:rPr lang="en-US" altLang="zh-CN"/>
              <a:t>Y={0, 1}</a:t>
            </a:r>
          </a:p>
          <a:p>
            <a:pPr>
              <a:lnSpc>
                <a:spcPct val="120000"/>
              </a:lnSpc>
            </a:pPr>
            <a:r>
              <a:rPr lang="en-US" altLang="zh-CN"/>
              <a:t>X×Y={&lt;a,0&gt;,&lt;b,0&gt;,&lt;c,0&gt;,&lt;a,1&gt;,&lt;b,1&gt;,&lt;c,1&gt;}，</a:t>
            </a:r>
            <a:r>
              <a:rPr lang="zh-CN" altLang="en-US"/>
              <a:t>考虑其子集有多少个函数？如何写出这些函数？</a:t>
            </a:r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719138" y="4608513"/>
            <a:ext cx="7916862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120000"/>
              </a:lnSpc>
            </a:pPr>
            <a:r>
              <a:rPr lang="zh-CN" altLang="en-US">
                <a:solidFill>
                  <a:srgbClr val="FF0000"/>
                </a:solidFill>
              </a:rPr>
              <a:t>如：</a:t>
            </a:r>
            <a:r>
              <a:rPr lang="en-US" altLang="zh-CN"/>
              <a:t>f</a:t>
            </a:r>
            <a:r>
              <a:rPr kumimoji="0" lang="en-US" altLang="zh-CN" baseline="-25000"/>
              <a:t>0</a:t>
            </a:r>
            <a:r>
              <a:rPr lang="en-US" altLang="zh-CN"/>
              <a:t>={&lt;a,0&gt;,&lt;b,0&gt;,&lt;c,0&gt;}，f</a:t>
            </a:r>
            <a:r>
              <a:rPr kumimoji="0" lang="en-US" altLang="zh-CN" baseline="-25000"/>
              <a:t>1</a:t>
            </a:r>
            <a:r>
              <a:rPr lang="en-US" altLang="zh-CN"/>
              <a:t>={&lt;a,0&gt;,&lt;b,0&gt;,&lt;c,1&gt;}</a:t>
            </a:r>
          </a:p>
          <a:p>
            <a:pPr marL="342900" indent="-342900">
              <a:lnSpc>
                <a:spcPct val="120000"/>
              </a:lnSpc>
            </a:pPr>
            <a:r>
              <a:rPr lang="en-US" altLang="zh-CN"/>
              <a:t>        f</a:t>
            </a:r>
            <a:r>
              <a:rPr kumimoji="0" lang="en-US" altLang="zh-CN" baseline="-25000"/>
              <a:t>2</a:t>
            </a:r>
            <a:r>
              <a:rPr lang="en-US" altLang="zh-CN"/>
              <a:t>={&lt;a,0&gt;,&lt;b,1&gt;,&lt;c,0&gt;}， f</a:t>
            </a:r>
            <a:r>
              <a:rPr kumimoji="0" lang="en-US" altLang="zh-CN" baseline="-25000"/>
              <a:t>3</a:t>
            </a:r>
            <a:r>
              <a:rPr lang="en-US" altLang="zh-CN"/>
              <a:t>={&lt;a,0&gt;,&lt;b,1&gt;,&lt;c,1&gt;}</a:t>
            </a:r>
          </a:p>
          <a:p>
            <a:pPr marL="342900" indent="-342900">
              <a:lnSpc>
                <a:spcPct val="120000"/>
              </a:lnSpc>
            </a:pPr>
            <a:r>
              <a:rPr lang="en-US" altLang="zh-CN"/>
              <a:t>        f</a:t>
            </a:r>
            <a:r>
              <a:rPr kumimoji="0" lang="en-US" altLang="zh-CN" baseline="-25000"/>
              <a:t>4</a:t>
            </a:r>
            <a:r>
              <a:rPr lang="en-US" altLang="zh-CN"/>
              <a:t>={&lt;a,1&gt;,&lt;b,0&gt;,&lt;c,0&gt;}， f</a:t>
            </a:r>
            <a:r>
              <a:rPr kumimoji="0" lang="en-US" altLang="zh-CN" baseline="-25000"/>
              <a:t>5</a:t>
            </a:r>
            <a:r>
              <a:rPr lang="en-US" altLang="zh-CN"/>
              <a:t>={&lt;a,1&gt;,&lt;b,0&gt;,&lt;c,1&gt;}</a:t>
            </a:r>
          </a:p>
          <a:p>
            <a:pPr marL="342900" indent="-342900">
              <a:lnSpc>
                <a:spcPct val="120000"/>
              </a:lnSpc>
            </a:pPr>
            <a:r>
              <a:rPr lang="en-US" altLang="zh-CN"/>
              <a:t>        f</a:t>
            </a:r>
            <a:r>
              <a:rPr kumimoji="0" lang="en-US" altLang="zh-CN" baseline="-25000"/>
              <a:t>6</a:t>
            </a:r>
            <a:r>
              <a:rPr lang="en-US" altLang="zh-CN"/>
              <a:t>={&lt;a,1&gt;,&lt;b,1&gt;,&lt;c,0&gt;}， f</a:t>
            </a:r>
            <a:r>
              <a:rPr kumimoji="0" lang="en-US" altLang="zh-CN" baseline="-25000"/>
              <a:t>7</a:t>
            </a:r>
            <a:r>
              <a:rPr lang="en-US" altLang="zh-CN"/>
              <a:t>={&lt;a,1&gt;,&lt;b,1&gt;,&lt;c,1&gt;}</a:t>
            </a: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187450" y="657225"/>
            <a:ext cx="5976938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>
                <a:srgbClr val="6600CC"/>
              </a:buClr>
              <a:buFont typeface="Wingdings" pitchFamily="2" charset="2"/>
              <a:buNone/>
            </a:pPr>
            <a:r>
              <a:rPr lang="en-US" altLang="zh-CN" sz="2800">
                <a:solidFill>
                  <a:srgbClr val="993300"/>
                </a:solidFill>
                <a:ea typeface="楷体_GB2312" pitchFamily="49" charset="-122"/>
              </a:rPr>
              <a:t>2</a:t>
            </a:r>
            <a:r>
              <a:rPr lang="zh-CN" altLang="en-US" sz="2800">
                <a:solidFill>
                  <a:srgbClr val="993300"/>
                </a:solidFill>
                <a:ea typeface="楷体_GB2312" pitchFamily="49" charset="-122"/>
              </a:rPr>
              <a:t>、函数相等的定义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5" grpId="0" build="p" autoUpdateAnimBg="0"/>
      <p:bldP spid="10246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6B30C9-F7B5-4825-9A6A-0B6821135D53}" type="slidenum">
              <a:rPr lang="zh-CN" altLang="en-US"/>
              <a:pPr/>
              <a:t>8</a:t>
            </a:fld>
            <a:endParaRPr lang="en-US" altLang="zh-CN"/>
          </a:p>
        </p:txBody>
      </p:sp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719138" y="1628775"/>
            <a:ext cx="7916862" cy="151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30000"/>
              </a:lnSpc>
              <a:buClr>
                <a:srgbClr val="6600CC"/>
              </a:buClr>
              <a:buFont typeface="Wingdings" pitchFamily="2" charset="2"/>
              <a:buChar char="Ø"/>
            </a:pPr>
            <a:r>
              <a:rPr lang="zh-CN" altLang="en-US"/>
              <a:t>若集合</a:t>
            </a:r>
            <a:r>
              <a:rPr kumimoji="0" lang="en-US" altLang="zh-CN"/>
              <a:t>X</a:t>
            </a:r>
            <a:r>
              <a:rPr lang="zh-CN" altLang="en-US"/>
              <a:t>和</a:t>
            </a:r>
            <a:r>
              <a:rPr kumimoji="0" lang="en-US" altLang="zh-CN"/>
              <a:t>Y</a:t>
            </a:r>
            <a:r>
              <a:rPr lang="zh-CN" altLang="en-US"/>
              <a:t>中分别有</a:t>
            </a:r>
            <a:r>
              <a:rPr kumimoji="0" lang="en-US" altLang="zh-CN"/>
              <a:t>m</a:t>
            </a:r>
            <a:r>
              <a:rPr lang="zh-CN" altLang="en-US"/>
              <a:t>和</a:t>
            </a:r>
            <a:r>
              <a:rPr kumimoji="0" lang="en-US" altLang="zh-CN"/>
              <a:t>n</a:t>
            </a:r>
            <a:r>
              <a:rPr lang="zh-CN" altLang="en-US"/>
              <a:t>个不同的元素，则共可构成</a:t>
            </a:r>
            <a:r>
              <a:rPr kumimoji="0" lang="en-US" altLang="zh-CN" i="1">
                <a:solidFill>
                  <a:srgbClr val="6600CC"/>
                </a:solidFill>
              </a:rPr>
              <a:t>n</a:t>
            </a:r>
            <a:r>
              <a:rPr kumimoji="0" lang="en-US" altLang="zh-CN" i="1" baseline="30000">
                <a:solidFill>
                  <a:srgbClr val="6600CC"/>
                </a:solidFill>
              </a:rPr>
              <a:t>m</a:t>
            </a:r>
            <a:r>
              <a:rPr lang="zh-CN" altLang="en-US"/>
              <a:t>个从</a:t>
            </a:r>
            <a:r>
              <a:rPr kumimoji="0" lang="en-US" altLang="zh-CN"/>
              <a:t>X</a:t>
            </a:r>
            <a:r>
              <a:rPr lang="zh-CN" altLang="en-US"/>
              <a:t>到</a:t>
            </a:r>
            <a:r>
              <a:rPr kumimoji="0" lang="en-US" altLang="zh-CN"/>
              <a:t>Y</a:t>
            </a:r>
            <a:r>
              <a:rPr lang="zh-CN" altLang="en-US"/>
              <a:t>的函数。</a:t>
            </a:r>
          </a:p>
          <a:p>
            <a:pPr>
              <a:lnSpc>
                <a:spcPct val="130000"/>
              </a:lnSpc>
              <a:buClr>
                <a:srgbClr val="6600CC"/>
              </a:buClr>
              <a:buFont typeface="Wingdings" pitchFamily="2" charset="2"/>
              <a:buChar char="Ø"/>
            </a:pPr>
            <a:r>
              <a:rPr lang="zh-CN" altLang="en-US">
                <a:sym typeface="Symbol" pitchFamily="18" charset="2"/>
              </a:rPr>
              <a:t>常用符号</a:t>
            </a:r>
            <a:r>
              <a:rPr lang="en-US" altLang="zh-CN">
                <a:solidFill>
                  <a:schemeClr val="tx2"/>
                </a:solidFill>
                <a:sym typeface="Symbol" pitchFamily="18" charset="2"/>
              </a:rPr>
              <a:t>Y</a:t>
            </a:r>
            <a:r>
              <a:rPr lang="en-US" altLang="zh-CN" baseline="30000">
                <a:solidFill>
                  <a:schemeClr val="tx2"/>
                </a:solidFill>
                <a:sym typeface="Symbol" pitchFamily="18" charset="2"/>
              </a:rPr>
              <a:t>X</a:t>
            </a:r>
            <a:r>
              <a:rPr lang="zh-CN" altLang="en-US">
                <a:sym typeface="Symbol" pitchFamily="18" charset="2"/>
              </a:rPr>
              <a:t>表示从</a:t>
            </a:r>
            <a:r>
              <a:rPr lang="en-US" altLang="zh-CN"/>
              <a:t>X</a:t>
            </a:r>
            <a:r>
              <a:rPr lang="zh-CN" altLang="en-US"/>
              <a:t>到</a:t>
            </a:r>
            <a:r>
              <a:rPr lang="en-US" altLang="zh-CN"/>
              <a:t>Y</a:t>
            </a:r>
            <a:r>
              <a:rPr lang="zh-CN" altLang="en-US"/>
              <a:t>的所有函数的集合。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1D5E4A-0314-4F08-AC32-A5B6EB14A680}" type="slidenum">
              <a:rPr lang="zh-CN" altLang="en-US"/>
              <a:pPr/>
              <a:t>9</a:t>
            </a:fld>
            <a:endParaRPr lang="en-US" altLang="zh-CN"/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719138" y="1412875"/>
            <a:ext cx="7916862" cy="294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定义4-1.3：</a:t>
            </a:r>
            <a:r>
              <a:rPr lang="zh-CN" altLang="en-US"/>
              <a:t>设函数</a:t>
            </a:r>
            <a:r>
              <a:rPr lang="en-US" altLang="zh-CN"/>
              <a:t>f: X→Y，</a:t>
            </a:r>
          </a:p>
          <a:p>
            <a:pPr algn="just">
              <a:lnSpc>
                <a:spcPct val="130000"/>
              </a:lnSpc>
            </a:pPr>
            <a:r>
              <a:rPr lang="en-US" altLang="zh-CN"/>
              <a:t>(1)</a:t>
            </a:r>
            <a:r>
              <a:rPr lang="zh-CN" altLang="en-US"/>
              <a:t>若</a:t>
            </a:r>
            <a:r>
              <a:rPr lang="en-US" altLang="zh-CN"/>
              <a:t>ranf=Y，</a:t>
            </a:r>
            <a:r>
              <a:rPr lang="zh-CN" altLang="en-US"/>
              <a:t>则称</a:t>
            </a:r>
            <a:r>
              <a:rPr lang="en-US" altLang="zh-CN"/>
              <a:t>f</a:t>
            </a:r>
            <a:r>
              <a:rPr lang="zh-CN" altLang="en-US"/>
              <a:t>是</a:t>
            </a:r>
            <a:r>
              <a:rPr lang="zh-CN" altLang="en-US" i="1">
                <a:solidFill>
                  <a:srgbClr val="FF0000"/>
                </a:solidFill>
              </a:rPr>
              <a:t>满射</a:t>
            </a:r>
            <a:r>
              <a:rPr lang="zh-CN" altLang="en-US"/>
              <a:t>的。即对任意</a:t>
            </a:r>
            <a:r>
              <a:rPr lang="en-US" altLang="zh-CN"/>
              <a:t>y</a:t>
            </a:r>
            <a:r>
              <a:rPr lang="en-US" altLang="zh-CN">
                <a:solidFill>
                  <a:srgbClr val="000000"/>
                </a:solidFill>
              </a:rPr>
              <a:t>∈Y，</a:t>
            </a:r>
            <a:r>
              <a:rPr lang="zh-CN" altLang="en-US">
                <a:solidFill>
                  <a:srgbClr val="000000"/>
                </a:solidFill>
              </a:rPr>
              <a:t>必存在</a:t>
            </a:r>
            <a:r>
              <a:rPr lang="en-US" altLang="zh-CN">
                <a:solidFill>
                  <a:srgbClr val="000000"/>
                </a:solidFill>
              </a:rPr>
              <a:t>x∈X</a:t>
            </a:r>
            <a:r>
              <a:rPr lang="zh-CN" altLang="en-US">
                <a:solidFill>
                  <a:srgbClr val="000000"/>
                </a:solidFill>
              </a:rPr>
              <a:t>使</a:t>
            </a:r>
            <a:r>
              <a:rPr lang="en-US" altLang="zh-CN">
                <a:solidFill>
                  <a:srgbClr val="000000"/>
                </a:solidFill>
              </a:rPr>
              <a:t>f(x)=y</a:t>
            </a:r>
            <a:r>
              <a:rPr lang="zh-CN" altLang="en-US">
                <a:solidFill>
                  <a:srgbClr val="000000"/>
                </a:solidFill>
              </a:rPr>
              <a:t>； </a:t>
            </a:r>
          </a:p>
          <a:p>
            <a:pPr algn="just">
              <a:lnSpc>
                <a:spcPct val="130000"/>
              </a:lnSpc>
            </a:pPr>
            <a:r>
              <a:rPr lang="en-US" altLang="zh-CN"/>
              <a:t>(2)</a:t>
            </a:r>
            <a:r>
              <a:rPr lang="zh-CN" altLang="en-US"/>
              <a:t>若</a:t>
            </a:r>
            <a:r>
              <a:rPr lang="en-US" altLang="zh-CN"/>
              <a:t>X</a:t>
            </a:r>
            <a:r>
              <a:rPr lang="zh-CN" altLang="en-US"/>
              <a:t>中没有两个不同的元素有相同的象，则称</a:t>
            </a:r>
            <a:r>
              <a:rPr lang="en-US" altLang="zh-CN"/>
              <a:t>f</a:t>
            </a:r>
            <a:r>
              <a:rPr lang="zh-CN" altLang="en-US"/>
              <a:t>是</a:t>
            </a:r>
            <a:r>
              <a:rPr lang="zh-CN" altLang="en-US" i="1">
                <a:solidFill>
                  <a:srgbClr val="FF0000"/>
                </a:solidFill>
              </a:rPr>
              <a:t>入射</a:t>
            </a:r>
            <a:r>
              <a:rPr lang="zh-CN" altLang="en-US"/>
              <a:t>的</a:t>
            </a:r>
            <a:r>
              <a:rPr lang="en-US" altLang="zh-CN"/>
              <a:t>(</a:t>
            </a:r>
            <a:r>
              <a:rPr lang="zh-CN" altLang="en-US">
                <a:solidFill>
                  <a:srgbClr val="FF0000"/>
                </a:solidFill>
              </a:rPr>
              <a:t>单射</a:t>
            </a:r>
            <a:r>
              <a:rPr lang="en-US" altLang="zh-CN"/>
              <a:t>)</a:t>
            </a:r>
            <a:r>
              <a:rPr lang="zh-CN" altLang="en-US"/>
              <a:t>。即任给</a:t>
            </a:r>
            <a:r>
              <a:rPr lang="en-US" altLang="zh-CN"/>
              <a:t>x</a:t>
            </a:r>
            <a:r>
              <a:rPr kumimoji="0" lang="en-US" altLang="zh-CN" baseline="-25000"/>
              <a:t>1</a:t>
            </a:r>
            <a:r>
              <a:rPr kumimoji="0" lang="zh-CN" altLang="en-US" baseline="-25000"/>
              <a:t>，</a:t>
            </a:r>
            <a:r>
              <a:rPr lang="en-US" altLang="zh-CN"/>
              <a:t>x</a:t>
            </a:r>
            <a:r>
              <a:rPr kumimoji="0" lang="en-US" altLang="zh-CN" baseline="-25000"/>
              <a:t>2</a:t>
            </a:r>
            <a:r>
              <a:rPr lang="en-US" altLang="zh-CN"/>
              <a:t>∈X，x</a:t>
            </a:r>
            <a:r>
              <a:rPr kumimoji="0" lang="en-US" altLang="zh-CN" baseline="-25000"/>
              <a:t>1</a:t>
            </a:r>
            <a:r>
              <a:rPr lang="en-US" altLang="zh-CN"/>
              <a:t>≠x</a:t>
            </a:r>
            <a:r>
              <a:rPr kumimoji="0" lang="en-US" altLang="zh-CN" baseline="-25000"/>
              <a:t>2</a:t>
            </a:r>
            <a:r>
              <a:rPr lang="en-US" altLang="zh-CN"/>
              <a:t>，</a:t>
            </a:r>
            <a:r>
              <a:rPr lang="zh-CN" altLang="en-US"/>
              <a:t>都有</a:t>
            </a:r>
            <a:r>
              <a:rPr lang="en-US" altLang="zh-CN"/>
              <a:t>f(x</a:t>
            </a:r>
            <a:r>
              <a:rPr kumimoji="0" lang="en-US" altLang="zh-CN" baseline="-25000"/>
              <a:t>1</a:t>
            </a:r>
            <a:r>
              <a:rPr lang="en-US" altLang="zh-CN"/>
              <a:t>)≠f(x</a:t>
            </a:r>
            <a:r>
              <a:rPr kumimoji="0" lang="en-US" altLang="zh-CN" baseline="-25000"/>
              <a:t>2</a:t>
            </a:r>
            <a:r>
              <a:rPr lang="en-US" altLang="zh-CN"/>
              <a:t>)</a:t>
            </a:r>
            <a:r>
              <a:rPr lang="zh-CN" altLang="en-US"/>
              <a:t>；</a:t>
            </a:r>
          </a:p>
          <a:p>
            <a:pPr algn="just">
              <a:lnSpc>
                <a:spcPct val="130000"/>
              </a:lnSpc>
            </a:pPr>
            <a:r>
              <a:rPr lang="en-US" altLang="zh-CN"/>
              <a:t>(3)</a:t>
            </a:r>
            <a:r>
              <a:rPr lang="zh-CN" altLang="en-US"/>
              <a:t>若</a:t>
            </a:r>
            <a:r>
              <a:rPr lang="en-US" altLang="zh-CN"/>
              <a:t>f</a:t>
            </a:r>
            <a:r>
              <a:rPr lang="zh-CN" altLang="en-US"/>
              <a:t>既是满射的又是入射的，则称</a:t>
            </a:r>
            <a:r>
              <a:rPr lang="en-US" altLang="zh-CN"/>
              <a:t>f</a:t>
            </a:r>
            <a:r>
              <a:rPr lang="zh-CN" altLang="en-US"/>
              <a:t>是</a:t>
            </a:r>
            <a:r>
              <a:rPr lang="zh-CN" altLang="en-US" i="1">
                <a:solidFill>
                  <a:srgbClr val="FF0000"/>
                </a:solidFill>
              </a:rPr>
              <a:t>双射</a:t>
            </a:r>
            <a:r>
              <a:rPr lang="zh-CN" altLang="en-US"/>
              <a:t>的(</a:t>
            </a:r>
            <a:r>
              <a:rPr lang="zh-CN" altLang="en-US">
                <a:solidFill>
                  <a:srgbClr val="FF0000"/>
                </a:solidFill>
              </a:rPr>
              <a:t>一一对应</a:t>
            </a:r>
            <a:r>
              <a:rPr lang="zh-CN" altLang="en-US"/>
              <a:t>)。</a:t>
            </a:r>
          </a:p>
        </p:txBody>
      </p:sp>
      <p:sp>
        <p:nvSpPr>
          <p:cNvPr id="11270" name="AutoShape 6"/>
          <p:cNvSpPr>
            <a:spLocks noChangeArrowheads="1"/>
          </p:cNvSpPr>
          <p:nvPr/>
        </p:nvSpPr>
        <p:spPr bwMode="auto">
          <a:xfrm>
            <a:off x="4716463" y="4581525"/>
            <a:ext cx="3822700" cy="1535113"/>
          </a:xfrm>
          <a:prstGeom prst="wedgeRoundRectCallout">
            <a:avLst>
              <a:gd name="adj1" fmla="val -62417"/>
              <a:gd name="adj2" fmla="val -156514"/>
              <a:gd name="adj3" fmla="val 16667"/>
            </a:avLst>
          </a:prstGeom>
          <a:solidFill>
            <a:srgbClr val="FFCC99">
              <a:alpha val="0"/>
            </a:srgbClr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/>
              <a:t>若</a:t>
            </a:r>
            <a:r>
              <a:rPr lang="en-US" altLang="zh-CN"/>
              <a:t>f</a:t>
            </a:r>
            <a:r>
              <a:rPr lang="zh-CN" altLang="en-US"/>
              <a:t>是一个满射，则</a:t>
            </a:r>
            <a:r>
              <a:rPr lang="en-US" altLang="zh-CN"/>
              <a:t>f(X)=Y, </a:t>
            </a:r>
            <a:r>
              <a:rPr lang="zh-CN" altLang="en-US"/>
              <a:t>则|</a:t>
            </a:r>
            <a:r>
              <a:rPr lang="en-US" altLang="zh-CN"/>
              <a:t>f(X)|=|Y|</a:t>
            </a:r>
          </a:p>
          <a:p>
            <a:pPr algn="just">
              <a:lnSpc>
                <a:spcPct val="120000"/>
              </a:lnSpc>
            </a:pPr>
            <a:r>
              <a:rPr lang="zh-CN" altLang="en-US"/>
              <a:t>若</a:t>
            </a:r>
            <a:r>
              <a:rPr lang="en-US" altLang="zh-CN"/>
              <a:t>f</a:t>
            </a:r>
            <a:r>
              <a:rPr lang="zh-CN" altLang="en-US"/>
              <a:t>是入射，则|</a:t>
            </a:r>
            <a:r>
              <a:rPr lang="en-US" altLang="zh-CN"/>
              <a:t>X|=|f(X)|</a:t>
            </a:r>
            <a:endParaRPr lang="zh-CN" altLang="en-US" b="0"/>
          </a:p>
        </p:txBody>
      </p:sp>
      <p:sp>
        <p:nvSpPr>
          <p:cNvPr id="11272" name="Rectangle 8"/>
          <p:cNvSpPr>
            <a:spLocks noChangeArrowheads="1"/>
          </p:cNvSpPr>
          <p:nvPr/>
        </p:nvSpPr>
        <p:spPr bwMode="auto">
          <a:xfrm>
            <a:off x="1187450" y="617538"/>
            <a:ext cx="64087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二、函数的性质</a:t>
            </a:r>
            <a:endParaRPr lang="en-US" altLang="zh-CN" sz="3200">
              <a:solidFill>
                <a:schemeClr val="folHlink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0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DA1D21-5F80-4DEB-93DC-FF8463D0EACE}" type="slidenum">
              <a:rPr lang="zh-CN" altLang="en-US"/>
              <a:pPr/>
              <a:t>10</a:t>
            </a:fld>
            <a:endParaRPr lang="en-US" altLang="zh-CN"/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900113" y="2209800"/>
            <a:ext cx="457200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0"/>
              <a:t>a</a:t>
            </a:r>
          </a:p>
          <a:p>
            <a:pPr>
              <a:spcBef>
                <a:spcPct val="50000"/>
              </a:spcBef>
            </a:pPr>
            <a:r>
              <a:rPr lang="en-US" altLang="zh-CN" b="0"/>
              <a:t>b</a:t>
            </a:r>
          </a:p>
          <a:p>
            <a:pPr>
              <a:spcBef>
                <a:spcPct val="50000"/>
              </a:spcBef>
            </a:pPr>
            <a:r>
              <a:rPr lang="en-US" altLang="zh-CN" b="0"/>
              <a:t>c</a:t>
            </a:r>
          </a:p>
          <a:p>
            <a:pPr>
              <a:spcBef>
                <a:spcPct val="50000"/>
              </a:spcBef>
            </a:pPr>
            <a:r>
              <a:rPr lang="en-US" altLang="zh-CN" b="0"/>
              <a:t>d</a:t>
            </a:r>
          </a:p>
          <a:p>
            <a:pPr>
              <a:spcBef>
                <a:spcPct val="50000"/>
              </a:spcBef>
            </a:pPr>
            <a:r>
              <a:rPr lang="en-US" altLang="zh-CN" b="0"/>
              <a:t>e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6767513" y="2209800"/>
            <a:ext cx="457200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0"/>
              <a:t>a</a:t>
            </a:r>
          </a:p>
          <a:p>
            <a:pPr>
              <a:spcBef>
                <a:spcPct val="50000"/>
              </a:spcBef>
            </a:pPr>
            <a:r>
              <a:rPr lang="en-US" altLang="zh-CN" b="0"/>
              <a:t>b</a:t>
            </a:r>
          </a:p>
          <a:p>
            <a:pPr>
              <a:spcBef>
                <a:spcPct val="50000"/>
              </a:spcBef>
            </a:pPr>
            <a:r>
              <a:rPr lang="en-US" altLang="zh-CN" b="0"/>
              <a:t>c</a:t>
            </a:r>
          </a:p>
          <a:p>
            <a:pPr>
              <a:spcBef>
                <a:spcPct val="50000"/>
              </a:spcBef>
            </a:pPr>
            <a:r>
              <a:rPr lang="en-US" altLang="zh-CN" b="0"/>
              <a:t>d</a:t>
            </a:r>
          </a:p>
          <a:p>
            <a:pPr>
              <a:spcBef>
                <a:spcPct val="50000"/>
              </a:spcBef>
            </a:pPr>
            <a:r>
              <a:rPr lang="en-US" altLang="zh-CN" b="0"/>
              <a:t>e</a:t>
            </a:r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2951163" y="2209800"/>
            <a:ext cx="457200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0"/>
              <a:t>a</a:t>
            </a:r>
          </a:p>
          <a:p>
            <a:pPr>
              <a:spcBef>
                <a:spcPct val="50000"/>
              </a:spcBef>
            </a:pPr>
            <a:r>
              <a:rPr lang="en-US" altLang="zh-CN" b="0"/>
              <a:t>b</a:t>
            </a:r>
          </a:p>
          <a:p>
            <a:pPr>
              <a:spcBef>
                <a:spcPct val="50000"/>
              </a:spcBef>
            </a:pPr>
            <a:r>
              <a:rPr lang="en-US" altLang="zh-CN" b="0"/>
              <a:t>c</a:t>
            </a:r>
          </a:p>
          <a:p>
            <a:pPr>
              <a:spcBef>
                <a:spcPct val="50000"/>
              </a:spcBef>
            </a:pPr>
            <a:r>
              <a:rPr lang="en-US" altLang="zh-CN" b="0"/>
              <a:t>d</a:t>
            </a:r>
          </a:p>
          <a:p>
            <a:pPr>
              <a:spcBef>
                <a:spcPct val="50000"/>
              </a:spcBef>
            </a:pPr>
            <a:r>
              <a:rPr lang="en-US" altLang="zh-CN" b="0"/>
              <a:t>e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195513" y="2590800"/>
            <a:ext cx="457200" cy="210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0"/>
              <a:t>x</a:t>
            </a:r>
          </a:p>
          <a:p>
            <a:pPr>
              <a:spcBef>
                <a:spcPct val="50000"/>
              </a:spcBef>
            </a:pPr>
            <a:r>
              <a:rPr lang="en-US" altLang="zh-CN" b="0"/>
              <a:t>y</a:t>
            </a:r>
          </a:p>
          <a:p>
            <a:pPr>
              <a:spcBef>
                <a:spcPct val="50000"/>
              </a:spcBef>
            </a:pPr>
            <a:r>
              <a:rPr lang="en-US" altLang="zh-CN" b="0"/>
              <a:t>z</a:t>
            </a:r>
          </a:p>
          <a:p>
            <a:pPr>
              <a:spcBef>
                <a:spcPct val="50000"/>
              </a:spcBef>
            </a:pPr>
            <a:r>
              <a:rPr lang="en-US" altLang="zh-CN" b="0"/>
              <a:t>m</a:t>
            </a:r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4225925" y="2184400"/>
            <a:ext cx="457200" cy="2757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b="0"/>
              <a:t>x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b="0"/>
              <a:t>y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b="0"/>
              <a:t>z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b="0"/>
              <a:t>m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b="0"/>
              <a:t>n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b="0"/>
              <a:t>o</a:t>
            </a:r>
          </a:p>
        </p:txBody>
      </p:sp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7605713" y="2271713"/>
            <a:ext cx="457200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0"/>
              <a:t>x</a:t>
            </a:r>
          </a:p>
          <a:p>
            <a:pPr>
              <a:spcBef>
                <a:spcPct val="50000"/>
              </a:spcBef>
            </a:pPr>
            <a:r>
              <a:rPr lang="en-US" altLang="zh-CN" b="0"/>
              <a:t>y</a:t>
            </a:r>
          </a:p>
          <a:p>
            <a:pPr>
              <a:spcBef>
                <a:spcPct val="50000"/>
              </a:spcBef>
            </a:pPr>
            <a:r>
              <a:rPr lang="en-US" altLang="zh-CN" b="0"/>
              <a:t>z</a:t>
            </a:r>
          </a:p>
          <a:p>
            <a:pPr>
              <a:spcBef>
                <a:spcPct val="50000"/>
              </a:spcBef>
            </a:pPr>
            <a:r>
              <a:rPr lang="en-US" altLang="zh-CN" b="0"/>
              <a:t>m</a:t>
            </a:r>
          </a:p>
          <a:p>
            <a:pPr>
              <a:spcBef>
                <a:spcPct val="50000"/>
              </a:spcBef>
            </a:pPr>
            <a:r>
              <a:rPr lang="en-US" altLang="zh-CN" b="0"/>
              <a:t>n</a:t>
            </a:r>
          </a:p>
        </p:txBody>
      </p:sp>
      <p:sp>
        <p:nvSpPr>
          <p:cNvPr id="12297" name="Line 9"/>
          <p:cNvSpPr>
            <a:spLocks noChangeShapeType="1"/>
          </p:cNvSpPr>
          <p:nvPr/>
        </p:nvSpPr>
        <p:spPr bwMode="auto">
          <a:xfrm>
            <a:off x="1204913" y="2438400"/>
            <a:ext cx="990600" cy="304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298" name="Line 10"/>
          <p:cNvSpPr>
            <a:spLocks noChangeShapeType="1"/>
          </p:cNvSpPr>
          <p:nvPr/>
        </p:nvSpPr>
        <p:spPr bwMode="auto">
          <a:xfrm flipV="1">
            <a:off x="1204913" y="2819400"/>
            <a:ext cx="914400" cy="2286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299" name="Line 11"/>
          <p:cNvSpPr>
            <a:spLocks noChangeShapeType="1"/>
          </p:cNvSpPr>
          <p:nvPr/>
        </p:nvSpPr>
        <p:spPr bwMode="auto">
          <a:xfrm flipV="1">
            <a:off x="1204913" y="3429000"/>
            <a:ext cx="990600" cy="1524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300" name="Line 12"/>
          <p:cNvSpPr>
            <a:spLocks noChangeShapeType="1"/>
          </p:cNvSpPr>
          <p:nvPr/>
        </p:nvSpPr>
        <p:spPr bwMode="auto">
          <a:xfrm>
            <a:off x="1204913" y="4114800"/>
            <a:ext cx="990600" cy="3810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301" name="Line 13"/>
          <p:cNvSpPr>
            <a:spLocks noChangeShapeType="1"/>
          </p:cNvSpPr>
          <p:nvPr/>
        </p:nvSpPr>
        <p:spPr bwMode="auto">
          <a:xfrm flipV="1">
            <a:off x="1204913" y="3962400"/>
            <a:ext cx="990600" cy="685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302" name="Line 14"/>
          <p:cNvSpPr>
            <a:spLocks noChangeShapeType="1"/>
          </p:cNvSpPr>
          <p:nvPr/>
        </p:nvSpPr>
        <p:spPr bwMode="auto">
          <a:xfrm>
            <a:off x="3255963" y="2471738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303" name="Line 15"/>
          <p:cNvSpPr>
            <a:spLocks noChangeShapeType="1"/>
          </p:cNvSpPr>
          <p:nvPr/>
        </p:nvSpPr>
        <p:spPr bwMode="auto">
          <a:xfrm>
            <a:off x="3255963" y="2971800"/>
            <a:ext cx="914400" cy="17526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304" name="Line 16"/>
          <p:cNvSpPr>
            <a:spLocks noChangeShapeType="1"/>
          </p:cNvSpPr>
          <p:nvPr/>
        </p:nvSpPr>
        <p:spPr bwMode="auto">
          <a:xfrm flipV="1">
            <a:off x="3255963" y="3352800"/>
            <a:ext cx="838200" cy="2286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305" name="Line 17"/>
          <p:cNvSpPr>
            <a:spLocks noChangeShapeType="1"/>
          </p:cNvSpPr>
          <p:nvPr/>
        </p:nvSpPr>
        <p:spPr bwMode="auto">
          <a:xfrm flipV="1">
            <a:off x="3255963" y="3886200"/>
            <a:ext cx="762000" cy="2286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306" name="Line 18"/>
          <p:cNvSpPr>
            <a:spLocks noChangeShapeType="1"/>
          </p:cNvSpPr>
          <p:nvPr/>
        </p:nvSpPr>
        <p:spPr bwMode="auto">
          <a:xfrm flipV="1">
            <a:off x="3179763" y="4343400"/>
            <a:ext cx="914400" cy="3810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307" name="Line 19"/>
          <p:cNvSpPr>
            <a:spLocks noChangeShapeType="1"/>
          </p:cNvSpPr>
          <p:nvPr/>
        </p:nvSpPr>
        <p:spPr bwMode="auto">
          <a:xfrm>
            <a:off x="6996113" y="2438400"/>
            <a:ext cx="685800" cy="685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308" name="Line 20"/>
          <p:cNvSpPr>
            <a:spLocks noChangeShapeType="1"/>
          </p:cNvSpPr>
          <p:nvPr/>
        </p:nvSpPr>
        <p:spPr bwMode="auto">
          <a:xfrm flipV="1">
            <a:off x="7072313" y="2590800"/>
            <a:ext cx="533400" cy="4572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309" name="Line 21"/>
          <p:cNvSpPr>
            <a:spLocks noChangeShapeType="1"/>
          </p:cNvSpPr>
          <p:nvPr/>
        </p:nvSpPr>
        <p:spPr bwMode="auto">
          <a:xfrm>
            <a:off x="6996113" y="3581400"/>
            <a:ext cx="609600" cy="5334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310" name="Line 22"/>
          <p:cNvSpPr>
            <a:spLocks noChangeShapeType="1"/>
          </p:cNvSpPr>
          <p:nvPr/>
        </p:nvSpPr>
        <p:spPr bwMode="auto">
          <a:xfrm flipV="1">
            <a:off x="6996113" y="3581400"/>
            <a:ext cx="609600" cy="5334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311" name="Line 23"/>
          <p:cNvSpPr>
            <a:spLocks noChangeShapeType="1"/>
          </p:cNvSpPr>
          <p:nvPr/>
        </p:nvSpPr>
        <p:spPr bwMode="auto">
          <a:xfrm>
            <a:off x="6996113" y="4648200"/>
            <a:ext cx="609600" cy="762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313" name="Text Box 25"/>
          <p:cNvSpPr txBox="1">
            <a:spLocks noChangeArrowheads="1"/>
          </p:cNvSpPr>
          <p:nvPr/>
        </p:nvSpPr>
        <p:spPr bwMode="auto">
          <a:xfrm>
            <a:off x="719138" y="1412875"/>
            <a:ext cx="7916862" cy="56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kumimoji="0" lang="zh-CN" altLang="en-US">
                <a:solidFill>
                  <a:schemeClr val="hlink"/>
                </a:solidFill>
              </a:rPr>
              <a:t>例</a:t>
            </a:r>
            <a:r>
              <a:rPr kumimoji="0" lang="en-US" altLang="zh-CN">
                <a:solidFill>
                  <a:schemeClr val="hlink"/>
                </a:solidFill>
              </a:rPr>
              <a:t>2</a:t>
            </a:r>
            <a:r>
              <a:rPr kumimoji="0" lang="zh-CN" altLang="en-US">
                <a:solidFill>
                  <a:schemeClr val="hlink"/>
                </a:solidFill>
              </a:rPr>
              <a:t>：</a:t>
            </a:r>
            <a:r>
              <a:rPr kumimoji="0" lang="zh-CN" altLang="en-US"/>
              <a:t>找出下列关系图中的满射、入射和双射</a:t>
            </a:r>
          </a:p>
        </p:txBody>
      </p:sp>
      <p:sp>
        <p:nvSpPr>
          <p:cNvPr id="12315" name="Text Box 27"/>
          <p:cNvSpPr txBox="1">
            <a:spLocks noChangeArrowheads="1"/>
          </p:cNvSpPr>
          <p:nvPr/>
        </p:nvSpPr>
        <p:spPr bwMode="auto">
          <a:xfrm>
            <a:off x="4819650" y="2209800"/>
            <a:ext cx="457200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0"/>
              <a:t>a</a:t>
            </a:r>
          </a:p>
          <a:p>
            <a:pPr>
              <a:spcBef>
                <a:spcPct val="50000"/>
              </a:spcBef>
            </a:pPr>
            <a:r>
              <a:rPr lang="en-US" altLang="zh-CN" b="0"/>
              <a:t>b</a:t>
            </a:r>
          </a:p>
          <a:p>
            <a:pPr>
              <a:spcBef>
                <a:spcPct val="50000"/>
              </a:spcBef>
            </a:pPr>
            <a:r>
              <a:rPr lang="en-US" altLang="zh-CN" b="0"/>
              <a:t>c</a:t>
            </a:r>
          </a:p>
          <a:p>
            <a:pPr>
              <a:spcBef>
                <a:spcPct val="50000"/>
              </a:spcBef>
            </a:pPr>
            <a:r>
              <a:rPr lang="en-US" altLang="zh-CN" b="0"/>
              <a:t>d</a:t>
            </a:r>
          </a:p>
          <a:p>
            <a:pPr>
              <a:spcBef>
                <a:spcPct val="50000"/>
              </a:spcBef>
            </a:pPr>
            <a:r>
              <a:rPr lang="en-US" altLang="zh-CN" b="0"/>
              <a:t>e</a:t>
            </a:r>
          </a:p>
        </p:txBody>
      </p:sp>
      <p:sp>
        <p:nvSpPr>
          <p:cNvPr id="12316" name="Text Box 28"/>
          <p:cNvSpPr txBox="1">
            <a:spLocks noChangeArrowheads="1"/>
          </p:cNvSpPr>
          <p:nvPr/>
        </p:nvSpPr>
        <p:spPr bwMode="auto">
          <a:xfrm>
            <a:off x="6094413" y="2184400"/>
            <a:ext cx="457200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b="0"/>
              <a:t>x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b="0"/>
              <a:t>y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b="0"/>
              <a:t>z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 altLang="zh-CN" b="0"/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b="0"/>
              <a:t>o</a:t>
            </a:r>
          </a:p>
        </p:txBody>
      </p:sp>
      <p:sp>
        <p:nvSpPr>
          <p:cNvPr id="12317" name="Line 29"/>
          <p:cNvSpPr>
            <a:spLocks noChangeShapeType="1"/>
          </p:cNvSpPr>
          <p:nvPr/>
        </p:nvSpPr>
        <p:spPr bwMode="auto">
          <a:xfrm>
            <a:off x="5124450" y="2471738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318" name="Line 30"/>
          <p:cNvSpPr>
            <a:spLocks noChangeShapeType="1"/>
          </p:cNvSpPr>
          <p:nvPr/>
        </p:nvSpPr>
        <p:spPr bwMode="auto">
          <a:xfrm flipV="1">
            <a:off x="5124450" y="2905125"/>
            <a:ext cx="993775" cy="6667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319" name="Line 31"/>
          <p:cNvSpPr>
            <a:spLocks noChangeShapeType="1"/>
          </p:cNvSpPr>
          <p:nvPr/>
        </p:nvSpPr>
        <p:spPr bwMode="auto">
          <a:xfrm flipV="1">
            <a:off x="5124450" y="3352800"/>
            <a:ext cx="838200" cy="2286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320" name="Line 32"/>
          <p:cNvSpPr>
            <a:spLocks noChangeShapeType="1"/>
          </p:cNvSpPr>
          <p:nvPr/>
        </p:nvSpPr>
        <p:spPr bwMode="auto">
          <a:xfrm>
            <a:off x="5124450" y="4114800"/>
            <a:ext cx="1066800" cy="15875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9B8FD3-5CD9-46F7-B79D-60B4CE370B45}" type="slidenum">
              <a:rPr lang="zh-CN" altLang="en-US"/>
              <a:pPr/>
              <a:t>11</a:t>
            </a:fld>
            <a:endParaRPr lang="en-US" altLang="zh-CN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719138" y="2232025"/>
            <a:ext cx="7916862" cy="451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dirty="0"/>
              <a:t>证明</a:t>
            </a:r>
            <a:r>
              <a:rPr lang="zh-CN" altLang="en-US" dirty="0">
                <a:sym typeface="Wingdings" pitchFamily="2" charset="2"/>
              </a:rPr>
              <a:t>：(1)</a:t>
            </a:r>
            <a:r>
              <a:rPr lang="zh-CN" altLang="en-US" dirty="0"/>
              <a:t>若</a:t>
            </a:r>
            <a:r>
              <a:rPr lang="en-US" altLang="zh-CN" dirty="0"/>
              <a:t>f</a:t>
            </a:r>
            <a:r>
              <a:rPr lang="zh-CN" altLang="en-US" dirty="0"/>
              <a:t>是入射，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         则|</a:t>
            </a:r>
            <a:r>
              <a:rPr lang="en-US" altLang="zh-CN" dirty="0"/>
              <a:t>X|=|f(X)|</a:t>
            </a:r>
            <a:r>
              <a:rPr lang="zh-CN" altLang="en-US" dirty="0"/>
              <a:t>，即|</a:t>
            </a:r>
            <a:r>
              <a:rPr lang="en-US" altLang="zh-CN" dirty="0"/>
              <a:t>Y|=|f(X)|</a:t>
            </a:r>
            <a:r>
              <a:rPr lang="zh-CN" altLang="en-US" dirty="0"/>
              <a:t>，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假设在</a:t>
            </a:r>
            <a:r>
              <a:rPr lang="en-US" altLang="zh-CN" dirty="0"/>
              <a:t>Y</a:t>
            </a:r>
            <a:r>
              <a:rPr lang="zh-CN" altLang="en-US" dirty="0"/>
              <a:t>中存在一个元素在</a:t>
            </a:r>
            <a:r>
              <a:rPr lang="en-US" altLang="zh-CN" dirty="0"/>
              <a:t>X</a:t>
            </a:r>
            <a:r>
              <a:rPr lang="zh-CN" altLang="en-US" dirty="0"/>
              <a:t>中没有与之对应的原象，则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         ∵</a:t>
            </a:r>
            <a:r>
              <a:rPr lang="en-US" altLang="zh-CN" dirty="0"/>
              <a:t>f(X</a:t>
            </a:r>
            <a:r>
              <a:rPr lang="en-US" altLang="zh-CN" dirty="0" smtClean="0"/>
              <a:t>)</a:t>
            </a:r>
            <a:r>
              <a:rPr lang="en-US" altLang="zh-CN" dirty="0" smtClean="0">
                <a:sym typeface="Symbol"/>
              </a:rPr>
              <a:t></a:t>
            </a:r>
            <a:r>
              <a:rPr lang="en-US" altLang="zh-CN" dirty="0" smtClean="0"/>
              <a:t>Y</a:t>
            </a:r>
            <a:r>
              <a:rPr lang="en-US" altLang="zh-CN" dirty="0"/>
              <a:t>， ∴|f(X)|&lt;|Y|</a:t>
            </a:r>
            <a:r>
              <a:rPr lang="zh-CN" altLang="en-US" dirty="0"/>
              <a:t>，出现矛盾，</a:t>
            </a:r>
          </a:p>
          <a:p>
            <a:pPr>
              <a:lnSpc>
                <a:spcPct val="110000"/>
              </a:lnSpc>
            </a:pPr>
            <a:r>
              <a:rPr lang="en-US" altLang="zh-CN" dirty="0"/>
              <a:t>         ∴ f</a:t>
            </a:r>
            <a:r>
              <a:rPr lang="zh-CN" altLang="en-US" dirty="0"/>
              <a:t>是满射。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         (2)若</a:t>
            </a:r>
            <a:r>
              <a:rPr lang="en-US" altLang="zh-CN" dirty="0"/>
              <a:t>f </a:t>
            </a:r>
            <a:r>
              <a:rPr lang="zh-CN" altLang="en-US" dirty="0"/>
              <a:t>是一个满射，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         则</a:t>
            </a:r>
            <a:r>
              <a:rPr lang="en-US" altLang="zh-CN" dirty="0"/>
              <a:t>f(X)=Y</a:t>
            </a:r>
            <a:r>
              <a:rPr lang="zh-CN" altLang="en-US" dirty="0"/>
              <a:t>，则|</a:t>
            </a:r>
            <a:r>
              <a:rPr lang="en-US" altLang="zh-CN" dirty="0"/>
              <a:t>f(X)|=|Y|</a:t>
            </a:r>
            <a:r>
              <a:rPr lang="zh-CN" altLang="en-US" dirty="0"/>
              <a:t>，</a:t>
            </a:r>
          </a:p>
          <a:p>
            <a:pPr>
              <a:lnSpc>
                <a:spcPct val="110000"/>
              </a:lnSpc>
            </a:pPr>
            <a:r>
              <a:rPr lang="en-US" altLang="zh-CN" dirty="0"/>
              <a:t>         ∵|X|=|Y| ∴ |f(X)|=|X|</a:t>
            </a:r>
            <a:r>
              <a:rPr lang="zh-CN" altLang="en-US" dirty="0"/>
              <a:t>，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假设在</a:t>
            </a:r>
            <a:r>
              <a:rPr lang="en-US" altLang="zh-CN" dirty="0"/>
              <a:t>X</a:t>
            </a:r>
            <a:r>
              <a:rPr lang="zh-CN" altLang="en-US" dirty="0"/>
              <a:t>中存在有两个不同元素的象相同，则 |</a:t>
            </a:r>
            <a:r>
              <a:rPr lang="en-US" altLang="zh-CN" dirty="0"/>
              <a:t>f(X)|&lt;|X|，</a:t>
            </a:r>
            <a:r>
              <a:rPr lang="zh-CN" altLang="en-US" dirty="0"/>
              <a:t>这与|</a:t>
            </a:r>
            <a:r>
              <a:rPr lang="en-US" altLang="zh-CN" dirty="0"/>
              <a:t>f(X)|=|X|</a:t>
            </a:r>
            <a:r>
              <a:rPr lang="zh-CN" altLang="en-US" dirty="0"/>
              <a:t>相矛盾，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        ∴</a:t>
            </a:r>
            <a:r>
              <a:rPr lang="en-US" altLang="zh-CN" dirty="0"/>
              <a:t>f </a:t>
            </a:r>
            <a:r>
              <a:rPr lang="zh-CN" altLang="en-US" dirty="0"/>
              <a:t>是一个入射。</a:t>
            </a: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719138" y="1381125"/>
            <a:ext cx="8174037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>
                <a:solidFill>
                  <a:srgbClr val="FF0000"/>
                </a:solidFill>
              </a:rPr>
              <a:t>定理4-1.1：</a:t>
            </a:r>
            <a:r>
              <a:rPr lang="zh-CN" altLang="en-US"/>
              <a:t>令</a:t>
            </a:r>
            <a:r>
              <a:rPr lang="en-US" altLang="zh-CN"/>
              <a:t>X</a:t>
            </a:r>
            <a:r>
              <a:rPr lang="zh-CN" altLang="en-US"/>
              <a:t>，</a:t>
            </a:r>
            <a:r>
              <a:rPr lang="en-US" altLang="zh-CN"/>
              <a:t>Y</a:t>
            </a:r>
            <a:r>
              <a:rPr lang="zh-CN" altLang="en-US"/>
              <a:t>为有限集，若 </a:t>
            </a:r>
            <a:r>
              <a:rPr lang="en-US" altLang="zh-CN"/>
              <a:t>X</a:t>
            </a:r>
            <a:r>
              <a:rPr lang="zh-CN" altLang="en-US"/>
              <a:t>，</a:t>
            </a:r>
            <a:r>
              <a:rPr lang="en-US" altLang="zh-CN"/>
              <a:t>Y</a:t>
            </a:r>
            <a:r>
              <a:rPr lang="zh-CN" altLang="en-US"/>
              <a:t>的元素个数相等，即|</a:t>
            </a:r>
            <a:r>
              <a:rPr lang="en-US" altLang="zh-CN"/>
              <a:t>X|=|Y|，</a:t>
            </a:r>
            <a:r>
              <a:rPr lang="zh-CN" altLang="en-US"/>
              <a:t>则</a:t>
            </a:r>
            <a:r>
              <a:rPr lang="en-US" altLang="zh-CN"/>
              <a:t>f</a:t>
            </a:r>
            <a:r>
              <a:rPr lang="zh-CN" altLang="en-US"/>
              <a:t>：</a:t>
            </a:r>
            <a:r>
              <a:rPr lang="en-US" altLang="zh-CN"/>
              <a:t>X→Y</a:t>
            </a:r>
            <a:r>
              <a:rPr lang="zh-CN" altLang="en-US"/>
              <a:t>是入射的，当且仅当它是一个满射。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3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13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13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133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133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uiExpand="1" build="p" autoUpdateAnimBg="0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39DB7-631C-433E-A4A5-633538151606}" type="slidenum">
              <a:rPr lang="zh-CN" altLang="en-US"/>
              <a:pPr/>
              <a:t>12</a:t>
            </a:fld>
            <a:endParaRPr lang="en-US" altLang="zh-CN"/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539750" y="1341438"/>
            <a:ext cx="8088313" cy="242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一、逆函数</a:t>
            </a:r>
          </a:p>
          <a:p>
            <a:pPr algn="just">
              <a:lnSpc>
                <a:spcPct val="120000"/>
              </a:lnSpc>
            </a:pPr>
            <a:r>
              <a:rPr lang="zh-CN" altLang="en-US">
                <a:solidFill>
                  <a:srgbClr val="FF0000"/>
                </a:solidFill>
              </a:rPr>
              <a:t>例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zh-CN" altLang="en-US">
                <a:solidFill>
                  <a:srgbClr val="FF0000"/>
                </a:solidFill>
              </a:rPr>
              <a:t>：</a:t>
            </a:r>
            <a:r>
              <a:rPr lang="zh-CN" altLang="en-US"/>
              <a:t>(1)令</a:t>
            </a:r>
            <a:r>
              <a:rPr lang="en-US" altLang="zh-CN"/>
              <a:t>f：{1,2,3} →{a,b,c}，</a:t>
            </a:r>
            <a:r>
              <a:rPr lang="zh-CN" altLang="en-US"/>
              <a:t>且</a:t>
            </a:r>
            <a:r>
              <a:rPr lang="en-US" altLang="zh-CN"/>
              <a:t>f={&lt;1,a&gt;, &lt;2,a&gt;, &lt;3,b&gt;}</a:t>
            </a:r>
          </a:p>
          <a:p>
            <a:pPr algn="just">
              <a:lnSpc>
                <a:spcPct val="120000"/>
              </a:lnSpc>
            </a:pPr>
            <a:r>
              <a:rPr lang="en-US" altLang="zh-CN"/>
              <a:t>          (2)</a:t>
            </a:r>
            <a:r>
              <a:rPr lang="zh-CN" altLang="en-US"/>
              <a:t>令</a:t>
            </a:r>
            <a:r>
              <a:rPr lang="en-US" altLang="zh-CN"/>
              <a:t>f：{1,2,3} →{a,b}，</a:t>
            </a:r>
            <a:r>
              <a:rPr lang="zh-CN" altLang="en-US"/>
              <a:t>且</a:t>
            </a:r>
            <a:r>
              <a:rPr lang="en-US" altLang="zh-CN"/>
              <a:t>f={&lt;1,a&gt;, &lt;2,a&gt;, &lt;3,b&gt;}</a:t>
            </a:r>
          </a:p>
          <a:p>
            <a:pPr algn="just">
              <a:lnSpc>
                <a:spcPct val="120000"/>
              </a:lnSpc>
            </a:pPr>
            <a:r>
              <a:rPr lang="en-US" altLang="zh-CN"/>
              <a:t>          (3)</a:t>
            </a:r>
            <a:r>
              <a:rPr lang="zh-CN" altLang="en-US"/>
              <a:t>令</a:t>
            </a:r>
            <a:r>
              <a:rPr lang="en-US" altLang="zh-CN"/>
              <a:t>f：{1,2,3} →{a,b,c}，</a:t>
            </a:r>
            <a:r>
              <a:rPr lang="zh-CN" altLang="en-US"/>
              <a:t>且</a:t>
            </a:r>
            <a:r>
              <a:rPr lang="en-US" altLang="zh-CN"/>
              <a:t>f={&lt;1,a&gt;, &lt;2,b&gt;, &lt;3,c&gt;}</a:t>
            </a:r>
          </a:p>
          <a:p>
            <a:pPr algn="just">
              <a:lnSpc>
                <a:spcPct val="120000"/>
              </a:lnSpc>
            </a:pPr>
            <a:r>
              <a:rPr lang="zh-CN" altLang="en-US"/>
              <a:t>求</a:t>
            </a:r>
            <a:r>
              <a:rPr lang="en-US" altLang="zh-CN"/>
              <a:t>f </a:t>
            </a:r>
            <a:r>
              <a:rPr lang="en-US" altLang="zh-CN" baseline="30000"/>
              <a:t>c</a:t>
            </a:r>
            <a:r>
              <a:rPr lang="zh-CN" altLang="en-US"/>
              <a:t>。</a:t>
            </a: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1187450" y="495300"/>
            <a:ext cx="64817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zh-CN" altLang="en-US" sz="4000">
                <a:latin typeface="华文行楷" pitchFamily="2" charset="-122"/>
                <a:ea typeface="华文行楷" pitchFamily="2" charset="-122"/>
              </a:rPr>
              <a:t>4-2  逆函数和复合函数</a:t>
            </a: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539750" y="3835400"/>
            <a:ext cx="4897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Clr>
                <a:srgbClr val="6600CC"/>
              </a:buClr>
              <a:buFont typeface="Wingdings" pitchFamily="2" charset="2"/>
              <a:buChar char="Ø"/>
            </a:pPr>
            <a:r>
              <a:rPr kumimoji="0" lang="zh-CN" altLang="en-US"/>
              <a:t>函数的逆不一定是函数。</a:t>
            </a:r>
          </a:p>
        </p:txBody>
      </p:sp>
      <p:sp>
        <p:nvSpPr>
          <p:cNvPr id="14343" name="AutoShape 7"/>
          <p:cNvSpPr>
            <a:spLocks noChangeArrowheads="1"/>
          </p:cNvSpPr>
          <p:nvPr/>
        </p:nvSpPr>
        <p:spPr bwMode="auto">
          <a:xfrm>
            <a:off x="1403350" y="4795838"/>
            <a:ext cx="6408738" cy="1512887"/>
          </a:xfrm>
          <a:prstGeom prst="cloudCallout">
            <a:avLst>
              <a:gd name="adj1" fmla="val -10588"/>
              <a:gd name="adj2" fmla="val -83264"/>
            </a:avLst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>
              <a:lnSpc>
                <a:spcPct val="120000"/>
              </a:lnSpc>
            </a:pPr>
            <a:r>
              <a:rPr lang="zh-CN" altLang="en-US" dirty="0">
                <a:solidFill>
                  <a:srgbClr val="FFD833"/>
                </a:solidFill>
                <a:ea typeface="楷体_GB2312" pitchFamily="49" charset="-122"/>
              </a:rPr>
              <a:t>对于什么样的函数</a:t>
            </a:r>
            <a:r>
              <a:rPr lang="en-US" altLang="zh-CN" dirty="0">
                <a:solidFill>
                  <a:srgbClr val="FFD833"/>
                </a:solidFill>
                <a:ea typeface="楷体_GB2312" pitchFamily="49" charset="-122"/>
              </a:rPr>
              <a:t>f</a:t>
            </a:r>
            <a:r>
              <a:rPr lang="zh-CN" altLang="en-US" dirty="0">
                <a:solidFill>
                  <a:srgbClr val="FFD833"/>
                </a:solidFill>
                <a:ea typeface="楷体_GB2312" pitchFamily="49" charset="-122"/>
              </a:rPr>
              <a:t>：</a:t>
            </a:r>
            <a:r>
              <a:rPr lang="en-US" altLang="zh-CN" dirty="0">
                <a:solidFill>
                  <a:srgbClr val="FFD833"/>
                </a:solidFill>
                <a:ea typeface="楷体_GB2312" pitchFamily="49" charset="-122"/>
              </a:rPr>
              <a:t>A </a:t>
            </a:r>
            <a:r>
              <a:rPr lang="zh-CN" altLang="en-US" dirty="0">
                <a:solidFill>
                  <a:srgbClr val="FFD833"/>
                </a:solidFill>
                <a:ea typeface="楷体_GB2312" pitchFamily="49" charset="-122"/>
              </a:rPr>
              <a:t>→</a:t>
            </a:r>
            <a:r>
              <a:rPr lang="en-US" altLang="zh-CN" dirty="0">
                <a:solidFill>
                  <a:srgbClr val="FFD833"/>
                </a:solidFill>
                <a:ea typeface="楷体_GB2312" pitchFamily="49" charset="-122"/>
              </a:rPr>
              <a:t>B</a:t>
            </a:r>
            <a:r>
              <a:rPr lang="zh-CN" altLang="en-US" dirty="0">
                <a:solidFill>
                  <a:srgbClr val="FFD833"/>
                </a:solidFill>
                <a:ea typeface="楷体_GB2312" pitchFamily="49" charset="-122"/>
              </a:rPr>
              <a:t>的逆</a:t>
            </a:r>
            <a:r>
              <a:rPr lang="en-US" altLang="zh-CN" dirty="0" smtClean="0">
                <a:solidFill>
                  <a:srgbClr val="FFD833"/>
                </a:solidFill>
                <a:ea typeface="楷体_GB2312" pitchFamily="49" charset="-122"/>
              </a:rPr>
              <a:t>f </a:t>
            </a:r>
            <a:r>
              <a:rPr lang="en-US" altLang="zh-CN" baseline="30000" dirty="0" smtClean="0">
                <a:solidFill>
                  <a:srgbClr val="FFD833"/>
                </a:solidFill>
                <a:ea typeface="楷体_GB2312" pitchFamily="49" charset="-122"/>
              </a:rPr>
              <a:t>-</a:t>
            </a:r>
            <a:r>
              <a:rPr lang="en-US" altLang="zh-CN" baseline="30000" dirty="0">
                <a:solidFill>
                  <a:srgbClr val="FFD833"/>
                </a:solidFill>
                <a:ea typeface="楷体_GB2312" pitchFamily="49" charset="-122"/>
              </a:rPr>
              <a:t>1</a:t>
            </a:r>
            <a:r>
              <a:rPr lang="zh-CN" altLang="en-US" dirty="0">
                <a:solidFill>
                  <a:srgbClr val="FFD833"/>
                </a:solidFill>
                <a:ea typeface="楷体_GB2312" pitchFamily="49" charset="-122"/>
              </a:rPr>
              <a:t>才是从</a:t>
            </a:r>
            <a:r>
              <a:rPr lang="en-US" altLang="zh-CN" dirty="0">
                <a:solidFill>
                  <a:srgbClr val="FFD833"/>
                </a:solidFill>
                <a:ea typeface="楷体_GB2312" pitchFamily="49" charset="-122"/>
              </a:rPr>
              <a:t>B</a:t>
            </a:r>
            <a:r>
              <a:rPr lang="zh-CN" altLang="en-US" dirty="0">
                <a:solidFill>
                  <a:srgbClr val="FFD833"/>
                </a:solidFill>
                <a:ea typeface="楷体_GB2312" pitchFamily="49" charset="-122"/>
              </a:rPr>
              <a:t>到</a:t>
            </a:r>
            <a:r>
              <a:rPr lang="en-US" altLang="zh-CN" dirty="0">
                <a:solidFill>
                  <a:srgbClr val="FFD833"/>
                </a:solidFill>
                <a:ea typeface="楷体_GB2312" pitchFamily="49" charset="-122"/>
              </a:rPr>
              <a:t>A</a:t>
            </a:r>
            <a:r>
              <a:rPr lang="zh-CN" altLang="en-US" dirty="0">
                <a:solidFill>
                  <a:srgbClr val="FFD833"/>
                </a:solidFill>
                <a:ea typeface="楷体_GB2312" pitchFamily="49" charset="-122"/>
              </a:rPr>
              <a:t>的函数呢？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 autoUpdateAnimBg="0"/>
      <p:bldP spid="1434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D14A055-7A51-4F76-9A3C-A55A65AAF7FE}" type="slidenum">
              <a:rPr lang="zh-CN" altLang="en-US"/>
              <a:pPr/>
              <a:t>13</a:t>
            </a:fld>
            <a:endParaRPr lang="en-US" altLang="zh-CN"/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719138" y="2146300"/>
            <a:ext cx="7916862" cy="272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证明：</a:t>
            </a:r>
            <a:r>
              <a:rPr lang="zh-CN" altLang="en-US">
                <a:solidFill>
                  <a:srgbClr val="3333CC"/>
                </a:solidFill>
                <a:sym typeface="Wingdings" pitchFamily="2" charset="2"/>
              </a:rPr>
              <a:t>(1) 先证</a:t>
            </a:r>
            <a:r>
              <a:rPr lang="en-US" altLang="zh-CN">
                <a:solidFill>
                  <a:srgbClr val="3333CC"/>
                </a:solidFill>
                <a:sym typeface="Wingdings" pitchFamily="2" charset="2"/>
              </a:rPr>
              <a:t>f </a:t>
            </a:r>
            <a:r>
              <a:rPr lang="en-US" altLang="zh-CN" baseline="30000">
                <a:solidFill>
                  <a:srgbClr val="3333CC"/>
                </a:solidFill>
                <a:sym typeface="Wingdings" pitchFamily="2" charset="2"/>
              </a:rPr>
              <a:t>c</a:t>
            </a:r>
            <a:r>
              <a:rPr lang="zh-CN" altLang="en-US">
                <a:solidFill>
                  <a:srgbClr val="3333CC"/>
                </a:solidFill>
                <a:sym typeface="Wingdings" pitchFamily="2" charset="2"/>
              </a:rPr>
              <a:t>为函数</a:t>
            </a:r>
            <a:r>
              <a:rPr lang="zh-CN" altLang="en-US">
                <a:solidFill>
                  <a:srgbClr val="993300"/>
                </a:solidFill>
                <a:sym typeface="Wingdings" pitchFamily="2" charset="2"/>
              </a:rPr>
              <a:t> </a:t>
            </a:r>
            <a:r>
              <a:rPr lang="zh-CN" altLang="en-US">
                <a:sym typeface="Wingdings" pitchFamily="2" charset="2"/>
              </a:rPr>
              <a:t>（注意</a:t>
            </a:r>
            <a:r>
              <a:rPr lang="en-US" altLang="zh-CN">
                <a:sym typeface="Wingdings" pitchFamily="2" charset="2"/>
              </a:rPr>
              <a:t>f </a:t>
            </a:r>
            <a:r>
              <a:rPr lang="en-US" altLang="zh-CN" baseline="30000">
                <a:sym typeface="Wingdings" pitchFamily="2" charset="2"/>
              </a:rPr>
              <a:t>c</a:t>
            </a:r>
            <a:r>
              <a:rPr lang="zh-CN" altLang="en-US"/>
              <a:t>：</a:t>
            </a:r>
            <a:r>
              <a:rPr lang="en-US" altLang="zh-CN"/>
              <a:t>Y→X</a:t>
            </a:r>
            <a:r>
              <a:rPr lang="zh-CN" altLang="en-US">
                <a:sym typeface="Wingdings" pitchFamily="2" charset="2"/>
              </a:rPr>
              <a:t>）</a:t>
            </a:r>
          </a:p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993300"/>
                </a:solidFill>
              </a:rPr>
              <a:t>        </a:t>
            </a:r>
          </a:p>
          <a:p>
            <a:pPr>
              <a:lnSpc>
                <a:spcPct val="120000"/>
              </a:lnSpc>
            </a:pPr>
            <a:endParaRPr lang="zh-CN" altLang="en-US">
              <a:solidFill>
                <a:srgbClr val="993300"/>
              </a:solidFill>
            </a:endParaRPr>
          </a:p>
          <a:p>
            <a:pPr>
              <a:lnSpc>
                <a:spcPct val="120000"/>
              </a:lnSpc>
            </a:pPr>
            <a:endParaRPr lang="zh-CN" altLang="en-US">
              <a:solidFill>
                <a:srgbClr val="993300"/>
              </a:solidFill>
            </a:endParaRPr>
          </a:p>
          <a:p>
            <a:pPr>
              <a:lnSpc>
                <a:spcPct val="120000"/>
              </a:lnSpc>
            </a:pPr>
            <a:endParaRPr lang="zh-CN" altLang="en-US">
              <a:solidFill>
                <a:srgbClr val="99330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993300"/>
                </a:solidFill>
              </a:rPr>
              <a:t>        </a:t>
            </a:r>
            <a:r>
              <a:rPr lang="zh-CN" altLang="en-US">
                <a:solidFill>
                  <a:srgbClr val="3333CC"/>
                </a:solidFill>
              </a:rPr>
              <a:t>(2) </a:t>
            </a:r>
            <a:r>
              <a:rPr lang="en-US" altLang="zh-CN">
                <a:solidFill>
                  <a:srgbClr val="3333CC"/>
                </a:solidFill>
              </a:rPr>
              <a:t>f </a:t>
            </a:r>
            <a:r>
              <a:rPr lang="en-US" altLang="zh-CN" baseline="30000">
                <a:solidFill>
                  <a:srgbClr val="3333CC"/>
                </a:solidFill>
              </a:rPr>
              <a:t>c</a:t>
            </a:r>
            <a:r>
              <a:rPr lang="zh-CN" altLang="en-US">
                <a:solidFill>
                  <a:srgbClr val="3333CC"/>
                </a:solidFill>
              </a:rPr>
              <a:t>是双射函数</a:t>
            </a: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719138" y="1308100"/>
            <a:ext cx="7916862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zh-CN" altLang="en-US">
                <a:solidFill>
                  <a:srgbClr val="FF0000"/>
                </a:solidFill>
              </a:rPr>
              <a:t>定理4-2.1：</a:t>
            </a:r>
            <a:r>
              <a:rPr lang="zh-CN" altLang="en-US"/>
              <a:t>设</a:t>
            </a:r>
            <a:r>
              <a:rPr lang="en-US" altLang="zh-CN"/>
              <a:t>f: X→Y </a:t>
            </a:r>
            <a:r>
              <a:rPr lang="zh-CN" altLang="en-US"/>
              <a:t>是双射的，则</a:t>
            </a:r>
            <a:r>
              <a:rPr lang="en-US" altLang="zh-CN"/>
              <a:t>f </a:t>
            </a:r>
            <a:r>
              <a:rPr lang="en-US" altLang="zh-CN" baseline="30000"/>
              <a:t>c</a:t>
            </a:r>
            <a:r>
              <a:rPr lang="zh-CN" altLang="en-US"/>
              <a:t>是从</a:t>
            </a:r>
            <a:r>
              <a:rPr lang="en-US" altLang="zh-CN"/>
              <a:t>Y</a:t>
            </a:r>
            <a:r>
              <a:rPr lang="zh-CN" altLang="en-US"/>
              <a:t>到</a:t>
            </a:r>
            <a:r>
              <a:rPr lang="en-US" altLang="zh-CN"/>
              <a:t>X</a:t>
            </a:r>
            <a:r>
              <a:rPr lang="zh-CN" altLang="en-US"/>
              <a:t>的双射函数。</a:t>
            </a: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719138" y="4824413"/>
            <a:ext cx="7916862" cy="1865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        因</a:t>
            </a:r>
            <a:r>
              <a:rPr lang="en-US" altLang="zh-CN" dirty="0"/>
              <a:t>ran f </a:t>
            </a:r>
            <a:r>
              <a:rPr lang="en-US" altLang="zh-CN" baseline="30000" dirty="0"/>
              <a:t>c</a:t>
            </a:r>
            <a:r>
              <a:rPr lang="en-US" altLang="zh-CN" dirty="0"/>
              <a:t>=</a:t>
            </a:r>
            <a:r>
              <a:rPr lang="en-US" altLang="zh-CN" dirty="0" err="1"/>
              <a:t>dom</a:t>
            </a:r>
            <a:r>
              <a:rPr lang="en-US" altLang="zh-CN" dirty="0"/>
              <a:t> f=X，</a:t>
            </a:r>
            <a:r>
              <a:rPr lang="zh-CN" altLang="en-US" dirty="0"/>
              <a:t>故</a:t>
            </a:r>
            <a:r>
              <a:rPr lang="en-US" altLang="zh-CN" dirty="0"/>
              <a:t>f </a:t>
            </a:r>
            <a:r>
              <a:rPr lang="en-US" altLang="zh-CN" baseline="30000" dirty="0"/>
              <a:t>c</a:t>
            </a:r>
            <a:r>
              <a:rPr lang="zh-CN" altLang="en-US" dirty="0"/>
              <a:t>是满射。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        若</a:t>
            </a:r>
            <a:r>
              <a:rPr lang="en-US" altLang="zh-CN" dirty="0"/>
              <a:t>y</a:t>
            </a:r>
            <a:r>
              <a:rPr kumimoji="0" lang="en-US" altLang="zh-CN" baseline="-25000" dirty="0"/>
              <a:t>1</a:t>
            </a:r>
            <a:r>
              <a:rPr lang="en-US" altLang="zh-CN" dirty="0"/>
              <a:t>≠y</a:t>
            </a:r>
            <a:r>
              <a:rPr kumimoji="0" lang="en-US" altLang="zh-CN" baseline="-25000" dirty="0"/>
              <a:t>2</a:t>
            </a:r>
            <a:r>
              <a:rPr lang="zh-CN" altLang="en-US" dirty="0"/>
              <a:t>，有</a:t>
            </a:r>
            <a:r>
              <a:rPr lang="en-US" altLang="zh-CN" dirty="0"/>
              <a:t>f </a:t>
            </a:r>
            <a:r>
              <a:rPr lang="en-US" altLang="zh-CN" baseline="30000" dirty="0"/>
              <a:t>c</a:t>
            </a:r>
            <a:r>
              <a:rPr lang="en-US" altLang="zh-CN" dirty="0"/>
              <a:t>(y</a:t>
            </a:r>
            <a:r>
              <a:rPr kumimoji="0" lang="en-US" altLang="zh-CN" baseline="-25000" dirty="0"/>
              <a:t>1</a:t>
            </a:r>
            <a:r>
              <a:rPr lang="en-US" altLang="zh-CN" dirty="0"/>
              <a:t>)=f </a:t>
            </a:r>
            <a:r>
              <a:rPr lang="en-US" altLang="zh-CN" baseline="30000" dirty="0"/>
              <a:t>c</a:t>
            </a:r>
            <a:r>
              <a:rPr lang="en-US" altLang="zh-CN" dirty="0"/>
              <a:t>(y</a:t>
            </a:r>
            <a:r>
              <a:rPr kumimoji="0" lang="en-US" altLang="zh-CN" baseline="-25000" dirty="0"/>
              <a:t>2</a:t>
            </a:r>
            <a:r>
              <a:rPr lang="en-US" altLang="zh-CN" dirty="0"/>
              <a:t>)，</a:t>
            </a:r>
            <a:r>
              <a:rPr lang="zh-CN" altLang="en-US" dirty="0"/>
              <a:t>而</a:t>
            </a:r>
            <a:r>
              <a:rPr lang="en-US" altLang="zh-CN" dirty="0"/>
              <a:t>f </a:t>
            </a:r>
            <a:r>
              <a:rPr lang="en-US" altLang="zh-CN" baseline="30000" dirty="0"/>
              <a:t>c</a:t>
            </a:r>
            <a:r>
              <a:rPr lang="en-US" altLang="zh-CN" dirty="0"/>
              <a:t>(y</a:t>
            </a:r>
            <a:r>
              <a:rPr kumimoji="0" lang="en-US" altLang="zh-CN" baseline="-25000" dirty="0"/>
              <a:t>1</a:t>
            </a:r>
            <a:r>
              <a:rPr lang="en-US" altLang="zh-CN" dirty="0"/>
              <a:t>)=x</a:t>
            </a:r>
            <a:r>
              <a:rPr kumimoji="0"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dirty="0" smtClean="0"/>
              <a:t>f </a:t>
            </a:r>
            <a:r>
              <a:rPr lang="en-US" altLang="zh-CN" baseline="30000" dirty="0" smtClean="0">
                <a:solidFill>
                  <a:srgbClr val="000000"/>
                </a:solidFill>
              </a:rPr>
              <a:t>c</a:t>
            </a:r>
            <a:r>
              <a:rPr lang="en-US" altLang="zh-CN" dirty="0" smtClean="0"/>
              <a:t>(y</a:t>
            </a:r>
            <a:r>
              <a:rPr kumimoji="0" lang="en-US" altLang="zh-CN" baseline="-25000" dirty="0" smtClean="0"/>
              <a:t>2</a:t>
            </a:r>
            <a:r>
              <a:rPr lang="en-US" altLang="zh-CN" dirty="0"/>
              <a:t>)=x</a:t>
            </a:r>
            <a:r>
              <a:rPr kumimoji="0" lang="en-US" altLang="zh-CN" baseline="-25000" dirty="0"/>
              <a:t>2</a:t>
            </a:r>
            <a:r>
              <a:rPr lang="zh-CN" altLang="en-US" dirty="0"/>
              <a:t>，所以</a:t>
            </a:r>
            <a:r>
              <a:rPr lang="en-US" altLang="zh-CN" dirty="0"/>
              <a:t>x</a:t>
            </a:r>
            <a:r>
              <a:rPr kumimoji="0" lang="en-US" altLang="zh-CN" baseline="-25000" dirty="0"/>
              <a:t>1</a:t>
            </a:r>
            <a:r>
              <a:rPr lang="en-US" altLang="zh-CN" dirty="0"/>
              <a:t>=x</a:t>
            </a:r>
            <a:r>
              <a:rPr kumimoji="0" lang="en-US" altLang="zh-CN" baseline="-25000" dirty="0"/>
              <a:t>2</a:t>
            </a:r>
            <a:r>
              <a:rPr lang="zh-CN" altLang="en-US" dirty="0"/>
              <a:t>，故</a:t>
            </a:r>
            <a:r>
              <a:rPr lang="en-US" altLang="zh-CN" dirty="0"/>
              <a:t>f(x</a:t>
            </a:r>
            <a:r>
              <a:rPr kumimoji="0" lang="en-US" altLang="zh-CN" baseline="-25000" dirty="0"/>
              <a:t>1</a:t>
            </a:r>
            <a:r>
              <a:rPr lang="en-US" altLang="zh-CN" dirty="0"/>
              <a:t>)=f(x</a:t>
            </a:r>
            <a:r>
              <a:rPr kumimoji="0" lang="en-US" altLang="zh-CN" baseline="-25000" dirty="0"/>
              <a:t>2</a:t>
            </a:r>
            <a:r>
              <a:rPr lang="en-US" altLang="zh-CN" dirty="0"/>
              <a:t>)</a:t>
            </a:r>
            <a:r>
              <a:rPr lang="zh-CN" altLang="en-US" dirty="0"/>
              <a:t>，所以 </a:t>
            </a:r>
            <a:r>
              <a:rPr lang="en-US" altLang="zh-CN" dirty="0"/>
              <a:t>y</a:t>
            </a:r>
            <a:r>
              <a:rPr kumimoji="0" lang="en-US" altLang="zh-CN" baseline="-25000" dirty="0"/>
              <a:t>1</a:t>
            </a:r>
            <a:r>
              <a:rPr lang="en-US" altLang="zh-CN" dirty="0"/>
              <a:t>=y</a:t>
            </a:r>
            <a:r>
              <a:rPr kumimoji="0" lang="en-US" altLang="zh-CN" baseline="-25000" dirty="0"/>
              <a:t>2</a:t>
            </a:r>
            <a:r>
              <a:rPr lang="en-US" altLang="zh-CN" dirty="0"/>
              <a:t>；</a:t>
            </a:r>
            <a:r>
              <a:rPr lang="zh-CN" altLang="en-US" dirty="0"/>
              <a:t>矛盾。故</a:t>
            </a:r>
            <a:r>
              <a:rPr lang="en-US" altLang="zh-CN" dirty="0"/>
              <a:t>f </a:t>
            </a:r>
            <a:r>
              <a:rPr lang="en-US" altLang="zh-CN" baseline="30000" dirty="0"/>
              <a:t>c </a:t>
            </a:r>
            <a:r>
              <a:rPr lang="zh-CN" altLang="en-US" dirty="0"/>
              <a:t>是入射。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        综上(1)(2)所述 </a:t>
            </a:r>
            <a:r>
              <a:rPr lang="en-US" altLang="zh-CN" dirty="0"/>
              <a:t>f </a:t>
            </a:r>
            <a:r>
              <a:rPr lang="en-US" altLang="zh-CN" baseline="30000" dirty="0"/>
              <a:t>c</a:t>
            </a:r>
            <a:r>
              <a:rPr lang="zh-CN" altLang="en-US" dirty="0"/>
              <a:t>是一个双射函数。</a:t>
            </a: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719138" y="2619375"/>
            <a:ext cx="7453312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/>
              <a:t>        因</a:t>
            </a:r>
            <a:r>
              <a:rPr lang="en-US" altLang="zh-CN"/>
              <a:t>f </a:t>
            </a:r>
            <a:r>
              <a:rPr lang="zh-CN" altLang="en-US"/>
              <a:t>是满射的，故每一</a:t>
            </a:r>
            <a:r>
              <a:rPr lang="en-US" altLang="zh-CN"/>
              <a:t>y</a:t>
            </a:r>
            <a:r>
              <a:rPr lang="zh-CN" altLang="en-US"/>
              <a:t>必存在&lt;</a:t>
            </a:r>
            <a:r>
              <a:rPr lang="en-US" altLang="zh-CN"/>
              <a:t>x,y&gt;∈f</a:t>
            </a:r>
            <a:r>
              <a:rPr lang="zh-CN" altLang="en-US"/>
              <a:t>，即</a:t>
            </a:r>
            <a:r>
              <a:rPr lang="en-US" altLang="zh-CN"/>
              <a:t>&lt;y,x&gt;∈f </a:t>
            </a:r>
            <a:r>
              <a:rPr lang="en-US" altLang="zh-CN" baseline="30000"/>
              <a:t>c</a:t>
            </a:r>
            <a:r>
              <a:rPr lang="en-US" altLang="zh-CN"/>
              <a:t>，f </a:t>
            </a:r>
            <a:r>
              <a:rPr lang="en-US" altLang="zh-CN" baseline="30000"/>
              <a:t>c</a:t>
            </a:r>
            <a:r>
              <a:rPr lang="zh-CN" altLang="en-US"/>
              <a:t>的定义域为</a:t>
            </a:r>
            <a:r>
              <a:rPr lang="en-US" altLang="zh-CN"/>
              <a:t>Y。</a:t>
            </a:r>
          </a:p>
          <a:p>
            <a:pPr>
              <a:lnSpc>
                <a:spcPct val="120000"/>
              </a:lnSpc>
            </a:pPr>
            <a:r>
              <a:rPr lang="en-US" altLang="zh-CN"/>
              <a:t>        </a:t>
            </a:r>
            <a:r>
              <a:rPr lang="zh-CN" altLang="en-US"/>
              <a:t>因</a:t>
            </a:r>
            <a:r>
              <a:rPr lang="en-US" altLang="zh-CN"/>
              <a:t>f </a:t>
            </a:r>
            <a:r>
              <a:rPr lang="zh-CN" altLang="en-US"/>
              <a:t>是入射的，故每一</a:t>
            </a:r>
            <a:r>
              <a:rPr lang="en-US" altLang="zh-CN"/>
              <a:t>y</a:t>
            </a:r>
            <a:r>
              <a:rPr lang="zh-CN" altLang="en-US"/>
              <a:t>必存在唯一</a:t>
            </a:r>
            <a:r>
              <a:rPr lang="en-US" altLang="zh-CN"/>
              <a:t>x</a:t>
            </a:r>
            <a:r>
              <a:rPr lang="zh-CN" altLang="en-US"/>
              <a:t>与其对应，故</a:t>
            </a:r>
            <a:r>
              <a:rPr lang="en-US" altLang="zh-CN"/>
              <a:t>f </a:t>
            </a:r>
            <a:r>
              <a:rPr lang="en-US" altLang="zh-CN" baseline="30000"/>
              <a:t>c</a:t>
            </a:r>
            <a:r>
              <a:rPr lang="zh-CN" altLang="en-US"/>
              <a:t>是函数。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autoUpdateAnimBg="0"/>
      <p:bldP spid="15366" grpId="0" build="p" autoUpdateAnimBg="0"/>
      <p:bldP spid="15367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895F8-332F-4AB3-9DFD-7A002939AE5C}" type="slidenum">
              <a:rPr lang="zh-CN" altLang="en-US"/>
              <a:pPr/>
              <a:t>14</a:t>
            </a:fld>
            <a:endParaRPr lang="en-US" altLang="zh-CN"/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719138" y="1343025"/>
            <a:ext cx="781367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412875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2201863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2990850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3779838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4237038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4694238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5151438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5608638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>
                <a:solidFill>
                  <a:srgbClr val="FF0000"/>
                </a:solidFill>
              </a:rPr>
              <a:t>定义4-2.1：</a:t>
            </a:r>
            <a:r>
              <a:rPr lang="zh-CN" altLang="en-US"/>
              <a:t>设</a:t>
            </a:r>
            <a:r>
              <a:rPr lang="en-US" altLang="zh-CN"/>
              <a:t>f: X→Y</a:t>
            </a:r>
            <a:r>
              <a:rPr lang="zh-CN" altLang="en-US"/>
              <a:t>是一双射函数，称</a:t>
            </a:r>
            <a:r>
              <a:rPr lang="en-US" altLang="zh-CN"/>
              <a:t>Y→X</a:t>
            </a:r>
            <a:r>
              <a:rPr lang="zh-CN" altLang="en-US"/>
              <a:t>的双射函数</a:t>
            </a:r>
            <a:r>
              <a:rPr lang="en-US" altLang="zh-CN"/>
              <a:t>f </a:t>
            </a:r>
            <a:r>
              <a:rPr lang="en-US" altLang="zh-CN" baseline="30000"/>
              <a:t>c</a:t>
            </a:r>
            <a:r>
              <a:rPr lang="zh-CN" altLang="en-US"/>
              <a:t>为</a:t>
            </a:r>
            <a:r>
              <a:rPr lang="en-US" altLang="zh-CN"/>
              <a:t>f</a:t>
            </a:r>
            <a:r>
              <a:rPr lang="zh-CN" altLang="en-US"/>
              <a:t>的</a:t>
            </a:r>
            <a:r>
              <a:rPr lang="zh-CN" altLang="en-US" i="1">
                <a:solidFill>
                  <a:srgbClr val="FF0000"/>
                </a:solidFill>
              </a:rPr>
              <a:t>逆函数</a:t>
            </a:r>
            <a:r>
              <a:rPr lang="zh-CN" altLang="en-US"/>
              <a:t>，记为</a:t>
            </a:r>
            <a:r>
              <a:rPr lang="en-US" altLang="zh-CN"/>
              <a:t>f </a:t>
            </a:r>
            <a:r>
              <a:rPr lang="en-US" altLang="zh-CN" baseline="30000"/>
              <a:t>-1</a:t>
            </a:r>
            <a:r>
              <a:rPr lang="en-US" altLang="zh-CN"/>
              <a:t>。( </a:t>
            </a:r>
            <a:r>
              <a:rPr lang="zh-CN" altLang="en-US">
                <a:solidFill>
                  <a:srgbClr val="3333CC"/>
                </a:solidFill>
              </a:rPr>
              <a:t>反函数</a:t>
            </a:r>
            <a:r>
              <a:rPr lang="zh-CN" altLang="en-US"/>
              <a:t>）</a:t>
            </a:r>
            <a:endParaRPr lang="en-US" altLang="zh-CN"/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719138" y="2390775"/>
            <a:ext cx="7916862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125000"/>
              </a:lnSpc>
            </a:pPr>
            <a:r>
              <a:rPr lang="zh-CN" altLang="en-US">
                <a:solidFill>
                  <a:srgbClr val="FF0000"/>
                </a:solidFill>
              </a:rPr>
              <a:t>例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en-US">
                <a:solidFill>
                  <a:srgbClr val="FF0000"/>
                </a:solidFill>
              </a:rPr>
              <a:t>：</a:t>
            </a:r>
            <a:r>
              <a:rPr lang="zh-CN" altLang="en-US"/>
              <a:t>设</a:t>
            </a:r>
            <a:r>
              <a:rPr lang="en-US" altLang="zh-CN"/>
              <a:t>A={1, 2, 3}，B={a, b, c}</a:t>
            </a:r>
            <a:r>
              <a:rPr lang="zh-CN" altLang="en-US"/>
              <a:t>，</a:t>
            </a:r>
            <a:r>
              <a:rPr lang="en-US" altLang="zh-CN"/>
              <a:t>f</a:t>
            </a:r>
            <a:r>
              <a:rPr lang="zh-CN" altLang="en-US"/>
              <a:t>：</a:t>
            </a:r>
            <a:r>
              <a:rPr lang="en-US" altLang="zh-CN"/>
              <a:t>A→B</a:t>
            </a:r>
            <a:r>
              <a:rPr lang="zh-CN" altLang="en-US"/>
              <a:t>，为</a:t>
            </a:r>
          </a:p>
          <a:p>
            <a:pPr marL="342900" indent="-342900">
              <a:lnSpc>
                <a:spcPct val="125000"/>
              </a:lnSpc>
            </a:pPr>
            <a:r>
              <a:rPr lang="zh-CN" altLang="en-US"/>
              <a:t>       </a:t>
            </a:r>
            <a:r>
              <a:rPr lang="en-US" altLang="zh-CN"/>
              <a:t>f={&lt;1,a&gt;,&lt;2,c&gt;,&lt;3,b&gt;}</a:t>
            </a:r>
            <a:r>
              <a:rPr lang="zh-CN" altLang="en-US"/>
              <a:t>。</a:t>
            </a:r>
          </a:p>
          <a:p>
            <a:pPr marL="342900" indent="-342900">
              <a:lnSpc>
                <a:spcPct val="125000"/>
              </a:lnSpc>
            </a:pPr>
            <a:r>
              <a:rPr lang="en-US" altLang="zh-CN"/>
              <a:t>       f </a:t>
            </a:r>
            <a:r>
              <a:rPr lang="en-US" altLang="zh-CN" baseline="30000"/>
              <a:t>-1</a:t>
            </a:r>
            <a:r>
              <a:rPr lang="en-US" altLang="zh-CN"/>
              <a:t>={&lt;a,1&gt;,&lt;c,2&gt;,&lt;b,3&gt;}</a:t>
            </a:r>
          </a:p>
        </p:txBody>
      </p:sp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719138" y="3781425"/>
            <a:ext cx="7916862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5000"/>
              </a:lnSpc>
              <a:buClr>
                <a:srgbClr val="6600CC"/>
              </a:buClr>
              <a:buFont typeface="Wingdings" pitchFamily="2" charset="2"/>
              <a:buChar char="Ø"/>
            </a:pPr>
            <a:r>
              <a:rPr kumimoji="0" lang="zh-CN" altLang="en-US"/>
              <a:t>函数若有逆函数，则必为双射，且逆函数也是双射的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DB8A6E-786B-4661-AA2E-78872927269B}" type="slidenum">
              <a:rPr lang="zh-CN" altLang="en-US"/>
              <a:pPr/>
              <a:t>15</a:t>
            </a:fld>
            <a:endParaRPr lang="en-US" altLang="zh-CN"/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719138" y="1362075"/>
            <a:ext cx="7916862" cy="159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412875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2201863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2990850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3779838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4237038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4694238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5151438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5608638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800">
                <a:solidFill>
                  <a:srgbClr val="993300"/>
                </a:solidFill>
                <a:latin typeface="楷体_GB2312" pitchFamily="49" charset="-122"/>
                <a:ea typeface="楷体_GB2312" pitchFamily="49" charset="-122"/>
              </a:rPr>
              <a:t>1、复合函数定义</a:t>
            </a:r>
          </a:p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定义4-2.2：</a:t>
            </a:r>
            <a:r>
              <a:rPr lang="zh-CN" altLang="en-US"/>
              <a:t>设函数</a:t>
            </a:r>
            <a:r>
              <a:rPr lang="en-US" altLang="zh-CN"/>
              <a:t>f</a:t>
            </a:r>
            <a:r>
              <a:rPr lang="zh-CN" altLang="en-US"/>
              <a:t>：</a:t>
            </a:r>
            <a:r>
              <a:rPr lang="en-US" altLang="zh-CN"/>
              <a:t>X→Y</a:t>
            </a:r>
            <a:r>
              <a:rPr lang="zh-CN" altLang="en-US"/>
              <a:t>，</a:t>
            </a:r>
            <a:r>
              <a:rPr lang="en-US" altLang="zh-CN"/>
              <a:t>g</a:t>
            </a:r>
            <a:r>
              <a:rPr lang="zh-CN" altLang="en-US"/>
              <a:t>：</a:t>
            </a:r>
            <a:r>
              <a:rPr lang="en-US" altLang="zh-CN"/>
              <a:t>W→Z</a:t>
            </a:r>
            <a:r>
              <a:rPr lang="zh-CN" altLang="en-US"/>
              <a:t>，若</a:t>
            </a:r>
            <a:r>
              <a:rPr lang="en-US" altLang="zh-CN">
                <a:solidFill>
                  <a:srgbClr val="FF0000"/>
                </a:solidFill>
              </a:rPr>
              <a:t>f(X)</a:t>
            </a:r>
            <a:r>
              <a:rPr lang="en-US" altLang="zh-CN">
                <a:solidFill>
                  <a:srgbClr val="FF0000"/>
                </a:solidFill>
                <a:sym typeface="Symbol" pitchFamily="18" charset="2"/>
              </a:rPr>
              <a:t></a:t>
            </a:r>
            <a:r>
              <a:rPr lang="en-US" altLang="zh-CN">
                <a:solidFill>
                  <a:srgbClr val="FF0000"/>
                </a:solidFill>
              </a:rPr>
              <a:t>W</a:t>
            </a:r>
            <a:r>
              <a:rPr lang="zh-CN" altLang="en-US"/>
              <a:t>，则称</a:t>
            </a:r>
            <a:r>
              <a:rPr lang="en-US" altLang="zh-CN" i="1">
                <a:solidFill>
                  <a:srgbClr val="3333CC"/>
                </a:solidFill>
              </a:rPr>
              <a:t>g</a:t>
            </a:r>
            <a:r>
              <a:rPr lang="zh-CN" altLang="en-US" i="1">
                <a:solidFill>
                  <a:srgbClr val="3333CC"/>
                </a:solidFill>
              </a:rPr>
              <a:t>在函数</a:t>
            </a:r>
            <a:r>
              <a:rPr lang="en-US" altLang="zh-CN" i="1">
                <a:solidFill>
                  <a:srgbClr val="3333CC"/>
                </a:solidFill>
              </a:rPr>
              <a:t>f</a:t>
            </a:r>
            <a:r>
              <a:rPr lang="zh-CN" altLang="en-US" i="1">
                <a:solidFill>
                  <a:srgbClr val="3333CC"/>
                </a:solidFill>
              </a:rPr>
              <a:t>的左边可复合</a:t>
            </a:r>
            <a:r>
              <a:rPr lang="zh-CN" altLang="en-US"/>
              <a:t>。 </a:t>
            </a:r>
            <a:r>
              <a:rPr lang="en-US" altLang="zh-CN">
                <a:solidFill>
                  <a:srgbClr val="FF0000"/>
                </a:solidFill>
              </a:rPr>
              <a:t>g◦f: X→Z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719138" y="2997200"/>
            <a:ext cx="7916862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例</a:t>
            </a:r>
            <a:r>
              <a:rPr lang="en-US" altLang="zh-CN">
                <a:solidFill>
                  <a:srgbClr val="FF0000"/>
                </a:solidFill>
              </a:rPr>
              <a:t>3</a:t>
            </a:r>
            <a:r>
              <a:rPr lang="zh-CN" altLang="en-US">
                <a:solidFill>
                  <a:srgbClr val="FF0000"/>
                </a:solidFill>
              </a:rPr>
              <a:t>：</a:t>
            </a:r>
            <a:r>
              <a:rPr lang="zh-CN" altLang="en-US"/>
              <a:t>设</a:t>
            </a:r>
            <a:r>
              <a:rPr lang="en-US" altLang="zh-CN"/>
              <a:t>X={1,2,3}，Y={p,q}</a:t>
            </a:r>
            <a:r>
              <a:rPr lang="zh-CN" altLang="en-US"/>
              <a:t>，</a:t>
            </a:r>
            <a:r>
              <a:rPr lang="en-US" altLang="zh-CN"/>
              <a:t>W={p,q,r}</a:t>
            </a:r>
            <a:r>
              <a:rPr lang="zh-CN" altLang="en-US"/>
              <a:t>，</a:t>
            </a:r>
            <a:r>
              <a:rPr lang="en-US" altLang="zh-CN"/>
              <a:t>Z={a,b}</a:t>
            </a:r>
            <a:r>
              <a:rPr lang="zh-CN" altLang="en-US"/>
              <a:t>，且</a:t>
            </a:r>
          </a:p>
          <a:p>
            <a:pPr>
              <a:lnSpc>
                <a:spcPct val="130000"/>
              </a:lnSpc>
            </a:pPr>
            <a:r>
              <a:rPr lang="en-US" altLang="zh-CN"/>
              <a:t>f={&lt;1,p&gt;,&lt;2,p&gt;,&lt;3,q&gt;}</a:t>
            </a:r>
            <a:r>
              <a:rPr lang="zh-CN" altLang="en-US"/>
              <a:t>，</a:t>
            </a:r>
            <a:r>
              <a:rPr lang="en-US" altLang="zh-CN"/>
              <a:t>g={&lt;p,b&gt;,&lt;q,b&gt;}</a:t>
            </a:r>
            <a:r>
              <a:rPr lang="zh-CN" altLang="en-US"/>
              <a:t>，</a:t>
            </a:r>
            <a:r>
              <a:rPr lang="en-US" altLang="zh-CN"/>
              <a:t>h={&lt;p,a&gt;,&lt;r,b&gt;,&lt;q,b&gt;}</a:t>
            </a:r>
            <a:r>
              <a:rPr lang="zh-CN" altLang="en-US"/>
              <a:t>，</a:t>
            </a:r>
          </a:p>
          <a:p>
            <a:pPr>
              <a:lnSpc>
                <a:spcPct val="130000"/>
              </a:lnSpc>
            </a:pPr>
            <a:r>
              <a:rPr lang="zh-CN" altLang="en-US"/>
              <a:t>求：</a:t>
            </a:r>
            <a:r>
              <a:rPr lang="en-US" altLang="zh-CN"/>
              <a:t>g◦f，h</a:t>
            </a:r>
            <a:r>
              <a:rPr lang="en-US" altLang="zh-CN">
                <a:solidFill>
                  <a:srgbClr val="000000"/>
                </a:solidFill>
              </a:rPr>
              <a:t>◦f</a:t>
            </a:r>
            <a:endParaRPr lang="en-US" altLang="zh-CN"/>
          </a:p>
        </p:txBody>
      </p:sp>
      <p:sp>
        <p:nvSpPr>
          <p:cNvPr id="17421" name="Rectangle 13"/>
          <p:cNvSpPr>
            <a:spLocks noChangeArrowheads="1"/>
          </p:cNvSpPr>
          <p:nvPr/>
        </p:nvSpPr>
        <p:spPr bwMode="auto">
          <a:xfrm>
            <a:off x="1116013" y="549275"/>
            <a:ext cx="5040312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二、复合函数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FFD5FA-E5DF-4677-B69F-01B405F80AB6}" type="slidenum">
              <a:rPr lang="zh-CN" altLang="en-US"/>
              <a:pPr/>
              <a:t>16</a:t>
            </a:fld>
            <a:endParaRPr lang="en-US" altLang="zh-CN"/>
          </a:p>
        </p:txBody>
      </p:sp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719138" y="1989138"/>
            <a:ext cx="7916862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5000"/>
              </a:lnSpc>
              <a:buClr>
                <a:srgbClr val="6600CC"/>
              </a:buClr>
              <a:buFont typeface="Wingdings" pitchFamily="2" charset="2"/>
              <a:buChar char="Ø"/>
            </a:pPr>
            <a:r>
              <a:rPr kumimoji="0" lang="zh-CN" altLang="en-US"/>
              <a:t>与关系复合的区别</a:t>
            </a:r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719138" y="1392238"/>
            <a:ext cx="7916862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125000"/>
              </a:lnSpc>
              <a:buClr>
                <a:srgbClr val="6600CC"/>
              </a:buClr>
              <a:buFont typeface="Wingdings" pitchFamily="2" charset="2"/>
              <a:buChar char="Ø"/>
            </a:pPr>
            <a:r>
              <a:rPr kumimoji="0" lang="zh-CN" altLang="en-US"/>
              <a:t>在上述定义中，若不满足</a:t>
            </a:r>
            <a:r>
              <a:rPr kumimoji="0" lang="en-US" altLang="zh-CN"/>
              <a:t>ran f</a:t>
            </a:r>
            <a:r>
              <a:rPr kumimoji="0" lang="en-US" altLang="zh-CN">
                <a:sym typeface="Symbol" pitchFamily="18" charset="2"/>
              </a:rPr>
              <a:t></a:t>
            </a:r>
            <a:r>
              <a:rPr kumimoji="0" lang="en-US" altLang="zh-CN"/>
              <a:t>dom g，</a:t>
            </a:r>
            <a:r>
              <a:rPr kumimoji="0" lang="zh-CN" altLang="en-US"/>
              <a:t>则定义</a:t>
            </a:r>
            <a:r>
              <a:rPr kumimoji="0" lang="en-US" altLang="zh-CN"/>
              <a:t>g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◦</a:t>
            </a:r>
            <a:r>
              <a:rPr lang="en-US" altLang="zh-CN">
                <a:solidFill>
                  <a:srgbClr val="000000"/>
                </a:solidFill>
              </a:rPr>
              <a:t>f = </a:t>
            </a:r>
            <a:r>
              <a:rPr lang="en-US" altLang="zh-CN">
                <a:solidFill>
                  <a:srgbClr val="000000"/>
                </a:solidFill>
                <a:sym typeface="Symbol" pitchFamily="18" charset="2"/>
              </a:rPr>
              <a:t></a:t>
            </a:r>
          </a:p>
        </p:txBody>
      </p:sp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719138" y="2565400"/>
            <a:ext cx="791686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222625" indent="-3222625">
              <a:lnSpc>
                <a:spcPct val="125000"/>
              </a:lnSpc>
            </a:pPr>
            <a:r>
              <a:rPr lang="zh-CN" altLang="en-US">
                <a:solidFill>
                  <a:srgbClr val="000000"/>
                </a:solidFill>
              </a:rPr>
              <a:t>若</a:t>
            </a:r>
            <a:r>
              <a:rPr lang="en-US" altLang="zh-CN">
                <a:solidFill>
                  <a:srgbClr val="000000"/>
                </a:solidFill>
              </a:rPr>
              <a:t>g(y)=z，f(x)=y，</a:t>
            </a:r>
            <a:r>
              <a:rPr lang="zh-CN" altLang="en-US">
                <a:solidFill>
                  <a:srgbClr val="000000"/>
                </a:solidFill>
              </a:rPr>
              <a:t>则有 </a:t>
            </a:r>
            <a:r>
              <a:rPr lang="en-US" altLang="zh-CN">
                <a:solidFill>
                  <a:srgbClr val="000000"/>
                </a:solidFill>
              </a:rPr>
              <a:t>g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◦</a:t>
            </a:r>
            <a:r>
              <a:rPr lang="en-US" altLang="zh-CN">
                <a:solidFill>
                  <a:srgbClr val="000000"/>
                </a:solidFill>
              </a:rPr>
              <a:t>f(x)=g(f(x))=g(y)=z</a:t>
            </a:r>
            <a:r>
              <a:rPr lang="zh-CN" altLang="en-US">
                <a:solidFill>
                  <a:srgbClr val="000000"/>
                </a:solidFill>
              </a:rPr>
              <a:t>          </a:t>
            </a:r>
            <a:r>
              <a:rPr lang="en-US" altLang="zh-CN">
                <a:solidFill>
                  <a:srgbClr val="000000"/>
                </a:solidFill>
              </a:rPr>
              <a:t>f◦g={&lt;x,z&gt;</a:t>
            </a:r>
            <a:r>
              <a:rPr lang="en-US" altLang="zh-CN">
                <a:solidFill>
                  <a:srgbClr val="FF0000"/>
                </a:solidFill>
              </a:rPr>
              <a:t>|……</a:t>
            </a:r>
            <a:r>
              <a:rPr lang="en-US" altLang="zh-CN">
                <a:solidFill>
                  <a:srgbClr val="000000"/>
                </a:solidFill>
              </a:rPr>
              <a:t>}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6871" name="Rectangle 7"/>
          <p:cNvSpPr>
            <a:spLocks noChangeArrowheads="1"/>
          </p:cNvSpPr>
          <p:nvPr/>
        </p:nvSpPr>
        <p:spPr bwMode="auto">
          <a:xfrm>
            <a:off x="719138" y="5157788"/>
            <a:ext cx="7916862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buClr>
                <a:srgbClr val="6600CC"/>
              </a:buClr>
              <a:buFont typeface="Wingdings" pitchFamily="2" charset="2"/>
              <a:buChar char="Ø"/>
            </a:pPr>
            <a:r>
              <a:rPr kumimoji="0" lang="zh-CN" altLang="en-US">
                <a:solidFill>
                  <a:srgbClr val="000000"/>
                </a:solidFill>
              </a:rPr>
              <a:t>两函数复合后是否仍是一个函数？</a:t>
            </a:r>
          </a:p>
        </p:txBody>
      </p:sp>
      <p:sp>
        <p:nvSpPr>
          <p:cNvPr id="36873" name="Rectangle 9"/>
          <p:cNvSpPr>
            <a:spLocks noChangeArrowheads="1"/>
          </p:cNvSpPr>
          <p:nvPr/>
        </p:nvSpPr>
        <p:spPr bwMode="auto">
          <a:xfrm>
            <a:off x="719138" y="3644900"/>
            <a:ext cx="7916862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>
                <a:solidFill>
                  <a:srgbClr val="000000"/>
                </a:solidFill>
              </a:rPr>
              <a:t>复合关系，表示为</a:t>
            </a:r>
          </a:p>
          <a:p>
            <a:pPr>
              <a:lnSpc>
                <a:spcPct val="125000"/>
              </a:lnSpc>
            </a:pPr>
            <a:r>
              <a:rPr lang="en-US" altLang="zh-CN">
                <a:solidFill>
                  <a:srgbClr val="FF0000"/>
                </a:solidFill>
              </a:rPr>
              <a:t>R</a:t>
            </a:r>
            <a:r>
              <a:rPr lang="en-US" altLang="zh-CN">
                <a:solidFill>
                  <a:srgbClr val="FF0000"/>
                </a:solidFill>
                <a:cs typeface="Times New Roman" pitchFamily="18" charset="0"/>
              </a:rPr>
              <a:t>◦</a:t>
            </a:r>
            <a:r>
              <a:rPr lang="en-US" altLang="zh-CN">
                <a:solidFill>
                  <a:srgbClr val="FF0000"/>
                </a:solidFill>
              </a:rPr>
              <a:t>S={&lt;x,z&gt;|x∈X∧z∈Z∧(</a:t>
            </a:r>
            <a:r>
              <a:rPr kumimoji="0" lang="en-US" altLang="zh-CN">
                <a:solidFill>
                  <a:srgbClr val="FF0000"/>
                </a:solidFill>
                <a:sym typeface="Symbol" pitchFamily="18" charset="2"/>
              </a:rPr>
              <a:t></a:t>
            </a:r>
            <a:r>
              <a:rPr lang="en-US" altLang="zh-CN">
                <a:solidFill>
                  <a:srgbClr val="FF0000"/>
                </a:solidFill>
              </a:rPr>
              <a:t>y)(y∈Y∧&lt;x,y&gt;∈R∧&lt;y,z&gt;∈S)}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autoUpdateAnimBg="0"/>
      <p:bldP spid="36870" grpId="0" autoUpdateAnimBg="0"/>
      <p:bldP spid="36871" grpId="0" autoUpdateAnimBg="0"/>
      <p:bldP spid="36873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8F3FD9-9D0E-4EE9-A2A8-525949379DE3}" type="slidenum">
              <a:rPr lang="zh-CN" altLang="en-US"/>
              <a:pPr/>
              <a:t>17</a:t>
            </a:fld>
            <a:endParaRPr lang="en-US" altLang="zh-CN"/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719138" y="1341438"/>
            <a:ext cx="7916862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kumimoji="0" lang="zh-CN" altLang="en-US">
                <a:solidFill>
                  <a:srgbClr val="FF0000"/>
                </a:solidFill>
              </a:rPr>
              <a:t>定理4-2.2：</a:t>
            </a:r>
            <a:r>
              <a:rPr kumimoji="0" lang="zh-CN" altLang="en-US"/>
              <a:t>两个函数的复合是一个函数。</a:t>
            </a:r>
          </a:p>
        </p:txBody>
      </p:sp>
      <p:sp>
        <p:nvSpPr>
          <p:cNvPr id="18439" name="Text Box 7"/>
          <p:cNvSpPr txBox="1">
            <a:spLocks noChangeArrowheads="1"/>
          </p:cNvSpPr>
          <p:nvPr/>
        </p:nvSpPr>
        <p:spPr bwMode="auto">
          <a:xfrm>
            <a:off x="719138" y="1989138"/>
            <a:ext cx="791686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5000"/>
              </a:lnSpc>
              <a:buClr>
                <a:srgbClr val="6600CC"/>
              </a:buClr>
              <a:buFont typeface="Wingdings" pitchFamily="2" charset="2"/>
              <a:buChar char="Ø"/>
            </a:pPr>
            <a:r>
              <a:rPr lang="zh-CN" altLang="en-US">
                <a:solidFill>
                  <a:srgbClr val="000000"/>
                </a:solidFill>
              </a:rPr>
              <a:t>简单地说，若 </a:t>
            </a:r>
            <a:r>
              <a:rPr kumimoji="0" lang="en-US" altLang="zh-CN"/>
              <a:t>f(a)=</a:t>
            </a:r>
            <a:r>
              <a:rPr lang="en-US" altLang="zh-CN">
                <a:solidFill>
                  <a:srgbClr val="000000"/>
                </a:solidFill>
                <a:sym typeface="Wingdings" pitchFamily="2" charset="2"/>
              </a:rPr>
              <a:t>b,  g(b)=c，</a:t>
            </a:r>
            <a:r>
              <a:rPr lang="zh-CN" altLang="en-US">
                <a:solidFill>
                  <a:srgbClr val="000000"/>
                </a:solidFill>
                <a:sym typeface="Wingdings" pitchFamily="2" charset="2"/>
              </a:rPr>
              <a:t>则</a:t>
            </a:r>
            <a:r>
              <a:rPr kumimoji="0" lang="en-US" altLang="zh-CN"/>
              <a:t>g</a:t>
            </a:r>
            <a:r>
              <a:rPr lang="en-US" altLang="zh-CN">
                <a:solidFill>
                  <a:srgbClr val="000000"/>
                </a:solidFill>
              </a:rPr>
              <a:t>◦f(a)=</a:t>
            </a:r>
            <a:r>
              <a:rPr lang="en-US" altLang="zh-CN">
                <a:solidFill>
                  <a:srgbClr val="000000"/>
                </a:solidFill>
                <a:sym typeface="Wingdings" pitchFamily="2" charset="2"/>
              </a:rPr>
              <a:t>g(b)=c</a:t>
            </a:r>
            <a:r>
              <a:rPr lang="zh-CN" altLang="en-US">
                <a:solidFill>
                  <a:srgbClr val="000000"/>
                </a:solidFill>
                <a:sym typeface="Wingdings" pitchFamily="2" charset="2"/>
              </a:rPr>
              <a:t>。</a:t>
            </a:r>
          </a:p>
          <a:p>
            <a:pPr>
              <a:lnSpc>
                <a:spcPct val="125000"/>
              </a:lnSpc>
              <a:buClr>
                <a:srgbClr val="6600CC"/>
              </a:buClr>
              <a:buFont typeface="Wingdings" pitchFamily="2" charset="2"/>
              <a:buChar char="Ø"/>
            </a:pPr>
            <a:r>
              <a:rPr kumimoji="0" lang="zh-CN" altLang="en-US"/>
              <a:t>据复合函数的定义，显然有</a:t>
            </a:r>
            <a:r>
              <a:rPr kumimoji="0" lang="en-US" altLang="zh-CN"/>
              <a:t>g</a:t>
            </a:r>
            <a:r>
              <a:rPr lang="en-US" altLang="zh-CN">
                <a:solidFill>
                  <a:srgbClr val="000000"/>
                </a:solidFill>
              </a:rPr>
              <a:t>◦f(x)=g(f(x))</a:t>
            </a:r>
            <a:r>
              <a:rPr lang="zh-CN" altLang="en-US">
                <a:solidFill>
                  <a:srgbClr val="000000"/>
                </a:solidFill>
              </a:rPr>
              <a:t>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9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A6457A-00EE-4000-869E-FFD584103420}" type="slidenum">
              <a:rPr lang="zh-CN" altLang="en-US"/>
              <a:pPr/>
              <a:t>18</a:t>
            </a:fld>
            <a:endParaRPr lang="en-US" altLang="zh-CN"/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719138" y="1341438"/>
            <a:ext cx="7916862" cy="1004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>
                <a:solidFill>
                  <a:srgbClr val="FF0000"/>
                </a:solidFill>
              </a:rPr>
              <a:t>定理4-2.3：</a:t>
            </a:r>
            <a:r>
              <a:rPr lang="zh-CN" altLang="en-US"/>
              <a:t>令</a:t>
            </a:r>
            <a:r>
              <a:rPr lang="en-US" altLang="zh-CN"/>
              <a:t>g◦f</a:t>
            </a:r>
            <a:r>
              <a:rPr lang="zh-CN" altLang="en-US"/>
              <a:t>是一个复合函数</a:t>
            </a:r>
          </a:p>
          <a:p>
            <a:pPr algn="just">
              <a:lnSpc>
                <a:spcPct val="125000"/>
              </a:lnSpc>
            </a:pPr>
            <a:r>
              <a:rPr lang="en-US" altLang="zh-CN"/>
              <a:t>a)  </a:t>
            </a:r>
            <a:r>
              <a:rPr lang="zh-CN" altLang="en-US"/>
              <a:t>若</a:t>
            </a:r>
            <a:r>
              <a:rPr lang="en-US" altLang="zh-CN"/>
              <a:t>g</a:t>
            </a:r>
            <a:r>
              <a:rPr lang="zh-CN" altLang="en-US"/>
              <a:t>和</a:t>
            </a:r>
            <a:r>
              <a:rPr lang="en-US" altLang="zh-CN"/>
              <a:t>f</a:t>
            </a:r>
            <a:r>
              <a:rPr lang="zh-CN" altLang="en-US"/>
              <a:t>是满射的，则</a:t>
            </a:r>
            <a:r>
              <a:rPr lang="en-US" altLang="zh-CN"/>
              <a:t>g</a:t>
            </a:r>
            <a:r>
              <a:rPr lang="en-US" altLang="zh-CN">
                <a:solidFill>
                  <a:srgbClr val="000000"/>
                </a:solidFill>
              </a:rPr>
              <a:t>◦</a:t>
            </a:r>
            <a:r>
              <a:rPr lang="en-US" altLang="zh-CN"/>
              <a:t>f</a:t>
            </a:r>
            <a:r>
              <a:rPr lang="zh-CN" altLang="en-US"/>
              <a:t>是满射的。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719138" y="2420938"/>
            <a:ext cx="7916862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900113" indent="-900113" defTabSz="900113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79500" defTabSz="900113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258888" defTabSz="900113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38275" defTabSz="900113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defTabSz="900113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defTabSz="9001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defTabSz="9001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defTabSz="9001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defTabSz="9001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kumimoji="0" lang="zh-CN" altLang="en-US"/>
              <a:t>证明：设</a:t>
            </a:r>
            <a:r>
              <a:rPr kumimoji="0" lang="en-US" altLang="zh-CN"/>
              <a:t>f</a:t>
            </a:r>
            <a:r>
              <a:rPr kumimoji="0" lang="zh-CN" altLang="en-US"/>
              <a:t>：</a:t>
            </a:r>
            <a:r>
              <a:rPr kumimoji="0" lang="en-US" altLang="zh-CN"/>
              <a:t>X</a:t>
            </a:r>
            <a:r>
              <a:rPr lang="en-US" altLang="zh-CN">
                <a:solidFill>
                  <a:srgbClr val="000000"/>
                </a:solidFill>
                <a:sym typeface="Wingdings" pitchFamily="2" charset="2"/>
              </a:rPr>
              <a:t>→Y，g：Y→Z。</a:t>
            </a:r>
          </a:p>
          <a:p>
            <a:pPr>
              <a:lnSpc>
                <a:spcPct val="125000"/>
              </a:lnSpc>
            </a:pPr>
            <a:r>
              <a:rPr lang="zh-CN" altLang="en-US">
                <a:solidFill>
                  <a:srgbClr val="000000"/>
                </a:solidFill>
                <a:sym typeface="Wingdings" pitchFamily="2" charset="2"/>
              </a:rPr>
              <a:t>        对于</a:t>
            </a:r>
            <a:r>
              <a:rPr lang="zh-CN" altLang="en-US">
                <a:solidFill>
                  <a:srgbClr val="000000"/>
                </a:solidFill>
                <a:sym typeface="Symbol" pitchFamily="18" charset="2"/>
              </a:rPr>
              <a:t></a:t>
            </a:r>
            <a:r>
              <a:rPr lang="en-US" altLang="zh-CN">
                <a:solidFill>
                  <a:srgbClr val="000000"/>
                </a:solidFill>
                <a:sym typeface="Symbol" pitchFamily="18" charset="2"/>
              </a:rPr>
              <a:t>z</a:t>
            </a:r>
            <a:r>
              <a:rPr lang="en-US" altLang="zh-CN">
                <a:solidFill>
                  <a:srgbClr val="000000"/>
                </a:solidFill>
              </a:rPr>
              <a:t>∈Z，</a:t>
            </a:r>
            <a:r>
              <a:rPr lang="zh-CN" altLang="en-US">
                <a:solidFill>
                  <a:srgbClr val="000000"/>
                </a:solidFill>
              </a:rPr>
              <a:t>因</a:t>
            </a:r>
            <a:r>
              <a:rPr lang="en-US" altLang="zh-CN">
                <a:solidFill>
                  <a:srgbClr val="000000"/>
                </a:solidFill>
              </a:rPr>
              <a:t>g</a:t>
            </a:r>
            <a:r>
              <a:rPr lang="zh-CN" altLang="en-US">
                <a:solidFill>
                  <a:srgbClr val="000000"/>
                </a:solidFill>
              </a:rPr>
              <a:t>是满射，故</a:t>
            </a:r>
            <a:r>
              <a:rPr lang="zh-CN" altLang="en-US">
                <a:solidFill>
                  <a:srgbClr val="000000"/>
                </a:solidFill>
                <a:sym typeface="Symbol" pitchFamily="18" charset="2"/>
              </a:rPr>
              <a:t></a:t>
            </a:r>
            <a:r>
              <a:rPr lang="en-US" altLang="zh-CN">
                <a:solidFill>
                  <a:srgbClr val="000000"/>
                </a:solidFill>
                <a:sym typeface="Symbol" pitchFamily="18" charset="2"/>
              </a:rPr>
              <a:t>y</a:t>
            </a:r>
            <a:r>
              <a:rPr lang="en-US" altLang="zh-CN">
                <a:solidFill>
                  <a:srgbClr val="000000"/>
                </a:solidFill>
              </a:rPr>
              <a:t>∈Y，</a:t>
            </a:r>
            <a:r>
              <a:rPr lang="zh-CN" altLang="en-US">
                <a:solidFill>
                  <a:srgbClr val="000000"/>
                </a:solidFill>
              </a:rPr>
              <a:t>使</a:t>
            </a:r>
            <a:r>
              <a:rPr lang="en-US" altLang="zh-CN">
                <a:solidFill>
                  <a:srgbClr val="000000"/>
                </a:solidFill>
              </a:rPr>
              <a:t>g(y)=z，</a:t>
            </a:r>
          </a:p>
          <a:p>
            <a:pPr>
              <a:lnSpc>
                <a:spcPct val="125000"/>
              </a:lnSpc>
            </a:pPr>
            <a:r>
              <a:rPr lang="zh-CN" altLang="en-US">
                <a:solidFill>
                  <a:srgbClr val="000000"/>
                </a:solidFill>
              </a:rPr>
              <a:t>        又</a:t>
            </a:r>
            <a:r>
              <a:rPr lang="en-US" altLang="zh-CN">
                <a:solidFill>
                  <a:srgbClr val="000000"/>
                </a:solidFill>
              </a:rPr>
              <a:t>f</a:t>
            </a:r>
            <a:r>
              <a:rPr lang="zh-CN" altLang="en-US">
                <a:solidFill>
                  <a:srgbClr val="000000"/>
                </a:solidFill>
              </a:rPr>
              <a:t>是满射，故</a:t>
            </a:r>
            <a:r>
              <a:rPr lang="zh-CN" altLang="en-US">
                <a:solidFill>
                  <a:srgbClr val="000000"/>
                </a:solidFill>
                <a:sym typeface="Symbol" pitchFamily="18" charset="2"/>
              </a:rPr>
              <a:t></a:t>
            </a:r>
            <a:r>
              <a:rPr lang="en-US" altLang="zh-CN">
                <a:solidFill>
                  <a:srgbClr val="000000"/>
                </a:solidFill>
                <a:sym typeface="Symbol" pitchFamily="18" charset="2"/>
              </a:rPr>
              <a:t>x</a:t>
            </a:r>
            <a:r>
              <a:rPr lang="en-US" altLang="zh-CN">
                <a:solidFill>
                  <a:srgbClr val="000000"/>
                </a:solidFill>
              </a:rPr>
              <a:t>∈X，</a:t>
            </a:r>
            <a:r>
              <a:rPr lang="zh-CN" altLang="en-US">
                <a:solidFill>
                  <a:srgbClr val="000000"/>
                </a:solidFill>
              </a:rPr>
              <a:t>使</a:t>
            </a:r>
            <a:r>
              <a:rPr lang="en-US" altLang="zh-CN">
                <a:solidFill>
                  <a:srgbClr val="000000"/>
                </a:solidFill>
              </a:rPr>
              <a:t>f(x)=y；</a:t>
            </a:r>
            <a:r>
              <a:rPr lang="zh-CN" altLang="en-US">
                <a:solidFill>
                  <a:srgbClr val="000000"/>
                </a:solidFill>
              </a:rPr>
              <a:t>因此有</a:t>
            </a:r>
          </a:p>
          <a:p>
            <a:pPr>
              <a:lnSpc>
                <a:spcPct val="125000"/>
              </a:lnSpc>
            </a:pPr>
            <a:r>
              <a:rPr lang="zh-CN" altLang="en-US">
                <a:solidFill>
                  <a:srgbClr val="000000"/>
                </a:solidFill>
              </a:rPr>
              <a:t>        </a:t>
            </a:r>
            <a:r>
              <a:rPr lang="en-US" altLang="zh-CN">
                <a:solidFill>
                  <a:srgbClr val="000000"/>
                </a:solidFill>
              </a:rPr>
              <a:t>g◦f(x)=g(f(x))=g(y)=z，</a:t>
            </a:r>
            <a:r>
              <a:rPr lang="zh-CN" altLang="en-US">
                <a:solidFill>
                  <a:srgbClr val="000000"/>
                </a:solidFill>
              </a:rPr>
              <a:t>即</a:t>
            </a:r>
            <a:r>
              <a:rPr lang="en-US" altLang="zh-CN">
                <a:solidFill>
                  <a:srgbClr val="FF0000"/>
                </a:solidFill>
              </a:rPr>
              <a:t>R</a:t>
            </a:r>
            <a:r>
              <a:rPr lang="en-US" altLang="zh-CN" baseline="-25000">
                <a:solidFill>
                  <a:srgbClr val="FF0000"/>
                </a:solidFill>
              </a:rPr>
              <a:t>g◦f </a:t>
            </a:r>
            <a:r>
              <a:rPr lang="en-US" altLang="zh-CN">
                <a:solidFill>
                  <a:srgbClr val="FF0000"/>
                </a:solidFill>
              </a:rPr>
              <a:t>=Z</a:t>
            </a:r>
            <a:r>
              <a:rPr lang="en-US" altLang="zh-CN">
                <a:solidFill>
                  <a:srgbClr val="000000"/>
                </a:solidFill>
              </a:rPr>
              <a:t>，g◦f</a:t>
            </a:r>
            <a:r>
              <a:rPr lang="zh-CN" altLang="en-US">
                <a:solidFill>
                  <a:srgbClr val="000000"/>
                </a:solidFill>
              </a:rPr>
              <a:t>是满射的。        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1258888" y="620713"/>
            <a:ext cx="45370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993300"/>
                </a:solidFill>
                <a:ea typeface="楷体_GB2312" pitchFamily="49" charset="-122"/>
              </a:rPr>
              <a:t>2、复合函数性质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2D298E-2AF8-4E03-A237-AB41B2DDC261}" type="slidenum">
              <a:rPr lang="zh-CN" altLang="en-US"/>
              <a:pPr/>
              <a:t>19</a:t>
            </a:fld>
            <a:endParaRPr lang="en-US" altLang="zh-CN"/>
          </a:p>
        </p:txBody>
      </p:sp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719138" y="1447800"/>
            <a:ext cx="7916862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/>
              <a:t>b)  </a:t>
            </a:r>
            <a:r>
              <a:rPr lang="zh-CN" altLang="en-US"/>
              <a:t>若</a:t>
            </a:r>
            <a:r>
              <a:rPr lang="en-US" altLang="zh-CN"/>
              <a:t>g</a:t>
            </a:r>
            <a:r>
              <a:rPr lang="zh-CN" altLang="en-US"/>
              <a:t>和</a:t>
            </a:r>
            <a:r>
              <a:rPr lang="en-US" altLang="zh-CN"/>
              <a:t>f</a:t>
            </a:r>
            <a:r>
              <a:rPr lang="zh-CN" altLang="en-US"/>
              <a:t>是入射的，则</a:t>
            </a:r>
            <a:r>
              <a:rPr lang="en-US" altLang="zh-CN"/>
              <a:t>g◦f</a:t>
            </a:r>
            <a:r>
              <a:rPr lang="zh-CN" altLang="en-US"/>
              <a:t>是入射的。</a:t>
            </a:r>
          </a:p>
          <a:p>
            <a:pPr>
              <a:lnSpc>
                <a:spcPct val="130000"/>
              </a:lnSpc>
            </a:pPr>
            <a:r>
              <a:rPr lang="en-US" altLang="zh-CN"/>
              <a:t>c)  </a:t>
            </a:r>
            <a:r>
              <a:rPr lang="zh-CN" altLang="en-US"/>
              <a:t>若</a:t>
            </a:r>
            <a:r>
              <a:rPr lang="en-US" altLang="zh-CN"/>
              <a:t>g</a:t>
            </a:r>
            <a:r>
              <a:rPr lang="zh-CN" altLang="en-US"/>
              <a:t>和</a:t>
            </a:r>
            <a:r>
              <a:rPr lang="en-US" altLang="zh-CN"/>
              <a:t>f</a:t>
            </a:r>
            <a:r>
              <a:rPr lang="zh-CN" altLang="en-US"/>
              <a:t>是双射的，则</a:t>
            </a:r>
            <a:r>
              <a:rPr lang="en-US" altLang="zh-CN"/>
              <a:t>g◦f</a:t>
            </a:r>
            <a:r>
              <a:rPr lang="zh-CN" altLang="en-US"/>
              <a:t>是双射的。</a:t>
            </a:r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719138" y="2492375"/>
            <a:ext cx="7916862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000000"/>
                </a:solidFill>
              </a:rPr>
              <a:t>证明：</a:t>
            </a:r>
            <a:r>
              <a:rPr lang="en-US" altLang="zh-CN">
                <a:solidFill>
                  <a:srgbClr val="000000"/>
                </a:solidFill>
              </a:rPr>
              <a:t>b)</a:t>
            </a:r>
            <a:r>
              <a:rPr lang="zh-CN" altLang="en-US">
                <a:solidFill>
                  <a:srgbClr val="000000"/>
                </a:solidFill>
              </a:rPr>
              <a:t>对于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kumimoji="0" lang="en-US" altLang="zh-CN" baseline="-25000"/>
              <a:t>1</a:t>
            </a:r>
            <a:r>
              <a:rPr lang="en-US" altLang="zh-CN">
                <a:solidFill>
                  <a:srgbClr val="000000"/>
                </a:solidFill>
              </a:rPr>
              <a:t>，x</a:t>
            </a:r>
            <a:r>
              <a:rPr kumimoji="0" lang="en-US" altLang="zh-CN" baseline="-25000"/>
              <a:t>2</a:t>
            </a:r>
            <a:r>
              <a:rPr lang="en-US" altLang="zh-CN">
                <a:solidFill>
                  <a:srgbClr val="000000"/>
                </a:solidFill>
              </a:rPr>
              <a:t>∈X，</a:t>
            </a:r>
            <a:r>
              <a:rPr lang="zh-CN" altLang="en-US">
                <a:solidFill>
                  <a:srgbClr val="000000"/>
                </a:solidFill>
              </a:rPr>
              <a:t>且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kumimoji="0" lang="en-US" altLang="zh-CN" baseline="-25000"/>
              <a:t>1</a:t>
            </a:r>
            <a:r>
              <a:rPr lang="en-US" altLang="zh-CN">
                <a:solidFill>
                  <a:srgbClr val="000000"/>
                </a:solidFill>
              </a:rPr>
              <a:t>≠x</a:t>
            </a:r>
            <a:r>
              <a:rPr kumimoji="0" lang="en-US" altLang="zh-CN" baseline="-25000"/>
              <a:t>2</a:t>
            </a:r>
            <a:r>
              <a:rPr lang="en-US" altLang="zh-CN">
                <a:solidFill>
                  <a:srgbClr val="000000"/>
                </a:solidFill>
              </a:rPr>
              <a:t>，</a:t>
            </a:r>
            <a:r>
              <a:rPr lang="zh-CN" altLang="en-US">
                <a:solidFill>
                  <a:srgbClr val="000000"/>
                </a:solidFill>
              </a:rPr>
              <a:t>因</a:t>
            </a:r>
            <a:r>
              <a:rPr lang="en-US" altLang="zh-CN">
                <a:solidFill>
                  <a:srgbClr val="000000"/>
                </a:solidFill>
              </a:rPr>
              <a:t>f</a:t>
            </a:r>
            <a:r>
              <a:rPr lang="zh-CN" altLang="en-US">
                <a:solidFill>
                  <a:srgbClr val="000000"/>
                </a:solidFill>
              </a:rPr>
              <a:t>是入射，</a:t>
            </a:r>
          </a:p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000000"/>
                </a:solidFill>
              </a:rPr>
              <a:t>        故</a:t>
            </a:r>
            <a:r>
              <a:rPr lang="en-US" altLang="zh-CN">
                <a:solidFill>
                  <a:srgbClr val="000000"/>
                </a:solidFill>
              </a:rPr>
              <a:t>f(x</a:t>
            </a:r>
            <a:r>
              <a:rPr kumimoji="0" lang="en-US" altLang="zh-CN" baseline="-25000"/>
              <a:t>1</a:t>
            </a:r>
            <a:r>
              <a:rPr lang="en-US" altLang="zh-CN">
                <a:solidFill>
                  <a:srgbClr val="000000"/>
                </a:solidFill>
              </a:rPr>
              <a:t>)≠f(x</a:t>
            </a:r>
            <a:r>
              <a:rPr kumimoji="0" lang="en-US" altLang="zh-CN" baseline="-25000"/>
              <a:t>2</a:t>
            </a:r>
            <a:r>
              <a:rPr lang="en-US" altLang="zh-CN">
                <a:solidFill>
                  <a:srgbClr val="000000"/>
                </a:solidFill>
              </a:rPr>
              <a:t>)，</a:t>
            </a:r>
          </a:p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000000"/>
                </a:solidFill>
              </a:rPr>
              <a:t>        又</a:t>
            </a:r>
            <a:r>
              <a:rPr lang="en-US" altLang="zh-CN">
                <a:solidFill>
                  <a:srgbClr val="000000"/>
                </a:solidFill>
              </a:rPr>
              <a:t>g</a:t>
            </a:r>
            <a:r>
              <a:rPr lang="zh-CN" altLang="en-US">
                <a:solidFill>
                  <a:srgbClr val="000000"/>
                </a:solidFill>
              </a:rPr>
              <a:t>是入射，故</a:t>
            </a:r>
            <a:r>
              <a:rPr lang="en-US" altLang="zh-CN">
                <a:solidFill>
                  <a:srgbClr val="000000"/>
                </a:solidFill>
              </a:rPr>
              <a:t>g(f(x</a:t>
            </a:r>
            <a:r>
              <a:rPr kumimoji="0" lang="en-US" altLang="zh-CN" baseline="-25000"/>
              <a:t>1</a:t>
            </a:r>
            <a:r>
              <a:rPr lang="en-US" altLang="zh-CN">
                <a:solidFill>
                  <a:srgbClr val="000000"/>
                </a:solidFill>
              </a:rPr>
              <a:t>))≠g(f(x</a:t>
            </a:r>
            <a:r>
              <a:rPr kumimoji="0" lang="en-US" altLang="zh-CN" baseline="-25000"/>
              <a:t>2</a:t>
            </a:r>
            <a:r>
              <a:rPr lang="en-US" altLang="zh-CN">
                <a:solidFill>
                  <a:srgbClr val="000000"/>
                </a:solidFill>
              </a:rPr>
              <a:t>))，</a:t>
            </a:r>
          </a:p>
          <a:p>
            <a:pPr>
              <a:lnSpc>
                <a:spcPct val="130000"/>
              </a:lnSpc>
            </a:pPr>
            <a:r>
              <a:rPr lang="en-US" altLang="zh-CN">
                <a:solidFill>
                  <a:srgbClr val="000000"/>
                </a:solidFill>
              </a:rPr>
              <a:t>        </a:t>
            </a:r>
            <a:r>
              <a:rPr lang="zh-CN" altLang="en-US">
                <a:solidFill>
                  <a:srgbClr val="000000"/>
                </a:solidFill>
              </a:rPr>
              <a:t>于是由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kumimoji="0" lang="en-US" altLang="zh-CN" baseline="-25000"/>
              <a:t>1</a:t>
            </a:r>
            <a:r>
              <a:rPr lang="en-US" altLang="zh-CN">
                <a:solidFill>
                  <a:srgbClr val="000000"/>
                </a:solidFill>
              </a:rPr>
              <a:t>≠x</a:t>
            </a:r>
            <a:r>
              <a:rPr kumimoji="0" lang="en-US" altLang="zh-CN" baseline="-25000"/>
              <a:t>2</a:t>
            </a:r>
            <a:r>
              <a:rPr lang="en-US" altLang="zh-CN">
                <a:solidFill>
                  <a:srgbClr val="000000"/>
                </a:solidFill>
              </a:rPr>
              <a:t> </a:t>
            </a:r>
            <a:r>
              <a:rPr lang="en-US" altLang="zh-CN">
                <a:solidFill>
                  <a:srgbClr val="000000"/>
                </a:solidFill>
                <a:sym typeface="Symbol" pitchFamily="18" charset="2"/>
              </a:rPr>
              <a:t> g</a:t>
            </a:r>
            <a:r>
              <a:rPr lang="en-US" altLang="zh-CN">
                <a:solidFill>
                  <a:srgbClr val="000000"/>
                </a:solidFill>
              </a:rPr>
              <a:t>◦f(x</a:t>
            </a:r>
            <a:r>
              <a:rPr kumimoji="0" lang="en-US" altLang="zh-CN" baseline="-25000"/>
              <a:t>1</a:t>
            </a:r>
            <a:r>
              <a:rPr lang="en-US" altLang="zh-CN">
                <a:solidFill>
                  <a:srgbClr val="000000"/>
                </a:solidFill>
              </a:rPr>
              <a:t>)≠</a:t>
            </a:r>
            <a:r>
              <a:rPr lang="en-US" altLang="zh-CN"/>
              <a:t>g</a:t>
            </a:r>
            <a:r>
              <a:rPr lang="en-US" altLang="zh-CN">
                <a:solidFill>
                  <a:srgbClr val="000000"/>
                </a:solidFill>
              </a:rPr>
              <a:t>◦f(x</a:t>
            </a:r>
            <a:r>
              <a:rPr kumimoji="0" lang="en-US" altLang="zh-CN" baseline="-25000"/>
              <a:t>2</a:t>
            </a:r>
            <a:r>
              <a:rPr lang="en-US" altLang="zh-CN">
                <a:solidFill>
                  <a:srgbClr val="000000"/>
                </a:solidFill>
              </a:rPr>
              <a:t>)</a:t>
            </a:r>
            <a:r>
              <a:rPr lang="zh-CN" altLang="en-US">
                <a:solidFill>
                  <a:srgbClr val="000000"/>
                </a:solidFill>
              </a:rPr>
              <a:t>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F5644A-EA2F-4C6F-B39F-FA46AE9F702B}" type="slidenum">
              <a:rPr lang="zh-CN" altLang="en-US"/>
              <a:pPr/>
              <a:t>20</a:t>
            </a:fld>
            <a:endParaRPr lang="en-US" altLang="zh-CN"/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719138" y="1484313"/>
            <a:ext cx="791686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>
                <a:solidFill>
                  <a:srgbClr val="FF0000"/>
                </a:solidFill>
              </a:rPr>
              <a:t>例</a:t>
            </a:r>
            <a:r>
              <a:rPr lang="en-US" altLang="zh-CN">
                <a:solidFill>
                  <a:srgbClr val="FF0000"/>
                </a:solidFill>
              </a:rPr>
              <a:t>4</a:t>
            </a:r>
            <a:r>
              <a:rPr lang="zh-CN" altLang="en-US">
                <a:solidFill>
                  <a:srgbClr val="FF0000"/>
                </a:solidFill>
              </a:rPr>
              <a:t>：</a:t>
            </a:r>
            <a:r>
              <a:rPr lang="zh-CN" altLang="en-US"/>
              <a:t>设</a:t>
            </a:r>
            <a:r>
              <a:rPr lang="en-US" altLang="zh-CN"/>
              <a:t>R</a:t>
            </a:r>
            <a:r>
              <a:rPr lang="zh-CN" altLang="en-US"/>
              <a:t>为实数集合，对</a:t>
            </a:r>
            <a:r>
              <a:rPr lang="en-US" altLang="zh-CN"/>
              <a:t>x∈R</a:t>
            </a:r>
            <a:r>
              <a:rPr lang="zh-CN" altLang="en-US"/>
              <a:t>有</a:t>
            </a:r>
            <a:r>
              <a:rPr lang="en-US" altLang="zh-CN"/>
              <a:t>f(x)=x+2</a:t>
            </a:r>
            <a:r>
              <a:rPr lang="zh-CN" altLang="en-US"/>
              <a:t>，</a:t>
            </a:r>
            <a:r>
              <a:rPr lang="en-US" altLang="zh-CN"/>
              <a:t>g(x)=x-2</a:t>
            </a:r>
            <a:r>
              <a:rPr lang="zh-CN" altLang="en-US"/>
              <a:t>，</a:t>
            </a:r>
            <a:r>
              <a:rPr lang="en-US" altLang="zh-CN"/>
              <a:t>h(x)=3x。</a:t>
            </a:r>
            <a:r>
              <a:rPr lang="zh-CN" altLang="en-US"/>
              <a:t>求：</a:t>
            </a:r>
            <a:r>
              <a:rPr lang="en-US" altLang="zh-CN"/>
              <a:t>g◦f，h◦(g◦f)</a:t>
            </a:r>
            <a:r>
              <a:rPr lang="zh-CN" altLang="en-US"/>
              <a:t>和(</a:t>
            </a:r>
            <a:r>
              <a:rPr lang="en-US" altLang="zh-CN"/>
              <a:t>h◦g)◦f</a:t>
            </a:r>
            <a:r>
              <a:rPr lang="en-US" altLang="zh-CN" b="0"/>
              <a:t> </a:t>
            </a:r>
          </a:p>
        </p:txBody>
      </p:sp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719138" y="2636838"/>
            <a:ext cx="7916862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5000"/>
              </a:lnSpc>
              <a:buClr>
                <a:srgbClr val="6600CC"/>
              </a:buClr>
              <a:buFont typeface="Wingdings" pitchFamily="2" charset="2"/>
              <a:buChar char="Ø"/>
            </a:pPr>
            <a:r>
              <a:rPr kumimoji="0" lang="zh-CN" altLang="en-US"/>
              <a:t>函数的复合满足结合律，即</a:t>
            </a:r>
            <a:r>
              <a:rPr lang="en-US" altLang="zh-CN"/>
              <a:t>h◦(g◦f)=(h◦g)◦f=h◦g◦f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43F66BE-584D-437F-B9AA-621115C3BE9D}" type="slidenum">
              <a:rPr lang="zh-CN" altLang="en-US"/>
              <a:pPr/>
              <a:t>21</a:t>
            </a:fld>
            <a:endParaRPr lang="en-US" altLang="zh-CN"/>
          </a:p>
        </p:txBody>
      </p:sp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719138" y="2636838"/>
            <a:ext cx="7916862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定义4-2.4：</a:t>
            </a:r>
            <a:r>
              <a:rPr lang="zh-CN" altLang="en-US"/>
              <a:t>如果</a:t>
            </a:r>
            <a:r>
              <a:rPr lang="en-US" altLang="zh-CN"/>
              <a:t>I</a:t>
            </a:r>
            <a:r>
              <a:rPr lang="en-US" altLang="zh-CN" baseline="-25000"/>
              <a:t>x</a:t>
            </a:r>
            <a:r>
              <a:rPr lang="en-US" altLang="zh-CN"/>
              <a:t>={&lt;x,x&gt;|x∈X}</a:t>
            </a:r>
            <a:r>
              <a:rPr lang="zh-CN" altLang="en-US"/>
              <a:t>，称函数</a:t>
            </a:r>
            <a:r>
              <a:rPr lang="en-US" altLang="zh-CN"/>
              <a:t>I</a:t>
            </a:r>
            <a:r>
              <a:rPr lang="en-US" altLang="zh-CN" baseline="-25000"/>
              <a:t>x</a:t>
            </a:r>
            <a:r>
              <a:rPr lang="zh-CN" altLang="en-US"/>
              <a:t>：</a:t>
            </a:r>
            <a:r>
              <a:rPr lang="en-US" altLang="zh-CN"/>
              <a:t>X→X </a:t>
            </a:r>
            <a:r>
              <a:rPr lang="zh-CN" altLang="en-US"/>
              <a:t>为</a:t>
            </a:r>
            <a:r>
              <a:rPr lang="zh-CN" altLang="en-US" i="1">
                <a:solidFill>
                  <a:srgbClr val="FF0000"/>
                </a:solidFill>
              </a:rPr>
              <a:t>恒等函数</a:t>
            </a:r>
            <a:r>
              <a:rPr lang="zh-CN" altLang="en-US"/>
              <a:t>。</a:t>
            </a:r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719138" y="1484313"/>
            <a:ext cx="7916862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定义4-2.3：</a:t>
            </a:r>
            <a:r>
              <a:rPr lang="zh-CN" altLang="en-US"/>
              <a:t>令函数</a:t>
            </a:r>
            <a:r>
              <a:rPr lang="en-US" altLang="zh-CN"/>
              <a:t>f</a:t>
            </a:r>
            <a:r>
              <a:rPr lang="zh-CN" altLang="en-US"/>
              <a:t>：</a:t>
            </a:r>
            <a:r>
              <a:rPr lang="en-US" altLang="zh-CN"/>
              <a:t>X→Y，</a:t>
            </a:r>
            <a:r>
              <a:rPr lang="zh-CN" altLang="en-US"/>
              <a:t>若存在某个</a:t>
            </a:r>
            <a:r>
              <a:rPr lang="en-US" altLang="zh-CN"/>
              <a:t>y</a:t>
            </a:r>
            <a:r>
              <a:rPr lang="en-US" altLang="zh-CN" baseline="-25000"/>
              <a:t>0</a:t>
            </a:r>
            <a:r>
              <a:rPr lang="en-US" altLang="zh-CN">
                <a:solidFill>
                  <a:srgbClr val="000000"/>
                </a:solidFill>
              </a:rPr>
              <a:t>∈Y，</a:t>
            </a:r>
            <a:r>
              <a:rPr lang="zh-CN" altLang="en-US">
                <a:solidFill>
                  <a:srgbClr val="000000"/>
                </a:solidFill>
              </a:rPr>
              <a:t>对于</a:t>
            </a:r>
            <a:r>
              <a:rPr lang="zh-CN" altLang="en-US">
                <a:solidFill>
                  <a:srgbClr val="000000"/>
                </a:solidFill>
                <a:sym typeface="Symbol" pitchFamily="18" charset="2"/>
              </a:rPr>
              <a:t></a:t>
            </a:r>
            <a:r>
              <a:rPr lang="en-US" altLang="zh-CN">
                <a:solidFill>
                  <a:srgbClr val="000000"/>
                </a:solidFill>
              </a:rPr>
              <a:t>x∈X，</a:t>
            </a:r>
            <a:r>
              <a:rPr lang="zh-CN" altLang="en-US">
                <a:solidFill>
                  <a:srgbClr val="000000"/>
                </a:solidFill>
              </a:rPr>
              <a:t>都有</a:t>
            </a:r>
            <a:r>
              <a:rPr lang="en-US" altLang="zh-CN">
                <a:solidFill>
                  <a:srgbClr val="000000"/>
                </a:solidFill>
              </a:rPr>
              <a:t>f(x)=y</a:t>
            </a:r>
            <a:r>
              <a:rPr lang="en-US" altLang="zh-CN" baseline="-25000">
                <a:solidFill>
                  <a:srgbClr val="000000"/>
                </a:solidFill>
              </a:rPr>
              <a:t>0</a:t>
            </a:r>
            <a:r>
              <a:rPr lang="en-US" altLang="zh-CN">
                <a:solidFill>
                  <a:srgbClr val="000000"/>
                </a:solidFill>
              </a:rPr>
              <a:t>，</a:t>
            </a:r>
            <a:r>
              <a:rPr lang="zh-CN" altLang="en-US">
                <a:solidFill>
                  <a:srgbClr val="000000"/>
                </a:solidFill>
              </a:rPr>
              <a:t>即</a:t>
            </a:r>
            <a:r>
              <a:rPr lang="en-US" altLang="zh-CN">
                <a:solidFill>
                  <a:srgbClr val="000000"/>
                </a:solidFill>
              </a:rPr>
              <a:t>f(X)={y</a:t>
            </a:r>
            <a:r>
              <a:rPr lang="en-US" altLang="zh-CN" baseline="-25000">
                <a:solidFill>
                  <a:srgbClr val="000000"/>
                </a:solidFill>
              </a:rPr>
              <a:t>0</a:t>
            </a:r>
            <a:r>
              <a:rPr lang="en-US" altLang="zh-CN">
                <a:solidFill>
                  <a:srgbClr val="000000"/>
                </a:solidFill>
              </a:rPr>
              <a:t>}，</a:t>
            </a:r>
            <a:r>
              <a:rPr lang="zh-CN" altLang="en-US">
                <a:solidFill>
                  <a:srgbClr val="000000"/>
                </a:solidFill>
              </a:rPr>
              <a:t>则 </a:t>
            </a:r>
            <a:r>
              <a:rPr lang="en-US" altLang="zh-CN">
                <a:solidFill>
                  <a:srgbClr val="000000"/>
                </a:solidFill>
              </a:rPr>
              <a:t>f </a:t>
            </a:r>
            <a:r>
              <a:rPr lang="zh-CN" altLang="en-US">
                <a:solidFill>
                  <a:srgbClr val="000000"/>
                </a:solidFill>
              </a:rPr>
              <a:t>称为</a:t>
            </a:r>
            <a:r>
              <a:rPr lang="zh-CN" altLang="en-US" i="1">
                <a:solidFill>
                  <a:srgbClr val="FF0000"/>
                </a:solidFill>
              </a:rPr>
              <a:t>常函数</a:t>
            </a:r>
            <a:r>
              <a:rPr lang="zh-CN" altLang="en-US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719138" y="3789363"/>
            <a:ext cx="7916862" cy="56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定理4-2.4：</a:t>
            </a:r>
            <a:r>
              <a:rPr lang="zh-CN" altLang="en-US"/>
              <a:t>设函数</a:t>
            </a:r>
            <a:r>
              <a:rPr lang="en-US" altLang="zh-CN"/>
              <a:t>f</a:t>
            </a:r>
            <a:r>
              <a:rPr lang="zh-CN" altLang="en-US"/>
              <a:t>：</a:t>
            </a:r>
            <a:r>
              <a:rPr lang="en-US" altLang="zh-CN"/>
              <a:t>X→Y</a:t>
            </a:r>
            <a:r>
              <a:rPr lang="zh-CN" altLang="en-US"/>
              <a:t>，则</a:t>
            </a:r>
            <a:r>
              <a:rPr lang="en-US" altLang="zh-CN"/>
              <a:t>f=f </a:t>
            </a:r>
            <a:r>
              <a:rPr lang="en-US" altLang="zh-CN">
                <a:solidFill>
                  <a:srgbClr val="000000"/>
                </a:solidFill>
              </a:rPr>
              <a:t>◦</a:t>
            </a:r>
            <a:r>
              <a:rPr lang="en-US" altLang="zh-CN"/>
              <a:t>I</a:t>
            </a:r>
            <a:r>
              <a:rPr lang="en-US" altLang="zh-CN" baseline="-25000"/>
              <a:t>x</a:t>
            </a:r>
            <a:r>
              <a:rPr lang="en-US" altLang="zh-CN"/>
              <a:t>=I</a:t>
            </a:r>
            <a:r>
              <a:rPr lang="en-US" altLang="zh-CN" baseline="-25000"/>
              <a:t>y</a:t>
            </a:r>
            <a:r>
              <a:rPr lang="en-US" altLang="zh-CN">
                <a:solidFill>
                  <a:srgbClr val="000000"/>
                </a:solidFill>
              </a:rPr>
              <a:t>◦</a:t>
            </a:r>
            <a:r>
              <a:rPr lang="en-US" altLang="zh-CN"/>
              <a:t>f</a:t>
            </a:r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>
            <a:off x="1258888" y="714375"/>
            <a:ext cx="4752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>
                <a:solidFill>
                  <a:srgbClr val="993300"/>
                </a:solidFill>
                <a:ea typeface="楷体_GB2312" pitchFamily="49" charset="-122"/>
              </a:rPr>
              <a:t>3、特殊的函数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 autoUpdateAnimBg="0"/>
      <p:bldP spid="38916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3209379-EE4F-4C91-98B3-944CC6A3A7CC}" type="slidenum">
              <a:rPr lang="zh-CN" altLang="en-US"/>
              <a:pPr/>
              <a:t>22</a:t>
            </a:fld>
            <a:endParaRPr lang="en-US" altLang="zh-CN"/>
          </a:p>
        </p:txBody>
      </p:sp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719138" y="1341438"/>
            <a:ext cx="7916862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定理4-2.5：</a:t>
            </a:r>
            <a:r>
              <a:rPr lang="zh-CN" altLang="en-US"/>
              <a:t>如果函数</a:t>
            </a:r>
            <a:r>
              <a:rPr lang="en-US" altLang="zh-CN"/>
              <a:t>f</a:t>
            </a:r>
            <a:r>
              <a:rPr lang="zh-CN" altLang="en-US"/>
              <a:t>：</a:t>
            </a:r>
            <a:r>
              <a:rPr lang="en-US" altLang="zh-CN"/>
              <a:t>X→Y</a:t>
            </a:r>
            <a:r>
              <a:rPr lang="zh-CN" altLang="en-US"/>
              <a:t>有逆函数</a:t>
            </a:r>
            <a:r>
              <a:rPr lang="en-US" altLang="zh-CN"/>
              <a:t>f </a:t>
            </a:r>
            <a:r>
              <a:rPr lang="en-US" altLang="zh-CN" baseline="30000"/>
              <a:t>-1</a:t>
            </a:r>
            <a:r>
              <a:rPr lang="zh-CN" altLang="en-US" baseline="30000"/>
              <a:t>：</a:t>
            </a:r>
            <a:r>
              <a:rPr lang="en-US" altLang="zh-CN"/>
              <a:t>Y→X</a:t>
            </a:r>
            <a:r>
              <a:rPr lang="zh-CN" altLang="en-US"/>
              <a:t>， 则</a:t>
            </a:r>
          </a:p>
          <a:p>
            <a:pPr algn="ctr">
              <a:lnSpc>
                <a:spcPct val="130000"/>
              </a:lnSpc>
            </a:pPr>
            <a:r>
              <a:rPr lang="en-US" altLang="zh-CN"/>
              <a:t>f </a:t>
            </a:r>
            <a:r>
              <a:rPr lang="en-US" altLang="zh-CN" baseline="30000"/>
              <a:t>-1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◦</a:t>
            </a:r>
            <a:r>
              <a:rPr lang="en-US" altLang="zh-CN"/>
              <a:t>f = I</a:t>
            </a:r>
            <a:r>
              <a:rPr lang="en-US" altLang="zh-CN" baseline="-25000"/>
              <a:t>x</a:t>
            </a:r>
            <a:r>
              <a:rPr lang="en-US" altLang="zh-CN"/>
              <a:t>；f </a:t>
            </a:r>
            <a:r>
              <a:rPr lang="en-US" altLang="zh-CN">
                <a:solidFill>
                  <a:srgbClr val="000000"/>
                </a:solidFill>
              </a:rPr>
              <a:t>◦</a:t>
            </a:r>
            <a:r>
              <a:rPr lang="en-US" altLang="zh-CN"/>
              <a:t>f </a:t>
            </a:r>
            <a:r>
              <a:rPr lang="en-US" altLang="zh-CN" baseline="30000"/>
              <a:t>-1</a:t>
            </a:r>
            <a:r>
              <a:rPr lang="en-US" altLang="zh-CN"/>
              <a:t> = I</a:t>
            </a:r>
            <a:r>
              <a:rPr lang="en-US" altLang="zh-CN" baseline="-25000"/>
              <a:t>y</a:t>
            </a:r>
            <a:r>
              <a:rPr lang="zh-CN" altLang="en-US"/>
              <a:t>。</a:t>
            </a:r>
          </a:p>
        </p:txBody>
      </p:sp>
      <p:grpSp>
        <p:nvGrpSpPr>
          <p:cNvPr id="21528" name="Group 24"/>
          <p:cNvGrpSpPr>
            <a:grpSpLocks/>
          </p:cNvGrpSpPr>
          <p:nvPr/>
        </p:nvGrpSpPr>
        <p:grpSpPr bwMode="auto">
          <a:xfrm>
            <a:off x="1517650" y="3697288"/>
            <a:ext cx="1371600" cy="1552575"/>
            <a:chOff x="956" y="2329"/>
            <a:chExt cx="864" cy="978"/>
          </a:xfrm>
        </p:grpSpPr>
        <p:sp>
          <p:nvSpPr>
            <p:cNvPr id="21508" name="Text Box 4"/>
            <p:cNvSpPr txBox="1">
              <a:spLocks noChangeArrowheads="1"/>
            </p:cNvSpPr>
            <p:nvPr/>
          </p:nvSpPr>
          <p:spPr bwMode="auto">
            <a:xfrm>
              <a:off x="956" y="2329"/>
              <a:ext cx="288" cy="9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0">
                  <a:ea typeface="楷体_GB2312" pitchFamily="49" charset="-122"/>
                </a:rPr>
                <a:t>0</a:t>
              </a:r>
            </a:p>
            <a:p>
              <a:pPr>
                <a:spcBef>
                  <a:spcPct val="50000"/>
                </a:spcBef>
              </a:pPr>
              <a:r>
                <a:rPr lang="zh-CN" altLang="en-US" b="0">
                  <a:ea typeface="楷体_GB2312" pitchFamily="49" charset="-122"/>
                </a:rPr>
                <a:t>1</a:t>
              </a:r>
            </a:p>
            <a:p>
              <a:pPr>
                <a:spcBef>
                  <a:spcPct val="50000"/>
                </a:spcBef>
              </a:pPr>
              <a:r>
                <a:rPr lang="zh-CN" altLang="en-US" b="0">
                  <a:ea typeface="楷体_GB2312" pitchFamily="49" charset="-122"/>
                </a:rPr>
                <a:t>2</a:t>
              </a:r>
            </a:p>
          </p:txBody>
        </p:sp>
        <p:sp>
          <p:nvSpPr>
            <p:cNvPr id="21509" name="Text Box 5"/>
            <p:cNvSpPr txBox="1">
              <a:spLocks noChangeArrowheads="1"/>
            </p:cNvSpPr>
            <p:nvPr/>
          </p:nvSpPr>
          <p:spPr bwMode="auto">
            <a:xfrm>
              <a:off x="1532" y="2329"/>
              <a:ext cx="288" cy="9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ea typeface="楷体_GB2312" pitchFamily="49" charset="-122"/>
                </a:rPr>
                <a:t>a</a:t>
              </a:r>
            </a:p>
            <a:p>
              <a:pPr>
                <a:spcBef>
                  <a:spcPct val="50000"/>
                </a:spcBef>
              </a:pPr>
              <a:r>
                <a:rPr lang="en-US" altLang="zh-CN" b="0">
                  <a:ea typeface="楷体_GB2312" pitchFamily="49" charset="-122"/>
                </a:rPr>
                <a:t>b</a:t>
              </a:r>
            </a:p>
            <a:p>
              <a:pPr>
                <a:spcBef>
                  <a:spcPct val="50000"/>
                </a:spcBef>
              </a:pPr>
              <a:r>
                <a:rPr lang="en-US" altLang="zh-CN" b="0">
                  <a:ea typeface="楷体_GB2312" pitchFamily="49" charset="-122"/>
                </a:rPr>
                <a:t>c</a:t>
              </a:r>
            </a:p>
          </p:txBody>
        </p:sp>
        <p:sp>
          <p:nvSpPr>
            <p:cNvPr id="21512" name="Line 8"/>
            <p:cNvSpPr>
              <a:spLocks noChangeShapeType="1"/>
            </p:cNvSpPr>
            <p:nvPr/>
          </p:nvSpPr>
          <p:spPr bwMode="auto">
            <a:xfrm>
              <a:off x="1148" y="2521"/>
              <a:ext cx="38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513" name="Line 9"/>
            <p:cNvSpPr>
              <a:spLocks noChangeShapeType="1"/>
            </p:cNvSpPr>
            <p:nvPr/>
          </p:nvSpPr>
          <p:spPr bwMode="auto">
            <a:xfrm flipV="1">
              <a:off x="1148" y="2521"/>
              <a:ext cx="38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514" name="Line 10"/>
            <p:cNvSpPr>
              <a:spLocks noChangeShapeType="1"/>
            </p:cNvSpPr>
            <p:nvPr/>
          </p:nvSpPr>
          <p:spPr bwMode="auto">
            <a:xfrm flipV="1">
              <a:off x="1148" y="2857"/>
              <a:ext cx="38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1529" name="Group 25"/>
          <p:cNvGrpSpPr>
            <a:grpSpLocks/>
          </p:cNvGrpSpPr>
          <p:nvPr/>
        </p:nvGrpSpPr>
        <p:grpSpPr bwMode="auto">
          <a:xfrm>
            <a:off x="3422650" y="3697288"/>
            <a:ext cx="1371600" cy="1552575"/>
            <a:chOff x="2156" y="2329"/>
            <a:chExt cx="864" cy="978"/>
          </a:xfrm>
        </p:grpSpPr>
        <p:sp>
          <p:nvSpPr>
            <p:cNvPr id="21510" name="Text Box 6"/>
            <p:cNvSpPr txBox="1">
              <a:spLocks noChangeArrowheads="1"/>
            </p:cNvSpPr>
            <p:nvPr/>
          </p:nvSpPr>
          <p:spPr bwMode="auto">
            <a:xfrm>
              <a:off x="2732" y="2329"/>
              <a:ext cx="288" cy="9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ea typeface="楷体_GB2312" pitchFamily="49" charset="-122"/>
                </a:rPr>
                <a:t>a</a:t>
              </a:r>
            </a:p>
            <a:p>
              <a:pPr>
                <a:spcBef>
                  <a:spcPct val="50000"/>
                </a:spcBef>
              </a:pPr>
              <a:r>
                <a:rPr lang="en-US" altLang="zh-CN" b="0">
                  <a:ea typeface="楷体_GB2312" pitchFamily="49" charset="-122"/>
                </a:rPr>
                <a:t>b</a:t>
              </a:r>
            </a:p>
            <a:p>
              <a:pPr>
                <a:spcBef>
                  <a:spcPct val="50000"/>
                </a:spcBef>
              </a:pPr>
              <a:r>
                <a:rPr lang="en-US" altLang="zh-CN" b="0">
                  <a:ea typeface="楷体_GB2312" pitchFamily="49" charset="-122"/>
                </a:rPr>
                <a:t>c</a:t>
              </a:r>
            </a:p>
          </p:txBody>
        </p:sp>
        <p:sp>
          <p:nvSpPr>
            <p:cNvPr id="21511" name="Text Box 7"/>
            <p:cNvSpPr txBox="1">
              <a:spLocks noChangeArrowheads="1"/>
            </p:cNvSpPr>
            <p:nvPr/>
          </p:nvSpPr>
          <p:spPr bwMode="auto">
            <a:xfrm>
              <a:off x="2156" y="2329"/>
              <a:ext cx="288" cy="9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0">
                  <a:ea typeface="楷体_GB2312" pitchFamily="49" charset="-122"/>
                </a:rPr>
                <a:t>0</a:t>
              </a:r>
            </a:p>
            <a:p>
              <a:pPr>
                <a:spcBef>
                  <a:spcPct val="50000"/>
                </a:spcBef>
              </a:pPr>
              <a:r>
                <a:rPr lang="zh-CN" altLang="en-US" b="0">
                  <a:ea typeface="楷体_GB2312" pitchFamily="49" charset="-122"/>
                </a:rPr>
                <a:t>1</a:t>
              </a:r>
            </a:p>
            <a:p>
              <a:pPr>
                <a:spcBef>
                  <a:spcPct val="50000"/>
                </a:spcBef>
              </a:pPr>
              <a:r>
                <a:rPr lang="zh-CN" altLang="en-US" b="0">
                  <a:ea typeface="楷体_GB2312" pitchFamily="49" charset="-122"/>
                </a:rPr>
                <a:t>2</a:t>
              </a:r>
            </a:p>
          </p:txBody>
        </p:sp>
        <p:sp>
          <p:nvSpPr>
            <p:cNvPr id="21515" name="Line 11"/>
            <p:cNvSpPr>
              <a:spLocks noChangeShapeType="1"/>
            </p:cNvSpPr>
            <p:nvPr/>
          </p:nvSpPr>
          <p:spPr bwMode="auto">
            <a:xfrm flipH="1">
              <a:off x="2348" y="2521"/>
              <a:ext cx="43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516" name="Line 12"/>
            <p:cNvSpPr>
              <a:spLocks noChangeShapeType="1"/>
            </p:cNvSpPr>
            <p:nvPr/>
          </p:nvSpPr>
          <p:spPr bwMode="auto">
            <a:xfrm flipH="1">
              <a:off x="2396" y="2857"/>
              <a:ext cx="38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517" name="Line 13"/>
            <p:cNvSpPr>
              <a:spLocks noChangeShapeType="1"/>
            </p:cNvSpPr>
            <p:nvPr/>
          </p:nvSpPr>
          <p:spPr bwMode="auto">
            <a:xfrm flipH="1" flipV="1">
              <a:off x="2348" y="2521"/>
              <a:ext cx="432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1530" name="Group 26"/>
          <p:cNvGrpSpPr>
            <a:grpSpLocks/>
          </p:cNvGrpSpPr>
          <p:nvPr/>
        </p:nvGrpSpPr>
        <p:grpSpPr bwMode="auto">
          <a:xfrm>
            <a:off x="5580063" y="3697288"/>
            <a:ext cx="457200" cy="1676400"/>
            <a:chOff x="3644" y="2329"/>
            <a:chExt cx="288" cy="1056"/>
          </a:xfrm>
        </p:grpSpPr>
        <p:sp>
          <p:nvSpPr>
            <p:cNvPr id="21518" name="Oval 14"/>
            <p:cNvSpPr>
              <a:spLocks noChangeArrowheads="1"/>
            </p:cNvSpPr>
            <p:nvPr/>
          </p:nvSpPr>
          <p:spPr bwMode="auto">
            <a:xfrm>
              <a:off x="3644" y="2329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b="0">
                  <a:ea typeface="楷体_GB2312" pitchFamily="49" charset="-122"/>
                </a:rPr>
                <a:t>0</a:t>
              </a:r>
            </a:p>
          </p:txBody>
        </p:sp>
        <p:sp>
          <p:nvSpPr>
            <p:cNvPr id="21519" name="Oval 15"/>
            <p:cNvSpPr>
              <a:spLocks noChangeArrowheads="1"/>
            </p:cNvSpPr>
            <p:nvPr/>
          </p:nvSpPr>
          <p:spPr bwMode="auto">
            <a:xfrm>
              <a:off x="3644" y="2713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b="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21520" name="Oval 16"/>
            <p:cNvSpPr>
              <a:spLocks noChangeArrowheads="1"/>
            </p:cNvSpPr>
            <p:nvPr/>
          </p:nvSpPr>
          <p:spPr bwMode="auto">
            <a:xfrm>
              <a:off x="3644" y="3097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b="0">
                  <a:ea typeface="楷体_GB2312" pitchFamily="49" charset="-122"/>
                </a:rPr>
                <a:t>2</a:t>
              </a:r>
            </a:p>
          </p:txBody>
        </p:sp>
      </p:grpSp>
      <p:grpSp>
        <p:nvGrpSpPr>
          <p:cNvPr id="21531" name="Group 27"/>
          <p:cNvGrpSpPr>
            <a:grpSpLocks/>
          </p:cNvGrpSpPr>
          <p:nvPr/>
        </p:nvGrpSpPr>
        <p:grpSpPr bwMode="auto">
          <a:xfrm>
            <a:off x="6851650" y="3697288"/>
            <a:ext cx="457200" cy="1676400"/>
            <a:chOff x="4316" y="2329"/>
            <a:chExt cx="288" cy="1056"/>
          </a:xfrm>
        </p:grpSpPr>
        <p:sp>
          <p:nvSpPr>
            <p:cNvPr id="21521" name="Oval 17"/>
            <p:cNvSpPr>
              <a:spLocks noChangeArrowheads="1"/>
            </p:cNvSpPr>
            <p:nvPr/>
          </p:nvSpPr>
          <p:spPr bwMode="auto">
            <a:xfrm>
              <a:off x="4316" y="3097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b="0">
                  <a:ea typeface="楷体_GB2312" pitchFamily="49" charset="-122"/>
                </a:rPr>
                <a:t>c</a:t>
              </a:r>
            </a:p>
          </p:txBody>
        </p:sp>
        <p:sp>
          <p:nvSpPr>
            <p:cNvPr id="21522" name="Oval 18"/>
            <p:cNvSpPr>
              <a:spLocks noChangeArrowheads="1"/>
            </p:cNvSpPr>
            <p:nvPr/>
          </p:nvSpPr>
          <p:spPr bwMode="auto">
            <a:xfrm>
              <a:off x="4316" y="2713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b="0">
                  <a:ea typeface="楷体_GB2312" pitchFamily="49" charset="-122"/>
                </a:rPr>
                <a:t>b</a:t>
              </a:r>
            </a:p>
          </p:txBody>
        </p:sp>
        <p:sp>
          <p:nvSpPr>
            <p:cNvPr id="21523" name="Oval 19"/>
            <p:cNvSpPr>
              <a:spLocks noChangeArrowheads="1"/>
            </p:cNvSpPr>
            <p:nvPr/>
          </p:nvSpPr>
          <p:spPr bwMode="auto">
            <a:xfrm>
              <a:off x="4316" y="2329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b="0">
                  <a:ea typeface="楷体_GB2312" pitchFamily="49" charset="-122"/>
                </a:rPr>
                <a:t>a</a:t>
              </a:r>
            </a:p>
          </p:txBody>
        </p:sp>
      </p:grpSp>
      <p:sp>
        <p:nvSpPr>
          <p:cNvPr id="21525" name="Rectangle 21"/>
          <p:cNvSpPr>
            <a:spLocks noChangeArrowheads="1"/>
          </p:cNvSpPr>
          <p:nvPr/>
        </p:nvSpPr>
        <p:spPr bwMode="auto">
          <a:xfrm>
            <a:off x="719138" y="2420938"/>
            <a:ext cx="7813675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例</a:t>
            </a:r>
            <a:r>
              <a:rPr lang="en-US" altLang="zh-CN">
                <a:solidFill>
                  <a:srgbClr val="FF0000"/>
                </a:solidFill>
              </a:rPr>
              <a:t>5</a:t>
            </a:r>
            <a:r>
              <a:rPr lang="zh-CN" altLang="en-US">
                <a:solidFill>
                  <a:srgbClr val="FF0000"/>
                </a:solidFill>
              </a:rPr>
              <a:t>：</a:t>
            </a:r>
            <a:r>
              <a:rPr lang="zh-CN" altLang="en-US"/>
              <a:t>令</a:t>
            </a:r>
            <a:r>
              <a:rPr lang="en-US" altLang="zh-CN"/>
              <a:t>f: {0, 1, 2}→{a, b, c}</a:t>
            </a:r>
            <a:r>
              <a:rPr lang="zh-CN" altLang="en-US"/>
              <a:t>其定义如图所示，求</a:t>
            </a:r>
            <a:r>
              <a:rPr lang="en-US" altLang="zh-CN"/>
              <a:t>f</a:t>
            </a:r>
            <a:r>
              <a:rPr lang="en-US" altLang="zh-CN" baseline="30000"/>
              <a:t> -1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◦</a:t>
            </a:r>
            <a:r>
              <a:rPr lang="en-US" altLang="zh-CN"/>
              <a:t>f </a:t>
            </a:r>
            <a:r>
              <a:rPr lang="zh-CN" altLang="en-US"/>
              <a:t>和</a:t>
            </a:r>
            <a:r>
              <a:rPr lang="en-US" altLang="zh-CN"/>
              <a:t>f</a:t>
            </a:r>
            <a:r>
              <a:rPr lang="en-US" altLang="zh-CN">
                <a:solidFill>
                  <a:srgbClr val="000000"/>
                </a:solidFill>
              </a:rPr>
              <a:t>◦</a:t>
            </a:r>
            <a:r>
              <a:rPr lang="en-US" altLang="zh-CN"/>
              <a:t>f </a:t>
            </a:r>
            <a:r>
              <a:rPr lang="en-US" altLang="zh-CN" baseline="30000"/>
              <a:t>-1</a:t>
            </a:r>
            <a:r>
              <a:rPr lang="en-US" altLang="zh-CN"/>
              <a:t> </a:t>
            </a:r>
          </a:p>
        </p:txBody>
      </p:sp>
      <p:sp>
        <p:nvSpPr>
          <p:cNvPr id="21533" name="Rectangle 29"/>
          <p:cNvSpPr>
            <a:spLocks noChangeArrowheads="1"/>
          </p:cNvSpPr>
          <p:nvPr/>
        </p:nvSpPr>
        <p:spPr bwMode="auto">
          <a:xfrm>
            <a:off x="1258888" y="549275"/>
            <a:ext cx="5184775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>
                <a:solidFill>
                  <a:srgbClr val="993300"/>
                </a:solidFill>
                <a:ea typeface="楷体_GB2312" pitchFamily="49" charset="-122"/>
              </a:rPr>
              <a:t>4、逆和复合的综合性质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25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E9BD76-5FAE-4827-A7DE-786037CD37E2}" type="slidenum">
              <a:rPr lang="zh-CN" altLang="en-US"/>
              <a:pPr/>
              <a:t>23</a:t>
            </a:fld>
            <a:endParaRPr lang="en-US" altLang="zh-CN"/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719138" y="1379538"/>
            <a:ext cx="7916862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</a:rPr>
              <a:t>定理4-2.6：</a:t>
            </a:r>
            <a:r>
              <a:rPr lang="zh-CN" altLang="en-US"/>
              <a:t>若</a:t>
            </a:r>
            <a:r>
              <a:rPr lang="en-US" altLang="zh-CN"/>
              <a:t>f: X→Y</a:t>
            </a:r>
            <a:r>
              <a:rPr lang="zh-CN" altLang="en-US"/>
              <a:t>是一一对应的函数，则</a:t>
            </a:r>
          </a:p>
          <a:p>
            <a:pPr algn="ctr">
              <a:lnSpc>
                <a:spcPct val="130000"/>
              </a:lnSpc>
            </a:pPr>
            <a:r>
              <a:rPr lang="zh-CN" altLang="en-US"/>
              <a:t>(</a:t>
            </a:r>
            <a:r>
              <a:rPr lang="en-US" altLang="zh-CN"/>
              <a:t>f </a:t>
            </a:r>
            <a:r>
              <a:rPr lang="en-US" altLang="zh-CN" baseline="30000"/>
              <a:t>-1</a:t>
            </a:r>
            <a:r>
              <a:rPr lang="en-US" altLang="zh-CN"/>
              <a:t>) </a:t>
            </a:r>
            <a:r>
              <a:rPr lang="en-US" altLang="zh-CN" baseline="30000"/>
              <a:t>-1 </a:t>
            </a:r>
            <a:r>
              <a:rPr lang="en-US" altLang="zh-CN"/>
              <a:t>= f</a:t>
            </a:r>
            <a:r>
              <a:rPr lang="en-US" altLang="zh-CN" b="0"/>
              <a:t>。</a:t>
            </a: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719138" y="2492375"/>
            <a:ext cx="7669212" cy="294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42925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kumimoji="0" lang="zh-CN" altLang="en-US"/>
              <a:t>证明：</a:t>
            </a:r>
            <a:r>
              <a:rPr kumimoji="0" lang="zh-CN" altLang="en-US">
                <a:sym typeface="Wingdings" pitchFamily="2" charset="2"/>
              </a:rPr>
              <a:t>(1) 因</a:t>
            </a:r>
            <a:r>
              <a:rPr kumimoji="0" lang="en-US" altLang="zh-CN">
                <a:sym typeface="Wingdings" pitchFamily="2" charset="2"/>
              </a:rPr>
              <a:t>f </a:t>
            </a:r>
            <a:r>
              <a:rPr kumimoji="0" lang="zh-CN" altLang="en-US">
                <a:sym typeface="Wingdings" pitchFamily="2" charset="2"/>
              </a:rPr>
              <a:t>为</a:t>
            </a:r>
            <a:r>
              <a:rPr kumimoji="0" lang="en-US" altLang="zh-CN">
                <a:sym typeface="Wingdings" pitchFamily="2" charset="2"/>
              </a:rPr>
              <a:t>X</a:t>
            </a:r>
            <a:r>
              <a:rPr kumimoji="0" lang="zh-CN" altLang="en-US">
                <a:sym typeface="Wingdings" pitchFamily="2" charset="2"/>
              </a:rPr>
              <a:t>到</a:t>
            </a:r>
            <a:r>
              <a:rPr kumimoji="0" lang="en-US" altLang="zh-CN">
                <a:sym typeface="Wingdings" pitchFamily="2" charset="2"/>
              </a:rPr>
              <a:t>Y</a:t>
            </a:r>
            <a:r>
              <a:rPr kumimoji="0" lang="zh-CN" altLang="en-US">
                <a:sym typeface="Wingdings" pitchFamily="2" charset="2"/>
              </a:rPr>
              <a:t>的一一对应函数，则</a:t>
            </a:r>
            <a:r>
              <a:rPr kumimoji="0" lang="en-US" altLang="zh-CN">
                <a:sym typeface="Wingdings" pitchFamily="2" charset="2"/>
              </a:rPr>
              <a:t>f </a:t>
            </a:r>
            <a:r>
              <a:rPr kumimoji="0" lang="en-US" altLang="zh-CN" baseline="30000">
                <a:sym typeface="Wingdings" pitchFamily="2" charset="2"/>
              </a:rPr>
              <a:t>-1</a:t>
            </a:r>
            <a:r>
              <a:rPr kumimoji="0" lang="zh-CN" altLang="en-US">
                <a:sym typeface="Wingdings" pitchFamily="2" charset="2"/>
              </a:rPr>
              <a:t>为</a:t>
            </a:r>
            <a:r>
              <a:rPr kumimoji="0" lang="en-US" altLang="zh-CN">
                <a:sym typeface="Wingdings" pitchFamily="2" charset="2"/>
              </a:rPr>
              <a:t>Y</a:t>
            </a:r>
            <a:r>
              <a:rPr kumimoji="0" lang="zh-CN" altLang="en-US">
                <a:sym typeface="Wingdings" pitchFamily="2" charset="2"/>
              </a:rPr>
              <a:t>到</a:t>
            </a:r>
            <a:r>
              <a:rPr kumimoji="0" lang="en-US" altLang="zh-CN">
                <a:sym typeface="Wingdings" pitchFamily="2" charset="2"/>
              </a:rPr>
              <a:t>X</a:t>
            </a:r>
            <a:r>
              <a:rPr kumimoji="0" lang="zh-CN" altLang="en-US">
                <a:sym typeface="Wingdings" pitchFamily="2" charset="2"/>
              </a:rPr>
              <a:t>的一一对应函数，(</a:t>
            </a:r>
            <a:r>
              <a:rPr kumimoji="0" lang="en-US" altLang="zh-CN">
                <a:sym typeface="Wingdings" pitchFamily="2" charset="2"/>
              </a:rPr>
              <a:t>f </a:t>
            </a:r>
            <a:r>
              <a:rPr kumimoji="0" lang="en-US" altLang="zh-CN" baseline="30000">
                <a:sym typeface="Wingdings" pitchFamily="2" charset="2"/>
              </a:rPr>
              <a:t>-1</a:t>
            </a:r>
            <a:r>
              <a:rPr kumimoji="0" lang="en-US" altLang="zh-CN">
                <a:sym typeface="Wingdings" pitchFamily="2" charset="2"/>
              </a:rPr>
              <a:t>)</a:t>
            </a:r>
            <a:r>
              <a:rPr kumimoji="0" lang="en-US" altLang="zh-CN" baseline="30000">
                <a:sym typeface="Wingdings" pitchFamily="2" charset="2"/>
              </a:rPr>
              <a:t>-1</a:t>
            </a:r>
            <a:r>
              <a:rPr kumimoji="0" lang="zh-CN" altLang="en-US">
                <a:sym typeface="Wingdings" pitchFamily="2" charset="2"/>
              </a:rPr>
              <a:t>为</a:t>
            </a:r>
            <a:r>
              <a:rPr kumimoji="0" lang="en-US" altLang="zh-CN">
                <a:sym typeface="Wingdings" pitchFamily="2" charset="2"/>
              </a:rPr>
              <a:t>X</a:t>
            </a:r>
            <a:r>
              <a:rPr kumimoji="0" lang="zh-CN" altLang="en-US">
                <a:sym typeface="Wingdings" pitchFamily="2" charset="2"/>
              </a:rPr>
              <a:t>到</a:t>
            </a:r>
            <a:r>
              <a:rPr kumimoji="0" lang="en-US" altLang="zh-CN">
                <a:sym typeface="Wingdings" pitchFamily="2" charset="2"/>
              </a:rPr>
              <a:t>Y</a:t>
            </a:r>
            <a:r>
              <a:rPr kumimoji="0" lang="zh-CN" altLang="en-US">
                <a:sym typeface="Wingdings" pitchFamily="2" charset="2"/>
              </a:rPr>
              <a:t>的一一对应函数，故</a:t>
            </a:r>
          </a:p>
          <a:p>
            <a:pPr algn="ctr">
              <a:lnSpc>
                <a:spcPct val="130000"/>
              </a:lnSpc>
            </a:pPr>
            <a:r>
              <a:rPr kumimoji="0" lang="en-US" altLang="zh-CN">
                <a:sym typeface="Wingdings" pitchFamily="2" charset="2"/>
              </a:rPr>
              <a:t>dom f =dom (f</a:t>
            </a:r>
            <a:r>
              <a:rPr kumimoji="0" lang="en-US" altLang="zh-CN" baseline="30000">
                <a:sym typeface="Wingdings" pitchFamily="2" charset="2"/>
              </a:rPr>
              <a:t>-1</a:t>
            </a:r>
            <a:r>
              <a:rPr kumimoji="0" lang="en-US" altLang="zh-CN">
                <a:sym typeface="Wingdings" pitchFamily="2" charset="2"/>
              </a:rPr>
              <a:t>)</a:t>
            </a:r>
            <a:r>
              <a:rPr kumimoji="0" lang="en-US" altLang="zh-CN" baseline="30000">
                <a:sym typeface="Wingdings" pitchFamily="2" charset="2"/>
              </a:rPr>
              <a:t>-1</a:t>
            </a:r>
            <a:r>
              <a:rPr kumimoji="0" lang="en-US" altLang="zh-CN">
                <a:sym typeface="Wingdings" pitchFamily="2" charset="2"/>
              </a:rPr>
              <a:t> = X</a:t>
            </a:r>
          </a:p>
          <a:p>
            <a:pPr>
              <a:lnSpc>
                <a:spcPct val="130000"/>
              </a:lnSpc>
            </a:pPr>
            <a:r>
              <a:rPr kumimoji="0" lang="en-US" altLang="zh-CN">
                <a:sym typeface="Wingdings" pitchFamily="2" charset="2"/>
              </a:rPr>
              <a:t>        (2)</a:t>
            </a:r>
            <a:r>
              <a:rPr kumimoji="0" lang="zh-CN" altLang="en-US">
                <a:sym typeface="Wingdings" pitchFamily="2" charset="2"/>
              </a:rPr>
              <a:t>对</a:t>
            </a:r>
            <a:r>
              <a:rPr kumimoji="0" lang="zh-CN" altLang="en-US">
                <a:sym typeface="Symbol" pitchFamily="18" charset="2"/>
              </a:rPr>
              <a:t></a:t>
            </a:r>
            <a:r>
              <a:rPr kumimoji="0" lang="en-US" altLang="zh-CN">
                <a:sym typeface="Symbol" pitchFamily="18" charset="2"/>
              </a:rPr>
              <a:t>x</a:t>
            </a:r>
            <a:r>
              <a:rPr kumimoji="0" lang="en-US" altLang="zh-CN"/>
              <a:t>∈X，f</a:t>
            </a:r>
            <a:r>
              <a:rPr kumimoji="0" lang="zh-CN" altLang="en-US"/>
              <a:t>：</a:t>
            </a:r>
            <a:r>
              <a:rPr kumimoji="0" lang="en-US" altLang="zh-CN"/>
              <a:t>x</a:t>
            </a:r>
            <a:r>
              <a:rPr lang="en-US" altLang="zh-CN">
                <a:solidFill>
                  <a:srgbClr val="000000"/>
                </a:solidFill>
                <a:sym typeface="Wingdings" pitchFamily="2" charset="2"/>
              </a:rPr>
              <a:t>→</a:t>
            </a:r>
            <a:r>
              <a:rPr kumimoji="0" lang="en-US" altLang="zh-CN"/>
              <a:t>f(x)，</a:t>
            </a:r>
            <a:r>
              <a:rPr kumimoji="0" lang="zh-CN" altLang="en-US"/>
              <a:t>则</a:t>
            </a:r>
            <a:r>
              <a:rPr kumimoji="0" lang="en-US" altLang="zh-CN"/>
              <a:t>f </a:t>
            </a:r>
            <a:r>
              <a:rPr kumimoji="0" lang="en-US" altLang="zh-CN" baseline="30000"/>
              <a:t>-1</a:t>
            </a:r>
            <a:r>
              <a:rPr kumimoji="0" lang="zh-CN" altLang="en-US"/>
              <a:t>：</a:t>
            </a:r>
            <a:r>
              <a:rPr kumimoji="0" lang="en-US" altLang="zh-CN"/>
              <a:t>f(x)</a:t>
            </a:r>
            <a:r>
              <a:rPr lang="en-US" altLang="zh-CN">
                <a:solidFill>
                  <a:srgbClr val="000000"/>
                </a:solidFill>
                <a:sym typeface="Wingdings" pitchFamily="2" charset="2"/>
              </a:rPr>
              <a:t>→x</a:t>
            </a:r>
            <a:r>
              <a:rPr kumimoji="0" lang="en-US" altLang="zh-CN"/>
              <a:t>，</a:t>
            </a:r>
            <a:r>
              <a:rPr kumimoji="0" lang="zh-CN" altLang="en-US"/>
              <a:t>同样</a:t>
            </a:r>
          </a:p>
          <a:p>
            <a:pPr>
              <a:lnSpc>
                <a:spcPct val="130000"/>
              </a:lnSpc>
            </a:pPr>
            <a:r>
              <a:rPr kumimoji="0" lang="zh-CN" altLang="en-US"/>
              <a:t>(</a:t>
            </a:r>
            <a:r>
              <a:rPr kumimoji="0" lang="en-US" altLang="zh-CN"/>
              <a:t>f </a:t>
            </a:r>
            <a:r>
              <a:rPr kumimoji="0" lang="en-US" altLang="zh-CN" baseline="30000"/>
              <a:t>-1</a:t>
            </a:r>
            <a:r>
              <a:rPr kumimoji="0" lang="en-US" altLang="zh-CN"/>
              <a:t>)</a:t>
            </a:r>
            <a:r>
              <a:rPr kumimoji="0" lang="en-US" altLang="zh-CN" baseline="30000"/>
              <a:t>-1</a:t>
            </a:r>
            <a:r>
              <a:rPr kumimoji="0" lang="zh-CN" altLang="en-US"/>
              <a:t>：</a:t>
            </a:r>
            <a:r>
              <a:rPr kumimoji="0" lang="en-US" altLang="zh-CN"/>
              <a:t>x</a:t>
            </a:r>
            <a:r>
              <a:rPr lang="en-US" altLang="zh-CN">
                <a:solidFill>
                  <a:srgbClr val="000000"/>
                </a:solidFill>
                <a:sym typeface="Wingdings" pitchFamily="2" charset="2"/>
              </a:rPr>
              <a:t>→</a:t>
            </a:r>
            <a:r>
              <a:rPr kumimoji="0" lang="en-US" altLang="zh-CN"/>
              <a:t>f(x)</a:t>
            </a:r>
          </a:p>
          <a:p>
            <a:pPr>
              <a:lnSpc>
                <a:spcPct val="130000"/>
              </a:lnSpc>
            </a:pPr>
            <a:r>
              <a:rPr kumimoji="0" lang="en-US" altLang="zh-CN"/>
              <a:t>        </a:t>
            </a:r>
            <a:r>
              <a:rPr kumimoji="0" lang="zh-CN" altLang="en-US"/>
              <a:t>由(1)(2)可知</a:t>
            </a:r>
            <a:r>
              <a:rPr lang="zh-CN" altLang="en-US"/>
              <a:t>(</a:t>
            </a:r>
            <a:r>
              <a:rPr lang="en-US" altLang="zh-CN"/>
              <a:t>f </a:t>
            </a:r>
            <a:r>
              <a:rPr lang="en-US" altLang="zh-CN" baseline="30000"/>
              <a:t>-1</a:t>
            </a:r>
            <a:r>
              <a:rPr lang="en-US" altLang="zh-CN"/>
              <a:t>) </a:t>
            </a:r>
            <a:r>
              <a:rPr lang="en-US" altLang="zh-CN" baseline="30000"/>
              <a:t>-1</a:t>
            </a:r>
            <a:r>
              <a:rPr lang="en-US" altLang="zh-CN"/>
              <a:t> = f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3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9077D7A-8ED2-477C-8198-B84338845893}" type="slidenum">
              <a:rPr lang="zh-CN" altLang="en-US"/>
              <a:pPr/>
              <a:t>24</a:t>
            </a:fld>
            <a:endParaRPr lang="en-US" altLang="zh-CN"/>
          </a:p>
        </p:txBody>
      </p:sp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719138" y="1357313"/>
            <a:ext cx="791686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>
                <a:solidFill>
                  <a:srgbClr val="FF0000"/>
                </a:solidFill>
              </a:rPr>
              <a:t>定理4-2.7：</a:t>
            </a:r>
            <a:r>
              <a:rPr lang="zh-CN" altLang="en-US"/>
              <a:t>若</a:t>
            </a:r>
            <a:r>
              <a:rPr lang="en-US" altLang="zh-CN"/>
              <a:t>f</a:t>
            </a:r>
            <a:r>
              <a:rPr lang="zh-CN" altLang="en-US"/>
              <a:t>：</a:t>
            </a:r>
            <a:r>
              <a:rPr lang="en-US" altLang="zh-CN"/>
              <a:t>X→Y，g</a:t>
            </a:r>
            <a:r>
              <a:rPr lang="zh-CN" altLang="en-US"/>
              <a:t>：</a:t>
            </a:r>
            <a:r>
              <a:rPr lang="en-US" altLang="zh-CN"/>
              <a:t>Y→Z</a:t>
            </a:r>
            <a:r>
              <a:rPr lang="zh-CN" altLang="en-US"/>
              <a:t>均是一一对应的函数，则(</a:t>
            </a:r>
            <a:r>
              <a:rPr lang="en-US" altLang="zh-CN"/>
              <a:t>g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◦</a:t>
            </a:r>
            <a:r>
              <a:rPr lang="en-US" altLang="zh-CN"/>
              <a:t>f ) </a:t>
            </a:r>
            <a:r>
              <a:rPr lang="en-US" altLang="zh-CN" baseline="30000"/>
              <a:t>-1</a:t>
            </a:r>
            <a:r>
              <a:rPr lang="en-US" altLang="zh-CN"/>
              <a:t> = f </a:t>
            </a:r>
            <a:r>
              <a:rPr lang="en-US" altLang="zh-CN" baseline="30000"/>
              <a:t>-1</a:t>
            </a:r>
            <a:r>
              <a:rPr lang="en-US" altLang="zh-CN"/>
              <a:t>◦g </a:t>
            </a:r>
            <a:r>
              <a:rPr lang="en-US" altLang="zh-CN" baseline="30000"/>
              <a:t>-1</a:t>
            </a:r>
            <a:r>
              <a:rPr lang="en-US" altLang="zh-CN"/>
              <a:t> </a:t>
            </a:r>
          </a:p>
        </p:txBody>
      </p:sp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719138" y="2317750"/>
            <a:ext cx="7916862" cy="420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42925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kumimoji="0" lang="zh-CN" altLang="en-US" dirty="0"/>
              <a:t>证明：</a:t>
            </a:r>
            <a:r>
              <a:rPr kumimoji="0" lang="zh-CN" altLang="en-US" dirty="0">
                <a:sym typeface="Wingdings" pitchFamily="2" charset="2"/>
              </a:rPr>
              <a:t>(1) 因</a:t>
            </a:r>
            <a:r>
              <a:rPr kumimoji="0" lang="en-US" altLang="zh-CN" dirty="0" err="1">
                <a:sym typeface="Wingdings" pitchFamily="2" charset="2"/>
              </a:rPr>
              <a:t>f，g</a:t>
            </a:r>
            <a:r>
              <a:rPr kumimoji="0" lang="zh-CN" altLang="en-US" dirty="0">
                <a:sym typeface="Wingdings" pitchFamily="2" charset="2"/>
              </a:rPr>
              <a:t>均是一一对应函数，所以</a:t>
            </a:r>
            <a:r>
              <a:rPr kumimoji="0" lang="en-US" altLang="zh-CN" dirty="0">
                <a:sym typeface="Wingdings" pitchFamily="2" charset="2"/>
              </a:rPr>
              <a:t>f </a:t>
            </a:r>
            <a:r>
              <a:rPr kumimoji="0" lang="en-US" altLang="zh-CN" baseline="30000" dirty="0">
                <a:sym typeface="Wingdings" pitchFamily="2" charset="2"/>
              </a:rPr>
              <a:t>-1</a:t>
            </a:r>
            <a:r>
              <a:rPr kumimoji="0" lang="en-US" altLang="zh-CN" dirty="0">
                <a:sym typeface="Wingdings" pitchFamily="2" charset="2"/>
              </a:rPr>
              <a:t>，g </a:t>
            </a:r>
            <a:r>
              <a:rPr kumimoji="0" lang="en-US" altLang="zh-CN" baseline="30000" dirty="0">
                <a:sym typeface="Wingdings" pitchFamily="2" charset="2"/>
              </a:rPr>
              <a:t>-1</a:t>
            </a:r>
            <a:r>
              <a:rPr kumimoji="0" lang="zh-CN" altLang="en-US" dirty="0">
                <a:sym typeface="Wingdings" pitchFamily="2" charset="2"/>
              </a:rPr>
              <a:t>均存在，且</a:t>
            </a:r>
          </a:p>
          <a:p>
            <a:pPr>
              <a:lnSpc>
                <a:spcPct val="125000"/>
              </a:lnSpc>
            </a:pPr>
            <a:r>
              <a:rPr kumimoji="0" lang="en-US" altLang="zh-CN" dirty="0">
                <a:sym typeface="Wingdings" pitchFamily="2" charset="2"/>
              </a:rPr>
              <a:t>f </a:t>
            </a:r>
            <a:r>
              <a:rPr kumimoji="0" lang="en-US" altLang="zh-CN" baseline="30000" dirty="0">
                <a:sym typeface="Wingdings" pitchFamily="2" charset="2"/>
              </a:rPr>
              <a:t>-1</a:t>
            </a:r>
            <a:r>
              <a:rPr kumimoji="0" lang="zh-CN" altLang="en-US" dirty="0">
                <a:sym typeface="Wingdings" pitchFamily="2" charset="2"/>
              </a:rPr>
              <a:t>：</a:t>
            </a:r>
            <a:r>
              <a:rPr kumimoji="0" lang="en-US" altLang="zh-CN" dirty="0" err="1">
                <a:sym typeface="Wingdings" pitchFamily="2" charset="2"/>
              </a:rPr>
              <a:t>Y</a:t>
            </a:r>
            <a:r>
              <a:rPr lang="en-US" altLang="zh-CN" dirty="0" err="1">
                <a:solidFill>
                  <a:srgbClr val="000000"/>
                </a:solidFill>
                <a:sym typeface="Wingdings" pitchFamily="2" charset="2"/>
              </a:rPr>
              <a:t>→X，g</a:t>
            </a:r>
            <a:r>
              <a:rPr lang="en-US" altLang="zh-CN" dirty="0">
                <a:solidFill>
                  <a:srgbClr val="000000"/>
                </a:solidFill>
                <a:sym typeface="Wingdings" pitchFamily="2" charset="2"/>
              </a:rPr>
              <a:t> </a:t>
            </a:r>
            <a:r>
              <a:rPr lang="en-US" altLang="zh-CN" baseline="30000" dirty="0">
                <a:solidFill>
                  <a:srgbClr val="000000"/>
                </a:solidFill>
                <a:sym typeface="Wingdings" pitchFamily="2" charset="2"/>
              </a:rPr>
              <a:t>-1</a:t>
            </a:r>
            <a:r>
              <a:rPr lang="zh-CN" altLang="en-US" dirty="0">
                <a:solidFill>
                  <a:srgbClr val="000000"/>
                </a:solidFill>
                <a:sym typeface="Wingdings" pitchFamily="2" charset="2"/>
              </a:rPr>
              <a:t>：</a:t>
            </a:r>
            <a:r>
              <a:rPr lang="en-US" altLang="zh-CN" dirty="0">
                <a:solidFill>
                  <a:srgbClr val="000000"/>
                </a:solidFill>
                <a:sym typeface="Wingdings" pitchFamily="2" charset="2"/>
              </a:rPr>
              <a:t>Z→Y，</a:t>
            </a:r>
            <a:r>
              <a:rPr lang="zh-CN" altLang="en-US" dirty="0">
                <a:solidFill>
                  <a:srgbClr val="000000"/>
                </a:solidFill>
                <a:sym typeface="Wingdings" pitchFamily="2" charset="2"/>
              </a:rPr>
              <a:t>故</a:t>
            </a:r>
            <a:r>
              <a:rPr lang="en-US" altLang="zh-CN" dirty="0">
                <a:solidFill>
                  <a:srgbClr val="000000"/>
                </a:solidFill>
                <a:sym typeface="Wingdings" pitchFamily="2" charset="2"/>
              </a:rPr>
              <a:t>f </a:t>
            </a:r>
            <a:r>
              <a:rPr lang="en-US" altLang="zh-CN" baseline="30000" dirty="0">
                <a:solidFill>
                  <a:srgbClr val="000000"/>
                </a:solidFill>
                <a:sym typeface="Wingdings" pitchFamily="2" charset="2"/>
              </a:rPr>
              <a:t>-1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  <a:sym typeface="Wingdings" pitchFamily="2" charset="2"/>
              </a:rPr>
              <a:t>◦</a:t>
            </a:r>
            <a:r>
              <a:rPr lang="en-US" altLang="zh-CN" dirty="0">
                <a:solidFill>
                  <a:srgbClr val="000000"/>
                </a:solidFill>
              </a:rPr>
              <a:t>g </a:t>
            </a:r>
            <a:r>
              <a:rPr lang="en-US" altLang="zh-CN" baseline="30000" dirty="0">
                <a:solidFill>
                  <a:srgbClr val="000000"/>
                </a:solidFill>
              </a:rPr>
              <a:t>-1</a:t>
            </a:r>
            <a:r>
              <a:rPr lang="en-US" altLang="zh-CN" dirty="0">
                <a:solidFill>
                  <a:srgbClr val="000000"/>
                </a:solidFill>
              </a:rPr>
              <a:t>：Z</a:t>
            </a:r>
            <a:r>
              <a:rPr lang="en-US" altLang="zh-CN" dirty="0">
                <a:solidFill>
                  <a:srgbClr val="000000"/>
                </a:solidFill>
                <a:sym typeface="Wingdings" pitchFamily="2" charset="2"/>
              </a:rPr>
              <a:t>→X；</a:t>
            </a:r>
          </a:p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rgbClr val="000000"/>
                </a:solidFill>
                <a:sym typeface="Wingdings" pitchFamily="2" charset="2"/>
              </a:rPr>
              <a:t>又</a:t>
            </a:r>
            <a:r>
              <a:rPr lang="en-US" altLang="zh-CN" dirty="0" err="1">
                <a:solidFill>
                  <a:srgbClr val="000000"/>
                </a:solidFill>
                <a:sym typeface="Wingdings" pitchFamily="2" charset="2"/>
              </a:rPr>
              <a:t>f，g</a:t>
            </a:r>
            <a:r>
              <a:rPr lang="zh-CN" altLang="en-US" dirty="0">
                <a:solidFill>
                  <a:srgbClr val="000000"/>
                </a:solidFill>
                <a:sym typeface="Wingdings" pitchFamily="2" charset="2"/>
              </a:rPr>
              <a:t>为双射，所以</a:t>
            </a:r>
            <a:r>
              <a:rPr lang="en-US" altLang="zh-CN" dirty="0" err="1">
                <a:solidFill>
                  <a:srgbClr val="000000"/>
                </a:solidFill>
                <a:sym typeface="Wingdings" pitchFamily="2" charset="2"/>
              </a:rPr>
              <a:t>g</a:t>
            </a:r>
            <a:r>
              <a:rPr lang="en-US" altLang="zh-CN" dirty="0" err="1">
                <a:solidFill>
                  <a:srgbClr val="000000"/>
                </a:solidFill>
              </a:rPr>
              <a:t>◦f</a:t>
            </a:r>
            <a:r>
              <a:rPr lang="zh-CN" altLang="en-US" dirty="0">
                <a:solidFill>
                  <a:srgbClr val="000000"/>
                </a:solidFill>
              </a:rPr>
              <a:t>也是一个双射，所以(</a:t>
            </a:r>
            <a:r>
              <a:rPr lang="en-US" altLang="zh-CN" dirty="0" err="1">
                <a:solidFill>
                  <a:srgbClr val="000000"/>
                </a:solidFill>
                <a:sym typeface="Wingdings" pitchFamily="2" charset="2"/>
              </a:rPr>
              <a:t>g◦</a:t>
            </a:r>
            <a:r>
              <a:rPr lang="en-US" altLang="zh-CN" dirty="0" err="1">
                <a:solidFill>
                  <a:srgbClr val="000000"/>
                </a:solidFill>
              </a:rPr>
              <a:t>f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r>
              <a:rPr lang="en-US" altLang="zh-CN" baseline="30000" dirty="0">
                <a:solidFill>
                  <a:srgbClr val="000000"/>
                </a:solidFill>
              </a:rPr>
              <a:t>-1</a:t>
            </a:r>
            <a:r>
              <a:rPr lang="zh-CN" altLang="en-US" dirty="0">
                <a:solidFill>
                  <a:srgbClr val="000000"/>
                </a:solidFill>
              </a:rPr>
              <a:t>存在，</a:t>
            </a:r>
          </a:p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rgbClr val="000000"/>
                </a:solidFill>
              </a:rPr>
              <a:t>且(</a:t>
            </a:r>
            <a:r>
              <a:rPr lang="en-US" altLang="zh-CN" dirty="0" err="1">
                <a:solidFill>
                  <a:srgbClr val="000000"/>
                </a:solidFill>
                <a:sym typeface="Wingdings" pitchFamily="2" charset="2"/>
              </a:rPr>
              <a:t>g◦</a:t>
            </a:r>
            <a:r>
              <a:rPr lang="en-US" altLang="zh-CN" dirty="0" err="1">
                <a:solidFill>
                  <a:srgbClr val="000000"/>
                </a:solidFill>
              </a:rPr>
              <a:t>f</a:t>
            </a:r>
            <a:r>
              <a:rPr lang="en-US" altLang="zh-CN" dirty="0">
                <a:solidFill>
                  <a:srgbClr val="000000"/>
                </a:solidFill>
              </a:rPr>
              <a:t> )</a:t>
            </a:r>
            <a:r>
              <a:rPr lang="en-US" altLang="zh-CN" baseline="30000" dirty="0">
                <a:solidFill>
                  <a:srgbClr val="000000"/>
                </a:solidFill>
              </a:rPr>
              <a:t>-1</a:t>
            </a:r>
            <a:r>
              <a:rPr lang="zh-CN" altLang="en-US" dirty="0">
                <a:solidFill>
                  <a:srgbClr val="000000"/>
                </a:solidFill>
              </a:rPr>
              <a:t>：</a:t>
            </a:r>
            <a:r>
              <a:rPr lang="en-US" altLang="zh-CN" dirty="0">
                <a:solidFill>
                  <a:srgbClr val="000000"/>
                </a:solidFill>
              </a:rPr>
              <a:t>Z</a:t>
            </a:r>
            <a:r>
              <a:rPr lang="en-US" altLang="zh-CN" dirty="0">
                <a:solidFill>
                  <a:srgbClr val="000000"/>
                </a:solidFill>
                <a:sym typeface="Wingdings" pitchFamily="2" charset="2"/>
              </a:rPr>
              <a:t>→X。</a:t>
            </a:r>
            <a:r>
              <a:rPr lang="zh-CN" altLang="en-US" dirty="0">
                <a:solidFill>
                  <a:srgbClr val="000000"/>
                </a:solidFill>
                <a:sym typeface="Wingdings" pitchFamily="2" charset="2"/>
              </a:rPr>
              <a:t>故</a:t>
            </a:r>
            <a:r>
              <a:rPr lang="en-US" altLang="zh-CN" dirty="0" err="1">
                <a:solidFill>
                  <a:srgbClr val="FF0000"/>
                </a:solidFill>
                <a:sym typeface="Wingdings" pitchFamily="2" charset="2"/>
              </a:rPr>
              <a:t>dom</a:t>
            </a:r>
            <a:r>
              <a:rPr lang="en-US" altLang="zh-CN" dirty="0">
                <a:solidFill>
                  <a:srgbClr val="FF0000"/>
                </a:solidFill>
                <a:sym typeface="Wingdings" pitchFamily="2" charset="2"/>
              </a:rPr>
              <a:t>(f </a:t>
            </a:r>
            <a:r>
              <a:rPr lang="en-US" altLang="zh-CN" baseline="30000" dirty="0">
                <a:solidFill>
                  <a:srgbClr val="FF0000"/>
                </a:solidFill>
                <a:sym typeface="Wingdings" pitchFamily="2" charset="2"/>
              </a:rPr>
              <a:t>-1</a:t>
            </a:r>
            <a:r>
              <a:rPr lang="en-US" altLang="zh-CN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◦g </a:t>
            </a:r>
            <a:r>
              <a:rPr lang="en-US" altLang="zh-CN" baseline="30000" dirty="0">
                <a:solidFill>
                  <a:srgbClr val="FF0000"/>
                </a:solidFill>
              </a:rPr>
              <a:t>-1</a:t>
            </a:r>
            <a:r>
              <a:rPr lang="en-US" altLang="zh-CN" dirty="0">
                <a:solidFill>
                  <a:srgbClr val="FF0000"/>
                </a:solidFill>
                <a:sym typeface="Wingdings" pitchFamily="2" charset="2"/>
              </a:rPr>
              <a:t> )=</a:t>
            </a:r>
            <a:r>
              <a:rPr lang="en-US" altLang="zh-CN" dirty="0" err="1">
                <a:solidFill>
                  <a:srgbClr val="FF0000"/>
                </a:solidFill>
                <a:sym typeface="Wingdings" pitchFamily="2" charset="2"/>
              </a:rPr>
              <a:t>dom</a:t>
            </a:r>
            <a:r>
              <a:rPr lang="en-US" altLang="zh-CN" dirty="0">
                <a:solidFill>
                  <a:srgbClr val="FF0000"/>
                </a:solidFill>
                <a:sym typeface="Wingdings" pitchFamily="2" charset="2"/>
              </a:rPr>
              <a:t>(g </a:t>
            </a:r>
            <a:r>
              <a:rPr lang="en-US" altLang="zh-CN" dirty="0">
                <a:solidFill>
                  <a:srgbClr val="FF0000"/>
                </a:solidFill>
              </a:rPr>
              <a:t>◦f </a:t>
            </a:r>
            <a:r>
              <a:rPr lang="en-US" altLang="zh-CN" dirty="0">
                <a:solidFill>
                  <a:srgbClr val="FF0000"/>
                </a:solidFill>
                <a:sym typeface="Wingdings" pitchFamily="2" charset="2"/>
              </a:rPr>
              <a:t>)</a:t>
            </a:r>
            <a:r>
              <a:rPr lang="en-US" altLang="zh-CN" baseline="30000" dirty="0">
                <a:solidFill>
                  <a:srgbClr val="FF0000"/>
                </a:solidFill>
                <a:sym typeface="Wingdings" pitchFamily="2" charset="2"/>
              </a:rPr>
              <a:t>-1</a:t>
            </a:r>
          </a:p>
          <a:p>
            <a:pPr>
              <a:lnSpc>
                <a:spcPct val="125000"/>
              </a:lnSpc>
            </a:pPr>
            <a:r>
              <a:rPr lang="en-US" altLang="zh-CN" baseline="30000" dirty="0">
                <a:solidFill>
                  <a:srgbClr val="000000"/>
                </a:solidFill>
                <a:sym typeface="Wingdings" pitchFamily="2" charset="2"/>
              </a:rPr>
              <a:t>            </a:t>
            </a:r>
            <a:r>
              <a:rPr lang="en-US" altLang="zh-CN" dirty="0">
                <a:solidFill>
                  <a:srgbClr val="000000"/>
                </a:solidFill>
                <a:sym typeface="Wingdings" pitchFamily="2" charset="2"/>
              </a:rPr>
              <a:t>(2)</a:t>
            </a:r>
            <a:r>
              <a:rPr lang="zh-CN" altLang="en-US" dirty="0">
                <a:solidFill>
                  <a:srgbClr val="000000"/>
                </a:solidFill>
                <a:sym typeface="Wingdings" pitchFamily="2" charset="2"/>
              </a:rPr>
              <a:t>对</a:t>
            </a:r>
            <a:r>
              <a:rPr lang="zh-CN" altLang="en-US" dirty="0">
                <a:solidFill>
                  <a:srgbClr val="000000"/>
                </a:solidFill>
                <a:sym typeface="Symbol" pitchFamily="18" charset="2"/>
              </a:rPr>
              <a:t></a:t>
            </a:r>
            <a:r>
              <a:rPr lang="en-US" altLang="zh-CN" dirty="0" err="1">
                <a:solidFill>
                  <a:srgbClr val="000000"/>
                </a:solidFill>
                <a:sym typeface="Symbol" pitchFamily="18" charset="2"/>
              </a:rPr>
              <a:t>z</a:t>
            </a:r>
            <a:r>
              <a:rPr lang="en-US" altLang="zh-CN" dirty="0" err="1">
                <a:solidFill>
                  <a:srgbClr val="000000"/>
                </a:solidFill>
              </a:rPr>
              <a:t>∈Z</a:t>
            </a:r>
            <a:r>
              <a:rPr lang="en-US" altLang="zh-CN" dirty="0">
                <a:solidFill>
                  <a:srgbClr val="000000"/>
                </a:solidFill>
              </a:rPr>
              <a:t>，</a:t>
            </a:r>
            <a:r>
              <a:rPr lang="en-US" altLang="zh-CN" dirty="0">
                <a:solidFill>
                  <a:srgbClr val="000000"/>
                </a:solidFill>
                <a:sym typeface="Symbol" pitchFamily="18" charset="2"/>
              </a:rPr>
              <a:t>!</a:t>
            </a:r>
            <a:r>
              <a:rPr lang="en-US" altLang="zh-CN" dirty="0" err="1">
                <a:solidFill>
                  <a:srgbClr val="000000"/>
                </a:solidFill>
                <a:sym typeface="Symbol" pitchFamily="18" charset="2"/>
              </a:rPr>
              <a:t>y</a:t>
            </a:r>
            <a:r>
              <a:rPr lang="en-US" altLang="zh-CN" dirty="0" err="1">
                <a:solidFill>
                  <a:srgbClr val="000000"/>
                </a:solidFill>
              </a:rPr>
              <a:t>∈Y</a:t>
            </a:r>
            <a:r>
              <a:rPr lang="en-US" altLang="zh-CN" dirty="0">
                <a:solidFill>
                  <a:srgbClr val="000000"/>
                </a:solidFill>
              </a:rPr>
              <a:t>，</a:t>
            </a:r>
            <a:r>
              <a:rPr lang="zh-CN" altLang="en-US" dirty="0">
                <a:solidFill>
                  <a:srgbClr val="000000"/>
                </a:solidFill>
              </a:rPr>
              <a:t>使得</a:t>
            </a:r>
            <a:r>
              <a:rPr lang="en-US" altLang="zh-CN" dirty="0">
                <a:solidFill>
                  <a:srgbClr val="000000"/>
                </a:solidFill>
              </a:rPr>
              <a:t>g(y)=z，</a:t>
            </a:r>
            <a:r>
              <a:rPr lang="zh-CN" altLang="en-US" dirty="0">
                <a:solidFill>
                  <a:srgbClr val="000000"/>
                </a:solidFill>
              </a:rPr>
              <a:t>同样</a:t>
            </a:r>
            <a:r>
              <a:rPr lang="zh-CN" altLang="en-US" dirty="0">
                <a:solidFill>
                  <a:srgbClr val="000000"/>
                </a:solidFill>
                <a:sym typeface="Symbol" pitchFamily="18" charset="2"/>
              </a:rPr>
              <a:t>!</a:t>
            </a:r>
            <a:r>
              <a:rPr lang="en-US" altLang="zh-CN" dirty="0" err="1">
                <a:solidFill>
                  <a:srgbClr val="000000"/>
                </a:solidFill>
                <a:sym typeface="Symbol" pitchFamily="18" charset="2"/>
              </a:rPr>
              <a:t>x</a:t>
            </a:r>
            <a:r>
              <a:rPr lang="en-US" altLang="zh-CN" dirty="0" err="1">
                <a:solidFill>
                  <a:srgbClr val="000000"/>
                </a:solidFill>
              </a:rPr>
              <a:t>∈X</a:t>
            </a:r>
            <a:r>
              <a:rPr lang="en-US" altLang="zh-CN" dirty="0">
                <a:solidFill>
                  <a:srgbClr val="000000"/>
                </a:solidFill>
              </a:rPr>
              <a:t>，</a:t>
            </a:r>
            <a:r>
              <a:rPr lang="zh-CN" altLang="en-US" dirty="0">
                <a:solidFill>
                  <a:srgbClr val="000000"/>
                </a:solidFill>
              </a:rPr>
              <a:t>使得</a:t>
            </a:r>
            <a:r>
              <a:rPr lang="en-US" altLang="zh-CN" dirty="0">
                <a:solidFill>
                  <a:srgbClr val="000000"/>
                </a:solidFill>
              </a:rPr>
              <a:t>f(x)=y，</a:t>
            </a:r>
          </a:p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rgbClr val="000000"/>
                </a:solidFill>
              </a:rPr>
              <a:t>故</a:t>
            </a:r>
            <a:r>
              <a:rPr lang="en-US" altLang="zh-CN" dirty="0">
                <a:solidFill>
                  <a:srgbClr val="000000"/>
                </a:solidFill>
              </a:rPr>
              <a:t>f </a:t>
            </a:r>
            <a:r>
              <a:rPr lang="en-US" altLang="zh-CN" baseline="30000" dirty="0">
                <a:solidFill>
                  <a:srgbClr val="000000"/>
                </a:solidFill>
              </a:rPr>
              <a:t>-1</a:t>
            </a:r>
            <a:r>
              <a:rPr lang="en-US" altLang="zh-CN" dirty="0">
                <a:solidFill>
                  <a:srgbClr val="000000"/>
                </a:solidFill>
              </a:rPr>
              <a:t>◦g</a:t>
            </a:r>
            <a:r>
              <a:rPr lang="en-US" altLang="zh-CN" baseline="30000" dirty="0">
                <a:solidFill>
                  <a:srgbClr val="000000"/>
                </a:solidFill>
              </a:rPr>
              <a:t>-1</a:t>
            </a:r>
            <a:r>
              <a:rPr lang="en-US" altLang="zh-CN" dirty="0">
                <a:solidFill>
                  <a:srgbClr val="000000"/>
                </a:solidFill>
              </a:rPr>
              <a:t>(z)=f </a:t>
            </a:r>
            <a:r>
              <a:rPr lang="en-US" altLang="zh-CN" baseline="30000" dirty="0">
                <a:solidFill>
                  <a:srgbClr val="000000"/>
                </a:solidFill>
              </a:rPr>
              <a:t>-1</a:t>
            </a:r>
            <a:r>
              <a:rPr lang="en-US" altLang="zh-CN" dirty="0">
                <a:solidFill>
                  <a:srgbClr val="000000"/>
                </a:solidFill>
              </a:rPr>
              <a:t>(g </a:t>
            </a:r>
            <a:r>
              <a:rPr lang="en-US" altLang="zh-CN" baseline="30000" dirty="0">
                <a:solidFill>
                  <a:srgbClr val="000000"/>
                </a:solidFill>
              </a:rPr>
              <a:t>-1</a:t>
            </a:r>
            <a:r>
              <a:rPr lang="en-US" altLang="zh-CN" dirty="0">
                <a:solidFill>
                  <a:srgbClr val="000000"/>
                </a:solidFill>
              </a:rPr>
              <a:t>(z))=f </a:t>
            </a:r>
            <a:r>
              <a:rPr lang="en-US" altLang="zh-CN" baseline="30000" dirty="0">
                <a:solidFill>
                  <a:srgbClr val="000000"/>
                </a:solidFill>
              </a:rPr>
              <a:t>-1</a:t>
            </a:r>
            <a:r>
              <a:rPr lang="en-US" altLang="zh-CN" dirty="0">
                <a:solidFill>
                  <a:srgbClr val="000000"/>
                </a:solidFill>
              </a:rPr>
              <a:t>(y)=x</a:t>
            </a:r>
          </a:p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rgbClr val="000000"/>
                </a:solidFill>
              </a:rPr>
              <a:t>又</a:t>
            </a:r>
            <a:r>
              <a:rPr lang="en-US" altLang="zh-CN" dirty="0" err="1">
                <a:solidFill>
                  <a:srgbClr val="000000"/>
                </a:solidFill>
              </a:rPr>
              <a:t>g◦f</a:t>
            </a:r>
            <a:r>
              <a:rPr lang="en-US" altLang="zh-CN" dirty="0">
                <a:solidFill>
                  <a:srgbClr val="000000"/>
                </a:solidFill>
              </a:rPr>
              <a:t>(x)=g(f(x))=g(y)=z，</a:t>
            </a:r>
            <a:r>
              <a:rPr lang="zh-CN" altLang="en-US" dirty="0">
                <a:solidFill>
                  <a:srgbClr val="000000"/>
                </a:solidFill>
              </a:rPr>
              <a:t>即(</a:t>
            </a:r>
            <a:r>
              <a:rPr lang="en-US" altLang="zh-CN" dirty="0" err="1">
                <a:solidFill>
                  <a:srgbClr val="000000"/>
                </a:solidFill>
              </a:rPr>
              <a:t>g◦f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r>
              <a:rPr lang="en-US" altLang="zh-CN" baseline="30000" dirty="0">
                <a:solidFill>
                  <a:srgbClr val="000000"/>
                </a:solidFill>
              </a:rPr>
              <a:t>-1</a:t>
            </a:r>
            <a:r>
              <a:rPr lang="en-US" altLang="zh-CN" dirty="0">
                <a:solidFill>
                  <a:srgbClr val="000000"/>
                </a:solidFill>
              </a:rPr>
              <a:t>(z)=x，</a:t>
            </a:r>
            <a:r>
              <a:rPr lang="zh-CN" altLang="en-US" dirty="0">
                <a:solidFill>
                  <a:srgbClr val="000000"/>
                </a:solidFill>
              </a:rPr>
              <a:t>所以……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2" dur="500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7" dur="500"/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CC9B17-A872-44F0-9230-DE0E9AD6FCDD}" type="slidenum">
              <a:rPr lang="zh-CN" altLang="en-US"/>
              <a:pPr/>
              <a:t>25</a:t>
            </a:fld>
            <a:endParaRPr lang="en-US" altLang="zh-CN"/>
          </a:p>
        </p:txBody>
      </p:sp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350963" y="566738"/>
            <a:ext cx="4229100" cy="701675"/>
          </a:xfrm>
          <a:noFill/>
        </p:spPr>
        <p:txBody>
          <a:bodyPr/>
          <a:lstStyle/>
          <a:p>
            <a:r>
              <a:rPr lang="zh-CN" altLang="en-US" b="1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4-</a:t>
            </a:r>
            <a:r>
              <a:rPr lang="en-US" altLang="zh-CN" b="1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4  </a:t>
            </a:r>
            <a:r>
              <a:rPr lang="zh-CN" altLang="en-US" b="1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基数的概念</a:t>
            </a:r>
            <a:endParaRPr lang="en-US" altLang="zh-CN" b="1">
              <a:solidFill>
                <a:schemeClr val="tx1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9138" y="1412875"/>
            <a:ext cx="7916862" cy="4364038"/>
          </a:xfrm>
          <a:noFill/>
        </p:spPr>
        <p:txBody>
          <a:bodyPr/>
          <a:lstStyle/>
          <a:p>
            <a:pPr marL="536575" indent="-536575">
              <a:lnSpc>
                <a:spcPct val="13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FF0000"/>
                </a:solidFill>
              </a:rPr>
              <a:t>定义</a:t>
            </a:r>
            <a:r>
              <a:rPr lang="en-US" altLang="zh-CN" sz="2400">
                <a:solidFill>
                  <a:srgbClr val="FF0000"/>
                </a:solidFill>
              </a:rPr>
              <a:t>1</a:t>
            </a:r>
            <a:r>
              <a:rPr lang="zh-CN" altLang="en-US" sz="2400">
                <a:solidFill>
                  <a:srgbClr val="FF0000"/>
                </a:solidFill>
              </a:rPr>
              <a:t>：</a:t>
            </a:r>
            <a:r>
              <a:rPr lang="zh-CN" altLang="en-US" sz="2400"/>
              <a:t>给定集合</a:t>
            </a:r>
            <a:r>
              <a:rPr lang="en-US" altLang="zh-CN" sz="2400"/>
              <a:t>A</a:t>
            </a:r>
            <a:r>
              <a:rPr lang="zh-CN" altLang="en-US" sz="2400"/>
              <a:t>的后继集定义为集合：</a:t>
            </a:r>
            <a:r>
              <a:rPr lang="en-US" altLang="zh-CN" sz="2400"/>
              <a:t>A</a:t>
            </a:r>
            <a:r>
              <a:rPr lang="en-US" altLang="zh-CN" sz="2400" baseline="30000"/>
              <a:t>+</a:t>
            </a:r>
            <a:r>
              <a:rPr lang="en-US" altLang="zh-CN" sz="2400"/>
              <a:t>=A∪{A}</a:t>
            </a:r>
            <a:r>
              <a:rPr lang="zh-CN" altLang="en-US" sz="2400"/>
              <a:t>。</a:t>
            </a:r>
          </a:p>
          <a:p>
            <a:pPr marL="536575" indent="-536575">
              <a:lnSpc>
                <a:spcPct val="130000"/>
              </a:lnSpc>
              <a:spcBef>
                <a:spcPct val="0"/>
              </a:spcBef>
            </a:pPr>
            <a:r>
              <a:rPr lang="zh-CN" altLang="en-US" sz="2400"/>
              <a:t>若</a:t>
            </a:r>
            <a:r>
              <a:rPr lang="en-US" altLang="zh-CN" sz="2400"/>
              <a:t>A</a:t>
            </a:r>
            <a:r>
              <a:rPr lang="zh-CN" altLang="en-US" sz="2400"/>
              <a:t>为</a:t>
            </a:r>
            <a:r>
              <a:rPr lang="en-US" altLang="zh-CN" sz="2400">
                <a:sym typeface="Symbol" pitchFamily="18" charset="2"/>
              </a:rPr>
              <a:t></a:t>
            </a:r>
            <a:r>
              <a:rPr lang="zh-CN" altLang="en-US" sz="2400"/>
              <a:t>，则后继集合为：</a:t>
            </a:r>
            <a:r>
              <a:rPr lang="en-US" altLang="zh-CN" sz="2400">
                <a:sym typeface="Symbol" pitchFamily="18" charset="2"/>
              </a:rPr>
              <a:t></a:t>
            </a:r>
            <a:r>
              <a:rPr lang="en-US" altLang="zh-CN" sz="2400"/>
              <a:t> </a:t>
            </a:r>
            <a:r>
              <a:rPr lang="en-US" altLang="zh-CN" sz="2400" baseline="30000"/>
              <a:t>+</a:t>
            </a:r>
          </a:p>
          <a:p>
            <a:pPr marL="536575" indent="-536575">
              <a:lnSpc>
                <a:spcPct val="130000"/>
              </a:lnSpc>
              <a:spcBef>
                <a:spcPct val="0"/>
              </a:spcBef>
            </a:pPr>
            <a:r>
              <a:rPr lang="zh-CN" altLang="en-US" sz="2400"/>
              <a:t>令</a:t>
            </a:r>
            <a:r>
              <a:rPr lang="en-US" altLang="zh-CN" sz="2400"/>
              <a:t>0=</a:t>
            </a:r>
            <a:r>
              <a:rPr lang="en-US" altLang="zh-CN" sz="2400">
                <a:sym typeface="Symbol" pitchFamily="18" charset="2"/>
              </a:rPr>
              <a:t></a:t>
            </a:r>
          </a:p>
          <a:p>
            <a:pPr marL="536575" indent="-536575">
              <a:lnSpc>
                <a:spcPct val="130000"/>
              </a:lnSpc>
              <a:spcBef>
                <a:spcPct val="0"/>
              </a:spcBef>
            </a:pPr>
            <a:r>
              <a:rPr lang="en-US" altLang="zh-CN" sz="2400"/>
              <a:t>    0</a:t>
            </a:r>
            <a:r>
              <a:rPr lang="en-US" altLang="zh-CN" sz="2400" baseline="30000"/>
              <a:t>+</a:t>
            </a:r>
            <a:r>
              <a:rPr lang="en-US" altLang="zh-CN" sz="2400"/>
              <a:t>=</a:t>
            </a:r>
            <a:r>
              <a:rPr lang="en-US" altLang="zh-CN" sz="2400">
                <a:sym typeface="Symbol" pitchFamily="18" charset="2"/>
              </a:rPr>
              <a:t></a:t>
            </a:r>
            <a:r>
              <a:rPr lang="en-US" altLang="zh-CN" sz="2400" baseline="30000"/>
              <a:t>+</a:t>
            </a:r>
            <a:r>
              <a:rPr lang="en-US" altLang="zh-CN" sz="2400"/>
              <a:t>=</a:t>
            </a:r>
            <a:r>
              <a:rPr lang="en-US" altLang="zh-CN" sz="2400">
                <a:sym typeface="Symbol" pitchFamily="18" charset="2"/>
              </a:rPr>
              <a:t>∪</a:t>
            </a:r>
            <a:r>
              <a:rPr lang="en-US" altLang="zh-CN" sz="2400"/>
              <a:t>{</a:t>
            </a:r>
            <a:r>
              <a:rPr lang="en-US" altLang="zh-CN" sz="2400">
                <a:sym typeface="Symbol" pitchFamily="18" charset="2"/>
              </a:rPr>
              <a:t></a:t>
            </a:r>
            <a:r>
              <a:rPr lang="en-US" altLang="zh-CN" sz="2400"/>
              <a:t>}={</a:t>
            </a:r>
            <a:r>
              <a:rPr lang="en-US" altLang="zh-CN" sz="2400">
                <a:sym typeface="Symbol" pitchFamily="18" charset="2"/>
              </a:rPr>
              <a:t></a:t>
            </a:r>
            <a:r>
              <a:rPr lang="en-US" altLang="zh-CN" sz="2400"/>
              <a:t>}=1</a:t>
            </a:r>
          </a:p>
          <a:p>
            <a:pPr marL="536575" indent="-536575">
              <a:lnSpc>
                <a:spcPct val="130000"/>
              </a:lnSpc>
              <a:spcBef>
                <a:spcPct val="0"/>
              </a:spcBef>
            </a:pPr>
            <a:r>
              <a:rPr lang="en-US" altLang="zh-CN" sz="2400"/>
              <a:t>    1</a:t>
            </a:r>
            <a:r>
              <a:rPr lang="en-US" altLang="zh-CN" sz="2400" baseline="30000"/>
              <a:t>+</a:t>
            </a:r>
            <a:r>
              <a:rPr lang="en-US" altLang="zh-CN" sz="2400"/>
              <a:t>=(</a:t>
            </a:r>
            <a:r>
              <a:rPr lang="en-US" altLang="zh-CN" sz="2400">
                <a:sym typeface="Symbol" pitchFamily="18" charset="2"/>
              </a:rPr>
              <a:t></a:t>
            </a:r>
            <a:r>
              <a:rPr lang="en-US" altLang="zh-CN" sz="2400" baseline="30000"/>
              <a:t>+</a:t>
            </a:r>
            <a:r>
              <a:rPr lang="en-US" altLang="zh-CN" sz="2400"/>
              <a:t>)</a:t>
            </a:r>
            <a:r>
              <a:rPr lang="en-US" altLang="zh-CN" sz="2400" baseline="30000"/>
              <a:t>+</a:t>
            </a:r>
            <a:r>
              <a:rPr lang="en-US" altLang="zh-CN" sz="2400"/>
              <a:t>=({</a:t>
            </a:r>
            <a:r>
              <a:rPr lang="en-US" altLang="zh-CN" sz="2400">
                <a:sym typeface="Symbol" pitchFamily="18" charset="2"/>
              </a:rPr>
              <a:t></a:t>
            </a:r>
            <a:r>
              <a:rPr lang="en-US" altLang="zh-CN" sz="2400"/>
              <a:t>})</a:t>
            </a:r>
            <a:r>
              <a:rPr lang="en-US" altLang="zh-CN" sz="2400" baseline="30000"/>
              <a:t>+</a:t>
            </a:r>
            <a:r>
              <a:rPr lang="en-US" altLang="zh-CN" sz="2400"/>
              <a:t>={</a:t>
            </a:r>
            <a:r>
              <a:rPr lang="en-US" altLang="zh-CN" sz="2400">
                <a:sym typeface="Symbol" pitchFamily="18" charset="2"/>
              </a:rPr>
              <a:t>}∪{{}}=</a:t>
            </a:r>
            <a:r>
              <a:rPr lang="en-US" altLang="zh-CN" sz="2400"/>
              <a:t>{</a:t>
            </a:r>
            <a:r>
              <a:rPr lang="en-US" altLang="zh-CN" sz="2400">
                <a:sym typeface="Symbol" pitchFamily="18" charset="2"/>
              </a:rPr>
              <a:t>,{}</a:t>
            </a:r>
            <a:r>
              <a:rPr lang="en-US" altLang="zh-CN" sz="2400"/>
              <a:t>}=2</a:t>
            </a:r>
          </a:p>
          <a:p>
            <a:pPr marL="536575" indent="-536575">
              <a:lnSpc>
                <a:spcPct val="130000"/>
              </a:lnSpc>
              <a:spcBef>
                <a:spcPct val="0"/>
              </a:spcBef>
            </a:pPr>
            <a:r>
              <a:rPr lang="en-US" altLang="zh-CN" sz="2400"/>
              <a:t>    2</a:t>
            </a:r>
            <a:r>
              <a:rPr lang="en-US" altLang="zh-CN" sz="2400" baseline="30000"/>
              <a:t>+</a:t>
            </a:r>
            <a:r>
              <a:rPr lang="en-US" altLang="zh-CN" sz="2400"/>
              <a:t>=((</a:t>
            </a:r>
            <a:r>
              <a:rPr lang="en-US" altLang="zh-CN" sz="2400">
                <a:sym typeface="Symbol" pitchFamily="18" charset="2"/>
              </a:rPr>
              <a:t></a:t>
            </a:r>
            <a:r>
              <a:rPr lang="en-US" altLang="zh-CN" sz="2400" baseline="30000"/>
              <a:t>+</a:t>
            </a:r>
            <a:r>
              <a:rPr lang="en-US" altLang="zh-CN" sz="2400"/>
              <a:t>)</a:t>
            </a:r>
            <a:r>
              <a:rPr lang="en-US" altLang="zh-CN" sz="2400" baseline="30000"/>
              <a:t>+</a:t>
            </a:r>
            <a:r>
              <a:rPr lang="en-US" altLang="zh-CN" sz="2400"/>
              <a:t>)</a:t>
            </a:r>
            <a:r>
              <a:rPr lang="en-US" altLang="zh-CN" sz="2400" baseline="30000"/>
              <a:t>+</a:t>
            </a:r>
            <a:r>
              <a:rPr lang="en-US" altLang="zh-CN" sz="2400"/>
              <a:t>=( {</a:t>
            </a:r>
            <a:r>
              <a:rPr lang="en-US" altLang="zh-CN" sz="2400">
                <a:sym typeface="Symbol" pitchFamily="18" charset="2"/>
              </a:rPr>
              <a:t>,{}</a:t>
            </a:r>
            <a:r>
              <a:rPr lang="en-US" altLang="zh-CN" sz="2400"/>
              <a:t>} )</a:t>
            </a:r>
            <a:r>
              <a:rPr lang="en-US" altLang="zh-CN" sz="2400" baseline="30000"/>
              <a:t>+</a:t>
            </a:r>
            <a:r>
              <a:rPr lang="en-US" altLang="zh-CN" sz="2400"/>
              <a:t>={</a:t>
            </a:r>
            <a:r>
              <a:rPr lang="en-US" altLang="zh-CN" sz="2400">
                <a:sym typeface="Symbol" pitchFamily="18" charset="2"/>
              </a:rPr>
              <a:t>,{}</a:t>
            </a:r>
            <a:r>
              <a:rPr lang="en-US" altLang="zh-CN" sz="2400"/>
              <a:t>}∪{{</a:t>
            </a:r>
            <a:r>
              <a:rPr lang="en-US" altLang="zh-CN" sz="2400">
                <a:sym typeface="Symbol" pitchFamily="18" charset="2"/>
              </a:rPr>
              <a:t>,{}</a:t>
            </a:r>
            <a:r>
              <a:rPr lang="en-US" altLang="zh-CN" sz="2400"/>
              <a:t>}} ={</a:t>
            </a:r>
            <a:r>
              <a:rPr lang="en-US" altLang="zh-CN" sz="2400">
                <a:sym typeface="Symbol" pitchFamily="18" charset="2"/>
              </a:rPr>
              <a:t>,{},</a:t>
            </a:r>
            <a:r>
              <a:rPr lang="en-US" altLang="zh-CN" sz="2400"/>
              <a:t>{</a:t>
            </a:r>
            <a:r>
              <a:rPr lang="en-US" altLang="zh-CN" sz="2400">
                <a:sym typeface="Symbol" pitchFamily="18" charset="2"/>
              </a:rPr>
              <a:t>,{}</a:t>
            </a:r>
            <a:r>
              <a:rPr lang="en-US" altLang="zh-CN" sz="2400"/>
              <a:t>}}=3</a:t>
            </a:r>
          </a:p>
          <a:p>
            <a:pPr marL="536575" indent="-536575">
              <a:lnSpc>
                <a:spcPct val="130000"/>
              </a:lnSpc>
              <a:spcBef>
                <a:spcPct val="0"/>
              </a:spcBef>
            </a:pPr>
            <a:r>
              <a:rPr lang="zh-CN" altLang="en-US" sz="2400"/>
              <a:t>    </a:t>
            </a:r>
            <a:r>
              <a:rPr lang="en-US" altLang="zh-CN" sz="2400"/>
              <a:t>…</a:t>
            </a:r>
          </a:p>
          <a:p>
            <a:pPr marL="536575" indent="-536575">
              <a:lnSpc>
                <a:spcPct val="130000"/>
              </a:lnSpc>
              <a:spcBef>
                <a:spcPct val="0"/>
              </a:spcBef>
            </a:pPr>
            <a:r>
              <a:rPr lang="zh-CN" altLang="en-US" sz="2400"/>
              <a:t>这样就得到了自然数集合</a:t>
            </a:r>
            <a:r>
              <a:rPr lang="en-US" altLang="zh-CN" sz="2400"/>
              <a:t>{0,1,2,3,…}</a:t>
            </a:r>
            <a:endParaRPr lang="zh-CN" altLang="en-US" sz="2400"/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6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6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6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6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DE343D-B68B-4D39-A48E-1A2B731528BA}" type="slidenum">
              <a:rPr lang="zh-CN" altLang="en-US"/>
              <a:pPr/>
              <a:t>26</a:t>
            </a:fld>
            <a:endParaRPr lang="en-US" altLang="zh-CN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9138" y="1284288"/>
            <a:ext cx="7916862" cy="5313362"/>
          </a:xfrm>
          <a:noFill/>
        </p:spPr>
        <p:txBody>
          <a:bodyPr/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FF0000"/>
                </a:solidFill>
              </a:rPr>
              <a:t>定义</a:t>
            </a:r>
            <a:r>
              <a:rPr lang="en-US" altLang="zh-CN" sz="2400">
                <a:solidFill>
                  <a:srgbClr val="FF0000"/>
                </a:solidFill>
              </a:rPr>
              <a:t>2</a:t>
            </a:r>
            <a:r>
              <a:rPr lang="zh-CN" altLang="en-US" sz="2400">
                <a:solidFill>
                  <a:srgbClr val="FF0000"/>
                </a:solidFill>
              </a:rPr>
              <a:t>：</a:t>
            </a:r>
            <a:r>
              <a:rPr lang="zh-CN" altLang="en-US" sz="2400"/>
              <a:t>设</a:t>
            </a:r>
            <a:r>
              <a:rPr lang="en-US" altLang="zh-CN" sz="2400"/>
              <a:t>A</a:t>
            </a:r>
            <a:r>
              <a:rPr lang="zh-CN" altLang="en-US" sz="2400"/>
              <a:t>是集合，若</a:t>
            </a:r>
            <a:r>
              <a:rPr lang="en-US" altLang="zh-CN" sz="2400"/>
              <a:t>f</a:t>
            </a:r>
            <a:r>
              <a:rPr lang="zh-CN" altLang="en-US" sz="2400"/>
              <a:t>：</a:t>
            </a:r>
            <a:r>
              <a:rPr lang="en-US" altLang="zh-CN" sz="2400"/>
              <a:t>N</a:t>
            </a:r>
            <a:r>
              <a:rPr lang="en-US" altLang="zh-CN" sz="2400" baseline="-25000"/>
              <a:t>n</a:t>
            </a:r>
            <a:r>
              <a:rPr lang="en-US" altLang="zh-CN" sz="2400">
                <a:cs typeface="Times New Roman" pitchFamily="18" charset="0"/>
              </a:rPr>
              <a:t>→</a:t>
            </a:r>
            <a:r>
              <a:rPr lang="en-US" altLang="zh-CN" sz="2400"/>
              <a:t>A</a:t>
            </a:r>
            <a:r>
              <a:rPr lang="zh-CN" altLang="en-US" sz="2400"/>
              <a:t>为双射函数，则称集合</a:t>
            </a:r>
            <a:r>
              <a:rPr lang="en-US" altLang="zh-CN" sz="2400"/>
              <a:t>A</a:t>
            </a:r>
            <a:r>
              <a:rPr lang="zh-CN" altLang="en-US" sz="2400"/>
              <a:t>是有限的，</a:t>
            </a:r>
            <a:r>
              <a:rPr lang="en-US" altLang="zh-CN" sz="2400"/>
              <a:t>A</a:t>
            </a:r>
            <a:r>
              <a:rPr lang="zh-CN" altLang="en-US" sz="2400"/>
              <a:t>的基数是</a:t>
            </a:r>
            <a:r>
              <a:rPr lang="en-US" altLang="zh-CN" sz="2400"/>
              <a:t>n</a:t>
            </a:r>
            <a:r>
              <a:rPr lang="zh-CN" altLang="en-US" sz="2400"/>
              <a:t>，记为</a:t>
            </a:r>
            <a:r>
              <a:rPr lang="en-US" altLang="zh-CN" sz="2400"/>
              <a:t>|A|=n</a:t>
            </a:r>
            <a:r>
              <a:rPr lang="zh-CN" altLang="en-US" sz="2400"/>
              <a:t>，或</a:t>
            </a:r>
            <a:r>
              <a:rPr lang="en-US" altLang="zh-CN" sz="2400"/>
              <a:t>card A=n</a:t>
            </a:r>
            <a:r>
              <a:rPr lang="zh-CN" altLang="en-US" sz="2400"/>
              <a:t>。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400"/>
              <a:t>若集合</a:t>
            </a:r>
            <a:r>
              <a:rPr lang="en-US" altLang="zh-CN" sz="2400"/>
              <a:t>A</a:t>
            </a:r>
            <a:r>
              <a:rPr lang="zh-CN" altLang="en-US" sz="2400"/>
              <a:t>不是有限的，则称</a:t>
            </a:r>
            <a:r>
              <a:rPr lang="en-US" altLang="zh-CN" sz="2400"/>
              <a:t>A</a:t>
            </a:r>
            <a:r>
              <a:rPr lang="zh-CN" altLang="en-US" sz="2400"/>
              <a:t>是无限的。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FF0000"/>
                </a:solidFill>
              </a:rPr>
              <a:t>定义</a:t>
            </a:r>
            <a:r>
              <a:rPr lang="en-US" altLang="zh-CN" sz="2400">
                <a:solidFill>
                  <a:srgbClr val="FF0000"/>
                </a:solidFill>
              </a:rPr>
              <a:t>3</a:t>
            </a:r>
            <a:r>
              <a:rPr lang="zh-CN" altLang="en-US" sz="2400">
                <a:solidFill>
                  <a:srgbClr val="FF0000"/>
                </a:solidFill>
              </a:rPr>
              <a:t>：</a:t>
            </a:r>
            <a:r>
              <a:rPr lang="zh-CN" altLang="en-US" sz="2400"/>
              <a:t>设</a:t>
            </a:r>
            <a:r>
              <a:rPr lang="en-US" altLang="zh-CN" sz="2400"/>
              <a:t>A</a:t>
            </a:r>
            <a:r>
              <a:rPr lang="zh-CN" altLang="en-US" sz="2400"/>
              <a:t>是集合，若</a:t>
            </a:r>
            <a:r>
              <a:rPr lang="en-US" altLang="zh-CN" sz="2400"/>
              <a:t>f</a:t>
            </a:r>
            <a:r>
              <a:rPr lang="zh-CN" altLang="en-US" sz="2400"/>
              <a:t>：</a:t>
            </a:r>
            <a:r>
              <a:rPr lang="en-US" altLang="zh-CN" sz="2400"/>
              <a:t>N→A</a:t>
            </a:r>
            <a:r>
              <a:rPr lang="zh-CN" altLang="en-US" sz="2400"/>
              <a:t>为双射函数，则称集合</a:t>
            </a:r>
            <a:r>
              <a:rPr lang="en-US" altLang="zh-CN" sz="2400"/>
              <a:t>A</a:t>
            </a:r>
            <a:r>
              <a:rPr lang="zh-CN" altLang="en-US" sz="2400"/>
              <a:t>是可数的，</a:t>
            </a:r>
            <a:r>
              <a:rPr lang="en-US" altLang="zh-CN" sz="2400"/>
              <a:t>A</a:t>
            </a:r>
            <a:r>
              <a:rPr lang="zh-CN" altLang="en-US" sz="2400"/>
              <a:t>的基数是</a:t>
            </a:r>
            <a:r>
              <a:rPr lang="en-US" altLang="zh-CN" sz="2400">
                <a:sym typeface="Symbol" pitchFamily="18" charset="2"/>
              </a:rPr>
              <a:t></a:t>
            </a:r>
            <a:r>
              <a:rPr lang="en-US" altLang="zh-CN" sz="2400" baseline="-25000"/>
              <a:t>0</a:t>
            </a:r>
            <a:r>
              <a:rPr lang="zh-CN" altLang="en-US" sz="2400"/>
              <a:t>。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400"/>
              <a:t>若集合</a:t>
            </a:r>
            <a:r>
              <a:rPr lang="en-US" altLang="zh-CN" sz="2400"/>
              <a:t>A</a:t>
            </a:r>
            <a:r>
              <a:rPr lang="zh-CN" altLang="en-US" sz="2400"/>
              <a:t>不是可数的，则称</a:t>
            </a:r>
            <a:r>
              <a:rPr lang="en-US" altLang="zh-CN" sz="2400"/>
              <a:t>A</a:t>
            </a:r>
            <a:r>
              <a:rPr lang="zh-CN" altLang="en-US" sz="2400"/>
              <a:t>是不可数的，</a:t>
            </a:r>
            <a:r>
              <a:rPr lang="en-US" altLang="zh-CN" sz="2400"/>
              <a:t>A</a:t>
            </a:r>
            <a:r>
              <a:rPr lang="zh-CN" altLang="en-US" sz="2400"/>
              <a:t>的基数是</a:t>
            </a:r>
            <a:r>
              <a:rPr lang="en-US" altLang="zh-CN" sz="2400">
                <a:sym typeface="Symbol" pitchFamily="18" charset="2"/>
              </a:rPr>
              <a:t></a:t>
            </a:r>
            <a:r>
              <a:rPr lang="zh-CN" altLang="en-US" sz="2400"/>
              <a:t>。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400"/>
              <a:t>例如：</a:t>
            </a:r>
            <a:r>
              <a:rPr lang="en-US" altLang="zh-CN" sz="2400"/>
              <a:t>A={a, b, c}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400"/>
              <a:t>            N</a:t>
            </a:r>
            <a:r>
              <a:rPr lang="zh-CN" altLang="en-US" sz="2400"/>
              <a:t>：自然数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400"/>
              <a:t>            Q</a:t>
            </a:r>
            <a:r>
              <a:rPr lang="zh-CN" altLang="en-US" sz="2400"/>
              <a:t>：有理数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zh-CN" sz="2400"/>
              <a:t>            R</a:t>
            </a:r>
            <a:r>
              <a:rPr lang="zh-CN" altLang="en-US" sz="2400"/>
              <a:t>：实数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400"/>
              <a:t>            </a:t>
            </a:r>
            <a:r>
              <a:rPr lang="en-US" altLang="zh-CN" sz="2400"/>
              <a:t>B=(0,1)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7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7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Blends">
  <a:themeElements>
    <a:clrScheme name="1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Tahoma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99CC"/>
        </a:solidFill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99CC"/>
        </a:solidFill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921</TotalTime>
  <Words>2851</Words>
  <Application>Microsoft Office PowerPoint</Application>
  <PresentationFormat>全屏显示(4:3)</PresentationFormat>
  <Paragraphs>304</Paragraphs>
  <Slides>26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27" baseType="lpstr">
      <vt:lpstr>1_Blends</vt:lpstr>
      <vt:lpstr>第四章    函   数</vt:lpstr>
      <vt:lpstr>PowerPoint 演示文稿</vt:lpstr>
      <vt:lpstr>4-1  函数的概念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4-4  基数的概念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Sky123.Org</cp:lastModifiedBy>
  <cp:revision>455</cp:revision>
  <dcterms:created xsi:type="dcterms:W3CDTF">1601-01-01T00:00:00Z</dcterms:created>
  <dcterms:modified xsi:type="dcterms:W3CDTF">2019-11-05T03:53:21Z</dcterms:modified>
</cp:coreProperties>
</file>